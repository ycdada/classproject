
<file path=[Content_Types].xml><?xml version="1.0" encoding="utf-8"?>
<Types xmlns="http://schemas.openxmlformats.org/package/2006/content-types">
  <Default Extension="png" ContentType="image/png"/>
  <Default Extension="bin" ContentType="application/vnd.openxmlformats-officedocument.oleObject"/>
  <Default Extension="tmp" ContentType="image/png"/>
  <Default Extension="svg" ContentType="image/svg+xml"/>
  <Default Extension="jpeg" ContentType="image/jpeg"/>
  <Default Extension="wmf" ContentType="image/x-wmf"/>
  <Default Extension="rels" ContentType="application/vnd.openxmlformats-package.relationships+xml"/>
  <Default Extension="xml" ContentType="application/xml"/>
  <Default Extension="wav" ContentType="audio/wav"/>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comments/comment1.xml" ContentType="application/vnd.openxmlformats-officedocument.presentationml.comments+xml"/>
  <Override PartName="/ppt/media/audio2.wav" ContentType="audio/x-wav"/>
  <Override PartName="/ppt/notesSlides/notesSlide3.xml" ContentType="application/vnd.openxmlformats-officedocument.presentationml.notesSlide+xml"/>
  <Override PartName="/ppt/notesSlides/notesSlide4.xml" ContentType="application/vnd.openxmlformats-officedocument.presentationml.notesSlid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notesSlides/notesSlide5.xml" ContentType="application/vnd.openxmlformats-officedocument.presentationml.notesSlide+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media/audio5.wav" ContentType="audio/x-wav"/>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comments/comment2.xml" ContentType="application/vnd.openxmlformats-officedocument.presentationml.comment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comments/comment3.xml" ContentType="application/vnd.openxmlformats-officedocument.presentationml.comments+xml"/>
  <Override PartName="/ppt/comments/comment4.xml" ContentType="application/vnd.openxmlformats-officedocument.presentationml.comment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55" r:id="rId2"/>
  </p:sldMasterIdLst>
  <p:notesMasterIdLst>
    <p:notesMasterId r:id="rId230"/>
  </p:notesMasterIdLst>
  <p:handoutMasterIdLst>
    <p:handoutMasterId r:id="rId231"/>
  </p:handoutMasterIdLst>
  <p:sldIdLst>
    <p:sldId id="1160" r:id="rId3"/>
    <p:sldId id="970" r:id="rId4"/>
    <p:sldId id="1161" r:id="rId5"/>
    <p:sldId id="1472" r:id="rId6"/>
    <p:sldId id="1456" r:id="rId7"/>
    <p:sldId id="1457" r:id="rId8"/>
    <p:sldId id="1458" r:id="rId9"/>
    <p:sldId id="1473" r:id="rId10"/>
    <p:sldId id="1067" r:id="rId11"/>
    <p:sldId id="1005" r:id="rId12"/>
    <p:sldId id="1011" r:id="rId13"/>
    <p:sldId id="1012" r:id="rId14"/>
    <p:sldId id="1008" r:id="rId15"/>
    <p:sldId id="1009" r:id="rId16"/>
    <p:sldId id="1068" r:id="rId17"/>
    <p:sldId id="1013" r:id="rId18"/>
    <p:sldId id="868" r:id="rId19"/>
    <p:sldId id="870" r:id="rId20"/>
    <p:sldId id="1416" r:id="rId21"/>
    <p:sldId id="1071" r:id="rId22"/>
    <p:sldId id="871" r:id="rId23"/>
    <p:sldId id="1417" r:id="rId24"/>
    <p:sldId id="1072" r:id="rId25"/>
    <p:sldId id="1016" r:id="rId26"/>
    <p:sldId id="1014" r:id="rId27"/>
    <p:sldId id="1015" r:id="rId28"/>
    <p:sldId id="1034" r:id="rId29"/>
    <p:sldId id="873" r:id="rId30"/>
    <p:sldId id="1017" r:id="rId31"/>
    <p:sldId id="874" r:id="rId32"/>
    <p:sldId id="967" r:id="rId33"/>
    <p:sldId id="875" r:id="rId34"/>
    <p:sldId id="1018" r:id="rId35"/>
    <p:sldId id="1027" r:id="rId36"/>
    <p:sldId id="876" r:id="rId37"/>
    <p:sldId id="1418" r:id="rId38"/>
    <p:sldId id="877" r:id="rId39"/>
    <p:sldId id="1021" r:id="rId40"/>
    <p:sldId id="1020" r:id="rId41"/>
    <p:sldId id="1036" r:id="rId42"/>
    <p:sldId id="1022" r:id="rId43"/>
    <p:sldId id="881" r:id="rId44"/>
    <p:sldId id="1025" r:id="rId45"/>
    <p:sldId id="1023" r:id="rId46"/>
    <p:sldId id="882" r:id="rId47"/>
    <p:sldId id="1024" r:id="rId48"/>
    <p:sldId id="884" r:id="rId49"/>
    <p:sldId id="1035" r:id="rId50"/>
    <p:sldId id="886" r:id="rId51"/>
    <p:sldId id="887" r:id="rId52"/>
    <p:sldId id="1493" r:id="rId53"/>
    <p:sldId id="1494" r:id="rId54"/>
    <p:sldId id="1495" r:id="rId55"/>
    <p:sldId id="1496" r:id="rId56"/>
    <p:sldId id="1497" r:id="rId57"/>
    <p:sldId id="888" r:id="rId58"/>
    <p:sldId id="1063" r:id="rId59"/>
    <p:sldId id="974" r:id="rId60"/>
    <p:sldId id="1065" r:id="rId61"/>
    <p:sldId id="1064" r:id="rId62"/>
    <p:sldId id="1026" r:id="rId63"/>
    <p:sldId id="975" r:id="rId64"/>
    <p:sldId id="976" r:id="rId65"/>
    <p:sldId id="1499" r:id="rId66"/>
    <p:sldId id="1502" r:id="rId67"/>
    <p:sldId id="981" r:id="rId68"/>
    <p:sldId id="980" r:id="rId69"/>
    <p:sldId id="979" r:id="rId70"/>
    <p:sldId id="892" r:id="rId71"/>
    <p:sldId id="1038" r:id="rId72"/>
    <p:sldId id="1039" r:id="rId73"/>
    <p:sldId id="1040" r:id="rId74"/>
    <p:sldId id="1041" r:id="rId75"/>
    <p:sldId id="1001" r:id="rId76"/>
    <p:sldId id="900" r:id="rId77"/>
    <p:sldId id="901" r:id="rId78"/>
    <p:sldId id="902" r:id="rId79"/>
    <p:sldId id="1419" r:id="rId80"/>
    <p:sldId id="1504" r:id="rId81"/>
    <p:sldId id="1505" r:id="rId82"/>
    <p:sldId id="1506" r:id="rId83"/>
    <p:sldId id="1507" r:id="rId84"/>
    <p:sldId id="1508" r:id="rId85"/>
    <p:sldId id="904" r:id="rId86"/>
    <p:sldId id="1509" r:id="rId87"/>
    <p:sldId id="1511" r:id="rId88"/>
    <p:sldId id="1512" r:id="rId89"/>
    <p:sldId id="1513" r:id="rId90"/>
    <p:sldId id="1514" r:id="rId91"/>
    <p:sldId id="1515" r:id="rId92"/>
    <p:sldId id="1516" r:id="rId93"/>
    <p:sldId id="1517" r:id="rId94"/>
    <p:sldId id="1518" r:id="rId95"/>
    <p:sldId id="1519" r:id="rId96"/>
    <p:sldId id="1520" r:id="rId97"/>
    <p:sldId id="1521" r:id="rId98"/>
    <p:sldId id="1522" r:id="rId99"/>
    <p:sldId id="1281" r:id="rId100"/>
    <p:sldId id="1282" r:id="rId101"/>
    <p:sldId id="1283" r:id="rId102"/>
    <p:sldId id="1284" r:id="rId103"/>
    <p:sldId id="905" r:id="rId104"/>
    <p:sldId id="1420" r:id="rId105"/>
    <p:sldId id="1459" r:id="rId106"/>
    <p:sldId id="1460" r:id="rId107"/>
    <p:sldId id="1523" r:id="rId108"/>
    <p:sldId id="1524" r:id="rId109"/>
    <p:sldId id="1525" r:id="rId110"/>
    <p:sldId id="1526" r:id="rId111"/>
    <p:sldId id="1527" r:id="rId112"/>
    <p:sldId id="1528" r:id="rId113"/>
    <p:sldId id="1529" r:id="rId114"/>
    <p:sldId id="1530" r:id="rId115"/>
    <p:sldId id="1531" r:id="rId116"/>
    <p:sldId id="1532" r:id="rId117"/>
    <p:sldId id="1533" r:id="rId118"/>
    <p:sldId id="1534" r:id="rId119"/>
    <p:sldId id="1535" r:id="rId120"/>
    <p:sldId id="1536" r:id="rId121"/>
    <p:sldId id="1537" r:id="rId122"/>
    <p:sldId id="1538" r:id="rId123"/>
    <p:sldId id="1539" r:id="rId124"/>
    <p:sldId id="1461" r:id="rId125"/>
    <p:sldId id="1462" r:id="rId126"/>
    <p:sldId id="1463" r:id="rId127"/>
    <p:sldId id="1464" r:id="rId128"/>
    <p:sldId id="1465" r:id="rId129"/>
    <p:sldId id="1466" r:id="rId130"/>
    <p:sldId id="1467" r:id="rId131"/>
    <p:sldId id="1468" r:id="rId132"/>
    <p:sldId id="1469" r:id="rId133"/>
    <p:sldId id="1470" r:id="rId134"/>
    <p:sldId id="1471" r:id="rId135"/>
    <p:sldId id="1474" r:id="rId136"/>
    <p:sldId id="1475" r:id="rId137"/>
    <p:sldId id="1476" r:id="rId138"/>
    <p:sldId id="1477" r:id="rId139"/>
    <p:sldId id="1478" r:id="rId140"/>
    <p:sldId id="1479" r:id="rId141"/>
    <p:sldId id="1480" r:id="rId142"/>
    <p:sldId id="1481" r:id="rId143"/>
    <p:sldId id="1482" r:id="rId144"/>
    <p:sldId id="1483" r:id="rId145"/>
    <p:sldId id="1484" r:id="rId146"/>
    <p:sldId id="1485" r:id="rId147"/>
    <p:sldId id="1486" r:id="rId148"/>
    <p:sldId id="1487" r:id="rId149"/>
    <p:sldId id="1488" r:id="rId150"/>
    <p:sldId id="1489" r:id="rId151"/>
    <p:sldId id="1490" r:id="rId152"/>
    <p:sldId id="1491" r:id="rId153"/>
    <p:sldId id="1492" r:id="rId154"/>
    <p:sldId id="1055" r:id="rId155"/>
    <p:sldId id="1060" r:id="rId156"/>
    <p:sldId id="1061" r:id="rId157"/>
    <p:sldId id="1062" r:id="rId158"/>
    <p:sldId id="1056" r:id="rId159"/>
    <p:sldId id="1057" r:id="rId160"/>
    <p:sldId id="1058" r:id="rId161"/>
    <p:sldId id="1059" r:id="rId162"/>
    <p:sldId id="906" r:id="rId163"/>
    <p:sldId id="907" r:id="rId164"/>
    <p:sldId id="1030" r:id="rId165"/>
    <p:sldId id="919" r:id="rId166"/>
    <p:sldId id="1047" r:id="rId167"/>
    <p:sldId id="1048" r:id="rId168"/>
    <p:sldId id="1049" r:id="rId169"/>
    <p:sldId id="1054" r:id="rId170"/>
    <p:sldId id="1290" r:id="rId171"/>
    <p:sldId id="1325" r:id="rId172"/>
    <p:sldId id="1326" r:id="rId173"/>
    <p:sldId id="1327" r:id="rId174"/>
    <p:sldId id="1328" r:id="rId175"/>
    <p:sldId id="1172" r:id="rId176"/>
    <p:sldId id="1052" r:id="rId177"/>
    <p:sldId id="1053" r:id="rId178"/>
    <p:sldId id="1332" r:id="rId179"/>
    <p:sldId id="1331" r:id="rId180"/>
    <p:sldId id="984" r:id="rId181"/>
    <p:sldId id="1289" r:id="rId182"/>
    <p:sldId id="1354" r:id="rId183"/>
    <p:sldId id="1366" r:id="rId184"/>
    <p:sldId id="1355" r:id="rId185"/>
    <p:sldId id="1356" r:id="rId186"/>
    <p:sldId id="1421" r:id="rId187"/>
    <p:sldId id="1390" r:id="rId188"/>
    <p:sldId id="1391" r:id="rId189"/>
    <p:sldId id="1392" r:id="rId190"/>
    <p:sldId id="1394" r:id="rId191"/>
    <p:sldId id="1395" r:id="rId192"/>
    <p:sldId id="1396" r:id="rId193"/>
    <p:sldId id="1397" r:id="rId194"/>
    <p:sldId id="1398" r:id="rId195"/>
    <p:sldId id="1399" r:id="rId196"/>
    <p:sldId id="1400" r:id="rId197"/>
    <p:sldId id="1401" r:id="rId198"/>
    <p:sldId id="1402" r:id="rId199"/>
    <p:sldId id="1403" r:id="rId200"/>
    <p:sldId id="1422" r:id="rId201"/>
    <p:sldId id="1073" r:id="rId202"/>
    <p:sldId id="1074" r:id="rId203"/>
    <p:sldId id="1173" r:id="rId204"/>
    <p:sldId id="1378" r:id="rId205"/>
    <p:sldId id="1075" r:id="rId206"/>
    <p:sldId id="1380" r:id="rId207"/>
    <p:sldId id="1423" r:id="rId208"/>
    <p:sldId id="1424" r:id="rId209"/>
    <p:sldId id="1425" r:id="rId210"/>
    <p:sldId id="1426" r:id="rId211"/>
    <p:sldId id="1427" r:id="rId212"/>
    <p:sldId id="1428" r:id="rId213"/>
    <p:sldId id="1429" r:id="rId214"/>
    <p:sldId id="1430" r:id="rId215"/>
    <p:sldId id="1431" r:id="rId216"/>
    <p:sldId id="1432" r:id="rId217"/>
    <p:sldId id="1433" r:id="rId218"/>
    <p:sldId id="1434" r:id="rId219"/>
    <p:sldId id="1435" r:id="rId220"/>
    <p:sldId id="1436" r:id="rId221"/>
    <p:sldId id="1437" r:id="rId222"/>
    <p:sldId id="1438" r:id="rId223"/>
    <p:sldId id="1439" r:id="rId224"/>
    <p:sldId id="1440" r:id="rId225"/>
    <p:sldId id="1441" r:id="rId226"/>
    <p:sldId id="1442" r:id="rId227"/>
    <p:sldId id="1033" r:id="rId228"/>
    <p:sldId id="921" r:id="rId229"/>
  </p:sldIdLst>
  <p:sldSz cx="9144000" cy="6858000" type="screen4x3"/>
  <p:notesSz cx="6858000" cy="9144000"/>
  <p:custDataLst>
    <p:tags r:id="rId232"/>
  </p:custDataLst>
  <p:defaultTextStyle>
    <a:defPPr>
      <a:defRPr lang="zh-CN"/>
    </a:defPPr>
    <a:lvl1pPr marL="0" lvl="0" indent="0" algn="l" defTabSz="914400" rtl="0" eaLnBrk="0" fontAlgn="base" latinLnBrk="0" hangingPunct="0">
      <a:lnSpc>
        <a:spcPct val="100000"/>
      </a:lnSpc>
      <a:spcBef>
        <a:spcPct val="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1pPr>
    <a:lvl2pPr marL="457200" lvl="1" indent="0" algn="l" defTabSz="914400" rtl="0" eaLnBrk="0" fontAlgn="base" latinLnBrk="0" hangingPunct="0">
      <a:lnSpc>
        <a:spcPct val="100000"/>
      </a:lnSpc>
      <a:spcBef>
        <a:spcPct val="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vl6pPr marL="2286000" lvl="5" indent="0" algn="l" defTabSz="914400" rtl="0" eaLnBrk="0" fontAlgn="base" latinLnBrk="0" hangingPunct="0">
      <a:lnSpc>
        <a:spcPct val="100000"/>
      </a:lnSpc>
      <a:spcBef>
        <a:spcPct val="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6pPr>
    <a:lvl7pPr marL="2743200" lvl="6" indent="0" algn="l" defTabSz="914400" rtl="0" eaLnBrk="0" fontAlgn="base" latinLnBrk="0" hangingPunct="0">
      <a:lnSpc>
        <a:spcPct val="100000"/>
      </a:lnSpc>
      <a:spcBef>
        <a:spcPct val="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7pPr>
    <a:lvl8pPr marL="3200400" lvl="7" indent="0" algn="l" defTabSz="914400" rtl="0" eaLnBrk="0" fontAlgn="base" latinLnBrk="0" hangingPunct="0">
      <a:lnSpc>
        <a:spcPct val="100000"/>
      </a:lnSpc>
      <a:spcBef>
        <a:spcPct val="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8pPr>
    <a:lvl9pPr marL="3657600" lvl="8" indent="0" algn="l" defTabSz="914400" rtl="0" eaLnBrk="0" fontAlgn="base" latinLnBrk="0" hangingPunct="0">
      <a:lnSpc>
        <a:spcPct val="100000"/>
      </a:lnSpc>
      <a:spcBef>
        <a:spcPct val="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9pPr>
  </p:defaultTextStyle>
  <p:extLst>
    <p:ext uri="{521415D9-36F7-43E2-AB2F-B90AF26B5E84}">
      <p14:sectionLst xmlns:p14="http://schemas.microsoft.com/office/powerpoint/2010/main">
        <p14:section name="默认节" id="{833183E4-AB49-4CA4-8415-E55951AF1EAA}">
          <p14:sldIdLst>
            <p14:sldId id="1160"/>
            <p14:sldId id="970"/>
            <p14:sldId id="1161"/>
            <p14:sldId id="1472"/>
            <p14:sldId id="1456"/>
            <p14:sldId id="1457"/>
            <p14:sldId id="1458"/>
            <p14:sldId id="1473"/>
            <p14:sldId id="1067"/>
            <p14:sldId id="1005"/>
            <p14:sldId id="1011"/>
            <p14:sldId id="1012"/>
            <p14:sldId id="1008"/>
            <p14:sldId id="1009"/>
            <p14:sldId id="1068"/>
            <p14:sldId id="1013"/>
            <p14:sldId id="868"/>
            <p14:sldId id="870"/>
            <p14:sldId id="1416"/>
            <p14:sldId id="1071"/>
            <p14:sldId id="871"/>
            <p14:sldId id="1417"/>
            <p14:sldId id="1072"/>
            <p14:sldId id="1016"/>
            <p14:sldId id="1014"/>
            <p14:sldId id="1015"/>
            <p14:sldId id="1034"/>
            <p14:sldId id="873"/>
            <p14:sldId id="1017"/>
            <p14:sldId id="874"/>
            <p14:sldId id="967"/>
            <p14:sldId id="875"/>
            <p14:sldId id="1018"/>
            <p14:sldId id="1027"/>
            <p14:sldId id="876"/>
            <p14:sldId id="1418"/>
            <p14:sldId id="877"/>
            <p14:sldId id="1021"/>
            <p14:sldId id="1020"/>
            <p14:sldId id="1036"/>
            <p14:sldId id="1022"/>
            <p14:sldId id="881"/>
            <p14:sldId id="1025"/>
            <p14:sldId id="1023"/>
            <p14:sldId id="882"/>
            <p14:sldId id="1024"/>
            <p14:sldId id="884"/>
            <p14:sldId id="1035"/>
            <p14:sldId id="886"/>
            <p14:sldId id="887"/>
            <p14:sldId id="1493"/>
            <p14:sldId id="1494"/>
            <p14:sldId id="1495"/>
            <p14:sldId id="1496"/>
            <p14:sldId id="1497"/>
            <p14:sldId id="888"/>
            <p14:sldId id="1063"/>
            <p14:sldId id="974"/>
            <p14:sldId id="1065"/>
            <p14:sldId id="1064"/>
            <p14:sldId id="1026"/>
            <p14:sldId id="975"/>
            <p14:sldId id="976"/>
            <p14:sldId id="1499"/>
            <p14:sldId id="1502"/>
          </p14:sldIdLst>
        </p14:section>
        <p14:section name="无标题节" id="{D74EE2BC-D0CC-4EBA-BBF9-D84C699CF9AF}">
          <p14:sldIdLst/>
        </p14:section>
        <p14:section name="无标题节" id="{33A50DEF-CCC8-41B1-A346-E6D09D7DFA08}">
          <p14:sldIdLst>
            <p14:sldId id="981"/>
            <p14:sldId id="980"/>
            <p14:sldId id="979"/>
            <p14:sldId id="892"/>
            <p14:sldId id="1038"/>
            <p14:sldId id="1039"/>
            <p14:sldId id="1040"/>
            <p14:sldId id="1041"/>
            <p14:sldId id="1001"/>
            <p14:sldId id="900"/>
            <p14:sldId id="901"/>
            <p14:sldId id="902"/>
            <p14:sldId id="1419"/>
            <p14:sldId id="1504"/>
            <p14:sldId id="1505"/>
            <p14:sldId id="1506"/>
            <p14:sldId id="1507"/>
            <p14:sldId id="1508"/>
            <p14:sldId id="904"/>
            <p14:sldId id="1509"/>
            <p14:sldId id="1511"/>
            <p14:sldId id="1512"/>
            <p14:sldId id="1513"/>
            <p14:sldId id="1514"/>
            <p14:sldId id="1515"/>
            <p14:sldId id="1516"/>
            <p14:sldId id="1517"/>
            <p14:sldId id="1518"/>
            <p14:sldId id="1519"/>
            <p14:sldId id="1520"/>
            <p14:sldId id="1521"/>
            <p14:sldId id="1522"/>
            <p14:sldId id="1281"/>
            <p14:sldId id="1282"/>
            <p14:sldId id="1283"/>
            <p14:sldId id="1284"/>
            <p14:sldId id="905"/>
            <p14:sldId id="1420"/>
            <p14:sldId id="1459"/>
            <p14:sldId id="1460"/>
            <p14:sldId id="1523"/>
            <p14:sldId id="1524"/>
            <p14:sldId id="1525"/>
            <p14:sldId id="1526"/>
            <p14:sldId id="1527"/>
            <p14:sldId id="1528"/>
            <p14:sldId id="1529"/>
            <p14:sldId id="1530"/>
            <p14:sldId id="1531"/>
            <p14:sldId id="1532"/>
            <p14:sldId id="1533"/>
            <p14:sldId id="1534"/>
            <p14:sldId id="1535"/>
            <p14:sldId id="1536"/>
            <p14:sldId id="1537"/>
            <p14:sldId id="1538"/>
            <p14:sldId id="1539"/>
            <p14:sldId id="1461"/>
            <p14:sldId id="1462"/>
            <p14:sldId id="1463"/>
            <p14:sldId id="1464"/>
            <p14:sldId id="1465"/>
            <p14:sldId id="1466"/>
            <p14:sldId id="1467"/>
            <p14:sldId id="1468"/>
            <p14:sldId id="1469"/>
            <p14:sldId id="1470"/>
            <p14:sldId id="1471"/>
            <p14:sldId id="1474"/>
            <p14:sldId id="1475"/>
            <p14:sldId id="1476"/>
            <p14:sldId id="1477"/>
            <p14:sldId id="1478"/>
            <p14:sldId id="1479"/>
            <p14:sldId id="1480"/>
            <p14:sldId id="1481"/>
            <p14:sldId id="1482"/>
            <p14:sldId id="1483"/>
            <p14:sldId id="1484"/>
            <p14:sldId id="1485"/>
            <p14:sldId id="1486"/>
            <p14:sldId id="1487"/>
            <p14:sldId id="1488"/>
            <p14:sldId id="1489"/>
            <p14:sldId id="1490"/>
            <p14:sldId id="1491"/>
            <p14:sldId id="1492"/>
            <p14:sldId id="1055"/>
            <p14:sldId id="1060"/>
            <p14:sldId id="1061"/>
            <p14:sldId id="1062"/>
            <p14:sldId id="1056"/>
            <p14:sldId id="1057"/>
            <p14:sldId id="1058"/>
            <p14:sldId id="1059"/>
            <p14:sldId id="906"/>
            <p14:sldId id="907"/>
            <p14:sldId id="1030"/>
            <p14:sldId id="919"/>
            <p14:sldId id="1047"/>
            <p14:sldId id="1048"/>
            <p14:sldId id="1049"/>
            <p14:sldId id="1054"/>
            <p14:sldId id="1290"/>
            <p14:sldId id="1325"/>
            <p14:sldId id="1326"/>
            <p14:sldId id="1327"/>
            <p14:sldId id="1328"/>
            <p14:sldId id="1172"/>
            <p14:sldId id="1052"/>
            <p14:sldId id="1053"/>
            <p14:sldId id="1332"/>
            <p14:sldId id="1331"/>
            <p14:sldId id="984"/>
            <p14:sldId id="1289"/>
            <p14:sldId id="1354"/>
            <p14:sldId id="1366"/>
            <p14:sldId id="1355"/>
            <p14:sldId id="1356"/>
            <p14:sldId id="1421"/>
            <p14:sldId id="1390"/>
            <p14:sldId id="1391"/>
            <p14:sldId id="1392"/>
            <p14:sldId id="1394"/>
            <p14:sldId id="1395"/>
            <p14:sldId id="1396"/>
            <p14:sldId id="1397"/>
            <p14:sldId id="1398"/>
            <p14:sldId id="1399"/>
            <p14:sldId id="1400"/>
            <p14:sldId id="1401"/>
            <p14:sldId id="1402"/>
            <p14:sldId id="1403"/>
            <p14:sldId id="1422"/>
            <p14:sldId id="1073"/>
            <p14:sldId id="1074"/>
            <p14:sldId id="1173"/>
            <p14:sldId id="1378"/>
            <p14:sldId id="1075"/>
            <p14:sldId id="1380"/>
            <p14:sldId id="1423"/>
            <p14:sldId id="1424"/>
            <p14:sldId id="1425"/>
            <p14:sldId id="1426"/>
            <p14:sldId id="1427"/>
            <p14:sldId id="1428"/>
            <p14:sldId id="1429"/>
            <p14:sldId id="1430"/>
            <p14:sldId id="1431"/>
            <p14:sldId id="1432"/>
            <p14:sldId id="1433"/>
            <p14:sldId id="1434"/>
            <p14:sldId id="1435"/>
            <p14:sldId id="1436"/>
            <p14:sldId id="1437"/>
            <p14:sldId id="1438"/>
            <p14:sldId id="1439"/>
            <p14:sldId id="1440"/>
            <p14:sldId id="1441"/>
            <p14:sldId id="1442"/>
            <p14:sldId id="1033"/>
            <p14:sldId id="921"/>
          </p14:sldIdLst>
        </p14:section>
      </p14:sectionLst>
    </p:ext>
    <p:ext uri="{EFAFB233-063F-42B5-8137-9DF3F51BA10A}">
      <p15:sldGuideLst xmlns:p15="http://schemas.microsoft.com/office/powerpoint/2012/main" xmlns="">
        <p15:guide id="1" orient="horz" pos="2173" userDrawn="1">
          <p15:clr>
            <a:srgbClr val="A4A3A4"/>
          </p15:clr>
        </p15:guide>
        <p15:guide id="2" pos="2917"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 Muhan" initials="❤" lastIdx="1" clrIdx="0"/>
  <p:cmAuthor id="1643296238" name="崔金满" initials="崔" lastIdx="4" clrIdx="0"/>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6C4C8F"/>
    <a:srgbClr val="EBEBEB"/>
    <a:srgbClr val="FF0000"/>
    <a:srgbClr val="A5A5E9"/>
    <a:srgbClr val="E2D9EB"/>
    <a:srgbClr val="A78DC2"/>
    <a:srgbClr val="FFFF99"/>
    <a:srgbClr val="FF006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0441"/>
    <p:restoredTop sz="84570" autoAdjust="0"/>
  </p:normalViewPr>
  <p:slideViewPr>
    <p:cSldViewPr snapToObjects="1" showGuides="1">
      <p:cViewPr varScale="1">
        <p:scale>
          <a:sx n="75" d="100"/>
          <a:sy n="75" d="100"/>
        </p:scale>
        <p:origin x="-2076" y="-90"/>
      </p:cViewPr>
      <p:guideLst>
        <p:guide orient="horz" pos="2173"/>
        <p:guide pos="2917"/>
      </p:guideLst>
    </p:cSldViewPr>
  </p:slideViewPr>
  <p:outlineViewPr>
    <p:cViewPr>
      <p:scale>
        <a:sx n="33" d="100"/>
        <a:sy n="33" d="100"/>
      </p:scale>
      <p:origin x="0" y="0"/>
    </p:cViewPr>
  </p:outlineViewPr>
  <p:notesTextViewPr>
    <p:cViewPr>
      <p:scale>
        <a:sx n="100" d="100"/>
        <a:sy n="100" d="100"/>
      </p:scale>
      <p:origin x="0" y="0"/>
    </p:cViewPr>
  </p:notesTextViewPr>
  <p:sorterViewPr showFormatting="0">
    <p:cViewPr>
      <p:scale>
        <a:sx n="66" d="100"/>
        <a:sy n="66" d="100"/>
      </p:scale>
      <p:origin x="0" y="7392"/>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63" Type="http://schemas.openxmlformats.org/officeDocument/2006/relationships/slide" Target="slides/slide61.xml"/><Relationship Id="rId84" Type="http://schemas.openxmlformats.org/officeDocument/2006/relationships/slide" Target="slides/slide82.xml"/><Relationship Id="rId138" Type="http://schemas.openxmlformats.org/officeDocument/2006/relationships/slide" Target="slides/slide136.xml"/><Relationship Id="rId159" Type="http://schemas.openxmlformats.org/officeDocument/2006/relationships/slide" Target="slides/slide157.xml"/><Relationship Id="rId170" Type="http://schemas.openxmlformats.org/officeDocument/2006/relationships/slide" Target="slides/slide168.xml"/><Relationship Id="rId191" Type="http://schemas.openxmlformats.org/officeDocument/2006/relationships/slide" Target="slides/slide189.xml"/><Relationship Id="rId205" Type="http://schemas.openxmlformats.org/officeDocument/2006/relationships/slide" Target="slides/slide203.xml"/><Relationship Id="rId226" Type="http://schemas.openxmlformats.org/officeDocument/2006/relationships/slide" Target="slides/slide22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53" Type="http://schemas.openxmlformats.org/officeDocument/2006/relationships/slide" Target="slides/slide51.xml"/><Relationship Id="rId74" Type="http://schemas.openxmlformats.org/officeDocument/2006/relationships/slide" Target="slides/slide72.xml"/><Relationship Id="rId128" Type="http://schemas.openxmlformats.org/officeDocument/2006/relationships/slide" Target="slides/slide126.xml"/><Relationship Id="rId149" Type="http://schemas.openxmlformats.org/officeDocument/2006/relationships/slide" Target="slides/slide147.xml"/><Relationship Id="rId5" Type="http://schemas.openxmlformats.org/officeDocument/2006/relationships/slide" Target="slides/slide3.xml"/><Relationship Id="rId95" Type="http://schemas.openxmlformats.org/officeDocument/2006/relationships/slide" Target="slides/slide93.xml"/><Relationship Id="rId160" Type="http://schemas.openxmlformats.org/officeDocument/2006/relationships/slide" Target="slides/slide158.xml"/><Relationship Id="rId181" Type="http://schemas.openxmlformats.org/officeDocument/2006/relationships/slide" Target="slides/slide179.xml"/><Relationship Id="rId216" Type="http://schemas.openxmlformats.org/officeDocument/2006/relationships/slide" Target="slides/slide214.xml"/><Relationship Id="rId237" Type="http://schemas.openxmlformats.org/officeDocument/2006/relationships/tableStyles" Target="tableStyles.xml"/><Relationship Id="rId22" Type="http://schemas.openxmlformats.org/officeDocument/2006/relationships/slide" Target="slides/slide20.xml"/><Relationship Id="rId43" Type="http://schemas.openxmlformats.org/officeDocument/2006/relationships/slide" Target="slides/slide41.xml"/><Relationship Id="rId64" Type="http://schemas.openxmlformats.org/officeDocument/2006/relationships/slide" Target="slides/slide62.xml"/><Relationship Id="rId118" Type="http://schemas.openxmlformats.org/officeDocument/2006/relationships/slide" Target="slides/slide116.xml"/><Relationship Id="rId139" Type="http://schemas.openxmlformats.org/officeDocument/2006/relationships/slide" Target="slides/slide137.xml"/><Relationship Id="rId85" Type="http://schemas.openxmlformats.org/officeDocument/2006/relationships/slide" Target="slides/slide83.xml"/><Relationship Id="rId150" Type="http://schemas.openxmlformats.org/officeDocument/2006/relationships/slide" Target="slides/slide148.xml"/><Relationship Id="rId171" Type="http://schemas.openxmlformats.org/officeDocument/2006/relationships/slide" Target="slides/slide169.xml"/><Relationship Id="rId192" Type="http://schemas.openxmlformats.org/officeDocument/2006/relationships/slide" Target="slides/slide190.xml"/><Relationship Id="rId206" Type="http://schemas.openxmlformats.org/officeDocument/2006/relationships/slide" Target="slides/slide204.xml"/><Relationship Id="rId227" Type="http://schemas.openxmlformats.org/officeDocument/2006/relationships/slide" Target="slides/slide225.xml"/><Relationship Id="rId12" Type="http://schemas.openxmlformats.org/officeDocument/2006/relationships/slide" Target="slides/slide10.xml"/><Relationship Id="rId33" Type="http://schemas.openxmlformats.org/officeDocument/2006/relationships/slide" Target="slides/slide31.xml"/><Relationship Id="rId108" Type="http://schemas.openxmlformats.org/officeDocument/2006/relationships/slide" Target="slides/slide106.xml"/><Relationship Id="rId129" Type="http://schemas.openxmlformats.org/officeDocument/2006/relationships/slide" Target="slides/slide127.xml"/><Relationship Id="rId54" Type="http://schemas.openxmlformats.org/officeDocument/2006/relationships/slide" Target="slides/slide52.xml"/><Relationship Id="rId75" Type="http://schemas.openxmlformats.org/officeDocument/2006/relationships/slide" Target="slides/slide73.xml"/><Relationship Id="rId96" Type="http://schemas.openxmlformats.org/officeDocument/2006/relationships/slide" Target="slides/slide94.xml"/><Relationship Id="rId140" Type="http://schemas.openxmlformats.org/officeDocument/2006/relationships/slide" Target="slides/slide138.xml"/><Relationship Id="rId161" Type="http://schemas.openxmlformats.org/officeDocument/2006/relationships/slide" Target="slides/slide159.xml"/><Relationship Id="rId182" Type="http://schemas.openxmlformats.org/officeDocument/2006/relationships/slide" Target="slides/slide180.xml"/><Relationship Id="rId217" Type="http://schemas.openxmlformats.org/officeDocument/2006/relationships/slide" Target="slides/slide215.xml"/><Relationship Id="rId6" Type="http://schemas.openxmlformats.org/officeDocument/2006/relationships/slide" Target="slides/slide4.xml"/><Relationship Id="rId23" Type="http://schemas.openxmlformats.org/officeDocument/2006/relationships/slide" Target="slides/slide21.xml"/><Relationship Id="rId119" Type="http://schemas.openxmlformats.org/officeDocument/2006/relationships/slide" Target="slides/slide117.xml"/><Relationship Id="rId44" Type="http://schemas.openxmlformats.org/officeDocument/2006/relationships/slide" Target="slides/slide42.xml"/><Relationship Id="rId65" Type="http://schemas.openxmlformats.org/officeDocument/2006/relationships/slide" Target="slides/slide63.xml"/><Relationship Id="rId86" Type="http://schemas.openxmlformats.org/officeDocument/2006/relationships/slide" Target="slides/slide84.xml"/><Relationship Id="rId130" Type="http://schemas.openxmlformats.org/officeDocument/2006/relationships/slide" Target="slides/slide128.xml"/><Relationship Id="rId151" Type="http://schemas.openxmlformats.org/officeDocument/2006/relationships/slide" Target="slides/slide149.xml"/><Relationship Id="rId172" Type="http://schemas.openxmlformats.org/officeDocument/2006/relationships/slide" Target="slides/slide170.xml"/><Relationship Id="rId193" Type="http://schemas.openxmlformats.org/officeDocument/2006/relationships/slide" Target="slides/slide191.xml"/><Relationship Id="rId207" Type="http://schemas.openxmlformats.org/officeDocument/2006/relationships/slide" Target="slides/slide205.xml"/><Relationship Id="rId228" Type="http://schemas.openxmlformats.org/officeDocument/2006/relationships/slide" Target="slides/slide226.xml"/><Relationship Id="rId13" Type="http://schemas.openxmlformats.org/officeDocument/2006/relationships/slide" Target="slides/slide11.xml"/><Relationship Id="rId109" Type="http://schemas.openxmlformats.org/officeDocument/2006/relationships/slide" Target="slides/slide107.xml"/><Relationship Id="rId34" Type="http://schemas.openxmlformats.org/officeDocument/2006/relationships/slide" Target="slides/slide32.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20" Type="http://schemas.openxmlformats.org/officeDocument/2006/relationships/slide" Target="slides/slide118.xml"/><Relationship Id="rId141" Type="http://schemas.openxmlformats.org/officeDocument/2006/relationships/slide" Target="slides/slide139.xml"/><Relationship Id="rId7" Type="http://schemas.openxmlformats.org/officeDocument/2006/relationships/slide" Target="slides/slide5.xml"/><Relationship Id="rId162" Type="http://schemas.openxmlformats.org/officeDocument/2006/relationships/slide" Target="slides/slide160.xml"/><Relationship Id="rId183" Type="http://schemas.openxmlformats.org/officeDocument/2006/relationships/slide" Target="slides/slide181.xml"/><Relationship Id="rId218" Type="http://schemas.openxmlformats.org/officeDocument/2006/relationships/slide" Target="slides/slide216.xml"/><Relationship Id="rId24" Type="http://schemas.openxmlformats.org/officeDocument/2006/relationships/slide" Target="slides/slide22.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31" Type="http://schemas.openxmlformats.org/officeDocument/2006/relationships/slide" Target="slides/slide129.xml"/><Relationship Id="rId152" Type="http://schemas.openxmlformats.org/officeDocument/2006/relationships/slide" Target="slides/slide150.xml"/><Relationship Id="rId173" Type="http://schemas.openxmlformats.org/officeDocument/2006/relationships/slide" Target="slides/slide171.xml"/><Relationship Id="rId194" Type="http://schemas.openxmlformats.org/officeDocument/2006/relationships/slide" Target="slides/slide192.xml"/><Relationship Id="rId208" Type="http://schemas.openxmlformats.org/officeDocument/2006/relationships/slide" Target="slides/slide206.xml"/><Relationship Id="rId229" Type="http://schemas.openxmlformats.org/officeDocument/2006/relationships/slide" Target="slides/slide227.xml"/><Relationship Id="rId14" Type="http://schemas.openxmlformats.org/officeDocument/2006/relationships/slide" Target="slides/slide12.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8" Type="http://schemas.openxmlformats.org/officeDocument/2006/relationships/slide" Target="slides/slide6.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163" Type="http://schemas.openxmlformats.org/officeDocument/2006/relationships/slide" Target="slides/slide161.xml"/><Relationship Id="rId184" Type="http://schemas.openxmlformats.org/officeDocument/2006/relationships/slide" Target="slides/slide182.xml"/><Relationship Id="rId219" Type="http://schemas.openxmlformats.org/officeDocument/2006/relationships/slide" Target="slides/slide217.xml"/><Relationship Id="rId230" Type="http://schemas.openxmlformats.org/officeDocument/2006/relationships/notesMaster" Target="notesMasters/notesMaster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slide" Target="slides/slide151.xml"/><Relationship Id="rId174" Type="http://schemas.openxmlformats.org/officeDocument/2006/relationships/slide" Target="slides/slide172.xml"/><Relationship Id="rId195" Type="http://schemas.openxmlformats.org/officeDocument/2006/relationships/slide" Target="slides/slide193.xml"/><Relationship Id="rId209" Type="http://schemas.openxmlformats.org/officeDocument/2006/relationships/slide" Target="slides/slide207.xml"/><Relationship Id="rId190" Type="http://schemas.openxmlformats.org/officeDocument/2006/relationships/slide" Target="slides/slide188.xml"/><Relationship Id="rId204" Type="http://schemas.openxmlformats.org/officeDocument/2006/relationships/slide" Target="slides/slide202.xml"/><Relationship Id="rId220" Type="http://schemas.openxmlformats.org/officeDocument/2006/relationships/slide" Target="slides/slide218.xml"/><Relationship Id="rId225" Type="http://schemas.openxmlformats.org/officeDocument/2006/relationships/slide" Target="slides/slide223.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slide" Target="slides/slide141.xml"/><Relationship Id="rId148" Type="http://schemas.openxmlformats.org/officeDocument/2006/relationships/slide" Target="slides/slide146.xml"/><Relationship Id="rId164" Type="http://schemas.openxmlformats.org/officeDocument/2006/relationships/slide" Target="slides/slide162.xml"/><Relationship Id="rId169" Type="http://schemas.openxmlformats.org/officeDocument/2006/relationships/slide" Target="slides/slide167.xml"/><Relationship Id="rId185" Type="http://schemas.openxmlformats.org/officeDocument/2006/relationships/slide" Target="slides/slide183.xml"/><Relationship Id="rId4" Type="http://schemas.openxmlformats.org/officeDocument/2006/relationships/slide" Target="slides/slide2.xml"/><Relationship Id="rId9" Type="http://schemas.openxmlformats.org/officeDocument/2006/relationships/slide" Target="slides/slide7.xml"/><Relationship Id="rId180" Type="http://schemas.openxmlformats.org/officeDocument/2006/relationships/slide" Target="slides/slide178.xml"/><Relationship Id="rId210" Type="http://schemas.openxmlformats.org/officeDocument/2006/relationships/slide" Target="slides/slide208.xml"/><Relationship Id="rId215" Type="http://schemas.openxmlformats.org/officeDocument/2006/relationships/slide" Target="slides/slide213.xml"/><Relationship Id="rId236" Type="http://schemas.openxmlformats.org/officeDocument/2006/relationships/theme" Target="theme/theme1.xml"/><Relationship Id="rId26" Type="http://schemas.openxmlformats.org/officeDocument/2006/relationships/slide" Target="slides/slide24.xml"/><Relationship Id="rId231" Type="http://schemas.openxmlformats.org/officeDocument/2006/relationships/handoutMaster" Target="handoutMasters/handoutMaster1.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54" Type="http://schemas.openxmlformats.org/officeDocument/2006/relationships/slide" Target="slides/slide152.xml"/><Relationship Id="rId175" Type="http://schemas.openxmlformats.org/officeDocument/2006/relationships/slide" Target="slides/slide173.xml"/><Relationship Id="rId196" Type="http://schemas.openxmlformats.org/officeDocument/2006/relationships/slide" Target="slides/slide194.xml"/><Relationship Id="rId200" Type="http://schemas.openxmlformats.org/officeDocument/2006/relationships/slide" Target="slides/slide198.xml"/><Relationship Id="rId16" Type="http://schemas.openxmlformats.org/officeDocument/2006/relationships/slide" Target="slides/slide14.xml"/><Relationship Id="rId221" Type="http://schemas.openxmlformats.org/officeDocument/2006/relationships/slide" Target="slides/slide219.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slide" Target="slides/slide142.xml"/><Relationship Id="rId90" Type="http://schemas.openxmlformats.org/officeDocument/2006/relationships/slide" Target="slides/slide88.xml"/><Relationship Id="rId165" Type="http://schemas.openxmlformats.org/officeDocument/2006/relationships/slide" Target="slides/slide163.xml"/><Relationship Id="rId186" Type="http://schemas.openxmlformats.org/officeDocument/2006/relationships/slide" Target="slides/slide184.xml"/><Relationship Id="rId211" Type="http://schemas.openxmlformats.org/officeDocument/2006/relationships/slide" Target="slides/slide209.xml"/><Relationship Id="rId232" Type="http://schemas.openxmlformats.org/officeDocument/2006/relationships/tags" Target="tags/tag1.xml"/><Relationship Id="rId27" Type="http://schemas.openxmlformats.org/officeDocument/2006/relationships/slide" Target="slides/slide25.xml"/><Relationship Id="rId48" Type="http://schemas.openxmlformats.org/officeDocument/2006/relationships/slide" Target="slides/slide46.xml"/><Relationship Id="rId69" Type="http://schemas.openxmlformats.org/officeDocument/2006/relationships/slide" Target="slides/slide67.xml"/><Relationship Id="rId113" Type="http://schemas.openxmlformats.org/officeDocument/2006/relationships/slide" Target="slides/slide111.xml"/><Relationship Id="rId134" Type="http://schemas.openxmlformats.org/officeDocument/2006/relationships/slide" Target="slides/slide132.xml"/><Relationship Id="rId80" Type="http://schemas.openxmlformats.org/officeDocument/2006/relationships/slide" Target="slides/slide78.xml"/><Relationship Id="rId155" Type="http://schemas.openxmlformats.org/officeDocument/2006/relationships/slide" Target="slides/slide153.xml"/><Relationship Id="rId176" Type="http://schemas.openxmlformats.org/officeDocument/2006/relationships/slide" Target="slides/slide174.xml"/><Relationship Id="rId197" Type="http://schemas.openxmlformats.org/officeDocument/2006/relationships/slide" Target="slides/slide195.xml"/><Relationship Id="rId201" Type="http://schemas.openxmlformats.org/officeDocument/2006/relationships/slide" Target="slides/slide199.xml"/><Relationship Id="rId222" Type="http://schemas.openxmlformats.org/officeDocument/2006/relationships/slide" Target="slides/slide220.xml"/><Relationship Id="rId17" Type="http://schemas.openxmlformats.org/officeDocument/2006/relationships/slide" Target="slides/slide15.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24" Type="http://schemas.openxmlformats.org/officeDocument/2006/relationships/slide" Target="slides/slide122.xml"/><Relationship Id="rId70" Type="http://schemas.openxmlformats.org/officeDocument/2006/relationships/slide" Target="slides/slide68.xml"/><Relationship Id="rId91" Type="http://schemas.openxmlformats.org/officeDocument/2006/relationships/slide" Target="slides/slide89.xml"/><Relationship Id="rId145" Type="http://schemas.openxmlformats.org/officeDocument/2006/relationships/slide" Target="slides/slide143.xml"/><Relationship Id="rId166" Type="http://schemas.openxmlformats.org/officeDocument/2006/relationships/slide" Target="slides/slide164.xml"/><Relationship Id="rId187" Type="http://schemas.openxmlformats.org/officeDocument/2006/relationships/slide" Target="slides/slide185.xml"/><Relationship Id="rId1" Type="http://schemas.openxmlformats.org/officeDocument/2006/relationships/slideMaster" Target="slideMasters/slideMaster1.xml"/><Relationship Id="rId212" Type="http://schemas.openxmlformats.org/officeDocument/2006/relationships/slide" Target="slides/slide210.xml"/><Relationship Id="rId233" Type="http://schemas.openxmlformats.org/officeDocument/2006/relationships/commentAuthors" Target="commentAuthors.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60" Type="http://schemas.openxmlformats.org/officeDocument/2006/relationships/slide" Target="slides/slide58.xml"/><Relationship Id="rId81" Type="http://schemas.openxmlformats.org/officeDocument/2006/relationships/slide" Target="slides/slide79.xml"/><Relationship Id="rId135" Type="http://schemas.openxmlformats.org/officeDocument/2006/relationships/slide" Target="slides/slide133.xml"/><Relationship Id="rId156" Type="http://schemas.openxmlformats.org/officeDocument/2006/relationships/slide" Target="slides/slide154.xml"/><Relationship Id="rId177" Type="http://schemas.openxmlformats.org/officeDocument/2006/relationships/slide" Target="slides/slide175.xml"/><Relationship Id="rId198" Type="http://schemas.openxmlformats.org/officeDocument/2006/relationships/slide" Target="slides/slide196.xml"/><Relationship Id="rId202" Type="http://schemas.openxmlformats.org/officeDocument/2006/relationships/slide" Target="slides/slide200.xml"/><Relationship Id="rId223" Type="http://schemas.openxmlformats.org/officeDocument/2006/relationships/slide" Target="slides/slide221.xml"/><Relationship Id="rId18" Type="http://schemas.openxmlformats.org/officeDocument/2006/relationships/slide" Target="slides/slide16.xml"/><Relationship Id="rId39" Type="http://schemas.openxmlformats.org/officeDocument/2006/relationships/slide" Target="slides/slide37.xml"/><Relationship Id="rId50" Type="http://schemas.openxmlformats.org/officeDocument/2006/relationships/slide" Target="slides/slide48.xml"/><Relationship Id="rId104" Type="http://schemas.openxmlformats.org/officeDocument/2006/relationships/slide" Target="slides/slide102.xml"/><Relationship Id="rId125" Type="http://schemas.openxmlformats.org/officeDocument/2006/relationships/slide" Target="slides/slide123.xml"/><Relationship Id="rId146" Type="http://schemas.openxmlformats.org/officeDocument/2006/relationships/slide" Target="slides/slide144.xml"/><Relationship Id="rId167" Type="http://schemas.openxmlformats.org/officeDocument/2006/relationships/slide" Target="slides/slide165.xml"/><Relationship Id="rId188" Type="http://schemas.openxmlformats.org/officeDocument/2006/relationships/slide" Target="slides/slide186.xml"/><Relationship Id="rId71" Type="http://schemas.openxmlformats.org/officeDocument/2006/relationships/slide" Target="slides/slide69.xml"/><Relationship Id="rId92" Type="http://schemas.openxmlformats.org/officeDocument/2006/relationships/slide" Target="slides/slide90.xml"/><Relationship Id="rId213" Type="http://schemas.openxmlformats.org/officeDocument/2006/relationships/slide" Target="slides/slide211.xml"/><Relationship Id="rId234" Type="http://schemas.openxmlformats.org/officeDocument/2006/relationships/presProps" Target="presProps.xml"/><Relationship Id="rId2" Type="http://schemas.openxmlformats.org/officeDocument/2006/relationships/slideMaster" Target="slideMasters/slideMaster2.xml"/><Relationship Id="rId29" Type="http://schemas.openxmlformats.org/officeDocument/2006/relationships/slide" Target="slides/slide27.xml"/><Relationship Id="rId40" Type="http://schemas.openxmlformats.org/officeDocument/2006/relationships/slide" Target="slides/slide38.xml"/><Relationship Id="rId115" Type="http://schemas.openxmlformats.org/officeDocument/2006/relationships/slide" Target="slides/slide113.xml"/><Relationship Id="rId136" Type="http://schemas.openxmlformats.org/officeDocument/2006/relationships/slide" Target="slides/slide134.xml"/><Relationship Id="rId157" Type="http://schemas.openxmlformats.org/officeDocument/2006/relationships/slide" Target="slides/slide155.xml"/><Relationship Id="rId178" Type="http://schemas.openxmlformats.org/officeDocument/2006/relationships/slide" Target="slides/slide176.xml"/><Relationship Id="rId61" Type="http://schemas.openxmlformats.org/officeDocument/2006/relationships/slide" Target="slides/slide59.xml"/><Relationship Id="rId82" Type="http://schemas.openxmlformats.org/officeDocument/2006/relationships/slide" Target="slides/slide80.xml"/><Relationship Id="rId199" Type="http://schemas.openxmlformats.org/officeDocument/2006/relationships/slide" Target="slides/slide197.xml"/><Relationship Id="rId203" Type="http://schemas.openxmlformats.org/officeDocument/2006/relationships/slide" Target="slides/slide201.xml"/><Relationship Id="rId19" Type="http://schemas.openxmlformats.org/officeDocument/2006/relationships/slide" Target="slides/slide17.xml"/><Relationship Id="rId224" Type="http://schemas.openxmlformats.org/officeDocument/2006/relationships/slide" Target="slides/slide222.xml"/><Relationship Id="rId30" Type="http://schemas.openxmlformats.org/officeDocument/2006/relationships/slide" Target="slides/slide2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168" Type="http://schemas.openxmlformats.org/officeDocument/2006/relationships/slide" Target="slides/slide16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189" Type="http://schemas.openxmlformats.org/officeDocument/2006/relationships/slide" Target="slides/slide187.xml"/><Relationship Id="rId3" Type="http://schemas.openxmlformats.org/officeDocument/2006/relationships/slide" Target="slides/slide1.xml"/><Relationship Id="rId214" Type="http://schemas.openxmlformats.org/officeDocument/2006/relationships/slide" Target="slides/slide212.xml"/><Relationship Id="rId235" Type="http://schemas.openxmlformats.org/officeDocument/2006/relationships/viewProps" Target="viewProps.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slide" Target="slides/slide156.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179" Type="http://schemas.openxmlformats.org/officeDocument/2006/relationships/slide" Target="slides/slide177.xml"/></Relationships>
</file>

<file path=ppt/comments/comment1.xml><?xml version="1.0" encoding="utf-8"?>
<p:cmLst xmlns:a="http://schemas.openxmlformats.org/drawingml/2006/main" xmlns:r="http://schemas.openxmlformats.org/officeDocument/2006/relationships" xmlns:p="http://schemas.openxmlformats.org/presentationml/2006/main">
  <p:cm authorId="1643296238" dt="2024-10-20T16:45:36.230" idx="1">
    <p:pos x="1885" y="3048"/>
    <p:text>目标中是否需要加入并查集？</p:text>
  </p:cm>
</p:cmLst>
</file>

<file path=ppt/comments/comment2.xml><?xml version="1.0" encoding="utf-8"?>
<p:cmLst xmlns:a="http://schemas.openxmlformats.org/drawingml/2006/main" xmlns:r="http://schemas.openxmlformats.org/officeDocument/2006/relationships" xmlns:p="http://schemas.openxmlformats.org/presentationml/2006/main">
  <p:cm authorId="1643296238" dt="2024-10-20T17:02:25.848" idx="4">
    <p:pos x="4651" y="129"/>
    <p:text>ChatGPT，chat的首字母要大写</p:text>
  </p:cm>
</p:cmLst>
</file>

<file path=ppt/comments/comment3.xml><?xml version="1.0" encoding="utf-8"?>
<p:cmLst xmlns:a="http://schemas.openxmlformats.org/drawingml/2006/main" xmlns:r="http://schemas.openxmlformats.org/officeDocument/2006/relationships" xmlns:p="http://schemas.openxmlformats.org/presentationml/2006/main">
  <p:cm authorId="1643296238" dt="2024-10-20T17:01:02.021" idx="3">
    <p:pos x="10" y="10"/>
    <p:text>并查集？</p:text>
  </p:cm>
</p:cmLst>
</file>

<file path=ppt/comments/comment4.xml><?xml version="1.0" encoding="utf-8"?>
<p:cmLst xmlns:a="http://schemas.openxmlformats.org/drawingml/2006/main" xmlns:r="http://schemas.openxmlformats.org/officeDocument/2006/relationships" xmlns:p="http://schemas.openxmlformats.org/presentationml/2006/main">
  <p:cm authorId="1643296238" dt="2024-10-20T17:00:47.668" idx="2">
    <p:pos x="5583" y="855"/>
    <p:text>是否要加入并查集相关内容？</p:text>
  </p:cm>
</p:cmLst>
</file>

<file path=ppt/drawings/_rels/vmlDrawing1.vml.rels><?xml version="1.0" encoding="UTF-8" standalone="yes"?>
<Relationships xmlns="http://schemas.openxmlformats.org/package/2006/relationships"><Relationship Id="rId2" Type="http://schemas.openxmlformats.org/officeDocument/2006/relationships/image" Target="../media/image9.wmf"/><Relationship Id="rId1" Type="http://schemas.openxmlformats.org/officeDocument/2006/relationships/image" Target="../media/image8.wmf"/></Relationships>
</file>

<file path=ppt/drawings/_rels/vmlDrawing2.vml.rels><?xml version="1.0" encoding="UTF-8" standalone="yes"?>
<Relationships xmlns="http://schemas.openxmlformats.org/package/2006/relationships"><Relationship Id="rId3" Type="http://schemas.openxmlformats.org/officeDocument/2006/relationships/image" Target="../media/image12.wmf"/><Relationship Id="rId2" Type="http://schemas.openxmlformats.org/officeDocument/2006/relationships/image" Target="../media/image11.wmf"/><Relationship Id="rId1" Type="http://schemas.openxmlformats.org/officeDocument/2006/relationships/image" Target="../media/image10.wmf"/><Relationship Id="rId4" Type="http://schemas.openxmlformats.org/officeDocument/2006/relationships/image" Target="../media/image13.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4.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4.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4.wmf"/></Relationships>
</file>

<file path=ppt/drawings/_rels/vmlDrawing6.vml.rels><?xml version="1.0" encoding="UTF-8" standalone="yes"?>
<Relationships xmlns="http://schemas.openxmlformats.org/package/2006/relationships"><Relationship Id="rId3" Type="http://schemas.openxmlformats.org/officeDocument/2006/relationships/image" Target="../media/image18.wmf"/><Relationship Id="rId2" Type="http://schemas.openxmlformats.org/officeDocument/2006/relationships/image" Target="../media/image17.wmf"/><Relationship Id="rId1" Type="http://schemas.openxmlformats.org/officeDocument/2006/relationships/image" Target="../media/image16.wmf"/><Relationship Id="rId5" Type="http://schemas.openxmlformats.org/officeDocument/2006/relationships/image" Target="../media/image20.wmf"/><Relationship Id="rId4" Type="http://schemas.openxmlformats.org/officeDocument/2006/relationships/image" Target="../media/image19.wmf"/></Relationships>
</file>

<file path=ppt/drawings/_rels/vmlDrawing7.vml.rels><?xml version="1.0" encoding="UTF-8" standalone="yes"?>
<Relationships xmlns="http://schemas.openxmlformats.org/package/2006/relationships"><Relationship Id="rId2" Type="http://schemas.openxmlformats.org/officeDocument/2006/relationships/image" Target="../media/image16.wmf"/><Relationship Id="rId1" Type="http://schemas.openxmlformats.org/officeDocument/2006/relationships/image" Target="../media/image21.wmf"/></Relationships>
</file>

<file path=ppt/drawings/_rels/vmlDrawing8.vml.rels><?xml version="1.0" encoding="UTF-8" standalone="yes"?>
<Relationships xmlns="http://schemas.openxmlformats.org/package/2006/relationships"><Relationship Id="rId2" Type="http://schemas.openxmlformats.org/officeDocument/2006/relationships/image" Target="../media/image16.wmf"/><Relationship Id="rId1" Type="http://schemas.openxmlformats.org/officeDocument/2006/relationships/image" Target="../media/image21.wmf"/></Relationships>
</file>

<file path=ppt/drawings/_rels/vmlDrawing9.vml.rels><?xml version="1.0" encoding="UTF-8" standalone="yes"?>
<Relationships xmlns="http://schemas.openxmlformats.org/package/2006/relationships"><Relationship Id="rId3" Type="http://schemas.openxmlformats.org/officeDocument/2006/relationships/image" Target="../media/image23.wmf"/><Relationship Id="rId2" Type="http://schemas.openxmlformats.org/officeDocument/2006/relationships/image" Target="../media/image22.wmf"/><Relationship Id="rId1" Type="http://schemas.openxmlformats.org/officeDocument/2006/relationships/image" Target="../media/image16.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11.vml.rels><?xml version="1.0" encoding="UTF-8" standalone="yes"?>
<Relationships xmlns="http://schemas.openxmlformats.org/package/2006/relationships"><Relationship Id="rId2" Type="http://schemas.openxmlformats.org/officeDocument/2006/relationships/image" Target="../media/image27.wmf"/><Relationship Id="rId1" Type="http://schemas.openxmlformats.org/officeDocument/2006/relationships/image" Target="../media/image26.w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28.w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31.wmf"/></Relationships>
</file>

<file path=ppt/drawings/_rels/vmlDrawing14.vml.rels><?xml version="1.0" encoding="UTF-8" standalone="yes"?>
<Relationships xmlns="http://schemas.openxmlformats.org/package/2006/relationships"><Relationship Id="rId3" Type="http://schemas.openxmlformats.org/officeDocument/2006/relationships/image" Target="../media/image44.wmf"/><Relationship Id="rId2" Type="http://schemas.openxmlformats.org/officeDocument/2006/relationships/image" Target="../media/image43.wmf"/><Relationship Id="rId1" Type="http://schemas.openxmlformats.org/officeDocument/2006/relationships/image" Target="../media/image42.wmf"/><Relationship Id="rId5" Type="http://schemas.openxmlformats.org/officeDocument/2006/relationships/image" Target="../media/image46.wmf"/><Relationship Id="rId4" Type="http://schemas.openxmlformats.org/officeDocument/2006/relationships/image" Target="../media/image45.wmf"/></Relationships>
</file>

<file path=ppt/drawings/_rels/vmlDrawing15.v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image" Target="../media/image47.png"/></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49.wmf"/></Relationships>
</file>

<file path=ppt/drawings/_rels/vmlDrawing17.vml.rels><?xml version="1.0" encoding="UTF-8" standalone="yes"?>
<Relationships xmlns="http://schemas.openxmlformats.org/package/2006/relationships"><Relationship Id="rId1" Type="http://schemas.openxmlformats.org/officeDocument/2006/relationships/image" Target="../media/image49.wmf"/></Relationships>
</file>

<file path=ppt/drawings/_rels/vmlDrawing18.vml.rels><?xml version="1.0" encoding="UTF-8" standalone="yes"?>
<Relationships xmlns="http://schemas.openxmlformats.org/package/2006/relationships"><Relationship Id="rId1" Type="http://schemas.openxmlformats.org/officeDocument/2006/relationships/image" Target="../media/image49.wmf"/></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54.wmf"/></Relationships>
</file>

<file path=ppt/drawings/_rels/vmlDrawing20.vml.rels><?xml version="1.0" encoding="UTF-8" standalone="yes"?>
<Relationships xmlns="http://schemas.openxmlformats.org/package/2006/relationships"><Relationship Id="rId2" Type="http://schemas.openxmlformats.org/officeDocument/2006/relationships/image" Target="../media/image61.wmf"/><Relationship Id="rId1" Type="http://schemas.openxmlformats.org/officeDocument/2006/relationships/image" Target="../media/image60.wmf"/></Relationships>
</file>

<file path=ppt/drawings/_rels/vmlDrawing21.vml.rels><?xml version="1.0" encoding="UTF-8" standalone="yes"?>
<Relationships xmlns="http://schemas.openxmlformats.org/package/2006/relationships"><Relationship Id="rId1" Type="http://schemas.openxmlformats.org/officeDocument/2006/relationships/image" Target="../media/image61.w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hdr" sz="quarter"/>
          </p:nvPr>
        </p:nvSpPr>
        <p:spPr bwMode="auto">
          <a:xfrm>
            <a:off x="0" y="0"/>
            <a:ext cx="2971800" cy="457200"/>
          </a:xfrm>
          <a:prstGeom prst="rect">
            <a:avLst/>
          </a:prstGeom>
          <a:noFill/>
          <a:ln w="9525">
            <a:noFill/>
            <a:miter lim="800000"/>
          </a:ln>
        </p:spPr>
        <p:txBody>
          <a:bodyPr vert="horz" wrap="square" lIns="91440" tIns="45720" rIns="91440" bIns="45720" numCol="1" anchor="t" anchorCtr="0" compatLnSpc="1"/>
          <a:lstStyle>
            <a:lvl1pPr eaLnBrk="1" hangingPunct="1">
              <a:spcBef>
                <a:spcPct val="0"/>
              </a:spcBef>
              <a:buFontTx/>
              <a:buNone/>
              <a:defRPr kumimoji="1" sz="1200" b="0">
                <a:ea typeface="仿宋_GB2312" pitchFamily="49" charset="-122"/>
                <a:cs typeface="+mn-cs"/>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1" lang="en-US" altLang="zh-CN"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3075" name="Rectangle 3"/>
          <p:cNvSpPr>
            <a:spLocks noGrp="1" noChangeArrowheads="1"/>
          </p:cNvSpPr>
          <p:nvPr>
            <p:ph type="dt" sz="quarter" idx="1"/>
          </p:nvPr>
        </p:nvSpPr>
        <p:spPr bwMode="auto">
          <a:xfrm>
            <a:off x="3886200" y="0"/>
            <a:ext cx="2971800" cy="457200"/>
          </a:xfrm>
          <a:prstGeom prst="rect">
            <a:avLst/>
          </a:prstGeom>
          <a:noFill/>
          <a:ln w="9525">
            <a:noFill/>
            <a:miter lim="800000"/>
          </a:ln>
        </p:spPr>
        <p:txBody>
          <a:bodyPr vert="horz" wrap="square" lIns="91440" tIns="45720" rIns="91440" bIns="45720" numCol="1" anchor="t" anchorCtr="0" compatLnSpc="1"/>
          <a:lstStyle>
            <a:lvl1pPr algn="r" eaLnBrk="1" hangingPunct="1">
              <a:spcBef>
                <a:spcPct val="0"/>
              </a:spcBef>
              <a:buFontTx/>
              <a:buNone/>
              <a:defRPr kumimoji="1" sz="1200" b="0">
                <a:ea typeface="仿宋_GB2312" pitchFamily="49" charset="-122"/>
                <a:cs typeface="+mn-cs"/>
              </a:defRPr>
            </a:lvl1pPr>
          </a:lstStyle>
          <a:p>
            <a:pPr marL="0" marR="0" lvl="0" indent="0" algn="r" defTabSz="914400" rtl="0" eaLnBrk="1" fontAlgn="base" latinLnBrk="0" hangingPunct="1">
              <a:lnSpc>
                <a:spcPct val="100000"/>
              </a:lnSpc>
              <a:spcBef>
                <a:spcPct val="0"/>
              </a:spcBef>
              <a:spcAft>
                <a:spcPct val="0"/>
              </a:spcAft>
              <a:buClrTx/>
              <a:buSzTx/>
              <a:buFontTx/>
              <a:buNone/>
              <a:defRPr/>
            </a:pPr>
            <a:endParaRPr kumimoji="1" lang="en-US" altLang="zh-CN"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3076" name="Rectangle 4"/>
          <p:cNvSpPr>
            <a:spLocks noGrp="1" noChangeArrowheads="1"/>
          </p:cNvSpPr>
          <p:nvPr>
            <p:ph type="ftr" sz="quarter" idx="2"/>
          </p:nvPr>
        </p:nvSpPr>
        <p:spPr bwMode="auto">
          <a:xfrm>
            <a:off x="0" y="8686800"/>
            <a:ext cx="2971800" cy="457200"/>
          </a:xfrm>
          <a:prstGeom prst="rect">
            <a:avLst/>
          </a:prstGeom>
          <a:noFill/>
          <a:ln w="9525">
            <a:noFill/>
            <a:miter lim="800000"/>
          </a:ln>
        </p:spPr>
        <p:txBody>
          <a:bodyPr vert="horz" wrap="square" lIns="91440" tIns="45720" rIns="91440" bIns="45720" numCol="1" anchor="b" anchorCtr="0" compatLnSpc="1"/>
          <a:lstStyle>
            <a:lvl1pPr eaLnBrk="1" hangingPunct="1">
              <a:spcBef>
                <a:spcPct val="0"/>
              </a:spcBef>
              <a:buFontTx/>
              <a:buNone/>
              <a:defRPr kumimoji="1" sz="1200" b="0">
                <a:ea typeface="仿宋_GB2312" pitchFamily="49" charset="-122"/>
                <a:cs typeface="+mn-cs"/>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1" lang="en-US" altLang="zh-CN"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3077" name="Rectangle 5"/>
          <p:cNvSpPr>
            <a:spLocks noGrp="1" noChangeArrowheads="1"/>
          </p:cNvSpPr>
          <p:nvPr>
            <p:ph type="sldNum" sz="quarter" idx="3"/>
          </p:nvPr>
        </p:nvSpPr>
        <p:spPr bwMode="auto">
          <a:xfrm>
            <a:off x="3886200" y="8686800"/>
            <a:ext cx="2971800" cy="457200"/>
          </a:xfrm>
          <a:prstGeom prst="rect">
            <a:avLst/>
          </a:prstGeom>
          <a:noFill/>
          <a:ln w="9525">
            <a:noFill/>
            <a:miter lim="800000"/>
          </a:ln>
        </p:spPr>
        <p:txBody>
          <a:bodyPr vert="horz" wrap="square" lIns="91440" tIns="45720" rIns="91440" bIns="45720" numCol="1" anchor="b" anchorCtr="0" compatLnSpc="1"/>
          <a:lstStyle>
            <a:lvl1pPr algn="r" eaLnBrk="1" hangingPunct="1">
              <a:spcBef>
                <a:spcPct val="0"/>
              </a:spcBef>
              <a:buFont typeface="Arial" panose="020B0604020202020204" pitchFamily="34" charset="0"/>
              <a:buNone/>
              <a:defRPr sz="1200" b="0" noProof="1">
                <a:ea typeface="仿宋_GB2312" pitchFamily="49" charset="-122"/>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167AFD3B-C4E1-4416-BD3D-68F2CFCE9377}" type="slidenum">
              <a:rPr kumimoji="0" lang="en-US" altLang="zh-CN" sz="1200" b="0" i="0" u="none" strike="noStrike" kern="1200" cap="none" spc="0" normalizeH="0" baseline="0" noProof="1">
                <a:ln>
                  <a:noFill/>
                </a:ln>
                <a:solidFill>
                  <a:schemeClr val="tx1"/>
                </a:solidFill>
                <a:effectLst/>
                <a:uLnTx/>
                <a:uFillTx/>
                <a:latin typeface="Times New Roman" panose="02020603050405020304" pitchFamily="18" charset="0"/>
                <a:ea typeface="仿宋_GB2312" pitchFamily="49" charset="-122"/>
                <a:cs typeface="+mn-cs"/>
              </a:rPr>
              <a:t>‹#›</a:t>
            </a:fld>
            <a:endParaRPr kumimoji="0" lang="en-US" altLang="zh-CN" sz="1200" b="0" i="0" u="none" strike="noStrike" kern="1200" cap="none" spc="0" normalizeH="0" baseline="0" noProof="1">
              <a:ln>
                <a:noFill/>
              </a:ln>
              <a:solidFill>
                <a:schemeClr val="tx1"/>
              </a:solidFill>
              <a:effectLst/>
              <a:uLnTx/>
              <a:uFillTx/>
              <a:latin typeface="Times New Roman" panose="02020603050405020304" pitchFamily="18" charset="0"/>
              <a:ea typeface="仿宋_GB2312" pitchFamily="49" charset="-122"/>
              <a:cs typeface="+mn-cs"/>
            </a:endParaRPr>
          </a:p>
        </p:txBody>
      </p:sp>
    </p:spTree>
    <p:extLst>
      <p:ext uri="{BB962C8B-B14F-4D97-AF65-F5344CB8AC3E}">
        <p14:creationId xmlns:p14="http://schemas.microsoft.com/office/powerpoint/2010/main" val="629226410"/>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0" name="Rectangle 2"/>
          <p:cNvSpPr>
            <a:spLocks noGrp="1" noChangeArrowheads="1"/>
          </p:cNvSpPr>
          <p:nvPr>
            <p:ph type="hdr" sz="quarter"/>
          </p:nvPr>
        </p:nvSpPr>
        <p:spPr bwMode="auto">
          <a:xfrm>
            <a:off x="0" y="0"/>
            <a:ext cx="2971800" cy="457200"/>
          </a:xfrm>
          <a:prstGeom prst="rect">
            <a:avLst/>
          </a:prstGeom>
          <a:noFill/>
          <a:ln w="9525">
            <a:noFill/>
            <a:miter lim="800000"/>
          </a:ln>
        </p:spPr>
        <p:txBody>
          <a:bodyPr vert="horz" wrap="square" lIns="91440" tIns="45720" rIns="91440" bIns="45720" numCol="1" anchor="t" anchorCtr="0" compatLnSpc="1"/>
          <a:lstStyle>
            <a:lvl1pPr eaLnBrk="1" hangingPunct="1">
              <a:spcBef>
                <a:spcPct val="0"/>
              </a:spcBef>
              <a:buFontTx/>
              <a:buNone/>
              <a:defRPr kumimoji="1" sz="1200" b="0">
                <a:ea typeface="仿宋_GB2312" pitchFamily="49" charset="-122"/>
                <a:cs typeface="+mn-cs"/>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1" lang="en-US" altLang="zh-CN"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2051" name="Rectangle 3"/>
          <p:cNvSpPr>
            <a:spLocks noGrp="1" noChangeArrowheads="1"/>
          </p:cNvSpPr>
          <p:nvPr>
            <p:ph type="dt" idx="1"/>
          </p:nvPr>
        </p:nvSpPr>
        <p:spPr bwMode="auto">
          <a:xfrm>
            <a:off x="3886200" y="0"/>
            <a:ext cx="2971800" cy="457200"/>
          </a:xfrm>
          <a:prstGeom prst="rect">
            <a:avLst/>
          </a:prstGeom>
          <a:noFill/>
          <a:ln w="9525">
            <a:noFill/>
            <a:miter lim="800000"/>
          </a:ln>
        </p:spPr>
        <p:txBody>
          <a:bodyPr vert="horz" wrap="square" lIns="91440" tIns="45720" rIns="91440" bIns="45720" numCol="1" anchor="t" anchorCtr="0" compatLnSpc="1"/>
          <a:lstStyle>
            <a:lvl1pPr algn="r" eaLnBrk="1" hangingPunct="1">
              <a:spcBef>
                <a:spcPct val="0"/>
              </a:spcBef>
              <a:buFontTx/>
              <a:buNone/>
              <a:defRPr kumimoji="1" sz="1200" b="0">
                <a:ea typeface="仿宋_GB2312" pitchFamily="49" charset="-122"/>
                <a:cs typeface="+mn-cs"/>
              </a:defRPr>
            </a:lvl1pPr>
          </a:lstStyle>
          <a:p>
            <a:pPr marL="0" marR="0" lvl="0" indent="0" algn="r" defTabSz="914400" rtl="0" eaLnBrk="1" fontAlgn="base" latinLnBrk="0" hangingPunct="1">
              <a:lnSpc>
                <a:spcPct val="100000"/>
              </a:lnSpc>
              <a:spcBef>
                <a:spcPct val="0"/>
              </a:spcBef>
              <a:spcAft>
                <a:spcPct val="0"/>
              </a:spcAft>
              <a:buClrTx/>
              <a:buSzTx/>
              <a:buFontTx/>
              <a:buNone/>
              <a:defRPr/>
            </a:pPr>
            <a:endParaRPr kumimoji="1" lang="en-US" altLang="zh-CN"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8196" name="Rectangle 4"/>
          <p:cNvSpPr>
            <a:spLocks noGrp="1" noRot="1" noChangeAspect="1"/>
          </p:cNvSpPr>
          <p:nvPr>
            <p:ph type="sldImg"/>
          </p:nvPr>
        </p:nvSpPr>
        <p:spPr>
          <a:xfrm>
            <a:off x="1143000" y="685800"/>
            <a:ext cx="4572000" cy="3429000"/>
          </a:xfrm>
          <a:prstGeom prst="rect">
            <a:avLst/>
          </a:prstGeom>
          <a:noFill/>
          <a:ln w="9525" cap="flat" cmpd="sng">
            <a:solidFill>
              <a:srgbClr val="000000"/>
            </a:solidFill>
            <a:prstDash val="solid"/>
            <a:miter/>
            <a:headEnd type="none" w="med" len="med"/>
            <a:tailEnd type="none" w="med" len="med"/>
          </a:ln>
        </p:spPr>
      </p:sp>
      <p:sp>
        <p:nvSpPr>
          <p:cNvPr id="2053" name="Rectangle 5"/>
          <p:cNvSpPr>
            <a:spLocks noGrp="1" noChangeArrowheads="1"/>
          </p:cNvSpPr>
          <p:nvPr>
            <p:ph type="body" sz="quarter" idx="3"/>
          </p:nvPr>
        </p:nvSpPr>
        <p:spPr bwMode="auto">
          <a:xfrm>
            <a:off x="914400" y="4343400"/>
            <a:ext cx="5029200" cy="4114800"/>
          </a:xfrm>
          <a:prstGeom prst="rect">
            <a:avLst/>
          </a:prstGeom>
          <a:noFill/>
          <a:ln w="9525">
            <a:noFill/>
            <a:miter lim="800000"/>
          </a:ln>
        </p:spPr>
        <p:txBody>
          <a:bodyPr vert="horz" wrap="square" lIns="91440" tIns="45720" rIns="91440" bIns="45720" numCol="1" anchor="t" anchorCtr="0" compatLnSpc="1"/>
          <a:lstStyle/>
          <a:p>
            <a:pPr marL="0" marR="0" lvl="0" indent="0" algn="l" defTabSz="914400" rtl="0" eaLnBrk="0" fontAlgn="base" latinLnBrk="0" hangingPunct="0">
              <a:lnSpc>
                <a:spcPct val="100000"/>
              </a:lnSpc>
              <a:spcBef>
                <a:spcPct val="30000"/>
              </a:spcBef>
              <a:spcAft>
                <a:spcPct val="0"/>
              </a:spcAft>
              <a:buClrTx/>
              <a:buSzTx/>
              <a:buFontTx/>
              <a:buNone/>
              <a:defRPr/>
            </a:pPr>
            <a:r>
              <a:rPr kumimoji="0"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仿宋_GB2312" pitchFamily="49" charset="-122"/>
              </a:rPr>
              <a:t>单击以编辑母版文本样式</a:t>
            </a:r>
          </a:p>
          <a:p>
            <a:pPr marL="457200" marR="0" lvl="1" indent="0" algn="l" defTabSz="914400" rtl="0" eaLnBrk="0" fontAlgn="base" latinLnBrk="0" hangingPunct="0">
              <a:lnSpc>
                <a:spcPct val="100000"/>
              </a:lnSpc>
              <a:spcBef>
                <a:spcPct val="30000"/>
              </a:spcBef>
              <a:spcAft>
                <a:spcPct val="0"/>
              </a:spcAft>
              <a:buClrTx/>
              <a:buSzTx/>
              <a:buFontTx/>
              <a:buNone/>
              <a:defRPr/>
            </a:pPr>
            <a:r>
              <a:rPr kumimoji="0"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仿宋_GB2312" pitchFamily="49" charset="-122"/>
              </a:rPr>
              <a:t>第二级</a:t>
            </a:r>
          </a:p>
          <a:p>
            <a:pPr marL="914400" marR="0" lvl="2" indent="0" algn="l" defTabSz="914400" rtl="0" eaLnBrk="0" fontAlgn="base" latinLnBrk="0" hangingPunct="0">
              <a:lnSpc>
                <a:spcPct val="100000"/>
              </a:lnSpc>
              <a:spcBef>
                <a:spcPct val="30000"/>
              </a:spcBef>
              <a:spcAft>
                <a:spcPct val="0"/>
              </a:spcAft>
              <a:buClrTx/>
              <a:buSzTx/>
              <a:buFontTx/>
              <a:buNone/>
              <a:defRPr/>
            </a:pPr>
            <a:r>
              <a:rPr kumimoji="0"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仿宋_GB2312" pitchFamily="49" charset="-122"/>
              </a:rPr>
              <a:t>第三级</a:t>
            </a:r>
          </a:p>
          <a:p>
            <a:pPr marL="1371600" marR="0" lvl="3" indent="0" algn="l" defTabSz="914400" rtl="0" eaLnBrk="0" fontAlgn="base" latinLnBrk="0" hangingPunct="0">
              <a:lnSpc>
                <a:spcPct val="100000"/>
              </a:lnSpc>
              <a:spcBef>
                <a:spcPct val="30000"/>
              </a:spcBef>
              <a:spcAft>
                <a:spcPct val="0"/>
              </a:spcAft>
              <a:buClrTx/>
              <a:buSzTx/>
              <a:buFontTx/>
              <a:buNone/>
              <a:defRPr/>
            </a:pPr>
            <a:r>
              <a:rPr kumimoji="0"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仿宋_GB2312" pitchFamily="49" charset="-122"/>
              </a:rPr>
              <a:t>第四级</a:t>
            </a:r>
          </a:p>
          <a:p>
            <a:pPr marL="1828800" marR="0" lvl="4" indent="0" algn="l" defTabSz="914400" rtl="0" eaLnBrk="0" fontAlgn="base" latinLnBrk="0" hangingPunct="0">
              <a:lnSpc>
                <a:spcPct val="100000"/>
              </a:lnSpc>
              <a:spcBef>
                <a:spcPct val="30000"/>
              </a:spcBef>
              <a:spcAft>
                <a:spcPct val="0"/>
              </a:spcAft>
              <a:buClrTx/>
              <a:buSzTx/>
              <a:buFontTx/>
              <a:buNone/>
              <a:defRPr/>
            </a:pPr>
            <a:r>
              <a:rPr kumimoji="0" lang="zh-CN" altLang="en-US"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仿宋_GB2312" pitchFamily="49" charset="-122"/>
              </a:rPr>
              <a:t>第五级</a:t>
            </a:r>
          </a:p>
        </p:txBody>
      </p:sp>
      <p:sp>
        <p:nvSpPr>
          <p:cNvPr id="2054" name="Rectangle 6"/>
          <p:cNvSpPr>
            <a:spLocks noGrp="1" noChangeArrowheads="1"/>
          </p:cNvSpPr>
          <p:nvPr>
            <p:ph type="ftr" sz="quarter" idx="4"/>
          </p:nvPr>
        </p:nvSpPr>
        <p:spPr bwMode="auto">
          <a:xfrm>
            <a:off x="0" y="8686800"/>
            <a:ext cx="2971800" cy="457200"/>
          </a:xfrm>
          <a:prstGeom prst="rect">
            <a:avLst/>
          </a:prstGeom>
          <a:noFill/>
          <a:ln w="9525">
            <a:noFill/>
            <a:miter lim="800000"/>
          </a:ln>
        </p:spPr>
        <p:txBody>
          <a:bodyPr vert="horz" wrap="square" lIns="91440" tIns="45720" rIns="91440" bIns="45720" numCol="1" anchor="b" anchorCtr="0" compatLnSpc="1"/>
          <a:lstStyle>
            <a:lvl1pPr eaLnBrk="1" hangingPunct="1">
              <a:spcBef>
                <a:spcPct val="0"/>
              </a:spcBef>
              <a:buFontTx/>
              <a:buNone/>
              <a:defRPr kumimoji="1" sz="1200" b="0">
                <a:ea typeface="仿宋_GB2312" pitchFamily="49" charset="-122"/>
                <a:cs typeface="+mn-cs"/>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1" lang="en-US" altLang="zh-CN" sz="12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2055" name="Rectangle 7"/>
          <p:cNvSpPr>
            <a:spLocks noGrp="1" noChangeArrowheads="1"/>
          </p:cNvSpPr>
          <p:nvPr>
            <p:ph type="sldNum" sz="quarter" idx="5"/>
          </p:nvPr>
        </p:nvSpPr>
        <p:spPr bwMode="auto">
          <a:xfrm>
            <a:off x="3886200" y="8686800"/>
            <a:ext cx="2971800" cy="457200"/>
          </a:xfrm>
          <a:prstGeom prst="rect">
            <a:avLst/>
          </a:prstGeom>
          <a:noFill/>
          <a:ln w="9525">
            <a:noFill/>
            <a:miter lim="800000"/>
          </a:ln>
        </p:spPr>
        <p:txBody>
          <a:bodyPr vert="horz" wrap="square" lIns="91440" tIns="45720" rIns="91440" bIns="45720" numCol="1" anchor="b" anchorCtr="0" compatLnSpc="1"/>
          <a:lstStyle>
            <a:lvl1pPr algn="r" eaLnBrk="1" hangingPunct="1">
              <a:spcBef>
                <a:spcPct val="0"/>
              </a:spcBef>
              <a:buFont typeface="Arial" panose="020B0604020202020204" pitchFamily="34" charset="0"/>
              <a:buNone/>
              <a:defRPr sz="1200" b="0" noProof="1">
                <a:ea typeface="仿宋_GB2312" pitchFamily="49" charset="-122"/>
              </a:defRPr>
            </a:lvl1pPr>
          </a:lstStyle>
          <a:p>
            <a:pPr marL="0" marR="0" lvl="0" indent="0" algn="r" defTabSz="914400" rtl="0" eaLnBrk="1" fontAlgn="base" latinLnBrk="0" hangingPunct="1">
              <a:lnSpc>
                <a:spcPct val="100000"/>
              </a:lnSpc>
              <a:spcBef>
                <a:spcPct val="0"/>
              </a:spcBef>
              <a:spcAft>
                <a:spcPct val="0"/>
              </a:spcAft>
              <a:buClrTx/>
              <a:buSzTx/>
              <a:buFont typeface="Arial" panose="020B0604020202020204" pitchFamily="34" charset="0"/>
              <a:buNone/>
              <a:defRPr/>
            </a:pPr>
            <a:fld id="{8B6E9BB8-4EBB-4AE6-9C42-E84A705BD6EB}" type="slidenum">
              <a:rPr kumimoji="0" lang="en-US" altLang="zh-CN" sz="1200" b="0" i="0" u="none" strike="noStrike" kern="1200" cap="none" spc="0" normalizeH="0" baseline="0" noProof="1">
                <a:ln>
                  <a:noFill/>
                </a:ln>
                <a:solidFill>
                  <a:schemeClr val="tx1"/>
                </a:solidFill>
                <a:effectLst/>
                <a:uLnTx/>
                <a:uFillTx/>
                <a:latin typeface="Times New Roman" panose="02020603050405020304" pitchFamily="18" charset="0"/>
                <a:ea typeface="仿宋_GB2312" pitchFamily="49" charset="-122"/>
                <a:cs typeface="+mn-cs"/>
              </a:rPr>
              <a:t>‹#›</a:t>
            </a:fld>
            <a:endParaRPr kumimoji="0" lang="en-US" altLang="zh-CN" sz="1200" b="0" i="0" u="none" strike="noStrike" kern="1200" cap="none" spc="0" normalizeH="0" baseline="0" noProof="1">
              <a:ln>
                <a:noFill/>
              </a:ln>
              <a:solidFill>
                <a:schemeClr val="tx1"/>
              </a:solidFill>
              <a:effectLst/>
              <a:uLnTx/>
              <a:uFillTx/>
              <a:latin typeface="Times New Roman" panose="02020603050405020304" pitchFamily="18" charset="0"/>
              <a:ea typeface="仿宋_GB2312" pitchFamily="49" charset="-122"/>
              <a:cs typeface="+mn-cs"/>
            </a:endParaRPr>
          </a:p>
        </p:txBody>
      </p:sp>
    </p:spTree>
    <p:extLst>
      <p:ext uri="{BB962C8B-B14F-4D97-AF65-F5344CB8AC3E}">
        <p14:creationId xmlns:p14="http://schemas.microsoft.com/office/powerpoint/2010/main" val="896742929"/>
      </p:ext>
    </p:extLst>
  </p:cSld>
  <p:clrMap bg1="lt1" tx1="dk1" bg2="lt2" tx2="dk2" accent1="accent1" accent2="accent2" accent3="accent3" accent4="accent4" accent5="accent5" accent6="accent6" hlink="hlink" folHlink="folHlink"/>
  <p:hf sldNum="0" hdr="0" ftr="0" dt="0"/>
  <p:notesStyle>
    <a:lvl1pPr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itchFamily="49" charset="-122"/>
        <a:cs typeface="仿宋_GB2312" pitchFamily="49" charset="-122"/>
      </a:defRPr>
    </a:lvl1pPr>
    <a:lvl2pPr marL="457200"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itchFamily="49" charset="-122"/>
        <a:cs typeface="仿宋_GB2312" pitchFamily="49" charset="-122"/>
      </a:defRPr>
    </a:lvl2pPr>
    <a:lvl3pPr marL="914400"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itchFamily="49" charset="-122"/>
        <a:cs typeface="仿宋_GB2312" pitchFamily="49" charset="-122"/>
      </a:defRPr>
    </a:lvl3pPr>
    <a:lvl4pPr marL="1371600"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itchFamily="49" charset="-122"/>
        <a:cs typeface="仿宋_GB2312" pitchFamily="49" charset="-122"/>
      </a:defRPr>
    </a:lvl4pPr>
    <a:lvl5pPr marL="1828800"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itchFamily="49" charset="-122"/>
        <a:cs typeface="仿宋_GB2312" pitchFamily="49" charset="-122"/>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7"/>
          <p:cNvSpPr txBox="1">
            <a:spLocks noGrp="1"/>
          </p:cNvSpPr>
          <p:nvPr>
            <p:ph type="sldNum" sz="quarter"/>
          </p:nvPr>
        </p:nvSpPr>
        <p:spPr>
          <a:xfrm>
            <a:off x="3886200" y="8686800"/>
            <a:ext cx="2971800" cy="457200"/>
          </a:xfrm>
          <a:prstGeom prst="rect">
            <a:avLst/>
          </a:prstGeom>
          <a:noFill/>
          <a:ln w="9525">
            <a:noFill/>
          </a:ln>
        </p:spPr>
        <p:txBody>
          <a:bodyPr anchor="b" anchorCtr="0"/>
          <a:lstStyle/>
          <a:p>
            <a:pPr lvl="0" algn="r" eaLnBrk="1" hangingPunct="1"/>
            <a:fld id="{9A0DB2DC-4C9A-4742-B13C-FB6460FD3503}" type="slidenum">
              <a:rPr lang="en-US" altLang="zh-CN" sz="1200" b="0" dirty="0">
                <a:solidFill>
                  <a:srgbClr val="000000"/>
                </a:solidFill>
                <a:ea typeface="宋体" panose="02010600030101010101" pitchFamily="2" charset="-122"/>
              </a:rPr>
              <a:t>1</a:t>
            </a:fld>
            <a:endParaRPr lang="en-US" altLang="zh-CN" sz="1200" b="0" dirty="0">
              <a:solidFill>
                <a:srgbClr val="000000"/>
              </a:solidFill>
              <a:ea typeface="宋体" panose="02010600030101010101" pitchFamily="2" charset="-122"/>
            </a:endParaRPr>
          </a:p>
        </p:txBody>
      </p:sp>
      <p:sp>
        <p:nvSpPr>
          <p:cNvPr id="11267" name="Rectangle 2"/>
          <p:cNvSpPr>
            <a:spLocks noGrp="1" noRot="1" noChangeAspect="1" noTextEdit="1"/>
          </p:cNvSpPr>
          <p:nvPr>
            <p:ph type="sldImg"/>
          </p:nvPr>
        </p:nvSpPr>
        <p:spPr/>
      </p:sp>
      <p:sp>
        <p:nvSpPr>
          <p:cNvPr id="11268" name="Rectangle 3"/>
          <p:cNvSpPr>
            <a:spLocks noGrp="1"/>
          </p:cNvSpPr>
          <p:nvPr>
            <p:ph type="body"/>
          </p:nvPr>
        </p:nvSpPr>
        <p:spPr/>
        <p:txBody>
          <a:bodyPr wrap="square" lIns="91440" tIns="45720" rIns="91440" bIns="45720" anchor="t" anchorCtr="0"/>
          <a:lstStyle/>
          <a:p>
            <a:pPr lvl="0"/>
            <a:endParaRPr lang="zh-CN" altLang="zh-CN"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7"/>
          <p:cNvSpPr txBox="1">
            <a:spLocks noGrp="1"/>
          </p:cNvSpPr>
          <p:nvPr>
            <p:ph type="sldNum" sz="quarter"/>
          </p:nvPr>
        </p:nvSpPr>
        <p:spPr>
          <a:xfrm>
            <a:off x="3886200" y="8686800"/>
            <a:ext cx="2971800" cy="457200"/>
          </a:xfrm>
          <a:prstGeom prst="rect">
            <a:avLst/>
          </a:prstGeom>
          <a:noFill/>
          <a:ln w="9525">
            <a:noFill/>
          </a:ln>
        </p:spPr>
        <p:txBody>
          <a:bodyPr anchor="b" anchorCtr="0"/>
          <a:lstStyle/>
          <a:p>
            <a:pPr lvl="0" algn="r" eaLnBrk="1" hangingPunct="1"/>
            <a:fld id="{9A0DB2DC-4C9A-4742-B13C-FB6460FD3503}" type="slidenum">
              <a:rPr lang="en-US" altLang="zh-CN" sz="1200" b="0" dirty="0">
                <a:solidFill>
                  <a:srgbClr val="000000"/>
                </a:solidFill>
                <a:ea typeface="宋体" panose="02010600030101010101" pitchFamily="2" charset="-122"/>
              </a:rPr>
              <a:t>3</a:t>
            </a:fld>
            <a:endParaRPr lang="en-US" altLang="zh-CN" sz="1200" b="0" dirty="0">
              <a:solidFill>
                <a:srgbClr val="000000"/>
              </a:solidFill>
              <a:ea typeface="宋体" panose="02010600030101010101" pitchFamily="2" charset="-122"/>
            </a:endParaRPr>
          </a:p>
        </p:txBody>
      </p:sp>
      <p:sp>
        <p:nvSpPr>
          <p:cNvPr id="14339" name="Rectangle 2"/>
          <p:cNvSpPr>
            <a:spLocks noGrp="1" noRot="1" noChangeAspect="1" noTextEdit="1"/>
          </p:cNvSpPr>
          <p:nvPr>
            <p:ph type="sldImg"/>
          </p:nvPr>
        </p:nvSpPr>
        <p:spPr/>
      </p:sp>
      <p:sp>
        <p:nvSpPr>
          <p:cNvPr id="14340" name="Rectangle 3"/>
          <p:cNvSpPr>
            <a:spLocks noGrp="1"/>
          </p:cNvSpPr>
          <p:nvPr>
            <p:ph type="body"/>
          </p:nvPr>
        </p:nvSpPr>
        <p:spPr/>
        <p:txBody>
          <a:bodyPr wrap="square" lIns="91440" tIns="45720" rIns="91440" bIns="45720" anchor="t" anchorCtr="0"/>
          <a:lstStyle/>
          <a:p>
            <a:pPr lvl="0"/>
            <a:endParaRPr lang="zh-CN" altLang="zh-CN" dirty="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幻灯片图像占位符 1"/>
          <p:cNvSpPr>
            <a:spLocks noGrp="1" noRot="1" noChangeAspect="1" noTextEdit="1"/>
          </p:cNvSpPr>
          <p:nvPr>
            <p:ph type="sldImg"/>
          </p:nvPr>
        </p:nvSpPr>
        <p:spPr/>
      </p:sp>
      <p:sp>
        <p:nvSpPr>
          <p:cNvPr id="53251" name="备注占位符 2"/>
          <p:cNvSpPr>
            <a:spLocks noGrp="1"/>
          </p:cNvSpPr>
          <p:nvPr>
            <p:ph type="body" idx="1"/>
          </p:nvPr>
        </p:nvSpPr>
        <p:spPr/>
        <p:txBody>
          <a:bodyPr wrap="square" lIns="91440" tIns="45720" rIns="91440" bIns="45720" anchor="t" anchorCtr="0"/>
          <a:lstStyle/>
          <a:p>
            <a:pPr lvl="0"/>
            <a:endParaRPr lang="zh-CN" altLang="en-US" dirty="0"/>
          </a:p>
        </p:txBody>
      </p:sp>
      <p:sp>
        <p:nvSpPr>
          <p:cNvPr id="53252" name="灯片编号占位符 3"/>
          <p:cNvSpPr txBox="1">
            <a:spLocks noGrp="1"/>
          </p:cNvSpPr>
          <p:nvPr>
            <p:ph type="sldNum" sz="quarter"/>
          </p:nvPr>
        </p:nvSpPr>
        <p:spPr>
          <a:xfrm>
            <a:off x="3886200" y="8686800"/>
            <a:ext cx="2971800" cy="457200"/>
          </a:xfrm>
          <a:prstGeom prst="rect">
            <a:avLst/>
          </a:prstGeom>
          <a:noFill/>
          <a:ln w="9525">
            <a:noFill/>
          </a:ln>
        </p:spPr>
        <p:txBody>
          <a:bodyPr anchor="b" anchorCtr="0"/>
          <a:lstStyle/>
          <a:p>
            <a:pPr lvl="0" algn="r" eaLnBrk="1" hangingPunct="1"/>
            <a:fld id="{9A0DB2DC-4C9A-4742-B13C-FB6460FD3503}" type="slidenum">
              <a:rPr lang="en-US" altLang="zh-CN" sz="1200" b="0" dirty="0"/>
              <a:t>41</a:t>
            </a:fld>
            <a:endParaRPr lang="en-US" altLang="zh-CN" sz="1200" b="0" dirty="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幻灯片图像占位符 1"/>
          <p:cNvSpPr>
            <a:spLocks noGrp="1" noRot="1" noChangeAspect="1" noTextEdit="1"/>
          </p:cNvSpPr>
          <p:nvPr>
            <p:ph type="sldImg"/>
          </p:nvPr>
        </p:nvSpPr>
        <p:spPr/>
      </p:sp>
      <p:sp>
        <p:nvSpPr>
          <p:cNvPr id="57347" name="备注占位符 2"/>
          <p:cNvSpPr>
            <a:spLocks noGrp="1"/>
          </p:cNvSpPr>
          <p:nvPr>
            <p:ph type="body" idx="1"/>
          </p:nvPr>
        </p:nvSpPr>
        <p:spPr/>
        <p:txBody>
          <a:bodyPr wrap="square" lIns="91440" tIns="45720" rIns="91440" bIns="45720" anchor="t" anchorCtr="0"/>
          <a:lstStyle/>
          <a:p>
            <a:pPr lvl="0"/>
            <a:endParaRPr lang="zh-CN" altLang="en-US" dirty="0"/>
          </a:p>
        </p:txBody>
      </p:sp>
      <p:sp>
        <p:nvSpPr>
          <p:cNvPr id="57348" name="灯片编号占位符 3"/>
          <p:cNvSpPr txBox="1">
            <a:spLocks noGrp="1"/>
          </p:cNvSpPr>
          <p:nvPr>
            <p:ph type="sldNum" sz="quarter"/>
          </p:nvPr>
        </p:nvSpPr>
        <p:spPr>
          <a:xfrm>
            <a:off x="3886200" y="8686800"/>
            <a:ext cx="2971800" cy="457200"/>
          </a:xfrm>
          <a:prstGeom prst="rect">
            <a:avLst/>
          </a:prstGeom>
          <a:noFill/>
          <a:ln w="9525">
            <a:noFill/>
          </a:ln>
        </p:spPr>
        <p:txBody>
          <a:bodyPr anchor="b" anchorCtr="0"/>
          <a:lstStyle/>
          <a:p>
            <a:pPr lvl="0" algn="r" eaLnBrk="1" hangingPunct="1"/>
            <a:fld id="{9A0DB2DC-4C9A-4742-B13C-FB6460FD3503}" type="slidenum">
              <a:rPr lang="en-US" altLang="zh-CN" sz="1200" b="0" dirty="0"/>
              <a:t>43</a:t>
            </a:fld>
            <a:endParaRPr lang="en-US" altLang="zh-CN" sz="1200" b="0" dirty="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0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120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fld id="{42BC110C-D8AB-45C0-B885-5E2DC818DC65}" type="slidenum">
              <a:rPr lang="zh-CN" altLang="en-US" smtClean="0"/>
              <a:pPr/>
              <a:t>118</a:t>
            </a:fld>
            <a:endParaRPr lang="en-US" altLang="zh-CN" smtClean="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文本占位符 2"/>
          <p:cNvSpPr>
            <a:spLocks noGrp="1"/>
          </p:cNvSpPr>
          <p:nvPr>
            <p:ph type="body" idx="3"/>
          </p:nvPr>
        </p:nvSpPr>
        <p:spPr/>
        <p:txBody>
          <a:bodyPr/>
          <a:lstStyle/>
          <a:p>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文本占位符 2"/>
          <p:cNvSpPr>
            <a:spLocks noGrp="1"/>
          </p:cNvSpPr>
          <p:nvPr>
            <p:ph type="body" idx="3"/>
          </p:nvPr>
        </p:nvSpPr>
        <p:spPr/>
        <p:txBody>
          <a:bodyPr/>
          <a:lstStyle/>
          <a:p>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文本占位符 2"/>
          <p:cNvSpPr>
            <a:spLocks noGrp="1"/>
          </p:cNvSpPr>
          <p:nvPr>
            <p:ph type="body" idx="3"/>
          </p:nvPr>
        </p:nvSpPr>
        <p:spPr/>
        <p:txBody>
          <a:bodyPr/>
          <a:lstStyle/>
          <a:p>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文本占位符 2"/>
          <p:cNvSpPr>
            <a:spLocks noGrp="1"/>
          </p:cNvSpPr>
          <p:nvPr>
            <p:ph type="body" idx="3"/>
          </p:nvPr>
        </p:nvSpPr>
        <p:spPr/>
        <p:txBody>
          <a:bodyPr/>
          <a:lstStyle/>
          <a:p>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标题幻灯片">
    <p:bg>
      <p:bgPr>
        <a:solidFill>
          <a:schemeClr val="bg1"/>
        </a:solidFill>
        <a:effectLst/>
      </p:bgPr>
    </p:bg>
    <p:spTree>
      <p:nvGrpSpPr>
        <p:cNvPr id="1" name=""/>
        <p:cNvGrpSpPr/>
        <p:nvPr/>
      </p:nvGrpSpPr>
      <p:grpSpPr>
        <a:xfrm>
          <a:off x="0" y="0"/>
          <a:ext cx="0" cy="0"/>
          <a:chOff x="0" y="0"/>
          <a:chExt cx="0" cy="0"/>
        </a:xfrm>
      </p:grpSpPr>
      <p:sp>
        <p:nvSpPr>
          <p:cNvPr id="2050" name="直接连接符 9"/>
          <p:cNvSpPr/>
          <p:nvPr userDrawn="1"/>
        </p:nvSpPr>
        <p:spPr>
          <a:xfrm>
            <a:off x="0" y="6357938"/>
            <a:ext cx="9144000" cy="71437"/>
          </a:xfrm>
          <a:prstGeom prst="line">
            <a:avLst/>
          </a:prstGeom>
          <a:ln w="9525">
            <a:noFill/>
          </a:ln>
        </p:spPr>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标题和内容">
    <p:bg>
      <p:bgPr>
        <a:solidFill>
          <a:schemeClr val="bg1"/>
        </a:solidFill>
        <a:effectLst/>
      </p:bgPr>
    </p:bg>
    <p:spTree>
      <p:nvGrpSpPr>
        <p:cNvPr id="1" name=""/>
        <p:cNvGrpSpPr/>
        <p:nvPr/>
      </p:nvGrpSpPr>
      <p:grpSpPr>
        <a:xfrm>
          <a:off x="0" y="0"/>
          <a:ext cx="0" cy="0"/>
          <a:chOff x="0" y="0"/>
          <a:chExt cx="0" cy="0"/>
        </a:xfrm>
      </p:grpSpPr>
      <p:sp>
        <p:nvSpPr>
          <p:cNvPr id="15" name="矩形 14"/>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6" name="矩形 15"/>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2" name="标题 1"/>
          <p:cNvSpPr>
            <a:spLocks noGrp="1"/>
          </p:cNvSpPr>
          <p:nvPr>
            <p:ph type="title"/>
          </p:nvPr>
        </p:nvSpPr>
        <p:spPr>
          <a:xfrm>
            <a:off x="844171" y="235957"/>
            <a:ext cx="6400800" cy="456739"/>
          </a:xfrm>
        </p:spPr>
        <p:txBody>
          <a:bodyPr/>
          <a:lstStyle/>
          <a:p>
            <a:r>
              <a:rPr lang="zh-CN" altLang="en-US" noProof="1"/>
              <a:t>单击此处编辑母版标题样式</a:t>
            </a:r>
          </a:p>
        </p:txBody>
      </p:sp>
      <p:sp>
        <p:nvSpPr>
          <p:cNvPr id="3" name="内容占位符 2"/>
          <p:cNvSpPr>
            <a:spLocks noGrp="1"/>
          </p:cNvSpPr>
          <p:nvPr>
            <p:ph idx="1" hasCustomPrompt="1"/>
          </p:nvPr>
        </p:nvSpPr>
        <p:spPr/>
        <p:txBody>
          <a:bodyPr/>
          <a:lstStyle/>
          <a:p>
            <a:pPr lvl="0"/>
            <a:r>
              <a:rPr lang="zh-CN" altLang="en-US" noProof="1"/>
              <a:t>编辑母版文本样式</a:t>
            </a:r>
          </a:p>
          <a:p>
            <a:pPr lvl="1"/>
            <a:r>
              <a:rPr lang="zh-CN" altLang="en-US" noProof="1"/>
              <a:t>第二级</a:t>
            </a:r>
          </a:p>
        </p:txBody>
      </p:sp>
      <p:grpSp>
        <p:nvGrpSpPr>
          <p:cNvPr id="17" name="组合 16"/>
          <p:cNvGrpSpPr/>
          <p:nvPr/>
        </p:nvGrpSpPr>
        <p:grpSpPr>
          <a:xfrm>
            <a:off x="115637" y="404664"/>
            <a:ext cx="617410" cy="174607"/>
            <a:chOff x="384175" y="480608"/>
            <a:chExt cx="348872" cy="98663"/>
          </a:xfrm>
          <a:solidFill>
            <a:srgbClr val="76AEDD"/>
          </a:solidFill>
        </p:grpSpPr>
        <p:sp>
          <p:nvSpPr>
            <p:cNvPr id="18" name="等腰三角形 17">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9" name="等腰三角形 18">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titleOnly" preserve="1">
  <p:cSld name="仅标题">
    <p:bg>
      <p:bgPr>
        <a:solidFill>
          <a:schemeClr val="bg1"/>
        </a:solidFill>
        <a:effectLst/>
      </p:bgPr>
    </p:bg>
    <p:spTree>
      <p:nvGrpSpPr>
        <p:cNvPr id="1" name=""/>
        <p:cNvGrpSpPr/>
        <p:nvPr/>
      </p:nvGrpSpPr>
      <p:grpSpPr>
        <a:xfrm>
          <a:off x="0" y="0"/>
          <a:ext cx="0" cy="0"/>
          <a:chOff x="0" y="0"/>
          <a:chExt cx="0" cy="0"/>
        </a:xfrm>
      </p:grpSpPr>
      <p:sp>
        <p:nvSpPr>
          <p:cNvPr id="15" name="矩形 14"/>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6" name="矩形 15"/>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2" name="标题 1"/>
          <p:cNvSpPr>
            <a:spLocks noGrp="1"/>
          </p:cNvSpPr>
          <p:nvPr>
            <p:ph type="title"/>
          </p:nvPr>
        </p:nvSpPr>
        <p:spPr/>
        <p:txBody>
          <a:bodyPr/>
          <a:lstStyle/>
          <a:p>
            <a:r>
              <a:rPr lang="zh-CN" altLang="en-US" noProof="1"/>
              <a:t>单击此处编辑母版标题样式</a:t>
            </a:r>
          </a:p>
        </p:txBody>
      </p:sp>
      <p:sp>
        <p:nvSpPr>
          <p:cNvPr id="4101" name="直接连接符 9"/>
          <p:cNvSpPr/>
          <p:nvPr userDrawn="1"/>
        </p:nvSpPr>
        <p:spPr>
          <a:xfrm>
            <a:off x="0" y="6357938"/>
            <a:ext cx="9144000" cy="71437"/>
          </a:xfrm>
          <a:prstGeom prst="line">
            <a:avLst/>
          </a:prstGeom>
          <a:ln w="9525">
            <a:noFill/>
          </a:ln>
        </p:spPr>
      </p:sp>
      <p:grpSp>
        <p:nvGrpSpPr>
          <p:cNvPr id="17" name="组合 16"/>
          <p:cNvGrpSpPr/>
          <p:nvPr/>
        </p:nvGrpSpPr>
        <p:grpSpPr>
          <a:xfrm>
            <a:off x="115637" y="404664"/>
            <a:ext cx="617410" cy="174607"/>
            <a:chOff x="384175" y="480608"/>
            <a:chExt cx="348872" cy="98663"/>
          </a:xfrm>
          <a:solidFill>
            <a:srgbClr val="76AEDD"/>
          </a:solidFill>
        </p:grpSpPr>
        <p:sp>
          <p:nvSpPr>
            <p:cNvPr id="18" name="等腰三角形 17">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9" name="等腰三角形 18">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空白">
    <p:bg>
      <p:bgPr>
        <a:solidFill>
          <a:schemeClr val="bg1"/>
        </a:solidFill>
        <a:effectLst/>
      </p:bgPr>
    </p:bg>
    <p:spTree>
      <p:nvGrpSpPr>
        <p:cNvPr id="1" name=""/>
        <p:cNvGrpSpPr/>
        <p:nvPr/>
      </p:nvGrpSpPr>
      <p:grpSpPr>
        <a:xfrm>
          <a:off x="0" y="0"/>
          <a:ext cx="0" cy="0"/>
          <a:chOff x="0" y="0"/>
          <a:chExt cx="0" cy="0"/>
        </a:xfrm>
      </p:grpSpPr>
      <p:sp>
        <p:nvSpPr>
          <p:cNvPr id="5122" name="直接连接符 9"/>
          <p:cNvSpPr/>
          <p:nvPr userDrawn="1"/>
        </p:nvSpPr>
        <p:spPr>
          <a:xfrm>
            <a:off x="0" y="6357938"/>
            <a:ext cx="9144000" cy="71437"/>
          </a:xfrm>
          <a:prstGeom prst="line">
            <a:avLst/>
          </a:prstGeom>
          <a:ln w="9525">
            <a:noFill/>
          </a:ln>
        </p:spPr>
      </p:sp>
      <p:sp>
        <p:nvSpPr>
          <p:cNvPr id="16" name="矩形 15"/>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7" name="矩形 16"/>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9" name="标题 1"/>
          <p:cNvSpPr>
            <a:spLocks noGrp="1"/>
          </p:cNvSpPr>
          <p:nvPr>
            <p:ph type="title"/>
          </p:nvPr>
        </p:nvSpPr>
        <p:spPr>
          <a:xfrm>
            <a:off x="844550" y="260350"/>
            <a:ext cx="6400800" cy="457200"/>
          </a:xfrm>
        </p:spPr>
        <p:txBody>
          <a:bodyPr/>
          <a:lstStyle/>
          <a:p>
            <a:r>
              <a:rPr lang="zh-CN" altLang="en-US" noProof="1"/>
              <a:t>单击此处编辑母版标题样式</a:t>
            </a:r>
          </a:p>
        </p:txBody>
      </p:sp>
      <p:grpSp>
        <p:nvGrpSpPr>
          <p:cNvPr id="18" name="组合 17"/>
          <p:cNvGrpSpPr/>
          <p:nvPr/>
        </p:nvGrpSpPr>
        <p:grpSpPr>
          <a:xfrm>
            <a:off x="115637" y="404664"/>
            <a:ext cx="617410" cy="174607"/>
            <a:chOff x="384175" y="480608"/>
            <a:chExt cx="348872" cy="98663"/>
          </a:xfrm>
          <a:solidFill>
            <a:srgbClr val="76AEDD"/>
          </a:solidFill>
        </p:grpSpPr>
        <p:sp>
          <p:nvSpPr>
            <p:cNvPr id="19" name="等腰三角形 18">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1" name="等腰三角形 20">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Only">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649288" y="609600"/>
            <a:ext cx="7983537" cy="5565775"/>
          </a:xfrm>
        </p:spPr>
        <p:txBody>
          <a:bodyPr/>
          <a:lstStyle/>
          <a:p>
            <a:pPr lvl="0"/>
            <a:r>
              <a:rPr lang="zh-CN" altLang="en-US" noProof="1"/>
              <a:t>单击此处编辑母版文本样式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blank">
  <p:cSld name="10_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85800" y="6248400"/>
            <a:ext cx="1905000" cy="457200"/>
          </a:xfrm>
          <a:prstGeom prst="rect">
            <a:avLst/>
          </a:prstGeom>
        </p:spPr>
        <p:txBody>
          <a:bodyPr/>
          <a:lstStyle>
            <a:lvl1pPr>
              <a:defRPr kumimoji="0"/>
            </a:lvl1pPr>
          </a:lstStyle>
          <a:p>
            <a:pPr>
              <a:defRPr/>
            </a:pPr>
            <a:fld id="{708C7003-FE28-42AC-A90D-51244C43A2CC}" type="datetime1">
              <a:rPr lang="en-US"/>
              <a:pPr>
                <a:defRPr/>
              </a:pPr>
              <a:t>5/6/2025</a:t>
            </a:fld>
            <a:endParaRPr lang="en-US" altLang="zh-CN"/>
          </a:p>
        </p:txBody>
      </p:sp>
      <p:sp>
        <p:nvSpPr>
          <p:cNvPr id="3" name="Rectangle 5"/>
          <p:cNvSpPr>
            <a:spLocks noGrp="1" noChangeArrowheads="1"/>
          </p:cNvSpPr>
          <p:nvPr>
            <p:ph type="ftr" sz="quarter" idx="11"/>
          </p:nvPr>
        </p:nvSpPr>
        <p:spPr>
          <a:xfrm>
            <a:off x="3124200" y="6248400"/>
            <a:ext cx="2895600" cy="457200"/>
          </a:xfrm>
          <a:prstGeom prst="rect">
            <a:avLst/>
          </a:prstGeom>
        </p:spPr>
        <p:txBody>
          <a:bodyPr/>
          <a:lstStyle>
            <a:lvl1pPr>
              <a:defRPr kumimoji="0"/>
            </a:lvl1pPr>
          </a:lstStyle>
          <a:p>
            <a:pPr>
              <a:defRPr/>
            </a:pPr>
            <a:endParaRPr lang="en-US" altLang="zh-CN"/>
          </a:p>
        </p:txBody>
      </p:sp>
      <p:sp>
        <p:nvSpPr>
          <p:cNvPr id="4" name="Rectangle 6"/>
          <p:cNvSpPr>
            <a:spLocks noGrp="1" noChangeArrowheads="1"/>
          </p:cNvSpPr>
          <p:nvPr>
            <p:ph type="sldNum" sz="quarter" idx="12"/>
          </p:nvPr>
        </p:nvSpPr>
        <p:spPr>
          <a:xfrm>
            <a:off x="6553200" y="6248400"/>
            <a:ext cx="1905000" cy="457200"/>
          </a:xfrm>
          <a:prstGeom prst="rect">
            <a:avLst/>
          </a:prstGeom>
        </p:spPr>
        <p:txBody>
          <a:bodyPr/>
          <a:lstStyle>
            <a:lvl1pPr>
              <a:defRPr kumimoji="0"/>
            </a:lvl1pPr>
          </a:lstStyle>
          <a:p>
            <a:pPr>
              <a:defRPr/>
            </a:pPr>
            <a:fld id="{0F31FB6F-1F84-4414-8113-60D098DEF2F6}" type="slidenum">
              <a:rPr lang="en-US" altLang="zh-CN"/>
              <a:pPr>
                <a:defRPr/>
              </a:pPr>
              <a:t>‹#›</a:t>
            </a:fld>
            <a:endParaRPr lang="en-US" altLang="zh-CN"/>
          </a:p>
        </p:txBody>
      </p:sp>
    </p:spTree>
    <p:extLst>
      <p:ext uri="{BB962C8B-B14F-4D97-AF65-F5344CB8AC3E}">
        <p14:creationId xmlns:p14="http://schemas.microsoft.com/office/powerpoint/2010/main" val="239448019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TxTwoObj">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Rectangle 4"/>
          <p:cNvSpPr>
            <a:spLocks noGrp="1" noChangeArrowheads="1"/>
          </p:cNvSpPr>
          <p:nvPr>
            <p:ph type="dt" sz="half" idx="10"/>
          </p:nvPr>
        </p:nvSpPr>
        <p:spPr>
          <a:xfrm>
            <a:off x="685800" y="6248400"/>
            <a:ext cx="1905000" cy="457200"/>
          </a:xfrm>
          <a:prstGeom prst="rect">
            <a:avLst/>
          </a:prstGeom>
        </p:spPr>
        <p:txBody>
          <a:bodyPr/>
          <a:lstStyle>
            <a:lvl1pPr>
              <a:defRPr kumimoji="0"/>
            </a:lvl1pPr>
          </a:lstStyle>
          <a:p>
            <a:pPr>
              <a:defRPr/>
            </a:pPr>
            <a:fld id="{87A89BE6-4870-4D86-9356-A7A2DDBDDCE7}" type="datetime1">
              <a:rPr lang="en-US"/>
              <a:pPr>
                <a:defRPr/>
              </a:pPr>
              <a:t>5/6/2025</a:t>
            </a:fld>
            <a:endParaRPr lang="en-US" altLang="zh-CN"/>
          </a:p>
        </p:txBody>
      </p:sp>
      <p:sp>
        <p:nvSpPr>
          <p:cNvPr id="8" name="Rectangle 5"/>
          <p:cNvSpPr>
            <a:spLocks noGrp="1" noChangeArrowheads="1"/>
          </p:cNvSpPr>
          <p:nvPr>
            <p:ph type="ftr" sz="quarter" idx="11"/>
          </p:nvPr>
        </p:nvSpPr>
        <p:spPr>
          <a:xfrm>
            <a:off x="3124200" y="6248400"/>
            <a:ext cx="2895600" cy="457200"/>
          </a:xfrm>
          <a:prstGeom prst="rect">
            <a:avLst/>
          </a:prstGeom>
        </p:spPr>
        <p:txBody>
          <a:bodyPr/>
          <a:lstStyle>
            <a:lvl1pPr>
              <a:defRPr kumimoji="0"/>
            </a:lvl1pPr>
          </a:lstStyle>
          <a:p>
            <a:pPr>
              <a:defRPr/>
            </a:pPr>
            <a:endParaRPr lang="en-US" altLang="zh-CN"/>
          </a:p>
        </p:txBody>
      </p:sp>
      <p:sp>
        <p:nvSpPr>
          <p:cNvPr id="9" name="Rectangle 6"/>
          <p:cNvSpPr>
            <a:spLocks noGrp="1" noChangeArrowheads="1"/>
          </p:cNvSpPr>
          <p:nvPr>
            <p:ph type="sldNum" sz="quarter" idx="12"/>
          </p:nvPr>
        </p:nvSpPr>
        <p:spPr>
          <a:xfrm>
            <a:off x="6553200" y="6248400"/>
            <a:ext cx="1905000" cy="457200"/>
          </a:xfrm>
          <a:prstGeom prst="rect">
            <a:avLst/>
          </a:prstGeom>
        </p:spPr>
        <p:txBody>
          <a:bodyPr/>
          <a:lstStyle>
            <a:lvl1pPr>
              <a:defRPr kumimoji="0"/>
            </a:lvl1pPr>
          </a:lstStyle>
          <a:p>
            <a:pPr>
              <a:defRPr/>
            </a:pPr>
            <a:fld id="{62418A77-CF2C-4DB6-826E-575BACB8D60E}" type="slidenum">
              <a:rPr lang="en-US" altLang="zh-CN"/>
              <a:pPr>
                <a:defRPr/>
              </a:pPr>
              <a:t>‹#›</a:t>
            </a:fld>
            <a:endParaRPr lang="en-US" altLang="zh-CN"/>
          </a:p>
        </p:txBody>
      </p:sp>
    </p:spTree>
    <p:extLst>
      <p:ext uri="{BB962C8B-B14F-4D97-AF65-F5344CB8AC3E}">
        <p14:creationId xmlns:p14="http://schemas.microsoft.com/office/powerpoint/2010/main" val="113474539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userDrawn="1">
  <p:cSld name="1_空白">
    <p:bg>
      <p:bgPr>
        <a:solidFill>
          <a:schemeClr val="bg1"/>
        </a:solidFill>
        <a:effectLst/>
      </p:bgPr>
    </p:bg>
    <p:spTree>
      <p:nvGrpSpPr>
        <p:cNvPr id="1" name=""/>
        <p:cNvGrpSpPr/>
        <p:nvPr/>
      </p:nvGrpSpPr>
      <p:grpSpPr>
        <a:xfrm>
          <a:off x="0" y="0"/>
          <a:ext cx="0" cy="0"/>
          <a:chOff x="0" y="0"/>
          <a:chExt cx="0" cy="0"/>
        </a:xfrm>
      </p:grpSpPr>
      <p:sp>
        <p:nvSpPr>
          <p:cNvPr id="15" name="矩形 14"/>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6" name="矩形 15"/>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7" name="标题 1"/>
          <p:cNvSpPr>
            <a:spLocks noGrp="1"/>
          </p:cNvSpPr>
          <p:nvPr>
            <p:ph type="title"/>
          </p:nvPr>
        </p:nvSpPr>
        <p:spPr>
          <a:xfrm>
            <a:off x="844171" y="235957"/>
            <a:ext cx="6400800" cy="456739"/>
          </a:xfrm>
        </p:spPr>
        <p:txBody>
          <a:bodyPr/>
          <a:lstStyle/>
          <a:p>
            <a:pPr fontAlgn="base"/>
            <a:r>
              <a:rPr lang="zh-CN" altLang="en-US" strike="noStrike" noProof="1"/>
              <a:t>单击此处编辑母版标题样式</a:t>
            </a:r>
          </a:p>
        </p:txBody>
      </p:sp>
      <p:sp>
        <p:nvSpPr>
          <p:cNvPr id="18" name="内容占位符 2"/>
          <p:cNvSpPr>
            <a:spLocks noGrp="1"/>
          </p:cNvSpPr>
          <p:nvPr>
            <p:ph idx="1" hasCustomPrompt="1"/>
          </p:nvPr>
        </p:nvSpPr>
        <p:spPr>
          <a:xfrm>
            <a:off x="496888" y="1116013"/>
            <a:ext cx="8251825" cy="5472112"/>
          </a:xfrm>
        </p:spPr>
        <p:txBody>
          <a:bodyPr/>
          <a:lstStyle/>
          <a:p>
            <a:pPr lvl="0" fontAlgn="base"/>
            <a:r>
              <a:rPr lang="zh-CN" altLang="en-US" strike="noStrike" noProof="1"/>
              <a:t>编辑母版文本样式</a:t>
            </a:r>
          </a:p>
          <a:p>
            <a:pPr lvl="1" fontAlgn="base"/>
            <a:r>
              <a:rPr lang="zh-CN" altLang="en-US" strike="noStrike" noProof="1"/>
              <a:t>第二级</a:t>
            </a:r>
          </a:p>
        </p:txBody>
      </p:sp>
      <p:grpSp>
        <p:nvGrpSpPr>
          <p:cNvPr id="2" name="组合 16"/>
          <p:cNvGrpSpPr/>
          <p:nvPr/>
        </p:nvGrpSpPr>
        <p:grpSpPr>
          <a:xfrm>
            <a:off x="115634" y="404660"/>
            <a:ext cx="617410" cy="174609"/>
            <a:chOff x="384175" y="480608"/>
            <a:chExt cx="348872" cy="98663"/>
          </a:xfrm>
          <a:solidFill>
            <a:srgbClr val="76AEDD"/>
          </a:solidFill>
        </p:grpSpPr>
        <p:sp>
          <p:nvSpPr>
            <p:cNvPr id="3" name="等腰三角形 2">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9" name="等腰三角形 18">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extLst>
      <p:ext uri="{BB962C8B-B14F-4D97-AF65-F5344CB8AC3E}">
        <p14:creationId xmlns:p14="http://schemas.microsoft.com/office/powerpoint/2010/main" val="215685987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userDrawn="1">
  <p:cSld name="2_空白">
    <p:bg>
      <p:bgPr>
        <a:solidFill>
          <a:schemeClr val="bg1"/>
        </a:solidFill>
        <a:effectLst/>
      </p:bgPr>
    </p:bg>
    <p:spTree>
      <p:nvGrpSpPr>
        <p:cNvPr id="1" name=""/>
        <p:cNvGrpSpPr/>
        <p:nvPr/>
      </p:nvGrpSpPr>
      <p:grpSpPr>
        <a:xfrm>
          <a:off x="0" y="0"/>
          <a:ext cx="0" cy="0"/>
          <a:chOff x="0" y="0"/>
          <a:chExt cx="0" cy="0"/>
        </a:xfrm>
      </p:grpSpPr>
      <p:sp>
        <p:nvSpPr>
          <p:cNvPr id="15" name="矩形 14"/>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6" name="矩形 15"/>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7" name="标题 1"/>
          <p:cNvSpPr>
            <a:spLocks noGrp="1"/>
          </p:cNvSpPr>
          <p:nvPr>
            <p:ph type="title"/>
          </p:nvPr>
        </p:nvSpPr>
        <p:spPr>
          <a:xfrm>
            <a:off x="844171" y="235957"/>
            <a:ext cx="6400800" cy="456739"/>
          </a:xfrm>
        </p:spPr>
        <p:txBody>
          <a:bodyPr/>
          <a:lstStyle/>
          <a:p>
            <a:pPr fontAlgn="base"/>
            <a:r>
              <a:rPr lang="zh-CN" altLang="en-US" strike="noStrike" noProof="1"/>
              <a:t>单击此处编辑母版标题样式</a:t>
            </a:r>
          </a:p>
        </p:txBody>
      </p:sp>
      <p:sp>
        <p:nvSpPr>
          <p:cNvPr id="18" name="内容占位符 2"/>
          <p:cNvSpPr>
            <a:spLocks noGrp="1"/>
          </p:cNvSpPr>
          <p:nvPr>
            <p:ph idx="1" hasCustomPrompt="1"/>
          </p:nvPr>
        </p:nvSpPr>
        <p:spPr>
          <a:xfrm>
            <a:off x="496888" y="1116013"/>
            <a:ext cx="8251825" cy="5472112"/>
          </a:xfrm>
        </p:spPr>
        <p:txBody>
          <a:bodyPr/>
          <a:lstStyle/>
          <a:p>
            <a:pPr lvl="0" fontAlgn="base"/>
            <a:r>
              <a:rPr lang="zh-CN" altLang="en-US" strike="noStrike" noProof="1"/>
              <a:t>编辑母版文本样式</a:t>
            </a:r>
          </a:p>
          <a:p>
            <a:pPr lvl="1" fontAlgn="base"/>
            <a:r>
              <a:rPr lang="zh-CN" altLang="en-US" strike="noStrike" noProof="1"/>
              <a:t>第二级</a:t>
            </a:r>
          </a:p>
        </p:txBody>
      </p:sp>
      <p:grpSp>
        <p:nvGrpSpPr>
          <p:cNvPr id="2" name="组合 16"/>
          <p:cNvGrpSpPr/>
          <p:nvPr/>
        </p:nvGrpSpPr>
        <p:grpSpPr>
          <a:xfrm>
            <a:off x="115634" y="404660"/>
            <a:ext cx="617410" cy="174609"/>
            <a:chOff x="384175" y="480608"/>
            <a:chExt cx="348872" cy="98663"/>
          </a:xfrm>
          <a:solidFill>
            <a:srgbClr val="76AEDD"/>
          </a:solidFill>
        </p:grpSpPr>
        <p:sp>
          <p:nvSpPr>
            <p:cNvPr id="3" name="等腰三角形 2">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9" name="等腰三角形 18">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extLst>
      <p:ext uri="{BB962C8B-B14F-4D97-AF65-F5344CB8AC3E}">
        <p14:creationId xmlns:p14="http://schemas.microsoft.com/office/powerpoint/2010/main" val="180863998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userDrawn="1">
  <p:cSld name="3_空白">
    <p:bg>
      <p:bgPr>
        <a:solidFill>
          <a:schemeClr val="bg1"/>
        </a:solidFill>
        <a:effectLst/>
      </p:bgPr>
    </p:bg>
    <p:spTree>
      <p:nvGrpSpPr>
        <p:cNvPr id="1" name=""/>
        <p:cNvGrpSpPr/>
        <p:nvPr/>
      </p:nvGrpSpPr>
      <p:grpSpPr>
        <a:xfrm>
          <a:off x="0" y="0"/>
          <a:ext cx="0" cy="0"/>
          <a:chOff x="0" y="0"/>
          <a:chExt cx="0" cy="0"/>
        </a:xfrm>
      </p:grpSpPr>
      <p:sp>
        <p:nvSpPr>
          <p:cNvPr id="15" name="矩形 14"/>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6" name="矩形 15"/>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7" name="标题 1"/>
          <p:cNvSpPr>
            <a:spLocks noGrp="1"/>
          </p:cNvSpPr>
          <p:nvPr>
            <p:ph type="title"/>
          </p:nvPr>
        </p:nvSpPr>
        <p:spPr>
          <a:xfrm>
            <a:off x="844171" y="235957"/>
            <a:ext cx="6400800" cy="456739"/>
          </a:xfrm>
        </p:spPr>
        <p:txBody>
          <a:bodyPr/>
          <a:lstStyle/>
          <a:p>
            <a:pPr fontAlgn="base"/>
            <a:r>
              <a:rPr lang="zh-CN" altLang="en-US" strike="noStrike" noProof="1"/>
              <a:t>单击此处编辑母版标题样式</a:t>
            </a:r>
          </a:p>
        </p:txBody>
      </p:sp>
      <p:sp>
        <p:nvSpPr>
          <p:cNvPr id="18" name="内容占位符 2"/>
          <p:cNvSpPr>
            <a:spLocks noGrp="1"/>
          </p:cNvSpPr>
          <p:nvPr>
            <p:ph idx="1" hasCustomPrompt="1"/>
          </p:nvPr>
        </p:nvSpPr>
        <p:spPr>
          <a:xfrm>
            <a:off x="496888" y="1116013"/>
            <a:ext cx="8251825" cy="5472112"/>
          </a:xfrm>
        </p:spPr>
        <p:txBody>
          <a:bodyPr/>
          <a:lstStyle/>
          <a:p>
            <a:pPr lvl="0" fontAlgn="base"/>
            <a:r>
              <a:rPr lang="zh-CN" altLang="en-US" strike="noStrike" noProof="1"/>
              <a:t>编辑母版文本样式</a:t>
            </a:r>
          </a:p>
          <a:p>
            <a:pPr lvl="1" fontAlgn="base"/>
            <a:r>
              <a:rPr lang="zh-CN" altLang="en-US" strike="noStrike" noProof="1"/>
              <a:t>第二级</a:t>
            </a:r>
          </a:p>
        </p:txBody>
      </p:sp>
      <p:grpSp>
        <p:nvGrpSpPr>
          <p:cNvPr id="2" name="组合 16"/>
          <p:cNvGrpSpPr/>
          <p:nvPr/>
        </p:nvGrpSpPr>
        <p:grpSpPr>
          <a:xfrm>
            <a:off x="115634" y="404660"/>
            <a:ext cx="617410" cy="174609"/>
            <a:chOff x="384175" y="480608"/>
            <a:chExt cx="348872" cy="98663"/>
          </a:xfrm>
          <a:solidFill>
            <a:srgbClr val="76AEDD"/>
          </a:solidFill>
        </p:grpSpPr>
        <p:sp>
          <p:nvSpPr>
            <p:cNvPr id="3" name="等腰三角形 2">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9" name="等腰三角形 18">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extLst>
      <p:ext uri="{BB962C8B-B14F-4D97-AF65-F5344CB8AC3E}">
        <p14:creationId xmlns:p14="http://schemas.microsoft.com/office/powerpoint/2010/main" val="347637935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userDrawn="1">
  <p:cSld name="4_空白">
    <p:bg>
      <p:bgPr>
        <a:solidFill>
          <a:schemeClr val="bg1"/>
        </a:solidFill>
        <a:effectLst/>
      </p:bgPr>
    </p:bg>
    <p:spTree>
      <p:nvGrpSpPr>
        <p:cNvPr id="1" name=""/>
        <p:cNvGrpSpPr/>
        <p:nvPr/>
      </p:nvGrpSpPr>
      <p:grpSpPr>
        <a:xfrm>
          <a:off x="0" y="0"/>
          <a:ext cx="0" cy="0"/>
          <a:chOff x="0" y="0"/>
          <a:chExt cx="0" cy="0"/>
        </a:xfrm>
      </p:grpSpPr>
      <p:sp>
        <p:nvSpPr>
          <p:cNvPr id="15" name="矩形 14"/>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6" name="矩形 15"/>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7" name="标题 1"/>
          <p:cNvSpPr>
            <a:spLocks noGrp="1"/>
          </p:cNvSpPr>
          <p:nvPr>
            <p:ph type="title"/>
          </p:nvPr>
        </p:nvSpPr>
        <p:spPr>
          <a:xfrm>
            <a:off x="844171" y="235957"/>
            <a:ext cx="6400800" cy="456739"/>
          </a:xfrm>
        </p:spPr>
        <p:txBody>
          <a:bodyPr/>
          <a:lstStyle/>
          <a:p>
            <a:pPr fontAlgn="base"/>
            <a:r>
              <a:rPr lang="zh-CN" altLang="en-US" strike="noStrike" noProof="1"/>
              <a:t>单击此处编辑母版标题样式</a:t>
            </a:r>
          </a:p>
        </p:txBody>
      </p:sp>
      <p:sp>
        <p:nvSpPr>
          <p:cNvPr id="18" name="内容占位符 2"/>
          <p:cNvSpPr>
            <a:spLocks noGrp="1"/>
          </p:cNvSpPr>
          <p:nvPr>
            <p:ph idx="1" hasCustomPrompt="1"/>
          </p:nvPr>
        </p:nvSpPr>
        <p:spPr>
          <a:xfrm>
            <a:off x="496888" y="1116013"/>
            <a:ext cx="8251825" cy="5472112"/>
          </a:xfrm>
        </p:spPr>
        <p:txBody>
          <a:bodyPr/>
          <a:lstStyle/>
          <a:p>
            <a:pPr lvl="0" fontAlgn="base"/>
            <a:r>
              <a:rPr lang="zh-CN" altLang="en-US" strike="noStrike" noProof="1"/>
              <a:t>编辑母版文本样式</a:t>
            </a:r>
          </a:p>
          <a:p>
            <a:pPr lvl="1" fontAlgn="base"/>
            <a:r>
              <a:rPr lang="zh-CN" altLang="en-US" strike="noStrike" noProof="1"/>
              <a:t>第二级</a:t>
            </a:r>
          </a:p>
        </p:txBody>
      </p:sp>
      <p:grpSp>
        <p:nvGrpSpPr>
          <p:cNvPr id="2" name="组合 16"/>
          <p:cNvGrpSpPr/>
          <p:nvPr/>
        </p:nvGrpSpPr>
        <p:grpSpPr>
          <a:xfrm>
            <a:off x="115634" y="404660"/>
            <a:ext cx="617410" cy="174609"/>
            <a:chOff x="384175" y="480608"/>
            <a:chExt cx="348872" cy="98663"/>
          </a:xfrm>
          <a:solidFill>
            <a:srgbClr val="76AEDD"/>
          </a:solidFill>
        </p:grpSpPr>
        <p:sp>
          <p:nvSpPr>
            <p:cNvPr id="3" name="等腰三角形 2">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9" name="等腰三角形 18">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extLst>
      <p:ext uri="{BB962C8B-B14F-4D97-AF65-F5344CB8AC3E}">
        <p14:creationId xmlns:p14="http://schemas.microsoft.com/office/powerpoint/2010/main" val="176536962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userDrawn="1">
  <p:cSld name="5_空白">
    <p:bg>
      <p:bgPr>
        <a:solidFill>
          <a:schemeClr val="bg1"/>
        </a:solidFill>
        <a:effectLst/>
      </p:bgPr>
    </p:bg>
    <p:spTree>
      <p:nvGrpSpPr>
        <p:cNvPr id="1" name=""/>
        <p:cNvGrpSpPr/>
        <p:nvPr/>
      </p:nvGrpSpPr>
      <p:grpSpPr>
        <a:xfrm>
          <a:off x="0" y="0"/>
          <a:ext cx="0" cy="0"/>
          <a:chOff x="0" y="0"/>
          <a:chExt cx="0" cy="0"/>
        </a:xfrm>
      </p:grpSpPr>
      <p:sp>
        <p:nvSpPr>
          <p:cNvPr id="15" name="矩形 14"/>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6" name="矩形 15"/>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7" name="标题 1"/>
          <p:cNvSpPr>
            <a:spLocks noGrp="1"/>
          </p:cNvSpPr>
          <p:nvPr>
            <p:ph type="title"/>
          </p:nvPr>
        </p:nvSpPr>
        <p:spPr>
          <a:xfrm>
            <a:off x="844171" y="235957"/>
            <a:ext cx="6400800" cy="456739"/>
          </a:xfrm>
        </p:spPr>
        <p:txBody>
          <a:bodyPr/>
          <a:lstStyle/>
          <a:p>
            <a:pPr fontAlgn="base"/>
            <a:r>
              <a:rPr lang="zh-CN" altLang="en-US" strike="noStrike" noProof="1"/>
              <a:t>单击此处编辑母版标题样式</a:t>
            </a:r>
          </a:p>
        </p:txBody>
      </p:sp>
      <p:sp>
        <p:nvSpPr>
          <p:cNvPr id="18" name="内容占位符 2"/>
          <p:cNvSpPr>
            <a:spLocks noGrp="1"/>
          </p:cNvSpPr>
          <p:nvPr>
            <p:ph idx="1" hasCustomPrompt="1"/>
          </p:nvPr>
        </p:nvSpPr>
        <p:spPr>
          <a:xfrm>
            <a:off x="496888" y="1116013"/>
            <a:ext cx="8251825" cy="5472112"/>
          </a:xfrm>
        </p:spPr>
        <p:txBody>
          <a:bodyPr/>
          <a:lstStyle/>
          <a:p>
            <a:pPr lvl="0" fontAlgn="base"/>
            <a:r>
              <a:rPr lang="zh-CN" altLang="en-US" strike="noStrike" noProof="1"/>
              <a:t>编辑母版文本样式</a:t>
            </a:r>
          </a:p>
          <a:p>
            <a:pPr lvl="1" fontAlgn="base"/>
            <a:r>
              <a:rPr lang="zh-CN" altLang="en-US" strike="noStrike" noProof="1"/>
              <a:t>第二级</a:t>
            </a:r>
          </a:p>
        </p:txBody>
      </p:sp>
      <p:grpSp>
        <p:nvGrpSpPr>
          <p:cNvPr id="2" name="组合 16"/>
          <p:cNvGrpSpPr/>
          <p:nvPr/>
        </p:nvGrpSpPr>
        <p:grpSpPr>
          <a:xfrm>
            <a:off x="115634" y="404660"/>
            <a:ext cx="617410" cy="174609"/>
            <a:chOff x="384175" y="480608"/>
            <a:chExt cx="348872" cy="98663"/>
          </a:xfrm>
          <a:solidFill>
            <a:srgbClr val="76AEDD"/>
          </a:solidFill>
        </p:grpSpPr>
        <p:sp>
          <p:nvSpPr>
            <p:cNvPr id="3" name="等腰三角形 2">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9" name="等腰三角形 18">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extLst>
      <p:ext uri="{BB962C8B-B14F-4D97-AF65-F5344CB8AC3E}">
        <p14:creationId xmlns:p14="http://schemas.microsoft.com/office/powerpoint/2010/main" val="293196566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userDrawn="1">
  <p:cSld name="6_空白">
    <p:bg>
      <p:bgPr>
        <a:solidFill>
          <a:schemeClr val="bg1"/>
        </a:solidFill>
        <a:effectLst/>
      </p:bgPr>
    </p:bg>
    <p:spTree>
      <p:nvGrpSpPr>
        <p:cNvPr id="1" name=""/>
        <p:cNvGrpSpPr/>
        <p:nvPr/>
      </p:nvGrpSpPr>
      <p:grpSpPr>
        <a:xfrm>
          <a:off x="0" y="0"/>
          <a:ext cx="0" cy="0"/>
          <a:chOff x="0" y="0"/>
          <a:chExt cx="0" cy="0"/>
        </a:xfrm>
      </p:grpSpPr>
      <p:sp>
        <p:nvSpPr>
          <p:cNvPr id="15" name="矩形 14"/>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6" name="矩形 15"/>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7" name="标题 1"/>
          <p:cNvSpPr>
            <a:spLocks noGrp="1"/>
          </p:cNvSpPr>
          <p:nvPr>
            <p:ph type="title"/>
          </p:nvPr>
        </p:nvSpPr>
        <p:spPr>
          <a:xfrm>
            <a:off x="844171" y="235957"/>
            <a:ext cx="6400800" cy="456739"/>
          </a:xfrm>
        </p:spPr>
        <p:txBody>
          <a:bodyPr/>
          <a:lstStyle/>
          <a:p>
            <a:pPr fontAlgn="base"/>
            <a:r>
              <a:rPr lang="zh-CN" altLang="en-US" strike="noStrike" noProof="1"/>
              <a:t>单击此处编辑母版标题样式</a:t>
            </a:r>
          </a:p>
        </p:txBody>
      </p:sp>
      <p:sp>
        <p:nvSpPr>
          <p:cNvPr id="18" name="内容占位符 2"/>
          <p:cNvSpPr>
            <a:spLocks noGrp="1"/>
          </p:cNvSpPr>
          <p:nvPr>
            <p:ph idx="1" hasCustomPrompt="1"/>
          </p:nvPr>
        </p:nvSpPr>
        <p:spPr>
          <a:xfrm>
            <a:off x="496888" y="1116013"/>
            <a:ext cx="8251825" cy="5472112"/>
          </a:xfrm>
        </p:spPr>
        <p:txBody>
          <a:bodyPr/>
          <a:lstStyle/>
          <a:p>
            <a:pPr lvl="0" fontAlgn="base"/>
            <a:r>
              <a:rPr lang="zh-CN" altLang="en-US" strike="noStrike" noProof="1"/>
              <a:t>编辑母版文本样式</a:t>
            </a:r>
          </a:p>
          <a:p>
            <a:pPr lvl="1" fontAlgn="base"/>
            <a:r>
              <a:rPr lang="zh-CN" altLang="en-US" strike="noStrike" noProof="1"/>
              <a:t>第二级</a:t>
            </a:r>
          </a:p>
        </p:txBody>
      </p:sp>
      <p:grpSp>
        <p:nvGrpSpPr>
          <p:cNvPr id="2" name="组合 16"/>
          <p:cNvGrpSpPr/>
          <p:nvPr/>
        </p:nvGrpSpPr>
        <p:grpSpPr>
          <a:xfrm>
            <a:off x="115634" y="404660"/>
            <a:ext cx="617410" cy="174609"/>
            <a:chOff x="384175" y="480608"/>
            <a:chExt cx="348872" cy="98663"/>
          </a:xfrm>
          <a:solidFill>
            <a:srgbClr val="76AEDD"/>
          </a:solidFill>
        </p:grpSpPr>
        <p:sp>
          <p:nvSpPr>
            <p:cNvPr id="3" name="等腰三角形 2">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9" name="等腰三角形 18">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extLst>
      <p:ext uri="{BB962C8B-B14F-4D97-AF65-F5344CB8AC3E}">
        <p14:creationId xmlns:p14="http://schemas.microsoft.com/office/powerpoint/2010/main" val="104917539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userDrawn="1">
  <p:cSld name="7_空白">
    <p:bg>
      <p:bgPr>
        <a:solidFill>
          <a:schemeClr val="bg1"/>
        </a:solidFill>
        <a:effectLst/>
      </p:bgPr>
    </p:bg>
    <p:spTree>
      <p:nvGrpSpPr>
        <p:cNvPr id="1" name=""/>
        <p:cNvGrpSpPr/>
        <p:nvPr/>
      </p:nvGrpSpPr>
      <p:grpSpPr>
        <a:xfrm>
          <a:off x="0" y="0"/>
          <a:ext cx="0" cy="0"/>
          <a:chOff x="0" y="0"/>
          <a:chExt cx="0" cy="0"/>
        </a:xfrm>
      </p:grpSpPr>
      <p:sp>
        <p:nvSpPr>
          <p:cNvPr id="15" name="矩形 14"/>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6" name="矩形 15"/>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7" name="标题 1"/>
          <p:cNvSpPr>
            <a:spLocks noGrp="1"/>
          </p:cNvSpPr>
          <p:nvPr>
            <p:ph type="title"/>
          </p:nvPr>
        </p:nvSpPr>
        <p:spPr>
          <a:xfrm>
            <a:off x="844171" y="235957"/>
            <a:ext cx="6400800" cy="456739"/>
          </a:xfrm>
        </p:spPr>
        <p:txBody>
          <a:bodyPr/>
          <a:lstStyle/>
          <a:p>
            <a:pPr fontAlgn="base"/>
            <a:r>
              <a:rPr lang="zh-CN" altLang="en-US" strike="noStrike" noProof="1"/>
              <a:t>单击此处编辑母版标题样式</a:t>
            </a:r>
          </a:p>
        </p:txBody>
      </p:sp>
      <p:sp>
        <p:nvSpPr>
          <p:cNvPr id="18" name="内容占位符 2"/>
          <p:cNvSpPr>
            <a:spLocks noGrp="1"/>
          </p:cNvSpPr>
          <p:nvPr>
            <p:ph idx="1" hasCustomPrompt="1"/>
          </p:nvPr>
        </p:nvSpPr>
        <p:spPr>
          <a:xfrm>
            <a:off x="496888" y="1116013"/>
            <a:ext cx="8251825" cy="5472112"/>
          </a:xfrm>
        </p:spPr>
        <p:txBody>
          <a:bodyPr/>
          <a:lstStyle/>
          <a:p>
            <a:pPr lvl="0" fontAlgn="base"/>
            <a:r>
              <a:rPr lang="zh-CN" altLang="en-US" strike="noStrike" noProof="1"/>
              <a:t>编辑母版文本样式</a:t>
            </a:r>
          </a:p>
          <a:p>
            <a:pPr lvl="1" fontAlgn="base"/>
            <a:r>
              <a:rPr lang="zh-CN" altLang="en-US" strike="noStrike" noProof="1"/>
              <a:t>第二级</a:t>
            </a:r>
          </a:p>
        </p:txBody>
      </p:sp>
      <p:grpSp>
        <p:nvGrpSpPr>
          <p:cNvPr id="2" name="组合 16"/>
          <p:cNvGrpSpPr/>
          <p:nvPr/>
        </p:nvGrpSpPr>
        <p:grpSpPr>
          <a:xfrm>
            <a:off x="115634" y="404660"/>
            <a:ext cx="617410" cy="174609"/>
            <a:chOff x="384175" y="480608"/>
            <a:chExt cx="348872" cy="98663"/>
          </a:xfrm>
          <a:solidFill>
            <a:srgbClr val="76AEDD"/>
          </a:solidFill>
        </p:grpSpPr>
        <p:sp>
          <p:nvSpPr>
            <p:cNvPr id="3" name="等腰三角形 2">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9" name="等腰三角形 18">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extLst>
      <p:ext uri="{BB962C8B-B14F-4D97-AF65-F5344CB8AC3E}">
        <p14:creationId xmlns:p14="http://schemas.microsoft.com/office/powerpoint/2010/main" val="110333003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userDrawn="1">
  <p:cSld name="8_空白">
    <p:bg>
      <p:bgPr>
        <a:solidFill>
          <a:schemeClr val="bg1"/>
        </a:solidFill>
        <a:effectLst/>
      </p:bgPr>
    </p:bg>
    <p:spTree>
      <p:nvGrpSpPr>
        <p:cNvPr id="1" name=""/>
        <p:cNvGrpSpPr/>
        <p:nvPr/>
      </p:nvGrpSpPr>
      <p:grpSpPr>
        <a:xfrm>
          <a:off x="0" y="0"/>
          <a:ext cx="0" cy="0"/>
          <a:chOff x="0" y="0"/>
          <a:chExt cx="0" cy="0"/>
        </a:xfrm>
      </p:grpSpPr>
      <p:sp>
        <p:nvSpPr>
          <p:cNvPr id="15" name="矩形 14"/>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6" name="矩形 15"/>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7" name="标题 1"/>
          <p:cNvSpPr>
            <a:spLocks noGrp="1"/>
          </p:cNvSpPr>
          <p:nvPr>
            <p:ph type="title"/>
          </p:nvPr>
        </p:nvSpPr>
        <p:spPr>
          <a:xfrm>
            <a:off x="844171" y="235957"/>
            <a:ext cx="6400800" cy="456739"/>
          </a:xfrm>
        </p:spPr>
        <p:txBody>
          <a:bodyPr/>
          <a:lstStyle/>
          <a:p>
            <a:pPr fontAlgn="base"/>
            <a:r>
              <a:rPr lang="zh-CN" altLang="en-US" strike="noStrike" noProof="1"/>
              <a:t>单击此处编辑母版标题样式</a:t>
            </a:r>
          </a:p>
        </p:txBody>
      </p:sp>
      <p:sp>
        <p:nvSpPr>
          <p:cNvPr id="18" name="内容占位符 2"/>
          <p:cNvSpPr>
            <a:spLocks noGrp="1"/>
          </p:cNvSpPr>
          <p:nvPr>
            <p:ph idx="1" hasCustomPrompt="1"/>
          </p:nvPr>
        </p:nvSpPr>
        <p:spPr>
          <a:xfrm>
            <a:off x="496888" y="1116013"/>
            <a:ext cx="8251825" cy="5472112"/>
          </a:xfrm>
        </p:spPr>
        <p:txBody>
          <a:bodyPr/>
          <a:lstStyle/>
          <a:p>
            <a:pPr lvl="0" fontAlgn="base"/>
            <a:r>
              <a:rPr lang="zh-CN" altLang="en-US" strike="noStrike" noProof="1"/>
              <a:t>编辑母版文本样式</a:t>
            </a:r>
          </a:p>
          <a:p>
            <a:pPr lvl="1" fontAlgn="base"/>
            <a:r>
              <a:rPr lang="zh-CN" altLang="en-US" strike="noStrike" noProof="1"/>
              <a:t>第二级</a:t>
            </a:r>
          </a:p>
        </p:txBody>
      </p:sp>
      <p:grpSp>
        <p:nvGrpSpPr>
          <p:cNvPr id="2" name="组合 16"/>
          <p:cNvGrpSpPr/>
          <p:nvPr/>
        </p:nvGrpSpPr>
        <p:grpSpPr>
          <a:xfrm>
            <a:off x="115634" y="404660"/>
            <a:ext cx="617410" cy="174609"/>
            <a:chOff x="384175" y="480608"/>
            <a:chExt cx="348872" cy="98663"/>
          </a:xfrm>
          <a:solidFill>
            <a:srgbClr val="76AEDD"/>
          </a:solidFill>
        </p:grpSpPr>
        <p:sp>
          <p:nvSpPr>
            <p:cNvPr id="3" name="等腰三角形 2">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9" name="等腰三角形 18">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extLst>
      <p:ext uri="{BB962C8B-B14F-4D97-AF65-F5344CB8AC3E}">
        <p14:creationId xmlns:p14="http://schemas.microsoft.com/office/powerpoint/2010/main" val="107150192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userDrawn="1">
  <p:cSld name="9_空白">
    <p:bg>
      <p:bgPr>
        <a:solidFill>
          <a:schemeClr val="bg1"/>
        </a:solidFill>
        <a:effectLst/>
      </p:bgPr>
    </p:bg>
    <p:spTree>
      <p:nvGrpSpPr>
        <p:cNvPr id="1" name=""/>
        <p:cNvGrpSpPr/>
        <p:nvPr/>
      </p:nvGrpSpPr>
      <p:grpSpPr>
        <a:xfrm>
          <a:off x="0" y="0"/>
          <a:ext cx="0" cy="0"/>
          <a:chOff x="0" y="0"/>
          <a:chExt cx="0" cy="0"/>
        </a:xfrm>
      </p:grpSpPr>
      <p:sp>
        <p:nvSpPr>
          <p:cNvPr id="15" name="矩形 14"/>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6" name="矩形 15"/>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7" name="标题 1"/>
          <p:cNvSpPr>
            <a:spLocks noGrp="1"/>
          </p:cNvSpPr>
          <p:nvPr>
            <p:ph type="title"/>
          </p:nvPr>
        </p:nvSpPr>
        <p:spPr>
          <a:xfrm>
            <a:off x="844171" y="235957"/>
            <a:ext cx="6400800" cy="456739"/>
          </a:xfrm>
        </p:spPr>
        <p:txBody>
          <a:bodyPr/>
          <a:lstStyle/>
          <a:p>
            <a:pPr fontAlgn="base"/>
            <a:r>
              <a:rPr lang="zh-CN" altLang="en-US" strike="noStrike" noProof="1"/>
              <a:t>单击此处编辑母版标题样式</a:t>
            </a:r>
          </a:p>
        </p:txBody>
      </p:sp>
      <p:sp>
        <p:nvSpPr>
          <p:cNvPr id="18" name="内容占位符 2"/>
          <p:cNvSpPr>
            <a:spLocks noGrp="1"/>
          </p:cNvSpPr>
          <p:nvPr>
            <p:ph idx="1" hasCustomPrompt="1"/>
          </p:nvPr>
        </p:nvSpPr>
        <p:spPr>
          <a:xfrm>
            <a:off x="496888" y="1116013"/>
            <a:ext cx="8251825" cy="5472112"/>
          </a:xfrm>
        </p:spPr>
        <p:txBody>
          <a:bodyPr/>
          <a:lstStyle/>
          <a:p>
            <a:pPr lvl="0" fontAlgn="base"/>
            <a:r>
              <a:rPr lang="zh-CN" altLang="en-US" strike="noStrike" noProof="1"/>
              <a:t>编辑母版文本样式</a:t>
            </a:r>
          </a:p>
          <a:p>
            <a:pPr lvl="1" fontAlgn="base"/>
            <a:r>
              <a:rPr lang="zh-CN" altLang="en-US" strike="noStrike" noProof="1"/>
              <a:t>第二级</a:t>
            </a:r>
          </a:p>
        </p:txBody>
      </p:sp>
      <p:grpSp>
        <p:nvGrpSpPr>
          <p:cNvPr id="2" name="组合 16"/>
          <p:cNvGrpSpPr/>
          <p:nvPr/>
        </p:nvGrpSpPr>
        <p:grpSpPr>
          <a:xfrm>
            <a:off x="115634" y="404660"/>
            <a:ext cx="617410" cy="174609"/>
            <a:chOff x="384175" y="480608"/>
            <a:chExt cx="348872" cy="98663"/>
          </a:xfrm>
          <a:solidFill>
            <a:srgbClr val="76AEDD"/>
          </a:solidFill>
        </p:grpSpPr>
        <p:sp>
          <p:nvSpPr>
            <p:cNvPr id="3" name="等腰三角形 2">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9" name="等腰三角形 18">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extLst>
      <p:ext uri="{BB962C8B-B14F-4D97-AF65-F5344CB8AC3E}">
        <p14:creationId xmlns:p14="http://schemas.microsoft.com/office/powerpoint/2010/main" val="175998988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标题幻灯片">
    <p:bg>
      <p:bgPr>
        <a:solidFill>
          <a:schemeClr val="bg1"/>
        </a:solidFill>
        <a:effectLst/>
      </p:bgPr>
    </p:bg>
    <p:spTree>
      <p:nvGrpSpPr>
        <p:cNvPr id="1" name=""/>
        <p:cNvGrpSpPr/>
        <p:nvPr/>
      </p:nvGrpSpPr>
      <p:grpSpPr>
        <a:xfrm>
          <a:off x="0" y="0"/>
          <a:ext cx="0" cy="0"/>
          <a:chOff x="0" y="0"/>
          <a:chExt cx="0" cy="0"/>
        </a:xfrm>
      </p:grpSpPr>
      <p:sp>
        <p:nvSpPr>
          <p:cNvPr id="2050" name="直接连接符 9"/>
          <p:cNvSpPr/>
          <p:nvPr userDrawn="1"/>
        </p:nvSpPr>
        <p:spPr>
          <a:xfrm>
            <a:off x="0" y="6357938"/>
            <a:ext cx="9144000" cy="71437"/>
          </a:xfrm>
          <a:prstGeom prst="line">
            <a:avLst/>
          </a:prstGeom>
          <a:ln w="9525">
            <a:noFill/>
          </a:ln>
        </p:spPr>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type="obj" preserve="1">
  <p:cSld name="标题和内容">
    <p:bg>
      <p:bgPr>
        <a:solidFill>
          <a:schemeClr val="bg1"/>
        </a:solidFill>
        <a:effectLst/>
      </p:bgPr>
    </p:bg>
    <p:spTree>
      <p:nvGrpSpPr>
        <p:cNvPr id="1" name=""/>
        <p:cNvGrpSpPr/>
        <p:nvPr/>
      </p:nvGrpSpPr>
      <p:grpSpPr>
        <a:xfrm>
          <a:off x="0" y="0"/>
          <a:ext cx="0" cy="0"/>
          <a:chOff x="0" y="0"/>
          <a:chExt cx="0" cy="0"/>
        </a:xfrm>
      </p:grpSpPr>
      <p:sp>
        <p:nvSpPr>
          <p:cNvPr id="15" name="矩形 14"/>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6" name="矩形 15"/>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2" name="标题 1"/>
          <p:cNvSpPr>
            <a:spLocks noGrp="1"/>
          </p:cNvSpPr>
          <p:nvPr>
            <p:ph type="title"/>
          </p:nvPr>
        </p:nvSpPr>
        <p:spPr>
          <a:xfrm>
            <a:off x="844171" y="235957"/>
            <a:ext cx="6400800" cy="456739"/>
          </a:xfrm>
        </p:spPr>
        <p:txBody>
          <a:bodyPr/>
          <a:lstStyle/>
          <a:p>
            <a:r>
              <a:rPr lang="zh-CN" altLang="en-US" noProof="1"/>
              <a:t>单击此处编辑母版标题样式</a:t>
            </a:r>
          </a:p>
        </p:txBody>
      </p:sp>
      <p:sp>
        <p:nvSpPr>
          <p:cNvPr id="3" name="内容占位符 2"/>
          <p:cNvSpPr>
            <a:spLocks noGrp="1"/>
          </p:cNvSpPr>
          <p:nvPr>
            <p:ph idx="1" hasCustomPrompt="1"/>
          </p:nvPr>
        </p:nvSpPr>
        <p:spPr/>
        <p:txBody>
          <a:bodyPr/>
          <a:lstStyle/>
          <a:p>
            <a:pPr lvl="0"/>
            <a:r>
              <a:rPr lang="zh-CN" altLang="en-US" noProof="1"/>
              <a:t>编辑母版文本样式</a:t>
            </a:r>
          </a:p>
          <a:p>
            <a:pPr lvl="1"/>
            <a:r>
              <a:rPr lang="zh-CN" altLang="en-US" noProof="1"/>
              <a:t>第二级</a:t>
            </a:r>
          </a:p>
        </p:txBody>
      </p:sp>
      <p:grpSp>
        <p:nvGrpSpPr>
          <p:cNvPr id="17" name="组合 16"/>
          <p:cNvGrpSpPr/>
          <p:nvPr/>
        </p:nvGrpSpPr>
        <p:grpSpPr>
          <a:xfrm>
            <a:off x="115637" y="404664"/>
            <a:ext cx="617410" cy="174607"/>
            <a:chOff x="384175" y="480608"/>
            <a:chExt cx="348872" cy="98663"/>
          </a:xfrm>
          <a:solidFill>
            <a:srgbClr val="76AEDD"/>
          </a:solidFill>
        </p:grpSpPr>
        <p:sp>
          <p:nvSpPr>
            <p:cNvPr id="18" name="等腰三角形 17">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9" name="等腰三角形 18">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type="titleOnly" preserve="1">
  <p:cSld name="仅标题">
    <p:bg>
      <p:bgPr>
        <a:solidFill>
          <a:schemeClr val="bg1"/>
        </a:solidFill>
        <a:effectLst/>
      </p:bgPr>
    </p:bg>
    <p:spTree>
      <p:nvGrpSpPr>
        <p:cNvPr id="1" name=""/>
        <p:cNvGrpSpPr/>
        <p:nvPr/>
      </p:nvGrpSpPr>
      <p:grpSpPr>
        <a:xfrm>
          <a:off x="0" y="0"/>
          <a:ext cx="0" cy="0"/>
          <a:chOff x="0" y="0"/>
          <a:chExt cx="0" cy="0"/>
        </a:xfrm>
      </p:grpSpPr>
      <p:sp>
        <p:nvSpPr>
          <p:cNvPr id="15" name="矩形 14"/>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6" name="矩形 15"/>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2" name="标题 1"/>
          <p:cNvSpPr>
            <a:spLocks noGrp="1"/>
          </p:cNvSpPr>
          <p:nvPr>
            <p:ph type="title"/>
          </p:nvPr>
        </p:nvSpPr>
        <p:spPr/>
        <p:txBody>
          <a:bodyPr/>
          <a:lstStyle/>
          <a:p>
            <a:r>
              <a:rPr lang="zh-CN" altLang="en-US" noProof="1"/>
              <a:t>单击此处编辑母版标题样式</a:t>
            </a:r>
          </a:p>
        </p:txBody>
      </p:sp>
      <p:sp>
        <p:nvSpPr>
          <p:cNvPr id="4101" name="直接连接符 9"/>
          <p:cNvSpPr/>
          <p:nvPr userDrawn="1"/>
        </p:nvSpPr>
        <p:spPr>
          <a:xfrm>
            <a:off x="0" y="6357938"/>
            <a:ext cx="9144000" cy="71437"/>
          </a:xfrm>
          <a:prstGeom prst="line">
            <a:avLst/>
          </a:prstGeom>
          <a:ln w="9525">
            <a:noFill/>
          </a:ln>
        </p:spPr>
      </p:sp>
      <p:grpSp>
        <p:nvGrpSpPr>
          <p:cNvPr id="17" name="组合 16"/>
          <p:cNvGrpSpPr/>
          <p:nvPr/>
        </p:nvGrpSpPr>
        <p:grpSpPr>
          <a:xfrm>
            <a:off x="115637" y="404664"/>
            <a:ext cx="617410" cy="174607"/>
            <a:chOff x="384175" y="480608"/>
            <a:chExt cx="348872" cy="98663"/>
          </a:xfrm>
          <a:solidFill>
            <a:srgbClr val="76AEDD"/>
          </a:solidFill>
        </p:grpSpPr>
        <p:sp>
          <p:nvSpPr>
            <p:cNvPr id="18" name="等腰三角形 17">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9" name="等腰三角形 18">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userDrawn="1">
  <p:cSld name="空白">
    <p:bg>
      <p:bgPr>
        <a:solidFill>
          <a:schemeClr val="bg1"/>
        </a:solidFill>
        <a:effectLst/>
      </p:bgPr>
    </p:bg>
    <p:spTree>
      <p:nvGrpSpPr>
        <p:cNvPr id="1" name=""/>
        <p:cNvGrpSpPr/>
        <p:nvPr/>
      </p:nvGrpSpPr>
      <p:grpSpPr>
        <a:xfrm>
          <a:off x="0" y="0"/>
          <a:ext cx="0" cy="0"/>
          <a:chOff x="0" y="0"/>
          <a:chExt cx="0" cy="0"/>
        </a:xfrm>
      </p:grpSpPr>
      <p:sp>
        <p:nvSpPr>
          <p:cNvPr id="5122" name="直接连接符 9"/>
          <p:cNvSpPr/>
          <p:nvPr userDrawn="1"/>
        </p:nvSpPr>
        <p:spPr>
          <a:xfrm>
            <a:off x="0" y="6357938"/>
            <a:ext cx="9144000" cy="71437"/>
          </a:xfrm>
          <a:prstGeom prst="line">
            <a:avLst/>
          </a:prstGeom>
          <a:ln w="9525">
            <a:noFill/>
          </a:ln>
        </p:spPr>
      </p:sp>
      <p:sp>
        <p:nvSpPr>
          <p:cNvPr id="16" name="矩形 15"/>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7" name="矩形 16"/>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9" name="标题 1"/>
          <p:cNvSpPr>
            <a:spLocks noGrp="1"/>
          </p:cNvSpPr>
          <p:nvPr>
            <p:ph type="title"/>
          </p:nvPr>
        </p:nvSpPr>
        <p:spPr>
          <a:xfrm>
            <a:off x="844550" y="260350"/>
            <a:ext cx="6400800" cy="457200"/>
          </a:xfrm>
        </p:spPr>
        <p:txBody>
          <a:bodyPr/>
          <a:lstStyle/>
          <a:p>
            <a:r>
              <a:rPr lang="zh-CN" altLang="en-US" noProof="1"/>
              <a:t>单击此处编辑母版标题样式</a:t>
            </a:r>
          </a:p>
        </p:txBody>
      </p:sp>
      <p:grpSp>
        <p:nvGrpSpPr>
          <p:cNvPr id="18" name="组合 17"/>
          <p:cNvGrpSpPr/>
          <p:nvPr/>
        </p:nvGrpSpPr>
        <p:grpSpPr>
          <a:xfrm>
            <a:off x="115637" y="404664"/>
            <a:ext cx="617410" cy="174607"/>
            <a:chOff x="384175" y="480608"/>
            <a:chExt cx="348872" cy="98663"/>
          </a:xfrm>
          <a:solidFill>
            <a:srgbClr val="76AEDD"/>
          </a:solidFill>
        </p:grpSpPr>
        <p:sp>
          <p:nvSpPr>
            <p:cNvPr id="19" name="等腰三角形 18">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0" name="等腰三角形 19">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21" name="等腰三角形 20">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objOnly">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649288" y="609600"/>
            <a:ext cx="7983537" cy="5565775"/>
          </a:xfrm>
        </p:spPr>
        <p:txBody>
          <a:bodyPr/>
          <a:lstStyle/>
          <a:p>
            <a:pPr lvl="0"/>
            <a:r>
              <a:rPr lang="zh-CN" altLang="en-US" noProof="1"/>
              <a:t>单击此处编辑母版文本样式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type="blank">
  <p:cSld name="1_空白">
    <p:bg>
      <p:bgPr>
        <a:solidFill>
          <a:srgbClr val="000000"/>
        </a:solidFill>
        <a:effectLst/>
      </p:bgPr>
    </p:bg>
    <p:spTree>
      <p:nvGrpSpPr>
        <p:cNvPr id="1" name=""/>
        <p:cNvGrpSpPr/>
        <p:nvPr/>
      </p:nvGrpSpPr>
      <p:grpSpPr>
        <a:xfrm>
          <a:off x="0" y="0"/>
          <a:ext cx="0" cy="0"/>
          <a:chOff x="0" y="0"/>
          <a:chExt cx="0" cy="0"/>
        </a:xfrm>
      </p:grpSpPr>
      <p:sp>
        <p:nvSpPr>
          <p:cNvPr id="6146" name="直接连接符 9"/>
          <p:cNvSpPr/>
          <p:nvPr userDrawn="1"/>
        </p:nvSpPr>
        <p:spPr>
          <a:xfrm>
            <a:off x="0" y="6357938"/>
            <a:ext cx="9144000" cy="71437"/>
          </a:xfrm>
          <a:prstGeom prst="line">
            <a:avLst/>
          </a:prstGeom>
          <a:ln w="9525">
            <a:noFill/>
          </a:ln>
        </p:spPr>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userDrawn="1">
  <p:cSld name="2_标题和内容">
    <p:bg>
      <p:bgPr>
        <a:solidFill>
          <a:schemeClr val="bg1"/>
        </a:solidFill>
        <a:effectLst/>
      </p:bgPr>
    </p:bg>
    <p:spTree>
      <p:nvGrpSpPr>
        <p:cNvPr id="1" name=""/>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theme" Target="../theme/theme2.xml"/><Relationship Id="rId3" Type="http://schemas.openxmlformats.org/officeDocument/2006/relationships/slideLayout" Target="../slideLayouts/slideLayout19.xml"/><Relationship Id="rId7" Type="http://schemas.openxmlformats.org/officeDocument/2006/relationships/slideLayout" Target="../slideLayouts/slideLayout23.xml"/><Relationship Id="rId2" Type="http://schemas.openxmlformats.org/officeDocument/2006/relationships/slideLayout" Target="../slideLayouts/slideLayout18.xml"/><Relationship Id="rId1" Type="http://schemas.openxmlformats.org/officeDocument/2006/relationships/slideLayout" Target="../slideLayouts/slideLayout17.xml"/><Relationship Id="rId6" Type="http://schemas.openxmlformats.org/officeDocument/2006/relationships/slideLayout" Target="../slideLayouts/slideLayout22.xml"/><Relationship Id="rId5" Type="http://schemas.openxmlformats.org/officeDocument/2006/relationships/slideLayout" Target="../slideLayouts/slideLayout21.xml"/><Relationship Id="rId4"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3"/>
          <p:cNvSpPr>
            <a:spLocks noGrp="1"/>
          </p:cNvSpPr>
          <p:nvPr>
            <p:ph type="body"/>
          </p:nvPr>
        </p:nvSpPr>
        <p:spPr>
          <a:xfrm>
            <a:off x="496888" y="1116013"/>
            <a:ext cx="8251825" cy="5472112"/>
          </a:xfrm>
          <a:prstGeom prst="rect">
            <a:avLst/>
          </a:prstGeom>
          <a:noFill/>
          <a:ln w="9525">
            <a:noFill/>
          </a:ln>
        </p:spPr>
        <p:txBody>
          <a:bodyPr/>
          <a:lstStyle/>
          <a:p>
            <a:pPr lvl="0"/>
            <a:r>
              <a:rPr lang="zh-CN" altLang="en-US" dirty="0"/>
              <a:t>单击以编辑母版文本样式</a:t>
            </a:r>
          </a:p>
        </p:txBody>
      </p:sp>
      <p:cxnSp>
        <p:nvCxnSpPr>
          <p:cNvPr id="1027" name="直接连接符 9"/>
          <p:cNvCxnSpPr/>
          <p:nvPr userDrawn="1"/>
        </p:nvCxnSpPr>
        <p:spPr>
          <a:xfrm>
            <a:off x="0" y="6357938"/>
            <a:ext cx="9144000" cy="71437"/>
          </a:xfrm>
          <a:prstGeom prst="line">
            <a:avLst/>
          </a:prstGeom>
          <a:ln w="9525">
            <a:noFill/>
          </a:ln>
        </p:spPr>
      </p:cxnSp>
      <p:sp>
        <p:nvSpPr>
          <p:cNvPr id="10" name="矩形 9"/>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1" name="矩形 10"/>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grpSp>
        <p:nvGrpSpPr>
          <p:cNvPr id="2" name="组合 1"/>
          <p:cNvGrpSpPr/>
          <p:nvPr/>
        </p:nvGrpSpPr>
        <p:grpSpPr>
          <a:xfrm>
            <a:off x="115637" y="404664"/>
            <a:ext cx="617410" cy="174607"/>
            <a:chOff x="384175" y="480608"/>
            <a:chExt cx="348872" cy="98663"/>
          </a:xfrm>
          <a:solidFill>
            <a:srgbClr val="76AEDD"/>
          </a:solidFill>
        </p:grpSpPr>
        <p:sp>
          <p:nvSpPr>
            <p:cNvPr id="12" name="等腰三角形 11">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3" name="等腰三角形 12">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4" name="等腰三角形 13">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
        <p:nvSpPr>
          <p:cNvPr id="1031" name="Rectangle 2"/>
          <p:cNvSpPr>
            <a:spLocks noGrp="1"/>
          </p:cNvSpPr>
          <p:nvPr>
            <p:ph type="title"/>
          </p:nvPr>
        </p:nvSpPr>
        <p:spPr>
          <a:xfrm>
            <a:off x="844550" y="260350"/>
            <a:ext cx="6400800" cy="457200"/>
          </a:xfrm>
          <a:prstGeom prst="rect">
            <a:avLst/>
          </a:prstGeom>
          <a:noFill/>
          <a:ln w="9525">
            <a:noFill/>
          </a:ln>
        </p:spPr>
        <p:txBody>
          <a:bodyPr anchor="ctr" anchorCtr="0"/>
          <a:lstStyle/>
          <a:p>
            <a:pPr lvl="0"/>
            <a:r>
              <a:rPr lang="en-US" altLang="zh-CN" dirty="0"/>
              <a:t>单击以编辑</a:t>
            </a:r>
            <a:r>
              <a:rPr lang="en-US" altLang="en-US" dirty="0"/>
              <a:t>母版标题样式</a:t>
            </a: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72" r:id="rId6"/>
    <p:sldLayoutId id="2147483673" r:id="rId7"/>
    <p:sldLayoutId id="2147483674" r:id="rId8"/>
    <p:sldLayoutId id="2147483675" r:id="rId9"/>
    <p:sldLayoutId id="2147483676" r:id="rId10"/>
    <p:sldLayoutId id="2147483677" r:id="rId11"/>
    <p:sldLayoutId id="2147483678" r:id="rId12"/>
    <p:sldLayoutId id="2147483679" r:id="rId13"/>
    <p:sldLayoutId id="2147483680" r:id="rId14"/>
    <p:sldLayoutId id="2147483681" r:id="rId15"/>
    <p:sldLayoutId id="2147483682" r:id="rId16"/>
  </p:sldLayoutIdLst>
  <p:hf sldNum="0" hdr="0" ftr="0" dt="0"/>
  <p:txStyles>
    <p:titleStyle>
      <a:lvl1pPr algn="l" rtl="0" eaLnBrk="0" fontAlgn="base" hangingPunct="0">
        <a:spcBef>
          <a:spcPct val="0"/>
        </a:spcBef>
        <a:spcAft>
          <a:spcPct val="0"/>
        </a:spcAft>
        <a:defRPr sz="2800">
          <a:solidFill>
            <a:schemeClr val="bg1"/>
          </a:solidFill>
          <a:latin typeface="+mj-lt"/>
          <a:ea typeface="微软雅黑" panose="020B0503020204020204" pitchFamily="34" charset="-122"/>
          <a:cs typeface="+mj-cs"/>
        </a:defRPr>
      </a:lvl1pPr>
      <a:lvl2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2pPr>
      <a:lvl3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3pPr>
      <a:lvl4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4pPr>
      <a:lvl5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5pPr>
      <a:lvl6pPr marL="4572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itchFamily="49" charset="-122"/>
        </a:defRPr>
      </a:lvl6pPr>
      <a:lvl7pPr marL="9144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itchFamily="49" charset="-122"/>
        </a:defRPr>
      </a:lvl7pPr>
      <a:lvl8pPr marL="13716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itchFamily="49" charset="-122"/>
        </a:defRPr>
      </a:lvl8pPr>
      <a:lvl9pPr marL="18288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itchFamily="49" charset="-122"/>
        </a:defRPr>
      </a:lvl9pPr>
    </p:titleStyle>
    <p:body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vl6pPr marL="2514600" indent="-228600" algn="l" rtl="0" eaLnBrk="0" fontAlgn="base" hangingPunct="0">
        <a:spcBef>
          <a:spcPct val="20000"/>
        </a:spcBef>
        <a:spcAft>
          <a:spcPct val="0"/>
        </a:spcAft>
        <a:buChar char="»"/>
        <a:defRPr kumimoji="1" sz="2000">
          <a:solidFill>
            <a:schemeClr val="tx1"/>
          </a:solidFill>
          <a:latin typeface="+mn-lt"/>
          <a:ea typeface="+mn-ea"/>
        </a:defRPr>
      </a:lvl6pPr>
      <a:lvl7pPr marL="2971800" indent="-228600" algn="l" rtl="0" eaLnBrk="0" fontAlgn="base" hangingPunct="0">
        <a:spcBef>
          <a:spcPct val="20000"/>
        </a:spcBef>
        <a:spcAft>
          <a:spcPct val="0"/>
        </a:spcAft>
        <a:buChar char="»"/>
        <a:defRPr kumimoji="1" sz="2000">
          <a:solidFill>
            <a:schemeClr val="tx1"/>
          </a:solidFill>
          <a:latin typeface="+mn-lt"/>
          <a:ea typeface="+mn-ea"/>
        </a:defRPr>
      </a:lvl7pPr>
      <a:lvl8pPr marL="3429000" indent="-228600" algn="l" rtl="0" eaLnBrk="0" fontAlgn="base" hangingPunct="0">
        <a:spcBef>
          <a:spcPct val="20000"/>
        </a:spcBef>
        <a:spcAft>
          <a:spcPct val="0"/>
        </a:spcAft>
        <a:buChar char="»"/>
        <a:defRPr kumimoji="1" sz="2000">
          <a:solidFill>
            <a:schemeClr val="tx1"/>
          </a:solidFill>
          <a:latin typeface="+mn-lt"/>
          <a:ea typeface="+mn-ea"/>
        </a:defRPr>
      </a:lvl8pPr>
      <a:lvl9pPr marL="3886200" indent="-228600" algn="l" rtl="0" eaLnBrk="0" fontAlgn="base" hangingPunct="0">
        <a:spcBef>
          <a:spcPct val="20000"/>
        </a:spcBef>
        <a:spcAft>
          <a:spcPct val="0"/>
        </a:spcAft>
        <a:buChar char="»"/>
        <a:defRPr kumimoji="1"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3"/>
          <p:cNvSpPr>
            <a:spLocks noGrp="1"/>
          </p:cNvSpPr>
          <p:nvPr>
            <p:ph type="body"/>
          </p:nvPr>
        </p:nvSpPr>
        <p:spPr>
          <a:xfrm>
            <a:off x="496888" y="1116013"/>
            <a:ext cx="8251825" cy="5472112"/>
          </a:xfrm>
          <a:prstGeom prst="rect">
            <a:avLst/>
          </a:prstGeom>
          <a:noFill/>
          <a:ln w="9525">
            <a:noFill/>
          </a:ln>
        </p:spPr>
        <p:txBody>
          <a:bodyPr/>
          <a:lstStyle/>
          <a:p>
            <a:pPr lvl="0"/>
            <a:r>
              <a:rPr lang="zh-CN" altLang="en-US" dirty="0"/>
              <a:t>单击以编辑母版文本样式</a:t>
            </a:r>
          </a:p>
        </p:txBody>
      </p:sp>
      <p:cxnSp>
        <p:nvCxnSpPr>
          <p:cNvPr id="1027" name="直接连接符 9"/>
          <p:cNvCxnSpPr/>
          <p:nvPr userDrawn="1"/>
        </p:nvCxnSpPr>
        <p:spPr>
          <a:xfrm>
            <a:off x="0" y="6357938"/>
            <a:ext cx="9144000" cy="71437"/>
          </a:xfrm>
          <a:prstGeom prst="line">
            <a:avLst/>
          </a:prstGeom>
          <a:ln w="9525">
            <a:noFill/>
          </a:ln>
        </p:spPr>
      </p:cxnSp>
      <p:sp>
        <p:nvSpPr>
          <p:cNvPr id="10" name="矩形 9"/>
          <p:cNvSpPr/>
          <p:nvPr/>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sp>
        <p:nvSpPr>
          <p:cNvPr id="11" name="矩形 10"/>
          <p:cNvSpPr/>
          <p:nvPr/>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rgbClr val="FEFFFF"/>
              </a:solidFill>
              <a:effectLst/>
              <a:uLnTx/>
              <a:uFillTx/>
              <a:latin typeface="+mn-lt"/>
              <a:ea typeface="+mn-ea"/>
              <a:cs typeface="+mn-cs"/>
            </a:endParaRPr>
          </a:p>
        </p:txBody>
      </p:sp>
      <p:grpSp>
        <p:nvGrpSpPr>
          <p:cNvPr id="2" name="组合 1"/>
          <p:cNvGrpSpPr/>
          <p:nvPr/>
        </p:nvGrpSpPr>
        <p:grpSpPr>
          <a:xfrm>
            <a:off x="115637" y="404664"/>
            <a:ext cx="617410" cy="174607"/>
            <a:chOff x="384175" y="480608"/>
            <a:chExt cx="348872" cy="98663"/>
          </a:xfrm>
          <a:solidFill>
            <a:srgbClr val="76AEDD"/>
          </a:solidFill>
        </p:grpSpPr>
        <p:sp>
          <p:nvSpPr>
            <p:cNvPr id="12" name="等腰三角形 11">
              <a:hlinkClick r:id="" action="ppaction://hlinkshowjump?jump=previousslide"/>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3" name="等腰三角形 12">
              <a:hlinkClick r:id="" action="ppaction://hlinkshowjump?jump=previousslide"/>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sp>
          <p:nvSpPr>
            <p:cNvPr id="14" name="等腰三角形 13">
              <a:hlinkClick r:id="" action="ppaction://hlinkshowjump?jump=previousslide"/>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cs"/>
              </a:endParaRPr>
            </a:p>
          </p:txBody>
        </p:sp>
      </p:grpSp>
      <p:sp>
        <p:nvSpPr>
          <p:cNvPr id="1031" name="Rectangle 2"/>
          <p:cNvSpPr>
            <a:spLocks noGrp="1"/>
          </p:cNvSpPr>
          <p:nvPr>
            <p:ph type="title"/>
          </p:nvPr>
        </p:nvSpPr>
        <p:spPr>
          <a:xfrm>
            <a:off x="844550" y="260350"/>
            <a:ext cx="6400800" cy="457200"/>
          </a:xfrm>
          <a:prstGeom prst="rect">
            <a:avLst/>
          </a:prstGeom>
          <a:noFill/>
          <a:ln w="9525">
            <a:noFill/>
          </a:ln>
        </p:spPr>
        <p:txBody>
          <a:bodyPr anchor="ctr" anchorCtr="0"/>
          <a:lstStyle/>
          <a:p>
            <a:pPr lvl="0"/>
            <a:r>
              <a:rPr lang="en-US" altLang="zh-CN" dirty="0"/>
              <a:t>单击以编辑</a:t>
            </a:r>
            <a:r>
              <a:rPr lang="en-US" altLang="en-US" dirty="0"/>
              <a:t>母版标题样式</a:t>
            </a:r>
          </a:p>
        </p:txBody>
      </p:sp>
    </p:spTree>
  </p:cSld>
  <p:clrMap bg1="lt1" tx1="dk1" bg2="lt2" tx2="dk2" accent1="accent1" accent2="accent2" accent3="accent3" accent4="accent4" accent5="accent5" accent6="accent6" hlink="hlink" folHlink="folHlink"/>
  <p:sldLayoutIdLst>
    <p:sldLayoutId id="2147483656" r:id="rId1"/>
    <p:sldLayoutId id="2147483657" r:id="rId2"/>
    <p:sldLayoutId id="2147483658" r:id="rId3"/>
    <p:sldLayoutId id="2147483659" r:id="rId4"/>
    <p:sldLayoutId id="2147483660" r:id="rId5"/>
    <p:sldLayoutId id="2147483661" r:id="rId6"/>
    <p:sldLayoutId id="2147483662" r:id="rId7"/>
  </p:sldLayoutIdLst>
  <p:hf sldNum="0" hdr="0" ftr="0" dt="0"/>
  <p:txStyles>
    <p:titleStyle>
      <a:lvl1pPr algn="l" rtl="0" eaLnBrk="0" fontAlgn="base" hangingPunct="0">
        <a:spcBef>
          <a:spcPct val="0"/>
        </a:spcBef>
        <a:spcAft>
          <a:spcPct val="0"/>
        </a:spcAft>
        <a:defRPr sz="2800">
          <a:solidFill>
            <a:schemeClr val="bg1"/>
          </a:solidFill>
          <a:latin typeface="+mj-lt"/>
          <a:ea typeface="微软雅黑" panose="020B0503020204020204" pitchFamily="34" charset="-122"/>
          <a:cs typeface="+mj-cs"/>
        </a:defRPr>
      </a:lvl1pPr>
      <a:lvl2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2pPr>
      <a:lvl3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3pPr>
      <a:lvl4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4pPr>
      <a:lvl5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5pPr>
      <a:lvl6pPr marL="4572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itchFamily="49" charset="-122"/>
        </a:defRPr>
      </a:lvl6pPr>
      <a:lvl7pPr marL="9144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itchFamily="49" charset="-122"/>
        </a:defRPr>
      </a:lvl7pPr>
      <a:lvl8pPr marL="13716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itchFamily="49" charset="-122"/>
        </a:defRPr>
      </a:lvl8pPr>
      <a:lvl9pPr marL="18288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itchFamily="49" charset="-122"/>
        </a:defRPr>
      </a:lvl9pPr>
    </p:titleStyle>
    <p:body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vl6pPr marL="2514600" indent="-228600" algn="l" rtl="0" eaLnBrk="0" fontAlgn="base" hangingPunct="0">
        <a:spcBef>
          <a:spcPct val="20000"/>
        </a:spcBef>
        <a:spcAft>
          <a:spcPct val="0"/>
        </a:spcAft>
        <a:buChar char="»"/>
        <a:defRPr kumimoji="1" sz="2000">
          <a:solidFill>
            <a:schemeClr val="tx1"/>
          </a:solidFill>
          <a:latin typeface="+mn-lt"/>
          <a:ea typeface="+mn-ea"/>
        </a:defRPr>
      </a:lvl6pPr>
      <a:lvl7pPr marL="2971800" indent="-228600" algn="l" rtl="0" eaLnBrk="0" fontAlgn="base" hangingPunct="0">
        <a:spcBef>
          <a:spcPct val="20000"/>
        </a:spcBef>
        <a:spcAft>
          <a:spcPct val="0"/>
        </a:spcAft>
        <a:buChar char="»"/>
        <a:defRPr kumimoji="1" sz="2000">
          <a:solidFill>
            <a:schemeClr val="tx1"/>
          </a:solidFill>
          <a:latin typeface="+mn-lt"/>
          <a:ea typeface="+mn-ea"/>
        </a:defRPr>
      </a:lvl7pPr>
      <a:lvl8pPr marL="3429000" indent="-228600" algn="l" rtl="0" eaLnBrk="0" fontAlgn="base" hangingPunct="0">
        <a:spcBef>
          <a:spcPct val="20000"/>
        </a:spcBef>
        <a:spcAft>
          <a:spcPct val="0"/>
        </a:spcAft>
        <a:buChar char="»"/>
        <a:defRPr kumimoji="1" sz="2000">
          <a:solidFill>
            <a:schemeClr val="tx1"/>
          </a:solidFill>
          <a:latin typeface="+mn-lt"/>
          <a:ea typeface="+mn-ea"/>
        </a:defRPr>
      </a:lvl8pPr>
      <a:lvl9pPr marL="3886200" indent="-228600" algn="l" rtl="0" eaLnBrk="0" fontAlgn="base" hangingPunct="0">
        <a:spcBef>
          <a:spcPct val="20000"/>
        </a:spcBef>
        <a:spcAft>
          <a:spcPct val="0"/>
        </a:spcAft>
        <a:buChar char="»"/>
        <a:defRPr kumimoji="1"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1.xml"/><Relationship Id="rId4" Type="http://schemas.openxmlformats.org/officeDocument/2006/relationships/comments" Target="../comments/comment1.xml"/></Relationships>
</file>

<file path=ppt/slides/_rels/slide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e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7.xml"/><Relationship Id="rId4" Type="http://schemas.openxmlformats.org/officeDocument/2006/relationships/image" Target="../media/image7.png"/></Relationships>
</file>

<file path=ppt/slides/_rels/slide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4.xml"/><Relationship Id="rId1" Type="http://schemas.openxmlformats.org/officeDocument/2006/relationships/vmlDrawing" Target="../drawings/vmlDrawing1.vml"/><Relationship Id="rId6" Type="http://schemas.openxmlformats.org/officeDocument/2006/relationships/image" Target="../media/image9.wmf"/><Relationship Id="rId5" Type="http://schemas.openxmlformats.org/officeDocument/2006/relationships/oleObject" Target="../embeddings/oleObject2.bin"/><Relationship Id="rId4" Type="http://schemas.openxmlformats.org/officeDocument/2006/relationships/image" Target="../media/image8.wmf"/></Relationships>
</file>

<file path=ppt/slides/_rels/slide11.xml.rels><?xml version="1.0" encoding="UTF-8" standalone="yes"?>
<Relationships xmlns="http://schemas.openxmlformats.org/package/2006/relationships"><Relationship Id="rId8" Type="http://schemas.openxmlformats.org/officeDocument/2006/relationships/oleObject" Target="../embeddings/oleObject5.bin"/><Relationship Id="rId3" Type="http://schemas.openxmlformats.org/officeDocument/2006/relationships/audio" Target="../media/audio2.wav"/><Relationship Id="rId7" Type="http://schemas.openxmlformats.org/officeDocument/2006/relationships/image" Target="../media/image11.wmf"/><Relationship Id="rId2" Type="http://schemas.openxmlformats.org/officeDocument/2006/relationships/slideLayout" Target="../slideLayouts/slideLayout4.xml"/><Relationship Id="rId1" Type="http://schemas.openxmlformats.org/officeDocument/2006/relationships/vmlDrawing" Target="../drawings/vmlDrawing2.vml"/><Relationship Id="rId6" Type="http://schemas.openxmlformats.org/officeDocument/2006/relationships/oleObject" Target="../embeddings/oleObject4.bin"/><Relationship Id="rId11" Type="http://schemas.openxmlformats.org/officeDocument/2006/relationships/image" Target="../media/image13.wmf"/><Relationship Id="rId5" Type="http://schemas.openxmlformats.org/officeDocument/2006/relationships/image" Target="../media/image10.wmf"/><Relationship Id="rId10" Type="http://schemas.openxmlformats.org/officeDocument/2006/relationships/oleObject" Target="../embeddings/oleObject6.bin"/><Relationship Id="rId4" Type="http://schemas.openxmlformats.org/officeDocument/2006/relationships/oleObject" Target="../embeddings/oleObject3.bin"/><Relationship Id="rId9" Type="http://schemas.openxmlformats.org/officeDocument/2006/relationships/image" Target="../media/image12.wmf"/></Relationships>
</file>

<file path=ppt/slides/_rels/slide12.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Layout" Target="../slideLayouts/slideLayout4.xml"/><Relationship Id="rId1" Type="http://schemas.openxmlformats.org/officeDocument/2006/relationships/vmlDrawing" Target="../drawings/vmlDrawing3.vml"/><Relationship Id="rId4" Type="http://schemas.openxmlformats.org/officeDocument/2006/relationships/image" Target="../media/image14.wmf"/></Relationships>
</file>

<file path=ppt/slides/_rels/slide13.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slideLayout" Target="../slideLayouts/slideLayout4.xml"/><Relationship Id="rId1" Type="http://schemas.openxmlformats.org/officeDocument/2006/relationships/vmlDrawing" Target="../drawings/vmlDrawing4.vml"/><Relationship Id="rId4" Type="http://schemas.openxmlformats.org/officeDocument/2006/relationships/image" Target="../media/image14.wmf"/></Relationships>
</file>

<file path=ppt/slides/_rels/slide14.xml.rels><?xml version="1.0" encoding="UTF-8" standalone="yes"?>
<Relationships xmlns="http://schemas.openxmlformats.org/package/2006/relationships"><Relationship Id="rId3" Type="http://schemas.openxmlformats.org/officeDocument/2006/relationships/oleObject" Target="../embeddings/oleObject9.bin"/><Relationship Id="rId2" Type="http://schemas.openxmlformats.org/officeDocument/2006/relationships/slideLayout" Target="../slideLayouts/slideLayout4.xml"/><Relationship Id="rId1" Type="http://schemas.openxmlformats.org/officeDocument/2006/relationships/vmlDrawing" Target="../drawings/vmlDrawing5.vml"/><Relationship Id="rId4" Type="http://schemas.openxmlformats.org/officeDocument/2006/relationships/image" Target="../media/image14.wmf"/></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8" Type="http://schemas.openxmlformats.org/officeDocument/2006/relationships/image" Target="../media/image17.wmf"/><Relationship Id="rId13" Type="http://schemas.openxmlformats.org/officeDocument/2006/relationships/oleObject" Target="../embeddings/oleObject15.bin"/><Relationship Id="rId3" Type="http://schemas.openxmlformats.org/officeDocument/2006/relationships/audio" Target="../media/audio2.wav"/><Relationship Id="rId7" Type="http://schemas.openxmlformats.org/officeDocument/2006/relationships/oleObject" Target="../embeddings/oleObject12.bin"/><Relationship Id="rId12" Type="http://schemas.openxmlformats.org/officeDocument/2006/relationships/image" Target="../media/image19.wmf"/><Relationship Id="rId2" Type="http://schemas.openxmlformats.org/officeDocument/2006/relationships/slideLayout" Target="../slideLayouts/slideLayout4.xml"/><Relationship Id="rId1" Type="http://schemas.openxmlformats.org/officeDocument/2006/relationships/vmlDrawing" Target="../drawings/vmlDrawing6.vml"/><Relationship Id="rId6" Type="http://schemas.openxmlformats.org/officeDocument/2006/relationships/oleObject" Target="../embeddings/oleObject11.bin"/><Relationship Id="rId11" Type="http://schemas.openxmlformats.org/officeDocument/2006/relationships/oleObject" Target="../embeddings/oleObject14.bin"/><Relationship Id="rId5" Type="http://schemas.openxmlformats.org/officeDocument/2006/relationships/image" Target="../media/image16.wmf"/><Relationship Id="rId10" Type="http://schemas.openxmlformats.org/officeDocument/2006/relationships/image" Target="../media/image18.wmf"/><Relationship Id="rId4" Type="http://schemas.openxmlformats.org/officeDocument/2006/relationships/oleObject" Target="../embeddings/oleObject10.bin"/><Relationship Id="rId9" Type="http://schemas.openxmlformats.org/officeDocument/2006/relationships/oleObject" Target="../embeddings/oleObject13.bin"/><Relationship Id="rId14" Type="http://schemas.openxmlformats.org/officeDocument/2006/relationships/image" Target="../media/image20.wmf"/></Relationships>
</file>

<file path=ppt/slides/_rels/slide25.xml.rels><?xml version="1.0" encoding="UTF-8" standalone="yes"?>
<Relationships xmlns="http://schemas.openxmlformats.org/package/2006/relationships"><Relationship Id="rId3" Type="http://schemas.openxmlformats.org/officeDocument/2006/relationships/oleObject" Target="../embeddings/oleObject16.bin"/><Relationship Id="rId2" Type="http://schemas.openxmlformats.org/officeDocument/2006/relationships/slideLayout" Target="../slideLayouts/slideLayout4.xml"/><Relationship Id="rId1" Type="http://schemas.openxmlformats.org/officeDocument/2006/relationships/vmlDrawing" Target="../drawings/vmlDrawing7.vml"/><Relationship Id="rId6" Type="http://schemas.openxmlformats.org/officeDocument/2006/relationships/image" Target="../media/image16.wmf"/><Relationship Id="rId5" Type="http://schemas.openxmlformats.org/officeDocument/2006/relationships/oleObject" Target="../embeddings/oleObject17.bin"/><Relationship Id="rId4" Type="http://schemas.openxmlformats.org/officeDocument/2006/relationships/image" Target="../media/image21.wmf"/></Relationships>
</file>

<file path=ppt/slides/_rels/slide26.xml.rels><?xml version="1.0" encoding="UTF-8" standalone="yes"?>
<Relationships xmlns="http://schemas.openxmlformats.org/package/2006/relationships"><Relationship Id="rId3" Type="http://schemas.openxmlformats.org/officeDocument/2006/relationships/oleObject" Target="../embeddings/oleObject18.bin"/><Relationship Id="rId2" Type="http://schemas.openxmlformats.org/officeDocument/2006/relationships/slideLayout" Target="../slideLayouts/slideLayout4.xml"/><Relationship Id="rId1" Type="http://schemas.openxmlformats.org/officeDocument/2006/relationships/vmlDrawing" Target="../drawings/vmlDrawing8.vml"/><Relationship Id="rId6" Type="http://schemas.openxmlformats.org/officeDocument/2006/relationships/image" Target="../media/image16.wmf"/><Relationship Id="rId5" Type="http://schemas.openxmlformats.org/officeDocument/2006/relationships/oleObject" Target="../embeddings/oleObject19.bin"/><Relationship Id="rId4" Type="http://schemas.openxmlformats.org/officeDocument/2006/relationships/image" Target="../media/image21.wmf"/></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8" Type="http://schemas.openxmlformats.org/officeDocument/2006/relationships/oleObject" Target="../embeddings/oleObject22.bin"/><Relationship Id="rId3" Type="http://schemas.openxmlformats.org/officeDocument/2006/relationships/audio" Target="../media/audio2.wav"/><Relationship Id="rId7" Type="http://schemas.openxmlformats.org/officeDocument/2006/relationships/image" Target="../media/image22.wmf"/><Relationship Id="rId2" Type="http://schemas.openxmlformats.org/officeDocument/2006/relationships/slideLayout" Target="../slideLayouts/slideLayout2.xml"/><Relationship Id="rId1" Type="http://schemas.openxmlformats.org/officeDocument/2006/relationships/vmlDrawing" Target="../drawings/vmlDrawing9.vml"/><Relationship Id="rId6" Type="http://schemas.openxmlformats.org/officeDocument/2006/relationships/oleObject" Target="../embeddings/oleObject21.bin"/><Relationship Id="rId5" Type="http://schemas.openxmlformats.org/officeDocument/2006/relationships/image" Target="../media/image16.wmf"/><Relationship Id="rId4" Type="http://schemas.openxmlformats.org/officeDocument/2006/relationships/oleObject" Target="../embeddings/oleObject20.bin"/><Relationship Id="rId9" Type="http://schemas.openxmlformats.org/officeDocument/2006/relationships/image" Target="../media/image23.wmf"/></Relationships>
</file>

<file path=ppt/slides/_rels/slide29.xml.rels><?xml version="1.0" encoding="UTF-8" standalone="yes"?>
<Relationships xmlns="http://schemas.openxmlformats.org/package/2006/relationships"><Relationship Id="rId3" Type="http://schemas.openxmlformats.org/officeDocument/2006/relationships/oleObject" Target="../embeddings/oleObject23.bin"/><Relationship Id="rId2" Type="http://schemas.openxmlformats.org/officeDocument/2006/relationships/slideLayout" Target="../slideLayouts/slideLayout4.xml"/><Relationship Id="rId1" Type="http://schemas.openxmlformats.org/officeDocument/2006/relationships/vmlDrawing" Target="../drawings/vmlDrawing10.vml"/><Relationship Id="rId4" Type="http://schemas.openxmlformats.org/officeDocument/2006/relationships/image" Target="../media/image16.wmf"/></Relationships>
</file>

<file path=ppt/slides/_rels/slide30.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4.xml"/></Relationships>
</file>

<file path=ppt/slides/_rels/slide31.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3" Type="http://schemas.openxmlformats.org/officeDocument/2006/relationships/oleObject" Target="../embeddings/oleObject24.bin"/><Relationship Id="rId2" Type="http://schemas.openxmlformats.org/officeDocument/2006/relationships/slideLayout" Target="../slideLayouts/slideLayout4.xml"/><Relationship Id="rId1" Type="http://schemas.openxmlformats.org/officeDocument/2006/relationships/vmlDrawing" Target="../drawings/vmlDrawing11.vml"/><Relationship Id="rId6" Type="http://schemas.openxmlformats.org/officeDocument/2006/relationships/image" Target="../media/image27.wmf"/><Relationship Id="rId5" Type="http://schemas.openxmlformats.org/officeDocument/2006/relationships/oleObject" Target="../embeddings/oleObject25.bin"/><Relationship Id="rId4" Type="http://schemas.openxmlformats.org/officeDocument/2006/relationships/image" Target="../media/image26.wmf"/></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3" Type="http://schemas.openxmlformats.org/officeDocument/2006/relationships/oleObject" Target="../embeddings/oleObject26.bin"/><Relationship Id="rId2" Type="http://schemas.openxmlformats.org/officeDocument/2006/relationships/slideLayout" Target="../slideLayouts/slideLayout4.xml"/><Relationship Id="rId1" Type="http://schemas.openxmlformats.org/officeDocument/2006/relationships/vmlDrawing" Target="../drawings/vmlDrawing12.vml"/><Relationship Id="rId4" Type="http://schemas.openxmlformats.org/officeDocument/2006/relationships/image" Target="../media/image28.wmf"/></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8" Type="http://schemas.openxmlformats.org/officeDocument/2006/relationships/tags" Target="../tags/tag9.xml"/><Relationship Id="rId13" Type="http://schemas.openxmlformats.org/officeDocument/2006/relationships/tags" Target="../tags/tag14.xml"/><Relationship Id="rId18" Type="http://schemas.openxmlformats.org/officeDocument/2006/relationships/slideLayout" Target="../slideLayouts/slideLayout6.xml"/><Relationship Id="rId3" Type="http://schemas.openxmlformats.org/officeDocument/2006/relationships/tags" Target="../tags/tag4.xml"/><Relationship Id="rId7" Type="http://schemas.openxmlformats.org/officeDocument/2006/relationships/tags" Target="../tags/tag8.xml"/><Relationship Id="rId12" Type="http://schemas.openxmlformats.org/officeDocument/2006/relationships/tags" Target="../tags/tag13.xml"/><Relationship Id="rId17" Type="http://schemas.openxmlformats.org/officeDocument/2006/relationships/tags" Target="../tags/tag18.xml"/><Relationship Id="rId2" Type="http://schemas.openxmlformats.org/officeDocument/2006/relationships/tags" Target="../tags/tag3.xml"/><Relationship Id="rId16" Type="http://schemas.openxmlformats.org/officeDocument/2006/relationships/tags" Target="../tags/tag17.xml"/><Relationship Id="rId1" Type="http://schemas.openxmlformats.org/officeDocument/2006/relationships/tags" Target="../tags/tag2.xml"/><Relationship Id="rId6" Type="http://schemas.openxmlformats.org/officeDocument/2006/relationships/tags" Target="../tags/tag7.xml"/><Relationship Id="rId11" Type="http://schemas.openxmlformats.org/officeDocument/2006/relationships/tags" Target="../tags/tag12.xml"/><Relationship Id="rId5" Type="http://schemas.openxmlformats.org/officeDocument/2006/relationships/tags" Target="../tags/tag6.xml"/><Relationship Id="rId15" Type="http://schemas.openxmlformats.org/officeDocument/2006/relationships/tags" Target="../tags/tag16.xml"/><Relationship Id="rId10" Type="http://schemas.openxmlformats.org/officeDocument/2006/relationships/tags" Target="../tags/tag11.xml"/><Relationship Id="rId19" Type="http://schemas.openxmlformats.org/officeDocument/2006/relationships/image" Target="../media/image29.tmp"/><Relationship Id="rId4" Type="http://schemas.openxmlformats.org/officeDocument/2006/relationships/tags" Target="../tags/tag5.xml"/><Relationship Id="rId9" Type="http://schemas.openxmlformats.org/officeDocument/2006/relationships/tags" Target="../tags/tag10.xml"/><Relationship Id="rId14" Type="http://schemas.openxmlformats.org/officeDocument/2006/relationships/tags" Target="../tags/tag15.xml"/></Relationships>
</file>

<file path=ppt/slides/_rels/slide65.xml.rels><?xml version="1.0" encoding="UTF-8" standalone="yes"?>
<Relationships xmlns="http://schemas.openxmlformats.org/package/2006/relationships"><Relationship Id="rId8" Type="http://schemas.openxmlformats.org/officeDocument/2006/relationships/tags" Target="../tags/tag26.xml"/><Relationship Id="rId3" Type="http://schemas.openxmlformats.org/officeDocument/2006/relationships/tags" Target="../tags/tag21.xml"/><Relationship Id="rId7" Type="http://schemas.openxmlformats.org/officeDocument/2006/relationships/tags" Target="../tags/tag25.xml"/><Relationship Id="rId2" Type="http://schemas.openxmlformats.org/officeDocument/2006/relationships/tags" Target="../tags/tag20.xml"/><Relationship Id="rId1" Type="http://schemas.openxmlformats.org/officeDocument/2006/relationships/tags" Target="../tags/tag19.xml"/><Relationship Id="rId6" Type="http://schemas.openxmlformats.org/officeDocument/2006/relationships/tags" Target="../tags/tag24.xml"/><Relationship Id="rId11" Type="http://schemas.openxmlformats.org/officeDocument/2006/relationships/image" Target="../media/image29.tmp"/><Relationship Id="rId5" Type="http://schemas.openxmlformats.org/officeDocument/2006/relationships/tags" Target="../tags/tag23.xml"/><Relationship Id="rId10" Type="http://schemas.openxmlformats.org/officeDocument/2006/relationships/slideLayout" Target="../slideLayouts/slideLayout6.xml"/><Relationship Id="rId4" Type="http://schemas.openxmlformats.org/officeDocument/2006/relationships/tags" Target="../tags/tag22.xml"/><Relationship Id="rId9" Type="http://schemas.openxmlformats.org/officeDocument/2006/relationships/tags" Target="../tags/tag2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4.xml"/></Relationships>
</file>

<file path=ppt/slides/_rels/slide85.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slideLayout" Target="../slideLayouts/slideLayout4.xml"/><Relationship Id="rId1" Type="http://schemas.openxmlformats.org/officeDocument/2006/relationships/vmlDrawing" Target="../drawings/vmlDrawing13.vml"/><Relationship Id="rId5" Type="http://schemas.openxmlformats.org/officeDocument/2006/relationships/image" Target="../media/image31.wmf"/><Relationship Id="rId4" Type="http://schemas.openxmlformats.org/officeDocument/2006/relationships/oleObject" Target="../embeddings/oleObject27.bin"/></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3" Type="http://schemas.openxmlformats.org/officeDocument/2006/relationships/tags" Target="../tags/tag30.xml"/><Relationship Id="rId7" Type="http://schemas.openxmlformats.org/officeDocument/2006/relationships/image" Target="../media/image35.png"/><Relationship Id="rId2" Type="http://schemas.openxmlformats.org/officeDocument/2006/relationships/tags" Target="../tags/tag29.xml"/><Relationship Id="rId1" Type="http://schemas.openxmlformats.org/officeDocument/2006/relationships/tags" Target="../tags/tag28.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slideLayout" Target="../slideLayouts/slideLayout20.xml"/></Relationships>
</file>

<file path=ppt/slides/_rels/slide99.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png"/><Relationship Id="rId1" Type="http://schemas.openxmlformats.org/officeDocument/2006/relationships/slideLayout" Target="../slideLayouts/slideLayout20.xml"/></Relationships>
</file>

<file path=ppt/slides/_rels/slide100.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20.xml"/></Relationships>
</file>

<file path=ppt/slides/_rels/slide101.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Layout" Target="../slideLayouts/slideLayout20.xml"/><Relationship Id="rId4" Type="http://schemas.openxmlformats.org/officeDocument/2006/relationships/image" Target="../media/image41.png"/></Relationships>
</file>

<file path=ppt/slides/_rels/slide102.xml.rels><?xml version="1.0" encoding="UTF-8" standalone="yes"?>
<Relationships xmlns="http://schemas.openxmlformats.org/package/2006/relationships"><Relationship Id="rId8" Type="http://schemas.openxmlformats.org/officeDocument/2006/relationships/image" Target="../media/image44.wmf"/><Relationship Id="rId3" Type="http://schemas.openxmlformats.org/officeDocument/2006/relationships/oleObject" Target="../embeddings/oleObject28.bin"/><Relationship Id="rId7" Type="http://schemas.openxmlformats.org/officeDocument/2006/relationships/oleObject" Target="../embeddings/oleObject30.bin"/><Relationship Id="rId12" Type="http://schemas.openxmlformats.org/officeDocument/2006/relationships/image" Target="../media/image46.wmf"/><Relationship Id="rId2" Type="http://schemas.openxmlformats.org/officeDocument/2006/relationships/slideLayout" Target="../slideLayouts/slideLayout2.xml"/><Relationship Id="rId1" Type="http://schemas.openxmlformats.org/officeDocument/2006/relationships/vmlDrawing" Target="../drawings/vmlDrawing14.vml"/><Relationship Id="rId6" Type="http://schemas.openxmlformats.org/officeDocument/2006/relationships/image" Target="../media/image43.wmf"/><Relationship Id="rId11" Type="http://schemas.openxmlformats.org/officeDocument/2006/relationships/oleObject" Target="../embeddings/oleObject32.bin"/><Relationship Id="rId5" Type="http://schemas.openxmlformats.org/officeDocument/2006/relationships/oleObject" Target="../embeddings/oleObject29.bin"/><Relationship Id="rId10" Type="http://schemas.openxmlformats.org/officeDocument/2006/relationships/image" Target="../media/image45.wmf"/><Relationship Id="rId4" Type="http://schemas.openxmlformats.org/officeDocument/2006/relationships/image" Target="../media/image42.wmf"/><Relationship Id="rId9" Type="http://schemas.openxmlformats.org/officeDocument/2006/relationships/oleObject" Target="../embeddings/oleObject31.bin"/></Relationships>
</file>

<file path=ppt/slides/_rels/slide10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5.xml.rels><?xml version="1.0" encoding="UTF-8" standalone="yes"?>
<Relationships xmlns="http://schemas.openxmlformats.org/package/2006/relationships"><Relationship Id="rId3" Type="http://schemas.openxmlformats.org/officeDocument/2006/relationships/oleObject" Target="../embeddings/oleObject33.bin"/><Relationship Id="rId2" Type="http://schemas.openxmlformats.org/officeDocument/2006/relationships/slideLayout" Target="../slideLayouts/slideLayout9.xml"/><Relationship Id="rId1" Type="http://schemas.openxmlformats.org/officeDocument/2006/relationships/vmlDrawing" Target="../drawings/vmlDrawing15.vml"/><Relationship Id="rId6" Type="http://schemas.openxmlformats.org/officeDocument/2006/relationships/image" Target="../media/image48.png"/><Relationship Id="rId5" Type="http://schemas.openxmlformats.org/officeDocument/2006/relationships/oleObject" Target="../embeddings/oleObject34.bin"/><Relationship Id="rId4" Type="http://schemas.openxmlformats.org/officeDocument/2006/relationships/image" Target="../media/image47.png"/></Relationships>
</file>

<file path=ppt/slides/_rels/slide106.xml.rels><?xml version="1.0" encoding="UTF-8" standalone="yes"?>
<Relationships xmlns="http://schemas.openxmlformats.org/package/2006/relationships"><Relationship Id="rId3" Type="http://schemas.openxmlformats.org/officeDocument/2006/relationships/audio" Target="../media/audio3.wav"/><Relationship Id="rId7" Type="http://schemas.openxmlformats.org/officeDocument/2006/relationships/image" Target="../media/image49.wmf"/><Relationship Id="rId2" Type="http://schemas.openxmlformats.org/officeDocument/2006/relationships/slideLayout" Target="../slideLayouts/slideLayout6.xml"/><Relationship Id="rId1" Type="http://schemas.openxmlformats.org/officeDocument/2006/relationships/vmlDrawing" Target="../drawings/vmlDrawing16.vml"/><Relationship Id="rId6" Type="http://schemas.openxmlformats.org/officeDocument/2006/relationships/oleObject" Target="../embeddings/oleObject35.bin"/><Relationship Id="rId5" Type="http://schemas.openxmlformats.org/officeDocument/2006/relationships/image" Target="../media/image50.jpeg"/><Relationship Id="rId4" Type="http://schemas.openxmlformats.org/officeDocument/2006/relationships/audio" Target="../media/audio4.wav"/></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2.xml.rels><?xml version="1.0" encoding="UTF-8" standalone="yes"?>
<Relationships xmlns="http://schemas.openxmlformats.org/package/2006/relationships"><Relationship Id="rId8" Type="http://schemas.openxmlformats.org/officeDocument/2006/relationships/tags" Target="../tags/tag38.xml"/><Relationship Id="rId13" Type="http://schemas.openxmlformats.org/officeDocument/2006/relationships/tags" Target="../tags/tag43.xml"/><Relationship Id="rId18" Type="http://schemas.openxmlformats.org/officeDocument/2006/relationships/slideLayout" Target="../slideLayouts/slideLayout6.xml"/><Relationship Id="rId3" Type="http://schemas.openxmlformats.org/officeDocument/2006/relationships/tags" Target="../tags/tag33.xml"/><Relationship Id="rId7" Type="http://schemas.openxmlformats.org/officeDocument/2006/relationships/tags" Target="../tags/tag37.xml"/><Relationship Id="rId12" Type="http://schemas.openxmlformats.org/officeDocument/2006/relationships/tags" Target="../tags/tag42.xml"/><Relationship Id="rId17" Type="http://schemas.openxmlformats.org/officeDocument/2006/relationships/tags" Target="../tags/tag47.xml"/><Relationship Id="rId2" Type="http://schemas.openxmlformats.org/officeDocument/2006/relationships/tags" Target="../tags/tag32.xml"/><Relationship Id="rId16" Type="http://schemas.openxmlformats.org/officeDocument/2006/relationships/tags" Target="../tags/tag46.xml"/><Relationship Id="rId20" Type="http://schemas.openxmlformats.org/officeDocument/2006/relationships/image" Target="../media/image29.tmp"/><Relationship Id="rId1" Type="http://schemas.openxmlformats.org/officeDocument/2006/relationships/tags" Target="../tags/tag31.xml"/><Relationship Id="rId6" Type="http://schemas.openxmlformats.org/officeDocument/2006/relationships/tags" Target="../tags/tag36.xml"/><Relationship Id="rId11" Type="http://schemas.openxmlformats.org/officeDocument/2006/relationships/tags" Target="../tags/tag41.xml"/><Relationship Id="rId5" Type="http://schemas.openxmlformats.org/officeDocument/2006/relationships/tags" Target="../tags/tag35.xml"/><Relationship Id="rId15" Type="http://schemas.openxmlformats.org/officeDocument/2006/relationships/tags" Target="../tags/tag45.xml"/><Relationship Id="rId10" Type="http://schemas.openxmlformats.org/officeDocument/2006/relationships/tags" Target="../tags/tag40.xml"/><Relationship Id="rId19" Type="http://schemas.openxmlformats.org/officeDocument/2006/relationships/image" Target="../media/image51.jpeg"/><Relationship Id="rId4" Type="http://schemas.openxmlformats.org/officeDocument/2006/relationships/tags" Target="../tags/tag34.xml"/><Relationship Id="rId9" Type="http://schemas.openxmlformats.org/officeDocument/2006/relationships/tags" Target="../tags/tag39.xml"/><Relationship Id="rId14" Type="http://schemas.openxmlformats.org/officeDocument/2006/relationships/tags" Target="../tags/tag44.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6.xml.rels><?xml version="1.0" encoding="UTF-8" standalone="yes"?>
<Relationships xmlns="http://schemas.openxmlformats.org/package/2006/relationships"><Relationship Id="rId8" Type="http://schemas.openxmlformats.org/officeDocument/2006/relationships/tags" Target="../tags/tag55.xml"/><Relationship Id="rId13" Type="http://schemas.openxmlformats.org/officeDocument/2006/relationships/tags" Target="../tags/tag60.xml"/><Relationship Id="rId18" Type="http://schemas.openxmlformats.org/officeDocument/2006/relationships/slideLayout" Target="../slideLayouts/slideLayout6.xml"/><Relationship Id="rId3" Type="http://schemas.openxmlformats.org/officeDocument/2006/relationships/tags" Target="../tags/tag50.xml"/><Relationship Id="rId7" Type="http://schemas.openxmlformats.org/officeDocument/2006/relationships/tags" Target="../tags/tag54.xml"/><Relationship Id="rId12" Type="http://schemas.openxmlformats.org/officeDocument/2006/relationships/tags" Target="../tags/tag59.xml"/><Relationship Id="rId17" Type="http://schemas.openxmlformats.org/officeDocument/2006/relationships/tags" Target="../tags/tag64.xml"/><Relationship Id="rId2" Type="http://schemas.openxmlformats.org/officeDocument/2006/relationships/tags" Target="../tags/tag49.xml"/><Relationship Id="rId16" Type="http://schemas.openxmlformats.org/officeDocument/2006/relationships/tags" Target="../tags/tag63.xml"/><Relationship Id="rId1" Type="http://schemas.openxmlformats.org/officeDocument/2006/relationships/tags" Target="../tags/tag48.xml"/><Relationship Id="rId6" Type="http://schemas.openxmlformats.org/officeDocument/2006/relationships/tags" Target="../tags/tag53.xml"/><Relationship Id="rId11" Type="http://schemas.openxmlformats.org/officeDocument/2006/relationships/tags" Target="../tags/tag58.xml"/><Relationship Id="rId5" Type="http://schemas.openxmlformats.org/officeDocument/2006/relationships/tags" Target="../tags/tag52.xml"/><Relationship Id="rId15" Type="http://schemas.openxmlformats.org/officeDocument/2006/relationships/tags" Target="../tags/tag62.xml"/><Relationship Id="rId10" Type="http://schemas.openxmlformats.org/officeDocument/2006/relationships/tags" Target="../tags/tag57.xml"/><Relationship Id="rId19" Type="http://schemas.openxmlformats.org/officeDocument/2006/relationships/image" Target="../media/image29.tmp"/><Relationship Id="rId4" Type="http://schemas.openxmlformats.org/officeDocument/2006/relationships/tags" Target="../tags/tag51.xml"/><Relationship Id="rId9" Type="http://schemas.openxmlformats.org/officeDocument/2006/relationships/tags" Target="../tags/tag56.xml"/><Relationship Id="rId14" Type="http://schemas.openxmlformats.org/officeDocument/2006/relationships/tags" Target="../tags/tag61.xml"/></Relationships>
</file>

<file path=ppt/slides/_rels/slide117.xml.rels><?xml version="1.0" encoding="UTF-8" standalone="yes"?>
<Relationships xmlns="http://schemas.openxmlformats.org/package/2006/relationships"><Relationship Id="rId8" Type="http://schemas.openxmlformats.org/officeDocument/2006/relationships/tags" Target="../tags/tag72.xml"/><Relationship Id="rId13" Type="http://schemas.openxmlformats.org/officeDocument/2006/relationships/tags" Target="../tags/tag77.xml"/><Relationship Id="rId18" Type="http://schemas.openxmlformats.org/officeDocument/2006/relationships/slideLayout" Target="../slideLayouts/slideLayout6.xml"/><Relationship Id="rId3" Type="http://schemas.openxmlformats.org/officeDocument/2006/relationships/tags" Target="../tags/tag67.xml"/><Relationship Id="rId7" Type="http://schemas.openxmlformats.org/officeDocument/2006/relationships/tags" Target="../tags/tag71.xml"/><Relationship Id="rId12" Type="http://schemas.openxmlformats.org/officeDocument/2006/relationships/tags" Target="../tags/tag76.xml"/><Relationship Id="rId17" Type="http://schemas.openxmlformats.org/officeDocument/2006/relationships/tags" Target="../tags/tag81.xml"/><Relationship Id="rId2" Type="http://schemas.openxmlformats.org/officeDocument/2006/relationships/tags" Target="../tags/tag66.xml"/><Relationship Id="rId16" Type="http://schemas.openxmlformats.org/officeDocument/2006/relationships/tags" Target="../tags/tag80.xml"/><Relationship Id="rId1" Type="http://schemas.openxmlformats.org/officeDocument/2006/relationships/tags" Target="../tags/tag65.xml"/><Relationship Id="rId6" Type="http://schemas.openxmlformats.org/officeDocument/2006/relationships/tags" Target="../tags/tag70.xml"/><Relationship Id="rId11" Type="http://schemas.openxmlformats.org/officeDocument/2006/relationships/tags" Target="../tags/tag75.xml"/><Relationship Id="rId5" Type="http://schemas.openxmlformats.org/officeDocument/2006/relationships/tags" Target="../tags/tag69.xml"/><Relationship Id="rId15" Type="http://schemas.openxmlformats.org/officeDocument/2006/relationships/tags" Target="../tags/tag79.xml"/><Relationship Id="rId10" Type="http://schemas.openxmlformats.org/officeDocument/2006/relationships/tags" Target="../tags/tag74.xml"/><Relationship Id="rId19" Type="http://schemas.openxmlformats.org/officeDocument/2006/relationships/image" Target="../media/image29.tmp"/><Relationship Id="rId4" Type="http://schemas.openxmlformats.org/officeDocument/2006/relationships/tags" Target="../tags/tag68.xml"/><Relationship Id="rId9" Type="http://schemas.openxmlformats.org/officeDocument/2006/relationships/tags" Target="../tags/tag73.xml"/><Relationship Id="rId14" Type="http://schemas.openxmlformats.org/officeDocument/2006/relationships/tags" Target="../tags/tag78.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0.xml.rels><?xml version="1.0" encoding="UTF-8" standalone="yes"?>
<Relationships xmlns="http://schemas.openxmlformats.org/package/2006/relationships"><Relationship Id="rId2" Type="http://schemas.openxmlformats.org/officeDocument/2006/relationships/audio" Target="../media/audio3.wav"/><Relationship Id="rId1" Type="http://schemas.openxmlformats.org/officeDocument/2006/relationships/slideLayout" Target="../slideLayouts/slideLayout6.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2.xml.rels><?xml version="1.0" encoding="UTF-8" standalone="yes"?>
<Relationships xmlns="http://schemas.openxmlformats.org/package/2006/relationships"><Relationship Id="rId8" Type="http://schemas.openxmlformats.org/officeDocument/2006/relationships/tags" Target="../tags/tag89.xml"/><Relationship Id="rId13" Type="http://schemas.openxmlformats.org/officeDocument/2006/relationships/tags" Target="../tags/tag94.xml"/><Relationship Id="rId18" Type="http://schemas.openxmlformats.org/officeDocument/2006/relationships/slideLayout" Target="../slideLayouts/slideLayout6.xml"/><Relationship Id="rId3" Type="http://schemas.openxmlformats.org/officeDocument/2006/relationships/tags" Target="../tags/tag84.xml"/><Relationship Id="rId7" Type="http://schemas.openxmlformats.org/officeDocument/2006/relationships/tags" Target="../tags/tag88.xml"/><Relationship Id="rId12" Type="http://schemas.openxmlformats.org/officeDocument/2006/relationships/tags" Target="../tags/tag93.xml"/><Relationship Id="rId17" Type="http://schemas.openxmlformats.org/officeDocument/2006/relationships/tags" Target="../tags/tag98.xml"/><Relationship Id="rId2" Type="http://schemas.openxmlformats.org/officeDocument/2006/relationships/tags" Target="../tags/tag83.xml"/><Relationship Id="rId16" Type="http://schemas.openxmlformats.org/officeDocument/2006/relationships/tags" Target="../tags/tag97.xml"/><Relationship Id="rId1" Type="http://schemas.openxmlformats.org/officeDocument/2006/relationships/tags" Target="../tags/tag82.xml"/><Relationship Id="rId6" Type="http://schemas.openxmlformats.org/officeDocument/2006/relationships/tags" Target="../tags/tag87.xml"/><Relationship Id="rId11" Type="http://schemas.openxmlformats.org/officeDocument/2006/relationships/tags" Target="../tags/tag92.xml"/><Relationship Id="rId5" Type="http://schemas.openxmlformats.org/officeDocument/2006/relationships/tags" Target="../tags/tag86.xml"/><Relationship Id="rId15" Type="http://schemas.openxmlformats.org/officeDocument/2006/relationships/tags" Target="../tags/tag96.xml"/><Relationship Id="rId10" Type="http://schemas.openxmlformats.org/officeDocument/2006/relationships/tags" Target="../tags/tag91.xml"/><Relationship Id="rId19" Type="http://schemas.openxmlformats.org/officeDocument/2006/relationships/image" Target="../media/image29.tmp"/><Relationship Id="rId4" Type="http://schemas.openxmlformats.org/officeDocument/2006/relationships/tags" Target="../tags/tag85.xml"/><Relationship Id="rId9" Type="http://schemas.openxmlformats.org/officeDocument/2006/relationships/tags" Target="../tags/tag90.xml"/><Relationship Id="rId14" Type="http://schemas.openxmlformats.org/officeDocument/2006/relationships/tags" Target="../tags/tag95.xml"/></Relationships>
</file>

<file path=ppt/slides/_rels/slide123.xml.rels><?xml version="1.0" encoding="UTF-8" standalone="yes"?>
<Relationships xmlns="http://schemas.openxmlformats.org/package/2006/relationships"><Relationship Id="rId2" Type="http://schemas.openxmlformats.org/officeDocument/2006/relationships/audio" Target="../media/audio5.wav"/><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audio" Target="../media/audio5.wav"/><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png"/><Relationship Id="rId1" Type="http://schemas.openxmlformats.org/officeDocument/2006/relationships/slideLayout" Target="../slideLayouts/slideLayout15.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3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2" Type="http://schemas.openxmlformats.org/officeDocument/2006/relationships/image" Target="../media/image50.jpeg"/><Relationship Id="rId1" Type="http://schemas.openxmlformats.org/officeDocument/2006/relationships/slideLayout" Target="../slideLayouts/slideLayout6.xml"/></Relationships>
</file>

<file path=ppt/slides/_rels/slide136.xml.rels><?xml version="1.0" encoding="UTF-8" standalone="yes"?>
<Relationships xmlns="http://schemas.openxmlformats.org/package/2006/relationships"><Relationship Id="rId2" Type="http://schemas.openxmlformats.org/officeDocument/2006/relationships/audio" Target="../media/audio6.wav"/><Relationship Id="rId1" Type="http://schemas.openxmlformats.org/officeDocument/2006/relationships/slideLayout" Target="../slideLayouts/slideLayout6.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8.xml.rels><?xml version="1.0" encoding="UTF-8" standalone="yes"?>
<Relationships xmlns="http://schemas.openxmlformats.org/package/2006/relationships"><Relationship Id="rId2" Type="http://schemas.openxmlformats.org/officeDocument/2006/relationships/audio" Target="../media/audio3.wav"/><Relationship Id="rId1" Type="http://schemas.openxmlformats.org/officeDocument/2006/relationships/slideLayout" Target="../slideLayouts/slideLayout6.xml"/></Relationships>
</file>

<file path=ppt/slides/_rels/slide139.xml.rels><?xml version="1.0" encoding="UTF-8" standalone="yes"?>
<Relationships xmlns="http://schemas.openxmlformats.org/package/2006/relationships"><Relationship Id="rId8" Type="http://schemas.openxmlformats.org/officeDocument/2006/relationships/tags" Target="../tags/tag106.xml"/><Relationship Id="rId13" Type="http://schemas.openxmlformats.org/officeDocument/2006/relationships/tags" Target="../tags/tag111.xml"/><Relationship Id="rId18" Type="http://schemas.openxmlformats.org/officeDocument/2006/relationships/slideLayout" Target="../slideLayouts/slideLayout6.xml"/><Relationship Id="rId3" Type="http://schemas.openxmlformats.org/officeDocument/2006/relationships/tags" Target="../tags/tag101.xml"/><Relationship Id="rId7" Type="http://schemas.openxmlformats.org/officeDocument/2006/relationships/tags" Target="../tags/tag105.xml"/><Relationship Id="rId12" Type="http://schemas.openxmlformats.org/officeDocument/2006/relationships/tags" Target="../tags/tag110.xml"/><Relationship Id="rId17" Type="http://schemas.openxmlformats.org/officeDocument/2006/relationships/tags" Target="../tags/tag115.xml"/><Relationship Id="rId2" Type="http://schemas.openxmlformats.org/officeDocument/2006/relationships/tags" Target="../tags/tag100.xml"/><Relationship Id="rId16" Type="http://schemas.openxmlformats.org/officeDocument/2006/relationships/tags" Target="../tags/tag114.xml"/><Relationship Id="rId1" Type="http://schemas.openxmlformats.org/officeDocument/2006/relationships/tags" Target="../tags/tag99.xml"/><Relationship Id="rId6" Type="http://schemas.openxmlformats.org/officeDocument/2006/relationships/tags" Target="../tags/tag104.xml"/><Relationship Id="rId11" Type="http://schemas.openxmlformats.org/officeDocument/2006/relationships/tags" Target="../tags/tag109.xml"/><Relationship Id="rId5" Type="http://schemas.openxmlformats.org/officeDocument/2006/relationships/tags" Target="../tags/tag103.xml"/><Relationship Id="rId15" Type="http://schemas.openxmlformats.org/officeDocument/2006/relationships/tags" Target="../tags/tag113.xml"/><Relationship Id="rId10" Type="http://schemas.openxmlformats.org/officeDocument/2006/relationships/tags" Target="../tags/tag108.xml"/><Relationship Id="rId19" Type="http://schemas.openxmlformats.org/officeDocument/2006/relationships/image" Target="../media/image29.tmp"/><Relationship Id="rId4" Type="http://schemas.openxmlformats.org/officeDocument/2006/relationships/tags" Target="../tags/tag102.xml"/><Relationship Id="rId9" Type="http://schemas.openxmlformats.org/officeDocument/2006/relationships/tags" Target="../tags/tag107.xml"/><Relationship Id="rId14" Type="http://schemas.openxmlformats.org/officeDocument/2006/relationships/tags" Target="../tags/tag11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1.xml.rels><?xml version="1.0" encoding="UTF-8" standalone="yes"?>
<Relationships xmlns="http://schemas.openxmlformats.org/package/2006/relationships"><Relationship Id="rId8" Type="http://schemas.openxmlformats.org/officeDocument/2006/relationships/audio" Target="../media/audio11.wav"/><Relationship Id="rId13" Type="http://schemas.openxmlformats.org/officeDocument/2006/relationships/oleObject" Target="../embeddings/oleObject38.bin"/><Relationship Id="rId3" Type="http://schemas.openxmlformats.org/officeDocument/2006/relationships/audio" Target="../media/audio7.wav"/><Relationship Id="rId7" Type="http://schemas.openxmlformats.org/officeDocument/2006/relationships/audio" Target="../media/audio4.wav"/><Relationship Id="rId12" Type="http://schemas.openxmlformats.org/officeDocument/2006/relationships/oleObject" Target="../embeddings/oleObject37.bin"/><Relationship Id="rId2" Type="http://schemas.openxmlformats.org/officeDocument/2006/relationships/slideLayout" Target="../slideLayouts/slideLayout6.xml"/><Relationship Id="rId1" Type="http://schemas.openxmlformats.org/officeDocument/2006/relationships/vmlDrawing" Target="../drawings/vmlDrawing17.vml"/><Relationship Id="rId6" Type="http://schemas.openxmlformats.org/officeDocument/2006/relationships/audio" Target="../media/audio10.wav"/><Relationship Id="rId11" Type="http://schemas.openxmlformats.org/officeDocument/2006/relationships/image" Target="../media/image49.wmf"/><Relationship Id="rId5" Type="http://schemas.openxmlformats.org/officeDocument/2006/relationships/audio" Target="../media/audio9.wav"/><Relationship Id="rId10" Type="http://schemas.openxmlformats.org/officeDocument/2006/relationships/oleObject" Target="../embeddings/oleObject36.bin"/><Relationship Id="rId4" Type="http://schemas.openxmlformats.org/officeDocument/2006/relationships/audio" Target="../media/audio8.wav"/><Relationship Id="rId9" Type="http://schemas.openxmlformats.org/officeDocument/2006/relationships/audio" Target="../media/audio12.wav"/></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3.xml.rels><?xml version="1.0" encoding="UTF-8" standalone="yes"?>
<Relationships xmlns="http://schemas.openxmlformats.org/package/2006/relationships"><Relationship Id="rId8" Type="http://schemas.openxmlformats.org/officeDocument/2006/relationships/tags" Target="../tags/tag123.xml"/><Relationship Id="rId13" Type="http://schemas.openxmlformats.org/officeDocument/2006/relationships/tags" Target="../tags/tag128.xml"/><Relationship Id="rId18" Type="http://schemas.openxmlformats.org/officeDocument/2006/relationships/slideLayout" Target="../slideLayouts/slideLayout6.xml"/><Relationship Id="rId3" Type="http://schemas.openxmlformats.org/officeDocument/2006/relationships/tags" Target="../tags/tag118.xml"/><Relationship Id="rId7" Type="http://schemas.openxmlformats.org/officeDocument/2006/relationships/tags" Target="../tags/tag122.xml"/><Relationship Id="rId12" Type="http://schemas.openxmlformats.org/officeDocument/2006/relationships/tags" Target="../tags/tag127.xml"/><Relationship Id="rId17" Type="http://schemas.openxmlformats.org/officeDocument/2006/relationships/tags" Target="../tags/tag132.xml"/><Relationship Id="rId2" Type="http://schemas.openxmlformats.org/officeDocument/2006/relationships/tags" Target="../tags/tag117.xml"/><Relationship Id="rId16" Type="http://schemas.openxmlformats.org/officeDocument/2006/relationships/tags" Target="../tags/tag131.xml"/><Relationship Id="rId1" Type="http://schemas.openxmlformats.org/officeDocument/2006/relationships/tags" Target="../tags/tag116.xml"/><Relationship Id="rId6" Type="http://schemas.openxmlformats.org/officeDocument/2006/relationships/tags" Target="../tags/tag121.xml"/><Relationship Id="rId11" Type="http://schemas.openxmlformats.org/officeDocument/2006/relationships/tags" Target="../tags/tag126.xml"/><Relationship Id="rId5" Type="http://schemas.openxmlformats.org/officeDocument/2006/relationships/tags" Target="../tags/tag120.xml"/><Relationship Id="rId15" Type="http://schemas.openxmlformats.org/officeDocument/2006/relationships/tags" Target="../tags/tag130.xml"/><Relationship Id="rId10" Type="http://schemas.openxmlformats.org/officeDocument/2006/relationships/tags" Target="../tags/tag125.xml"/><Relationship Id="rId19" Type="http://schemas.openxmlformats.org/officeDocument/2006/relationships/image" Target="../media/image29.tmp"/><Relationship Id="rId4" Type="http://schemas.openxmlformats.org/officeDocument/2006/relationships/tags" Target="../tags/tag119.xml"/><Relationship Id="rId9" Type="http://schemas.openxmlformats.org/officeDocument/2006/relationships/tags" Target="../tags/tag124.xml"/><Relationship Id="rId14" Type="http://schemas.openxmlformats.org/officeDocument/2006/relationships/tags" Target="../tags/tag129.xml"/></Relationships>
</file>

<file path=ppt/slides/_rels/slide144.xml.rels><?xml version="1.0" encoding="UTF-8" standalone="yes"?>
<Relationships xmlns="http://schemas.openxmlformats.org/package/2006/relationships"><Relationship Id="rId8" Type="http://schemas.openxmlformats.org/officeDocument/2006/relationships/audio" Target="../media/audio11.wav"/><Relationship Id="rId3" Type="http://schemas.openxmlformats.org/officeDocument/2006/relationships/audio" Target="../media/audio7.wav"/><Relationship Id="rId7" Type="http://schemas.openxmlformats.org/officeDocument/2006/relationships/audio" Target="../media/audio8.wav"/><Relationship Id="rId2" Type="http://schemas.openxmlformats.org/officeDocument/2006/relationships/slideLayout" Target="../slideLayouts/slideLayout6.xml"/><Relationship Id="rId1" Type="http://schemas.openxmlformats.org/officeDocument/2006/relationships/vmlDrawing" Target="../drawings/vmlDrawing18.vml"/><Relationship Id="rId6" Type="http://schemas.openxmlformats.org/officeDocument/2006/relationships/audio" Target="../media/audio12.wav"/><Relationship Id="rId5" Type="http://schemas.openxmlformats.org/officeDocument/2006/relationships/audio" Target="../media/audio9.wav"/><Relationship Id="rId10" Type="http://schemas.openxmlformats.org/officeDocument/2006/relationships/image" Target="../media/image49.wmf"/><Relationship Id="rId4" Type="http://schemas.openxmlformats.org/officeDocument/2006/relationships/audio" Target="../media/audio10.wav"/><Relationship Id="rId9" Type="http://schemas.openxmlformats.org/officeDocument/2006/relationships/oleObject" Target="../embeddings/oleObject39.bin"/></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6.xml.rels><?xml version="1.0" encoding="UTF-8" standalone="yes"?>
<Relationships xmlns="http://schemas.openxmlformats.org/package/2006/relationships"><Relationship Id="rId8" Type="http://schemas.openxmlformats.org/officeDocument/2006/relationships/tags" Target="../tags/tag140.xml"/><Relationship Id="rId13" Type="http://schemas.openxmlformats.org/officeDocument/2006/relationships/tags" Target="../tags/tag145.xml"/><Relationship Id="rId18" Type="http://schemas.openxmlformats.org/officeDocument/2006/relationships/slideLayout" Target="../slideLayouts/slideLayout6.xml"/><Relationship Id="rId3" Type="http://schemas.openxmlformats.org/officeDocument/2006/relationships/tags" Target="../tags/tag135.xml"/><Relationship Id="rId7" Type="http://schemas.openxmlformats.org/officeDocument/2006/relationships/tags" Target="../tags/tag139.xml"/><Relationship Id="rId12" Type="http://schemas.openxmlformats.org/officeDocument/2006/relationships/tags" Target="../tags/tag144.xml"/><Relationship Id="rId17" Type="http://schemas.openxmlformats.org/officeDocument/2006/relationships/tags" Target="../tags/tag149.xml"/><Relationship Id="rId2" Type="http://schemas.openxmlformats.org/officeDocument/2006/relationships/tags" Target="../tags/tag134.xml"/><Relationship Id="rId16" Type="http://schemas.openxmlformats.org/officeDocument/2006/relationships/tags" Target="../tags/tag148.xml"/><Relationship Id="rId1" Type="http://schemas.openxmlformats.org/officeDocument/2006/relationships/tags" Target="../tags/tag133.xml"/><Relationship Id="rId6" Type="http://schemas.openxmlformats.org/officeDocument/2006/relationships/tags" Target="../tags/tag138.xml"/><Relationship Id="rId11" Type="http://schemas.openxmlformats.org/officeDocument/2006/relationships/tags" Target="../tags/tag143.xml"/><Relationship Id="rId5" Type="http://schemas.openxmlformats.org/officeDocument/2006/relationships/tags" Target="../tags/tag137.xml"/><Relationship Id="rId15" Type="http://schemas.openxmlformats.org/officeDocument/2006/relationships/tags" Target="../tags/tag147.xml"/><Relationship Id="rId10" Type="http://schemas.openxmlformats.org/officeDocument/2006/relationships/tags" Target="../tags/tag142.xml"/><Relationship Id="rId19" Type="http://schemas.openxmlformats.org/officeDocument/2006/relationships/image" Target="../media/image29.tmp"/><Relationship Id="rId4" Type="http://schemas.openxmlformats.org/officeDocument/2006/relationships/tags" Target="../tags/tag136.xml"/><Relationship Id="rId9" Type="http://schemas.openxmlformats.org/officeDocument/2006/relationships/tags" Target="../tags/tag141.xml"/><Relationship Id="rId14" Type="http://schemas.openxmlformats.org/officeDocument/2006/relationships/tags" Target="../tags/tag146.xml"/></Relationships>
</file>

<file path=ppt/slides/_rels/slide147.xml.rels><?xml version="1.0" encoding="UTF-8" standalone="yes"?>
<Relationships xmlns="http://schemas.openxmlformats.org/package/2006/relationships"><Relationship Id="rId2" Type="http://schemas.openxmlformats.org/officeDocument/2006/relationships/image" Target="../media/image50.jpeg"/><Relationship Id="rId1" Type="http://schemas.openxmlformats.org/officeDocument/2006/relationships/slideLayout" Target="../slideLayouts/slideLayout6.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0.xml.rels><?xml version="1.0" encoding="UTF-8" standalone="yes"?>
<Relationships xmlns="http://schemas.openxmlformats.org/package/2006/relationships"><Relationship Id="rId3" Type="http://schemas.openxmlformats.org/officeDocument/2006/relationships/oleObject" Target="../embeddings/oleObject40.bin"/><Relationship Id="rId2" Type="http://schemas.openxmlformats.org/officeDocument/2006/relationships/slideLayout" Target="../slideLayouts/slideLayout6.xml"/><Relationship Id="rId1" Type="http://schemas.openxmlformats.org/officeDocument/2006/relationships/vmlDrawing" Target="../drawings/vmlDrawing19.vml"/><Relationship Id="rId4" Type="http://schemas.openxmlformats.org/officeDocument/2006/relationships/image" Target="../media/image54.wmf"/></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2.xml.rels><?xml version="1.0" encoding="UTF-8" standalone="yes"?>
<Relationships xmlns="http://schemas.openxmlformats.org/package/2006/relationships"><Relationship Id="rId8" Type="http://schemas.openxmlformats.org/officeDocument/2006/relationships/tags" Target="../tags/tag157.xml"/><Relationship Id="rId13" Type="http://schemas.openxmlformats.org/officeDocument/2006/relationships/tags" Target="../tags/tag162.xml"/><Relationship Id="rId18" Type="http://schemas.openxmlformats.org/officeDocument/2006/relationships/slideLayout" Target="../slideLayouts/slideLayout6.xml"/><Relationship Id="rId3" Type="http://schemas.openxmlformats.org/officeDocument/2006/relationships/tags" Target="../tags/tag152.xml"/><Relationship Id="rId7" Type="http://schemas.openxmlformats.org/officeDocument/2006/relationships/tags" Target="../tags/tag156.xml"/><Relationship Id="rId12" Type="http://schemas.openxmlformats.org/officeDocument/2006/relationships/tags" Target="../tags/tag161.xml"/><Relationship Id="rId17" Type="http://schemas.openxmlformats.org/officeDocument/2006/relationships/tags" Target="../tags/tag166.xml"/><Relationship Id="rId2" Type="http://schemas.openxmlformats.org/officeDocument/2006/relationships/tags" Target="../tags/tag151.xml"/><Relationship Id="rId16" Type="http://schemas.openxmlformats.org/officeDocument/2006/relationships/tags" Target="../tags/tag165.xml"/><Relationship Id="rId1" Type="http://schemas.openxmlformats.org/officeDocument/2006/relationships/tags" Target="../tags/tag150.xml"/><Relationship Id="rId6" Type="http://schemas.openxmlformats.org/officeDocument/2006/relationships/tags" Target="../tags/tag155.xml"/><Relationship Id="rId11" Type="http://schemas.openxmlformats.org/officeDocument/2006/relationships/tags" Target="../tags/tag160.xml"/><Relationship Id="rId5" Type="http://schemas.openxmlformats.org/officeDocument/2006/relationships/tags" Target="../tags/tag154.xml"/><Relationship Id="rId15" Type="http://schemas.openxmlformats.org/officeDocument/2006/relationships/tags" Target="../tags/tag164.xml"/><Relationship Id="rId10" Type="http://schemas.openxmlformats.org/officeDocument/2006/relationships/tags" Target="../tags/tag159.xml"/><Relationship Id="rId19" Type="http://schemas.openxmlformats.org/officeDocument/2006/relationships/image" Target="../media/image29.tmp"/><Relationship Id="rId4" Type="http://schemas.openxmlformats.org/officeDocument/2006/relationships/tags" Target="../tags/tag153.xml"/><Relationship Id="rId9" Type="http://schemas.openxmlformats.org/officeDocument/2006/relationships/tags" Target="../tags/tag158.xml"/><Relationship Id="rId14" Type="http://schemas.openxmlformats.org/officeDocument/2006/relationships/tags" Target="../tags/tag163.xml"/></Relationships>
</file>

<file path=ppt/slides/_rels/slide153.xml.rels><?xml version="1.0" encoding="UTF-8" standalone="yes"?>
<Relationships xmlns="http://schemas.openxmlformats.org/package/2006/relationships"><Relationship Id="rId3" Type="http://schemas.openxmlformats.org/officeDocument/2006/relationships/image" Target="../media/image56.jpeg"/><Relationship Id="rId2" Type="http://schemas.openxmlformats.org/officeDocument/2006/relationships/image" Target="../media/image55.jpeg"/><Relationship Id="rId1" Type="http://schemas.openxmlformats.org/officeDocument/2006/relationships/slideLayout" Target="../slideLayouts/slideLayout4.xml"/></Relationships>
</file>

<file path=ppt/slides/_rels/slide154.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jpeg"/><Relationship Id="rId1" Type="http://schemas.openxmlformats.org/officeDocument/2006/relationships/slideLayout" Target="../slideLayouts/slideLayout4.xml"/></Relationships>
</file>

<file path=ppt/slides/_rels/slide155.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6.jpeg"/><Relationship Id="rId1" Type="http://schemas.openxmlformats.org/officeDocument/2006/relationships/slideLayout" Target="../slideLayouts/slideLayout4.xml"/></Relationships>
</file>

<file path=ppt/slides/_rels/slide156.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png"/><Relationship Id="rId1" Type="http://schemas.openxmlformats.org/officeDocument/2006/relationships/slideLayout" Target="../slideLayouts/slideLayout4.xml"/></Relationships>
</file>

<file path=ppt/slides/_rels/slide157.xml.rels><?xml version="1.0" encoding="UTF-8" standalone="yes"?>
<Relationships xmlns="http://schemas.openxmlformats.org/package/2006/relationships"><Relationship Id="rId3" Type="http://schemas.openxmlformats.org/officeDocument/2006/relationships/oleObject" Target="../embeddings/oleObject41.bin"/><Relationship Id="rId2" Type="http://schemas.openxmlformats.org/officeDocument/2006/relationships/slideLayout" Target="../slideLayouts/slideLayout4.xml"/><Relationship Id="rId1" Type="http://schemas.openxmlformats.org/officeDocument/2006/relationships/vmlDrawing" Target="../drawings/vmlDrawing20.vml"/><Relationship Id="rId6" Type="http://schemas.openxmlformats.org/officeDocument/2006/relationships/image" Target="../media/image61.wmf"/><Relationship Id="rId5" Type="http://schemas.openxmlformats.org/officeDocument/2006/relationships/oleObject" Target="../embeddings/oleObject42.bin"/><Relationship Id="rId4" Type="http://schemas.openxmlformats.org/officeDocument/2006/relationships/image" Target="../media/image60.wmf"/></Relationships>
</file>

<file path=ppt/slides/_rels/slide158.xml.rels><?xml version="1.0" encoding="UTF-8" standalone="yes"?>
<Relationships xmlns="http://schemas.openxmlformats.org/package/2006/relationships"><Relationship Id="rId3" Type="http://schemas.openxmlformats.org/officeDocument/2006/relationships/oleObject" Target="../embeddings/oleObject43.bin"/><Relationship Id="rId2" Type="http://schemas.openxmlformats.org/officeDocument/2006/relationships/slideLayout" Target="../slideLayouts/slideLayout4.xml"/><Relationship Id="rId1" Type="http://schemas.openxmlformats.org/officeDocument/2006/relationships/vmlDrawing" Target="../drawings/vmlDrawing21.vml"/><Relationship Id="rId4" Type="http://schemas.openxmlformats.org/officeDocument/2006/relationships/image" Target="../media/image61.wmf"/></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8.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ags" Target="../tags/tag167.xml"/></Relationships>
</file>

<file path=ppt/slides/_rels/slide169.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ags" Target="../tags/tag168.xml"/></Relationships>
</file>

<file path=ppt/slides/_rels/slide170.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ags" Target="../tags/tag169.xml"/></Relationships>
</file>

<file path=ppt/slides/_rels/slide171.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ags" Target="../tags/tag170.xml"/></Relationships>
</file>

<file path=ppt/slides/_rels/slide172.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ags" Target="../tags/tag171.xml"/></Relationships>
</file>

<file path=ppt/slides/_rels/slide173.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ags" Target="../tags/tag17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6.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image" Target="../media/image62.png"/><Relationship Id="rId1" Type="http://schemas.openxmlformats.org/officeDocument/2006/relationships/slideLayout" Target="../slideLayouts/slideLayout4.xml"/><Relationship Id="rId4" Type="http://schemas.openxmlformats.org/officeDocument/2006/relationships/image" Target="../media/image64.png"/></Relationships>
</file>

<file path=ppt/slides/_rels/slide177.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ags" Target="../tags/tag17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0.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slideLayout" Target="../slideLayouts/slideLayout4.xml"/><Relationship Id="rId1" Type="http://schemas.openxmlformats.org/officeDocument/2006/relationships/tags" Target="../tags/tag174.xml"/><Relationship Id="rId4" Type="http://schemas.openxmlformats.org/officeDocument/2006/relationships/image" Target="../media/image66.png"/></Relationships>
</file>

<file path=ppt/slides/_rels/slide181.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slideLayout" Target="../slideLayouts/slideLayout4.xml"/><Relationship Id="rId1" Type="http://schemas.openxmlformats.org/officeDocument/2006/relationships/tags" Target="../tags/tag175.xml"/><Relationship Id="rId4" Type="http://schemas.openxmlformats.org/officeDocument/2006/relationships/comments" Target="../comments/comment2.xml"/></Relationships>
</file>

<file path=ppt/slides/_rels/slide182.xml.rels><?xml version="1.0" encoding="UTF-8" standalone="yes"?>
<Relationships xmlns="http://schemas.openxmlformats.org/package/2006/relationships"><Relationship Id="rId3" Type="http://schemas.openxmlformats.org/officeDocument/2006/relationships/image" Target="../media/image68.jpeg"/><Relationship Id="rId2" Type="http://schemas.openxmlformats.org/officeDocument/2006/relationships/slideLayout" Target="../slideLayouts/slideLayout4.xml"/><Relationship Id="rId1" Type="http://schemas.openxmlformats.org/officeDocument/2006/relationships/tags" Target="../tags/tag176.xml"/></Relationships>
</file>

<file path=ppt/slides/_rels/slide183.xml.rels><?xml version="1.0" encoding="UTF-8" standalone="yes"?>
<Relationships xmlns="http://schemas.openxmlformats.org/package/2006/relationships"><Relationship Id="rId3" Type="http://schemas.openxmlformats.org/officeDocument/2006/relationships/slideLayout" Target="../slideLayouts/slideLayout4.xml"/><Relationship Id="rId2" Type="http://schemas.openxmlformats.org/officeDocument/2006/relationships/tags" Target="../tags/tag178.xml"/><Relationship Id="rId1" Type="http://schemas.openxmlformats.org/officeDocument/2006/relationships/tags" Target="../tags/tag177.xml"/><Relationship Id="rId5" Type="http://schemas.openxmlformats.org/officeDocument/2006/relationships/image" Target="../media/image70.png"/><Relationship Id="rId4" Type="http://schemas.openxmlformats.org/officeDocument/2006/relationships/image" Target="../media/image69.png"/></Relationships>
</file>

<file path=ppt/slides/_rels/slide184.xml.rels><?xml version="1.0" encoding="UTF-8" standalone="yes"?>
<Relationships xmlns="http://schemas.openxmlformats.org/package/2006/relationships"><Relationship Id="rId3" Type="http://schemas.openxmlformats.org/officeDocument/2006/relationships/slideLayout" Target="../slideLayouts/slideLayout4.xml"/><Relationship Id="rId2" Type="http://schemas.openxmlformats.org/officeDocument/2006/relationships/tags" Target="../tags/tag180.xml"/><Relationship Id="rId1" Type="http://schemas.openxmlformats.org/officeDocument/2006/relationships/tags" Target="../tags/tag179.xml"/><Relationship Id="rId4" Type="http://schemas.openxmlformats.org/officeDocument/2006/relationships/image" Target="../media/image71.png"/></Relationships>
</file>

<file path=ppt/slides/_rels/slide18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86.xml.rels><?xml version="1.0" encoding="UTF-8" standalone="yes"?>
<Relationships xmlns="http://schemas.openxmlformats.org/package/2006/relationships"><Relationship Id="rId3" Type="http://schemas.openxmlformats.org/officeDocument/2006/relationships/image" Target="../media/image62.svg"/><Relationship Id="rId2" Type="http://schemas.openxmlformats.org/officeDocument/2006/relationships/image" Target="../media/image72.png"/><Relationship Id="rId1" Type="http://schemas.openxmlformats.org/officeDocument/2006/relationships/slideLayout" Target="../slideLayouts/slideLayout4.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8.xml.rels><?xml version="1.0" encoding="UTF-8" standalone="yes"?>
<Relationships xmlns="http://schemas.openxmlformats.org/package/2006/relationships"><Relationship Id="rId2" Type="http://schemas.openxmlformats.org/officeDocument/2006/relationships/image" Target="../media/image630.png"/><Relationship Id="rId1" Type="http://schemas.openxmlformats.org/officeDocument/2006/relationships/slideLayout" Target="../slideLayouts/slideLayout4.xml"/></Relationships>
</file>

<file path=ppt/slides/_rels/slide189.xml.rels><?xml version="1.0" encoding="UTF-8" standalone="yes"?>
<Relationships xmlns="http://schemas.openxmlformats.org/package/2006/relationships"><Relationship Id="rId3" Type="http://schemas.openxmlformats.org/officeDocument/2006/relationships/image" Target="../media/image65.svg"/><Relationship Id="rId2" Type="http://schemas.openxmlformats.org/officeDocument/2006/relationships/image" Target="../media/image73.png"/><Relationship Id="rId1" Type="http://schemas.openxmlformats.org/officeDocument/2006/relationships/slideLayout" Target="../slideLayouts/slideLayout4.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1.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Layout" Target="../slideLayouts/slideLayout4.xml"/></Relationships>
</file>

<file path=ppt/slides/_rels/slide192.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Layout" Target="../slideLayouts/slideLayout4.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4.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image" Target="../media/image76.png"/><Relationship Id="rId1" Type="http://schemas.openxmlformats.org/officeDocument/2006/relationships/slideLayout" Target="../slideLayouts/slideLayout4.xml"/></Relationships>
</file>

<file path=ppt/slides/_rels/slide195.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00.png"/><Relationship Id="rId1" Type="http://schemas.openxmlformats.org/officeDocument/2006/relationships/slideLayout" Target="../slideLayouts/slideLayout4.xml"/><Relationship Id="rId4" Type="http://schemas.openxmlformats.org/officeDocument/2006/relationships/image" Target="../media/image79.png"/></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7.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png"/><Relationship Id="rId1" Type="http://schemas.openxmlformats.org/officeDocument/2006/relationships/slideLayout" Target="../slideLayouts/slideLayout4.xml"/></Relationships>
</file>

<file path=ppt/slides/_rels/slide198.xml.rels><?xml version="1.0" encoding="UTF-8" standalone="yes"?>
<Relationships xmlns="http://schemas.openxmlformats.org/package/2006/relationships"><Relationship Id="rId3" Type="http://schemas.openxmlformats.org/officeDocument/2006/relationships/image" Target="../media/image760.png"/><Relationship Id="rId2" Type="http://schemas.openxmlformats.org/officeDocument/2006/relationships/image" Target="../media/image82.png"/><Relationship Id="rId1" Type="http://schemas.openxmlformats.org/officeDocument/2006/relationships/slideLayout" Target="../slideLayouts/slideLayout4.xml"/></Relationships>
</file>

<file path=ppt/slides/_rels/slide19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00.xml.rels><?xml version="1.0" encoding="UTF-8" standalone="yes"?>
<Relationships xmlns="http://schemas.openxmlformats.org/package/2006/relationships"><Relationship Id="rId2" Type="http://schemas.openxmlformats.org/officeDocument/2006/relationships/image" Target="../media/image83.png"/><Relationship Id="rId1" Type="http://schemas.openxmlformats.org/officeDocument/2006/relationships/slideLayout" Target="../slideLayouts/slideLayout4.xml"/></Relationships>
</file>

<file path=ppt/slides/_rels/slide201.xml.rels><?xml version="1.0" encoding="UTF-8" standalone="yes"?>
<Relationships xmlns="http://schemas.openxmlformats.org/package/2006/relationships"><Relationship Id="rId2" Type="http://schemas.openxmlformats.org/officeDocument/2006/relationships/image" Target="../media/image83.png"/><Relationship Id="rId1" Type="http://schemas.openxmlformats.org/officeDocument/2006/relationships/slideLayout" Target="../slideLayouts/slideLayout4.xml"/></Relationships>
</file>

<file path=ppt/slides/_rels/slide202.xml.rels><?xml version="1.0" encoding="UTF-8" standalone="yes"?>
<Relationships xmlns="http://schemas.openxmlformats.org/package/2006/relationships"><Relationship Id="rId2" Type="http://schemas.openxmlformats.org/officeDocument/2006/relationships/image" Target="../media/image83.png"/><Relationship Id="rId1" Type="http://schemas.openxmlformats.org/officeDocument/2006/relationships/slideLayout" Target="../slideLayouts/slideLayout4.xml"/></Relationships>
</file>

<file path=ppt/slides/_rels/slide203.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slideLayout" Target="../slideLayouts/slideLayout4.xml"/><Relationship Id="rId1" Type="http://schemas.openxmlformats.org/officeDocument/2006/relationships/tags" Target="../tags/tag181.xml"/><Relationship Id="rId5" Type="http://schemas.openxmlformats.org/officeDocument/2006/relationships/image" Target="../media/image85.png"/><Relationship Id="rId4" Type="http://schemas.openxmlformats.org/officeDocument/2006/relationships/image" Target="../media/image83.png"/></Relationships>
</file>

<file path=ppt/slides/_rels/slide204.xml.rels><?xml version="1.0" encoding="UTF-8" standalone="yes"?>
<Relationships xmlns="http://schemas.openxmlformats.org/package/2006/relationships"><Relationship Id="rId2" Type="http://schemas.openxmlformats.org/officeDocument/2006/relationships/image" Target="../media/image83.png"/><Relationship Id="rId1" Type="http://schemas.openxmlformats.org/officeDocument/2006/relationships/slideLayout" Target="../slideLayouts/slideLayout4.xml"/></Relationships>
</file>

<file path=ppt/slides/_rels/slide205.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slideLayout" Target="../slideLayouts/slideLayout4.xml"/><Relationship Id="rId1" Type="http://schemas.openxmlformats.org/officeDocument/2006/relationships/tags" Target="../tags/tag182.xml"/><Relationship Id="rId4" Type="http://schemas.openxmlformats.org/officeDocument/2006/relationships/image" Target="../media/image86.png"/></Relationships>
</file>

<file path=ppt/slides/_rels/slide20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07.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89.png"/></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2" Type="http://schemas.openxmlformats.org/officeDocument/2006/relationships/image" Target="../media/image90.png"/><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2" Type="http://schemas.openxmlformats.org/officeDocument/2006/relationships/image" Target="../media/image91.png"/><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image" Target="../media/image92.png"/><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2" Type="http://schemas.openxmlformats.org/officeDocument/2006/relationships/image" Target="../media/image94.png"/><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2" Type="http://schemas.openxmlformats.org/officeDocument/2006/relationships/image" Target="../media/image96.png"/><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2" Type="http://schemas.openxmlformats.org/officeDocument/2006/relationships/image" Target="../media/image97.png"/><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2" Type="http://schemas.openxmlformats.org/officeDocument/2006/relationships/comments" Target="../comments/comment3.xml"/><Relationship Id="rId1" Type="http://schemas.openxmlformats.org/officeDocument/2006/relationships/slideLayout" Target="../slideLayouts/slideLayout4.xml"/></Relationships>
</file>

<file path=ppt/slides/_rels/slide227.xml.rels><?xml version="1.0" encoding="UTF-8" standalone="yes"?>
<Relationships xmlns="http://schemas.openxmlformats.org/package/2006/relationships"><Relationship Id="rId2" Type="http://schemas.openxmlformats.org/officeDocument/2006/relationships/comments" Target="../comments/comment4.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tx1">
            <a:alpha val="90195"/>
          </a:schemeClr>
        </a:solidFill>
        <a:effectLst/>
      </p:bgPr>
    </p:bg>
    <p:spTree>
      <p:nvGrpSpPr>
        <p:cNvPr id="1" name=""/>
        <p:cNvGrpSpPr/>
        <p:nvPr/>
      </p:nvGrpSpPr>
      <p:grpSpPr>
        <a:xfrm>
          <a:off x="0" y="0"/>
          <a:ext cx="0" cy="0"/>
          <a:chOff x="0" y="0"/>
          <a:chExt cx="0" cy="0"/>
        </a:xfrm>
      </p:grpSpPr>
      <p:sp>
        <p:nvSpPr>
          <p:cNvPr id="8194" name="矩形: 圆角 2"/>
          <p:cNvSpPr>
            <a:spLocks noChangeArrowheads="1"/>
          </p:cNvSpPr>
          <p:nvPr/>
        </p:nvSpPr>
        <p:spPr bwMode="auto">
          <a:xfrm>
            <a:off x="3179763" y="3141663"/>
            <a:ext cx="5640388" cy="579438"/>
          </a:xfrm>
          <a:prstGeom prst="roundRect">
            <a:avLst>
              <a:gd name="adj" fmla="val 16667"/>
            </a:avLst>
          </a:pr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2" name="矩形 1"/>
          <p:cNvSpPr/>
          <p:nvPr/>
        </p:nvSpPr>
        <p:spPr bwMode="auto">
          <a:xfrm>
            <a:off x="0" y="514350"/>
            <a:ext cx="9144000" cy="881063"/>
          </a:xfrm>
          <a:prstGeom prst="rect">
            <a:avLst/>
          </a:prstGeom>
          <a:solidFill>
            <a:srgbClr val="6C4C8F"/>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23" name="矩形 22"/>
          <p:cNvSpPr/>
          <p:nvPr/>
        </p:nvSpPr>
        <p:spPr bwMode="auto">
          <a:xfrm>
            <a:off x="0" y="1519238"/>
            <a:ext cx="9144000" cy="53975"/>
          </a:xfrm>
          <a:prstGeom prst="rect">
            <a:avLst/>
          </a:prstGeom>
          <a:solidFill>
            <a:srgbClr val="6C4C8F"/>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pic>
        <p:nvPicPr>
          <p:cNvPr id="10246" name="图片 1"/>
          <p:cNvPicPr>
            <a:picLocks noChangeAspect="1"/>
          </p:cNvPicPr>
          <p:nvPr/>
        </p:nvPicPr>
        <p:blipFill>
          <a:blip r:embed="rId3"/>
          <a:srcRect l="36591" t="61440" r="36745" b="14038"/>
          <a:stretch>
            <a:fillRect/>
          </a:stretch>
        </p:blipFill>
        <p:spPr>
          <a:xfrm>
            <a:off x="511175" y="2382838"/>
            <a:ext cx="2282825" cy="2935287"/>
          </a:xfrm>
          <a:prstGeom prst="rect">
            <a:avLst/>
          </a:prstGeom>
          <a:noFill/>
          <a:ln w="9525">
            <a:noFill/>
          </a:ln>
        </p:spPr>
      </p:pic>
      <p:sp>
        <p:nvSpPr>
          <p:cNvPr id="29" name="矩形 28"/>
          <p:cNvSpPr/>
          <p:nvPr/>
        </p:nvSpPr>
        <p:spPr bwMode="auto">
          <a:xfrm>
            <a:off x="0" y="6121400"/>
            <a:ext cx="9155113" cy="604838"/>
          </a:xfrm>
          <a:prstGeom prst="rect">
            <a:avLst/>
          </a:prstGeom>
          <a:solidFill>
            <a:srgbClr val="76AEDD"/>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34" name="Rectangle 24"/>
          <p:cNvSpPr txBox="1">
            <a:spLocks noChangeArrowheads="1"/>
          </p:cNvSpPr>
          <p:nvPr/>
        </p:nvSpPr>
        <p:spPr bwMode="auto">
          <a:xfrm>
            <a:off x="3294063" y="3074988"/>
            <a:ext cx="3149600" cy="714375"/>
          </a:xfrm>
          <a:prstGeom prst="rect">
            <a:avLst/>
          </a:prstGeom>
          <a:noFill/>
          <a:ln w="9525">
            <a:noFill/>
            <a:miter lim="800000"/>
          </a:ln>
        </p:spPr>
        <p:txBody>
          <a:bodyPr anchor="ctr"/>
          <a:lstStyle/>
          <a:p>
            <a:pPr marR="0"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树和二叉树</a:t>
            </a:r>
            <a:endParaRPr kumimoji="1" lang="zh-CN" altLang="en-US" sz="4800" i="1" kern="0" cap="none" spc="0" normalizeH="0" baseline="0" noProof="0" dirty="0">
              <a:solidFill>
                <a:srgbClr val="6C4C8F">
                  <a:lumMod val="50000"/>
                </a:srgbClr>
              </a:solidFill>
              <a:effectLst>
                <a:outerShdw blurRad="38100" dist="38100" dir="2700000" algn="tl">
                  <a:srgbClr val="C0C0C0"/>
                </a:outerShdw>
              </a:effectLst>
              <a:latin typeface="+mn-lt"/>
              <a:ea typeface="+mn-ea"/>
              <a:cs typeface="+mn-ea"/>
              <a:sym typeface="+mn-lt"/>
            </a:endParaRPr>
          </a:p>
        </p:txBody>
      </p:sp>
      <p:sp>
        <p:nvSpPr>
          <p:cNvPr id="17" name="Rectangle 24"/>
          <p:cNvSpPr txBox="1">
            <a:spLocks noChangeArrowheads="1"/>
          </p:cNvSpPr>
          <p:nvPr/>
        </p:nvSpPr>
        <p:spPr bwMode="auto">
          <a:xfrm>
            <a:off x="3119438" y="2352675"/>
            <a:ext cx="2554288" cy="714375"/>
          </a:xfrm>
          <a:prstGeom prst="rect">
            <a:avLst/>
          </a:prstGeom>
          <a:noFill/>
          <a:ln w="9525">
            <a:noFill/>
            <a:miter lim="800000"/>
          </a:ln>
        </p:spPr>
        <p:txBody>
          <a:bodyPr anchor="ctr"/>
          <a:lstStyle/>
          <a:p>
            <a:pPr marR="0" defTabSz="914400">
              <a:buClrTx/>
              <a:buSzTx/>
              <a:buFontTx/>
              <a:buNone/>
              <a:defRPr/>
            </a:pPr>
            <a:r>
              <a:rPr kumimoji="1" lang="zh-CN" altLang="en-US" sz="3600" b="0" kern="0" cap="none" spc="0" normalizeH="0" baseline="0" noProof="0" dirty="0">
                <a:solidFill>
                  <a:srgbClr val="FEFFFF"/>
                </a:solidFill>
                <a:latin typeface="+mn-lt"/>
                <a:ea typeface="+mn-ea"/>
                <a:cs typeface="+mn-ea"/>
                <a:sym typeface="+mn-lt"/>
              </a:rPr>
              <a:t>第</a:t>
            </a:r>
            <a:r>
              <a:rPr kumimoji="1" lang="en-US" altLang="zh-CN" sz="3600" b="0" kern="0" cap="none" spc="0" normalizeH="0" baseline="0" noProof="0" dirty="0">
                <a:solidFill>
                  <a:srgbClr val="FEFFFF"/>
                </a:solidFill>
                <a:latin typeface="+mn-lt"/>
                <a:ea typeface="+mn-ea"/>
                <a:cs typeface="+mn-ea"/>
                <a:sym typeface="+mn-lt"/>
              </a:rPr>
              <a:t>5</a:t>
            </a:r>
            <a:r>
              <a:rPr kumimoji="1" lang="zh-CN" altLang="en-US" sz="3600" b="0" kern="0" cap="none" spc="0" normalizeH="0" baseline="0" noProof="0" dirty="0">
                <a:solidFill>
                  <a:srgbClr val="FEFFFF"/>
                </a:solidFill>
                <a:latin typeface="+mn-lt"/>
                <a:ea typeface="+mn-ea"/>
                <a:cs typeface="+mn-ea"/>
                <a:sym typeface="+mn-lt"/>
              </a:rPr>
              <a:t>章</a:t>
            </a:r>
            <a:endParaRPr kumimoji="1" lang="zh-CN" altLang="en-US" sz="4800" b="0" kern="0" cap="none" spc="0" normalizeH="0" baseline="0" noProof="0" dirty="0">
              <a:solidFill>
                <a:srgbClr val="6C4C8F">
                  <a:lumMod val="50000"/>
                </a:srgbClr>
              </a:solidFill>
              <a:latin typeface="+mn-lt"/>
              <a:ea typeface="+mn-ea"/>
              <a:cs typeface="+mn-ea"/>
              <a:sym typeface="+mn-lt"/>
            </a:endParaRPr>
          </a:p>
        </p:txBody>
      </p:sp>
      <p:sp>
        <p:nvSpPr>
          <p:cNvPr id="20" name="Rectangle 24"/>
          <p:cNvSpPr txBox="1">
            <a:spLocks noChangeArrowheads="1"/>
          </p:cNvSpPr>
          <p:nvPr/>
        </p:nvSpPr>
        <p:spPr bwMode="auto">
          <a:xfrm>
            <a:off x="300038" y="641350"/>
            <a:ext cx="8843963" cy="714375"/>
          </a:xfrm>
          <a:prstGeom prst="rect">
            <a:avLst/>
          </a:prstGeom>
          <a:noFill/>
          <a:ln w="9525">
            <a:noFill/>
            <a:miter lim="800000"/>
          </a:ln>
        </p:spPr>
        <p:txBody>
          <a:bodyPr anchor="ctr"/>
          <a:lstStyle/>
          <a:p>
            <a:pPr marR="0" defTabSz="914400">
              <a:buClrTx/>
              <a:buSzTx/>
              <a:buFontTx/>
              <a:buNone/>
              <a:defRPr/>
            </a:pPr>
            <a:r>
              <a:rPr kumimoji="0" lang="zh-CN" altLang="en-US" sz="4000" b="0" kern="1200" cap="none" spc="0" normalizeH="0" baseline="0" noProof="0" dirty="0">
                <a:solidFill>
                  <a:srgbClr val="FEFFFF"/>
                </a:solidFill>
                <a:latin typeface="+mn-lt"/>
                <a:ea typeface="+mn-ea"/>
                <a:cs typeface="+mn-ea"/>
                <a:sym typeface="+mn-lt"/>
              </a:rPr>
              <a:t>数据结构（</a:t>
            </a:r>
            <a:r>
              <a:rPr kumimoji="0" lang="en-US" altLang="zh-CN" sz="4000" b="0" kern="1200" cap="none" spc="0" normalizeH="0" baseline="0" noProof="0" dirty="0">
                <a:solidFill>
                  <a:srgbClr val="FEFFFF"/>
                </a:solidFill>
                <a:latin typeface="+mn-lt"/>
                <a:ea typeface="+mn-ea"/>
                <a:cs typeface="+mn-ea"/>
                <a:sym typeface="+mn-lt"/>
              </a:rPr>
              <a:t>C</a:t>
            </a:r>
            <a:r>
              <a:rPr kumimoji="0" lang="zh-CN" altLang="en-US" sz="4000" b="0" kern="1200" cap="none" spc="0" normalizeH="0" baseline="0" noProof="0" dirty="0">
                <a:solidFill>
                  <a:srgbClr val="FEFFFF"/>
                </a:solidFill>
                <a:latin typeface="+mn-lt"/>
                <a:ea typeface="+mn-ea"/>
                <a:cs typeface="+mn-ea"/>
                <a:sym typeface="+mn-lt"/>
              </a:rPr>
              <a:t>语言版</a:t>
            </a:r>
            <a:r>
              <a:rPr kumimoji="0" lang="zh-CN" altLang="en-US" sz="4000" b="0" kern="1200" cap="none" spc="0" normalizeH="0" baseline="0" noProof="0" dirty="0" smtClean="0">
                <a:solidFill>
                  <a:srgbClr val="FEFFFF"/>
                </a:solidFill>
                <a:latin typeface="+mn-lt"/>
                <a:ea typeface="+mn-ea"/>
                <a:cs typeface="+mn-ea"/>
                <a:sym typeface="+mn-lt"/>
              </a:rPr>
              <a:t>）</a:t>
            </a:r>
            <a:endParaRPr kumimoji="1" lang="zh-CN" altLang="en-US" sz="5400" i="1" kern="0" cap="none" spc="0" normalizeH="0" baseline="0" noProof="0" dirty="0">
              <a:solidFill>
                <a:srgbClr val="6C4C8F">
                  <a:lumMod val="50000"/>
                </a:srgbClr>
              </a:solidFill>
              <a:effectLst>
                <a:outerShdw blurRad="38100" dist="38100" dir="2700000" algn="tl">
                  <a:srgbClr val="C0C0C0"/>
                </a:outerShdw>
              </a:effectLst>
              <a:latin typeface="+mn-lt"/>
              <a:ea typeface="+mn-ea"/>
              <a:cs typeface="+mn-ea"/>
              <a:sym typeface="+mn-lt"/>
            </a:endParaRPr>
          </a:p>
        </p:txBody>
      </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25" name="Rectangle 41"/>
          <p:cNvSpPr>
            <a:spLocks noChangeArrowheads="1"/>
          </p:cNvSpPr>
          <p:nvPr/>
        </p:nvSpPr>
        <p:spPr bwMode="auto">
          <a:xfrm>
            <a:off x="612775" y="2628900"/>
            <a:ext cx="68024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1"/>
                </a:solidFill>
                <a:effectLst/>
                <a:uLnTx/>
                <a:uFillTx/>
                <a:latin typeface="+mn-lt"/>
                <a:ea typeface="+mn-ea"/>
                <a:cs typeface="+mn-ea"/>
                <a:sym typeface="+mn-lt"/>
              </a:rPr>
              <a:t>线性结构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一个对一个，如线性表、栈、队列</a:t>
            </a:r>
          </a:p>
        </p:txBody>
      </p:sp>
      <p:sp>
        <p:nvSpPr>
          <p:cNvPr id="16426" name="Rectangle 42"/>
          <p:cNvSpPr>
            <a:spLocks noChangeArrowheads="1"/>
          </p:cNvSpPr>
          <p:nvPr/>
        </p:nvSpPr>
        <p:spPr bwMode="auto">
          <a:xfrm>
            <a:off x="568325" y="3708400"/>
            <a:ext cx="46482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0000FF"/>
                </a:solidFill>
                <a:effectLst/>
                <a:uLnTx/>
                <a:uFillTx/>
                <a:latin typeface="+mn-lt"/>
                <a:ea typeface="+mn-ea"/>
                <a:cs typeface="+mn-ea"/>
                <a:sym typeface="+mn-lt"/>
              </a:rPr>
              <a:t>树形结构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一个对多个，如树</a:t>
            </a:r>
          </a:p>
        </p:txBody>
      </p:sp>
      <p:sp>
        <p:nvSpPr>
          <p:cNvPr id="16427" name="Rectangle 43"/>
          <p:cNvSpPr>
            <a:spLocks noChangeArrowheads="1"/>
          </p:cNvSpPr>
          <p:nvPr/>
        </p:nvSpPr>
        <p:spPr bwMode="auto">
          <a:xfrm>
            <a:off x="647700" y="1244600"/>
            <a:ext cx="83407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集合</a:t>
            </a:r>
            <a:r>
              <a:rPr kumimoji="0" lang="zh-CN" altLang="en-US" sz="2400" b="0" i="0" u="none" strike="noStrike" kern="1200" cap="none" spc="0" normalizeH="0" baseline="0" noProof="0" dirty="0">
                <a:ln>
                  <a:noFill/>
                </a:ln>
                <a:solidFill>
                  <a:srgbClr val="FF3399"/>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数据元素间除“同属于一个集合”外，无其它关系</a:t>
            </a:r>
          </a:p>
        </p:txBody>
      </p:sp>
      <p:sp>
        <p:nvSpPr>
          <p:cNvPr id="16428" name="Rectangle 44"/>
          <p:cNvSpPr>
            <a:spLocks noChangeArrowheads="1"/>
          </p:cNvSpPr>
          <p:nvPr/>
        </p:nvSpPr>
        <p:spPr bwMode="auto">
          <a:xfrm>
            <a:off x="527050" y="5224463"/>
            <a:ext cx="464742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9900"/>
                </a:solidFill>
                <a:effectLst/>
                <a:uLnTx/>
                <a:uFillTx/>
                <a:latin typeface="+mn-lt"/>
                <a:ea typeface="+mn-ea"/>
                <a:cs typeface="+mn-ea"/>
                <a:sym typeface="+mn-lt"/>
              </a:rPr>
              <a:t>图形结构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多个对多个</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，如图</a:t>
            </a:r>
            <a:endPar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16429" name="Rectangle 45"/>
          <p:cNvSpPr>
            <a:spLocks noChangeArrowheads="1"/>
          </p:cNvSpPr>
          <p:nvPr/>
        </p:nvSpPr>
        <p:spPr bwMode="auto">
          <a:xfrm>
            <a:off x="873125" y="190500"/>
            <a:ext cx="2346325" cy="56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逻辑结构</a:t>
            </a:r>
          </a:p>
        </p:txBody>
      </p:sp>
      <p:grpSp>
        <p:nvGrpSpPr>
          <p:cNvPr id="12295" name="Group 16"/>
          <p:cNvGrpSpPr/>
          <p:nvPr/>
        </p:nvGrpSpPr>
        <p:grpSpPr>
          <a:xfrm>
            <a:off x="2752725" y="4141788"/>
            <a:ext cx="1941513" cy="1000125"/>
            <a:chOff x="4185" y="2055"/>
            <a:chExt cx="1223" cy="630"/>
          </a:xfrm>
        </p:grpSpPr>
        <p:grpSp>
          <p:nvGrpSpPr>
            <p:cNvPr id="12322" name="Group 17"/>
            <p:cNvGrpSpPr/>
            <p:nvPr/>
          </p:nvGrpSpPr>
          <p:grpSpPr>
            <a:xfrm>
              <a:off x="4185" y="2055"/>
              <a:ext cx="629" cy="336"/>
              <a:chOff x="2474" y="2489"/>
              <a:chExt cx="629" cy="336"/>
            </a:xfrm>
          </p:grpSpPr>
          <p:sp>
            <p:nvSpPr>
              <p:cNvPr id="12331" name="Oval 18"/>
              <p:cNvSpPr/>
              <p:nvPr/>
            </p:nvSpPr>
            <p:spPr>
              <a:xfrm>
                <a:off x="2711" y="2489"/>
                <a:ext cx="156" cy="144"/>
              </a:xfrm>
              <a:prstGeom prst="ellipse">
                <a:avLst/>
              </a:prstGeom>
              <a:noFill/>
              <a:ln w="38100" cap="flat" cmpd="sng">
                <a:solidFill>
                  <a:srgbClr val="0000FF"/>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spcBef>
                    <a:spcPct val="20000"/>
                  </a:spcBef>
                </a:pPr>
                <a:endParaRPr lang="zh-CN" altLang="en-US" sz="2800" b="1" dirty="0">
                  <a:ea typeface="仿宋_GB2312" pitchFamily="49" charset="-122"/>
                </a:endParaRPr>
              </a:p>
            </p:txBody>
          </p:sp>
          <p:sp>
            <p:nvSpPr>
              <p:cNvPr id="12332" name="Oval 19"/>
              <p:cNvSpPr/>
              <p:nvPr/>
            </p:nvSpPr>
            <p:spPr>
              <a:xfrm>
                <a:off x="2474" y="2674"/>
                <a:ext cx="156" cy="144"/>
              </a:xfrm>
              <a:prstGeom prst="ellipse">
                <a:avLst/>
              </a:prstGeom>
              <a:noFill/>
              <a:ln w="38100" cap="flat" cmpd="sng">
                <a:solidFill>
                  <a:srgbClr val="0000FF"/>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spcBef>
                    <a:spcPct val="20000"/>
                  </a:spcBef>
                </a:pPr>
                <a:endParaRPr lang="zh-CN" altLang="en-US" sz="2800" b="1" dirty="0">
                  <a:ea typeface="仿宋_GB2312" pitchFamily="49" charset="-122"/>
                </a:endParaRPr>
              </a:p>
            </p:txBody>
          </p:sp>
          <p:sp>
            <p:nvSpPr>
              <p:cNvPr id="12333" name="Oval 20"/>
              <p:cNvSpPr/>
              <p:nvPr/>
            </p:nvSpPr>
            <p:spPr>
              <a:xfrm>
                <a:off x="2947" y="2681"/>
                <a:ext cx="156" cy="144"/>
              </a:xfrm>
              <a:prstGeom prst="ellipse">
                <a:avLst/>
              </a:prstGeom>
              <a:noFill/>
              <a:ln w="38100" cap="flat" cmpd="sng">
                <a:solidFill>
                  <a:srgbClr val="0000FF"/>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spcBef>
                    <a:spcPct val="20000"/>
                  </a:spcBef>
                </a:pPr>
                <a:endParaRPr lang="zh-CN" altLang="en-US" sz="2800" b="1" dirty="0">
                  <a:ea typeface="仿宋_GB2312" pitchFamily="49" charset="-122"/>
                </a:endParaRPr>
              </a:p>
            </p:txBody>
          </p:sp>
        </p:grpSp>
        <p:sp>
          <p:nvSpPr>
            <p:cNvPr id="12323" name="Oval 21"/>
            <p:cNvSpPr/>
            <p:nvPr/>
          </p:nvSpPr>
          <p:spPr>
            <a:xfrm>
              <a:off x="4374" y="2519"/>
              <a:ext cx="156" cy="144"/>
            </a:xfrm>
            <a:prstGeom prst="ellipse">
              <a:avLst/>
            </a:prstGeom>
            <a:noFill/>
            <a:ln w="38100" cap="flat" cmpd="sng">
              <a:solidFill>
                <a:srgbClr val="0000FF"/>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spcBef>
                  <a:spcPct val="20000"/>
                </a:spcBef>
              </a:pPr>
              <a:endParaRPr lang="zh-CN" altLang="en-US" sz="2800" b="1" dirty="0">
                <a:ea typeface="仿宋_GB2312" pitchFamily="49" charset="-122"/>
              </a:endParaRPr>
            </a:p>
          </p:txBody>
        </p:sp>
        <p:sp>
          <p:nvSpPr>
            <p:cNvPr id="12324" name="Oval 22"/>
            <p:cNvSpPr/>
            <p:nvPr/>
          </p:nvSpPr>
          <p:spPr>
            <a:xfrm>
              <a:off x="4897" y="2530"/>
              <a:ext cx="156" cy="144"/>
            </a:xfrm>
            <a:prstGeom prst="ellipse">
              <a:avLst/>
            </a:prstGeom>
            <a:noFill/>
            <a:ln w="38100" cap="flat" cmpd="sng">
              <a:solidFill>
                <a:srgbClr val="0000FF"/>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spcBef>
                  <a:spcPct val="20000"/>
                </a:spcBef>
              </a:pPr>
              <a:endParaRPr lang="zh-CN" altLang="en-US" sz="2800" b="1" dirty="0">
                <a:ea typeface="仿宋_GB2312" pitchFamily="49" charset="-122"/>
              </a:endParaRPr>
            </a:p>
          </p:txBody>
        </p:sp>
        <p:sp>
          <p:nvSpPr>
            <p:cNvPr id="12325" name="Oval 23"/>
            <p:cNvSpPr/>
            <p:nvPr/>
          </p:nvSpPr>
          <p:spPr>
            <a:xfrm>
              <a:off x="5252" y="2541"/>
              <a:ext cx="156" cy="144"/>
            </a:xfrm>
            <a:prstGeom prst="ellipse">
              <a:avLst/>
            </a:prstGeom>
            <a:noFill/>
            <a:ln w="38100" cap="flat" cmpd="sng">
              <a:solidFill>
                <a:srgbClr val="0000FF"/>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spcBef>
                  <a:spcPct val="20000"/>
                </a:spcBef>
              </a:pPr>
              <a:endParaRPr lang="zh-CN" altLang="en-US" sz="2800" b="1" dirty="0">
                <a:ea typeface="仿宋_GB2312" pitchFamily="49" charset="-122"/>
              </a:endParaRPr>
            </a:p>
          </p:txBody>
        </p:sp>
        <p:sp>
          <p:nvSpPr>
            <p:cNvPr id="12326" name="Line 24"/>
            <p:cNvSpPr/>
            <p:nvPr/>
          </p:nvSpPr>
          <p:spPr>
            <a:xfrm flipH="1">
              <a:off x="4334" y="2189"/>
              <a:ext cx="111" cy="111"/>
            </a:xfrm>
            <a:prstGeom prst="line">
              <a:avLst/>
            </a:prstGeom>
            <a:ln w="38100" cap="flat" cmpd="sng">
              <a:solidFill>
                <a:srgbClr val="0000FF"/>
              </a:solidFill>
              <a:prstDash val="solid"/>
              <a:headEnd type="none" w="med" len="med"/>
              <a:tailEnd type="none" w="med" len="med"/>
            </a:ln>
          </p:spPr>
          <p:txBody>
            <a:bodyPr/>
            <a:lstStyle/>
            <a:p>
              <a:endParaRPr lang="zh-CN" altLang="en-US"/>
            </a:p>
          </p:txBody>
        </p:sp>
        <p:sp>
          <p:nvSpPr>
            <p:cNvPr id="12327" name="Line 25"/>
            <p:cNvSpPr/>
            <p:nvPr/>
          </p:nvSpPr>
          <p:spPr>
            <a:xfrm flipH="1">
              <a:off x="4501" y="2378"/>
              <a:ext cx="166" cy="166"/>
            </a:xfrm>
            <a:prstGeom prst="line">
              <a:avLst/>
            </a:prstGeom>
            <a:ln w="38100" cap="flat" cmpd="sng">
              <a:solidFill>
                <a:srgbClr val="0000FF"/>
              </a:solidFill>
              <a:prstDash val="solid"/>
              <a:headEnd type="none" w="med" len="med"/>
              <a:tailEnd type="none" w="med" len="med"/>
            </a:ln>
          </p:spPr>
          <p:txBody>
            <a:bodyPr/>
            <a:lstStyle/>
            <a:p>
              <a:endParaRPr lang="zh-CN" altLang="en-US"/>
            </a:p>
          </p:txBody>
        </p:sp>
        <p:sp>
          <p:nvSpPr>
            <p:cNvPr id="12328" name="Line 26"/>
            <p:cNvSpPr/>
            <p:nvPr/>
          </p:nvSpPr>
          <p:spPr>
            <a:xfrm>
              <a:off x="4534" y="2178"/>
              <a:ext cx="122" cy="122"/>
            </a:xfrm>
            <a:prstGeom prst="line">
              <a:avLst/>
            </a:prstGeom>
            <a:ln w="38100" cap="flat" cmpd="sng">
              <a:solidFill>
                <a:srgbClr val="0000FF"/>
              </a:solidFill>
              <a:prstDash val="solid"/>
              <a:headEnd type="none" w="med" len="med"/>
              <a:tailEnd type="none" w="med" len="med"/>
            </a:ln>
          </p:spPr>
          <p:txBody>
            <a:bodyPr/>
            <a:lstStyle/>
            <a:p>
              <a:endParaRPr lang="zh-CN" altLang="en-US"/>
            </a:p>
          </p:txBody>
        </p:sp>
        <p:sp>
          <p:nvSpPr>
            <p:cNvPr id="12329" name="Line 27"/>
            <p:cNvSpPr/>
            <p:nvPr/>
          </p:nvSpPr>
          <p:spPr>
            <a:xfrm>
              <a:off x="4778" y="2366"/>
              <a:ext cx="178" cy="178"/>
            </a:xfrm>
            <a:prstGeom prst="line">
              <a:avLst/>
            </a:prstGeom>
            <a:ln w="38100" cap="flat" cmpd="sng">
              <a:solidFill>
                <a:srgbClr val="0000FF"/>
              </a:solidFill>
              <a:prstDash val="solid"/>
              <a:headEnd type="none" w="med" len="med"/>
              <a:tailEnd type="none" w="med" len="med"/>
            </a:ln>
          </p:spPr>
          <p:txBody>
            <a:bodyPr/>
            <a:lstStyle/>
            <a:p>
              <a:endParaRPr lang="zh-CN" altLang="en-US"/>
            </a:p>
          </p:txBody>
        </p:sp>
        <p:sp>
          <p:nvSpPr>
            <p:cNvPr id="12330" name="Line 28"/>
            <p:cNvSpPr/>
            <p:nvPr/>
          </p:nvSpPr>
          <p:spPr>
            <a:xfrm>
              <a:off x="4812" y="2333"/>
              <a:ext cx="466" cy="233"/>
            </a:xfrm>
            <a:prstGeom prst="line">
              <a:avLst/>
            </a:prstGeom>
            <a:ln w="38100" cap="flat" cmpd="sng">
              <a:solidFill>
                <a:srgbClr val="0000FF"/>
              </a:solidFill>
              <a:prstDash val="solid"/>
              <a:headEnd type="none" w="med" len="med"/>
              <a:tailEnd type="none" w="med" len="med"/>
            </a:ln>
          </p:spPr>
          <p:txBody>
            <a:bodyPr/>
            <a:lstStyle/>
            <a:p>
              <a:endParaRPr lang="zh-CN" altLang="en-US"/>
            </a:p>
          </p:txBody>
        </p:sp>
      </p:grpSp>
      <p:grpSp>
        <p:nvGrpSpPr>
          <p:cNvPr id="12296" name="Group 2"/>
          <p:cNvGrpSpPr/>
          <p:nvPr/>
        </p:nvGrpSpPr>
        <p:grpSpPr>
          <a:xfrm>
            <a:off x="2770188" y="1824038"/>
            <a:ext cx="1676400" cy="581025"/>
            <a:chOff x="3774" y="1252"/>
            <a:chExt cx="1056" cy="366"/>
          </a:xfrm>
        </p:grpSpPr>
        <p:sp>
          <p:nvSpPr>
            <p:cNvPr id="61" name="Oval 3"/>
            <p:cNvSpPr>
              <a:spLocks noChangeArrowheads="1"/>
            </p:cNvSpPr>
            <p:nvPr/>
          </p:nvSpPr>
          <p:spPr bwMode="auto">
            <a:xfrm>
              <a:off x="3774" y="1307"/>
              <a:ext cx="156" cy="144"/>
            </a:xfrm>
            <a:prstGeom prst="ellipse">
              <a:avLst/>
            </a:prstGeom>
            <a:noFill/>
            <a:ln w="38100">
              <a:solidFill>
                <a:schemeClr val="tx1">
                  <a:lumMod val="95000"/>
                  <a:lumOff val="5000"/>
                </a:schemeClr>
              </a:solidFill>
              <a:round/>
            </a:ln>
            <a:extLst>
              <a:ext uri="{909E8E84-426E-40DD-AFC4-6F175D3DCCD1}">
                <a14:hiddenFill xmlns:a14="http://schemas.microsoft.com/office/drawing/2010/main">
                  <a:solidFill>
                    <a:srgbClr val="FFFFFF"/>
                  </a:solidFill>
                </a14:hiddenFill>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62" name="Oval 4"/>
            <p:cNvSpPr>
              <a:spLocks noChangeArrowheads="1"/>
            </p:cNvSpPr>
            <p:nvPr/>
          </p:nvSpPr>
          <p:spPr bwMode="auto">
            <a:xfrm>
              <a:off x="4096" y="1252"/>
              <a:ext cx="156" cy="144"/>
            </a:xfrm>
            <a:prstGeom prst="ellipse">
              <a:avLst/>
            </a:prstGeom>
            <a:noFill/>
            <a:ln w="38100">
              <a:solidFill>
                <a:schemeClr val="tx1">
                  <a:lumMod val="95000"/>
                  <a:lumOff val="5000"/>
                </a:schemeClr>
              </a:solidFill>
              <a:round/>
            </a:ln>
            <a:extLst>
              <a:ext uri="{909E8E84-426E-40DD-AFC4-6F175D3DCCD1}">
                <a14:hiddenFill xmlns:a14="http://schemas.microsoft.com/office/drawing/2010/main">
                  <a:solidFill>
                    <a:srgbClr val="FFFFFF"/>
                  </a:solidFill>
                </a14:hiddenFill>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63" name="Oval 5"/>
            <p:cNvSpPr>
              <a:spLocks noChangeArrowheads="1"/>
            </p:cNvSpPr>
            <p:nvPr/>
          </p:nvSpPr>
          <p:spPr bwMode="auto">
            <a:xfrm>
              <a:off x="4063" y="1474"/>
              <a:ext cx="156" cy="144"/>
            </a:xfrm>
            <a:prstGeom prst="ellipse">
              <a:avLst/>
            </a:prstGeom>
            <a:noFill/>
            <a:ln w="38100">
              <a:solidFill>
                <a:schemeClr val="tx1">
                  <a:lumMod val="95000"/>
                  <a:lumOff val="5000"/>
                </a:schemeClr>
              </a:solidFill>
              <a:round/>
            </a:ln>
            <a:extLst>
              <a:ext uri="{909E8E84-426E-40DD-AFC4-6F175D3DCCD1}">
                <a14:hiddenFill xmlns:a14="http://schemas.microsoft.com/office/drawing/2010/main">
                  <a:solidFill>
                    <a:srgbClr val="FFFFFF"/>
                  </a:solidFill>
                </a14:hiddenFill>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64" name="Oval 6"/>
            <p:cNvSpPr>
              <a:spLocks noChangeArrowheads="1"/>
            </p:cNvSpPr>
            <p:nvPr/>
          </p:nvSpPr>
          <p:spPr bwMode="auto">
            <a:xfrm>
              <a:off x="4373" y="1396"/>
              <a:ext cx="156" cy="144"/>
            </a:xfrm>
            <a:prstGeom prst="ellipse">
              <a:avLst/>
            </a:prstGeom>
            <a:noFill/>
            <a:ln w="38100">
              <a:solidFill>
                <a:schemeClr val="tx1">
                  <a:lumMod val="95000"/>
                  <a:lumOff val="5000"/>
                </a:schemeClr>
              </a:solidFill>
              <a:round/>
            </a:ln>
            <a:extLst>
              <a:ext uri="{909E8E84-426E-40DD-AFC4-6F175D3DCCD1}">
                <a14:hiddenFill xmlns:a14="http://schemas.microsoft.com/office/drawing/2010/main">
                  <a:solidFill>
                    <a:srgbClr val="FFFFFF"/>
                  </a:solidFill>
                </a14:hiddenFill>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65" name="Oval 7"/>
            <p:cNvSpPr>
              <a:spLocks noChangeArrowheads="1"/>
            </p:cNvSpPr>
            <p:nvPr/>
          </p:nvSpPr>
          <p:spPr bwMode="auto">
            <a:xfrm>
              <a:off x="4674" y="1385"/>
              <a:ext cx="156" cy="144"/>
            </a:xfrm>
            <a:prstGeom prst="ellipse">
              <a:avLst/>
            </a:prstGeom>
            <a:noFill/>
            <a:ln w="38100">
              <a:solidFill>
                <a:schemeClr val="tx1">
                  <a:lumMod val="95000"/>
                  <a:lumOff val="5000"/>
                </a:schemeClr>
              </a:solidFill>
              <a:round/>
            </a:ln>
            <a:extLst>
              <a:ext uri="{909E8E84-426E-40DD-AFC4-6F175D3DCCD1}">
                <a14:hiddenFill xmlns:a14="http://schemas.microsoft.com/office/drawing/2010/main">
                  <a:solidFill>
                    <a:srgbClr val="FFFFFF"/>
                  </a:solidFill>
                </a14:hiddenFill>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grpSp>
      <p:grpSp>
        <p:nvGrpSpPr>
          <p:cNvPr id="12297" name="Group 8"/>
          <p:cNvGrpSpPr/>
          <p:nvPr/>
        </p:nvGrpSpPr>
        <p:grpSpPr>
          <a:xfrm>
            <a:off x="2686050" y="3217863"/>
            <a:ext cx="2268538" cy="211137"/>
            <a:chOff x="3056" y="2100"/>
            <a:chExt cx="1429" cy="133"/>
          </a:xfrm>
        </p:grpSpPr>
        <p:sp>
          <p:nvSpPr>
            <p:cNvPr id="12310" name="Oval 9"/>
            <p:cNvSpPr/>
            <p:nvPr/>
          </p:nvSpPr>
          <p:spPr>
            <a:xfrm>
              <a:off x="3056" y="2100"/>
              <a:ext cx="144" cy="133"/>
            </a:xfrm>
            <a:prstGeom prst="ellipse">
              <a:avLst/>
            </a:prstGeom>
            <a:noFill/>
            <a:ln w="38100" cap="flat" cmpd="sng">
              <a:solidFill>
                <a:schemeClr val="accent1"/>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spcBef>
                  <a:spcPct val="20000"/>
                </a:spcBef>
              </a:pPr>
              <a:endParaRPr lang="zh-CN" altLang="en-US" sz="2800" b="1" dirty="0">
                <a:ea typeface="仿宋_GB2312" pitchFamily="49" charset="-122"/>
              </a:endParaRPr>
            </a:p>
          </p:txBody>
        </p:sp>
        <p:sp>
          <p:nvSpPr>
            <p:cNvPr id="12311" name="Oval 10"/>
            <p:cNvSpPr/>
            <p:nvPr/>
          </p:nvSpPr>
          <p:spPr>
            <a:xfrm>
              <a:off x="3474" y="2100"/>
              <a:ext cx="144" cy="133"/>
            </a:xfrm>
            <a:prstGeom prst="ellipse">
              <a:avLst/>
            </a:prstGeom>
            <a:noFill/>
            <a:ln w="38100" cap="flat" cmpd="sng">
              <a:solidFill>
                <a:schemeClr val="accent1"/>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spcBef>
                  <a:spcPct val="20000"/>
                </a:spcBef>
              </a:pPr>
              <a:endParaRPr lang="zh-CN" altLang="en-US" sz="2800" b="1" dirty="0">
                <a:ea typeface="仿宋_GB2312" pitchFamily="49" charset="-122"/>
              </a:endParaRPr>
            </a:p>
          </p:txBody>
        </p:sp>
        <p:sp>
          <p:nvSpPr>
            <p:cNvPr id="12312" name="Oval 11"/>
            <p:cNvSpPr/>
            <p:nvPr/>
          </p:nvSpPr>
          <p:spPr>
            <a:xfrm>
              <a:off x="3919" y="2100"/>
              <a:ext cx="144" cy="133"/>
            </a:xfrm>
            <a:prstGeom prst="ellipse">
              <a:avLst/>
            </a:prstGeom>
            <a:noFill/>
            <a:ln w="38100" cap="flat" cmpd="sng">
              <a:solidFill>
                <a:schemeClr val="accent1"/>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spcBef>
                  <a:spcPct val="20000"/>
                </a:spcBef>
              </a:pPr>
              <a:endParaRPr lang="zh-CN" altLang="en-US" sz="2800" b="1" dirty="0">
                <a:ea typeface="仿宋_GB2312" pitchFamily="49" charset="-122"/>
              </a:endParaRPr>
            </a:p>
          </p:txBody>
        </p:sp>
        <p:sp>
          <p:nvSpPr>
            <p:cNvPr id="12313" name="Oval 12"/>
            <p:cNvSpPr/>
            <p:nvPr/>
          </p:nvSpPr>
          <p:spPr>
            <a:xfrm>
              <a:off x="4341" y="2100"/>
              <a:ext cx="144" cy="133"/>
            </a:xfrm>
            <a:prstGeom prst="ellipse">
              <a:avLst/>
            </a:prstGeom>
            <a:noFill/>
            <a:ln w="38100" cap="flat" cmpd="sng">
              <a:solidFill>
                <a:schemeClr val="accent1"/>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spcBef>
                  <a:spcPct val="20000"/>
                </a:spcBef>
              </a:pPr>
              <a:endParaRPr lang="zh-CN" altLang="en-US" sz="2800" b="1" dirty="0">
                <a:ea typeface="仿宋_GB2312" pitchFamily="49" charset="-122"/>
              </a:endParaRPr>
            </a:p>
          </p:txBody>
        </p:sp>
        <p:sp>
          <p:nvSpPr>
            <p:cNvPr id="12314" name="Line 13"/>
            <p:cNvSpPr/>
            <p:nvPr/>
          </p:nvSpPr>
          <p:spPr>
            <a:xfrm>
              <a:off x="3200" y="2166"/>
              <a:ext cx="267" cy="0"/>
            </a:xfrm>
            <a:prstGeom prst="line">
              <a:avLst/>
            </a:prstGeom>
            <a:ln w="38100" cap="flat" cmpd="sng">
              <a:solidFill>
                <a:schemeClr val="accent1"/>
              </a:solidFill>
              <a:prstDash val="solid"/>
              <a:headEnd type="none" w="med" len="med"/>
              <a:tailEnd type="none" w="med" len="med"/>
            </a:ln>
          </p:spPr>
          <p:txBody>
            <a:bodyPr/>
            <a:lstStyle/>
            <a:p>
              <a:endParaRPr lang="zh-CN" altLang="en-US"/>
            </a:p>
          </p:txBody>
        </p:sp>
        <p:sp>
          <p:nvSpPr>
            <p:cNvPr id="12315" name="Line 14"/>
            <p:cNvSpPr/>
            <p:nvPr/>
          </p:nvSpPr>
          <p:spPr>
            <a:xfrm>
              <a:off x="3612" y="2166"/>
              <a:ext cx="311" cy="0"/>
            </a:xfrm>
            <a:prstGeom prst="line">
              <a:avLst/>
            </a:prstGeom>
            <a:ln w="38100" cap="flat" cmpd="sng">
              <a:solidFill>
                <a:schemeClr val="accent1"/>
              </a:solidFill>
              <a:prstDash val="solid"/>
              <a:headEnd type="none" w="med" len="med"/>
              <a:tailEnd type="none" w="med" len="med"/>
            </a:ln>
          </p:spPr>
          <p:txBody>
            <a:bodyPr/>
            <a:lstStyle/>
            <a:p>
              <a:endParaRPr lang="zh-CN" altLang="en-US"/>
            </a:p>
          </p:txBody>
        </p:sp>
        <p:sp>
          <p:nvSpPr>
            <p:cNvPr id="12316" name="Line 15"/>
            <p:cNvSpPr/>
            <p:nvPr/>
          </p:nvSpPr>
          <p:spPr>
            <a:xfrm>
              <a:off x="4078" y="2166"/>
              <a:ext cx="256" cy="0"/>
            </a:xfrm>
            <a:prstGeom prst="line">
              <a:avLst/>
            </a:prstGeom>
            <a:ln w="38100" cap="flat" cmpd="sng">
              <a:solidFill>
                <a:schemeClr val="accent1"/>
              </a:solidFill>
              <a:prstDash val="solid"/>
              <a:headEnd type="none" w="med" len="med"/>
              <a:tailEnd type="none" w="med" len="med"/>
            </a:ln>
          </p:spPr>
          <p:txBody>
            <a:bodyPr/>
            <a:lstStyle/>
            <a:p>
              <a:endParaRPr lang="zh-CN" altLang="en-US"/>
            </a:p>
          </p:txBody>
        </p:sp>
      </p:grpSp>
      <p:grpSp>
        <p:nvGrpSpPr>
          <p:cNvPr id="12298" name="Group 29"/>
          <p:cNvGrpSpPr/>
          <p:nvPr/>
        </p:nvGrpSpPr>
        <p:grpSpPr>
          <a:xfrm>
            <a:off x="2773363" y="5745163"/>
            <a:ext cx="1658937" cy="882650"/>
            <a:chOff x="4363" y="2073"/>
            <a:chExt cx="1045" cy="556"/>
          </a:xfrm>
        </p:grpSpPr>
        <p:sp>
          <p:nvSpPr>
            <p:cNvPr id="12299" name="Oval 30"/>
            <p:cNvSpPr/>
            <p:nvPr/>
          </p:nvSpPr>
          <p:spPr>
            <a:xfrm>
              <a:off x="4819" y="2073"/>
              <a:ext cx="156" cy="144"/>
            </a:xfrm>
            <a:prstGeom prst="ellipse">
              <a:avLst/>
            </a:prstGeom>
            <a:noFill/>
            <a:ln w="38100" cap="flat" cmpd="sng">
              <a:solidFill>
                <a:srgbClr val="FF9900"/>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spcBef>
                  <a:spcPct val="20000"/>
                </a:spcBef>
              </a:pPr>
              <a:endParaRPr lang="zh-CN" altLang="en-US" sz="2800" b="1" dirty="0">
                <a:ea typeface="仿宋_GB2312" pitchFamily="49" charset="-122"/>
              </a:endParaRPr>
            </a:p>
          </p:txBody>
        </p:sp>
        <p:sp>
          <p:nvSpPr>
            <p:cNvPr id="12300" name="Oval 31"/>
            <p:cNvSpPr/>
            <p:nvPr/>
          </p:nvSpPr>
          <p:spPr>
            <a:xfrm>
              <a:off x="4385" y="2485"/>
              <a:ext cx="156" cy="144"/>
            </a:xfrm>
            <a:prstGeom prst="ellipse">
              <a:avLst/>
            </a:prstGeom>
            <a:noFill/>
            <a:ln w="38100" cap="flat" cmpd="sng">
              <a:solidFill>
                <a:srgbClr val="FF9900"/>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spcBef>
                  <a:spcPct val="20000"/>
                </a:spcBef>
              </a:pPr>
              <a:endParaRPr lang="zh-CN" altLang="en-US" sz="2800" b="1" dirty="0">
                <a:ea typeface="仿宋_GB2312" pitchFamily="49" charset="-122"/>
              </a:endParaRPr>
            </a:p>
          </p:txBody>
        </p:sp>
        <p:sp>
          <p:nvSpPr>
            <p:cNvPr id="12301" name="Oval 32"/>
            <p:cNvSpPr/>
            <p:nvPr/>
          </p:nvSpPr>
          <p:spPr>
            <a:xfrm>
              <a:off x="4841" y="2474"/>
              <a:ext cx="156" cy="144"/>
            </a:xfrm>
            <a:prstGeom prst="ellipse">
              <a:avLst/>
            </a:prstGeom>
            <a:noFill/>
            <a:ln w="38100" cap="flat" cmpd="sng">
              <a:solidFill>
                <a:srgbClr val="FF9900"/>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spcBef>
                  <a:spcPct val="20000"/>
                </a:spcBef>
              </a:pPr>
              <a:endParaRPr lang="zh-CN" altLang="en-US" sz="2800" b="1" dirty="0">
                <a:ea typeface="仿宋_GB2312" pitchFamily="49" charset="-122"/>
              </a:endParaRPr>
            </a:p>
          </p:txBody>
        </p:sp>
        <p:sp>
          <p:nvSpPr>
            <p:cNvPr id="12302" name="Oval 33"/>
            <p:cNvSpPr/>
            <p:nvPr/>
          </p:nvSpPr>
          <p:spPr>
            <a:xfrm>
              <a:off x="5252" y="2252"/>
              <a:ext cx="156" cy="144"/>
            </a:xfrm>
            <a:prstGeom prst="ellipse">
              <a:avLst/>
            </a:prstGeom>
            <a:noFill/>
            <a:ln w="38100" cap="flat" cmpd="sng">
              <a:solidFill>
                <a:srgbClr val="FF9900"/>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spcBef>
                  <a:spcPct val="20000"/>
                </a:spcBef>
              </a:pPr>
              <a:endParaRPr lang="zh-CN" altLang="en-US" sz="2800" b="1" dirty="0">
                <a:ea typeface="仿宋_GB2312" pitchFamily="49" charset="-122"/>
              </a:endParaRPr>
            </a:p>
          </p:txBody>
        </p:sp>
        <p:sp>
          <p:nvSpPr>
            <p:cNvPr id="12303" name="Oval 34"/>
            <p:cNvSpPr/>
            <p:nvPr/>
          </p:nvSpPr>
          <p:spPr>
            <a:xfrm>
              <a:off x="4363" y="2107"/>
              <a:ext cx="156" cy="144"/>
            </a:xfrm>
            <a:prstGeom prst="ellipse">
              <a:avLst/>
            </a:prstGeom>
            <a:noFill/>
            <a:ln w="38100" cap="flat" cmpd="sng">
              <a:solidFill>
                <a:srgbClr val="FF9900"/>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spcBef>
                  <a:spcPct val="20000"/>
                </a:spcBef>
              </a:pPr>
              <a:endParaRPr lang="zh-CN" altLang="en-US" sz="2800" b="1" dirty="0">
                <a:ea typeface="仿宋_GB2312" pitchFamily="49" charset="-122"/>
              </a:endParaRPr>
            </a:p>
          </p:txBody>
        </p:sp>
        <p:sp>
          <p:nvSpPr>
            <p:cNvPr id="12304" name="Line 35"/>
            <p:cNvSpPr/>
            <p:nvPr/>
          </p:nvSpPr>
          <p:spPr>
            <a:xfrm>
              <a:off x="4445" y="2266"/>
              <a:ext cx="0" cy="245"/>
            </a:xfrm>
            <a:prstGeom prst="line">
              <a:avLst/>
            </a:prstGeom>
            <a:ln w="38100" cap="flat" cmpd="sng">
              <a:solidFill>
                <a:srgbClr val="FF9900"/>
              </a:solidFill>
              <a:prstDash val="solid"/>
              <a:headEnd type="none" w="med" len="med"/>
              <a:tailEnd type="none" w="med" len="med"/>
            </a:ln>
          </p:spPr>
          <p:txBody>
            <a:bodyPr/>
            <a:lstStyle/>
            <a:p>
              <a:endParaRPr lang="zh-CN" altLang="en-US"/>
            </a:p>
          </p:txBody>
        </p:sp>
        <p:sp>
          <p:nvSpPr>
            <p:cNvPr id="12305" name="Line 36"/>
            <p:cNvSpPr/>
            <p:nvPr/>
          </p:nvSpPr>
          <p:spPr>
            <a:xfrm>
              <a:off x="4512" y="2211"/>
              <a:ext cx="366" cy="289"/>
            </a:xfrm>
            <a:prstGeom prst="line">
              <a:avLst/>
            </a:prstGeom>
            <a:ln w="38100" cap="flat" cmpd="sng">
              <a:solidFill>
                <a:srgbClr val="FF9900"/>
              </a:solidFill>
              <a:prstDash val="solid"/>
              <a:headEnd type="none" w="med" len="med"/>
              <a:tailEnd type="none" w="med" len="med"/>
            </a:ln>
          </p:spPr>
          <p:txBody>
            <a:bodyPr/>
            <a:lstStyle/>
            <a:p>
              <a:endParaRPr lang="zh-CN" altLang="en-US"/>
            </a:p>
          </p:txBody>
        </p:sp>
        <p:sp>
          <p:nvSpPr>
            <p:cNvPr id="12306" name="Line 37"/>
            <p:cNvSpPr/>
            <p:nvPr/>
          </p:nvSpPr>
          <p:spPr>
            <a:xfrm>
              <a:off x="4967" y="2189"/>
              <a:ext cx="300" cy="133"/>
            </a:xfrm>
            <a:prstGeom prst="line">
              <a:avLst/>
            </a:prstGeom>
            <a:ln w="38100" cap="flat" cmpd="sng">
              <a:solidFill>
                <a:srgbClr val="FF9900"/>
              </a:solidFill>
              <a:prstDash val="solid"/>
              <a:headEnd type="none" w="med" len="med"/>
              <a:tailEnd type="none" w="med" len="med"/>
            </a:ln>
          </p:spPr>
          <p:txBody>
            <a:bodyPr/>
            <a:lstStyle/>
            <a:p>
              <a:endParaRPr lang="zh-CN" altLang="en-US"/>
            </a:p>
          </p:txBody>
        </p:sp>
        <p:sp>
          <p:nvSpPr>
            <p:cNvPr id="12307" name="Line 38"/>
            <p:cNvSpPr/>
            <p:nvPr/>
          </p:nvSpPr>
          <p:spPr>
            <a:xfrm flipH="1">
              <a:off x="4523" y="2200"/>
              <a:ext cx="322" cy="322"/>
            </a:xfrm>
            <a:prstGeom prst="line">
              <a:avLst/>
            </a:prstGeom>
            <a:ln w="38100" cap="flat" cmpd="sng">
              <a:solidFill>
                <a:srgbClr val="FF9900"/>
              </a:solidFill>
              <a:prstDash val="solid"/>
              <a:headEnd type="none" w="med" len="med"/>
              <a:tailEnd type="none" w="med" len="med"/>
            </a:ln>
          </p:spPr>
          <p:txBody>
            <a:bodyPr/>
            <a:lstStyle/>
            <a:p>
              <a:endParaRPr lang="zh-CN" altLang="en-US"/>
            </a:p>
          </p:txBody>
        </p:sp>
        <p:sp>
          <p:nvSpPr>
            <p:cNvPr id="12308" name="Line 39"/>
            <p:cNvSpPr/>
            <p:nvPr/>
          </p:nvSpPr>
          <p:spPr>
            <a:xfrm flipH="1">
              <a:off x="5001" y="2400"/>
              <a:ext cx="277" cy="144"/>
            </a:xfrm>
            <a:prstGeom prst="line">
              <a:avLst/>
            </a:prstGeom>
            <a:ln w="38100" cap="flat" cmpd="sng">
              <a:solidFill>
                <a:srgbClr val="FF9900"/>
              </a:solidFill>
              <a:prstDash val="solid"/>
              <a:headEnd type="none" w="med" len="med"/>
              <a:tailEnd type="none" w="med" len="med"/>
            </a:ln>
          </p:spPr>
          <p:txBody>
            <a:bodyPr/>
            <a:lstStyle/>
            <a:p>
              <a:endParaRPr lang="zh-CN" altLang="en-US"/>
            </a:p>
          </p:txBody>
        </p:sp>
        <p:sp>
          <p:nvSpPr>
            <p:cNvPr id="12309" name="Line 40"/>
            <p:cNvSpPr/>
            <p:nvPr/>
          </p:nvSpPr>
          <p:spPr>
            <a:xfrm>
              <a:off x="4512" y="2144"/>
              <a:ext cx="311" cy="0"/>
            </a:xfrm>
            <a:prstGeom prst="line">
              <a:avLst/>
            </a:prstGeom>
            <a:ln w="38100" cap="flat" cmpd="sng">
              <a:solidFill>
                <a:srgbClr val="FF9900"/>
              </a:solidFill>
              <a:prstDash val="solid"/>
              <a:headEnd type="none" w="med" len="med"/>
              <a:tailEnd type="none" w="med" len="med"/>
            </a:ln>
          </p:spPr>
          <p:txBody>
            <a:bodyPr/>
            <a:lstStyle/>
            <a:p>
              <a:endParaRPr lang="zh-CN" altLang="en-US"/>
            </a:p>
          </p:txBody>
        </p:sp>
      </p:gr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矩形 50"/>
          <p:cNvSpPr/>
          <p:nvPr/>
        </p:nvSpPr>
        <p:spPr bwMode="auto">
          <a:xfrm>
            <a:off x="0" y="1727200"/>
            <a:ext cx="9144000" cy="53975"/>
          </a:xfrm>
          <a:prstGeom prst="rect">
            <a:avLst/>
          </a:prstGeom>
          <a:solidFill>
            <a:srgbClr val="6C4C8F"/>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9476B6"/>
              </a:solidFill>
              <a:effectLst/>
              <a:uLnTx/>
              <a:uFillTx/>
              <a:latin typeface="+mn-lt"/>
              <a:ea typeface="+mn-ea"/>
              <a:cs typeface="+mn-ea"/>
              <a:sym typeface="+mn-lt"/>
            </a:endParaRPr>
          </a:p>
        </p:txBody>
      </p:sp>
      <p:pic>
        <p:nvPicPr>
          <p:cNvPr id="13315" name="图片 2"/>
          <p:cNvPicPr>
            <a:picLocks noChangeAspect="1"/>
          </p:cNvPicPr>
          <p:nvPr/>
        </p:nvPicPr>
        <p:blipFill>
          <a:blip r:embed="rId3"/>
          <a:srcRect l="1575" t="11116"/>
          <a:stretch>
            <a:fillRect/>
          </a:stretch>
        </p:blipFill>
        <p:spPr>
          <a:xfrm>
            <a:off x="-4762" y="0"/>
            <a:ext cx="9124950" cy="1627188"/>
          </a:xfrm>
          <a:prstGeom prst="rect">
            <a:avLst/>
          </a:prstGeom>
          <a:noFill/>
          <a:ln w="9525">
            <a:noFill/>
          </a:ln>
        </p:spPr>
      </p:pic>
      <p:sp>
        <p:nvSpPr>
          <p:cNvPr id="63" name="矩形 62"/>
          <p:cNvSpPr/>
          <p:nvPr/>
        </p:nvSpPr>
        <p:spPr bwMode="auto">
          <a:xfrm>
            <a:off x="23813" y="9525"/>
            <a:ext cx="9151938" cy="1609725"/>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64" name="Shape 26"/>
          <p:cNvSpPr/>
          <p:nvPr/>
        </p:nvSpPr>
        <p:spPr>
          <a:xfrm flipH="1">
            <a:off x="0" y="5607050"/>
            <a:ext cx="9140825" cy="12509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25" name="矩形 24"/>
          <p:cNvSpPr/>
          <p:nvPr/>
        </p:nvSpPr>
        <p:spPr>
          <a:xfrm>
            <a:off x="1060450" y="2511425"/>
            <a:ext cx="7832725" cy="3280898"/>
          </a:xfrm>
          <a:prstGeom prst="rect">
            <a:avLst/>
          </a:prstGeom>
        </p:spPr>
        <p:txBody>
          <a:bodyPr>
            <a:spAutoFit/>
          </a:bodyPr>
          <a:lstStyle/>
          <a:p>
            <a:pPr marL="0" marR="0" lvl="0" indent="0" algn="l" defTabSz="914400" rtl="0" eaLnBrk="0" fontAlgn="base" latinLnBrk="0" hangingPunct="0">
              <a:lnSpc>
                <a:spcPct val="130000"/>
              </a:lnSpc>
              <a:spcBef>
                <a:spcPts val="600"/>
              </a:spcBef>
              <a:spcAft>
                <a:spcPct val="0"/>
              </a:spcAft>
              <a:buClrTx/>
              <a:buSzTx/>
              <a:buFontTx/>
              <a:buNone/>
              <a:defRPr/>
            </a:pPr>
            <a:r>
              <a:rPr kumimoji="1" lang="zh-CN" altLang="en-US" sz="2400" b="0" i="0" u="none" strike="noStrike" kern="1200" cap="none" spc="0" normalizeH="0" baseline="0" noProof="0" dirty="0">
                <a:ln>
                  <a:noFill/>
                </a:ln>
                <a:solidFill>
                  <a:srgbClr val="000000"/>
                </a:solidFill>
                <a:effectLst/>
                <a:uLnTx/>
                <a:uFillTx/>
                <a:latin typeface="+mn-lt"/>
                <a:ea typeface="+mn-ea"/>
                <a:cs typeface="+mn-ea"/>
                <a:sym typeface="+mn-lt"/>
              </a:rPr>
              <a:t>掌握二叉树的基本概念、性质和存储结构</a:t>
            </a:r>
          </a:p>
          <a:p>
            <a:pPr marL="0" marR="0" lvl="0" indent="0" algn="l" defTabSz="914400" rtl="0" eaLnBrk="0" fontAlgn="base" latinLnBrk="0" hangingPunct="0">
              <a:lnSpc>
                <a:spcPct val="130000"/>
              </a:lnSpc>
              <a:spcBef>
                <a:spcPts val="600"/>
              </a:spcBef>
              <a:spcAft>
                <a:spcPct val="0"/>
              </a:spcAft>
              <a:buClrTx/>
              <a:buSzTx/>
              <a:buFontTx/>
              <a:buNone/>
              <a:defRPr/>
            </a:pPr>
            <a:r>
              <a:rPr kumimoji="1" lang="zh-CN" altLang="en-US" sz="2400" b="0" i="0" u="none" strike="noStrike" kern="1200" cap="none" spc="0" normalizeH="0" baseline="0" noProof="0" dirty="0">
                <a:ln>
                  <a:noFill/>
                </a:ln>
                <a:solidFill>
                  <a:srgbClr val="000000"/>
                </a:solidFill>
                <a:effectLst/>
                <a:uLnTx/>
                <a:uFillTx/>
                <a:latin typeface="+mn-lt"/>
                <a:ea typeface="+mn-ea"/>
                <a:cs typeface="+mn-ea"/>
                <a:sym typeface="+mn-lt"/>
              </a:rPr>
              <a:t>熟练掌握二叉树的前、中、后序遍历方法</a:t>
            </a:r>
          </a:p>
          <a:p>
            <a:pPr marL="0" marR="0" lvl="0" indent="0" algn="l" defTabSz="914400" rtl="0" eaLnBrk="0" fontAlgn="base" latinLnBrk="0" hangingPunct="0">
              <a:lnSpc>
                <a:spcPct val="130000"/>
              </a:lnSpc>
              <a:spcBef>
                <a:spcPts val="600"/>
              </a:spcBef>
              <a:spcAft>
                <a:spcPct val="0"/>
              </a:spcAft>
              <a:buClrTx/>
              <a:buSzTx/>
              <a:buFontTx/>
              <a:buNone/>
              <a:defRPr/>
            </a:pPr>
            <a:r>
              <a:rPr kumimoji="1" lang="zh-CN" altLang="en-US" sz="2400" b="0" i="0" u="none" strike="noStrike" kern="1200" cap="none" spc="0" normalizeH="0" baseline="0" noProof="0" dirty="0" smtClean="0">
                <a:ln>
                  <a:noFill/>
                </a:ln>
                <a:solidFill>
                  <a:srgbClr val="000000"/>
                </a:solidFill>
                <a:effectLst/>
                <a:uLnTx/>
                <a:uFillTx/>
                <a:latin typeface="+mn-lt"/>
                <a:ea typeface="+mn-ea"/>
                <a:cs typeface="+mn-ea"/>
                <a:sym typeface="+mn-lt"/>
              </a:rPr>
              <a:t>掌握</a:t>
            </a:r>
            <a:r>
              <a:rPr kumimoji="1" lang="zh-CN" altLang="en-US" sz="2400" b="0" i="0" u="none" strike="noStrike" kern="1200" cap="none" spc="0" normalizeH="0" baseline="0" noProof="0" dirty="0">
                <a:ln>
                  <a:noFill/>
                </a:ln>
                <a:solidFill>
                  <a:srgbClr val="000000"/>
                </a:solidFill>
                <a:effectLst/>
                <a:uLnTx/>
                <a:uFillTx/>
                <a:latin typeface="+mn-lt"/>
                <a:ea typeface="+mn-ea"/>
                <a:cs typeface="+mn-ea"/>
                <a:sym typeface="+mn-lt"/>
              </a:rPr>
              <a:t>：森林与二叉树的转换，树的遍历</a:t>
            </a:r>
            <a:r>
              <a:rPr kumimoji="1" lang="zh-CN" altLang="en-US" sz="2400" b="0" i="0" u="none" strike="noStrike" kern="1200" cap="none" spc="0" normalizeH="0" baseline="0" noProof="0" dirty="0" smtClean="0">
                <a:ln>
                  <a:noFill/>
                </a:ln>
                <a:solidFill>
                  <a:srgbClr val="000000"/>
                </a:solidFill>
                <a:effectLst/>
                <a:uLnTx/>
                <a:uFillTx/>
                <a:latin typeface="+mn-lt"/>
                <a:ea typeface="+mn-ea"/>
                <a:cs typeface="+mn-ea"/>
                <a:sym typeface="+mn-lt"/>
              </a:rPr>
              <a:t>方法</a:t>
            </a:r>
            <a:endParaRPr kumimoji="1" lang="en-US" altLang="zh-CN" sz="2400" b="0" i="0" u="none" strike="noStrike" kern="1200" cap="none" spc="0" normalizeH="0" baseline="0" noProof="0" dirty="0" smtClean="0">
              <a:ln>
                <a:noFill/>
              </a:ln>
              <a:solidFill>
                <a:srgbClr val="000000"/>
              </a:solidFill>
              <a:effectLst/>
              <a:uLnTx/>
              <a:uFillTx/>
              <a:latin typeface="+mn-lt"/>
              <a:ea typeface="+mn-ea"/>
              <a:cs typeface="+mn-ea"/>
              <a:sym typeface="+mn-lt"/>
            </a:endParaRPr>
          </a:p>
          <a:p>
            <a:pPr lvl="0">
              <a:lnSpc>
                <a:spcPct val="130000"/>
              </a:lnSpc>
              <a:spcBef>
                <a:spcPts val="600"/>
              </a:spcBef>
              <a:defRPr/>
            </a:pPr>
            <a:r>
              <a:rPr kumimoji="1" lang="zh-CN" altLang="en-US" sz="2400" b="0" dirty="0">
                <a:solidFill>
                  <a:srgbClr val="000000"/>
                </a:solidFill>
                <a:latin typeface="+mn-lt"/>
                <a:ea typeface="+mn-ea"/>
                <a:cs typeface="+mn-ea"/>
                <a:sym typeface="+mn-lt"/>
              </a:rPr>
              <a:t>熟练掌握二叉排序树的构造和查找算法及其性能分析</a:t>
            </a:r>
            <a:r>
              <a:rPr kumimoji="1" lang="zh-CN" altLang="en-US" sz="2400" b="0" dirty="0" smtClean="0">
                <a:solidFill>
                  <a:srgbClr val="000000"/>
                </a:solidFill>
                <a:latin typeface="+mn-lt"/>
                <a:ea typeface="+mn-ea"/>
                <a:cs typeface="+mn-ea"/>
                <a:sym typeface="+mn-lt"/>
              </a:rPr>
              <a:t>方法以及掌握</a:t>
            </a:r>
            <a:r>
              <a:rPr kumimoji="1" lang="zh-CN" altLang="en-US" sz="2400" b="0" dirty="0">
                <a:solidFill>
                  <a:srgbClr val="000000"/>
                </a:solidFill>
                <a:latin typeface="+mn-lt"/>
                <a:ea typeface="+mn-ea"/>
                <a:cs typeface="+mn-ea"/>
                <a:sym typeface="+mn-lt"/>
              </a:rPr>
              <a:t>二叉排序</a:t>
            </a:r>
            <a:r>
              <a:rPr kumimoji="1" lang="zh-CN" altLang="en-US" sz="2400" b="0" dirty="0" smtClean="0">
                <a:solidFill>
                  <a:srgbClr val="000000"/>
                </a:solidFill>
                <a:latin typeface="+mn-lt"/>
                <a:ea typeface="+mn-ea"/>
                <a:cs typeface="+mn-ea"/>
                <a:sym typeface="+mn-lt"/>
              </a:rPr>
              <a:t>树结点的插入算法、删除</a:t>
            </a:r>
            <a:r>
              <a:rPr kumimoji="1" lang="zh-CN" altLang="en-US" sz="2400" b="0" dirty="0">
                <a:solidFill>
                  <a:srgbClr val="000000"/>
                </a:solidFill>
                <a:latin typeface="+mn-lt"/>
                <a:ea typeface="+mn-ea"/>
                <a:cs typeface="+mn-ea"/>
                <a:sym typeface="+mn-lt"/>
              </a:rPr>
              <a:t>方法</a:t>
            </a:r>
          </a:p>
          <a:p>
            <a:pPr marL="0" marR="0" lvl="0" indent="0" algn="l" defTabSz="914400" rtl="0" eaLnBrk="0" fontAlgn="base" latinLnBrk="0" hangingPunct="0">
              <a:lnSpc>
                <a:spcPct val="130000"/>
              </a:lnSpc>
              <a:spcBef>
                <a:spcPts val="600"/>
              </a:spcBef>
              <a:spcAft>
                <a:spcPct val="0"/>
              </a:spcAft>
              <a:buClrTx/>
              <a:buSzTx/>
              <a:buFontTx/>
              <a:buNone/>
              <a:defRPr/>
            </a:pPr>
            <a:r>
              <a:rPr kumimoji="1" lang="zh-CN" altLang="en-US" sz="2400" b="0" i="0" u="none" strike="noStrike" kern="1200" cap="none" spc="0" normalizeH="0" baseline="0" noProof="0" dirty="0" smtClean="0">
                <a:ln>
                  <a:noFill/>
                </a:ln>
                <a:solidFill>
                  <a:srgbClr val="000000"/>
                </a:solidFill>
                <a:effectLst/>
                <a:uLnTx/>
                <a:uFillTx/>
                <a:latin typeface="+mn-lt"/>
                <a:ea typeface="+mn-ea"/>
                <a:cs typeface="+mn-ea"/>
                <a:sym typeface="+mn-lt"/>
              </a:rPr>
              <a:t>掌握：堆的建立与调整</a:t>
            </a:r>
            <a:endParaRPr kumimoji="1" lang="zh-CN" altLang="en-US" sz="2400" b="0" i="0" u="none" strike="noStrike" kern="1200" cap="none" spc="0" normalizeH="0" baseline="0" noProof="0" dirty="0">
              <a:ln>
                <a:noFill/>
              </a:ln>
              <a:solidFill>
                <a:srgbClr val="000000"/>
              </a:solidFill>
              <a:effectLst/>
              <a:uLnTx/>
              <a:uFillTx/>
              <a:latin typeface="+mn-lt"/>
              <a:ea typeface="+mn-ea"/>
              <a:cs typeface="+mn-ea"/>
              <a:sym typeface="+mn-lt"/>
            </a:endParaRPr>
          </a:p>
        </p:txBody>
      </p:sp>
      <p:grpSp>
        <p:nvGrpSpPr>
          <p:cNvPr id="13319" name="组合 28"/>
          <p:cNvGrpSpPr/>
          <p:nvPr/>
        </p:nvGrpSpPr>
        <p:grpSpPr>
          <a:xfrm>
            <a:off x="423863" y="2492375"/>
            <a:ext cx="590550" cy="627063"/>
            <a:chOff x="6242320" y="1105727"/>
            <a:chExt cx="589786" cy="626517"/>
          </a:xfrm>
        </p:grpSpPr>
        <p:sp>
          <p:nvSpPr>
            <p:cNvPr id="12310" name="TextBox 6"/>
            <p:cNvSpPr txBox="1">
              <a:spLocks noChangeArrowheads="1"/>
            </p:cNvSpPr>
            <p:nvPr/>
          </p:nvSpPr>
          <p:spPr bwMode="auto">
            <a:xfrm>
              <a:off x="6327934" y="1105727"/>
              <a:ext cx="447096" cy="491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3200" b="0" i="0" u="none" strike="noStrike" kern="1200" cap="none" spc="0" normalizeH="0" baseline="0" noProof="0" dirty="0">
                  <a:ln>
                    <a:noFill/>
                  </a:ln>
                  <a:solidFill>
                    <a:srgbClr val="FF9900"/>
                  </a:solidFill>
                  <a:effectLst/>
                  <a:uLnTx/>
                  <a:uFillTx/>
                  <a:latin typeface="+mn-lt"/>
                  <a:ea typeface="+mn-ea"/>
                  <a:cs typeface="+mn-ea"/>
                  <a:sym typeface="+mn-lt"/>
                </a:rPr>
                <a:t>01</a:t>
              </a:r>
              <a:endParaRPr kumimoji="0" lang="zh-CN" altLang="en-US" sz="3200" b="0" i="0" u="none" strike="noStrike" kern="1200" cap="none" spc="0" normalizeH="0" baseline="0" noProof="0" dirty="0">
                <a:ln>
                  <a:noFill/>
                </a:ln>
                <a:solidFill>
                  <a:srgbClr val="FF9900"/>
                </a:solidFill>
                <a:effectLst/>
                <a:uLnTx/>
                <a:uFillTx/>
                <a:latin typeface="+mn-lt"/>
                <a:ea typeface="+mn-ea"/>
                <a:cs typeface="+mn-ea"/>
                <a:sym typeface="+mn-lt"/>
              </a:endParaRPr>
            </a:p>
          </p:txBody>
        </p:sp>
        <p:sp>
          <p:nvSpPr>
            <p:cNvPr id="12311" name="文本框 22"/>
            <p:cNvSpPr txBox="1">
              <a:spLocks noChangeArrowheads="1"/>
            </p:cNvSpPr>
            <p:nvPr/>
          </p:nvSpPr>
          <p:spPr bwMode="auto">
            <a:xfrm>
              <a:off x="6242320" y="1516532"/>
              <a:ext cx="589786" cy="215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800" b="1" i="0" u="none" strike="noStrike" kern="1200" cap="none" spc="0" normalizeH="0" baseline="0" noProof="0">
                  <a:ln>
                    <a:noFill/>
                  </a:ln>
                  <a:solidFill>
                    <a:srgbClr val="818181"/>
                  </a:solidFill>
                  <a:effectLst/>
                  <a:uLnTx/>
                  <a:uFillTx/>
                  <a:latin typeface="+mn-lt"/>
                  <a:ea typeface="+mn-ea"/>
                  <a:cs typeface="+mn-ea"/>
                  <a:sym typeface="+mn-lt"/>
                </a:rPr>
                <a:t>OPTION</a:t>
              </a:r>
              <a:endParaRPr kumimoji="0" lang="zh-CN" altLang="en-US" sz="800" b="1" i="0" u="none" strike="noStrike" kern="1200" cap="none" spc="0" normalizeH="0" baseline="0" noProof="0">
                <a:ln>
                  <a:noFill/>
                </a:ln>
                <a:solidFill>
                  <a:srgbClr val="818181"/>
                </a:solidFill>
                <a:effectLst/>
                <a:uLnTx/>
                <a:uFillTx/>
                <a:latin typeface="+mn-lt"/>
                <a:ea typeface="+mn-ea"/>
                <a:cs typeface="+mn-ea"/>
                <a:sym typeface="+mn-lt"/>
              </a:endParaRPr>
            </a:p>
          </p:txBody>
        </p:sp>
      </p:grpSp>
      <p:grpSp>
        <p:nvGrpSpPr>
          <p:cNvPr id="13320" name="组合 45"/>
          <p:cNvGrpSpPr/>
          <p:nvPr/>
        </p:nvGrpSpPr>
        <p:grpSpPr>
          <a:xfrm>
            <a:off x="423863" y="3087688"/>
            <a:ext cx="590550" cy="631825"/>
            <a:chOff x="6242320" y="2373233"/>
            <a:chExt cx="589786" cy="631741"/>
          </a:xfrm>
        </p:grpSpPr>
        <p:sp>
          <p:nvSpPr>
            <p:cNvPr id="12308" name="TextBox 6"/>
            <p:cNvSpPr txBox="1">
              <a:spLocks noChangeArrowheads="1"/>
            </p:cNvSpPr>
            <p:nvPr/>
          </p:nvSpPr>
          <p:spPr bwMode="auto">
            <a:xfrm>
              <a:off x="6327934" y="2373233"/>
              <a:ext cx="447096" cy="492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3200" b="0" i="0" u="none" strike="noStrike" kern="1200" cap="none" spc="0" normalizeH="0" baseline="0" noProof="0" dirty="0">
                  <a:ln>
                    <a:noFill/>
                  </a:ln>
                  <a:solidFill>
                    <a:srgbClr val="6C4C8F"/>
                  </a:solidFill>
                  <a:effectLst/>
                  <a:uLnTx/>
                  <a:uFillTx/>
                  <a:latin typeface="+mn-lt"/>
                  <a:ea typeface="+mn-ea"/>
                  <a:cs typeface="+mn-ea"/>
                  <a:sym typeface="+mn-lt"/>
                </a:rPr>
                <a:t>02</a:t>
              </a:r>
              <a:endParaRPr kumimoji="0" lang="zh-CN" altLang="en-US" sz="3200" b="0" i="0" u="none" strike="noStrike" kern="1200" cap="none" spc="0" normalizeH="0" baseline="0" noProof="0" dirty="0">
                <a:ln>
                  <a:noFill/>
                </a:ln>
                <a:solidFill>
                  <a:srgbClr val="6C4C8F"/>
                </a:solidFill>
                <a:effectLst/>
                <a:uLnTx/>
                <a:uFillTx/>
                <a:latin typeface="+mn-lt"/>
                <a:ea typeface="+mn-ea"/>
                <a:cs typeface="+mn-ea"/>
                <a:sym typeface="+mn-lt"/>
              </a:endParaRPr>
            </a:p>
          </p:txBody>
        </p:sp>
        <p:sp>
          <p:nvSpPr>
            <p:cNvPr id="12309" name="文本框 23"/>
            <p:cNvSpPr txBox="1">
              <a:spLocks noChangeArrowheads="1"/>
            </p:cNvSpPr>
            <p:nvPr/>
          </p:nvSpPr>
          <p:spPr bwMode="auto">
            <a:xfrm>
              <a:off x="6242320" y="2789103"/>
              <a:ext cx="589786" cy="2158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800" b="1" i="0" u="none" strike="noStrike" kern="1200" cap="none" spc="0" normalizeH="0" baseline="0" noProof="0">
                  <a:ln>
                    <a:noFill/>
                  </a:ln>
                  <a:solidFill>
                    <a:srgbClr val="818181"/>
                  </a:solidFill>
                  <a:effectLst/>
                  <a:uLnTx/>
                  <a:uFillTx/>
                  <a:latin typeface="+mn-lt"/>
                  <a:ea typeface="+mn-ea"/>
                  <a:cs typeface="+mn-ea"/>
                  <a:sym typeface="+mn-lt"/>
                </a:rPr>
                <a:t>OPTION</a:t>
              </a:r>
              <a:endParaRPr kumimoji="0" lang="zh-CN" altLang="en-US" sz="800" b="1" i="0" u="none" strike="noStrike" kern="1200" cap="none" spc="0" normalizeH="0" baseline="0" noProof="0">
                <a:ln>
                  <a:noFill/>
                </a:ln>
                <a:solidFill>
                  <a:srgbClr val="818181"/>
                </a:solidFill>
                <a:effectLst/>
                <a:uLnTx/>
                <a:uFillTx/>
                <a:latin typeface="+mn-lt"/>
                <a:ea typeface="+mn-ea"/>
                <a:cs typeface="+mn-ea"/>
                <a:sym typeface="+mn-lt"/>
              </a:endParaRPr>
            </a:p>
          </p:txBody>
        </p:sp>
      </p:grpSp>
      <p:grpSp>
        <p:nvGrpSpPr>
          <p:cNvPr id="13321" name="组合 48"/>
          <p:cNvGrpSpPr/>
          <p:nvPr/>
        </p:nvGrpSpPr>
        <p:grpSpPr>
          <a:xfrm>
            <a:off x="423863" y="3644900"/>
            <a:ext cx="590550" cy="620713"/>
            <a:chOff x="6242320" y="3640739"/>
            <a:chExt cx="589786" cy="620418"/>
          </a:xfrm>
        </p:grpSpPr>
        <p:sp>
          <p:nvSpPr>
            <p:cNvPr id="12306" name="TextBox 6"/>
            <p:cNvSpPr txBox="1">
              <a:spLocks noChangeArrowheads="1"/>
            </p:cNvSpPr>
            <p:nvPr/>
          </p:nvSpPr>
          <p:spPr bwMode="auto">
            <a:xfrm>
              <a:off x="6327934" y="3640739"/>
              <a:ext cx="447096" cy="491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3200" b="0" i="0" u="none" strike="noStrike" kern="1200" cap="none" spc="0" normalizeH="0" baseline="0" noProof="0" dirty="0">
                  <a:ln>
                    <a:noFill/>
                  </a:ln>
                  <a:solidFill>
                    <a:srgbClr val="76AEDD"/>
                  </a:solidFill>
                  <a:effectLst/>
                  <a:uLnTx/>
                  <a:uFillTx/>
                  <a:latin typeface="+mn-lt"/>
                  <a:ea typeface="+mn-ea"/>
                  <a:cs typeface="+mn-ea"/>
                  <a:sym typeface="+mn-lt"/>
                </a:rPr>
                <a:t>03</a:t>
              </a:r>
              <a:endParaRPr kumimoji="0" lang="zh-CN" altLang="en-US" sz="3200" b="0" i="0" u="none" strike="noStrike" kern="1200" cap="none" spc="0" normalizeH="0" baseline="0" noProof="0" dirty="0">
                <a:ln>
                  <a:noFill/>
                </a:ln>
                <a:solidFill>
                  <a:srgbClr val="76AEDD"/>
                </a:solidFill>
                <a:effectLst/>
                <a:uLnTx/>
                <a:uFillTx/>
                <a:latin typeface="+mn-lt"/>
                <a:ea typeface="+mn-ea"/>
                <a:cs typeface="+mn-ea"/>
                <a:sym typeface="+mn-lt"/>
              </a:endParaRPr>
            </a:p>
          </p:txBody>
        </p:sp>
        <p:sp>
          <p:nvSpPr>
            <p:cNvPr id="12307" name="文本框 24"/>
            <p:cNvSpPr txBox="1">
              <a:spLocks noChangeArrowheads="1"/>
            </p:cNvSpPr>
            <p:nvPr/>
          </p:nvSpPr>
          <p:spPr bwMode="auto">
            <a:xfrm>
              <a:off x="6242320" y="4045360"/>
              <a:ext cx="589786" cy="2157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800" b="1" i="0" u="none" strike="noStrike" kern="1200" cap="none" spc="0" normalizeH="0" baseline="0" noProof="0">
                  <a:ln>
                    <a:noFill/>
                  </a:ln>
                  <a:solidFill>
                    <a:srgbClr val="818181"/>
                  </a:solidFill>
                  <a:effectLst/>
                  <a:uLnTx/>
                  <a:uFillTx/>
                  <a:latin typeface="+mn-lt"/>
                  <a:ea typeface="+mn-ea"/>
                  <a:cs typeface="+mn-ea"/>
                  <a:sym typeface="+mn-lt"/>
                </a:rPr>
                <a:t>OPTION</a:t>
              </a:r>
              <a:endParaRPr kumimoji="0" lang="zh-CN" altLang="en-US" sz="800" b="1" i="0" u="none" strike="noStrike" kern="1200" cap="none" spc="0" normalizeH="0" baseline="0" noProof="0">
                <a:ln>
                  <a:noFill/>
                </a:ln>
                <a:solidFill>
                  <a:srgbClr val="818181"/>
                </a:solidFill>
                <a:effectLst/>
                <a:uLnTx/>
                <a:uFillTx/>
                <a:latin typeface="+mn-lt"/>
                <a:ea typeface="+mn-ea"/>
                <a:cs typeface="+mn-ea"/>
                <a:sym typeface="+mn-lt"/>
              </a:endParaRPr>
            </a:p>
          </p:txBody>
        </p:sp>
      </p:grpSp>
      <p:grpSp>
        <p:nvGrpSpPr>
          <p:cNvPr id="13322" name="组合 51"/>
          <p:cNvGrpSpPr/>
          <p:nvPr/>
        </p:nvGrpSpPr>
        <p:grpSpPr>
          <a:xfrm>
            <a:off x="423863" y="4221163"/>
            <a:ext cx="590550" cy="608012"/>
            <a:chOff x="6250444" y="4908245"/>
            <a:chExt cx="589786" cy="609656"/>
          </a:xfrm>
        </p:grpSpPr>
        <p:sp>
          <p:nvSpPr>
            <p:cNvPr id="12304" name="TextBox 6"/>
            <p:cNvSpPr txBox="1">
              <a:spLocks noChangeArrowheads="1"/>
            </p:cNvSpPr>
            <p:nvPr/>
          </p:nvSpPr>
          <p:spPr bwMode="auto">
            <a:xfrm>
              <a:off x="6326545" y="4908245"/>
              <a:ext cx="448681" cy="491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3200" b="0" i="0" u="none" strike="noStrike" kern="1200" cap="none" spc="0" normalizeH="0" baseline="0" noProof="0" dirty="0">
                  <a:ln>
                    <a:noFill/>
                  </a:ln>
                  <a:solidFill>
                    <a:srgbClr val="000000">
                      <a:lumMod val="50000"/>
                      <a:lumOff val="50000"/>
                    </a:srgbClr>
                  </a:solidFill>
                  <a:effectLst/>
                  <a:uLnTx/>
                  <a:uFillTx/>
                  <a:latin typeface="+mn-lt"/>
                  <a:ea typeface="+mn-ea"/>
                  <a:cs typeface="+mn-ea"/>
                  <a:sym typeface="+mn-lt"/>
                </a:rPr>
                <a:t>04</a:t>
              </a:r>
              <a:endParaRPr kumimoji="0" lang="zh-CN" altLang="en-US" sz="3200" b="0" i="0" u="none" strike="noStrike" kern="1200" cap="none" spc="0" normalizeH="0" baseline="0" noProof="0" dirty="0">
                <a:ln>
                  <a:noFill/>
                </a:ln>
                <a:solidFill>
                  <a:srgbClr val="000000">
                    <a:lumMod val="50000"/>
                    <a:lumOff val="50000"/>
                  </a:srgbClr>
                </a:solidFill>
                <a:effectLst/>
                <a:uLnTx/>
                <a:uFillTx/>
                <a:latin typeface="+mn-lt"/>
                <a:ea typeface="+mn-ea"/>
                <a:cs typeface="+mn-ea"/>
                <a:sym typeface="+mn-lt"/>
              </a:endParaRPr>
            </a:p>
          </p:txBody>
        </p:sp>
        <p:sp>
          <p:nvSpPr>
            <p:cNvPr id="2" name="文本框 25"/>
            <p:cNvSpPr txBox="1">
              <a:spLocks noChangeArrowheads="1"/>
            </p:cNvSpPr>
            <p:nvPr/>
          </p:nvSpPr>
          <p:spPr bwMode="auto">
            <a:xfrm>
              <a:off x="6250444" y="5301417"/>
              <a:ext cx="589786" cy="2164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800" b="1" i="0" u="none" strike="noStrike" kern="1200" cap="none" spc="0" normalizeH="0" baseline="0" noProof="0" dirty="0">
                  <a:ln>
                    <a:noFill/>
                  </a:ln>
                  <a:solidFill>
                    <a:srgbClr val="818181"/>
                  </a:solidFill>
                  <a:effectLst/>
                  <a:uLnTx/>
                  <a:uFillTx/>
                  <a:latin typeface="+mn-lt"/>
                  <a:ea typeface="+mn-ea"/>
                  <a:cs typeface="+mn-ea"/>
                  <a:sym typeface="+mn-lt"/>
                </a:rPr>
                <a:t>OPTION</a:t>
              </a:r>
              <a:endParaRPr kumimoji="0" lang="zh-CN" altLang="en-US" sz="800" b="1" i="0" u="none" strike="noStrike" kern="1200" cap="none" spc="0" normalizeH="0" baseline="0" noProof="0" dirty="0">
                <a:ln>
                  <a:noFill/>
                </a:ln>
                <a:solidFill>
                  <a:srgbClr val="818181"/>
                </a:solidFill>
                <a:effectLst/>
                <a:uLnTx/>
                <a:uFillTx/>
                <a:latin typeface="+mn-lt"/>
                <a:ea typeface="+mn-ea"/>
                <a:cs typeface="+mn-ea"/>
                <a:sym typeface="+mn-lt"/>
              </a:endParaRPr>
            </a:p>
          </p:txBody>
        </p:sp>
      </p:grpSp>
      <p:grpSp>
        <p:nvGrpSpPr>
          <p:cNvPr id="13323" name="组合 54"/>
          <p:cNvGrpSpPr/>
          <p:nvPr/>
        </p:nvGrpSpPr>
        <p:grpSpPr>
          <a:xfrm>
            <a:off x="384616" y="5229200"/>
            <a:ext cx="590550" cy="609600"/>
            <a:chOff x="6250444" y="4908245"/>
            <a:chExt cx="589786" cy="609094"/>
          </a:xfrm>
        </p:grpSpPr>
        <p:sp>
          <p:nvSpPr>
            <p:cNvPr id="12302" name="TextBox 6"/>
            <p:cNvSpPr txBox="1">
              <a:spLocks noChangeArrowheads="1"/>
            </p:cNvSpPr>
            <p:nvPr/>
          </p:nvSpPr>
          <p:spPr bwMode="auto">
            <a:xfrm>
              <a:off x="6326545" y="4908245"/>
              <a:ext cx="448681" cy="491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3200" b="0" i="0" u="none" strike="noStrike" kern="1200" cap="none" spc="0" normalizeH="0" baseline="0" noProof="0" dirty="0">
                  <a:ln>
                    <a:noFill/>
                  </a:ln>
                  <a:solidFill>
                    <a:srgbClr val="6C4C8F"/>
                  </a:solidFill>
                  <a:effectLst/>
                  <a:uLnTx/>
                  <a:uFillTx/>
                  <a:latin typeface="+mn-lt"/>
                  <a:ea typeface="+mn-ea"/>
                  <a:cs typeface="+mn-ea"/>
                  <a:sym typeface="+mn-lt"/>
                </a:rPr>
                <a:t>05</a:t>
              </a:r>
              <a:endParaRPr kumimoji="0" lang="zh-CN" altLang="en-US" sz="3200" b="0" i="0" u="none" strike="noStrike" kern="1200" cap="none" spc="0" normalizeH="0" baseline="0" noProof="0" dirty="0">
                <a:ln>
                  <a:noFill/>
                </a:ln>
                <a:solidFill>
                  <a:srgbClr val="6C4C8F"/>
                </a:solidFill>
                <a:effectLst/>
                <a:uLnTx/>
                <a:uFillTx/>
                <a:latin typeface="+mn-lt"/>
                <a:ea typeface="+mn-ea"/>
                <a:cs typeface="+mn-ea"/>
                <a:sym typeface="+mn-lt"/>
              </a:endParaRPr>
            </a:p>
          </p:txBody>
        </p:sp>
        <p:sp>
          <p:nvSpPr>
            <p:cNvPr id="12303" name="文本框 25"/>
            <p:cNvSpPr txBox="1">
              <a:spLocks noChangeArrowheads="1"/>
            </p:cNvSpPr>
            <p:nvPr/>
          </p:nvSpPr>
          <p:spPr bwMode="auto">
            <a:xfrm>
              <a:off x="6250444" y="5301618"/>
              <a:ext cx="589786" cy="2157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800" b="1" i="0" u="none" strike="noStrike" kern="1200" cap="none" spc="0" normalizeH="0" baseline="0" noProof="0">
                  <a:ln>
                    <a:noFill/>
                  </a:ln>
                  <a:solidFill>
                    <a:srgbClr val="818181"/>
                  </a:solidFill>
                  <a:effectLst/>
                  <a:uLnTx/>
                  <a:uFillTx/>
                  <a:latin typeface="+mn-lt"/>
                  <a:ea typeface="+mn-ea"/>
                  <a:cs typeface="+mn-ea"/>
                  <a:sym typeface="+mn-lt"/>
                </a:rPr>
                <a:t>OPTION</a:t>
              </a:r>
              <a:endParaRPr kumimoji="0" lang="zh-CN" altLang="en-US" sz="800" b="1" i="0" u="none" strike="noStrike" kern="1200" cap="none" spc="0" normalizeH="0" baseline="0" noProof="0">
                <a:ln>
                  <a:noFill/>
                </a:ln>
                <a:solidFill>
                  <a:srgbClr val="818181"/>
                </a:solidFill>
                <a:effectLst/>
                <a:uLnTx/>
                <a:uFillTx/>
                <a:latin typeface="+mn-lt"/>
                <a:ea typeface="+mn-ea"/>
                <a:cs typeface="+mn-ea"/>
                <a:sym typeface="+mn-lt"/>
              </a:endParaRPr>
            </a:p>
          </p:txBody>
        </p:sp>
      </p:grpSp>
      <p:grpSp>
        <p:nvGrpSpPr>
          <p:cNvPr id="13324" name="组合 3"/>
          <p:cNvGrpSpPr/>
          <p:nvPr/>
        </p:nvGrpSpPr>
        <p:grpSpPr>
          <a:xfrm>
            <a:off x="3684588" y="336550"/>
            <a:ext cx="1830387" cy="1831975"/>
            <a:chOff x="3117668" y="234317"/>
            <a:chExt cx="2127323" cy="2127323"/>
          </a:xfrm>
        </p:grpSpPr>
        <p:sp>
          <p:nvSpPr>
            <p:cNvPr id="46" name="椭圆 45"/>
            <p:cNvSpPr/>
            <p:nvPr/>
          </p:nvSpPr>
          <p:spPr>
            <a:xfrm>
              <a:off x="3117668" y="234317"/>
              <a:ext cx="2127323" cy="2127323"/>
            </a:xfrm>
            <a:prstGeom prst="ellipse">
              <a:avLst/>
            </a:prstGeom>
            <a:solidFill>
              <a:schemeClr val="tx1">
                <a:alpha val="3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ea"/>
                <a:sym typeface="+mn-lt"/>
              </a:endParaRPr>
            </a:p>
          </p:txBody>
        </p:sp>
        <p:sp>
          <p:nvSpPr>
            <p:cNvPr id="47" name="椭圆 46"/>
            <p:cNvSpPr/>
            <p:nvPr/>
          </p:nvSpPr>
          <p:spPr>
            <a:xfrm>
              <a:off x="3372208" y="482505"/>
              <a:ext cx="1630947" cy="1630947"/>
            </a:xfrm>
            <a:prstGeom prst="ellipse">
              <a:avLst/>
            </a:prstGeom>
            <a:solidFill>
              <a:schemeClr val="bg1"/>
            </a:solidFill>
            <a:ln>
              <a:noFill/>
            </a:ln>
            <a:effectLst>
              <a:glow rad="165100">
                <a:schemeClr val="tx1">
                  <a:alpha val="27000"/>
                </a:schemeClr>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0" i="0" u="none" strike="noStrike" kern="1200" cap="none" spc="0" normalizeH="0" baseline="0" noProof="0">
                <a:ln>
                  <a:noFill/>
                </a:ln>
                <a:solidFill>
                  <a:srgbClr val="FEFFFF"/>
                </a:solidFill>
                <a:effectLst/>
                <a:uLnTx/>
                <a:uFillTx/>
                <a:latin typeface="+mn-lt"/>
                <a:ea typeface="+mn-ea"/>
                <a:cs typeface="+mn-ea"/>
                <a:sym typeface="+mn-lt"/>
              </a:endParaRPr>
            </a:p>
          </p:txBody>
        </p:sp>
        <p:grpSp>
          <p:nvGrpSpPr>
            <p:cNvPr id="13329" name="组合 47"/>
            <p:cNvGrpSpPr/>
            <p:nvPr/>
          </p:nvGrpSpPr>
          <p:grpSpPr>
            <a:xfrm>
              <a:off x="3250509" y="768989"/>
              <a:ext cx="1800200" cy="1001573"/>
              <a:chOff x="3896925" y="1033243"/>
              <a:chExt cx="1350150" cy="751179"/>
            </a:xfrm>
          </p:grpSpPr>
          <p:sp>
            <p:nvSpPr>
              <p:cNvPr id="49" name="TextBox 7"/>
              <p:cNvSpPr txBox="1"/>
              <p:nvPr/>
            </p:nvSpPr>
            <p:spPr>
              <a:xfrm>
                <a:off x="4256708" y="1399568"/>
                <a:ext cx="690504" cy="384356"/>
              </a:xfrm>
              <a:prstGeom prst="rect">
                <a:avLst/>
              </a:prstGeom>
              <a:noFill/>
            </p:spPr>
            <p:txBody>
              <a:bodyPr lIns="0" tIns="0" rIns="0" bIns="0" anchor="b">
                <a:normAutofit/>
              </a:bodyPr>
              <a:lstStyle/>
              <a:p>
                <a:pPr marR="0" algn="dist" defTabSz="914400">
                  <a:buClrTx/>
                  <a:buSzTx/>
                  <a:buFontTx/>
                  <a:buNone/>
                  <a:defRPr/>
                </a:pPr>
                <a:r>
                  <a:rPr kumimoji="0" lang="en-US" altLang="zh-CN" sz="2135" b="0" kern="1200" cap="none" spc="0" normalizeH="0" baseline="0" noProof="0" dirty="0">
                    <a:solidFill>
                      <a:srgbClr val="000000"/>
                    </a:solidFill>
                    <a:latin typeface="+mn-lt"/>
                    <a:ea typeface="+mn-ea"/>
                    <a:cs typeface="+mn-ea"/>
                    <a:sym typeface="+mn-lt"/>
                  </a:rPr>
                  <a:t>target</a:t>
                </a:r>
              </a:p>
            </p:txBody>
          </p:sp>
          <p:sp>
            <p:nvSpPr>
              <p:cNvPr id="50" name="Rectangle 9"/>
              <p:cNvSpPr/>
              <p:nvPr/>
            </p:nvSpPr>
            <p:spPr>
              <a:xfrm>
                <a:off x="3896926" y="1033186"/>
                <a:ext cx="1350565" cy="692670"/>
              </a:xfrm>
              <a:prstGeom prst="rect">
                <a:avLst/>
              </a:prstGeom>
            </p:spPr>
            <p:txBody>
              <a:bodyPr>
                <a:norm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3735" b="1" i="0" u="none" strike="noStrike" kern="1200" cap="none" spc="0" normalizeH="0" baseline="0" noProof="0" dirty="0">
                    <a:ln>
                      <a:noFill/>
                    </a:ln>
                    <a:solidFill>
                      <a:srgbClr val="000000"/>
                    </a:solidFill>
                    <a:effectLst/>
                    <a:uLnTx/>
                    <a:uFillTx/>
                    <a:latin typeface="+mn-lt"/>
                    <a:ea typeface="+mn-ea"/>
                    <a:cs typeface="+mn-ea"/>
                    <a:sym typeface="+mn-lt"/>
                  </a:rPr>
                  <a:t>目标</a:t>
                </a:r>
              </a:p>
            </p:txBody>
          </p: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fade">
                                      <p:cBhvr>
                                        <p:cTn id="7" dur="1000"/>
                                        <p:tgtEl>
                                          <p:spTgt spid="64"/>
                                        </p:tgtEl>
                                      </p:cBhvr>
                                    </p:animEffect>
                                    <p:anim calcmode="lin" valueType="num">
                                      <p:cBhvr>
                                        <p:cTn id="8" dur="1000" fill="hold"/>
                                        <p:tgtEl>
                                          <p:spTgt spid="64"/>
                                        </p:tgtEl>
                                        <p:attrNameLst>
                                          <p:attrName>ppt_x</p:attrName>
                                        </p:attrNameLst>
                                      </p:cBhvr>
                                      <p:tavLst>
                                        <p:tav tm="0">
                                          <p:val>
                                            <p:strVal val="#ppt_x"/>
                                          </p:val>
                                        </p:tav>
                                        <p:tav tm="100000">
                                          <p:val>
                                            <p:strVal val="#ppt_x"/>
                                          </p:val>
                                        </p:tav>
                                      </p:tavLst>
                                    </p:anim>
                                    <p:anim calcmode="lin" valueType="num">
                                      <p:cBhvr>
                                        <p:cTn id="9" dur="1000" fill="hold"/>
                                        <p:tgtEl>
                                          <p:spTgt spid="6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grpSp>
        <p:nvGrpSpPr>
          <p:cNvPr id="4" name="组合 3"/>
          <p:cNvGrpSpPr/>
          <p:nvPr/>
        </p:nvGrpSpPr>
        <p:grpSpPr>
          <a:xfrm>
            <a:off x="1500505" y="1774825"/>
            <a:ext cx="6156325" cy="4318635"/>
            <a:chOff x="2363" y="3247"/>
            <a:chExt cx="9695" cy="6801"/>
          </a:xfrm>
        </p:grpSpPr>
        <p:sp>
          <p:nvSpPr>
            <p:cNvPr id="3" name="矩形: 圆角 16"/>
            <p:cNvSpPr>
              <a:spLocks noChangeArrowheads="1"/>
            </p:cNvSpPr>
            <p:nvPr/>
          </p:nvSpPr>
          <p:spPr bwMode="auto">
            <a:xfrm>
              <a:off x="3870" y="3340"/>
              <a:ext cx="8188" cy="795"/>
            </a:xfrm>
            <a:prstGeom prst="roundRect">
              <a:avLst>
                <a:gd name="adj" fmla="val 16667"/>
              </a:avLst>
            </a:prstGeom>
            <a:solidFill>
              <a:srgbClr val="9476B6"/>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2363" y="3340"/>
              <a:ext cx="1323" cy="795"/>
            </a:xfrm>
            <a:prstGeom prst="roundRect">
              <a:avLst>
                <a:gd name="adj" fmla="val 16667"/>
              </a:avLst>
            </a:pr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4" name="文本框 13"/>
            <p:cNvSpPr txBox="1"/>
            <p:nvPr/>
          </p:nvSpPr>
          <p:spPr>
            <a:xfrm>
              <a:off x="2550" y="3247"/>
              <a:ext cx="1135" cy="6801"/>
            </a:xfrm>
            <a:prstGeom prst="rect">
              <a:avLst/>
            </a:prstGeom>
            <a:noFill/>
          </p:spPr>
          <p:txBody>
            <a:bodyPr>
              <a:noAutofit/>
            </a:bodyPr>
            <a:lstStyle/>
            <a:p>
              <a:pPr marR="0" defTabSz="914400">
                <a:lnSpc>
                  <a:spcPct val="150000"/>
                </a:lnSpc>
                <a:buClrTx/>
                <a:buSzTx/>
                <a:buFontTx/>
                <a:buNone/>
                <a:defRPr/>
              </a:pPr>
              <a:r>
                <a:rPr kumimoji="0" lang="en-US" altLang="zh-CN" sz="2200" b="0" kern="1200" cap="none" spc="0" normalizeH="0" baseline="0" noProof="0" dirty="0">
                  <a:solidFill>
                    <a:schemeClr val="bg1"/>
                  </a:solidFill>
                  <a:latin typeface="+mn-lt"/>
                  <a:ea typeface="+mn-ea"/>
                  <a:cs typeface="+mn-ea"/>
                  <a:sym typeface="+mn-lt"/>
                </a:rPr>
                <a:t>5.1</a:t>
              </a:r>
              <a:endParaRPr kumimoji="0" lang="zh-CN" altLang="en-US" sz="2200" b="0" kern="1200" cap="none" spc="0" normalizeH="0" baseline="0" noProof="0" dirty="0">
                <a:solidFill>
                  <a:schemeClr val="bg1"/>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5.2</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5.3</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5.4</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5.5</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5.6</a:t>
              </a:r>
            </a:p>
            <a:p>
              <a:pPr marR="0" defTabSz="914400">
                <a:lnSpc>
                  <a:spcPct val="150000"/>
                </a:lnSpc>
                <a:buClrTx/>
                <a:buSzTx/>
                <a:buFontTx/>
                <a:buNone/>
                <a:defRPr/>
              </a:pPr>
              <a:r>
                <a:rPr kumimoji="0" lang="en-US" altLang="zh-CN" sz="2200" b="0" kern="1200" cap="none" spc="0" normalizeH="0" baseline="0" noProof="0" dirty="0" smtClean="0">
                  <a:solidFill>
                    <a:schemeClr val="accent4"/>
                  </a:solidFill>
                  <a:latin typeface="+mn-lt"/>
                  <a:ea typeface="+mn-ea"/>
                  <a:cs typeface="+mn-ea"/>
                  <a:sym typeface="+mn-lt"/>
                </a:rPr>
                <a:t>5.7</a:t>
              </a:r>
              <a:endParaRPr kumimoji="0" lang="en-US" altLang="zh-CN" sz="2200" b="0" kern="1200" cap="none" spc="0" normalizeH="0" baseline="0" noProof="0" dirty="0">
                <a:solidFill>
                  <a:schemeClr val="accent4"/>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smtClean="0">
                  <a:solidFill>
                    <a:srgbClr val="000000">
                      <a:lumMod val="95000"/>
                      <a:lumOff val="5000"/>
                    </a:srgbClr>
                  </a:solidFill>
                  <a:latin typeface="+mn-lt"/>
                  <a:ea typeface="+mn-ea"/>
                  <a:cs typeface="+mn-ea"/>
                  <a:sym typeface="+mn-lt"/>
                </a:rPr>
                <a:t>5.8</a:t>
              </a:r>
              <a:endParaRPr kumimoji="0" lang="en-US" altLang="zh-CN" sz="2200" b="0" kern="1200" cap="none" spc="0" normalizeH="0" baseline="0" noProof="0" dirty="0">
                <a:solidFill>
                  <a:srgbClr val="000000">
                    <a:lumMod val="95000"/>
                    <a:lumOff val="5000"/>
                  </a:srgbClr>
                </a:solidFill>
                <a:latin typeface="+mn-lt"/>
                <a:ea typeface="+mn-ea"/>
                <a:cs typeface="+mn-ea"/>
                <a:sym typeface="+mn-lt"/>
              </a:endParaRPr>
            </a:p>
          </p:txBody>
        </p:sp>
        <p:sp>
          <p:nvSpPr>
            <p:cNvPr id="15" name="文本框 14"/>
            <p:cNvSpPr txBox="1"/>
            <p:nvPr/>
          </p:nvSpPr>
          <p:spPr>
            <a:xfrm>
              <a:off x="3870" y="3247"/>
              <a:ext cx="7265" cy="6461"/>
            </a:xfrm>
            <a:prstGeom prst="rect">
              <a:avLst/>
            </a:prstGeom>
            <a:noFill/>
          </p:spPr>
          <p:txBody>
            <a:bodyPr wrap="square">
              <a:noAutofit/>
            </a:bodyPr>
            <a:lstStyle/>
            <a:p>
              <a:pPr>
                <a:lnSpc>
                  <a:spcPct val="150000"/>
                </a:lnSpc>
                <a:defRPr/>
              </a:pPr>
              <a:r>
                <a:rPr lang="zh-CN" altLang="en-US" sz="2200" b="0" dirty="0">
                  <a:solidFill>
                    <a:schemeClr val="bg1"/>
                  </a:solidFill>
                  <a:latin typeface="+mn-lt"/>
                  <a:ea typeface="+mn-ea"/>
                  <a:cs typeface="+mn-ea"/>
                  <a:sym typeface="+mn-lt"/>
                </a:rPr>
                <a:t>案例引入</a:t>
              </a:r>
            </a:p>
            <a:p>
              <a:pPr marR="0" defTabSz="914400">
                <a:lnSpc>
                  <a:spcPct val="150000"/>
                </a:lnSpc>
                <a:buClrTx/>
                <a:buSzTx/>
                <a:buFont typeface="Arial" panose="020B0604020202020204" pitchFamily="34" charset="0"/>
                <a:buNone/>
                <a:defRPr/>
              </a:pPr>
              <a:r>
                <a:rPr kumimoji="0" lang="zh-CN" altLang="en-US" sz="2200" b="0" kern="1200" cap="none" spc="0" normalizeH="0" baseline="0" noProof="0" dirty="0" smtClean="0">
                  <a:solidFill>
                    <a:schemeClr val="tx1"/>
                  </a:solidFill>
                  <a:latin typeface="+mn-lt"/>
                  <a:ea typeface="+mn-ea"/>
                  <a:cs typeface="+mn-ea"/>
                  <a:sym typeface="+mn-lt"/>
                </a:rPr>
                <a:t>树</a:t>
              </a:r>
              <a:r>
                <a:rPr kumimoji="0" lang="zh-CN" altLang="en-US" sz="2200" b="0" kern="1200" cap="none" spc="0" normalizeH="0" baseline="0" noProof="0" dirty="0">
                  <a:solidFill>
                    <a:schemeClr val="tx1"/>
                  </a:solidFill>
                  <a:latin typeface="+mn-lt"/>
                  <a:ea typeface="+mn-ea"/>
                  <a:cs typeface="+mn-ea"/>
                  <a:sym typeface="+mn-lt"/>
                </a:rPr>
                <a:t>和二叉树的定义</a:t>
              </a:r>
            </a:p>
            <a:p>
              <a:pPr marR="0" defTabSz="914400">
                <a:lnSpc>
                  <a:spcPct val="150000"/>
                </a:lnSpc>
                <a:buClrTx/>
                <a:buSzTx/>
                <a:buFontTx/>
                <a:buNone/>
                <a:defRPr/>
              </a:pPr>
              <a:r>
                <a:rPr kumimoji="0" lang="zh-CN" altLang="en-US" sz="2200" b="0" kern="1200" cap="none" spc="0" normalizeH="0" baseline="0" noProof="0" dirty="0" smtClean="0">
                  <a:solidFill>
                    <a:srgbClr val="000000">
                      <a:lumMod val="95000"/>
                      <a:lumOff val="5000"/>
                    </a:srgbClr>
                  </a:solidFill>
                  <a:latin typeface="+mn-lt"/>
                  <a:ea typeface="+mn-ea"/>
                  <a:cs typeface="+mn-ea"/>
                  <a:sym typeface="+mn-lt"/>
                </a:rPr>
                <a:t>树</a:t>
              </a:r>
              <a:r>
                <a:rPr kumimoji="0" lang="zh-CN" altLang="en-US" sz="2200" b="0" kern="1200" cap="none" spc="0" normalizeH="0" baseline="0" noProof="0" dirty="0">
                  <a:solidFill>
                    <a:srgbClr val="000000">
                      <a:lumMod val="95000"/>
                      <a:lumOff val="5000"/>
                    </a:srgbClr>
                  </a:solidFill>
                  <a:latin typeface="+mn-lt"/>
                  <a:ea typeface="+mn-ea"/>
                  <a:cs typeface="+mn-ea"/>
                  <a:sym typeface="+mn-lt"/>
                </a:rPr>
                <a:t>和二叉树的抽象数据类型定义</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二叉树的性质和存储结构</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遍历二叉树</a:t>
              </a:r>
              <a:r>
                <a:rPr kumimoji="0" lang="zh-CN" altLang="en-US" sz="2200" b="0" kern="1200" cap="none" spc="0" normalizeH="0" baseline="0" noProof="0" dirty="0" smtClean="0">
                  <a:solidFill>
                    <a:srgbClr val="000000">
                      <a:lumMod val="95000"/>
                      <a:lumOff val="5000"/>
                    </a:srgbClr>
                  </a:solidFill>
                  <a:latin typeface="+mn-lt"/>
                  <a:ea typeface="+mn-ea"/>
                  <a:cs typeface="+mn-ea"/>
                  <a:sym typeface="+mn-lt"/>
                </a:rPr>
                <a:t>和应用</a:t>
              </a:r>
              <a:endParaRPr kumimoji="0" lang="en-US" altLang="zh-CN" sz="2200" b="0" kern="1200" cap="none" spc="0" normalizeH="0" baseline="0" noProof="0" dirty="0" smtClean="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zh-CN" altLang="en-US" sz="2200" b="0" kern="1200" cap="none" spc="0" normalizeH="0" baseline="0" noProof="0" dirty="0" smtClean="0">
                  <a:solidFill>
                    <a:srgbClr val="000000">
                      <a:lumMod val="95000"/>
                      <a:lumOff val="5000"/>
                    </a:srgbClr>
                  </a:solidFill>
                  <a:latin typeface="+mn-lt"/>
                  <a:ea typeface="+mn-ea"/>
                  <a:cs typeface="+mn-ea"/>
                  <a:sym typeface="+mn-lt"/>
                </a:rPr>
                <a:t>树</a:t>
              </a:r>
              <a:r>
                <a:rPr kumimoji="0" lang="zh-CN" altLang="en-US" sz="2200" b="0" kern="1200" cap="none" spc="0" normalizeH="0" baseline="0" noProof="0" dirty="0">
                  <a:solidFill>
                    <a:srgbClr val="000000">
                      <a:lumMod val="95000"/>
                      <a:lumOff val="5000"/>
                    </a:srgbClr>
                  </a:solidFill>
                  <a:latin typeface="+mn-lt"/>
                  <a:ea typeface="+mn-ea"/>
                  <a:cs typeface="+mn-ea"/>
                  <a:sym typeface="+mn-lt"/>
                </a:rPr>
                <a:t>和森林</a:t>
              </a:r>
            </a:p>
            <a:p>
              <a:pPr marR="0" defTabSz="914400">
                <a:lnSpc>
                  <a:spcPct val="150000"/>
                </a:lnSpc>
                <a:buClrTx/>
                <a:buSzTx/>
                <a:buFontTx/>
                <a:buNone/>
                <a:defRPr/>
              </a:pPr>
              <a:r>
                <a:rPr lang="zh-CN" altLang="en-US" sz="2200" b="0" noProof="0" dirty="0" smtClean="0">
                  <a:solidFill>
                    <a:srgbClr val="000000">
                      <a:lumMod val="95000"/>
                      <a:lumOff val="5000"/>
                    </a:srgbClr>
                  </a:solidFill>
                  <a:latin typeface="+mn-lt"/>
                  <a:ea typeface="+mn-ea"/>
                  <a:cs typeface="+mn-ea"/>
                  <a:sym typeface="+mn-lt"/>
                </a:rPr>
                <a:t>二叉搜索树（二叉排序树）</a:t>
              </a:r>
              <a:endParaRPr lang="zh-CN" altLang="en-US" sz="2200" b="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zh-CN" altLang="en-US" sz="2200" b="0" kern="1200" cap="none" spc="0" normalizeH="0" baseline="0" noProof="0" dirty="0" smtClean="0">
                  <a:solidFill>
                    <a:srgbClr val="000000">
                      <a:lumMod val="95000"/>
                      <a:lumOff val="5000"/>
                    </a:srgbClr>
                  </a:solidFill>
                  <a:latin typeface="+mn-lt"/>
                  <a:ea typeface="+mn-ea"/>
                  <a:cs typeface="+mn-ea"/>
                  <a:sym typeface="+mn-lt"/>
                </a:rPr>
                <a:t>堆</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p:txBody>
        </p:sp>
      </p:gr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extLst>
      <p:ext uri="{BB962C8B-B14F-4D97-AF65-F5344CB8AC3E}">
        <p14:creationId xmlns:p14="http://schemas.microsoft.com/office/powerpoint/2010/main" val="62072204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6"/>
          <p:cNvSpPr>
            <a:spLocks noGrp="1" noChangeArrowheads="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fld id="{60175B6F-182D-479B-A0A9-A78FC148DC29}" type="slidenum">
              <a:rPr lang="en-US" altLang="zh-CN" smtClean="0">
                <a:solidFill>
                  <a:srgbClr val="000000"/>
                </a:solidFill>
                <a:latin typeface="Times New Roman" pitchFamily="18" charset="0"/>
              </a:rPr>
              <a:pPr/>
              <a:t>5</a:t>
            </a:fld>
            <a:endParaRPr lang="en-US" altLang="zh-CN" smtClean="0">
              <a:solidFill>
                <a:srgbClr val="000000"/>
              </a:solidFill>
              <a:latin typeface="Times New Roman" pitchFamily="18" charset="0"/>
            </a:endParaRPr>
          </a:p>
        </p:txBody>
      </p:sp>
      <p:grpSp>
        <p:nvGrpSpPr>
          <p:cNvPr id="66562" name="Group 2"/>
          <p:cNvGrpSpPr>
            <a:grpSpLocks/>
          </p:cNvGrpSpPr>
          <p:nvPr/>
        </p:nvGrpSpPr>
        <p:grpSpPr bwMode="auto">
          <a:xfrm>
            <a:off x="1106488" y="847725"/>
            <a:ext cx="6931025" cy="5857875"/>
            <a:chOff x="2310" y="5194"/>
            <a:chExt cx="6900" cy="6045"/>
          </a:xfrm>
        </p:grpSpPr>
        <p:sp>
          <p:nvSpPr>
            <p:cNvPr id="14343" name="Text Box 3"/>
            <p:cNvSpPr txBox="1">
              <a:spLocks noChangeArrowheads="1"/>
            </p:cNvSpPr>
            <p:nvPr/>
          </p:nvSpPr>
          <p:spPr bwMode="auto">
            <a:xfrm>
              <a:off x="2865" y="5773"/>
              <a:ext cx="360" cy="780"/>
            </a:xfrm>
            <a:prstGeom prst="rect">
              <a:avLst/>
            </a:prstGeom>
            <a:solidFill>
              <a:srgbClr val="FFFFF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哲学宗教</a:t>
              </a:r>
              <a:endParaRPr lang="zh-CN" altLang="en-US" sz="1400" b="1">
                <a:latin typeface="Arial" pitchFamily="34" charset="0"/>
              </a:endParaRPr>
            </a:p>
          </p:txBody>
        </p:sp>
        <p:sp>
          <p:nvSpPr>
            <p:cNvPr id="14344" name="Text Box 4"/>
            <p:cNvSpPr txBox="1">
              <a:spLocks noChangeArrowheads="1"/>
            </p:cNvSpPr>
            <p:nvPr/>
          </p:nvSpPr>
          <p:spPr bwMode="auto">
            <a:xfrm>
              <a:off x="4533" y="5773"/>
              <a:ext cx="360" cy="528"/>
            </a:xfrm>
            <a:prstGeom prst="rect">
              <a:avLst/>
            </a:prstGeom>
            <a:solidFill>
              <a:srgbClr val="FFFFF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文学</a:t>
              </a:r>
              <a:endParaRPr lang="zh-CN" altLang="en-US" sz="1400" b="1">
                <a:latin typeface="Arial" pitchFamily="34" charset="0"/>
              </a:endParaRPr>
            </a:p>
          </p:txBody>
        </p:sp>
        <p:sp>
          <p:nvSpPr>
            <p:cNvPr id="14345" name="Text Box 5"/>
            <p:cNvSpPr txBox="1">
              <a:spLocks noChangeArrowheads="1"/>
            </p:cNvSpPr>
            <p:nvPr/>
          </p:nvSpPr>
          <p:spPr bwMode="auto">
            <a:xfrm>
              <a:off x="5073" y="5773"/>
              <a:ext cx="360" cy="780"/>
            </a:xfrm>
            <a:prstGeom prst="rect">
              <a:avLst/>
            </a:prstGeom>
            <a:solidFill>
              <a:srgbClr val="FFFFF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医药卫生</a:t>
              </a:r>
              <a:endParaRPr lang="zh-CN" altLang="en-US" sz="1400" b="1">
                <a:latin typeface="Arial" pitchFamily="34" charset="0"/>
              </a:endParaRPr>
            </a:p>
          </p:txBody>
        </p:sp>
        <p:sp>
          <p:nvSpPr>
            <p:cNvPr id="14346" name="Text Box 6"/>
            <p:cNvSpPr txBox="1">
              <a:spLocks noChangeArrowheads="1"/>
            </p:cNvSpPr>
            <p:nvPr/>
          </p:nvSpPr>
          <p:spPr bwMode="auto">
            <a:xfrm>
              <a:off x="5613" y="5773"/>
              <a:ext cx="360" cy="780"/>
            </a:xfrm>
            <a:prstGeom prst="rect">
              <a:avLst/>
            </a:prstGeom>
            <a:solidFill>
              <a:srgbClr val="FFFFF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农业科学</a:t>
              </a:r>
              <a:endParaRPr lang="zh-CN" altLang="en-US" sz="1400" b="1">
                <a:latin typeface="Arial" pitchFamily="34" charset="0"/>
              </a:endParaRPr>
            </a:p>
          </p:txBody>
        </p:sp>
        <p:sp>
          <p:nvSpPr>
            <p:cNvPr id="14347" name="Text Box 7"/>
            <p:cNvSpPr txBox="1">
              <a:spLocks noChangeArrowheads="1"/>
            </p:cNvSpPr>
            <p:nvPr/>
          </p:nvSpPr>
          <p:spPr bwMode="auto">
            <a:xfrm>
              <a:off x="6153" y="5773"/>
              <a:ext cx="360" cy="780"/>
            </a:xfrm>
            <a:prstGeom prst="rect">
              <a:avLst/>
            </a:prstGeom>
            <a:solidFill>
              <a:srgbClr val="FFFFF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工业技术</a:t>
              </a:r>
              <a:endParaRPr lang="zh-CN" altLang="en-US" sz="1400" b="1">
                <a:latin typeface="Arial" pitchFamily="34" charset="0"/>
              </a:endParaRPr>
            </a:p>
          </p:txBody>
        </p:sp>
        <p:sp>
          <p:nvSpPr>
            <p:cNvPr id="14348" name="Text Box 8"/>
            <p:cNvSpPr txBox="1">
              <a:spLocks noChangeArrowheads="1"/>
            </p:cNvSpPr>
            <p:nvPr/>
          </p:nvSpPr>
          <p:spPr bwMode="auto">
            <a:xfrm>
              <a:off x="2310" y="6955"/>
              <a:ext cx="360" cy="780"/>
            </a:xfrm>
            <a:prstGeom prst="rect">
              <a:avLst/>
            </a:prstGeom>
            <a:solidFill>
              <a:srgbClr val="FFFFF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哲学理论</a:t>
              </a:r>
              <a:endParaRPr lang="zh-CN" altLang="en-US" sz="1400" b="1">
                <a:latin typeface="Arial" pitchFamily="34" charset="0"/>
              </a:endParaRPr>
            </a:p>
          </p:txBody>
        </p:sp>
        <p:sp>
          <p:nvSpPr>
            <p:cNvPr id="14349" name="Text Box 9"/>
            <p:cNvSpPr txBox="1">
              <a:spLocks noChangeArrowheads="1"/>
            </p:cNvSpPr>
            <p:nvPr/>
          </p:nvSpPr>
          <p:spPr bwMode="auto">
            <a:xfrm>
              <a:off x="2850" y="6955"/>
              <a:ext cx="360" cy="780"/>
            </a:xfrm>
            <a:prstGeom prst="rect">
              <a:avLst/>
            </a:prstGeom>
            <a:solidFill>
              <a:srgbClr val="FFFFF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世界哲学</a:t>
              </a:r>
              <a:endParaRPr lang="zh-CN" altLang="en-US" sz="1400" b="1">
                <a:latin typeface="Arial" pitchFamily="34" charset="0"/>
              </a:endParaRPr>
            </a:p>
          </p:txBody>
        </p:sp>
        <p:sp>
          <p:nvSpPr>
            <p:cNvPr id="14350" name="Text Box 10"/>
            <p:cNvSpPr txBox="1">
              <a:spLocks noChangeArrowheads="1"/>
            </p:cNvSpPr>
            <p:nvPr/>
          </p:nvSpPr>
          <p:spPr bwMode="auto">
            <a:xfrm>
              <a:off x="3570" y="6955"/>
              <a:ext cx="360" cy="780"/>
            </a:xfrm>
            <a:prstGeom prst="rect">
              <a:avLst/>
            </a:prstGeom>
            <a:solidFill>
              <a:srgbClr val="FFFFF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欧洲哲学</a:t>
              </a:r>
              <a:endParaRPr lang="zh-CN" altLang="en-US" sz="1400" b="1">
                <a:latin typeface="Arial" pitchFamily="34" charset="0"/>
              </a:endParaRPr>
            </a:p>
          </p:txBody>
        </p:sp>
        <p:sp>
          <p:nvSpPr>
            <p:cNvPr id="14351" name="Text Box 11"/>
            <p:cNvSpPr txBox="1">
              <a:spLocks noChangeArrowheads="1"/>
            </p:cNvSpPr>
            <p:nvPr/>
          </p:nvSpPr>
          <p:spPr bwMode="auto">
            <a:xfrm>
              <a:off x="4110" y="6955"/>
              <a:ext cx="360" cy="545"/>
            </a:xfrm>
            <a:prstGeom prst="rect">
              <a:avLst/>
            </a:prstGeom>
            <a:solidFill>
              <a:srgbClr val="FFFFF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宗教</a:t>
              </a:r>
              <a:endParaRPr lang="zh-CN" altLang="en-US" sz="1400" b="1">
                <a:latin typeface="Arial" pitchFamily="34" charset="0"/>
              </a:endParaRPr>
            </a:p>
          </p:txBody>
        </p:sp>
        <p:sp>
          <p:nvSpPr>
            <p:cNvPr id="14352" name="Text Box 12"/>
            <p:cNvSpPr txBox="1">
              <a:spLocks noChangeArrowheads="1"/>
            </p:cNvSpPr>
            <p:nvPr/>
          </p:nvSpPr>
          <p:spPr bwMode="auto">
            <a:xfrm>
              <a:off x="2955" y="8113"/>
              <a:ext cx="360" cy="1248"/>
            </a:xfrm>
            <a:prstGeom prst="rect">
              <a:avLst/>
            </a:prstGeom>
            <a:solidFill>
              <a:srgbClr val="FFFFF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宗教分析研究</a:t>
              </a:r>
              <a:endParaRPr lang="zh-CN" altLang="en-US" sz="1400" b="1">
                <a:latin typeface="Arial" pitchFamily="34" charset="0"/>
              </a:endParaRPr>
            </a:p>
          </p:txBody>
        </p:sp>
        <p:sp>
          <p:nvSpPr>
            <p:cNvPr id="14353" name="Text Box 13"/>
            <p:cNvSpPr txBox="1">
              <a:spLocks noChangeArrowheads="1"/>
            </p:cNvSpPr>
            <p:nvPr/>
          </p:nvSpPr>
          <p:spPr bwMode="auto">
            <a:xfrm>
              <a:off x="3495" y="8113"/>
              <a:ext cx="360" cy="1329"/>
            </a:xfrm>
            <a:prstGeom prst="rect">
              <a:avLst/>
            </a:prstGeom>
            <a:solidFill>
              <a:srgbClr val="FFFFF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宗教理论与概况</a:t>
              </a:r>
              <a:endParaRPr lang="zh-CN" altLang="en-US" sz="1400" b="1">
                <a:latin typeface="Arial" pitchFamily="34" charset="0"/>
              </a:endParaRPr>
            </a:p>
          </p:txBody>
        </p:sp>
        <p:sp>
          <p:nvSpPr>
            <p:cNvPr id="14354" name="Text Box 14"/>
            <p:cNvSpPr txBox="1">
              <a:spLocks noChangeArrowheads="1"/>
            </p:cNvSpPr>
            <p:nvPr/>
          </p:nvSpPr>
          <p:spPr bwMode="auto">
            <a:xfrm>
              <a:off x="4560" y="8113"/>
              <a:ext cx="360" cy="684"/>
            </a:xfrm>
            <a:prstGeom prst="rect">
              <a:avLst/>
            </a:prstGeom>
            <a:solidFill>
              <a:srgbClr val="FFFFF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佛教</a:t>
              </a:r>
              <a:endParaRPr lang="zh-CN" altLang="en-US" sz="1400" b="1">
                <a:latin typeface="Arial" pitchFamily="34" charset="0"/>
              </a:endParaRPr>
            </a:p>
          </p:txBody>
        </p:sp>
        <p:sp>
          <p:nvSpPr>
            <p:cNvPr id="14355" name="Text Box 15"/>
            <p:cNvSpPr txBox="1">
              <a:spLocks noChangeArrowheads="1"/>
            </p:cNvSpPr>
            <p:nvPr/>
          </p:nvSpPr>
          <p:spPr bwMode="auto">
            <a:xfrm>
              <a:off x="2415" y="9835"/>
              <a:ext cx="360" cy="1404"/>
            </a:xfrm>
            <a:prstGeom prst="rect">
              <a:avLst/>
            </a:prstGeom>
            <a:solidFill>
              <a:srgbClr val="BFBFB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宗教与社会政治</a:t>
              </a:r>
              <a:endParaRPr lang="zh-CN" altLang="en-US" sz="1400" b="1">
                <a:latin typeface="Arial" pitchFamily="34" charset="0"/>
              </a:endParaRPr>
            </a:p>
          </p:txBody>
        </p:sp>
        <p:sp>
          <p:nvSpPr>
            <p:cNvPr id="14356" name="Text Box 16"/>
            <p:cNvSpPr txBox="1">
              <a:spLocks noChangeArrowheads="1"/>
            </p:cNvSpPr>
            <p:nvPr/>
          </p:nvSpPr>
          <p:spPr bwMode="auto">
            <a:xfrm>
              <a:off x="2955" y="9835"/>
              <a:ext cx="360" cy="1160"/>
            </a:xfrm>
            <a:prstGeom prst="rect">
              <a:avLst/>
            </a:prstGeom>
            <a:solidFill>
              <a:srgbClr val="BFBFB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宗教与科学</a:t>
              </a:r>
              <a:endParaRPr lang="zh-CN" altLang="en-US" sz="1400" b="1">
                <a:latin typeface="Arial" pitchFamily="34" charset="0"/>
              </a:endParaRPr>
            </a:p>
          </p:txBody>
        </p:sp>
        <p:sp>
          <p:nvSpPr>
            <p:cNvPr id="14357" name="Text Box 17"/>
            <p:cNvSpPr txBox="1">
              <a:spLocks noChangeArrowheads="1"/>
            </p:cNvSpPr>
            <p:nvPr/>
          </p:nvSpPr>
          <p:spPr bwMode="auto">
            <a:xfrm>
              <a:off x="4005" y="9835"/>
              <a:ext cx="360" cy="995"/>
            </a:xfrm>
            <a:prstGeom prst="rect">
              <a:avLst/>
            </a:prstGeom>
            <a:solidFill>
              <a:srgbClr val="BFBFB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破除迷信</a:t>
              </a:r>
              <a:endParaRPr lang="zh-CN" altLang="en-US" sz="1400" b="1">
                <a:latin typeface="Arial" pitchFamily="34" charset="0"/>
              </a:endParaRPr>
            </a:p>
          </p:txBody>
        </p:sp>
        <p:sp>
          <p:nvSpPr>
            <p:cNvPr id="14358" name="Text Box 18"/>
            <p:cNvSpPr txBox="1">
              <a:spLocks noChangeArrowheads="1"/>
            </p:cNvSpPr>
            <p:nvPr/>
          </p:nvSpPr>
          <p:spPr bwMode="auto">
            <a:xfrm>
              <a:off x="7725" y="5773"/>
              <a:ext cx="360" cy="624"/>
            </a:xfrm>
            <a:prstGeom prst="rect">
              <a:avLst/>
            </a:prstGeom>
            <a:solidFill>
              <a:srgbClr val="FFFFF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综合</a:t>
              </a:r>
              <a:endParaRPr lang="zh-CN" altLang="en-US" sz="1400" b="1">
                <a:latin typeface="Arial" pitchFamily="34" charset="0"/>
              </a:endParaRPr>
            </a:p>
          </p:txBody>
        </p:sp>
        <p:sp>
          <p:nvSpPr>
            <p:cNvPr id="14359" name="Text Box 19"/>
            <p:cNvSpPr txBox="1">
              <a:spLocks noChangeArrowheads="1"/>
            </p:cNvSpPr>
            <p:nvPr/>
          </p:nvSpPr>
          <p:spPr bwMode="auto">
            <a:xfrm>
              <a:off x="6825" y="6955"/>
              <a:ext cx="360" cy="780"/>
            </a:xfrm>
            <a:prstGeom prst="rect">
              <a:avLst/>
            </a:prstGeom>
            <a:solidFill>
              <a:srgbClr val="FFFFF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电工技术</a:t>
              </a:r>
              <a:endParaRPr lang="zh-CN" altLang="en-US" sz="1400" b="1">
                <a:latin typeface="Arial" pitchFamily="34" charset="0"/>
              </a:endParaRPr>
            </a:p>
          </p:txBody>
        </p:sp>
        <p:sp>
          <p:nvSpPr>
            <p:cNvPr id="14360" name="Text Box 20"/>
            <p:cNvSpPr txBox="1">
              <a:spLocks noChangeArrowheads="1"/>
            </p:cNvSpPr>
            <p:nvPr/>
          </p:nvSpPr>
          <p:spPr bwMode="auto">
            <a:xfrm>
              <a:off x="7365" y="6955"/>
              <a:ext cx="360" cy="780"/>
            </a:xfrm>
            <a:prstGeom prst="rect">
              <a:avLst/>
            </a:prstGeom>
            <a:solidFill>
              <a:srgbClr val="FFFFF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计算机</a:t>
              </a:r>
              <a:endParaRPr lang="zh-CN" altLang="en-US" sz="1400" b="1">
                <a:latin typeface="Arial" pitchFamily="34" charset="0"/>
              </a:endParaRPr>
            </a:p>
          </p:txBody>
        </p:sp>
        <p:sp>
          <p:nvSpPr>
            <p:cNvPr id="14361" name="Text Box 21"/>
            <p:cNvSpPr txBox="1">
              <a:spLocks noChangeArrowheads="1"/>
            </p:cNvSpPr>
            <p:nvPr/>
          </p:nvSpPr>
          <p:spPr bwMode="auto">
            <a:xfrm>
              <a:off x="8085" y="6955"/>
              <a:ext cx="360" cy="780"/>
            </a:xfrm>
            <a:prstGeom prst="rect">
              <a:avLst/>
            </a:prstGeom>
            <a:solidFill>
              <a:srgbClr val="FFFFF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建筑科学</a:t>
              </a:r>
              <a:endParaRPr lang="zh-CN" altLang="en-US" sz="1400" b="1">
                <a:latin typeface="Arial" pitchFamily="34" charset="0"/>
              </a:endParaRPr>
            </a:p>
          </p:txBody>
        </p:sp>
        <p:sp>
          <p:nvSpPr>
            <p:cNvPr id="14362" name="Text Box 22"/>
            <p:cNvSpPr txBox="1">
              <a:spLocks noChangeArrowheads="1"/>
            </p:cNvSpPr>
            <p:nvPr/>
          </p:nvSpPr>
          <p:spPr bwMode="auto">
            <a:xfrm>
              <a:off x="8625" y="6955"/>
              <a:ext cx="360" cy="780"/>
            </a:xfrm>
            <a:prstGeom prst="rect">
              <a:avLst/>
            </a:prstGeom>
            <a:solidFill>
              <a:srgbClr val="FFFFF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水利工程</a:t>
              </a:r>
              <a:endParaRPr lang="zh-CN" altLang="en-US" sz="1400" b="1">
                <a:latin typeface="Arial" pitchFamily="34" charset="0"/>
              </a:endParaRPr>
            </a:p>
          </p:txBody>
        </p:sp>
        <p:sp>
          <p:nvSpPr>
            <p:cNvPr id="14363" name="Text Box 23"/>
            <p:cNvSpPr txBox="1">
              <a:spLocks noChangeArrowheads="1"/>
            </p:cNvSpPr>
            <p:nvPr/>
          </p:nvSpPr>
          <p:spPr bwMode="auto">
            <a:xfrm>
              <a:off x="7815" y="7267"/>
              <a:ext cx="180" cy="3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400" b="1">
                  <a:latin typeface="Arial Black" pitchFamily="34" charset="0"/>
                </a:rPr>
                <a:t>…</a:t>
              </a:r>
              <a:endParaRPr lang="zh-CN" altLang="zh-CN" sz="1400" b="1">
                <a:latin typeface="Arial" pitchFamily="34" charset="0"/>
              </a:endParaRPr>
            </a:p>
          </p:txBody>
        </p:sp>
        <p:sp>
          <p:nvSpPr>
            <p:cNvPr id="14364" name="Text Box 24"/>
            <p:cNvSpPr txBox="1">
              <a:spLocks noChangeArrowheads="1"/>
            </p:cNvSpPr>
            <p:nvPr/>
          </p:nvSpPr>
          <p:spPr bwMode="auto">
            <a:xfrm>
              <a:off x="7185" y="6085"/>
              <a:ext cx="180" cy="3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400" b="1">
                  <a:latin typeface="Arial Black" pitchFamily="34" charset="0"/>
                </a:rPr>
                <a:t>…</a:t>
              </a:r>
              <a:endParaRPr lang="zh-CN" altLang="zh-CN" sz="1400" b="1">
                <a:latin typeface="Arial" pitchFamily="34" charset="0"/>
              </a:endParaRPr>
            </a:p>
          </p:txBody>
        </p:sp>
        <p:sp>
          <p:nvSpPr>
            <p:cNvPr id="14365" name="Text Box 25"/>
            <p:cNvSpPr txBox="1">
              <a:spLocks noChangeArrowheads="1"/>
            </p:cNvSpPr>
            <p:nvPr/>
          </p:nvSpPr>
          <p:spPr bwMode="auto">
            <a:xfrm>
              <a:off x="3285" y="7267"/>
              <a:ext cx="180" cy="3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400" b="1">
                  <a:latin typeface="Arial Black" pitchFamily="34" charset="0"/>
                </a:rPr>
                <a:t>…</a:t>
              </a:r>
              <a:endParaRPr lang="zh-CN" altLang="zh-CN" sz="1400" b="1">
                <a:latin typeface="Arial" pitchFamily="34" charset="0"/>
              </a:endParaRPr>
            </a:p>
          </p:txBody>
        </p:sp>
        <p:sp>
          <p:nvSpPr>
            <p:cNvPr id="14366" name="Line 26"/>
            <p:cNvSpPr>
              <a:spLocks noChangeShapeType="1"/>
            </p:cNvSpPr>
            <p:nvPr/>
          </p:nvSpPr>
          <p:spPr bwMode="auto">
            <a:xfrm>
              <a:off x="3045" y="5617"/>
              <a:ext cx="486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67" name="Line 27"/>
            <p:cNvSpPr>
              <a:spLocks noChangeShapeType="1"/>
            </p:cNvSpPr>
            <p:nvPr/>
          </p:nvSpPr>
          <p:spPr bwMode="auto">
            <a:xfrm flipV="1">
              <a:off x="3045" y="5617"/>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68" name="Line 28"/>
            <p:cNvSpPr>
              <a:spLocks noChangeShapeType="1"/>
            </p:cNvSpPr>
            <p:nvPr/>
          </p:nvSpPr>
          <p:spPr bwMode="auto">
            <a:xfrm flipV="1">
              <a:off x="4713" y="5617"/>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69" name="Line 29"/>
            <p:cNvSpPr>
              <a:spLocks noChangeShapeType="1"/>
            </p:cNvSpPr>
            <p:nvPr/>
          </p:nvSpPr>
          <p:spPr bwMode="auto">
            <a:xfrm flipV="1">
              <a:off x="5253" y="5617"/>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70" name="Line 30"/>
            <p:cNvSpPr>
              <a:spLocks noChangeShapeType="1"/>
            </p:cNvSpPr>
            <p:nvPr/>
          </p:nvSpPr>
          <p:spPr bwMode="auto">
            <a:xfrm flipV="1">
              <a:off x="5793" y="5617"/>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71" name="Line 31"/>
            <p:cNvSpPr>
              <a:spLocks noChangeShapeType="1"/>
            </p:cNvSpPr>
            <p:nvPr/>
          </p:nvSpPr>
          <p:spPr bwMode="auto">
            <a:xfrm flipV="1">
              <a:off x="6333" y="5617"/>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72" name="Line 32"/>
            <p:cNvSpPr>
              <a:spLocks noChangeShapeType="1"/>
            </p:cNvSpPr>
            <p:nvPr/>
          </p:nvSpPr>
          <p:spPr bwMode="auto">
            <a:xfrm flipV="1">
              <a:off x="7905" y="5617"/>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73" name="Line 33"/>
            <p:cNvSpPr>
              <a:spLocks noChangeShapeType="1"/>
            </p:cNvSpPr>
            <p:nvPr/>
          </p:nvSpPr>
          <p:spPr bwMode="auto">
            <a:xfrm>
              <a:off x="2490" y="6799"/>
              <a:ext cx="18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74" name="Line 34"/>
            <p:cNvSpPr>
              <a:spLocks noChangeShapeType="1"/>
            </p:cNvSpPr>
            <p:nvPr/>
          </p:nvSpPr>
          <p:spPr bwMode="auto">
            <a:xfrm flipV="1">
              <a:off x="2490" y="7735"/>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75" name="Line 35"/>
            <p:cNvSpPr>
              <a:spLocks noChangeShapeType="1"/>
            </p:cNvSpPr>
            <p:nvPr/>
          </p:nvSpPr>
          <p:spPr bwMode="auto">
            <a:xfrm flipV="1">
              <a:off x="3030" y="7735"/>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76" name="Line 36"/>
            <p:cNvSpPr>
              <a:spLocks noChangeShapeType="1"/>
            </p:cNvSpPr>
            <p:nvPr/>
          </p:nvSpPr>
          <p:spPr bwMode="auto">
            <a:xfrm flipV="1">
              <a:off x="3750" y="7735"/>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77" name="Line 37"/>
            <p:cNvSpPr>
              <a:spLocks noChangeShapeType="1"/>
            </p:cNvSpPr>
            <p:nvPr/>
          </p:nvSpPr>
          <p:spPr bwMode="auto">
            <a:xfrm flipV="1">
              <a:off x="4290" y="6799"/>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78" name="Line 38"/>
            <p:cNvSpPr>
              <a:spLocks noChangeShapeType="1"/>
            </p:cNvSpPr>
            <p:nvPr/>
          </p:nvSpPr>
          <p:spPr bwMode="auto">
            <a:xfrm>
              <a:off x="7005" y="6799"/>
              <a:ext cx="18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79" name="Line 39"/>
            <p:cNvSpPr>
              <a:spLocks noChangeShapeType="1"/>
            </p:cNvSpPr>
            <p:nvPr/>
          </p:nvSpPr>
          <p:spPr bwMode="auto">
            <a:xfrm flipV="1">
              <a:off x="7005" y="6799"/>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80" name="Line 40"/>
            <p:cNvSpPr>
              <a:spLocks noChangeShapeType="1"/>
            </p:cNvSpPr>
            <p:nvPr/>
          </p:nvSpPr>
          <p:spPr bwMode="auto">
            <a:xfrm flipV="1">
              <a:off x="7545" y="6799"/>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81" name="Line 41"/>
            <p:cNvSpPr>
              <a:spLocks noChangeShapeType="1"/>
            </p:cNvSpPr>
            <p:nvPr/>
          </p:nvSpPr>
          <p:spPr bwMode="auto">
            <a:xfrm flipV="1">
              <a:off x="8265" y="6799"/>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82" name="Line 42"/>
            <p:cNvSpPr>
              <a:spLocks noChangeShapeType="1"/>
            </p:cNvSpPr>
            <p:nvPr/>
          </p:nvSpPr>
          <p:spPr bwMode="auto">
            <a:xfrm flipV="1">
              <a:off x="8805" y="6799"/>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83" name="Line 43"/>
            <p:cNvSpPr>
              <a:spLocks noChangeShapeType="1"/>
            </p:cNvSpPr>
            <p:nvPr/>
          </p:nvSpPr>
          <p:spPr bwMode="auto">
            <a:xfrm flipV="1">
              <a:off x="3030" y="6553"/>
              <a:ext cx="0" cy="2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84" name="Line 44"/>
            <p:cNvSpPr>
              <a:spLocks noChangeShapeType="1"/>
            </p:cNvSpPr>
            <p:nvPr/>
          </p:nvSpPr>
          <p:spPr bwMode="auto">
            <a:xfrm flipV="1">
              <a:off x="7905" y="6397"/>
              <a:ext cx="0" cy="3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85" name="Line 45"/>
            <p:cNvSpPr>
              <a:spLocks noChangeShapeType="1"/>
            </p:cNvSpPr>
            <p:nvPr/>
          </p:nvSpPr>
          <p:spPr bwMode="auto">
            <a:xfrm flipV="1">
              <a:off x="5565" y="5461"/>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86" name="Line 46"/>
            <p:cNvSpPr>
              <a:spLocks noChangeShapeType="1"/>
            </p:cNvSpPr>
            <p:nvPr/>
          </p:nvSpPr>
          <p:spPr bwMode="auto">
            <a:xfrm>
              <a:off x="3135" y="7957"/>
              <a:ext cx="159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87" name="Line 47"/>
            <p:cNvSpPr>
              <a:spLocks noChangeShapeType="1"/>
            </p:cNvSpPr>
            <p:nvPr/>
          </p:nvSpPr>
          <p:spPr bwMode="auto">
            <a:xfrm flipV="1">
              <a:off x="3135" y="7957"/>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88" name="Line 48"/>
            <p:cNvSpPr>
              <a:spLocks noChangeShapeType="1"/>
            </p:cNvSpPr>
            <p:nvPr/>
          </p:nvSpPr>
          <p:spPr bwMode="auto">
            <a:xfrm flipV="1">
              <a:off x="3675" y="7957"/>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89" name="Line 49"/>
            <p:cNvSpPr>
              <a:spLocks noChangeShapeType="1"/>
            </p:cNvSpPr>
            <p:nvPr/>
          </p:nvSpPr>
          <p:spPr bwMode="auto">
            <a:xfrm flipV="1">
              <a:off x="4290" y="7957"/>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90" name="Line 50"/>
            <p:cNvSpPr>
              <a:spLocks noChangeShapeType="1"/>
            </p:cNvSpPr>
            <p:nvPr/>
          </p:nvSpPr>
          <p:spPr bwMode="auto">
            <a:xfrm flipV="1">
              <a:off x="4740" y="7957"/>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91" name="Line 51"/>
            <p:cNvSpPr>
              <a:spLocks noChangeShapeType="1"/>
            </p:cNvSpPr>
            <p:nvPr/>
          </p:nvSpPr>
          <p:spPr bwMode="auto">
            <a:xfrm flipV="1">
              <a:off x="4290" y="7500"/>
              <a:ext cx="0" cy="4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92" name="Line 52"/>
            <p:cNvSpPr>
              <a:spLocks noChangeShapeType="1"/>
            </p:cNvSpPr>
            <p:nvPr/>
          </p:nvSpPr>
          <p:spPr bwMode="auto">
            <a:xfrm>
              <a:off x="2595" y="9679"/>
              <a:ext cx="159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93" name="Line 53"/>
            <p:cNvSpPr>
              <a:spLocks noChangeShapeType="1"/>
            </p:cNvSpPr>
            <p:nvPr/>
          </p:nvSpPr>
          <p:spPr bwMode="auto">
            <a:xfrm flipV="1">
              <a:off x="2595" y="9679"/>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94" name="Line 54"/>
            <p:cNvSpPr>
              <a:spLocks noChangeShapeType="1"/>
            </p:cNvSpPr>
            <p:nvPr/>
          </p:nvSpPr>
          <p:spPr bwMode="auto">
            <a:xfrm flipV="1">
              <a:off x="3135" y="9679"/>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95" name="Line 55"/>
            <p:cNvSpPr>
              <a:spLocks noChangeShapeType="1"/>
            </p:cNvSpPr>
            <p:nvPr/>
          </p:nvSpPr>
          <p:spPr bwMode="auto">
            <a:xfrm flipV="1">
              <a:off x="3675" y="9679"/>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96" name="Line 56"/>
            <p:cNvSpPr>
              <a:spLocks noChangeShapeType="1"/>
            </p:cNvSpPr>
            <p:nvPr/>
          </p:nvSpPr>
          <p:spPr bwMode="auto">
            <a:xfrm flipV="1">
              <a:off x="4185" y="9679"/>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97" name="Text Box 57"/>
            <p:cNvSpPr txBox="1">
              <a:spLocks noChangeArrowheads="1"/>
            </p:cNvSpPr>
            <p:nvPr/>
          </p:nvSpPr>
          <p:spPr bwMode="auto">
            <a:xfrm>
              <a:off x="6360" y="8113"/>
              <a:ext cx="360" cy="110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一般性技术</a:t>
              </a:r>
              <a:endParaRPr lang="zh-CN" altLang="en-US" sz="1400" b="1">
                <a:latin typeface="Arial" pitchFamily="34" charset="0"/>
              </a:endParaRPr>
            </a:p>
          </p:txBody>
        </p:sp>
        <p:sp>
          <p:nvSpPr>
            <p:cNvPr id="14398" name="Text Box 58"/>
            <p:cNvSpPr txBox="1">
              <a:spLocks noChangeArrowheads="1"/>
            </p:cNvSpPr>
            <p:nvPr/>
          </p:nvSpPr>
          <p:spPr bwMode="auto">
            <a:xfrm>
              <a:off x="6900" y="8113"/>
              <a:ext cx="360" cy="110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计算机软件</a:t>
              </a:r>
              <a:endParaRPr lang="zh-CN" altLang="en-US" sz="1400" b="1">
                <a:latin typeface="Arial" pitchFamily="34" charset="0"/>
              </a:endParaRPr>
            </a:p>
          </p:txBody>
        </p:sp>
        <p:sp>
          <p:nvSpPr>
            <p:cNvPr id="14399" name="Text Box 59"/>
            <p:cNvSpPr txBox="1">
              <a:spLocks noChangeArrowheads="1"/>
            </p:cNvSpPr>
            <p:nvPr/>
          </p:nvSpPr>
          <p:spPr bwMode="auto">
            <a:xfrm>
              <a:off x="7395" y="8113"/>
              <a:ext cx="360" cy="140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电子模拟计算机</a:t>
              </a:r>
              <a:endParaRPr lang="zh-CN" altLang="en-US" sz="1400" b="1">
                <a:latin typeface="Arial" pitchFamily="34" charset="0"/>
              </a:endParaRPr>
            </a:p>
          </p:txBody>
        </p:sp>
        <p:sp>
          <p:nvSpPr>
            <p:cNvPr id="14400" name="Text Box 60"/>
            <p:cNvSpPr txBox="1">
              <a:spLocks noChangeArrowheads="1"/>
            </p:cNvSpPr>
            <p:nvPr/>
          </p:nvSpPr>
          <p:spPr bwMode="auto">
            <a:xfrm>
              <a:off x="7890" y="8113"/>
              <a:ext cx="360" cy="12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微型计算机</a:t>
              </a:r>
              <a:endParaRPr lang="zh-CN" altLang="en-US" sz="1400" b="1">
                <a:latin typeface="Arial" pitchFamily="34" charset="0"/>
              </a:endParaRPr>
            </a:p>
          </p:txBody>
        </p:sp>
        <p:sp>
          <p:nvSpPr>
            <p:cNvPr id="14401" name="Line 61"/>
            <p:cNvSpPr>
              <a:spLocks noChangeShapeType="1"/>
            </p:cNvSpPr>
            <p:nvPr/>
          </p:nvSpPr>
          <p:spPr bwMode="auto">
            <a:xfrm>
              <a:off x="6546" y="7957"/>
              <a:ext cx="249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02" name="Line 62"/>
            <p:cNvSpPr>
              <a:spLocks noChangeShapeType="1"/>
            </p:cNvSpPr>
            <p:nvPr/>
          </p:nvSpPr>
          <p:spPr bwMode="auto">
            <a:xfrm flipV="1">
              <a:off x="6540" y="7957"/>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03" name="Line 63"/>
            <p:cNvSpPr>
              <a:spLocks noChangeShapeType="1"/>
            </p:cNvSpPr>
            <p:nvPr/>
          </p:nvSpPr>
          <p:spPr bwMode="auto">
            <a:xfrm flipV="1">
              <a:off x="7080" y="7957"/>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04" name="Line 64"/>
            <p:cNvSpPr>
              <a:spLocks noChangeShapeType="1"/>
            </p:cNvSpPr>
            <p:nvPr/>
          </p:nvSpPr>
          <p:spPr bwMode="auto">
            <a:xfrm flipV="1">
              <a:off x="7575" y="7957"/>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05" name="Line 65"/>
            <p:cNvSpPr>
              <a:spLocks noChangeShapeType="1"/>
            </p:cNvSpPr>
            <p:nvPr/>
          </p:nvSpPr>
          <p:spPr bwMode="auto">
            <a:xfrm flipV="1">
              <a:off x="8085" y="7957"/>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06" name="Text Box 66"/>
            <p:cNvSpPr txBox="1">
              <a:spLocks noChangeArrowheads="1"/>
            </p:cNvSpPr>
            <p:nvPr/>
          </p:nvSpPr>
          <p:spPr bwMode="auto">
            <a:xfrm>
              <a:off x="8850" y="8113"/>
              <a:ext cx="360" cy="140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计算机的应用</a:t>
              </a:r>
              <a:endParaRPr lang="zh-CN" altLang="en-US" sz="1400" b="1">
                <a:latin typeface="Arial" pitchFamily="34" charset="0"/>
              </a:endParaRPr>
            </a:p>
          </p:txBody>
        </p:sp>
        <p:sp>
          <p:nvSpPr>
            <p:cNvPr id="14407" name="Line 67"/>
            <p:cNvSpPr>
              <a:spLocks noChangeShapeType="1"/>
            </p:cNvSpPr>
            <p:nvPr/>
          </p:nvSpPr>
          <p:spPr bwMode="auto">
            <a:xfrm flipV="1">
              <a:off x="8550" y="7957"/>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08" name="Line 68"/>
            <p:cNvSpPr>
              <a:spLocks noChangeShapeType="1"/>
            </p:cNvSpPr>
            <p:nvPr/>
          </p:nvSpPr>
          <p:spPr bwMode="auto">
            <a:xfrm flipV="1">
              <a:off x="9045" y="7957"/>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09" name="Line 69"/>
            <p:cNvSpPr>
              <a:spLocks noChangeShapeType="1"/>
            </p:cNvSpPr>
            <p:nvPr/>
          </p:nvSpPr>
          <p:spPr bwMode="auto">
            <a:xfrm flipV="1">
              <a:off x="4713" y="6319"/>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0" name="Line 70"/>
            <p:cNvSpPr>
              <a:spLocks noChangeShapeType="1"/>
            </p:cNvSpPr>
            <p:nvPr/>
          </p:nvSpPr>
          <p:spPr bwMode="auto">
            <a:xfrm flipV="1">
              <a:off x="5253" y="6559"/>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1" name="Line 71"/>
            <p:cNvSpPr>
              <a:spLocks noChangeShapeType="1"/>
            </p:cNvSpPr>
            <p:nvPr/>
          </p:nvSpPr>
          <p:spPr bwMode="auto">
            <a:xfrm flipV="1">
              <a:off x="5793" y="6559"/>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2" name="Line 72"/>
            <p:cNvSpPr>
              <a:spLocks noChangeShapeType="1"/>
            </p:cNvSpPr>
            <p:nvPr/>
          </p:nvSpPr>
          <p:spPr bwMode="auto">
            <a:xfrm flipV="1">
              <a:off x="6333" y="6559"/>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3" name="Line 73"/>
            <p:cNvSpPr>
              <a:spLocks noChangeShapeType="1"/>
            </p:cNvSpPr>
            <p:nvPr/>
          </p:nvSpPr>
          <p:spPr bwMode="auto">
            <a:xfrm flipV="1">
              <a:off x="7575" y="7730"/>
              <a:ext cx="0" cy="2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4" name="Line 74"/>
            <p:cNvSpPr>
              <a:spLocks noChangeShapeType="1"/>
            </p:cNvSpPr>
            <p:nvPr/>
          </p:nvSpPr>
          <p:spPr bwMode="auto">
            <a:xfrm flipV="1">
              <a:off x="2490" y="6799"/>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5" name="Line 75"/>
            <p:cNvSpPr>
              <a:spLocks noChangeShapeType="1"/>
            </p:cNvSpPr>
            <p:nvPr/>
          </p:nvSpPr>
          <p:spPr bwMode="auto">
            <a:xfrm flipV="1">
              <a:off x="3135" y="9361"/>
              <a:ext cx="0" cy="31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6" name="Line 76"/>
            <p:cNvSpPr>
              <a:spLocks noChangeShapeType="1"/>
            </p:cNvSpPr>
            <p:nvPr/>
          </p:nvSpPr>
          <p:spPr bwMode="auto">
            <a:xfrm flipV="1">
              <a:off x="3690" y="9442"/>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7" name="Line 77"/>
            <p:cNvSpPr>
              <a:spLocks noChangeShapeType="1"/>
            </p:cNvSpPr>
            <p:nvPr/>
          </p:nvSpPr>
          <p:spPr bwMode="auto">
            <a:xfrm flipV="1">
              <a:off x="4755" y="8797"/>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8" name="Line 78"/>
            <p:cNvSpPr>
              <a:spLocks noChangeShapeType="1"/>
            </p:cNvSpPr>
            <p:nvPr/>
          </p:nvSpPr>
          <p:spPr bwMode="auto">
            <a:xfrm flipV="1">
              <a:off x="6915" y="7735"/>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9" name="Line 79"/>
            <p:cNvSpPr>
              <a:spLocks noChangeShapeType="1"/>
            </p:cNvSpPr>
            <p:nvPr/>
          </p:nvSpPr>
          <p:spPr bwMode="auto">
            <a:xfrm flipV="1">
              <a:off x="8280" y="7735"/>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20" name="Line 80"/>
            <p:cNvSpPr>
              <a:spLocks noChangeShapeType="1"/>
            </p:cNvSpPr>
            <p:nvPr/>
          </p:nvSpPr>
          <p:spPr bwMode="auto">
            <a:xfrm flipV="1">
              <a:off x="8820" y="7735"/>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21" name="Text Box 81"/>
            <p:cNvSpPr txBox="1">
              <a:spLocks noChangeArrowheads="1"/>
            </p:cNvSpPr>
            <p:nvPr/>
          </p:nvSpPr>
          <p:spPr bwMode="auto">
            <a:xfrm>
              <a:off x="5025" y="5194"/>
              <a:ext cx="1080" cy="312"/>
            </a:xfrm>
            <a:prstGeom prst="rect">
              <a:avLst/>
            </a:prstGeom>
            <a:solidFill>
              <a:srgbClr val="FFFFFF"/>
            </a:solidFill>
            <a:ln w="9525">
              <a:solidFill>
                <a:srgbClr val="000000"/>
              </a:solidFill>
              <a:miter lim="800000"/>
              <a:headEnd/>
              <a:tailEnd/>
            </a:ln>
          </p:spPr>
          <p:txBody>
            <a:bodyPr tIns="10800" bIns="1080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t>图书</a:t>
              </a:r>
              <a:endParaRPr lang="zh-CN" altLang="en-US" sz="1400" b="1">
                <a:latin typeface="Arial" pitchFamily="34" charset="0"/>
              </a:endParaRPr>
            </a:p>
          </p:txBody>
        </p:sp>
        <p:sp>
          <p:nvSpPr>
            <p:cNvPr id="14422" name="Text Box 82"/>
            <p:cNvSpPr txBox="1">
              <a:spLocks noChangeArrowheads="1"/>
            </p:cNvSpPr>
            <p:nvPr/>
          </p:nvSpPr>
          <p:spPr bwMode="auto">
            <a:xfrm>
              <a:off x="3738" y="5989"/>
              <a:ext cx="180" cy="3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400" b="1">
                  <a:latin typeface="Arial Black" pitchFamily="34" charset="0"/>
                </a:rPr>
                <a:t>…</a:t>
              </a:r>
              <a:endParaRPr lang="zh-CN" altLang="zh-CN" sz="1400" b="1">
                <a:latin typeface="Arial" pitchFamily="34" charset="0"/>
              </a:endParaRPr>
            </a:p>
          </p:txBody>
        </p:sp>
        <p:sp>
          <p:nvSpPr>
            <p:cNvPr id="14423" name="Text Box 83"/>
            <p:cNvSpPr txBox="1">
              <a:spLocks noChangeArrowheads="1"/>
            </p:cNvSpPr>
            <p:nvPr/>
          </p:nvSpPr>
          <p:spPr bwMode="auto">
            <a:xfrm>
              <a:off x="8445" y="8644"/>
              <a:ext cx="180" cy="3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400" b="1">
                  <a:latin typeface="Arial Black" pitchFamily="34" charset="0"/>
                </a:rPr>
                <a:t>…</a:t>
              </a:r>
              <a:endParaRPr lang="zh-CN" altLang="zh-CN" sz="1400" b="1">
                <a:latin typeface="Arial" pitchFamily="34" charset="0"/>
              </a:endParaRPr>
            </a:p>
          </p:txBody>
        </p:sp>
        <p:sp>
          <p:nvSpPr>
            <p:cNvPr id="14424" name="Text Box 84"/>
            <p:cNvSpPr txBox="1">
              <a:spLocks noChangeArrowheads="1"/>
            </p:cNvSpPr>
            <p:nvPr/>
          </p:nvSpPr>
          <p:spPr bwMode="auto">
            <a:xfrm>
              <a:off x="6405" y="9895"/>
              <a:ext cx="360" cy="1100"/>
            </a:xfrm>
            <a:prstGeom prst="rect">
              <a:avLst/>
            </a:prstGeom>
            <a:solidFill>
              <a:srgbClr val="BFBFB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软件工程</a:t>
              </a:r>
              <a:endParaRPr lang="zh-CN" altLang="en-US" sz="1400" b="1">
                <a:latin typeface="Arial" pitchFamily="34" charset="0"/>
              </a:endParaRPr>
            </a:p>
          </p:txBody>
        </p:sp>
        <p:sp>
          <p:nvSpPr>
            <p:cNvPr id="14425" name="Text Box 85"/>
            <p:cNvSpPr txBox="1">
              <a:spLocks noChangeArrowheads="1"/>
            </p:cNvSpPr>
            <p:nvPr/>
          </p:nvSpPr>
          <p:spPr bwMode="auto">
            <a:xfrm>
              <a:off x="6945" y="9895"/>
              <a:ext cx="360" cy="1100"/>
            </a:xfrm>
            <a:prstGeom prst="rect">
              <a:avLst/>
            </a:prstGeom>
            <a:solidFill>
              <a:srgbClr val="BFBFB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程序语言</a:t>
              </a:r>
              <a:endParaRPr lang="zh-CN" altLang="en-US" sz="1400" b="1">
                <a:latin typeface="Arial" pitchFamily="34" charset="0"/>
              </a:endParaRPr>
            </a:p>
          </p:txBody>
        </p:sp>
        <p:sp>
          <p:nvSpPr>
            <p:cNvPr id="14426" name="Text Box 86"/>
            <p:cNvSpPr txBox="1">
              <a:spLocks noChangeArrowheads="1"/>
            </p:cNvSpPr>
            <p:nvPr/>
          </p:nvSpPr>
          <p:spPr bwMode="auto">
            <a:xfrm>
              <a:off x="7845" y="9895"/>
              <a:ext cx="360" cy="1100"/>
            </a:xfrm>
            <a:prstGeom prst="rect">
              <a:avLst/>
            </a:prstGeom>
            <a:solidFill>
              <a:srgbClr val="BFBFB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编译程序</a:t>
              </a:r>
              <a:endParaRPr lang="zh-CN" altLang="en-US" sz="1400" b="1">
                <a:latin typeface="Arial" pitchFamily="34" charset="0"/>
              </a:endParaRPr>
            </a:p>
          </p:txBody>
        </p:sp>
        <p:sp>
          <p:nvSpPr>
            <p:cNvPr id="14427" name="Text Box 87"/>
            <p:cNvSpPr txBox="1">
              <a:spLocks noChangeArrowheads="1"/>
            </p:cNvSpPr>
            <p:nvPr/>
          </p:nvSpPr>
          <p:spPr bwMode="auto">
            <a:xfrm>
              <a:off x="8385" y="9895"/>
              <a:ext cx="360" cy="1100"/>
            </a:xfrm>
            <a:prstGeom prst="rect">
              <a:avLst/>
            </a:prstGeom>
            <a:solidFill>
              <a:srgbClr val="BFBFBF"/>
            </a:solidFill>
            <a:ln w="9525">
              <a:solidFill>
                <a:srgbClr val="000000"/>
              </a:solidFill>
              <a:miter lim="800000"/>
              <a:headEnd/>
              <a:tailEnd/>
            </a:ln>
          </p:spPr>
          <p:txBody>
            <a:bodyPr vert="eaVert"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400" b="1">
                  <a:ea typeface="楷体_GB2312" pitchFamily="49" charset="-122"/>
                </a:rPr>
                <a:t>操作系统</a:t>
              </a:r>
              <a:endParaRPr lang="zh-CN" altLang="en-US" sz="1400" b="1">
                <a:latin typeface="Arial" pitchFamily="34" charset="0"/>
              </a:endParaRPr>
            </a:p>
          </p:txBody>
        </p:sp>
        <p:sp>
          <p:nvSpPr>
            <p:cNvPr id="14428" name="Line 88"/>
            <p:cNvSpPr>
              <a:spLocks noChangeShapeType="1"/>
            </p:cNvSpPr>
            <p:nvPr/>
          </p:nvSpPr>
          <p:spPr bwMode="auto">
            <a:xfrm>
              <a:off x="6585" y="9739"/>
              <a:ext cx="198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29" name="Line 89"/>
            <p:cNvSpPr>
              <a:spLocks noChangeShapeType="1"/>
            </p:cNvSpPr>
            <p:nvPr/>
          </p:nvSpPr>
          <p:spPr bwMode="auto">
            <a:xfrm flipV="1">
              <a:off x="6585" y="9739"/>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30" name="Line 90"/>
            <p:cNvSpPr>
              <a:spLocks noChangeShapeType="1"/>
            </p:cNvSpPr>
            <p:nvPr/>
          </p:nvSpPr>
          <p:spPr bwMode="auto">
            <a:xfrm flipV="1">
              <a:off x="7125" y="9739"/>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31" name="Line 91"/>
            <p:cNvSpPr>
              <a:spLocks noChangeShapeType="1"/>
            </p:cNvSpPr>
            <p:nvPr/>
          </p:nvSpPr>
          <p:spPr bwMode="auto">
            <a:xfrm flipV="1">
              <a:off x="8025" y="9739"/>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32" name="Line 92"/>
            <p:cNvSpPr>
              <a:spLocks noChangeShapeType="1"/>
            </p:cNvSpPr>
            <p:nvPr/>
          </p:nvSpPr>
          <p:spPr bwMode="auto">
            <a:xfrm flipV="1">
              <a:off x="8565" y="9739"/>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33" name="Line 93"/>
            <p:cNvSpPr>
              <a:spLocks noChangeShapeType="1"/>
            </p:cNvSpPr>
            <p:nvPr/>
          </p:nvSpPr>
          <p:spPr bwMode="auto">
            <a:xfrm flipV="1">
              <a:off x="7095" y="9216"/>
              <a:ext cx="0" cy="52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34" name="Text Box 94"/>
            <p:cNvSpPr txBox="1">
              <a:spLocks noChangeArrowheads="1"/>
            </p:cNvSpPr>
            <p:nvPr/>
          </p:nvSpPr>
          <p:spPr bwMode="auto">
            <a:xfrm>
              <a:off x="7500" y="10263"/>
              <a:ext cx="180" cy="3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400" b="1">
                  <a:latin typeface="Arial Black" pitchFamily="34" charset="0"/>
                </a:rPr>
                <a:t>…</a:t>
              </a:r>
              <a:endParaRPr lang="zh-CN" altLang="zh-CN" sz="1400" b="1">
                <a:latin typeface="Arial" pitchFamily="34" charset="0"/>
              </a:endParaRPr>
            </a:p>
          </p:txBody>
        </p:sp>
        <p:sp>
          <p:nvSpPr>
            <p:cNvPr id="14435" name="Text Box 95"/>
            <p:cNvSpPr txBox="1">
              <a:spLocks noChangeArrowheads="1"/>
            </p:cNvSpPr>
            <p:nvPr/>
          </p:nvSpPr>
          <p:spPr bwMode="auto">
            <a:xfrm>
              <a:off x="4125" y="8332"/>
              <a:ext cx="180" cy="3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400" b="1">
                  <a:latin typeface="Arial Black" pitchFamily="34" charset="0"/>
                </a:rPr>
                <a:t>…</a:t>
              </a:r>
              <a:endParaRPr lang="zh-CN" altLang="zh-CN" sz="1400" b="1">
                <a:latin typeface="Arial" pitchFamily="34" charset="0"/>
              </a:endParaRPr>
            </a:p>
          </p:txBody>
        </p:sp>
        <p:sp>
          <p:nvSpPr>
            <p:cNvPr id="14436" name="Text Box 96"/>
            <p:cNvSpPr txBox="1">
              <a:spLocks noChangeArrowheads="1"/>
            </p:cNvSpPr>
            <p:nvPr/>
          </p:nvSpPr>
          <p:spPr bwMode="auto">
            <a:xfrm>
              <a:off x="3585" y="10248"/>
              <a:ext cx="180" cy="3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400" b="1">
                  <a:latin typeface="Arial Black" pitchFamily="34" charset="0"/>
                </a:rPr>
                <a:t>…</a:t>
              </a:r>
              <a:endParaRPr lang="zh-CN" altLang="zh-CN" sz="1400" b="1">
                <a:latin typeface="Arial" pitchFamily="34" charset="0"/>
              </a:endParaRPr>
            </a:p>
          </p:txBody>
        </p:sp>
        <p:sp>
          <p:nvSpPr>
            <p:cNvPr id="14437" name="Line 97"/>
            <p:cNvSpPr>
              <a:spLocks noChangeShapeType="1"/>
            </p:cNvSpPr>
            <p:nvPr/>
          </p:nvSpPr>
          <p:spPr bwMode="auto">
            <a:xfrm flipV="1">
              <a:off x="6540" y="9211"/>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38" name="Line 98"/>
            <p:cNvSpPr>
              <a:spLocks noChangeShapeType="1"/>
            </p:cNvSpPr>
            <p:nvPr/>
          </p:nvSpPr>
          <p:spPr bwMode="auto">
            <a:xfrm flipV="1">
              <a:off x="7599" y="9511"/>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39" name="Line 99"/>
            <p:cNvSpPr>
              <a:spLocks noChangeShapeType="1"/>
            </p:cNvSpPr>
            <p:nvPr/>
          </p:nvSpPr>
          <p:spPr bwMode="auto">
            <a:xfrm flipV="1">
              <a:off x="8085" y="9361"/>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40" name="Line 100"/>
            <p:cNvSpPr>
              <a:spLocks noChangeShapeType="1"/>
            </p:cNvSpPr>
            <p:nvPr/>
          </p:nvSpPr>
          <p:spPr bwMode="auto">
            <a:xfrm flipV="1">
              <a:off x="9045" y="9511"/>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41" name="Line 101"/>
            <p:cNvSpPr>
              <a:spLocks noChangeShapeType="1"/>
            </p:cNvSpPr>
            <p:nvPr/>
          </p:nvSpPr>
          <p:spPr bwMode="auto">
            <a:xfrm flipV="1">
              <a:off x="3030" y="6795"/>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42" name="Line 102"/>
            <p:cNvSpPr>
              <a:spLocks noChangeShapeType="1"/>
            </p:cNvSpPr>
            <p:nvPr/>
          </p:nvSpPr>
          <p:spPr bwMode="auto">
            <a:xfrm flipV="1">
              <a:off x="3750" y="6797"/>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 name="矩形 1"/>
          <p:cNvSpPr/>
          <p:nvPr/>
        </p:nvSpPr>
        <p:spPr>
          <a:xfrm>
            <a:off x="2686628" y="188640"/>
            <a:ext cx="3249608" cy="523220"/>
          </a:xfrm>
          <a:prstGeom prst="rect">
            <a:avLst/>
          </a:prstGeom>
        </p:spPr>
        <p:txBody>
          <a:bodyPr wrap="none">
            <a:spAutoFit/>
          </a:bodyPr>
          <a:lstStyle/>
          <a:p>
            <a:r>
              <a:rPr lang="en-US" altLang="zh-CN" dirty="0">
                <a:solidFill>
                  <a:srgbClr val="EBEBEB"/>
                </a:solidFill>
              </a:rPr>
              <a:t>(1-</a:t>
            </a:r>
            <a:r>
              <a:rPr lang="zh-CN" altLang="en-US" dirty="0">
                <a:solidFill>
                  <a:srgbClr val="EBEBEB"/>
                </a:solidFill>
              </a:rPr>
              <a:t>图书馆馆藏目录</a:t>
            </a:r>
            <a:r>
              <a:rPr lang="en-US" altLang="zh-CN" dirty="0">
                <a:solidFill>
                  <a:srgbClr val="EBEBEB"/>
                </a:solidFill>
              </a:rPr>
              <a:t>)</a:t>
            </a:r>
          </a:p>
        </p:txBody>
      </p:sp>
    </p:spTree>
    <p:extLst>
      <p:ext uri="{BB962C8B-B14F-4D97-AF65-F5344CB8AC3E}">
        <p14:creationId xmlns:p14="http://schemas.microsoft.com/office/powerpoint/2010/main" val="106086803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66562"/>
                                        </p:tgtEl>
                                        <p:attrNameLst>
                                          <p:attrName>style.visibility</p:attrName>
                                        </p:attrNameLst>
                                      </p:cBhvr>
                                      <p:to>
                                        <p:strVal val="visible"/>
                                      </p:to>
                                    </p:set>
                                    <p:animEffect transition="in" filter="wipe(up)">
                                      <p:cBhvr>
                                        <p:cTn id="7" dur="2000"/>
                                        <p:tgtEl>
                                          <p:spTgt spid="66562"/>
                                        </p:tgtEl>
                                      </p:cBhvr>
                                    </p:animEffect>
                                  </p:childTnLst>
                                  <p:subTnLst>
                                    <p:audio>
                                      <p:cMediaNode>
                                        <p:cTn display="0" masterRel="sameClick">
                                          <p:stCondLst>
                                            <p:cond evt="begin" delay="0">
                                              <p:tn val="5"/>
                                            </p:cond>
                                          </p:stCondLst>
                                          <p:endCondLst>
                                            <p:cond evt="onStopAudio" delay="0">
                                              <p:tgtEl>
                                                <p:sldTgt/>
                                              </p:tgtEl>
                                            </p:cond>
                                          </p:endCondLst>
                                        </p:cTn>
                                        <p:tgtEl>
                                          <p:sndTgt r:embed="rId2"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3" name="內容版面配置區 4"/>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239713" y="992188"/>
            <a:ext cx="4138612" cy="4603750"/>
          </a:xfrm>
        </p:spPr>
      </p:pic>
      <p:cxnSp>
        <p:nvCxnSpPr>
          <p:cNvPr id="8" name="直線接點 7"/>
          <p:cNvCxnSpPr/>
          <p:nvPr/>
        </p:nvCxnSpPr>
        <p:spPr>
          <a:xfrm>
            <a:off x="4583113" y="741363"/>
            <a:ext cx="28575" cy="5106987"/>
          </a:xfrm>
          <a:prstGeom prst="line">
            <a:avLst/>
          </a:prstGeom>
          <a:ln w="57150"/>
        </p:spPr>
        <p:style>
          <a:lnRef idx="1">
            <a:schemeClr val="dk1"/>
          </a:lnRef>
          <a:fillRef idx="0">
            <a:schemeClr val="dk1"/>
          </a:fillRef>
          <a:effectRef idx="0">
            <a:schemeClr val="dk1"/>
          </a:effectRef>
          <a:fontRef idx="minor">
            <a:schemeClr val="tx1"/>
          </a:fontRef>
        </p:style>
      </p:cxnSp>
      <p:sp>
        <p:nvSpPr>
          <p:cNvPr id="15366" name="文字方塊 9"/>
          <p:cNvSpPr txBox="1">
            <a:spLocks noChangeArrowheads="1"/>
          </p:cNvSpPr>
          <p:nvPr/>
        </p:nvSpPr>
        <p:spPr bwMode="auto">
          <a:xfrm>
            <a:off x="755650" y="6308725"/>
            <a:ext cx="24479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b="1"/>
              <a:t>成龙家谱</a:t>
            </a:r>
          </a:p>
        </p:txBody>
      </p:sp>
      <p:sp>
        <p:nvSpPr>
          <p:cNvPr id="15367" name="文字方塊 10"/>
          <p:cNvSpPr txBox="1">
            <a:spLocks noChangeArrowheads="1"/>
          </p:cNvSpPr>
          <p:nvPr/>
        </p:nvSpPr>
        <p:spPr bwMode="auto">
          <a:xfrm>
            <a:off x="5508625" y="6309320"/>
            <a:ext cx="280828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b="1" dirty="0"/>
              <a:t>林氏家谱</a:t>
            </a:r>
          </a:p>
        </p:txBody>
      </p:sp>
      <p:pic>
        <p:nvPicPr>
          <p:cNvPr id="15368" name="圖片 1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87900" y="763588"/>
            <a:ext cx="4240213" cy="530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矩形 1"/>
          <p:cNvSpPr/>
          <p:nvPr/>
        </p:nvSpPr>
        <p:spPr>
          <a:xfrm>
            <a:off x="3491880" y="188640"/>
            <a:ext cx="1446230" cy="523220"/>
          </a:xfrm>
          <a:prstGeom prst="rect">
            <a:avLst/>
          </a:prstGeom>
        </p:spPr>
        <p:txBody>
          <a:bodyPr wrap="none">
            <a:spAutoFit/>
          </a:bodyPr>
          <a:lstStyle/>
          <a:p>
            <a:r>
              <a:rPr lang="en-US" altLang="zh-CN" dirty="0">
                <a:solidFill>
                  <a:srgbClr val="EBEBEB"/>
                </a:solidFill>
              </a:rPr>
              <a:t>(2-</a:t>
            </a:r>
            <a:r>
              <a:rPr lang="zh-CN" altLang="en-US" dirty="0">
                <a:solidFill>
                  <a:srgbClr val="EBEBEB"/>
                </a:solidFill>
              </a:rPr>
              <a:t>家谱</a:t>
            </a:r>
            <a:r>
              <a:rPr lang="en-US" altLang="zh-CN" dirty="0">
                <a:solidFill>
                  <a:srgbClr val="EBEBEB"/>
                </a:solidFill>
              </a:rPr>
              <a:t>)</a:t>
            </a:r>
            <a:endParaRPr lang="zh-CN" altLang="en-US" dirty="0">
              <a:solidFill>
                <a:srgbClr val="EBEBEB"/>
              </a:solidFill>
            </a:endParaRPr>
          </a:p>
        </p:txBody>
      </p:sp>
    </p:spTree>
    <p:extLst>
      <p:ext uri="{BB962C8B-B14F-4D97-AF65-F5344CB8AC3E}">
        <p14:creationId xmlns:p14="http://schemas.microsoft.com/office/powerpoint/2010/main" val="2221873881"/>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內容版面配置區 8"/>
          <p:cNvPicPr>
            <a:picLocks noGrp="1" noChangeAspect="1" noChangeArrowheads="1"/>
          </p:cNvPicPr>
          <p:nvPr>
            <p:ph sz="half" idx="2"/>
          </p:nvPr>
        </p:nvPicPr>
        <p:blipFill>
          <a:blip r:embed="rId2">
            <a:extLst>
              <a:ext uri="{28A0092B-C50C-407E-A947-70E740481C1C}">
                <a14:useLocalDpi xmlns:a14="http://schemas.microsoft.com/office/drawing/2010/main" val="0"/>
              </a:ext>
            </a:extLst>
          </a:blip>
          <a:srcRect/>
          <a:stretch>
            <a:fillRect/>
          </a:stretch>
        </p:blipFill>
        <p:spPr>
          <a:xfrm>
            <a:off x="366713" y="765175"/>
            <a:ext cx="3457575" cy="4818063"/>
          </a:xfrm>
        </p:spPr>
      </p:pic>
      <p:pic>
        <p:nvPicPr>
          <p:cNvPr id="16388" name="內容版面配置區 9"/>
          <p:cNvPicPr>
            <a:picLocks noGrp="1" noChangeAspect="1" noChangeArrowheads="1"/>
          </p:cNvPicPr>
          <p:nvPr>
            <p:ph sz="quarter" idx="4"/>
          </p:nvPr>
        </p:nvPicPr>
        <p:blipFill>
          <a:blip r:embed="rId3">
            <a:extLst>
              <a:ext uri="{28A0092B-C50C-407E-A947-70E740481C1C}">
                <a14:useLocalDpi xmlns:a14="http://schemas.microsoft.com/office/drawing/2010/main" val="0"/>
              </a:ext>
            </a:extLst>
          </a:blip>
          <a:srcRect/>
          <a:stretch>
            <a:fillRect/>
          </a:stretch>
        </p:blipFill>
        <p:spPr>
          <a:xfrm>
            <a:off x="4471988" y="1660525"/>
            <a:ext cx="4519612" cy="3025775"/>
          </a:xfrm>
        </p:spPr>
      </p:pic>
      <p:sp>
        <p:nvSpPr>
          <p:cNvPr id="16389" name="投影片編號版面配置區 3"/>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fld id="{8A1DB423-2833-4BE4-8EA4-8E9972CF20A9}" type="slidenum">
              <a:rPr lang="zh-TW" altLang="en-US" sz="1200" smtClean="0">
                <a:solidFill>
                  <a:srgbClr val="898989"/>
                </a:solidFill>
                <a:ea typeface="PMingLiU" pitchFamily="18" charset="-120"/>
              </a:rPr>
              <a:pPr/>
              <a:t>7</a:t>
            </a:fld>
            <a:endParaRPr lang="zh-TW" altLang="en-US" sz="1200" smtClean="0">
              <a:solidFill>
                <a:srgbClr val="898989"/>
              </a:solidFill>
              <a:ea typeface="PMingLiU" pitchFamily="18" charset="-120"/>
            </a:endParaRPr>
          </a:p>
        </p:txBody>
      </p:sp>
      <p:sp>
        <p:nvSpPr>
          <p:cNvPr id="16390" name="文字方塊 10"/>
          <p:cNvSpPr txBox="1">
            <a:spLocks noChangeArrowheads="1"/>
          </p:cNvSpPr>
          <p:nvPr/>
        </p:nvSpPr>
        <p:spPr bwMode="auto">
          <a:xfrm>
            <a:off x="539552" y="5986790"/>
            <a:ext cx="314072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b="1" dirty="0"/>
              <a:t>Windows</a:t>
            </a:r>
            <a:r>
              <a:rPr lang="zh-CN" altLang="en-US" b="1" dirty="0"/>
              <a:t>目录结构</a:t>
            </a:r>
          </a:p>
        </p:txBody>
      </p:sp>
      <p:sp>
        <p:nvSpPr>
          <p:cNvPr id="16391" name="文字方塊 11"/>
          <p:cNvSpPr txBox="1">
            <a:spLocks noChangeArrowheads="1"/>
          </p:cNvSpPr>
          <p:nvPr/>
        </p:nvSpPr>
        <p:spPr bwMode="auto">
          <a:xfrm>
            <a:off x="4859338" y="5998961"/>
            <a:ext cx="374491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b="1" dirty="0"/>
              <a:t>Linux</a:t>
            </a:r>
            <a:r>
              <a:rPr lang="zh-CN" altLang="en-US" b="1" dirty="0"/>
              <a:t>目录结构</a:t>
            </a:r>
          </a:p>
        </p:txBody>
      </p:sp>
      <p:pic>
        <p:nvPicPr>
          <p:cNvPr id="1639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38613" y="730250"/>
            <a:ext cx="85725" cy="5114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矩形 1"/>
          <p:cNvSpPr/>
          <p:nvPr/>
        </p:nvSpPr>
        <p:spPr>
          <a:xfrm>
            <a:off x="2419196" y="241955"/>
            <a:ext cx="3610284" cy="523220"/>
          </a:xfrm>
          <a:prstGeom prst="rect">
            <a:avLst/>
          </a:prstGeom>
        </p:spPr>
        <p:txBody>
          <a:bodyPr wrap="none">
            <a:spAutoFit/>
          </a:bodyPr>
          <a:lstStyle/>
          <a:p>
            <a:r>
              <a:rPr lang="en-US" altLang="zh-CN" dirty="0">
                <a:solidFill>
                  <a:srgbClr val="EBEBEB"/>
                </a:solidFill>
              </a:rPr>
              <a:t>(3-</a:t>
            </a:r>
            <a:r>
              <a:rPr lang="zh-CN" altLang="en-US" dirty="0">
                <a:solidFill>
                  <a:srgbClr val="EBEBEB"/>
                </a:solidFill>
              </a:rPr>
              <a:t>不同操作系统目录</a:t>
            </a:r>
            <a:r>
              <a:rPr lang="en-US" altLang="zh-CN" dirty="0">
                <a:solidFill>
                  <a:srgbClr val="EBEBEB"/>
                </a:solidFill>
              </a:rPr>
              <a:t>)</a:t>
            </a:r>
            <a:endParaRPr lang="zh-CN" altLang="en-US" dirty="0">
              <a:solidFill>
                <a:srgbClr val="EBEBEB"/>
              </a:solidFill>
            </a:endParaRPr>
          </a:p>
        </p:txBody>
      </p:sp>
    </p:spTree>
    <p:extLst>
      <p:ext uri="{BB962C8B-B14F-4D97-AF65-F5344CB8AC3E}">
        <p14:creationId xmlns:p14="http://schemas.microsoft.com/office/powerpoint/2010/main" val="4228637898"/>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grpSp>
        <p:nvGrpSpPr>
          <p:cNvPr id="4" name="组合 3"/>
          <p:cNvGrpSpPr/>
          <p:nvPr/>
        </p:nvGrpSpPr>
        <p:grpSpPr>
          <a:xfrm>
            <a:off x="1465580" y="1774825"/>
            <a:ext cx="6174105" cy="4318635"/>
            <a:chOff x="2308" y="3247"/>
            <a:chExt cx="9723" cy="6801"/>
          </a:xfrm>
        </p:grpSpPr>
        <p:sp>
          <p:nvSpPr>
            <p:cNvPr id="3" name="矩形: 圆角 16"/>
            <p:cNvSpPr>
              <a:spLocks noChangeArrowheads="1"/>
            </p:cNvSpPr>
            <p:nvPr/>
          </p:nvSpPr>
          <p:spPr bwMode="auto">
            <a:xfrm>
              <a:off x="3843" y="4151"/>
              <a:ext cx="8188" cy="795"/>
            </a:xfrm>
            <a:prstGeom prst="roundRect">
              <a:avLst>
                <a:gd name="adj" fmla="val 16667"/>
              </a:avLst>
            </a:prstGeom>
            <a:solidFill>
              <a:srgbClr val="9476B6"/>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2308" y="4151"/>
              <a:ext cx="1323" cy="795"/>
            </a:xfrm>
            <a:prstGeom prst="roundRect">
              <a:avLst>
                <a:gd name="adj" fmla="val 16667"/>
              </a:avLst>
            </a:pr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4" name="文本框 13"/>
            <p:cNvSpPr txBox="1"/>
            <p:nvPr/>
          </p:nvSpPr>
          <p:spPr>
            <a:xfrm>
              <a:off x="2550" y="3247"/>
              <a:ext cx="1135" cy="6801"/>
            </a:xfrm>
            <a:prstGeom prst="rect">
              <a:avLst/>
            </a:prstGeom>
            <a:noFill/>
          </p:spPr>
          <p:txBody>
            <a:bodyPr>
              <a:noAutofit/>
            </a:bodyPr>
            <a:lstStyle/>
            <a:p>
              <a:pPr marR="0" defTabSz="914400">
                <a:lnSpc>
                  <a:spcPct val="150000"/>
                </a:lnSpc>
                <a:buClrTx/>
                <a:buSzTx/>
                <a:buFontTx/>
                <a:buNone/>
                <a:defRPr/>
              </a:pPr>
              <a:r>
                <a:rPr kumimoji="0" lang="en-US" altLang="zh-CN" sz="2200" b="0" kern="1200" cap="none" spc="0" normalizeH="0" baseline="0" noProof="0" dirty="0">
                  <a:solidFill>
                    <a:schemeClr val="tx1"/>
                  </a:solidFill>
                  <a:latin typeface="+mn-lt"/>
                  <a:ea typeface="+mn-ea"/>
                  <a:cs typeface="+mn-ea"/>
                  <a:sym typeface="+mn-lt"/>
                </a:rPr>
                <a:t>5.1</a:t>
              </a:r>
              <a:endParaRPr kumimoji="0" lang="zh-CN" altLang="en-US" sz="2200" b="0" kern="1200" cap="none" spc="0" normalizeH="0" baseline="0" noProof="0" dirty="0">
                <a:solidFill>
                  <a:schemeClr val="tx1"/>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chemeClr val="bg1"/>
                  </a:solidFill>
                  <a:latin typeface="+mn-lt"/>
                  <a:ea typeface="+mn-ea"/>
                  <a:cs typeface="+mn-ea"/>
                  <a:sym typeface="+mn-lt"/>
                </a:rPr>
                <a:t>5.2</a:t>
              </a:r>
              <a:endParaRPr kumimoji="0" lang="zh-CN" altLang="en-US" sz="2200" b="0" kern="1200" cap="none" spc="0" normalizeH="0" baseline="0" noProof="0" dirty="0">
                <a:solidFill>
                  <a:schemeClr val="bg1"/>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5.3</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5.4</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5.5</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5.6</a:t>
              </a:r>
            </a:p>
            <a:p>
              <a:pPr marR="0" defTabSz="914400">
                <a:lnSpc>
                  <a:spcPct val="150000"/>
                </a:lnSpc>
                <a:buClrTx/>
                <a:buSzTx/>
                <a:buFontTx/>
                <a:buNone/>
                <a:defRPr/>
              </a:pPr>
              <a:r>
                <a:rPr kumimoji="0" lang="en-US" altLang="zh-CN" sz="2200" b="0" kern="1200" cap="none" spc="0" normalizeH="0" baseline="0" noProof="0" dirty="0">
                  <a:solidFill>
                    <a:schemeClr val="accent4"/>
                  </a:solidFill>
                  <a:latin typeface="+mn-lt"/>
                  <a:ea typeface="+mn-ea"/>
                  <a:cs typeface="+mn-ea"/>
                  <a:sym typeface="+mn-lt"/>
                </a:rPr>
                <a:t>5.7</a:t>
              </a:r>
            </a:p>
            <a:p>
              <a:pPr marR="0" defTabSz="914400">
                <a:lnSpc>
                  <a:spcPct val="150000"/>
                </a:lnSpc>
                <a:buClrTx/>
                <a:buSzTx/>
                <a:buFontTx/>
                <a:buNone/>
                <a:defRPr/>
              </a:pPr>
              <a:r>
                <a:rPr kumimoji="0" lang="en-US" altLang="zh-CN" sz="2200" b="0" kern="1200" cap="none" spc="0" normalizeH="0" baseline="0" noProof="0" dirty="0" smtClean="0">
                  <a:solidFill>
                    <a:srgbClr val="000000">
                      <a:lumMod val="95000"/>
                      <a:lumOff val="5000"/>
                    </a:srgbClr>
                  </a:solidFill>
                  <a:latin typeface="+mn-lt"/>
                  <a:ea typeface="+mn-ea"/>
                  <a:cs typeface="+mn-ea"/>
                  <a:sym typeface="+mn-lt"/>
                </a:rPr>
                <a:t>5.8</a:t>
              </a:r>
              <a:endParaRPr kumimoji="0" lang="en-US" altLang="zh-CN" sz="2200" b="0" kern="1200" cap="none" spc="0" normalizeH="0" baseline="0" noProof="0" dirty="0">
                <a:solidFill>
                  <a:srgbClr val="000000">
                    <a:lumMod val="95000"/>
                    <a:lumOff val="5000"/>
                  </a:srgbClr>
                </a:solidFill>
                <a:latin typeface="+mn-lt"/>
                <a:ea typeface="+mn-ea"/>
                <a:cs typeface="+mn-ea"/>
                <a:sym typeface="+mn-lt"/>
              </a:endParaRPr>
            </a:p>
          </p:txBody>
        </p:sp>
        <p:sp>
          <p:nvSpPr>
            <p:cNvPr id="15" name="文本框 14"/>
            <p:cNvSpPr txBox="1"/>
            <p:nvPr/>
          </p:nvSpPr>
          <p:spPr>
            <a:xfrm>
              <a:off x="3870" y="3247"/>
              <a:ext cx="7265" cy="6461"/>
            </a:xfrm>
            <a:prstGeom prst="rect">
              <a:avLst/>
            </a:prstGeom>
            <a:noFill/>
          </p:spPr>
          <p:txBody>
            <a:bodyPr wrap="square">
              <a:noAutofit/>
            </a:bodyPr>
            <a:lstStyle/>
            <a:p>
              <a:pPr>
                <a:lnSpc>
                  <a:spcPct val="150000"/>
                </a:lnSpc>
                <a:defRPr/>
              </a:pPr>
              <a:r>
                <a:rPr lang="zh-CN" altLang="en-US" sz="2200" b="0" dirty="0">
                  <a:solidFill>
                    <a:srgbClr val="000000">
                      <a:lumMod val="95000"/>
                      <a:lumOff val="5000"/>
                    </a:srgbClr>
                  </a:solidFill>
                  <a:latin typeface="+mn-lt"/>
                  <a:ea typeface="+mn-ea"/>
                  <a:cs typeface="+mn-ea"/>
                  <a:sym typeface="+mn-lt"/>
                </a:rPr>
                <a:t>案例引入</a:t>
              </a:r>
            </a:p>
            <a:p>
              <a:pPr marR="0" defTabSz="914400">
                <a:lnSpc>
                  <a:spcPct val="150000"/>
                </a:lnSpc>
                <a:buClrTx/>
                <a:buSzTx/>
                <a:buFont typeface="Arial" panose="020B0604020202020204" pitchFamily="34" charset="0"/>
                <a:buNone/>
                <a:defRPr/>
              </a:pPr>
              <a:r>
                <a:rPr kumimoji="0" lang="zh-CN" altLang="en-US" sz="2200" b="0" kern="1200" cap="none" spc="0" normalizeH="0" baseline="0" noProof="0" dirty="0" smtClean="0">
                  <a:solidFill>
                    <a:schemeClr val="bg1"/>
                  </a:solidFill>
                  <a:latin typeface="+mn-lt"/>
                  <a:ea typeface="+mn-ea"/>
                  <a:cs typeface="+mn-ea"/>
                  <a:sym typeface="+mn-lt"/>
                </a:rPr>
                <a:t>树</a:t>
              </a:r>
              <a:r>
                <a:rPr kumimoji="0" lang="zh-CN" altLang="en-US" sz="2200" b="0" kern="1200" cap="none" spc="0" normalizeH="0" baseline="0" noProof="0" dirty="0">
                  <a:solidFill>
                    <a:schemeClr val="bg1"/>
                  </a:solidFill>
                  <a:latin typeface="+mn-lt"/>
                  <a:ea typeface="+mn-ea"/>
                  <a:cs typeface="+mn-ea"/>
                  <a:sym typeface="+mn-lt"/>
                </a:rPr>
                <a:t>和二叉树的定义</a:t>
              </a:r>
            </a:p>
            <a:p>
              <a:pPr marR="0" defTabSz="914400">
                <a:lnSpc>
                  <a:spcPct val="150000"/>
                </a:lnSpc>
                <a:buClrTx/>
                <a:buSzTx/>
                <a:buFontTx/>
                <a:buNone/>
                <a:defRPr/>
              </a:pPr>
              <a:r>
                <a:rPr kumimoji="0" lang="zh-CN" altLang="en-US" sz="2200" b="0" kern="1200" cap="none" spc="0" normalizeH="0" baseline="0" noProof="0" dirty="0" smtClean="0">
                  <a:solidFill>
                    <a:srgbClr val="000000">
                      <a:lumMod val="95000"/>
                      <a:lumOff val="5000"/>
                    </a:srgbClr>
                  </a:solidFill>
                  <a:latin typeface="+mn-lt"/>
                  <a:ea typeface="+mn-ea"/>
                  <a:cs typeface="+mn-ea"/>
                  <a:sym typeface="+mn-lt"/>
                </a:rPr>
                <a:t>树</a:t>
              </a:r>
              <a:r>
                <a:rPr kumimoji="0" lang="zh-CN" altLang="en-US" sz="2200" b="0" kern="1200" cap="none" spc="0" normalizeH="0" baseline="0" noProof="0" dirty="0">
                  <a:solidFill>
                    <a:srgbClr val="000000">
                      <a:lumMod val="95000"/>
                      <a:lumOff val="5000"/>
                    </a:srgbClr>
                  </a:solidFill>
                  <a:latin typeface="+mn-lt"/>
                  <a:ea typeface="+mn-ea"/>
                  <a:cs typeface="+mn-ea"/>
                  <a:sym typeface="+mn-lt"/>
                </a:rPr>
                <a:t>和二叉树的抽象数据类型定义</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二叉树的性质和存储结构</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遍历二叉树</a:t>
              </a:r>
              <a:r>
                <a:rPr kumimoji="0" lang="zh-CN" altLang="en-US" sz="2200" b="0" kern="1200" cap="none" spc="0" normalizeH="0" baseline="0" noProof="0" dirty="0" smtClean="0">
                  <a:solidFill>
                    <a:srgbClr val="000000">
                      <a:lumMod val="95000"/>
                      <a:lumOff val="5000"/>
                    </a:srgbClr>
                  </a:solidFill>
                  <a:latin typeface="+mn-lt"/>
                  <a:ea typeface="+mn-ea"/>
                  <a:cs typeface="+mn-ea"/>
                  <a:sym typeface="+mn-lt"/>
                </a:rPr>
                <a:t>和应用</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树和森林</a:t>
              </a:r>
            </a:p>
            <a:p>
              <a:pPr marR="0" defTabSz="914400">
                <a:lnSpc>
                  <a:spcPct val="150000"/>
                </a:lnSpc>
                <a:buClrTx/>
                <a:buSzTx/>
                <a:buFontTx/>
                <a:buNone/>
                <a:defRPr/>
              </a:pPr>
              <a:r>
                <a:rPr lang="zh-CN" altLang="en-US" sz="2200" b="0" noProof="0" dirty="0" smtClean="0">
                  <a:solidFill>
                    <a:srgbClr val="000000">
                      <a:lumMod val="95000"/>
                      <a:lumOff val="5000"/>
                    </a:srgbClr>
                  </a:solidFill>
                  <a:latin typeface="+mn-lt"/>
                  <a:ea typeface="+mn-ea"/>
                  <a:cs typeface="+mn-ea"/>
                  <a:sym typeface="+mn-lt"/>
                </a:rPr>
                <a:t>二叉搜索树（二叉排序树）</a:t>
              </a:r>
              <a:endParaRPr lang="zh-CN" altLang="en-US" sz="2200" b="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zh-CN" altLang="en-US" sz="2200" b="0" kern="1200" cap="none" spc="0" normalizeH="0" baseline="0" noProof="0" dirty="0" smtClean="0">
                  <a:solidFill>
                    <a:srgbClr val="000000">
                      <a:lumMod val="95000"/>
                      <a:lumOff val="5000"/>
                    </a:srgbClr>
                  </a:solidFill>
                  <a:latin typeface="+mn-lt"/>
                  <a:ea typeface="+mn-ea"/>
                  <a:cs typeface="+mn-ea"/>
                  <a:sym typeface="+mn-lt"/>
                </a:rPr>
                <a:t>堆</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p:txBody>
        </p:sp>
      </p:gr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extLst>
      <p:ext uri="{BB962C8B-B14F-4D97-AF65-F5344CB8AC3E}">
        <p14:creationId xmlns:p14="http://schemas.microsoft.com/office/powerpoint/2010/main" val="62072204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圆角矩形 5"/>
          <p:cNvSpPr/>
          <p:nvPr/>
        </p:nvSpPr>
        <p:spPr>
          <a:xfrm>
            <a:off x="341313" y="2413000"/>
            <a:ext cx="8478837" cy="3319463"/>
          </a:xfrm>
          <a:prstGeom prst="roundRect">
            <a:avLst>
              <a:gd name="adj" fmla="val 4806"/>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19461" name="Rectangle 13"/>
          <p:cNvSpPr>
            <a:spLocks noChangeArrowheads="1"/>
          </p:cNvSpPr>
          <p:nvPr/>
        </p:nvSpPr>
        <p:spPr bwMode="auto">
          <a:xfrm>
            <a:off x="341313" y="1052513"/>
            <a:ext cx="8588375" cy="1127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2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树（</a:t>
            </a: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Tree</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是</a:t>
            </a:r>
            <a:r>
              <a:rPr kumimoji="0" lang="en-US" altLang="zh-CN" sz="2800" b="0" i="1"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1"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0</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）个结点的有限集，它或为空树（</a:t>
            </a:r>
            <a:r>
              <a:rPr kumimoji="0" lang="en-US" altLang="zh-CN" sz="2800" b="0" i="1" u="none" strike="noStrike" kern="1200" cap="none" spc="0" normalizeH="0" baseline="0" noProof="0" dirty="0">
                <a:ln>
                  <a:noFill/>
                </a:ln>
                <a:solidFill>
                  <a:schemeClr val="tx1"/>
                </a:solidFill>
                <a:effectLst/>
                <a:uLnTx/>
                <a:uFillTx/>
                <a:latin typeface="+mn-lt"/>
                <a:ea typeface="+mn-ea"/>
                <a:cs typeface="+mn-ea"/>
                <a:sym typeface="+mn-lt"/>
              </a:rPr>
              <a:t>n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0</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）；或为非空树，对于非空树</a:t>
            </a:r>
            <a:r>
              <a:rPr kumimoji="0" lang="en-US" altLang="zh-CN" sz="2800" b="0" i="1" u="none" strike="noStrike" kern="1200" cap="none" spc="0" normalizeH="0" baseline="0" noProof="0" dirty="0">
                <a:ln>
                  <a:noFill/>
                </a:ln>
                <a:solidFill>
                  <a:schemeClr val="tx1"/>
                </a:solidFill>
                <a:effectLst/>
                <a:uLnTx/>
                <a:uFillTx/>
                <a:latin typeface="+mn-lt"/>
                <a:ea typeface="+mn-ea"/>
                <a:cs typeface="+mn-ea"/>
                <a:sym typeface="+mn-lt"/>
              </a:rPr>
              <a:t>T</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p>
        </p:txBody>
      </p:sp>
      <p:sp>
        <p:nvSpPr>
          <p:cNvPr id="19462" name="Rectangle 16"/>
          <p:cNvSpPr>
            <a:spLocks noChangeArrowheads="1"/>
          </p:cNvSpPr>
          <p:nvPr/>
        </p:nvSpPr>
        <p:spPr bwMode="auto">
          <a:xfrm>
            <a:off x="920750" y="223838"/>
            <a:ext cx="24606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树的定义</a:t>
            </a:r>
          </a:p>
        </p:txBody>
      </p:sp>
      <p:sp>
        <p:nvSpPr>
          <p:cNvPr id="8" name="矩形 7"/>
          <p:cNvSpPr/>
          <p:nvPr/>
        </p:nvSpPr>
        <p:spPr>
          <a:xfrm>
            <a:off x="538163" y="2713038"/>
            <a:ext cx="765175" cy="423863"/>
          </a:xfrm>
          <a:prstGeom prst="rect">
            <a:avLst/>
          </a:prstGeom>
          <a:solidFill>
            <a:srgbClr val="6C4C8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lt1"/>
                </a:solidFill>
                <a:effectLst/>
                <a:uLnTx/>
                <a:uFillTx/>
                <a:latin typeface="微软雅黑" panose="020B0503020204020204" pitchFamily="34" charset="-122"/>
                <a:ea typeface="+mn-ea"/>
                <a:cs typeface="+mn-cs"/>
              </a:rPr>
              <a:t>1</a:t>
            </a:r>
            <a:endParaRPr kumimoji="0" lang="zh-CN" altLang="en-US" sz="2000" b="1" i="0" u="none" strike="noStrike" kern="1200" cap="none" spc="0" normalizeH="0" baseline="0" noProof="0" dirty="0">
              <a:ln>
                <a:noFill/>
              </a:ln>
              <a:solidFill>
                <a:schemeClr val="lt1"/>
              </a:solidFill>
              <a:effectLst/>
              <a:uLnTx/>
              <a:uFillTx/>
              <a:latin typeface="微软雅黑" panose="020B0503020204020204" pitchFamily="34" charset="-122"/>
              <a:ea typeface="+mn-ea"/>
              <a:cs typeface="+mn-cs"/>
            </a:endParaRPr>
          </a:p>
        </p:txBody>
      </p:sp>
      <p:sp>
        <p:nvSpPr>
          <p:cNvPr id="9" name="矩形 8"/>
          <p:cNvSpPr/>
          <p:nvPr/>
        </p:nvSpPr>
        <p:spPr>
          <a:xfrm>
            <a:off x="517525" y="3368675"/>
            <a:ext cx="765175" cy="41275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lt1"/>
                </a:solidFill>
                <a:effectLst/>
                <a:uLnTx/>
                <a:uFillTx/>
                <a:latin typeface="微软雅黑" panose="020B0503020204020204" pitchFamily="34" charset="-122"/>
                <a:ea typeface="+mn-ea"/>
                <a:cs typeface="+mn-cs"/>
              </a:rPr>
              <a:t>2</a:t>
            </a:r>
            <a:endParaRPr kumimoji="0" lang="zh-CN" altLang="en-US" sz="2000" b="1" i="0" u="none" strike="noStrike" kern="1200" cap="none" spc="0" normalizeH="0" baseline="0" noProof="0" dirty="0">
              <a:ln>
                <a:noFill/>
              </a:ln>
              <a:solidFill>
                <a:schemeClr val="lt1"/>
              </a:solidFill>
              <a:effectLst/>
              <a:uLnTx/>
              <a:uFillTx/>
              <a:latin typeface="微软雅黑" panose="020B0503020204020204" pitchFamily="34" charset="-122"/>
              <a:ea typeface="+mn-ea"/>
              <a:cs typeface="+mn-cs"/>
            </a:endParaRPr>
          </a:p>
        </p:txBody>
      </p:sp>
      <p:sp>
        <p:nvSpPr>
          <p:cNvPr id="10" name="Rectangle 13"/>
          <p:cNvSpPr>
            <a:spLocks noChangeArrowheads="1"/>
          </p:cNvSpPr>
          <p:nvPr/>
        </p:nvSpPr>
        <p:spPr bwMode="auto">
          <a:xfrm>
            <a:off x="1476375" y="2581275"/>
            <a:ext cx="7199313" cy="286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25000"/>
              </a:lnSpc>
              <a:spcBef>
                <a:spcPts val="1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有且仅有一个称之为根的结点；</a:t>
            </a:r>
          </a:p>
          <a:p>
            <a:pPr marL="0" marR="0" lvl="0" indent="0" algn="l" defTabSz="914400" rtl="0" eaLnBrk="0" fontAlgn="base" latinLnBrk="0" hangingPunct="0">
              <a:lnSpc>
                <a:spcPct val="125000"/>
              </a:lnSpc>
              <a:spcBef>
                <a:spcPts val="1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除根结点以外的其余结点可分为</a:t>
            </a:r>
            <a:r>
              <a:rPr kumimoji="0" lang="en-US" altLang="zh-CN" sz="2800" b="0" i="1" u="none" strike="noStrike" kern="1200" cap="none" spc="0" normalizeH="0" baseline="0" noProof="0" dirty="0">
                <a:ln>
                  <a:noFill/>
                </a:ln>
                <a:solidFill>
                  <a:schemeClr val="tx1"/>
                </a:solidFill>
                <a:effectLst/>
                <a:uLnTx/>
                <a:uFillTx/>
                <a:latin typeface="+mn-lt"/>
                <a:ea typeface="+mn-ea"/>
                <a:cs typeface="+mn-ea"/>
                <a:sym typeface="+mn-lt"/>
              </a:rPr>
              <a:t>m</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1" u="none" strike="noStrike" kern="1200" cap="none" spc="0" normalizeH="0" baseline="0" noProof="0" dirty="0">
                <a:ln>
                  <a:noFill/>
                </a:ln>
                <a:solidFill>
                  <a:schemeClr val="tx1"/>
                </a:solidFill>
                <a:effectLst/>
                <a:uLnTx/>
                <a:uFillTx/>
                <a:latin typeface="+mn-lt"/>
                <a:ea typeface="+mn-ea"/>
                <a:cs typeface="+mn-ea"/>
                <a:sym typeface="+mn-lt"/>
              </a:rPr>
              <a:t>m</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0</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）个互不相交的有限集</a:t>
            </a:r>
            <a:r>
              <a:rPr kumimoji="0" lang="en-US" altLang="zh-CN" sz="2800" b="0" i="1" u="none" strike="noStrike" kern="1200" cap="none" spc="0" normalizeH="0" baseline="0" noProof="0" dirty="0">
                <a:ln>
                  <a:noFill/>
                </a:ln>
                <a:solidFill>
                  <a:schemeClr val="tx1"/>
                </a:solidFill>
                <a:effectLst/>
                <a:uLnTx/>
                <a:uFillTx/>
                <a:latin typeface="+mn-lt"/>
                <a:ea typeface="+mn-ea"/>
                <a:cs typeface="+mn-ea"/>
                <a:sym typeface="+mn-lt"/>
              </a:rPr>
              <a:t>T</a:t>
            </a:r>
            <a:r>
              <a:rPr kumimoji="0" lang="en-US" altLang="zh-CN" sz="2800" b="0" i="0" u="none" strike="noStrike" kern="1200" cap="none" spc="0" normalizeH="0" baseline="-25000" noProof="0" dirty="0">
                <a:ln>
                  <a:noFill/>
                </a:ln>
                <a:solidFill>
                  <a:schemeClr val="tx1"/>
                </a:solidFill>
                <a:effectLst/>
                <a:uLnTx/>
                <a:uFillTx/>
                <a:latin typeface="+mn-lt"/>
                <a:ea typeface="+mn-ea"/>
                <a:cs typeface="+mn-ea"/>
                <a:sym typeface="+mn-lt"/>
              </a:rPr>
              <a:t>1</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1" u="none" strike="noStrike" kern="1200" cap="none" spc="0" normalizeH="0" baseline="0" noProof="0" dirty="0">
                <a:ln>
                  <a:noFill/>
                </a:ln>
                <a:solidFill>
                  <a:schemeClr val="tx1"/>
                </a:solidFill>
                <a:effectLst/>
                <a:uLnTx/>
                <a:uFillTx/>
                <a:latin typeface="+mn-lt"/>
                <a:ea typeface="+mn-ea"/>
                <a:cs typeface="+mn-ea"/>
                <a:sym typeface="+mn-lt"/>
              </a:rPr>
              <a:t>T</a:t>
            </a:r>
            <a:r>
              <a:rPr kumimoji="0" lang="en-US" altLang="zh-CN" sz="2800" b="0" i="0" u="none" strike="noStrike" kern="1200" cap="none" spc="0" normalizeH="0" baseline="-25000" noProof="0" dirty="0">
                <a:ln>
                  <a:noFill/>
                </a:ln>
                <a:solidFill>
                  <a:schemeClr val="tx1"/>
                </a:solidFill>
                <a:effectLst/>
                <a:uLnTx/>
                <a:uFillTx/>
                <a:latin typeface="+mn-lt"/>
                <a:ea typeface="+mn-ea"/>
                <a:cs typeface="+mn-ea"/>
                <a:sym typeface="+mn-lt"/>
              </a:rPr>
              <a:t>2</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en-US" altLang="zh-CN" sz="2800" b="0" i="1" u="none" strike="noStrike" kern="1200" cap="none" spc="0" normalizeH="0" baseline="0" noProof="0" dirty="0">
                <a:ln>
                  <a:noFill/>
                </a:ln>
                <a:solidFill>
                  <a:schemeClr val="tx1"/>
                </a:solidFill>
                <a:effectLst/>
                <a:uLnTx/>
                <a:uFillTx/>
                <a:latin typeface="+mn-lt"/>
                <a:ea typeface="+mn-ea"/>
                <a:cs typeface="+mn-ea"/>
                <a:sym typeface="+mn-lt"/>
              </a:rPr>
              <a:t>T</a:t>
            </a:r>
            <a:r>
              <a:rPr kumimoji="0" lang="en-US" altLang="zh-CN" sz="2800" b="0" i="1" u="none" strike="noStrike" kern="1200" cap="none" spc="0" normalizeH="0" baseline="-25000" noProof="0" dirty="0">
                <a:ln>
                  <a:noFill/>
                </a:ln>
                <a:solidFill>
                  <a:schemeClr val="tx1"/>
                </a:solidFill>
                <a:effectLst/>
                <a:uLnTx/>
                <a:uFillTx/>
                <a:latin typeface="+mn-lt"/>
                <a:ea typeface="+mn-ea"/>
                <a:cs typeface="+mn-ea"/>
                <a:sym typeface="+mn-lt"/>
              </a:rPr>
              <a:t>m</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其中每一个集合本身又是一棵树，并且称为根的子树（</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SubTree</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p>
        </p:txBody>
      </p:sp>
      <p:cxnSp>
        <p:nvCxnSpPr>
          <p:cNvPr id="16392" name="直接连接符 3"/>
          <p:cNvCxnSpPr/>
          <p:nvPr/>
        </p:nvCxnSpPr>
        <p:spPr>
          <a:xfrm>
            <a:off x="517525" y="2205038"/>
            <a:ext cx="8158163" cy="0"/>
          </a:xfrm>
          <a:prstGeom prst="line">
            <a:avLst/>
          </a:prstGeom>
          <a:ln w="9525" cap="flat" cmpd="sng">
            <a:solidFill>
              <a:srgbClr val="EBEBEB"/>
            </a:solidFill>
            <a:prstDash val="solid"/>
            <a:headEnd type="none" w="med" len="med"/>
            <a:tailEnd type="none" w="med" len="med"/>
          </a:ln>
        </p:spPr>
      </p:cxnSp>
      <p:cxnSp>
        <p:nvCxnSpPr>
          <p:cNvPr id="16393" name="直接连接符 15"/>
          <p:cNvCxnSpPr/>
          <p:nvPr/>
        </p:nvCxnSpPr>
        <p:spPr>
          <a:xfrm>
            <a:off x="517525" y="6021388"/>
            <a:ext cx="8158163" cy="0"/>
          </a:xfrm>
          <a:prstGeom prst="line">
            <a:avLst/>
          </a:prstGeom>
          <a:ln w="9525" cap="flat" cmpd="sng">
            <a:solidFill>
              <a:srgbClr val="EBEBEB"/>
            </a:solidFill>
            <a:prstDash val="solid"/>
            <a:headEnd type="none" w="med" len="med"/>
            <a:tailEnd type="none" w="med" len="med"/>
          </a:ln>
        </p:spPr>
      </p:cxn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90888" name="Object 8"/>
          <p:cNvGraphicFramePr/>
          <p:nvPr/>
        </p:nvGraphicFramePr>
        <p:xfrm>
          <a:off x="2200275" y="2095500"/>
          <a:ext cx="5943600" cy="3297238"/>
        </p:xfrm>
        <a:graphic>
          <a:graphicData uri="http://schemas.openxmlformats.org/presentationml/2006/ole">
            <mc:AlternateContent xmlns:mc="http://schemas.openxmlformats.org/markup-compatibility/2006">
              <mc:Choice xmlns:v="urn:schemas-microsoft-com:vml" Requires="v">
                <p:oleObj spid="_x0000_s1075" r:id="rId3" imgW="6978650" imgH="3721100" progId="Visio.Drawing.5">
                  <p:embed/>
                </p:oleObj>
              </mc:Choice>
              <mc:Fallback>
                <p:oleObj r:id="rId3" imgW="6978650" imgH="3721100" progId="Visio.Drawing.5">
                  <p:embed/>
                  <p:pic>
                    <p:nvPicPr>
                      <p:cNvPr id="0" name="图片 3082"/>
                      <p:cNvPicPr/>
                      <p:nvPr/>
                    </p:nvPicPr>
                    <p:blipFill>
                      <a:blip r:embed="rId4"/>
                      <a:stretch>
                        <a:fillRect/>
                      </a:stretch>
                    </p:blipFill>
                    <p:spPr>
                      <a:xfrm>
                        <a:off x="2200275" y="2095500"/>
                        <a:ext cx="5943600" cy="3297238"/>
                      </a:xfrm>
                      <a:prstGeom prst="rect">
                        <a:avLst/>
                      </a:prstGeom>
                      <a:solidFill>
                        <a:schemeClr val="accent1"/>
                      </a:solidFill>
                      <a:ln w="38100">
                        <a:noFill/>
                        <a:miter/>
                      </a:ln>
                    </p:spPr>
                  </p:pic>
                </p:oleObj>
              </mc:Fallback>
            </mc:AlternateContent>
          </a:graphicData>
        </a:graphic>
      </p:graphicFrame>
      <p:graphicFrame>
        <p:nvGraphicFramePr>
          <p:cNvPr id="890889" name="Object 9"/>
          <p:cNvGraphicFramePr/>
          <p:nvPr/>
        </p:nvGraphicFramePr>
        <p:xfrm>
          <a:off x="960438" y="2095500"/>
          <a:ext cx="576262" cy="576263"/>
        </p:xfrm>
        <a:graphic>
          <a:graphicData uri="http://schemas.openxmlformats.org/presentationml/2006/ole">
            <mc:AlternateContent xmlns:mc="http://schemas.openxmlformats.org/markup-compatibility/2006">
              <mc:Choice xmlns:v="urn:schemas-microsoft-com:vml" Requires="v">
                <p:oleObj spid="_x0000_s1076" r:id="rId5" imgW="576580" imgH="576580" progId="Visio.Drawing.5">
                  <p:embed/>
                </p:oleObj>
              </mc:Choice>
              <mc:Fallback>
                <p:oleObj r:id="rId5" imgW="576580" imgH="576580" progId="Visio.Drawing.5">
                  <p:embed/>
                  <p:pic>
                    <p:nvPicPr>
                      <p:cNvPr id="0" name="图片 3081"/>
                      <p:cNvPicPr/>
                      <p:nvPr/>
                    </p:nvPicPr>
                    <p:blipFill>
                      <a:blip r:embed="rId6"/>
                      <a:stretch>
                        <a:fillRect/>
                      </a:stretch>
                    </p:blipFill>
                    <p:spPr>
                      <a:xfrm>
                        <a:off x="960438" y="2095500"/>
                        <a:ext cx="576262" cy="576263"/>
                      </a:xfrm>
                      <a:prstGeom prst="rect">
                        <a:avLst/>
                      </a:prstGeom>
                      <a:solidFill>
                        <a:schemeClr val="accent1"/>
                      </a:solidFill>
                      <a:ln w="38100">
                        <a:noFill/>
                        <a:miter/>
                      </a:ln>
                    </p:spPr>
                  </p:pic>
                </p:oleObj>
              </mc:Fallback>
            </mc:AlternateContent>
          </a:graphicData>
        </a:graphic>
      </p:graphicFrame>
      <p:sp>
        <p:nvSpPr>
          <p:cNvPr id="890890" name="Text Box 10"/>
          <p:cNvSpPr txBox="1">
            <a:spLocks noChangeArrowheads="1"/>
          </p:cNvSpPr>
          <p:nvPr/>
        </p:nvSpPr>
        <p:spPr bwMode="auto">
          <a:xfrm>
            <a:off x="852488" y="1174750"/>
            <a:ext cx="31257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树是</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个结点的有限集</a:t>
            </a:r>
          </a:p>
        </p:txBody>
      </p:sp>
      <p:sp>
        <p:nvSpPr>
          <p:cNvPr id="890891" name="Rectangle 11"/>
          <p:cNvSpPr>
            <a:spLocks noChangeArrowheads="1"/>
          </p:cNvSpPr>
          <p:nvPr/>
        </p:nvSpPr>
        <p:spPr bwMode="auto">
          <a:xfrm>
            <a:off x="4562475" y="2095500"/>
            <a:ext cx="823913" cy="533400"/>
          </a:xfrm>
          <a:prstGeom prst="rect">
            <a:avLst/>
          </a:prstGeom>
          <a:noFill/>
          <a:ln w="38100">
            <a:solidFill>
              <a:srgbClr val="FF0000"/>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90892" name="Rectangle 12"/>
          <p:cNvSpPr>
            <a:spLocks noChangeArrowheads="1"/>
          </p:cNvSpPr>
          <p:nvPr/>
        </p:nvSpPr>
        <p:spPr bwMode="auto">
          <a:xfrm>
            <a:off x="2200275" y="2705100"/>
            <a:ext cx="2133600" cy="2687638"/>
          </a:xfrm>
          <a:prstGeom prst="rect">
            <a:avLst/>
          </a:prstGeom>
          <a:noFill/>
          <a:ln w="38100">
            <a:solidFill>
              <a:srgbClr val="FF0000"/>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90893" name="Rectangle 13"/>
          <p:cNvSpPr>
            <a:spLocks noChangeArrowheads="1"/>
          </p:cNvSpPr>
          <p:nvPr/>
        </p:nvSpPr>
        <p:spPr bwMode="auto">
          <a:xfrm>
            <a:off x="5705475" y="2705100"/>
            <a:ext cx="2438400" cy="2687638"/>
          </a:xfrm>
          <a:prstGeom prst="rect">
            <a:avLst/>
          </a:prstGeom>
          <a:noFill/>
          <a:ln w="38100">
            <a:solidFill>
              <a:srgbClr val="FF0000"/>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90894" name="Rectangle 14"/>
          <p:cNvSpPr>
            <a:spLocks noChangeArrowheads="1"/>
          </p:cNvSpPr>
          <p:nvPr/>
        </p:nvSpPr>
        <p:spPr bwMode="auto">
          <a:xfrm>
            <a:off x="4562475" y="2705100"/>
            <a:ext cx="823913" cy="2687638"/>
          </a:xfrm>
          <a:prstGeom prst="rect">
            <a:avLst/>
          </a:prstGeom>
          <a:noFill/>
          <a:ln w="38100">
            <a:solidFill>
              <a:srgbClr val="FF0000"/>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90895" name="Rectangle 15"/>
          <p:cNvSpPr>
            <a:spLocks noChangeArrowheads="1"/>
          </p:cNvSpPr>
          <p:nvPr/>
        </p:nvSpPr>
        <p:spPr bwMode="auto">
          <a:xfrm>
            <a:off x="2809875" y="2857500"/>
            <a:ext cx="990600" cy="762000"/>
          </a:xfrm>
          <a:prstGeom prst="rect">
            <a:avLst/>
          </a:prstGeom>
          <a:noFill/>
          <a:ln w="28575">
            <a:solidFill>
              <a:srgbClr val="FFFF00"/>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90896" name="Rectangle 16"/>
          <p:cNvSpPr>
            <a:spLocks noChangeArrowheads="1"/>
          </p:cNvSpPr>
          <p:nvPr/>
        </p:nvSpPr>
        <p:spPr bwMode="auto">
          <a:xfrm>
            <a:off x="2200275" y="3848100"/>
            <a:ext cx="1295400" cy="1544638"/>
          </a:xfrm>
          <a:prstGeom prst="rect">
            <a:avLst/>
          </a:prstGeom>
          <a:noFill/>
          <a:ln w="28575">
            <a:solidFill>
              <a:srgbClr val="FFFF00"/>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90897" name="Rectangle 17"/>
          <p:cNvSpPr>
            <a:spLocks noChangeArrowheads="1"/>
          </p:cNvSpPr>
          <p:nvPr/>
        </p:nvSpPr>
        <p:spPr bwMode="auto">
          <a:xfrm>
            <a:off x="3571875" y="3848100"/>
            <a:ext cx="609600" cy="762000"/>
          </a:xfrm>
          <a:prstGeom prst="rect">
            <a:avLst/>
          </a:prstGeom>
          <a:noFill/>
          <a:ln w="28575">
            <a:solidFill>
              <a:srgbClr val="FFFF00"/>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90898" name="Text Box 18"/>
          <p:cNvSpPr txBox="1">
            <a:spLocks noChangeArrowheads="1"/>
          </p:cNvSpPr>
          <p:nvPr/>
        </p:nvSpPr>
        <p:spPr bwMode="auto">
          <a:xfrm>
            <a:off x="2962275" y="5603875"/>
            <a:ext cx="571500"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0" i="0" u="none" strike="noStrike" kern="1200" cap="none" spc="0" normalizeH="0" baseline="0" noProof="0">
                <a:ln>
                  <a:noFill/>
                </a:ln>
                <a:solidFill>
                  <a:schemeClr val="tx1"/>
                </a:solidFill>
                <a:effectLst/>
                <a:uLnTx/>
                <a:uFillTx/>
                <a:latin typeface="+mn-lt"/>
                <a:ea typeface="+mn-ea"/>
                <a:cs typeface="+mn-ea"/>
                <a:sym typeface="+mn-lt"/>
              </a:rPr>
              <a:t>T</a:t>
            </a:r>
            <a:r>
              <a:rPr kumimoji="0" lang="en-US" altLang="zh-CN" sz="3200" b="0" i="0" u="none" strike="noStrike" kern="1200" cap="none" spc="0" normalizeH="0" baseline="-25000" noProof="0">
                <a:ln>
                  <a:noFill/>
                </a:ln>
                <a:solidFill>
                  <a:schemeClr val="tx1"/>
                </a:solidFill>
                <a:effectLst/>
                <a:uLnTx/>
                <a:uFillTx/>
                <a:latin typeface="+mn-lt"/>
                <a:ea typeface="+mn-ea"/>
                <a:cs typeface="+mn-ea"/>
                <a:sym typeface="+mn-lt"/>
              </a:rPr>
              <a:t>1</a:t>
            </a:r>
          </a:p>
        </p:txBody>
      </p:sp>
      <p:sp>
        <p:nvSpPr>
          <p:cNvPr id="890899" name="Text Box 19"/>
          <p:cNvSpPr txBox="1">
            <a:spLocks noChangeArrowheads="1"/>
          </p:cNvSpPr>
          <p:nvPr/>
        </p:nvSpPr>
        <p:spPr bwMode="auto">
          <a:xfrm>
            <a:off x="4791075" y="5603875"/>
            <a:ext cx="571500"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0" i="0" u="none" strike="noStrike" kern="1200" cap="none" spc="0" normalizeH="0" baseline="0" noProof="0">
                <a:ln>
                  <a:noFill/>
                </a:ln>
                <a:solidFill>
                  <a:schemeClr val="tx1"/>
                </a:solidFill>
                <a:effectLst/>
                <a:uLnTx/>
                <a:uFillTx/>
                <a:latin typeface="+mn-lt"/>
                <a:ea typeface="+mn-ea"/>
                <a:cs typeface="+mn-ea"/>
                <a:sym typeface="+mn-lt"/>
              </a:rPr>
              <a:t>T</a:t>
            </a:r>
            <a:r>
              <a:rPr kumimoji="0" lang="en-US" altLang="zh-CN" sz="3200" b="0" i="0" u="none" strike="noStrike" kern="1200" cap="none" spc="0" normalizeH="0" baseline="-25000" noProof="0">
                <a:ln>
                  <a:noFill/>
                </a:ln>
                <a:solidFill>
                  <a:schemeClr val="tx1"/>
                </a:solidFill>
                <a:effectLst/>
                <a:uLnTx/>
                <a:uFillTx/>
                <a:latin typeface="+mn-lt"/>
                <a:ea typeface="+mn-ea"/>
                <a:cs typeface="+mn-ea"/>
                <a:sym typeface="+mn-lt"/>
              </a:rPr>
              <a:t>2</a:t>
            </a:r>
          </a:p>
        </p:txBody>
      </p:sp>
      <p:sp>
        <p:nvSpPr>
          <p:cNvPr id="890900" name="Text Box 20"/>
          <p:cNvSpPr txBox="1">
            <a:spLocks noChangeArrowheads="1"/>
          </p:cNvSpPr>
          <p:nvPr/>
        </p:nvSpPr>
        <p:spPr bwMode="auto">
          <a:xfrm>
            <a:off x="6848475" y="5603875"/>
            <a:ext cx="571500"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0" i="0" u="none" strike="noStrike" kern="1200" cap="none" spc="0" normalizeH="0" baseline="0" noProof="0">
                <a:ln>
                  <a:noFill/>
                </a:ln>
                <a:solidFill>
                  <a:schemeClr val="tx1"/>
                </a:solidFill>
                <a:effectLst/>
                <a:uLnTx/>
                <a:uFillTx/>
                <a:latin typeface="+mn-lt"/>
                <a:ea typeface="+mn-ea"/>
                <a:cs typeface="+mn-ea"/>
                <a:sym typeface="+mn-lt"/>
              </a:rPr>
              <a:t>T</a:t>
            </a:r>
            <a:r>
              <a:rPr kumimoji="0" lang="en-US" altLang="zh-CN" sz="3200" b="0" i="0" u="none" strike="noStrike" kern="1200" cap="none" spc="0" normalizeH="0" baseline="-25000" noProof="0">
                <a:ln>
                  <a:noFill/>
                </a:ln>
                <a:solidFill>
                  <a:schemeClr val="tx1"/>
                </a:solidFill>
                <a:effectLst/>
                <a:uLnTx/>
                <a:uFillTx/>
                <a:latin typeface="+mn-lt"/>
                <a:ea typeface="+mn-ea"/>
                <a:cs typeface="+mn-ea"/>
                <a:sym typeface="+mn-lt"/>
              </a:rPr>
              <a:t>3</a:t>
            </a:r>
          </a:p>
        </p:txBody>
      </p:sp>
      <p:sp>
        <p:nvSpPr>
          <p:cNvPr id="16" name="Rectangle 16"/>
          <p:cNvSpPr>
            <a:spLocks noChangeArrowheads="1"/>
          </p:cNvSpPr>
          <p:nvPr/>
        </p:nvSpPr>
        <p:spPr bwMode="auto">
          <a:xfrm>
            <a:off x="920750" y="223838"/>
            <a:ext cx="24606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树的定义</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89089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 presetClass="entr" presetSubtype="8" fill="hold" nodeType="clickEffect">
                                  <p:stCondLst>
                                    <p:cond delay="0"/>
                                  </p:stCondLst>
                                  <p:childTnLst>
                                    <p:set>
                                      <p:cBhvr>
                                        <p:cTn id="10" dur="1" fill="hold">
                                          <p:stCondLst>
                                            <p:cond delay="0"/>
                                          </p:stCondLst>
                                        </p:cTn>
                                        <p:tgtEl>
                                          <p:spTgt spid="890889"/>
                                        </p:tgtEl>
                                        <p:attrNameLst>
                                          <p:attrName>style.visibility</p:attrName>
                                        </p:attrNameLst>
                                      </p:cBhvr>
                                      <p:to>
                                        <p:strVal val="visible"/>
                                      </p:to>
                                    </p:set>
                                    <p:anim calcmode="lin" valueType="num">
                                      <p:cBhvr additive="base">
                                        <p:cTn id="11" dur="500" fill="hold"/>
                                        <p:tgtEl>
                                          <p:spTgt spid="890889"/>
                                        </p:tgtEl>
                                        <p:attrNameLst>
                                          <p:attrName>ppt_x</p:attrName>
                                        </p:attrNameLst>
                                      </p:cBhvr>
                                      <p:tavLst>
                                        <p:tav tm="0">
                                          <p:val>
                                            <p:strVal val="0-#ppt_w/2"/>
                                          </p:val>
                                        </p:tav>
                                        <p:tav tm="100000">
                                          <p:val>
                                            <p:strVal val="#ppt_x"/>
                                          </p:val>
                                        </p:tav>
                                      </p:tavLst>
                                    </p:anim>
                                    <p:anim calcmode="lin" valueType="num">
                                      <p:cBhvr additive="base">
                                        <p:cTn id="12" dur="500" fill="hold"/>
                                        <p:tgtEl>
                                          <p:spTgt spid="890889"/>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890888"/>
                                        </p:tgtEl>
                                        <p:attrNameLst>
                                          <p:attrName>style.visibility</p:attrName>
                                        </p:attrNameLst>
                                      </p:cBhvr>
                                      <p:to>
                                        <p:strVal val="visible"/>
                                      </p:to>
                                    </p:set>
                                    <p:anim calcmode="lin" valueType="num">
                                      <p:cBhvr additive="base">
                                        <p:cTn id="17" dur="500" fill="hold"/>
                                        <p:tgtEl>
                                          <p:spTgt spid="890888"/>
                                        </p:tgtEl>
                                        <p:attrNameLst>
                                          <p:attrName>ppt_x</p:attrName>
                                        </p:attrNameLst>
                                      </p:cBhvr>
                                      <p:tavLst>
                                        <p:tav tm="0">
                                          <p:val>
                                            <p:strVal val="1+#ppt_w/2"/>
                                          </p:val>
                                        </p:tav>
                                        <p:tav tm="100000">
                                          <p:val>
                                            <p:strVal val="#ppt_x"/>
                                          </p:val>
                                        </p:tav>
                                      </p:tavLst>
                                    </p:anim>
                                    <p:anim calcmode="lin" valueType="num">
                                      <p:cBhvr additive="base">
                                        <p:cTn id="18" dur="500" fill="hold"/>
                                        <p:tgtEl>
                                          <p:spTgt spid="890888"/>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6" presetClass="entr" presetSubtype="42" fill="hold" grpId="0" nodeType="clickEffect">
                                  <p:stCondLst>
                                    <p:cond delay="0"/>
                                  </p:stCondLst>
                                  <p:childTnLst>
                                    <p:set>
                                      <p:cBhvr>
                                        <p:cTn id="22" dur="1" fill="hold">
                                          <p:stCondLst>
                                            <p:cond delay="0"/>
                                          </p:stCondLst>
                                        </p:cTn>
                                        <p:tgtEl>
                                          <p:spTgt spid="890891"/>
                                        </p:tgtEl>
                                        <p:attrNameLst>
                                          <p:attrName>style.visibility</p:attrName>
                                        </p:attrNameLst>
                                      </p:cBhvr>
                                      <p:to>
                                        <p:strVal val="visible"/>
                                      </p:to>
                                    </p:set>
                                    <p:animEffect transition="in" filter="barn(outHorizontal)">
                                      <p:cBhvr>
                                        <p:cTn id="23" dur="500"/>
                                        <p:tgtEl>
                                          <p:spTgt spid="890891"/>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42" fill="hold" grpId="0" nodeType="clickEffect">
                                  <p:stCondLst>
                                    <p:cond delay="0"/>
                                  </p:stCondLst>
                                  <p:childTnLst>
                                    <p:set>
                                      <p:cBhvr>
                                        <p:cTn id="27" dur="1" fill="hold">
                                          <p:stCondLst>
                                            <p:cond delay="0"/>
                                          </p:stCondLst>
                                        </p:cTn>
                                        <p:tgtEl>
                                          <p:spTgt spid="890892"/>
                                        </p:tgtEl>
                                        <p:attrNameLst>
                                          <p:attrName>style.visibility</p:attrName>
                                        </p:attrNameLst>
                                      </p:cBhvr>
                                      <p:to>
                                        <p:strVal val="visible"/>
                                      </p:to>
                                    </p:set>
                                    <p:animEffect transition="in" filter="barn(outHorizontal)">
                                      <p:cBhvr>
                                        <p:cTn id="28" dur="500"/>
                                        <p:tgtEl>
                                          <p:spTgt spid="890892"/>
                                        </p:tgtEl>
                                      </p:cBhvr>
                                    </p:animEffect>
                                  </p:childTnLst>
                                </p:cTn>
                              </p:par>
                            </p:childTnLst>
                          </p:cTn>
                        </p:par>
                        <p:par>
                          <p:cTn id="29" fill="hold">
                            <p:stCondLst>
                              <p:cond delay="500"/>
                            </p:stCondLst>
                            <p:childTnLst>
                              <p:par>
                                <p:cTn id="30" presetID="1" presetClass="entr" presetSubtype="0" fill="hold" grpId="0" nodeType="afterEffect">
                                  <p:stCondLst>
                                    <p:cond delay="0"/>
                                  </p:stCondLst>
                                  <p:childTnLst>
                                    <p:set>
                                      <p:cBhvr>
                                        <p:cTn id="31" dur="1" fill="hold">
                                          <p:stCondLst>
                                            <p:cond delay="499"/>
                                          </p:stCondLst>
                                        </p:cTn>
                                        <p:tgtEl>
                                          <p:spTgt spid="890898"/>
                                        </p:tgtEl>
                                        <p:attrNameLst>
                                          <p:attrName>style.visibility</p:attrName>
                                        </p:attrNameLst>
                                      </p:cBhvr>
                                      <p:to>
                                        <p:strVal val="visible"/>
                                      </p:to>
                                    </p:set>
                                  </p:childTnLst>
                                </p:cTn>
                              </p:par>
                            </p:childTnLst>
                          </p:cTn>
                        </p:par>
                        <p:par>
                          <p:cTn id="32" fill="hold">
                            <p:stCondLst>
                              <p:cond delay="1000"/>
                            </p:stCondLst>
                            <p:childTnLst>
                              <p:par>
                                <p:cTn id="33" presetID="16" presetClass="entr" presetSubtype="42" fill="hold" grpId="0" nodeType="afterEffect">
                                  <p:stCondLst>
                                    <p:cond delay="0"/>
                                  </p:stCondLst>
                                  <p:childTnLst>
                                    <p:set>
                                      <p:cBhvr>
                                        <p:cTn id="34" dur="1" fill="hold">
                                          <p:stCondLst>
                                            <p:cond delay="0"/>
                                          </p:stCondLst>
                                        </p:cTn>
                                        <p:tgtEl>
                                          <p:spTgt spid="890894"/>
                                        </p:tgtEl>
                                        <p:attrNameLst>
                                          <p:attrName>style.visibility</p:attrName>
                                        </p:attrNameLst>
                                      </p:cBhvr>
                                      <p:to>
                                        <p:strVal val="visible"/>
                                      </p:to>
                                    </p:set>
                                    <p:animEffect transition="in" filter="barn(outHorizontal)">
                                      <p:cBhvr>
                                        <p:cTn id="35" dur="500"/>
                                        <p:tgtEl>
                                          <p:spTgt spid="890894"/>
                                        </p:tgtEl>
                                      </p:cBhvr>
                                    </p:animEffect>
                                  </p:childTnLst>
                                </p:cTn>
                              </p:par>
                            </p:childTnLst>
                          </p:cTn>
                        </p:par>
                        <p:par>
                          <p:cTn id="36" fill="hold">
                            <p:stCondLst>
                              <p:cond delay="1500"/>
                            </p:stCondLst>
                            <p:childTnLst>
                              <p:par>
                                <p:cTn id="37" presetID="1" presetClass="entr" presetSubtype="0" fill="hold" grpId="0" nodeType="afterEffect">
                                  <p:stCondLst>
                                    <p:cond delay="0"/>
                                  </p:stCondLst>
                                  <p:childTnLst>
                                    <p:set>
                                      <p:cBhvr>
                                        <p:cTn id="38" dur="1" fill="hold">
                                          <p:stCondLst>
                                            <p:cond delay="499"/>
                                          </p:stCondLst>
                                        </p:cTn>
                                        <p:tgtEl>
                                          <p:spTgt spid="890899"/>
                                        </p:tgtEl>
                                        <p:attrNameLst>
                                          <p:attrName>style.visibility</p:attrName>
                                        </p:attrNameLst>
                                      </p:cBhvr>
                                      <p:to>
                                        <p:strVal val="visible"/>
                                      </p:to>
                                    </p:set>
                                  </p:childTnLst>
                                </p:cTn>
                              </p:par>
                            </p:childTnLst>
                          </p:cTn>
                        </p:par>
                        <p:par>
                          <p:cTn id="39" fill="hold">
                            <p:stCondLst>
                              <p:cond delay="2000"/>
                            </p:stCondLst>
                            <p:childTnLst>
                              <p:par>
                                <p:cTn id="40" presetID="16" presetClass="entr" presetSubtype="42" fill="hold" grpId="0" nodeType="afterEffect">
                                  <p:stCondLst>
                                    <p:cond delay="0"/>
                                  </p:stCondLst>
                                  <p:childTnLst>
                                    <p:set>
                                      <p:cBhvr>
                                        <p:cTn id="41" dur="1" fill="hold">
                                          <p:stCondLst>
                                            <p:cond delay="0"/>
                                          </p:stCondLst>
                                        </p:cTn>
                                        <p:tgtEl>
                                          <p:spTgt spid="890893"/>
                                        </p:tgtEl>
                                        <p:attrNameLst>
                                          <p:attrName>style.visibility</p:attrName>
                                        </p:attrNameLst>
                                      </p:cBhvr>
                                      <p:to>
                                        <p:strVal val="visible"/>
                                      </p:to>
                                    </p:set>
                                    <p:animEffect transition="in" filter="barn(outHorizontal)">
                                      <p:cBhvr>
                                        <p:cTn id="42" dur="500"/>
                                        <p:tgtEl>
                                          <p:spTgt spid="890893"/>
                                        </p:tgtEl>
                                      </p:cBhvr>
                                    </p:animEffect>
                                  </p:childTnLst>
                                </p:cTn>
                              </p:par>
                            </p:childTnLst>
                          </p:cTn>
                        </p:par>
                        <p:par>
                          <p:cTn id="43" fill="hold">
                            <p:stCondLst>
                              <p:cond delay="2500"/>
                            </p:stCondLst>
                            <p:childTnLst>
                              <p:par>
                                <p:cTn id="44" presetID="1" presetClass="entr" presetSubtype="0" fill="hold" grpId="0" nodeType="afterEffect">
                                  <p:stCondLst>
                                    <p:cond delay="0"/>
                                  </p:stCondLst>
                                  <p:childTnLst>
                                    <p:set>
                                      <p:cBhvr>
                                        <p:cTn id="45" dur="1" fill="hold">
                                          <p:stCondLst>
                                            <p:cond delay="499"/>
                                          </p:stCondLst>
                                        </p:cTn>
                                        <p:tgtEl>
                                          <p:spTgt spid="890900"/>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6" presetClass="entr" presetSubtype="42" fill="hold" grpId="0" nodeType="clickEffect">
                                  <p:stCondLst>
                                    <p:cond delay="0"/>
                                  </p:stCondLst>
                                  <p:childTnLst>
                                    <p:set>
                                      <p:cBhvr>
                                        <p:cTn id="49" dur="1" fill="hold">
                                          <p:stCondLst>
                                            <p:cond delay="0"/>
                                          </p:stCondLst>
                                        </p:cTn>
                                        <p:tgtEl>
                                          <p:spTgt spid="890895"/>
                                        </p:tgtEl>
                                        <p:attrNameLst>
                                          <p:attrName>style.visibility</p:attrName>
                                        </p:attrNameLst>
                                      </p:cBhvr>
                                      <p:to>
                                        <p:strVal val="visible"/>
                                      </p:to>
                                    </p:set>
                                    <p:animEffect transition="in" filter="barn(outHorizontal)">
                                      <p:cBhvr>
                                        <p:cTn id="50" dur="500"/>
                                        <p:tgtEl>
                                          <p:spTgt spid="890895"/>
                                        </p:tgtEl>
                                      </p:cBhvr>
                                    </p:animEffect>
                                  </p:childTnLst>
                                </p:cTn>
                              </p:par>
                            </p:childTnLst>
                          </p:cTn>
                        </p:par>
                      </p:childTnLst>
                    </p:cTn>
                  </p:par>
                  <p:par>
                    <p:cTn id="51" fill="hold">
                      <p:stCondLst>
                        <p:cond delay="indefinite"/>
                      </p:stCondLst>
                      <p:childTnLst>
                        <p:par>
                          <p:cTn id="52" fill="hold">
                            <p:stCondLst>
                              <p:cond delay="0"/>
                            </p:stCondLst>
                            <p:childTnLst>
                              <p:par>
                                <p:cTn id="53" presetID="16" presetClass="entr" presetSubtype="42" fill="hold" grpId="0" nodeType="clickEffect">
                                  <p:stCondLst>
                                    <p:cond delay="0"/>
                                  </p:stCondLst>
                                  <p:childTnLst>
                                    <p:set>
                                      <p:cBhvr>
                                        <p:cTn id="54" dur="1" fill="hold">
                                          <p:stCondLst>
                                            <p:cond delay="0"/>
                                          </p:stCondLst>
                                        </p:cTn>
                                        <p:tgtEl>
                                          <p:spTgt spid="890896"/>
                                        </p:tgtEl>
                                        <p:attrNameLst>
                                          <p:attrName>style.visibility</p:attrName>
                                        </p:attrNameLst>
                                      </p:cBhvr>
                                      <p:to>
                                        <p:strVal val="visible"/>
                                      </p:to>
                                    </p:set>
                                    <p:animEffect transition="in" filter="barn(outHorizontal)">
                                      <p:cBhvr>
                                        <p:cTn id="55" dur="500"/>
                                        <p:tgtEl>
                                          <p:spTgt spid="890896"/>
                                        </p:tgtEl>
                                      </p:cBhvr>
                                    </p:animEffect>
                                  </p:childTnLst>
                                </p:cTn>
                              </p:par>
                            </p:childTnLst>
                          </p:cTn>
                        </p:par>
                      </p:childTnLst>
                    </p:cTn>
                  </p:par>
                  <p:par>
                    <p:cTn id="56" fill="hold">
                      <p:stCondLst>
                        <p:cond delay="indefinite"/>
                      </p:stCondLst>
                      <p:childTnLst>
                        <p:par>
                          <p:cTn id="57" fill="hold">
                            <p:stCondLst>
                              <p:cond delay="0"/>
                            </p:stCondLst>
                            <p:childTnLst>
                              <p:par>
                                <p:cTn id="58" presetID="16" presetClass="entr" presetSubtype="42" fill="hold" grpId="0" nodeType="clickEffect">
                                  <p:stCondLst>
                                    <p:cond delay="0"/>
                                  </p:stCondLst>
                                  <p:childTnLst>
                                    <p:set>
                                      <p:cBhvr>
                                        <p:cTn id="59" dur="1" fill="hold">
                                          <p:stCondLst>
                                            <p:cond delay="0"/>
                                          </p:stCondLst>
                                        </p:cTn>
                                        <p:tgtEl>
                                          <p:spTgt spid="890897"/>
                                        </p:tgtEl>
                                        <p:attrNameLst>
                                          <p:attrName>style.visibility</p:attrName>
                                        </p:attrNameLst>
                                      </p:cBhvr>
                                      <p:to>
                                        <p:strVal val="visible"/>
                                      </p:to>
                                    </p:set>
                                    <p:animEffect transition="in" filter="barn(outHorizontal)">
                                      <p:cBhvr>
                                        <p:cTn id="60" dur="500"/>
                                        <p:tgtEl>
                                          <p:spTgt spid="8908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0890" grpId="0"/>
      <p:bldP spid="890891" grpId="0" animBg="1"/>
      <p:bldP spid="890892" grpId="0" animBg="1"/>
      <p:bldP spid="890893" grpId="0" animBg="1"/>
      <p:bldP spid="890894" grpId="0" animBg="1"/>
      <p:bldP spid="890895" grpId="0" animBg="1"/>
      <p:bldP spid="890896" grpId="0" animBg="1"/>
      <p:bldP spid="890897" grpId="0" animBg="1"/>
      <p:bldP spid="890898" grpId="0"/>
      <p:bldP spid="890899" grpId="0"/>
      <p:bldP spid="890900"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97028" name="Object 4"/>
          <p:cNvGraphicFramePr/>
          <p:nvPr/>
        </p:nvGraphicFramePr>
        <p:xfrm>
          <a:off x="2597150" y="2535238"/>
          <a:ext cx="3886200" cy="2286000"/>
        </p:xfrm>
        <a:graphic>
          <a:graphicData uri="http://schemas.openxmlformats.org/presentationml/2006/ole">
            <mc:AlternateContent xmlns:mc="http://schemas.openxmlformats.org/markup-compatibility/2006">
              <mc:Choice xmlns:v="urn:schemas-microsoft-com:vml" Requires="v">
                <p:oleObj spid="_x0000_s2149" r:id="rId4" imgW="6875780" imgH="3817620" progId="Visio.Drawing.5">
                  <p:embed/>
                </p:oleObj>
              </mc:Choice>
              <mc:Fallback>
                <p:oleObj r:id="rId4" imgW="6875780" imgH="3817620" progId="Visio.Drawing.5">
                  <p:embed/>
                  <p:pic>
                    <p:nvPicPr>
                      <p:cNvPr id="0" name="图片 3076"/>
                      <p:cNvPicPr/>
                      <p:nvPr/>
                    </p:nvPicPr>
                    <p:blipFill>
                      <a:blip r:embed="rId5"/>
                      <a:stretch>
                        <a:fillRect/>
                      </a:stretch>
                    </p:blipFill>
                    <p:spPr>
                      <a:xfrm>
                        <a:off x="2597150" y="2535238"/>
                        <a:ext cx="3886200" cy="2286000"/>
                      </a:xfrm>
                      <a:prstGeom prst="rect">
                        <a:avLst/>
                      </a:prstGeom>
                      <a:solidFill>
                        <a:schemeClr val="accent1"/>
                      </a:solidFill>
                      <a:ln w="38100">
                        <a:noFill/>
                        <a:miter/>
                      </a:ln>
                    </p:spPr>
                  </p:pic>
                </p:oleObj>
              </mc:Fallback>
            </mc:AlternateContent>
          </a:graphicData>
        </a:graphic>
      </p:graphicFrame>
      <p:graphicFrame>
        <p:nvGraphicFramePr>
          <p:cNvPr id="897029" name="Object 5"/>
          <p:cNvGraphicFramePr/>
          <p:nvPr/>
        </p:nvGraphicFramePr>
        <p:xfrm>
          <a:off x="6972300" y="1316038"/>
          <a:ext cx="1949450" cy="3130550"/>
        </p:xfrm>
        <a:graphic>
          <a:graphicData uri="http://schemas.openxmlformats.org/presentationml/2006/ole">
            <mc:AlternateContent xmlns:mc="http://schemas.openxmlformats.org/markup-compatibility/2006">
              <mc:Choice xmlns:v="urn:schemas-microsoft-com:vml" Requires="v">
                <p:oleObj spid="_x0000_s2150" r:id="rId6" imgW="2376170" imgH="3816350" progId="Visio.Drawing.5">
                  <p:embed/>
                </p:oleObj>
              </mc:Choice>
              <mc:Fallback>
                <p:oleObj r:id="rId6" imgW="2376170" imgH="3816350" progId="Visio.Drawing.5">
                  <p:embed/>
                  <p:pic>
                    <p:nvPicPr>
                      <p:cNvPr id="0" name="图片 3079"/>
                      <p:cNvPicPr/>
                      <p:nvPr/>
                    </p:nvPicPr>
                    <p:blipFill>
                      <a:blip r:embed="rId7"/>
                      <a:stretch>
                        <a:fillRect/>
                      </a:stretch>
                    </p:blipFill>
                    <p:spPr>
                      <a:xfrm>
                        <a:off x="6972300" y="1316038"/>
                        <a:ext cx="1949450" cy="3130550"/>
                      </a:xfrm>
                      <a:prstGeom prst="rect">
                        <a:avLst/>
                      </a:prstGeom>
                      <a:noFill/>
                      <a:ln w="38100">
                        <a:noFill/>
                        <a:miter/>
                      </a:ln>
                    </p:spPr>
                  </p:pic>
                </p:oleObj>
              </mc:Fallback>
            </mc:AlternateContent>
          </a:graphicData>
        </a:graphic>
      </p:graphicFrame>
      <p:sp>
        <p:nvSpPr>
          <p:cNvPr id="897030" name="Text Box 6"/>
          <p:cNvSpPr txBox="1">
            <a:spLocks noChangeArrowheads="1"/>
          </p:cNvSpPr>
          <p:nvPr/>
        </p:nvSpPr>
        <p:spPr bwMode="auto">
          <a:xfrm>
            <a:off x="7246938" y="4557713"/>
            <a:ext cx="1409700" cy="45720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凹入表示</a:t>
            </a:r>
          </a:p>
        </p:txBody>
      </p:sp>
      <p:sp>
        <p:nvSpPr>
          <p:cNvPr id="897031" name="AutoShape 7"/>
          <p:cNvSpPr>
            <a:spLocks noChangeArrowheads="1"/>
          </p:cNvSpPr>
          <p:nvPr/>
        </p:nvSpPr>
        <p:spPr bwMode="auto">
          <a:xfrm>
            <a:off x="5416550" y="1620838"/>
            <a:ext cx="914400" cy="714375"/>
          </a:xfrm>
          <a:custGeom>
            <a:avLst/>
            <a:gdLst>
              <a:gd name="T0" fmla="*/ 21600 w 21600"/>
              <a:gd name="T1" fmla="*/ 6079 h 21600"/>
              <a:gd name="T2" fmla="*/ 15126 w 21600"/>
              <a:gd name="T3" fmla="*/ 0 h 21600"/>
              <a:gd name="T4" fmla="*/ 15126 w 21600"/>
              <a:gd name="T5" fmla="*/ 2912 h 21600"/>
              <a:gd name="T6" fmla="*/ 12427 w 21600"/>
              <a:gd name="T7" fmla="*/ 2912 h 21600"/>
              <a:gd name="T8" fmla="*/ 0 w 21600"/>
              <a:gd name="T9" fmla="*/ 12158 h 21600"/>
              <a:gd name="T10" fmla="*/ 0 w 21600"/>
              <a:gd name="T11" fmla="*/ 21600 h 21600"/>
              <a:gd name="T12" fmla="*/ 6474 w 21600"/>
              <a:gd name="T13" fmla="*/ 21600 h 21600"/>
              <a:gd name="T14" fmla="*/ 6474 w 21600"/>
              <a:gd name="T15" fmla="*/ 12158 h 21600"/>
              <a:gd name="T16" fmla="*/ 12427 w 21600"/>
              <a:gd name="T17" fmla="*/ 9246 h 21600"/>
              <a:gd name="T18" fmla="*/ 15126 w 21600"/>
              <a:gd name="T19" fmla="*/ 9246 h 21600"/>
              <a:gd name="T20" fmla="*/ 15126 w 21600"/>
              <a:gd name="T21" fmla="*/ 12158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chemeClr val="accent1">
              <a:lumMod val="60000"/>
              <a:lumOff val="40000"/>
            </a:schemeClr>
          </a:solidFill>
          <a:ln w="9525">
            <a:solidFill>
              <a:schemeClr val="accent1">
                <a:lumMod val="75000"/>
              </a:schemeClr>
            </a:solidFill>
            <a:miter lim="800000"/>
          </a:ln>
        </p:spPr>
        <p:txBody>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aphicFrame>
        <p:nvGraphicFramePr>
          <p:cNvPr id="897032" name="Object 8"/>
          <p:cNvGraphicFramePr/>
          <p:nvPr/>
        </p:nvGraphicFramePr>
        <p:xfrm>
          <a:off x="166688" y="1163638"/>
          <a:ext cx="2101850" cy="1965325"/>
        </p:xfrm>
        <a:graphic>
          <a:graphicData uri="http://schemas.openxmlformats.org/presentationml/2006/ole">
            <mc:AlternateContent xmlns:mc="http://schemas.openxmlformats.org/markup-compatibility/2006">
              <mc:Choice xmlns:v="urn:schemas-microsoft-com:vml" Requires="v">
                <p:oleObj spid="_x0000_s2151" r:id="rId8" imgW="3168650" imgH="2965450" progId="Visio.Drawing.5">
                  <p:embed/>
                </p:oleObj>
              </mc:Choice>
              <mc:Fallback>
                <p:oleObj r:id="rId8" imgW="3168650" imgH="2965450" progId="Visio.Drawing.5">
                  <p:embed/>
                  <p:pic>
                    <p:nvPicPr>
                      <p:cNvPr id="0" name="图片 3077"/>
                      <p:cNvPicPr/>
                      <p:nvPr/>
                    </p:nvPicPr>
                    <p:blipFill>
                      <a:blip r:embed="rId9"/>
                      <a:stretch>
                        <a:fillRect/>
                      </a:stretch>
                    </p:blipFill>
                    <p:spPr>
                      <a:xfrm>
                        <a:off x="166688" y="1163638"/>
                        <a:ext cx="2101850" cy="1965325"/>
                      </a:xfrm>
                      <a:prstGeom prst="rect">
                        <a:avLst/>
                      </a:prstGeom>
                      <a:noFill/>
                      <a:ln w="38100">
                        <a:noFill/>
                        <a:miter/>
                      </a:ln>
                    </p:spPr>
                  </p:pic>
                </p:oleObj>
              </mc:Fallback>
            </mc:AlternateContent>
          </a:graphicData>
        </a:graphic>
      </p:graphicFrame>
      <p:sp>
        <p:nvSpPr>
          <p:cNvPr id="897033" name="Text Box 9"/>
          <p:cNvSpPr txBox="1">
            <a:spLocks noChangeArrowheads="1"/>
          </p:cNvSpPr>
          <p:nvPr/>
        </p:nvSpPr>
        <p:spPr bwMode="auto">
          <a:xfrm>
            <a:off x="547688" y="3327400"/>
            <a:ext cx="1409700" cy="45720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嵌套集合</a:t>
            </a:r>
          </a:p>
        </p:txBody>
      </p:sp>
      <p:sp>
        <p:nvSpPr>
          <p:cNvPr id="897034" name="AutoShape 10"/>
          <p:cNvSpPr>
            <a:spLocks noChangeArrowheads="1"/>
          </p:cNvSpPr>
          <p:nvPr/>
        </p:nvSpPr>
        <p:spPr bwMode="auto">
          <a:xfrm flipH="1">
            <a:off x="2825750" y="1620838"/>
            <a:ext cx="914400" cy="714375"/>
          </a:xfrm>
          <a:custGeom>
            <a:avLst/>
            <a:gdLst>
              <a:gd name="T0" fmla="*/ 21600 w 21600"/>
              <a:gd name="T1" fmla="*/ 6079 h 21600"/>
              <a:gd name="T2" fmla="*/ 15126 w 21600"/>
              <a:gd name="T3" fmla="*/ 0 h 21600"/>
              <a:gd name="T4" fmla="*/ 15126 w 21600"/>
              <a:gd name="T5" fmla="*/ 2912 h 21600"/>
              <a:gd name="T6" fmla="*/ 12427 w 21600"/>
              <a:gd name="T7" fmla="*/ 2912 h 21600"/>
              <a:gd name="T8" fmla="*/ 0 w 21600"/>
              <a:gd name="T9" fmla="*/ 12158 h 21600"/>
              <a:gd name="T10" fmla="*/ 0 w 21600"/>
              <a:gd name="T11" fmla="*/ 21600 h 21600"/>
              <a:gd name="T12" fmla="*/ 6474 w 21600"/>
              <a:gd name="T13" fmla="*/ 21600 h 21600"/>
              <a:gd name="T14" fmla="*/ 6474 w 21600"/>
              <a:gd name="T15" fmla="*/ 12158 h 21600"/>
              <a:gd name="T16" fmla="*/ 12427 w 21600"/>
              <a:gd name="T17" fmla="*/ 9246 h 21600"/>
              <a:gd name="T18" fmla="*/ 15126 w 21600"/>
              <a:gd name="T19" fmla="*/ 9246 h 21600"/>
              <a:gd name="T20" fmla="*/ 15126 w 21600"/>
              <a:gd name="T21" fmla="*/ 12158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chemeClr val="accent1">
              <a:lumMod val="60000"/>
              <a:lumOff val="40000"/>
            </a:schemeClr>
          </a:solidFill>
          <a:ln w="9525">
            <a:solidFill>
              <a:schemeClr val="accent1">
                <a:lumMod val="75000"/>
              </a:schemeClr>
            </a:solidFill>
            <a:miter lim="800000"/>
          </a:ln>
        </p:spPr>
        <p:txBody>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aphicFrame>
        <p:nvGraphicFramePr>
          <p:cNvPr id="897035" name="Object 11"/>
          <p:cNvGraphicFramePr/>
          <p:nvPr/>
        </p:nvGraphicFramePr>
        <p:xfrm>
          <a:off x="1911350" y="5583238"/>
          <a:ext cx="5076825" cy="390525"/>
        </p:xfrm>
        <a:graphic>
          <a:graphicData uri="http://schemas.openxmlformats.org/presentationml/2006/ole">
            <mc:AlternateContent xmlns:mc="http://schemas.openxmlformats.org/markup-compatibility/2006">
              <mc:Choice xmlns:v="urn:schemas-microsoft-com:vml" Requires="v">
                <p:oleObj spid="_x0000_s2152" r:id="rId10" imgW="5609590" imgH="433070" progId="Visio.Drawing.5">
                  <p:embed/>
                </p:oleObj>
              </mc:Choice>
              <mc:Fallback>
                <p:oleObj r:id="rId10" imgW="5609590" imgH="433070" progId="Visio.Drawing.5">
                  <p:embed/>
                  <p:pic>
                    <p:nvPicPr>
                      <p:cNvPr id="0" name="图片 3078"/>
                      <p:cNvPicPr/>
                      <p:nvPr/>
                    </p:nvPicPr>
                    <p:blipFill>
                      <a:blip r:embed="rId11"/>
                      <a:stretch>
                        <a:fillRect/>
                      </a:stretch>
                    </p:blipFill>
                    <p:spPr>
                      <a:xfrm>
                        <a:off x="1911350" y="5583238"/>
                        <a:ext cx="5076825" cy="390525"/>
                      </a:xfrm>
                      <a:prstGeom prst="rect">
                        <a:avLst/>
                      </a:prstGeom>
                      <a:noFill/>
                      <a:ln w="38100">
                        <a:noFill/>
                        <a:miter/>
                      </a:ln>
                    </p:spPr>
                  </p:pic>
                </p:oleObj>
              </mc:Fallback>
            </mc:AlternateContent>
          </a:graphicData>
        </a:graphic>
      </p:graphicFrame>
      <p:sp>
        <p:nvSpPr>
          <p:cNvPr id="897036" name="Text Box 12"/>
          <p:cNvSpPr txBox="1">
            <a:spLocks noChangeArrowheads="1"/>
          </p:cNvSpPr>
          <p:nvPr/>
        </p:nvSpPr>
        <p:spPr bwMode="auto">
          <a:xfrm>
            <a:off x="3897313" y="6116638"/>
            <a:ext cx="1103313" cy="457200"/>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广义表</a:t>
            </a:r>
          </a:p>
        </p:txBody>
      </p:sp>
      <p:sp>
        <p:nvSpPr>
          <p:cNvPr id="897037" name="AutoShape 13"/>
          <p:cNvSpPr>
            <a:spLocks noChangeArrowheads="1"/>
          </p:cNvSpPr>
          <p:nvPr/>
        </p:nvSpPr>
        <p:spPr bwMode="auto">
          <a:xfrm>
            <a:off x="4197350" y="4897438"/>
            <a:ext cx="457200" cy="609600"/>
          </a:xfrm>
          <a:prstGeom prst="downArrow">
            <a:avLst>
              <a:gd name="adj1" fmla="val 50000"/>
              <a:gd name="adj2" fmla="val 33321"/>
            </a:avLst>
          </a:prstGeom>
          <a:solidFill>
            <a:schemeClr val="accent1">
              <a:lumMod val="60000"/>
              <a:lumOff val="40000"/>
            </a:schemeClr>
          </a:solidFill>
          <a:ln w="9525">
            <a:solidFill>
              <a:schemeClr val="accent1">
                <a:lumMod val="75000"/>
              </a:schemeClr>
            </a:solidFill>
            <a:miter lim="800000"/>
          </a:ln>
        </p:spPr>
        <p:txBody>
          <a:bodyPr vert="eaVert"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1516" name="Rectangle 14"/>
          <p:cNvSpPr>
            <a:spLocks noChangeArrowheads="1"/>
          </p:cNvSpPr>
          <p:nvPr/>
        </p:nvSpPr>
        <p:spPr bwMode="auto">
          <a:xfrm>
            <a:off x="858838" y="220663"/>
            <a:ext cx="39211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树的其它表示方式</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89702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6" presetClass="entr" presetSubtype="37" fill="hold" nodeType="clickEffect">
                                  <p:stCondLst>
                                    <p:cond delay="0"/>
                                  </p:stCondLst>
                                  <p:childTnLst>
                                    <p:set>
                                      <p:cBhvr>
                                        <p:cTn id="10" dur="1" fill="hold">
                                          <p:stCondLst>
                                            <p:cond delay="0"/>
                                          </p:stCondLst>
                                        </p:cTn>
                                        <p:tgtEl>
                                          <p:spTgt spid="897034"/>
                                        </p:tgtEl>
                                        <p:attrNameLst>
                                          <p:attrName>style.visibility</p:attrName>
                                        </p:attrNameLst>
                                      </p:cBhvr>
                                      <p:to>
                                        <p:strVal val="visible"/>
                                      </p:to>
                                    </p:set>
                                    <p:animEffect transition="in" filter="barn(outVertical)">
                                      <p:cBhvr>
                                        <p:cTn id="11" dur="500"/>
                                        <p:tgtEl>
                                          <p:spTgt spid="897034"/>
                                        </p:tgtEl>
                                      </p:cBhvr>
                                    </p:animEffect>
                                  </p:childTnLst>
                                  <p:subTnLst>
                                    <p:audio>
                                      <p:cMediaNode>
                                        <p:cTn display="0" masterRel="sameClick">
                                          <p:stCondLst>
                                            <p:cond evt="begin" delay="0">
                                              <p:tn val="9"/>
                                            </p:cond>
                                          </p:stCondLst>
                                          <p:endCondLst>
                                            <p:cond evt="onStopAudio" delay="0">
                                              <p:tgtEl>
                                                <p:sldTgt/>
                                              </p:tgtEl>
                                            </p:cond>
                                          </p:endCondLst>
                                        </p:cTn>
                                        <p:tgtEl>
                                          <p:sndTgt r:embed="rId3" name="whoosh.wav"/>
                                        </p:tgtEl>
                                      </p:cMediaNode>
                                    </p:audio>
                                  </p:subTnLst>
                                </p:cTn>
                              </p:par>
                            </p:childTnLst>
                          </p:cTn>
                        </p:par>
                        <p:par>
                          <p:cTn id="12" fill="hold">
                            <p:stCondLst>
                              <p:cond delay="500"/>
                            </p:stCondLst>
                            <p:childTnLst>
                              <p:par>
                                <p:cTn id="13" presetID="1" presetClass="entr" presetSubtype="0" fill="hold" nodeType="afterEffect">
                                  <p:stCondLst>
                                    <p:cond delay="0"/>
                                  </p:stCondLst>
                                  <p:childTnLst>
                                    <p:set>
                                      <p:cBhvr>
                                        <p:cTn id="14" dur="1" fill="hold">
                                          <p:stCondLst>
                                            <p:cond delay="499"/>
                                          </p:stCondLst>
                                        </p:cTn>
                                        <p:tgtEl>
                                          <p:spTgt spid="897032"/>
                                        </p:tgtEl>
                                        <p:attrNameLst>
                                          <p:attrName>style.visibility</p:attrName>
                                        </p:attrNameLst>
                                      </p:cBhvr>
                                      <p:to>
                                        <p:strVal val="visible"/>
                                      </p:to>
                                    </p:set>
                                  </p:childTnLst>
                                  <p:subTnLst>
                                    <p:audio>
                                      <p:cMediaNode>
                                        <p:cTn display="0" masterRel="sameClick">
                                          <p:stCondLst>
                                            <p:cond evt="begin" delay="0">
                                              <p:tn val="13"/>
                                            </p:cond>
                                          </p:stCondLst>
                                          <p:endCondLst>
                                            <p:cond evt="onStopAudio" delay="0">
                                              <p:tgtEl>
                                                <p:sldTgt/>
                                              </p:tgtEl>
                                            </p:cond>
                                          </p:endCondLst>
                                        </p:cTn>
                                        <p:tgtEl>
                                          <p:sndTgt r:embed="rId3" name="whoosh.wav"/>
                                        </p:tgtEl>
                                      </p:cMediaNode>
                                    </p:audio>
                                  </p:sub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897033"/>
                                        </p:tgtEl>
                                        <p:attrNameLst>
                                          <p:attrName>style.visibility</p:attrName>
                                        </p:attrNameLst>
                                      </p:cBhvr>
                                      <p:to>
                                        <p:strVal val="visible"/>
                                      </p:to>
                                    </p:set>
                                  </p:childTnLst>
                                  <p:subTnLst>
                                    <p:audio>
                                      <p:cMediaNode>
                                        <p:cTn display="0" masterRel="sameClick">
                                          <p:stCondLst>
                                            <p:cond evt="begin" delay="0">
                                              <p:tn val="17"/>
                                            </p:cond>
                                          </p:stCondLst>
                                          <p:endCondLst>
                                            <p:cond evt="onStopAudio" delay="0">
                                              <p:tgtEl>
                                                <p:sldTgt/>
                                              </p:tgtEl>
                                            </p:cond>
                                          </p:endCondLst>
                                        </p:cTn>
                                        <p:tgtEl>
                                          <p:sndTgt r:embed="rId3" name="whoosh.wav"/>
                                        </p:tgtEl>
                                      </p:cMediaNode>
                                    </p:audio>
                                  </p:subTnLst>
                                </p:cTn>
                              </p:par>
                            </p:childTnLst>
                          </p:cTn>
                        </p:par>
                      </p:childTnLst>
                    </p:cTn>
                  </p:par>
                  <p:par>
                    <p:cTn id="19" fill="hold">
                      <p:stCondLst>
                        <p:cond delay="indefinite"/>
                      </p:stCondLst>
                      <p:childTnLst>
                        <p:par>
                          <p:cTn id="20" fill="hold">
                            <p:stCondLst>
                              <p:cond delay="0"/>
                            </p:stCondLst>
                            <p:childTnLst>
                              <p:par>
                                <p:cTn id="21" presetID="16" presetClass="entr" presetSubtype="37" fill="hold" nodeType="clickEffect">
                                  <p:stCondLst>
                                    <p:cond delay="0"/>
                                  </p:stCondLst>
                                  <p:childTnLst>
                                    <p:set>
                                      <p:cBhvr>
                                        <p:cTn id="22" dur="1" fill="hold">
                                          <p:stCondLst>
                                            <p:cond delay="0"/>
                                          </p:stCondLst>
                                        </p:cTn>
                                        <p:tgtEl>
                                          <p:spTgt spid="897031"/>
                                        </p:tgtEl>
                                        <p:attrNameLst>
                                          <p:attrName>style.visibility</p:attrName>
                                        </p:attrNameLst>
                                      </p:cBhvr>
                                      <p:to>
                                        <p:strVal val="visible"/>
                                      </p:to>
                                    </p:set>
                                    <p:animEffect transition="in" filter="barn(outVertical)">
                                      <p:cBhvr>
                                        <p:cTn id="23" dur="500"/>
                                        <p:tgtEl>
                                          <p:spTgt spid="897031"/>
                                        </p:tgtEl>
                                      </p:cBhvr>
                                    </p:animEffect>
                                  </p:childTnLst>
                                  <p:subTnLst>
                                    <p:audio>
                                      <p:cMediaNode>
                                        <p:cTn display="0" masterRel="sameClick">
                                          <p:stCondLst>
                                            <p:cond evt="begin" delay="0">
                                              <p:tn val="21"/>
                                            </p:cond>
                                          </p:stCondLst>
                                          <p:endCondLst>
                                            <p:cond evt="onStopAudio" delay="0">
                                              <p:tgtEl>
                                                <p:sldTgt/>
                                              </p:tgtEl>
                                            </p:cond>
                                          </p:endCondLst>
                                        </p:cTn>
                                        <p:tgtEl>
                                          <p:sndTgt r:embed="rId3" name="whoosh.wav"/>
                                        </p:tgtEl>
                                      </p:cMediaNode>
                                    </p:audio>
                                  </p:subTnLst>
                                </p:cTn>
                              </p:par>
                            </p:childTnLst>
                          </p:cTn>
                        </p:par>
                        <p:par>
                          <p:cTn id="24" fill="hold">
                            <p:stCondLst>
                              <p:cond delay="500"/>
                            </p:stCondLst>
                            <p:childTnLst>
                              <p:par>
                                <p:cTn id="25" presetID="1" presetClass="entr" presetSubtype="0" fill="hold" nodeType="afterEffect">
                                  <p:stCondLst>
                                    <p:cond delay="0"/>
                                  </p:stCondLst>
                                  <p:childTnLst>
                                    <p:set>
                                      <p:cBhvr>
                                        <p:cTn id="26" dur="1" fill="hold">
                                          <p:stCondLst>
                                            <p:cond delay="499"/>
                                          </p:stCondLst>
                                        </p:cTn>
                                        <p:tgtEl>
                                          <p:spTgt spid="897029"/>
                                        </p:tgtEl>
                                        <p:attrNameLst>
                                          <p:attrName>style.visibility</p:attrName>
                                        </p:attrNameLst>
                                      </p:cBhvr>
                                      <p:to>
                                        <p:strVal val="visible"/>
                                      </p:to>
                                    </p:set>
                                  </p:childTnLst>
                                  <p:subTnLst>
                                    <p:audio>
                                      <p:cMediaNode>
                                        <p:cTn display="0" masterRel="sameClick">
                                          <p:stCondLst>
                                            <p:cond evt="begin" delay="0">
                                              <p:tn val="25"/>
                                            </p:cond>
                                          </p:stCondLst>
                                          <p:endCondLst>
                                            <p:cond evt="onStopAudio" delay="0">
                                              <p:tgtEl>
                                                <p:sldTgt/>
                                              </p:tgtEl>
                                            </p:cond>
                                          </p:endCondLst>
                                        </p:cTn>
                                        <p:tgtEl>
                                          <p:sndTgt r:embed="rId3" name="whoosh.wav"/>
                                        </p:tgtEl>
                                      </p:cMediaNode>
                                    </p:audio>
                                  </p:sub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897030"/>
                                        </p:tgtEl>
                                        <p:attrNameLst>
                                          <p:attrName>style.visibility</p:attrName>
                                        </p:attrNameLst>
                                      </p:cBhvr>
                                      <p:to>
                                        <p:strVal val="visible"/>
                                      </p:to>
                                    </p:set>
                                  </p:childTnLst>
                                  <p:subTnLst>
                                    <p:audio>
                                      <p:cMediaNode>
                                        <p:cTn display="0" masterRel="sameClick">
                                          <p:stCondLst>
                                            <p:cond evt="begin" delay="0">
                                              <p:tn val="29"/>
                                            </p:cond>
                                          </p:stCondLst>
                                          <p:endCondLst>
                                            <p:cond evt="onStopAudio" delay="0">
                                              <p:tgtEl>
                                                <p:sldTgt/>
                                              </p:tgtEl>
                                            </p:cond>
                                          </p:endCondLst>
                                        </p:cTn>
                                        <p:tgtEl>
                                          <p:sndTgt r:embed="rId3" name="whoosh.wav"/>
                                        </p:tgtEl>
                                      </p:cMediaNode>
                                    </p:audio>
                                  </p:subTnLst>
                                </p:cTn>
                              </p:par>
                            </p:childTnLst>
                          </p:cTn>
                        </p:par>
                      </p:childTnLst>
                    </p:cTn>
                  </p:par>
                  <p:par>
                    <p:cTn id="31" fill="hold">
                      <p:stCondLst>
                        <p:cond delay="indefinite"/>
                      </p:stCondLst>
                      <p:childTnLst>
                        <p:par>
                          <p:cTn id="32" fill="hold">
                            <p:stCondLst>
                              <p:cond delay="0"/>
                            </p:stCondLst>
                            <p:childTnLst>
                              <p:par>
                                <p:cTn id="33" presetID="17" presetClass="entr" presetSubtype="1" fill="hold" grpId="0" nodeType="clickEffect">
                                  <p:stCondLst>
                                    <p:cond delay="0"/>
                                  </p:stCondLst>
                                  <p:childTnLst>
                                    <p:set>
                                      <p:cBhvr>
                                        <p:cTn id="34" dur="1" fill="hold">
                                          <p:stCondLst>
                                            <p:cond delay="0"/>
                                          </p:stCondLst>
                                        </p:cTn>
                                        <p:tgtEl>
                                          <p:spTgt spid="897037"/>
                                        </p:tgtEl>
                                        <p:attrNameLst>
                                          <p:attrName>style.visibility</p:attrName>
                                        </p:attrNameLst>
                                      </p:cBhvr>
                                      <p:to>
                                        <p:strVal val="visible"/>
                                      </p:to>
                                    </p:set>
                                    <p:anim calcmode="lin" valueType="num">
                                      <p:cBhvr>
                                        <p:cTn id="35" dur="500" fill="hold"/>
                                        <p:tgtEl>
                                          <p:spTgt spid="897037"/>
                                        </p:tgtEl>
                                        <p:attrNameLst>
                                          <p:attrName>ppt_x</p:attrName>
                                        </p:attrNameLst>
                                      </p:cBhvr>
                                      <p:tavLst>
                                        <p:tav tm="0">
                                          <p:val>
                                            <p:strVal val="#ppt_x"/>
                                          </p:val>
                                        </p:tav>
                                        <p:tav tm="100000">
                                          <p:val>
                                            <p:strVal val="#ppt_x"/>
                                          </p:val>
                                        </p:tav>
                                      </p:tavLst>
                                    </p:anim>
                                    <p:anim calcmode="lin" valueType="num">
                                      <p:cBhvr>
                                        <p:cTn id="36" dur="500" fill="hold"/>
                                        <p:tgtEl>
                                          <p:spTgt spid="897037"/>
                                        </p:tgtEl>
                                        <p:attrNameLst>
                                          <p:attrName>ppt_y</p:attrName>
                                        </p:attrNameLst>
                                      </p:cBhvr>
                                      <p:tavLst>
                                        <p:tav tm="0">
                                          <p:val>
                                            <p:strVal val="#ppt_y-#ppt_h/2"/>
                                          </p:val>
                                        </p:tav>
                                        <p:tav tm="100000">
                                          <p:val>
                                            <p:strVal val="#ppt_y"/>
                                          </p:val>
                                        </p:tav>
                                      </p:tavLst>
                                    </p:anim>
                                    <p:anim calcmode="lin" valueType="num">
                                      <p:cBhvr>
                                        <p:cTn id="37" dur="500" fill="hold"/>
                                        <p:tgtEl>
                                          <p:spTgt spid="897037"/>
                                        </p:tgtEl>
                                        <p:attrNameLst>
                                          <p:attrName>ppt_w</p:attrName>
                                        </p:attrNameLst>
                                      </p:cBhvr>
                                      <p:tavLst>
                                        <p:tav tm="0">
                                          <p:val>
                                            <p:strVal val="#ppt_w"/>
                                          </p:val>
                                        </p:tav>
                                        <p:tav tm="100000">
                                          <p:val>
                                            <p:strVal val="#ppt_w"/>
                                          </p:val>
                                        </p:tav>
                                      </p:tavLst>
                                    </p:anim>
                                    <p:anim calcmode="lin" valueType="num">
                                      <p:cBhvr>
                                        <p:cTn id="38" dur="500" fill="hold"/>
                                        <p:tgtEl>
                                          <p:spTgt spid="897037"/>
                                        </p:tgtEl>
                                        <p:attrNameLst>
                                          <p:attrName>ppt_h</p:attrName>
                                        </p:attrNameLst>
                                      </p:cBhvr>
                                      <p:tavLst>
                                        <p:tav tm="0">
                                          <p:val>
                                            <p:fltVal val="0"/>
                                          </p:val>
                                        </p:tav>
                                        <p:tav tm="100000">
                                          <p:val>
                                            <p:strVal val="#ppt_h"/>
                                          </p:val>
                                        </p:tav>
                                      </p:tavLst>
                                    </p:anim>
                                  </p:childTnLst>
                                  <p:subTnLst>
                                    <p:audio>
                                      <p:cMediaNode>
                                        <p:cTn display="0" masterRel="sameClick">
                                          <p:stCondLst>
                                            <p:cond evt="begin" delay="0">
                                              <p:tn val="33"/>
                                            </p:cond>
                                          </p:stCondLst>
                                          <p:endCondLst>
                                            <p:cond evt="onStopAudio" delay="0">
                                              <p:tgtEl>
                                                <p:sldTgt/>
                                              </p:tgtEl>
                                            </p:cond>
                                          </p:endCondLst>
                                        </p:cTn>
                                        <p:tgtEl>
                                          <p:sndTgt r:embed="rId3" name="whoosh.wav"/>
                                        </p:tgtEl>
                                      </p:cMediaNode>
                                    </p:audio>
                                  </p:subTnLst>
                                </p:cTn>
                              </p:par>
                            </p:childTnLst>
                          </p:cTn>
                        </p:par>
                        <p:par>
                          <p:cTn id="39" fill="hold">
                            <p:stCondLst>
                              <p:cond delay="500"/>
                            </p:stCondLst>
                            <p:childTnLst>
                              <p:par>
                                <p:cTn id="40" presetID="1" presetClass="entr" presetSubtype="0" fill="hold" nodeType="afterEffect">
                                  <p:stCondLst>
                                    <p:cond delay="0"/>
                                  </p:stCondLst>
                                  <p:childTnLst>
                                    <p:set>
                                      <p:cBhvr>
                                        <p:cTn id="41" dur="1" fill="hold">
                                          <p:stCondLst>
                                            <p:cond delay="499"/>
                                          </p:stCondLst>
                                        </p:cTn>
                                        <p:tgtEl>
                                          <p:spTgt spid="897035"/>
                                        </p:tgtEl>
                                        <p:attrNameLst>
                                          <p:attrName>style.visibility</p:attrName>
                                        </p:attrNameLst>
                                      </p:cBhvr>
                                      <p:to>
                                        <p:strVal val="visible"/>
                                      </p:to>
                                    </p:set>
                                  </p:childTnLst>
                                  <p:subTnLst>
                                    <p:audio>
                                      <p:cMediaNode>
                                        <p:cTn display="0" masterRel="sameClick">
                                          <p:stCondLst>
                                            <p:cond evt="begin" delay="0">
                                              <p:tn val="40"/>
                                            </p:cond>
                                          </p:stCondLst>
                                          <p:endCondLst>
                                            <p:cond evt="onStopAudio" delay="0">
                                              <p:tgtEl>
                                                <p:sldTgt/>
                                              </p:tgtEl>
                                            </p:cond>
                                          </p:endCondLst>
                                        </p:cTn>
                                        <p:tgtEl>
                                          <p:sndTgt r:embed="rId3" name="whoosh.wav"/>
                                        </p:tgtEl>
                                      </p:cMediaNode>
                                    </p:audio>
                                  </p:sub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499"/>
                                          </p:stCondLst>
                                        </p:cTn>
                                        <p:tgtEl>
                                          <p:spTgt spid="897036"/>
                                        </p:tgtEl>
                                        <p:attrNameLst>
                                          <p:attrName>style.visibility</p:attrName>
                                        </p:attrNameLst>
                                      </p:cBhvr>
                                      <p:to>
                                        <p:strVal val="visible"/>
                                      </p:to>
                                    </p:set>
                                  </p:childTnLst>
                                  <p:subTnLst>
                                    <p:audio>
                                      <p:cMediaNode>
                                        <p:cTn display="0" masterRel="sameClick">
                                          <p:stCondLst>
                                            <p:cond evt="begin" delay="0">
                                              <p:tn val="44"/>
                                            </p:cond>
                                          </p:stCondLst>
                                          <p:endCondLst>
                                            <p:cond evt="onStopAudio" delay="0">
                                              <p:tgtEl>
                                                <p:sldTgt/>
                                              </p:tgtEl>
                                            </p:cond>
                                          </p:endCondLst>
                                        </p:cTn>
                                        <p:tgtEl>
                                          <p:sndTgt r:embed="rId3"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7030" grpId="0"/>
      <p:bldP spid="897033" grpId="0"/>
      <p:bldP spid="897036" grpId="0"/>
      <p:bldP spid="897037"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12"/>
          <p:cNvSpPr>
            <a:spLocks noChangeArrowheads="1"/>
          </p:cNvSpPr>
          <p:nvPr/>
        </p:nvSpPr>
        <p:spPr bwMode="auto">
          <a:xfrm>
            <a:off x="250825" y="2714625"/>
            <a:ext cx="110807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有序树</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1"/>
                </a:solidFill>
                <a:effectLst/>
                <a:uLnTx/>
                <a:uFillTx/>
                <a:latin typeface="+mn-lt"/>
                <a:ea typeface="+mn-ea"/>
                <a:cs typeface="+mn-ea"/>
                <a:sym typeface="+mn-lt"/>
              </a:rPr>
              <a:t>无序树</a:t>
            </a:r>
          </a:p>
        </p:txBody>
      </p:sp>
      <p:sp>
        <p:nvSpPr>
          <p:cNvPr id="22531" name="Rectangle 13"/>
          <p:cNvSpPr>
            <a:spLocks noChangeArrowheads="1"/>
          </p:cNvSpPr>
          <p:nvPr/>
        </p:nvSpPr>
        <p:spPr bwMode="auto">
          <a:xfrm>
            <a:off x="1366838" y="1033463"/>
            <a:ext cx="7689850"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25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accent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即根结点</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没有前驱</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p>
          <a:p>
            <a:pPr marL="0" marR="0" lvl="0" indent="0" algn="l" defTabSz="914400" rtl="0" eaLnBrk="0" fontAlgn="base" latinLnBrk="0" hangingPunct="0">
              <a:lnSpc>
                <a:spcPct val="125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accent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即终端结点</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没有后继</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p>
          <a:p>
            <a:pPr marL="0" marR="0" lvl="0" indent="0" algn="l" defTabSz="914400" rtl="0" eaLnBrk="0" fontAlgn="base" latinLnBrk="0" hangingPunct="0">
              <a:lnSpc>
                <a:spcPct val="125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accent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指</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m</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棵不相交的树的集合</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例如删除</a:t>
            </a:r>
            <a:r>
              <a:rPr kumimoji="0" lang="en-US" altLang="zh-CN" sz="2400" b="0" i="0" u="none" strike="noStrike" kern="1200" cap="none" spc="0" normalizeH="0" baseline="0" noProof="0" dirty="0">
                <a:ln>
                  <a:noFill/>
                </a:ln>
                <a:solidFill>
                  <a:schemeClr val="tx2"/>
                </a:solidFill>
                <a:effectLst/>
                <a:uLnTx/>
                <a:uFillTx/>
                <a:latin typeface="+mn-lt"/>
                <a:ea typeface="+mn-ea"/>
                <a:cs typeface="+mn-ea"/>
                <a:sym typeface="+mn-lt"/>
              </a:rPr>
              <a:t>A</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后的子树个数</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p>
        </p:txBody>
      </p:sp>
      <p:sp>
        <p:nvSpPr>
          <p:cNvPr id="22532" name="Rectangle 14"/>
          <p:cNvSpPr>
            <a:spLocks noChangeArrowheads="1"/>
          </p:cNvSpPr>
          <p:nvPr/>
        </p:nvSpPr>
        <p:spPr bwMode="auto">
          <a:xfrm>
            <a:off x="1358900" y="2689225"/>
            <a:ext cx="7589838"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25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accent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结点各子树从左至右有序，不能互换（左为第一）</a:t>
            </a:r>
          </a:p>
          <a:p>
            <a:pPr marL="0" marR="0" lvl="0" indent="0" algn="l" defTabSz="914400" rtl="0" eaLnBrk="0" fontAlgn="base" latinLnBrk="0" hangingPunct="0">
              <a:lnSpc>
                <a:spcPct val="125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accent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结点各子树可互换位置。</a:t>
            </a:r>
          </a:p>
        </p:txBody>
      </p:sp>
      <p:graphicFrame>
        <p:nvGraphicFramePr>
          <p:cNvPr id="19461" name="Object 15"/>
          <p:cNvGraphicFramePr/>
          <p:nvPr/>
        </p:nvGraphicFramePr>
        <p:xfrm>
          <a:off x="2195513" y="3867150"/>
          <a:ext cx="4495800" cy="2493963"/>
        </p:xfrm>
        <a:graphic>
          <a:graphicData uri="http://schemas.openxmlformats.org/presentationml/2006/ole">
            <mc:AlternateContent xmlns:mc="http://schemas.openxmlformats.org/markup-compatibility/2006">
              <mc:Choice xmlns:v="urn:schemas-microsoft-com:vml" Requires="v">
                <p:oleObj spid="_x0000_s3098" r:id="rId3" imgW="6875780" imgH="3817620" progId="Visio.Drawing.5">
                  <p:embed/>
                </p:oleObj>
              </mc:Choice>
              <mc:Fallback>
                <p:oleObj r:id="rId3" imgW="6875780" imgH="3817620" progId="Visio.Drawing.5">
                  <p:embed/>
                  <p:pic>
                    <p:nvPicPr>
                      <p:cNvPr id="0" name="图片 3080"/>
                      <p:cNvPicPr/>
                      <p:nvPr/>
                    </p:nvPicPr>
                    <p:blipFill>
                      <a:blip r:embed="rId4"/>
                      <a:stretch>
                        <a:fillRect/>
                      </a:stretch>
                    </p:blipFill>
                    <p:spPr>
                      <a:xfrm>
                        <a:off x="2195513" y="3867150"/>
                        <a:ext cx="4495800" cy="2493963"/>
                      </a:xfrm>
                      <a:prstGeom prst="rect">
                        <a:avLst/>
                      </a:prstGeom>
                      <a:solidFill>
                        <a:schemeClr val="accent1"/>
                      </a:solidFill>
                      <a:ln w="38100">
                        <a:noFill/>
                        <a:miter/>
                      </a:ln>
                    </p:spPr>
                  </p:pic>
                </p:oleObj>
              </mc:Fallback>
            </mc:AlternateContent>
          </a:graphicData>
        </a:graphic>
      </p:graphicFrame>
      <p:sp>
        <p:nvSpPr>
          <p:cNvPr id="22534" name="Rectangle 16"/>
          <p:cNvSpPr>
            <a:spLocks noChangeArrowheads="1"/>
          </p:cNvSpPr>
          <p:nvPr/>
        </p:nvSpPr>
        <p:spPr bwMode="auto">
          <a:xfrm>
            <a:off x="749300" y="231775"/>
            <a:ext cx="392271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基本术语</a:t>
            </a:r>
          </a:p>
        </p:txBody>
      </p:sp>
      <p:sp>
        <p:nvSpPr>
          <p:cNvPr id="8" name="Rectangle 12"/>
          <p:cNvSpPr>
            <a:spLocks noChangeArrowheads="1"/>
          </p:cNvSpPr>
          <p:nvPr/>
        </p:nvSpPr>
        <p:spPr bwMode="auto">
          <a:xfrm>
            <a:off x="412750" y="1050925"/>
            <a:ext cx="954088" cy="147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accent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accent1"/>
                </a:solidFill>
                <a:effectLst/>
                <a:uLnTx/>
                <a:uFillTx/>
                <a:latin typeface="+mn-lt"/>
                <a:ea typeface="+mn-ea"/>
                <a:cs typeface="+mn-ea"/>
                <a:sym typeface="+mn-lt"/>
              </a:rPr>
              <a:t>根 </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1"/>
                </a:solidFill>
                <a:effectLst/>
                <a:uLnTx/>
                <a:uFillTx/>
                <a:latin typeface="+mn-lt"/>
                <a:ea typeface="+mn-ea"/>
                <a:cs typeface="+mn-ea"/>
                <a:sym typeface="+mn-lt"/>
              </a:rPr>
              <a:t> 叶子</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森林</a:t>
            </a:r>
          </a:p>
        </p:txBody>
      </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ext Box 6"/>
          <p:cNvSpPr txBox="1">
            <a:spLocks noChangeArrowheads="1"/>
          </p:cNvSpPr>
          <p:nvPr/>
        </p:nvSpPr>
        <p:spPr bwMode="auto">
          <a:xfrm>
            <a:off x="1816100" y="885825"/>
            <a:ext cx="7010400" cy="292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38250" indent="-123825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1238250" marR="0" lvl="0" indent="-1238250" algn="l" defTabSz="914400" rtl="0" eaLnBrk="0" fontAlgn="base" latinLnBrk="0" hangingPunct="0">
              <a:lnSpc>
                <a:spcPct val="13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accent1"/>
                </a:solidFill>
                <a:effectLst/>
                <a:uLnTx/>
                <a:uFillTx/>
                <a:latin typeface="+mn-lt"/>
                <a:ea typeface="+mn-ea"/>
                <a:cs typeface="+mn-ea"/>
                <a:sym typeface="+mn-lt"/>
              </a:rPr>
              <a:t>——</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即上层的那个结点</a:t>
            </a: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直接前驱</a:t>
            </a: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a:t>
            </a:r>
          </a:p>
          <a:p>
            <a:pPr marL="1238250" marR="0" lvl="0" indent="-1238250" algn="l" defTabSz="914400" rtl="0" eaLnBrk="0" fontAlgn="base" latinLnBrk="0" hangingPunct="0">
              <a:lnSpc>
                <a:spcPct val="13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accent1"/>
                </a:solidFill>
                <a:effectLst/>
                <a:uLnTx/>
                <a:uFillTx/>
                <a:latin typeface="+mn-lt"/>
                <a:ea typeface="+mn-ea"/>
                <a:cs typeface="+mn-ea"/>
                <a:sym typeface="+mn-lt"/>
              </a:rPr>
              <a:t>——</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即下层结点的子树的根</a:t>
            </a: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直接后继</a:t>
            </a: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a:t>
            </a:r>
          </a:p>
          <a:p>
            <a:pPr marL="1238250" marR="0" lvl="0" indent="-1238250" algn="l" defTabSz="914400" rtl="0" eaLnBrk="0" fontAlgn="base" latinLnBrk="0" hangingPunct="0">
              <a:lnSpc>
                <a:spcPct val="13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accent1"/>
                </a:solidFill>
                <a:effectLst/>
                <a:uLnTx/>
                <a:uFillTx/>
                <a:latin typeface="+mn-lt"/>
                <a:ea typeface="+mn-ea"/>
                <a:cs typeface="+mn-ea"/>
                <a:sym typeface="+mn-lt"/>
              </a:rPr>
              <a:t>——</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同一双亲下的同层结点（孩子之间互称兄弟）</a:t>
            </a:r>
          </a:p>
          <a:p>
            <a:pPr marL="1238250" marR="0" lvl="0" indent="-1238250" algn="l" defTabSz="914400" rtl="0" eaLnBrk="0" fontAlgn="base" latinLnBrk="0" hangingPunct="0">
              <a:lnSpc>
                <a:spcPct val="13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accent1"/>
                </a:solidFill>
                <a:effectLst/>
                <a:uLnTx/>
                <a:uFillTx/>
                <a:latin typeface="+mn-lt"/>
                <a:ea typeface="+mn-ea"/>
                <a:cs typeface="+mn-ea"/>
                <a:sym typeface="+mn-lt"/>
              </a:rPr>
              <a:t>——</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即双亲位于同一层的结点（但并非同一双亲）</a:t>
            </a:r>
          </a:p>
          <a:p>
            <a:pPr marL="1238250" marR="0" lvl="0" indent="-1238250" algn="l" defTabSz="914400" rtl="0" eaLnBrk="0" fontAlgn="base" latinLnBrk="0" hangingPunct="0">
              <a:lnSpc>
                <a:spcPct val="13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accent1"/>
                </a:solidFill>
                <a:effectLst/>
                <a:uLnTx/>
                <a:uFillTx/>
                <a:latin typeface="+mn-lt"/>
                <a:ea typeface="+mn-ea"/>
                <a:cs typeface="+mn-ea"/>
                <a:sym typeface="+mn-lt"/>
              </a:rPr>
              <a:t>——</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即从根到该结点所经分支的所有结点</a:t>
            </a:r>
          </a:p>
          <a:p>
            <a:pPr marL="1238250" marR="0" lvl="0" indent="-1238250" algn="l" defTabSz="914400" rtl="0" eaLnBrk="0" fontAlgn="base" latinLnBrk="0" hangingPunct="0">
              <a:lnSpc>
                <a:spcPct val="13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accent1"/>
                </a:solidFill>
                <a:effectLst/>
                <a:uLnTx/>
                <a:uFillTx/>
                <a:latin typeface="+mn-lt"/>
                <a:ea typeface="+mn-ea"/>
                <a:cs typeface="+mn-ea"/>
                <a:sym typeface="+mn-lt"/>
              </a:rPr>
              <a:t>——</a:t>
            </a: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即该结点下层子树中的任一结点</a:t>
            </a:r>
          </a:p>
        </p:txBody>
      </p:sp>
      <p:sp>
        <p:nvSpPr>
          <p:cNvPr id="894014" name="Rectangle 62"/>
          <p:cNvSpPr>
            <a:spLocks noChangeArrowheads="1"/>
          </p:cNvSpPr>
          <p:nvPr/>
        </p:nvSpPr>
        <p:spPr bwMode="auto">
          <a:xfrm>
            <a:off x="825500" y="882650"/>
            <a:ext cx="1108075" cy="292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rgbClr val="FF3300"/>
                </a:solidFill>
                <a:effectLst/>
                <a:uLnTx/>
                <a:uFillTx/>
                <a:latin typeface="+mn-lt"/>
                <a:ea typeface="+mn-ea"/>
                <a:cs typeface="+mn-ea"/>
                <a:sym typeface="+mn-lt"/>
              </a:rPr>
              <a:t>双亲</a:t>
            </a:r>
          </a:p>
          <a:p>
            <a:pPr marL="0" marR="0" lvl="0" indent="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rgbClr val="FF3300"/>
                </a:solidFill>
                <a:effectLst/>
                <a:uLnTx/>
                <a:uFillTx/>
                <a:latin typeface="+mn-lt"/>
                <a:ea typeface="+mn-ea"/>
                <a:cs typeface="+mn-ea"/>
                <a:sym typeface="+mn-lt"/>
              </a:rPr>
              <a:t>孩子</a:t>
            </a:r>
          </a:p>
          <a:p>
            <a:pPr marL="0" marR="0" lvl="0" indent="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accent1"/>
                </a:solidFill>
                <a:effectLst/>
                <a:uLnTx/>
                <a:uFillTx/>
                <a:latin typeface="+mn-lt"/>
                <a:ea typeface="+mn-ea"/>
                <a:cs typeface="+mn-ea"/>
                <a:sym typeface="+mn-lt"/>
              </a:rPr>
              <a:t>兄弟</a:t>
            </a:r>
          </a:p>
          <a:p>
            <a:pPr marL="0" marR="0" lvl="0" indent="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accent1"/>
                </a:solidFill>
                <a:effectLst/>
                <a:uLnTx/>
                <a:uFillTx/>
                <a:latin typeface="+mn-lt"/>
                <a:ea typeface="+mn-ea"/>
                <a:cs typeface="+mn-ea"/>
                <a:sym typeface="+mn-lt"/>
              </a:rPr>
              <a:t>堂兄弟</a:t>
            </a:r>
          </a:p>
          <a:p>
            <a:pPr marL="0" marR="0" lvl="0" indent="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accent1"/>
                </a:solidFill>
                <a:effectLst/>
                <a:uLnTx/>
                <a:uFillTx/>
                <a:latin typeface="+mn-lt"/>
                <a:ea typeface="+mn-ea"/>
                <a:cs typeface="+mn-ea"/>
                <a:sym typeface="+mn-lt"/>
              </a:rPr>
              <a:t>祖先</a:t>
            </a:r>
          </a:p>
          <a:p>
            <a:pPr marL="0" marR="0" lvl="0" indent="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accent1"/>
                </a:solidFill>
                <a:effectLst/>
                <a:uLnTx/>
                <a:uFillTx/>
                <a:latin typeface="+mn-lt"/>
                <a:ea typeface="+mn-ea"/>
                <a:cs typeface="+mn-ea"/>
                <a:sym typeface="+mn-lt"/>
              </a:rPr>
              <a:t>子孙</a:t>
            </a:r>
          </a:p>
        </p:txBody>
      </p:sp>
      <p:graphicFrame>
        <p:nvGraphicFramePr>
          <p:cNvPr id="20484" name="Object 65"/>
          <p:cNvGraphicFramePr/>
          <p:nvPr/>
        </p:nvGraphicFramePr>
        <p:xfrm>
          <a:off x="2501900" y="3981450"/>
          <a:ext cx="4495800" cy="2493963"/>
        </p:xfrm>
        <a:graphic>
          <a:graphicData uri="http://schemas.openxmlformats.org/presentationml/2006/ole">
            <mc:AlternateContent xmlns:mc="http://schemas.openxmlformats.org/markup-compatibility/2006">
              <mc:Choice xmlns:v="urn:schemas-microsoft-com:vml" Requires="v">
                <p:oleObj spid="_x0000_s4122" r:id="rId3" imgW="6875780" imgH="3817620" progId="Visio.Drawing.5">
                  <p:embed/>
                </p:oleObj>
              </mc:Choice>
              <mc:Fallback>
                <p:oleObj r:id="rId3" imgW="6875780" imgH="3817620" progId="Visio.Drawing.5">
                  <p:embed/>
                  <p:pic>
                    <p:nvPicPr>
                      <p:cNvPr id="0" name="图片 3075"/>
                      <p:cNvPicPr/>
                      <p:nvPr/>
                    </p:nvPicPr>
                    <p:blipFill>
                      <a:blip r:embed="rId4"/>
                      <a:stretch>
                        <a:fillRect/>
                      </a:stretch>
                    </p:blipFill>
                    <p:spPr>
                      <a:xfrm>
                        <a:off x="2501900" y="3981450"/>
                        <a:ext cx="4495800" cy="2493963"/>
                      </a:xfrm>
                      <a:prstGeom prst="rect">
                        <a:avLst/>
                      </a:prstGeom>
                      <a:solidFill>
                        <a:schemeClr val="accent1"/>
                      </a:solidFill>
                      <a:ln w="38100">
                        <a:noFill/>
                        <a:miter/>
                      </a:ln>
                    </p:spPr>
                  </p:pic>
                </p:oleObj>
              </mc:Fallback>
            </mc:AlternateContent>
          </a:graphicData>
        </a:graphic>
      </p:graphicFrame>
      <p:sp>
        <p:nvSpPr>
          <p:cNvPr id="23557" name="Rectangle 66"/>
          <p:cNvSpPr>
            <a:spLocks noChangeArrowheads="1"/>
          </p:cNvSpPr>
          <p:nvPr/>
        </p:nvSpPr>
        <p:spPr bwMode="auto">
          <a:xfrm>
            <a:off x="827088" y="179388"/>
            <a:ext cx="392271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基本术语</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894014"/>
                                        </p:tgtEl>
                                        <p:attrNameLst>
                                          <p:attrName>style.visibility</p:attrName>
                                        </p:attrNameLst>
                                      </p:cBhvr>
                                      <p:to>
                                        <p:strVal val="visible"/>
                                      </p:to>
                                    </p:set>
                                    <p:animEffect transition="in" filter="wipe(up)">
                                      <p:cBhvr>
                                        <p:cTn id="7" dur="500"/>
                                        <p:tgtEl>
                                          <p:spTgt spid="8940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4014"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6"/>
          <p:cNvSpPr>
            <a:spLocks noChangeArrowheads="1"/>
          </p:cNvSpPr>
          <p:nvPr/>
        </p:nvSpPr>
        <p:spPr bwMode="auto">
          <a:xfrm>
            <a:off x="2095500" y="895350"/>
            <a:ext cx="6437313" cy="3130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30000"/>
              </a:lnSpc>
              <a:spcBef>
                <a:spcPct val="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accent1"/>
                </a:solidFill>
                <a:effectLst/>
                <a:uLnTx/>
                <a:uFillTx/>
                <a:latin typeface="+mn-lt"/>
                <a:ea typeface="+mn-ea"/>
                <a:cs typeface="+mn-ea"/>
                <a:sym typeface="+mn-lt"/>
              </a:rPr>
              <a:t>——</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即树的数据元素</a:t>
            </a:r>
          </a:p>
          <a:p>
            <a:pPr marL="0" marR="0" lvl="0" indent="0" algn="l" defTabSz="914400" rtl="0" eaLnBrk="0" fontAlgn="base" latinLnBrk="0" hangingPunct="0">
              <a:lnSpc>
                <a:spcPct val="130000"/>
              </a:lnSpc>
              <a:spcBef>
                <a:spcPct val="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accent1"/>
                </a:solidFill>
                <a:effectLst/>
                <a:uLnTx/>
                <a:uFillTx/>
                <a:latin typeface="+mn-lt"/>
                <a:ea typeface="+mn-ea"/>
                <a:cs typeface="+mn-ea"/>
                <a:sym typeface="+mn-lt"/>
              </a:rPr>
              <a:t>——</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结点挂接的子树数</a:t>
            </a:r>
            <a:endPar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30000"/>
              </a:lnSpc>
              <a:spcBef>
                <a:spcPct val="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从根到该结点的层数（根结点算第一层）</a:t>
            </a:r>
          </a:p>
          <a:p>
            <a:pPr marL="0" marR="0" lvl="0" indent="0" algn="l" defTabSz="914400" rtl="0" eaLnBrk="0" fontAlgn="base" latinLnBrk="0" hangingPunct="0">
              <a:lnSpc>
                <a:spcPct val="130000"/>
              </a:lnSpc>
              <a:spcBef>
                <a:spcPct val="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即度为</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0</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的结点，即叶子</a:t>
            </a:r>
          </a:p>
          <a:p>
            <a:pPr marL="0" marR="0" lvl="0" indent="0" algn="l" defTabSz="914400" rtl="0" eaLnBrk="0" fontAlgn="base" latinLnBrk="0" hangingPunct="0">
              <a:lnSpc>
                <a:spcPct val="130000"/>
              </a:lnSpc>
              <a:spcBef>
                <a:spcPct val="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即度不为</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0</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的结点（也称为内部结点）</a:t>
            </a:r>
            <a:endPar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30000"/>
              </a:lnSpc>
              <a:spcBef>
                <a:spcPct val="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所有结点度中的最大值</a:t>
            </a:r>
          </a:p>
          <a:p>
            <a:pPr marL="0" marR="0" lvl="0" indent="0" algn="l" defTabSz="914400" rtl="0" eaLnBrk="0" fontAlgn="base" latinLnBrk="0" hangingPunct="0">
              <a:lnSpc>
                <a:spcPct val="130000"/>
              </a:lnSpc>
              <a:spcBef>
                <a:spcPct val="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指所有结点中最大的层数</a:t>
            </a:r>
            <a:endParaRPr kumimoji="0" lang="zh-CN" altLang="en-US" sz="2200" b="0" i="0" u="none" strike="noStrike" kern="1200" cap="none" spc="0" normalizeH="0" baseline="0" noProof="0" dirty="0">
              <a:ln>
                <a:noFill/>
              </a:ln>
              <a:solidFill>
                <a:schemeClr val="accent2"/>
              </a:solidFill>
              <a:effectLst/>
              <a:uLnTx/>
              <a:uFillTx/>
              <a:latin typeface="+mn-lt"/>
              <a:ea typeface="+mn-ea"/>
              <a:cs typeface="+mn-ea"/>
              <a:sym typeface="+mn-lt"/>
            </a:endParaRPr>
          </a:p>
        </p:txBody>
      </p:sp>
      <p:sp>
        <p:nvSpPr>
          <p:cNvPr id="24579" name="Rectangle 7"/>
          <p:cNvSpPr>
            <a:spLocks noChangeArrowheads="1"/>
          </p:cNvSpPr>
          <p:nvPr/>
        </p:nvSpPr>
        <p:spPr bwMode="auto">
          <a:xfrm>
            <a:off x="350838" y="895350"/>
            <a:ext cx="1724025" cy="3570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r"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结点</a:t>
            </a:r>
          </a:p>
          <a:p>
            <a:pPr marL="0" marR="0" lvl="0" indent="0" algn="r"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rgbClr val="FF0000"/>
                </a:solidFill>
                <a:effectLst/>
                <a:uLnTx/>
                <a:uFillTx/>
                <a:latin typeface="+mn-lt"/>
                <a:ea typeface="+mn-ea"/>
                <a:cs typeface="+mn-ea"/>
                <a:sym typeface="+mn-lt"/>
              </a:rPr>
              <a:t>结点的度</a:t>
            </a:r>
          </a:p>
          <a:p>
            <a:pPr marL="0" marR="0" lvl="0" indent="0" algn="r"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rgbClr val="FF0000"/>
                </a:solidFill>
                <a:effectLst/>
                <a:uLnTx/>
                <a:uFillTx/>
                <a:latin typeface="+mn-lt"/>
                <a:ea typeface="+mn-ea"/>
                <a:cs typeface="+mn-ea"/>
                <a:sym typeface="+mn-lt"/>
              </a:rPr>
              <a:t>结点的层次</a:t>
            </a:r>
          </a:p>
          <a:p>
            <a:pPr marL="0" marR="0" lvl="0" indent="0" algn="r"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终端结点</a:t>
            </a:r>
          </a:p>
          <a:p>
            <a:pPr marL="0" marR="0" lvl="0" indent="0" algn="r"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分支结点</a:t>
            </a:r>
            <a:endPar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r"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rgbClr val="FF0000"/>
                </a:solidFill>
                <a:effectLst/>
                <a:uLnTx/>
                <a:uFillTx/>
                <a:latin typeface="+mn-lt"/>
                <a:ea typeface="+mn-ea"/>
                <a:cs typeface="+mn-ea"/>
                <a:sym typeface="+mn-lt"/>
              </a:rPr>
              <a:t>树的度</a:t>
            </a:r>
          </a:p>
          <a:p>
            <a:pPr marL="0" marR="0" lvl="0" indent="0" algn="r"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rgbClr val="FF0000"/>
                </a:solidFill>
                <a:effectLst/>
                <a:uLnTx/>
                <a:uFillTx/>
                <a:latin typeface="+mn-lt"/>
                <a:ea typeface="+mn-ea"/>
                <a:cs typeface="+mn-ea"/>
                <a:sym typeface="+mn-lt"/>
              </a:rPr>
              <a:t>树的深度</a:t>
            </a:r>
          </a:p>
          <a:p>
            <a:pPr marL="0" marR="0" lvl="0" indent="0" algn="r"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或高度</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p>
        </p:txBody>
      </p:sp>
      <p:graphicFrame>
        <p:nvGraphicFramePr>
          <p:cNvPr id="21508" name="Object 69"/>
          <p:cNvGraphicFramePr/>
          <p:nvPr/>
        </p:nvGraphicFramePr>
        <p:xfrm>
          <a:off x="2754313" y="4198938"/>
          <a:ext cx="4495800" cy="2493962"/>
        </p:xfrm>
        <a:graphic>
          <a:graphicData uri="http://schemas.openxmlformats.org/presentationml/2006/ole">
            <mc:AlternateContent xmlns:mc="http://schemas.openxmlformats.org/markup-compatibility/2006">
              <mc:Choice xmlns:v="urn:schemas-microsoft-com:vml" Requires="v">
                <p:oleObj spid="_x0000_s5146" r:id="rId3" imgW="6875780" imgH="3817620" progId="Visio.Drawing.5">
                  <p:embed/>
                </p:oleObj>
              </mc:Choice>
              <mc:Fallback>
                <p:oleObj r:id="rId3" imgW="6875780" imgH="3817620" progId="Visio.Drawing.5">
                  <p:embed/>
                  <p:pic>
                    <p:nvPicPr>
                      <p:cNvPr id="0" name="图片 3083"/>
                      <p:cNvPicPr/>
                      <p:nvPr/>
                    </p:nvPicPr>
                    <p:blipFill>
                      <a:blip r:embed="rId4"/>
                      <a:stretch>
                        <a:fillRect/>
                      </a:stretch>
                    </p:blipFill>
                    <p:spPr>
                      <a:xfrm>
                        <a:off x="2754313" y="4198938"/>
                        <a:ext cx="4495800" cy="2493962"/>
                      </a:xfrm>
                      <a:prstGeom prst="rect">
                        <a:avLst/>
                      </a:prstGeom>
                      <a:solidFill>
                        <a:schemeClr val="accent1"/>
                      </a:solidFill>
                      <a:ln w="38100">
                        <a:noFill/>
                        <a:miter/>
                      </a:ln>
                    </p:spPr>
                  </p:pic>
                </p:oleObj>
              </mc:Fallback>
            </mc:AlternateContent>
          </a:graphicData>
        </a:graphic>
      </p:graphicFrame>
      <p:grpSp>
        <p:nvGrpSpPr>
          <p:cNvPr id="24584" name="Group 70"/>
          <p:cNvGrpSpPr/>
          <p:nvPr/>
        </p:nvGrpSpPr>
        <p:grpSpPr bwMode="auto">
          <a:xfrm>
            <a:off x="7729165" y="3622079"/>
            <a:ext cx="803275" cy="3057525"/>
            <a:chOff x="4944" y="1584"/>
            <a:chExt cx="506" cy="1926"/>
          </a:xfrm>
          <a:solidFill>
            <a:srgbClr val="E2D9EB"/>
          </a:solidFill>
        </p:grpSpPr>
        <p:sp>
          <p:nvSpPr>
            <p:cNvPr id="24585" name="Text Box 71"/>
            <p:cNvSpPr txBox="1">
              <a:spLocks noChangeArrowheads="1"/>
            </p:cNvSpPr>
            <p:nvPr/>
          </p:nvSpPr>
          <p:spPr bwMode="auto">
            <a:xfrm>
              <a:off x="4944" y="1584"/>
              <a:ext cx="506" cy="294"/>
            </a:xfrm>
            <a:prstGeom prst="rect">
              <a:avLst/>
            </a:prstGeom>
            <a:grpFill/>
            <a:ln w="9525">
              <a:solidFill>
                <a:schemeClr val="tx1">
                  <a:lumMod val="95000"/>
                  <a:lumOff val="5000"/>
                </a:schemeClr>
              </a:solidFill>
              <a:miter lim="800000"/>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层次</a:t>
              </a:r>
            </a:p>
          </p:txBody>
        </p:sp>
        <p:sp>
          <p:nvSpPr>
            <p:cNvPr id="24586" name="Text Box 72"/>
            <p:cNvSpPr txBox="1">
              <a:spLocks noChangeArrowheads="1"/>
            </p:cNvSpPr>
            <p:nvPr/>
          </p:nvSpPr>
          <p:spPr bwMode="auto">
            <a:xfrm>
              <a:off x="5088" y="1920"/>
              <a:ext cx="218" cy="294"/>
            </a:xfrm>
            <a:prstGeom prst="rect">
              <a:avLst/>
            </a:prstGeom>
            <a:grpFill/>
            <a:ln w="9525">
              <a:solidFill>
                <a:schemeClr val="tx1">
                  <a:lumMod val="95000"/>
                  <a:lumOff val="5000"/>
                </a:schemeClr>
              </a:solidFill>
              <a:miter lim="800000"/>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24587" name="Text Box 73"/>
            <p:cNvSpPr txBox="1">
              <a:spLocks noChangeArrowheads="1"/>
            </p:cNvSpPr>
            <p:nvPr/>
          </p:nvSpPr>
          <p:spPr bwMode="auto">
            <a:xfrm>
              <a:off x="5088" y="2352"/>
              <a:ext cx="218" cy="294"/>
            </a:xfrm>
            <a:prstGeom prst="rect">
              <a:avLst/>
            </a:prstGeom>
            <a:grpFill/>
            <a:ln w="9525">
              <a:solidFill>
                <a:schemeClr val="tx1">
                  <a:lumMod val="95000"/>
                  <a:lumOff val="5000"/>
                </a:schemeClr>
              </a:solidFill>
              <a:miter lim="800000"/>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2</a:t>
              </a:r>
            </a:p>
          </p:txBody>
        </p:sp>
        <p:sp>
          <p:nvSpPr>
            <p:cNvPr id="24588" name="Text Box 74"/>
            <p:cNvSpPr txBox="1">
              <a:spLocks noChangeArrowheads="1"/>
            </p:cNvSpPr>
            <p:nvPr/>
          </p:nvSpPr>
          <p:spPr bwMode="auto">
            <a:xfrm>
              <a:off x="5088" y="2784"/>
              <a:ext cx="218" cy="294"/>
            </a:xfrm>
            <a:prstGeom prst="rect">
              <a:avLst/>
            </a:prstGeom>
            <a:grpFill/>
            <a:ln w="9525">
              <a:solidFill>
                <a:schemeClr val="tx1">
                  <a:lumMod val="95000"/>
                  <a:lumOff val="5000"/>
                </a:schemeClr>
              </a:solidFill>
              <a:miter lim="800000"/>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3</a:t>
              </a:r>
            </a:p>
          </p:txBody>
        </p:sp>
        <p:sp>
          <p:nvSpPr>
            <p:cNvPr id="24589" name="Text Box 75"/>
            <p:cNvSpPr txBox="1">
              <a:spLocks noChangeArrowheads="1"/>
            </p:cNvSpPr>
            <p:nvPr/>
          </p:nvSpPr>
          <p:spPr bwMode="auto">
            <a:xfrm>
              <a:off x="5088" y="3216"/>
              <a:ext cx="218" cy="294"/>
            </a:xfrm>
            <a:prstGeom prst="rect">
              <a:avLst/>
            </a:prstGeom>
            <a:grpFill/>
            <a:ln w="9525">
              <a:solidFill>
                <a:schemeClr val="tx1">
                  <a:lumMod val="95000"/>
                  <a:lumOff val="5000"/>
                </a:schemeClr>
              </a:solidFill>
              <a:miter lim="800000"/>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4</a:t>
              </a:r>
            </a:p>
          </p:txBody>
        </p:sp>
      </p:grpSp>
      <p:sp>
        <p:nvSpPr>
          <p:cNvPr id="24590" name="Rectangle 76"/>
          <p:cNvSpPr>
            <a:spLocks noChangeArrowheads="1"/>
          </p:cNvSpPr>
          <p:nvPr/>
        </p:nvSpPr>
        <p:spPr bwMode="auto">
          <a:xfrm>
            <a:off x="793750" y="217488"/>
            <a:ext cx="392271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a:ln>
                  <a:noFill/>
                </a:ln>
                <a:solidFill>
                  <a:schemeClr val="bg1"/>
                </a:solidFill>
                <a:effectLst/>
                <a:uLnTx/>
                <a:uFillTx/>
                <a:latin typeface="+mn-lt"/>
                <a:ea typeface="+mn-ea"/>
                <a:cs typeface="+mn-ea"/>
                <a:sym typeface="+mn-lt"/>
              </a:rPr>
              <a:t>基本术语</a:t>
            </a:r>
          </a:p>
        </p:txBody>
      </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圆角矩形 2"/>
          <p:cNvSpPr/>
          <p:nvPr/>
        </p:nvSpPr>
        <p:spPr>
          <a:xfrm>
            <a:off x="690563" y="3019425"/>
            <a:ext cx="3319462" cy="1225550"/>
          </a:xfrm>
          <a:prstGeom prst="roundRect">
            <a:avLst>
              <a:gd name="adj" fmla="val 10440"/>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8" name="圆角矩形 7"/>
          <p:cNvSpPr/>
          <p:nvPr/>
        </p:nvSpPr>
        <p:spPr bwMode="auto">
          <a:xfrm>
            <a:off x="4364038" y="3019425"/>
            <a:ext cx="4248150" cy="2449513"/>
          </a:xfrm>
          <a:prstGeom prst="roundRect">
            <a:avLst>
              <a:gd name="adj" fmla="val 6292"/>
            </a:avLst>
          </a:prstGeom>
          <a:solidFill>
            <a:schemeClr val="accent1">
              <a:lumMod val="40000"/>
              <a:lumOff val="6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2" name="Rectangle 13"/>
          <p:cNvSpPr>
            <a:spLocks noChangeArrowheads="1"/>
          </p:cNvSpPr>
          <p:nvPr/>
        </p:nvSpPr>
        <p:spPr bwMode="auto">
          <a:xfrm>
            <a:off x="717550" y="1663700"/>
            <a:ext cx="7823200" cy="973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25000"/>
              </a:lnSpc>
              <a:spcBef>
                <a:spcPts val="1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二叉树（</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Binary Tree</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）是</a:t>
            </a:r>
            <a:r>
              <a:rPr kumimoji="0" lang="en-US" altLang="zh-CN" sz="2400" b="0" i="1"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1"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）个结点所构成的集合，它或为空树（</a:t>
            </a:r>
            <a:r>
              <a:rPr kumimoji="0" lang="en-US" altLang="zh-CN" sz="2400" b="0" i="1" u="none" strike="noStrike" kern="1200" cap="none" spc="0" normalizeH="0" baseline="0" noProof="0" dirty="0">
                <a:ln>
                  <a:noFill/>
                </a:ln>
                <a:solidFill>
                  <a:schemeClr val="tx1"/>
                </a:solidFill>
                <a:effectLst/>
                <a:uLnTx/>
                <a:uFillTx/>
                <a:latin typeface="+mn-lt"/>
                <a:ea typeface="+mn-ea"/>
                <a:cs typeface="+mn-ea"/>
                <a:sym typeface="+mn-lt"/>
              </a:rPr>
              <a:t>n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）；或为非空树，对于非空树</a:t>
            </a:r>
            <a:r>
              <a:rPr kumimoji="0" lang="en-US" altLang="zh-CN" sz="2400" b="0" i="1" u="none" strike="noStrike" kern="1200" cap="none" spc="0" normalizeH="0" baseline="0" noProof="0" dirty="0">
                <a:ln>
                  <a:noFill/>
                </a:ln>
                <a:solidFill>
                  <a:schemeClr val="tx1"/>
                </a:solidFill>
                <a:effectLst/>
                <a:uLnTx/>
                <a:uFillTx/>
                <a:latin typeface="+mn-lt"/>
                <a:ea typeface="+mn-ea"/>
                <a:cs typeface="+mn-ea"/>
                <a:sym typeface="+mn-lt"/>
              </a:rPr>
              <a:t>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p>
        </p:txBody>
      </p:sp>
      <p:sp>
        <p:nvSpPr>
          <p:cNvPr id="25603" name="Rectangle 16"/>
          <p:cNvSpPr>
            <a:spLocks noChangeArrowheads="1"/>
          </p:cNvSpPr>
          <p:nvPr/>
        </p:nvSpPr>
        <p:spPr bwMode="auto">
          <a:xfrm>
            <a:off x="827088" y="223838"/>
            <a:ext cx="317500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二叉树的定义</a:t>
            </a:r>
          </a:p>
        </p:txBody>
      </p:sp>
      <p:sp>
        <p:nvSpPr>
          <p:cNvPr id="5" name="Rectangle 13"/>
          <p:cNvSpPr>
            <a:spLocks noChangeArrowheads="1"/>
          </p:cNvSpPr>
          <p:nvPr/>
        </p:nvSpPr>
        <p:spPr bwMode="auto">
          <a:xfrm>
            <a:off x="860425" y="3124200"/>
            <a:ext cx="280987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25000"/>
              </a:lnSpc>
              <a:spcBef>
                <a:spcPts val="1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）有且仅有一个称之为根的结点；</a:t>
            </a:r>
          </a:p>
        </p:txBody>
      </p:sp>
      <p:sp>
        <p:nvSpPr>
          <p:cNvPr id="6" name="Rectangle 13"/>
          <p:cNvSpPr>
            <a:spLocks noChangeArrowheads="1"/>
          </p:cNvSpPr>
          <p:nvPr/>
        </p:nvSpPr>
        <p:spPr bwMode="auto">
          <a:xfrm>
            <a:off x="4483100" y="3019425"/>
            <a:ext cx="4033838" cy="2449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25000"/>
              </a:lnSpc>
              <a:spcBef>
                <a:spcPts val="1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）除根结点以外的其余结点分为两个互不相交的子集</a:t>
            </a:r>
            <a:r>
              <a:rPr kumimoji="0" lang="en-US" altLang="zh-CN" sz="2400" b="0" i="1" u="none" strike="noStrike" kern="1200" cap="none" spc="0" normalizeH="0" baseline="0" noProof="0" dirty="0">
                <a:ln>
                  <a:noFill/>
                </a:ln>
                <a:solidFill>
                  <a:schemeClr val="tx1"/>
                </a:solidFill>
                <a:effectLst/>
                <a:uLnTx/>
                <a:uFillTx/>
                <a:latin typeface="+mn-lt"/>
                <a:ea typeface="+mn-ea"/>
                <a:cs typeface="+mn-ea"/>
                <a:sym typeface="+mn-lt"/>
              </a:rPr>
              <a:t>T</a:t>
            </a:r>
            <a:r>
              <a:rPr kumimoji="0" lang="en-US" altLang="zh-CN" sz="2400" b="0" i="0" u="none" strike="noStrike" kern="1200" cap="none" spc="0" normalizeH="0" baseline="-2500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和</a:t>
            </a:r>
            <a:r>
              <a:rPr kumimoji="0" lang="en-US" altLang="zh-CN" sz="2400" b="0" i="1" u="none" strike="noStrike" kern="1200" cap="none" spc="0" normalizeH="0" baseline="0" noProof="0" dirty="0">
                <a:ln>
                  <a:noFill/>
                </a:ln>
                <a:solidFill>
                  <a:schemeClr val="tx1"/>
                </a:solidFill>
                <a:effectLst/>
                <a:uLnTx/>
                <a:uFillTx/>
                <a:latin typeface="+mn-lt"/>
                <a:ea typeface="+mn-ea"/>
                <a:cs typeface="+mn-ea"/>
                <a:sym typeface="+mn-lt"/>
              </a:rPr>
              <a:t>T</a:t>
            </a:r>
            <a:r>
              <a:rPr kumimoji="0" lang="en-US" altLang="zh-CN" sz="2400" b="0" i="0" u="none" strike="noStrike" kern="1200" cap="none" spc="0" normalizeH="0" baseline="-25000" noProof="0" dirty="0">
                <a:ln>
                  <a:noFill/>
                </a:ln>
                <a:solidFill>
                  <a:schemeClr val="tx1"/>
                </a:solidFill>
                <a:effectLst/>
                <a:uLnTx/>
                <a:uFillTx/>
                <a:latin typeface="+mn-lt"/>
                <a:ea typeface="+mn-ea"/>
                <a:cs typeface="+mn-ea"/>
                <a:sym typeface="+mn-lt"/>
              </a:rPr>
              <a:t>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，分别称为</a:t>
            </a:r>
            <a:r>
              <a:rPr kumimoji="0" lang="en-US" altLang="zh-CN" sz="2400" b="0" i="1" u="none" strike="noStrike" kern="1200" cap="none" spc="0" normalizeH="0" baseline="0" noProof="0" dirty="0">
                <a:ln>
                  <a:noFill/>
                </a:ln>
                <a:solidFill>
                  <a:schemeClr val="tx1"/>
                </a:solidFill>
                <a:effectLst/>
                <a:uLnTx/>
                <a:uFillTx/>
                <a:latin typeface="+mn-lt"/>
                <a:ea typeface="+mn-ea"/>
                <a:cs typeface="+mn-ea"/>
                <a:sym typeface="+mn-lt"/>
              </a:rPr>
              <a:t>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的左子树和右子树，且</a:t>
            </a:r>
            <a:r>
              <a:rPr kumimoji="0" lang="en-US" altLang="zh-CN" sz="2400" b="0" i="1" u="none" strike="noStrike" kern="1200" cap="none" spc="0" normalizeH="0" baseline="0" noProof="0" dirty="0">
                <a:ln>
                  <a:noFill/>
                </a:ln>
                <a:solidFill>
                  <a:schemeClr val="tx1"/>
                </a:solidFill>
                <a:effectLst/>
                <a:uLnTx/>
                <a:uFillTx/>
                <a:latin typeface="+mn-lt"/>
                <a:ea typeface="+mn-ea"/>
                <a:cs typeface="+mn-ea"/>
                <a:sym typeface="+mn-lt"/>
              </a:rPr>
              <a:t>T</a:t>
            </a:r>
            <a:r>
              <a:rPr kumimoji="0" lang="en-US" altLang="zh-CN" sz="2400" b="0" i="0" u="none" strike="noStrike" kern="1200" cap="none" spc="0" normalizeH="0" baseline="-2500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和</a:t>
            </a:r>
            <a:r>
              <a:rPr kumimoji="0" lang="en-US" altLang="zh-CN" sz="2400" b="0" i="1" u="none" strike="noStrike" kern="1200" cap="none" spc="0" normalizeH="0" baseline="0" noProof="0" dirty="0">
                <a:ln>
                  <a:noFill/>
                </a:ln>
                <a:solidFill>
                  <a:schemeClr val="tx1"/>
                </a:solidFill>
                <a:effectLst/>
                <a:uLnTx/>
                <a:uFillTx/>
                <a:latin typeface="+mn-lt"/>
                <a:ea typeface="+mn-ea"/>
                <a:cs typeface="+mn-ea"/>
                <a:sym typeface="+mn-lt"/>
              </a:rPr>
              <a:t>T</a:t>
            </a:r>
            <a:r>
              <a:rPr kumimoji="0" lang="en-US" altLang="zh-CN" sz="2400" b="0" i="0" u="none" strike="noStrike" kern="1200" cap="none" spc="0" normalizeH="0" baseline="-25000" noProof="0" dirty="0">
                <a:ln>
                  <a:noFill/>
                </a:ln>
                <a:solidFill>
                  <a:schemeClr val="tx1"/>
                </a:solidFill>
                <a:effectLst/>
                <a:uLnTx/>
                <a:uFillTx/>
                <a:latin typeface="+mn-lt"/>
                <a:ea typeface="+mn-ea"/>
                <a:cs typeface="+mn-ea"/>
                <a:sym typeface="+mn-lt"/>
              </a:rPr>
              <a:t>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本身又都是二叉树。</a:t>
            </a:r>
          </a:p>
        </p:txBody>
      </p:sp>
      <p:sp>
        <p:nvSpPr>
          <p:cNvPr id="22536" name="圆角矩形 8"/>
          <p:cNvSpPr/>
          <p:nvPr/>
        </p:nvSpPr>
        <p:spPr>
          <a:xfrm>
            <a:off x="708025" y="5324475"/>
            <a:ext cx="3319463" cy="169863"/>
          </a:xfrm>
          <a:prstGeom prst="roundRect">
            <a:avLst>
              <a:gd name="adj" fmla="val 10440"/>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22537" name="圆角矩形 10"/>
          <p:cNvSpPr/>
          <p:nvPr/>
        </p:nvSpPr>
        <p:spPr>
          <a:xfrm>
            <a:off x="708025" y="5049838"/>
            <a:ext cx="3319463" cy="169862"/>
          </a:xfrm>
          <a:prstGeom prst="roundRect">
            <a:avLst>
              <a:gd name="adj" fmla="val 10440"/>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22538" name="圆角矩形 11"/>
          <p:cNvSpPr/>
          <p:nvPr/>
        </p:nvSpPr>
        <p:spPr>
          <a:xfrm>
            <a:off x="708025" y="4770438"/>
            <a:ext cx="3319463" cy="169862"/>
          </a:xfrm>
          <a:prstGeom prst="roundRect">
            <a:avLst>
              <a:gd name="adj" fmla="val 10440"/>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22539" name="圆角矩形 12"/>
          <p:cNvSpPr/>
          <p:nvPr/>
        </p:nvSpPr>
        <p:spPr>
          <a:xfrm>
            <a:off x="690563" y="4460875"/>
            <a:ext cx="3319462" cy="169863"/>
          </a:xfrm>
          <a:prstGeom prst="roundRect">
            <a:avLst>
              <a:gd name="adj" fmla="val 10440"/>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7"/>
          <p:cNvSpPr>
            <a:spLocks noChangeArrowheads="1"/>
          </p:cNvSpPr>
          <p:nvPr/>
        </p:nvSpPr>
        <p:spPr bwMode="auto">
          <a:xfrm>
            <a:off x="703263" y="1989138"/>
            <a:ext cx="7812088" cy="511175"/>
          </a:xfrm>
          <a:prstGeom prst="roundRect">
            <a:avLst/>
          </a:prstGeom>
          <a:solidFill>
            <a:schemeClr val="accent1">
              <a:lumMod val="60000"/>
              <a:lumOff val="40000"/>
            </a:schemeClr>
          </a:solidFill>
          <a:ln>
            <a:noFill/>
          </a:ln>
        </p:spPr>
        <p:txBody>
          <a:bodyPr>
            <a:spAutoFit/>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普通树（多叉树）若不转化为二叉树，则运算很难实现</a:t>
            </a:r>
          </a:p>
        </p:txBody>
      </p:sp>
      <p:sp>
        <p:nvSpPr>
          <p:cNvPr id="900104" name="Rectangle 8"/>
          <p:cNvSpPr>
            <a:spLocks noChangeArrowheads="1"/>
          </p:cNvSpPr>
          <p:nvPr/>
        </p:nvSpPr>
        <p:spPr bwMode="auto">
          <a:xfrm>
            <a:off x="668338" y="2636838"/>
            <a:ext cx="7847013" cy="2209800"/>
          </a:xfrm>
          <a:prstGeom prst="roundRect">
            <a:avLst>
              <a:gd name="adj" fmla="val 7473"/>
            </a:avLst>
          </a:prstGeom>
          <a:solidFill>
            <a:schemeClr val="bg2">
              <a:lumMod val="20000"/>
              <a:lumOff val="80000"/>
            </a:schemeClr>
          </a:solidFill>
          <a:ln w="57150">
            <a:noFill/>
            <a:miter lim="800000"/>
          </a:ln>
        </p:spPr>
        <p:txBody>
          <a:bodyPr/>
          <a:lstStyle>
            <a:lvl1pPr marL="476250" indent="-47625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476250" marR="0" lvl="0" indent="-476250" algn="just" defTabSz="914400" rtl="0" eaLnBrk="0" fontAlgn="base" latinLnBrk="0" hangingPunct="0">
              <a:lnSpc>
                <a:spcPct val="13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为何要重点研究每结点最多只有两个 “叉” 的树？</a:t>
            </a:r>
          </a:p>
          <a:p>
            <a:pPr marL="476250" marR="0" lvl="0" indent="-476250" algn="l" defTabSz="914400" rtl="0" eaLnBrk="0" fontAlgn="base" latinLnBrk="0" hangingPunct="0">
              <a:lnSpc>
                <a:spcPct val="130000"/>
              </a:lnSpc>
              <a:spcBef>
                <a:spcPct val="20000"/>
              </a:spcBef>
              <a:spcAft>
                <a:spcPct val="0"/>
              </a:spcAft>
              <a:buClr>
                <a:srgbClr val="FF0000"/>
              </a:buClr>
              <a:buSzTx/>
              <a:buFont typeface="Wingdings" panose="05000000000000000000" pitchFamily="2" charset="2"/>
              <a:buChar char="ü"/>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二叉树的结构最简单，规律性最强；</a:t>
            </a:r>
          </a:p>
          <a:p>
            <a:pPr marL="476250" marR="0" lvl="0" indent="-476250" algn="l" defTabSz="914400" rtl="0" eaLnBrk="0" fontAlgn="base" latinLnBrk="0" hangingPunct="0">
              <a:lnSpc>
                <a:spcPct val="130000"/>
              </a:lnSpc>
              <a:spcBef>
                <a:spcPct val="20000"/>
              </a:spcBef>
              <a:spcAft>
                <a:spcPct val="0"/>
              </a:spcAft>
              <a:buClr>
                <a:srgbClr val="FF0000"/>
              </a:buClr>
              <a:buSzTx/>
              <a:buFont typeface="Wingdings" panose="05000000000000000000" pitchFamily="2" charset="2"/>
              <a:buChar char="ü"/>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可以证明，所有树都能转为唯一对应的二叉树，不失一般性。</a:t>
            </a:r>
          </a:p>
        </p:txBody>
      </p:sp>
      <p:sp>
        <p:nvSpPr>
          <p:cNvPr id="5" name="Rectangle 16"/>
          <p:cNvSpPr>
            <a:spLocks noChangeArrowheads="1"/>
          </p:cNvSpPr>
          <p:nvPr/>
        </p:nvSpPr>
        <p:spPr bwMode="auto">
          <a:xfrm>
            <a:off x="827088" y="223838"/>
            <a:ext cx="317500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二叉树的定义</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900104">
                                            <p:bg/>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900104">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900104">
                                            <p:txEl>
                                              <p:pRg st="1" end="1"/>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900104">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0104" grpId="0" build="p"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矩形 7"/>
          <p:cNvSpPr/>
          <p:nvPr/>
        </p:nvSpPr>
        <p:spPr>
          <a:xfrm>
            <a:off x="0" y="3213100"/>
            <a:ext cx="9144000" cy="3168650"/>
          </a:xfrm>
          <a:prstGeom prst="rect">
            <a:avLst/>
          </a:prstGeom>
          <a:solidFill>
            <a:srgbClr val="E2D9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745506" name="Rectangle 34"/>
          <p:cNvSpPr>
            <a:spLocks noChangeArrowheads="1"/>
          </p:cNvSpPr>
          <p:nvPr/>
        </p:nvSpPr>
        <p:spPr bwMode="auto">
          <a:xfrm>
            <a:off x="827088" y="1046163"/>
            <a:ext cx="7254875" cy="1862138"/>
          </a:xfrm>
          <a:prstGeom prst="rect">
            <a:avLst/>
          </a:prstGeom>
          <a:noFill/>
          <a:ln w="9525">
            <a:noFill/>
            <a:miter lim="800000"/>
          </a:ln>
          <a:effec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defRPr/>
            </a:pPr>
            <a:r>
              <a:rPr kumimoji="1" lang="zh-CN" altLang="en-US" sz="3200" b="0" i="0" u="none" strike="noStrike" kern="1200" cap="none" spc="0" normalizeH="0" baseline="0" noProof="0" dirty="0">
                <a:ln>
                  <a:noFill/>
                </a:ln>
                <a:solidFill>
                  <a:schemeClr val="tx1"/>
                </a:solidFill>
                <a:effectLst/>
                <a:uLnTx/>
                <a:uFillTx/>
                <a:latin typeface="+mn-lt"/>
                <a:ea typeface="+mn-ea"/>
                <a:cs typeface="+mn-ea"/>
                <a:sym typeface="+mn-lt"/>
              </a:rPr>
              <a:t>二叉树基本特点：</a:t>
            </a:r>
          </a:p>
          <a:p>
            <a:pPr marL="457200" marR="0" lvl="1" indent="0" algn="l" defTabSz="914400" rtl="0" eaLnBrk="1" fontAlgn="base" latinLnBrk="0" hangingPunct="1">
              <a:lnSpc>
                <a:spcPct val="100000"/>
              </a:lnSpc>
              <a:spcBef>
                <a:spcPct val="50000"/>
              </a:spcBef>
              <a:spcAft>
                <a:spcPct val="0"/>
              </a:spcAft>
              <a:buClr>
                <a:srgbClr val="FF0000"/>
              </a:buClr>
              <a:buSzTx/>
              <a:buFontTx/>
              <a:buChar char="•"/>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    结点的度小于等于</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2</a:t>
            </a:r>
          </a:p>
          <a:p>
            <a:pPr marL="457200" marR="0" lvl="1" indent="0" algn="l" defTabSz="914400" rtl="0" eaLnBrk="1" fontAlgn="base" latinLnBrk="0" hangingPunct="1">
              <a:lnSpc>
                <a:spcPct val="100000"/>
              </a:lnSpc>
              <a:spcBef>
                <a:spcPct val="50000"/>
              </a:spcBef>
              <a:spcAft>
                <a:spcPct val="0"/>
              </a:spcAft>
              <a:buClr>
                <a:srgbClr val="FF0000"/>
              </a:buClr>
              <a:buSzTx/>
              <a:buFontTx/>
              <a:buChar char="•"/>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    有序树（子树有序，不能颠倒）</a:t>
            </a:r>
          </a:p>
        </p:txBody>
      </p:sp>
      <p:grpSp>
        <p:nvGrpSpPr>
          <p:cNvPr id="2" name="Group 35"/>
          <p:cNvGrpSpPr/>
          <p:nvPr/>
        </p:nvGrpSpPr>
        <p:grpSpPr>
          <a:xfrm>
            <a:off x="1189038" y="3605213"/>
            <a:ext cx="6765925" cy="2382837"/>
            <a:chOff x="757" y="2855"/>
            <a:chExt cx="4263" cy="1501"/>
          </a:xfrm>
        </p:grpSpPr>
        <p:sp>
          <p:nvSpPr>
            <p:cNvPr id="745508" name="Text Box 36"/>
            <p:cNvSpPr txBox="1">
              <a:spLocks noChangeArrowheads="1"/>
            </p:cNvSpPr>
            <p:nvPr/>
          </p:nvSpPr>
          <p:spPr bwMode="auto">
            <a:xfrm>
              <a:off x="1235" y="3991"/>
              <a:ext cx="3384" cy="365"/>
            </a:xfrm>
            <a:prstGeom prst="rect">
              <a:avLst/>
            </a:prstGeom>
            <a:noFill/>
            <a:ln w="9525">
              <a:noFill/>
              <a:miter lim="800000"/>
            </a:ln>
            <a:effectLst/>
          </p:spPr>
          <p:txBody>
            <a:bodyPr>
              <a:spAutoFit/>
            </a:bodyPr>
            <a:lstStyle/>
            <a:p>
              <a:pPr marR="0" algn="ctr" defTabSz="914400" eaLnBrk="1" hangingPunct="1">
                <a:buClrTx/>
                <a:buSzTx/>
                <a:buFontTx/>
                <a:buNone/>
                <a:defRPr/>
              </a:pPr>
              <a:r>
                <a:rPr kumimoji="1" lang="zh-CN" altLang="en-US" sz="3200" b="0" kern="1200" cap="none" spc="0" normalizeH="0" baseline="0" noProof="0" dirty="0">
                  <a:latin typeface="+mn-lt"/>
                  <a:ea typeface="+mn-ea"/>
                  <a:cs typeface="+mn-ea"/>
                  <a:sym typeface="+mn-lt"/>
                </a:rPr>
                <a:t>二叉树的五种不同形态</a:t>
              </a:r>
              <a:endParaRPr kumimoji="1" lang="zh-CN" altLang="en-US" sz="2400" b="0" kern="1200" cap="none" spc="0" normalizeH="0" baseline="0" noProof="0" dirty="0">
                <a:latin typeface="+mn-lt"/>
                <a:ea typeface="+mn-ea"/>
                <a:cs typeface="+mn-ea"/>
                <a:sym typeface="+mn-lt"/>
              </a:endParaRPr>
            </a:p>
          </p:txBody>
        </p:sp>
        <p:pic>
          <p:nvPicPr>
            <p:cNvPr id="24583" name="Picture 37"/>
            <p:cNvPicPr>
              <a:picLocks noChangeAspect="1"/>
            </p:cNvPicPr>
            <p:nvPr/>
          </p:nvPicPr>
          <p:blipFill>
            <a:blip r:embed="rId2">
              <a:clrChange>
                <a:clrFrom>
                  <a:srgbClr val="FFFFFF"/>
                </a:clrFrom>
                <a:clrTo>
                  <a:srgbClr val="FFFFFF">
                    <a:alpha val="0"/>
                  </a:srgbClr>
                </a:clrTo>
              </a:clrChange>
            </a:blip>
            <a:stretch>
              <a:fillRect/>
            </a:stretch>
          </p:blipFill>
          <p:spPr>
            <a:xfrm>
              <a:off x="757" y="2855"/>
              <a:ext cx="4263" cy="1035"/>
            </a:xfrm>
            <a:prstGeom prst="rect">
              <a:avLst/>
            </a:prstGeom>
            <a:noFill/>
            <a:ln w="9525">
              <a:noFill/>
            </a:ln>
          </p:spPr>
        </p:pic>
      </p:grpSp>
      <p:sp>
        <p:nvSpPr>
          <p:cNvPr id="7" name="Rectangle 16"/>
          <p:cNvSpPr>
            <a:spLocks noChangeArrowheads="1"/>
          </p:cNvSpPr>
          <p:nvPr/>
        </p:nvSpPr>
        <p:spPr bwMode="auto">
          <a:xfrm>
            <a:off x="827088" y="223838"/>
            <a:ext cx="317500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二叉树的定义</a:t>
            </a:r>
          </a:p>
        </p:txBody>
      </p:sp>
    </p:spTree>
  </p:cSld>
  <p:clrMapOvr>
    <a:masterClrMapping/>
  </p:clrMapOvr>
  <p:transition>
    <p:zoom dir="in"/>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Bottom)">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矩形 2"/>
          <p:cNvSpPr/>
          <p:nvPr/>
        </p:nvSpPr>
        <p:spPr>
          <a:xfrm>
            <a:off x="0" y="2844800"/>
            <a:ext cx="9144000" cy="2636838"/>
          </a:xfrm>
          <a:prstGeom prst="rect">
            <a:avLst/>
          </a:prstGeom>
          <a:solidFill>
            <a:srgbClr val="E2D9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747531" name="Rectangle 11"/>
          <p:cNvSpPr>
            <a:spLocks noChangeArrowheads="1"/>
          </p:cNvSpPr>
          <p:nvPr/>
        </p:nvSpPr>
        <p:spPr bwMode="auto">
          <a:xfrm>
            <a:off x="119063" y="1111250"/>
            <a:ext cx="9144000" cy="519113"/>
          </a:xfrm>
          <a:prstGeom prst="rect">
            <a:avLst/>
          </a:prstGeom>
          <a:noFill/>
          <a:ln w="9525">
            <a:noFill/>
            <a:miter lim="800000"/>
          </a:ln>
          <a:effectLst/>
        </p:spPr>
        <p:txBody>
          <a:bodyPr>
            <a:spAutoFit/>
          </a:bodyPr>
          <a:lstStyle/>
          <a:p>
            <a:pPr marL="0" marR="0" lvl="0" indent="0" algn="l" defTabSz="914400" rtl="0" eaLnBrk="1" fontAlgn="base" latinLnBrk="0" hangingPunct="1">
              <a:lnSpc>
                <a:spcPct val="100000"/>
              </a:lnSpc>
              <a:spcBef>
                <a:spcPct val="20000"/>
              </a:spcBef>
              <a:spcAft>
                <a:spcPct val="0"/>
              </a:spcAft>
              <a:buClrTx/>
              <a:buSzTx/>
              <a:buFontTx/>
              <a:buNone/>
              <a:defRPr/>
            </a:pPr>
            <a:r>
              <a:rPr kumimoji="1" lang="zh-CN" altLang="en-US" sz="2800" b="0" i="0" u="none" strike="noStrike" kern="1200" cap="none" spc="0" normalizeH="0" baseline="0" noProof="0" dirty="0">
                <a:ln>
                  <a:noFill/>
                </a:ln>
                <a:solidFill>
                  <a:schemeClr val="tx2"/>
                </a:solidFill>
                <a:effectLst/>
                <a:uLnTx/>
                <a:uFillTx/>
                <a:latin typeface="+mn-lt"/>
                <a:ea typeface="+mn-ea"/>
                <a:cs typeface="+mn-ea"/>
                <a:sym typeface="+mn-lt"/>
              </a:rPr>
              <a:t>具有</a:t>
            </a:r>
            <a:r>
              <a:rPr kumimoji="1" lang="en-US" altLang="zh-CN" sz="2800" b="0" i="0" u="none" strike="noStrike" kern="1200" cap="none" spc="0" normalizeH="0" baseline="0" noProof="0" dirty="0">
                <a:ln>
                  <a:noFill/>
                </a:ln>
                <a:solidFill>
                  <a:schemeClr val="tx2"/>
                </a:solidFill>
                <a:effectLst/>
                <a:uLnTx/>
                <a:uFillTx/>
                <a:latin typeface="+mn-lt"/>
                <a:ea typeface="+mn-ea"/>
                <a:cs typeface="+mn-ea"/>
                <a:sym typeface="+mn-lt"/>
              </a:rPr>
              <a:t>3</a:t>
            </a:r>
            <a:r>
              <a:rPr kumimoji="1" lang="zh-CN" altLang="en-US" sz="2800" b="0" i="0" u="none" strike="noStrike" kern="1200" cap="none" spc="0" normalizeH="0" baseline="0" noProof="0" dirty="0">
                <a:ln>
                  <a:noFill/>
                </a:ln>
                <a:solidFill>
                  <a:schemeClr val="tx2"/>
                </a:solidFill>
                <a:effectLst/>
                <a:uLnTx/>
                <a:uFillTx/>
                <a:latin typeface="+mn-lt"/>
                <a:ea typeface="+mn-ea"/>
                <a:cs typeface="+mn-ea"/>
                <a:sym typeface="+mn-lt"/>
              </a:rPr>
              <a:t>个结点的二叉树可能有几种不同形态？普通树呢？ </a:t>
            </a:r>
          </a:p>
        </p:txBody>
      </p:sp>
      <p:grpSp>
        <p:nvGrpSpPr>
          <p:cNvPr id="2" name="Group 44"/>
          <p:cNvGrpSpPr/>
          <p:nvPr/>
        </p:nvGrpSpPr>
        <p:grpSpPr>
          <a:xfrm>
            <a:off x="347663" y="3251200"/>
            <a:ext cx="8305800" cy="1725613"/>
            <a:chOff x="432" y="1436"/>
            <a:chExt cx="4224" cy="816"/>
          </a:xfrm>
        </p:grpSpPr>
        <p:grpSp>
          <p:nvGrpSpPr>
            <p:cNvPr id="25607" name="Group 12"/>
            <p:cNvGrpSpPr/>
            <p:nvPr/>
          </p:nvGrpSpPr>
          <p:grpSpPr>
            <a:xfrm>
              <a:off x="432" y="1436"/>
              <a:ext cx="864" cy="528"/>
              <a:chOff x="2736" y="2526"/>
              <a:chExt cx="960" cy="536"/>
            </a:xfrm>
          </p:grpSpPr>
          <p:sp>
            <p:nvSpPr>
              <p:cNvPr id="28677" name="Oval 13"/>
              <p:cNvSpPr>
                <a:spLocks noChangeArrowheads="1"/>
              </p:cNvSpPr>
              <p:nvPr/>
            </p:nvSpPr>
            <p:spPr bwMode="auto">
              <a:xfrm>
                <a:off x="3096" y="2526"/>
                <a:ext cx="190" cy="182"/>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8678" name="Line 14"/>
              <p:cNvSpPr>
                <a:spLocks noChangeShapeType="1"/>
              </p:cNvSpPr>
              <p:nvPr/>
            </p:nvSpPr>
            <p:spPr bwMode="auto">
              <a:xfrm flipH="1">
                <a:off x="2837" y="2682"/>
                <a:ext cx="292" cy="21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3" name="Line 15"/>
              <p:cNvSpPr>
                <a:spLocks noChangeShapeType="1"/>
              </p:cNvSpPr>
              <p:nvPr/>
            </p:nvSpPr>
            <p:spPr bwMode="auto">
              <a:xfrm>
                <a:off x="3267" y="2682"/>
                <a:ext cx="309"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 name="Text Box 16"/>
              <p:cNvSpPr txBox="1">
                <a:spLocks noChangeArrowheads="1"/>
              </p:cNvSpPr>
              <p:nvPr/>
            </p:nvSpPr>
            <p:spPr bwMode="auto">
              <a:xfrm>
                <a:off x="3106" y="2526"/>
                <a:ext cx="147" cy="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TW" altLang="en-US" sz="2400" b="1" i="0" u="none" strike="noStrike" kern="1200" cap="none" spc="0" normalizeH="0" baseline="0" noProof="0">
                    <a:ln>
                      <a:noFill/>
                    </a:ln>
                    <a:solidFill>
                      <a:schemeClr val="tx1"/>
                    </a:solidFill>
                    <a:effectLst/>
                    <a:uLnTx/>
                    <a:uFillTx/>
                    <a:latin typeface="+mn-lt"/>
                    <a:ea typeface="+mn-ea"/>
                    <a:cs typeface="+mn-ea"/>
                    <a:sym typeface="+mn-lt"/>
                  </a:rPr>
                  <a:t> </a:t>
                </a:r>
              </a:p>
            </p:txBody>
          </p:sp>
          <p:sp>
            <p:nvSpPr>
              <p:cNvPr id="5" name="Oval 17"/>
              <p:cNvSpPr>
                <a:spLocks noChangeArrowheads="1"/>
              </p:cNvSpPr>
              <p:nvPr/>
            </p:nvSpPr>
            <p:spPr bwMode="auto">
              <a:xfrm>
                <a:off x="3506" y="2880"/>
                <a:ext cx="190" cy="182"/>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 name="Oval 18"/>
              <p:cNvSpPr>
                <a:spLocks noChangeArrowheads="1"/>
              </p:cNvSpPr>
              <p:nvPr/>
            </p:nvSpPr>
            <p:spPr bwMode="auto">
              <a:xfrm>
                <a:off x="2736" y="2880"/>
                <a:ext cx="190" cy="182"/>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5608" name="Group 19"/>
            <p:cNvGrpSpPr/>
            <p:nvPr/>
          </p:nvGrpSpPr>
          <p:grpSpPr>
            <a:xfrm>
              <a:off x="1537" y="1436"/>
              <a:ext cx="623" cy="720"/>
              <a:chOff x="1296" y="3360"/>
              <a:chExt cx="623" cy="720"/>
            </a:xfrm>
          </p:grpSpPr>
          <p:sp>
            <p:nvSpPr>
              <p:cNvPr id="28684" name="Oval 20"/>
              <p:cNvSpPr>
                <a:spLocks noChangeArrowheads="1"/>
              </p:cNvSpPr>
              <p:nvPr/>
            </p:nvSpPr>
            <p:spPr bwMode="auto">
              <a:xfrm>
                <a:off x="1776" y="3360"/>
                <a:ext cx="143" cy="150"/>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8685" name="Line 21"/>
              <p:cNvSpPr>
                <a:spLocks noChangeShapeType="1"/>
              </p:cNvSpPr>
              <p:nvPr/>
            </p:nvSpPr>
            <p:spPr bwMode="auto">
              <a:xfrm flipH="1">
                <a:off x="1632" y="3456"/>
                <a:ext cx="144" cy="19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8686" name="Oval 22"/>
              <p:cNvSpPr>
                <a:spLocks noChangeArrowheads="1"/>
              </p:cNvSpPr>
              <p:nvPr/>
            </p:nvSpPr>
            <p:spPr bwMode="auto">
              <a:xfrm>
                <a:off x="1536" y="3648"/>
                <a:ext cx="144" cy="149"/>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8687" name="Oval 23"/>
              <p:cNvSpPr>
                <a:spLocks noChangeArrowheads="1"/>
              </p:cNvSpPr>
              <p:nvPr/>
            </p:nvSpPr>
            <p:spPr bwMode="auto">
              <a:xfrm>
                <a:off x="1296" y="3936"/>
                <a:ext cx="142" cy="144"/>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8688" name="Line 24"/>
              <p:cNvSpPr>
                <a:spLocks noChangeShapeType="1"/>
              </p:cNvSpPr>
              <p:nvPr/>
            </p:nvSpPr>
            <p:spPr bwMode="auto">
              <a:xfrm flipH="1">
                <a:off x="1392" y="3744"/>
                <a:ext cx="144" cy="19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5609" name="Group 25"/>
            <p:cNvGrpSpPr/>
            <p:nvPr/>
          </p:nvGrpSpPr>
          <p:grpSpPr>
            <a:xfrm>
              <a:off x="3266" y="1436"/>
              <a:ext cx="622" cy="816"/>
              <a:chOff x="2352" y="3360"/>
              <a:chExt cx="622" cy="816"/>
            </a:xfrm>
          </p:grpSpPr>
          <p:sp>
            <p:nvSpPr>
              <p:cNvPr id="28690" name="Oval 26"/>
              <p:cNvSpPr>
                <a:spLocks noChangeArrowheads="1"/>
              </p:cNvSpPr>
              <p:nvPr/>
            </p:nvSpPr>
            <p:spPr bwMode="auto">
              <a:xfrm>
                <a:off x="2832" y="4032"/>
                <a:ext cx="142" cy="144"/>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8691" name="Oval 27"/>
              <p:cNvSpPr>
                <a:spLocks noChangeArrowheads="1"/>
              </p:cNvSpPr>
              <p:nvPr/>
            </p:nvSpPr>
            <p:spPr bwMode="auto">
              <a:xfrm>
                <a:off x="2592" y="3696"/>
                <a:ext cx="145" cy="143"/>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8692" name="Oval 28"/>
              <p:cNvSpPr>
                <a:spLocks noChangeArrowheads="1"/>
              </p:cNvSpPr>
              <p:nvPr/>
            </p:nvSpPr>
            <p:spPr bwMode="auto">
              <a:xfrm>
                <a:off x="2352" y="3360"/>
                <a:ext cx="142" cy="144"/>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8693" name="Line 29"/>
              <p:cNvSpPr>
                <a:spLocks noChangeShapeType="1"/>
              </p:cNvSpPr>
              <p:nvPr/>
            </p:nvSpPr>
            <p:spPr bwMode="auto">
              <a:xfrm>
                <a:off x="2495" y="3504"/>
                <a:ext cx="145" cy="19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8694" name="Line 30"/>
              <p:cNvSpPr>
                <a:spLocks noChangeShapeType="1"/>
              </p:cNvSpPr>
              <p:nvPr/>
            </p:nvSpPr>
            <p:spPr bwMode="auto">
              <a:xfrm>
                <a:off x="2736" y="3840"/>
                <a:ext cx="144" cy="19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5610" name="Group 31"/>
            <p:cNvGrpSpPr/>
            <p:nvPr/>
          </p:nvGrpSpPr>
          <p:grpSpPr>
            <a:xfrm>
              <a:off x="4272" y="1436"/>
              <a:ext cx="384" cy="768"/>
              <a:chOff x="3744" y="3264"/>
              <a:chExt cx="384" cy="768"/>
            </a:xfrm>
          </p:grpSpPr>
          <p:sp>
            <p:nvSpPr>
              <p:cNvPr id="28696" name="Line 32"/>
              <p:cNvSpPr>
                <a:spLocks noChangeShapeType="1"/>
              </p:cNvSpPr>
              <p:nvPr/>
            </p:nvSpPr>
            <p:spPr bwMode="auto">
              <a:xfrm flipH="1">
                <a:off x="3840" y="3744"/>
                <a:ext cx="145" cy="19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8697" name="Oval 33"/>
              <p:cNvSpPr>
                <a:spLocks noChangeArrowheads="1"/>
              </p:cNvSpPr>
              <p:nvPr/>
            </p:nvSpPr>
            <p:spPr bwMode="auto">
              <a:xfrm>
                <a:off x="3744" y="3888"/>
                <a:ext cx="142" cy="144"/>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8698" name="Oval 34"/>
              <p:cNvSpPr>
                <a:spLocks noChangeArrowheads="1"/>
              </p:cNvSpPr>
              <p:nvPr/>
            </p:nvSpPr>
            <p:spPr bwMode="auto">
              <a:xfrm>
                <a:off x="3986" y="3600"/>
                <a:ext cx="142" cy="143"/>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8699" name="Oval 35"/>
              <p:cNvSpPr>
                <a:spLocks noChangeArrowheads="1"/>
              </p:cNvSpPr>
              <p:nvPr/>
            </p:nvSpPr>
            <p:spPr bwMode="auto">
              <a:xfrm>
                <a:off x="3745" y="3264"/>
                <a:ext cx="145" cy="144"/>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8700" name="Line 36"/>
              <p:cNvSpPr>
                <a:spLocks noChangeShapeType="1"/>
              </p:cNvSpPr>
              <p:nvPr/>
            </p:nvSpPr>
            <p:spPr bwMode="auto">
              <a:xfrm>
                <a:off x="3890" y="3408"/>
                <a:ext cx="144" cy="19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5611" name="Group 37"/>
            <p:cNvGrpSpPr/>
            <p:nvPr/>
          </p:nvGrpSpPr>
          <p:grpSpPr>
            <a:xfrm>
              <a:off x="2545" y="1484"/>
              <a:ext cx="383" cy="720"/>
              <a:chOff x="2353" y="3264"/>
              <a:chExt cx="383" cy="720"/>
            </a:xfrm>
          </p:grpSpPr>
          <p:sp>
            <p:nvSpPr>
              <p:cNvPr id="28702" name="Line 38"/>
              <p:cNvSpPr>
                <a:spLocks noChangeShapeType="1"/>
              </p:cNvSpPr>
              <p:nvPr/>
            </p:nvSpPr>
            <p:spPr bwMode="auto">
              <a:xfrm>
                <a:off x="2496" y="3696"/>
                <a:ext cx="145" cy="19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8703" name="Oval 39"/>
              <p:cNvSpPr>
                <a:spLocks noChangeArrowheads="1"/>
              </p:cNvSpPr>
              <p:nvPr/>
            </p:nvSpPr>
            <p:spPr bwMode="auto">
              <a:xfrm>
                <a:off x="2593" y="3264"/>
                <a:ext cx="143" cy="150"/>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8704" name="Line 40"/>
              <p:cNvSpPr>
                <a:spLocks noChangeShapeType="1"/>
              </p:cNvSpPr>
              <p:nvPr/>
            </p:nvSpPr>
            <p:spPr bwMode="auto">
              <a:xfrm flipH="1">
                <a:off x="2449" y="3360"/>
                <a:ext cx="145" cy="19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8705" name="Oval 41"/>
              <p:cNvSpPr>
                <a:spLocks noChangeArrowheads="1"/>
              </p:cNvSpPr>
              <p:nvPr/>
            </p:nvSpPr>
            <p:spPr bwMode="auto">
              <a:xfrm>
                <a:off x="2353" y="3552"/>
                <a:ext cx="145" cy="149"/>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8706" name="Oval 42"/>
              <p:cNvSpPr>
                <a:spLocks noChangeArrowheads="1"/>
              </p:cNvSpPr>
              <p:nvPr/>
            </p:nvSpPr>
            <p:spPr bwMode="auto">
              <a:xfrm>
                <a:off x="2592" y="3840"/>
                <a:ext cx="145" cy="144"/>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sp>
        <p:nvSpPr>
          <p:cNvPr id="28707" name="Rectangle 43"/>
          <p:cNvSpPr>
            <a:spLocks noChangeArrowheads="1"/>
          </p:cNvSpPr>
          <p:nvPr/>
        </p:nvSpPr>
        <p:spPr bwMode="auto">
          <a:xfrm>
            <a:off x="785813" y="139700"/>
            <a:ext cx="233997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练习</a:t>
            </a:r>
          </a:p>
        </p:txBody>
      </p:sp>
      <p:sp>
        <p:nvSpPr>
          <p:cNvPr id="747565" name="Rectangle 45"/>
          <p:cNvSpPr>
            <a:spLocks noChangeArrowheads="1"/>
          </p:cNvSpPr>
          <p:nvPr/>
        </p:nvSpPr>
        <p:spPr bwMode="auto">
          <a:xfrm>
            <a:off x="7234238" y="2076450"/>
            <a:ext cx="1606550" cy="522288"/>
          </a:xfrm>
          <a:prstGeom prst="rect">
            <a:avLst/>
          </a:prstGeom>
          <a:noFill/>
          <a:ln w="57150">
            <a:solidFill>
              <a:srgbClr val="FF0000"/>
            </a:solidFill>
            <a:miter lim="800000"/>
          </a:ln>
          <a:extLst>
            <a:ext uri="{909E8E84-426E-40DD-AFC4-6F175D3DCCD1}">
              <a14:hiddenFill xmlns:a14="http://schemas.microsoft.com/office/drawing/2010/main">
                <a:solidFill>
                  <a:srgbClr val="FFFFFF"/>
                </a:solidFill>
              </a14:hiddenFill>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en-US" altLang="zh-CN" sz="2800" b="1" i="0" u="none" strike="noStrike" kern="1200" cap="none" spc="0" normalizeH="0" baseline="0" noProof="0" dirty="0">
                <a:ln>
                  <a:noFill/>
                </a:ln>
                <a:solidFill>
                  <a:schemeClr val="tx1"/>
                </a:solidFill>
                <a:effectLst/>
                <a:uLnTx/>
                <a:uFillTx/>
                <a:latin typeface="+mn-lt"/>
                <a:ea typeface="+mn-ea"/>
                <a:cs typeface="+mn-ea"/>
                <a:sym typeface="+mn-lt"/>
              </a:rPr>
              <a:t>5</a:t>
            </a:r>
            <a:r>
              <a:rPr kumimoji="0" lang="zh-CN" altLang="en-US" sz="2800" b="1" i="0" u="none" strike="noStrike" kern="1200" cap="none" spc="0" normalizeH="0" baseline="0" noProof="0" dirty="0">
                <a:ln>
                  <a:noFill/>
                </a:ln>
                <a:solidFill>
                  <a:schemeClr val="tx1"/>
                </a:solidFill>
                <a:effectLst/>
                <a:uLnTx/>
                <a:uFillTx/>
                <a:latin typeface="+mn-lt"/>
                <a:ea typeface="+mn-ea"/>
                <a:cs typeface="+mn-ea"/>
                <a:sym typeface="+mn-lt"/>
              </a:rPr>
              <a:t>种</a:t>
            </a:r>
            <a:r>
              <a:rPr kumimoji="0" lang="en-US" altLang="zh-CN" sz="2800" b="1" i="0" u="none" strike="noStrike" kern="1200" cap="none" spc="0" normalizeH="0" baseline="0" noProof="0" dirty="0">
                <a:ln>
                  <a:noFill/>
                </a:ln>
                <a:solidFill>
                  <a:schemeClr val="tx1"/>
                </a:solidFill>
                <a:effectLst/>
                <a:uLnTx/>
                <a:uFillTx/>
                <a:latin typeface="+mn-lt"/>
                <a:ea typeface="+mn-ea"/>
                <a:cs typeface="+mn-ea"/>
                <a:sym typeface="+mn-lt"/>
              </a:rPr>
              <a:t>/2</a:t>
            </a:r>
            <a:r>
              <a:rPr kumimoji="0" lang="zh-CN" altLang="en-US" sz="2800" b="1" i="0" u="none" strike="noStrike" kern="1200" cap="none" spc="0" normalizeH="0" baseline="0" noProof="0" dirty="0">
                <a:ln>
                  <a:noFill/>
                </a:ln>
                <a:solidFill>
                  <a:schemeClr val="tx1"/>
                </a:solidFill>
                <a:effectLst/>
                <a:uLnTx/>
                <a:uFillTx/>
                <a:latin typeface="+mn-lt"/>
                <a:ea typeface="+mn-ea"/>
                <a:cs typeface="+mn-ea"/>
                <a:sym typeface="+mn-lt"/>
              </a:rPr>
              <a:t>种</a:t>
            </a:r>
          </a:p>
        </p:txBody>
      </p:sp>
    </p:spTree>
  </p:cSld>
  <p:clrMapOvr>
    <a:masterClrMapping/>
  </p:clrMapOvr>
  <p:transition>
    <p:check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747565"/>
                                        </p:tgtEl>
                                        <p:attrNameLst>
                                          <p:attrName>style.visibility</p:attrName>
                                        </p:attrNameLst>
                                      </p:cBhvr>
                                      <p:to>
                                        <p:strVal val="visible"/>
                                      </p:to>
                                    </p:set>
                                    <p:anim calcmode="lin" valueType="num">
                                      <p:cBhvr additive="base">
                                        <p:cTn id="12" dur="500" fill="hold"/>
                                        <p:tgtEl>
                                          <p:spTgt spid="747565"/>
                                        </p:tgtEl>
                                        <p:attrNameLst>
                                          <p:attrName>ppt_x</p:attrName>
                                        </p:attrNameLst>
                                      </p:cBhvr>
                                      <p:tavLst>
                                        <p:tav tm="0">
                                          <p:val>
                                            <p:strVal val="#ppt_x"/>
                                          </p:val>
                                        </p:tav>
                                        <p:tav tm="100000">
                                          <p:val>
                                            <p:strVal val="#ppt_x"/>
                                          </p:val>
                                        </p:tav>
                                      </p:tavLst>
                                    </p:anim>
                                    <p:anim calcmode="lin" valueType="num">
                                      <p:cBhvr additive="base">
                                        <p:cTn id="13" dur="500" fill="hold"/>
                                        <p:tgtEl>
                                          <p:spTgt spid="74756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7565"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grpSp>
        <p:nvGrpSpPr>
          <p:cNvPr id="4" name="组合 3"/>
          <p:cNvGrpSpPr/>
          <p:nvPr/>
        </p:nvGrpSpPr>
        <p:grpSpPr>
          <a:xfrm>
            <a:off x="1500505" y="1774825"/>
            <a:ext cx="6143625" cy="5023485"/>
            <a:chOff x="2363" y="3247"/>
            <a:chExt cx="9675" cy="7911"/>
          </a:xfrm>
        </p:grpSpPr>
        <p:sp>
          <p:nvSpPr>
            <p:cNvPr id="3" name="矩形: 圆角 16"/>
            <p:cNvSpPr>
              <a:spLocks noChangeArrowheads="1"/>
            </p:cNvSpPr>
            <p:nvPr/>
          </p:nvSpPr>
          <p:spPr bwMode="auto">
            <a:xfrm>
              <a:off x="3850" y="4942"/>
              <a:ext cx="8188" cy="795"/>
            </a:xfrm>
            <a:prstGeom prst="roundRect">
              <a:avLst>
                <a:gd name="adj" fmla="val 16667"/>
              </a:avLst>
            </a:prstGeom>
            <a:solidFill>
              <a:srgbClr val="9476B6"/>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2363" y="4942"/>
              <a:ext cx="1323" cy="795"/>
            </a:xfrm>
            <a:prstGeom prst="roundRect">
              <a:avLst>
                <a:gd name="adj" fmla="val 16667"/>
              </a:avLst>
            </a:pr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4" name="文本框 13"/>
            <p:cNvSpPr txBox="1"/>
            <p:nvPr/>
          </p:nvSpPr>
          <p:spPr>
            <a:xfrm>
              <a:off x="2550" y="3247"/>
              <a:ext cx="1135" cy="7892"/>
            </a:xfrm>
            <a:prstGeom prst="rect">
              <a:avLst/>
            </a:prstGeom>
            <a:noFill/>
          </p:spPr>
          <p:txBody>
            <a:bodyPr>
              <a:noAutofit/>
            </a:bodyPr>
            <a:lstStyle/>
            <a:p>
              <a:pPr marR="0" defTabSz="914400">
                <a:lnSpc>
                  <a:spcPct val="150000"/>
                </a:lnSpc>
                <a:buClrTx/>
                <a:buSzTx/>
                <a:buFontTx/>
                <a:buNone/>
                <a:defRPr/>
              </a:pPr>
              <a:r>
                <a:rPr kumimoji="0" lang="en-US" altLang="zh-CN" sz="2200" b="0" kern="1200" cap="none" spc="0" normalizeH="0" baseline="0" noProof="0" dirty="0">
                  <a:solidFill>
                    <a:schemeClr val="tx1"/>
                  </a:solidFill>
                  <a:latin typeface="+mn-lt"/>
                  <a:ea typeface="+mn-ea"/>
                  <a:cs typeface="+mn-ea"/>
                  <a:sym typeface="+mn-lt"/>
                </a:rPr>
                <a:t>5.1</a:t>
              </a:r>
              <a:endParaRPr kumimoji="0" lang="zh-CN" altLang="en-US" sz="2200" b="0" kern="1200" cap="none" spc="0" normalizeH="0" baseline="0" noProof="0" dirty="0">
                <a:solidFill>
                  <a:schemeClr val="tx1"/>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5.2</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chemeClr val="bg1"/>
                  </a:solidFill>
                  <a:latin typeface="+mn-lt"/>
                  <a:ea typeface="+mn-ea"/>
                  <a:cs typeface="+mn-ea"/>
                  <a:sym typeface="+mn-lt"/>
                </a:rPr>
                <a:t>5.3</a:t>
              </a:r>
              <a:endParaRPr kumimoji="0" lang="zh-CN" altLang="en-US" sz="2200" b="0" kern="1200" cap="none" spc="0" normalizeH="0" baseline="0" noProof="0" dirty="0">
                <a:solidFill>
                  <a:schemeClr val="bg1"/>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5.4</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5.5</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5.6</a:t>
              </a: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5.7</a:t>
              </a:r>
            </a:p>
            <a:p>
              <a:pPr marR="0" defTabSz="914400">
                <a:lnSpc>
                  <a:spcPct val="150000"/>
                </a:lnSpc>
                <a:buClrTx/>
                <a:buSzTx/>
                <a:buFontTx/>
                <a:buNone/>
                <a:defRPr/>
              </a:pPr>
              <a:r>
                <a:rPr kumimoji="0" lang="en-US" altLang="zh-CN" sz="2200" b="0" kern="1200" cap="none" spc="0" normalizeH="0" baseline="0" noProof="0" dirty="0" smtClean="0">
                  <a:solidFill>
                    <a:srgbClr val="000000">
                      <a:lumMod val="95000"/>
                      <a:lumOff val="5000"/>
                    </a:srgbClr>
                  </a:solidFill>
                  <a:latin typeface="+mn-lt"/>
                  <a:ea typeface="+mn-ea"/>
                  <a:cs typeface="+mn-ea"/>
                  <a:sym typeface="+mn-lt"/>
                </a:rPr>
                <a:t>5.8</a:t>
              </a:r>
              <a:endParaRPr kumimoji="0" lang="en-US" altLang="zh-CN" sz="2200" b="0" kern="1200" cap="none" spc="0" normalizeH="0" baseline="0" noProof="0" dirty="0">
                <a:solidFill>
                  <a:srgbClr val="000000">
                    <a:lumMod val="95000"/>
                    <a:lumOff val="5000"/>
                  </a:srgbClr>
                </a:solidFill>
                <a:latin typeface="+mn-lt"/>
                <a:ea typeface="+mn-ea"/>
                <a:cs typeface="+mn-ea"/>
                <a:sym typeface="+mn-lt"/>
              </a:endParaRPr>
            </a:p>
          </p:txBody>
        </p:sp>
        <p:sp>
          <p:nvSpPr>
            <p:cNvPr id="15" name="文本框 14"/>
            <p:cNvSpPr txBox="1"/>
            <p:nvPr/>
          </p:nvSpPr>
          <p:spPr>
            <a:xfrm>
              <a:off x="3870" y="3247"/>
              <a:ext cx="7265" cy="7911"/>
            </a:xfrm>
            <a:prstGeom prst="rect">
              <a:avLst/>
            </a:prstGeom>
            <a:noFill/>
          </p:spPr>
          <p:txBody>
            <a:bodyPr wrap="square">
              <a:noAutofit/>
            </a:bodyPr>
            <a:lstStyle/>
            <a:p>
              <a:pPr marR="0" defTabSz="914400">
                <a:lnSpc>
                  <a:spcPct val="150000"/>
                </a:lnSpc>
                <a:buClrTx/>
                <a:buSzTx/>
                <a:buFont typeface="Arial" panose="020B0604020202020204" pitchFamily="34" charset="0"/>
                <a:buNone/>
                <a:defRPr/>
              </a:pPr>
              <a:r>
                <a:rPr kumimoji="0" lang="zh-CN" altLang="en-US" sz="2200" b="0" kern="1200" cap="none" spc="0" normalizeH="0" baseline="0" noProof="0" dirty="0">
                  <a:solidFill>
                    <a:schemeClr val="tx1"/>
                  </a:solidFill>
                  <a:latin typeface="+mn-lt"/>
                  <a:ea typeface="+mn-ea"/>
                  <a:cs typeface="+mn-ea"/>
                  <a:sym typeface="+mn-lt"/>
                </a:rPr>
                <a:t>树和二叉树的定义</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案例引入</a:t>
              </a:r>
            </a:p>
            <a:p>
              <a:pPr marR="0" defTabSz="914400">
                <a:lnSpc>
                  <a:spcPct val="150000"/>
                </a:lnSpc>
                <a:buClrTx/>
                <a:buSzTx/>
                <a:buFontTx/>
                <a:buNone/>
                <a:defRPr/>
              </a:pPr>
              <a:r>
                <a:rPr kumimoji="0" lang="zh-CN" altLang="en-US" sz="2200" b="0" kern="1200" cap="none" spc="0" normalizeH="0" baseline="0" noProof="0" dirty="0">
                  <a:solidFill>
                    <a:schemeClr val="bg1"/>
                  </a:solidFill>
                  <a:latin typeface="+mn-lt"/>
                  <a:ea typeface="+mn-ea"/>
                  <a:cs typeface="+mn-ea"/>
                  <a:sym typeface="+mn-lt"/>
                </a:rPr>
                <a:t>树和二叉树的抽象数据类型定义</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二叉树的性质和存储结构</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遍历二叉树</a:t>
              </a:r>
              <a:r>
                <a:rPr kumimoji="0" lang="zh-CN" altLang="en-US" sz="2200" b="0" kern="1200" cap="none" spc="0" normalizeH="0" baseline="0" noProof="0" dirty="0" smtClean="0">
                  <a:solidFill>
                    <a:srgbClr val="000000">
                      <a:lumMod val="95000"/>
                      <a:lumOff val="5000"/>
                    </a:srgbClr>
                  </a:solidFill>
                  <a:latin typeface="+mn-lt"/>
                  <a:ea typeface="+mn-ea"/>
                  <a:cs typeface="+mn-ea"/>
                  <a:sym typeface="+mn-lt"/>
                </a:rPr>
                <a:t>和应用</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树和森林</a:t>
              </a:r>
            </a:p>
            <a:p>
              <a:pPr marR="0" defTabSz="914400">
                <a:lnSpc>
                  <a:spcPct val="150000"/>
                </a:lnSpc>
                <a:buClrTx/>
                <a:buSzTx/>
                <a:buFontTx/>
                <a:buNone/>
                <a:defRPr/>
              </a:pPr>
              <a:r>
                <a:rPr kumimoji="0" lang="zh-CN" altLang="en-US" sz="2200" b="0" kern="1200" cap="none" spc="0" normalizeH="0" baseline="0" noProof="0" dirty="0" smtClean="0">
                  <a:solidFill>
                    <a:srgbClr val="000000">
                      <a:lumMod val="95000"/>
                      <a:lumOff val="5000"/>
                    </a:srgbClr>
                  </a:solidFill>
                  <a:latin typeface="+mn-lt"/>
                  <a:ea typeface="+mn-ea"/>
                  <a:cs typeface="+mn-ea"/>
                  <a:sym typeface="+mn-lt"/>
                </a:rPr>
                <a:t>二叉搜索树（二叉排序树）</a:t>
              </a:r>
              <a:endParaRPr kumimoji="0" lang="en-US" altLang="zh-CN" sz="2200" b="0" kern="1200" cap="none" spc="0" normalizeH="0" baseline="0" noProof="0" dirty="0" smtClean="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lang="zh-CN" altLang="en-US" sz="2200" b="0" dirty="0">
                  <a:solidFill>
                    <a:srgbClr val="000000">
                      <a:lumMod val="95000"/>
                      <a:lumOff val="5000"/>
                    </a:srgbClr>
                  </a:solidFill>
                  <a:latin typeface="+mn-lt"/>
                  <a:ea typeface="+mn-ea"/>
                  <a:cs typeface="+mn-ea"/>
                  <a:sym typeface="+mn-lt"/>
                </a:rPr>
                <a:t>堆</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p:txBody>
        </p:sp>
      </p:gr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矩形 2"/>
          <p:cNvSpPr/>
          <p:nvPr/>
        </p:nvSpPr>
        <p:spPr>
          <a:xfrm>
            <a:off x="0" y="1196975"/>
            <a:ext cx="9144000" cy="5054600"/>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31749" name="Text Box 7"/>
          <p:cNvSpPr txBox="1">
            <a:spLocks noChangeArrowheads="1"/>
          </p:cNvSpPr>
          <p:nvPr/>
        </p:nvSpPr>
        <p:spPr bwMode="auto">
          <a:xfrm>
            <a:off x="549275" y="1357313"/>
            <a:ext cx="3200400" cy="4894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ADT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BinaryTree</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p>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数据对象</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D:</a:t>
            </a:r>
          </a:p>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数据关系</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R:</a:t>
            </a:r>
          </a:p>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基本操作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P</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p>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}ADT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BinaryTree</a:t>
            </a: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31750" name="Rectangle 8"/>
          <p:cNvSpPr>
            <a:spLocks noChangeArrowheads="1"/>
          </p:cNvSpPr>
          <p:nvPr/>
        </p:nvSpPr>
        <p:spPr bwMode="auto">
          <a:xfrm>
            <a:off x="2230438" y="2332038"/>
            <a:ext cx="6340475" cy="267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若</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D=Φ</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，则</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R= Φ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p>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若</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D≠Φ</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，则</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R= {H}</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；存在二元关系：</a:t>
            </a:r>
          </a:p>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①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root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唯一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关于根的说明</a:t>
            </a:r>
          </a:p>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②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D</a:t>
            </a:r>
            <a:r>
              <a:rPr kumimoji="0" lang="en-US" altLang="zh-CN" sz="2400" b="0" i="0" u="none" strike="noStrike" kern="1200" cap="none" spc="0" normalizeH="0" baseline="-25000" noProof="0" dirty="0" err="1">
                <a:ln>
                  <a:noFill/>
                </a:ln>
                <a:solidFill>
                  <a:schemeClr val="tx1"/>
                </a:solidFill>
                <a:effectLst/>
                <a:uLnTx/>
                <a:uFillTx/>
                <a:latin typeface="+mn-lt"/>
                <a:ea typeface="+mn-ea"/>
                <a:cs typeface="+mn-ea"/>
                <a:sym typeface="+mn-lt"/>
              </a:rPr>
              <a:t>j</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∩D</a:t>
            </a:r>
            <a:r>
              <a:rPr kumimoji="0" lang="en-US" altLang="zh-CN" sz="2400" b="0" i="0" u="none" strike="noStrike" kern="1200" cap="none" spc="0" normalizeH="0" baseline="-25000" noProof="0" dirty="0" err="1">
                <a:ln>
                  <a:noFill/>
                </a:ln>
                <a:solidFill>
                  <a:schemeClr val="tx1"/>
                </a:solidFill>
                <a:effectLst/>
                <a:uLnTx/>
                <a:uFillTx/>
                <a:latin typeface="+mn-lt"/>
                <a:ea typeface="+mn-ea"/>
                <a:cs typeface="+mn-ea"/>
                <a:sym typeface="+mn-lt"/>
              </a:rPr>
              <a:t>k</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Φ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关于子树不相交的说明</a:t>
            </a:r>
          </a:p>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③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关于数据元素的说明</a:t>
            </a:r>
          </a:p>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④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关于左子树和右子树的说明</a:t>
            </a:r>
          </a:p>
        </p:txBody>
      </p:sp>
      <p:sp>
        <p:nvSpPr>
          <p:cNvPr id="31751" name="Rectangle 10"/>
          <p:cNvSpPr>
            <a:spLocks noChangeArrowheads="1"/>
          </p:cNvSpPr>
          <p:nvPr/>
        </p:nvSpPr>
        <p:spPr bwMode="auto">
          <a:xfrm>
            <a:off x="2301875" y="1814513"/>
            <a:ext cx="5307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D</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是具有相同特性的数据元素的集合。</a:t>
            </a:r>
          </a:p>
        </p:txBody>
      </p:sp>
      <p:sp>
        <p:nvSpPr>
          <p:cNvPr id="31752" name="Rectangle 11"/>
          <p:cNvSpPr>
            <a:spLocks noChangeArrowheads="1"/>
          </p:cNvSpPr>
          <p:nvPr/>
        </p:nvSpPr>
        <p:spPr bwMode="auto">
          <a:xfrm>
            <a:off x="2484438" y="5319713"/>
            <a:ext cx="18827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至少有</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a:t>
            </a:r>
          </a:p>
        </p:txBody>
      </p:sp>
      <p:sp>
        <p:nvSpPr>
          <p:cNvPr id="31753" name="Rectangle 12"/>
          <p:cNvSpPr>
            <a:spLocks noChangeArrowheads="1"/>
          </p:cNvSpPr>
          <p:nvPr/>
        </p:nvSpPr>
        <p:spPr bwMode="auto">
          <a:xfrm>
            <a:off x="835025" y="222250"/>
            <a:ext cx="546100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二叉树的抽象数据类型定义</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矩形 1"/>
          <p:cNvSpPr/>
          <p:nvPr/>
        </p:nvSpPr>
        <p:spPr>
          <a:xfrm>
            <a:off x="0" y="2463800"/>
            <a:ext cx="9144000" cy="4278313"/>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32769" name="日期占位符 1"/>
          <p:cNvSpPr txBox="1">
            <a:spLocks noGrp="1" noChangeArrowheads="1"/>
          </p:cNvSpPr>
          <p:nvPr>
            <p:ph type="dt" sz="half" idx="4294967295"/>
          </p:nvPr>
        </p:nvSpPr>
        <p:spPr bwMode="auto">
          <a:xfrm>
            <a:off x="4724400" y="6240463"/>
            <a:ext cx="4419600" cy="45720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                            </a:t>
            </a:r>
          </a:p>
        </p:txBody>
      </p:sp>
      <p:sp>
        <p:nvSpPr>
          <p:cNvPr id="32771" name="Text Box 7"/>
          <p:cNvSpPr txBox="1">
            <a:spLocks noChangeArrowheads="1"/>
          </p:cNvSpPr>
          <p:nvPr/>
        </p:nvSpPr>
        <p:spPr bwMode="auto">
          <a:xfrm>
            <a:off x="565150" y="981075"/>
            <a:ext cx="8285163" cy="552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de-DE" altLang="zh-CN" sz="2400" b="0" i="0" u="none" strike="noStrike" kern="1200" cap="none" spc="0" normalizeH="0" baseline="0" noProof="0" dirty="0">
                <a:ln>
                  <a:noFill/>
                </a:ln>
                <a:solidFill>
                  <a:schemeClr val="tx1"/>
                </a:solidFill>
                <a:effectLst/>
                <a:uLnTx/>
                <a:uFillTx/>
                <a:latin typeface="+mn-lt"/>
                <a:ea typeface="+mn-ea"/>
                <a:cs typeface="+mn-ea"/>
                <a:sym typeface="+mn-lt"/>
              </a:rPr>
              <a:t>CreateBiTree(&amp;T,definition)</a:t>
            </a:r>
            <a:endPar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de-DE"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初始条件；</a:t>
            </a:r>
            <a:r>
              <a:rPr kumimoji="0" lang="de-DE" altLang="zh-CN" sz="2400" b="0" i="0" u="none" strike="noStrike" kern="1200" cap="none" spc="0" normalizeH="0" baseline="0" noProof="0" dirty="0">
                <a:ln>
                  <a:noFill/>
                </a:ln>
                <a:solidFill>
                  <a:schemeClr val="tx1"/>
                </a:solidFill>
                <a:effectLst/>
                <a:uLnTx/>
                <a:uFillTx/>
                <a:latin typeface="+mn-lt"/>
                <a:ea typeface="+mn-ea"/>
                <a:cs typeface="+mn-ea"/>
                <a:sym typeface="+mn-lt"/>
              </a:rPr>
              <a:t>definition</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给出二叉树</a:t>
            </a:r>
            <a:r>
              <a:rPr kumimoji="0" lang="de-DE" altLang="zh-CN" sz="2400" b="0" i="0" u="none" strike="noStrike" kern="1200" cap="none" spc="0" normalizeH="0" baseline="0" noProof="0" dirty="0">
                <a:ln>
                  <a:noFill/>
                </a:ln>
                <a:solidFill>
                  <a:schemeClr val="tx1"/>
                </a:solidFill>
                <a:effectLst/>
                <a:uLnTx/>
                <a:uFillTx/>
                <a:latin typeface="+mn-lt"/>
                <a:ea typeface="+mn-ea"/>
                <a:cs typeface="+mn-ea"/>
                <a:sym typeface="+mn-lt"/>
              </a:rPr>
              <a:t>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的定义。</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de-DE"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操作结果：按</a:t>
            </a:r>
            <a:r>
              <a:rPr kumimoji="0" lang="de-DE" altLang="zh-CN" sz="2400" b="0" i="0" u="none" strike="noStrike" kern="1200" cap="none" spc="0" normalizeH="0" baseline="0" noProof="0" dirty="0">
                <a:ln>
                  <a:noFill/>
                </a:ln>
                <a:solidFill>
                  <a:schemeClr val="tx1"/>
                </a:solidFill>
                <a:effectLst/>
                <a:uLnTx/>
                <a:uFillTx/>
                <a:latin typeface="+mn-lt"/>
                <a:ea typeface="+mn-ea"/>
                <a:cs typeface="+mn-ea"/>
                <a:sym typeface="+mn-lt"/>
              </a:rPr>
              <a:t>definition</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构造二叉树</a:t>
            </a:r>
            <a:r>
              <a:rPr kumimoji="0" lang="de-DE" altLang="zh-CN" sz="2400" b="0" i="0" u="none" strike="noStrike" kern="1200" cap="none" spc="0" normalizeH="0" baseline="0" noProof="0" dirty="0">
                <a:ln>
                  <a:noFill/>
                </a:ln>
                <a:solidFill>
                  <a:schemeClr val="tx1"/>
                </a:solidFill>
                <a:effectLst/>
                <a:uLnTx/>
                <a:uFillTx/>
                <a:latin typeface="+mn-lt"/>
                <a:ea typeface="+mn-ea"/>
                <a:cs typeface="+mn-ea"/>
                <a:sym typeface="+mn-lt"/>
              </a:rPr>
              <a:t>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en-US" altLang="zh-CN" sz="10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PreOrderTraverse</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(T)</a:t>
            </a:r>
            <a:endPar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初始条件：二叉树</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存在。</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操作结果：先序遍历</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，对每个结点访问一次。</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InOrderTraverse</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(T)</a:t>
            </a:r>
            <a:endPar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初始条件：二叉树</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存在。</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操作结果：中序遍历</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，对每个结点访问一次。</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PostOrderTraverse</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(T)</a:t>
            </a:r>
            <a:endPar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初始条件：二叉树</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存在。</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操作结果：后序遍历</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，对每个结点访问一次。</a:t>
            </a: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5" name="Rectangle 12"/>
          <p:cNvSpPr>
            <a:spLocks noChangeArrowheads="1"/>
          </p:cNvSpPr>
          <p:nvPr/>
        </p:nvSpPr>
        <p:spPr bwMode="auto">
          <a:xfrm>
            <a:off x="835025" y="222250"/>
            <a:ext cx="546100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二叉树的抽象数据类型定义</a:t>
            </a:r>
          </a:p>
        </p:txBody>
      </p:sp>
    </p:spTree>
  </p:cSld>
  <p:clrMapOvr>
    <a:masterClrMapping/>
  </p:clrMapOvr>
  <p:transition>
    <p:checker dir="vert"/>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grpSp>
        <p:nvGrpSpPr>
          <p:cNvPr id="4" name="组合 3"/>
          <p:cNvGrpSpPr/>
          <p:nvPr/>
        </p:nvGrpSpPr>
        <p:grpSpPr>
          <a:xfrm>
            <a:off x="1500505" y="1774825"/>
            <a:ext cx="6143625" cy="5023485"/>
            <a:chOff x="2363" y="3247"/>
            <a:chExt cx="9675" cy="7911"/>
          </a:xfrm>
        </p:grpSpPr>
        <p:sp>
          <p:nvSpPr>
            <p:cNvPr id="3" name="矩形: 圆角 16"/>
            <p:cNvSpPr>
              <a:spLocks noChangeArrowheads="1"/>
            </p:cNvSpPr>
            <p:nvPr/>
          </p:nvSpPr>
          <p:spPr bwMode="auto">
            <a:xfrm>
              <a:off x="3850" y="5733"/>
              <a:ext cx="8188" cy="795"/>
            </a:xfrm>
            <a:prstGeom prst="roundRect">
              <a:avLst>
                <a:gd name="adj" fmla="val 16667"/>
              </a:avLst>
            </a:prstGeom>
            <a:solidFill>
              <a:srgbClr val="9476B6"/>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2363" y="5733"/>
              <a:ext cx="1323" cy="795"/>
            </a:xfrm>
            <a:prstGeom prst="roundRect">
              <a:avLst>
                <a:gd name="adj" fmla="val 16667"/>
              </a:avLst>
            </a:pr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4" name="文本框 13"/>
            <p:cNvSpPr txBox="1"/>
            <p:nvPr/>
          </p:nvSpPr>
          <p:spPr>
            <a:xfrm>
              <a:off x="2550" y="3247"/>
              <a:ext cx="1135" cy="7892"/>
            </a:xfrm>
            <a:prstGeom prst="rect">
              <a:avLst/>
            </a:prstGeom>
            <a:noFill/>
          </p:spPr>
          <p:txBody>
            <a:bodyPr>
              <a:noAutofit/>
            </a:bodyPr>
            <a:lstStyle/>
            <a:p>
              <a:pPr marR="0" defTabSz="914400">
                <a:lnSpc>
                  <a:spcPct val="150000"/>
                </a:lnSpc>
                <a:buClrTx/>
                <a:buSzTx/>
                <a:buFontTx/>
                <a:buNone/>
                <a:defRPr/>
              </a:pPr>
              <a:r>
                <a:rPr kumimoji="0" lang="en-US" altLang="zh-CN" sz="2200" b="0" kern="1200" cap="none" spc="0" normalizeH="0" baseline="0" noProof="0" dirty="0">
                  <a:solidFill>
                    <a:schemeClr val="tx1"/>
                  </a:solidFill>
                  <a:latin typeface="+mn-lt"/>
                  <a:ea typeface="+mn-ea"/>
                  <a:cs typeface="+mn-ea"/>
                  <a:sym typeface="+mn-lt"/>
                </a:rPr>
                <a:t>5.1</a:t>
              </a:r>
              <a:endParaRPr kumimoji="0" lang="zh-CN" altLang="en-US" sz="2200" b="0" kern="1200" cap="none" spc="0" normalizeH="0" baseline="0" noProof="0" dirty="0">
                <a:solidFill>
                  <a:schemeClr val="tx1"/>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5.2</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5.3</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chemeClr val="bg1"/>
                  </a:solidFill>
                  <a:latin typeface="+mn-lt"/>
                  <a:ea typeface="+mn-ea"/>
                  <a:cs typeface="+mn-ea"/>
                  <a:sym typeface="+mn-lt"/>
                </a:rPr>
                <a:t>5.4</a:t>
              </a:r>
              <a:endParaRPr kumimoji="0" lang="zh-CN" altLang="en-US" sz="2200" b="0" kern="1200" cap="none" spc="0" normalizeH="0" baseline="0" noProof="0" dirty="0">
                <a:solidFill>
                  <a:schemeClr val="bg1"/>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5.5</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5.6</a:t>
              </a: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5.7</a:t>
              </a:r>
            </a:p>
            <a:p>
              <a:pPr marR="0" defTabSz="914400">
                <a:lnSpc>
                  <a:spcPct val="150000"/>
                </a:lnSpc>
                <a:buClrTx/>
                <a:buSzTx/>
                <a:buFontTx/>
                <a:buNone/>
                <a:defRPr/>
              </a:pPr>
              <a:r>
                <a:rPr kumimoji="0" lang="en-US" altLang="zh-CN" sz="2200" b="0" kern="1200" cap="none" spc="0" normalizeH="0" baseline="0" noProof="0" dirty="0" smtClean="0">
                  <a:solidFill>
                    <a:srgbClr val="000000">
                      <a:lumMod val="95000"/>
                      <a:lumOff val="5000"/>
                    </a:srgbClr>
                  </a:solidFill>
                  <a:latin typeface="+mn-lt"/>
                  <a:ea typeface="+mn-ea"/>
                  <a:cs typeface="+mn-ea"/>
                  <a:sym typeface="+mn-lt"/>
                </a:rPr>
                <a:t>5.8</a:t>
              </a:r>
              <a:endParaRPr kumimoji="0" lang="en-US" altLang="zh-CN" sz="2200" b="0" kern="1200" cap="none" spc="0" normalizeH="0" baseline="0" noProof="0" dirty="0">
                <a:solidFill>
                  <a:srgbClr val="000000">
                    <a:lumMod val="95000"/>
                    <a:lumOff val="5000"/>
                  </a:srgbClr>
                </a:solidFill>
                <a:latin typeface="+mn-lt"/>
                <a:ea typeface="+mn-ea"/>
                <a:cs typeface="+mn-ea"/>
                <a:sym typeface="+mn-lt"/>
              </a:endParaRPr>
            </a:p>
          </p:txBody>
        </p:sp>
        <p:sp>
          <p:nvSpPr>
            <p:cNvPr id="15" name="文本框 14"/>
            <p:cNvSpPr txBox="1"/>
            <p:nvPr/>
          </p:nvSpPr>
          <p:spPr>
            <a:xfrm>
              <a:off x="3870" y="3247"/>
              <a:ext cx="7265" cy="7911"/>
            </a:xfrm>
            <a:prstGeom prst="rect">
              <a:avLst/>
            </a:prstGeom>
            <a:noFill/>
          </p:spPr>
          <p:txBody>
            <a:bodyPr wrap="square">
              <a:noAutofit/>
            </a:bodyPr>
            <a:lstStyle/>
            <a:p>
              <a:pPr marR="0" defTabSz="914400">
                <a:lnSpc>
                  <a:spcPct val="150000"/>
                </a:lnSpc>
                <a:buClrTx/>
                <a:buSzTx/>
                <a:buFont typeface="Arial" panose="020B0604020202020204" pitchFamily="34" charset="0"/>
                <a:buNone/>
                <a:defRPr/>
              </a:pPr>
              <a:r>
                <a:rPr kumimoji="0" lang="zh-CN" altLang="en-US" sz="2200" b="0" kern="1200" cap="none" spc="0" normalizeH="0" baseline="0" noProof="0" dirty="0">
                  <a:solidFill>
                    <a:schemeClr val="tx1"/>
                  </a:solidFill>
                  <a:latin typeface="+mn-lt"/>
                  <a:ea typeface="+mn-ea"/>
                  <a:cs typeface="+mn-ea"/>
                  <a:sym typeface="+mn-lt"/>
                </a:rPr>
                <a:t>树和二叉树的定义</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案例引入</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树和二叉树的抽象数据类型定义</a:t>
              </a:r>
            </a:p>
            <a:p>
              <a:pPr marR="0" defTabSz="914400">
                <a:lnSpc>
                  <a:spcPct val="150000"/>
                </a:lnSpc>
                <a:buClrTx/>
                <a:buSzTx/>
                <a:buFontTx/>
                <a:buNone/>
                <a:defRPr/>
              </a:pPr>
              <a:r>
                <a:rPr kumimoji="0" lang="zh-CN" altLang="en-US" sz="2200" b="0" kern="1200" cap="none" spc="0" normalizeH="0" baseline="0" noProof="0" dirty="0">
                  <a:solidFill>
                    <a:schemeClr val="bg1"/>
                  </a:solidFill>
                  <a:latin typeface="+mn-lt"/>
                  <a:ea typeface="+mn-ea"/>
                  <a:cs typeface="+mn-ea"/>
                  <a:sym typeface="+mn-lt"/>
                </a:rPr>
                <a:t>二叉树的性质和存储结构</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遍历二叉树</a:t>
              </a:r>
              <a:r>
                <a:rPr kumimoji="0" lang="zh-CN" altLang="en-US" sz="2200" b="0" kern="1200" cap="none" spc="0" normalizeH="0" baseline="0" noProof="0" dirty="0" smtClean="0">
                  <a:solidFill>
                    <a:srgbClr val="000000">
                      <a:lumMod val="95000"/>
                      <a:lumOff val="5000"/>
                    </a:srgbClr>
                  </a:solidFill>
                  <a:latin typeface="+mn-lt"/>
                  <a:ea typeface="+mn-ea"/>
                  <a:cs typeface="+mn-ea"/>
                  <a:sym typeface="+mn-lt"/>
                </a:rPr>
                <a:t>和应用</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树和森林</a:t>
              </a:r>
            </a:p>
            <a:p>
              <a:pPr>
                <a:lnSpc>
                  <a:spcPct val="150000"/>
                </a:lnSpc>
                <a:defRPr/>
              </a:pPr>
              <a:r>
                <a:rPr lang="zh-CN" altLang="en-US" sz="2200" b="0" dirty="0">
                  <a:solidFill>
                    <a:srgbClr val="000000">
                      <a:lumMod val="95000"/>
                      <a:lumOff val="5000"/>
                    </a:srgbClr>
                  </a:solidFill>
                  <a:latin typeface="+mn-lt"/>
                  <a:ea typeface="+mn-ea"/>
                  <a:cs typeface="+mn-ea"/>
                  <a:sym typeface="+mn-lt"/>
                </a:rPr>
                <a:t>二叉搜索树（二叉排序树）</a:t>
              </a:r>
            </a:p>
            <a:p>
              <a:pPr>
                <a:lnSpc>
                  <a:spcPct val="150000"/>
                </a:lnSpc>
                <a:defRPr/>
              </a:pPr>
              <a:r>
                <a:rPr lang="zh-CN" altLang="en-US" sz="2200" b="0" dirty="0" smtClean="0">
                  <a:solidFill>
                    <a:srgbClr val="000000">
                      <a:lumMod val="95000"/>
                      <a:lumOff val="5000"/>
                    </a:srgbClr>
                  </a:solidFill>
                  <a:latin typeface="+mn-lt"/>
                  <a:ea typeface="+mn-ea"/>
                  <a:cs typeface="+mn-ea"/>
                  <a:sym typeface="+mn-lt"/>
                </a:rPr>
                <a:t>堆</a:t>
              </a:r>
              <a:r>
                <a:rPr kumimoji="0" lang="zh-CN" altLang="en-US" sz="2200" b="0" kern="1200" cap="none" spc="0" normalizeH="0" baseline="0" noProof="0" dirty="0" smtClean="0">
                  <a:solidFill>
                    <a:srgbClr val="000000">
                      <a:lumMod val="95000"/>
                      <a:lumOff val="5000"/>
                    </a:srgbClr>
                  </a:solidFill>
                  <a:latin typeface="+mn-lt"/>
                  <a:ea typeface="+mn-ea"/>
                  <a:cs typeface="+mn-ea"/>
                  <a:sym typeface="+mn-lt"/>
                </a:rPr>
                <a:t>	</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p:txBody>
        </p:sp>
      </p:gr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4"/>
          <p:cNvSpPr>
            <a:spLocks noChangeArrowheads="1"/>
          </p:cNvSpPr>
          <p:nvPr/>
        </p:nvSpPr>
        <p:spPr bwMode="auto">
          <a:xfrm>
            <a:off x="820738" y="152400"/>
            <a:ext cx="7358063"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二叉树的性质和存储结构</a:t>
            </a:r>
          </a:p>
        </p:txBody>
      </p:sp>
      <p:sp>
        <p:nvSpPr>
          <p:cNvPr id="6" name="Rectangle 6"/>
          <p:cNvSpPr>
            <a:spLocks noChangeArrowheads="1"/>
          </p:cNvSpPr>
          <p:nvPr/>
        </p:nvSpPr>
        <p:spPr bwMode="auto">
          <a:xfrm>
            <a:off x="817563" y="1784350"/>
            <a:ext cx="7299325" cy="523875"/>
          </a:xfrm>
          <a:prstGeom prst="rect">
            <a:avLst/>
          </a:prstGeom>
          <a:noFill/>
          <a:ln w="28575">
            <a:solidFill>
              <a:schemeClr val="accent1">
                <a:lumMod val="60000"/>
                <a:lumOff val="40000"/>
              </a:schemeClr>
            </a:solidFill>
            <a:miter lim="800000"/>
          </a:ln>
          <a:effec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zh-CN" altLang="en-US" sz="2800" b="0" i="0" u="none" strike="noStrike" kern="1200" cap="none" spc="0" normalizeH="0" baseline="0" noProof="0" dirty="0">
                <a:ln>
                  <a:noFill/>
                </a:ln>
                <a:solidFill>
                  <a:srgbClr val="FF0000"/>
                </a:solidFill>
                <a:effectLst/>
                <a:uLnTx/>
                <a:uFillTx/>
                <a:latin typeface="+mn-lt"/>
                <a:ea typeface="+mn-ea"/>
                <a:cs typeface="+mn-ea"/>
                <a:sym typeface="+mn-lt"/>
              </a:rPr>
              <a:t>性质</a:t>
            </a:r>
            <a:r>
              <a:rPr kumimoji="1" lang="en-US" altLang="zh-CN" sz="2800" b="0" i="0" u="none" strike="noStrike" kern="1200" cap="none" spc="0" normalizeH="0" baseline="0" noProof="0" dirty="0">
                <a:ln>
                  <a:noFill/>
                </a:ln>
                <a:solidFill>
                  <a:srgbClr val="FF0000"/>
                </a:solidFill>
                <a:effectLst/>
                <a:uLnTx/>
                <a:uFillTx/>
                <a:latin typeface="+mn-lt"/>
                <a:ea typeface="+mn-ea"/>
                <a:cs typeface="+mn-ea"/>
                <a:sym typeface="+mn-lt"/>
              </a:rPr>
              <a:t>1: </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在二叉树的第</a:t>
            </a:r>
            <a:r>
              <a:rPr kumimoji="1"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层上至多有</a:t>
            </a:r>
            <a:r>
              <a:rPr kumimoji="1" lang="en-US" altLang="zh-CN" sz="2800" b="0" i="0" u="none" strike="noStrike" kern="1200" cap="none" spc="0" normalizeH="0" baseline="0" noProof="0" dirty="0">
                <a:ln>
                  <a:noFill/>
                </a:ln>
                <a:solidFill>
                  <a:schemeClr val="tx2"/>
                </a:solidFill>
                <a:effectLst/>
                <a:uLnTx/>
                <a:uFillTx/>
                <a:latin typeface="+mn-lt"/>
                <a:ea typeface="+mn-ea"/>
                <a:cs typeface="+mn-ea"/>
                <a:sym typeface="+mn-lt"/>
              </a:rPr>
              <a:t>2</a:t>
            </a:r>
            <a:r>
              <a:rPr kumimoji="1" lang="en-US" altLang="zh-CN" sz="2800" b="0" i="0" u="none" strike="noStrike" kern="1200" cap="none" spc="0" normalizeH="0" baseline="30000" noProof="0" dirty="0">
                <a:ln>
                  <a:noFill/>
                </a:ln>
                <a:solidFill>
                  <a:schemeClr val="tx2"/>
                </a:solidFill>
                <a:effectLst/>
                <a:uLnTx/>
                <a:uFillTx/>
                <a:latin typeface="+mn-lt"/>
                <a:ea typeface="+mn-ea"/>
                <a:cs typeface="+mn-ea"/>
                <a:sym typeface="+mn-lt"/>
              </a:rPr>
              <a:t>i-1</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个结点</a:t>
            </a:r>
            <a:endParaRPr kumimoji="1" lang="zh-CN" altLang="en-US" sz="2800" b="0" i="0" u="none" strike="noStrike" kern="1200" cap="none" spc="0" normalizeH="0" baseline="0" noProof="0" dirty="0">
              <a:ln>
                <a:noFill/>
              </a:ln>
              <a:solidFill>
                <a:schemeClr val="hlink"/>
              </a:solidFill>
              <a:effectLst/>
              <a:uLnTx/>
              <a:uFillTx/>
              <a:latin typeface="+mn-lt"/>
              <a:ea typeface="+mn-ea"/>
              <a:cs typeface="+mn-ea"/>
              <a:sym typeface="+mn-lt"/>
            </a:endParaRPr>
          </a:p>
        </p:txBody>
      </p:sp>
      <p:sp>
        <p:nvSpPr>
          <p:cNvPr id="7" name="Rectangle 8"/>
          <p:cNvSpPr>
            <a:spLocks noChangeArrowheads="1"/>
          </p:cNvSpPr>
          <p:nvPr/>
        </p:nvSpPr>
        <p:spPr bwMode="auto">
          <a:xfrm>
            <a:off x="1752600" y="2554288"/>
            <a:ext cx="61928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提问：第</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层上至少有</a:t>
            </a:r>
            <a:r>
              <a:rPr kumimoji="0" lang="zh-CN" altLang="en-US" sz="2800" b="0" i="0" u="sng"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个结点？</a:t>
            </a:r>
          </a:p>
        </p:txBody>
      </p:sp>
      <p:sp>
        <p:nvSpPr>
          <p:cNvPr id="8" name="Rectangle 9"/>
          <p:cNvSpPr>
            <a:spLocks noChangeArrowheads="1"/>
          </p:cNvSpPr>
          <p:nvPr/>
        </p:nvSpPr>
        <p:spPr bwMode="auto">
          <a:xfrm>
            <a:off x="817563" y="3489325"/>
            <a:ext cx="7299325" cy="523875"/>
          </a:xfrm>
          <a:prstGeom prst="rect">
            <a:avLst/>
          </a:prstGeom>
          <a:noFill/>
          <a:ln w="38100">
            <a:solidFill>
              <a:schemeClr val="accent1">
                <a:lumMod val="60000"/>
                <a:lumOff val="40000"/>
              </a:schemeClr>
            </a:solidFill>
            <a:miter lim="800000"/>
          </a:ln>
          <a:effec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zh-CN" altLang="en-US" sz="2800" b="0" i="0" u="none" strike="noStrike" kern="1200" cap="none" spc="0" normalizeH="0" baseline="0" noProof="0" dirty="0">
                <a:ln>
                  <a:noFill/>
                </a:ln>
                <a:solidFill>
                  <a:srgbClr val="FF0000"/>
                </a:solidFill>
                <a:effectLst/>
                <a:uLnTx/>
                <a:uFillTx/>
                <a:latin typeface="+mn-lt"/>
                <a:ea typeface="+mn-ea"/>
                <a:cs typeface="+mn-ea"/>
                <a:sym typeface="+mn-lt"/>
              </a:rPr>
              <a:t>性质</a:t>
            </a:r>
            <a:r>
              <a:rPr kumimoji="1" lang="en-US" altLang="zh-CN" sz="2800" b="0" i="0" u="none" strike="noStrike" kern="1200" cap="none" spc="0" normalizeH="0" baseline="0" noProof="0" dirty="0">
                <a:ln>
                  <a:noFill/>
                </a:ln>
                <a:solidFill>
                  <a:srgbClr val="FF0000"/>
                </a:solidFill>
                <a:effectLst/>
                <a:uLnTx/>
                <a:uFillTx/>
                <a:latin typeface="+mn-lt"/>
                <a:ea typeface="+mn-ea"/>
                <a:cs typeface="+mn-ea"/>
                <a:sym typeface="+mn-lt"/>
              </a:rPr>
              <a:t>2: </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深度为</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k</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的二叉树至多有</a:t>
            </a:r>
            <a:r>
              <a:rPr kumimoji="1" lang="en-US" altLang="zh-CN" sz="2800" b="0" i="0" u="none" strike="noStrike" kern="1200" cap="none" spc="0" normalizeH="0" baseline="0" noProof="0" dirty="0">
                <a:ln>
                  <a:noFill/>
                </a:ln>
                <a:solidFill>
                  <a:schemeClr val="tx2"/>
                </a:solidFill>
                <a:effectLst/>
                <a:uLnTx/>
                <a:uFillTx/>
                <a:latin typeface="+mn-lt"/>
                <a:ea typeface="+mn-ea"/>
                <a:cs typeface="+mn-ea"/>
                <a:sym typeface="+mn-lt"/>
              </a:rPr>
              <a:t>2</a:t>
            </a:r>
            <a:r>
              <a:rPr kumimoji="1" lang="en-US" altLang="zh-CN" sz="2800" b="0" i="0" u="none" strike="noStrike" kern="1200" cap="none" spc="0" normalizeH="0" baseline="30000" noProof="0" dirty="0">
                <a:ln>
                  <a:noFill/>
                </a:ln>
                <a:solidFill>
                  <a:schemeClr val="tx2"/>
                </a:solidFill>
                <a:effectLst/>
                <a:uLnTx/>
                <a:uFillTx/>
                <a:latin typeface="+mn-lt"/>
                <a:ea typeface="+mn-ea"/>
                <a:cs typeface="+mn-ea"/>
                <a:sym typeface="+mn-lt"/>
              </a:rPr>
              <a:t>k</a:t>
            </a:r>
            <a:r>
              <a:rPr kumimoji="1" lang="en-US" altLang="zh-CN" sz="2800" b="0" i="0" u="none" strike="noStrike" kern="1200" cap="none" spc="0" normalizeH="0" baseline="0" noProof="0" dirty="0">
                <a:ln>
                  <a:noFill/>
                </a:ln>
                <a:solidFill>
                  <a:schemeClr val="tx2"/>
                </a:solidFill>
                <a:effectLst/>
                <a:uLnTx/>
                <a:uFillTx/>
                <a:latin typeface="+mn-lt"/>
                <a:ea typeface="+mn-ea"/>
                <a:cs typeface="+mn-ea"/>
                <a:sym typeface="+mn-lt"/>
              </a:rPr>
              <a:t>-1</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个结点</a:t>
            </a:r>
          </a:p>
        </p:txBody>
      </p:sp>
      <p:sp>
        <p:nvSpPr>
          <p:cNvPr id="9" name="Rectangle 10"/>
          <p:cNvSpPr>
            <a:spLocks noChangeArrowheads="1"/>
          </p:cNvSpPr>
          <p:nvPr/>
        </p:nvSpPr>
        <p:spPr bwMode="auto">
          <a:xfrm>
            <a:off x="1752600" y="4281488"/>
            <a:ext cx="63642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提问：深度为</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k</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时至少有</a:t>
            </a:r>
            <a:r>
              <a:rPr kumimoji="0" lang="zh-CN" altLang="en-US" sz="2800" b="0" i="0" u="sng"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个结点？</a:t>
            </a:r>
          </a:p>
        </p:txBody>
      </p:sp>
      <p:sp>
        <p:nvSpPr>
          <p:cNvPr id="10" name="Text Box 11"/>
          <p:cNvSpPr txBox="1">
            <a:spLocks noChangeArrowheads="1"/>
          </p:cNvSpPr>
          <p:nvPr/>
        </p:nvSpPr>
        <p:spPr bwMode="auto">
          <a:xfrm>
            <a:off x="5148263" y="2371725"/>
            <a:ext cx="504825" cy="701675"/>
          </a:xfrm>
          <a:prstGeom prst="rect">
            <a:avLst/>
          </a:prstGeom>
          <a:noFill/>
          <a:ln>
            <a:noFill/>
          </a:ln>
        </p:spPr>
        <p:txBody>
          <a:bodyPr>
            <a:spAutoFit/>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4000" b="1" i="0" u="none" strike="noStrike" kern="1200" cap="none" spc="0" normalizeH="0" baseline="0" noProof="0" dirty="0">
                <a:ln>
                  <a:noFill/>
                </a:ln>
                <a:solidFill>
                  <a:srgbClr val="FF0000"/>
                </a:solidFill>
                <a:effectLst/>
                <a:uLnTx/>
                <a:uFillTx/>
                <a:latin typeface="+mn-lt"/>
                <a:ea typeface="+mn-ea"/>
                <a:cs typeface="+mn-ea"/>
                <a:sym typeface="+mn-lt"/>
              </a:rPr>
              <a:t>1</a:t>
            </a:r>
          </a:p>
        </p:txBody>
      </p:sp>
      <p:sp>
        <p:nvSpPr>
          <p:cNvPr id="11" name="Text Box 12"/>
          <p:cNvSpPr txBox="1">
            <a:spLocks noChangeArrowheads="1"/>
          </p:cNvSpPr>
          <p:nvPr/>
        </p:nvSpPr>
        <p:spPr bwMode="auto">
          <a:xfrm>
            <a:off x="5576888" y="4078288"/>
            <a:ext cx="504825" cy="701675"/>
          </a:xfrm>
          <a:prstGeom prst="rect">
            <a:avLst/>
          </a:prstGeom>
          <a:noFill/>
          <a:ln>
            <a:noFill/>
          </a:ln>
        </p:spPr>
        <p:txBody>
          <a:bodyPr>
            <a:spAutoFit/>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4000" b="1" i="0" u="none" strike="noStrike" kern="1200" cap="none" spc="0" normalizeH="0" baseline="0" noProof="0">
                <a:ln>
                  <a:noFill/>
                </a:ln>
                <a:solidFill>
                  <a:srgbClr val="FF0000"/>
                </a:solidFill>
                <a:effectLst/>
                <a:uLnTx/>
                <a:uFillTx/>
                <a:latin typeface="+mn-lt"/>
                <a:ea typeface="+mn-ea"/>
                <a:cs typeface="+mn-ea"/>
                <a:sym typeface="+mn-lt"/>
              </a:rPr>
              <a:t>k</a:t>
            </a:r>
          </a:p>
        </p:txBody>
      </p:sp>
      <p:sp>
        <p:nvSpPr>
          <p:cNvPr id="12" name="Shape 26"/>
          <p:cNvSpPr/>
          <p:nvPr/>
        </p:nvSpPr>
        <p:spPr>
          <a:xfrm flipH="1">
            <a:off x="0" y="5607050"/>
            <a:ext cx="9140825" cy="12509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type="wd">
                                    <p:tmAbs val="300"/>
                                  </p:iterate>
                                  <p:childTnLst>
                                    <p:set>
                                      <p:cBhvr>
                                        <p:cTn id="6" dur="1" fill="hold">
                                          <p:stCondLst>
                                            <p:cond delay="299"/>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3" presetClass="entr" presetSubtype="16"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p:cTn id="11" dur="500" fill="hold"/>
                                        <p:tgtEl>
                                          <p:spTgt spid="7"/>
                                        </p:tgtEl>
                                        <p:attrNameLst>
                                          <p:attrName>ppt_w</p:attrName>
                                        </p:attrNameLst>
                                      </p:cBhvr>
                                      <p:tavLst>
                                        <p:tav tm="0">
                                          <p:val>
                                            <p:fltVal val="0"/>
                                          </p:val>
                                        </p:tav>
                                        <p:tav tm="100000">
                                          <p:val>
                                            <p:strVal val="#ppt_w"/>
                                          </p:val>
                                        </p:tav>
                                      </p:tavLst>
                                    </p:anim>
                                    <p:anim calcmode="lin" valueType="num">
                                      <p:cBhvr>
                                        <p:cTn id="12" dur="500" fill="hold"/>
                                        <p:tgtEl>
                                          <p:spTgt spid="7"/>
                                        </p:tgtEl>
                                        <p:attrNameLst>
                                          <p:attrName>ppt_h</p:attrName>
                                        </p:attrNameLst>
                                      </p:cBhvr>
                                      <p:tavLst>
                                        <p:tav tm="0">
                                          <p:val>
                                            <p:fltVal val="0"/>
                                          </p:val>
                                        </p:tav>
                                        <p:tav tm="100000">
                                          <p:val>
                                            <p:strVal val="#ppt_h"/>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1"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5000" fill="hold"/>
                                        <p:tgtEl>
                                          <p:spTgt spid="10"/>
                                        </p:tgtEl>
                                        <p:attrNameLst>
                                          <p:attrName>ppt_x</p:attrName>
                                        </p:attrNameLst>
                                      </p:cBhvr>
                                      <p:tavLst>
                                        <p:tav tm="0">
                                          <p:val>
                                            <p:strVal val="#ppt_x"/>
                                          </p:val>
                                        </p:tav>
                                        <p:tav tm="100000">
                                          <p:val>
                                            <p:strVal val="#ppt_x"/>
                                          </p:val>
                                        </p:tav>
                                      </p:tavLst>
                                    </p:anim>
                                    <p:anim calcmode="lin" valueType="num">
                                      <p:cBhvr additive="base">
                                        <p:cTn id="18" dur="5000" fill="hold"/>
                                        <p:tgtEl>
                                          <p:spTgt spid="10"/>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iterate type="wd">
                                    <p:tmAbs val="300"/>
                                  </p:iterate>
                                  <p:childTnLst>
                                    <p:set>
                                      <p:cBhvr>
                                        <p:cTn id="22" dur="1" fill="hold">
                                          <p:stCondLst>
                                            <p:cond delay="299"/>
                                          </p:stCondLst>
                                        </p:cTn>
                                        <p:tgtEl>
                                          <p:spTgt spid="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3" presetClass="entr" presetSubtype="16"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p:cTn id="27" dur="500" fill="hold"/>
                                        <p:tgtEl>
                                          <p:spTgt spid="9"/>
                                        </p:tgtEl>
                                        <p:attrNameLst>
                                          <p:attrName>ppt_w</p:attrName>
                                        </p:attrNameLst>
                                      </p:cBhvr>
                                      <p:tavLst>
                                        <p:tav tm="0">
                                          <p:val>
                                            <p:fltVal val="0"/>
                                          </p:val>
                                        </p:tav>
                                        <p:tav tm="100000">
                                          <p:val>
                                            <p:strVal val="#ppt_w"/>
                                          </p:val>
                                        </p:tav>
                                      </p:tavLst>
                                    </p:anim>
                                    <p:anim calcmode="lin" valueType="num">
                                      <p:cBhvr>
                                        <p:cTn id="28" dur="500" fill="hold"/>
                                        <p:tgtEl>
                                          <p:spTgt spid="9"/>
                                        </p:tgtEl>
                                        <p:attrNameLst>
                                          <p:attrName>ppt_h</p:attrName>
                                        </p:attrNameLst>
                                      </p:cBhvr>
                                      <p:tavLst>
                                        <p:tav tm="0">
                                          <p:val>
                                            <p:fltVal val="0"/>
                                          </p:val>
                                        </p:tav>
                                        <p:tav tm="100000">
                                          <p:val>
                                            <p:strVal val="#ppt_h"/>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1" fill="hold" grpId="0" nodeType="click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additive="base">
                                        <p:cTn id="33" dur="5000" fill="hold"/>
                                        <p:tgtEl>
                                          <p:spTgt spid="11"/>
                                        </p:tgtEl>
                                        <p:attrNameLst>
                                          <p:attrName>ppt_x</p:attrName>
                                        </p:attrNameLst>
                                      </p:cBhvr>
                                      <p:tavLst>
                                        <p:tav tm="0">
                                          <p:val>
                                            <p:strVal val="#ppt_x"/>
                                          </p:val>
                                        </p:tav>
                                        <p:tav tm="100000">
                                          <p:val>
                                            <p:strVal val="#ppt_x"/>
                                          </p:val>
                                        </p:tav>
                                      </p:tavLst>
                                    </p:anim>
                                    <p:anim calcmode="lin" valueType="num">
                                      <p:cBhvr additive="base">
                                        <p:cTn id="34" dur="5000" fill="hold"/>
                                        <p:tgtEl>
                                          <p:spTgt spid="11"/>
                                        </p:tgtEl>
                                        <p:attrNameLst>
                                          <p:attrName>ppt_y</p:attrName>
                                        </p:attrNameLst>
                                      </p:cBhvr>
                                      <p:tavLst>
                                        <p:tav tm="0">
                                          <p:val>
                                            <p:strVal val="0-#ppt_h/2"/>
                                          </p:val>
                                        </p:tav>
                                        <p:tav tm="100000">
                                          <p:val>
                                            <p:strVal val="#ppt_y"/>
                                          </p:val>
                                        </p:tav>
                                      </p:tavLst>
                                    </p:anim>
                                  </p:childTnLst>
                                </p:cTn>
                              </p:par>
                              <p:par>
                                <p:cTn id="35" presetID="42" presetClass="entr" presetSubtype="0" fill="hold" nodeType="with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1000"/>
                                        <p:tgtEl>
                                          <p:spTgt spid="12"/>
                                        </p:tgtEl>
                                      </p:cBhvr>
                                    </p:animEffect>
                                    <p:anim calcmode="lin" valueType="num">
                                      <p:cBhvr>
                                        <p:cTn id="38" dur="1000" fill="hold"/>
                                        <p:tgtEl>
                                          <p:spTgt spid="12"/>
                                        </p:tgtEl>
                                        <p:attrNameLst>
                                          <p:attrName>ppt_x</p:attrName>
                                        </p:attrNameLst>
                                      </p:cBhvr>
                                      <p:tavLst>
                                        <p:tav tm="0">
                                          <p:val>
                                            <p:strVal val="#ppt_x"/>
                                          </p:val>
                                        </p:tav>
                                        <p:tav tm="100000">
                                          <p:val>
                                            <p:strVal val="#ppt_x"/>
                                          </p:val>
                                        </p:tav>
                                      </p:tavLst>
                                    </p:anim>
                                    <p:anim calcmode="lin" valueType="num">
                                      <p:cBhvr>
                                        <p:cTn id="39"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P spid="8" grpId="0" animBg="1"/>
      <p:bldP spid="9" grpId="0"/>
      <p:bldP spid="10" grpId="0"/>
      <p:bldP spid="1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03175" name="Object 7"/>
          <p:cNvGraphicFramePr/>
          <p:nvPr/>
        </p:nvGraphicFramePr>
        <p:xfrm>
          <a:off x="117475" y="2117725"/>
          <a:ext cx="4343400" cy="2501900"/>
        </p:xfrm>
        <a:graphic>
          <a:graphicData uri="http://schemas.openxmlformats.org/presentationml/2006/ole">
            <mc:AlternateContent xmlns:mc="http://schemas.openxmlformats.org/markup-compatibility/2006">
              <mc:Choice xmlns:v="urn:schemas-microsoft-com:vml" Requires="v">
                <p:oleObj spid="_x0000_s6295" r:id="rId4" imgW="5076190" imgH="2557145" progId="Visio.Drawing.5">
                  <p:embed/>
                </p:oleObj>
              </mc:Choice>
              <mc:Fallback>
                <p:oleObj r:id="rId4" imgW="5076190" imgH="2557145" progId="Visio.Drawing.5">
                  <p:embed/>
                  <p:pic>
                    <p:nvPicPr>
                      <p:cNvPr id="0" name="图片 3079"/>
                      <p:cNvPicPr/>
                      <p:nvPr/>
                    </p:nvPicPr>
                    <p:blipFill>
                      <a:blip r:embed="rId5"/>
                      <a:stretch>
                        <a:fillRect/>
                      </a:stretch>
                    </p:blipFill>
                    <p:spPr>
                      <a:xfrm>
                        <a:off x="117475" y="2117725"/>
                        <a:ext cx="4343400" cy="2501900"/>
                      </a:xfrm>
                      <a:prstGeom prst="rect">
                        <a:avLst/>
                      </a:prstGeom>
                      <a:solidFill>
                        <a:srgbClr val="E2D9EB"/>
                      </a:solidFill>
                      <a:ln w="38100">
                        <a:noFill/>
                        <a:miter/>
                      </a:ln>
                    </p:spPr>
                  </p:pic>
                </p:oleObj>
              </mc:Fallback>
            </mc:AlternateContent>
          </a:graphicData>
        </a:graphic>
      </p:graphicFrame>
      <p:graphicFrame>
        <p:nvGraphicFramePr>
          <p:cNvPr id="903176" name="Object 8"/>
          <p:cNvGraphicFramePr/>
          <p:nvPr/>
        </p:nvGraphicFramePr>
        <p:xfrm>
          <a:off x="4689475" y="2117725"/>
          <a:ext cx="4343400" cy="2501900"/>
        </p:xfrm>
        <a:graphic>
          <a:graphicData uri="http://schemas.openxmlformats.org/presentationml/2006/ole">
            <mc:AlternateContent xmlns:mc="http://schemas.openxmlformats.org/markup-compatibility/2006">
              <mc:Choice xmlns:v="urn:schemas-microsoft-com:vml" Requires="v">
                <p:oleObj spid="_x0000_s6296" r:id="rId6" imgW="5076190" imgH="2557145" progId="Visio.Drawing.5">
                  <p:embed/>
                </p:oleObj>
              </mc:Choice>
              <mc:Fallback>
                <p:oleObj r:id="rId6" imgW="5076190" imgH="2557145" progId="Visio.Drawing.5">
                  <p:embed/>
                  <p:pic>
                    <p:nvPicPr>
                      <p:cNvPr id="0" name="图片 3080"/>
                      <p:cNvPicPr/>
                      <p:nvPr/>
                    </p:nvPicPr>
                    <p:blipFill>
                      <a:blip r:embed="rId5"/>
                      <a:stretch>
                        <a:fillRect/>
                      </a:stretch>
                    </p:blipFill>
                    <p:spPr>
                      <a:xfrm>
                        <a:off x="4689475" y="2117725"/>
                        <a:ext cx="4343400" cy="2501900"/>
                      </a:xfrm>
                      <a:prstGeom prst="rect">
                        <a:avLst/>
                      </a:prstGeom>
                      <a:solidFill>
                        <a:srgbClr val="EBEBEB"/>
                      </a:solidFill>
                      <a:ln w="38100">
                        <a:noFill/>
                        <a:miter/>
                      </a:ln>
                    </p:spPr>
                  </p:pic>
                </p:oleObj>
              </mc:Fallback>
            </mc:AlternateContent>
          </a:graphicData>
        </a:graphic>
      </p:graphicFrame>
      <p:sp>
        <p:nvSpPr>
          <p:cNvPr id="903177" name="Oval 9"/>
          <p:cNvSpPr>
            <a:spLocks noChangeArrowheads="1"/>
          </p:cNvSpPr>
          <p:nvPr/>
        </p:nvSpPr>
        <p:spPr bwMode="auto">
          <a:xfrm>
            <a:off x="1641475" y="2574925"/>
            <a:ext cx="228600" cy="152400"/>
          </a:xfrm>
          <a:prstGeom prst="ellipse">
            <a:avLst/>
          </a:prstGeom>
          <a:noFill/>
          <a:ln w="38100">
            <a:solidFill>
              <a:srgbClr val="FF0066"/>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78" name="Oval 10"/>
          <p:cNvSpPr>
            <a:spLocks noChangeArrowheads="1"/>
          </p:cNvSpPr>
          <p:nvPr/>
        </p:nvSpPr>
        <p:spPr bwMode="auto">
          <a:xfrm>
            <a:off x="2936875" y="2574925"/>
            <a:ext cx="228600" cy="152400"/>
          </a:xfrm>
          <a:prstGeom prst="ellipse">
            <a:avLst/>
          </a:prstGeom>
          <a:noFill/>
          <a:ln w="38100">
            <a:solidFill>
              <a:srgbClr val="FF0066"/>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79" name="Oval 11"/>
          <p:cNvSpPr>
            <a:spLocks noChangeArrowheads="1"/>
          </p:cNvSpPr>
          <p:nvPr/>
        </p:nvSpPr>
        <p:spPr bwMode="auto">
          <a:xfrm>
            <a:off x="727075" y="3260725"/>
            <a:ext cx="228600" cy="152400"/>
          </a:xfrm>
          <a:prstGeom prst="ellipse">
            <a:avLst/>
          </a:prstGeom>
          <a:noFill/>
          <a:ln w="38100">
            <a:solidFill>
              <a:srgbClr val="FF0066"/>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80" name="Oval 12"/>
          <p:cNvSpPr>
            <a:spLocks noChangeArrowheads="1"/>
          </p:cNvSpPr>
          <p:nvPr/>
        </p:nvSpPr>
        <p:spPr bwMode="auto">
          <a:xfrm>
            <a:off x="1412875" y="3260725"/>
            <a:ext cx="228600" cy="152400"/>
          </a:xfrm>
          <a:prstGeom prst="ellipse">
            <a:avLst/>
          </a:prstGeom>
          <a:noFill/>
          <a:ln w="38100">
            <a:solidFill>
              <a:srgbClr val="FF0066"/>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81" name="Oval 13"/>
          <p:cNvSpPr>
            <a:spLocks noChangeArrowheads="1"/>
          </p:cNvSpPr>
          <p:nvPr/>
        </p:nvSpPr>
        <p:spPr bwMode="auto">
          <a:xfrm>
            <a:off x="269875" y="4022725"/>
            <a:ext cx="228600" cy="152400"/>
          </a:xfrm>
          <a:prstGeom prst="ellipse">
            <a:avLst/>
          </a:prstGeom>
          <a:noFill/>
          <a:ln w="38100">
            <a:solidFill>
              <a:srgbClr val="FF0066"/>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82" name="Oval 14"/>
          <p:cNvSpPr>
            <a:spLocks noChangeArrowheads="1"/>
          </p:cNvSpPr>
          <p:nvPr/>
        </p:nvSpPr>
        <p:spPr bwMode="auto">
          <a:xfrm>
            <a:off x="650875" y="4022725"/>
            <a:ext cx="228600" cy="152400"/>
          </a:xfrm>
          <a:prstGeom prst="ellipse">
            <a:avLst/>
          </a:prstGeom>
          <a:noFill/>
          <a:ln w="38100">
            <a:solidFill>
              <a:srgbClr val="FF0066"/>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83" name="Oval 15"/>
          <p:cNvSpPr>
            <a:spLocks noChangeArrowheads="1"/>
          </p:cNvSpPr>
          <p:nvPr/>
        </p:nvSpPr>
        <p:spPr bwMode="auto">
          <a:xfrm>
            <a:off x="1489075" y="4022725"/>
            <a:ext cx="228600" cy="152400"/>
          </a:xfrm>
          <a:prstGeom prst="ellipse">
            <a:avLst/>
          </a:prstGeom>
          <a:noFill/>
          <a:ln w="38100">
            <a:solidFill>
              <a:srgbClr val="FF0066"/>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84" name="Oval 16"/>
          <p:cNvSpPr>
            <a:spLocks noChangeArrowheads="1"/>
          </p:cNvSpPr>
          <p:nvPr/>
        </p:nvSpPr>
        <p:spPr bwMode="auto">
          <a:xfrm>
            <a:off x="1946275" y="4022725"/>
            <a:ext cx="228600" cy="152400"/>
          </a:xfrm>
          <a:prstGeom prst="ellipse">
            <a:avLst/>
          </a:prstGeom>
          <a:noFill/>
          <a:ln w="38100">
            <a:solidFill>
              <a:srgbClr val="FF0066"/>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85" name="Oval 17"/>
          <p:cNvSpPr>
            <a:spLocks noChangeArrowheads="1"/>
          </p:cNvSpPr>
          <p:nvPr/>
        </p:nvSpPr>
        <p:spPr bwMode="auto">
          <a:xfrm>
            <a:off x="3851275" y="3260725"/>
            <a:ext cx="228600" cy="152400"/>
          </a:xfrm>
          <a:prstGeom prst="ellipse">
            <a:avLst/>
          </a:prstGeom>
          <a:noFill/>
          <a:ln w="38100">
            <a:solidFill>
              <a:srgbClr val="FF0066"/>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86" name="Oval 18"/>
          <p:cNvSpPr>
            <a:spLocks noChangeArrowheads="1"/>
          </p:cNvSpPr>
          <p:nvPr/>
        </p:nvSpPr>
        <p:spPr bwMode="auto">
          <a:xfrm>
            <a:off x="3241675" y="3260725"/>
            <a:ext cx="228600" cy="152400"/>
          </a:xfrm>
          <a:prstGeom prst="ellipse">
            <a:avLst/>
          </a:prstGeom>
          <a:noFill/>
          <a:ln w="38100">
            <a:solidFill>
              <a:srgbClr val="FF0066"/>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87" name="Oval 19"/>
          <p:cNvSpPr>
            <a:spLocks noChangeArrowheads="1"/>
          </p:cNvSpPr>
          <p:nvPr/>
        </p:nvSpPr>
        <p:spPr bwMode="auto">
          <a:xfrm>
            <a:off x="2708275" y="4022725"/>
            <a:ext cx="228600" cy="152400"/>
          </a:xfrm>
          <a:prstGeom prst="ellipse">
            <a:avLst/>
          </a:prstGeom>
          <a:noFill/>
          <a:ln w="38100">
            <a:solidFill>
              <a:srgbClr val="FF0066"/>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88" name="Oval 20"/>
          <p:cNvSpPr>
            <a:spLocks noChangeArrowheads="1"/>
          </p:cNvSpPr>
          <p:nvPr/>
        </p:nvSpPr>
        <p:spPr bwMode="auto">
          <a:xfrm>
            <a:off x="6213475" y="2574925"/>
            <a:ext cx="228600" cy="152400"/>
          </a:xfrm>
          <a:prstGeom prst="ellipse">
            <a:avLst/>
          </a:prstGeom>
          <a:noFill/>
          <a:ln w="38100">
            <a:solidFill>
              <a:srgbClr val="336699"/>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89" name="Oval 21"/>
          <p:cNvSpPr>
            <a:spLocks noChangeArrowheads="1"/>
          </p:cNvSpPr>
          <p:nvPr/>
        </p:nvSpPr>
        <p:spPr bwMode="auto">
          <a:xfrm>
            <a:off x="7508875" y="2574925"/>
            <a:ext cx="228600" cy="152400"/>
          </a:xfrm>
          <a:prstGeom prst="ellipse">
            <a:avLst/>
          </a:prstGeom>
          <a:noFill/>
          <a:ln w="38100">
            <a:solidFill>
              <a:srgbClr val="336699"/>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90" name="Oval 22"/>
          <p:cNvSpPr>
            <a:spLocks noChangeArrowheads="1"/>
          </p:cNvSpPr>
          <p:nvPr/>
        </p:nvSpPr>
        <p:spPr bwMode="auto">
          <a:xfrm>
            <a:off x="5299075" y="3260725"/>
            <a:ext cx="228600" cy="152400"/>
          </a:xfrm>
          <a:prstGeom prst="ellipse">
            <a:avLst/>
          </a:prstGeom>
          <a:noFill/>
          <a:ln w="38100">
            <a:solidFill>
              <a:srgbClr val="336699"/>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91" name="Oval 23"/>
          <p:cNvSpPr>
            <a:spLocks noChangeArrowheads="1"/>
          </p:cNvSpPr>
          <p:nvPr/>
        </p:nvSpPr>
        <p:spPr bwMode="auto">
          <a:xfrm>
            <a:off x="5984875" y="3260725"/>
            <a:ext cx="228600" cy="152400"/>
          </a:xfrm>
          <a:prstGeom prst="ellipse">
            <a:avLst/>
          </a:prstGeom>
          <a:noFill/>
          <a:ln w="38100">
            <a:solidFill>
              <a:srgbClr val="336699"/>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92" name="Oval 24"/>
          <p:cNvSpPr>
            <a:spLocks noChangeArrowheads="1"/>
          </p:cNvSpPr>
          <p:nvPr/>
        </p:nvSpPr>
        <p:spPr bwMode="auto">
          <a:xfrm>
            <a:off x="4841875" y="4022725"/>
            <a:ext cx="228600" cy="152400"/>
          </a:xfrm>
          <a:prstGeom prst="ellipse">
            <a:avLst/>
          </a:prstGeom>
          <a:noFill/>
          <a:ln w="38100">
            <a:solidFill>
              <a:srgbClr val="336699"/>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93" name="Oval 25"/>
          <p:cNvSpPr>
            <a:spLocks noChangeArrowheads="1"/>
          </p:cNvSpPr>
          <p:nvPr/>
        </p:nvSpPr>
        <p:spPr bwMode="auto">
          <a:xfrm>
            <a:off x="5222875" y="4022725"/>
            <a:ext cx="228600" cy="152400"/>
          </a:xfrm>
          <a:prstGeom prst="ellipse">
            <a:avLst/>
          </a:prstGeom>
          <a:noFill/>
          <a:ln w="38100">
            <a:solidFill>
              <a:srgbClr val="336699"/>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94" name="Oval 26"/>
          <p:cNvSpPr>
            <a:spLocks noChangeArrowheads="1"/>
          </p:cNvSpPr>
          <p:nvPr/>
        </p:nvSpPr>
        <p:spPr bwMode="auto">
          <a:xfrm>
            <a:off x="6061075" y="4022725"/>
            <a:ext cx="228600" cy="152400"/>
          </a:xfrm>
          <a:prstGeom prst="ellipse">
            <a:avLst/>
          </a:prstGeom>
          <a:noFill/>
          <a:ln w="38100">
            <a:solidFill>
              <a:srgbClr val="336699"/>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95" name="Oval 27"/>
          <p:cNvSpPr>
            <a:spLocks noChangeArrowheads="1"/>
          </p:cNvSpPr>
          <p:nvPr/>
        </p:nvSpPr>
        <p:spPr bwMode="auto">
          <a:xfrm>
            <a:off x="6518275" y="4022725"/>
            <a:ext cx="228600" cy="152400"/>
          </a:xfrm>
          <a:prstGeom prst="ellipse">
            <a:avLst/>
          </a:prstGeom>
          <a:noFill/>
          <a:ln w="38100">
            <a:solidFill>
              <a:srgbClr val="336699"/>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96" name="Oval 28"/>
          <p:cNvSpPr>
            <a:spLocks noChangeArrowheads="1"/>
          </p:cNvSpPr>
          <p:nvPr/>
        </p:nvSpPr>
        <p:spPr bwMode="auto">
          <a:xfrm>
            <a:off x="8423275" y="3260725"/>
            <a:ext cx="228600" cy="152400"/>
          </a:xfrm>
          <a:prstGeom prst="ellipse">
            <a:avLst/>
          </a:prstGeom>
          <a:noFill/>
          <a:ln w="38100">
            <a:solidFill>
              <a:srgbClr val="336699"/>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97" name="Oval 29"/>
          <p:cNvSpPr>
            <a:spLocks noChangeArrowheads="1"/>
          </p:cNvSpPr>
          <p:nvPr/>
        </p:nvSpPr>
        <p:spPr bwMode="auto">
          <a:xfrm>
            <a:off x="7813675" y="3260725"/>
            <a:ext cx="228600" cy="152400"/>
          </a:xfrm>
          <a:prstGeom prst="ellipse">
            <a:avLst/>
          </a:prstGeom>
          <a:noFill/>
          <a:ln w="38100">
            <a:solidFill>
              <a:srgbClr val="336699"/>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98" name="Oval 30"/>
          <p:cNvSpPr>
            <a:spLocks noChangeArrowheads="1"/>
          </p:cNvSpPr>
          <p:nvPr/>
        </p:nvSpPr>
        <p:spPr bwMode="auto">
          <a:xfrm>
            <a:off x="7280275" y="4022725"/>
            <a:ext cx="228600" cy="152400"/>
          </a:xfrm>
          <a:prstGeom prst="ellipse">
            <a:avLst/>
          </a:prstGeom>
          <a:noFill/>
          <a:ln w="38100">
            <a:solidFill>
              <a:srgbClr val="336699"/>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199" name="AutoShape 31"/>
          <p:cNvSpPr>
            <a:spLocks noChangeArrowheads="1"/>
          </p:cNvSpPr>
          <p:nvPr/>
        </p:nvSpPr>
        <p:spPr bwMode="auto">
          <a:xfrm>
            <a:off x="260350" y="2300288"/>
            <a:ext cx="381000" cy="838200"/>
          </a:xfrm>
          <a:prstGeom prst="upArrow">
            <a:avLst>
              <a:gd name="adj1" fmla="val 50000"/>
              <a:gd name="adj2" fmla="val 34375"/>
            </a:avLst>
          </a:prstGeom>
          <a:solidFill>
            <a:schemeClr val="accent1"/>
          </a:solid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3200" name="AutoShape 32"/>
          <p:cNvSpPr>
            <a:spLocks noChangeArrowheads="1"/>
          </p:cNvSpPr>
          <p:nvPr/>
        </p:nvSpPr>
        <p:spPr bwMode="auto">
          <a:xfrm rot="10820789">
            <a:off x="4918075" y="2270125"/>
            <a:ext cx="381000" cy="838200"/>
          </a:xfrm>
          <a:prstGeom prst="upArrow">
            <a:avLst>
              <a:gd name="adj1" fmla="val 50000"/>
              <a:gd name="adj2" fmla="val 34375"/>
            </a:avLst>
          </a:prstGeom>
          <a:solidFill>
            <a:srgbClr val="6C4C8F"/>
          </a:solidFill>
          <a:ln w="9525">
            <a:solidFill>
              <a:schemeClr val="accent1">
                <a:lumMod val="60000"/>
                <a:lumOff val="40000"/>
              </a:schemeClr>
            </a:solid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aphicFrame>
        <p:nvGraphicFramePr>
          <p:cNvPr id="903201" name="Object 33"/>
          <p:cNvGraphicFramePr/>
          <p:nvPr/>
        </p:nvGraphicFramePr>
        <p:xfrm>
          <a:off x="1184275" y="4860925"/>
          <a:ext cx="1981200" cy="615950"/>
        </p:xfrm>
        <a:graphic>
          <a:graphicData uri="http://schemas.openxmlformats.org/presentationml/2006/ole">
            <mc:AlternateContent xmlns:mc="http://schemas.openxmlformats.org/markup-compatibility/2006">
              <mc:Choice xmlns:v="urn:schemas-microsoft-com:vml" Requires="v">
                <p:oleObj spid="_x0000_s6297" r:id="rId7" imgW="570865" imgH="177800" progId="Equation.3">
                  <p:embed/>
                </p:oleObj>
              </mc:Choice>
              <mc:Fallback>
                <p:oleObj r:id="rId7" imgW="570865" imgH="177800" progId="Equation.3">
                  <p:embed/>
                  <p:pic>
                    <p:nvPicPr>
                      <p:cNvPr id="0" name="图片 3076"/>
                      <p:cNvPicPr/>
                      <p:nvPr/>
                    </p:nvPicPr>
                    <p:blipFill>
                      <a:blip r:embed="rId8"/>
                      <a:stretch>
                        <a:fillRect/>
                      </a:stretch>
                    </p:blipFill>
                    <p:spPr>
                      <a:xfrm>
                        <a:off x="1184275" y="4860925"/>
                        <a:ext cx="1981200" cy="615950"/>
                      </a:xfrm>
                      <a:prstGeom prst="rect">
                        <a:avLst/>
                      </a:prstGeom>
                      <a:noFill/>
                      <a:ln w="38100">
                        <a:noFill/>
                        <a:miter/>
                      </a:ln>
                    </p:spPr>
                  </p:pic>
                </p:oleObj>
              </mc:Fallback>
            </mc:AlternateContent>
          </a:graphicData>
        </a:graphic>
      </p:graphicFrame>
      <p:graphicFrame>
        <p:nvGraphicFramePr>
          <p:cNvPr id="903202" name="Object 34"/>
          <p:cNvGraphicFramePr/>
          <p:nvPr/>
        </p:nvGraphicFramePr>
        <p:xfrm>
          <a:off x="5070475" y="4768850"/>
          <a:ext cx="3698875" cy="747713"/>
        </p:xfrm>
        <a:graphic>
          <a:graphicData uri="http://schemas.openxmlformats.org/presentationml/2006/ole">
            <mc:AlternateContent xmlns:mc="http://schemas.openxmlformats.org/markup-compatibility/2006">
              <mc:Choice xmlns:v="urn:schemas-microsoft-com:vml" Requires="v">
                <p:oleObj spid="_x0000_s6298" r:id="rId9" imgW="1066165" imgH="215900" progId="Equation.3">
                  <p:embed/>
                </p:oleObj>
              </mc:Choice>
              <mc:Fallback>
                <p:oleObj r:id="rId9" imgW="1066165" imgH="215900" progId="Equation.3">
                  <p:embed/>
                  <p:pic>
                    <p:nvPicPr>
                      <p:cNvPr id="0" name="图片 3077"/>
                      <p:cNvPicPr/>
                      <p:nvPr/>
                    </p:nvPicPr>
                    <p:blipFill>
                      <a:blip r:embed="rId10"/>
                      <a:stretch>
                        <a:fillRect/>
                      </a:stretch>
                    </p:blipFill>
                    <p:spPr>
                      <a:xfrm>
                        <a:off x="5070475" y="4768850"/>
                        <a:ext cx="3698875" cy="747713"/>
                      </a:xfrm>
                      <a:prstGeom prst="rect">
                        <a:avLst/>
                      </a:prstGeom>
                      <a:noFill/>
                      <a:ln w="38100">
                        <a:noFill/>
                        <a:miter/>
                      </a:ln>
                    </p:spPr>
                  </p:pic>
                </p:oleObj>
              </mc:Fallback>
            </mc:AlternateContent>
          </a:graphicData>
        </a:graphic>
      </p:graphicFrame>
      <p:grpSp>
        <p:nvGrpSpPr>
          <p:cNvPr id="6" name="Group 35"/>
          <p:cNvGrpSpPr/>
          <p:nvPr/>
        </p:nvGrpSpPr>
        <p:grpSpPr>
          <a:xfrm>
            <a:off x="82550" y="5605463"/>
            <a:ext cx="8950325" cy="838200"/>
            <a:chOff x="768" y="3552"/>
            <a:chExt cx="4800" cy="528"/>
          </a:xfrm>
        </p:grpSpPr>
        <p:sp>
          <p:nvSpPr>
            <p:cNvPr id="34847" name="Rectangle 36"/>
            <p:cNvSpPr>
              <a:spLocks noChangeArrowheads="1"/>
            </p:cNvSpPr>
            <p:nvPr/>
          </p:nvSpPr>
          <p:spPr bwMode="auto">
            <a:xfrm>
              <a:off x="768" y="3552"/>
              <a:ext cx="4800" cy="528"/>
            </a:xfrm>
            <a:prstGeom prst="rect">
              <a:avLst/>
            </a:prstGeom>
            <a:solidFill>
              <a:schemeClr val="accent6">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aphicFrame>
          <p:nvGraphicFramePr>
            <p:cNvPr id="34851" name="Object 37"/>
            <p:cNvGraphicFramePr/>
            <p:nvPr/>
          </p:nvGraphicFramePr>
          <p:xfrm>
            <a:off x="912" y="3570"/>
            <a:ext cx="2690" cy="471"/>
          </p:xfrm>
          <a:graphic>
            <a:graphicData uri="http://schemas.openxmlformats.org/presentationml/2006/ole">
              <mc:AlternateContent xmlns:mc="http://schemas.openxmlformats.org/markup-compatibility/2006">
                <mc:Choice xmlns:v="urn:schemas-microsoft-com:vml" Requires="v">
                  <p:oleObj spid="_x0000_s6299" r:id="rId11" imgW="1231265" imgH="215900" progId="Equation.3">
                    <p:embed/>
                  </p:oleObj>
                </mc:Choice>
                <mc:Fallback>
                  <p:oleObj r:id="rId11" imgW="1231265" imgH="215900" progId="Equation.3">
                    <p:embed/>
                    <p:pic>
                      <p:nvPicPr>
                        <p:cNvPr id="0" name="图片 3078"/>
                        <p:cNvPicPr/>
                        <p:nvPr/>
                      </p:nvPicPr>
                      <p:blipFill>
                        <a:blip r:embed="rId12"/>
                        <a:stretch>
                          <a:fillRect/>
                        </a:stretch>
                      </p:blipFill>
                      <p:spPr>
                        <a:xfrm>
                          <a:off x="912" y="3570"/>
                          <a:ext cx="2690" cy="471"/>
                        </a:xfrm>
                        <a:prstGeom prst="rect">
                          <a:avLst/>
                        </a:prstGeom>
                        <a:solidFill>
                          <a:srgbClr val="A5A5E9"/>
                        </a:solidFill>
                        <a:ln w="38100">
                          <a:noFill/>
                          <a:miter/>
                        </a:ln>
                      </p:spPr>
                    </p:pic>
                  </p:oleObj>
                </mc:Fallback>
              </mc:AlternateContent>
            </a:graphicData>
          </a:graphic>
        </p:graphicFrame>
      </p:grpSp>
      <p:graphicFrame>
        <p:nvGraphicFramePr>
          <p:cNvPr id="903206" name="Object 38"/>
          <p:cNvGraphicFramePr/>
          <p:nvPr/>
        </p:nvGraphicFramePr>
        <p:xfrm>
          <a:off x="5527675" y="5591175"/>
          <a:ext cx="2860675" cy="792163"/>
        </p:xfrm>
        <a:graphic>
          <a:graphicData uri="http://schemas.openxmlformats.org/presentationml/2006/ole">
            <mc:AlternateContent xmlns:mc="http://schemas.openxmlformats.org/markup-compatibility/2006">
              <mc:Choice xmlns:v="urn:schemas-microsoft-com:vml" Requires="v">
                <p:oleObj spid="_x0000_s6300" r:id="rId13" imgW="825500" imgH="228600" progId="Equation.3">
                  <p:embed/>
                </p:oleObj>
              </mc:Choice>
              <mc:Fallback>
                <p:oleObj r:id="rId13" imgW="825500" imgH="228600" progId="Equation.3">
                  <p:embed/>
                  <p:pic>
                    <p:nvPicPr>
                      <p:cNvPr id="0" name="图片 3075"/>
                      <p:cNvPicPr/>
                      <p:nvPr/>
                    </p:nvPicPr>
                    <p:blipFill>
                      <a:blip r:embed="rId14"/>
                      <a:stretch>
                        <a:fillRect/>
                      </a:stretch>
                    </p:blipFill>
                    <p:spPr>
                      <a:xfrm>
                        <a:off x="5527675" y="5591175"/>
                        <a:ext cx="2860675" cy="792163"/>
                      </a:xfrm>
                      <a:prstGeom prst="rect">
                        <a:avLst/>
                      </a:prstGeom>
                      <a:noFill/>
                      <a:ln w="38100">
                        <a:noFill/>
                        <a:miter/>
                      </a:ln>
                    </p:spPr>
                  </p:pic>
                </p:oleObj>
              </mc:Fallback>
            </mc:AlternateContent>
          </a:graphicData>
        </a:graphic>
      </p:graphicFrame>
      <p:sp>
        <p:nvSpPr>
          <p:cNvPr id="34850" name="Rectangle 39"/>
          <p:cNvSpPr>
            <a:spLocks noChangeArrowheads="1"/>
          </p:cNvSpPr>
          <p:nvPr/>
        </p:nvSpPr>
        <p:spPr bwMode="auto">
          <a:xfrm>
            <a:off x="117475" y="1041400"/>
            <a:ext cx="8915400" cy="830263"/>
          </a:xfrm>
          <a:prstGeom prst="rect">
            <a:avLst/>
          </a:prstGeom>
          <a:noFill/>
          <a:ln w="38100">
            <a:solidFill>
              <a:schemeClr val="accent1">
                <a:lumMod val="60000"/>
                <a:lumOff val="40000"/>
              </a:schemeClr>
            </a:solidFill>
            <a:miter lim="800000"/>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性质</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3: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对于任何一棵二叉树，若</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度的结点数有</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n</a:t>
            </a:r>
            <a:r>
              <a:rPr kumimoji="0" lang="en-US" altLang="zh-CN" sz="2400" b="0" i="0" u="none" strike="noStrike" kern="1200" cap="none" spc="0" normalizeH="0" baseline="-25000" noProof="0" dirty="0">
                <a:ln>
                  <a:noFill/>
                </a:ln>
                <a:solidFill>
                  <a:schemeClr val="tx1"/>
                </a:solidFill>
                <a:effectLst/>
                <a:uLnTx/>
                <a:uFillTx/>
                <a:latin typeface="+mn-lt"/>
                <a:ea typeface="+mn-ea"/>
                <a:cs typeface="+mn-ea"/>
                <a:sym typeface="+mn-lt"/>
              </a:rPr>
              <a:t>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个，则叶子数</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n</a:t>
            </a:r>
            <a:r>
              <a:rPr kumimoji="0" lang="en-US" altLang="zh-CN" sz="2400" b="0" i="0" u="none" strike="noStrike" kern="1200" cap="none" spc="0" normalizeH="0" baseline="-25000" noProof="0" dirty="0">
                <a:ln>
                  <a:noFill/>
                </a:ln>
                <a:solidFill>
                  <a:schemeClr val="tx1"/>
                </a:solidFill>
                <a:effectLst/>
                <a:uLnTx/>
                <a:uFillTx/>
                <a:latin typeface="+mn-lt"/>
                <a:ea typeface="+mn-ea"/>
                <a:cs typeface="+mn-ea"/>
                <a:sym typeface="+mn-lt"/>
              </a:rPr>
              <a:t>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必定为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n</a:t>
            </a:r>
            <a:r>
              <a:rPr kumimoji="0" lang="en-US" altLang="zh-CN" sz="2400" b="0" i="0" u="none" strike="noStrike" kern="1200" cap="none" spc="0" normalizeH="0" baseline="-25000" noProof="0" dirty="0">
                <a:ln>
                  <a:noFill/>
                </a:ln>
                <a:solidFill>
                  <a:schemeClr val="tx1"/>
                </a:solidFill>
                <a:effectLst/>
                <a:uLnTx/>
                <a:uFillTx/>
                <a:latin typeface="+mn-lt"/>
                <a:ea typeface="+mn-ea"/>
                <a:cs typeface="+mn-ea"/>
                <a:sym typeface="+mn-lt"/>
              </a:rPr>
              <a:t>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（即</a:t>
            </a:r>
            <a:r>
              <a:rPr kumimoji="0" lang="en-US" altLang="zh-CN" sz="2400" b="0" i="0" u="none" strike="noStrike" kern="1200" cap="none" spc="0" normalizeH="0" baseline="0" noProof="0" dirty="0">
                <a:ln>
                  <a:noFill/>
                </a:ln>
                <a:solidFill>
                  <a:schemeClr val="tx2"/>
                </a:solidFill>
                <a:effectLst/>
                <a:uLnTx/>
                <a:uFillTx/>
                <a:latin typeface="+mn-lt"/>
                <a:ea typeface="+mn-ea"/>
                <a:cs typeface="+mn-ea"/>
                <a:sym typeface="+mn-lt"/>
              </a:rPr>
              <a:t>n</a:t>
            </a:r>
            <a:r>
              <a:rPr kumimoji="0" lang="en-US" altLang="zh-CN" sz="2400" b="0" i="0" u="none" strike="noStrike" kern="1200" cap="none" spc="0" normalizeH="0" baseline="-25000" noProof="0" dirty="0">
                <a:ln>
                  <a:noFill/>
                </a:ln>
                <a:solidFill>
                  <a:schemeClr val="tx2"/>
                </a:solidFill>
                <a:effectLst/>
                <a:uLnTx/>
                <a:uFillTx/>
                <a:latin typeface="+mn-lt"/>
                <a:ea typeface="+mn-ea"/>
                <a:cs typeface="+mn-ea"/>
                <a:sym typeface="+mn-lt"/>
              </a:rPr>
              <a:t>0</a:t>
            </a:r>
            <a:r>
              <a:rPr kumimoji="0" lang="en-US" altLang="zh-CN" sz="2400" b="0" i="0" u="none" strike="noStrike" kern="1200" cap="none" spc="0" normalizeH="0" baseline="0" noProof="0" dirty="0">
                <a:ln>
                  <a:noFill/>
                </a:ln>
                <a:solidFill>
                  <a:schemeClr val="tx2"/>
                </a:solidFill>
                <a:effectLst/>
                <a:uLnTx/>
                <a:uFillTx/>
                <a:latin typeface="+mn-lt"/>
                <a:ea typeface="+mn-ea"/>
                <a:cs typeface="+mn-ea"/>
                <a:sym typeface="+mn-lt"/>
              </a:rPr>
              <a:t>=n</a:t>
            </a:r>
            <a:r>
              <a:rPr kumimoji="0" lang="en-US" altLang="zh-CN" sz="2400" b="0" i="0" u="none" strike="noStrike" kern="1200" cap="none" spc="0" normalizeH="0" baseline="-25000" noProof="0" dirty="0">
                <a:ln>
                  <a:noFill/>
                </a:ln>
                <a:solidFill>
                  <a:schemeClr val="tx2"/>
                </a:solidFill>
                <a:effectLst/>
                <a:uLnTx/>
                <a:uFillTx/>
                <a:latin typeface="+mn-lt"/>
                <a:ea typeface="+mn-ea"/>
                <a:cs typeface="+mn-ea"/>
                <a:sym typeface="+mn-lt"/>
              </a:rPr>
              <a:t>2</a:t>
            </a:r>
            <a:r>
              <a:rPr kumimoji="0" lang="en-US" altLang="zh-CN" sz="2400" b="0" i="0" u="none" strike="noStrike" kern="1200" cap="none" spc="0" normalizeH="0" baseline="0" noProof="0" dirty="0">
                <a:ln>
                  <a:noFill/>
                </a:ln>
                <a:solidFill>
                  <a:schemeClr val="tx2"/>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p>
        </p:txBody>
      </p:sp>
      <p:sp>
        <p:nvSpPr>
          <p:cNvPr id="36" name="Rectangle 4"/>
          <p:cNvSpPr>
            <a:spLocks noChangeArrowheads="1"/>
          </p:cNvSpPr>
          <p:nvPr/>
        </p:nvSpPr>
        <p:spPr bwMode="auto">
          <a:xfrm>
            <a:off x="820738" y="152400"/>
            <a:ext cx="7358063"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二叉树的性质和存储结构</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903175"/>
                                        </p:tgtEl>
                                        <p:attrNameLst>
                                          <p:attrName>style.visibility</p:attrName>
                                        </p:attrNameLst>
                                      </p:cBhvr>
                                      <p:to>
                                        <p:strVal val="visible"/>
                                      </p:to>
                                    </p:set>
                                    <p:anim calcmode="lin" valueType="num">
                                      <p:cBhvr additive="base">
                                        <p:cTn id="7" dur="500" fill="hold"/>
                                        <p:tgtEl>
                                          <p:spTgt spid="903175"/>
                                        </p:tgtEl>
                                        <p:attrNameLst>
                                          <p:attrName>ppt_x</p:attrName>
                                        </p:attrNameLst>
                                      </p:cBhvr>
                                      <p:tavLst>
                                        <p:tav tm="0">
                                          <p:val>
                                            <p:strVal val="0-#ppt_w/2"/>
                                          </p:val>
                                        </p:tav>
                                        <p:tav tm="100000">
                                          <p:val>
                                            <p:strVal val="#ppt_x"/>
                                          </p:val>
                                        </p:tav>
                                      </p:tavLst>
                                    </p:anim>
                                    <p:anim calcmode="lin" valueType="num">
                                      <p:cBhvr additive="base">
                                        <p:cTn id="8" dur="500" fill="hold"/>
                                        <p:tgtEl>
                                          <p:spTgt spid="90317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6" presetClass="entr" presetSubtype="42" fill="hold" grpId="0" nodeType="clickEffect">
                                  <p:stCondLst>
                                    <p:cond delay="0"/>
                                  </p:stCondLst>
                                  <p:childTnLst>
                                    <p:set>
                                      <p:cBhvr>
                                        <p:cTn id="12" dur="1" fill="hold">
                                          <p:stCondLst>
                                            <p:cond delay="0"/>
                                          </p:stCondLst>
                                        </p:cTn>
                                        <p:tgtEl>
                                          <p:spTgt spid="903177"/>
                                        </p:tgtEl>
                                        <p:attrNameLst>
                                          <p:attrName>style.visibility</p:attrName>
                                        </p:attrNameLst>
                                      </p:cBhvr>
                                      <p:to>
                                        <p:strVal val="visible"/>
                                      </p:to>
                                    </p:set>
                                    <p:animEffect transition="in" filter="barn(outHorizontal)">
                                      <p:cBhvr>
                                        <p:cTn id="13" dur="500"/>
                                        <p:tgtEl>
                                          <p:spTgt spid="903177"/>
                                        </p:tgtEl>
                                      </p:cBhvr>
                                    </p:animEffect>
                                  </p:childTnLst>
                                </p:cTn>
                              </p:par>
                            </p:childTnLst>
                          </p:cTn>
                        </p:par>
                      </p:childTnLst>
                    </p:cTn>
                  </p:par>
                  <p:par>
                    <p:cTn id="14" fill="hold">
                      <p:stCondLst>
                        <p:cond delay="indefinite"/>
                      </p:stCondLst>
                      <p:childTnLst>
                        <p:par>
                          <p:cTn id="15" fill="hold">
                            <p:stCondLst>
                              <p:cond delay="0"/>
                            </p:stCondLst>
                            <p:childTnLst>
                              <p:par>
                                <p:cTn id="16" presetID="16" presetClass="entr" presetSubtype="42" fill="hold" grpId="0" nodeType="clickEffect">
                                  <p:stCondLst>
                                    <p:cond delay="0"/>
                                  </p:stCondLst>
                                  <p:childTnLst>
                                    <p:set>
                                      <p:cBhvr>
                                        <p:cTn id="17" dur="1" fill="hold">
                                          <p:stCondLst>
                                            <p:cond delay="0"/>
                                          </p:stCondLst>
                                        </p:cTn>
                                        <p:tgtEl>
                                          <p:spTgt spid="903178"/>
                                        </p:tgtEl>
                                        <p:attrNameLst>
                                          <p:attrName>style.visibility</p:attrName>
                                        </p:attrNameLst>
                                      </p:cBhvr>
                                      <p:to>
                                        <p:strVal val="visible"/>
                                      </p:to>
                                    </p:set>
                                    <p:animEffect transition="in" filter="barn(outHorizontal)">
                                      <p:cBhvr>
                                        <p:cTn id="18" dur="500"/>
                                        <p:tgtEl>
                                          <p:spTgt spid="903178"/>
                                        </p:tgtEl>
                                      </p:cBhvr>
                                    </p:animEffect>
                                  </p:childTnLst>
                                </p:cTn>
                              </p:par>
                            </p:childTnLst>
                          </p:cTn>
                        </p:par>
                      </p:childTnLst>
                    </p:cTn>
                  </p:par>
                  <p:par>
                    <p:cTn id="19" fill="hold">
                      <p:stCondLst>
                        <p:cond delay="indefinite"/>
                      </p:stCondLst>
                      <p:childTnLst>
                        <p:par>
                          <p:cTn id="20" fill="hold">
                            <p:stCondLst>
                              <p:cond delay="0"/>
                            </p:stCondLst>
                            <p:childTnLst>
                              <p:par>
                                <p:cTn id="21" presetID="16" presetClass="entr" presetSubtype="42" fill="hold" grpId="0" nodeType="clickEffect">
                                  <p:stCondLst>
                                    <p:cond delay="0"/>
                                  </p:stCondLst>
                                  <p:childTnLst>
                                    <p:set>
                                      <p:cBhvr>
                                        <p:cTn id="22" dur="1" fill="hold">
                                          <p:stCondLst>
                                            <p:cond delay="0"/>
                                          </p:stCondLst>
                                        </p:cTn>
                                        <p:tgtEl>
                                          <p:spTgt spid="903179"/>
                                        </p:tgtEl>
                                        <p:attrNameLst>
                                          <p:attrName>style.visibility</p:attrName>
                                        </p:attrNameLst>
                                      </p:cBhvr>
                                      <p:to>
                                        <p:strVal val="visible"/>
                                      </p:to>
                                    </p:set>
                                    <p:animEffect transition="in" filter="barn(outHorizontal)">
                                      <p:cBhvr>
                                        <p:cTn id="23" dur="500"/>
                                        <p:tgtEl>
                                          <p:spTgt spid="903179"/>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42" fill="hold" grpId="0" nodeType="clickEffect">
                                  <p:stCondLst>
                                    <p:cond delay="0"/>
                                  </p:stCondLst>
                                  <p:childTnLst>
                                    <p:set>
                                      <p:cBhvr>
                                        <p:cTn id="27" dur="1" fill="hold">
                                          <p:stCondLst>
                                            <p:cond delay="0"/>
                                          </p:stCondLst>
                                        </p:cTn>
                                        <p:tgtEl>
                                          <p:spTgt spid="903180"/>
                                        </p:tgtEl>
                                        <p:attrNameLst>
                                          <p:attrName>style.visibility</p:attrName>
                                        </p:attrNameLst>
                                      </p:cBhvr>
                                      <p:to>
                                        <p:strVal val="visible"/>
                                      </p:to>
                                    </p:set>
                                    <p:animEffect transition="in" filter="barn(outHorizontal)">
                                      <p:cBhvr>
                                        <p:cTn id="28" dur="500"/>
                                        <p:tgtEl>
                                          <p:spTgt spid="903180"/>
                                        </p:tgtEl>
                                      </p:cBhvr>
                                    </p:animEffect>
                                  </p:childTnLst>
                                </p:cTn>
                              </p:par>
                            </p:childTnLst>
                          </p:cTn>
                        </p:par>
                      </p:childTnLst>
                    </p:cTn>
                  </p:par>
                  <p:par>
                    <p:cTn id="29" fill="hold">
                      <p:stCondLst>
                        <p:cond delay="indefinite"/>
                      </p:stCondLst>
                      <p:childTnLst>
                        <p:par>
                          <p:cTn id="30" fill="hold">
                            <p:stCondLst>
                              <p:cond delay="0"/>
                            </p:stCondLst>
                            <p:childTnLst>
                              <p:par>
                                <p:cTn id="31" presetID="16" presetClass="entr" presetSubtype="42" fill="hold" grpId="0" nodeType="clickEffect">
                                  <p:stCondLst>
                                    <p:cond delay="0"/>
                                  </p:stCondLst>
                                  <p:childTnLst>
                                    <p:set>
                                      <p:cBhvr>
                                        <p:cTn id="32" dur="1" fill="hold">
                                          <p:stCondLst>
                                            <p:cond delay="0"/>
                                          </p:stCondLst>
                                        </p:cTn>
                                        <p:tgtEl>
                                          <p:spTgt spid="903186"/>
                                        </p:tgtEl>
                                        <p:attrNameLst>
                                          <p:attrName>style.visibility</p:attrName>
                                        </p:attrNameLst>
                                      </p:cBhvr>
                                      <p:to>
                                        <p:strVal val="visible"/>
                                      </p:to>
                                    </p:set>
                                    <p:animEffect transition="in" filter="barn(outHorizontal)">
                                      <p:cBhvr>
                                        <p:cTn id="33" dur="500"/>
                                        <p:tgtEl>
                                          <p:spTgt spid="903186"/>
                                        </p:tgtEl>
                                      </p:cBhvr>
                                    </p:animEffect>
                                  </p:childTnLst>
                                </p:cTn>
                              </p:par>
                            </p:childTnLst>
                          </p:cTn>
                        </p:par>
                      </p:childTnLst>
                    </p:cTn>
                  </p:par>
                  <p:par>
                    <p:cTn id="34" fill="hold">
                      <p:stCondLst>
                        <p:cond delay="indefinite"/>
                      </p:stCondLst>
                      <p:childTnLst>
                        <p:par>
                          <p:cTn id="35" fill="hold">
                            <p:stCondLst>
                              <p:cond delay="0"/>
                            </p:stCondLst>
                            <p:childTnLst>
                              <p:par>
                                <p:cTn id="36" presetID="16" presetClass="entr" presetSubtype="42" fill="hold" grpId="0" nodeType="clickEffect">
                                  <p:stCondLst>
                                    <p:cond delay="0"/>
                                  </p:stCondLst>
                                  <p:childTnLst>
                                    <p:set>
                                      <p:cBhvr>
                                        <p:cTn id="37" dur="1" fill="hold">
                                          <p:stCondLst>
                                            <p:cond delay="0"/>
                                          </p:stCondLst>
                                        </p:cTn>
                                        <p:tgtEl>
                                          <p:spTgt spid="903185"/>
                                        </p:tgtEl>
                                        <p:attrNameLst>
                                          <p:attrName>style.visibility</p:attrName>
                                        </p:attrNameLst>
                                      </p:cBhvr>
                                      <p:to>
                                        <p:strVal val="visible"/>
                                      </p:to>
                                    </p:set>
                                    <p:animEffect transition="in" filter="barn(outHorizontal)">
                                      <p:cBhvr>
                                        <p:cTn id="38" dur="500"/>
                                        <p:tgtEl>
                                          <p:spTgt spid="903185"/>
                                        </p:tgtEl>
                                      </p:cBhvr>
                                    </p:animEffect>
                                  </p:childTnLst>
                                </p:cTn>
                              </p:par>
                            </p:childTnLst>
                          </p:cTn>
                        </p:par>
                      </p:childTnLst>
                    </p:cTn>
                  </p:par>
                  <p:par>
                    <p:cTn id="39" fill="hold">
                      <p:stCondLst>
                        <p:cond delay="indefinite"/>
                      </p:stCondLst>
                      <p:childTnLst>
                        <p:par>
                          <p:cTn id="40" fill="hold">
                            <p:stCondLst>
                              <p:cond delay="0"/>
                            </p:stCondLst>
                            <p:childTnLst>
                              <p:par>
                                <p:cTn id="41" presetID="16" presetClass="entr" presetSubtype="42" fill="hold" grpId="0" nodeType="clickEffect">
                                  <p:stCondLst>
                                    <p:cond delay="0"/>
                                  </p:stCondLst>
                                  <p:childTnLst>
                                    <p:set>
                                      <p:cBhvr>
                                        <p:cTn id="42" dur="1" fill="hold">
                                          <p:stCondLst>
                                            <p:cond delay="0"/>
                                          </p:stCondLst>
                                        </p:cTn>
                                        <p:tgtEl>
                                          <p:spTgt spid="903181"/>
                                        </p:tgtEl>
                                        <p:attrNameLst>
                                          <p:attrName>style.visibility</p:attrName>
                                        </p:attrNameLst>
                                      </p:cBhvr>
                                      <p:to>
                                        <p:strVal val="visible"/>
                                      </p:to>
                                    </p:set>
                                    <p:animEffect transition="in" filter="barn(outHorizontal)">
                                      <p:cBhvr>
                                        <p:cTn id="43" dur="500"/>
                                        <p:tgtEl>
                                          <p:spTgt spid="903181"/>
                                        </p:tgtEl>
                                      </p:cBhvr>
                                    </p:animEffect>
                                  </p:childTnLst>
                                </p:cTn>
                              </p:par>
                            </p:childTnLst>
                          </p:cTn>
                        </p:par>
                      </p:childTnLst>
                    </p:cTn>
                  </p:par>
                  <p:par>
                    <p:cTn id="44" fill="hold">
                      <p:stCondLst>
                        <p:cond delay="indefinite"/>
                      </p:stCondLst>
                      <p:childTnLst>
                        <p:par>
                          <p:cTn id="45" fill="hold">
                            <p:stCondLst>
                              <p:cond delay="0"/>
                            </p:stCondLst>
                            <p:childTnLst>
                              <p:par>
                                <p:cTn id="46" presetID="16" presetClass="entr" presetSubtype="42" fill="hold" grpId="0" nodeType="clickEffect">
                                  <p:stCondLst>
                                    <p:cond delay="0"/>
                                  </p:stCondLst>
                                  <p:childTnLst>
                                    <p:set>
                                      <p:cBhvr>
                                        <p:cTn id="47" dur="1" fill="hold">
                                          <p:stCondLst>
                                            <p:cond delay="0"/>
                                          </p:stCondLst>
                                        </p:cTn>
                                        <p:tgtEl>
                                          <p:spTgt spid="903182"/>
                                        </p:tgtEl>
                                        <p:attrNameLst>
                                          <p:attrName>style.visibility</p:attrName>
                                        </p:attrNameLst>
                                      </p:cBhvr>
                                      <p:to>
                                        <p:strVal val="visible"/>
                                      </p:to>
                                    </p:set>
                                    <p:animEffect transition="in" filter="barn(outHorizontal)">
                                      <p:cBhvr>
                                        <p:cTn id="48" dur="500"/>
                                        <p:tgtEl>
                                          <p:spTgt spid="903182"/>
                                        </p:tgtEl>
                                      </p:cBhvr>
                                    </p:animEffect>
                                  </p:childTnLst>
                                </p:cTn>
                              </p:par>
                            </p:childTnLst>
                          </p:cTn>
                        </p:par>
                      </p:childTnLst>
                    </p:cTn>
                  </p:par>
                  <p:par>
                    <p:cTn id="49" fill="hold">
                      <p:stCondLst>
                        <p:cond delay="indefinite"/>
                      </p:stCondLst>
                      <p:childTnLst>
                        <p:par>
                          <p:cTn id="50" fill="hold">
                            <p:stCondLst>
                              <p:cond delay="0"/>
                            </p:stCondLst>
                            <p:childTnLst>
                              <p:par>
                                <p:cTn id="51" presetID="16" presetClass="entr" presetSubtype="42" fill="hold" grpId="0" nodeType="clickEffect">
                                  <p:stCondLst>
                                    <p:cond delay="0"/>
                                  </p:stCondLst>
                                  <p:childTnLst>
                                    <p:set>
                                      <p:cBhvr>
                                        <p:cTn id="52" dur="1" fill="hold">
                                          <p:stCondLst>
                                            <p:cond delay="0"/>
                                          </p:stCondLst>
                                        </p:cTn>
                                        <p:tgtEl>
                                          <p:spTgt spid="903183"/>
                                        </p:tgtEl>
                                        <p:attrNameLst>
                                          <p:attrName>style.visibility</p:attrName>
                                        </p:attrNameLst>
                                      </p:cBhvr>
                                      <p:to>
                                        <p:strVal val="visible"/>
                                      </p:to>
                                    </p:set>
                                    <p:animEffect transition="in" filter="barn(outHorizontal)">
                                      <p:cBhvr>
                                        <p:cTn id="53" dur="500"/>
                                        <p:tgtEl>
                                          <p:spTgt spid="903183"/>
                                        </p:tgtEl>
                                      </p:cBhvr>
                                    </p:animEffect>
                                  </p:childTnLst>
                                </p:cTn>
                              </p:par>
                            </p:childTnLst>
                          </p:cTn>
                        </p:par>
                      </p:childTnLst>
                    </p:cTn>
                  </p:par>
                  <p:par>
                    <p:cTn id="54" fill="hold">
                      <p:stCondLst>
                        <p:cond delay="indefinite"/>
                      </p:stCondLst>
                      <p:childTnLst>
                        <p:par>
                          <p:cTn id="55" fill="hold">
                            <p:stCondLst>
                              <p:cond delay="0"/>
                            </p:stCondLst>
                            <p:childTnLst>
                              <p:par>
                                <p:cTn id="56" presetID="16" presetClass="entr" presetSubtype="42" fill="hold" grpId="0" nodeType="clickEffect">
                                  <p:stCondLst>
                                    <p:cond delay="0"/>
                                  </p:stCondLst>
                                  <p:childTnLst>
                                    <p:set>
                                      <p:cBhvr>
                                        <p:cTn id="57" dur="1" fill="hold">
                                          <p:stCondLst>
                                            <p:cond delay="0"/>
                                          </p:stCondLst>
                                        </p:cTn>
                                        <p:tgtEl>
                                          <p:spTgt spid="903184"/>
                                        </p:tgtEl>
                                        <p:attrNameLst>
                                          <p:attrName>style.visibility</p:attrName>
                                        </p:attrNameLst>
                                      </p:cBhvr>
                                      <p:to>
                                        <p:strVal val="visible"/>
                                      </p:to>
                                    </p:set>
                                    <p:animEffect transition="in" filter="barn(outHorizontal)">
                                      <p:cBhvr>
                                        <p:cTn id="58" dur="500"/>
                                        <p:tgtEl>
                                          <p:spTgt spid="903184"/>
                                        </p:tgtEl>
                                      </p:cBhvr>
                                    </p:animEffect>
                                  </p:childTnLst>
                                </p:cTn>
                              </p:par>
                            </p:childTnLst>
                          </p:cTn>
                        </p:par>
                      </p:childTnLst>
                    </p:cTn>
                  </p:par>
                  <p:par>
                    <p:cTn id="59" fill="hold">
                      <p:stCondLst>
                        <p:cond delay="indefinite"/>
                      </p:stCondLst>
                      <p:childTnLst>
                        <p:par>
                          <p:cTn id="60" fill="hold">
                            <p:stCondLst>
                              <p:cond delay="0"/>
                            </p:stCondLst>
                            <p:childTnLst>
                              <p:par>
                                <p:cTn id="61" presetID="16" presetClass="entr" presetSubtype="42" fill="hold" grpId="0" nodeType="clickEffect">
                                  <p:stCondLst>
                                    <p:cond delay="0"/>
                                  </p:stCondLst>
                                  <p:childTnLst>
                                    <p:set>
                                      <p:cBhvr>
                                        <p:cTn id="62" dur="1" fill="hold">
                                          <p:stCondLst>
                                            <p:cond delay="0"/>
                                          </p:stCondLst>
                                        </p:cTn>
                                        <p:tgtEl>
                                          <p:spTgt spid="903187"/>
                                        </p:tgtEl>
                                        <p:attrNameLst>
                                          <p:attrName>style.visibility</p:attrName>
                                        </p:attrNameLst>
                                      </p:cBhvr>
                                      <p:to>
                                        <p:strVal val="visible"/>
                                      </p:to>
                                    </p:set>
                                    <p:animEffect transition="in" filter="barn(outHorizontal)">
                                      <p:cBhvr>
                                        <p:cTn id="63" dur="500"/>
                                        <p:tgtEl>
                                          <p:spTgt spid="903187"/>
                                        </p:tgtEl>
                                      </p:cBhvr>
                                    </p:animEffect>
                                  </p:childTnLst>
                                </p:cTn>
                              </p:par>
                            </p:childTnLst>
                          </p:cTn>
                        </p:par>
                      </p:childTnLst>
                    </p:cTn>
                  </p:par>
                  <p:par>
                    <p:cTn id="64" fill="hold">
                      <p:stCondLst>
                        <p:cond delay="indefinite"/>
                      </p:stCondLst>
                      <p:childTnLst>
                        <p:par>
                          <p:cTn id="65" fill="hold">
                            <p:stCondLst>
                              <p:cond delay="0"/>
                            </p:stCondLst>
                            <p:childTnLst>
                              <p:par>
                                <p:cTn id="66" presetID="17" presetClass="entr" presetSubtype="4" fill="hold" grpId="0" nodeType="clickEffect">
                                  <p:stCondLst>
                                    <p:cond delay="0"/>
                                  </p:stCondLst>
                                  <p:childTnLst>
                                    <p:set>
                                      <p:cBhvr>
                                        <p:cTn id="67" dur="1" fill="hold">
                                          <p:stCondLst>
                                            <p:cond delay="0"/>
                                          </p:stCondLst>
                                        </p:cTn>
                                        <p:tgtEl>
                                          <p:spTgt spid="903199"/>
                                        </p:tgtEl>
                                        <p:attrNameLst>
                                          <p:attrName>style.visibility</p:attrName>
                                        </p:attrNameLst>
                                      </p:cBhvr>
                                      <p:to>
                                        <p:strVal val="visible"/>
                                      </p:to>
                                    </p:set>
                                    <p:anim calcmode="lin" valueType="num">
                                      <p:cBhvr>
                                        <p:cTn id="68" dur="500" fill="hold"/>
                                        <p:tgtEl>
                                          <p:spTgt spid="903199"/>
                                        </p:tgtEl>
                                        <p:attrNameLst>
                                          <p:attrName>ppt_x</p:attrName>
                                        </p:attrNameLst>
                                      </p:cBhvr>
                                      <p:tavLst>
                                        <p:tav tm="0">
                                          <p:val>
                                            <p:strVal val="#ppt_x"/>
                                          </p:val>
                                        </p:tav>
                                        <p:tav tm="100000">
                                          <p:val>
                                            <p:strVal val="#ppt_x"/>
                                          </p:val>
                                        </p:tav>
                                      </p:tavLst>
                                    </p:anim>
                                    <p:anim calcmode="lin" valueType="num">
                                      <p:cBhvr>
                                        <p:cTn id="69" dur="500" fill="hold"/>
                                        <p:tgtEl>
                                          <p:spTgt spid="903199"/>
                                        </p:tgtEl>
                                        <p:attrNameLst>
                                          <p:attrName>ppt_y</p:attrName>
                                        </p:attrNameLst>
                                      </p:cBhvr>
                                      <p:tavLst>
                                        <p:tav tm="0">
                                          <p:val>
                                            <p:strVal val="#ppt_y+#ppt_h/2"/>
                                          </p:val>
                                        </p:tav>
                                        <p:tav tm="100000">
                                          <p:val>
                                            <p:strVal val="#ppt_y"/>
                                          </p:val>
                                        </p:tav>
                                      </p:tavLst>
                                    </p:anim>
                                    <p:anim calcmode="lin" valueType="num">
                                      <p:cBhvr>
                                        <p:cTn id="70" dur="500" fill="hold"/>
                                        <p:tgtEl>
                                          <p:spTgt spid="903199"/>
                                        </p:tgtEl>
                                        <p:attrNameLst>
                                          <p:attrName>ppt_w</p:attrName>
                                        </p:attrNameLst>
                                      </p:cBhvr>
                                      <p:tavLst>
                                        <p:tav tm="0">
                                          <p:val>
                                            <p:strVal val="#ppt_w"/>
                                          </p:val>
                                        </p:tav>
                                        <p:tav tm="100000">
                                          <p:val>
                                            <p:strVal val="#ppt_w"/>
                                          </p:val>
                                        </p:tav>
                                      </p:tavLst>
                                    </p:anim>
                                    <p:anim calcmode="lin" valueType="num">
                                      <p:cBhvr>
                                        <p:cTn id="71" dur="500" fill="hold"/>
                                        <p:tgtEl>
                                          <p:spTgt spid="903199"/>
                                        </p:tgtEl>
                                        <p:attrNameLst>
                                          <p:attrName>ppt_h</p:attrName>
                                        </p:attrNameLst>
                                      </p:cBhvr>
                                      <p:tavLst>
                                        <p:tav tm="0">
                                          <p:val>
                                            <p:fltVal val="0"/>
                                          </p:val>
                                        </p:tav>
                                        <p:tav tm="100000">
                                          <p:val>
                                            <p:strVal val="#ppt_h"/>
                                          </p:val>
                                        </p:tav>
                                      </p:tavLst>
                                    </p:anim>
                                  </p:childTnLst>
                                </p:cTn>
                              </p:par>
                            </p:childTnLst>
                          </p:cTn>
                        </p:par>
                      </p:childTnLst>
                    </p:cTn>
                  </p:par>
                  <p:par>
                    <p:cTn id="72" fill="hold">
                      <p:stCondLst>
                        <p:cond delay="indefinite"/>
                      </p:stCondLst>
                      <p:childTnLst>
                        <p:par>
                          <p:cTn id="73" fill="hold">
                            <p:stCondLst>
                              <p:cond delay="0"/>
                            </p:stCondLst>
                            <p:childTnLst>
                              <p:par>
                                <p:cTn id="74" presetID="2" presetClass="entr" presetSubtype="8" fill="hold" nodeType="clickEffect">
                                  <p:stCondLst>
                                    <p:cond delay="0"/>
                                  </p:stCondLst>
                                  <p:childTnLst>
                                    <p:set>
                                      <p:cBhvr>
                                        <p:cTn id="75" dur="1" fill="hold">
                                          <p:stCondLst>
                                            <p:cond delay="0"/>
                                          </p:stCondLst>
                                        </p:cTn>
                                        <p:tgtEl>
                                          <p:spTgt spid="903201"/>
                                        </p:tgtEl>
                                        <p:attrNameLst>
                                          <p:attrName>style.visibility</p:attrName>
                                        </p:attrNameLst>
                                      </p:cBhvr>
                                      <p:to>
                                        <p:strVal val="visible"/>
                                      </p:to>
                                    </p:set>
                                    <p:anim calcmode="lin" valueType="num">
                                      <p:cBhvr additive="base">
                                        <p:cTn id="76" dur="500" fill="hold"/>
                                        <p:tgtEl>
                                          <p:spTgt spid="903201"/>
                                        </p:tgtEl>
                                        <p:attrNameLst>
                                          <p:attrName>ppt_x</p:attrName>
                                        </p:attrNameLst>
                                      </p:cBhvr>
                                      <p:tavLst>
                                        <p:tav tm="0">
                                          <p:val>
                                            <p:strVal val="0-#ppt_w/2"/>
                                          </p:val>
                                        </p:tav>
                                        <p:tav tm="100000">
                                          <p:val>
                                            <p:strVal val="#ppt_x"/>
                                          </p:val>
                                        </p:tav>
                                      </p:tavLst>
                                    </p:anim>
                                    <p:anim calcmode="lin" valueType="num">
                                      <p:cBhvr additive="base">
                                        <p:cTn id="77" dur="500" fill="hold"/>
                                        <p:tgtEl>
                                          <p:spTgt spid="903201"/>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74"/>
                                            </p:cond>
                                          </p:stCondLst>
                                          <p:endCondLst>
                                            <p:cond evt="onStopAudio" delay="0">
                                              <p:tgtEl>
                                                <p:sldTgt/>
                                              </p:tgtEl>
                                            </p:cond>
                                          </p:endCondLst>
                                        </p:cTn>
                                        <p:tgtEl>
                                          <p:sndTgt r:embed="rId3" name="whoosh.wav"/>
                                        </p:tgtEl>
                                      </p:cMediaNode>
                                    </p:audio>
                                  </p:subTnLst>
                                </p:cTn>
                              </p:par>
                            </p:childTnLst>
                          </p:cTn>
                        </p:par>
                      </p:childTnLst>
                    </p:cTn>
                  </p:par>
                  <p:par>
                    <p:cTn id="78" fill="hold">
                      <p:stCondLst>
                        <p:cond delay="indefinite"/>
                      </p:stCondLst>
                      <p:childTnLst>
                        <p:par>
                          <p:cTn id="79" fill="hold">
                            <p:stCondLst>
                              <p:cond delay="0"/>
                            </p:stCondLst>
                            <p:childTnLst>
                              <p:par>
                                <p:cTn id="80" presetID="2" presetClass="entr" presetSubtype="2" fill="hold" nodeType="clickEffect">
                                  <p:stCondLst>
                                    <p:cond delay="0"/>
                                  </p:stCondLst>
                                  <p:childTnLst>
                                    <p:set>
                                      <p:cBhvr>
                                        <p:cTn id="81" dur="1" fill="hold">
                                          <p:stCondLst>
                                            <p:cond delay="0"/>
                                          </p:stCondLst>
                                        </p:cTn>
                                        <p:tgtEl>
                                          <p:spTgt spid="903176"/>
                                        </p:tgtEl>
                                        <p:attrNameLst>
                                          <p:attrName>style.visibility</p:attrName>
                                        </p:attrNameLst>
                                      </p:cBhvr>
                                      <p:to>
                                        <p:strVal val="visible"/>
                                      </p:to>
                                    </p:set>
                                    <p:anim calcmode="lin" valueType="num">
                                      <p:cBhvr additive="base">
                                        <p:cTn id="82" dur="500" fill="hold"/>
                                        <p:tgtEl>
                                          <p:spTgt spid="903176"/>
                                        </p:tgtEl>
                                        <p:attrNameLst>
                                          <p:attrName>ppt_x</p:attrName>
                                        </p:attrNameLst>
                                      </p:cBhvr>
                                      <p:tavLst>
                                        <p:tav tm="0">
                                          <p:val>
                                            <p:strVal val="1+#ppt_w/2"/>
                                          </p:val>
                                        </p:tav>
                                        <p:tav tm="100000">
                                          <p:val>
                                            <p:strVal val="#ppt_x"/>
                                          </p:val>
                                        </p:tav>
                                      </p:tavLst>
                                    </p:anim>
                                    <p:anim calcmode="lin" valueType="num">
                                      <p:cBhvr additive="base">
                                        <p:cTn id="83" dur="500" fill="hold"/>
                                        <p:tgtEl>
                                          <p:spTgt spid="903176"/>
                                        </p:tgtEl>
                                        <p:attrNameLst>
                                          <p:attrName>ppt_y</p:attrName>
                                        </p:attrNameLst>
                                      </p:cBhvr>
                                      <p:tavLst>
                                        <p:tav tm="0">
                                          <p:val>
                                            <p:strVal val="#ppt_y"/>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17" presetClass="entr" presetSubtype="1" fill="hold" grpId="0" nodeType="clickEffect">
                                  <p:stCondLst>
                                    <p:cond delay="0"/>
                                  </p:stCondLst>
                                  <p:childTnLst>
                                    <p:set>
                                      <p:cBhvr>
                                        <p:cTn id="87" dur="1" fill="hold">
                                          <p:stCondLst>
                                            <p:cond delay="0"/>
                                          </p:stCondLst>
                                        </p:cTn>
                                        <p:tgtEl>
                                          <p:spTgt spid="903200"/>
                                        </p:tgtEl>
                                        <p:attrNameLst>
                                          <p:attrName>style.visibility</p:attrName>
                                        </p:attrNameLst>
                                      </p:cBhvr>
                                      <p:to>
                                        <p:strVal val="visible"/>
                                      </p:to>
                                    </p:set>
                                    <p:anim calcmode="lin" valueType="num">
                                      <p:cBhvr>
                                        <p:cTn id="88" dur="500" fill="hold"/>
                                        <p:tgtEl>
                                          <p:spTgt spid="903200"/>
                                        </p:tgtEl>
                                        <p:attrNameLst>
                                          <p:attrName>ppt_x</p:attrName>
                                        </p:attrNameLst>
                                      </p:cBhvr>
                                      <p:tavLst>
                                        <p:tav tm="0">
                                          <p:val>
                                            <p:strVal val="#ppt_x"/>
                                          </p:val>
                                        </p:tav>
                                        <p:tav tm="100000">
                                          <p:val>
                                            <p:strVal val="#ppt_x"/>
                                          </p:val>
                                        </p:tav>
                                      </p:tavLst>
                                    </p:anim>
                                    <p:anim calcmode="lin" valueType="num">
                                      <p:cBhvr>
                                        <p:cTn id="89" dur="500" fill="hold"/>
                                        <p:tgtEl>
                                          <p:spTgt spid="903200"/>
                                        </p:tgtEl>
                                        <p:attrNameLst>
                                          <p:attrName>ppt_y</p:attrName>
                                        </p:attrNameLst>
                                      </p:cBhvr>
                                      <p:tavLst>
                                        <p:tav tm="0">
                                          <p:val>
                                            <p:strVal val="#ppt_y-#ppt_h/2"/>
                                          </p:val>
                                        </p:tav>
                                        <p:tav tm="100000">
                                          <p:val>
                                            <p:strVal val="#ppt_y"/>
                                          </p:val>
                                        </p:tav>
                                      </p:tavLst>
                                    </p:anim>
                                    <p:anim calcmode="lin" valueType="num">
                                      <p:cBhvr>
                                        <p:cTn id="90" dur="500" fill="hold"/>
                                        <p:tgtEl>
                                          <p:spTgt spid="903200"/>
                                        </p:tgtEl>
                                        <p:attrNameLst>
                                          <p:attrName>ppt_w</p:attrName>
                                        </p:attrNameLst>
                                      </p:cBhvr>
                                      <p:tavLst>
                                        <p:tav tm="0">
                                          <p:val>
                                            <p:strVal val="#ppt_w"/>
                                          </p:val>
                                        </p:tav>
                                        <p:tav tm="100000">
                                          <p:val>
                                            <p:strVal val="#ppt_w"/>
                                          </p:val>
                                        </p:tav>
                                      </p:tavLst>
                                    </p:anim>
                                    <p:anim calcmode="lin" valueType="num">
                                      <p:cBhvr>
                                        <p:cTn id="91" dur="500" fill="hold"/>
                                        <p:tgtEl>
                                          <p:spTgt spid="903200"/>
                                        </p:tgtEl>
                                        <p:attrNameLst>
                                          <p:attrName>ppt_h</p:attrName>
                                        </p:attrNameLst>
                                      </p:cBhvr>
                                      <p:tavLst>
                                        <p:tav tm="0">
                                          <p:val>
                                            <p:fltVal val="0"/>
                                          </p:val>
                                        </p:tav>
                                        <p:tav tm="100000">
                                          <p:val>
                                            <p:strVal val="#ppt_h"/>
                                          </p:val>
                                        </p:tav>
                                      </p:tavLst>
                                    </p:anim>
                                  </p:childTnLst>
                                </p:cTn>
                              </p:par>
                            </p:childTnLst>
                          </p:cTn>
                        </p:par>
                      </p:childTnLst>
                    </p:cTn>
                  </p:par>
                  <p:par>
                    <p:cTn id="92" fill="hold">
                      <p:stCondLst>
                        <p:cond delay="indefinite"/>
                      </p:stCondLst>
                      <p:childTnLst>
                        <p:par>
                          <p:cTn id="93" fill="hold">
                            <p:stCondLst>
                              <p:cond delay="0"/>
                            </p:stCondLst>
                            <p:childTnLst>
                              <p:par>
                                <p:cTn id="94" presetID="16" presetClass="entr" presetSubtype="42" fill="hold" grpId="0" nodeType="clickEffect">
                                  <p:stCondLst>
                                    <p:cond delay="0"/>
                                  </p:stCondLst>
                                  <p:childTnLst>
                                    <p:set>
                                      <p:cBhvr>
                                        <p:cTn id="95" dur="1" fill="hold">
                                          <p:stCondLst>
                                            <p:cond delay="0"/>
                                          </p:stCondLst>
                                        </p:cTn>
                                        <p:tgtEl>
                                          <p:spTgt spid="903188"/>
                                        </p:tgtEl>
                                        <p:attrNameLst>
                                          <p:attrName>style.visibility</p:attrName>
                                        </p:attrNameLst>
                                      </p:cBhvr>
                                      <p:to>
                                        <p:strVal val="visible"/>
                                      </p:to>
                                    </p:set>
                                    <p:animEffect transition="in" filter="barn(outHorizontal)">
                                      <p:cBhvr>
                                        <p:cTn id="96" dur="500"/>
                                        <p:tgtEl>
                                          <p:spTgt spid="903188"/>
                                        </p:tgtEl>
                                      </p:cBhvr>
                                    </p:animEffect>
                                  </p:childTnLst>
                                </p:cTn>
                              </p:par>
                            </p:childTnLst>
                          </p:cTn>
                        </p:par>
                        <p:par>
                          <p:cTn id="97" fill="hold">
                            <p:stCondLst>
                              <p:cond delay="500"/>
                            </p:stCondLst>
                            <p:childTnLst>
                              <p:par>
                                <p:cTn id="98" presetID="16" presetClass="entr" presetSubtype="42" fill="hold" grpId="0" nodeType="afterEffect">
                                  <p:stCondLst>
                                    <p:cond delay="0"/>
                                  </p:stCondLst>
                                  <p:childTnLst>
                                    <p:set>
                                      <p:cBhvr>
                                        <p:cTn id="99" dur="1" fill="hold">
                                          <p:stCondLst>
                                            <p:cond delay="0"/>
                                          </p:stCondLst>
                                        </p:cTn>
                                        <p:tgtEl>
                                          <p:spTgt spid="903189"/>
                                        </p:tgtEl>
                                        <p:attrNameLst>
                                          <p:attrName>style.visibility</p:attrName>
                                        </p:attrNameLst>
                                      </p:cBhvr>
                                      <p:to>
                                        <p:strVal val="visible"/>
                                      </p:to>
                                    </p:set>
                                    <p:animEffect transition="in" filter="barn(outHorizontal)">
                                      <p:cBhvr>
                                        <p:cTn id="100" dur="500"/>
                                        <p:tgtEl>
                                          <p:spTgt spid="903189"/>
                                        </p:tgtEl>
                                      </p:cBhvr>
                                    </p:animEffect>
                                  </p:childTnLst>
                                </p:cTn>
                              </p:par>
                            </p:childTnLst>
                          </p:cTn>
                        </p:par>
                      </p:childTnLst>
                    </p:cTn>
                  </p:par>
                  <p:par>
                    <p:cTn id="101" fill="hold">
                      <p:stCondLst>
                        <p:cond delay="indefinite"/>
                      </p:stCondLst>
                      <p:childTnLst>
                        <p:par>
                          <p:cTn id="102" fill="hold">
                            <p:stCondLst>
                              <p:cond delay="0"/>
                            </p:stCondLst>
                            <p:childTnLst>
                              <p:par>
                                <p:cTn id="103" presetID="16" presetClass="entr" presetSubtype="42" fill="hold" grpId="0" nodeType="clickEffect">
                                  <p:stCondLst>
                                    <p:cond delay="0"/>
                                  </p:stCondLst>
                                  <p:childTnLst>
                                    <p:set>
                                      <p:cBhvr>
                                        <p:cTn id="104" dur="1" fill="hold">
                                          <p:stCondLst>
                                            <p:cond delay="0"/>
                                          </p:stCondLst>
                                        </p:cTn>
                                        <p:tgtEl>
                                          <p:spTgt spid="903190"/>
                                        </p:tgtEl>
                                        <p:attrNameLst>
                                          <p:attrName>style.visibility</p:attrName>
                                        </p:attrNameLst>
                                      </p:cBhvr>
                                      <p:to>
                                        <p:strVal val="visible"/>
                                      </p:to>
                                    </p:set>
                                    <p:animEffect transition="in" filter="barn(outHorizontal)">
                                      <p:cBhvr>
                                        <p:cTn id="105" dur="500"/>
                                        <p:tgtEl>
                                          <p:spTgt spid="903190"/>
                                        </p:tgtEl>
                                      </p:cBhvr>
                                    </p:animEffect>
                                  </p:childTnLst>
                                </p:cTn>
                              </p:par>
                            </p:childTnLst>
                          </p:cTn>
                        </p:par>
                        <p:par>
                          <p:cTn id="106" fill="hold">
                            <p:stCondLst>
                              <p:cond delay="500"/>
                            </p:stCondLst>
                            <p:childTnLst>
                              <p:par>
                                <p:cTn id="107" presetID="16" presetClass="entr" presetSubtype="42" fill="hold" grpId="0" nodeType="afterEffect">
                                  <p:stCondLst>
                                    <p:cond delay="0"/>
                                  </p:stCondLst>
                                  <p:childTnLst>
                                    <p:set>
                                      <p:cBhvr>
                                        <p:cTn id="108" dur="1" fill="hold">
                                          <p:stCondLst>
                                            <p:cond delay="0"/>
                                          </p:stCondLst>
                                        </p:cTn>
                                        <p:tgtEl>
                                          <p:spTgt spid="903191"/>
                                        </p:tgtEl>
                                        <p:attrNameLst>
                                          <p:attrName>style.visibility</p:attrName>
                                        </p:attrNameLst>
                                      </p:cBhvr>
                                      <p:to>
                                        <p:strVal val="visible"/>
                                      </p:to>
                                    </p:set>
                                    <p:animEffect transition="in" filter="barn(outHorizontal)">
                                      <p:cBhvr>
                                        <p:cTn id="109" dur="500"/>
                                        <p:tgtEl>
                                          <p:spTgt spid="903191"/>
                                        </p:tgtEl>
                                      </p:cBhvr>
                                    </p:animEffect>
                                  </p:childTnLst>
                                </p:cTn>
                              </p:par>
                            </p:childTnLst>
                          </p:cTn>
                        </p:par>
                      </p:childTnLst>
                    </p:cTn>
                  </p:par>
                  <p:par>
                    <p:cTn id="110" fill="hold">
                      <p:stCondLst>
                        <p:cond delay="indefinite"/>
                      </p:stCondLst>
                      <p:childTnLst>
                        <p:par>
                          <p:cTn id="111" fill="hold">
                            <p:stCondLst>
                              <p:cond delay="0"/>
                            </p:stCondLst>
                            <p:childTnLst>
                              <p:par>
                                <p:cTn id="112" presetID="16" presetClass="entr" presetSubtype="42" fill="hold" grpId="0" nodeType="clickEffect">
                                  <p:stCondLst>
                                    <p:cond delay="0"/>
                                  </p:stCondLst>
                                  <p:childTnLst>
                                    <p:set>
                                      <p:cBhvr>
                                        <p:cTn id="113" dur="1" fill="hold">
                                          <p:stCondLst>
                                            <p:cond delay="0"/>
                                          </p:stCondLst>
                                        </p:cTn>
                                        <p:tgtEl>
                                          <p:spTgt spid="903197"/>
                                        </p:tgtEl>
                                        <p:attrNameLst>
                                          <p:attrName>style.visibility</p:attrName>
                                        </p:attrNameLst>
                                      </p:cBhvr>
                                      <p:to>
                                        <p:strVal val="visible"/>
                                      </p:to>
                                    </p:set>
                                    <p:animEffect transition="in" filter="barn(outHorizontal)">
                                      <p:cBhvr>
                                        <p:cTn id="114" dur="500"/>
                                        <p:tgtEl>
                                          <p:spTgt spid="903197"/>
                                        </p:tgtEl>
                                      </p:cBhvr>
                                    </p:animEffect>
                                  </p:childTnLst>
                                </p:cTn>
                              </p:par>
                            </p:childTnLst>
                          </p:cTn>
                        </p:par>
                        <p:par>
                          <p:cTn id="115" fill="hold">
                            <p:stCondLst>
                              <p:cond delay="500"/>
                            </p:stCondLst>
                            <p:childTnLst>
                              <p:par>
                                <p:cTn id="116" presetID="16" presetClass="entr" presetSubtype="42" fill="hold" grpId="0" nodeType="afterEffect">
                                  <p:stCondLst>
                                    <p:cond delay="0"/>
                                  </p:stCondLst>
                                  <p:childTnLst>
                                    <p:set>
                                      <p:cBhvr>
                                        <p:cTn id="117" dur="1" fill="hold">
                                          <p:stCondLst>
                                            <p:cond delay="0"/>
                                          </p:stCondLst>
                                        </p:cTn>
                                        <p:tgtEl>
                                          <p:spTgt spid="903196"/>
                                        </p:tgtEl>
                                        <p:attrNameLst>
                                          <p:attrName>style.visibility</p:attrName>
                                        </p:attrNameLst>
                                      </p:cBhvr>
                                      <p:to>
                                        <p:strVal val="visible"/>
                                      </p:to>
                                    </p:set>
                                    <p:animEffect transition="in" filter="barn(outHorizontal)">
                                      <p:cBhvr>
                                        <p:cTn id="118" dur="500"/>
                                        <p:tgtEl>
                                          <p:spTgt spid="903196"/>
                                        </p:tgtEl>
                                      </p:cBhvr>
                                    </p:animEffect>
                                  </p:childTnLst>
                                </p:cTn>
                              </p:par>
                            </p:childTnLst>
                          </p:cTn>
                        </p:par>
                      </p:childTnLst>
                    </p:cTn>
                  </p:par>
                  <p:par>
                    <p:cTn id="119" fill="hold">
                      <p:stCondLst>
                        <p:cond delay="indefinite"/>
                      </p:stCondLst>
                      <p:childTnLst>
                        <p:par>
                          <p:cTn id="120" fill="hold">
                            <p:stCondLst>
                              <p:cond delay="0"/>
                            </p:stCondLst>
                            <p:childTnLst>
                              <p:par>
                                <p:cTn id="121" presetID="16" presetClass="entr" presetSubtype="42" fill="hold" grpId="0" nodeType="clickEffect">
                                  <p:stCondLst>
                                    <p:cond delay="0"/>
                                  </p:stCondLst>
                                  <p:childTnLst>
                                    <p:set>
                                      <p:cBhvr>
                                        <p:cTn id="122" dur="1" fill="hold">
                                          <p:stCondLst>
                                            <p:cond delay="0"/>
                                          </p:stCondLst>
                                        </p:cTn>
                                        <p:tgtEl>
                                          <p:spTgt spid="903192"/>
                                        </p:tgtEl>
                                        <p:attrNameLst>
                                          <p:attrName>style.visibility</p:attrName>
                                        </p:attrNameLst>
                                      </p:cBhvr>
                                      <p:to>
                                        <p:strVal val="visible"/>
                                      </p:to>
                                    </p:set>
                                    <p:animEffect transition="in" filter="barn(outHorizontal)">
                                      <p:cBhvr>
                                        <p:cTn id="123" dur="500"/>
                                        <p:tgtEl>
                                          <p:spTgt spid="903192"/>
                                        </p:tgtEl>
                                      </p:cBhvr>
                                    </p:animEffect>
                                  </p:childTnLst>
                                </p:cTn>
                              </p:par>
                            </p:childTnLst>
                          </p:cTn>
                        </p:par>
                        <p:par>
                          <p:cTn id="124" fill="hold">
                            <p:stCondLst>
                              <p:cond delay="500"/>
                            </p:stCondLst>
                            <p:childTnLst>
                              <p:par>
                                <p:cTn id="125" presetID="16" presetClass="entr" presetSubtype="42" fill="hold" grpId="0" nodeType="afterEffect">
                                  <p:stCondLst>
                                    <p:cond delay="0"/>
                                  </p:stCondLst>
                                  <p:childTnLst>
                                    <p:set>
                                      <p:cBhvr>
                                        <p:cTn id="126" dur="1" fill="hold">
                                          <p:stCondLst>
                                            <p:cond delay="0"/>
                                          </p:stCondLst>
                                        </p:cTn>
                                        <p:tgtEl>
                                          <p:spTgt spid="903193"/>
                                        </p:tgtEl>
                                        <p:attrNameLst>
                                          <p:attrName>style.visibility</p:attrName>
                                        </p:attrNameLst>
                                      </p:cBhvr>
                                      <p:to>
                                        <p:strVal val="visible"/>
                                      </p:to>
                                    </p:set>
                                    <p:animEffect transition="in" filter="barn(outHorizontal)">
                                      <p:cBhvr>
                                        <p:cTn id="127" dur="500"/>
                                        <p:tgtEl>
                                          <p:spTgt spid="903193"/>
                                        </p:tgtEl>
                                      </p:cBhvr>
                                    </p:animEffect>
                                  </p:childTnLst>
                                </p:cTn>
                              </p:par>
                            </p:childTnLst>
                          </p:cTn>
                        </p:par>
                      </p:childTnLst>
                    </p:cTn>
                  </p:par>
                  <p:par>
                    <p:cTn id="128" fill="hold">
                      <p:stCondLst>
                        <p:cond delay="indefinite"/>
                      </p:stCondLst>
                      <p:childTnLst>
                        <p:par>
                          <p:cTn id="129" fill="hold">
                            <p:stCondLst>
                              <p:cond delay="0"/>
                            </p:stCondLst>
                            <p:childTnLst>
                              <p:par>
                                <p:cTn id="130" presetID="16" presetClass="entr" presetSubtype="42" fill="hold" grpId="0" nodeType="clickEffect">
                                  <p:stCondLst>
                                    <p:cond delay="0"/>
                                  </p:stCondLst>
                                  <p:childTnLst>
                                    <p:set>
                                      <p:cBhvr>
                                        <p:cTn id="131" dur="1" fill="hold">
                                          <p:stCondLst>
                                            <p:cond delay="0"/>
                                          </p:stCondLst>
                                        </p:cTn>
                                        <p:tgtEl>
                                          <p:spTgt spid="903194"/>
                                        </p:tgtEl>
                                        <p:attrNameLst>
                                          <p:attrName>style.visibility</p:attrName>
                                        </p:attrNameLst>
                                      </p:cBhvr>
                                      <p:to>
                                        <p:strVal val="visible"/>
                                      </p:to>
                                    </p:set>
                                    <p:animEffect transition="in" filter="barn(outHorizontal)">
                                      <p:cBhvr>
                                        <p:cTn id="132" dur="500"/>
                                        <p:tgtEl>
                                          <p:spTgt spid="903194"/>
                                        </p:tgtEl>
                                      </p:cBhvr>
                                    </p:animEffect>
                                  </p:childTnLst>
                                </p:cTn>
                              </p:par>
                            </p:childTnLst>
                          </p:cTn>
                        </p:par>
                        <p:par>
                          <p:cTn id="133" fill="hold">
                            <p:stCondLst>
                              <p:cond delay="500"/>
                            </p:stCondLst>
                            <p:childTnLst>
                              <p:par>
                                <p:cTn id="134" presetID="16" presetClass="entr" presetSubtype="42" fill="hold" grpId="0" nodeType="afterEffect">
                                  <p:stCondLst>
                                    <p:cond delay="0"/>
                                  </p:stCondLst>
                                  <p:childTnLst>
                                    <p:set>
                                      <p:cBhvr>
                                        <p:cTn id="135" dur="1" fill="hold">
                                          <p:stCondLst>
                                            <p:cond delay="0"/>
                                          </p:stCondLst>
                                        </p:cTn>
                                        <p:tgtEl>
                                          <p:spTgt spid="903195"/>
                                        </p:tgtEl>
                                        <p:attrNameLst>
                                          <p:attrName>style.visibility</p:attrName>
                                        </p:attrNameLst>
                                      </p:cBhvr>
                                      <p:to>
                                        <p:strVal val="visible"/>
                                      </p:to>
                                    </p:set>
                                    <p:animEffect transition="in" filter="barn(outHorizontal)">
                                      <p:cBhvr>
                                        <p:cTn id="136" dur="500"/>
                                        <p:tgtEl>
                                          <p:spTgt spid="903195"/>
                                        </p:tgtEl>
                                      </p:cBhvr>
                                    </p:animEffect>
                                  </p:childTnLst>
                                </p:cTn>
                              </p:par>
                            </p:childTnLst>
                          </p:cTn>
                        </p:par>
                      </p:childTnLst>
                    </p:cTn>
                  </p:par>
                  <p:par>
                    <p:cTn id="137" fill="hold">
                      <p:stCondLst>
                        <p:cond delay="indefinite"/>
                      </p:stCondLst>
                      <p:childTnLst>
                        <p:par>
                          <p:cTn id="138" fill="hold">
                            <p:stCondLst>
                              <p:cond delay="0"/>
                            </p:stCondLst>
                            <p:childTnLst>
                              <p:par>
                                <p:cTn id="139" presetID="16" presetClass="entr" presetSubtype="42" fill="hold" grpId="0" nodeType="clickEffect">
                                  <p:stCondLst>
                                    <p:cond delay="0"/>
                                  </p:stCondLst>
                                  <p:childTnLst>
                                    <p:set>
                                      <p:cBhvr>
                                        <p:cTn id="140" dur="1" fill="hold">
                                          <p:stCondLst>
                                            <p:cond delay="0"/>
                                          </p:stCondLst>
                                        </p:cTn>
                                        <p:tgtEl>
                                          <p:spTgt spid="903198"/>
                                        </p:tgtEl>
                                        <p:attrNameLst>
                                          <p:attrName>style.visibility</p:attrName>
                                        </p:attrNameLst>
                                      </p:cBhvr>
                                      <p:to>
                                        <p:strVal val="visible"/>
                                      </p:to>
                                    </p:set>
                                    <p:animEffect transition="in" filter="barn(outHorizontal)">
                                      <p:cBhvr>
                                        <p:cTn id="141" dur="500"/>
                                        <p:tgtEl>
                                          <p:spTgt spid="903198"/>
                                        </p:tgtEl>
                                      </p:cBhvr>
                                    </p:animEffect>
                                  </p:childTnLst>
                                </p:cTn>
                              </p:par>
                            </p:childTnLst>
                          </p:cTn>
                        </p:par>
                      </p:childTnLst>
                    </p:cTn>
                  </p:par>
                  <p:par>
                    <p:cTn id="142" fill="hold">
                      <p:stCondLst>
                        <p:cond delay="indefinite"/>
                      </p:stCondLst>
                      <p:childTnLst>
                        <p:par>
                          <p:cTn id="143" fill="hold">
                            <p:stCondLst>
                              <p:cond delay="0"/>
                            </p:stCondLst>
                            <p:childTnLst>
                              <p:par>
                                <p:cTn id="144" presetID="2" presetClass="entr" presetSubtype="2" fill="hold" nodeType="clickEffect">
                                  <p:stCondLst>
                                    <p:cond delay="0"/>
                                  </p:stCondLst>
                                  <p:childTnLst>
                                    <p:set>
                                      <p:cBhvr>
                                        <p:cTn id="145" dur="1" fill="hold">
                                          <p:stCondLst>
                                            <p:cond delay="0"/>
                                          </p:stCondLst>
                                        </p:cTn>
                                        <p:tgtEl>
                                          <p:spTgt spid="903202"/>
                                        </p:tgtEl>
                                        <p:attrNameLst>
                                          <p:attrName>style.visibility</p:attrName>
                                        </p:attrNameLst>
                                      </p:cBhvr>
                                      <p:to>
                                        <p:strVal val="visible"/>
                                      </p:to>
                                    </p:set>
                                    <p:anim calcmode="lin" valueType="num">
                                      <p:cBhvr additive="base">
                                        <p:cTn id="146" dur="500" fill="hold"/>
                                        <p:tgtEl>
                                          <p:spTgt spid="903202"/>
                                        </p:tgtEl>
                                        <p:attrNameLst>
                                          <p:attrName>ppt_x</p:attrName>
                                        </p:attrNameLst>
                                      </p:cBhvr>
                                      <p:tavLst>
                                        <p:tav tm="0">
                                          <p:val>
                                            <p:strVal val="1+#ppt_w/2"/>
                                          </p:val>
                                        </p:tav>
                                        <p:tav tm="100000">
                                          <p:val>
                                            <p:strVal val="#ppt_x"/>
                                          </p:val>
                                        </p:tav>
                                      </p:tavLst>
                                    </p:anim>
                                    <p:anim calcmode="lin" valueType="num">
                                      <p:cBhvr additive="base">
                                        <p:cTn id="147" dur="500" fill="hold"/>
                                        <p:tgtEl>
                                          <p:spTgt spid="903202"/>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44"/>
                                            </p:cond>
                                          </p:stCondLst>
                                          <p:endCondLst>
                                            <p:cond evt="onStopAudio" delay="0">
                                              <p:tgtEl>
                                                <p:sldTgt/>
                                              </p:tgtEl>
                                            </p:cond>
                                          </p:endCondLst>
                                        </p:cTn>
                                        <p:tgtEl>
                                          <p:sndTgt r:embed="rId3" name="whoosh.wav"/>
                                        </p:tgtEl>
                                      </p:cMediaNode>
                                    </p:audio>
                                  </p:subTnLst>
                                </p:cTn>
                              </p:par>
                            </p:childTnLst>
                          </p:cTn>
                        </p:par>
                      </p:childTnLst>
                    </p:cTn>
                  </p:par>
                  <p:par>
                    <p:cTn id="148" fill="hold">
                      <p:stCondLst>
                        <p:cond delay="indefinite"/>
                      </p:stCondLst>
                      <p:childTnLst>
                        <p:par>
                          <p:cTn id="149" fill="hold">
                            <p:stCondLst>
                              <p:cond delay="0"/>
                            </p:stCondLst>
                            <p:childTnLst>
                              <p:par>
                                <p:cTn id="150" presetID="2" presetClass="entr" presetSubtype="2" fill="hold" nodeType="clickEffect">
                                  <p:stCondLst>
                                    <p:cond delay="0"/>
                                  </p:stCondLst>
                                  <p:childTnLst>
                                    <p:set>
                                      <p:cBhvr>
                                        <p:cTn id="151" dur="1" fill="hold">
                                          <p:stCondLst>
                                            <p:cond delay="0"/>
                                          </p:stCondLst>
                                        </p:cTn>
                                        <p:tgtEl>
                                          <p:spTgt spid="903206"/>
                                        </p:tgtEl>
                                        <p:attrNameLst>
                                          <p:attrName>style.visibility</p:attrName>
                                        </p:attrNameLst>
                                      </p:cBhvr>
                                      <p:to>
                                        <p:strVal val="visible"/>
                                      </p:to>
                                    </p:set>
                                    <p:anim calcmode="lin" valueType="num">
                                      <p:cBhvr additive="base">
                                        <p:cTn id="152" dur="500" fill="hold"/>
                                        <p:tgtEl>
                                          <p:spTgt spid="903206"/>
                                        </p:tgtEl>
                                        <p:attrNameLst>
                                          <p:attrName>ppt_x</p:attrName>
                                        </p:attrNameLst>
                                      </p:cBhvr>
                                      <p:tavLst>
                                        <p:tav tm="0">
                                          <p:val>
                                            <p:strVal val="1+#ppt_w/2"/>
                                          </p:val>
                                        </p:tav>
                                        <p:tav tm="100000">
                                          <p:val>
                                            <p:strVal val="#ppt_x"/>
                                          </p:val>
                                        </p:tav>
                                      </p:tavLst>
                                    </p:anim>
                                    <p:anim calcmode="lin" valueType="num">
                                      <p:cBhvr additive="base">
                                        <p:cTn id="153" dur="500" fill="hold"/>
                                        <p:tgtEl>
                                          <p:spTgt spid="903206"/>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50"/>
                                            </p:cond>
                                          </p:stCondLst>
                                          <p:endCondLst>
                                            <p:cond evt="onStopAudio" delay="0">
                                              <p:tgtEl>
                                                <p:sldTgt/>
                                              </p:tgtEl>
                                            </p:cond>
                                          </p:endCondLst>
                                        </p:cTn>
                                        <p:tgtEl>
                                          <p:sndTgt r:embed="rId3"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3177" grpId="0" animBg="1"/>
      <p:bldP spid="903178" grpId="0" animBg="1"/>
      <p:bldP spid="903179" grpId="0" animBg="1"/>
      <p:bldP spid="903180" grpId="0" animBg="1"/>
      <p:bldP spid="903181" grpId="0" animBg="1"/>
      <p:bldP spid="903182" grpId="0" animBg="1"/>
      <p:bldP spid="903183" grpId="0" animBg="1"/>
      <p:bldP spid="903184" grpId="0" animBg="1"/>
      <p:bldP spid="903185" grpId="0" animBg="1"/>
      <p:bldP spid="903186" grpId="0" animBg="1"/>
      <p:bldP spid="903187" grpId="0" animBg="1"/>
      <p:bldP spid="903188" grpId="0" animBg="1"/>
      <p:bldP spid="903189" grpId="0" animBg="1"/>
      <p:bldP spid="903190" grpId="0" animBg="1"/>
      <p:bldP spid="903191" grpId="0" animBg="1"/>
      <p:bldP spid="903192" grpId="0" animBg="1"/>
      <p:bldP spid="903193" grpId="0" animBg="1"/>
      <p:bldP spid="903194" grpId="0" animBg="1"/>
      <p:bldP spid="903195" grpId="0" animBg="1"/>
      <p:bldP spid="903196" grpId="0" animBg="1"/>
      <p:bldP spid="903197" grpId="0" animBg="1"/>
      <p:bldP spid="903198" grpId="0" animBg="1"/>
      <p:bldP spid="903199" grpId="0" animBg="1"/>
      <p:bldP spid="903200"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01125" name="Object 5"/>
          <p:cNvGraphicFramePr/>
          <p:nvPr/>
        </p:nvGraphicFramePr>
        <p:xfrm>
          <a:off x="250825" y="1649413"/>
          <a:ext cx="4037013" cy="2282825"/>
        </p:xfrm>
        <a:graphic>
          <a:graphicData uri="http://schemas.openxmlformats.org/presentationml/2006/ole">
            <mc:AlternateContent xmlns:mc="http://schemas.openxmlformats.org/markup-compatibility/2006">
              <mc:Choice xmlns:v="urn:schemas-microsoft-com:vml" Requires="v">
                <p:oleObj spid="_x0000_s7219" r:id="rId3" imgW="5436235" imgH="2557145" progId="Visio.Drawing.5">
                  <p:embed/>
                </p:oleObj>
              </mc:Choice>
              <mc:Fallback>
                <p:oleObj r:id="rId3" imgW="5436235" imgH="2557145" progId="Visio.Drawing.5">
                  <p:embed/>
                  <p:pic>
                    <p:nvPicPr>
                      <p:cNvPr id="0" name="图片 3083"/>
                      <p:cNvPicPr/>
                      <p:nvPr/>
                    </p:nvPicPr>
                    <p:blipFill>
                      <a:blip r:embed="rId4"/>
                      <a:stretch>
                        <a:fillRect/>
                      </a:stretch>
                    </p:blipFill>
                    <p:spPr>
                      <a:xfrm>
                        <a:off x="250825" y="1649413"/>
                        <a:ext cx="4037013" cy="2282825"/>
                      </a:xfrm>
                      <a:prstGeom prst="rect">
                        <a:avLst/>
                      </a:prstGeom>
                      <a:solidFill>
                        <a:srgbClr val="E2D9EB"/>
                      </a:solidFill>
                      <a:ln w="38100">
                        <a:noFill/>
                        <a:miter/>
                      </a:ln>
                    </p:spPr>
                  </p:pic>
                </p:oleObj>
              </mc:Fallback>
            </mc:AlternateContent>
          </a:graphicData>
        </a:graphic>
      </p:graphicFrame>
      <p:sp>
        <p:nvSpPr>
          <p:cNvPr id="901126" name="Text Box 6"/>
          <p:cNvSpPr txBox="1">
            <a:spLocks noChangeArrowheads="1"/>
          </p:cNvSpPr>
          <p:nvPr/>
        </p:nvSpPr>
        <p:spPr bwMode="auto">
          <a:xfrm>
            <a:off x="250825" y="4167188"/>
            <a:ext cx="4037013" cy="2392363"/>
          </a:xfrm>
          <a:prstGeom prst="roundRect">
            <a:avLst>
              <a:gd name="adj" fmla="val 6148"/>
            </a:avLst>
          </a:prstGeom>
          <a:solidFill>
            <a:srgbClr val="E2D9EB"/>
          </a:solidFill>
          <a:ln w="9525">
            <a:noFill/>
            <a:miter lim="800000"/>
          </a:ln>
          <a:effectLst/>
        </p:spPr>
        <p:txBody>
          <a:bodyPr>
            <a:spAutoFit/>
          </a:bodyPr>
          <a:lstStyle/>
          <a:p>
            <a:pPr marR="0" defTabSz="914400" eaLnBrk="1" hangingPunct="1">
              <a:lnSpc>
                <a:spcPct val="125000"/>
              </a:lnSpc>
              <a:buClrTx/>
              <a:buSzTx/>
              <a:buFontTx/>
              <a:buNone/>
              <a:defRPr/>
            </a:pPr>
            <a:r>
              <a:rPr kumimoji="1" lang="zh-CN" altLang="en-US" sz="2400" b="0" kern="1200" cap="none" spc="0" normalizeH="0" baseline="0" noProof="0" dirty="0">
                <a:solidFill>
                  <a:srgbClr val="FF3300"/>
                </a:solidFill>
                <a:latin typeface="+mn-lt"/>
                <a:ea typeface="+mn-ea"/>
                <a:cs typeface="+mn-ea"/>
                <a:sym typeface="+mn-lt"/>
              </a:rPr>
              <a:t>满二叉树：</a:t>
            </a:r>
            <a:r>
              <a:rPr kumimoji="1" lang="zh-CN" altLang="en-US" sz="2400" b="0" kern="1200" cap="none" spc="0" normalizeH="0" baseline="0" noProof="0" dirty="0">
                <a:latin typeface="+mn-lt"/>
                <a:ea typeface="+mn-ea"/>
                <a:cs typeface="+mn-ea"/>
                <a:sym typeface="+mn-lt"/>
              </a:rPr>
              <a:t>一棵深度为</a:t>
            </a:r>
            <a:r>
              <a:rPr kumimoji="1" lang="en-US" altLang="zh-TW" sz="2400" b="0" i="1" kern="1200" cap="none" spc="0" normalizeH="0" baseline="0" noProof="0" dirty="0">
                <a:latin typeface="+mn-lt"/>
                <a:ea typeface="+mn-ea"/>
                <a:cs typeface="+mn-ea"/>
                <a:sym typeface="+mn-lt"/>
              </a:rPr>
              <a:t>k </a:t>
            </a:r>
            <a:r>
              <a:rPr kumimoji="1" lang="zh-CN" altLang="en-US" sz="2400" b="0" kern="1200" cap="none" spc="0" normalizeH="0" baseline="0" noProof="0" dirty="0">
                <a:latin typeface="+mn-lt"/>
                <a:ea typeface="+mn-ea"/>
                <a:cs typeface="+mn-ea"/>
                <a:sym typeface="+mn-lt"/>
              </a:rPr>
              <a:t>且有</a:t>
            </a:r>
            <a:r>
              <a:rPr kumimoji="1" lang="zh-TW" altLang="en-US" sz="2400" b="0" kern="1200" cap="none" spc="0" normalizeH="0" baseline="0" noProof="0" dirty="0">
                <a:latin typeface="+mn-lt"/>
                <a:ea typeface="+mn-ea"/>
                <a:cs typeface="+mn-ea"/>
                <a:sym typeface="+mn-lt"/>
              </a:rPr>
              <a:t>2</a:t>
            </a:r>
            <a:r>
              <a:rPr kumimoji="1" lang="en-US" altLang="zh-CN" sz="2400" b="0" i="1" kern="1200" cap="none" spc="0" normalizeH="0" baseline="30000" noProof="0" dirty="0">
                <a:latin typeface="+mn-lt"/>
                <a:ea typeface="+mn-ea"/>
                <a:cs typeface="+mn-ea"/>
                <a:sym typeface="+mn-lt"/>
              </a:rPr>
              <a:t>k</a:t>
            </a:r>
            <a:r>
              <a:rPr kumimoji="1" lang="en-US" altLang="zh-TW" sz="2400" b="0" kern="1200" cap="none" spc="0" normalizeH="0" baseline="0" noProof="0" dirty="0">
                <a:latin typeface="+mn-lt"/>
                <a:ea typeface="+mn-ea"/>
                <a:cs typeface="+mn-ea"/>
                <a:sym typeface="+mn-lt"/>
              </a:rPr>
              <a:t> -1</a:t>
            </a:r>
            <a:r>
              <a:rPr kumimoji="1" lang="zh-CN" altLang="en-US" sz="2400" b="0" kern="1200" cap="none" spc="0" normalizeH="0" baseline="0" noProof="0" dirty="0">
                <a:latin typeface="+mn-lt"/>
                <a:ea typeface="+mn-ea"/>
                <a:cs typeface="+mn-ea"/>
                <a:sym typeface="+mn-lt"/>
              </a:rPr>
              <a:t>个结点的二叉树。</a:t>
            </a:r>
            <a:r>
              <a:rPr kumimoji="1" lang="zh-CN" altLang="en-US" sz="2400" b="0" kern="1200" cap="none" spc="0" normalizeH="0" baseline="0" noProof="0" dirty="0">
                <a:solidFill>
                  <a:schemeClr val="accent2"/>
                </a:solidFill>
                <a:latin typeface="+mn-lt"/>
                <a:ea typeface="+mn-ea"/>
                <a:cs typeface="+mn-ea"/>
                <a:sym typeface="+mn-lt"/>
              </a:rPr>
              <a:t>（特点：每层都“充满”了结点）</a:t>
            </a:r>
            <a:endParaRPr kumimoji="1" lang="en-US" altLang="zh-CN" sz="2400" b="0" kern="1200" cap="none" spc="0" normalizeH="0" baseline="0" noProof="0" dirty="0">
              <a:latin typeface="+mn-lt"/>
              <a:ea typeface="+mn-ea"/>
              <a:cs typeface="+mn-ea"/>
              <a:sym typeface="+mn-lt"/>
            </a:endParaRPr>
          </a:p>
          <a:p>
            <a:pPr marR="0" defTabSz="914400" eaLnBrk="1" hangingPunct="1">
              <a:lnSpc>
                <a:spcPct val="125000"/>
              </a:lnSpc>
              <a:buClrTx/>
              <a:buSzTx/>
              <a:buFontTx/>
              <a:buNone/>
              <a:defRPr/>
            </a:pPr>
            <a:endParaRPr kumimoji="1" lang="en-US" altLang="zh-CN" sz="1000" b="0" kern="1200" cap="none" spc="0" normalizeH="0" baseline="0" noProof="0" dirty="0">
              <a:solidFill>
                <a:schemeClr val="accent2"/>
              </a:solidFill>
              <a:latin typeface="+mn-lt"/>
              <a:ea typeface="+mn-ea"/>
              <a:cs typeface="+mn-ea"/>
              <a:sym typeface="+mn-lt"/>
            </a:endParaRPr>
          </a:p>
          <a:p>
            <a:pPr marR="0" defTabSz="914400" eaLnBrk="1" hangingPunct="1">
              <a:lnSpc>
                <a:spcPct val="125000"/>
              </a:lnSpc>
              <a:buClrTx/>
              <a:buSzTx/>
              <a:buFontTx/>
              <a:buNone/>
              <a:defRPr/>
            </a:pPr>
            <a:endParaRPr kumimoji="1" lang="zh-CN" altLang="en-US" sz="1000" b="0" kern="1200" cap="none" spc="0" normalizeH="0" baseline="0" noProof="0" dirty="0">
              <a:solidFill>
                <a:schemeClr val="accent2"/>
              </a:solidFill>
              <a:latin typeface="+mn-lt"/>
              <a:ea typeface="+mn-ea"/>
              <a:cs typeface="+mn-ea"/>
              <a:sym typeface="+mn-lt"/>
            </a:endParaRPr>
          </a:p>
        </p:txBody>
      </p:sp>
      <p:graphicFrame>
        <p:nvGraphicFramePr>
          <p:cNvPr id="901128" name="Object 8"/>
          <p:cNvGraphicFramePr/>
          <p:nvPr/>
        </p:nvGraphicFramePr>
        <p:xfrm>
          <a:off x="4724400" y="1649413"/>
          <a:ext cx="4138613" cy="2282825"/>
        </p:xfrm>
        <a:graphic>
          <a:graphicData uri="http://schemas.openxmlformats.org/presentationml/2006/ole">
            <mc:AlternateContent xmlns:mc="http://schemas.openxmlformats.org/markup-compatibility/2006">
              <mc:Choice xmlns:v="urn:schemas-microsoft-com:vml" Requires="v">
                <p:oleObj spid="_x0000_s7220" r:id="rId5" imgW="5076190" imgH="2557145" progId="Visio.Drawing.5">
                  <p:embed/>
                </p:oleObj>
              </mc:Choice>
              <mc:Fallback>
                <p:oleObj r:id="rId5" imgW="5076190" imgH="2557145" progId="Visio.Drawing.5">
                  <p:embed/>
                  <p:pic>
                    <p:nvPicPr>
                      <p:cNvPr id="0" name="图片 3082"/>
                      <p:cNvPicPr/>
                      <p:nvPr/>
                    </p:nvPicPr>
                    <p:blipFill>
                      <a:blip r:embed="rId6"/>
                      <a:stretch>
                        <a:fillRect/>
                      </a:stretch>
                    </p:blipFill>
                    <p:spPr>
                      <a:xfrm>
                        <a:off x="4724400" y="1649413"/>
                        <a:ext cx="4138613" cy="2282825"/>
                      </a:xfrm>
                      <a:prstGeom prst="rect">
                        <a:avLst/>
                      </a:prstGeom>
                      <a:solidFill>
                        <a:srgbClr val="EBEBEB"/>
                      </a:solidFill>
                      <a:ln w="38100">
                        <a:noFill/>
                        <a:miter/>
                      </a:ln>
                    </p:spPr>
                  </p:pic>
                </p:oleObj>
              </mc:Fallback>
            </mc:AlternateContent>
          </a:graphicData>
        </a:graphic>
      </p:graphicFrame>
      <p:sp>
        <p:nvSpPr>
          <p:cNvPr id="35846" name="Rectangle 10"/>
          <p:cNvSpPr>
            <a:spLocks noChangeArrowheads="1"/>
          </p:cNvSpPr>
          <p:nvPr/>
        </p:nvSpPr>
        <p:spPr bwMode="auto">
          <a:xfrm>
            <a:off x="758825" y="198438"/>
            <a:ext cx="3811588"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特殊形态的二叉树</a:t>
            </a:r>
          </a:p>
        </p:txBody>
      </p:sp>
      <p:sp>
        <p:nvSpPr>
          <p:cNvPr id="901132" name="Rectangle 12"/>
          <p:cNvSpPr>
            <a:spLocks noChangeArrowheads="1"/>
          </p:cNvSpPr>
          <p:nvPr/>
        </p:nvSpPr>
        <p:spPr bwMode="auto">
          <a:xfrm>
            <a:off x="4724400" y="4167188"/>
            <a:ext cx="4138613" cy="2357438"/>
          </a:xfrm>
          <a:prstGeom prst="roundRect">
            <a:avLst>
              <a:gd name="adj" fmla="val 3199"/>
            </a:avLst>
          </a:prstGeom>
          <a:solidFill>
            <a:srgbClr val="EBEBEB"/>
          </a:solidFill>
          <a:ln>
            <a:noFill/>
          </a:ln>
        </p:spPr>
        <p:txBody>
          <a:bodyPr lIns="92075" tIns="46038" rIns="92075" bIns="46038"/>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完全二叉树：</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深度为</a:t>
            </a:r>
            <a:r>
              <a:rPr kumimoji="0" lang="en-US" altLang="zh-CN" sz="2400" b="0" i="1" u="none" strike="noStrike" kern="1200" cap="none" spc="0" normalizeH="0" baseline="0" noProof="0" dirty="0">
                <a:ln>
                  <a:noFill/>
                </a:ln>
                <a:solidFill>
                  <a:schemeClr val="tx1"/>
                </a:solidFill>
                <a:effectLst/>
                <a:uLnTx/>
                <a:uFillTx/>
                <a:latin typeface="+mn-lt"/>
                <a:ea typeface="+mn-ea"/>
                <a:cs typeface="+mn-ea"/>
                <a:sym typeface="+mn-lt"/>
              </a:rPr>
              <a:t>k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a:t>
            </a:r>
            <a:r>
              <a:rPr kumimoji="0" lang="zh-CN" altLang="en-US" sz="2400" b="0" i="1"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有</a:t>
            </a:r>
            <a:r>
              <a:rPr kumimoji="0" lang="en-US" altLang="zh-CN" sz="2400" b="0" i="1"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个结点的二叉树，当且仅当其每一个结点都与深度为</a:t>
            </a:r>
            <a:r>
              <a:rPr kumimoji="0" lang="en-US" altLang="zh-CN" sz="2400" b="0" i="1" u="none" strike="noStrike" kern="1200" cap="none" spc="0" normalizeH="0" baseline="0" noProof="0" dirty="0">
                <a:ln>
                  <a:noFill/>
                </a:ln>
                <a:solidFill>
                  <a:schemeClr val="tx1"/>
                </a:solidFill>
                <a:effectLst/>
                <a:uLnTx/>
                <a:uFillTx/>
                <a:latin typeface="+mn-lt"/>
                <a:ea typeface="+mn-ea"/>
                <a:cs typeface="+mn-ea"/>
                <a:sym typeface="+mn-lt"/>
              </a:rPr>
              <a:t>k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的满二叉树中编号从</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至</a:t>
            </a:r>
            <a:r>
              <a:rPr kumimoji="0" lang="en-US" altLang="zh-CN" sz="2400" b="0" i="1"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的结点</a:t>
            </a: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一一对应</a:t>
            </a:r>
          </a:p>
        </p:txBody>
      </p:sp>
      <p:sp>
        <p:nvSpPr>
          <p:cNvPr id="901134" name="AutoShape 14"/>
          <p:cNvSpPr>
            <a:spLocks noChangeArrowheads="1"/>
          </p:cNvSpPr>
          <p:nvPr/>
        </p:nvSpPr>
        <p:spPr bwMode="auto">
          <a:xfrm>
            <a:off x="3484563" y="981075"/>
            <a:ext cx="5378450" cy="482600"/>
          </a:xfrm>
          <a:prstGeom prst="wedgeRoundRectCallout">
            <a:avLst>
              <a:gd name="adj1" fmla="val -8571"/>
              <a:gd name="adj2" fmla="val 101545"/>
              <a:gd name="adj3" fmla="val 16667"/>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只有最后一层叶子不满，且全部集中在左边</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901125"/>
                                        </p:tgtEl>
                                        <p:attrNameLst>
                                          <p:attrName>style.visibility</p:attrName>
                                        </p:attrNameLst>
                                      </p:cBhvr>
                                      <p:to>
                                        <p:strVal val="visible"/>
                                      </p:to>
                                    </p:set>
                                    <p:anim calcmode="lin" valueType="num">
                                      <p:cBhvr additive="base">
                                        <p:cTn id="7" dur="500" fill="hold"/>
                                        <p:tgtEl>
                                          <p:spTgt spid="901125"/>
                                        </p:tgtEl>
                                        <p:attrNameLst>
                                          <p:attrName>ppt_x</p:attrName>
                                        </p:attrNameLst>
                                      </p:cBhvr>
                                      <p:tavLst>
                                        <p:tav tm="0">
                                          <p:val>
                                            <p:strVal val="#ppt_x"/>
                                          </p:val>
                                        </p:tav>
                                        <p:tav tm="100000">
                                          <p:val>
                                            <p:strVal val="#ppt_x"/>
                                          </p:val>
                                        </p:tav>
                                      </p:tavLst>
                                    </p:anim>
                                    <p:anim calcmode="lin" valueType="num">
                                      <p:cBhvr additive="base">
                                        <p:cTn id="8" dur="500" fill="hold"/>
                                        <p:tgtEl>
                                          <p:spTgt spid="90112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901126"/>
                                        </p:tgtEl>
                                        <p:attrNameLst>
                                          <p:attrName>style.visibility</p:attrName>
                                        </p:attrNameLst>
                                      </p:cBhvr>
                                      <p:to>
                                        <p:strVal val="visible"/>
                                      </p:to>
                                    </p:set>
                                    <p:animEffect transition="in" filter="box(in)">
                                      <p:cBhvr>
                                        <p:cTn id="13" dur="500"/>
                                        <p:tgtEl>
                                          <p:spTgt spid="901126"/>
                                        </p:tgtEl>
                                      </p:cBhvr>
                                    </p:animEffect>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nodeType="clickEffect">
                                  <p:stCondLst>
                                    <p:cond delay="0"/>
                                  </p:stCondLst>
                                  <p:childTnLst>
                                    <p:set>
                                      <p:cBhvr>
                                        <p:cTn id="17" dur="1" fill="hold">
                                          <p:stCondLst>
                                            <p:cond delay="0"/>
                                          </p:stCondLst>
                                        </p:cTn>
                                        <p:tgtEl>
                                          <p:spTgt spid="901128"/>
                                        </p:tgtEl>
                                        <p:attrNameLst>
                                          <p:attrName>style.visibility</p:attrName>
                                        </p:attrNameLst>
                                      </p:cBhvr>
                                      <p:to>
                                        <p:strVal val="visible"/>
                                      </p:to>
                                    </p:set>
                                    <p:anim calcmode="lin" valueType="num">
                                      <p:cBhvr additive="base">
                                        <p:cTn id="18" dur="500" fill="hold"/>
                                        <p:tgtEl>
                                          <p:spTgt spid="901128"/>
                                        </p:tgtEl>
                                        <p:attrNameLst>
                                          <p:attrName>ppt_x</p:attrName>
                                        </p:attrNameLst>
                                      </p:cBhvr>
                                      <p:tavLst>
                                        <p:tav tm="0">
                                          <p:val>
                                            <p:strVal val="#ppt_x"/>
                                          </p:val>
                                        </p:tav>
                                        <p:tav tm="100000">
                                          <p:val>
                                            <p:strVal val="#ppt_x"/>
                                          </p:val>
                                        </p:tav>
                                      </p:tavLst>
                                    </p:anim>
                                    <p:anim calcmode="lin" valueType="num">
                                      <p:cBhvr additive="base">
                                        <p:cTn id="19" dur="500" fill="hold"/>
                                        <p:tgtEl>
                                          <p:spTgt spid="901128"/>
                                        </p:tgtEl>
                                        <p:attrNameLst>
                                          <p:attrName>ppt_y</p:attrName>
                                        </p:attrNameLst>
                                      </p:cBhvr>
                                      <p:tavLst>
                                        <p:tav tm="0">
                                          <p:val>
                                            <p:strVal val="1+#ppt_h/2"/>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4" presetClass="entr" presetSubtype="16" fill="hold" grpId="0" nodeType="clickEffect">
                                  <p:stCondLst>
                                    <p:cond delay="0"/>
                                  </p:stCondLst>
                                  <p:childTnLst>
                                    <p:set>
                                      <p:cBhvr>
                                        <p:cTn id="23" dur="1" fill="hold">
                                          <p:stCondLst>
                                            <p:cond delay="0"/>
                                          </p:stCondLst>
                                        </p:cTn>
                                        <p:tgtEl>
                                          <p:spTgt spid="901132"/>
                                        </p:tgtEl>
                                        <p:attrNameLst>
                                          <p:attrName>style.visibility</p:attrName>
                                        </p:attrNameLst>
                                      </p:cBhvr>
                                      <p:to>
                                        <p:strVal val="visible"/>
                                      </p:to>
                                    </p:set>
                                    <p:animEffect transition="in" filter="box(in)">
                                      <p:cBhvr>
                                        <p:cTn id="24" dur="500"/>
                                        <p:tgtEl>
                                          <p:spTgt spid="901132"/>
                                        </p:tgtEl>
                                      </p:cBhvr>
                                    </p:animEffect>
                                  </p:childTnLst>
                                </p:cTn>
                              </p:par>
                            </p:childTnLst>
                          </p:cTn>
                        </p:par>
                      </p:childTnLst>
                    </p:cTn>
                  </p:par>
                  <p:par>
                    <p:cTn id="25" fill="hold">
                      <p:stCondLst>
                        <p:cond delay="indefinite"/>
                      </p:stCondLst>
                      <p:childTnLst>
                        <p:par>
                          <p:cTn id="26" fill="hold">
                            <p:stCondLst>
                              <p:cond delay="0"/>
                            </p:stCondLst>
                            <p:childTnLst>
                              <p:par>
                                <p:cTn id="27" presetID="8" presetClass="entr" presetSubtype="16" fill="hold" grpId="0" nodeType="clickEffect">
                                  <p:stCondLst>
                                    <p:cond delay="0"/>
                                  </p:stCondLst>
                                  <p:childTnLst>
                                    <p:set>
                                      <p:cBhvr>
                                        <p:cTn id="28" dur="1" fill="hold">
                                          <p:stCondLst>
                                            <p:cond delay="0"/>
                                          </p:stCondLst>
                                        </p:cTn>
                                        <p:tgtEl>
                                          <p:spTgt spid="901134"/>
                                        </p:tgtEl>
                                        <p:attrNameLst>
                                          <p:attrName>style.visibility</p:attrName>
                                        </p:attrNameLst>
                                      </p:cBhvr>
                                      <p:to>
                                        <p:strVal val="visible"/>
                                      </p:to>
                                    </p:set>
                                    <p:animEffect transition="in" filter="diamond(in)">
                                      <p:cBhvr>
                                        <p:cTn id="29" dur="2000"/>
                                        <p:tgtEl>
                                          <p:spTgt spid="901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1126" grpId="0" animBg="1"/>
      <p:bldP spid="901132" grpId="0" animBg="1"/>
      <p:bldP spid="901134"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2148" name="Text Box 4"/>
          <p:cNvSpPr txBox="1">
            <a:spLocks noChangeArrowheads="1"/>
          </p:cNvSpPr>
          <p:nvPr/>
        </p:nvSpPr>
        <p:spPr bwMode="auto">
          <a:xfrm>
            <a:off x="327025" y="1265238"/>
            <a:ext cx="8534400" cy="1658938"/>
          </a:xfrm>
          <a:prstGeom prst="rect">
            <a:avLst/>
          </a:prstGeom>
          <a:noFill/>
          <a:ln w="38100">
            <a:noFill/>
            <a:miter lim="800000"/>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just"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满二叉树是叶子一个也不少的树，而完全二叉树虽然前</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n-1</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层是满的，但最底层却允许在右边缺少连续若干个结点。</a:t>
            </a: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满二叉树是完全二叉树的一个特例。</a:t>
            </a:r>
          </a:p>
        </p:txBody>
      </p:sp>
      <p:graphicFrame>
        <p:nvGraphicFramePr>
          <p:cNvPr id="36867" name="Object 5"/>
          <p:cNvGraphicFramePr/>
          <p:nvPr/>
        </p:nvGraphicFramePr>
        <p:xfrm>
          <a:off x="331788" y="3279775"/>
          <a:ext cx="4243387" cy="2713038"/>
        </p:xfrm>
        <a:graphic>
          <a:graphicData uri="http://schemas.openxmlformats.org/presentationml/2006/ole">
            <mc:AlternateContent xmlns:mc="http://schemas.openxmlformats.org/markup-compatibility/2006">
              <mc:Choice xmlns:v="urn:schemas-microsoft-com:vml" Requires="v">
                <p:oleObj spid="_x0000_s8243" r:id="rId3" imgW="5436235" imgH="2557145" progId="Visio.Drawing.5">
                  <p:embed/>
                </p:oleObj>
              </mc:Choice>
              <mc:Fallback>
                <p:oleObj r:id="rId3" imgW="5436235" imgH="2557145" progId="Visio.Drawing.5">
                  <p:embed/>
                  <p:pic>
                    <p:nvPicPr>
                      <p:cNvPr id="0" name="图片 3084"/>
                      <p:cNvPicPr/>
                      <p:nvPr/>
                    </p:nvPicPr>
                    <p:blipFill>
                      <a:blip r:embed="rId4"/>
                      <a:stretch>
                        <a:fillRect/>
                      </a:stretch>
                    </p:blipFill>
                    <p:spPr>
                      <a:xfrm>
                        <a:off x="331788" y="3279775"/>
                        <a:ext cx="4243387" cy="2713038"/>
                      </a:xfrm>
                      <a:prstGeom prst="rect">
                        <a:avLst/>
                      </a:prstGeom>
                      <a:solidFill>
                        <a:srgbClr val="EBEBEB"/>
                      </a:solidFill>
                      <a:ln w="38100">
                        <a:noFill/>
                        <a:miter/>
                      </a:ln>
                    </p:spPr>
                  </p:pic>
                </p:oleObj>
              </mc:Fallback>
            </mc:AlternateContent>
          </a:graphicData>
        </a:graphic>
      </p:graphicFrame>
      <p:graphicFrame>
        <p:nvGraphicFramePr>
          <p:cNvPr id="36868" name="Object 6"/>
          <p:cNvGraphicFramePr/>
          <p:nvPr/>
        </p:nvGraphicFramePr>
        <p:xfrm>
          <a:off x="4856163" y="3279775"/>
          <a:ext cx="4005262" cy="2646363"/>
        </p:xfrm>
        <a:graphic>
          <a:graphicData uri="http://schemas.openxmlformats.org/presentationml/2006/ole">
            <mc:AlternateContent xmlns:mc="http://schemas.openxmlformats.org/markup-compatibility/2006">
              <mc:Choice xmlns:v="urn:schemas-microsoft-com:vml" Requires="v">
                <p:oleObj spid="_x0000_s8244" r:id="rId5" imgW="5076190" imgH="2557145" progId="Visio.Drawing.5">
                  <p:embed/>
                </p:oleObj>
              </mc:Choice>
              <mc:Fallback>
                <p:oleObj r:id="rId5" imgW="5076190" imgH="2557145" progId="Visio.Drawing.5">
                  <p:embed/>
                  <p:pic>
                    <p:nvPicPr>
                      <p:cNvPr id="0" name="图片 3081"/>
                      <p:cNvPicPr/>
                      <p:nvPr/>
                    </p:nvPicPr>
                    <p:blipFill>
                      <a:blip r:embed="rId6"/>
                      <a:stretch>
                        <a:fillRect/>
                      </a:stretch>
                    </p:blipFill>
                    <p:spPr>
                      <a:xfrm>
                        <a:off x="4856163" y="3279775"/>
                        <a:ext cx="4005262" cy="2646363"/>
                      </a:xfrm>
                      <a:prstGeom prst="rect">
                        <a:avLst/>
                      </a:prstGeom>
                      <a:solidFill>
                        <a:srgbClr val="A5A5E9"/>
                      </a:solidFill>
                      <a:ln w="38100">
                        <a:noFill/>
                        <a:miter/>
                      </a:ln>
                    </p:spPr>
                  </p:pic>
                </p:oleObj>
              </mc:Fallback>
            </mc:AlternateContent>
          </a:graphicData>
        </a:graphic>
      </p:graphicFrame>
      <p:sp>
        <p:nvSpPr>
          <p:cNvPr id="36870" name="Rectangle 7"/>
          <p:cNvSpPr>
            <a:spLocks noChangeArrowheads="1"/>
          </p:cNvSpPr>
          <p:nvPr/>
        </p:nvSpPr>
        <p:spPr bwMode="auto">
          <a:xfrm>
            <a:off x="889000" y="219075"/>
            <a:ext cx="604520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满二叉树和完全二叉树的区别</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902148">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2148" grpId="0" build="p"/>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椭圆 6"/>
          <p:cNvSpPr/>
          <p:nvPr/>
        </p:nvSpPr>
        <p:spPr>
          <a:xfrm>
            <a:off x="979488" y="4559300"/>
            <a:ext cx="95250" cy="155575"/>
          </a:xfrm>
          <a:prstGeom prst="ellipse">
            <a:avLst/>
          </a:prstGeom>
          <a:solidFill>
            <a:srgbClr val="A5A5E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latin typeface="Arial Narrow" panose="020B0606020202030204" pitchFamily="34" charset="0"/>
            </a:endParaRPr>
          </a:p>
        </p:txBody>
      </p:sp>
      <p:sp>
        <p:nvSpPr>
          <p:cNvPr id="37891" name="Rectangle 5"/>
          <p:cNvSpPr>
            <a:spLocks noChangeArrowheads="1"/>
          </p:cNvSpPr>
          <p:nvPr/>
        </p:nvSpPr>
        <p:spPr bwMode="auto">
          <a:xfrm>
            <a:off x="900113" y="131763"/>
            <a:ext cx="233997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a:ln>
                  <a:noFill/>
                </a:ln>
                <a:solidFill>
                  <a:schemeClr val="bg1"/>
                </a:solidFill>
                <a:effectLst/>
                <a:uLnTx/>
                <a:uFillTx/>
                <a:latin typeface="+mj-lt"/>
                <a:ea typeface="微软雅黑" panose="020B0503020204020204" pitchFamily="34" charset="-122"/>
                <a:cs typeface="+mj-cs"/>
                <a:sym typeface="+mn-lt"/>
              </a:rPr>
              <a:t>练习</a:t>
            </a:r>
          </a:p>
        </p:txBody>
      </p:sp>
      <p:sp>
        <p:nvSpPr>
          <p:cNvPr id="37892" name="椭圆 6"/>
          <p:cNvSpPr/>
          <p:nvPr/>
        </p:nvSpPr>
        <p:spPr>
          <a:xfrm>
            <a:off x="309563" y="4568825"/>
            <a:ext cx="95250" cy="155575"/>
          </a:xfrm>
          <a:prstGeom prst="ellipse">
            <a:avLst/>
          </a:prstGeom>
          <a:solidFill>
            <a:srgbClr val="59595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latin typeface="Arial Narrow" panose="020B0606020202030204" pitchFamily="34" charset="0"/>
            </a:endParaRPr>
          </a:p>
        </p:txBody>
      </p:sp>
      <p:sp>
        <p:nvSpPr>
          <p:cNvPr id="37893" name="椭圆 11"/>
          <p:cNvSpPr/>
          <p:nvPr/>
        </p:nvSpPr>
        <p:spPr>
          <a:xfrm>
            <a:off x="304800" y="2201863"/>
            <a:ext cx="96838" cy="155575"/>
          </a:xfrm>
          <a:prstGeom prst="ellipse">
            <a:avLst/>
          </a:prstGeom>
          <a:solidFill>
            <a:srgbClr val="59595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latin typeface="Arial Narrow" panose="020B0606020202030204" pitchFamily="34" charset="0"/>
            </a:endParaRPr>
          </a:p>
        </p:txBody>
      </p:sp>
      <p:sp>
        <p:nvSpPr>
          <p:cNvPr id="18" name="矩形 17"/>
          <p:cNvSpPr>
            <a:spLocks noChangeArrowheads="1"/>
          </p:cNvSpPr>
          <p:nvPr/>
        </p:nvSpPr>
        <p:spPr bwMode="auto">
          <a:xfrm>
            <a:off x="3175" y="2312988"/>
            <a:ext cx="9140825" cy="2339975"/>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lIns="4248000" rIns="252000" anchor="ctr"/>
          <a:lstStyle/>
          <a:p>
            <a:pPr marL="0" marR="0" lvl="0" indent="0" algn="just" defTabSz="914400" rtl="0" eaLnBrk="1" fontAlgn="base" latinLnBrk="0" hangingPunct="1">
              <a:lnSpc>
                <a:spcPct val="130000"/>
              </a:lnSpc>
              <a:spcBef>
                <a:spcPts val="600"/>
              </a:spcBef>
              <a:spcAft>
                <a:spcPts val="600"/>
              </a:spcAft>
              <a:buClrTx/>
              <a:buSzTx/>
              <a:buFontTx/>
              <a:buNone/>
              <a:defRPr/>
            </a:pPr>
            <a:endParaRPr kumimoji="0" lang="zh-CN" altLang="en-US" sz="2800" b="1" i="0" u="none" strike="noStrike" kern="1200" cap="none" spc="0" normalizeH="0" baseline="0" noProof="0" dirty="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cs typeface="+mn-cs"/>
            </a:endParaRPr>
          </a:p>
        </p:txBody>
      </p:sp>
      <p:sp>
        <p:nvSpPr>
          <p:cNvPr id="37895" name="圆角矩形 15"/>
          <p:cNvSpPr/>
          <p:nvPr/>
        </p:nvSpPr>
        <p:spPr>
          <a:xfrm>
            <a:off x="334963" y="2198688"/>
            <a:ext cx="492125" cy="2525712"/>
          </a:xfrm>
          <a:custGeom>
            <a:avLst/>
            <a:gdLst>
              <a:gd name="txL" fmla="*/ 0 w 738285"/>
              <a:gd name="txT" fmla="*/ 0 h 4248500"/>
              <a:gd name="txR" fmla="*/ 738285 w 738285"/>
              <a:gd name="txB" fmla="*/ 4248500 h 4248500"/>
            </a:gdLst>
            <a:ahLst/>
            <a:cxnLst>
              <a:cxn ang="0">
                <a:pos x="1562" y="1452"/>
              </a:cxn>
              <a:cxn ang="0">
                <a:pos x="217" y="1"/>
              </a:cxn>
              <a:cxn ang="0">
                <a:pos x="10915" y="1"/>
              </a:cxn>
              <a:cxn ang="0">
                <a:pos x="12786" y="1074"/>
              </a:cxn>
              <a:cxn ang="0">
                <a:pos x="12786" y="41150"/>
              </a:cxn>
              <a:cxn ang="0">
                <a:pos x="10915" y="42223"/>
              </a:cxn>
              <a:cxn ang="0">
                <a:pos x="629" y="42223"/>
              </a:cxn>
              <a:cxn ang="0">
                <a:pos x="1562" y="41150"/>
              </a:cxn>
              <a:cxn ang="0">
                <a:pos x="1562" y="1452"/>
              </a:cxn>
            </a:cxnLst>
            <a:rect l="txL" t="txT" r="txR" b="txB"/>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C00000">
              <a:alpha val="100000"/>
            </a:srgbClr>
          </a:solidFill>
          <a:ln w="9525">
            <a:noFill/>
          </a:ln>
        </p:spPr>
        <p:txBody>
          <a:bodyPr/>
          <a:lstStyle/>
          <a:p>
            <a:endParaRPr lang="zh-CN" altLang="en-US"/>
          </a:p>
        </p:txBody>
      </p:sp>
      <p:sp>
        <p:nvSpPr>
          <p:cNvPr id="2" name="Rectangle 4"/>
          <p:cNvSpPr>
            <a:spLocks noChangeArrowheads="1"/>
          </p:cNvSpPr>
          <p:nvPr/>
        </p:nvSpPr>
        <p:spPr bwMode="auto">
          <a:xfrm>
            <a:off x="1674813" y="2924175"/>
            <a:ext cx="7308850"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一棵完全二叉树有</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5000</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个结点，可以计算出其叶结点的个数是（         ）。 </a:t>
            </a:r>
          </a:p>
        </p:txBody>
      </p:sp>
      <p:sp>
        <p:nvSpPr>
          <p:cNvPr id="931846" name="Text Box 6"/>
          <p:cNvSpPr txBox="1">
            <a:spLocks noChangeArrowheads="1"/>
          </p:cNvSpPr>
          <p:nvPr/>
        </p:nvSpPr>
        <p:spPr bwMode="auto">
          <a:xfrm>
            <a:off x="4537075" y="3330575"/>
            <a:ext cx="1008063" cy="579438"/>
          </a:xfrm>
          <a:prstGeom prst="rect">
            <a:avLst/>
          </a:prstGeom>
          <a:noFill/>
          <a:ln>
            <a:noFill/>
          </a:ln>
        </p:spPr>
        <p:txBody>
          <a:bodyPr>
            <a:spAutoFit/>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3200" b="0" i="0" u="none" strike="noStrike" kern="1200" cap="none" spc="0" normalizeH="0" baseline="0" noProof="0" dirty="0">
                <a:ln>
                  <a:noFill/>
                </a:ln>
                <a:solidFill>
                  <a:srgbClr val="FF0000"/>
                </a:solidFill>
                <a:effectLst/>
                <a:uLnTx/>
                <a:uFillTx/>
                <a:latin typeface="+mn-lt"/>
                <a:ea typeface="+mn-ea"/>
                <a:cs typeface="+mn-ea"/>
                <a:sym typeface="+mn-lt"/>
              </a:rPr>
              <a:t>2500</a:t>
            </a:r>
          </a:p>
        </p:txBody>
      </p:sp>
      <p:sp>
        <p:nvSpPr>
          <p:cNvPr id="37898" name="椭圆 11"/>
          <p:cNvSpPr/>
          <p:nvPr/>
        </p:nvSpPr>
        <p:spPr>
          <a:xfrm>
            <a:off x="974725" y="2192338"/>
            <a:ext cx="96838" cy="155575"/>
          </a:xfrm>
          <a:prstGeom prst="ellipse">
            <a:avLst/>
          </a:prstGeom>
          <a:solidFill>
            <a:srgbClr val="A5A5E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latin typeface="Arial Narrow" panose="020B0606020202030204" pitchFamily="34" charset="0"/>
            </a:endParaRPr>
          </a:p>
        </p:txBody>
      </p:sp>
      <p:sp>
        <p:nvSpPr>
          <p:cNvPr id="37899" name="圆角矩形 15"/>
          <p:cNvSpPr/>
          <p:nvPr/>
        </p:nvSpPr>
        <p:spPr>
          <a:xfrm>
            <a:off x="1004888" y="2189163"/>
            <a:ext cx="492125" cy="2525712"/>
          </a:xfrm>
          <a:custGeom>
            <a:avLst/>
            <a:gdLst>
              <a:gd name="txL" fmla="*/ 0 w 738285"/>
              <a:gd name="txT" fmla="*/ 0 h 4248500"/>
              <a:gd name="txR" fmla="*/ 738285 w 738285"/>
              <a:gd name="txB" fmla="*/ 4248500 h 4248500"/>
            </a:gdLst>
            <a:ahLst/>
            <a:cxnLst>
              <a:cxn ang="0">
                <a:pos x="1562" y="1452"/>
              </a:cxn>
              <a:cxn ang="0">
                <a:pos x="217" y="1"/>
              </a:cxn>
              <a:cxn ang="0">
                <a:pos x="10915" y="1"/>
              </a:cxn>
              <a:cxn ang="0">
                <a:pos x="12786" y="1074"/>
              </a:cxn>
              <a:cxn ang="0">
                <a:pos x="12786" y="41150"/>
              </a:cxn>
              <a:cxn ang="0">
                <a:pos x="10915" y="42223"/>
              </a:cxn>
              <a:cxn ang="0">
                <a:pos x="629" y="42223"/>
              </a:cxn>
              <a:cxn ang="0">
                <a:pos x="1562" y="41150"/>
              </a:cxn>
              <a:cxn ang="0">
                <a:pos x="1562" y="1452"/>
              </a:cxn>
            </a:cxnLst>
            <a:rect l="txL" t="txT" r="txR" b="txB"/>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A5A5E9">
              <a:alpha val="100000"/>
            </a:srgbClr>
          </a:solidFill>
          <a:ln w="9525">
            <a:noFill/>
          </a:ln>
        </p:spPr>
        <p:txBody>
          <a:bodyPr/>
          <a:lstStyle/>
          <a:p>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931846"/>
                                        </p:tgtEl>
                                        <p:attrNameLst>
                                          <p:attrName>style.visibility</p:attrName>
                                        </p:attrNameLst>
                                      </p:cBhvr>
                                      <p:to>
                                        <p:strVal val="visible"/>
                                      </p:to>
                                    </p:set>
                                    <p:animEffect transition="in" filter="box(in)">
                                      <p:cBhvr>
                                        <p:cTn id="7" dur="500"/>
                                        <p:tgtEl>
                                          <p:spTgt spid="9318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1846"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5" name="Rectangle 4"/>
          <p:cNvSpPr>
            <a:spLocks noChangeArrowheads="1"/>
          </p:cNvSpPr>
          <p:nvPr/>
        </p:nvSpPr>
        <p:spPr bwMode="auto">
          <a:xfrm>
            <a:off x="428625" y="1100138"/>
            <a:ext cx="8104188" cy="492125"/>
          </a:xfrm>
          <a:prstGeom prst="rect">
            <a:avLst/>
          </a:prstGeom>
          <a:noFill/>
          <a:ln w="38100">
            <a:solidFill>
              <a:srgbClr val="6C4C8F"/>
            </a:solidFill>
            <a:miter lim="800000"/>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600" b="0" i="0" u="none" strike="noStrike" kern="1200" cap="none" spc="0" normalizeH="0" baseline="0" noProof="0" dirty="0">
                <a:ln>
                  <a:noFill/>
                </a:ln>
                <a:solidFill>
                  <a:srgbClr val="FF0000"/>
                </a:solidFill>
                <a:effectLst/>
                <a:uLnTx/>
                <a:uFillTx/>
                <a:latin typeface="+mn-lt"/>
                <a:ea typeface="+mn-ea"/>
                <a:cs typeface="+mn-ea"/>
                <a:sym typeface="+mn-lt"/>
              </a:rPr>
              <a:t>性质</a:t>
            </a:r>
            <a:r>
              <a:rPr kumimoji="0" lang="en-US" altLang="zh-CN" sz="2600" b="0" i="0" u="none" strike="noStrike" kern="1200" cap="none" spc="0" normalizeH="0" baseline="0" noProof="0" dirty="0">
                <a:ln>
                  <a:noFill/>
                </a:ln>
                <a:solidFill>
                  <a:srgbClr val="FF0000"/>
                </a:solidFill>
                <a:effectLst/>
                <a:uLnTx/>
                <a:uFillTx/>
                <a:latin typeface="+mn-lt"/>
                <a:ea typeface="+mn-ea"/>
                <a:cs typeface="+mn-ea"/>
                <a:sym typeface="+mn-lt"/>
              </a:rPr>
              <a:t>4: </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具有</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个结点的完全二叉树的深度必为</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[log</a:t>
            </a:r>
            <a:r>
              <a:rPr kumimoji="0" lang="en-US" altLang="zh-CN" sz="2600" b="0" i="0" u="none" strike="noStrike" kern="1200" cap="none" spc="0" normalizeH="0" baseline="-25000" noProof="0" dirty="0">
                <a:ln>
                  <a:noFill/>
                </a:ln>
                <a:solidFill>
                  <a:schemeClr val="tx1"/>
                </a:solidFill>
                <a:effectLst/>
                <a:uLnTx/>
                <a:uFillTx/>
                <a:latin typeface="+mn-lt"/>
                <a:ea typeface="+mn-ea"/>
                <a:cs typeface="+mn-ea"/>
                <a:sym typeface="+mn-lt"/>
              </a:rPr>
              <a:t>2</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1</a:t>
            </a:r>
          </a:p>
        </p:txBody>
      </p:sp>
      <p:graphicFrame>
        <p:nvGraphicFramePr>
          <p:cNvPr id="750598" name="Object 6"/>
          <p:cNvGraphicFramePr/>
          <p:nvPr/>
        </p:nvGraphicFramePr>
        <p:xfrm>
          <a:off x="428625" y="1892300"/>
          <a:ext cx="4343400" cy="2501900"/>
        </p:xfrm>
        <a:graphic>
          <a:graphicData uri="http://schemas.openxmlformats.org/presentationml/2006/ole">
            <mc:AlternateContent xmlns:mc="http://schemas.openxmlformats.org/markup-compatibility/2006">
              <mc:Choice xmlns:v="urn:schemas-microsoft-com:vml" Requires="v">
                <p:oleObj spid="_x0000_s9292" r:id="rId4" imgW="5076190" imgH="2557145" progId="Visio.Drawing.5">
                  <p:embed/>
                </p:oleObj>
              </mc:Choice>
              <mc:Fallback>
                <p:oleObj r:id="rId4" imgW="5076190" imgH="2557145" progId="Visio.Drawing.5">
                  <p:embed/>
                  <p:pic>
                    <p:nvPicPr>
                      <p:cNvPr id="0" name="图片 3086"/>
                      <p:cNvPicPr/>
                      <p:nvPr/>
                    </p:nvPicPr>
                    <p:blipFill>
                      <a:blip r:embed="rId5"/>
                      <a:stretch>
                        <a:fillRect/>
                      </a:stretch>
                    </p:blipFill>
                    <p:spPr>
                      <a:xfrm>
                        <a:off x="428625" y="1892300"/>
                        <a:ext cx="4343400" cy="2501900"/>
                      </a:xfrm>
                      <a:prstGeom prst="rect">
                        <a:avLst/>
                      </a:prstGeom>
                      <a:solidFill>
                        <a:srgbClr val="A5A5E9"/>
                      </a:solidFill>
                      <a:ln w="9525" cap="flat" cmpd="sng">
                        <a:solidFill>
                          <a:srgbClr val="A78DC2"/>
                        </a:solidFill>
                        <a:prstDash val="solid"/>
                        <a:miter/>
                        <a:headEnd type="none" w="med" len="med"/>
                        <a:tailEnd type="none" w="med" len="med"/>
                      </a:ln>
                    </p:spPr>
                  </p:pic>
                </p:oleObj>
              </mc:Fallback>
            </mc:AlternateContent>
          </a:graphicData>
        </a:graphic>
      </p:graphicFrame>
      <p:sp>
        <p:nvSpPr>
          <p:cNvPr id="750599" name="AutoShape 7"/>
          <p:cNvSpPr>
            <a:spLocks noChangeArrowheads="1"/>
          </p:cNvSpPr>
          <p:nvPr/>
        </p:nvSpPr>
        <p:spPr bwMode="auto">
          <a:xfrm>
            <a:off x="5127625" y="4025900"/>
            <a:ext cx="609600" cy="304800"/>
          </a:xfrm>
          <a:prstGeom prst="leftArrow">
            <a:avLst>
              <a:gd name="adj1" fmla="val 50000"/>
              <a:gd name="adj2" fmla="val 50000"/>
            </a:avLst>
          </a:prstGeom>
          <a:solidFill>
            <a:srgbClr val="FF0066"/>
          </a:solidFill>
          <a:ln w="9525">
            <a:no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0600" name="Text Box 8"/>
          <p:cNvSpPr txBox="1">
            <a:spLocks noChangeArrowheads="1"/>
          </p:cNvSpPr>
          <p:nvPr/>
        </p:nvSpPr>
        <p:spPr bwMode="auto">
          <a:xfrm>
            <a:off x="6094413" y="3952875"/>
            <a:ext cx="946150" cy="457200"/>
          </a:xfrm>
          <a:prstGeom prst="rect">
            <a:avLst/>
          </a:prstGeom>
          <a:solidFill>
            <a:srgbClr val="A5A5E9"/>
          </a:solid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层</a:t>
            </a:r>
          </a:p>
        </p:txBody>
      </p:sp>
      <p:sp>
        <p:nvSpPr>
          <p:cNvPr id="750601" name="Rectangle 9"/>
          <p:cNvSpPr>
            <a:spLocks noChangeArrowheads="1"/>
          </p:cNvSpPr>
          <p:nvPr/>
        </p:nvSpPr>
        <p:spPr bwMode="auto">
          <a:xfrm>
            <a:off x="2790825" y="3873500"/>
            <a:ext cx="609600" cy="520700"/>
          </a:xfrm>
          <a:prstGeom prst="rect">
            <a:avLst/>
          </a:prstGeom>
          <a:noFill/>
          <a:ln w="38100">
            <a:solidFill>
              <a:srgbClr val="FF0066"/>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0602" name="Text Box 10"/>
          <p:cNvSpPr txBox="1">
            <a:spLocks noChangeArrowheads="1"/>
          </p:cNvSpPr>
          <p:nvPr/>
        </p:nvSpPr>
        <p:spPr bwMode="auto">
          <a:xfrm>
            <a:off x="2911475" y="5245100"/>
            <a:ext cx="354013" cy="457200"/>
          </a:xfrm>
          <a:prstGeom prst="rect">
            <a:avLst/>
          </a:prstGeom>
          <a:solidFill>
            <a:srgbClr val="A5A5E9"/>
          </a:solidFill>
          <a:ln>
            <a:noFill/>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n</a:t>
            </a:r>
          </a:p>
        </p:txBody>
      </p:sp>
      <p:sp>
        <p:nvSpPr>
          <p:cNvPr id="750603" name="AutoShape 11"/>
          <p:cNvSpPr>
            <a:spLocks noChangeArrowheads="1"/>
          </p:cNvSpPr>
          <p:nvPr/>
        </p:nvSpPr>
        <p:spPr bwMode="auto">
          <a:xfrm>
            <a:off x="2867025" y="4559300"/>
            <a:ext cx="457200" cy="609600"/>
          </a:xfrm>
          <a:prstGeom prst="upArrow">
            <a:avLst>
              <a:gd name="adj1" fmla="val 50000"/>
              <a:gd name="adj2" fmla="val 33321"/>
            </a:avLst>
          </a:prstGeom>
          <a:solidFill>
            <a:srgbClr val="FF0066"/>
          </a:solidFill>
          <a:ln>
            <a:noFill/>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0604" name="AutoShape 12"/>
          <p:cNvSpPr>
            <a:spLocks noChangeArrowheads="1"/>
          </p:cNvSpPr>
          <p:nvPr/>
        </p:nvSpPr>
        <p:spPr bwMode="auto">
          <a:xfrm>
            <a:off x="5127625" y="3340100"/>
            <a:ext cx="609600" cy="304800"/>
          </a:xfrm>
          <a:prstGeom prst="leftArrow">
            <a:avLst>
              <a:gd name="adj1" fmla="val 50000"/>
              <a:gd name="adj2" fmla="val 50000"/>
            </a:avLst>
          </a:prstGeom>
          <a:solidFill>
            <a:srgbClr val="FF0066"/>
          </a:solidFill>
          <a:ln w="9525">
            <a:no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0605" name="Text Box 13"/>
          <p:cNvSpPr txBox="1">
            <a:spLocks noChangeArrowheads="1"/>
          </p:cNvSpPr>
          <p:nvPr/>
        </p:nvSpPr>
        <p:spPr bwMode="auto">
          <a:xfrm>
            <a:off x="6094413" y="3267075"/>
            <a:ext cx="977900" cy="457200"/>
          </a:xfrm>
          <a:prstGeom prst="rect">
            <a:avLst/>
          </a:prstGeom>
          <a:solidFill>
            <a:srgbClr val="A5A5E9"/>
          </a:solid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k-1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层</a:t>
            </a:r>
          </a:p>
        </p:txBody>
      </p:sp>
      <p:graphicFrame>
        <p:nvGraphicFramePr>
          <p:cNvPr id="750606" name="Object 14"/>
          <p:cNvGraphicFramePr/>
          <p:nvPr/>
        </p:nvGraphicFramePr>
        <p:xfrm>
          <a:off x="7466013" y="3287713"/>
          <a:ext cx="1066800" cy="433387"/>
        </p:xfrm>
        <a:graphic>
          <a:graphicData uri="http://schemas.openxmlformats.org/presentationml/2006/ole">
            <mc:AlternateContent xmlns:mc="http://schemas.openxmlformats.org/markup-compatibility/2006">
              <mc:Choice xmlns:v="urn:schemas-microsoft-com:vml" Requires="v">
                <p:oleObj spid="_x0000_s9293" r:id="rId6" imgW="469900" imgH="190500" progId="Equation.3">
                  <p:embed/>
                </p:oleObj>
              </mc:Choice>
              <mc:Fallback>
                <p:oleObj r:id="rId6" imgW="469900" imgH="190500" progId="Equation.3">
                  <p:embed/>
                  <p:pic>
                    <p:nvPicPr>
                      <p:cNvPr id="0" name="图片 3085"/>
                      <p:cNvPicPr/>
                      <p:nvPr/>
                    </p:nvPicPr>
                    <p:blipFill>
                      <a:blip r:embed="rId7"/>
                      <a:stretch>
                        <a:fillRect/>
                      </a:stretch>
                    </p:blipFill>
                    <p:spPr>
                      <a:xfrm>
                        <a:off x="7466013" y="3287713"/>
                        <a:ext cx="1066800" cy="433387"/>
                      </a:xfrm>
                      <a:prstGeom prst="rect">
                        <a:avLst/>
                      </a:prstGeom>
                      <a:solidFill>
                        <a:srgbClr val="A5A5E9"/>
                      </a:solidFill>
                      <a:ln w="38100">
                        <a:noFill/>
                        <a:miter/>
                      </a:ln>
                    </p:spPr>
                  </p:pic>
                </p:oleObj>
              </mc:Fallback>
            </mc:AlternateContent>
          </a:graphicData>
        </a:graphic>
      </p:graphicFrame>
      <p:graphicFrame>
        <p:nvGraphicFramePr>
          <p:cNvPr id="750607" name="Object 15"/>
          <p:cNvGraphicFramePr/>
          <p:nvPr/>
        </p:nvGraphicFramePr>
        <p:xfrm>
          <a:off x="7466013" y="3973513"/>
          <a:ext cx="1066800" cy="433387"/>
        </p:xfrm>
        <a:graphic>
          <a:graphicData uri="http://schemas.openxmlformats.org/presentationml/2006/ole">
            <mc:AlternateContent xmlns:mc="http://schemas.openxmlformats.org/markup-compatibility/2006">
              <mc:Choice xmlns:v="urn:schemas-microsoft-com:vml" Requires="v">
                <p:oleObj spid="_x0000_s9294" r:id="rId8" imgW="381000" imgH="190500" progId="Equation.3">
                  <p:embed/>
                </p:oleObj>
              </mc:Choice>
              <mc:Fallback>
                <p:oleObj r:id="rId8" imgW="381000" imgH="190500" progId="Equation.3">
                  <p:embed/>
                  <p:pic>
                    <p:nvPicPr>
                      <p:cNvPr id="0" name="图片 3087"/>
                      <p:cNvPicPr/>
                      <p:nvPr/>
                    </p:nvPicPr>
                    <p:blipFill>
                      <a:blip r:embed="rId9"/>
                      <a:stretch>
                        <a:fillRect/>
                      </a:stretch>
                    </p:blipFill>
                    <p:spPr>
                      <a:xfrm>
                        <a:off x="7466013" y="3973513"/>
                        <a:ext cx="1066800" cy="433387"/>
                      </a:xfrm>
                      <a:prstGeom prst="rect">
                        <a:avLst/>
                      </a:prstGeom>
                      <a:solidFill>
                        <a:srgbClr val="A5A5E9"/>
                      </a:solidFill>
                      <a:ln w="38100">
                        <a:noFill/>
                        <a:miter/>
                      </a:ln>
                    </p:spPr>
                  </p:pic>
                </p:oleObj>
              </mc:Fallback>
            </mc:AlternateContent>
          </a:graphicData>
        </a:graphic>
      </p:graphicFrame>
      <p:sp>
        <p:nvSpPr>
          <p:cNvPr id="17" name="矩形 16"/>
          <p:cNvSpPr>
            <a:spLocks noChangeArrowheads="1"/>
          </p:cNvSpPr>
          <p:nvPr/>
        </p:nvSpPr>
        <p:spPr bwMode="auto">
          <a:xfrm>
            <a:off x="3571875" y="4559300"/>
            <a:ext cx="4960938" cy="1557338"/>
          </a:xfrm>
          <a:prstGeom prst="rect">
            <a:avLst/>
          </a:prstGeom>
          <a:solidFill>
            <a:srgbClr val="EBEBEB"/>
          </a:solid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2</a:t>
            </a:r>
            <a:r>
              <a:rPr kumimoji="0" lang="en-US" altLang="zh-CN" sz="2800" b="0" i="1" u="none" strike="noStrike" kern="1200" cap="none" spc="0" normalizeH="0" baseline="30000" noProof="0" dirty="0">
                <a:ln>
                  <a:noFill/>
                </a:ln>
                <a:solidFill>
                  <a:schemeClr val="tx1"/>
                </a:solidFill>
                <a:effectLst/>
                <a:uLnTx/>
                <a:uFillTx/>
                <a:latin typeface="+mn-lt"/>
                <a:ea typeface="+mn-ea"/>
                <a:cs typeface="+mn-ea"/>
                <a:sym typeface="+mn-lt"/>
              </a:rPr>
              <a:t>k</a:t>
            </a:r>
            <a:r>
              <a:rPr kumimoji="0" lang="en-US" altLang="zh-CN" sz="2800" b="0" i="0" u="none" strike="noStrike" kern="1200" cap="none" spc="0" normalizeH="0" baseline="30000" noProof="0" dirty="0">
                <a:ln>
                  <a:noFill/>
                </a:ln>
                <a:solidFill>
                  <a:schemeClr val="tx1"/>
                </a:solidFill>
                <a:effectLst/>
                <a:uLnTx/>
                <a:uFillTx/>
                <a:latin typeface="+mn-lt"/>
                <a:ea typeface="+mn-ea"/>
                <a:cs typeface="+mn-ea"/>
                <a:sym typeface="+mn-lt"/>
              </a:rPr>
              <a:t>−1</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1"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2</a:t>
            </a:r>
            <a:r>
              <a:rPr kumimoji="0" lang="en-US" altLang="zh-CN" sz="2800" b="0" i="1" u="none" strike="noStrike" kern="1200" cap="none" spc="0" normalizeH="0" baseline="30000" noProof="0" dirty="0">
                <a:ln>
                  <a:noFill/>
                </a:ln>
                <a:solidFill>
                  <a:schemeClr val="tx1"/>
                </a:solidFill>
                <a:effectLst/>
                <a:uLnTx/>
                <a:uFillTx/>
                <a:latin typeface="+mn-lt"/>
                <a:ea typeface="+mn-ea"/>
                <a:cs typeface="+mn-ea"/>
                <a:sym typeface="+mn-lt"/>
              </a:rPr>
              <a:t>k</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−1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或</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2</a:t>
            </a:r>
            <a:r>
              <a:rPr kumimoji="0" lang="en-US" altLang="zh-CN" sz="2800" b="0" i="1" u="none" strike="noStrike" kern="1200" cap="none" spc="0" normalizeH="0" baseline="30000" noProof="0" dirty="0">
                <a:ln>
                  <a:noFill/>
                </a:ln>
                <a:solidFill>
                  <a:schemeClr val="tx1"/>
                </a:solidFill>
                <a:effectLst/>
                <a:uLnTx/>
                <a:uFillTx/>
                <a:latin typeface="+mn-lt"/>
                <a:ea typeface="+mn-ea"/>
                <a:cs typeface="+mn-ea"/>
                <a:sym typeface="+mn-lt"/>
              </a:rPr>
              <a:t>k</a:t>
            </a:r>
            <a:r>
              <a:rPr kumimoji="0" lang="en-US" altLang="zh-CN" sz="2800" b="0" i="0" u="none" strike="noStrike" kern="1200" cap="none" spc="0" normalizeH="0" baseline="30000" noProof="0" dirty="0">
                <a:ln>
                  <a:noFill/>
                </a:ln>
                <a:solidFill>
                  <a:schemeClr val="tx1"/>
                </a:solidFill>
                <a:effectLst/>
                <a:uLnTx/>
                <a:uFillTx/>
                <a:latin typeface="+mn-lt"/>
                <a:ea typeface="+mn-ea"/>
                <a:cs typeface="+mn-ea"/>
                <a:sym typeface="+mn-lt"/>
              </a:rPr>
              <a:t>−1</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1"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2</a:t>
            </a:r>
            <a:r>
              <a:rPr kumimoji="0" lang="en-US" altLang="zh-CN" sz="2800" b="0" i="1" u="none" strike="noStrike" kern="1200" cap="none" spc="0" normalizeH="0" baseline="30000" noProof="0" dirty="0">
                <a:ln>
                  <a:noFill/>
                </a:ln>
                <a:solidFill>
                  <a:schemeClr val="tx1"/>
                </a:solidFill>
                <a:effectLst/>
                <a:uLnTx/>
                <a:uFillTx/>
                <a:latin typeface="+mn-lt"/>
                <a:ea typeface="+mn-ea"/>
                <a:cs typeface="+mn-ea"/>
                <a:sym typeface="+mn-lt"/>
              </a:rPr>
              <a:t>k</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1" u="none" strike="noStrike" kern="1200" cap="none" spc="0" normalizeH="0" baseline="0" noProof="0" dirty="0">
                <a:ln>
                  <a:noFill/>
                </a:ln>
                <a:solidFill>
                  <a:schemeClr val="tx1"/>
                </a:solidFill>
                <a:effectLst/>
                <a:uLnTx/>
                <a:uFillTx/>
                <a:latin typeface="+mn-lt"/>
                <a:ea typeface="+mn-ea"/>
                <a:cs typeface="+mn-ea"/>
                <a:sym typeface="+mn-lt"/>
              </a:rPr>
              <a:t>k</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log</a:t>
            </a:r>
            <a:r>
              <a:rPr kumimoji="0" lang="en-US" altLang="zh-CN" sz="2800" b="0" i="0" u="none" strike="noStrike" kern="1200" cap="none" spc="0" normalizeH="0" baseline="-25000" noProof="0" dirty="0">
                <a:ln>
                  <a:noFill/>
                </a:ln>
                <a:solidFill>
                  <a:schemeClr val="tx1"/>
                </a:solidFill>
                <a:effectLst/>
                <a:uLnTx/>
                <a:uFillTx/>
                <a:latin typeface="+mn-lt"/>
                <a:ea typeface="+mn-ea"/>
                <a:cs typeface="+mn-ea"/>
                <a:sym typeface="+mn-lt"/>
              </a:rPr>
              <a:t>2</a:t>
            </a:r>
            <a:r>
              <a:rPr kumimoji="0" lang="en-US" altLang="zh-CN" sz="2800" b="0" i="1"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1" u="none" strike="noStrike" kern="1200" cap="none" spc="0" normalizeH="0" baseline="0" noProof="0" dirty="0">
                <a:ln>
                  <a:noFill/>
                </a:ln>
                <a:solidFill>
                  <a:schemeClr val="tx1"/>
                </a:solidFill>
                <a:effectLst/>
                <a:uLnTx/>
                <a:uFillTx/>
                <a:latin typeface="+mn-lt"/>
                <a:ea typeface="+mn-ea"/>
                <a:cs typeface="+mn-ea"/>
                <a:sym typeface="+mn-lt"/>
              </a:rPr>
              <a:t>k</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，因为</a:t>
            </a:r>
            <a:r>
              <a:rPr kumimoji="0" lang="en-US" altLang="zh-CN" sz="2800" b="0" i="1" u="none" strike="noStrike" kern="1200" cap="none" spc="0" normalizeH="0" baseline="0" noProof="0" dirty="0">
                <a:ln>
                  <a:noFill/>
                </a:ln>
                <a:solidFill>
                  <a:schemeClr val="tx1"/>
                </a:solidFill>
                <a:effectLst/>
                <a:uLnTx/>
                <a:uFillTx/>
                <a:latin typeface="+mn-lt"/>
                <a:ea typeface="+mn-ea"/>
                <a:cs typeface="+mn-ea"/>
                <a:sym typeface="+mn-lt"/>
              </a:rPr>
              <a:t>k</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是整数</a:t>
            </a:r>
            <a:endPar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所以</a:t>
            </a:r>
            <a:r>
              <a:rPr kumimoji="0" lang="en-US" altLang="zh-CN" sz="2800" b="0" i="1" u="none" strike="noStrike" kern="1200" cap="none" spc="0" normalizeH="0" baseline="0" noProof="0" dirty="0">
                <a:ln>
                  <a:noFill/>
                </a:ln>
                <a:solidFill>
                  <a:schemeClr val="tx1"/>
                </a:solidFill>
                <a:effectLst/>
                <a:uLnTx/>
                <a:uFillTx/>
                <a:latin typeface="+mn-lt"/>
                <a:ea typeface="+mn-ea"/>
                <a:cs typeface="+mn-ea"/>
                <a:sym typeface="+mn-lt"/>
              </a:rPr>
              <a:t>k </a:t>
            </a:r>
            <a:r>
              <a:rPr kumimoji="0" lang="en-US" altLang="zh-CN" sz="2800" b="0" i="0" u="none" strike="noStrike" kern="1200" cap="none" spc="0" normalizeH="0" baseline="0" noProof="0" dirty="0">
                <a:ln>
                  <a:noFill/>
                </a:ln>
                <a:solidFill>
                  <a:schemeClr val="tx1"/>
                </a:solidFill>
                <a:effectLst/>
                <a:uLnTx/>
                <a:uFillTx/>
                <a:latin typeface="Times New Roman" panose="02020603050405020304" pitchFamily="18" charset="0"/>
                <a:ea typeface="仿宋_GB2312" pitchFamily="49" charset="-122"/>
                <a:cs typeface="+mn-cs"/>
              </a:rPr>
              <a:t>= </a:t>
            </a:r>
            <a:r>
              <a:rPr kumimoji="0" lang="en-US" altLang="zh-CN" sz="2800" b="0" i="0" u="none" strike="noStrike" kern="1200" cap="none" spc="0" normalizeH="0" baseline="0" noProof="0" dirty="0">
                <a:ln>
                  <a:noFill/>
                </a:ln>
                <a:solidFill>
                  <a:schemeClr val="tx1"/>
                </a:solidFill>
                <a:effectLst/>
                <a:uLnTx/>
                <a:uFillTx/>
                <a:latin typeface="Times New Roman" panose="02020603050405020304" pitchFamily="18" charset="0"/>
                <a:ea typeface="仿宋_GB2312" pitchFamily="49" charset="-122"/>
                <a:cs typeface="+mn-cs"/>
                <a:sym typeface="Symbol" panose="05050102010706020507" pitchFamily="18" charset="2"/>
              </a:rPr>
              <a:t></a:t>
            </a:r>
            <a:r>
              <a:rPr kumimoji="0" lang="en-US" altLang="zh-CN" sz="2800" b="0" i="0" u="none" strike="noStrike" kern="1200" cap="none" spc="0" normalizeH="0" baseline="0" noProof="0" dirty="0">
                <a:ln>
                  <a:noFill/>
                </a:ln>
                <a:solidFill>
                  <a:schemeClr val="tx1"/>
                </a:solidFill>
                <a:effectLst/>
                <a:uLnTx/>
                <a:uFillTx/>
                <a:latin typeface="Times New Roman" panose="02020603050405020304" pitchFamily="18" charset="0"/>
                <a:ea typeface="仿宋_GB2312" pitchFamily="49" charset="-122"/>
                <a:cs typeface="+mn-cs"/>
              </a:rPr>
              <a:t>log</a:t>
            </a:r>
            <a:r>
              <a:rPr kumimoji="0" lang="en-US" altLang="zh-CN" sz="2800" b="0" i="0" u="none" strike="noStrike" kern="1200" cap="none" spc="0" normalizeH="0" baseline="-25000" noProof="0" dirty="0">
                <a:ln>
                  <a:noFill/>
                </a:ln>
                <a:solidFill>
                  <a:schemeClr val="tx1"/>
                </a:solidFill>
                <a:effectLst/>
                <a:uLnTx/>
                <a:uFillTx/>
                <a:latin typeface="Times New Roman" panose="02020603050405020304" pitchFamily="18" charset="0"/>
                <a:ea typeface="仿宋_GB2312" pitchFamily="49" charset="-122"/>
                <a:cs typeface="+mn-cs"/>
              </a:rPr>
              <a:t>2</a:t>
            </a:r>
            <a:r>
              <a:rPr kumimoji="0" lang="en-US" altLang="zh-CN" sz="2800" b="0" i="1" u="none" strike="noStrike" kern="1200" cap="none" spc="0" normalizeH="0" baseline="0" noProof="0" dirty="0">
                <a:ln>
                  <a:noFill/>
                </a:ln>
                <a:solidFill>
                  <a:schemeClr val="tx1"/>
                </a:solidFill>
                <a:effectLst/>
                <a:uLnTx/>
                <a:uFillTx/>
                <a:latin typeface="Times New Roman" panose="02020603050405020304" pitchFamily="18" charset="0"/>
                <a:ea typeface="仿宋_GB2312" pitchFamily="49" charset="-122"/>
                <a:cs typeface="+mn-cs"/>
              </a:rPr>
              <a:t>n</a:t>
            </a:r>
            <a:r>
              <a:rPr kumimoji="0" lang="en-US" altLang="zh-CN" sz="2800" b="0" i="0" u="none" strike="noStrike" kern="1200" cap="none" spc="0" normalizeH="0" baseline="0" noProof="0" dirty="0">
                <a:ln>
                  <a:noFill/>
                </a:ln>
                <a:solidFill>
                  <a:schemeClr val="tx1"/>
                </a:solidFill>
                <a:effectLst/>
                <a:uLnTx/>
                <a:uFillTx/>
                <a:latin typeface="Times New Roman" panose="02020603050405020304" pitchFamily="18" charset="0"/>
                <a:ea typeface="仿宋_GB2312" pitchFamily="49" charset="-122"/>
                <a:cs typeface="+mn-cs"/>
                <a:sym typeface="Symbol" panose="05050102010706020507" pitchFamily="18" charset="2"/>
              </a:rPr>
              <a:t></a:t>
            </a:r>
            <a:r>
              <a:rPr kumimoji="0" lang="en-US" altLang="zh-CN" sz="2800" b="0" i="0" u="none" strike="noStrike" kern="1200" cap="none" spc="0" normalizeH="0" baseline="0" noProof="0" dirty="0">
                <a:ln>
                  <a:noFill/>
                </a:ln>
                <a:solidFill>
                  <a:schemeClr val="tx1"/>
                </a:solidFill>
                <a:effectLst/>
                <a:uLnTx/>
                <a:uFillTx/>
                <a:latin typeface="Times New Roman" panose="02020603050405020304" pitchFamily="18" charset="0"/>
                <a:ea typeface="仿宋_GB2312" pitchFamily="49" charset="-122"/>
                <a:cs typeface="+mn-cs"/>
              </a:rPr>
              <a:t> + 1</a:t>
            </a:r>
            <a:endParaRPr kumimoji="0" lang="zh-CN" altLang="en-US" sz="2800" b="0" i="0" u="none" strike="noStrike" kern="1200" cap="none" spc="0" normalizeH="0" baseline="0" noProof="0" dirty="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16" name="Rectangle 4"/>
          <p:cNvSpPr>
            <a:spLocks noChangeArrowheads="1"/>
          </p:cNvSpPr>
          <p:nvPr/>
        </p:nvSpPr>
        <p:spPr bwMode="auto">
          <a:xfrm>
            <a:off x="820738" y="152400"/>
            <a:ext cx="7358063"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二叉树的性质和存储结构</a:t>
            </a:r>
          </a:p>
        </p:txBody>
      </p:sp>
    </p:spTree>
  </p:cSld>
  <p:clrMapOvr>
    <a:masterClrMapping/>
  </p:clrMapOvr>
  <p:transition>
    <p:blinds dir="vert"/>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50598"/>
                                        </p:tgtEl>
                                        <p:attrNameLst>
                                          <p:attrName>style.visibility</p:attrName>
                                        </p:attrNameLst>
                                      </p:cBhvr>
                                      <p:to>
                                        <p:strVal val="visible"/>
                                      </p:to>
                                    </p:set>
                                    <p:anim calcmode="lin" valueType="num">
                                      <p:cBhvr additive="base">
                                        <p:cTn id="7" dur="500" fill="hold"/>
                                        <p:tgtEl>
                                          <p:spTgt spid="750598"/>
                                        </p:tgtEl>
                                        <p:attrNameLst>
                                          <p:attrName>ppt_x</p:attrName>
                                        </p:attrNameLst>
                                      </p:cBhvr>
                                      <p:tavLst>
                                        <p:tav tm="0">
                                          <p:val>
                                            <p:strVal val="0-#ppt_w/2"/>
                                          </p:val>
                                        </p:tav>
                                        <p:tav tm="100000">
                                          <p:val>
                                            <p:strVal val="#ppt_x"/>
                                          </p:val>
                                        </p:tav>
                                      </p:tavLst>
                                    </p:anim>
                                    <p:anim calcmode="lin" valueType="num">
                                      <p:cBhvr additive="base">
                                        <p:cTn id="8" dur="500" fill="hold"/>
                                        <p:tgtEl>
                                          <p:spTgt spid="75059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6" presetClass="entr" presetSubtype="42" fill="hold" grpId="0" nodeType="clickEffect">
                                  <p:stCondLst>
                                    <p:cond delay="0"/>
                                  </p:stCondLst>
                                  <p:childTnLst>
                                    <p:set>
                                      <p:cBhvr>
                                        <p:cTn id="12" dur="1" fill="hold">
                                          <p:stCondLst>
                                            <p:cond delay="0"/>
                                          </p:stCondLst>
                                        </p:cTn>
                                        <p:tgtEl>
                                          <p:spTgt spid="750601"/>
                                        </p:tgtEl>
                                        <p:attrNameLst>
                                          <p:attrName>style.visibility</p:attrName>
                                        </p:attrNameLst>
                                      </p:cBhvr>
                                      <p:to>
                                        <p:strVal val="visible"/>
                                      </p:to>
                                    </p:set>
                                    <p:animEffect transition="in" filter="barn(outHorizontal)">
                                      <p:cBhvr>
                                        <p:cTn id="13" dur="500"/>
                                        <p:tgtEl>
                                          <p:spTgt spid="750601"/>
                                        </p:tgtEl>
                                      </p:cBhvr>
                                    </p:animEffec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499"/>
                                          </p:stCondLst>
                                        </p:cTn>
                                        <p:tgtEl>
                                          <p:spTgt spid="750602"/>
                                        </p:tgtEl>
                                        <p:attrNameLst>
                                          <p:attrName>style.visibility</p:attrName>
                                        </p:attrNameLst>
                                      </p:cBhvr>
                                      <p:to>
                                        <p:strVal val="visible"/>
                                      </p:to>
                                    </p:set>
                                  </p:childTnLst>
                                </p:cTn>
                              </p:par>
                            </p:childTnLst>
                          </p:cTn>
                        </p:par>
                        <p:par>
                          <p:cTn id="18" fill="hold">
                            <p:stCondLst>
                              <p:cond delay="500"/>
                            </p:stCondLst>
                            <p:childTnLst>
                              <p:par>
                                <p:cTn id="19" presetID="17" presetClass="entr" presetSubtype="4" fill="hold" grpId="0" nodeType="afterEffect">
                                  <p:stCondLst>
                                    <p:cond delay="0"/>
                                  </p:stCondLst>
                                  <p:childTnLst>
                                    <p:set>
                                      <p:cBhvr>
                                        <p:cTn id="20" dur="1" fill="hold">
                                          <p:stCondLst>
                                            <p:cond delay="0"/>
                                          </p:stCondLst>
                                        </p:cTn>
                                        <p:tgtEl>
                                          <p:spTgt spid="750603"/>
                                        </p:tgtEl>
                                        <p:attrNameLst>
                                          <p:attrName>style.visibility</p:attrName>
                                        </p:attrNameLst>
                                      </p:cBhvr>
                                      <p:to>
                                        <p:strVal val="visible"/>
                                      </p:to>
                                    </p:set>
                                    <p:anim calcmode="lin" valueType="num">
                                      <p:cBhvr>
                                        <p:cTn id="21" dur="500" fill="hold"/>
                                        <p:tgtEl>
                                          <p:spTgt spid="750603"/>
                                        </p:tgtEl>
                                        <p:attrNameLst>
                                          <p:attrName>ppt_x</p:attrName>
                                        </p:attrNameLst>
                                      </p:cBhvr>
                                      <p:tavLst>
                                        <p:tav tm="0">
                                          <p:val>
                                            <p:strVal val="#ppt_x"/>
                                          </p:val>
                                        </p:tav>
                                        <p:tav tm="100000">
                                          <p:val>
                                            <p:strVal val="#ppt_x"/>
                                          </p:val>
                                        </p:tav>
                                      </p:tavLst>
                                    </p:anim>
                                    <p:anim calcmode="lin" valueType="num">
                                      <p:cBhvr>
                                        <p:cTn id="22" dur="500" fill="hold"/>
                                        <p:tgtEl>
                                          <p:spTgt spid="750603"/>
                                        </p:tgtEl>
                                        <p:attrNameLst>
                                          <p:attrName>ppt_y</p:attrName>
                                        </p:attrNameLst>
                                      </p:cBhvr>
                                      <p:tavLst>
                                        <p:tav tm="0">
                                          <p:val>
                                            <p:strVal val="#ppt_y+#ppt_h/2"/>
                                          </p:val>
                                        </p:tav>
                                        <p:tav tm="100000">
                                          <p:val>
                                            <p:strVal val="#ppt_y"/>
                                          </p:val>
                                        </p:tav>
                                      </p:tavLst>
                                    </p:anim>
                                    <p:anim calcmode="lin" valueType="num">
                                      <p:cBhvr>
                                        <p:cTn id="23" dur="500" fill="hold"/>
                                        <p:tgtEl>
                                          <p:spTgt spid="750603"/>
                                        </p:tgtEl>
                                        <p:attrNameLst>
                                          <p:attrName>ppt_w</p:attrName>
                                        </p:attrNameLst>
                                      </p:cBhvr>
                                      <p:tavLst>
                                        <p:tav tm="0">
                                          <p:val>
                                            <p:strVal val="#ppt_w"/>
                                          </p:val>
                                        </p:tav>
                                        <p:tav tm="100000">
                                          <p:val>
                                            <p:strVal val="#ppt_w"/>
                                          </p:val>
                                        </p:tav>
                                      </p:tavLst>
                                    </p:anim>
                                    <p:anim calcmode="lin" valueType="num">
                                      <p:cBhvr>
                                        <p:cTn id="24" dur="500" fill="hold"/>
                                        <p:tgtEl>
                                          <p:spTgt spid="750603"/>
                                        </p:tgtEl>
                                        <p:attrNameLst>
                                          <p:attrName>ppt_h</p:attrName>
                                        </p:attrNameLst>
                                      </p:cBhvr>
                                      <p:tavLst>
                                        <p:tav tm="0">
                                          <p:val>
                                            <p:fltVal val="0"/>
                                          </p:val>
                                        </p:tav>
                                        <p:tav tm="100000">
                                          <p:val>
                                            <p:strVal val="#ppt_h"/>
                                          </p:val>
                                        </p:tav>
                                      </p:tavLst>
                                    </p:anim>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499"/>
                                          </p:stCondLst>
                                        </p:cTn>
                                        <p:tgtEl>
                                          <p:spTgt spid="750600"/>
                                        </p:tgtEl>
                                        <p:attrNameLst>
                                          <p:attrName>style.visibility</p:attrName>
                                        </p:attrNameLst>
                                      </p:cBhvr>
                                      <p:to>
                                        <p:strVal val="visible"/>
                                      </p:to>
                                    </p:set>
                                  </p:childTnLst>
                                </p:cTn>
                              </p:par>
                            </p:childTnLst>
                          </p:cTn>
                        </p:par>
                        <p:par>
                          <p:cTn id="29" fill="hold">
                            <p:stCondLst>
                              <p:cond delay="500"/>
                            </p:stCondLst>
                            <p:childTnLst>
                              <p:par>
                                <p:cTn id="30" presetID="17" presetClass="entr" presetSubtype="2" fill="hold" grpId="0" nodeType="afterEffect">
                                  <p:stCondLst>
                                    <p:cond delay="0"/>
                                  </p:stCondLst>
                                  <p:childTnLst>
                                    <p:set>
                                      <p:cBhvr>
                                        <p:cTn id="31" dur="1" fill="hold">
                                          <p:stCondLst>
                                            <p:cond delay="0"/>
                                          </p:stCondLst>
                                        </p:cTn>
                                        <p:tgtEl>
                                          <p:spTgt spid="750599"/>
                                        </p:tgtEl>
                                        <p:attrNameLst>
                                          <p:attrName>style.visibility</p:attrName>
                                        </p:attrNameLst>
                                      </p:cBhvr>
                                      <p:to>
                                        <p:strVal val="visible"/>
                                      </p:to>
                                    </p:set>
                                    <p:anim calcmode="lin" valueType="num">
                                      <p:cBhvr>
                                        <p:cTn id="32" dur="500" fill="hold"/>
                                        <p:tgtEl>
                                          <p:spTgt spid="750599"/>
                                        </p:tgtEl>
                                        <p:attrNameLst>
                                          <p:attrName>ppt_x</p:attrName>
                                        </p:attrNameLst>
                                      </p:cBhvr>
                                      <p:tavLst>
                                        <p:tav tm="0">
                                          <p:val>
                                            <p:strVal val="#ppt_x+#ppt_w/2"/>
                                          </p:val>
                                        </p:tav>
                                        <p:tav tm="100000">
                                          <p:val>
                                            <p:strVal val="#ppt_x"/>
                                          </p:val>
                                        </p:tav>
                                      </p:tavLst>
                                    </p:anim>
                                    <p:anim calcmode="lin" valueType="num">
                                      <p:cBhvr>
                                        <p:cTn id="33" dur="500" fill="hold"/>
                                        <p:tgtEl>
                                          <p:spTgt spid="750599"/>
                                        </p:tgtEl>
                                        <p:attrNameLst>
                                          <p:attrName>ppt_y</p:attrName>
                                        </p:attrNameLst>
                                      </p:cBhvr>
                                      <p:tavLst>
                                        <p:tav tm="0">
                                          <p:val>
                                            <p:strVal val="#ppt_y"/>
                                          </p:val>
                                        </p:tav>
                                        <p:tav tm="100000">
                                          <p:val>
                                            <p:strVal val="#ppt_y"/>
                                          </p:val>
                                        </p:tav>
                                      </p:tavLst>
                                    </p:anim>
                                    <p:anim calcmode="lin" valueType="num">
                                      <p:cBhvr>
                                        <p:cTn id="34" dur="500" fill="hold"/>
                                        <p:tgtEl>
                                          <p:spTgt spid="750599"/>
                                        </p:tgtEl>
                                        <p:attrNameLst>
                                          <p:attrName>ppt_w</p:attrName>
                                        </p:attrNameLst>
                                      </p:cBhvr>
                                      <p:tavLst>
                                        <p:tav tm="0">
                                          <p:val>
                                            <p:fltVal val="0"/>
                                          </p:val>
                                        </p:tav>
                                        <p:tav tm="100000">
                                          <p:val>
                                            <p:strVal val="#ppt_w"/>
                                          </p:val>
                                        </p:tav>
                                      </p:tavLst>
                                    </p:anim>
                                    <p:anim calcmode="lin" valueType="num">
                                      <p:cBhvr>
                                        <p:cTn id="35" dur="500" fill="hold"/>
                                        <p:tgtEl>
                                          <p:spTgt spid="750599"/>
                                        </p:tgtEl>
                                        <p:attrNameLst>
                                          <p:attrName>ppt_h</p:attrName>
                                        </p:attrNameLst>
                                      </p:cBhvr>
                                      <p:tavLst>
                                        <p:tav tm="0">
                                          <p:val>
                                            <p:strVal val="#ppt_h"/>
                                          </p:val>
                                        </p:tav>
                                        <p:tav tm="100000">
                                          <p:val>
                                            <p:strVal val="#ppt_h"/>
                                          </p:val>
                                        </p:tav>
                                      </p:tavLst>
                                    </p:anim>
                                  </p:childTnLst>
                                </p:cTn>
                              </p:par>
                            </p:childTnLst>
                          </p:cTn>
                        </p:par>
                      </p:childTnLst>
                    </p:cTn>
                  </p:par>
                  <p:par>
                    <p:cTn id="36" fill="hold">
                      <p:stCondLst>
                        <p:cond delay="indefinite"/>
                      </p:stCondLst>
                      <p:childTnLst>
                        <p:par>
                          <p:cTn id="37" fill="hold">
                            <p:stCondLst>
                              <p:cond delay="0"/>
                            </p:stCondLst>
                            <p:childTnLst>
                              <p:par>
                                <p:cTn id="38" presetID="2" presetClass="entr" presetSubtype="2" fill="hold" nodeType="clickEffect">
                                  <p:stCondLst>
                                    <p:cond delay="0"/>
                                  </p:stCondLst>
                                  <p:childTnLst>
                                    <p:set>
                                      <p:cBhvr>
                                        <p:cTn id="39" dur="1" fill="hold">
                                          <p:stCondLst>
                                            <p:cond delay="0"/>
                                          </p:stCondLst>
                                        </p:cTn>
                                        <p:tgtEl>
                                          <p:spTgt spid="750607"/>
                                        </p:tgtEl>
                                        <p:attrNameLst>
                                          <p:attrName>style.visibility</p:attrName>
                                        </p:attrNameLst>
                                      </p:cBhvr>
                                      <p:to>
                                        <p:strVal val="visible"/>
                                      </p:to>
                                    </p:set>
                                    <p:anim calcmode="lin" valueType="num">
                                      <p:cBhvr additive="base">
                                        <p:cTn id="40" dur="500" fill="hold"/>
                                        <p:tgtEl>
                                          <p:spTgt spid="750607"/>
                                        </p:tgtEl>
                                        <p:attrNameLst>
                                          <p:attrName>ppt_x</p:attrName>
                                        </p:attrNameLst>
                                      </p:cBhvr>
                                      <p:tavLst>
                                        <p:tav tm="0">
                                          <p:val>
                                            <p:strVal val="1+#ppt_w/2"/>
                                          </p:val>
                                        </p:tav>
                                        <p:tav tm="100000">
                                          <p:val>
                                            <p:strVal val="#ppt_x"/>
                                          </p:val>
                                        </p:tav>
                                      </p:tavLst>
                                    </p:anim>
                                    <p:anim calcmode="lin" valueType="num">
                                      <p:cBhvr additive="base">
                                        <p:cTn id="41" dur="500" fill="hold"/>
                                        <p:tgtEl>
                                          <p:spTgt spid="75060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38"/>
                                            </p:cond>
                                          </p:stCondLst>
                                          <p:endCondLst>
                                            <p:cond evt="onStopAudio" delay="0">
                                              <p:tgtEl>
                                                <p:sldTgt/>
                                              </p:tgtEl>
                                            </p:cond>
                                          </p:endCondLst>
                                        </p:cTn>
                                        <p:tgtEl>
                                          <p:sndTgt r:embed="rId3" name="whoosh.wav"/>
                                        </p:tgtEl>
                                      </p:cMediaNode>
                                    </p:audio>
                                  </p:sub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499"/>
                                          </p:stCondLst>
                                        </p:cTn>
                                        <p:tgtEl>
                                          <p:spTgt spid="750605"/>
                                        </p:tgtEl>
                                        <p:attrNameLst>
                                          <p:attrName>style.visibility</p:attrName>
                                        </p:attrNameLst>
                                      </p:cBhvr>
                                      <p:to>
                                        <p:strVal val="visible"/>
                                      </p:to>
                                    </p:set>
                                  </p:childTnLst>
                                </p:cTn>
                              </p:par>
                            </p:childTnLst>
                          </p:cTn>
                        </p:par>
                        <p:par>
                          <p:cTn id="46" fill="hold">
                            <p:stCondLst>
                              <p:cond delay="500"/>
                            </p:stCondLst>
                            <p:childTnLst>
                              <p:par>
                                <p:cTn id="47" presetID="17" presetClass="entr" presetSubtype="2" fill="hold" grpId="0" nodeType="afterEffect">
                                  <p:stCondLst>
                                    <p:cond delay="0"/>
                                  </p:stCondLst>
                                  <p:childTnLst>
                                    <p:set>
                                      <p:cBhvr>
                                        <p:cTn id="48" dur="1" fill="hold">
                                          <p:stCondLst>
                                            <p:cond delay="0"/>
                                          </p:stCondLst>
                                        </p:cTn>
                                        <p:tgtEl>
                                          <p:spTgt spid="750604"/>
                                        </p:tgtEl>
                                        <p:attrNameLst>
                                          <p:attrName>style.visibility</p:attrName>
                                        </p:attrNameLst>
                                      </p:cBhvr>
                                      <p:to>
                                        <p:strVal val="visible"/>
                                      </p:to>
                                    </p:set>
                                    <p:anim calcmode="lin" valueType="num">
                                      <p:cBhvr>
                                        <p:cTn id="49" dur="500" fill="hold"/>
                                        <p:tgtEl>
                                          <p:spTgt spid="750604"/>
                                        </p:tgtEl>
                                        <p:attrNameLst>
                                          <p:attrName>ppt_x</p:attrName>
                                        </p:attrNameLst>
                                      </p:cBhvr>
                                      <p:tavLst>
                                        <p:tav tm="0">
                                          <p:val>
                                            <p:strVal val="#ppt_x+#ppt_w/2"/>
                                          </p:val>
                                        </p:tav>
                                        <p:tav tm="100000">
                                          <p:val>
                                            <p:strVal val="#ppt_x"/>
                                          </p:val>
                                        </p:tav>
                                      </p:tavLst>
                                    </p:anim>
                                    <p:anim calcmode="lin" valueType="num">
                                      <p:cBhvr>
                                        <p:cTn id="50" dur="500" fill="hold"/>
                                        <p:tgtEl>
                                          <p:spTgt spid="750604"/>
                                        </p:tgtEl>
                                        <p:attrNameLst>
                                          <p:attrName>ppt_y</p:attrName>
                                        </p:attrNameLst>
                                      </p:cBhvr>
                                      <p:tavLst>
                                        <p:tav tm="0">
                                          <p:val>
                                            <p:strVal val="#ppt_y"/>
                                          </p:val>
                                        </p:tav>
                                        <p:tav tm="100000">
                                          <p:val>
                                            <p:strVal val="#ppt_y"/>
                                          </p:val>
                                        </p:tav>
                                      </p:tavLst>
                                    </p:anim>
                                    <p:anim calcmode="lin" valueType="num">
                                      <p:cBhvr>
                                        <p:cTn id="51" dur="500" fill="hold"/>
                                        <p:tgtEl>
                                          <p:spTgt spid="750604"/>
                                        </p:tgtEl>
                                        <p:attrNameLst>
                                          <p:attrName>ppt_w</p:attrName>
                                        </p:attrNameLst>
                                      </p:cBhvr>
                                      <p:tavLst>
                                        <p:tav tm="0">
                                          <p:val>
                                            <p:fltVal val="0"/>
                                          </p:val>
                                        </p:tav>
                                        <p:tav tm="100000">
                                          <p:val>
                                            <p:strVal val="#ppt_w"/>
                                          </p:val>
                                        </p:tav>
                                      </p:tavLst>
                                    </p:anim>
                                    <p:anim calcmode="lin" valueType="num">
                                      <p:cBhvr>
                                        <p:cTn id="52" dur="500" fill="hold"/>
                                        <p:tgtEl>
                                          <p:spTgt spid="750604"/>
                                        </p:tgtEl>
                                        <p:attrNameLst>
                                          <p:attrName>ppt_h</p:attrName>
                                        </p:attrNameLst>
                                      </p:cBhvr>
                                      <p:tavLst>
                                        <p:tav tm="0">
                                          <p:val>
                                            <p:strVal val="#ppt_h"/>
                                          </p:val>
                                        </p:tav>
                                        <p:tav tm="100000">
                                          <p:val>
                                            <p:strVal val="#ppt_h"/>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2" fill="hold" nodeType="clickEffect">
                                  <p:stCondLst>
                                    <p:cond delay="0"/>
                                  </p:stCondLst>
                                  <p:childTnLst>
                                    <p:set>
                                      <p:cBhvr>
                                        <p:cTn id="56" dur="1" fill="hold">
                                          <p:stCondLst>
                                            <p:cond delay="0"/>
                                          </p:stCondLst>
                                        </p:cTn>
                                        <p:tgtEl>
                                          <p:spTgt spid="750606"/>
                                        </p:tgtEl>
                                        <p:attrNameLst>
                                          <p:attrName>style.visibility</p:attrName>
                                        </p:attrNameLst>
                                      </p:cBhvr>
                                      <p:to>
                                        <p:strVal val="visible"/>
                                      </p:to>
                                    </p:set>
                                    <p:anim calcmode="lin" valueType="num">
                                      <p:cBhvr additive="base">
                                        <p:cTn id="57" dur="500" fill="hold"/>
                                        <p:tgtEl>
                                          <p:spTgt spid="750606"/>
                                        </p:tgtEl>
                                        <p:attrNameLst>
                                          <p:attrName>ppt_x</p:attrName>
                                        </p:attrNameLst>
                                      </p:cBhvr>
                                      <p:tavLst>
                                        <p:tav tm="0">
                                          <p:val>
                                            <p:strVal val="1+#ppt_w/2"/>
                                          </p:val>
                                        </p:tav>
                                        <p:tav tm="100000">
                                          <p:val>
                                            <p:strVal val="#ppt_x"/>
                                          </p:val>
                                        </p:tav>
                                      </p:tavLst>
                                    </p:anim>
                                    <p:anim calcmode="lin" valueType="num">
                                      <p:cBhvr additive="base">
                                        <p:cTn id="58" dur="500" fill="hold"/>
                                        <p:tgtEl>
                                          <p:spTgt spid="750606"/>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5"/>
                                            </p:cond>
                                          </p:stCondLst>
                                          <p:endCondLst>
                                            <p:cond evt="onStopAudio" delay="0">
                                              <p:tgtEl>
                                                <p:sldTgt/>
                                              </p:tgtEl>
                                            </p:cond>
                                          </p:endCondLst>
                                        </p:cTn>
                                        <p:tgtEl>
                                          <p:sndTgt r:embed="rId3" name="whoosh.wav"/>
                                        </p:tgtEl>
                                      </p:cMediaNode>
                                    </p:audio>
                                  </p:sub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17">
                                            <p:bg/>
                                          </p:spTgt>
                                        </p:tgtEl>
                                        <p:attrNameLst>
                                          <p:attrName>style.visibility</p:attrName>
                                        </p:attrNameLst>
                                      </p:cBhvr>
                                      <p:to>
                                        <p:strVal val="visible"/>
                                      </p:to>
                                    </p:set>
                                    <p:animEffect transition="in" filter="fade">
                                      <p:cBhvr>
                                        <p:cTn id="63" dur="2000"/>
                                        <p:tgtEl>
                                          <p:spTgt spid="17">
                                            <p:bg/>
                                          </p:spTgt>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17">
                                            <p:txEl>
                                              <p:pRg st="0" end="0"/>
                                            </p:txEl>
                                          </p:spTgt>
                                        </p:tgtEl>
                                        <p:attrNameLst>
                                          <p:attrName>style.visibility</p:attrName>
                                        </p:attrNameLst>
                                      </p:cBhvr>
                                      <p:to>
                                        <p:strVal val="visible"/>
                                      </p:to>
                                    </p:set>
                                    <p:animEffect transition="in" filter="fade">
                                      <p:cBhvr>
                                        <p:cTn id="68" dur="2000"/>
                                        <p:tgtEl>
                                          <p:spTgt spid="17">
                                            <p:txEl>
                                              <p:pRg st="0" end="0"/>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17">
                                            <p:txEl>
                                              <p:pRg st="1" end="1"/>
                                            </p:txEl>
                                          </p:spTgt>
                                        </p:tgtEl>
                                        <p:attrNameLst>
                                          <p:attrName>style.visibility</p:attrName>
                                        </p:attrNameLst>
                                      </p:cBhvr>
                                      <p:to>
                                        <p:strVal val="visible"/>
                                      </p:to>
                                    </p:set>
                                    <p:animEffect transition="in" filter="fade">
                                      <p:cBhvr>
                                        <p:cTn id="73" dur="2000"/>
                                        <p:tgtEl>
                                          <p:spTgt spid="17">
                                            <p:txEl>
                                              <p:pRg st="1" end="1"/>
                                            </p:txEl>
                                          </p:spTgt>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17">
                                            <p:txEl>
                                              <p:pRg st="2" end="2"/>
                                            </p:txEl>
                                          </p:spTgt>
                                        </p:tgtEl>
                                        <p:attrNameLst>
                                          <p:attrName>style.visibility</p:attrName>
                                        </p:attrNameLst>
                                      </p:cBhvr>
                                      <p:to>
                                        <p:strVal val="visible"/>
                                      </p:to>
                                    </p:set>
                                    <p:animEffect transition="in" filter="fade">
                                      <p:cBhvr>
                                        <p:cTn id="78" dur="2000"/>
                                        <p:tgtEl>
                                          <p:spTgt spid="1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0599" grpId="0" animBg="1"/>
      <p:bldP spid="750600" grpId="0" animBg="1"/>
      <p:bldP spid="750601" grpId="0" animBg="1"/>
      <p:bldP spid="750602" grpId="0" animBg="1"/>
      <p:bldP spid="750603" grpId="0" animBg="1"/>
      <p:bldP spid="750604" grpId="0" animBg="1"/>
      <p:bldP spid="750605" grpId="0" animBg="1"/>
      <p:bldP spid="17" grpId="0" build="p"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
          <p:cNvSpPr>
            <a:spLocks noChangeArrowheads="1"/>
          </p:cNvSpPr>
          <p:nvPr/>
        </p:nvSpPr>
        <p:spPr bwMode="auto">
          <a:xfrm>
            <a:off x="820738" y="152400"/>
            <a:ext cx="7358063"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二叉树的性质和存储结构</a:t>
            </a:r>
          </a:p>
        </p:txBody>
      </p:sp>
      <p:sp>
        <p:nvSpPr>
          <p:cNvPr id="39939" name="椭圆 6"/>
          <p:cNvSpPr/>
          <p:nvPr/>
        </p:nvSpPr>
        <p:spPr>
          <a:xfrm>
            <a:off x="979488" y="5352132"/>
            <a:ext cx="95250" cy="155575"/>
          </a:xfrm>
          <a:prstGeom prst="ellipse">
            <a:avLst/>
          </a:prstGeom>
          <a:solidFill>
            <a:srgbClr val="A5A5E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latin typeface="Arial Narrow" panose="020B0606020202030204" pitchFamily="34" charset="0"/>
            </a:endParaRPr>
          </a:p>
        </p:txBody>
      </p:sp>
      <p:sp>
        <p:nvSpPr>
          <p:cNvPr id="39940" name="椭圆 6"/>
          <p:cNvSpPr/>
          <p:nvPr/>
        </p:nvSpPr>
        <p:spPr>
          <a:xfrm>
            <a:off x="309563" y="5361657"/>
            <a:ext cx="95250" cy="155575"/>
          </a:xfrm>
          <a:prstGeom prst="ellipse">
            <a:avLst/>
          </a:prstGeom>
          <a:solidFill>
            <a:srgbClr val="59595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latin typeface="Arial Narrow" panose="020B0606020202030204" pitchFamily="34" charset="0"/>
            </a:endParaRPr>
          </a:p>
        </p:txBody>
      </p:sp>
      <p:sp>
        <p:nvSpPr>
          <p:cNvPr id="39941" name="椭圆 11"/>
          <p:cNvSpPr/>
          <p:nvPr/>
        </p:nvSpPr>
        <p:spPr>
          <a:xfrm>
            <a:off x="304800" y="2994695"/>
            <a:ext cx="96838" cy="155575"/>
          </a:xfrm>
          <a:prstGeom prst="ellipse">
            <a:avLst/>
          </a:prstGeom>
          <a:solidFill>
            <a:srgbClr val="59595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latin typeface="Arial Narrow" panose="020B0606020202030204" pitchFamily="34" charset="0"/>
            </a:endParaRPr>
          </a:p>
        </p:txBody>
      </p:sp>
      <p:sp>
        <p:nvSpPr>
          <p:cNvPr id="8" name="矩形 7"/>
          <p:cNvSpPr>
            <a:spLocks noChangeArrowheads="1"/>
          </p:cNvSpPr>
          <p:nvPr/>
        </p:nvSpPr>
        <p:spPr bwMode="auto">
          <a:xfrm>
            <a:off x="-36512" y="3836107"/>
            <a:ext cx="9140825" cy="165601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lIns="4248000" rIns="252000" anchor="ctr"/>
          <a:lstStyle/>
          <a:p>
            <a:pPr marL="0" marR="0" lvl="0" indent="0" algn="just" defTabSz="914400" rtl="0" eaLnBrk="1" fontAlgn="base" latinLnBrk="0" hangingPunct="1">
              <a:lnSpc>
                <a:spcPct val="130000"/>
              </a:lnSpc>
              <a:spcBef>
                <a:spcPts val="600"/>
              </a:spcBef>
              <a:spcAft>
                <a:spcPts val="600"/>
              </a:spcAft>
              <a:buClrTx/>
              <a:buSzTx/>
              <a:buFontTx/>
              <a:buNone/>
              <a:defRPr/>
            </a:pPr>
            <a:endParaRPr kumimoji="0" lang="zh-CN" altLang="en-US" sz="2800" b="1" i="0" u="none" strike="noStrike" kern="1200" cap="none" spc="0" normalizeH="0" baseline="0" noProof="0" dirty="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cs typeface="+mn-cs"/>
            </a:endParaRPr>
          </a:p>
        </p:txBody>
      </p:sp>
      <p:sp>
        <p:nvSpPr>
          <p:cNvPr id="39943" name="圆角矩形 15"/>
          <p:cNvSpPr/>
          <p:nvPr/>
        </p:nvSpPr>
        <p:spPr>
          <a:xfrm>
            <a:off x="334963" y="3845632"/>
            <a:ext cx="492125" cy="1671600"/>
          </a:xfrm>
          <a:custGeom>
            <a:avLst/>
            <a:gdLst>
              <a:gd name="txL" fmla="*/ 0 w 738285"/>
              <a:gd name="txT" fmla="*/ 0 h 4248500"/>
              <a:gd name="txR" fmla="*/ 738285 w 738285"/>
              <a:gd name="txB" fmla="*/ 4248500 h 4248500"/>
            </a:gdLst>
            <a:ahLst/>
            <a:cxnLst>
              <a:cxn ang="0">
                <a:pos x="1562" y="1452"/>
              </a:cxn>
              <a:cxn ang="0">
                <a:pos x="217" y="1"/>
              </a:cxn>
              <a:cxn ang="0">
                <a:pos x="10915" y="1"/>
              </a:cxn>
              <a:cxn ang="0">
                <a:pos x="12786" y="1074"/>
              </a:cxn>
              <a:cxn ang="0">
                <a:pos x="12786" y="41150"/>
              </a:cxn>
              <a:cxn ang="0">
                <a:pos x="10915" y="42223"/>
              </a:cxn>
              <a:cxn ang="0">
                <a:pos x="629" y="42223"/>
              </a:cxn>
              <a:cxn ang="0">
                <a:pos x="1562" y="41150"/>
              </a:cxn>
              <a:cxn ang="0">
                <a:pos x="1562" y="1452"/>
              </a:cxn>
            </a:cxnLst>
            <a:rect l="txL" t="txT" r="txR" b="txB"/>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0070C0"/>
          </a:solidFill>
          <a:ln w="9525">
            <a:noFill/>
          </a:ln>
        </p:spPr>
        <p:txBody>
          <a:bodyPr/>
          <a:lstStyle/>
          <a:p>
            <a:endParaRPr lang="zh-CN" altLang="en-US"/>
          </a:p>
        </p:txBody>
      </p:sp>
      <p:sp>
        <p:nvSpPr>
          <p:cNvPr id="39944" name="椭圆 11"/>
          <p:cNvSpPr/>
          <p:nvPr/>
        </p:nvSpPr>
        <p:spPr>
          <a:xfrm>
            <a:off x="974725" y="2985170"/>
            <a:ext cx="96838" cy="155575"/>
          </a:xfrm>
          <a:prstGeom prst="ellipse">
            <a:avLst/>
          </a:prstGeom>
          <a:solidFill>
            <a:srgbClr val="A5A5E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latin typeface="Arial Narrow" panose="020B0606020202030204" pitchFamily="34" charset="0"/>
            </a:endParaRPr>
          </a:p>
        </p:txBody>
      </p:sp>
      <p:sp>
        <p:nvSpPr>
          <p:cNvPr id="39945" name="圆角矩形 15"/>
          <p:cNvSpPr/>
          <p:nvPr/>
        </p:nvSpPr>
        <p:spPr>
          <a:xfrm>
            <a:off x="1004888" y="3836107"/>
            <a:ext cx="492125" cy="1671600"/>
          </a:xfrm>
          <a:custGeom>
            <a:avLst/>
            <a:gdLst>
              <a:gd name="txL" fmla="*/ 0 w 738285"/>
              <a:gd name="txT" fmla="*/ 0 h 4248500"/>
              <a:gd name="txR" fmla="*/ 738285 w 738285"/>
              <a:gd name="txB" fmla="*/ 4248500 h 4248500"/>
            </a:gdLst>
            <a:ahLst/>
            <a:cxnLst>
              <a:cxn ang="0">
                <a:pos x="1562" y="1452"/>
              </a:cxn>
              <a:cxn ang="0">
                <a:pos x="217" y="1"/>
              </a:cxn>
              <a:cxn ang="0">
                <a:pos x="10915" y="1"/>
              </a:cxn>
              <a:cxn ang="0">
                <a:pos x="12786" y="1074"/>
              </a:cxn>
              <a:cxn ang="0">
                <a:pos x="12786" y="41150"/>
              </a:cxn>
              <a:cxn ang="0">
                <a:pos x="10915" y="42223"/>
              </a:cxn>
              <a:cxn ang="0">
                <a:pos x="629" y="42223"/>
              </a:cxn>
              <a:cxn ang="0">
                <a:pos x="1562" y="41150"/>
              </a:cxn>
              <a:cxn ang="0">
                <a:pos x="1562" y="1452"/>
              </a:cxn>
            </a:cxnLst>
            <a:rect l="txL" t="txT" r="txR" b="txB"/>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A5A5E9">
              <a:alpha val="100000"/>
            </a:srgbClr>
          </a:solidFill>
          <a:ln w="9525">
            <a:noFill/>
          </a:ln>
        </p:spPr>
        <p:txBody>
          <a:bodyPr/>
          <a:lstStyle/>
          <a:p>
            <a:endParaRPr lang="zh-CN" altLang="en-US"/>
          </a:p>
        </p:txBody>
      </p:sp>
      <p:sp>
        <p:nvSpPr>
          <p:cNvPr id="39938" name="Rectangle 4"/>
          <p:cNvSpPr>
            <a:spLocks noChangeArrowheads="1"/>
          </p:cNvSpPr>
          <p:nvPr/>
        </p:nvSpPr>
        <p:spPr bwMode="auto">
          <a:xfrm>
            <a:off x="1689099" y="4012194"/>
            <a:ext cx="7145338" cy="1593850"/>
          </a:xfrm>
          <a:prstGeom prst="rect">
            <a:avLst/>
          </a:prstGeom>
          <a:noFill/>
          <a:ln w="38100">
            <a:noFill/>
            <a:miter lim="800000"/>
          </a:ln>
          <a:extLst>
            <a:ext uri="{909E8E84-426E-40DD-AFC4-6F175D3DCCD1}">
              <a14:hiddenFill xmlns:a14="http://schemas.microsoft.com/office/drawing/2010/main">
                <a:solidFill>
                  <a:srgbClr val="FFFFFF"/>
                </a:solidFill>
              </a14:hiddenFill>
            </a:ext>
          </a:extLst>
        </p:spPr>
        <p:txBody>
          <a:bodyPr lIns="92075" tIns="46038" rIns="92075" bIns="46038"/>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C00000"/>
                </a:solidFill>
                <a:effectLst/>
                <a:uLnTx/>
                <a:uFillTx/>
                <a:latin typeface="+mn-lt"/>
                <a:ea typeface="+mn-ea"/>
                <a:cs typeface="+mn-ea"/>
                <a:sym typeface="+mn-lt"/>
              </a:rPr>
              <a:t>性质</a:t>
            </a:r>
            <a:r>
              <a:rPr kumimoji="0" lang="en-US" altLang="zh-CN" sz="2400" b="0" i="0" u="none" strike="noStrike" kern="1200" cap="none" spc="0" normalizeH="0" baseline="0" noProof="0" dirty="0">
                <a:ln>
                  <a:noFill/>
                </a:ln>
                <a:solidFill>
                  <a:srgbClr val="C00000"/>
                </a:solidFill>
                <a:effectLst/>
                <a:uLnTx/>
                <a:uFillTx/>
                <a:latin typeface="+mn-lt"/>
                <a:ea typeface="+mn-ea"/>
                <a:cs typeface="+mn-ea"/>
                <a:sym typeface="+mn-lt"/>
              </a:rPr>
              <a:t>5: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对完全二叉树，若从上至下、从左至右编号，则编号为</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的结点，其左孩子编号必为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，其右孩子编号必为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2i</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；其双亲的编号必为</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endParaRPr kumimoji="0" lang="zh-TW" altLang="en-US" sz="2400" b="0" i="0" u="none" strike="noStrike" kern="1200" cap="none" spc="0" normalizeH="0" baseline="0" noProof="0" dirty="0">
              <a:ln>
                <a:noFill/>
              </a:ln>
              <a:solidFill>
                <a:schemeClr val="tx1"/>
              </a:solidFill>
              <a:effectLst/>
              <a:uLnTx/>
              <a:uFillTx/>
              <a:latin typeface="+mn-lt"/>
              <a:ea typeface="+mn-ea"/>
              <a:cs typeface="+mn-ea"/>
              <a:sym typeface="+mn-lt"/>
            </a:endParaRPr>
          </a:p>
        </p:txBody>
      </p:sp>
      <p:graphicFrame>
        <p:nvGraphicFramePr>
          <p:cNvPr id="2" name="Object 6"/>
          <p:cNvGraphicFramePr/>
          <p:nvPr/>
        </p:nvGraphicFramePr>
        <p:xfrm>
          <a:off x="4283968" y="1074570"/>
          <a:ext cx="4343400" cy="2501900"/>
        </p:xfrm>
        <a:graphic>
          <a:graphicData uri="http://schemas.openxmlformats.org/presentationml/2006/ole">
            <mc:AlternateContent xmlns:mc="http://schemas.openxmlformats.org/markup-compatibility/2006">
              <mc:Choice xmlns:v="urn:schemas-microsoft-com:vml" Requires="v">
                <p:oleObj spid="_x0000_s10266" name="Visio" r:id="rId3" imgW="5076190" imgH="2557145" progId="Visio.Drawing.11">
                  <p:embed/>
                </p:oleObj>
              </mc:Choice>
              <mc:Fallback>
                <p:oleObj name="Visio" r:id="rId3" imgW="5076190" imgH="2557145" progId="Visio.Drawing.11">
                  <p:embed/>
                  <p:pic>
                    <p:nvPicPr>
                      <p:cNvPr id="0" name="Object 6"/>
                      <p:cNvPicPr/>
                      <p:nvPr/>
                    </p:nvPicPr>
                    <p:blipFill>
                      <a:blip r:embed="rId4"/>
                      <a:stretch>
                        <a:fillRect/>
                      </a:stretch>
                    </p:blipFill>
                    <p:spPr>
                      <a:xfrm>
                        <a:off x="4283968" y="1074570"/>
                        <a:ext cx="4343400" cy="2501900"/>
                      </a:xfrm>
                      <a:prstGeom prst="rect">
                        <a:avLst/>
                      </a:prstGeom>
                      <a:solidFill>
                        <a:srgbClr val="A5A5E9"/>
                      </a:solidFill>
                      <a:ln w="9525" cap="flat" cmpd="sng">
                        <a:solidFill>
                          <a:srgbClr val="A78DC2"/>
                        </a:solidFill>
                        <a:prstDash val="solid"/>
                        <a:miter/>
                        <a:headEnd type="none" w="med" len="med"/>
                        <a:tailEnd type="none" w="med" len="med"/>
                      </a:ln>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圆角矩形 1"/>
          <p:cNvSpPr/>
          <p:nvPr/>
        </p:nvSpPr>
        <p:spPr>
          <a:xfrm>
            <a:off x="354013" y="2205038"/>
            <a:ext cx="8229600" cy="4319587"/>
          </a:xfrm>
          <a:prstGeom prst="roundRect">
            <a:avLst>
              <a:gd name="adj" fmla="val 2556"/>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2" name="Rectangle 5"/>
          <p:cNvSpPr>
            <a:spLocks noChangeArrowheads="1"/>
          </p:cNvSpPr>
          <p:nvPr/>
        </p:nvSpPr>
        <p:spPr bwMode="auto">
          <a:xfrm>
            <a:off x="860425" y="207963"/>
            <a:ext cx="467677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二叉树的顺序存储</a:t>
            </a:r>
          </a:p>
        </p:txBody>
      </p:sp>
      <p:pic>
        <p:nvPicPr>
          <p:cNvPr id="40964" name="Picture 6"/>
          <p:cNvPicPr>
            <a:picLocks noChangeAspect="1"/>
          </p:cNvPicPr>
          <p:nvPr/>
        </p:nvPicPr>
        <p:blipFill>
          <a:blip r:embed="rId2">
            <a:clrChange>
              <a:clrFrom>
                <a:srgbClr val="FFFFFF"/>
              </a:clrFrom>
              <a:clrTo>
                <a:srgbClr val="FFFFFF">
                  <a:alpha val="0"/>
                </a:srgbClr>
              </a:clrTo>
            </a:clrChange>
          </a:blip>
          <a:srcRect r="55173" b="8536"/>
          <a:stretch>
            <a:fillRect/>
          </a:stretch>
        </p:blipFill>
        <p:spPr>
          <a:xfrm>
            <a:off x="1516063" y="2503488"/>
            <a:ext cx="5905500" cy="3657600"/>
          </a:xfrm>
          <a:prstGeom prst="rect">
            <a:avLst/>
          </a:prstGeom>
          <a:noFill/>
          <a:ln w="9525">
            <a:noFill/>
          </a:ln>
        </p:spPr>
      </p:pic>
      <p:sp>
        <p:nvSpPr>
          <p:cNvPr id="751623" name="Rectangle 7"/>
          <p:cNvSpPr>
            <a:spLocks noChangeArrowheads="1"/>
          </p:cNvSpPr>
          <p:nvPr/>
        </p:nvSpPr>
        <p:spPr bwMode="auto">
          <a:xfrm>
            <a:off x="354013" y="1150938"/>
            <a:ext cx="8229600" cy="987425"/>
          </a:xfrm>
          <a:prstGeom prst="roundRect">
            <a:avLst>
              <a:gd name="adj" fmla="val 10237"/>
            </a:avLst>
          </a:prstGeom>
          <a:solidFill>
            <a:schemeClr val="accent1">
              <a:lumMod val="60000"/>
              <a:lumOff val="40000"/>
            </a:schemeClr>
          </a:solidFill>
          <a:ln w="38100">
            <a:noFill/>
            <a:miter lim="800000"/>
          </a:ln>
          <a:effectLst/>
        </p:spPr>
        <p:txBody>
          <a:bodyPr>
            <a:spAutoFit/>
          </a:bodyPr>
          <a:lstStyle/>
          <a:p>
            <a:pPr marL="0" marR="0" lvl="0" indent="0" algn="l" defTabSz="914400" rtl="0" eaLnBrk="1" fontAlgn="base" latinLnBrk="0" hangingPunct="1">
              <a:lnSpc>
                <a:spcPct val="100000"/>
              </a:lnSpc>
              <a:spcBef>
                <a:spcPct val="20000"/>
              </a:spcBef>
              <a:spcAft>
                <a:spcPct val="0"/>
              </a:spcAft>
              <a:buClrTx/>
              <a:buSzTx/>
              <a:buFontTx/>
              <a:buNone/>
              <a:defRPr/>
            </a:pPr>
            <a:r>
              <a:rPr kumimoji="1" lang="zh-CN" altLang="en-US" sz="2600" b="0" i="0" u="none" strike="noStrike" kern="1200" cap="none" spc="0" normalizeH="0" baseline="0" noProof="0" dirty="0">
                <a:ln>
                  <a:noFill/>
                </a:ln>
                <a:solidFill>
                  <a:schemeClr val="bg1"/>
                </a:solidFill>
                <a:effectLst/>
                <a:uLnTx/>
                <a:uFillTx/>
                <a:latin typeface="+mn-lt"/>
                <a:ea typeface="+mn-ea"/>
                <a:cs typeface="+mn-ea"/>
                <a:sym typeface="+mn-lt"/>
              </a:rPr>
              <a:t>实现：按</a:t>
            </a:r>
            <a:r>
              <a:rPr kumimoji="1" lang="zh-CN" altLang="en-US" sz="2600" b="0" i="0" u="none" strike="noStrike" kern="1200" cap="none" spc="0" normalizeH="0" baseline="0" noProof="0" dirty="0">
                <a:ln>
                  <a:noFill/>
                </a:ln>
                <a:solidFill>
                  <a:srgbClr val="FFFF00"/>
                </a:solidFill>
                <a:effectLst/>
                <a:uLnTx/>
                <a:uFillTx/>
                <a:latin typeface="+mn-lt"/>
                <a:ea typeface="+mn-ea"/>
                <a:cs typeface="+mn-ea"/>
                <a:sym typeface="+mn-lt"/>
              </a:rPr>
              <a:t>满二叉树</a:t>
            </a:r>
            <a:r>
              <a:rPr kumimoji="1" lang="zh-CN" altLang="en-US" sz="2600" b="0" i="0" u="none" strike="noStrike" kern="1200" cap="none" spc="0" normalizeH="0" baseline="0" noProof="0" dirty="0">
                <a:ln>
                  <a:noFill/>
                </a:ln>
                <a:solidFill>
                  <a:schemeClr val="bg1"/>
                </a:solidFill>
                <a:effectLst/>
                <a:uLnTx/>
                <a:uFillTx/>
                <a:latin typeface="+mn-lt"/>
                <a:ea typeface="+mn-ea"/>
                <a:cs typeface="+mn-ea"/>
                <a:sym typeface="+mn-lt"/>
              </a:rPr>
              <a:t>的结点层次编号，依次存放二叉树中的数据元素。</a:t>
            </a:r>
          </a:p>
        </p:txBody>
      </p:sp>
    </p:spTree>
  </p:cSld>
  <p:clrMapOvr>
    <a:masterClrMapping/>
  </p:clrMapOvr>
  <p:transition>
    <p:cover dir="d"/>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986" name="Group 4"/>
          <p:cNvGrpSpPr/>
          <p:nvPr/>
        </p:nvGrpSpPr>
        <p:grpSpPr>
          <a:xfrm>
            <a:off x="460375" y="1016000"/>
            <a:ext cx="4265613" cy="750888"/>
            <a:chOff x="2290" y="2127"/>
            <a:chExt cx="2614" cy="440"/>
          </a:xfrm>
        </p:grpSpPr>
        <p:grpSp>
          <p:nvGrpSpPr>
            <p:cNvPr id="42012" name="Group 5"/>
            <p:cNvGrpSpPr/>
            <p:nvPr/>
          </p:nvGrpSpPr>
          <p:grpSpPr>
            <a:xfrm>
              <a:off x="2290" y="2312"/>
              <a:ext cx="2614" cy="255"/>
              <a:chOff x="2512" y="2312"/>
              <a:chExt cx="2614" cy="255"/>
            </a:xfrm>
          </p:grpSpPr>
          <p:sp>
            <p:nvSpPr>
              <p:cNvPr id="41988" name="Rectangle 6"/>
              <p:cNvSpPr>
                <a:spLocks noChangeArrowheads="1"/>
              </p:cNvSpPr>
              <p:nvPr/>
            </p:nvSpPr>
            <p:spPr bwMode="auto">
              <a:xfrm>
                <a:off x="2512" y="2321"/>
                <a:ext cx="2614" cy="233"/>
              </a:xfrm>
              <a:prstGeom prst="rect">
                <a:avLst/>
              </a:prstGeom>
              <a:solidFill>
                <a:schemeClr val="accent1">
                  <a:lumMod val="20000"/>
                  <a:lumOff val="80000"/>
                </a:schemeClr>
              </a:solidFill>
              <a:ln w="9525">
                <a:solidFill>
                  <a:schemeClr val="tx1"/>
                </a:solidFill>
                <a:miter lim="800000"/>
              </a:ln>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    b    c    d    e    </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0    0    0    0</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f     g </a:t>
                </a:r>
              </a:p>
            </p:txBody>
          </p:sp>
          <p:sp>
            <p:nvSpPr>
              <p:cNvPr id="41989" name="Line 7"/>
              <p:cNvSpPr>
                <a:spLocks noChangeShapeType="1"/>
              </p:cNvSpPr>
              <p:nvPr/>
            </p:nvSpPr>
            <p:spPr bwMode="auto">
              <a:xfrm>
                <a:off x="2723" y="2312"/>
                <a:ext cx="0" cy="25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 name="Line 8"/>
              <p:cNvSpPr>
                <a:spLocks noChangeShapeType="1"/>
              </p:cNvSpPr>
              <p:nvPr/>
            </p:nvSpPr>
            <p:spPr bwMode="auto">
              <a:xfrm>
                <a:off x="2960" y="2312"/>
                <a:ext cx="0" cy="2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3" name="Line 9"/>
              <p:cNvSpPr>
                <a:spLocks noChangeShapeType="1"/>
              </p:cNvSpPr>
              <p:nvPr/>
            </p:nvSpPr>
            <p:spPr bwMode="auto">
              <a:xfrm>
                <a:off x="3197" y="2312"/>
                <a:ext cx="0" cy="2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 name="Line 10"/>
              <p:cNvSpPr>
                <a:spLocks noChangeShapeType="1"/>
              </p:cNvSpPr>
              <p:nvPr/>
            </p:nvSpPr>
            <p:spPr bwMode="auto">
              <a:xfrm>
                <a:off x="3434" y="2312"/>
                <a:ext cx="0" cy="2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 name="Line 11"/>
              <p:cNvSpPr>
                <a:spLocks noChangeShapeType="1"/>
              </p:cNvSpPr>
              <p:nvPr/>
            </p:nvSpPr>
            <p:spPr bwMode="auto">
              <a:xfrm>
                <a:off x="3671" y="2312"/>
                <a:ext cx="0" cy="2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 name="Line 12"/>
              <p:cNvSpPr>
                <a:spLocks noChangeShapeType="1"/>
              </p:cNvSpPr>
              <p:nvPr/>
            </p:nvSpPr>
            <p:spPr bwMode="auto">
              <a:xfrm>
                <a:off x="3908" y="2312"/>
                <a:ext cx="0" cy="2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 name="Line 13"/>
              <p:cNvSpPr>
                <a:spLocks noChangeShapeType="1"/>
              </p:cNvSpPr>
              <p:nvPr/>
            </p:nvSpPr>
            <p:spPr bwMode="auto">
              <a:xfrm>
                <a:off x="4145" y="2312"/>
                <a:ext cx="0" cy="2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 name="Line 14"/>
              <p:cNvSpPr>
                <a:spLocks noChangeShapeType="1"/>
              </p:cNvSpPr>
              <p:nvPr/>
            </p:nvSpPr>
            <p:spPr bwMode="auto">
              <a:xfrm>
                <a:off x="4382" y="2312"/>
                <a:ext cx="0" cy="2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 name="Line 15"/>
              <p:cNvSpPr>
                <a:spLocks noChangeShapeType="1"/>
              </p:cNvSpPr>
              <p:nvPr/>
            </p:nvSpPr>
            <p:spPr bwMode="auto">
              <a:xfrm>
                <a:off x="4619" y="2312"/>
                <a:ext cx="0" cy="2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 name="Line 16"/>
              <p:cNvSpPr>
                <a:spLocks noChangeShapeType="1"/>
              </p:cNvSpPr>
              <p:nvPr/>
            </p:nvSpPr>
            <p:spPr bwMode="auto">
              <a:xfrm>
                <a:off x="4832" y="2312"/>
                <a:ext cx="0" cy="2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2" name="Text Box 17"/>
            <p:cNvSpPr txBox="1">
              <a:spLocks noChangeArrowheads="1"/>
            </p:cNvSpPr>
            <p:nvPr/>
          </p:nvSpPr>
          <p:spPr bwMode="auto">
            <a:xfrm>
              <a:off x="2309" y="2127"/>
              <a:ext cx="252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0    1   2    3    4    5    6    7    8    9   10</a:t>
              </a:r>
            </a:p>
          </p:txBody>
        </p:sp>
      </p:grpSp>
      <p:sp>
        <p:nvSpPr>
          <p:cNvPr id="846886" name="Rectangle 38"/>
          <p:cNvSpPr>
            <a:spLocks noChangeArrowheads="1"/>
          </p:cNvSpPr>
          <p:nvPr/>
        </p:nvSpPr>
        <p:spPr bwMode="auto">
          <a:xfrm>
            <a:off x="498475" y="4954588"/>
            <a:ext cx="8231188" cy="1582738"/>
          </a:xfrm>
          <a:prstGeom prst="rect">
            <a:avLst/>
          </a:prstGeom>
          <a:solidFill>
            <a:srgbClr val="E2D9EB"/>
          </a:solidFill>
          <a:ln w="38100">
            <a:solidFill>
              <a:schemeClr val="bg2">
                <a:lumMod val="60000"/>
                <a:lumOff val="40000"/>
              </a:schemeClr>
            </a:solidFill>
            <a:miter lim="800000"/>
          </a:ln>
          <a:effectLst/>
        </p:spPr>
        <p:txBody>
          <a:bodyPr>
            <a:spAutoFit/>
          </a:bodyPr>
          <a:lstStyle/>
          <a:p>
            <a:pPr marL="0" marR="0" lvl="0" indent="0" algn="l" defTabSz="914400" rtl="0" eaLnBrk="1" fontAlgn="base" latinLnBrk="0" hangingPunct="1">
              <a:lnSpc>
                <a:spcPct val="100000"/>
              </a:lnSpc>
              <a:spcBef>
                <a:spcPct val="20000"/>
              </a:spcBef>
              <a:spcAft>
                <a:spcPct val="0"/>
              </a:spcAft>
              <a:buClrTx/>
              <a:buSzTx/>
              <a:buFontTx/>
              <a:buNone/>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特点：</a:t>
            </a:r>
          </a:p>
          <a:p>
            <a:pPr marL="0" marR="0" lvl="0" indent="0" algn="l" defTabSz="914400" rtl="0" eaLnBrk="1" fontAlgn="base" latinLnBrk="0" hangingPunct="1">
              <a:lnSpc>
                <a:spcPct val="100000"/>
              </a:lnSpc>
              <a:spcBef>
                <a:spcPct val="20000"/>
              </a:spcBef>
              <a:spcAft>
                <a:spcPct val="0"/>
              </a:spcAft>
              <a:buClrTx/>
              <a:buSzTx/>
              <a:buFontTx/>
              <a:buNone/>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结点间关系蕴含在其存储位置中</a:t>
            </a:r>
          </a:p>
          <a:p>
            <a:pPr marL="0" marR="0" lvl="0" indent="0" algn="l" defTabSz="914400" rtl="0" eaLnBrk="1" fontAlgn="base" latinLnBrk="0" hangingPunct="1">
              <a:lnSpc>
                <a:spcPct val="100000"/>
              </a:lnSpc>
              <a:spcBef>
                <a:spcPct val="20000"/>
              </a:spcBef>
              <a:spcAft>
                <a:spcPct val="0"/>
              </a:spcAft>
              <a:buClrTx/>
              <a:buSzTx/>
              <a:buFontTx/>
              <a:buNone/>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浪费空间，适于存</a:t>
            </a: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满二叉树和完全二叉树</a:t>
            </a:r>
            <a:endPar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endParaRPr>
          </a:p>
        </p:txBody>
      </p:sp>
      <p:grpSp>
        <p:nvGrpSpPr>
          <p:cNvPr id="7" name="Group 47"/>
          <p:cNvGrpSpPr/>
          <p:nvPr/>
        </p:nvGrpSpPr>
        <p:grpSpPr>
          <a:xfrm>
            <a:off x="5080000" y="2060575"/>
            <a:ext cx="3543300" cy="2598738"/>
            <a:chOff x="3094" y="489"/>
            <a:chExt cx="2232" cy="1637"/>
          </a:xfrm>
        </p:grpSpPr>
        <p:pic>
          <p:nvPicPr>
            <p:cNvPr id="42010" name="Picture 45"/>
            <p:cNvPicPr>
              <a:picLocks noChangeAspect="1"/>
            </p:cNvPicPr>
            <p:nvPr/>
          </p:nvPicPr>
          <p:blipFill>
            <a:blip r:embed="rId2"/>
            <a:stretch>
              <a:fillRect/>
            </a:stretch>
          </p:blipFill>
          <p:spPr>
            <a:xfrm>
              <a:off x="3094" y="489"/>
              <a:ext cx="2232" cy="1632"/>
            </a:xfrm>
            <a:prstGeom prst="rect">
              <a:avLst/>
            </a:prstGeom>
            <a:noFill/>
            <a:ln w="9525">
              <a:noFill/>
            </a:ln>
          </p:spPr>
        </p:pic>
        <p:sp>
          <p:nvSpPr>
            <p:cNvPr id="42023" name="Text Box 46"/>
            <p:cNvSpPr txBox="1">
              <a:spLocks noChangeArrowheads="1"/>
            </p:cNvSpPr>
            <p:nvPr/>
          </p:nvSpPr>
          <p:spPr bwMode="auto">
            <a:xfrm>
              <a:off x="3334" y="1761"/>
              <a:ext cx="1224"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3200" b="0" i="0" u="none" strike="noStrike" kern="1200" cap="none" spc="0" normalizeH="0" baseline="0" noProof="0" dirty="0">
                  <a:ln>
                    <a:noFill/>
                  </a:ln>
                  <a:solidFill>
                    <a:schemeClr val="accent6">
                      <a:lumMod val="75000"/>
                    </a:schemeClr>
                  </a:solidFill>
                  <a:effectLst/>
                  <a:uLnTx/>
                  <a:uFillTx/>
                  <a:latin typeface="+mn-lt"/>
                  <a:ea typeface="+mn-ea"/>
                  <a:cs typeface="+mn-ea"/>
                  <a:sym typeface="+mn-lt"/>
                </a:rPr>
                <a:t> </a:t>
              </a:r>
              <a:r>
                <a:rPr kumimoji="0" lang="zh-CN" altLang="en-US" sz="3200" b="0" i="0" u="none" strike="noStrike" kern="1200" cap="none" spc="0" normalizeH="0" baseline="0" noProof="0" dirty="0">
                  <a:ln>
                    <a:noFill/>
                  </a:ln>
                  <a:solidFill>
                    <a:schemeClr val="accent6">
                      <a:lumMod val="75000"/>
                    </a:schemeClr>
                  </a:solidFill>
                  <a:effectLst/>
                  <a:uLnTx/>
                  <a:uFillTx/>
                  <a:latin typeface="+mn-lt"/>
                  <a:ea typeface="+mn-ea"/>
                  <a:cs typeface="+mn-ea"/>
                  <a:sym typeface="+mn-lt"/>
                </a:rPr>
                <a:t>单支树</a:t>
              </a:r>
              <a:endParaRPr kumimoji="0" lang="zh-CN" altLang="en-US" sz="1900" b="0" i="0" u="none" strike="noStrike" kern="1200" cap="none" spc="0" normalizeH="0" baseline="0" noProof="0" dirty="0">
                <a:ln>
                  <a:noFill/>
                </a:ln>
                <a:solidFill>
                  <a:schemeClr val="accent6">
                    <a:lumMod val="75000"/>
                  </a:schemeClr>
                </a:solidFill>
                <a:effectLst/>
                <a:uLnTx/>
                <a:uFillTx/>
                <a:latin typeface="+mn-lt"/>
                <a:ea typeface="+mn-ea"/>
                <a:cs typeface="+mn-ea"/>
                <a:sym typeface="+mn-lt"/>
              </a:endParaRPr>
            </a:p>
          </p:txBody>
        </p:sp>
      </p:grpSp>
      <p:sp>
        <p:nvSpPr>
          <p:cNvPr id="42024" name="Rectangle 48"/>
          <p:cNvSpPr>
            <a:spLocks noChangeArrowheads="1"/>
          </p:cNvSpPr>
          <p:nvPr/>
        </p:nvSpPr>
        <p:spPr bwMode="auto">
          <a:xfrm>
            <a:off x="860425" y="215900"/>
            <a:ext cx="467677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二叉树的顺序存储</a:t>
            </a:r>
          </a:p>
        </p:txBody>
      </p:sp>
      <p:grpSp>
        <p:nvGrpSpPr>
          <p:cNvPr id="41990" name="Group 18"/>
          <p:cNvGrpSpPr/>
          <p:nvPr/>
        </p:nvGrpSpPr>
        <p:grpSpPr>
          <a:xfrm>
            <a:off x="479425" y="1962150"/>
            <a:ext cx="3438525" cy="2638425"/>
            <a:chOff x="534" y="1635"/>
            <a:chExt cx="1896" cy="1600"/>
          </a:xfrm>
        </p:grpSpPr>
        <p:grpSp>
          <p:nvGrpSpPr>
            <p:cNvPr id="41991" name="Group 19"/>
            <p:cNvGrpSpPr/>
            <p:nvPr/>
          </p:nvGrpSpPr>
          <p:grpSpPr>
            <a:xfrm>
              <a:off x="808" y="1635"/>
              <a:ext cx="1239" cy="1600"/>
              <a:chOff x="3964" y="227"/>
              <a:chExt cx="1239" cy="1600"/>
            </a:xfrm>
          </p:grpSpPr>
          <p:sp>
            <p:nvSpPr>
              <p:cNvPr id="41997" name="Oval 20"/>
              <p:cNvSpPr/>
              <p:nvPr/>
            </p:nvSpPr>
            <p:spPr>
              <a:xfrm>
                <a:off x="4552" y="227"/>
                <a:ext cx="290" cy="292"/>
              </a:xfrm>
              <a:prstGeom prst="ellipse">
                <a:avLst/>
              </a:prstGeom>
              <a:noFill/>
              <a:ln w="9525" cap="flat" cmpd="sng">
                <a:solidFill>
                  <a:schemeClr val="tx1"/>
                </a:solidFill>
                <a:prstDash val="solid"/>
                <a:headEnd type="none" w="med" len="med"/>
                <a:tailEnd type="none" w="med" len="med"/>
              </a:ln>
            </p:spPr>
            <p:txBody>
              <a:bodyPr wrap="none"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a:lnSpc>
                    <a:spcPct val="100000"/>
                  </a:lnSpc>
                </a:pPr>
                <a:r>
                  <a:rPr lang="en-US" altLang="zh-CN" sz="2000" dirty="0">
                    <a:ea typeface="宋体" panose="02010600030101010101" pitchFamily="2" charset="-122"/>
                  </a:rPr>
                  <a:t>a</a:t>
                </a:r>
              </a:p>
            </p:txBody>
          </p:sp>
          <p:sp>
            <p:nvSpPr>
              <p:cNvPr id="41998" name="Oval 21"/>
              <p:cNvSpPr/>
              <p:nvPr/>
            </p:nvSpPr>
            <p:spPr>
              <a:xfrm>
                <a:off x="4249" y="617"/>
                <a:ext cx="290" cy="292"/>
              </a:xfrm>
              <a:prstGeom prst="ellipse">
                <a:avLst/>
              </a:prstGeom>
              <a:noFill/>
              <a:ln w="9525" cap="flat" cmpd="sng">
                <a:solidFill>
                  <a:schemeClr val="tx1"/>
                </a:solidFill>
                <a:prstDash val="solid"/>
                <a:headEnd type="none" w="med" len="med"/>
                <a:tailEnd type="none" w="med" len="med"/>
              </a:ln>
            </p:spPr>
            <p:txBody>
              <a:bodyPr wrap="none"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a:lnSpc>
                    <a:spcPct val="100000"/>
                  </a:lnSpc>
                </a:pPr>
                <a:r>
                  <a:rPr lang="en-US" altLang="zh-CN" sz="2000" dirty="0">
                    <a:ea typeface="宋体" panose="02010600030101010101" pitchFamily="2" charset="-122"/>
                  </a:rPr>
                  <a:t>b</a:t>
                </a:r>
              </a:p>
            </p:txBody>
          </p:sp>
          <p:sp>
            <p:nvSpPr>
              <p:cNvPr id="41999" name="Oval 22"/>
              <p:cNvSpPr/>
              <p:nvPr/>
            </p:nvSpPr>
            <p:spPr>
              <a:xfrm>
                <a:off x="4874" y="627"/>
                <a:ext cx="290" cy="292"/>
              </a:xfrm>
              <a:prstGeom prst="ellipse">
                <a:avLst/>
              </a:prstGeom>
              <a:noFill/>
              <a:ln w="9525" cap="flat" cmpd="sng">
                <a:solidFill>
                  <a:schemeClr val="tx1"/>
                </a:solidFill>
                <a:prstDash val="solid"/>
                <a:headEnd type="none" w="med" len="med"/>
                <a:tailEnd type="none" w="med" len="med"/>
              </a:ln>
            </p:spPr>
            <p:txBody>
              <a:bodyPr wrap="none"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a:lnSpc>
                    <a:spcPct val="100000"/>
                  </a:lnSpc>
                </a:pPr>
                <a:r>
                  <a:rPr lang="en-US" altLang="zh-CN" sz="2000" dirty="0">
                    <a:ea typeface="宋体" panose="02010600030101010101" pitchFamily="2" charset="-122"/>
                  </a:rPr>
                  <a:t>c</a:t>
                </a:r>
              </a:p>
            </p:txBody>
          </p:sp>
          <p:sp>
            <p:nvSpPr>
              <p:cNvPr id="42000" name="Oval 23"/>
              <p:cNvSpPr/>
              <p:nvPr/>
            </p:nvSpPr>
            <p:spPr>
              <a:xfrm>
                <a:off x="3964" y="1068"/>
                <a:ext cx="290" cy="292"/>
              </a:xfrm>
              <a:prstGeom prst="ellipse">
                <a:avLst/>
              </a:prstGeom>
              <a:noFill/>
              <a:ln w="9525" cap="flat" cmpd="sng">
                <a:solidFill>
                  <a:schemeClr val="tx1"/>
                </a:solidFill>
                <a:prstDash val="solid"/>
                <a:headEnd type="none" w="med" len="med"/>
                <a:tailEnd type="none" w="med" len="med"/>
              </a:ln>
            </p:spPr>
            <p:txBody>
              <a:bodyPr wrap="none"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a:lnSpc>
                    <a:spcPct val="100000"/>
                  </a:lnSpc>
                </a:pPr>
                <a:r>
                  <a:rPr lang="en-US" altLang="zh-CN" sz="2000" dirty="0">
                    <a:ea typeface="宋体" panose="02010600030101010101" pitchFamily="2" charset="-122"/>
                  </a:rPr>
                  <a:t>d</a:t>
                </a:r>
              </a:p>
            </p:txBody>
          </p:sp>
          <p:sp>
            <p:nvSpPr>
              <p:cNvPr id="42001" name="Oval 24"/>
              <p:cNvSpPr/>
              <p:nvPr/>
            </p:nvSpPr>
            <p:spPr>
              <a:xfrm>
                <a:off x="4568" y="1068"/>
                <a:ext cx="290" cy="292"/>
              </a:xfrm>
              <a:prstGeom prst="ellipse">
                <a:avLst/>
              </a:prstGeom>
              <a:noFill/>
              <a:ln w="9525" cap="flat" cmpd="sng">
                <a:solidFill>
                  <a:schemeClr val="tx1"/>
                </a:solidFill>
                <a:prstDash val="solid"/>
                <a:headEnd type="none" w="med" len="med"/>
                <a:tailEnd type="none" w="med" len="med"/>
              </a:ln>
            </p:spPr>
            <p:txBody>
              <a:bodyPr wrap="none"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a:lnSpc>
                    <a:spcPct val="100000"/>
                  </a:lnSpc>
                </a:pPr>
                <a:r>
                  <a:rPr lang="en-US" altLang="zh-CN" sz="2000" dirty="0">
                    <a:ea typeface="宋体" panose="02010600030101010101" pitchFamily="2" charset="-122"/>
                  </a:rPr>
                  <a:t>e</a:t>
                </a:r>
              </a:p>
            </p:txBody>
          </p:sp>
          <p:sp>
            <p:nvSpPr>
              <p:cNvPr id="42002" name="Oval 25"/>
              <p:cNvSpPr/>
              <p:nvPr/>
            </p:nvSpPr>
            <p:spPr>
              <a:xfrm>
                <a:off x="4318" y="1535"/>
                <a:ext cx="290" cy="292"/>
              </a:xfrm>
              <a:prstGeom prst="ellipse">
                <a:avLst/>
              </a:prstGeom>
              <a:noFill/>
              <a:ln w="9525" cap="flat" cmpd="sng">
                <a:solidFill>
                  <a:schemeClr val="tx1"/>
                </a:solidFill>
                <a:prstDash val="solid"/>
                <a:headEnd type="none" w="med" len="med"/>
                <a:tailEnd type="none" w="med" len="med"/>
              </a:ln>
            </p:spPr>
            <p:txBody>
              <a:bodyPr wrap="none"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a:lnSpc>
                    <a:spcPct val="100000"/>
                  </a:lnSpc>
                </a:pPr>
                <a:r>
                  <a:rPr lang="en-US" altLang="zh-CN" sz="2000" dirty="0">
                    <a:ea typeface="宋体" panose="02010600030101010101" pitchFamily="2" charset="-122"/>
                  </a:rPr>
                  <a:t>f</a:t>
                </a:r>
              </a:p>
            </p:txBody>
          </p:sp>
          <p:sp>
            <p:nvSpPr>
              <p:cNvPr id="42003" name="Oval 26"/>
              <p:cNvSpPr/>
              <p:nvPr/>
            </p:nvSpPr>
            <p:spPr>
              <a:xfrm>
                <a:off x="4913" y="1535"/>
                <a:ext cx="290" cy="292"/>
              </a:xfrm>
              <a:prstGeom prst="ellipse">
                <a:avLst/>
              </a:prstGeom>
              <a:noFill/>
              <a:ln w="9525" cap="flat" cmpd="sng">
                <a:solidFill>
                  <a:schemeClr val="tx1"/>
                </a:solidFill>
                <a:prstDash val="solid"/>
                <a:headEnd type="none" w="med" len="med"/>
                <a:tailEnd type="none" w="med" len="med"/>
              </a:ln>
            </p:spPr>
            <p:txBody>
              <a:bodyPr wrap="none"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a:lnSpc>
                    <a:spcPct val="100000"/>
                  </a:lnSpc>
                </a:pPr>
                <a:r>
                  <a:rPr lang="en-US" altLang="zh-CN" sz="2000" dirty="0">
                    <a:ea typeface="宋体" panose="02010600030101010101" pitchFamily="2" charset="-122"/>
                  </a:rPr>
                  <a:t>g</a:t>
                </a:r>
              </a:p>
            </p:txBody>
          </p:sp>
          <p:sp>
            <p:nvSpPr>
              <p:cNvPr id="42004" name="Line 27"/>
              <p:cNvSpPr/>
              <p:nvPr/>
            </p:nvSpPr>
            <p:spPr>
              <a:xfrm flipH="1">
                <a:off x="4501" y="500"/>
                <a:ext cx="111" cy="189"/>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42005" name="Line 28"/>
              <p:cNvSpPr/>
              <p:nvPr/>
            </p:nvSpPr>
            <p:spPr>
              <a:xfrm flipH="1">
                <a:off x="4189" y="900"/>
                <a:ext cx="146" cy="211"/>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42006" name="Line 29"/>
              <p:cNvSpPr/>
              <p:nvPr/>
            </p:nvSpPr>
            <p:spPr>
              <a:xfrm>
                <a:off x="4812" y="456"/>
                <a:ext cx="133" cy="188"/>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42007" name="Line 30"/>
              <p:cNvSpPr/>
              <p:nvPr/>
            </p:nvSpPr>
            <p:spPr>
              <a:xfrm>
                <a:off x="4467" y="878"/>
                <a:ext cx="178" cy="222"/>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42008" name="Line 31"/>
              <p:cNvSpPr/>
              <p:nvPr/>
            </p:nvSpPr>
            <p:spPr>
              <a:xfrm>
                <a:off x="4801" y="1300"/>
                <a:ext cx="189" cy="278"/>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42009" name="Line 32"/>
              <p:cNvSpPr/>
              <p:nvPr/>
            </p:nvSpPr>
            <p:spPr>
              <a:xfrm flipH="1">
                <a:off x="4545" y="1355"/>
                <a:ext cx="111" cy="200"/>
              </a:xfrm>
              <a:prstGeom prst="line">
                <a:avLst/>
              </a:prstGeom>
              <a:ln w="9525" cap="flat" cmpd="sng">
                <a:solidFill>
                  <a:schemeClr val="tx1"/>
                </a:solidFill>
                <a:prstDash val="solid"/>
                <a:headEnd type="none" w="med" len="med"/>
                <a:tailEnd type="none" w="med" len="med"/>
              </a:ln>
            </p:spPr>
            <p:txBody>
              <a:bodyPr/>
              <a:lstStyle/>
              <a:p>
                <a:endParaRPr lang="zh-CN" altLang="en-US"/>
              </a:p>
            </p:txBody>
          </p:sp>
        </p:grpSp>
        <p:grpSp>
          <p:nvGrpSpPr>
            <p:cNvPr id="41992" name="Group 33"/>
            <p:cNvGrpSpPr/>
            <p:nvPr/>
          </p:nvGrpSpPr>
          <p:grpSpPr>
            <a:xfrm>
              <a:off x="534" y="2482"/>
              <a:ext cx="1896" cy="733"/>
              <a:chOff x="0" y="2985"/>
              <a:chExt cx="1896" cy="733"/>
            </a:xfrm>
          </p:grpSpPr>
          <p:sp>
            <p:nvSpPr>
              <p:cNvPr id="41993" name="Oval 34"/>
              <p:cNvSpPr/>
              <p:nvPr/>
            </p:nvSpPr>
            <p:spPr>
              <a:xfrm>
                <a:off x="1244" y="3000"/>
                <a:ext cx="267" cy="266"/>
              </a:xfrm>
              <a:prstGeom prst="ellipse">
                <a:avLst/>
              </a:prstGeom>
              <a:noFill/>
              <a:ln w="28575" cap="flat" cmpd="sng">
                <a:solidFill>
                  <a:srgbClr val="FF0000"/>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endParaRPr lang="zh-CN" altLang="en-US" sz="2800" b="1" dirty="0">
                  <a:ea typeface="仿宋_GB2312" pitchFamily="49" charset="-122"/>
                </a:endParaRPr>
              </a:p>
            </p:txBody>
          </p:sp>
          <p:sp>
            <p:nvSpPr>
              <p:cNvPr id="41994" name="Oval 35"/>
              <p:cNvSpPr/>
              <p:nvPr/>
            </p:nvSpPr>
            <p:spPr>
              <a:xfrm>
                <a:off x="1629" y="2985"/>
                <a:ext cx="267" cy="266"/>
              </a:xfrm>
              <a:prstGeom prst="ellipse">
                <a:avLst/>
              </a:prstGeom>
              <a:noFill/>
              <a:ln w="28575" cap="flat" cmpd="sng">
                <a:solidFill>
                  <a:srgbClr val="FF0000"/>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endParaRPr lang="zh-CN" altLang="en-US" sz="2800" b="1" dirty="0">
                  <a:ea typeface="仿宋_GB2312" pitchFamily="49" charset="-122"/>
                </a:endParaRPr>
              </a:p>
            </p:txBody>
          </p:sp>
          <p:sp>
            <p:nvSpPr>
              <p:cNvPr id="41995" name="Oval 36"/>
              <p:cNvSpPr/>
              <p:nvPr/>
            </p:nvSpPr>
            <p:spPr>
              <a:xfrm>
                <a:off x="0" y="3452"/>
                <a:ext cx="267" cy="266"/>
              </a:xfrm>
              <a:prstGeom prst="ellipse">
                <a:avLst/>
              </a:prstGeom>
              <a:noFill/>
              <a:ln w="28575" cap="flat" cmpd="sng">
                <a:solidFill>
                  <a:srgbClr val="FF0000"/>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endParaRPr lang="zh-CN" altLang="en-US" sz="2800" b="1" dirty="0">
                  <a:ea typeface="仿宋_GB2312" pitchFamily="49" charset="-122"/>
                </a:endParaRPr>
              </a:p>
            </p:txBody>
          </p:sp>
          <p:sp>
            <p:nvSpPr>
              <p:cNvPr id="41996" name="Oval 37"/>
              <p:cNvSpPr/>
              <p:nvPr/>
            </p:nvSpPr>
            <p:spPr>
              <a:xfrm>
                <a:off x="328" y="3440"/>
                <a:ext cx="267" cy="266"/>
              </a:xfrm>
              <a:prstGeom prst="ellipse">
                <a:avLst/>
              </a:prstGeom>
              <a:noFill/>
              <a:ln w="28575" cap="flat" cmpd="sng">
                <a:solidFill>
                  <a:srgbClr val="FF0000"/>
                </a:solidFill>
                <a:prstDash val="solid"/>
                <a:headEnd type="none" w="med" len="med"/>
                <a:tailEnd type="none" w="med" len="med"/>
              </a:ln>
            </p:spPr>
            <p:txBody>
              <a:bodyPr wrap="none"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endParaRPr lang="zh-CN" altLang="en-US" sz="2800" b="1" dirty="0">
                  <a:ea typeface="仿宋_GB2312" pitchFamily="49" charset="-122"/>
                </a:endParaRPr>
              </a:p>
            </p:txBody>
          </p: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ox(in)">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846886"/>
                                        </p:tgtEl>
                                        <p:attrNameLst>
                                          <p:attrName>style.visibility</p:attrName>
                                        </p:attrNameLst>
                                      </p:cBhvr>
                                      <p:to>
                                        <p:strVal val="visible"/>
                                      </p:to>
                                    </p:set>
                                    <p:animEffect transition="in" filter="box(in)">
                                      <p:cBhvr>
                                        <p:cTn id="12" dur="500"/>
                                        <p:tgtEl>
                                          <p:spTgt spid="8468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6886"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2647" name="Rectangle 7"/>
          <p:cNvSpPr>
            <a:spLocks noChangeArrowheads="1"/>
          </p:cNvSpPr>
          <p:nvPr/>
        </p:nvSpPr>
        <p:spPr bwMode="auto">
          <a:xfrm>
            <a:off x="571500" y="2243138"/>
            <a:ext cx="3810000" cy="257810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2" name="Group 8"/>
          <p:cNvGrpSpPr/>
          <p:nvPr/>
        </p:nvGrpSpPr>
        <p:grpSpPr>
          <a:xfrm>
            <a:off x="1893888" y="2962275"/>
            <a:ext cx="971550" cy="930275"/>
            <a:chOff x="977" y="2949"/>
            <a:chExt cx="612" cy="586"/>
          </a:xfrm>
        </p:grpSpPr>
        <p:sp>
          <p:nvSpPr>
            <p:cNvPr id="43012" name="Freeform 9"/>
            <p:cNvSpPr>
              <a:spLocks noChangeArrowheads="1"/>
            </p:cNvSpPr>
            <p:nvPr/>
          </p:nvSpPr>
          <p:spPr bwMode="auto">
            <a:xfrm>
              <a:off x="977" y="2949"/>
              <a:ext cx="612" cy="586"/>
            </a:xfrm>
            <a:custGeom>
              <a:avLst/>
              <a:gdLst>
                <a:gd name="T0" fmla="*/ 0 w 1086"/>
                <a:gd name="T1" fmla="*/ 520 h 1040"/>
                <a:gd name="T2" fmla="*/ 1 w 1086"/>
                <a:gd name="T3" fmla="*/ 461 h 1040"/>
                <a:gd name="T4" fmla="*/ 13 w 1086"/>
                <a:gd name="T5" fmla="*/ 401 h 1040"/>
                <a:gd name="T6" fmla="*/ 32 w 1086"/>
                <a:gd name="T7" fmla="*/ 342 h 1040"/>
                <a:gd name="T8" fmla="*/ 57 w 1086"/>
                <a:gd name="T9" fmla="*/ 286 h 1040"/>
                <a:gd name="T10" fmla="*/ 88 w 1086"/>
                <a:gd name="T11" fmla="*/ 234 h 1040"/>
                <a:gd name="T12" fmla="*/ 126 w 1086"/>
                <a:gd name="T13" fmla="*/ 186 h 1040"/>
                <a:gd name="T14" fmla="*/ 169 w 1086"/>
                <a:gd name="T15" fmla="*/ 142 h 1040"/>
                <a:gd name="T16" fmla="*/ 218 w 1086"/>
                <a:gd name="T17" fmla="*/ 102 h 1040"/>
                <a:gd name="T18" fmla="*/ 270 w 1086"/>
                <a:gd name="T19" fmla="*/ 69 h 1040"/>
                <a:gd name="T20" fmla="*/ 328 w 1086"/>
                <a:gd name="T21" fmla="*/ 42 h 1040"/>
                <a:gd name="T22" fmla="*/ 387 w 1086"/>
                <a:gd name="T23" fmla="*/ 21 h 1040"/>
                <a:gd name="T24" fmla="*/ 449 w 1086"/>
                <a:gd name="T25" fmla="*/ 8 h 1040"/>
                <a:gd name="T26" fmla="*/ 512 w 1086"/>
                <a:gd name="T27" fmla="*/ 0 h 1040"/>
                <a:gd name="T28" fmla="*/ 576 w 1086"/>
                <a:gd name="T29" fmla="*/ 0 h 1040"/>
                <a:gd name="T30" fmla="*/ 637 w 1086"/>
                <a:gd name="T31" fmla="*/ 8 h 1040"/>
                <a:gd name="T32" fmla="*/ 698 w 1086"/>
                <a:gd name="T33" fmla="*/ 21 h 1040"/>
                <a:gd name="T34" fmla="*/ 758 w 1086"/>
                <a:gd name="T35" fmla="*/ 42 h 1040"/>
                <a:gd name="T36" fmla="*/ 816 w 1086"/>
                <a:gd name="T37" fmla="*/ 69 h 1040"/>
                <a:gd name="T38" fmla="*/ 867 w 1086"/>
                <a:gd name="T39" fmla="*/ 102 h 1040"/>
                <a:gd name="T40" fmla="*/ 917 w 1086"/>
                <a:gd name="T41" fmla="*/ 142 h 1040"/>
                <a:gd name="T42" fmla="*/ 960 w 1086"/>
                <a:gd name="T43" fmla="*/ 186 h 1040"/>
                <a:gd name="T44" fmla="*/ 998 w 1086"/>
                <a:gd name="T45" fmla="*/ 234 h 1040"/>
                <a:gd name="T46" fmla="*/ 1029 w 1086"/>
                <a:gd name="T47" fmla="*/ 286 h 1040"/>
                <a:gd name="T48" fmla="*/ 1054 w 1086"/>
                <a:gd name="T49" fmla="*/ 342 h 1040"/>
                <a:gd name="T50" fmla="*/ 1073 w 1086"/>
                <a:gd name="T51" fmla="*/ 401 h 1040"/>
                <a:gd name="T52" fmla="*/ 1084 w 1086"/>
                <a:gd name="T53" fmla="*/ 461 h 1040"/>
                <a:gd name="T54" fmla="*/ 1086 w 1086"/>
                <a:gd name="T55" fmla="*/ 520 h 1040"/>
                <a:gd name="T56" fmla="*/ 1084 w 1086"/>
                <a:gd name="T57" fmla="*/ 582 h 1040"/>
                <a:gd name="T58" fmla="*/ 1073 w 1086"/>
                <a:gd name="T59" fmla="*/ 641 h 1040"/>
                <a:gd name="T60" fmla="*/ 1054 w 1086"/>
                <a:gd name="T61" fmla="*/ 699 h 1040"/>
                <a:gd name="T62" fmla="*/ 1029 w 1086"/>
                <a:gd name="T63" fmla="*/ 754 h 1040"/>
                <a:gd name="T64" fmla="*/ 998 w 1086"/>
                <a:gd name="T65" fmla="*/ 808 h 1040"/>
                <a:gd name="T66" fmla="*/ 960 w 1086"/>
                <a:gd name="T67" fmla="*/ 856 h 1040"/>
                <a:gd name="T68" fmla="*/ 917 w 1086"/>
                <a:gd name="T69" fmla="*/ 900 h 1040"/>
                <a:gd name="T70" fmla="*/ 867 w 1086"/>
                <a:gd name="T71" fmla="*/ 939 h 1040"/>
                <a:gd name="T72" fmla="*/ 816 w 1086"/>
                <a:gd name="T73" fmla="*/ 971 h 1040"/>
                <a:gd name="T74" fmla="*/ 758 w 1086"/>
                <a:gd name="T75" fmla="*/ 1000 h 1040"/>
                <a:gd name="T76" fmla="*/ 698 w 1086"/>
                <a:gd name="T77" fmla="*/ 1019 h 1040"/>
                <a:gd name="T78" fmla="*/ 637 w 1086"/>
                <a:gd name="T79" fmla="*/ 1035 h 1040"/>
                <a:gd name="T80" fmla="*/ 576 w 1086"/>
                <a:gd name="T81" fmla="*/ 1040 h 1040"/>
                <a:gd name="T82" fmla="*/ 512 w 1086"/>
                <a:gd name="T83" fmla="*/ 1040 h 1040"/>
                <a:gd name="T84" fmla="*/ 449 w 1086"/>
                <a:gd name="T85" fmla="*/ 1035 h 1040"/>
                <a:gd name="T86" fmla="*/ 387 w 1086"/>
                <a:gd name="T87" fmla="*/ 1019 h 1040"/>
                <a:gd name="T88" fmla="*/ 328 w 1086"/>
                <a:gd name="T89" fmla="*/ 1000 h 1040"/>
                <a:gd name="T90" fmla="*/ 270 w 1086"/>
                <a:gd name="T91" fmla="*/ 971 h 1040"/>
                <a:gd name="T92" fmla="*/ 218 w 1086"/>
                <a:gd name="T93" fmla="*/ 939 h 1040"/>
                <a:gd name="T94" fmla="*/ 169 w 1086"/>
                <a:gd name="T95" fmla="*/ 900 h 1040"/>
                <a:gd name="T96" fmla="*/ 126 w 1086"/>
                <a:gd name="T97" fmla="*/ 856 h 1040"/>
                <a:gd name="T98" fmla="*/ 88 w 1086"/>
                <a:gd name="T99" fmla="*/ 808 h 1040"/>
                <a:gd name="T100" fmla="*/ 57 w 1086"/>
                <a:gd name="T101" fmla="*/ 754 h 1040"/>
                <a:gd name="T102" fmla="*/ 32 w 1086"/>
                <a:gd name="T103" fmla="*/ 699 h 1040"/>
                <a:gd name="T104" fmla="*/ 13 w 1086"/>
                <a:gd name="T105" fmla="*/ 641 h 1040"/>
                <a:gd name="T106" fmla="*/ 1 w 1086"/>
                <a:gd name="T107" fmla="*/ 582 h 1040"/>
                <a:gd name="T108" fmla="*/ 0 w 1086"/>
                <a:gd name="T109" fmla="*/ 52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6" h="1040">
                  <a:moveTo>
                    <a:pt x="0" y="520"/>
                  </a:moveTo>
                  <a:lnTo>
                    <a:pt x="1" y="461"/>
                  </a:lnTo>
                  <a:lnTo>
                    <a:pt x="13" y="401"/>
                  </a:lnTo>
                  <a:lnTo>
                    <a:pt x="32" y="342"/>
                  </a:lnTo>
                  <a:lnTo>
                    <a:pt x="57" y="286"/>
                  </a:lnTo>
                  <a:lnTo>
                    <a:pt x="88" y="234"/>
                  </a:lnTo>
                  <a:lnTo>
                    <a:pt x="126" y="186"/>
                  </a:lnTo>
                  <a:lnTo>
                    <a:pt x="169" y="142"/>
                  </a:lnTo>
                  <a:lnTo>
                    <a:pt x="218" y="102"/>
                  </a:lnTo>
                  <a:lnTo>
                    <a:pt x="270" y="69"/>
                  </a:lnTo>
                  <a:lnTo>
                    <a:pt x="328" y="42"/>
                  </a:lnTo>
                  <a:lnTo>
                    <a:pt x="387" y="21"/>
                  </a:lnTo>
                  <a:lnTo>
                    <a:pt x="449" y="8"/>
                  </a:lnTo>
                  <a:lnTo>
                    <a:pt x="512" y="0"/>
                  </a:lnTo>
                  <a:lnTo>
                    <a:pt x="576" y="0"/>
                  </a:lnTo>
                  <a:lnTo>
                    <a:pt x="637" y="8"/>
                  </a:lnTo>
                  <a:lnTo>
                    <a:pt x="698" y="21"/>
                  </a:lnTo>
                  <a:lnTo>
                    <a:pt x="758" y="42"/>
                  </a:lnTo>
                  <a:lnTo>
                    <a:pt x="816" y="69"/>
                  </a:lnTo>
                  <a:lnTo>
                    <a:pt x="867" y="102"/>
                  </a:lnTo>
                  <a:lnTo>
                    <a:pt x="917" y="142"/>
                  </a:lnTo>
                  <a:lnTo>
                    <a:pt x="960" y="186"/>
                  </a:lnTo>
                  <a:lnTo>
                    <a:pt x="998" y="234"/>
                  </a:lnTo>
                  <a:lnTo>
                    <a:pt x="1029" y="286"/>
                  </a:lnTo>
                  <a:lnTo>
                    <a:pt x="1054" y="342"/>
                  </a:lnTo>
                  <a:lnTo>
                    <a:pt x="1073" y="401"/>
                  </a:lnTo>
                  <a:lnTo>
                    <a:pt x="1084" y="461"/>
                  </a:lnTo>
                  <a:lnTo>
                    <a:pt x="1086" y="520"/>
                  </a:lnTo>
                  <a:lnTo>
                    <a:pt x="1084" y="582"/>
                  </a:lnTo>
                  <a:lnTo>
                    <a:pt x="1073" y="641"/>
                  </a:lnTo>
                  <a:lnTo>
                    <a:pt x="1054" y="699"/>
                  </a:lnTo>
                  <a:lnTo>
                    <a:pt x="1029" y="754"/>
                  </a:lnTo>
                  <a:lnTo>
                    <a:pt x="998" y="808"/>
                  </a:lnTo>
                  <a:lnTo>
                    <a:pt x="960" y="856"/>
                  </a:lnTo>
                  <a:lnTo>
                    <a:pt x="917" y="900"/>
                  </a:lnTo>
                  <a:lnTo>
                    <a:pt x="867" y="939"/>
                  </a:lnTo>
                  <a:lnTo>
                    <a:pt x="816" y="971"/>
                  </a:lnTo>
                  <a:lnTo>
                    <a:pt x="758" y="1000"/>
                  </a:lnTo>
                  <a:lnTo>
                    <a:pt x="698" y="1019"/>
                  </a:lnTo>
                  <a:lnTo>
                    <a:pt x="637" y="1035"/>
                  </a:lnTo>
                  <a:lnTo>
                    <a:pt x="576" y="1040"/>
                  </a:lnTo>
                  <a:lnTo>
                    <a:pt x="512" y="1040"/>
                  </a:lnTo>
                  <a:lnTo>
                    <a:pt x="449" y="1035"/>
                  </a:lnTo>
                  <a:lnTo>
                    <a:pt x="387" y="1019"/>
                  </a:lnTo>
                  <a:lnTo>
                    <a:pt x="328" y="1000"/>
                  </a:lnTo>
                  <a:lnTo>
                    <a:pt x="270" y="971"/>
                  </a:lnTo>
                  <a:lnTo>
                    <a:pt x="218" y="939"/>
                  </a:lnTo>
                  <a:lnTo>
                    <a:pt x="169" y="900"/>
                  </a:lnTo>
                  <a:lnTo>
                    <a:pt x="126" y="856"/>
                  </a:lnTo>
                  <a:lnTo>
                    <a:pt x="88" y="808"/>
                  </a:lnTo>
                  <a:lnTo>
                    <a:pt x="57" y="754"/>
                  </a:lnTo>
                  <a:lnTo>
                    <a:pt x="32" y="699"/>
                  </a:lnTo>
                  <a:lnTo>
                    <a:pt x="13" y="641"/>
                  </a:lnTo>
                  <a:lnTo>
                    <a:pt x="1" y="582"/>
                  </a:lnTo>
                  <a:lnTo>
                    <a:pt x="0" y="520"/>
                  </a:lnTo>
                  <a:close/>
                </a:path>
              </a:pathLst>
            </a:custGeom>
            <a:solidFill>
              <a:srgbClr val="FFFFFF"/>
            </a:solidFill>
            <a:ln w="9525">
              <a:solidFill>
                <a:srgbClr val="000000"/>
              </a:solidFill>
              <a:round/>
            </a:ln>
          </p:spPr>
          <p:txBody>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3013" name="Rectangle 10"/>
            <p:cNvSpPr>
              <a:spLocks noChangeArrowheads="1"/>
            </p:cNvSpPr>
            <p:nvPr/>
          </p:nvSpPr>
          <p:spPr bwMode="auto">
            <a:xfrm>
              <a:off x="1035" y="3122"/>
              <a:ext cx="53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rgbClr val="000000"/>
                  </a:solidFill>
                  <a:effectLst/>
                  <a:uLnTx/>
                  <a:uFillTx/>
                  <a:latin typeface="+mn-lt"/>
                  <a:ea typeface="+mn-ea"/>
                  <a:cs typeface="+mn-ea"/>
                  <a:sym typeface="+mn-lt"/>
                </a:rPr>
                <a:t>DATA</a:t>
              </a:r>
              <a:endPar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endParaRPr>
            </a:p>
          </p:txBody>
        </p:sp>
      </p:grpSp>
      <p:sp>
        <p:nvSpPr>
          <p:cNvPr id="752651" name="Rectangle 11"/>
          <p:cNvSpPr>
            <a:spLocks noChangeArrowheads="1"/>
          </p:cNvSpPr>
          <p:nvPr/>
        </p:nvSpPr>
        <p:spPr bwMode="auto">
          <a:xfrm>
            <a:off x="1943100" y="2319338"/>
            <a:ext cx="10477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FF00"/>
                </a:solidFill>
                <a:effectLst/>
                <a:uLnTx/>
                <a:uFillTx/>
                <a:latin typeface="+mn-lt"/>
                <a:ea typeface="+mn-ea"/>
                <a:cs typeface="+mn-ea"/>
                <a:sym typeface="+mn-lt"/>
              </a:rPr>
              <a:t>PARENT</a:t>
            </a:r>
          </a:p>
        </p:txBody>
      </p:sp>
      <p:sp>
        <p:nvSpPr>
          <p:cNvPr id="752652" name="Rectangle 12"/>
          <p:cNvSpPr>
            <a:spLocks noChangeArrowheads="1"/>
          </p:cNvSpPr>
          <p:nvPr/>
        </p:nvSpPr>
        <p:spPr bwMode="auto">
          <a:xfrm>
            <a:off x="1096963" y="4467225"/>
            <a:ext cx="10128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FF00"/>
                </a:solidFill>
                <a:effectLst/>
                <a:uLnTx/>
                <a:uFillTx/>
                <a:latin typeface="+mn-lt"/>
                <a:ea typeface="+mn-ea"/>
                <a:cs typeface="+mn-ea"/>
                <a:sym typeface="+mn-lt"/>
              </a:rPr>
              <a:t>LCHILD</a:t>
            </a:r>
          </a:p>
        </p:txBody>
      </p:sp>
      <p:sp>
        <p:nvSpPr>
          <p:cNvPr id="752653" name="Rectangle 13"/>
          <p:cNvSpPr>
            <a:spLocks noChangeArrowheads="1"/>
          </p:cNvSpPr>
          <p:nvPr/>
        </p:nvSpPr>
        <p:spPr bwMode="auto">
          <a:xfrm>
            <a:off x="2832100" y="4414838"/>
            <a:ext cx="10271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rgbClr val="FFFF00"/>
                </a:solidFill>
                <a:effectLst/>
                <a:uLnTx/>
                <a:uFillTx/>
                <a:latin typeface="+mn-lt"/>
                <a:ea typeface="+mn-ea"/>
                <a:cs typeface="+mn-ea"/>
                <a:sym typeface="+mn-lt"/>
              </a:rPr>
              <a:t>RCHILD</a:t>
            </a:r>
          </a:p>
        </p:txBody>
      </p:sp>
      <p:sp>
        <p:nvSpPr>
          <p:cNvPr id="752654" name="Line 14"/>
          <p:cNvSpPr>
            <a:spLocks noChangeShapeType="1"/>
          </p:cNvSpPr>
          <p:nvPr/>
        </p:nvSpPr>
        <p:spPr bwMode="auto">
          <a:xfrm flipH="1">
            <a:off x="1554163" y="3865563"/>
            <a:ext cx="541338" cy="611188"/>
          </a:xfrm>
          <a:prstGeom prst="line">
            <a:avLst/>
          </a:prstGeom>
          <a:noFill/>
          <a:ln w="9525">
            <a:solidFill>
              <a:srgbClr val="FFFF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2655" name="Line 15"/>
          <p:cNvSpPr>
            <a:spLocks noChangeShapeType="1"/>
          </p:cNvSpPr>
          <p:nvPr/>
        </p:nvSpPr>
        <p:spPr bwMode="auto">
          <a:xfrm>
            <a:off x="2590800" y="3843338"/>
            <a:ext cx="647700" cy="611188"/>
          </a:xfrm>
          <a:prstGeom prst="line">
            <a:avLst/>
          </a:prstGeom>
          <a:noFill/>
          <a:ln w="9525">
            <a:solidFill>
              <a:srgbClr val="FFFF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aphicFrame>
        <p:nvGraphicFramePr>
          <p:cNvPr id="752656" name="Object 16"/>
          <p:cNvGraphicFramePr/>
          <p:nvPr/>
        </p:nvGraphicFramePr>
        <p:xfrm>
          <a:off x="4716463" y="3232150"/>
          <a:ext cx="3194050" cy="673100"/>
        </p:xfrm>
        <a:graphic>
          <a:graphicData uri="http://schemas.openxmlformats.org/presentationml/2006/ole">
            <mc:AlternateContent xmlns:mc="http://schemas.openxmlformats.org/markup-compatibility/2006">
              <mc:Choice xmlns:v="urn:schemas-microsoft-com:vml" Requires="v">
                <p:oleObj spid="_x0000_s11315" r:id="rId3" imgW="2736850" imgH="575945" progId="Visio.Drawing.5">
                  <p:embed/>
                </p:oleObj>
              </mc:Choice>
              <mc:Fallback>
                <p:oleObj r:id="rId3" imgW="2736850" imgH="575945" progId="Visio.Drawing.5">
                  <p:embed/>
                  <p:pic>
                    <p:nvPicPr>
                      <p:cNvPr id="0" name="图片 3089"/>
                      <p:cNvPicPr/>
                      <p:nvPr/>
                    </p:nvPicPr>
                    <p:blipFill>
                      <a:blip r:embed="rId4"/>
                      <a:stretch>
                        <a:fillRect/>
                      </a:stretch>
                    </p:blipFill>
                    <p:spPr>
                      <a:xfrm>
                        <a:off x="4716463" y="3232150"/>
                        <a:ext cx="3194050" cy="673100"/>
                      </a:xfrm>
                      <a:prstGeom prst="rect">
                        <a:avLst/>
                      </a:prstGeom>
                      <a:noFill/>
                      <a:ln w="38100">
                        <a:noFill/>
                        <a:miter/>
                      </a:ln>
                    </p:spPr>
                  </p:pic>
                </p:oleObj>
              </mc:Fallback>
            </mc:AlternateContent>
          </a:graphicData>
        </a:graphic>
      </p:graphicFrame>
      <p:graphicFrame>
        <p:nvGraphicFramePr>
          <p:cNvPr id="752657" name="Object 17"/>
          <p:cNvGraphicFramePr/>
          <p:nvPr/>
        </p:nvGraphicFramePr>
        <p:xfrm>
          <a:off x="4716463" y="4154488"/>
          <a:ext cx="4094162" cy="649287"/>
        </p:xfrm>
        <a:graphic>
          <a:graphicData uri="http://schemas.openxmlformats.org/presentationml/2006/ole">
            <mc:AlternateContent xmlns:mc="http://schemas.openxmlformats.org/markup-compatibility/2006">
              <mc:Choice xmlns:v="urn:schemas-microsoft-com:vml" Requires="v">
                <p:oleObj spid="_x0000_s11316" r:id="rId5" imgW="3636010" imgH="575945" progId="Visio.Drawing.5">
                  <p:embed/>
                </p:oleObj>
              </mc:Choice>
              <mc:Fallback>
                <p:oleObj r:id="rId5" imgW="3636010" imgH="575945" progId="Visio.Drawing.5">
                  <p:embed/>
                  <p:pic>
                    <p:nvPicPr>
                      <p:cNvPr id="0" name="图片 3088"/>
                      <p:cNvPicPr/>
                      <p:nvPr/>
                    </p:nvPicPr>
                    <p:blipFill>
                      <a:blip r:embed="rId6"/>
                      <a:stretch>
                        <a:fillRect/>
                      </a:stretch>
                    </p:blipFill>
                    <p:spPr>
                      <a:xfrm>
                        <a:off x="4716463" y="4154488"/>
                        <a:ext cx="4094162" cy="649287"/>
                      </a:xfrm>
                      <a:prstGeom prst="rect">
                        <a:avLst/>
                      </a:prstGeom>
                      <a:noFill/>
                      <a:ln w="38100">
                        <a:noFill/>
                        <a:miter/>
                      </a:ln>
                    </p:spPr>
                  </p:pic>
                </p:oleObj>
              </mc:Fallback>
            </mc:AlternateContent>
          </a:graphicData>
        </a:graphic>
      </p:graphicFrame>
      <p:sp>
        <p:nvSpPr>
          <p:cNvPr id="752658" name="Line 18"/>
          <p:cNvSpPr>
            <a:spLocks noChangeShapeType="1"/>
          </p:cNvSpPr>
          <p:nvPr/>
        </p:nvSpPr>
        <p:spPr bwMode="auto">
          <a:xfrm flipV="1">
            <a:off x="2409825" y="2581275"/>
            <a:ext cx="0" cy="381000"/>
          </a:xfrm>
          <a:prstGeom prst="line">
            <a:avLst/>
          </a:prstGeom>
          <a:noFill/>
          <a:ln w="9525">
            <a:solidFill>
              <a:srgbClr val="FFFF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3022" name="Rectangle 19"/>
          <p:cNvSpPr>
            <a:spLocks noChangeArrowheads="1"/>
          </p:cNvSpPr>
          <p:nvPr/>
        </p:nvSpPr>
        <p:spPr bwMode="auto">
          <a:xfrm>
            <a:off x="827088" y="215900"/>
            <a:ext cx="467677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二叉树的链式存储</a:t>
            </a:r>
          </a:p>
        </p:txBody>
      </p:sp>
    </p:spTree>
  </p:cSld>
  <p:clrMapOvr>
    <a:masterClrMapping/>
  </p:clrMapOvr>
  <p:transition>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75264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6" presetClass="entr" presetSubtype="42" fill="hold" nodeType="clickEffect">
                                  <p:stCondLst>
                                    <p:cond delay="0"/>
                                  </p:stCondLst>
                                  <p:childTnLst>
                                    <p:set>
                                      <p:cBhvr>
                                        <p:cTn id="14" dur="1" fill="hold">
                                          <p:stCondLst>
                                            <p:cond delay="0"/>
                                          </p:stCondLst>
                                        </p:cTn>
                                        <p:tgtEl>
                                          <p:spTgt spid="752654"/>
                                        </p:tgtEl>
                                        <p:attrNameLst>
                                          <p:attrName>style.visibility</p:attrName>
                                        </p:attrNameLst>
                                      </p:cBhvr>
                                      <p:to>
                                        <p:strVal val="visible"/>
                                      </p:to>
                                    </p:set>
                                    <p:animEffect transition="in" filter="barn(outHorizontal)">
                                      <p:cBhvr>
                                        <p:cTn id="15" dur="500"/>
                                        <p:tgtEl>
                                          <p:spTgt spid="752654"/>
                                        </p:tgtEl>
                                      </p:cBhvr>
                                    </p:animEffect>
                                  </p:childTnLst>
                                </p:cTn>
                              </p:par>
                            </p:childTnLst>
                          </p:cTn>
                        </p:par>
                        <p:par>
                          <p:cTn id="16" fill="hold">
                            <p:stCondLst>
                              <p:cond delay="500"/>
                            </p:stCondLst>
                            <p:childTnLst>
                              <p:par>
                                <p:cTn id="17" presetID="1" presetClass="entr" presetSubtype="0" fill="hold" grpId="0" nodeType="afterEffect">
                                  <p:stCondLst>
                                    <p:cond delay="0"/>
                                  </p:stCondLst>
                                  <p:childTnLst>
                                    <p:set>
                                      <p:cBhvr>
                                        <p:cTn id="18" dur="1" fill="hold">
                                          <p:stCondLst>
                                            <p:cond delay="499"/>
                                          </p:stCondLst>
                                        </p:cTn>
                                        <p:tgtEl>
                                          <p:spTgt spid="75265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6" presetClass="entr" presetSubtype="42" fill="hold" nodeType="clickEffect">
                                  <p:stCondLst>
                                    <p:cond delay="0"/>
                                  </p:stCondLst>
                                  <p:childTnLst>
                                    <p:set>
                                      <p:cBhvr>
                                        <p:cTn id="22" dur="1" fill="hold">
                                          <p:stCondLst>
                                            <p:cond delay="0"/>
                                          </p:stCondLst>
                                        </p:cTn>
                                        <p:tgtEl>
                                          <p:spTgt spid="752655"/>
                                        </p:tgtEl>
                                        <p:attrNameLst>
                                          <p:attrName>style.visibility</p:attrName>
                                        </p:attrNameLst>
                                      </p:cBhvr>
                                      <p:to>
                                        <p:strVal val="visible"/>
                                      </p:to>
                                    </p:set>
                                    <p:animEffect transition="in" filter="barn(outHorizontal)">
                                      <p:cBhvr>
                                        <p:cTn id="23" dur="500"/>
                                        <p:tgtEl>
                                          <p:spTgt spid="752655"/>
                                        </p:tgtEl>
                                      </p:cBhvr>
                                    </p:animEffect>
                                  </p:childTnLst>
                                </p:cTn>
                              </p:par>
                            </p:childTnLst>
                          </p:cTn>
                        </p:par>
                        <p:par>
                          <p:cTn id="24" fill="hold">
                            <p:stCondLst>
                              <p:cond delay="500"/>
                            </p:stCondLst>
                            <p:childTnLst>
                              <p:par>
                                <p:cTn id="25" presetID="1" presetClass="entr" presetSubtype="0" fill="hold" grpId="0" nodeType="afterEffect">
                                  <p:stCondLst>
                                    <p:cond delay="0"/>
                                  </p:stCondLst>
                                  <p:childTnLst>
                                    <p:set>
                                      <p:cBhvr>
                                        <p:cTn id="26" dur="1" fill="hold">
                                          <p:stCondLst>
                                            <p:cond delay="499"/>
                                          </p:stCondLst>
                                        </p:cTn>
                                        <p:tgtEl>
                                          <p:spTgt spid="752653">
                                            <p:txEl>
                                              <p:pRg st="0" end="0"/>
                                            </p:txEl>
                                          </p:spTgt>
                                        </p:tgtEl>
                                        <p:attrNameLst>
                                          <p:attrName>style.visibility</p:attrName>
                                        </p:attrNameLst>
                                      </p:cBhvr>
                                      <p:to>
                                        <p:strVal val="visible"/>
                                      </p:to>
                                    </p:set>
                                  </p:childTnLst>
                                </p:cTn>
                              </p:par>
                            </p:childTnLst>
                          </p:cTn>
                        </p:par>
                        <p:par>
                          <p:cTn id="27" fill="hold">
                            <p:stCondLst>
                              <p:cond delay="1000"/>
                            </p:stCondLst>
                            <p:childTnLst>
                              <p:par>
                                <p:cTn id="28" presetID="2" presetClass="entr" presetSubtype="2" fill="hold" nodeType="afterEffect">
                                  <p:stCondLst>
                                    <p:cond delay="0"/>
                                  </p:stCondLst>
                                  <p:childTnLst>
                                    <p:set>
                                      <p:cBhvr>
                                        <p:cTn id="29" dur="1" fill="hold">
                                          <p:stCondLst>
                                            <p:cond delay="0"/>
                                          </p:stCondLst>
                                        </p:cTn>
                                        <p:tgtEl>
                                          <p:spTgt spid="752656"/>
                                        </p:tgtEl>
                                        <p:attrNameLst>
                                          <p:attrName>style.visibility</p:attrName>
                                        </p:attrNameLst>
                                      </p:cBhvr>
                                      <p:to>
                                        <p:strVal val="visible"/>
                                      </p:to>
                                    </p:set>
                                    <p:anim calcmode="lin" valueType="num">
                                      <p:cBhvr additive="base">
                                        <p:cTn id="30" dur="500" fill="hold"/>
                                        <p:tgtEl>
                                          <p:spTgt spid="752656"/>
                                        </p:tgtEl>
                                        <p:attrNameLst>
                                          <p:attrName>ppt_x</p:attrName>
                                        </p:attrNameLst>
                                      </p:cBhvr>
                                      <p:tavLst>
                                        <p:tav tm="0">
                                          <p:val>
                                            <p:strVal val="1+#ppt_w/2"/>
                                          </p:val>
                                        </p:tav>
                                        <p:tav tm="100000">
                                          <p:val>
                                            <p:strVal val="#ppt_x"/>
                                          </p:val>
                                        </p:tav>
                                      </p:tavLst>
                                    </p:anim>
                                    <p:anim calcmode="lin" valueType="num">
                                      <p:cBhvr additive="base">
                                        <p:cTn id="31" dur="500" fill="hold"/>
                                        <p:tgtEl>
                                          <p:spTgt spid="752656"/>
                                        </p:tgtEl>
                                        <p:attrNameLst>
                                          <p:attrName>ppt_y</p:attrName>
                                        </p:attrNameLst>
                                      </p:cBhvr>
                                      <p:tavLst>
                                        <p:tav tm="0">
                                          <p:val>
                                            <p:strVal val="#ppt_y"/>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17" presetClass="entr" presetSubtype="4" fill="hold" nodeType="clickEffect">
                                  <p:stCondLst>
                                    <p:cond delay="0"/>
                                  </p:stCondLst>
                                  <p:childTnLst>
                                    <p:set>
                                      <p:cBhvr>
                                        <p:cTn id="35" dur="1" fill="hold">
                                          <p:stCondLst>
                                            <p:cond delay="0"/>
                                          </p:stCondLst>
                                        </p:cTn>
                                        <p:tgtEl>
                                          <p:spTgt spid="752658"/>
                                        </p:tgtEl>
                                        <p:attrNameLst>
                                          <p:attrName>style.visibility</p:attrName>
                                        </p:attrNameLst>
                                      </p:cBhvr>
                                      <p:to>
                                        <p:strVal val="visible"/>
                                      </p:to>
                                    </p:set>
                                    <p:anim calcmode="lin" valueType="num">
                                      <p:cBhvr>
                                        <p:cTn id="36" dur="500" fill="hold"/>
                                        <p:tgtEl>
                                          <p:spTgt spid="752658"/>
                                        </p:tgtEl>
                                        <p:attrNameLst>
                                          <p:attrName>ppt_x</p:attrName>
                                        </p:attrNameLst>
                                      </p:cBhvr>
                                      <p:tavLst>
                                        <p:tav tm="0">
                                          <p:val>
                                            <p:strVal val="#ppt_x"/>
                                          </p:val>
                                        </p:tav>
                                        <p:tav tm="100000">
                                          <p:val>
                                            <p:strVal val="#ppt_x"/>
                                          </p:val>
                                        </p:tav>
                                      </p:tavLst>
                                    </p:anim>
                                    <p:anim calcmode="lin" valueType="num">
                                      <p:cBhvr>
                                        <p:cTn id="37" dur="500" fill="hold"/>
                                        <p:tgtEl>
                                          <p:spTgt spid="752658"/>
                                        </p:tgtEl>
                                        <p:attrNameLst>
                                          <p:attrName>ppt_y</p:attrName>
                                        </p:attrNameLst>
                                      </p:cBhvr>
                                      <p:tavLst>
                                        <p:tav tm="0">
                                          <p:val>
                                            <p:strVal val="#ppt_y+#ppt_h/2"/>
                                          </p:val>
                                        </p:tav>
                                        <p:tav tm="100000">
                                          <p:val>
                                            <p:strVal val="#ppt_y"/>
                                          </p:val>
                                        </p:tav>
                                      </p:tavLst>
                                    </p:anim>
                                    <p:anim calcmode="lin" valueType="num">
                                      <p:cBhvr>
                                        <p:cTn id="38" dur="500" fill="hold"/>
                                        <p:tgtEl>
                                          <p:spTgt spid="752658"/>
                                        </p:tgtEl>
                                        <p:attrNameLst>
                                          <p:attrName>ppt_w</p:attrName>
                                        </p:attrNameLst>
                                      </p:cBhvr>
                                      <p:tavLst>
                                        <p:tav tm="0">
                                          <p:val>
                                            <p:strVal val="#ppt_w"/>
                                          </p:val>
                                        </p:tav>
                                        <p:tav tm="100000">
                                          <p:val>
                                            <p:strVal val="#ppt_w"/>
                                          </p:val>
                                        </p:tav>
                                      </p:tavLst>
                                    </p:anim>
                                    <p:anim calcmode="lin" valueType="num">
                                      <p:cBhvr>
                                        <p:cTn id="39" dur="500" fill="hold"/>
                                        <p:tgtEl>
                                          <p:spTgt spid="752658"/>
                                        </p:tgtEl>
                                        <p:attrNameLst>
                                          <p:attrName>ppt_h</p:attrName>
                                        </p:attrNameLst>
                                      </p:cBhvr>
                                      <p:tavLst>
                                        <p:tav tm="0">
                                          <p:val>
                                            <p:fltVal val="0"/>
                                          </p:val>
                                        </p:tav>
                                        <p:tav tm="100000">
                                          <p:val>
                                            <p:strVal val="#ppt_h"/>
                                          </p:val>
                                        </p:tav>
                                      </p:tavLst>
                                    </p:anim>
                                  </p:childTnLst>
                                </p:cTn>
                              </p:par>
                            </p:childTnLst>
                          </p:cTn>
                        </p:par>
                        <p:par>
                          <p:cTn id="40" fill="hold">
                            <p:stCondLst>
                              <p:cond delay="500"/>
                            </p:stCondLst>
                            <p:childTnLst>
                              <p:par>
                                <p:cTn id="41" presetID="1" presetClass="entr" presetSubtype="0" fill="hold" grpId="0" nodeType="afterEffect">
                                  <p:stCondLst>
                                    <p:cond delay="0"/>
                                  </p:stCondLst>
                                  <p:childTnLst>
                                    <p:set>
                                      <p:cBhvr>
                                        <p:cTn id="42" dur="1" fill="hold">
                                          <p:stCondLst>
                                            <p:cond delay="499"/>
                                          </p:stCondLst>
                                        </p:cTn>
                                        <p:tgtEl>
                                          <p:spTgt spid="752651"/>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nodeType="clickEffect">
                                  <p:stCondLst>
                                    <p:cond delay="0"/>
                                  </p:stCondLst>
                                  <p:childTnLst>
                                    <p:set>
                                      <p:cBhvr>
                                        <p:cTn id="46" dur="1" fill="hold">
                                          <p:stCondLst>
                                            <p:cond delay="0"/>
                                          </p:stCondLst>
                                        </p:cTn>
                                        <p:tgtEl>
                                          <p:spTgt spid="752657"/>
                                        </p:tgtEl>
                                        <p:attrNameLst>
                                          <p:attrName>style.visibility</p:attrName>
                                        </p:attrNameLst>
                                      </p:cBhvr>
                                      <p:to>
                                        <p:strVal val="visible"/>
                                      </p:to>
                                    </p:set>
                                    <p:anim calcmode="lin" valueType="num">
                                      <p:cBhvr additive="base">
                                        <p:cTn id="47" dur="500" fill="hold"/>
                                        <p:tgtEl>
                                          <p:spTgt spid="752657"/>
                                        </p:tgtEl>
                                        <p:attrNameLst>
                                          <p:attrName>ppt_x</p:attrName>
                                        </p:attrNameLst>
                                      </p:cBhvr>
                                      <p:tavLst>
                                        <p:tav tm="0">
                                          <p:val>
                                            <p:strVal val="1+#ppt_w/2"/>
                                          </p:val>
                                        </p:tav>
                                        <p:tav tm="100000">
                                          <p:val>
                                            <p:strVal val="#ppt_x"/>
                                          </p:val>
                                        </p:tav>
                                      </p:tavLst>
                                    </p:anim>
                                    <p:anim calcmode="lin" valueType="num">
                                      <p:cBhvr additive="base">
                                        <p:cTn id="48" dur="500" fill="hold"/>
                                        <p:tgtEl>
                                          <p:spTgt spid="75265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2647" grpId="0" animBg="1"/>
      <p:bldP spid="752651" grpId="0"/>
      <p:bldP spid="752652" grpId="0"/>
      <p:bldP spid="752653" grpId="0" build="p" advAuto="100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矩形 2"/>
          <p:cNvSpPr/>
          <p:nvPr/>
        </p:nvSpPr>
        <p:spPr>
          <a:xfrm>
            <a:off x="0" y="4724400"/>
            <a:ext cx="9144000" cy="2016125"/>
          </a:xfrm>
          <a:prstGeom prst="rect">
            <a:avLst/>
          </a:prstGeom>
          <a:solidFill>
            <a:srgbClr val="A5A5E9"/>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grpSp>
        <p:nvGrpSpPr>
          <p:cNvPr id="44035" name="Group 4"/>
          <p:cNvGrpSpPr/>
          <p:nvPr/>
        </p:nvGrpSpPr>
        <p:grpSpPr>
          <a:xfrm>
            <a:off x="1101725" y="1519238"/>
            <a:ext cx="1622425" cy="2654300"/>
            <a:chOff x="703" y="2015"/>
            <a:chExt cx="1022" cy="1672"/>
          </a:xfrm>
        </p:grpSpPr>
        <p:sp>
          <p:nvSpPr>
            <p:cNvPr id="2" name="Oval 5"/>
            <p:cNvSpPr>
              <a:spLocks noChangeArrowheads="1"/>
            </p:cNvSpPr>
            <p:nvPr/>
          </p:nvSpPr>
          <p:spPr bwMode="auto">
            <a:xfrm>
              <a:off x="1222" y="2015"/>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A</a:t>
              </a:r>
            </a:p>
          </p:txBody>
        </p:sp>
        <p:sp>
          <p:nvSpPr>
            <p:cNvPr id="3" name="Oval 6"/>
            <p:cNvSpPr>
              <a:spLocks noChangeArrowheads="1"/>
            </p:cNvSpPr>
            <p:nvPr/>
          </p:nvSpPr>
          <p:spPr bwMode="auto">
            <a:xfrm>
              <a:off x="974" y="2367"/>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44037" name="Oval 7"/>
            <p:cNvSpPr>
              <a:spLocks noChangeArrowheads="1"/>
            </p:cNvSpPr>
            <p:nvPr/>
          </p:nvSpPr>
          <p:spPr bwMode="auto">
            <a:xfrm>
              <a:off x="703" y="2729"/>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C</a:t>
              </a:r>
            </a:p>
          </p:txBody>
        </p:sp>
        <p:sp>
          <p:nvSpPr>
            <p:cNvPr id="44038" name="Oval 8"/>
            <p:cNvSpPr>
              <a:spLocks noChangeArrowheads="1"/>
            </p:cNvSpPr>
            <p:nvPr/>
          </p:nvSpPr>
          <p:spPr bwMode="auto">
            <a:xfrm>
              <a:off x="1215" y="2729"/>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D</a:t>
              </a:r>
            </a:p>
          </p:txBody>
        </p:sp>
        <p:sp>
          <p:nvSpPr>
            <p:cNvPr id="4" name="Oval 9"/>
            <p:cNvSpPr>
              <a:spLocks noChangeArrowheads="1"/>
            </p:cNvSpPr>
            <p:nvPr/>
          </p:nvSpPr>
          <p:spPr bwMode="auto">
            <a:xfrm>
              <a:off x="1015" y="3051"/>
              <a:ext cx="255" cy="235"/>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E</a:t>
              </a:r>
            </a:p>
          </p:txBody>
        </p:sp>
        <p:sp>
          <p:nvSpPr>
            <p:cNvPr id="44040" name="Oval 10"/>
            <p:cNvSpPr>
              <a:spLocks noChangeArrowheads="1"/>
            </p:cNvSpPr>
            <p:nvPr/>
          </p:nvSpPr>
          <p:spPr bwMode="auto">
            <a:xfrm>
              <a:off x="1470" y="3051"/>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F</a:t>
              </a:r>
            </a:p>
          </p:txBody>
        </p:sp>
        <p:sp>
          <p:nvSpPr>
            <p:cNvPr id="44041" name="Oval 11"/>
            <p:cNvSpPr>
              <a:spLocks noChangeArrowheads="1"/>
            </p:cNvSpPr>
            <p:nvPr/>
          </p:nvSpPr>
          <p:spPr bwMode="auto">
            <a:xfrm>
              <a:off x="1225" y="3463"/>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G</a:t>
              </a:r>
            </a:p>
          </p:txBody>
        </p:sp>
        <p:sp>
          <p:nvSpPr>
            <p:cNvPr id="44042" name="Line 12"/>
            <p:cNvSpPr>
              <a:spLocks noChangeShapeType="1"/>
            </p:cNvSpPr>
            <p:nvPr/>
          </p:nvSpPr>
          <p:spPr bwMode="auto">
            <a:xfrm flipH="1">
              <a:off x="1156" y="2200"/>
              <a:ext cx="111" cy="19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4043" name="Line 13"/>
            <p:cNvSpPr>
              <a:spLocks noChangeShapeType="1"/>
            </p:cNvSpPr>
            <p:nvPr/>
          </p:nvSpPr>
          <p:spPr bwMode="auto">
            <a:xfrm flipH="1">
              <a:off x="911" y="2566"/>
              <a:ext cx="122" cy="18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4044" name="Line 14"/>
            <p:cNvSpPr>
              <a:spLocks noChangeShapeType="1"/>
            </p:cNvSpPr>
            <p:nvPr/>
          </p:nvSpPr>
          <p:spPr bwMode="auto">
            <a:xfrm>
              <a:off x="1189" y="2566"/>
              <a:ext cx="133" cy="18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4045" name="Line 15"/>
            <p:cNvSpPr>
              <a:spLocks noChangeShapeType="1"/>
            </p:cNvSpPr>
            <p:nvPr/>
          </p:nvSpPr>
          <p:spPr bwMode="auto">
            <a:xfrm flipH="1">
              <a:off x="1211" y="2955"/>
              <a:ext cx="78" cy="1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 name="Line 16"/>
            <p:cNvSpPr>
              <a:spLocks noChangeShapeType="1"/>
            </p:cNvSpPr>
            <p:nvPr/>
          </p:nvSpPr>
          <p:spPr bwMode="auto">
            <a:xfrm>
              <a:off x="1411" y="2933"/>
              <a:ext cx="112" cy="1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4047" name="Line 17"/>
            <p:cNvSpPr>
              <a:spLocks noChangeShapeType="1"/>
            </p:cNvSpPr>
            <p:nvPr/>
          </p:nvSpPr>
          <p:spPr bwMode="auto">
            <a:xfrm>
              <a:off x="1178" y="3277"/>
              <a:ext cx="133" cy="18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4036" name="Group 19"/>
          <p:cNvGrpSpPr/>
          <p:nvPr/>
        </p:nvGrpSpPr>
        <p:grpSpPr>
          <a:xfrm>
            <a:off x="4416425" y="949325"/>
            <a:ext cx="3530600" cy="3686175"/>
            <a:chOff x="2962" y="1354"/>
            <a:chExt cx="2224" cy="2650"/>
          </a:xfrm>
        </p:grpSpPr>
        <p:grpSp>
          <p:nvGrpSpPr>
            <p:cNvPr id="44039" name="Group 20"/>
            <p:cNvGrpSpPr/>
            <p:nvPr/>
          </p:nvGrpSpPr>
          <p:grpSpPr>
            <a:xfrm>
              <a:off x="2963" y="1796"/>
              <a:ext cx="2223" cy="2150"/>
              <a:chOff x="2540" y="1809"/>
              <a:chExt cx="2223" cy="2150"/>
            </a:xfrm>
          </p:grpSpPr>
          <p:grpSp>
            <p:nvGrpSpPr>
              <p:cNvPr id="44057" name="Group 21"/>
              <p:cNvGrpSpPr/>
              <p:nvPr/>
            </p:nvGrpSpPr>
            <p:grpSpPr>
              <a:xfrm>
                <a:off x="3289" y="1809"/>
                <a:ext cx="778" cy="256"/>
                <a:chOff x="1700" y="2033"/>
                <a:chExt cx="778" cy="256"/>
              </a:xfrm>
            </p:grpSpPr>
            <p:sp>
              <p:nvSpPr>
                <p:cNvPr id="44051" name="Rectangle 22"/>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A</a:t>
                  </a:r>
                </a:p>
              </p:txBody>
            </p:sp>
            <p:sp>
              <p:nvSpPr>
                <p:cNvPr id="44052" name="Line 23"/>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4053" name="Line 24"/>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4058" name="Group 25"/>
              <p:cNvGrpSpPr/>
              <p:nvPr/>
            </p:nvGrpSpPr>
            <p:grpSpPr>
              <a:xfrm>
                <a:off x="2819" y="2217"/>
                <a:ext cx="778" cy="256"/>
                <a:chOff x="1700" y="2033"/>
                <a:chExt cx="778" cy="256"/>
              </a:xfrm>
            </p:grpSpPr>
            <p:sp>
              <p:nvSpPr>
                <p:cNvPr id="44055" name="Rectangle 26"/>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44056" name="Line 27"/>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 name="Line 28"/>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4059" name="Group 29"/>
              <p:cNvGrpSpPr/>
              <p:nvPr/>
            </p:nvGrpSpPr>
            <p:grpSpPr>
              <a:xfrm>
                <a:off x="2540" y="2717"/>
                <a:ext cx="778" cy="256"/>
                <a:chOff x="1700" y="2033"/>
                <a:chExt cx="778" cy="256"/>
              </a:xfrm>
            </p:grpSpPr>
            <p:sp>
              <p:nvSpPr>
                <p:cNvPr id="7" name="Rectangle 30"/>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C</a:t>
                  </a:r>
                </a:p>
              </p:txBody>
            </p:sp>
            <p:sp>
              <p:nvSpPr>
                <p:cNvPr id="8" name="Line 31"/>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 name="Line 32"/>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4060" name="Group 33"/>
              <p:cNvGrpSpPr/>
              <p:nvPr/>
            </p:nvGrpSpPr>
            <p:grpSpPr>
              <a:xfrm>
                <a:off x="3497" y="2716"/>
                <a:ext cx="778" cy="256"/>
                <a:chOff x="1700" y="2033"/>
                <a:chExt cx="778" cy="256"/>
              </a:xfrm>
            </p:grpSpPr>
            <p:sp>
              <p:nvSpPr>
                <p:cNvPr id="10" name="Rectangle 34"/>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D</a:t>
                  </a:r>
                </a:p>
              </p:txBody>
            </p:sp>
            <p:sp>
              <p:nvSpPr>
                <p:cNvPr id="44064" name="Line 35"/>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4065" name="Line 36"/>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4061" name="Group 37"/>
              <p:cNvGrpSpPr/>
              <p:nvPr/>
            </p:nvGrpSpPr>
            <p:grpSpPr>
              <a:xfrm>
                <a:off x="3052" y="3226"/>
                <a:ext cx="778" cy="256"/>
                <a:chOff x="1700" y="2033"/>
                <a:chExt cx="778" cy="256"/>
              </a:xfrm>
            </p:grpSpPr>
            <p:sp>
              <p:nvSpPr>
                <p:cNvPr id="44067" name="Rectangle 38"/>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E</a:t>
                  </a:r>
                </a:p>
              </p:txBody>
            </p:sp>
            <p:sp>
              <p:nvSpPr>
                <p:cNvPr id="44068" name="Line 39"/>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4069" name="Line 40"/>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4062" name="Group 41"/>
              <p:cNvGrpSpPr/>
              <p:nvPr/>
            </p:nvGrpSpPr>
            <p:grpSpPr>
              <a:xfrm>
                <a:off x="3985" y="3216"/>
                <a:ext cx="778" cy="256"/>
                <a:chOff x="1700" y="2033"/>
                <a:chExt cx="778" cy="256"/>
              </a:xfrm>
            </p:grpSpPr>
            <p:sp>
              <p:nvSpPr>
                <p:cNvPr id="44071" name="Rectangle 42"/>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F</a:t>
                  </a:r>
                </a:p>
              </p:txBody>
            </p:sp>
            <p:sp>
              <p:nvSpPr>
                <p:cNvPr id="44072" name="Line 43"/>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4073" name="Line 44"/>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4063" name="Group 45"/>
              <p:cNvGrpSpPr/>
              <p:nvPr/>
            </p:nvGrpSpPr>
            <p:grpSpPr>
              <a:xfrm>
                <a:off x="3517" y="3703"/>
                <a:ext cx="778" cy="256"/>
                <a:chOff x="1700" y="2033"/>
                <a:chExt cx="778" cy="256"/>
              </a:xfrm>
            </p:grpSpPr>
            <p:sp>
              <p:nvSpPr>
                <p:cNvPr id="44075" name="Rectangle 46"/>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G</a:t>
                  </a:r>
                </a:p>
              </p:txBody>
            </p:sp>
            <p:sp>
              <p:nvSpPr>
                <p:cNvPr id="44076" name="Line 47"/>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4077" name="Line 48"/>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sp>
          <p:nvSpPr>
            <p:cNvPr id="44078" name="Line 49"/>
            <p:cNvSpPr>
              <a:spLocks noChangeShapeType="1"/>
            </p:cNvSpPr>
            <p:nvPr/>
          </p:nvSpPr>
          <p:spPr bwMode="auto">
            <a:xfrm flipH="1">
              <a:off x="3657" y="1975"/>
              <a:ext cx="144" cy="233"/>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4079" name="Line 50"/>
            <p:cNvSpPr>
              <a:spLocks noChangeShapeType="1"/>
            </p:cNvSpPr>
            <p:nvPr/>
          </p:nvSpPr>
          <p:spPr bwMode="auto">
            <a:xfrm flipH="1">
              <a:off x="3257" y="2409"/>
              <a:ext cx="111" cy="299"/>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4080" name="Line 51"/>
            <p:cNvSpPr>
              <a:spLocks noChangeShapeType="1"/>
            </p:cNvSpPr>
            <p:nvPr/>
          </p:nvSpPr>
          <p:spPr bwMode="auto">
            <a:xfrm>
              <a:off x="3924" y="2375"/>
              <a:ext cx="322" cy="332"/>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4081" name="Line 52"/>
            <p:cNvSpPr>
              <a:spLocks noChangeShapeType="1"/>
            </p:cNvSpPr>
            <p:nvPr/>
          </p:nvSpPr>
          <p:spPr bwMode="auto">
            <a:xfrm flipH="1">
              <a:off x="3857" y="2852"/>
              <a:ext cx="178" cy="356"/>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4082" name="Line 53"/>
            <p:cNvSpPr>
              <a:spLocks noChangeShapeType="1"/>
            </p:cNvSpPr>
            <p:nvPr/>
          </p:nvSpPr>
          <p:spPr bwMode="auto">
            <a:xfrm>
              <a:off x="4557" y="2852"/>
              <a:ext cx="200" cy="356"/>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4083" name="Line 54"/>
            <p:cNvSpPr>
              <a:spLocks noChangeShapeType="1"/>
            </p:cNvSpPr>
            <p:nvPr/>
          </p:nvSpPr>
          <p:spPr bwMode="auto">
            <a:xfrm>
              <a:off x="4090" y="3408"/>
              <a:ext cx="200" cy="289"/>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44046" name="Group 55"/>
            <p:cNvGrpSpPr/>
            <p:nvPr/>
          </p:nvGrpSpPr>
          <p:grpSpPr>
            <a:xfrm>
              <a:off x="3868" y="1354"/>
              <a:ext cx="211" cy="444"/>
              <a:chOff x="3445" y="1367"/>
              <a:chExt cx="211" cy="444"/>
            </a:xfrm>
          </p:grpSpPr>
          <p:sp>
            <p:nvSpPr>
              <p:cNvPr id="44085" name="Freeform 56"/>
              <p:cNvSpPr>
                <a:spLocks noChangeArrowheads="1"/>
              </p:cNvSpPr>
              <p:nvPr/>
            </p:nvSpPr>
            <p:spPr bwMode="auto">
              <a:xfrm>
                <a:off x="3445" y="1367"/>
                <a:ext cx="72" cy="223"/>
              </a:xfrm>
              <a:custGeom>
                <a:avLst/>
                <a:gdLst>
                  <a:gd name="T0" fmla="*/ 33 w 94"/>
                  <a:gd name="T1" fmla="*/ 0 h 233"/>
                  <a:gd name="T2" fmla="*/ 89 w 94"/>
                  <a:gd name="T3" fmla="*/ 111 h 233"/>
                  <a:gd name="T4" fmla="*/ 0 w 94"/>
                  <a:gd name="T5" fmla="*/ 233 h 233"/>
                </a:gdLst>
                <a:ahLst/>
                <a:cxnLst>
                  <a:cxn ang="0">
                    <a:pos x="T0" y="T1"/>
                  </a:cxn>
                  <a:cxn ang="0">
                    <a:pos x="T2" y="T3"/>
                  </a:cxn>
                  <a:cxn ang="0">
                    <a:pos x="T4" y="T5"/>
                  </a:cxn>
                </a:cxnLst>
                <a:rect l="0" t="0" r="r" b="b"/>
                <a:pathLst>
                  <a:path w="94" h="233">
                    <a:moveTo>
                      <a:pt x="33" y="0"/>
                    </a:moveTo>
                    <a:cubicBezTo>
                      <a:pt x="63" y="36"/>
                      <a:pt x="94" y="72"/>
                      <a:pt x="89" y="111"/>
                    </a:cubicBezTo>
                    <a:cubicBezTo>
                      <a:pt x="84" y="150"/>
                      <a:pt x="19" y="218"/>
                      <a:pt x="0" y="233"/>
                    </a:cubicBezTo>
                  </a:path>
                </a:pathLst>
              </a:custGeom>
              <a:noFill/>
              <a:ln w="28575">
                <a:solidFill>
                  <a:srgbClr val="0000FF"/>
                </a:solidFill>
                <a:round/>
              </a:ln>
              <a:extLst>
                <a:ext uri="{909E8E84-426E-40DD-AFC4-6F175D3DCCD1}">
                  <a14:hiddenFill xmlns:a14="http://schemas.microsoft.com/office/drawing/2010/main">
                    <a:solidFill>
                      <a:srgbClr val="FFFFFF"/>
                    </a:solidFill>
                  </a14:hiddenFill>
                </a:ext>
              </a:extLst>
            </p:spPr>
            <p:txBody>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4086" name="Line 57"/>
              <p:cNvSpPr>
                <a:spLocks noChangeShapeType="1"/>
              </p:cNvSpPr>
              <p:nvPr/>
            </p:nvSpPr>
            <p:spPr bwMode="auto">
              <a:xfrm>
                <a:off x="3456" y="1590"/>
                <a:ext cx="200" cy="221"/>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44087" name="Text Box 58"/>
            <p:cNvSpPr txBox="1">
              <a:spLocks noChangeArrowheads="1"/>
            </p:cNvSpPr>
            <p:nvPr/>
          </p:nvSpPr>
          <p:spPr bwMode="auto">
            <a:xfrm>
              <a:off x="4222" y="1767"/>
              <a:ext cx="228" cy="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4088" name="Text Box 59"/>
            <p:cNvSpPr txBox="1">
              <a:spLocks noChangeArrowheads="1"/>
            </p:cNvSpPr>
            <p:nvPr/>
          </p:nvSpPr>
          <p:spPr bwMode="auto">
            <a:xfrm>
              <a:off x="2962" y="2666"/>
              <a:ext cx="228" cy="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4089" name="Text Box 60"/>
            <p:cNvSpPr txBox="1">
              <a:spLocks noChangeArrowheads="1"/>
            </p:cNvSpPr>
            <p:nvPr/>
          </p:nvSpPr>
          <p:spPr bwMode="auto">
            <a:xfrm>
              <a:off x="3502" y="2666"/>
              <a:ext cx="228" cy="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4090" name="Text Box 61"/>
            <p:cNvSpPr txBox="1">
              <a:spLocks noChangeArrowheads="1"/>
            </p:cNvSpPr>
            <p:nvPr/>
          </p:nvSpPr>
          <p:spPr bwMode="auto">
            <a:xfrm>
              <a:off x="3490" y="3182"/>
              <a:ext cx="228" cy="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4091" name="Text Box 62"/>
            <p:cNvSpPr txBox="1">
              <a:spLocks noChangeArrowheads="1"/>
            </p:cNvSpPr>
            <p:nvPr/>
          </p:nvSpPr>
          <p:spPr bwMode="auto">
            <a:xfrm>
              <a:off x="4414" y="3171"/>
              <a:ext cx="228" cy="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4092" name="Text Box 63"/>
            <p:cNvSpPr txBox="1">
              <a:spLocks noChangeArrowheads="1"/>
            </p:cNvSpPr>
            <p:nvPr/>
          </p:nvSpPr>
          <p:spPr bwMode="auto">
            <a:xfrm>
              <a:off x="4942" y="3171"/>
              <a:ext cx="228" cy="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4093" name="Text Box 64"/>
            <p:cNvSpPr txBox="1">
              <a:spLocks noChangeArrowheads="1"/>
            </p:cNvSpPr>
            <p:nvPr/>
          </p:nvSpPr>
          <p:spPr bwMode="auto">
            <a:xfrm>
              <a:off x="3946" y="3675"/>
              <a:ext cx="228" cy="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4094" name="Text Box 65"/>
            <p:cNvSpPr txBox="1">
              <a:spLocks noChangeArrowheads="1"/>
            </p:cNvSpPr>
            <p:nvPr/>
          </p:nvSpPr>
          <p:spPr bwMode="auto">
            <a:xfrm>
              <a:off x="4474" y="3662"/>
              <a:ext cx="22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grpSp>
      <p:sp>
        <p:nvSpPr>
          <p:cNvPr id="44095" name="Rectangle 68"/>
          <p:cNvSpPr>
            <a:spLocks noChangeArrowheads="1"/>
          </p:cNvSpPr>
          <p:nvPr/>
        </p:nvSpPr>
        <p:spPr bwMode="auto">
          <a:xfrm>
            <a:off x="808038" y="228600"/>
            <a:ext cx="3195638"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二叉链表</a:t>
            </a:r>
          </a:p>
        </p:txBody>
      </p:sp>
      <p:sp>
        <p:nvSpPr>
          <p:cNvPr id="905285" name="Text Box 69"/>
          <p:cNvSpPr txBox="1">
            <a:spLocks noChangeArrowheads="1"/>
          </p:cNvSpPr>
          <p:nvPr/>
        </p:nvSpPr>
        <p:spPr bwMode="auto">
          <a:xfrm>
            <a:off x="682625" y="4751388"/>
            <a:ext cx="7469188" cy="1871663"/>
          </a:xfrm>
          <a:prstGeom prst="rect">
            <a:avLst/>
          </a:prstGeom>
          <a:noFill/>
          <a:ln w="38100">
            <a:noFill/>
            <a:miter lim="800000"/>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35000"/>
              </a:lnSpc>
              <a:spcBef>
                <a:spcPct val="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typedef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struct</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BiNode</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p>
          <a:p>
            <a:pPr marL="0" marR="0" lvl="0" indent="0" algn="l" defTabSz="914400" rtl="0" eaLnBrk="1" fontAlgn="base" latinLnBrk="0" hangingPunct="1">
              <a:lnSpc>
                <a:spcPct val="135000"/>
              </a:lnSpc>
              <a:spcBef>
                <a:spcPct val="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TElemType</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data;</a:t>
            </a:r>
          </a:p>
          <a:p>
            <a:pPr marL="0" marR="0" lvl="0" indent="0" algn="l" defTabSz="914400" rtl="0" eaLnBrk="1" fontAlgn="base" latinLnBrk="0" hangingPunct="1">
              <a:lnSpc>
                <a:spcPct val="135000"/>
              </a:lnSpc>
              <a:spcBef>
                <a:spcPct val="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struct</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BiNode</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lchild</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rchild</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左右孩子指针</a:t>
            </a:r>
          </a:p>
          <a:p>
            <a:pPr marL="0" marR="0" lvl="0" indent="0" algn="l" defTabSz="914400" rtl="0" eaLnBrk="1" fontAlgn="base" latinLnBrk="0" hangingPunct="1">
              <a:lnSpc>
                <a:spcPct val="135000"/>
              </a:lnSpc>
              <a:spcBef>
                <a:spcPct val="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rgbClr val="FF3300"/>
                </a:solidFill>
                <a:effectLst/>
                <a:uLnTx/>
                <a:uFillTx/>
                <a:latin typeface="+mn-lt"/>
                <a:ea typeface="+mn-ea"/>
                <a:cs typeface="+mn-ea"/>
                <a:sym typeface="+mn-lt"/>
              </a:rPr>
              <a:t>BiNode</a:t>
            </a:r>
            <a:r>
              <a:rPr kumimoji="0" lang="en-US" altLang="zh-CN" sz="22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200" b="0" i="0" u="none" strike="noStrike" kern="1200" cap="none" spc="0" normalizeH="0" baseline="0" noProof="0" dirty="0" err="1">
                <a:ln>
                  <a:noFill/>
                </a:ln>
                <a:solidFill>
                  <a:srgbClr val="FF3300"/>
                </a:solidFill>
                <a:effectLst/>
                <a:uLnTx/>
                <a:uFillTx/>
                <a:latin typeface="+mn-lt"/>
                <a:ea typeface="+mn-ea"/>
                <a:cs typeface="+mn-ea"/>
                <a:sym typeface="+mn-lt"/>
              </a:rPr>
              <a:t>BiTree</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9154"/>
                                        </p:tgtEl>
                                        <p:attrNameLst>
                                          <p:attrName>style.visibility</p:attrName>
                                        </p:attrNameLst>
                                      </p:cBhvr>
                                      <p:to>
                                        <p:strVal val="visible"/>
                                      </p:to>
                                    </p:set>
                                    <p:animEffect transition="in" filter="fade">
                                      <p:cBhvr>
                                        <p:cTn id="7" dur="1000"/>
                                        <p:tgtEl>
                                          <p:spTgt spid="49154"/>
                                        </p:tgtEl>
                                      </p:cBhvr>
                                    </p:animEffect>
                                    <p:anim calcmode="lin" valueType="num">
                                      <p:cBhvr>
                                        <p:cTn id="8" dur="1000" fill="hold"/>
                                        <p:tgtEl>
                                          <p:spTgt spid="49154"/>
                                        </p:tgtEl>
                                        <p:attrNameLst>
                                          <p:attrName>ppt_x</p:attrName>
                                        </p:attrNameLst>
                                      </p:cBhvr>
                                      <p:tavLst>
                                        <p:tav tm="0">
                                          <p:val>
                                            <p:strVal val="#ppt_x"/>
                                          </p:val>
                                        </p:tav>
                                        <p:tav tm="100000">
                                          <p:val>
                                            <p:strVal val="#ppt_x"/>
                                          </p:val>
                                        </p:tav>
                                      </p:tavLst>
                                    </p:anim>
                                    <p:anim calcmode="lin" valueType="num">
                                      <p:cBhvr>
                                        <p:cTn id="9" dur="1000" fill="hold"/>
                                        <p:tgtEl>
                                          <p:spTgt spid="4915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8" fill="hold" grpId="0" nodeType="clickEffect">
                                  <p:stCondLst>
                                    <p:cond delay="0"/>
                                  </p:stCondLst>
                                  <p:childTnLst>
                                    <p:set>
                                      <p:cBhvr>
                                        <p:cTn id="13" dur="1" fill="hold">
                                          <p:stCondLst>
                                            <p:cond delay="0"/>
                                          </p:stCondLst>
                                        </p:cTn>
                                        <p:tgtEl>
                                          <p:spTgt spid="905285"/>
                                        </p:tgtEl>
                                        <p:attrNameLst>
                                          <p:attrName>style.visibility</p:attrName>
                                        </p:attrNameLst>
                                      </p:cBhvr>
                                      <p:to>
                                        <p:strVal val="visible"/>
                                      </p:to>
                                    </p:set>
                                    <p:anim calcmode="lin" valueType="num">
                                      <p:cBhvr additive="base">
                                        <p:cTn id="14" dur="500" fill="hold"/>
                                        <p:tgtEl>
                                          <p:spTgt spid="905285"/>
                                        </p:tgtEl>
                                        <p:attrNameLst>
                                          <p:attrName>ppt_x</p:attrName>
                                        </p:attrNameLst>
                                      </p:cBhvr>
                                      <p:tavLst>
                                        <p:tav tm="0">
                                          <p:val>
                                            <p:strVal val="0-#ppt_w/2"/>
                                          </p:val>
                                        </p:tav>
                                        <p:tav tm="100000">
                                          <p:val>
                                            <p:strVal val="#ppt_x"/>
                                          </p:val>
                                        </p:tav>
                                      </p:tavLst>
                                    </p:anim>
                                    <p:anim calcmode="lin" valueType="num">
                                      <p:cBhvr additive="base">
                                        <p:cTn id="15" dur="500" fill="hold"/>
                                        <p:tgtEl>
                                          <p:spTgt spid="90528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4" grpId="0" animBg="1"/>
      <p:bldP spid="905285"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矩形 59"/>
          <p:cNvSpPr/>
          <p:nvPr/>
        </p:nvSpPr>
        <p:spPr>
          <a:xfrm>
            <a:off x="5003800" y="1993900"/>
            <a:ext cx="3995738" cy="3960813"/>
          </a:xfrm>
          <a:prstGeom prst="rect">
            <a:avLst/>
          </a:prstGeom>
          <a:solidFill>
            <a:srgbClr val="E2D9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50179" name="矩形 5"/>
          <p:cNvSpPr/>
          <p:nvPr/>
        </p:nvSpPr>
        <p:spPr>
          <a:xfrm>
            <a:off x="120650" y="1989138"/>
            <a:ext cx="4664075" cy="3960812"/>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2" name="圆角矩形 1"/>
          <p:cNvSpPr/>
          <p:nvPr/>
        </p:nvSpPr>
        <p:spPr bwMode="auto">
          <a:xfrm>
            <a:off x="68263" y="1193800"/>
            <a:ext cx="8964613" cy="633413"/>
          </a:xfrm>
          <a:prstGeom prst="roundRect">
            <a:avLst/>
          </a:prstGeom>
          <a:solidFill>
            <a:schemeClr val="accent1">
              <a:lumMod val="60000"/>
              <a:lumOff val="4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922628" name="Rectangle 4"/>
          <p:cNvSpPr>
            <a:spLocks noChangeArrowheads="1"/>
          </p:cNvSpPr>
          <p:nvPr/>
        </p:nvSpPr>
        <p:spPr bwMode="auto">
          <a:xfrm>
            <a:off x="195263" y="2252663"/>
            <a:ext cx="4506913" cy="2085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tabLst>
                <a:tab pos="666750" algn="l"/>
              </a:tabLst>
              <a:defRPr sz="2800" b="1">
                <a:solidFill>
                  <a:schemeClr val="tx1"/>
                </a:solidFill>
                <a:latin typeface="Times New Roman" panose="02020603050405020304" pitchFamily="18" charset="0"/>
                <a:ea typeface="仿宋_GB2312" pitchFamily="49" charset="-122"/>
              </a:defRPr>
            </a:lvl1pPr>
            <a:lvl2pPr>
              <a:tabLst>
                <a:tab pos="666750" algn="l"/>
              </a:tabLst>
              <a:defRPr sz="2800" b="1">
                <a:solidFill>
                  <a:schemeClr val="tx1"/>
                </a:solidFill>
                <a:latin typeface="Times New Roman" panose="02020603050405020304" pitchFamily="18" charset="0"/>
                <a:ea typeface="仿宋_GB2312" pitchFamily="49" charset="-122"/>
              </a:defRPr>
            </a:lvl2pPr>
            <a:lvl3pPr>
              <a:tabLst>
                <a:tab pos="666750" algn="l"/>
              </a:tabLst>
              <a:defRPr sz="2800" b="1">
                <a:solidFill>
                  <a:schemeClr val="tx1"/>
                </a:solidFill>
                <a:latin typeface="Times New Roman" panose="02020603050405020304" pitchFamily="18" charset="0"/>
                <a:ea typeface="仿宋_GB2312" pitchFamily="49" charset="-122"/>
              </a:defRPr>
            </a:lvl3pPr>
            <a:lvl4pPr>
              <a:tabLst>
                <a:tab pos="666750" algn="l"/>
              </a:tabLst>
              <a:defRPr sz="2800" b="1">
                <a:solidFill>
                  <a:schemeClr val="tx1"/>
                </a:solidFill>
                <a:latin typeface="Times New Roman" panose="02020603050405020304" pitchFamily="18" charset="0"/>
                <a:ea typeface="仿宋_GB2312" pitchFamily="49" charset="-122"/>
              </a:defRPr>
            </a:lvl4pPr>
            <a:lvl5pPr>
              <a:tabLst>
                <a:tab pos="666750" algn="l"/>
              </a:tabLst>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tabLst>
                <a:tab pos="666750" algn="l"/>
              </a:tabLst>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tabLst>
                <a:tab pos="666750" algn="l"/>
              </a:tabLst>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tabLst>
                <a:tab pos="666750" algn="l"/>
              </a:tabLst>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tabLst>
                <a:tab pos="666750" algn="l"/>
              </a:tabLst>
              <a:defRPr sz="2800" b="1">
                <a:solidFill>
                  <a:schemeClr val="tx1"/>
                </a:solidFill>
                <a:latin typeface="Times New Roman" panose="02020603050405020304" pitchFamily="18" charset="0"/>
                <a:ea typeface="仿宋_GB2312" pitchFamily="49" charset="-122"/>
              </a:defRPr>
            </a:lvl9pPr>
          </a:lstStyle>
          <a:p>
            <a:pPr marL="0" marR="0" lvl="0" indent="0" algn="just" defTabSz="914400" rtl="0" eaLnBrk="0" fontAlgn="base" latinLnBrk="0" hangingPunct="0">
              <a:lnSpc>
                <a:spcPct val="130000"/>
              </a:lnSpc>
              <a:spcBef>
                <a:spcPct val="20000"/>
              </a:spcBef>
              <a:spcAft>
                <a:spcPct val="0"/>
              </a:spcAft>
              <a:buClrTx/>
              <a:buSzTx/>
              <a:buFont typeface="Arial" panose="020B0604020202020204" pitchFamily="34" charset="0"/>
              <a:buNone/>
              <a:tabLst>
                <a:tab pos="666750" algn="l"/>
              </a:tabLst>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分析：必有</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2n</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个链域。除根结点外，每个结点有且仅有一个双亲，所以只会有</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n</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个结点的链域存放指针，指向非空子女结点。</a:t>
            </a:r>
          </a:p>
        </p:txBody>
      </p:sp>
      <p:sp>
        <p:nvSpPr>
          <p:cNvPr id="922629" name="Rectangle 5"/>
          <p:cNvSpPr>
            <a:spLocks noChangeArrowheads="1"/>
          </p:cNvSpPr>
          <p:nvPr/>
        </p:nvSpPr>
        <p:spPr bwMode="auto">
          <a:xfrm>
            <a:off x="346075" y="4787900"/>
            <a:ext cx="4224338" cy="492125"/>
          </a:xfrm>
          <a:prstGeom prst="rect">
            <a:avLst/>
          </a:prstGeom>
          <a:noFill/>
          <a:ln w="38100">
            <a:solidFill>
              <a:srgbClr val="FF0000"/>
            </a:solidFill>
            <a:miter lim="800000"/>
          </a:ln>
          <a:extLst>
            <a:ext uri="{909E8E84-426E-40DD-AFC4-6F175D3DCCD1}">
              <a14:hiddenFill xmlns:a14="http://schemas.microsoft.com/office/drawing/2010/main">
                <a:solidFill>
                  <a:srgbClr val="FFFFFF"/>
                </a:solidFill>
              </a14:hiddenFill>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空指针数目＝</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2n</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(n-1)=n+1</a:t>
            </a:r>
          </a:p>
        </p:txBody>
      </p:sp>
      <p:sp>
        <p:nvSpPr>
          <p:cNvPr id="922630" name="Text Box 6"/>
          <p:cNvSpPr txBox="1">
            <a:spLocks noChangeArrowheads="1"/>
          </p:cNvSpPr>
          <p:nvPr/>
        </p:nvSpPr>
        <p:spPr bwMode="auto">
          <a:xfrm>
            <a:off x="68263" y="1247775"/>
            <a:ext cx="8964613" cy="579438"/>
          </a:xfrm>
          <a:prstGeom prst="roundRect">
            <a:avLst/>
          </a:prstGeom>
          <a:noFill/>
          <a:ln w="38100">
            <a:noFill/>
            <a:miter lim="800000"/>
          </a:ln>
          <a:effectLst/>
        </p:spPr>
        <p:txBody>
          <a:bodyPr anchor="ctr">
            <a:spAutoFit/>
          </a:bodyPr>
          <a:lstStyle/>
          <a:p>
            <a:pPr marR="0" defTabSz="914400" eaLnBrk="1" hangingPunct="1">
              <a:buClrTx/>
              <a:buSzTx/>
              <a:buFontTx/>
              <a:buNone/>
              <a:defRPr/>
            </a:pPr>
            <a:r>
              <a:rPr kumimoji="1" lang="zh-CN" altLang="en-US" b="0" kern="1200" cap="none" spc="0" normalizeH="0" baseline="0" noProof="0" dirty="0">
                <a:solidFill>
                  <a:schemeClr val="bg1"/>
                </a:solidFill>
                <a:latin typeface="+mn-lt"/>
                <a:ea typeface="+mn-ea"/>
                <a:cs typeface="+mn-ea"/>
                <a:sym typeface="+mn-lt"/>
              </a:rPr>
              <a:t>在</a:t>
            </a:r>
            <a:r>
              <a:rPr kumimoji="1" lang="en-US" altLang="zh-CN" b="0" kern="1200" cap="none" spc="0" normalizeH="0" baseline="0" noProof="0" dirty="0">
                <a:solidFill>
                  <a:schemeClr val="bg1"/>
                </a:solidFill>
                <a:latin typeface="+mn-lt"/>
                <a:ea typeface="+mn-ea"/>
                <a:cs typeface="+mn-ea"/>
                <a:sym typeface="+mn-lt"/>
              </a:rPr>
              <a:t>n</a:t>
            </a:r>
            <a:r>
              <a:rPr kumimoji="1" lang="zh-CN" altLang="zh-CN" b="0" kern="1200" cap="none" spc="0" normalizeH="0" baseline="0" noProof="0" dirty="0">
                <a:solidFill>
                  <a:schemeClr val="bg1"/>
                </a:solidFill>
                <a:latin typeface="+mn-lt"/>
                <a:ea typeface="+mn-ea"/>
                <a:cs typeface="+mn-ea"/>
                <a:sym typeface="+mn-lt"/>
              </a:rPr>
              <a:t>个结点的二叉链表中，</a:t>
            </a:r>
            <a:r>
              <a:rPr kumimoji="1" lang="zh-CN" altLang="en-US" b="0" kern="1200" cap="none" spc="0" normalizeH="0" baseline="0" noProof="0" dirty="0">
                <a:solidFill>
                  <a:schemeClr val="bg1"/>
                </a:solidFill>
                <a:latin typeface="+mn-lt"/>
                <a:ea typeface="+mn-ea"/>
                <a:cs typeface="+mn-ea"/>
                <a:sym typeface="+mn-lt"/>
              </a:rPr>
              <a:t>有</a:t>
            </a:r>
            <a:r>
              <a:rPr kumimoji="1" lang="zh-CN" altLang="en-US" b="0" u="sng" kern="1200" cap="none" spc="0" normalizeH="0" baseline="0" noProof="0" dirty="0">
                <a:solidFill>
                  <a:schemeClr val="bg1"/>
                </a:solidFill>
                <a:latin typeface="+mn-lt"/>
                <a:ea typeface="+mn-ea"/>
                <a:cs typeface="+mn-ea"/>
                <a:sym typeface="+mn-lt"/>
              </a:rPr>
              <a:t>         </a:t>
            </a:r>
            <a:r>
              <a:rPr kumimoji="1" lang="zh-CN" altLang="en-US" b="0" kern="1200" cap="none" spc="0" normalizeH="0" baseline="0" noProof="0" dirty="0">
                <a:solidFill>
                  <a:schemeClr val="bg1"/>
                </a:solidFill>
                <a:latin typeface="+mn-lt"/>
                <a:ea typeface="+mn-ea"/>
                <a:cs typeface="+mn-ea"/>
                <a:sym typeface="+mn-lt"/>
              </a:rPr>
              <a:t>个</a:t>
            </a:r>
            <a:r>
              <a:rPr kumimoji="1" lang="zh-CN" altLang="zh-CN" b="0" kern="1200" cap="none" spc="0" normalizeH="0" baseline="0" noProof="0" dirty="0">
                <a:solidFill>
                  <a:schemeClr val="bg1"/>
                </a:solidFill>
                <a:latin typeface="+mn-lt"/>
                <a:ea typeface="+mn-ea"/>
                <a:cs typeface="+mn-ea"/>
                <a:sym typeface="+mn-lt"/>
              </a:rPr>
              <a:t>空指针域</a:t>
            </a:r>
            <a:endParaRPr kumimoji="1" lang="zh-CN" altLang="en-US" b="0" kern="1200" cap="none" spc="0" normalizeH="0" baseline="0" noProof="0" dirty="0">
              <a:solidFill>
                <a:schemeClr val="bg1"/>
              </a:solidFill>
              <a:latin typeface="+mn-lt"/>
              <a:ea typeface="+mn-ea"/>
              <a:cs typeface="+mn-ea"/>
              <a:sym typeface="+mn-lt"/>
            </a:endParaRPr>
          </a:p>
        </p:txBody>
      </p:sp>
      <p:sp>
        <p:nvSpPr>
          <p:cNvPr id="45061" name="Rectangle 7"/>
          <p:cNvSpPr>
            <a:spLocks noChangeArrowheads="1"/>
          </p:cNvSpPr>
          <p:nvPr/>
        </p:nvSpPr>
        <p:spPr bwMode="auto">
          <a:xfrm>
            <a:off x="900113" y="120650"/>
            <a:ext cx="233997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练习</a:t>
            </a:r>
          </a:p>
        </p:txBody>
      </p:sp>
      <p:grpSp>
        <p:nvGrpSpPr>
          <p:cNvPr id="45065" name="Group 8"/>
          <p:cNvGrpSpPr/>
          <p:nvPr/>
        </p:nvGrpSpPr>
        <p:grpSpPr>
          <a:xfrm>
            <a:off x="5219700" y="2090738"/>
            <a:ext cx="3530600" cy="3686175"/>
            <a:chOff x="2962" y="1354"/>
            <a:chExt cx="2224" cy="2650"/>
          </a:xfrm>
        </p:grpSpPr>
        <p:grpSp>
          <p:nvGrpSpPr>
            <p:cNvPr id="45068" name="Group 9"/>
            <p:cNvGrpSpPr/>
            <p:nvPr/>
          </p:nvGrpSpPr>
          <p:grpSpPr>
            <a:xfrm>
              <a:off x="2963" y="1796"/>
              <a:ext cx="2223" cy="2150"/>
              <a:chOff x="2540" y="1809"/>
              <a:chExt cx="2223" cy="2150"/>
            </a:xfrm>
          </p:grpSpPr>
          <p:grpSp>
            <p:nvGrpSpPr>
              <p:cNvPr id="45086" name="Group 10"/>
              <p:cNvGrpSpPr/>
              <p:nvPr/>
            </p:nvGrpSpPr>
            <p:grpSpPr>
              <a:xfrm>
                <a:off x="3289" y="1809"/>
                <a:ext cx="778" cy="256"/>
                <a:chOff x="1700" y="2033"/>
                <a:chExt cx="778" cy="256"/>
              </a:xfrm>
            </p:grpSpPr>
            <p:sp>
              <p:nvSpPr>
                <p:cNvPr id="3" name="Rectangle 11"/>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A</a:t>
                  </a:r>
                </a:p>
              </p:txBody>
            </p:sp>
            <p:sp>
              <p:nvSpPr>
                <p:cNvPr id="45066" name="Line 12"/>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 name="Line 13"/>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5087" name="Group 14"/>
              <p:cNvGrpSpPr/>
              <p:nvPr/>
            </p:nvGrpSpPr>
            <p:grpSpPr>
              <a:xfrm>
                <a:off x="2819" y="2217"/>
                <a:ext cx="778" cy="256"/>
                <a:chOff x="1700" y="2033"/>
                <a:chExt cx="778" cy="256"/>
              </a:xfrm>
            </p:grpSpPr>
            <p:sp>
              <p:nvSpPr>
                <p:cNvPr id="45069" name="Rectangle 15"/>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45070" name="Line 16"/>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5071" name="Line 17"/>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5088" name="Group 18"/>
              <p:cNvGrpSpPr/>
              <p:nvPr/>
            </p:nvGrpSpPr>
            <p:grpSpPr>
              <a:xfrm>
                <a:off x="2540" y="2717"/>
                <a:ext cx="778" cy="256"/>
                <a:chOff x="1700" y="2033"/>
                <a:chExt cx="778" cy="256"/>
              </a:xfrm>
            </p:grpSpPr>
            <p:sp>
              <p:nvSpPr>
                <p:cNvPr id="45073" name="Rectangle 19"/>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C</a:t>
                  </a:r>
                </a:p>
              </p:txBody>
            </p:sp>
            <p:sp>
              <p:nvSpPr>
                <p:cNvPr id="45074" name="Line 20"/>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 name="Line 21"/>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5089" name="Group 22"/>
              <p:cNvGrpSpPr/>
              <p:nvPr/>
            </p:nvGrpSpPr>
            <p:grpSpPr>
              <a:xfrm>
                <a:off x="3497" y="2716"/>
                <a:ext cx="778" cy="256"/>
                <a:chOff x="1700" y="2033"/>
                <a:chExt cx="778" cy="256"/>
              </a:xfrm>
            </p:grpSpPr>
            <p:sp>
              <p:nvSpPr>
                <p:cNvPr id="45077" name="Rectangle 23"/>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D</a:t>
                  </a:r>
                </a:p>
              </p:txBody>
            </p:sp>
            <p:sp>
              <p:nvSpPr>
                <p:cNvPr id="45078" name="Line 24"/>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5079" name="Line 25"/>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5090" name="Group 26"/>
              <p:cNvGrpSpPr/>
              <p:nvPr/>
            </p:nvGrpSpPr>
            <p:grpSpPr>
              <a:xfrm>
                <a:off x="3052" y="3226"/>
                <a:ext cx="778" cy="256"/>
                <a:chOff x="1700" y="2033"/>
                <a:chExt cx="778" cy="256"/>
              </a:xfrm>
            </p:grpSpPr>
            <p:sp>
              <p:nvSpPr>
                <p:cNvPr id="45081" name="Rectangle 27"/>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E</a:t>
                  </a:r>
                </a:p>
              </p:txBody>
            </p:sp>
            <p:sp>
              <p:nvSpPr>
                <p:cNvPr id="45082" name="Line 28"/>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5083" name="Line 29"/>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5091" name="Group 30"/>
              <p:cNvGrpSpPr/>
              <p:nvPr/>
            </p:nvGrpSpPr>
            <p:grpSpPr>
              <a:xfrm>
                <a:off x="3985" y="3216"/>
                <a:ext cx="778" cy="256"/>
                <a:chOff x="1700" y="2033"/>
                <a:chExt cx="778" cy="256"/>
              </a:xfrm>
            </p:grpSpPr>
            <p:sp>
              <p:nvSpPr>
                <p:cNvPr id="45085" name="Rectangle 31"/>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F</a:t>
                  </a:r>
                </a:p>
              </p:txBody>
            </p:sp>
            <p:sp>
              <p:nvSpPr>
                <p:cNvPr id="6" name="Line 32"/>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 name="Line 33"/>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5092" name="Group 34"/>
              <p:cNvGrpSpPr/>
              <p:nvPr/>
            </p:nvGrpSpPr>
            <p:grpSpPr>
              <a:xfrm>
                <a:off x="3517" y="3703"/>
                <a:ext cx="778" cy="256"/>
                <a:chOff x="1700" y="2033"/>
                <a:chExt cx="778" cy="256"/>
              </a:xfrm>
            </p:grpSpPr>
            <p:sp>
              <p:nvSpPr>
                <p:cNvPr id="9" name="Rectangle 35"/>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G</a:t>
                  </a:r>
                </a:p>
              </p:txBody>
            </p:sp>
            <p:sp>
              <p:nvSpPr>
                <p:cNvPr id="10" name="Line 36"/>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 name="Line 37"/>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sp>
          <p:nvSpPr>
            <p:cNvPr id="8" name="Line 38"/>
            <p:cNvSpPr>
              <a:spLocks noChangeShapeType="1"/>
            </p:cNvSpPr>
            <p:nvPr/>
          </p:nvSpPr>
          <p:spPr bwMode="auto">
            <a:xfrm flipH="1">
              <a:off x="3657" y="1975"/>
              <a:ext cx="144" cy="233"/>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5093" name="Line 39"/>
            <p:cNvSpPr>
              <a:spLocks noChangeShapeType="1"/>
            </p:cNvSpPr>
            <p:nvPr/>
          </p:nvSpPr>
          <p:spPr bwMode="auto">
            <a:xfrm flipH="1">
              <a:off x="3257" y="2409"/>
              <a:ext cx="111" cy="299"/>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5094" name="Line 40"/>
            <p:cNvSpPr>
              <a:spLocks noChangeShapeType="1"/>
            </p:cNvSpPr>
            <p:nvPr/>
          </p:nvSpPr>
          <p:spPr bwMode="auto">
            <a:xfrm>
              <a:off x="3924" y="2375"/>
              <a:ext cx="322" cy="332"/>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5095" name="Line 41"/>
            <p:cNvSpPr>
              <a:spLocks noChangeShapeType="1"/>
            </p:cNvSpPr>
            <p:nvPr/>
          </p:nvSpPr>
          <p:spPr bwMode="auto">
            <a:xfrm flipH="1">
              <a:off x="3857" y="2852"/>
              <a:ext cx="178" cy="356"/>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5096" name="Line 42"/>
            <p:cNvSpPr>
              <a:spLocks noChangeShapeType="1"/>
            </p:cNvSpPr>
            <p:nvPr/>
          </p:nvSpPr>
          <p:spPr bwMode="auto">
            <a:xfrm>
              <a:off x="4557" y="2852"/>
              <a:ext cx="200" cy="356"/>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5097" name="Line 43"/>
            <p:cNvSpPr>
              <a:spLocks noChangeShapeType="1"/>
            </p:cNvSpPr>
            <p:nvPr/>
          </p:nvSpPr>
          <p:spPr bwMode="auto">
            <a:xfrm>
              <a:off x="4090" y="3408"/>
              <a:ext cx="200" cy="289"/>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45075" name="Group 44"/>
            <p:cNvGrpSpPr/>
            <p:nvPr/>
          </p:nvGrpSpPr>
          <p:grpSpPr>
            <a:xfrm>
              <a:off x="3868" y="1354"/>
              <a:ext cx="211" cy="444"/>
              <a:chOff x="3445" y="1367"/>
              <a:chExt cx="211" cy="444"/>
            </a:xfrm>
          </p:grpSpPr>
          <p:sp>
            <p:nvSpPr>
              <p:cNvPr id="45099" name="Freeform 45"/>
              <p:cNvSpPr>
                <a:spLocks noChangeArrowheads="1"/>
              </p:cNvSpPr>
              <p:nvPr/>
            </p:nvSpPr>
            <p:spPr bwMode="auto">
              <a:xfrm>
                <a:off x="3445" y="1367"/>
                <a:ext cx="72" cy="223"/>
              </a:xfrm>
              <a:custGeom>
                <a:avLst/>
                <a:gdLst>
                  <a:gd name="T0" fmla="*/ 33 w 94"/>
                  <a:gd name="T1" fmla="*/ 0 h 233"/>
                  <a:gd name="T2" fmla="*/ 89 w 94"/>
                  <a:gd name="T3" fmla="*/ 111 h 233"/>
                  <a:gd name="T4" fmla="*/ 0 w 94"/>
                  <a:gd name="T5" fmla="*/ 233 h 233"/>
                </a:gdLst>
                <a:ahLst/>
                <a:cxnLst>
                  <a:cxn ang="0">
                    <a:pos x="T0" y="T1"/>
                  </a:cxn>
                  <a:cxn ang="0">
                    <a:pos x="T2" y="T3"/>
                  </a:cxn>
                  <a:cxn ang="0">
                    <a:pos x="T4" y="T5"/>
                  </a:cxn>
                </a:cxnLst>
                <a:rect l="0" t="0" r="r" b="b"/>
                <a:pathLst>
                  <a:path w="94" h="233">
                    <a:moveTo>
                      <a:pt x="33" y="0"/>
                    </a:moveTo>
                    <a:cubicBezTo>
                      <a:pt x="63" y="36"/>
                      <a:pt x="94" y="72"/>
                      <a:pt x="89" y="111"/>
                    </a:cubicBezTo>
                    <a:cubicBezTo>
                      <a:pt x="84" y="150"/>
                      <a:pt x="19" y="218"/>
                      <a:pt x="0" y="233"/>
                    </a:cubicBezTo>
                  </a:path>
                </a:pathLst>
              </a:custGeom>
              <a:noFill/>
              <a:ln w="28575">
                <a:solidFill>
                  <a:srgbClr val="0000FF"/>
                </a:solidFill>
                <a:round/>
              </a:ln>
              <a:extLst>
                <a:ext uri="{909E8E84-426E-40DD-AFC4-6F175D3DCCD1}">
                  <a14:hiddenFill xmlns:a14="http://schemas.microsoft.com/office/drawing/2010/main">
                    <a:solidFill>
                      <a:srgbClr val="FFFFFF"/>
                    </a:solidFill>
                  </a14:hiddenFill>
                </a:ext>
              </a:extLst>
            </p:spPr>
            <p:txBody>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5100" name="Line 46"/>
              <p:cNvSpPr>
                <a:spLocks noChangeShapeType="1"/>
              </p:cNvSpPr>
              <p:nvPr/>
            </p:nvSpPr>
            <p:spPr bwMode="auto">
              <a:xfrm>
                <a:off x="3456" y="1590"/>
                <a:ext cx="200" cy="221"/>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45101" name="Text Box 47"/>
            <p:cNvSpPr txBox="1">
              <a:spLocks noChangeArrowheads="1"/>
            </p:cNvSpPr>
            <p:nvPr/>
          </p:nvSpPr>
          <p:spPr bwMode="auto">
            <a:xfrm>
              <a:off x="4222" y="1767"/>
              <a:ext cx="228" cy="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5102" name="Text Box 48"/>
            <p:cNvSpPr txBox="1">
              <a:spLocks noChangeArrowheads="1"/>
            </p:cNvSpPr>
            <p:nvPr/>
          </p:nvSpPr>
          <p:spPr bwMode="auto">
            <a:xfrm>
              <a:off x="2962" y="2666"/>
              <a:ext cx="228" cy="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5103" name="Text Box 49"/>
            <p:cNvSpPr txBox="1">
              <a:spLocks noChangeArrowheads="1"/>
            </p:cNvSpPr>
            <p:nvPr/>
          </p:nvSpPr>
          <p:spPr bwMode="auto">
            <a:xfrm>
              <a:off x="3502" y="2666"/>
              <a:ext cx="228" cy="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rgbClr val="FF3300"/>
                  </a:solidFill>
                  <a:effectLst/>
                  <a:uLnTx/>
                  <a:uFillTx/>
                  <a:latin typeface="+mn-lt"/>
                  <a:ea typeface="+mn-ea"/>
                  <a:cs typeface="+mn-ea"/>
                  <a:sym typeface="+mn-lt"/>
                </a:rPr>
                <a:t>^</a:t>
              </a:r>
            </a:p>
          </p:txBody>
        </p:sp>
        <p:sp>
          <p:nvSpPr>
            <p:cNvPr id="45104" name="Text Box 50"/>
            <p:cNvSpPr txBox="1">
              <a:spLocks noChangeArrowheads="1"/>
            </p:cNvSpPr>
            <p:nvPr/>
          </p:nvSpPr>
          <p:spPr bwMode="auto">
            <a:xfrm>
              <a:off x="3490" y="3182"/>
              <a:ext cx="228" cy="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5105" name="Text Box 51"/>
            <p:cNvSpPr txBox="1">
              <a:spLocks noChangeArrowheads="1"/>
            </p:cNvSpPr>
            <p:nvPr/>
          </p:nvSpPr>
          <p:spPr bwMode="auto">
            <a:xfrm>
              <a:off x="4414" y="3171"/>
              <a:ext cx="228" cy="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5106" name="Text Box 52"/>
            <p:cNvSpPr txBox="1">
              <a:spLocks noChangeArrowheads="1"/>
            </p:cNvSpPr>
            <p:nvPr/>
          </p:nvSpPr>
          <p:spPr bwMode="auto">
            <a:xfrm>
              <a:off x="4942" y="3171"/>
              <a:ext cx="228" cy="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5107" name="Text Box 53"/>
            <p:cNvSpPr txBox="1">
              <a:spLocks noChangeArrowheads="1"/>
            </p:cNvSpPr>
            <p:nvPr/>
          </p:nvSpPr>
          <p:spPr bwMode="auto">
            <a:xfrm>
              <a:off x="3946" y="3675"/>
              <a:ext cx="228" cy="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5108" name="Text Box 54"/>
            <p:cNvSpPr txBox="1">
              <a:spLocks noChangeArrowheads="1"/>
            </p:cNvSpPr>
            <p:nvPr/>
          </p:nvSpPr>
          <p:spPr bwMode="auto">
            <a:xfrm>
              <a:off x="4474" y="3662"/>
              <a:ext cx="22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grpSp>
      <p:sp>
        <p:nvSpPr>
          <p:cNvPr id="922679" name="Text Box 55"/>
          <p:cNvSpPr txBox="1">
            <a:spLocks noChangeArrowheads="1"/>
          </p:cNvSpPr>
          <p:nvPr/>
        </p:nvSpPr>
        <p:spPr bwMode="auto">
          <a:xfrm>
            <a:off x="4668838" y="1163638"/>
            <a:ext cx="995363" cy="579438"/>
          </a:xfrm>
          <a:prstGeom prst="rect">
            <a:avLst/>
          </a:prstGeom>
          <a:noFill/>
          <a:ln>
            <a:noFill/>
          </a:ln>
        </p:spPr>
        <p:txBody>
          <a:bodyPr>
            <a:spAutoFit/>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0000"/>
                </a:solidFill>
                <a:effectLst/>
                <a:uLnTx/>
                <a:uFillTx/>
                <a:latin typeface="+mn-lt"/>
                <a:ea typeface="+mn-ea"/>
                <a:cs typeface="+mn-ea"/>
                <a:sym typeface="+mn-lt"/>
              </a:rPr>
              <a:t>n+1</a:t>
            </a:r>
          </a:p>
        </p:txBody>
      </p:sp>
      <p:cxnSp>
        <p:nvCxnSpPr>
          <p:cNvPr id="45067" name="直接连接符 3"/>
          <p:cNvCxnSpPr/>
          <p:nvPr/>
        </p:nvCxnSpPr>
        <p:spPr>
          <a:xfrm>
            <a:off x="76200" y="1860550"/>
            <a:ext cx="8956675" cy="0"/>
          </a:xfrm>
          <a:prstGeom prst="line">
            <a:avLst/>
          </a:prstGeom>
          <a:ln w="9525" cap="flat" cmpd="sng">
            <a:solidFill>
              <a:srgbClr val="A78DC2"/>
            </a:solidFill>
            <a:prstDash val="solid"/>
            <a:headEnd type="none"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0179"/>
                                        </p:tgtEl>
                                        <p:attrNameLst>
                                          <p:attrName>style.visibility</p:attrName>
                                        </p:attrNameLst>
                                      </p:cBhvr>
                                      <p:to>
                                        <p:strVal val="visible"/>
                                      </p:to>
                                    </p:set>
                                    <p:anim calcmode="lin" valueType="num">
                                      <p:cBhvr additive="base">
                                        <p:cTn id="7" dur="500" fill="hold"/>
                                        <p:tgtEl>
                                          <p:spTgt spid="50179"/>
                                        </p:tgtEl>
                                        <p:attrNameLst>
                                          <p:attrName>ppt_x</p:attrName>
                                        </p:attrNameLst>
                                      </p:cBhvr>
                                      <p:tavLst>
                                        <p:tav tm="0">
                                          <p:val>
                                            <p:strVal val="#ppt_x"/>
                                          </p:val>
                                        </p:tav>
                                        <p:tav tm="100000">
                                          <p:val>
                                            <p:strVal val="#ppt_x"/>
                                          </p:val>
                                        </p:tav>
                                      </p:tavLst>
                                    </p:anim>
                                    <p:anim calcmode="lin" valueType="num">
                                      <p:cBhvr additive="base">
                                        <p:cTn id="8" dur="500" fill="hold"/>
                                        <p:tgtEl>
                                          <p:spTgt spid="5017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922628">
                                            <p:txEl>
                                              <p:pRg st="0" end="0"/>
                                            </p:txEl>
                                          </p:spTgt>
                                        </p:tgtEl>
                                        <p:attrNameLst>
                                          <p:attrName>style.visibility</p:attrName>
                                        </p:attrNameLst>
                                      </p:cBhvr>
                                      <p:to>
                                        <p:strVal val="visible"/>
                                      </p:to>
                                    </p:set>
                                    <p:animEffect transition="in" filter="wipe(left)">
                                      <p:cBhvr>
                                        <p:cTn id="13" dur="500"/>
                                        <p:tgtEl>
                                          <p:spTgt spid="922628">
                                            <p:txEl>
                                              <p:pRg st="0" end="0"/>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iterate type="wd">
                                    <p:tmAbs val="300"/>
                                  </p:iterate>
                                  <p:childTnLst>
                                    <p:set>
                                      <p:cBhvr>
                                        <p:cTn id="17" dur="1" fill="hold">
                                          <p:stCondLst>
                                            <p:cond delay="299"/>
                                          </p:stCondLst>
                                        </p:cTn>
                                        <p:tgtEl>
                                          <p:spTgt spid="922629"/>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922679"/>
                                        </p:tgtEl>
                                        <p:attrNameLst>
                                          <p:attrName>style.visibility</p:attrName>
                                        </p:attrNameLst>
                                      </p:cBhvr>
                                      <p:to>
                                        <p:strVal val="visible"/>
                                      </p:to>
                                    </p:set>
                                    <p:animEffect transition="in" filter="box(in)">
                                      <p:cBhvr>
                                        <p:cTn id="22" dur="500"/>
                                        <p:tgtEl>
                                          <p:spTgt spid="9226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179" grpId="0" animBg="1"/>
      <p:bldP spid="922628" grpId="0" build="p"/>
      <p:bldP spid="922629" grpId="0" animBg="1"/>
      <p:bldP spid="922679"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矩形 85"/>
          <p:cNvSpPr/>
          <p:nvPr/>
        </p:nvSpPr>
        <p:spPr>
          <a:xfrm>
            <a:off x="0" y="5051425"/>
            <a:ext cx="9144000" cy="1714500"/>
          </a:xfrm>
          <a:prstGeom prst="rect">
            <a:avLst/>
          </a:prstGeom>
          <a:solidFill>
            <a:srgbClr val="A5A5E9"/>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46081" name="日期占位符 1"/>
          <p:cNvSpPr txBox="1">
            <a:spLocks noGrp="1" noChangeArrowheads="1"/>
          </p:cNvSpPr>
          <p:nvPr>
            <p:ph type="dt" sz="half" idx="4294967295"/>
          </p:nvPr>
        </p:nvSpPr>
        <p:spPr bwMode="auto">
          <a:xfrm>
            <a:off x="4724400" y="6240463"/>
            <a:ext cx="4419600" cy="45720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                            </a:t>
            </a:r>
          </a:p>
        </p:txBody>
      </p:sp>
      <p:sp>
        <p:nvSpPr>
          <p:cNvPr id="46083" name="Rectangle 4"/>
          <p:cNvSpPr>
            <a:spLocks noChangeArrowheads="1"/>
          </p:cNvSpPr>
          <p:nvPr/>
        </p:nvSpPr>
        <p:spPr bwMode="auto">
          <a:xfrm>
            <a:off x="820738" y="217488"/>
            <a:ext cx="3195638"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三叉链表</a:t>
            </a:r>
          </a:p>
        </p:txBody>
      </p:sp>
      <p:grpSp>
        <p:nvGrpSpPr>
          <p:cNvPr id="46085" name="Group 5"/>
          <p:cNvGrpSpPr/>
          <p:nvPr/>
        </p:nvGrpSpPr>
        <p:grpSpPr>
          <a:xfrm>
            <a:off x="1068388" y="2138363"/>
            <a:ext cx="1622425" cy="2654300"/>
            <a:chOff x="703" y="2015"/>
            <a:chExt cx="1022" cy="1672"/>
          </a:xfrm>
        </p:grpSpPr>
        <p:sp>
          <p:nvSpPr>
            <p:cNvPr id="2" name="Oval 6"/>
            <p:cNvSpPr>
              <a:spLocks noChangeArrowheads="1"/>
            </p:cNvSpPr>
            <p:nvPr/>
          </p:nvSpPr>
          <p:spPr bwMode="auto">
            <a:xfrm>
              <a:off x="1222" y="2015"/>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A</a:t>
              </a:r>
            </a:p>
          </p:txBody>
        </p:sp>
        <p:sp>
          <p:nvSpPr>
            <p:cNvPr id="3" name="Oval 7"/>
            <p:cNvSpPr>
              <a:spLocks noChangeArrowheads="1"/>
            </p:cNvSpPr>
            <p:nvPr/>
          </p:nvSpPr>
          <p:spPr bwMode="auto">
            <a:xfrm>
              <a:off x="974" y="2367"/>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4" name="Oval 8"/>
            <p:cNvSpPr>
              <a:spLocks noChangeArrowheads="1"/>
            </p:cNvSpPr>
            <p:nvPr/>
          </p:nvSpPr>
          <p:spPr bwMode="auto">
            <a:xfrm>
              <a:off x="703" y="2729"/>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C</a:t>
              </a:r>
            </a:p>
          </p:txBody>
        </p:sp>
        <p:sp>
          <p:nvSpPr>
            <p:cNvPr id="46088" name="Oval 9"/>
            <p:cNvSpPr>
              <a:spLocks noChangeArrowheads="1"/>
            </p:cNvSpPr>
            <p:nvPr/>
          </p:nvSpPr>
          <p:spPr bwMode="auto">
            <a:xfrm>
              <a:off x="1215" y="2729"/>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D</a:t>
              </a:r>
            </a:p>
          </p:txBody>
        </p:sp>
        <p:sp>
          <p:nvSpPr>
            <p:cNvPr id="46089" name="Oval 10"/>
            <p:cNvSpPr>
              <a:spLocks noChangeArrowheads="1"/>
            </p:cNvSpPr>
            <p:nvPr/>
          </p:nvSpPr>
          <p:spPr bwMode="auto">
            <a:xfrm>
              <a:off x="1015" y="3051"/>
              <a:ext cx="255" cy="235"/>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E</a:t>
              </a:r>
            </a:p>
          </p:txBody>
        </p:sp>
        <p:sp>
          <p:nvSpPr>
            <p:cNvPr id="46090" name="Oval 11"/>
            <p:cNvSpPr>
              <a:spLocks noChangeArrowheads="1"/>
            </p:cNvSpPr>
            <p:nvPr/>
          </p:nvSpPr>
          <p:spPr bwMode="auto">
            <a:xfrm>
              <a:off x="1470" y="3051"/>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F</a:t>
              </a:r>
            </a:p>
          </p:txBody>
        </p:sp>
        <p:sp>
          <p:nvSpPr>
            <p:cNvPr id="46091" name="Oval 12"/>
            <p:cNvSpPr>
              <a:spLocks noChangeArrowheads="1"/>
            </p:cNvSpPr>
            <p:nvPr/>
          </p:nvSpPr>
          <p:spPr bwMode="auto">
            <a:xfrm>
              <a:off x="1225" y="3463"/>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G</a:t>
              </a:r>
            </a:p>
          </p:txBody>
        </p:sp>
        <p:sp>
          <p:nvSpPr>
            <p:cNvPr id="46092" name="Line 13"/>
            <p:cNvSpPr>
              <a:spLocks noChangeShapeType="1"/>
            </p:cNvSpPr>
            <p:nvPr/>
          </p:nvSpPr>
          <p:spPr bwMode="auto">
            <a:xfrm flipH="1">
              <a:off x="1156" y="2200"/>
              <a:ext cx="111" cy="19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 name="Line 14"/>
            <p:cNvSpPr>
              <a:spLocks noChangeShapeType="1"/>
            </p:cNvSpPr>
            <p:nvPr/>
          </p:nvSpPr>
          <p:spPr bwMode="auto">
            <a:xfrm flipH="1">
              <a:off x="911" y="2566"/>
              <a:ext cx="122" cy="18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094" name="Line 15"/>
            <p:cNvSpPr>
              <a:spLocks noChangeShapeType="1"/>
            </p:cNvSpPr>
            <p:nvPr/>
          </p:nvSpPr>
          <p:spPr bwMode="auto">
            <a:xfrm>
              <a:off x="1189" y="2566"/>
              <a:ext cx="133" cy="18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095" name="Line 16"/>
            <p:cNvSpPr>
              <a:spLocks noChangeShapeType="1"/>
            </p:cNvSpPr>
            <p:nvPr/>
          </p:nvSpPr>
          <p:spPr bwMode="auto">
            <a:xfrm flipH="1">
              <a:off x="1211" y="2955"/>
              <a:ext cx="78" cy="1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096" name="Line 17"/>
            <p:cNvSpPr>
              <a:spLocks noChangeShapeType="1"/>
            </p:cNvSpPr>
            <p:nvPr/>
          </p:nvSpPr>
          <p:spPr bwMode="auto">
            <a:xfrm>
              <a:off x="1411" y="2933"/>
              <a:ext cx="112" cy="1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097" name="Line 18"/>
            <p:cNvSpPr>
              <a:spLocks noChangeShapeType="1"/>
            </p:cNvSpPr>
            <p:nvPr/>
          </p:nvSpPr>
          <p:spPr bwMode="auto">
            <a:xfrm>
              <a:off x="1178" y="3277"/>
              <a:ext cx="133" cy="18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6086" name="Group 19"/>
          <p:cNvGrpSpPr/>
          <p:nvPr/>
        </p:nvGrpSpPr>
        <p:grpSpPr>
          <a:xfrm>
            <a:off x="3592513" y="906463"/>
            <a:ext cx="5081587" cy="4132262"/>
            <a:chOff x="1898" y="342"/>
            <a:chExt cx="3201" cy="2603"/>
          </a:xfrm>
        </p:grpSpPr>
        <p:grpSp>
          <p:nvGrpSpPr>
            <p:cNvPr id="46093" name="Group 20"/>
            <p:cNvGrpSpPr/>
            <p:nvPr/>
          </p:nvGrpSpPr>
          <p:grpSpPr>
            <a:xfrm>
              <a:off x="1898" y="662"/>
              <a:ext cx="3201" cy="2253"/>
              <a:chOff x="2307" y="1809"/>
              <a:chExt cx="3201" cy="2253"/>
            </a:xfrm>
          </p:grpSpPr>
          <p:grpSp>
            <p:nvGrpSpPr>
              <p:cNvPr id="46118" name="Group 21"/>
              <p:cNvGrpSpPr/>
              <p:nvPr/>
            </p:nvGrpSpPr>
            <p:grpSpPr>
              <a:xfrm>
                <a:off x="3289" y="1809"/>
                <a:ext cx="1134" cy="257"/>
                <a:chOff x="3289" y="1809"/>
                <a:chExt cx="1134" cy="257"/>
              </a:xfrm>
            </p:grpSpPr>
            <p:sp>
              <p:nvSpPr>
                <p:cNvPr id="46101" name="Rectangle 22"/>
                <p:cNvSpPr>
                  <a:spLocks noChangeArrowheads="1"/>
                </p:cNvSpPr>
                <p:nvPr/>
              </p:nvSpPr>
              <p:spPr bwMode="auto">
                <a:xfrm>
                  <a:off x="3289" y="1809"/>
                  <a:ext cx="1134"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A</a:t>
                  </a:r>
                </a:p>
              </p:txBody>
            </p:sp>
            <p:sp>
              <p:nvSpPr>
                <p:cNvPr id="46102" name="Line 23"/>
                <p:cNvSpPr>
                  <a:spLocks noChangeShapeType="1"/>
                </p:cNvSpPr>
                <p:nvPr/>
              </p:nvSpPr>
              <p:spPr bwMode="auto">
                <a:xfrm>
                  <a:off x="3563" y="1809"/>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03" name="Line 24"/>
                <p:cNvSpPr>
                  <a:spLocks noChangeShapeType="1"/>
                </p:cNvSpPr>
                <p:nvPr/>
              </p:nvSpPr>
              <p:spPr bwMode="auto">
                <a:xfrm>
                  <a:off x="3848" y="1820"/>
                  <a:ext cx="0" cy="23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04" name="Line 25"/>
                <p:cNvSpPr>
                  <a:spLocks noChangeShapeType="1"/>
                </p:cNvSpPr>
                <p:nvPr/>
              </p:nvSpPr>
              <p:spPr bwMode="auto">
                <a:xfrm>
                  <a:off x="4134" y="1811"/>
                  <a:ext cx="0" cy="25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6119" name="Group 26"/>
              <p:cNvGrpSpPr/>
              <p:nvPr/>
            </p:nvGrpSpPr>
            <p:grpSpPr>
              <a:xfrm>
                <a:off x="2651" y="2284"/>
                <a:ext cx="1134" cy="257"/>
                <a:chOff x="3289" y="1809"/>
                <a:chExt cx="1134" cy="257"/>
              </a:xfrm>
            </p:grpSpPr>
            <p:sp>
              <p:nvSpPr>
                <p:cNvPr id="6" name="Rectangle 27"/>
                <p:cNvSpPr>
                  <a:spLocks noChangeArrowheads="1"/>
                </p:cNvSpPr>
                <p:nvPr/>
              </p:nvSpPr>
              <p:spPr bwMode="auto">
                <a:xfrm>
                  <a:off x="3289" y="1809"/>
                  <a:ext cx="1134"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B              </a:t>
                  </a:r>
                </a:p>
              </p:txBody>
            </p:sp>
            <p:sp>
              <p:nvSpPr>
                <p:cNvPr id="46107" name="Line 28"/>
                <p:cNvSpPr>
                  <a:spLocks noChangeShapeType="1"/>
                </p:cNvSpPr>
                <p:nvPr/>
              </p:nvSpPr>
              <p:spPr bwMode="auto">
                <a:xfrm>
                  <a:off x="3563" y="1809"/>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08" name="Line 29"/>
                <p:cNvSpPr>
                  <a:spLocks noChangeShapeType="1"/>
                </p:cNvSpPr>
                <p:nvPr/>
              </p:nvSpPr>
              <p:spPr bwMode="auto">
                <a:xfrm>
                  <a:off x="3848" y="1820"/>
                  <a:ext cx="0" cy="23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09" name="Line 30"/>
                <p:cNvSpPr>
                  <a:spLocks noChangeShapeType="1"/>
                </p:cNvSpPr>
                <p:nvPr/>
              </p:nvSpPr>
              <p:spPr bwMode="auto">
                <a:xfrm>
                  <a:off x="4134" y="1811"/>
                  <a:ext cx="0" cy="25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6120" name="Group 31"/>
              <p:cNvGrpSpPr/>
              <p:nvPr/>
            </p:nvGrpSpPr>
            <p:grpSpPr>
              <a:xfrm>
                <a:off x="2307" y="2772"/>
                <a:ext cx="1134" cy="257"/>
                <a:chOff x="3289" y="1809"/>
                <a:chExt cx="1134" cy="257"/>
              </a:xfrm>
            </p:grpSpPr>
            <p:sp>
              <p:nvSpPr>
                <p:cNvPr id="46111" name="Rectangle 32"/>
                <p:cNvSpPr>
                  <a:spLocks noChangeArrowheads="1"/>
                </p:cNvSpPr>
                <p:nvPr/>
              </p:nvSpPr>
              <p:spPr bwMode="auto">
                <a:xfrm>
                  <a:off x="3289" y="1809"/>
                  <a:ext cx="1134"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C               </a:t>
                  </a:r>
                </a:p>
              </p:txBody>
            </p:sp>
            <p:sp>
              <p:nvSpPr>
                <p:cNvPr id="46112" name="Line 33"/>
                <p:cNvSpPr>
                  <a:spLocks noChangeShapeType="1"/>
                </p:cNvSpPr>
                <p:nvPr/>
              </p:nvSpPr>
              <p:spPr bwMode="auto">
                <a:xfrm>
                  <a:off x="3563" y="1809"/>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13" name="Line 34"/>
                <p:cNvSpPr>
                  <a:spLocks noChangeShapeType="1"/>
                </p:cNvSpPr>
                <p:nvPr/>
              </p:nvSpPr>
              <p:spPr bwMode="auto">
                <a:xfrm>
                  <a:off x="3848" y="1820"/>
                  <a:ext cx="0" cy="23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14" name="Line 35"/>
                <p:cNvSpPr>
                  <a:spLocks noChangeShapeType="1"/>
                </p:cNvSpPr>
                <p:nvPr/>
              </p:nvSpPr>
              <p:spPr bwMode="auto">
                <a:xfrm>
                  <a:off x="4134" y="1811"/>
                  <a:ext cx="0" cy="25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6121" name="Group 36"/>
              <p:cNvGrpSpPr/>
              <p:nvPr/>
            </p:nvGrpSpPr>
            <p:grpSpPr>
              <a:xfrm>
                <a:off x="3752" y="2750"/>
                <a:ext cx="1134" cy="257"/>
                <a:chOff x="3289" y="1809"/>
                <a:chExt cx="1134" cy="257"/>
              </a:xfrm>
            </p:grpSpPr>
            <p:sp>
              <p:nvSpPr>
                <p:cNvPr id="46116" name="Rectangle 37"/>
                <p:cNvSpPr>
                  <a:spLocks noChangeArrowheads="1"/>
                </p:cNvSpPr>
                <p:nvPr/>
              </p:nvSpPr>
              <p:spPr bwMode="auto">
                <a:xfrm>
                  <a:off x="3289" y="1809"/>
                  <a:ext cx="1134"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D</a:t>
                  </a:r>
                </a:p>
              </p:txBody>
            </p:sp>
            <p:sp>
              <p:nvSpPr>
                <p:cNvPr id="46117" name="Line 38"/>
                <p:cNvSpPr>
                  <a:spLocks noChangeShapeType="1"/>
                </p:cNvSpPr>
                <p:nvPr/>
              </p:nvSpPr>
              <p:spPr bwMode="auto">
                <a:xfrm>
                  <a:off x="3563" y="1809"/>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 name="Line 39"/>
                <p:cNvSpPr>
                  <a:spLocks noChangeShapeType="1"/>
                </p:cNvSpPr>
                <p:nvPr/>
              </p:nvSpPr>
              <p:spPr bwMode="auto">
                <a:xfrm>
                  <a:off x="3848" y="1820"/>
                  <a:ext cx="0" cy="23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 name="Line 40"/>
                <p:cNvSpPr>
                  <a:spLocks noChangeShapeType="1"/>
                </p:cNvSpPr>
                <p:nvPr/>
              </p:nvSpPr>
              <p:spPr bwMode="auto">
                <a:xfrm>
                  <a:off x="4134" y="1811"/>
                  <a:ext cx="0" cy="25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6122" name="Group 41"/>
              <p:cNvGrpSpPr/>
              <p:nvPr/>
            </p:nvGrpSpPr>
            <p:grpSpPr>
              <a:xfrm>
                <a:off x="3041" y="3272"/>
                <a:ext cx="1134" cy="257"/>
                <a:chOff x="3289" y="1809"/>
                <a:chExt cx="1134" cy="257"/>
              </a:xfrm>
            </p:grpSpPr>
            <p:sp>
              <p:nvSpPr>
                <p:cNvPr id="9" name="Rectangle 42"/>
                <p:cNvSpPr>
                  <a:spLocks noChangeArrowheads="1"/>
                </p:cNvSpPr>
                <p:nvPr/>
              </p:nvSpPr>
              <p:spPr bwMode="auto">
                <a:xfrm>
                  <a:off x="3289" y="1809"/>
                  <a:ext cx="1134"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E         </a:t>
                  </a:r>
                </a:p>
              </p:txBody>
            </p:sp>
            <p:sp>
              <p:nvSpPr>
                <p:cNvPr id="10" name="Line 43"/>
                <p:cNvSpPr>
                  <a:spLocks noChangeShapeType="1"/>
                </p:cNvSpPr>
                <p:nvPr/>
              </p:nvSpPr>
              <p:spPr bwMode="auto">
                <a:xfrm>
                  <a:off x="3563" y="1809"/>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 name="Line 44"/>
                <p:cNvSpPr>
                  <a:spLocks noChangeShapeType="1"/>
                </p:cNvSpPr>
                <p:nvPr/>
              </p:nvSpPr>
              <p:spPr bwMode="auto">
                <a:xfrm>
                  <a:off x="3848" y="1820"/>
                  <a:ext cx="0" cy="23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 name="Line 45"/>
                <p:cNvSpPr>
                  <a:spLocks noChangeShapeType="1"/>
                </p:cNvSpPr>
                <p:nvPr/>
              </p:nvSpPr>
              <p:spPr bwMode="auto">
                <a:xfrm>
                  <a:off x="4134" y="1811"/>
                  <a:ext cx="0" cy="25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6123" name="Group 46"/>
              <p:cNvGrpSpPr/>
              <p:nvPr/>
            </p:nvGrpSpPr>
            <p:grpSpPr>
              <a:xfrm>
                <a:off x="4374" y="3261"/>
                <a:ext cx="1134" cy="257"/>
                <a:chOff x="3289" y="1809"/>
                <a:chExt cx="1134" cy="257"/>
              </a:xfrm>
            </p:grpSpPr>
            <p:sp>
              <p:nvSpPr>
                <p:cNvPr id="46126" name="Rectangle 47"/>
                <p:cNvSpPr>
                  <a:spLocks noChangeArrowheads="1"/>
                </p:cNvSpPr>
                <p:nvPr/>
              </p:nvSpPr>
              <p:spPr bwMode="auto">
                <a:xfrm>
                  <a:off x="3289" y="1809"/>
                  <a:ext cx="1134"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F</a:t>
                  </a:r>
                </a:p>
              </p:txBody>
            </p:sp>
            <p:sp>
              <p:nvSpPr>
                <p:cNvPr id="46127" name="Line 48"/>
                <p:cNvSpPr>
                  <a:spLocks noChangeShapeType="1"/>
                </p:cNvSpPr>
                <p:nvPr/>
              </p:nvSpPr>
              <p:spPr bwMode="auto">
                <a:xfrm>
                  <a:off x="3563" y="1809"/>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28" name="Line 49"/>
                <p:cNvSpPr>
                  <a:spLocks noChangeShapeType="1"/>
                </p:cNvSpPr>
                <p:nvPr/>
              </p:nvSpPr>
              <p:spPr bwMode="auto">
                <a:xfrm>
                  <a:off x="3848" y="1820"/>
                  <a:ext cx="0" cy="23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29" name="Line 50"/>
                <p:cNvSpPr>
                  <a:spLocks noChangeShapeType="1"/>
                </p:cNvSpPr>
                <p:nvPr/>
              </p:nvSpPr>
              <p:spPr bwMode="auto">
                <a:xfrm>
                  <a:off x="4134" y="1811"/>
                  <a:ext cx="0" cy="25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6124" name="Group 51"/>
              <p:cNvGrpSpPr/>
              <p:nvPr/>
            </p:nvGrpSpPr>
            <p:grpSpPr>
              <a:xfrm>
                <a:off x="3751" y="3805"/>
                <a:ext cx="1134" cy="257"/>
                <a:chOff x="3289" y="1809"/>
                <a:chExt cx="1134" cy="257"/>
              </a:xfrm>
            </p:grpSpPr>
            <p:sp>
              <p:nvSpPr>
                <p:cNvPr id="46131" name="Rectangle 52"/>
                <p:cNvSpPr>
                  <a:spLocks noChangeArrowheads="1"/>
                </p:cNvSpPr>
                <p:nvPr/>
              </p:nvSpPr>
              <p:spPr bwMode="auto">
                <a:xfrm>
                  <a:off x="3289" y="1809"/>
                  <a:ext cx="1134"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G</a:t>
                  </a:r>
                </a:p>
              </p:txBody>
            </p:sp>
            <p:sp>
              <p:nvSpPr>
                <p:cNvPr id="46132" name="Line 53"/>
                <p:cNvSpPr>
                  <a:spLocks noChangeShapeType="1"/>
                </p:cNvSpPr>
                <p:nvPr/>
              </p:nvSpPr>
              <p:spPr bwMode="auto">
                <a:xfrm>
                  <a:off x="3563" y="1809"/>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33" name="Line 54"/>
                <p:cNvSpPr>
                  <a:spLocks noChangeShapeType="1"/>
                </p:cNvSpPr>
                <p:nvPr/>
              </p:nvSpPr>
              <p:spPr bwMode="auto">
                <a:xfrm>
                  <a:off x="3848" y="1820"/>
                  <a:ext cx="0" cy="23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34" name="Line 55"/>
                <p:cNvSpPr>
                  <a:spLocks noChangeShapeType="1"/>
                </p:cNvSpPr>
                <p:nvPr/>
              </p:nvSpPr>
              <p:spPr bwMode="auto">
                <a:xfrm>
                  <a:off x="4134" y="1811"/>
                  <a:ext cx="0" cy="25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sp>
          <p:nvSpPr>
            <p:cNvPr id="46135" name="Line 56"/>
            <p:cNvSpPr>
              <a:spLocks noChangeShapeType="1"/>
            </p:cNvSpPr>
            <p:nvPr/>
          </p:nvSpPr>
          <p:spPr bwMode="auto">
            <a:xfrm flipH="1">
              <a:off x="2736" y="864"/>
              <a:ext cx="278" cy="278"/>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36" name="Line 57"/>
            <p:cNvSpPr>
              <a:spLocks noChangeShapeType="1"/>
            </p:cNvSpPr>
            <p:nvPr/>
          </p:nvSpPr>
          <p:spPr bwMode="auto">
            <a:xfrm flipH="1">
              <a:off x="2236" y="1353"/>
              <a:ext cx="166" cy="278"/>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37" name="Line 58"/>
            <p:cNvSpPr>
              <a:spLocks noChangeShapeType="1"/>
            </p:cNvSpPr>
            <p:nvPr/>
          </p:nvSpPr>
          <p:spPr bwMode="auto">
            <a:xfrm flipH="1">
              <a:off x="3025" y="1786"/>
              <a:ext cx="467" cy="344"/>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38" name="Line 59"/>
            <p:cNvSpPr>
              <a:spLocks noChangeShapeType="1"/>
            </p:cNvSpPr>
            <p:nvPr/>
          </p:nvSpPr>
          <p:spPr bwMode="auto">
            <a:xfrm>
              <a:off x="3236" y="1308"/>
              <a:ext cx="467" cy="300"/>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39" name="Line 60"/>
            <p:cNvSpPr>
              <a:spLocks noChangeShapeType="1"/>
            </p:cNvSpPr>
            <p:nvPr/>
          </p:nvSpPr>
          <p:spPr bwMode="auto">
            <a:xfrm>
              <a:off x="4325" y="1764"/>
              <a:ext cx="144" cy="355"/>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40" name="Line 61"/>
            <p:cNvSpPr>
              <a:spLocks noChangeShapeType="1"/>
            </p:cNvSpPr>
            <p:nvPr/>
          </p:nvSpPr>
          <p:spPr bwMode="auto">
            <a:xfrm>
              <a:off x="3647" y="2286"/>
              <a:ext cx="211" cy="367"/>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41" name="Line 62"/>
            <p:cNvSpPr>
              <a:spLocks noChangeShapeType="1"/>
            </p:cNvSpPr>
            <p:nvPr/>
          </p:nvSpPr>
          <p:spPr bwMode="auto">
            <a:xfrm flipV="1">
              <a:off x="2969" y="908"/>
              <a:ext cx="289" cy="289"/>
            </a:xfrm>
            <a:prstGeom prst="line">
              <a:avLst/>
            </a:prstGeom>
            <a:noFill/>
            <a:ln w="28575">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42" name="Line 63"/>
            <p:cNvSpPr>
              <a:spLocks noChangeShapeType="1"/>
            </p:cNvSpPr>
            <p:nvPr/>
          </p:nvSpPr>
          <p:spPr bwMode="auto">
            <a:xfrm flipV="1">
              <a:off x="2558" y="1397"/>
              <a:ext cx="156" cy="289"/>
            </a:xfrm>
            <a:prstGeom prst="line">
              <a:avLst/>
            </a:prstGeom>
            <a:noFill/>
            <a:ln w="28575">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43" name="Line 64"/>
            <p:cNvSpPr>
              <a:spLocks noChangeShapeType="1"/>
            </p:cNvSpPr>
            <p:nvPr/>
          </p:nvSpPr>
          <p:spPr bwMode="auto">
            <a:xfrm flipH="1" flipV="1">
              <a:off x="3380" y="1308"/>
              <a:ext cx="656" cy="356"/>
            </a:xfrm>
            <a:prstGeom prst="line">
              <a:avLst/>
            </a:prstGeom>
            <a:noFill/>
            <a:ln w="28575">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44" name="Line 65"/>
            <p:cNvSpPr>
              <a:spLocks noChangeShapeType="1"/>
            </p:cNvSpPr>
            <p:nvPr/>
          </p:nvSpPr>
          <p:spPr bwMode="auto">
            <a:xfrm flipV="1">
              <a:off x="3336" y="1864"/>
              <a:ext cx="322" cy="333"/>
            </a:xfrm>
            <a:prstGeom prst="line">
              <a:avLst/>
            </a:prstGeom>
            <a:noFill/>
            <a:ln w="28575">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45" name="Line 66"/>
            <p:cNvSpPr>
              <a:spLocks noChangeShapeType="1"/>
            </p:cNvSpPr>
            <p:nvPr/>
          </p:nvSpPr>
          <p:spPr bwMode="auto">
            <a:xfrm flipH="1" flipV="1">
              <a:off x="3769" y="2264"/>
              <a:ext cx="267" cy="433"/>
            </a:xfrm>
            <a:prstGeom prst="line">
              <a:avLst/>
            </a:prstGeom>
            <a:noFill/>
            <a:ln w="28575">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46" name="Line 67"/>
            <p:cNvSpPr>
              <a:spLocks noChangeShapeType="1"/>
            </p:cNvSpPr>
            <p:nvPr/>
          </p:nvSpPr>
          <p:spPr bwMode="auto">
            <a:xfrm flipH="1" flipV="1">
              <a:off x="4481" y="1764"/>
              <a:ext cx="222" cy="400"/>
            </a:xfrm>
            <a:prstGeom prst="line">
              <a:avLst/>
            </a:prstGeom>
            <a:noFill/>
            <a:ln w="28575">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46106" name="Group 68"/>
            <p:cNvGrpSpPr/>
            <p:nvPr/>
          </p:nvGrpSpPr>
          <p:grpSpPr>
            <a:xfrm>
              <a:off x="3380" y="342"/>
              <a:ext cx="212" cy="322"/>
              <a:chOff x="3789" y="1489"/>
              <a:chExt cx="212" cy="322"/>
            </a:xfrm>
          </p:grpSpPr>
          <p:sp>
            <p:nvSpPr>
              <p:cNvPr id="46148" name="Freeform 69"/>
              <p:cNvSpPr>
                <a:spLocks noChangeArrowheads="1"/>
              </p:cNvSpPr>
              <p:nvPr/>
            </p:nvSpPr>
            <p:spPr bwMode="auto">
              <a:xfrm>
                <a:off x="3789" y="1489"/>
                <a:ext cx="152" cy="155"/>
              </a:xfrm>
              <a:custGeom>
                <a:avLst/>
                <a:gdLst>
                  <a:gd name="T0" fmla="*/ 45 w 152"/>
                  <a:gd name="T1" fmla="*/ 0 h 155"/>
                  <a:gd name="T2" fmla="*/ 145 w 152"/>
                  <a:gd name="T3" fmla="*/ 55 h 155"/>
                  <a:gd name="T4" fmla="*/ 0 w 152"/>
                  <a:gd name="T5" fmla="*/ 155 h 155"/>
                </a:gdLst>
                <a:ahLst/>
                <a:cxnLst>
                  <a:cxn ang="0">
                    <a:pos x="T0" y="T1"/>
                  </a:cxn>
                  <a:cxn ang="0">
                    <a:pos x="T2" y="T3"/>
                  </a:cxn>
                  <a:cxn ang="0">
                    <a:pos x="T4" y="T5"/>
                  </a:cxn>
                </a:cxnLst>
                <a:rect l="0" t="0" r="r" b="b"/>
                <a:pathLst>
                  <a:path w="152" h="155">
                    <a:moveTo>
                      <a:pt x="45" y="0"/>
                    </a:moveTo>
                    <a:cubicBezTo>
                      <a:pt x="98" y="14"/>
                      <a:pt x="152" y="29"/>
                      <a:pt x="145" y="55"/>
                    </a:cubicBezTo>
                    <a:cubicBezTo>
                      <a:pt x="138" y="81"/>
                      <a:pt x="24" y="138"/>
                      <a:pt x="0" y="155"/>
                    </a:cubicBezTo>
                  </a:path>
                </a:pathLst>
              </a:custGeom>
              <a:noFill/>
              <a:ln w="28575">
                <a:solidFill>
                  <a:srgbClr val="0000FF"/>
                </a:solidFill>
                <a:round/>
              </a:ln>
              <a:extLst>
                <a:ext uri="{909E8E84-426E-40DD-AFC4-6F175D3DCCD1}">
                  <a14:hiddenFill xmlns:a14="http://schemas.microsoft.com/office/drawing/2010/main">
                    <a:solidFill>
                      <a:srgbClr val="FFFFFF"/>
                    </a:solidFill>
                  </a14:hiddenFill>
                </a:ext>
              </a:extLst>
            </p:spPr>
            <p:txBody>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49" name="Line 70"/>
              <p:cNvSpPr>
                <a:spLocks noChangeShapeType="1"/>
              </p:cNvSpPr>
              <p:nvPr/>
            </p:nvSpPr>
            <p:spPr bwMode="auto">
              <a:xfrm>
                <a:off x="3789" y="1644"/>
                <a:ext cx="212" cy="167"/>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46150" name="Text Box 71"/>
            <p:cNvSpPr txBox="1">
              <a:spLocks noChangeArrowheads="1"/>
            </p:cNvSpPr>
            <p:nvPr/>
          </p:nvSpPr>
          <p:spPr bwMode="auto">
            <a:xfrm>
              <a:off x="3461" y="658"/>
              <a:ext cx="2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6151" name="Text Box 72"/>
            <p:cNvSpPr txBox="1">
              <a:spLocks noChangeArrowheads="1"/>
            </p:cNvSpPr>
            <p:nvPr/>
          </p:nvSpPr>
          <p:spPr bwMode="auto">
            <a:xfrm>
              <a:off x="3750" y="641"/>
              <a:ext cx="2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6152" name="Text Box 73"/>
            <p:cNvSpPr txBox="1">
              <a:spLocks noChangeArrowheads="1"/>
            </p:cNvSpPr>
            <p:nvPr/>
          </p:nvSpPr>
          <p:spPr bwMode="auto">
            <a:xfrm>
              <a:off x="1938" y="1625"/>
              <a:ext cx="2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6153" name="Text Box 74"/>
            <p:cNvSpPr txBox="1">
              <a:spLocks noChangeArrowheads="1"/>
            </p:cNvSpPr>
            <p:nvPr/>
          </p:nvSpPr>
          <p:spPr bwMode="auto">
            <a:xfrm>
              <a:off x="2778" y="1613"/>
              <a:ext cx="2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6154" name="Text Box 75"/>
            <p:cNvSpPr txBox="1">
              <a:spLocks noChangeArrowheads="1"/>
            </p:cNvSpPr>
            <p:nvPr/>
          </p:nvSpPr>
          <p:spPr bwMode="auto">
            <a:xfrm>
              <a:off x="2634" y="2117"/>
              <a:ext cx="2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6155" name="Text Box 76"/>
            <p:cNvSpPr txBox="1">
              <a:spLocks noChangeArrowheads="1"/>
            </p:cNvSpPr>
            <p:nvPr/>
          </p:nvSpPr>
          <p:spPr bwMode="auto">
            <a:xfrm>
              <a:off x="3954" y="2117"/>
              <a:ext cx="2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6156" name="Text Box 77"/>
            <p:cNvSpPr txBox="1">
              <a:spLocks noChangeArrowheads="1"/>
            </p:cNvSpPr>
            <p:nvPr/>
          </p:nvSpPr>
          <p:spPr bwMode="auto">
            <a:xfrm>
              <a:off x="4842" y="2105"/>
              <a:ext cx="2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6157" name="Text Box 78"/>
            <p:cNvSpPr txBox="1">
              <a:spLocks noChangeArrowheads="1"/>
            </p:cNvSpPr>
            <p:nvPr/>
          </p:nvSpPr>
          <p:spPr bwMode="auto">
            <a:xfrm>
              <a:off x="3354" y="2657"/>
              <a:ext cx="2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46158" name="Text Box 79"/>
            <p:cNvSpPr txBox="1">
              <a:spLocks noChangeArrowheads="1"/>
            </p:cNvSpPr>
            <p:nvPr/>
          </p:nvSpPr>
          <p:spPr bwMode="auto">
            <a:xfrm>
              <a:off x="4218" y="2633"/>
              <a:ext cx="2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p>
          </p:txBody>
        </p:sp>
      </p:grpSp>
      <p:grpSp>
        <p:nvGrpSpPr>
          <p:cNvPr id="46087" name="Group 80"/>
          <p:cNvGrpSpPr/>
          <p:nvPr/>
        </p:nvGrpSpPr>
        <p:grpSpPr>
          <a:xfrm>
            <a:off x="563563" y="1387475"/>
            <a:ext cx="3200400" cy="420688"/>
            <a:chOff x="3040" y="717"/>
            <a:chExt cx="1901" cy="265"/>
          </a:xfrm>
        </p:grpSpPr>
        <p:sp>
          <p:nvSpPr>
            <p:cNvPr id="46160" name="Rectangle 81"/>
            <p:cNvSpPr>
              <a:spLocks noChangeArrowheads="1"/>
            </p:cNvSpPr>
            <p:nvPr/>
          </p:nvSpPr>
          <p:spPr bwMode="auto">
            <a:xfrm>
              <a:off x="3040" y="726"/>
              <a:ext cx="1901"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err="1">
                  <a:ln>
                    <a:noFill/>
                  </a:ln>
                  <a:solidFill>
                    <a:schemeClr val="tx1"/>
                  </a:solidFill>
                  <a:effectLst/>
                  <a:uLnTx/>
                  <a:uFillTx/>
                  <a:latin typeface="+mn-lt"/>
                  <a:ea typeface="+mn-ea"/>
                  <a:cs typeface="+mn-ea"/>
                  <a:sym typeface="+mn-lt"/>
                </a:rPr>
                <a:t>lchild</a:t>
              </a: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data   parent  </a:t>
              </a:r>
              <a:r>
                <a:rPr kumimoji="0" lang="en-US" altLang="zh-CN" sz="2000" b="1" i="0" u="none" strike="noStrike" kern="1200" cap="none" spc="0" normalizeH="0" baseline="0" noProof="0" dirty="0" err="1">
                  <a:ln>
                    <a:noFill/>
                  </a:ln>
                  <a:solidFill>
                    <a:schemeClr val="tx1"/>
                  </a:solidFill>
                  <a:effectLst/>
                  <a:uLnTx/>
                  <a:uFillTx/>
                  <a:latin typeface="+mn-lt"/>
                  <a:ea typeface="+mn-ea"/>
                  <a:cs typeface="+mn-ea"/>
                  <a:sym typeface="+mn-lt"/>
                </a:rPr>
                <a:t>rchild</a:t>
              </a:r>
              <a:endPar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46161" name="Line 82"/>
            <p:cNvSpPr>
              <a:spLocks noChangeShapeType="1"/>
            </p:cNvSpPr>
            <p:nvPr/>
          </p:nvSpPr>
          <p:spPr bwMode="auto">
            <a:xfrm>
              <a:off x="3477" y="717"/>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62" name="Line 83"/>
            <p:cNvSpPr>
              <a:spLocks noChangeShapeType="1"/>
            </p:cNvSpPr>
            <p:nvPr/>
          </p:nvSpPr>
          <p:spPr bwMode="auto">
            <a:xfrm>
              <a:off x="3940" y="717"/>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163" name="Line 84"/>
            <p:cNvSpPr>
              <a:spLocks noChangeShapeType="1"/>
            </p:cNvSpPr>
            <p:nvPr/>
          </p:nvSpPr>
          <p:spPr bwMode="auto">
            <a:xfrm>
              <a:off x="4404" y="717"/>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53749" name="Rectangle 85"/>
          <p:cNvSpPr>
            <a:spLocks noChangeArrowheads="1"/>
          </p:cNvSpPr>
          <p:nvPr/>
        </p:nvSpPr>
        <p:spPr bwMode="auto">
          <a:xfrm>
            <a:off x="317500" y="5038725"/>
            <a:ext cx="8647113" cy="1784350"/>
          </a:xfrm>
          <a:prstGeom prst="rect">
            <a:avLst/>
          </a:prstGeom>
          <a:noFill/>
          <a:ln w="9525">
            <a:noFill/>
            <a:miter lim="800000"/>
          </a:ln>
          <a:effectLst/>
        </p:spPr>
        <p:txBody>
          <a:bodyPr>
            <a:spAutoFit/>
          </a:bodyPr>
          <a:lstStyle/>
          <a:p>
            <a:pPr marL="0" marR="0" lvl="0" indent="0" algn="l" defTabSz="914400" rtl="0" eaLnBrk="1" fontAlgn="base" latinLnBrk="0" hangingPunct="1">
              <a:lnSpc>
                <a:spcPct val="125000"/>
              </a:lnSpc>
              <a:spcBef>
                <a:spcPct val="50000"/>
              </a:spcBef>
              <a:spcAft>
                <a:spcPct val="0"/>
              </a:spcAft>
              <a:buClrTx/>
              <a:buSzTx/>
              <a:buFontTx/>
              <a:buNone/>
              <a:defRPr/>
            </a:pPr>
            <a:r>
              <a:rPr kumimoji="1" lang="en-US" altLang="zh-CN" sz="2200" b="0" i="0" u="none" strike="noStrike" kern="1200" cap="none" spc="0" normalizeH="0" baseline="0" noProof="0" dirty="0">
                <a:ln>
                  <a:noFill/>
                </a:ln>
                <a:solidFill>
                  <a:schemeClr val="tx1"/>
                </a:solidFill>
                <a:effectLst/>
                <a:uLnTx/>
                <a:uFillTx/>
                <a:latin typeface="+mn-lt"/>
                <a:ea typeface="+mn-ea"/>
                <a:cs typeface="+mn-ea"/>
                <a:sym typeface="+mn-lt"/>
              </a:rPr>
              <a:t>typedef </a:t>
            </a:r>
            <a:r>
              <a:rPr kumimoji="1"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struct</a:t>
            </a:r>
            <a:r>
              <a:rPr kumimoji="1"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1"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TriTNode</a:t>
            </a:r>
            <a:r>
              <a:rPr kumimoji="1"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r>
            <a:br>
              <a:rPr kumimoji="1" lang="en-US" altLang="zh-CN" sz="2200" b="0" i="0" u="none" strike="noStrike" kern="1200" cap="none" spc="0" normalizeH="0" baseline="0" noProof="0" dirty="0">
                <a:ln>
                  <a:noFill/>
                </a:ln>
                <a:solidFill>
                  <a:schemeClr val="tx1"/>
                </a:solidFill>
                <a:effectLst/>
                <a:uLnTx/>
                <a:uFillTx/>
                <a:latin typeface="+mn-lt"/>
                <a:ea typeface="+mn-ea"/>
                <a:cs typeface="+mn-ea"/>
                <a:sym typeface="+mn-lt"/>
              </a:rPr>
            </a:br>
            <a:r>
              <a:rPr kumimoji="1"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1"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TelemType</a:t>
            </a:r>
            <a:r>
              <a:rPr kumimoji="1" lang="en-US" altLang="zh-CN" sz="2200" b="0" i="0" u="none" strike="noStrike" kern="1200" cap="none" spc="0" normalizeH="0" baseline="0" noProof="0" dirty="0">
                <a:ln>
                  <a:noFill/>
                </a:ln>
                <a:solidFill>
                  <a:schemeClr val="tx1"/>
                </a:solidFill>
                <a:effectLst/>
                <a:uLnTx/>
                <a:uFillTx/>
                <a:latin typeface="+mn-lt"/>
                <a:ea typeface="+mn-ea"/>
                <a:cs typeface="+mn-ea"/>
                <a:sym typeface="+mn-lt"/>
              </a:rPr>
              <a:t> data;</a:t>
            </a:r>
            <a:br>
              <a:rPr kumimoji="1" lang="en-US" altLang="zh-CN" sz="2200" b="0" i="0" u="none" strike="noStrike" kern="1200" cap="none" spc="0" normalizeH="0" baseline="0" noProof="0" dirty="0">
                <a:ln>
                  <a:noFill/>
                </a:ln>
                <a:solidFill>
                  <a:schemeClr val="tx1"/>
                </a:solidFill>
                <a:effectLst/>
                <a:uLnTx/>
                <a:uFillTx/>
                <a:latin typeface="+mn-lt"/>
                <a:ea typeface="+mn-ea"/>
                <a:cs typeface="+mn-ea"/>
                <a:sym typeface="+mn-lt"/>
              </a:rPr>
            </a:br>
            <a:r>
              <a:rPr kumimoji="1"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1"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struct</a:t>
            </a:r>
            <a:r>
              <a:rPr kumimoji="1"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1"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TriTNode</a:t>
            </a:r>
            <a:r>
              <a:rPr kumimoji="1"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1" lang="en-US" altLang="zh-CN" sz="2200" b="0" i="0" u="none" strike="noStrike" kern="1200" cap="none" spc="0" normalizeH="0" baseline="0" noProof="0" dirty="0">
                <a:ln>
                  <a:noFill/>
                </a:ln>
                <a:solidFill>
                  <a:srgbClr val="FF3300"/>
                </a:solidFill>
                <a:effectLst/>
                <a:uLnTx/>
                <a:uFillTx/>
                <a:latin typeface="+mn-lt"/>
                <a:ea typeface="+mn-ea"/>
                <a:cs typeface="+mn-ea"/>
                <a:sym typeface="+mn-lt"/>
              </a:rPr>
              <a:t>*</a:t>
            </a:r>
            <a:r>
              <a:rPr kumimoji="1" lang="en-US" altLang="zh-CN" sz="2200" b="0" i="0" u="none" strike="noStrike" kern="1200" cap="none" spc="0" normalizeH="0" baseline="0" noProof="0" dirty="0" err="1">
                <a:ln>
                  <a:noFill/>
                </a:ln>
                <a:solidFill>
                  <a:srgbClr val="FF3300"/>
                </a:solidFill>
                <a:effectLst/>
                <a:uLnTx/>
                <a:uFillTx/>
                <a:latin typeface="+mn-lt"/>
                <a:ea typeface="+mn-ea"/>
                <a:cs typeface="+mn-ea"/>
                <a:sym typeface="+mn-lt"/>
              </a:rPr>
              <a:t>lchild</a:t>
            </a:r>
            <a:r>
              <a:rPr kumimoji="1" lang="en-US" altLang="zh-CN" sz="2200" b="0" i="0" u="none" strike="noStrike" kern="1200" cap="none" spc="0" normalizeH="0" baseline="0" noProof="0" dirty="0">
                <a:ln>
                  <a:noFill/>
                </a:ln>
                <a:solidFill>
                  <a:srgbClr val="FF3300"/>
                </a:solidFill>
                <a:effectLst/>
                <a:uLnTx/>
                <a:uFillTx/>
                <a:latin typeface="+mn-lt"/>
                <a:ea typeface="+mn-ea"/>
                <a:cs typeface="+mn-ea"/>
                <a:sym typeface="+mn-lt"/>
              </a:rPr>
              <a:t>,*parent,*</a:t>
            </a:r>
            <a:r>
              <a:rPr kumimoji="1" lang="en-US" altLang="zh-CN" sz="2200" b="0" i="0" u="none" strike="noStrike" kern="1200" cap="none" spc="0" normalizeH="0" baseline="0" noProof="0" dirty="0" err="1">
                <a:ln>
                  <a:noFill/>
                </a:ln>
                <a:solidFill>
                  <a:srgbClr val="FF3300"/>
                </a:solidFill>
                <a:effectLst/>
                <a:uLnTx/>
                <a:uFillTx/>
                <a:latin typeface="+mn-lt"/>
                <a:ea typeface="+mn-ea"/>
                <a:cs typeface="+mn-ea"/>
                <a:sym typeface="+mn-lt"/>
              </a:rPr>
              <a:t>rchild</a:t>
            </a:r>
            <a:r>
              <a:rPr kumimoji="1"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br>
              <a:rPr kumimoji="1" lang="en-US" altLang="zh-CN" sz="2200" b="0" i="0" u="none" strike="noStrike" kern="1200" cap="none" spc="0" normalizeH="0" baseline="0" noProof="0" dirty="0">
                <a:ln>
                  <a:noFill/>
                </a:ln>
                <a:solidFill>
                  <a:schemeClr val="tx1"/>
                </a:solidFill>
                <a:effectLst/>
                <a:uLnTx/>
                <a:uFillTx/>
                <a:latin typeface="+mn-lt"/>
                <a:ea typeface="+mn-ea"/>
                <a:cs typeface="+mn-ea"/>
                <a:sym typeface="+mn-lt"/>
              </a:rPr>
            </a:br>
            <a:r>
              <a:rPr kumimoji="1"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1"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TriTNode</a:t>
            </a:r>
            <a:r>
              <a:rPr kumimoji="1"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1"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TriTree</a:t>
            </a:r>
            <a:r>
              <a:rPr kumimoji="1"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p>
        </p:txBody>
      </p:sp>
    </p:spTree>
  </p:cSld>
  <p:clrMapOvr>
    <a:masterClrMapping/>
  </p:clrMapOvr>
  <p:transition>
    <p:cover dir="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grpSp>
        <p:nvGrpSpPr>
          <p:cNvPr id="4" name="组合 3"/>
          <p:cNvGrpSpPr/>
          <p:nvPr/>
        </p:nvGrpSpPr>
        <p:grpSpPr>
          <a:xfrm>
            <a:off x="1500505" y="1774825"/>
            <a:ext cx="6143625" cy="4390390"/>
            <a:chOff x="2363" y="3247"/>
            <a:chExt cx="9675" cy="6914"/>
          </a:xfrm>
        </p:grpSpPr>
        <p:sp>
          <p:nvSpPr>
            <p:cNvPr id="3" name="矩形: 圆角 16"/>
            <p:cNvSpPr>
              <a:spLocks noChangeArrowheads="1"/>
            </p:cNvSpPr>
            <p:nvPr/>
          </p:nvSpPr>
          <p:spPr bwMode="auto">
            <a:xfrm>
              <a:off x="3850" y="6524"/>
              <a:ext cx="8188" cy="795"/>
            </a:xfrm>
            <a:prstGeom prst="roundRect">
              <a:avLst>
                <a:gd name="adj" fmla="val 16667"/>
              </a:avLst>
            </a:prstGeom>
            <a:solidFill>
              <a:srgbClr val="9476B6"/>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2363" y="6524"/>
              <a:ext cx="1323" cy="795"/>
            </a:xfrm>
            <a:prstGeom prst="roundRect">
              <a:avLst>
                <a:gd name="adj" fmla="val 16667"/>
              </a:avLst>
            </a:pr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4" name="文本框 13"/>
            <p:cNvSpPr txBox="1"/>
            <p:nvPr/>
          </p:nvSpPr>
          <p:spPr>
            <a:xfrm>
              <a:off x="2550" y="3247"/>
              <a:ext cx="1135" cy="6914"/>
            </a:xfrm>
            <a:prstGeom prst="rect">
              <a:avLst/>
            </a:prstGeom>
            <a:noFill/>
          </p:spPr>
          <p:txBody>
            <a:bodyPr>
              <a:noAutofit/>
            </a:bodyPr>
            <a:lstStyle/>
            <a:p>
              <a:pPr marR="0" defTabSz="914400">
                <a:lnSpc>
                  <a:spcPct val="150000"/>
                </a:lnSpc>
                <a:buClrTx/>
                <a:buSzTx/>
                <a:buFontTx/>
                <a:buNone/>
                <a:defRPr/>
              </a:pPr>
              <a:r>
                <a:rPr kumimoji="0" lang="en-US" altLang="zh-CN" sz="2200" b="0" kern="1200" cap="none" spc="0" normalizeH="0" baseline="0" noProof="0" dirty="0">
                  <a:solidFill>
                    <a:schemeClr val="tx1"/>
                  </a:solidFill>
                  <a:latin typeface="+mn-lt"/>
                  <a:ea typeface="+mn-ea"/>
                  <a:cs typeface="+mn-ea"/>
                  <a:sym typeface="+mn-lt"/>
                </a:rPr>
                <a:t>5.1</a:t>
              </a:r>
              <a:endParaRPr kumimoji="0" lang="zh-CN" altLang="en-US" sz="2200" b="0" kern="1200" cap="none" spc="0" normalizeH="0" baseline="0" noProof="0" dirty="0">
                <a:solidFill>
                  <a:schemeClr val="tx1"/>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5.2</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5.3</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5.4</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chemeClr val="bg1"/>
                  </a:solidFill>
                  <a:latin typeface="+mn-lt"/>
                  <a:ea typeface="+mn-ea"/>
                  <a:cs typeface="+mn-ea"/>
                  <a:sym typeface="+mn-lt"/>
                </a:rPr>
                <a:t>5.5</a:t>
              </a:r>
              <a:endParaRPr kumimoji="0" lang="zh-CN" altLang="en-US" sz="2200" b="0" kern="1200" cap="none" spc="0" normalizeH="0" baseline="0" noProof="0" dirty="0">
                <a:solidFill>
                  <a:schemeClr val="bg1"/>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5.6</a:t>
              </a: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5.7</a:t>
              </a:r>
            </a:p>
            <a:p>
              <a:pPr marR="0" defTabSz="914400">
                <a:lnSpc>
                  <a:spcPct val="150000"/>
                </a:lnSpc>
                <a:buClrTx/>
                <a:buSzTx/>
                <a:buFontTx/>
                <a:buNone/>
                <a:defRPr/>
              </a:pPr>
              <a:r>
                <a:rPr kumimoji="0" lang="en-US" altLang="zh-CN" sz="2200" b="0" kern="1200" cap="none" spc="0" normalizeH="0" baseline="0" noProof="0" dirty="0" smtClean="0">
                  <a:solidFill>
                    <a:srgbClr val="000000">
                      <a:lumMod val="95000"/>
                      <a:lumOff val="5000"/>
                    </a:srgbClr>
                  </a:solidFill>
                  <a:latin typeface="+mn-lt"/>
                  <a:ea typeface="+mn-ea"/>
                  <a:cs typeface="+mn-ea"/>
                  <a:sym typeface="+mn-lt"/>
                </a:rPr>
                <a:t>5.8</a:t>
              </a:r>
              <a:endParaRPr kumimoji="0" lang="en-US" altLang="zh-CN" sz="2200" b="0" kern="1200" cap="none" spc="0" normalizeH="0" baseline="0" noProof="0" dirty="0">
                <a:solidFill>
                  <a:srgbClr val="000000">
                    <a:lumMod val="95000"/>
                    <a:lumOff val="5000"/>
                  </a:srgbClr>
                </a:solidFill>
                <a:latin typeface="+mn-lt"/>
                <a:ea typeface="+mn-ea"/>
                <a:cs typeface="+mn-ea"/>
                <a:sym typeface="+mn-lt"/>
              </a:endParaRPr>
            </a:p>
          </p:txBody>
        </p:sp>
        <p:sp>
          <p:nvSpPr>
            <p:cNvPr id="15" name="文本框 14"/>
            <p:cNvSpPr txBox="1"/>
            <p:nvPr/>
          </p:nvSpPr>
          <p:spPr>
            <a:xfrm>
              <a:off x="3870" y="3247"/>
              <a:ext cx="7265" cy="6914"/>
            </a:xfrm>
            <a:prstGeom prst="rect">
              <a:avLst/>
            </a:prstGeom>
            <a:noFill/>
          </p:spPr>
          <p:txBody>
            <a:bodyPr wrap="square">
              <a:noAutofit/>
            </a:bodyPr>
            <a:lstStyle/>
            <a:p>
              <a:pPr marR="0" defTabSz="914400">
                <a:lnSpc>
                  <a:spcPct val="150000"/>
                </a:lnSpc>
                <a:buClrTx/>
                <a:buSzTx/>
                <a:buFont typeface="Arial" panose="020B0604020202020204" pitchFamily="34" charset="0"/>
                <a:buNone/>
                <a:defRPr/>
              </a:pPr>
              <a:r>
                <a:rPr kumimoji="0" lang="zh-CN" altLang="en-US" sz="2200" b="0" kern="1200" cap="none" spc="0" normalizeH="0" baseline="0" noProof="0" dirty="0">
                  <a:solidFill>
                    <a:schemeClr val="tx1"/>
                  </a:solidFill>
                  <a:latin typeface="+mn-lt"/>
                  <a:ea typeface="+mn-ea"/>
                  <a:cs typeface="+mn-ea"/>
                  <a:sym typeface="+mn-lt"/>
                </a:rPr>
                <a:t>树和二叉树的定义</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案例引入</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树和二叉树的抽象数据类型定义</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二叉树的性质和存储结构</a:t>
              </a:r>
            </a:p>
            <a:p>
              <a:pPr marR="0" defTabSz="914400">
                <a:lnSpc>
                  <a:spcPct val="150000"/>
                </a:lnSpc>
                <a:buClrTx/>
                <a:buSzTx/>
                <a:buFontTx/>
                <a:buNone/>
                <a:defRPr/>
              </a:pPr>
              <a:r>
                <a:rPr kumimoji="0" lang="zh-CN" altLang="en-US" sz="2200" b="0" kern="1200" cap="none" spc="0" normalizeH="0" baseline="0" noProof="0" dirty="0">
                  <a:solidFill>
                    <a:schemeClr val="bg1"/>
                  </a:solidFill>
                  <a:latin typeface="+mn-lt"/>
                  <a:ea typeface="+mn-ea"/>
                  <a:cs typeface="+mn-ea"/>
                  <a:sym typeface="+mn-lt"/>
                </a:rPr>
                <a:t>遍历</a:t>
              </a:r>
              <a:r>
                <a:rPr kumimoji="0" lang="zh-CN" altLang="en-US" sz="2200" b="0" kern="1200" cap="none" spc="0" normalizeH="0" baseline="0" noProof="0" dirty="0" smtClean="0">
                  <a:solidFill>
                    <a:schemeClr val="bg1"/>
                  </a:solidFill>
                  <a:latin typeface="+mn-lt"/>
                  <a:ea typeface="+mn-ea"/>
                  <a:cs typeface="+mn-ea"/>
                  <a:sym typeface="+mn-lt"/>
                </a:rPr>
                <a:t>二叉树与应用</a:t>
              </a:r>
              <a:endParaRPr kumimoji="0" lang="zh-CN" altLang="en-US" sz="2200" b="0" kern="1200" cap="none" spc="0" normalizeH="0" baseline="0" noProof="0" dirty="0">
                <a:solidFill>
                  <a:schemeClr val="bg1"/>
                </a:solidFill>
                <a:latin typeface="+mn-lt"/>
                <a:ea typeface="+mn-ea"/>
                <a:cs typeface="+mn-ea"/>
                <a:sym typeface="+mn-lt"/>
              </a:endParaRP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树和森林</a:t>
              </a:r>
            </a:p>
            <a:p>
              <a:pPr>
                <a:lnSpc>
                  <a:spcPct val="150000"/>
                </a:lnSpc>
                <a:defRPr/>
              </a:pPr>
              <a:r>
                <a:rPr lang="zh-CN" altLang="en-US" sz="2200" b="0" dirty="0">
                  <a:solidFill>
                    <a:srgbClr val="000000">
                      <a:lumMod val="95000"/>
                      <a:lumOff val="5000"/>
                    </a:srgbClr>
                  </a:solidFill>
                  <a:latin typeface="+mn-lt"/>
                  <a:ea typeface="+mn-ea"/>
                  <a:cs typeface="+mn-ea"/>
                  <a:sym typeface="+mn-lt"/>
                </a:rPr>
                <a:t>二叉搜索树（二叉排序树）</a:t>
              </a:r>
            </a:p>
            <a:p>
              <a:pPr>
                <a:lnSpc>
                  <a:spcPct val="150000"/>
                </a:lnSpc>
                <a:defRPr/>
              </a:pPr>
              <a:r>
                <a:rPr lang="zh-CN" altLang="en-US" sz="2200" b="0" dirty="0">
                  <a:solidFill>
                    <a:srgbClr val="000000">
                      <a:lumMod val="95000"/>
                      <a:lumOff val="5000"/>
                    </a:srgbClr>
                  </a:solidFill>
                  <a:latin typeface="+mn-lt"/>
                  <a:ea typeface="+mn-ea"/>
                  <a:cs typeface="+mn-ea"/>
                  <a:sym typeface="+mn-lt"/>
                </a:rPr>
                <a:t>堆</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p:txBody>
        </p:sp>
      </p:gr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6"/>
          <p:cNvSpPr>
            <a:spLocks noChangeArrowheads="1"/>
          </p:cNvSpPr>
          <p:nvPr/>
        </p:nvSpPr>
        <p:spPr bwMode="auto">
          <a:xfrm>
            <a:off x="768350" y="153988"/>
            <a:ext cx="6948488"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遍历</a:t>
            </a:r>
            <a:r>
              <a:rPr kumimoji="0" lang="zh-CN" altLang="en-US" sz="2800" b="0" i="0" u="none" strike="noStrike" kern="1200" cap="none" spc="0" normalizeH="0" baseline="0" noProof="0" dirty="0" smtClean="0">
                <a:ln>
                  <a:noFill/>
                </a:ln>
                <a:solidFill>
                  <a:schemeClr val="bg1"/>
                </a:solidFill>
                <a:effectLst/>
                <a:uLnTx/>
                <a:uFillTx/>
                <a:latin typeface="+mj-lt"/>
                <a:ea typeface="微软雅黑" panose="020B0503020204020204" pitchFamily="34" charset="-122"/>
                <a:cs typeface="+mj-cs"/>
                <a:sym typeface="+mn-lt"/>
              </a:rPr>
              <a:t>二叉树</a:t>
            </a:r>
            <a:endPar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endParaRPr>
          </a:p>
        </p:txBody>
      </p:sp>
      <p:grpSp>
        <p:nvGrpSpPr>
          <p:cNvPr id="48131" name="Group 61"/>
          <p:cNvGrpSpPr/>
          <p:nvPr/>
        </p:nvGrpSpPr>
        <p:grpSpPr>
          <a:xfrm>
            <a:off x="795338" y="2193925"/>
            <a:ext cx="830262" cy="831850"/>
            <a:chOff x="6518563" y="1579415"/>
            <a:chExt cx="831273" cy="831273"/>
          </a:xfrm>
        </p:grpSpPr>
        <p:sp>
          <p:nvSpPr>
            <p:cNvPr id="30" name="Rounded Rectangle 12"/>
            <p:cNvSpPr/>
            <p:nvPr/>
          </p:nvSpPr>
          <p:spPr>
            <a:xfrm>
              <a:off x="6518563" y="1579415"/>
              <a:ext cx="831273" cy="831273"/>
            </a:xfrm>
            <a:prstGeom prst="roundRect">
              <a:avLst/>
            </a:prstGeom>
            <a:solidFill>
              <a:srgbClr val="C0504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endParaRPr>
            </a:p>
          </p:txBody>
        </p:sp>
        <p:grpSp>
          <p:nvGrpSpPr>
            <p:cNvPr id="31" name="Group 19"/>
            <p:cNvGrpSpPr/>
            <p:nvPr/>
          </p:nvGrpSpPr>
          <p:grpSpPr>
            <a:xfrm>
              <a:off x="6702027" y="1790527"/>
              <a:ext cx="464344" cy="465138"/>
              <a:chOff x="9145588" y="4435475"/>
              <a:chExt cx="464344" cy="465138"/>
            </a:xfrm>
            <a:solidFill>
              <a:srgbClr val="EEECE1"/>
            </a:solidFill>
          </p:grpSpPr>
          <p:sp>
            <p:nvSpPr>
              <p:cNvPr id="32" name="AutoShape 7"/>
              <p:cNvSpPr/>
              <p:nvPr/>
            </p:nvSpPr>
            <p:spPr bwMode="auto">
              <a:xfrm>
                <a:off x="9145588" y="4435475"/>
                <a:ext cx="464344" cy="465138"/>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0">
                  <a:lnSpc>
                    <a:spcPct val="100000"/>
                  </a:lnSpc>
                  <a:spcBef>
                    <a:spcPct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33" name="AutoShape 8"/>
              <p:cNvSpPr/>
              <p:nvPr/>
            </p:nvSpPr>
            <p:spPr bwMode="auto">
              <a:xfrm>
                <a:off x="9348788" y="4638675"/>
                <a:ext cx="57944" cy="57944"/>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0">
                  <a:lnSpc>
                    <a:spcPct val="100000"/>
                  </a:lnSpc>
                  <a:spcBef>
                    <a:spcPct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34" name="AutoShape 9"/>
              <p:cNvSpPr/>
              <p:nvPr/>
            </p:nvSpPr>
            <p:spPr bwMode="auto">
              <a:xfrm>
                <a:off x="9290050" y="4580732"/>
                <a:ext cx="174625" cy="174625"/>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0">
                  <a:lnSpc>
                    <a:spcPct val="100000"/>
                  </a:lnSpc>
                  <a:spcBef>
                    <a:spcPct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35" name="AutoShape 10"/>
              <p:cNvSpPr/>
              <p:nvPr/>
            </p:nvSpPr>
            <p:spPr bwMode="auto">
              <a:xfrm>
                <a:off x="9406732" y="4696619"/>
                <a:ext cx="72231" cy="74613"/>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0">
                  <a:lnSpc>
                    <a:spcPct val="100000"/>
                  </a:lnSpc>
                  <a:spcBef>
                    <a:spcPct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36" name="AutoShape 11"/>
              <p:cNvSpPr/>
              <p:nvPr/>
            </p:nvSpPr>
            <p:spPr bwMode="auto">
              <a:xfrm>
                <a:off x="9435307" y="4725988"/>
                <a:ext cx="103981" cy="106363"/>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0">
                  <a:lnSpc>
                    <a:spcPct val="100000"/>
                  </a:lnSpc>
                  <a:spcBef>
                    <a:spcPct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37" name="AutoShape 12"/>
              <p:cNvSpPr/>
              <p:nvPr/>
            </p:nvSpPr>
            <p:spPr bwMode="auto">
              <a:xfrm>
                <a:off x="9421019" y="4711700"/>
                <a:ext cx="88106" cy="89694"/>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0">
                  <a:lnSpc>
                    <a:spcPct val="100000"/>
                  </a:lnSpc>
                  <a:spcBef>
                    <a:spcPct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38" name="AutoShape 13"/>
              <p:cNvSpPr/>
              <p:nvPr/>
            </p:nvSpPr>
            <p:spPr bwMode="auto">
              <a:xfrm>
                <a:off x="9275763" y="4566444"/>
                <a:ext cx="73025" cy="73819"/>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0">
                  <a:lnSpc>
                    <a:spcPct val="100000"/>
                  </a:lnSpc>
                  <a:spcBef>
                    <a:spcPct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39" name="AutoShape 14"/>
              <p:cNvSpPr/>
              <p:nvPr/>
            </p:nvSpPr>
            <p:spPr bwMode="auto">
              <a:xfrm>
                <a:off x="9217819" y="4508500"/>
                <a:ext cx="103981" cy="105569"/>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0">
                  <a:lnSpc>
                    <a:spcPct val="100000"/>
                  </a:lnSpc>
                  <a:spcBef>
                    <a:spcPct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sp>
            <p:nvSpPr>
              <p:cNvPr id="40" name="AutoShape 15"/>
              <p:cNvSpPr/>
              <p:nvPr/>
            </p:nvSpPr>
            <p:spPr bwMode="auto">
              <a:xfrm>
                <a:off x="9247188" y="4537075"/>
                <a:ext cx="88107" cy="90488"/>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0">
                  <a:lnSpc>
                    <a:spcPct val="100000"/>
                  </a:lnSpc>
                  <a:spcBef>
                    <a:spcPct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sym typeface="Gill Sans" charset="0"/>
                </a:endParaRPr>
              </a:p>
            </p:txBody>
          </p:sp>
        </p:grpSp>
      </p:grpSp>
      <p:grpSp>
        <p:nvGrpSpPr>
          <p:cNvPr id="48132" name="Group 62"/>
          <p:cNvGrpSpPr/>
          <p:nvPr/>
        </p:nvGrpSpPr>
        <p:grpSpPr>
          <a:xfrm>
            <a:off x="795338" y="3365500"/>
            <a:ext cx="830262" cy="831850"/>
            <a:chOff x="6518563" y="2750124"/>
            <a:chExt cx="831273" cy="831273"/>
          </a:xfrm>
        </p:grpSpPr>
        <p:sp>
          <p:nvSpPr>
            <p:cNvPr id="42" name="Rounded Rectangle 13"/>
            <p:cNvSpPr/>
            <p:nvPr/>
          </p:nvSpPr>
          <p:spPr>
            <a:xfrm>
              <a:off x="6518563" y="2750124"/>
              <a:ext cx="831273" cy="831273"/>
            </a:xfrm>
            <a:prstGeom prst="roundRect">
              <a:avLst/>
            </a:prstGeom>
            <a:solidFill>
              <a:srgbClr val="8064A2"/>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black">
                    <a:lumMod val="65000"/>
                    <a:lumOff val="35000"/>
                  </a:prstClr>
                </a:solidFill>
                <a:effectLst/>
                <a:uLnTx/>
                <a:uFillTx/>
                <a:latin typeface="Calibri" panose="020F0502020204030204"/>
                <a:ea typeface="+mn-ea"/>
                <a:cs typeface="+mn-cs"/>
              </a:endParaRPr>
            </a:p>
          </p:txBody>
        </p:sp>
        <p:grpSp>
          <p:nvGrpSpPr>
            <p:cNvPr id="43" name="Group 29"/>
            <p:cNvGrpSpPr/>
            <p:nvPr/>
          </p:nvGrpSpPr>
          <p:grpSpPr>
            <a:xfrm>
              <a:off x="6772671" y="2933191"/>
              <a:ext cx="319088" cy="465138"/>
              <a:chOff x="5441157" y="4440238"/>
              <a:chExt cx="319088" cy="465138"/>
            </a:xfrm>
            <a:solidFill>
              <a:srgbClr val="EEECE1"/>
            </a:solidFill>
          </p:grpSpPr>
          <p:sp>
            <p:nvSpPr>
              <p:cNvPr id="44" name="AutoShape 97"/>
              <p:cNvSpPr/>
              <p:nvPr/>
            </p:nvSpPr>
            <p:spPr bwMode="auto">
              <a:xfrm>
                <a:off x="5441157" y="4440238"/>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6" y="3374"/>
                    </a:moveTo>
                    <a:lnTo>
                      <a:pt x="1963" y="3375"/>
                    </a:lnTo>
                    <a:lnTo>
                      <a:pt x="1963" y="2025"/>
                    </a:lnTo>
                    <a:cubicBezTo>
                      <a:pt x="1963" y="1653"/>
                      <a:pt x="2402" y="1350"/>
                      <a:pt x="2945" y="1350"/>
                    </a:cubicBezTo>
                    <a:lnTo>
                      <a:pt x="18654" y="1349"/>
                    </a:lnTo>
                    <a:cubicBezTo>
                      <a:pt x="19195" y="1349"/>
                      <a:pt x="19636" y="1652"/>
                      <a:pt x="19636" y="2024"/>
                    </a:cubicBezTo>
                    <a:cubicBezTo>
                      <a:pt x="19636" y="2024"/>
                      <a:pt x="19636" y="3374"/>
                      <a:pt x="19636" y="3374"/>
                    </a:cubicBezTo>
                    <a:close/>
                    <a:moveTo>
                      <a:pt x="19636" y="17546"/>
                    </a:moveTo>
                    <a:lnTo>
                      <a:pt x="1963" y="17547"/>
                    </a:lnTo>
                    <a:lnTo>
                      <a:pt x="1963" y="4050"/>
                    </a:lnTo>
                    <a:lnTo>
                      <a:pt x="19636" y="4049"/>
                    </a:lnTo>
                    <a:cubicBezTo>
                      <a:pt x="19636" y="4049"/>
                      <a:pt x="19636" y="17546"/>
                      <a:pt x="19636" y="17546"/>
                    </a:cubicBezTo>
                    <a:close/>
                    <a:moveTo>
                      <a:pt x="19636" y="19574"/>
                    </a:moveTo>
                    <a:cubicBezTo>
                      <a:pt x="19636" y="19946"/>
                      <a:pt x="19195" y="20249"/>
                      <a:pt x="18654" y="20249"/>
                    </a:cubicBezTo>
                    <a:lnTo>
                      <a:pt x="2945" y="20250"/>
                    </a:lnTo>
                    <a:cubicBezTo>
                      <a:pt x="2402" y="20250"/>
                      <a:pt x="1963" y="19947"/>
                      <a:pt x="1963" y="19575"/>
                    </a:cubicBezTo>
                    <a:lnTo>
                      <a:pt x="1963" y="18222"/>
                    </a:lnTo>
                    <a:lnTo>
                      <a:pt x="19636" y="18221"/>
                    </a:lnTo>
                    <a:cubicBezTo>
                      <a:pt x="19636" y="18221"/>
                      <a:pt x="19636" y="19574"/>
                      <a:pt x="19636" y="19574"/>
                    </a:cubicBezTo>
                    <a:close/>
                    <a:moveTo>
                      <a:pt x="18654" y="0"/>
                    </a:moveTo>
                    <a:lnTo>
                      <a:pt x="2945" y="0"/>
                    </a:lnTo>
                    <a:cubicBezTo>
                      <a:pt x="1317" y="0"/>
                      <a:pt x="0" y="907"/>
                      <a:pt x="0" y="2025"/>
                    </a:cubicBezTo>
                    <a:lnTo>
                      <a:pt x="0" y="19575"/>
                    </a:lnTo>
                    <a:cubicBezTo>
                      <a:pt x="0" y="20693"/>
                      <a:pt x="1317" y="21600"/>
                      <a:pt x="2945" y="21600"/>
                    </a:cubicBezTo>
                    <a:lnTo>
                      <a:pt x="18654" y="21599"/>
                    </a:lnTo>
                    <a:cubicBezTo>
                      <a:pt x="20280" y="21599"/>
                      <a:pt x="21600" y="20693"/>
                      <a:pt x="21600" y="19574"/>
                    </a:cubicBezTo>
                    <a:lnTo>
                      <a:pt x="21600" y="2024"/>
                    </a:lnTo>
                    <a:cubicBezTo>
                      <a:pt x="21600" y="906"/>
                      <a:pt x="20280" y="0"/>
                      <a:pt x="18654"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0">
                  <a:lnSpc>
                    <a:spcPct val="100000"/>
                  </a:lnSpc>
                  <a:spcBef>
                    <a:spcPct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45" name="AutoShape 98"/>
              <p:cNvSpPr/>
              <p:nvPr/>
            </p:nvSpPr>
            <p:spPr bwMode="auto">
              <a:xfrm>
                <a:off x="5571332" y="4483894"/>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58"/>
                      <a:pt x="20387" y="21599"/>
                      <a:pt x="18899" y="21599"/>
                    </a:cubicBezTo>
                    <a:lnTo>
                      <a:pt x="2699" y="21599"/>
                    </a:lnTo>
                    <a:cubicBezTo>
                      <a:pt x="1202" y="21599"/>
                      <a:pt x="0" y="16758"/>
                      <a:pt x="0" y="10800"/>
                    </a:cubicBezTo>
                    <a:cubicBezTo>
                      <a:pt x="0" y="4841"/>
                      <a:pt x="1202" y="0"/>
                      <a:pt x="2699" y="0"/>
                    </a:cubicBezTo>
                    <a:lnTo>
                      <a:pt x="18899" y="0"/>
                    </a:lnTo>
                    <a:cubicBezTo>
                      <a:pt x="20387" y="0"/>
                      <a:pt x="21600" y="4841"/>
                      <a:pt x="21600" y="1080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0">
                  <a:lnSpc>
                    <a:spcPct val="100000"/>
                  </a:lnSpc>
                  <a:spcBef>
                    <a:spcPct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46" name="AutoShape 99"/>
              <p:cNvSpPr/>
              <p:nvPr/>
            </p:nvSpPr>
            <p:spPr bwMode="auto">
              <a:xfrm>
                <a:off x="5586413" y="4847432"/>
                <a:ext cx="28575"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69"/>
                      <a:pt x="19174" y="21599"/>
                      <a:pt x="16199" y="21599"/>
                    </a:cubicBezTo>
                    <a:lnTo>
                      <a:pt x="5399" y="21599"/>
                    </a:lnTo>
                    <a:cubicBezTo>
                      <a:pt x="2404" y="21599"/>
                      <a:pt x="0" y="16769"/>
                      <a:pt x="0" y="10800"/>
                    </a:cubicBezTo>
                    <a:cubicBezTo>
                      <a:pt x="0" y="4830"/>
                      <a:pt x="2404" y="0"/>
                      <a:pt x="5399" y="0"/>
                    </a:cubicBezTo>
                    <a:lnTo>
                      <a:pt x="16199" y="0"/>
                    </a:lnTo>
                    <a:cubicBezTo>
                      <a:pt x="19174" y="0"/>
                      <a:pt x="21600" y="4830"/>
                      <a:pt x="21600" y="1080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0">
                  <a:lnSpc>
                    <a:spcPct val="100000"/>
                  </a:lnSpc>
                  <a:spcBef>
                    <a:spcPct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Gill Sans" charset="0"/>
                  <a:ea typeface="+mn-ea"/>
                  <a:cs typeface="+mn-cs"/>
                  <a:sym typeface="Gill Sans" charset="0"/>
                </a:endParaRPr>
              </a:p>
            </p:txBody>
          </p:sp>
        </p:grpSp>
      </p:grpSp>
      <p:sp>
        <p:nvSpPr>
          <p:cNvPr id="48133" name="TextBox 61"/>
          <p:cNvSpPr txBox="1"/>
          <p:nvPr/>
        </p:nvSpPr>
        <p:spPr>
          <a:xfrm>
            <a:off x="1804988" y="2124075"/>
            <a:ext cx="1476375" cy="493713"/>
          </a:xfrm>
          <a:prstGeom prst="rect">
            <a:avLst/>
          </a:prstGeom>
          <a:noFill/>
          <a:ln w="9525">
            <a:noFill/>
          </a:ln>
        </p:spPr>
        <p:txBody>
          <a:bodyPr wrap="none" lIns="121917" tIns="60958" rIns="121917" bIns="60958">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pPr>
            <a:r>
              <a:rPr lang="zh-CN" altLang="en-US" b="1" dirty="0">
                <a:solidFill>
                  <a:srgbClr val="595959"/>
                </a:solidFill>
                <a:latin typeface="微软雅黑" panose="020B0503020204020204" pitchFamily="34" charset="-122"/>
              </a:rPr>
              <a:t>遍历定义</a:t>
            </a:r>
          </a:p>
        </p:txBody>
      </p:sp>
      <p:sp>
        <p:nvSpPr>
          <p:cNvPr id="48134" name="TextBox 62"/>
          <p:cNvSpPr txBox="1"/>
          <p:nvPr/>
        </p:nvSpPr>
        <p:spPr>
          <a:xfrm>
            <a:off x="1804988" y="2598738"/>
            <a:ext cx="7091362" cy="461962"/>
          </a:xfrm>
          <a:prstGeom prst="rect">
            <a:avLst/>
          </a:prstGeom>
          <a:noFill/>
          <a:ln w="9525">
            <a:noFill/>
          </a:ln>
        </p:spPr>
        <p:txBody>
          <a:bodyPr lIns="121917" tIns="60958" rIns="121917" bIns="60958">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pPr>
            <a:r>
              <a:rPr lang="zh-CN" altLang="en-US" sz="2200" dirty="0">
                <a:solidFill>
                  <a:srgbClr val="595959"/>
                </a:solidFill>
                <a:latin typeface="微软雅黑" panose="020B0503020204020204" pitchFamily="34" charset="-122"/>
              </a:rPr>
              <a:t>指按某条搜索路线遍访每个结点且不重复（又称周游）。</a:t>
            </a:r>
          </a:p>
        </p:txBody>
      </p:sp>
      <p:sp>
        <p:nvSpPr>
          <p:cNvPr id="48135" name="TextBox 63"/>
          <p:cNvSpPr txBox="1"/>
          <p:nvPr/>
        </p:nvSpPr>
        <p:spPr>
          <a:xfrm>
            <a:off x="1804988" y="3287713"/>
            <a:ext cx="1476375" cy="493712"/>
          </a:xfrm>
          <a:prstGeom prst="rect">
            <a:avLst/>
          </a:prstGeom>
          <a:noFill/>
          <a:ln w="9525">
            <a:noFill/>
          </a:ln>
        </p:spPr>
        <p:txBody>
          <a:bodyPr wrap="none" lIns="121917" tIns="60958" rIns="121917" bIns="60958">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pPr>
            <a:r>
              <a:rPr lang="zh-CN" altLang="en-US" b="1" dirty="0">
                <a:solidFill>
                  <a:srgbClr val="595959"/>
                </a:solidFill>
                <a:latin typeface="微软雅黑" panose="020B0503020204020204" pitchFamily="34" charset="-122"/>
              </a:rPr>
              <a:t>遍历用途</a:t>
            </a:r>
          </a:p>
        </p:txBody>
      </p:sp>
      <p:sp>
        <p:nvSpPr>
          <p:cNvPr id="48136" name="TextBox 64"/>
          <p:cNvSpPr txBox="1"/>
          <p:nvPr/>
        </p:nvSpPr>
        <p:spPr>
          <a:xfrm>
            <a:off x="1804988" y="3781425"/>
            <a:ext cx="7091362" cy="800100"/>
          </a:xfrm>
          <a:prstGeom prst="rect">
            <a:avLst/>
          </a:prstGeom>
          <a:noFill/>
          <a:ln w="9525">
            <a:noFill/>
          </a:ln>
        </p:spPr>
        <p:txBody>
          <a:bodyPr lIns="121917" tIns="60958" rIns="121917" bIns="60958">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pPr>
            <a:r>
              <a:rPr lang="zh-CN" altLang="en-US" sz="2200" dirty="0">
                <a:solidFill>
                  <a:srgbClr val="595959"/>
                </a:solidFill>
                <a:latin typeface="微软雅黑" panose="020B0503020204020204" pitchFamily="34" charset="-122"/>
              </a:rPr>
              <a:t>它是树结构插入、删除、修改、查找和排序运算的前提，是二叉树一切运算的基础和核心。 </a:t>
            </a:r>
            <a:endParaRPr lang="en-US" altLang="zh-CN" sz="2200" dirty="0">
              <a:solidFill>
                <a:srgbClr val="595959"/>
              </a:solidFill>
              <a:latin typeface="微软雅黑" panose="020B0503020204020204" pitchFamily="34" charset="-122"/>
            </a:endParaRPr>
          </a:p>
        </p:txBody>
      </p:sp>
      <p:sp>
        <p:nvSpPr>
          <p:cNvPr id="51" name="Shape 26"/>
          <p:cNvSpPr/>
          <p:nvPr/>
        </p:nvSpPr>
        <p:spPr>
          <a:xfrm flipH="1">
            <a:off x="0" y="5607050"/>
            <a:ext cx="9140825" cy="12509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Tree>
  </p:cSld>
  <p:clrMapOvr>
    <a:masterClrMapping/>
  </p:clrMapOvr>
  <p:transition>
    <p:cover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1000"/>
                                        <p:tgtEl>
                                          <p:spTgt spid="51"/>
                                        </p:tgtEl>
                                      </p:cBhvr>
                                    </p:animEffect>
                                    <p:anim calcmode="lin" valueType="num">
                                      <p:cBhvr>
                                        <p:cTn id="8" dur="1000" fill="hold"/>
                                        <p:tgtEl>
                                          <p:spTgt spid="51"/>
                                        </p:tgtEl>
                                        <p:attrNameLst>
                                          <p:attrName>ppt_x</p:attrName>
                                        </p:attrNameLst>
                                      </p:cBhvr>
                                      <p:tavLst>
                                        <p:tav tm="0">
                                          <p:val>
                                            <p:strVal val="#ppt_x"/>
                                          </p:val>
                                        </p:tav>
                                        <p:tav tm="100000">
                                          <p:val>
                                            <p:strVal val="#ppt_x"/>
                                          </p:val>
                                        </p:tav>
                                      </p:tavLst>
                                    </p:anim>
                                    <p:anim calcmode="lin" valueType="num">
                                      <p:cBhvr>
                                        <p:cTn id="9" dur="1000" fill="hold"/>
                                        <p:tgtEl>
                                          <p:spTgt spid="5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8292" name="Rectangle 4"/>
          <p:cNvSpPr>
            <a:spLocks noChangeArrowheads="1"/>
          </p:cNvSpPr>
          <p:nvPr/>
        </p:nvSpPr>
        <p:spPr bwMode="auto">
          <a:xfrm>
            <a:off x="1449388" y="4899025"/>
            <a:ext cx="3810000" cy="762000"/>
          </a:xfrm>
          <a:prstGeom prst="rect">
            <a:avLst/>
          </a:prstGeom>
          <a:noFill/>
          <a:ln w="38100">
            <a:solidFill>
              <a:srgbClr val="FF0066"/>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aphicFrame>
        <p:nvGraphicFramePr>
          <p:cNvPr id="49155" name="Object 5"/>
          <p:cNvGraphicFramePr/>
          <p:nvPr/>
        </p:nvGraphicFramePr>
        <p:xfrm>
          <a:off x="3125788" y="2536825"/>
          <a:ext cx="3702050" cy="1801813"/>
        </p:xfrm>
        <a:graphic>
          <a:graphicData uri="http://schemas.openxmlformats.org/presentationml/2006/ole">
            <mc:AlternateContent xmlns:mc="http://schemas.openxmlformats.org/markup-compatibility/2006">
              <mc:Choice xmlns:v="urn:schemas-microsoft-com:vml" Requires="v">
                <p:oleObj spid="_x0000_s12314" r:id="rId3" imgW="3702050" imgH="1802765" progId="Visio.Drawing.5">
                  <p:embed/>
                </p:oleObj>
              </mc:Choice>
              <mc:Fallback>
                <p:oleObj r:id="rId3" imgW="3702050" imgH="1802765" progId="Visio.Drawing.5">
                  <p:embed/>
                  <p:pic>
                    <p:nvPicPr>
                      <p:cNvPr id="0" name="图片 3090"/>
                      <p:cNvPicPr/>
                      <p:nvPr/>
                    </p:nvPicPr>
                    <p:blipFill>
                      <a:blip r:embed="rId4"/>
                      <a:stretch>
                        <a:fillRect/>
                      </a:stretch>
                    </p:blipFill>
                    <p:spPr>
                      <a:xfrm>
                        <a:off x="3125788" y="2536825"/>
                        <a:ext cx="3702050" cy="1801813"/>
                      </a:xfrm>
                      <a:prstGeom prst="rect">
                        <a:avLst/>
                      </a:prstGeom>
                      <a:solidFill>
                        <a:srgbClr val="A78DC2"/>
                      </a:solidFill>
                      <a:ln w="38100">
                        <a:noFill/>
                        <a:miter/>
                      </a:ln>
                    </p:spPr>
                  </p:pic>
                </p:oleObj>
              </mc:Fallback>
            </mc:AlternateContent>
          </a:graphicData>
        </a:graphic>
      </p:graphicFrame>
      <p:sp>
        <p:nvSpPr>
          <p:cNvPr id="908294" name="Text Box 6"/>
          <p:cNvSpPr txBox="1">
            <a:spLocks noChangeArrowheads="1"/>
          </p:cNvSpPr>
          <p:nvPr/>
        </p:nvSpPr>
        <p:spPr bwMode="auto">
          <a:xfrm>
            <a:off x="4802188" y="1263650"/>
            <a:ext cx="441325" cy="519113"/>
          </a:xfrm>
          <a:prstGeom prst="rect">
            <a:avLst/>
          </a:prstGeom>
          <a:solidFill>
            <a:srgbClr val="EBEBEB"/>
          </a:solidFill>
          <a:ln>
            <a:noFill/>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D</a:t>
            </a:r>
          </a:p>
        </p:txBody>
      </p:sp>
      <p:sp>
        <p:nvSpPr>
          <p:cNvPr id="908295" name="Line 7"/>
          <p:cNvSpPr>
            <a:spLocks noChangeShapeType="1"/>
          </p:cNvSpPr>
          <p:nvPr/>
        </p:nvSpPr>
        <p:spPr bwMode="auto">
          <a:xfrm flipH="1">
            <a:off x="5030788" y="1851025"/>
            <a:ext cx="0" cy="609600"/>
          </a:xfrm>
          <a:prstGeom prst="line">
            <a:avLst/>
          </a:prstGeom>
          <a:noFill/>
          <a:ln w="38100">
            <a:solidFill>
              <a:srgbClr val="FF00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8296" name="Text Box 8"/>
          <p:cNvSpPr txBox="1">
            <a:spLocks noChangeArrowheads="1"/>
          </p:cNvSpPr>
          <p:nvPr/>
        </p:nvSpPr>
        <p:spPr bwMode="auto">
          <a:xfrm>
            <a:off x="1982788" y="3854450"/>
            <a:ext cx="420688" cy="519113"/>
          </a:xfrm>
          <a:prstGeom prst="rect">
            <a:avLst/>
          </a:prstGeom>
          <a:solidFill>
            <a:srgbClr val="EBEBEB"/>
          </a:solidFill>
          <a:ln>
            <a:noFill/>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L</a:t>
            </a:r>
          </a:p>
        </p:txBody>
      </p:sp>
      <p:sp>
        <p:nvSpPr>
          <p:cNvPr id="908297" name="Line 9"/>
          <p:cNvSpPr>
            <a:spLocks noChangeShapeType="1"/>
          </p:cNvSpPr>
          <p:nvPr/>
        </p:nvSpPr>
        <p:spPr bwMode="auto">
          <a:xfrm>
            <a:off x="2516188" y="4137025"/>
            <a:ext cx="990600" cy="0"/>
          </a:xfrm>
          <a:prstGeom prst="line">
            <a:avLst/>
          </a:prstGeom>
          <a:noFill/>
          <a:ln w="38100">
            <a:solidFill>
              <a:srgbClr val="FF00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8298" name="Text Box 10"/>
          <p:cNvSpPr txBox="1">
            <a:spLocks noChangeArrowheads="1"/>
          </p:cNvSpPr>
          <p:nvPr/>
        </p:nvSpPr>
        <p:spPr bwMode="auto">
          <a:xfrm>
            <a:off x="7392988" y="3854450"/>
            <a:ext cx="441325" cy="519113"/>
          </a:xfrm>
          <a:prstGeom prst="rect">
            <a:avLst/>
          </a:prstGeom>
          <a:solidFill>
            <a:srgbClr val="EBEBEB"/>
          </a:solidFill>
          <a:ln>
            <a:noFill/>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dirty="0">
                <a:ln>
                  <a:noFill/>
                </a:ln>
                <a:solidFill>
                  <a:schemeClr val="tx1"/>
                </a:solidFill>
                <a:effectLst/>
                <a:uLnTx/>
                <a:uFillTx/>
                <a:latin typeface="+mn-lt"/>
                <a:ea typeface="+mn-ea"/>
                <a:cs typeface="+mn-ea"/>
                <a:sym typeface="+mn-lt"/>
              </a:rPr>
              <a:t>R</a:t>
            </a:r>
          </a:p>
        </p:txBody>
      </p:sp>
      <p:sp>
        <p:nvSpPr>
          <p:cNvPr id="908299" name="Line 11"/>
          <p:cNvSpPr>
            <a:spLocks noChangeShapeType="1"/>
          </p:cNvSpPr>
          <p:nvPr/>
        </p:nvSpPr>
        <p:spPr bwMode="auto">
          <a:xfrm flipH="1">
            <a:off x="6554788" y="4060825"/>
            <a:ext cx="762000" cy="0"/>
          </a:xfrm>
          <a:prstGeom prst="line">
            <a:avLst/>
          </a:prstGeom>
          <a:noFill/>
          <a:ln w="38100">
            <a:solidFill>
              <a:srgbClr val="FF00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8300" name="Text Box 12"/>
          <p:cNvSpPr txBox="1">
            <a:spLocks noChangeArrowheads="1"/>
          </p:cNvSpPr>
          <p:nvPr/>
        </p:nvSpPr>
        <p:spPr bwMode="auto">
          <a:xfrm>
            <a:off x="1754188" y="5000625"/>
            <a:ext cx="935038" cy="519113"/>
          </a:xfrm>
          <a:prstGeom prst="rect">
            <a:avLst/>
          </a:prstGeom>
          <a:solidFill>
            <a:schemeClr val="accent1">
              <a:lumMod val="60000"/>
              <a:lumOff val="40000"/>
            </a:schemeClr>
          </a:solidFill>
          <a:ln>
            <a:noFill/>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DLR</a:t>
            </a:r>
          </a:p>
        </p:txBody>
      </p:sp>
      <p:sp>
        <p:nvSpPr>
          <p:cNvPr id="908301" name="Text Box 13"/>
          <p:cNvSpPr txBox="1">
            <a:spLocks noChangeArrowheads="1"/>
          </p:cNvSpPr>
          <p:nvPr/>
        </p:nvSpPr>
        <p:spPr bwMode="auto">
          <a:xfrm>
            <a:off x="2973388" y="5000625"/>
            <a:ext cx="935038" cy="519113"/>
          </a:xfrm>
          <a:prstGeom prst="rect">
            <a:avLst/>
          </a:prstGeom>
          <a:solidFill>
            <a:schemeClr val="accent1">
              <a:lumMod val="60000"/>
              <a:lumOff val="40000"/>
            </a:schemeClr>
          </a:solidFill>
          <a:ln>
            <a:noFill/>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LDR</a:t>
            </a:r>
          </a:p>
        </p:txBody>
      </p:sp>
      <p:sp>
        <p:nvSpPr>
          <p:cNvPr id="908302" name="Text Box 14"/>
          <p:cNvSpPr txBox="1">
            <a:spLocks noChangeArrowheads="1"/>
          </p:cNvSpPr>
          <p:nvPr/>
        </p:nvSpPr>
        <p:spPr bwMode="auto">
          <a:xfrm>
            <a:off x="4192588" y="5000625"/>
            <a:ext cx="935038" cy="519113"/>
          </a:xfrm>
          <a:prstGeom prst="rect">
            <a:avLst/>
          </a:prstGeom>
          <a:solidFill>
            <a:schemeClr val="accent1">
              <a:lumMod val="60000"/>
              <a:lumOff val="40000"/>
            </a:schemeClr>
          </a:solidFill>
          <a:ln>
            <a:noFill/>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LRD</a:t>
            </a:r>
          </a:p>
        </p:txBody>
      </p:sp>
      <p:sp>
        <p:nvSpPr>
          <p:cNvPr id="908303" name="Text Box 15"/>
          <p:cNvSpPr txBox="1">
            <a:spLocks noChangeArrowheads="1"/>
          </p:cNvSpPr>
          <p:nvPr/>
        </p:nvSpPr>
        <p:spPr bwMode="auto">
          <a:xfrm>
            <a:off x="5564188" y="5000625"/>
            <a:ext cx="935038" cy="519113"/>
          </a:xfrm>
          <a:prstGeom prst="rect">
            <a:avLst/>
          </a:prstGeom>
          <a:solidFill>
            <a:schemeClr val="accent1">
              <a:lumMod val="60000"/>
              <a:lumOff val="40000"/>
            </a:schemeClr>
          </a:solidFill>
          <a:ln>
            <a:noFill/>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DRL</a:t>
            </a:r>
          </a:p>
        </p:txBody>
      </p:sp>
      <p:sp>
        <p:nvSpPr>
          <p:cNvPr id="908304" name="Text Box 16"/>
          <p:cNvSpPr txBox="1">
            <a:spLocks noChangeArrowheads="1"/>
          </p:cNvSpPr>
          <p:nvPr/>
        </p:nvSpPr>
        <p:spPr bwMode="auto">
          <a:xfrm>
            <a:off x="6783388" y="5000625"/>
            <a:ext cx="935038" cy="519113"/>
          </a:xfrm>
          <a:prstGeom prst="rect">
            <a:avLst/>
          </a:prstGeom>
          <a:solidFill>
            <a:schemeClr val="accent1">
              <a:lumMod val="60000"/>
              <a:lumOff val="40000"/>
            </a:schemeClr>
          </a:solidFill>
          <a:ln>
            <a:noFill/>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RDL</a:t>
            </a:r>
          </a:p>
        </p:txBody>
      </p:sp>
      <p:sp>
        <p:nvSpPr>
          <p:cNvPr id="908305" name="Text Box 17"/>
          <p:cNvSpPr txBox="1">
            <a:spLocks noChangeArrowheads="1"/>
          </p:cNvSpPr>
          <p:nvPr/>
        </p:nvSpPr>
        <p:spPr bwMode="auto">
          <a:xfrm>
            <a:off x="8002588" y="5000625"/>
            <a:ext cx="935038" cy="519113"/>
          </a:xfrm>
          <a:prstGeom prst="rect">
            <a:avLst/>
          </a:prstGeom>
          <a:solidFill>
            <a:schemeClr val="accent1">
              <a:lumMod val="60000"/>
              <a:lumOff val="40000"/>
            </a:schemeClr>
          </a:solidFill>
          <a:ln>
            <a:noFill/>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RLD</a:t>
            </a:r>
          </a:p>
        </p:txBody>
      </p:sp>
      <p:sp>
        <p:nvSpPr>
          <p:cNvPr id="48144" name="Rectangle 18"/>
          <p:cNvSpPr>
            <a:spLocks noChangeArrowheads="1"/>
          </p:cNvSpPr>
          <p:nvPr/>
        </p:nvSpPr>
        <p:spPr bwMode="auto">
          <a:xfrm>
            <a:off x="887413" y="204788"/>
            <a:ext cx="354330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遍历规则</a:t>
            </a:r>
          </a:p>
        </p:txBody>
      </p:sp>
      <p:sp>
        <p:nvSpPr>
          <p:cNvPr id="908310" name="AutoShape 22"/>
          <p:cNvSpPr>
            <a:spLocks noChangeArrowheads="1"/>
          </p:cNvSpPr>
          <p:nvPr/>
        </p:nvSpPr>
        <p:spPr bwMode="auto">
          <a:xfrm>
            <a:off x="34925" y="3141663"/>
            <a:ext cx="2233613" cy="919163"/>
          </a:xfrm>
          <a:prstGeom prst="cloudCallout">
            <a:avLst>
              <a:gd name="adj1" fmla="val 17154"/>
              <a:gd name="adj2" fmla="val 141380"/>
            </a:avLst>
          </a:prstGeom>
          <a:solidFill>
            <a:srgbClr val="CCCCFF"/>
          </a:solidFill>
          <a:ln>
            <a:noFill/>
          </a:ln>
          <a:extLst>
            <a:ext uri="{91240B29-F687-4F45-9708-019B960494DF}">
              <a14:hiddenLine xmlns:a14="http://schemas.microsoft.com/office/drawing/2010/main" w="9525">
                <a:solidFill>
                  <a:srgbClr val="000000"/>
                </a:solidFill>
                <a:round/>
              </a14:hiddenLine>
            </a:ext>
          </a:extLst>
        </p:spPr>
        <p:txBody>
          <a:bodyPr anchor="ct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先左后右</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908294"/>
                                        </p:tgtEl>
                                        <p:attrNameLst>
                                          <p:attrName>style.visibility</p:attrName>
                                        </p:attrNameLst>
                                      </p:cBhvr>
                                      <p:to>
                                        <p:strVal val="visible"/>
                                      </p:to>
                                    </p:set>
                                  </p:childTnLst>
                                </p:cTn>
                              </p:par>
                            </p:childTnLst>
                          </p:cTn>
                        </p:par>
                        <p:par>
                          <p:cTn id="7" fill="hold">
                            <p:stCondLst>
                              <p:cond delay="500"/>
                            </p:stCondLst>
                            <p:childTnLst>
                              <p:par>
                                <p:cTn id="8" presetID="17" presetClass="entr" presetSubtype="1" fill="hold" nodeType="afterEffect">
                                  <p:stCondLst>
                                    <p:cond delay="0"/>
                                  </p:stCondLst>
                                  <p:childTnLst>
                                    <p:set>
                                      <p:cBhvr>
                                        <p:cTn id="9" dur="1" fill="hold">
                                          <p:stCondLst>
                                            <p:cond delay="0"/>
                                          </p:stCondLst>
                                        </p:cTn>
                                        <p:tgtEl>
                                          <p:spTgt spid="908295"/>
                                        </p:tgtEl>
                                        <p:attrNameLst>
                                          <p:attrName>style.visibility</p:attrName>
                                        </p:attrNameLst>
                                      </p:cBhvr>
                                      <p:to>
                                        <p:strVal val="visible"/>
                                      </p:to>
                                    </p:set>
                                    <p:anim calcmode="lin" valueType="num">
                                      <p:cBhvr>
                                        <p:cTn id="10" dur="500" fill="hold"/>
                                        <p:tgtEl>
                                          <p:spTgt spid="908295"/>
                                        </p:tgtEl>
                                        <p:attrNameLst>
                                          <p:attrName>ppt_x</p:attrName>
                                        </p:attrNameLst>
                                      </p:cBhvr>
                                      <p:tavLst>
                                        <p:tav tm="0">
                                          <p:val>
                                            <p:strVal val="#ppt_x"/>
                                          </p:val>
                                        </p:tav>
                                        <p:tav tm="100000">
                                          <p:val>
                                            <p:strVal val="#ppt_x"/>
                                          </p:val>
                                        </p:tav>
                                      </p:tavLst>
                                    </p:anim>
                                    <p:anim calcmode="lin" valueType="num">
                                      <p:cBhvr>
                                        <p:cTn id="11" dur="500" fill="hold"/>
                                        <p:tgtEl>
                                          <p:spTgt spid="908295"/>
                                        </p:tgtEl>
                                        <p:attrNameLst>
                                          <p:attrName>ppt_y</p:attrName>
                                        </p:attrNameLst>
                                      </p:cBhvr>
                                      <p:tavLst>
                                        <p:tav tm="0">
                                          <p:val>
                                            <p:strVal val="#ppt_y-#ppt_h/2"/>
                                          </p:val>
                                        </p:tav>
                                        <p:tav tm="100000">
                                          <p:val>
                                            <p:strVal val="#ppt_y"/>
                                          </p:val>
                                        </p:tav>
                                      </p:tavLst>
                                    </p:anim>
                                    <p:anim calcmode="lin" valueType="num">
                                      <p:cBhvr>
                                        <p:cTn id="12" dur="500" fill="hold"/>
                                        <p:tgtEl>
                                          <p:spTgt spid="908295"/>
                                        </p:tgtEl>
                                        <p:attrNameLst>
                                          <p:attrName>ppt_w</p:attrName>
                                        </p:attrNameLst>
                                      </p:cBhvr>
                                      <p:tavLst>
                                        <p:tav tm="0">
                                          <p:val>
                                            <p:strVal val="#ppt_w"/>
                                          </p:val>
                                        </p:tav>
                                        <p:tav tm="100000">
                                          <p:val>
                                            <p:strVal val="#ppt_w"/>
                                          </p:val>
                                        </p:tav>
                                      </p:tavLst>
                                    </p:anim>
                                    <p:anim calcmode="lin" valueType="num">
                                      <p:cBhvr>
                                        <p:cTn id="13" dur="500" fill="hold"/>
                                        <p:tgtEl>
                                          <p:spTgt spid="908295"/>
                                        </p:tgtEl>
                                        <p:attrNameLst>
                                          <p:attrName>ppt_h</p:attrName>
                                        </p:attrNameLst>
                                      </p:cBhvr>
                                      <p:tavLst>
                                        <p:tav tm="0">
                                          <p:val>
                                            <p:fltVal val="0"/>
                                          </p:val>
                                        </p:tav>
                                        <p:tav tm="100000">
                                          <p:val>
                                            <p:strVal val="#ppt_h"/>
                                          </p:val>
                                        </p:tav>
                                      </p:tavLst>
                                    </p:anim>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499"/>
                                          </p:stCondLst>
                                        </p:cTn>
                                        <p:tgtEl>
                                          <p:spTgt spid="908296"/>
                                        </p:tgtEl>
                                        <p:attrNameLst>
                                          <p:attrName>style.visibility</p:attrName>
                                        </p:attrNameLst>
                                      </p:cBhvr>
                                      <p:to>
                                        <p:strVal val="visible"/>
                                      </p:to>
                                    </p:set>
                                  </p:childTnLst>
                                </p:cTn>
                              </p:par>
                            </p:childTnLst>
                          </p:cTn>
                        </p:par>
                        <p:par>
                          <p:cTn id="18" fill="hold">
                            <p:stCondLst>
                              <p:cond delay="500"/>
                            </p:stCondLst>
                            <p:childTnLst>
                              <p:par>
                                <p:cTn id="19" presetID="17" presetClass="entr" presetSubtype="8" fill="hold" nodeType="afterEffect">
                                  <p:stCondLst>
                                    <p:cond delay="0"/>
                                  </p:stCondLst>
                                  <p:childTnLst>
                                    <p:set>
                                      <p:cBhvr>
                                        <p:cTn id="20" dur="1" fill="hold">
                                          <p:stCondLst>
                                            <p:cond delay="0"/>
                                          </p:stCondLst>
                                        </p:cTn>
                                        <p:tgtEl>
                                          <p:spTgt spid="908297"/>
                                        </p:tgtEl>
                                        <p:attrNameLst>
                                          <p:attrName>style.visibility</p:attrName>
                                        </p:attrNameLst>
                                      </p:cBhvr>
                                      <p:to>
                                        <p:strVal val="visible"/>
                                      </p:to>
                                    </p:set>
                                    <p:anim calcmode="lin" valueType="num">
                                      <p:cBhvr>
                                        <p:cTn id="21" dur="500" fill="hold"/>
                                        <p:tgtEl>
                                          <p:spTgt spid="908297"/>
                                        </p:tgtEl>
                                        <p:attrNameLst>
                                          <p:attrName>ppt_x</p:attrName>
                                        </p:attrNameLst>
                                      </p:cBhvr>
                                      <p:tavLst>
                                        <p:tav tm="0">
                                          <p:val>
                                            <p:strVal val="#ppt_x-#ppt_w/2"/>
                                          </p:val>
                                        </p:tav>
                                        <p:tav tm="100000">
                                          <p:val>
                                            <p:strVal val="#ppt_x"/>
                                          </p:val>
                                        </p:tav>
                                      </p:tavLst>
                                    </p:anim>
                                    <p:anim calcmode="lin" valueType="num">
                                      <p:cBhvr>
                                        <p:cTn id="22" dur="500" fill="hold"/>
                                        <p:tgtEl>
                                          <p:spTgt spid="908297"/>
                                        </p:tgtEl>
                                        <p:attrNameLst>
                                          <p:attrName>ppt_y</p:attrName>
                                        </p:attrNameLst>
                                      </p:cBhvr>
                                      <p:tavLst>
                                        <p:tav tm="0">
                                          <p:val>
                                            <p:strVal val="#ppt_y"/>
                                          </p:val>
                                        </p:tav>
                                        <p:tav tm="100000">
                                          <p:val>
                                            <p:strVal val="#ppt_y"/>
                                          </p:val>
                                        </p:tav>
                                      </p:tavLst>
                                    </p:anim>
                                    <p:anim calcmode="lin" valueType="num">
                                      <p:cBhvr>
                                        <p:cTn id="23" dur="500" fill="hold"/>
                                        <p:tgtEl>
                                          <p:spTgt spid="908297"/>
                                        </p:tgtEl>
                                        <p:attrNameLst>
                                          <p:attrName>ppt_w</p:attrName>
                                        </p:attrNameLst>
                                      </p:cBhvr>
                                      <p:tavLst>
                                        <p:tav tm="0">
                                          <p:val>
                                            <p:fltVal val="0"/>
                                          </p:val>
                                        </p:tav>
                                        <p:tav tm="100000">
                                          <p:val>
                                            <p:strVal val="#ppt_w"/>
                                          </p:val>
                                        </p:tav>
                                      </p:tavLst>
                                    </p:anim>
                                    <p:anim calcmode="lin" valueType="num">
                                      <p:cBhvr>
                                        <p:cTn id="24" dur="500" fill="hold"/>
                                        <p:tgtEl>
                                          <p:spTgt spid="908297"/>
                                        </p:tgtEl>
                                        <p:attrNameLst>
                                          <p:attrName>ppt_h</p:attrName>
                                        </p:attrNameLst>
                                      </p:cBhvr>
                                      <p:tavLst>
                                        <p:tav tm="0">
                                          <p:val>
                                            <p:strVal val="#ppt_h"/>
                                          </p:val>
                                        </p:tav>
                                        <p:tav tm="100000">
                                          <p:val>
                                            <p:strVal val="#ppt_h"/>
                                          </p:val>
                                        </p:tav>
                                      </p:tavLst>
                                    </p:anim>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499"/>
                                          </p:stCondLst>
                                        </p:cTn>
                                        <p:tgtEl>
                                          <p:spTgt spid="908298"/>
                                        </p:tgtEl>
                                        <p:attrNameLst>
                                          <p:attrName>style.visibility</p:attrName>
                                        </p:attrNameLst>
                                      </p:cBhvr>
                                      <p:to>
                                        <p:strVal val="visible"/>
                                      </p:to>
                                    </p:set>
                                  </p:childTnLst>
                                </p:cTn>
                              </p:par>
                            </p:childTnLst>
                          </p:cTn>
                        </p:par>
                        <p:par>
                          <p:cTn id="29" fill="hold">
                            <p:stCondLst>
                              <p:cond delay="500"/>
                            </p:stCondLst>
                            <p:childTnLst>
                              <p:par>
                                <p:cTn id="30" presetID="17" presetClass="entr" presetSubtype="2" fill="hold" nodeType="afterEffect">
                                  <p:stCondLst>
                                    <p:cond delay="0"/>
                                  </p:stCondLst>
                                  <p:childTnLst>
                                    <p:set>
                                      <p:cBhvr>
                                        <p:cTn id="31" dur="1" fill="hold">
                                          <p:stCondLst>
                                            <p:cond delay="0"/>
                                          </p:stCondLst>
                                        </p:cTn>
                                        <p:tgtEl>
                                          <p:spTgt spid="908299"/>
                                        </p:tgtEl>
                                        <p:attrNameLst>
                                          <p:attrName>style.visibility</p:attrName>
                                        </p:attrNameLst>
                                      </p:cBhvr>
                                      <p:to>
                                        <p:strVal val="visible"/>
                                      </p:to>
                                    </p:set>
                                    <p:anim calcmode="lin" valueType="num">
                                      <p:cBhvr>
                                        <p:cTn id="32" dur="500" fill="hold"/>
                                        <p:tgtEl>
                                          <p:spTgt spid="908299"/>
                                        </p:tgtEl>
                                        <p:attrNameLst>
                                          <p:attrName>ppt_x</p:attrName>
                                        </p:attrNameLst>
                                      </p:cBhvr>
                                      <p:tavLst>
                                        <p:tav tm="0">
                                          <p:val>
                                            <p:strVal val="#ppt_x+#ppt_w/2"/>
                                          </p:val>
                                        </p:tav>
                                        <p:tav tm="100000">
                                          <p:val>
                                            <p:strVal val="#ppt_x"/>
                                          </p:val>
                                        </p:tav>
                                      </p:tavLst>
                                    </p:anim>
                                    <p:anim calcmode="lin" valueType="num">
                                      <p:cBhvr>
                                        <p:cTn id="33" dur="500" fill="hold"/>
                                        <p:tgtEl>
                                          <p:spTgt spid="908299"/>
                                        </p:tgtEl>
                                        <p:attrNameLst>
                                          <p:attrName>ppt_y</p:attrName>
                                        </p:attrNameLst>
                                      </p:cBhvr>
                                      <p:tavLst>
                                        <p:tav tm="0">
                                          <p:val>
                                            <p:strVal val="#ppt_y"/>
                                          </p:val>
                                        </p:tav>
                                        <p:tav tm="100000">
                                          <p:val>
                                            <p:strVal val="#ppt_y"/>
                                          </p:val>
                                        </p:tav>
                                      </p:tavLst>
                                    </p:anim>
                                    <p:anim calcmode="lin" valueType="num">
                                      <p:cBhvr>
                                        <p:cTn id="34" dur="500" fill="hold"/>
                                        <p:tgtEl>
                                          <p:spTgt spid="908299"/>
                                        </p:tgtEl>
                                        <p:attrNameLst>
                                          <p:attrName>ppt_w</p:attrName>
                                        </p:attrNameLst>
                                      </p:cBhvr>
                                      <p:tavLst>
                                        <p:tav tm="0">
                                          <p:val>
                                            <p:fltVal val="0"/>
                                          </p:val>
                                        </p:tav>
                                        <p:tav tm="100000">
                                          <p:val>
                                            <p:strVal val="#ppt_w"/>
                                          </p:val>
                                        </p:tav>
                                      </p:tavLst>
                                    </p:anim>
                                    <p:anim calcmode="lin" valueType="num">
                                      <p:cBhvr>
                                        <p:cTn id="35" dur="500" fill="hold"/>
                                        <p:tgtEl>
                                          <p:spTgt spid="908299"/>
                                        </p:tgtEl>
                                        <p:attrNameLst>
                                          <p:attrName>ppt_h</p:attrName>
                                        </p:attrNameLst>
                                      </p:cBhvr>
                                      <p:tavLst>
                                        <p:tav tm="0">
                                          <p:val>
                                            <p:strVal val="#ppt_h"/>
                                          </p:val>
                                        </p:tav>
                                        <p:tav tm="100000">
                                          <p:val>
                                            <p:strVal val="#ppt_h"/>
                                          </p:val>
                                        </p:tav>
                                      </p:tavLst>
                                    </p:anim>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499"/>
                                          </p:stCondLst>
                                        </p:cTn>
                                        <p:tgtEl>
                                          <p:spTgt spid="908300"/>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499"/>
                                          </p:stCondLst>
                                        </p:cTn>
                                        <p:tgtEl>
                                          <p:spTgt spid="908301"/>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499"/>
                                          </p:stCondLst>
                                        </p:cTn>
                                        <p:tgtEl>
                                          <p:spTgt spid="908302"/>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499"/>
                                          </p:stCondLst>
                                        </p:cTn>
                                        <p:tgtEl>
                                          <p:spTgt spid="908303"/>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499"/>
                                          </p:stCondLst>
                                        </p:cTn>
                                        <p:tgtEl>
                                          <p:spTgt spid="908304"/>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499"/>
                                          </p:stCondLst>
                                        </p:cTn>
                                        <p:tgtEl>
                                          <p:spTgt spid="908305"/>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16" presetClass="entr" presetSubtype="37" fill="hold" grpId="0" nodeType="clickEffect">
                                  <p:stCondLst>
                                    <p:cond delay="0"/>
                                  </p:stCondLst>
                                  <p:childTnLst>
                                    <p:set>
                                      <p:cBhvr>
                                        <p:cTn id="63" dur="1" fill="hold">
                                          <p:stCondLst>
                                            <p:cond delay="0"/>
                                          </p:stCondLst>
                                        </p:cTn>
                                        <p:tgtEl>
                                          <p:spTgt spid="908292"/>
                                        </p:tgtEl>
                                        <p:attrNameLst>
                                          <p:attrName>style.visibility</p:attrName>
                                        </p:attrNameLst>
                                      </p:cBhvr>
                                      <p:to>
                                        <p:strVal val="visible"/>
                                      </p:to>
                                    </p:set>
                                    <p:animEffect transition="in" filter="barn(outVertical)">
                                      <p:cBhvr>
                                        <p:cTn id="64" dur="500"/>
                                        <p:tgtEl>
                                          <p:spTgt spid="908292"/>
                                        </p:tgtEl>
                                      </p:cBhvr>
                                    </p:animEffect>
                                  </p:childTnLst>
                                </p:cTn>
                              </p:par>
                            </p:childTnLst>
                          </p:cTn>
                        </p:par>
                      </p:childTnLst>
                    </p:cTn>
                  </p:par>
                  <p:par>
                    <p:cTn id="65" fill="hold">
                      <p:stCondLst>
                        <p:cond delay="indefinite"/>
                      </p:stCondLst>
                      <p:childTnLst>
                        <p:par>
                          <p:cTn id="66" fill="hold">
                            <p:stCondLst>
                              <p:cond delay="0"/>
                            </p:stCondLst>
                            <p:childTnLst>
                              <p:par>
                                <p:cTn id="67" presetID="4" presetClass="entr" presetSubtype="16" fill="hold" grpId="0" nodeType="clickEffect">
                                  <p:stCondLst>
                                    <p:cond delay="0"/>
                                  </p:stCondLst>
                                  <p:childTnLst>
                                    <p:set>
                                      <p:cBhvr>
                                        <p:cTn id="68" dur="1" fill="hold">
                                          <p:stCondLst>
                                            <p:cond delay="0"/>
                                          </p:stCondLst>
                                        </p:cTn>
                                        <p:tgtEl>
                                          <p:spTgt spid="908310"/>
                                        </p:tgtEl>
                                        <p:attrNameLst>
                                          <p:attrName>style.visibility</p:attrName>
                                        </p:attrNameLst>
                                      </p:cBhvr>
                                      <p:to>
                                        <p:strVal val="visible"/>
                                      </p:to>
                                    </p:set>
                                    <p:animEffect transition="in" filter="box(in)">
                                      <p:cBhvr>
                                        <p:cTn id="69" dur="500"/>
                                        <p:tgtEl>
                                          <p:spTgt spid="9083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8292" grpId="0" animBg="1"/>
      <p:bldP spid="908294" grpId="0" animBg="1"/>
      <p:bldP spid="908296" grpId="0" animBg="1"/>
      <p:bldP spid="908298" grpId="0" animBg="1"/>
      <p:bldP spid="908300" grpId="0" animBg="1"/>
      <p:bldP spid="908301" grpId="0" animBg="1"/>
      <p:bldP spid="908302" grpId="0" animBg="1"/>
      <p:bldP spid="908303" grpId="0" animBg="1"/>
      <p:bldP spid="908304" grpId="0" animBg="1"/>
      <p:bldP spid="908305" grpId="0" animBg="1"/>
      <p:bldP spid="908310"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矩形 2"/>
          <p:cNvSpPr/>
          <p:nvPr/>
        </p:nvSpPr>
        <p:spPr>
          <a:xfrm>
            <a:off x="0" y="3716338"/>
            <a:ext cx="9144000" cy="2881312"/>
          </a:xfrm>
          <a:prstGeom prst="rect">
            <a:avLst/>
          </a:prstGeom>
          <a:solidFill>
            <a:srgbClr val="E2D9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907269" name="Text Box 5"/>
          <p:cNvSpPr txBox="1">
            <a:spLocks noChangeArrowheads="1"/>
          </p:cNvSpPr>
          <p:nvPr/>
        </p:nvSpPr>
        <p:spPr bwMode="auto">
          <a:xfrm>
            <a:off x="3506788" y="1479550"/>
            <a:ext cx="2036763" cy="1801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just"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a:ln>
                  <a:noFill/>
                </a:ln>
                <a:solidFill>
                  <a:schemeClr val="tx1"/>
                </a:solidFill>
                <a:effectLst/>
                <a:uLnTx/>
                <a:uFillTx/>
                <a:latin typeface="+mn-lt"/>
                <a:ea typeface="+mn-ea"/>
                <a:cs typeface="+mn-ea"/>
                <a:sym typeface="+mn-lt"/>
              </a:rPr>
              <a:t>先序遍历：</a:t>
            </a:r>
          </a:p>
          <a:p>
            <a:pPr marL="0" marR="0" lvl="0" indent="0" algn="just"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a:ln>
                  <a:noFill/>
                </a:ln>
                <a:solidFill>
                  <a:schemeClr val="tx1"/>
                </a:solidFill>
                <a:effectLst/>
                <a:uLnTx/>
                <a:uFillTx/>
                <a:latin typeface="+mn-lt"/>
                <a:ea typeface="+mn-ea"/>
                <a:cs typeface="+mn-ea"/>
                <a:sym typeface="+mn-lt"/>
              </a:rPr>
              <a:t>中序遍历：</a:t>
            </a:r>
          </a:p>
          <a:p>
            <a:pPr marL="0" marR="0" lvl="0" indent="0" algn="just"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a:ln>
                  <a:noFill/>
                </a:ln>
                <a:solidFill>
                  <a:schemeClr val="tx1"/>
                </a:solidFill>
                <a:effectLst/>
                <a:uLnTx/>
                <a:uFillTx/>
                <a:latin typeface="+mn-lt"/>
                <a:ea typeface="+mn-ea"/>
                <a:cs typeface="+mn-ea"/>
                <a:sym typeface="+mn-lt"/>
              </a:rPr>
              <a:t>后序遍历：</a:t>
            </a:r>
          </a:p>
        </p:txBody>
      </p:sp>
      <p:grpSp>
        <p:nvGrpSpPr>
          <p:cNvPr id="2" name="Group 6"/>
          <p:cNvGrpSpPr/>
          <p:nvPr/>
        </p:nvGrpSpPr>
        <p:grpSpPr>
          <a:xfrm>
            <a:off x="965200" y="1341438"/>
            <a:ext cx="2238375" cy="1801812"/>
            <a:chOff x="144" y="624"/>
            <a:chExt cx="1410" cy="1135"/>
          </a:xfrm>
        </p:grpSpPr>
        <p:sp>
          <p:nvSpPr>
            <p:cNvPr id="49156" name="Rectangle 7"/>
            <p:cNvSpPr>
              <a:spLocks noChangeArrowheads="1"/>
            </p:cNvSpPr>
            <p:nvPr/>
          </p:nvSpPr>
          <p:spPr bwMode="auto">
            <a:xfrm>
              <a:off x="144" y="624"/>
              <a:ext cx="1410" cy="1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 </a:t>
              </a: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B          C</a:t>
              </a: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D      E</a:t>
              </a:r>
            </a:p>
          </p:txBody>
        </p:sp>
        <p:sp>
          <p:nvSpPr>
            <p:cNvPr id="49157" name="Line 8"/>
            <p:cNvSpPr>
              <a:spLocks noChangeShapeType="1"/>
            </p:cNvSpPr>
            <p:nvPr/>
          </p:nvSpPr>
          <p:spPr bwMode="auto">
            <a:xfrm flipH="1">
              <a:off x="576" y="912"/>
              <a:ext cx="192" cy="240"/>
            </a:xfrm>
            <a:prstGeom prst="line">
              <a:avLst/>
            </a:prstGeom>
            <a:noFill/>
            <a:ln w="25400">
              <a:solidFill>
                <a:schemeClr val="accent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9158" name="Line 9"/>
            <p:cNvSpPr>
              <a:spLocks noChangeShapeType="1"/>
            </p:cNvSpPr>
            <p:nvPr/>
          </p:nvSpPr>
          <p:spPr bwMode="auto">
            <a:xfrm>
              <a:off x="912" y="864"/>
              <a:ext cx="240" cy="240"/>
            </a:xfrm>
            <a:prstGeom prst="line">
              <a:avLst/>
            </a:prstGeom>
            <a:noFill/>
            <a:ln w="25400">
              <a:solidFill>
                <a:schemeClr val="accent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9159" name="Line 10"/>
            <p:cNvSpPr>
              <a:spLocks noChangeShapeType="1"/>
            </p:cNvSpPr>
            <p:nvPr/>
          </p:nvSpPr>
          <p:spPr bwMode="auto">
            <a:xfrm>
              <a:off x="576" y="1296"/>
              <a:ext cx="144" cy="240"/>
            </a:xfrm>
            <a:prstGeom prst="line">
              <a:avLst/>
            </a:prstGeom>
            <a:noFill/>
            <a:ln w="25400">
              <a:solidFill>
                <a:schemeClr val="accent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9160" name="Line 11"/>
            <p:cNvSpPr>
              <a:spLocks noChangeShapeType="1"/>
            </p:cNvSpPr>
            <p:nvPr/>
          </p:nvSpPr>
          <p:spPr bwMode="auto">
            <a:xfrm flipH="1">
              <a:off x="240" y="1296"/>
              <a:ext cx="192" cy="240"/>
            </a:xfrm>
            <a:prstGeom prst="line">
              <a:avLst/>
            </a:prstGeom>
            <a:noFill/>
            <a:ln w="25400">
              <a:solidFill>
                <a:schemeClr val="accent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07276" name="Rectangle 12"/>
          <p:cNvSpPr>
            <a:spLocks noChangeArrowheads="1"/>
          </p:cNvSpPr>
          <p:nvPr/>
        </p:nvSpPr>
        <p:spPr bwMode="auto">
          <a:xfrm>
            <a:off x="5260975" y="1506538"/>
            <a:ext cx="1827213" cy="1801813"/>
          </a:xfrm>
          <a:prstGeom prst="rect">
            <a:avLst/>
          </a:prstGeom>
          <a:noFill/>
          <a:ln w="9525">
            <a:noFill/>
            <a:miter lim="800000"/>
          </a:ln>
          <a:effec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defRPr/>
            </a:pPr>
            <a:r>
              <a:rPr kumimoji="1" lang="en-US" altLang="zh-CN" sz="2800" b="0" i="0" u="none" strike="noStrike" kern="1200" cap="none" spc="0" normalizeH="0" baseline="0" noProof="0" dirty="0">
                <a:ln>
                  <a:noFill/>
                </a:ln>
                <a:solidFill>
                  <a:srgbClr val="FF3300"/>
                </a:solidFill>
                <a:effectLst/>
                <a:uLnTx/>
                <a:uFillTx/>
                <a:latin typeface="+mn-lt"/>
                <a:ea typeface="+mn-ea"/>
                <a:cs typeface="+mn-ea"/>
                <a:sym typeface="+mn-lt"/>
              </a:rPr>
              <a:t>A B D E C</a:t>
            </a:r>
          </a:p>
          <a:p>
            <a:pPr marL="0" marR="0" lvl="0" indent="0" algn="l" defTabSz="914400" rtl="0" eaLnBrk="1" fontAlgn="base" latinLnBrk="0" hangingPunct="1">
              <a:lnSpc>
                <a:spcPct val="100000"/>
              </a:lnSpc>
              <a:spcBef>
                <a:spcPct val="50000"/>
              </a:spcBef>
              <a:spcAft>
                <a:spcPct val="0"/>
              </a:spcAft>
              <a:buClrTx/>
              <a:buSzTx/>
              <a:buFontTx/>
              <a:buNone/>
              <a:defRPr/>
            </a:pPr>
            <a:r>
              <a:rPr kumimoji="1" lang="en-US" altLang="zh-CN" sz="2800" b="0" i="0" u="none" strike="noStrike" kern="1200" cap="none" spc="0" normalizeH="0" baseline="0" noProof="0" dirty="0">
                <a:ln>
                  <a:noFill/>
                </a:ln>
                <a:solidFill>
                  <a:srgbClr val="FF3300"/>
                </a:solidFill>
                <a:effectLst/>
                <a:uLnTx/>
                <a:uFillTx/>
                <a:latin typeface="+mn-lt"/>
                <a:ea typeface="+mn-ea"/>
                <a:cs typeface="+mn-ea"/>
                <a:sym typeface="+mn-lt"/>
              </a:rPr>
              <a:t>D B E A C</a:t>
            </a:r>
          </a:p>
          <a:p>
            <a:pPr marL="0" marR="0" lvl="0" indent="0" algn="l" defTabSz="914400" rtl="0" eaLnBrk="1" fontAlgn="base" latinLnBrk="0" hangingPunct="1">
              <a:lnSpc>
                <a:spcPct val="100000"/>
              </a:lnSpc>
              <a:spcBef>
                <a:spcPct val="50000"/>
              </a:spcBef>
              <a:spcAft>
                <a:spcPct val="0"/>
              </a:spcAft>
              <a:buClrTx/>
              <a:buSzTx/>
              <a:buFontTx/>
              <a:buNone/>
              <a:defRPr/>
            </a:pPr>
            <a:r>
              <a:rPr kumimoji="1" lang="en-US" altLang="zh-CN" sz="2800" b="0" i="0" u="none" strike="noStrike" kern="1200" cap="none" spc="0" normalizeH="0" baseline="0" noProof="0" dirty="0">
                <a:ln>
                  <a:noFill/>
                </a:ln>
                <a:solidFill>
                  <a:srgbClr val="FF3300"/>
                </a:solidFill>
                <a:effectLst/>
                <a:uLnTx/>
                <a:uFillTx/>
                <a:latin typeface="+mn-lt"/>
                <a:ea typeface="+mn-ea"/>
                <a:cs typeface="+mn-ea"/>
                <a:sym typeface="+mn-lt"/>
              </a:rPr>
              <a:t>D E B C A</a:t>
            </a:r>
          </a:p>
        </p:txBody>
      </p:sp>
      <p:sp>
        <p:nvSpPr>
          <p:cNvPr id="907277" name="Rectangle 13"/>
          <p:cNvSpPr>
            <a:spLocks noChangeArrowheads="1"/>
          </p:cNvSpPr>
          <p:nvPr/>
        </p:nvSpPr>
        <p:spPr bwMode="auto">
          <a:xfrm>
            <a:off x="1182688" y="3860800"/>
            <a:ext cx="6096000" cy="2471738"/>
          </a:xfrm>
          <a:prstGeom prst="rect">
            <a:avLst/>
          </a:prstGeom>
          <a:noFill/>
          <a:ln w="28575">
            <a:noFill/>
            <a:miter lim="800000"/>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口诀：</a:t>
            </a: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DLR—</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先序遍历，即先根再左再右</a:t>
            </a: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LDR—</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中序遍历，即先左再根再右</a:t>
            </a: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LRD—</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后序遍历，即先左再右再根</a:t>
            </a:r>
          </a:p>
        </p:txBody>
      </p:sp>
      <p:sp>
        <p:nvSpPr>
          <p:cNvPr id="12" name="Rectangle 18"/>
          <p:cNvSpPr>
            <a:spLocks noChangeArrowheads="1"/>
          </p:cNvSpPr>
          <p:nvPr/>
        </p:nvSpPr>
        <p:spPr bwMode="auto">
          <a:xfrm>
            <a:off x="887413" y="204788"/>
            <a:ext cx="354330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遍历规则</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907269"/>
                                        </p:tgtEl>
                                        <p:attrNameLst>
                                          <p:attrName>style.visibility</p:attrName>
                                        </p:attrNameLst>
                                      </p:cBhvr>
                                      <p:to>
                                        <p:strVal val="visible"/>
                                      </p:to>
                                    </p:set>
                                    <p:animEffect transition="in" filter="wipe(up)">
                                      <p:cBhvr>
                                        <p:cTn id="12" dur="500"/>
                                        <p:tgtEl>
                                          <p:spTgt spid="907269"/>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55298"/>
                                        </p:tgtEl>
                                        <p:attrNameLst>
                                          <p:attrName>style.visibility</p:attrName>
                                        </p:attrNameLst>
                                      </p:cBhvr>
                                      <p:to>
                                        <p:strVal val="visible"/>
                                      </p:to>
                                    </p:set>
                                    <p:anim calcmode="lin" valueType="num">
                                      <p:cBhvr additive="base">
                                        <p:cTn id="17" dur="500" fill="hold"/>
                                        <p:tgtEl>
                                          <p:spTgt spid="55298"/>
                                        </p:tgtEl>
                                        <p:attrNameLst>
                                          <p:attrName>ppt_x</p:attrName>
                                        </p:attrNameLst>
                                      </p:cBhvr>
                                      <p:tavLst>
                                        <p:tav tm="0">
                                          <p:val>
                                            <p:strVal val="#ppt_x"/>
                                          </p:val>
                                        </p:tav>
                                        <p:tav tm="100000">
                                          <p:val>
                                            <p:strVal val="#ppt_x"/>
                                          </p:val>
                                        </p:tav>
                                      </p:tavLst>
                                    </p:anim>
                                    <p:anim calcmode="lin" valueType="num">
                                      <p:cBhvr additive="base">
                                        <p:cTn id="18" dur="500" fill="hold"/>
                                        <p:tgtEl>
                                          <p:spTgt spid="55298"/>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2" presetClass="entr" presetSubtype="1" fill="hold" grpId="0" nodeType="clickEffect">
                                  <p:stCondLst>
                                    <p:cond delay="0"/>
                                  </p:stCondLst>
                                  <p:childTnLst>
                                    <p:set>
                                      <p:cBhvr>
                                        <p:cTn id="22" dur="1" fill="hold">
                                          <p:stCondLst>
                                            <p:cond delay="0"/>
                                          </p:stCondLst>
                                        </p:cTn>
                                        <p:tgtEl>
                                          <p:spTgt spid="907277"/>
                                        </p:tgtEl>
                                        <p:attrNameLst>
                                          <p:attrName>style.visibility</p:attrName>
                                        </p:attrNameLst>
                                      </p:cBhvr>
                                      <p:to>
                                        <p:strVal val="visible"/>
                                      </p:to>
                                    </p:set>
                                    <p:animEffect transition="in" filter="wipe(up)">
                                      <p:cBhvr>
                                        <p:cTn id="23" dur="500"/>
                                        <p:tgtEl>
                                          <p:spTgt spid="907277"/>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iterate type="wd">
                                    <p:tmAbs val="300"/>
                                  </p:iterate>
                                  <p:childTnLst>
                                    <p:set>
                                      <p:cBhvr>
                                        <p:cTn id="27" dur="1" fill="hold">
                                          <p:stCondLst>
                                            <p:cond delay="299"/>
                                          </p:stCondLst>
                                        </p:cTn>
                                        <p:tgtEl>
                                          <p:spTgt spid="907276">
                                            <p:txEl>
                                              <p:pRg st="0" end="0"/>
                                            </p:txEl>
                                          </p:spTgt>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iterate type="wd">
                                    <p:tmAbs val="300"/>
                                  </p:iterate>
                                  <p:childTnLst>
                                    <p:set>
                                      <p:cBhvr>
                                        <p:cTn id="31" dur="1" fill="hold">
                                          <p:stCondLst>
                                            <p:cond delay="299"/>
                                          </p:stCondLst>
                                        </p:cTn>
                                        <p:tgtEl>
                                          <p:spTgt spid="907276">
                                            <p:txEl>
                                              <p:pRg st="1" end="1"/>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iterate type="wd">
                                    <p:tmAbs val="300"/>
                                  </p:iterate>
                                  <p:childTnLst>
                                    <p:set>
                                      <p:cBhvr>
                                        <p:cTn id="35" dur="1" fill="hold">
                                          <p:stCondLst>
                                            <p:cond delay="299"/>
                                          </p:stCondLst>
                                        </p:cTn>
                                        <p:tgtEl>
                                          <p:spTgt spid="907276">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nimBg="1"/>
      <p:bldP spid="907269" grpId="0"/>
      <p:bldP spid="907276" grpId="0" build="p"/>
      <p:bldP spid="907277"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圆角矩形 2"/>
          <p:cNvSpPr/>
          <p:nvPr/>
        </p:nvSpPr>
        <p:spPr>
          <a:xfrm>
            <a:off x="250825" y="1252538"/>
            <a:ext cx="4897438" cy="5180012"/>
          </a:xfrm>
          <a:prstGeom prst="roundRect">
            <a:avLst>
              <a:gd name="adj" fmla="val 3699"/>
            </a:avLst>
          </a:prstGeom>
          <a:solidFill>
            <a:srgbClr val="E2D9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grpSp>
        <p:nvGrpSpPr>
          <p:cNvPr id="2" name="Group 4"/>
          <p:cNvGrpSpPr/>
          <p:nvPr/>
        </p:nvGrpSpPr>
        <p:grpSpPr>
          <a:xfrm>
            <a:off x="511175" y="1352550"/>
            <a:ext cx="4227513" cy="4956175"/>
            <a:chOff x="247" y="647"/>
            <a:chExt cx="2428" cy="2630"/>
          </a:xfrm>
        </p:grpSpPr>
        <p:grpSp>
          <p:nvGrpSpPr>
            <p:cNvPr id="51211" name="Group 5"/>
            <p:cNvGrpSpPr/>
            <p:nvPr/>
          </p:nvGrpSpPr>
          <p:grpSpPr>
            <a:xfrm>
              <a:off x="1897" y="647"/>
              <a:ext cx="360" cy="359"/>
              <a:chOff x="2664" y="1090"/>
              <a:chExt cx="360" cy="359"/>
            </a:xfrm>
          </p:grpSpPr>
          <p:sp>
            <p:nvSpPr>
              <p:cNvPr id="50180" name="Oval 6"/>
              <p:cNvSpPr>
                <a:spLocks noChangeArrowheads="1"/>
              </p:cNvSpPr>
              <p:nvPr/>
            </p:nvSpPr>
            <p:spPr bwMode="auto">
              <a:xfrm>
                <a:off x="2664" y="1090"/>
                <a:ext cx="360" cy="359"/>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0181" name="Rectangle 7"/>
              <p:cNvSpPr>
                <a:spLocks noChangeArrowheads="1"/>
              </p:cNvSpPr>
              <p:nvPr/>
            </p:nvSpPr>
            <p:spPr bwMode="auto">
              <a:xfrm>
                <a:off x="2734" y="1143"/>
                <a:ext cx="22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TW" altLang="en-US" sz="2400" b="0" i="0" u="none" strike="noStrike" kern="1200" cap="none" spc="0" normalizeH="0" baseline="0" noProof="0">
                    <a:ln>
                      <a:noFill/>
                    </a:ln>
                    <a:solidFill>
                      <a:schemeClr val="tx1"/>
                    </a:solidFill>
                    <a:effectLst/>
                    <a:uLnTx/>
                    <a:uFillTx/>
                    <a:latin typeface="+mn-lt"/>
                    <a:ea typeface="+mn-ea"/>
                    <a:cs typeface="+mn-ea"/>
                    <a:sym typeface="+mn-lt"/>
                  </a:rPr>
                  <a:t>+</a:t>
                </a:r>
              </a:p>
            </p:txBody>
          </p:sp>
        </p:grpSp>
        <p:grpSp>
          <p:nvGrpSpPr>
            <p:cNvPr id="51212" name="Group 8"/>
            <p:cNvGrpSpPr/>
            <p:nvPr/>
          </p:nvGrpSpPr>
          <p:grpSpPr>
            <a:xfrm>
              <a:off x="1512" y="1216"/>
              <a:ext cx="360" cy="359"/>
              <a:chOff x="2279" y="1659"/>
              <a:chExt cx="360" cy="359"/>
            </a:xfrm>
          </p:grpSpPr>
          <p:sp>
            <p:nvSpPr>
              <p:cNvPr id="50183" name="Oval 9"/>
              <p:cNvSpPr>
                <a:spLocks noChangeArrowheads="1"/>
              </p:cNvSpPr>
              <p:nvPr/>
            </p:nvSpPr>
            <p:spPr bwMode="auto">
              <a:xfrm>
                <a:off x="2279" y="1659"/>
                <a:ext cx="360" cy="361"/>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0184" name="Rectangle 10"/>
              <p:cNvSpPr>
                <a:spLocks noChangeArrowheads="1"/>
              </p:cNvSpPr>
              <p:nvPr/>
            </p:nvSpPr>
            <p:spPr bwMode="auto">
              <a:xfrm>
                <a:off x="2348" y="1712"/>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TW" altLang="en-US" sz="2400" b="0" i="0" u="none" strike="noStrike" kern="1200" cap="none" spc="0" normalizeH="0" baseline="0" noProof="0">
                    <a:ln>
                      <a:noFill/>
                    </a:ln>
                    <a:solidFill>
                      <a:schemeClr val="tx1"/>
                    </a:solidFill>
                    <a:effectLst/>
                    <a:uLnTx/>
                    <a:uFillTx/>
                    <a:latin typeface="+mn-lt"/>
                    <a:ea typeface="+mn-ea"/>
                    <a:cs typeface="+mn-ea"/>
                    <a:sym typeface="+mn-lt"/>
                  </a:rPr>
                  <a:t>*</a:t>
                </a:r>
              </a:p>
            </p:txBody>
          </p:sp>
        </p:grpSp>
        <p:sp>
          <p:nvSpPr>
            <p:cNvPr id="50185" name="Line 11"/>
            <p:cNvSpPr>
              <a:spLocks noChangeShapeType="1"/>
            </p:cNvSpPr>
            <p:nvPr/>
          </p:nvSpPr>
          <p:spPr bwMode="auto">
            <a:xfrm flipH="1">
              <a:off x="1753" y="999"/>
              <a:ext cx="215" cy="22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51214" name="Group 12"/>
            <p:cNvGrpSpPr/>
            <p:nvPr/>
          </p:nvGrpSpPr>
          <p:grpSpPr>
            <a:xfrm>
              <a:off x="247" y="2918"/>
              <a:ext cx="360" cy="359"/>
              <a:chOff x="1014" y="3361"/>
              <a:chExt cx="360" cy="359"/>
            </a:xfrm>
          </p:grpSpPr>
          <p:sp>
            <p:nvSpPr>
              <p:cNvPr id="50187" name="Oval 13"/>
              <p:cNvSpPr>
                <a:spLocks noChangeArrowheads="1"/>
              </p:cNvSpPr>
              <p:nvPr/>
            </p:nvSpPr>
            <p:spPr bwMode="auto">
              <a:xfrm>
                <a:off x="1014" y="3361"/>
                <a:ext cx="360" cy="359"/>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0188" name="Rectangle 14"/>
              <p:cNvSpPr>
                <a:spLocks noChangeArrowheads="1"/>
              </p:cNvSpPr>
              <p:nvPr/>
            </p:nvSpPr>
            <p:spPr bwMode="auto">
              <a:xfrm>
                <a:off x="1083" y="3414"/>
                <a:ext cx="25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0" i="0" u="none" strike="noStrike" kern="1200" cap="none" spc="0" normalizeH="0" baseline="0" noProof="0">
                    <a:ln>
                      <a:noFill/>
                    </a:ln>
                    <a:solidFill>
                      <a:schemeClr val="tx1"/>
                    </a:solidFill>
                    <a:effectLst/>
                    <a:uLnTx/>
                    <a:uFillTx/>
                    <a:latin typeface="+mn-lt"/>
                    <a:ea typeface="+mn-ea"/>
                    <a:cs typeface="+mn-ea"/>
                    <a:sym typeface="+mn-lt"/>
                  </a:rPr>
                  <a:t>A</a:t>
                </a:r>
              </a:p>
            </p:txBody>
          </p:sp>
        </p:grpSp>
        <p:sp>
          <p:nvSpPr>
            <p:cNvPr id="50189" name="Line 15"/>
            <p:cNvSpPr>
              <a:spLocks noChangeShapeType="1"/>
            </p:cNvSpPr>
            <p:nvPr/>
          </p:nvSpPr>
          <p:spPr bwMode="auto">
            <a:xfrm flipH="1">
              <a:off x="446" y="2700"/>
              <a:ext cx="277" cy="21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51216" name="Group 16"/>
            <p:cNvGrpSpPr/>
            <p:nvPr/>
          </p:nvGrpSpPr>
          <p:grpSpPr>
            <a:xfrm>
              <a:off x="1081" y="1792"/>
              <a:ext cx="360" cy="359"/>
              <a:chOff x="1848" y="2235"/>
              <a:chExt cx="360" cy="359"/>
            </a:xfrm>
          </p:grpSpPr>
          <p:sp>
            <p:nvSpPr>
              <p:cNvPr id="50191" name="Oval 17"/>
              <p:cNvSpPr>
                <a:spLocks noChangeArrowheads="1"/>
              </p:cNvSpPr>
              <p:nvPr/>
            </p:nvSpPr>
            <p:spPr bwMode="auto">
              <a:xfrm>
                <a:off x="1848" y="2235"/>
                <a:ext cx="360" cy="359"/>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0192" name="Rectangle 18"/>
              <p:cNvSpPr>
                <a:spLocks noChangeArrowheads="1"/>
              </p:cNvSpPr>
              <p:nvPr/>
            </p:nvSpPr>
            <p:spPr bwMode="auto">
              <a:xfrm>
                <a:off x="1918" y="2288"/>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TW" altLang="en-US" sz="2400" b="0" i="0" u="none" strike="noStrike" kern="1200" cap="none" spc="0" normalizeH="0" baseline="0" noProof="0">
                    <a:ln>
                      <a:noFill/>
                    </a:ln>
                    <a:solidFill>
                      <a:schemeClr val="tx1"/>
                    </a:solidFill>
                    <a:effectLst/>
                    <a:uLnTx/>
                    <a:uFillTx/>
                    <a:latin typeface="+mn-lt"/>
                    <a:ea typeface="+mn-ea"/>
                    <a:cs typeface="+mn-ea"/>
                    <a:sym typeface="+mn-lt"/>
                  </a:rPr>
                  <a:t>*</a:t>
                </a:r>
              </a:p>
            </p:txBody>
          </p:sp>
        </p:grpSp>
        <p:grpSp>
          <p:nvGrpSpPr>
            <p:cNvPr id="51217" name="Group 19"/>
            <p:cNvGrpSpPr/>
            <p:nvPr/>
          </p:nvGrpSpPr>
          <p:grpSpPr>
            <a:xfrm>
              <a:off x="653" y="2369"/>
              <a:ext cx="360" cy="359"/>
              <a:chOff x="1420" y="2812"/>
              <a:chExt cx="360" cy="359"/>
            </a:xfrm>
          </p:grpSpPr>
          <p:sp>
            <p:nvSpPr>
              <p:cNvPr id="50194" name="Oval 20"/>
              <p:cNvSpPr>
                <a:spLocks noChangeArrowheads="1"/>
              </p:cNvSpPr>
              <p:nvPr/>
            </p:nvSpPr>
            <p:spPr bwMode="auto">
              <a:xfrm>
                <a:off x="1420" y="2812"/>
                <a:ext cx="360" cy="359"/>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0195" name="Rectangle 21"/>
              <p:cNvSpPr>
                <a:spLocks noChangeArrowheads="1"/>
              </p:cNvSpPr>
              <p:nvPr/>
            </p:nvSpPr>
            <p:spPr bwMode="auto">
              <a:xfrm>
                <a:off x="1489" y="2865"/>
                <a:ext cx="17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TW" altLang="en-US" sz="2400" b="0" i="0" u="none" strike="noStrike" kern="1200" cap="none" spc="0" normalizeH="0" baseline="0" noProof="0">
                    <a:ln>
                      <a:noFill/>
                    </a:ln>
                    <a:solidFill>
                      <a:schemeClr val="tx1"/>
                    </a:solidFill>
                    <a:effectLst/>
                    <a:uLnTx/>
                    <a:uFillTx/>
                    <a:latin typeface="+mn-lt"/>
                    <a:ea typeface="+mn-ea"/>
                    <a:cs typeface="+mn-ea"/>
                    <a:sym typeface="+mn-lt"/>
                  </a:rPr>
                  <a:t>/</a:t>
                </a:r>
              </a:p>
            </p:txBody>
          </p:sp>
        </p:grpSp>
        <p:sp>
          <p:nvSpPr>
            <p:cNvPr id="50196" name="Line 22"/>
            <p:cNvSpPr>
              <a:spLocks noChangeShapeType="1"/>
            </p:cNvSpPr>
            <p:nvPr/>
          </p:nvSpPr>
          <p:spPr bwMode="auto">
            <a:xfrm flipH="1">
              <a:off x="1260" y="1556"/>
              <a:ext cx="310" cy="22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0197" name="Line 23"/>
            <p:cNvSpPr>
              <a:spLocks noChangeShapeType="1"/>
            </p:cNvSpPr>
            <p:nvPr/>
          </p:nvSpPr>
          <p:spPr bwMode="auto">
            <a:xfrm flipH="1">
              <a:off x="832" y="2132"/>
              <a:ext cx="309" cy="23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51220" name="Group 24"/>
            <p:cNvGrpSpPr/>
            <p:nvPr/>
          </p:nvGrpSpPr>
          <p:grpSpPr>
            <a:xfrm>
              <a:off x="2315" y="1225"/>
              <a:ext cx="360" cy="359"/>
              <a:chOff x="3082" y="1668"/>
              <a:chExt cx="360" cy="359"/>
            </a:xfrm>
          </p:grpSpPr>
          <p:sp>
            <p:nvSpPr>
              <p:cNvPr id="50199" name="Oval 25"/>
              <p:cNvSpPr>
                <a:spLocks noChangeArrowheads="1"/>
              </p:cNvSpPr>
              <p:nvPr/>
            </p:nvSpPr>
            <p:spPr bwMode="auto">
              <a:xfrm>
                <a:off x="3082" y="1668"/>
                <a:ext cx="360" cy="359"/>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0200" name="Rectangle 26"/>
              <p:cNvSpPr>
                <a:spLocks noChangeArrowheads="1"/>
              </p:cNvSpPr>
              <p:nvPr/>
            </p:nvSpPr>
            <p:spPr bwMode="auto">
              <a:xfrm>
                <a:off x="3151" y="1721"/>
                <a:ext cx="23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0" i="0" u="none" strike="noStrike" kern="1200" cap="none" spc="0" normalizeH="0" baseline="0" noProof="0">
                    <a:ln>
                      <a:noFill/>
                    </a:ln>
                    <a:solidFill>
                      <a:schemeClr val="tx1"/>
                    </a:solidFill>
                    <a:effectLst/>
                    <a:uLnTx/>
                    <a:uFillTx/>
                    <a:latin typeface="+mn-lt"/>
                    <a:ea typeface="+mn-ea"/>
                    <a:cs typeface="+mn-ea"/>
                    <a:sym typeface="+mn-lt"/>
                  </a:rPr>
                  <a:t>E</a:t>
                </a:r>
              </a:p>
            </p:txBody>
          </p:sp>
        </p:grpSp>
        <p:grpSp>
          <p:nvGrpSpPr>
            <p:cNvPr id="51221" name="Group 27"/>
            <p:cNvGrpSpPr/>
            <p:nvPr/>
          </p:nvGrpSpPr>
          <p:grpSpPr>
            <a:xfrm>
              <a:off x="1897" y="1793"/>
              <a:ext cx="360" cy="359"/>
              <a:chOff x="2664" y="2236"/>
              <a:chExt cx="360" cy="359"/>
            </a:xfrm>
          </p:grpSpPr>
          <p:sp>
            <p:nvSpPr>
              <p:cNvPr id="50202" name="Oval 28"/>
              <p:cNvSpPr>
                <a:spLocks noChangeArrowheads="1"/>
              </p:cNvSpPr>
              <p:nvPr/>
            </p:nvSpPr>
            <p:spPr bwMode="auto">
              <a:xfrm>
                <a:off x="2664" y="2236"/>
                <a:ext cx="360" cy="361"/>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0203" name="Rectangle 29"/>
              <p:cNvSpPr>
                <a:spLocks noChangeArrowheads="1"/>
              </p:cNvSpPr>
              <p:nvPr/>
            </p:nvSpPr>
            <p:spPr bwMode="auto">
              <a:xfrm>
                <a:off x="2734" y="2289"/>
                <a:ext cx="25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0" i="0" u="none" strike="noStrike" kern="1200" cap="none" spc="0" normalizeH="0" baseline="0" noProof="0" dirty="0">
                    <a:ln>
                      <a:noFill/>
                    </a:ln>
                    <a:solidFill>
                      <a:schemeClr val="tx1"/>
                    </a:solidFill>
                    <a:effectLst/>
                    <a:uLnTx/>
                    <a:uFillTx/>
                    <a:latin typeface="+mn-lt"/>
                    <a:ea typeface="+mn-ea"/>
                    <a:cs typeface="+mn-ea"/>
                    <a:sym typeface="+mn-lt"/>
                  </a:rPr>
                  <a:t>D</a:t>
                </a:r>
              </a:p>
            </p:txBody>
          </p:sp>
        </p:grpSp>
        <p:grpSp>
          <p:nvGrpSpPr>
            <p:cNvPr id="51222" name="Group 30"/>
            <p:cNvGrpSpPr/>
            <p:nvPr/>
          </p:nvGrpSpPr>
          <p:grpSpPr>
            <a:xfrm>
              <a:off x="1501" y="2350"/>
              <a:ext cx="360" cy="359"/>
              <a:chOff x="2268" y="2793"/>
              <a:chExt cx="360" cy="359"/>
            </a:xfrm>
          </p:grpSpPr>
          <p:sp>
            <p:nvSpPr>
              <p:cNvPr id="50205" name="Oval 31"/>
              <p:cNvSpPr>
                <a:spLocks noChangeArrowheads="1"/>
              </p:cNvSpPr>
              <p:nvPr/>
            </p:nvSpPr>
            <p:spPr bwMode="auto">
              <a:xfrm>
                <a:off x="2268" y="2793"/>
                <a:ext cx="360" cy="359"/>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0206" name="Rectangle 32"/>
              <p:cNvSpPr>
                <a:spLocks noChangeArrowheads="1"/>
              </p:cNvSpPr>
              <p:nvPr/>
            </p:nvSpPr>
            <p:spPr bwMode="auto">
              <a:xfrm>
                <a:off x="2337" y="2846"/>
                <a:ext cx="24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0" i="0" u="none" strike="noStrike" kern="1200" cap="none" spc="0" normalizeH="0" baseline="0" noProof="0" dirty="0">
                    <a:ln>
                      <a:noFill/>
                    </a:ln>
                    <a:solidFill>
                      <a:schemeClr val="tx1"/>
                    </a:solidFill>
                    <a:effectLst/>
                    <a:uLnTx/>
                    <a:uFillTx/>
                    <a:latin typeface="+mn-lt"/>
                    <a:ea typeface="+mn-ea"/>
                    <a:cs typeface="+mn-ea"/>
                    <a:sym typeface="+mn-lt"/>
                  </a:rPr>
                  <a:t>C</a:t>
                </a:r>
              </a:p>
            </p:txBody>
          </p:sp>
        </p:grpSp>
        <p:sp>
          <p:nvSpPr>
            <p:cNvPr id="50207" name="Line 33"/>
            <p:cNvSpPr>
              <a:spLocks noChangeShapeType="1"/>
            </p:cNvSpPr>
            <p:nvPr/>
          </p:nvSpPr>
          <p:spPr bwMode="auto">
            <a:xfrm>
              <a:off x="2193" y="988"/>
              <a:ext cx="278" cy="22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0208" name="Line 34"/>
            <p:cNvSpPr>
              <a:spLocks noChangeShapeType="1"/>
            </p:cNvSpPr>
            <p:nvPr/>
          </p:nvSpPr>
          <p:spPr bwMode="auto">
            <a:xfrm>
              <a:off x="1775" y="1567"/>
              <a:ext cx="289" cy="22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0209" name="Line 35"/>
            <p:cNvSpPr>
              <a:spLocks noChangeShapeType="1"/>
            </p:cNvSpPr>
            <p:nvPr/>
          </p:nvSpPr>
          <p:spPr bwMode="auto">
            <a:xfrm>
              <a:off x="1400" y="2102"/>
              <a:ext cx="243" cy="23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51226" name="Group 36"/>
            <p:cNvGrpSpPr/>
            <p:nvPr/>
          </p:nvGrpSpPr>
          <p:grpSpPr>
            <a:xfrm>
              <a:off x="1051" y="2917"/>
              <a:ext cx="360" cy="359"/>
              <a:chOff x="1818" y="3360"/>
              <a:chExt cx="360" cy="359"/>
            </a:xfrm>
          </p:grpSpPr>
          <p:sp>
            <p:nvSpPr>
              <p:cNvPr id="50211" name="Oval 37"/>
              <p:cNvSpPr>
                <a:spLocks noChangeArrowheads="1"/>
              </p:cNvSpPr>
              <p:nvPr/>
            </p:nvSpPr>
            <p:spPr bwMode="auto">
              <a:xfrm>
                <a:off x="1818" y="3360"/>
                <a:ext cx="360" cy="359"/>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0212" name="Rectangle 38"/>
              <p:cNvSpPr>
                <a:spLocks noChangeArrowheads="1"/>
              </p:cNvSpPr>
              <p:nvPr/>
            </p:nvSpPr>
            <p:spPr bwMode="auto">
              <a:xfrm>
                <a:off x="1887" y="3413"/>
                <a:ext cx="24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0" i="0" u="none" strike="noStrike" kern="1200" cap="none" spc="0" normalizeH="0" baseline="0" noProof="0">
                    <a:ln>
                      <a:noFill/>
                    </a:ln>
                    <a:solidFill>
                      <a:schemeClr val="tx1"/>
                    </a:solidFill>
                    <a:effectLst/>
                    <a:uLnTx/>
                    <a:uFillTx/>
                    <a:latin typeface="+mn-lt"/>
                    <a:ea typeface="+mn-ea"/>
                    <a:cs typeface="+mn-ea"/>
                    <a:sym typeface="+mn-lt"/>
                  </a:rPr>
                  <a:t>B</a:t>
                </a:r>
              </a:p>
            </p:txBody>
          </p:sp>
        </p:grpSp>
        <p:sp>
          <p:nvSpPr>
            <p:cNvPr id="50213" name="Line 39"/>
            <p:cNvSpPr>
              <a:spLocks noChangeShapeType="1"/>
            </p:cNvSpPr>
            <p:nvPr/>
          </p:nvSpPr>
          <p:spPr bwMode="auto">
            <a:xfrm>
              <a:off x="928" y="2702"/>
              <a:ext cx="268" cy="20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33928" name="Rectangle 40"/>
          <p:cNvSpPr>
            <a:spLocks noChangeArrowheads="1"/>
          </p:cNvSpPr>
          <p:nvPr/>
        </p:nvSpPr>
        <p:spPr bwMode="auto">
          <a:xfrm>
            <a:off x="5619750" y="1168400"/>
            <a:ext cx="2430463" cy="526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先序遍历</a:t>
            </a:r>
            <a:endParaRPr kumimoji="0" lang="zh-TW" altLang="en-US" sz="2400" b="0" i="0" u="none" strike="noStrike" kern="1200" cap="none" spc="0" normalizeH="0" baseline="0" noProof="0" dirty="0">
              <a:ln>
                <a:noFill/>
              </a:ln>
              <a:solidFill>
                <a:schemeClr val="hlink"/>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TW" altLang="en-US" sz="2400" b="0" i="0" u="none" strike="noStrike" kern="1200" cap="none" spc="0" normalizeH="0" baseline="0" noProof="0" dirty="0">
                <a:ln>
                  <a:noFill/>
                </a:ln>
                <a:solidFill>
                  <a:schemeClr val="tx1"/>
                </a:solidFill>
                <a:effectLst/>
                <a:uLnTx/>
                <a:uFillTx/>
                <a:latin typeface="+mn-lt"/>
                <a:ea typeface="+mn-ea"/>
                <a:cs typeface="+mn-ea"/>
                <a:sym typeface="+mn-lt"/>
              </a:rPr>
              <a:t>+ * * / </a:t>
            </a:r>
            <a:r>
              <a:rPr kumimoji="0" lang="en-US" altLang="zh-TW" sz="2400" b="0" i="0" u="none" strike="noStrike" kern="1200" cap="none" spc="0" normalizeH="0" baseline="0" noProof="0" dirty="0">
                <a:ln>
                  <a:noFill/>
                </a:ln>
                <a:solidFill>
                  <a:schemeClr val="tx1"/>
                </a:solidFill>
                <a:effectLst/>
                <a:uLnTx/>
                <a:uFillTx/>
                <a:latin typeface="+mn-lt"/>
                <a:ea typeface="+mn-ea"/>
                <a:cs typeface="+mn-ea"/>
                <a:sym typeface="+mn-lt"/>
              </a:rPr>
              <a:t>A B C D E</a:t>
            </a:r>
          </a:p>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前缀表示</a:t>
            </a:r>
          </a:p>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中序遍历</a:t>
            </a:r>
            <a:endParaRPr kumimoji="0" lang="zh-TW" altLang="en-US" sz="2400" b="0" i="0" u="none" strike="noStrike" kern="1200" cap="none" spc="0" normalizeH="0" baseline="0" noProof="0" dirty="0">
              <a:ln>
                <a:noFill/>
              </a:ln>
              <a:solidFill>
                <a:schemeClr val="hlink"/>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0" i="0" u="none" strike="noStrike" kern="1200" cap="none" spc="0" normalizeH="0" baseline="0" noProof="0" dirty="0">
                <a:ln>
                  <a:noFill/>
                </a:ln>
                <a:solidFill>
                  <a:schemeClr val="tx1"/>
                </a:solidFill>
                <a:effectLst/>
                <a:uLnTx/>
                <a:uFillTx/>
                <a:latin typeface="+mn-lt"/>
                <a:ea typeface="+mn-ea"/>
                <a:cs typeface="+mn-ea"/>
                <a:sym typeface="+mn-lt"/>
              </a:rPr>
              <a:t>A / B * C * D + E</a:t>
            </a:r>
          </a:p>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中缀表示</a:t>
            </a:r>
          </a:p>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TW" altLang="en-US" sz="2400" b="0" i="0" u="none" strike="noStrike" kern="1200" cap="none" spc="0" normalizeH="0" baseline="0" noProof="0" dirty="0">
              <a:ln>
                <a:noFill/>
              </a:ln>
              <a:solidFill>
                <a:schemeClr val="accent2"/>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后序遍历</a:t>
            </a:r>
            <a:endParaRPr kumimoji="0" lang="zh-TW" altLang="en-US" sz="2400" b="0" i="0" u="none" strike="noStrike" kern="1200" cap="none" spc="0" normalizeH="0" baseline="0" noProof="0" dirty="0">
              <a:ln>
                <a:noFill/>
              </a:ln>
              <a:solidFill>
                <a:schemeClr val="hlink"/>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0" i="0" u="none" strike="noStrike" kern="1200" cap="none" spc="0" normalizeH="0" baseline="0" noProof="0" dirty="0">
                <a:ln>
                  <a:noFill/>
                </a:ln>
                <a:solidFill>
                  <a:schemeClr val="accent2"/>
                </a:solidFill>
                <a:effectLst/>
                <a:uLnTx/>
                <a:uFillTx/>
                <a:latin typeface="+mn-lt"/>
                <a:ea typeface="+mn-ea"/>
                <a:cs typeface="+mn-ea"/>
                <a:sym typeface="+mn-lt"/>
              </a:rPr>
              <a:t>A B / C * D * E +</a:t>
            </a:r>
          </a:p>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后缀表示</a:t>
            </a:r>
          </a:p>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层序遍历</a:t>
            </a:r>
            <a:endParaRPr kumimoji="0" lang="zh-TW" altLang="en-US" sz="2400" b="0" i="0" u="none" strike="noStrike" kern="1200" cap="none" spc="0" normalizeH="0" baseline="0" noProof="0" dirty="0">
              <a:ln>
                <a:noFill/>
              </a:ln>
              <a:solidFill>
                <a:srgbClr val="FF0000"/>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TW" altLang="en-US" sz="24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en-US" altLang="zh-TW" sz="2400" b="0" i="0" u="none" strike="noStrike" kern="1200" cap="none" spc="0" normalizeH="0" baseline="0" noProof="0" dirty="0">
                <a:ln>
                  <a:noFill/>
                </a:ln>
                <a:solidFill>
                  <a:schemeClr val="tx1"/>
                </a:solidFill>
                <a:effectLst/>
                <a:uLnTx/>
                <a:uFillTx/>
                <a:latin typeface="+mn-lt"/>
                <a:ea typeface="+mn-ea"/>
                <a:cs typeface="+mn-ea"/>
                <a:sym typeface="+mn-lt"/>
              </a:rPr>
              <a:t>E * D / C A B</a:t>
            </a:r>
          </a:p>
        </p:txBody>
      </p:sp>
      <p:grpSp>
        <p:nvGrpSpPr>
          <p:cNvPr id="12" name="Group 41"/>
          <p:cNvGrpSpPr/>
          <p:nvPr/>
        </p:nvGrpSpPr>
        <p:grpSpPr>
          <a:xfrm>
            <a:off x="5446713" y="1252538"/>
            <a:ext cx="125412" cy="4983162"/>
            <a:chOff x="3360" y="513"/>
            <a:chExt cx="79" cy="3139"/>
          </a:xfrm>
        </p:grpSpPr>
        <p:sp>
          <p:nvSpPr>
            <p:cNvPr id="50216" name="AutoShape 42"/>
            <p:cNvSpPr/>
            <p:nvPr/>
          </p:nvSpPr>
          <p:spPr bwMode="auto">
            <a:xfrm>
              <a:off x="3360" y="513"/>
              <a:ext cx="37" cy="633"/>
            </a:xfrm>
            <a:prstGeom prst="leftBrace">
              <a:avLst>
                <a:gd name="adj1" fmla="val 142409"/>
                <a:gd name="adj2" fmla="val 50000"/>
              </a:avLst>
            </a:prstGeom>
            <a:noFill/>
            <a:ln w="25400">
              <a:solidFill>
                <a:schemeClr val="accent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0217" name="AutoShape 43"/>
            <p:cNvSpPr/>
            <p:nvPr/>
          </p:nvSpPr>
          <p:spPr bwMode="auto">
            <a:xfrm>
              <a:off x="3370" y="1454"/>
              <a:ext cx="58" cy="624"/>
            </a:xfrm>
            <a:prstGeom prst="leftBrace">
              <a:avLst>
                <a:gd name="adj1" fmla="val 89556"/>
                <a:gd name="adj2" fmla="val 50000"/>
              </a:avLst>
            </a:prstGeom>
            <a:noFill/>
            <a:ln w="25400">
              <a:solidFill>
                <a:schemeClr val="accent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0218" name="AutoShape 44"/>
            <p:cNvSpPr/>
            <p:nvPr/>
          </p:nvSpPr>
          <p:spPr bwMode="auto">
            <a:xfrm>
              <a:off x="3381" y="2366"/>
              <a:ext cx="58" cy="624"/>
            </a:xfrm>
            <a:prstGeom prst="leftBrace">
              <a:avLst>
                <a:gd name="adj1" fmla="val 89556"/>
                <a:gd name="adj2" fmla="val 50000"/>
              </a:avLst>
            </a:prstGeom>
            <a:noFill/>
            <a:ln w="25400">
              <a:solidFill>
                <a:schemeClr val="accent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0219" name="AutoShape 45"/>
            <p:cNvSpPr/>
            <p:nvPr/>
          </p:nvSpPr>
          <p:spPr bwMode="auto">
            <a:xfrm>
              <a:off x="3399" y="3249"/>
              <a:ext cx="39" cy="403"/>
            </a:xfrm>
            <a:prstGeom prst="leftBrace">
              <a:avLst>
                <a:gd name="adj1" fmla="val 86015"/>
                <a:gd name="adj2" fmla="val 50000"/>
              </a:avLst>
            </a:prstGeom>
            <a:noFill/>
            <a:ln w="25400">
              <a:solidFill>
                <a:schemeClr val="accent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0220" name="Rectangle 46"/>
          <p:cNvSpPr>
            <a:spLocks noChangeArrowheads="1"/>
          </p:cNvSpPr>
          <p:nvPr/>
        </p:nvSpPr>
        <p:spPr bwMode="auto">
          <a:xfrm>
            <a:off x="755650" y="230188"/>
            <a:ext cx="53562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用二叉树表示算术表达式</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iterate type="wd">
                                    <p:tmAbs val="300"/>
                                  </p:iterate>
                                  <p:childTnLst>
                                    <p:set>
                                      <p:cBhvr>
                                        <p:cTn id="11" dur="1" fill="hold">
                                          <p:stCondLst>
                                            <p:cond delay="299"/>
                                          </p:stCondLst>
                                        </p:cTn>
                                        <p:tgtEl>
                                          <p:spTgt spid="933928">
                                            <p:txEl>
                                              <p:pRg st="0" end="0"/>
                                            </p:txEl>
                                          </p:spTgt>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iterate type="wd">
                                    <p:tmAbs val="300"/>
                                  </p:iterate>
                                  <p:childTnLst>
                                    <p:set>
                                      <p:cBhvr>
                                        <p:cTn id="15" dur="1" fill="hold">
                                          <p:stCondLst>
                                            <p:cond delay="299"/>
                                          </p:stCondLst>
                                        </p:cTn>
                                        <p:tgtEl>
                                          <p:spTgt spid="933928">
                                            <p:txEl>
                                              <p:pRg st="1" end="1"/>
                                            </p:txEl>
                                          </p:spTgt>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iterate type="wd">
                                    <p:tmAbs val="300"/>
                                  </p:iterate>
                                  <p:childTnLst>
                                    <p:set>
                                      <p:cBhvr>
                                        <p:cTn id="19" dur="1" fill="hold">
                                          <p:stCondLst>
                                            <p:cond delay="299"/>
                                          </p:stCondLst>
                                        </p:cTn>
                                        <p:tgtEl>
                                          <p:spTgt spid="933928">
                                            <p:txEl>
                                              <p:pRg st="2" end="2"/>
                                            </p:txEl>
                                          </p:spTgt>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iterate type="wd">
                                    <p:tmAbs val="300"/>
                                  </p:iterate>
                                  <p:childTnLst>
                                    <p:set>
                                      <p:cBhvr>
                                        <p:cTn id="23" dur="1" fill="hold">
                                          <p:stCondLst>
                                            <p:cond delay="299"/>
                                          </p:stCondLst>
                                        </p:cTn>
                                        <p:tgtEl>
                                          <p:spTgt spid="933928">
                                            <p:txEl>
                                              <p:pRg st="4" end="4"/>
                                            </p:txEl>
                                          </p:spTgt>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iterate type="wd">
                                    <p:tmAbs val="300"/>
                                  </p:iterate>
                                  <p:childTnLst>
                                    <p:set>
                                      <p:cBhvr>
                                        <p:cTn id="27" dur="1" fill="hold">
                                          <p:stCondLst>
                                            <p:cond delay="299"/>
                                          </p:stCondLst>
                                        </p:cTn>
                                        <p:tgtEl>
                                          <p:spTgt spid="933928">
                                            <p:txEl>
                                              <p:pRg st="5" end="5"/>
                                            </p:txEl>
                                          </p:spTgt>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iterate type="wd">
                                    <p:tmAbs val="300"/>
                                  </p:iterate>
                                  <p:childTnLst>
                                    <p:set>
                                      <p:cBhvr>
                                        <p:cTn id="31" dur="1" fill="hold">
                                          <p:stCondLst>
                                            <p:cond delay="299"/>
                                          </p:stCondLst>
                                        </p:cTn>
                                        <p:tgtEl>
                                          <p:spTgt spid="933928">
                                            <p:txEl>
                                              <p:pRg st="6" end="6"/>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iterate type="wd">
                                    <p:tmAbs val="300"/>
                                  </p:iterate>
                                  <p:childTnLst>
                                    <p:set>
                                      <p:cBhvr>
                                        <p:cTn id="35" dur="1" fill="hold">
                                          <p:stCondLst>
                                            <p:cond delay="299"/>
                                          </p:stCondLst>
                                        </p:cTn>
                                        <p:tgtEl>
                                          <p:spTgt spid="933928">
                                            <p:txEl>
                                              <p:pRg st="8" end="8"/>
                                            </p:txEl>
                                          </p:spTgt>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iterate type="wd">
                                    <p:tmAbs val="300"/>
                                  </p:iterate>
                                  <p:childTnLst>
                                    <p:set>
                                      <p:cBhvr>
                                        <p:cTn id="39" dur="1" fill="hold">
                                          <p:stCondLst>
                                            <p:cond delay="299"/>
                                          </p:stCondLst>
                                        </p:cTn>
                                        <p:tgtEl>
                                          <p:spTgt spid="933928">
                                            <p:txEl>
                                              <p:pRg st="9" end="9"/>
                                            </p:txEl>
                                          </p:spTgt>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iterate type="wd">
                                    <p:tmAbs val="300"/>
                                  </p:iterate>
                                  <p:childTnLst>
                                    <p:set>
                                      <p:cBhvr>
                                        <p:cTn id="43" dur="1" fill="hold">
                                          <p:stCondLst>
                                            <p:cond delay="299"/>
                                          </p:stCondLst>
                                        </p:cTn>
                                        <p:tgtEl>
                                          <p:spTgt spid="933928">
                                            <p:txEl>
                                              <p:pRg st="10" end="10"/>
                                            </p:txEl>
                                          </p:spTgt>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iterate type="wd">
                                    <p:tmAbs val="300"/>
                                  </p:iterate>
                                  <p:childTnLst>
                                    <p:set>
                                      <p:cBhvr>
                                        <p:cTn id="47" dur="1" fill="hold">
                                          <p:stCondLst>
                                            <p:cond delay="299"/>
                                          </p:stCondLst>
                                        </p:cTn>
                                        <p:tgtEl>
                                          <p:spTgt spid="933928">
                                            <p:txEl>
                                              <p:pRg st="12" end="12"/>
                                            </p:txEl>
                                          </p:spTgt>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iterate type="wd">
                                    <p:tmAbs val="300"/>
                                  </p:iterate>
                                  <p:childTnLst>
                                    <p:set>
                                      <p:cBhvr>
                                        <p:cTn id="51" dur="1" fill="hold">
                                          <p:stCondLst>
                                            <p:cond delay="299"/>
                                          </p:stCondLst>
                                        </p:cTn>
                                        <p:tgtEl>
                                          <p:spTgt spid="933928">
                                            <p:txEl>
                                              <p:pRg st="13" end="13"/>
                                            </p:txEl>
                                          </p:spTgt>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9" presetClass="entr" presetSubtype="0" fill="hold" nodeType="clickEffect">
                                  <p:stCondLst>
                                    <p:cond delay="0"/>
                                  </p:stCondLst>
                                  <p:childTnLst>
                                    <p:set>
                                      <p:cBhvr>
                                        <p:cTn id="55" dur="1" fill="hold">
                                          <p:stCondLst>
                                            <p:cond delay="0"/>
                                          </p:stCondLst>
                                        </p:cTn>
                                        <p:tgtEl>
                                          <p:spTgt spid="12"/>
                                        </p:tgtEl>
                                        <p:attrNameLst>
                                          <p:attrName>style.visibility</p:attrName>
                                        </p:attrNameLst>
                                      </p:cBhvr>
                                      <p:to>
                                        <p:strVal val="visible"/>
                                      </p:to>
                                    </p:set>
                                    <p:animEffect transition="in" filter="dissolve">
                                      <p:cBhvr>
                                        <p:cTn id="56"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3928" grpId="0" build="p"/>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9316" name="Rectangle 4"/>
          <p:cNvSpPr>
            <a:spLocks noChangeArrowheads="1"/>
          </p:cNvSpPr>
          <p:nvPr/>
        </p:nvSpPr>
        <p:spPr bwMode="auto">
          <a:xfrm>
            <a:off x="4735513" y="1225550"/>
            <a:ext cx="2667000" cy="45720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rgbClr val="FFC000"/>
                </a:solidFill>
                <a:effectLst/>
                <a:uLnTx/>
                <a:uFillTx/>
                <a:latin typeface="+mn-lt"/>
                <a:ea typeface="+mn-ea"/>
                <a:cs typeface="+mn-ea"/>
                <a:sym typeface="+mn-lt"/>
              </a:rPr>
              <a:t>D           L            R</a:t>
            </a:r>
          </a:p>
        </p:txBody>
      </p:sp>
      <p:grpSp>
        <p:nvGrpSpPr>
          <p:cNvPr id="2" name="Group 5"/>
          <p:cNvGrpSpPr/>
          <p:nvPr/>
        </p:nvGrpSpPr>
        <p:grpSpPr>
          <a:xfrm>
            <a:off x="4735513" y="1606550"/>
            <a:ext cx="457200" cy="1066800"/>
            <a:chOff x="2880" y="1248"/>
            <a:chExt cx="288" cy="672"/>
          </a:xfrm>
        </p:grpSpPr>
        <p:sp>
          <p:nvSpPr>
            <p:cNvPr id="51204" name="Line 6"/>
            <p:cNvSpPr>
              <a:spLocks noChangeShapeType="1"/>
            </p:cNvSpPr>
            <p:nvPr/>
          </p:nvSpPr>
          <p:spPr bwMode="auto">
            <a:xfrm>
              <a:off x="3024" y="1248"/>
              <a:ext cx="0" cy="432"/>
            </a:xfrm>
            <a:prstGeom prst="line">
              <a:avLst/>
            </a:prstGeom>
            <a:noFill/>
            <a:ln w="19050">
              <a:solidFill>
                <a:srgbClr val="FF66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205" name="Oval 7"/>
            <p:cNvSpPr>
              <a:spLocks noChangeArrowheads="1"/>
            </p:cNvSpPr>
            <p:nvPr/>
          </p:nvSpPr>
          <p:spPr bwMode="auto">
            <a:xfrm>
              <a:off x="2880" y="1680"/>
              <a:ext cx="288" cy="240"/>
            </a:xfrm>
            <a:prstGeom prst="ellipse">
              <a:avLst/>
            </a:prstGeom>
            <a:solidFill>
              <a:srgbClr val="FF9933"/>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A</a:t>
              </a:r>
            </a:p>
          </p:txBody>
        </p:sp>
      </p:grpSp>
      <p:grpSp>
        <p:nvGrpSpPr>
          <p:cNvPr id="3" name="Group 8"/>
          <p:cNvGrpSpPr/>
          <p:nvPr/>
        </p:nvGrpSpPr>
        <p:grpSpPr>
          <a:xfrm>
            <a:off x="5268913" y="1606550"/>
            <a:ext cx="1524000" cy="1447800"/>
            <a:chOff x="3216" y="1248"/>
            <a:chExt cx="960" cy="912"/>
          </a:xfrm>
        </p:grpSpPr>
        <p:sp>
          <p:nvSpPr>
            <p:cNvPr id="51207" name="Line 9"/>
            <p:cNvSpPr>
              <a:spLocks noChangeShapeType="1"/>
            </p:cNvSpPr>
            <p:nvPr/>
          </p:nvSpPr>
          <p:spPr bwMode="auto">
            <a:xfrm>
              <a:off x="3696" y="1248"/>
              <a:ext cx="0" cy="432"/>
            </a:xfrm>
            <a:prstGeom prst="line">
              <a:avLst/>
            </a:prstGeom>
            <a:noFill/>
            <a:ln w="19050">
              <a:solidFill>
                <a:schemeClr val="accent2"/>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52280" name="Group 10"/>
            <p:cNvGrpSpPr/>
            <p:nvPr/>
          </p:nvGrpSpPr>
          <p:grpSpPr>
            <a:xfrm>
              <a:off x="3408" y="1680"/>
              <a:ext cx="576" cy="240"/>
              <a:chOff x="3408" y="1680"/>
              <a:chExt cx="576" cy="240"/>
            </a:xfrm>
          </p:grpSpPr>
          <p:sp>
            <p:nvSpPr>
              <p:cNvPr id="51209" name="Line 11"/>
              <p:cNvSpPr>
                <a:spLocks noChangeShapeType="1"/>
              </p:cNvSpPr>
              <p:nvPr/>
            </p:nvSpPr>
            <p:spPr bwMode="auto">
              <a:xfrm>
                <a:off x="3408" y="1680"/>
                <a:ext cx="57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210" name="Line 12"/>
              <p:cNvSpPr>
                <a:spLocks noChangeShapeType="1"/>
              </p:cNvSpPr>
              <p:nvPr/>
            </p:nvSpPr>
            <p:spPr bwMode="auto">
              <a:xfrm>
                <a:off x="3408" y="1680"/>
                <a:ext cx="0" cy="24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211" name="Line 13"/>
              <p:cNvSpPr>
                <a:spLocks noChangeShapeType="1"/>
              </p:cNvSpPr>
              <p:nvPr/>
            </p:nvSpPr>
            <p:spPr bwMode="auto">
              <a:xfrm>
                <a:off x="3984" y="1680"/>
                <a:ext cx="0" cy="24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1212" name="Rectangle 14"/>
            <p:cNvSpPr>
              <a:spLocks noChangeArrowheads="1"/>
            </p:cNvSpPr>
            <p:nvPr/>
          </p:nvSpPr>
          <p:spPr bwMode="auto">
            <a:xfrm>
              <a:off x="3216" y="1920"/>
              <a:ext cx="960" cy="24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rgbClr val="FFC000"/>
                  </a:solidFill>
                  <a:effectLst/>
                  <a:uLnTx/>
                  <a:uFillTx/>
                  <a:latin typeface="+mn-lt"/>
                  <a:ea typeface="+mn-ea"/>
                  <a:cs typeface="+mn-ea"/>
                  <a:sym typeface="+mn-lt"/>
                </a:rPr>
                <a:t>D    L   R</a:t>
              </a:r>
            </a:p>
          </p:txBody>
        </p:sp>
      </p:grpSp>
      <p:grpSp>
        <p:nvGrpSpPr>
          <p:cNvPr id="5" name="Group 15"/>
          <p:cNvGrpSpPr/>
          <p:nvPr/>
        </p:nvGrpSpPr>
        <p:grpSpPr>
          <a:xfrm>
            <a:off x="6107113" y="3054350"/>
            <a:ext cx="1447800" cy="1447800"/>
            <a:chOff x="3744" y="2160"/>
            <a:chExt cx="912" cy="912"/>
          </a:xfrm>
        </p:grpSpPr>
        <p:grpSp>
          <p:nvGrpSpPr>
            <p:cNvPr id="52273" name="Group 16"/>
            <p:cNvGrpSpPr/>
            <p:nvPr/>
          </p:nvGrpSpPr>
          <p:grpSpPr>
            <a:xfrm>
              <a:off x="3888" y="2592"/>
              <a:ext cx="576" cy="240"/>
              <a:chOff x="3888" y="2592"/>
              <a:chExt cx="576" cy="240"/>
            </a:xfrm>
          </p:grpSpPr>
          <p:sp>
            <p:nvSpPr>
              <p:cNvPr id="51215" name="Line 17"/>
              <p:cNvSpPr>
                <a:spLocks noChangeShapeType="1"/>
              </p:cNvSpPr>
              <p:nvPr/>
            </p:nvSpPr>
            <p:spPr bwMode="auto">
              <a:xfrm>
                <a:off x="3888" y="2592"/>
                <a:ext cx="57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216" name="Line 18"/>
              <p:cNvSpPr>
                <a:spLocks noChangeShapeType="1"/>
              </p:cNvSpPr>
              <p:nvPr/>
            </p:nvSpPr>
            <p:spPr bwMode="auto">
              <a:xfrm>
                <a:off x="3888" y="2592"/>
                <a:ext cx="0" cy="24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217" name="Line 19"/>
              <p:cNvSpPr>
                <a:spLocks noChangeShapeType="1"/>
              </p:cNvSpPr>
              <p:nvPr/>
            </p:nvSpPr>
            <p:spPr bwMode="auto">
              <a:xfrm>
                <a:off x="4464" y="2592"/>
                <a:ext cx="0" cy="24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1218" name="Rectangle 20"/>
            <p:cNvSpPr>
              <a:spLocks noChangeArrowheads="1"/>
            </p:cNvSpPr>
            <p:nvPr/>
          </p:nvSpPr>
          <p:spPr bwMode="auto">
            <a:xfrm>
              <a:off x="3744" y="2832"/>
              <a:ext cx="912" cy="24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rgbClr val="FFC000"/>
                  </a:solidFill>
                  <a:effectLst/>
                  <a:uLnTx/>
                  <a:uFillTx/>
                  <a:latin typeface="+mn-lt"/>
                  <a:ea typeface="+mn-ea"/>
                  <a:cs typeface="+mn-ea"/>
                  <a:sym typeface="+mn-lt"/>
                </a:rPr>
                <a:t>D    L   R</a:t>
              </a:r>
            </a:p>
          </p:txBody>
        </p:sp>
        <p:sp>
          <p:nvSpPr>
            <p:cNvPr id="51219" name="Line 21"/>
            <p:cNvSpPr>
              <a:spLocks noChangeShapeType="1"/>
            </p:cNvSpPr>
            <p:nvPr/>
          </p:nvSpPr>
          <p:spPr bwMode="auto">
            <a:xfrm>
              <a:off x="3984" y="2160"/>
              <a:ext cx="0" cy="432"/>
            </a:xfrm>
            <a:prstGeom prst="line">
              <a:avLst/>
            </a:prstGeom>
            <a:noFill/>
            <a:ln w="19050">
              <a:solidFill>
                <a:srgbClr val="CC0099"/>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 name="Group 22"/>
          <p:cNvGrpSpPr/>
          <p:nvPr/>
        </p:nvGrpSpPr>
        <p:grpSpPr>
          <a:xfrm>
            <a:off x="5802313" y="3054350"/>
            <a:ext cx="457200" cy="990600"/>
            <a:chOff x="3552" y="2160"/>
            <a:chExt cx="288" cy="624"/>
          </a:xfrm>
        </p:grpSpPr>
        <p:sp>
          <p:nvSpPr>
            <p:cNvPr id="51221" name="Text Box 23"/>
            <p:cNvSpPr txBox="1">
              <a:spLocks noChangeArrowheads="1"/>
            </p:cNvSpPr>
            <p:nvPr/>
          </p:nvSpPr>
          <p:spPr bwMode="auto">
            <a:xfrm rot="-5503572">
              <a:off x="3576" y="2520"/>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&gt;</a:t>
              </a:r>
            </a:p>
          </p:txBody>
        </p:sp>
        <p:sp>
          <p:nvSpPr>
            <p:cNvPr id="51222" name="Line 24"/>
            <p:cNvSpPr>
              <a:spLocks noChangeShapeType="1"/>
            </p:cNvSpPr>
            <p:nvPr/>
          </p:nvSpPr>
          <p:spPr bwMode="auto">
            <a:xfrm>
              <a:off x="3696" y="2160"/>
              <a:ext cx="0" cy="432"/>
            </a:xfrm>
            <a:prstGeom prst="line">
              <a:avLst/>
            </a:prstGeom>
            <a:noFill/>
            <a:ln w="19050">
              <a:solidFill>
                <a:schemeClr val="accent2"/>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 name="Group 25"/>
          <p:cNvGrpSpPr/>
          <p:nvPr/>
        </p:nvGrpSpPr>
        <p:grpSpPr>
          <a:xfrm>
            <a:off x="5345113" y="3054350"/>
            <a:ext cx="457200" cy="1066800"/>
            <a:chOff x="3264" y="2160"/>
            <a:chExt cx="288" cy="672"/>
          </a:xfrm>
        </p:grpSpPr>
        <p:sp>
          <p:nvSpPr>
            <p:cNvPr id="51224" name="Oval 26"/>
            <p:cNvSpPr>
              <a:spLocks noChangeArrowheads="1"/>
            </p:cNvSpPr>
            <p:nvPr/>
          </p:nvSpPr>
          <p:spPr bwMode="auto">
            <a:xfrm>
              <a:off x="3264" y="2592"/>
              <a:ext cx="288" cy="240"/>
            </a:xfrm>
            <a:prstGeom prst="ellipse">
              <a:avLst/>
            </a:prstGeom>
            <a:solidFill>
              <a:srgbClr val="FF9933"/>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51225" name="Line 27"/>
            <p:cNvSpPr>
              <a:spLocks noChangeShapeType="1"/>
            </p:cNvSpPr>
            <p:nvPr/>
          </p:nvSpPr>
          <p:spPr bwMode="auto">
            <a:xfrm>
              <a:off x="3408" y="2160"/>
              <a:ext cx="0" cy="432"/>
            </a:xfrm>
            <a:prstGeom prst="line">
              <a:avLst/>
            </a:prstGeom>
            <a:noFill/>
            <a:ln w="19050">
              <a:solidFill>
                <a:srgbClr val="FF66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9" name="Group 28"/>
          <p:cNvGrpSpPr/>
          <p:nvPr/>
        </p:nvGrpSpPr>
        <p:grpSpPr>
          <a:xfrm>
            <a:off x="7097713" y="4502150"/>
            <a:ext cx="457200" cy="990600"/>
            <a:chOff x="4368" y="3072"/>
            <a:chExt cx="288" cy="624"/>
          </a:xfrm>
        </p:grpSpPr>
        <p:sp>
          <p:nvSpPr>
            <p:cNvPr id="51227" name="Text Box 29"/>
            <p:cNvSpPr txBox="1">
              <a:spLocks noChangeArrowheads="1"/>
            </p:cNvSpPr>
            <p:nvPr/>
          </p:nvSpPr>
          <p:spPr bwMode="auto">
            <a:xfrm rot="-5503572">
              <a:off x="4392" y="3432"/>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&gt;</a:t>
              </a:r>
            </a:p>
          </p:txBody>
        </p:sp>
        <p:sp>
          <p:nvSpPr>
            <p:cNvPr id="51228" name="Line 30"/>
            <p:cNvSpPr>
              <a:spLocks noChangeShapeType="1"/>
            </p:cNvSpPr>
            <p:nvPr/>
          </p:nvSpPr>
          <p:spPr bwMode="auto">
            <a:xfrm>
              <a:off x="4512" y="3072"/>
              <a:ext cx="0" cy="432"/>
            </a:xfrm>
            <a:prstGeom prst="line">
              <a:avLst/>
            </a:prstGeom>
            <a:noFill/>
            <a:ln w="19050">
              <a:solidFill>
                <a:srgbClr val="CC0099"/>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0" name="Group 31"/>
          <p:cNvGrpSpPr/>
          <p:nvPr/>
        </p:nvGrpSpPr>
        <p:grpSpPr>
          <a:xfrm>
            <a:off x="6640513" y="4502150"/>
            <a:ext cx="457200" cy="990600"/>
            <a:chOff x="4080" y="3072"/>
            <a:chExt cx="288" cy="624"/>
          </a:xfrm>
        </p:grpSpPr>
        <p:sp>
          <p:nvSpPr>
            <p:cNvPr id="51230" name="Text Box 32"/>
            <p:cNvSpPr txBox="1">
              <a:spLocks noChangeArrowheads="1"/>
            </p:cNvSpPr>
            <p:nvPr/>
          </p:nvSpPr>
          <p:spPr bwMode="auto">
            <a:xfrm rot="-5503572">
              <a:off x="4104" y="3432"/>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&gt;</a:t>
              </a:r>
            </a:p>
          </p:txBody>
        </p:sp>
        <p:sp>
          <p:nvSpPr>
            <p:cNvPr id="51231" name="Line 33"/>
            <p:cNvSpPr>
              <a:spLocks noChangeShapeType="1"/>
            </p:cNvSpPr>
            <p:nvPr/>
          </p:nvSpPr>
          <p:spPr bwMode="auto">
            <a:xfrm>
              <a:off x="4224" y="3072"/>
              <a:ext cx="0" cy="432"/>
            </a:xfrm>
            <a:prstGeom prst="line">
              <a:avLst/>
            </a:prstGeom>
            <a:noFill/>
            <a:ln w="19050">
              <a:solidFill>
                <a:schemeClr val="accent2"/>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1" name="Group 34"/>
          <p:cNvGrpSpPr/>
          <p:nvPr/>
        </p:nvGrpSpPr>
        <p:grpSpPr>
          <a:xfrm>
            <a:off x="6183313" y="4502150"/>
            <a:ext cx="457200" cy="1066800"/>
            <a:chOff x="3792" y="3072"/>
            <a:chExt cx="288" cy="672"/>
          </a:xfrm>
        </p:grpSpPr>
        <p:sp>
          <p:nvSpPr>
            <p:cNvPr id="51233" name="Oval 35"/>
            <p:cNvSpPr>
              <a:spLocks noChangeArrowheads="1"/>
            </p:cNvSpPr>
            <p:nvPr/>
          </p:nvSpPr>
          <p:spPr bwMode="auto">
            <a:xfrm>
              <a:off x="3792" y="3504"/>
              <a:ext cx="288" cy="240"/>
            </a:xfrm>
            <a:prstGeom prst="ellipse">
              <a:avLst/>
            </a:prstGeom>
            <a:solidFill>
              <a:srgbClr val="FF9933"/>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D</a:t>
              </a:r>
            </a:p>
          </p:txBody>
        </p:sp>
        <p:sp>
          <p:nvSpPr>
            <p:cNvPr id="51234" name="Line 36"/>
            <p:cNvSpPr>
              <a:spLocks noChangeShapeType="1"/>
            </p:cNvSpPr>
            <p:nvPr/>
          </p:nvSpPr>
          <p:spPr bwMode="auto">
            <a:xfrm>
              <a:off x="3936" y="3072"/>
              <a:ext cx="0" cy="432"/>
            </a:xfrm>
            <a:prstGeom prst="line">
              <a:avLst/>
            </a:prstGeom>
            <a:noFill/>
            <a:ln w="19050">
              <a:solidFill>
                <a:srgbClr val="FF66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2" name="Group 37"/>
          <p:cNvGrpSpPr/>
          <p:nvPr/>
        </p:nvGrpSpPr>
        <p:grpSpPr>
          <a:xfrm>
            <a:off x="8545513" y="3054350"/>
            <a:ext cx="457200" cy="990600"/>
            <a:chOff x="5280" y="2160"/>
            <a:chExt cx="288" cy="624"/>
          </a:xfrm>
        </p:grpSpPr>
        <p:sp>
          <p:nvSpPr>
            <p:cNvPr id="51236" name="Text Box 38"/>
            <p:cNvSpPr txBox="1">
              <a:spLocks noChangeArrowheads="1"/>
            </p:cNvSpPr>
            <p:nvPr/>
          </p:nvSpPr>
          <p:spPr bwMode="auto">
            <a:xfrm rot="-5503572">
              <a:off x="5304" y="2520"/>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&gt;</a:t>
              </a:r>
            </a:p>
          </p:txBody>
        </p:sp>
        <p:sp>
          <p:nvSpPr>
            <p:cNvPr id="51237" name="Line 39"/>
            <p:cNvSpPr>
              <a:spLocks noChangeShapeType="1"/>
            </p:cNvSpPr>
            <p:nvPr/>
          </p:nvSpPr>
          <p:spPr bwMode="auto">
            <a:xfrm>
              <a:off x="5424" y="2160"/>
              <a:ext cx="0" cy="432"/>
            </a:xfrm>
            <a:prstGeom prst="line">
              <a:avLst/>
            </a:prstGeom>
            <a:noFill/>
            <a:ln w="19050">
              <a:solidFill>
                <a:srgbClr val="CC0099"/>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3" name="Group 40"/>
          <p:cNvGrpSpPr/>
          <p:nvPr/>
        </p:nvGrpSpPr>
        <p:grpSpPr>
          <a:xfrm>
            <a:off x="8088313" y="3054350"/>
            <a:ext cx="457200" cy="990600"/>
            <a:chOff x="4992" y="2160"/>
            <a:chExt cx="288" cy="624"/>
          </a:xfrm>
        </p:grpSpPr>
        <p:sp>
          <p:nvSpPr>
            <p:cNvPr id="51239" name="Text Box 41"/>
            <p:cNvSpPr txBox="1">
              <a:spLocks noChangeArrowheads="1"/>
            </p:cNvSpPr>
            <p:nvPr/>
          </p:nvSpPr>
          <p:spPr bwMode="auto">
            <a:xfrm rot="-5503572">
              <a:off x="5016" y="2520"/>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&gt;</a:t>
              </a:r>
            </a:p>
          </p:txBody>
        </p:sp>
        <p:sp>
          <p:nvSpPr>
            <p:cNvPr id="51240" name="Line 42"/>
            <p:cNvSpPr>
              <a:spLocks noChangeShapeType="1"/>
            </p:cNvSpPr>
            <p:nvPr/>
          </p:nvSpPr>
          <p:spPr bwMode="auto">
            <a:xfrm>
              <a:off x="5136" y="2160"/>
              <a:ext cx="0" cy="432"/>
            </a:xfrm>
            <a:prstGeom prst="line">
              <a:avLst/>
            </a:prstGeom>
            <a:noFill/>
            <a:ln w="19050">
              <a:solidFill>
                <a:schemeClr val="accent2"/>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4" name="Group 43"/>
          <p:cNvGrpSpPr/>
          <p:nvPr/>
        </p:nvGrpSpPr>
        <p:grpSpPr>
          <a:xfrm>
            <a:off x="7631113" y="3054350"/>
            <a:ext cx="457200" cy="1066800"/>
            <a:chOff x="4704" y="2160"/>
            <a:chExt cx="288" cy="672"/>
          </a:xfrm>
        </p:grpSpPr>
        <p:sp>
          <p:nvSpPr>
            <p:cNvPr id="51242" name="Oval 44"/>
            <p:cNvSpPr>
              <a:spLocks noChangeArrowheads="1"/>
            </p:cNvSpPr>
            <p:nvPr/>
          </p:nvSpPr>
          <p:spPr bwMode="auto">
            <a:xfrm>
              <a:off x="4704" y="2592"/>
              <a:ext cx="288" cy="240"/>
            </a:xfrm>
            <a:prstGeom prst="ellipse">
              <a:avLst/>
            </a:prstGeom>
            <a:solidFill>
              <a:srgbClr val="FF9933"/>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C</a:t>
              </a:r>
            </a:p>
          </p:txBody>
        </p:sp>
        <p:sp>
          <p:nvSpPr>
            <p:cNvPr id="51243" name="Line 45"/>
            <p:cNvSpPr>
              <a:spLocks noChangeShapeType="1"/>
            </p:cNvSpPr>
            <p:nvPr/>
          </p:nvSpPr>
          <p:spPr bwMode="auto">
            <a:xfrm>
              <a:off x="4848" y="2160"/>
              <a:ext cx="0" cy="432"/>
            </a:xfrm>
            <a:prstGeom prst="line">
              <a:avLst/>
            </a:prstGeom>
            <a:noFill/>
            <a:ln w="19050">
              <a:solidFill>
                <a:srgbClr val="FF66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5" name="Group 46"/>
          <p:cNvGrpSpPr/>
          <p:nvPr/>
        </p:nvGrpSpPr>
        <p:grpSpPr>
          <a:xfrm>
            <a:off x="7326313" y="1454150"/>
            <a:ext cx="1676400" cy="1600200"/>
            <a:chOff x="4512" y="1152"/>
            <a:chExt cx="1056" cy="1008"/>
          </a:xfrm>
        </p:grpSpPr>
        <p:sp>
          <p:nvSpPr>
            <p:cNvPr id="51245" name="Line 47"/>
            <p:cNvSpPr>
              <a:spLocks noChangeShapeType="1"/>
            </p:cNvSpPr>
            <p:nvPr/>
          </p:nvSpPr>
          <p:spPr bwMode="auto">
            <a:xfrm>
              <a:off x="4512" y="1152"/>
              <a:ext cx="528" cy="0"/>
            </a:xfrm>
            <a:prstGeom prst="line">
              <a:avLst/>
            </a:prstGeom>
            <a:noFill/>
            <a:ln w="19050">
              <a:solidFill>
                <a:srgbClr val="CC0099"/>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52251" name="Group 48"/>
            <p:cNvGrpSpPr/>
            <p:nvPr/>
          </p:nvGrpSpPr>
          <p:grpSpPr>
            <a:xfrm>
              <a:off x="4800" y="1680"/>
              <a:ext cx="576" cy="240"/>
              <a:chOff x="4800" y="1680"/>
              <a:chExt cx="576" cy="240"/>
            </a:xfrm>
          </p:grpSpPr>
          <p:sp>
            <p:nvSpPr>
              <p:cNvPr id="51247" name="Line 49"/>
              <p:cNvSpPr>
                <a:spLocks noChangeShapeType="1"/>
              </p:cNvSpPr>
              <p:nvPr/>
            </p:nvSpPr>
            <p:spPr bwMode="auto">
              <a:xfrm>
                <a:off x="4800" y="1680"/>
                <a:ext cx="57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248" name="Line 50"/>
              <p:cNvSpPr>
                <a:spLocks noChangeShapeType="1"/>
              </p:cNvSpPr>
              <p:nvPr/>
            </p:nvSpPr>
            <p:spPr bwMode="auto">
              <a:xfrm>
                <a:off x="4800" y="1680"/>
                <a:ext cx="0" cy="24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249" name="Line 51"/>
              <p:cNvSpPr>
                <a:spLocks noChangeShapeType="1"/>
              </p:cNvSpPr>
              <p:nvPr/>
            </p:nvSpPr>
            <p:spPr bwMode="auto">
              <a:xfrm>
                <a:off x="5376" y="1680"/>
                <a:ext cx="0" cy="24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1250" name="Rectangle 52"/>
            <p:cNvSpPr>
              <a:spLocks noChangeArrowheads="1"/>
            </p:cNvSpPr>
            <p:nvPr/>
          </p:nvSpPr>
          <p:spPr bwMode="auto">
            <a:xfrm>
              <a:off x="4656" y="1920"/>
              <a:ext cx="912" cy="24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rgbClr val="FFC000"/>
                  </a:solidFill>
                  <a:effectLst/>
                  <a:uLnTx/>
                  <a:uFillTx/>
                  <a:latin typeface="+mn-lt"/>
                  <a:ea typeface="+mn-ea"/>
                  <a:cs typeface="+mn-ea"/>
                  <a:sym typeface="+mn-lt"/>
                </a:rPr>
                <a:t>D    L   R</a:t>
              </a:r>
            </a:p>
          </p:txBody>
        </p:sp>
        <p:sp>
          <p:nvSpPr>
            <p:cNvPr id="51251" name="Line 53"/>
            <p:cNvSpPr>
              <a:spLocks noChangeShapeType="1"/>
            </p:cNvSpPr>
            <p:nvPr/>
          </p:nvSpPr>
          <p:spPr bwMode="auto">
            <a:xfrm>
              <a:off x="5040" y="1152"/>
              <a:ext cx="0" cy="528"/>
            </a:xfrm>
            <a:prstGeom prst="line">
              <a:avLst/>
            </a:prstGeom>
            <a:noFill/>
            <a:ln w="19050">
              <a:solidFill>
                <a:srgbClr val="CC0099"/>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52239" name="Group 54"/>
          <p:cNvGrpSpPr/>
          <p:nvPr/>
        </p:nvGrpSpPr>
        <p:grpSpPr>
          <a:xfrm>
            <a:off x="633413" y="4159250"/>
            <a:ext cx="3060700" cy="2362200"/>
            <a:chOff x="492" y="384"/>
            <a:chExt cx="1928" cy="1488"/>
          </a:xfrm>
        </p:grpSpPr>
        <p:sp>
          <p:nvSpPr>
            <p:cNvPr id="51253" name="Oval 55"/>
            <p:cNvSpPr>
              <a:spLocks noChangeArrowheads="1"/>
            </p:cNvSpPr>
            <p:nvPr/>
          </p:nvSpPr>
          <p:spPr bwMode="auto">
            <a:xfrm>
              <a:off x="1212" y="384"/>
              <a:ext cx="384" cy="384"/>
            </a:xfrm>
            <a:prstGeom prst="ellipse">
              <a:avLst/>
            </a:prstGeom>
            <a:solidFill>
              <a:srgbClr val="FFFFCC"/>
            </a:solidFill>
            <a:ln w="19050">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A</a:t>
              </a:r>
            </a:p>
          </p:txBody>
        </p:sp>
        <p:sp>
          <p:nvSpPr>
            <p:cNvPr id="51254" name="Oval 56"/>
            <p:cNvSpPr>
              <a:spLocks noChangeArrowheads="1"/>
            </p:cNvSpPr>
            <p:nvPr/>
          </p:nvSpPr>
          <p:spPr bwMode="auto">
            <a:xfrm>
              <a:off x="1164" y="1488"/>
              <a:ext cx="384" cy="384"/>
            </a:xfrm>
            <a:prstGeom prst="ellipse">
              <a:avLst/>
            </a:prstGeom>
            <a:solidFill>
              <a:srgbClr val="FFFFCC"/>
            </a:solidFill>
            <a:ln w="19050">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D</a:t>
              </a:r>
            </a:p>
          </p:txBody>
        </p:sp>
        <p:sp>
          <p:nvSpPr>
            <p:cNvPr id="51255" name="Oval 57"/>
            <p:cNvSpPr>
              <a:spLocks noChangeArrowheads="1"/>
            </p:cNvSpPr>
            <p:nvPr/>
          </p:nvSpPr>
          <p:spPr bwMode="auto">
            <a:xfrm>
              <a:off x="492" y="1104"/>
              <a:ext cx="384" cy="384"/>
            </a:xfrm>
            <a:prstGeom prst="ellipse">
              <a:avLst/>
            </a:prstGeom>
            <a:solidFill>
              <a:srgbClr val="FFFFCC"/>
            </a:solidFill>
            <a:ln w="19050">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51256" name="Oval 58"/>
            <p:cNvSpPr>
              <a:spLocks noChangeArrowheads="1"/>
            </p:cNvSpPr>
            <p:nvPr/>
          </p:nvSpPr>
          <p:spPr bwMode="auto">
            <a:xfrm>
              <a:off x="2036" y="1064"/>
              <a:ext cx="384" cy="384"/>
            </a:xfrm>
            <a:prstGeom prst="ellipse">
              <a:avLst/>
            </a:prstGeom>
            <a:solidFill>
              <a:srgbClr val="FFFFCC"/>
            </a:solidFill>
            <a:ln w="19050">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C</a:t>
              </a:r>
            </a:p>
          </p:txBody>
        </p:sp>
        <p:sp>
          <p:nvSpPr>
            <p:cNvPr id="51257" name="Line 59"/>
            <p:cNvSpPr>
              <a:spLocks noChangeShapeType="1"/>
            </p:cNvSpPr>
            <p:nvPr/>
          </p:nvSpPr>
          <p:spPr bwMode="auto">
            <a:xfrm flipH="1">
              <a:off x="780" y="720"/>
              <a:ext cx="480" cy="43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258" name="Line 60"/>
            <p:cNvSpPr>
              <a:spLocks noChangeShapeType="1"/>
            </p:cNvSpPr>
            <p:nvPr/>
          </p:nvSpPr>
          <p:spPr bwMode="auto">
            <a:xfrm>
              <a:off x="1548" y="720"/>
              <a:ext cx="576" cy="384"/>
            </a:xfrm>
            <a:prstGeom prst="line">
              <a:avLst/>
            </a:prstGeom>
            <a:noFill/>
            <a:ln w="19050">
              <a:solidFill>
                <a:srgbClr val="FF66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259" name="Line 61"/>
            <p:cNvSpPr>
              <a:spLocks noChangeShapeType="1"/>
            </p:cNvSpPr>
            <p:nvPr/>
          </p:nvSpPr>
          <p:spPr bwMode="auto">
            <a:xfrm>
              <a:off x="876" y="1392"/>
              <a:ext cx="336" cy="192"/>
            </a:xfrm>
            <a:prstGeom prst="line">
              <a:avLst/>
            </a:prstGeom>
            <a:noFill/>
            <a:ln w="19050">
              <a:solidFill>
                <a:srgbClr val="FF66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09374" name="Text Box 62"/>
          <p:cNvSpPr txBox="1">
            <a:spLocks noChangeArrowheads="1"/>
          </p:cNvSpPr>
          <p:nvPr/>
        </p:nvSpPr>
        <p:spPr bwMode="auto">
          <a:xfrm>
            <a:off x="4144963" y="5889625"/>
            <a:ext cx="4746625" cy="519113"/>
          </a:xfrm>
          <a:prstGeom prst="rect">
            <a:avLst/>
          </a:prstGeom>
          <a:noFill/>
          <a:ln w="9525">
            <a:noFill/>
            <a:miter lim="800000"/>
          </a:ln>
          <a:effectLst/>
        </p:spPr>
        <p:txBody>
          <a:bodyPr>
            <a:spAutoFit/>
          </a:bodyPr>
          <a:lstStyle/>
          <a:p>
            <a:pPr marR="0" defTabSz="914400" eaLnBrk="1" hangingPunct="1">
              <a:buClrTx/>
              <a:buSzTx/>
              <a:buFontTx/>
              <a:buNone/>
              <a:defRPr/>
            </a:pPr>
            <a:r>
              <a:rPr kumimoji="0" lang="zh-CN" altLang="en-US" b="0" kern="1200" cap="none" spc="0" normalizeH="0" baseline="0" noProof="0" dirty="0">
                <a:solidFill>
                  <a:schemeClr val="hlink"/>
                </a:solidFill>
                <a:latin typeface="+mn-lt"/>
                <a:ea typeface="+mn-ea"/>
                <a:cs typeface="+mn-ea"/>
                <a:sym typeface="+mn-lt"/>
              </a:rPr>
              <a:t>先序遍历序列：</a:t>
            </a:r>
            <a:r>
              <a:rPr kumimoji="0" lang="en-US" altLang="zh-CN" b="0" kern="1200" cap="none" spc="0" normalizeH="0" baseline="0" noProof="0" dirty="0">
                <a:solidFill>
                  <a:schemeClr val="hlink"/>
                </a:solidFill>
                <a:latin typeface="+mn-lt"/>
                <a:ea typeface="+mn-ea"/>
                <a:cs typeface="+mn-ea"/>
                <a:sym typeface="+mn-lt"/>
              </a:rPr>
              <a:t>A  B  D  C</a:t>
            </a:r>
          </a:p>
        </p:txBody>
      </p:sp>
      <p:sp>
        <p:nvSpPr>
          <p:cNvPr id="51261" name="Rectangle 63"/>
          <p:cNvSpPr>
            <a:spLocks noChangeArrowheads="1"/>
          </p:cNvSpPr>
          <p:nvPr/>
        </p:nvSpPr>
        <p:spPr bwMode="auto">
          <a:xfrm>
            <a:off x="188913" y="1238250"/>
            <a:ext cx="4356100" cy="2578100"/>
          </a:xfrm>
          <a:prstGeom prst="rect">
            <a:avLst/>
          </a:prstGeom>
          <a:noFill/>
          <a:ln w="38100">
            <a:solidFill>
              <a:srgbClr val="FF0000"/>
            </a:solidFill>
            <a:miter lim="800000"/>
          </a:ln>
          <a:extLst>
            <a:ext uri="{909E8E84-426E-40DD-AFC4-6F175D3DCCD1}">
              <a14:hiddenFill xmlns:a14="http://schemas.microsoft.com/office/drawing/2010/main">
                <a:solidFill>
                  <a:srgbClr val="FFFFFF"/>
                </a:solidFill>
              </a14:hiddenFill>
            </a:ext>
          </a:extLst>
        </p:spPr>
        <p:txBody>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3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若二叉树为空，则空操作</a:t>
            </a:r>
          </a:p>
          <a:p>
            <a:pPr marL="342900" marR="0" lvl="0" indent="-342900" algn="l" defTabSz="914400" rtl="0" eaLnBrk="0" fontAlgn="base" latinLnBrk="0" hangingPunct="0">
              <a:lnSpc>
                <a:spcPct val="13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否则</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a:r>
            <a:b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访问根结点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(D)</a:t>
            </a:r>
            <a:b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前序遍历左子树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(L)</a:t>
            </a:r>
            <a:b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前序遍历右子树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(R)</a:t>
            </a:r>
          </a:p>
        </p:txBody>
      </p:sp>
      <p:sp>
        <p:nvSpPr>
          <p:cNvPr id="909377" name="Rectangle 65"/>
          <p:cNvSpPr>
            <a:spLocks noChangeArrowheads="1"/>
          </p:cNvSpPr>
          <p:nvPr/>
        </p:nvSpPr>
        <p:spPr bwMode="auto">
          <a:xfrm>
            <a:off x="798513" y="190500"/>
            <a:ext cx="588327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遍历的算法实现－先序遍历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09316"/>
                                        </p:tgtEl>
                                        <p:attrNameLst>
                                          <p:attrName>style.visibility</p:attrName>
                                        </p:attrNameLst>
                                      </p:cBhvr>
                                      <p:to>
                                        <p:strVal val="visible"/>
                                      </p:to>
                                    </p:set>
                                    <p:animEffect transition="in" filter="dissolve">
                                      <p:cBhvr>
                                        <p:cTn id="7" dur="500"/>
                                        <p:tgtEl>
                                          <p:spTgt spid="909316"/>
                                        </p:tgtEl>
                                      </p:cBhvr>
                                    </p:animEffect>
                                  </p:childTnLst>
                                </p:cTn>
                              </p:par>
                            </p:childTnLst>
                          </p:cTn>
                        </p:par>
                      </p:childTnLst>
                    </p:cTn>
                  </p:par>
                  <p:par>
                    <p:cTn id="8" fill="hold">
                      <p:stCondLst>
                        <p:cond delay="indefinite"/>
                      </p:stCondLst>
                      <p:childTnLst>
                        <p:par>
                          <p:cTn id="9" fill="hold">
                            <p:stCondLst>
                              <p:cond delay="0"/>
                            </p:stCondLst>
                            <p:childTnLst>
                              <p:par>
                                <p:cTn id="10" presetID="17" presetClass="entr" presetSubtype="1"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p:cTn id="12" dur="500" fill="hold"/>
                                        <p:tgtEl>
                                          <p:spTgt spid="2"/>
                                        </p:tgtEl>
                                        <p:attrNameLst>
                                          <p:attrName>ppt_x</p:attrName>
                                        </p:attrNameLst>
                                      </p:cBhvr>
                                      <p:tavLst>
                                        <p:tav tm="0">
                                          <p:val>
                                            <p:strVal val="#ppt_x"/>
                                          </p:val>
                                        </p:tav>
                                        <p:tav tm="100000">
                                          <p:val>
                                            <p:strVal val="#ppt_x"/>
                                          </p:val>
                                        </p:tav>
                                      </p:tavLst>
                                    </p:anim>
                                    <p:anim calcmode="lin" valueType="num">
                                      <p:cBhvr>
                                        <p:cTn id="13" dur="500" fill="hold"/>
                                        <p:tgtEl>
                                          <p:spTgt spid="2"/>
                                        </p:tgtEl>
                                        <p:attrNameLst>
                                          <p:attrName>ppt_y</p:attrName>
                                        </p:attrNameLst>
                                      </p:cBhvr>
                                      <p:tavLst>
                                        <p:tav tm="0">
                                          <p:val>
                                            <p:strVal val="#ppt_y-#ppt_h/2"/>
                                          </p:val>
                                        </p:tav>
                                        <p:tav tm="100000">
                                          <p:val>
                                            <p:strVal val="#ppt_y"/>
                                          </p:val>
                                        </p:tav>
                                      </p:tavLst>
                                    </p:anim>
                                    <p:anim calcmode="lin" valueType="num">
                                      <p:cBhvr>
                                        <p:cTn id="14" dur="500" fill="hold"/>
                                        <p:tgtEl>
                                          <p:spTgt spid="2"/>
                                        </p:tgtEl>
                                        <p:attrNameLst>
                                          <p:attrName>ppt_w</p:attrName>
                                        </p:attrNameLst>
                                      </p:cBhvr>
                                      <p:tavLst>
                                        <p:tav tm="0">
                                          <p:val>
                                            <p:strVal val="#ppt_w"/>
                                          </p:val>
                                        </p:tav>
                                        <p:tav tm="100000">
                                          <p:val>
                                            <p:strVal val="#ppt_w"/>
                                          </p:val>
                                        </p:tav>
                                      </p:tavLst>
                                    </p:anim>
                                    <p:anim calcmode="lin" valueType="num">
                                      <p:cBhvr>
                                        <p:cTn id="15" dur="500" fill="hold"/>
                                        <p:tgtEl>
                                          <p:spTgt spid="2"/>
                                        </p:tgtEl>
                                        <p:attrNameLst>
                                          <p:attrName>ppt_h</p:attrName>
                                        </p:attrNameLst>
                                      </p:cBhvr>
                                      <p:tavLst>
                                        <p:tav tm="0">
                                          <p:val>
                                            <p:fltVal val="0"/>
                                          </p:val>
                                        </p:tav>
                                        <p:tav tm="100000">
                                          <p:val>
                                            <p:strVal val="#ppt_h"/>
                                          </p:val>
                                        </p:tav>
                                      </p:tavLst>
                                    </p:anim>
                                  </p:childTnLst>
                                </p:cTn>
                              </p:par>
                            </p:childTnLst>
                          </p:cTn>
                        </p:par>
                      </p:childTnLst>
                    </p:cTn>
                  </p:par>
                  <p:par>
                    <p:cTn id="16" fill="hold">
                      <p:stCondLst>
                        <p:cond delay="indefinite"/>
                      </p:stCondLst>
                      <p:childTnLst>
                        <p:par>
                          <p:cTn id="17" fill="hold">
                            <p:stCondLst>
                              <p:cond delay="0"/>
                            </p:stCondLst>
                            <p:childTnLst>
                              <p:par>
                                <p:cTn id="18" presetID="17" presetClass="entr" presetSubtype="1" fill="hold" nodeType="click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500" fill="hold"/>
                                        <p:tgtEl>
                                          <p:spTgt spid="3"/>
                                        </p:tgtEl>
                                        <p:attrNameLst>
                                          <p:attrName>ppt_x</p:attrName>
                                        </p:attrNameLst>
                                      </p:cBhvr>
                                      <p:tavLst>
                                        <p:tav tm="0">
                                          <p:val>
                                            <p:strVal val="#ppt_x"/>
                                          </p:val>
                                        </p:tav>
                                        <p:tav tm="100000">
                                          <p:val>
                                            <p:strVal val="#ppt_x"/>
                                          </p:val>
                                        </p:tav>
                                      </p:tavLst>
                                    </p:anim>
                                    <p:anim calcmode="lin" valueType="num">
                                      <p:cBhvr>
                                        <p:cTn id="21" dur="500" fill="hold"/>
                                        <p:tgtEl>
                                          <p:spTgt spid="3"/>
                                        </p:tgtEl>
                                        <p:attrNameLst>
                                          <p:attrName>ppt_y</p:attrName>
                                        </p:attrNameLst>
                                      </p:cBhvr>
                                      <p:tavLst>
                                        <p:tav tm="0">
                                          <p:val>
                                            <p:strVal val="#ppt_y-#ppt_h/2"/>
                                          </p:val>
                                        </p:tav>
                                        <p:tav tm="100000">
                                          <p:val>
                                            <p:strVal val="#ppt_y"/>
                                          </p:val>
                                        </p:tav>
                                      </p:tavLst>
                                    </p:anim>
                                    <p:anim calcmode="lin" valueType="num">
                                      <p:cBhvr>
                                        <p:cTn id="22" dur="500" fill="hold"/>
                                        <p:tgtEl>
                                          <p:spTgt spid="3"/>
                                        </p:tgtEl>
                                        <p:attrNameLst>
                                          <p:attrName>ppt_w</p:attrName>
                                        </p:attrNameLst>
                                      </p:cBhvr>
                                      <p:tavLst>
                                        <p:tav tm="0">
                                          <p:val>
                                            <p:strVal val="#ppt_w"/>
                                          </p:val>
                                        </p:tav>
                                        <p:tav tm="100000">
                                          <p:val>
                                            <p:strVal val="#ppt_w"/>
                                          </p:val>
                                        </p:tav>
                                      </p:tavLst>
                                    </p:anim>
                                    <p:anim calcmode="lin" valueType="num">
                                      <p:cBhvr>
                                        <p:cTn id="23" dur="500" fill="hold"/>
                                        <p:tgtEl>
                                          <p:spTgt spid="3"/>
                                        </p:tgtEl>
                                        <p:attrNameLst>
                                          <p:attrName>ppt_h</p:attrName>
                                        </p:attrNameLst>
                                      </p:cBhvr>
                                      <p:tavLst>
                                        <p:tav tm="0">
                                          <p:val>
                                            <p:fltVal val="0"/>
                                          </p:val>
                                        </p:tav>
                                        <p:tav tm="100000">
                                          <p:val>
                                            <p:strVal val="#ppt_h"/>
                                          </p:val>
                                        </p:tav>
                                      </p:tavLst>
                                    </p:anim>
                                  </p:childTnLst>
                                </p:cTn>
                              </p:par>
                            </p:childTnLst>
                          </p:cTn>
                        </p:par>
                      </p:childTnLst>
                    </p:cTn>
                  </p:par>
                  <p:par>
                    <p:cTn id="24" fill="hold">
                      <p:stCondLst>
                        <p:cond delay="indefinite"/>
                      </p:stCondLst>
                      <p:childTnLst>
                        <p:par>
                          <p:cTn id="25" fill="hold">
                            <p:stCondLst>
                              <p:cond delay="0"/>
                            </p:stCondLst>
                            <p:childTnLst>
                              <p:par>
                                <p:cTn id="26" presetID="17" presetClass="entr" presetSubtype="1" fill="hold" nodeType="click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500" fill="hold"/>
                                        <p:tgtEl>
                                          <p:spTgt spid="8"/>
                                        </p:tgtEl>
                                        <p:attrNameLst>
                                          <p:attrName>ppt_x</p:attrName>
                                        </p:attrNameLst>
                                      </p:cBhvr>
                                      <p:tavLst>
                                        <p:tav tm="0">
                                          <p:val>
                                            <p:strVal val="#ppt_x"/>
                                          </p:val>
                                        </p:tav>
                                        <p:tav tm="100000">
                                          <p:val>
                                            <p:strVal val="#ppt_x"/>
                                          </p:val>
                                        </p:tav>
                                      </p:tavLst>
                                    </p:anim>
                                    <p:anim calcmode="lin" valueType="num">
                                      <p:cBhvr>
                                        <p:cTn id="29" dur="500" fill="hold"/>
                                        <p:tgtEl>
                                          <p:spTgt spid="8"/>
                                        </p:tgtEl>
                                        <p:attrNameLst>
                                          <p:attrName>ppt_y</p:attrName>
                                        </p:attrNameLst>
                                      </p:cBhvr>
                                      <p:tavLst>
                                        <p:tav tm="0">
                                          <p:val>
                                            <p:strVal val="#ppt_y-#ppt_h/2"/>
                                          </p:val>
                                        </p:tav>
                                        <p:tav tm="100000">
                                          <p:val>
                                            <p:strVal val="#ppt_y"/>
                                          </p:val>
                                        </p:tav>
                                      </p:tavLst>
                                    </p:anim>
                                    <p:anim calcmode="lin" valueType="num">
                                      <p:cBhvr>
                                        <p:cTn id="30" dur="500" fill="hold"/>
                                        <p:tgtEl>
                                          <p:spTgt spid="8"/>
                                        </p:tgtEl>
                                        <p:attrNameLst>
                                          <p:attrName>ppt_w</p:attrName>
                                        </p:attrNameLst>
                                      </p:cBhvr>
                                      <p:tavLst>
                                        <p:tav tm="0">
                                          <p:val>
                                            <p:strVal val="#ppt_w"/>
                                          </p:val>
                                        </p:tav>
                                        <p:tav tm="100000">
                                          <p:val>
                                            <p:strVal val="#ppt_w"/>
                                          </p:val>
                                        </p:tav>
                                      </p:tavLst>
                                    </p:anim>
                                    <p:anim calcmode="lin" valueType="num">
                                      <p:cBhvr>
                                        <p:cTn id="31" dur="500" fill="hold"/>
                                        <p:tgtEl>
                                          <p:spTgt spid="8"/>
                                        </p:tgtEl>
                                        <p:attrNameLst>
                                          <p:attrName>ppt_h</p:attrName>
                                        </p:attrNameLst>
                                      </p:cBhvr>
                                      <p:tavLst>
                                        <p:tav tm="0">
                                          <p:val>
                                            <p:fltVal val="0"/>
                                          </p:val>
                                        </p:tav>
                                        <p:tav tm="100000">
                                          <p:val>
                                            <p:strVal val="#ppt_h"/>
                                          </p:val>
                                        </p:tav>
                                      </p:tavLst>
                                    </p:anim>
                                  </p:childTnLst>
                                </p:cTn>
                              </p:par>
                            </p:childTnLst>
                          </p:cTn>
                        </p:par>
                      </p:childTnLst>
                    </p:cTn>
                  </p:par>
                  <p:par>
                    <p:cTn id="32" fill="hold">
                      <p:stCondLst>
                        <p:cond delay="indefinite"/>
                      </p:stCondLst>
                      <p:childTnLst>
                        <p:par>
                          <p:cTn id="33" fill="hold">
                            <p:stCondLst>
                              <p:cond delay="0"/>
                            </p:stCondLst>
                            <p:childTnLst>
                              <p:par>
                                <p:cTn id="34" presetID="17" presetClass="entr" presetSubtype="1" fill="hold" nodeType="clickEffect">
                                  <p:stCondLst>
                                    <p:cond delay="0"/>
                                  </p:stCondLst>
                                  <p:childTnLst>
                                    <p:set>
                                      <p:cBhvr>
                                        <p:cTn id="35" dur="1" fill="hold">
                                          <p:stCondLst>
                                            <p:cond delay="0"/>
                                          </p:stCondLst>
                                        </p:cTn>
                                        <p:tgtEl>
                                          <p:spTgt spid="7"/>
                                        </p:tgtEl>
                                        <p:attrNameLst>
                                          <p:attrName>style.visibility</p:attrName>
                                        </p:attrNameLst>
                                      </p:cBhvr>
                                      <p:to>
                                        <p:strVal val="visible"/>
                                      </p:to>
                                    </p:set>
                                    <p:anim calcmode="lin" valueType="num">
                                      <p:cBhvr>
                                        <p:cTn id="36" dur="500" fill="hold"/>
                                        <p:tgtEl>
                                          <p:spTgt spid="7"/>
                                        </p:tgtEl>
                                        <p:attrNameLst>
                                          <p:attrName>ppt_x</p:attrName>
                                        </p:attrNameLst>
                                      </p:cBhvr>
                                      <p:tavLst>
                                        <p:tav tm="0">
                                          <p:val>
                                            <p:strVal val="#ppt_x"/>
                                          </p:val>
                                        </p:tav>
                                        <p:tav tm="100000">
                                          <p:val>
                                            <p:strVal val="#ppt_x"/>
                                          </p:val>
                                        </p:tav>
                                      </p:tavLst>
                                    </p:anim>
                                    <p:anim calcmode="lin" valueType="num">
                                      <p:cBhvr>
                                        <p:cTn id="37" dur="500" fill="hold"/>
                                        <p:tgtEl>
                                          <p:spTgt spid="7"/>
                                        </p:tgtEl>
                                        <p:attrNameLst>
                                          <p:attrName>ppt_y</p:attrName>
                                        </p:attrNameLst>
                                      </p:cBhvr>
                                      <p:tavLst>
                                        <p:tav tm="0">
                                          <p:val>
                                            <p:strVal val="#ppt_y-#ppt_h/2"/>
                                          </p:val>
                                        </p:tav>
                                        <p:tav tm="100000">
                                          <p:val>
                                            <p:strVal val="#ppt_y"/>
                                          </p:val>
                                        </p:tav>
                                      </p:tavLst>
                                    </p:anim>
                                    <p:anim calcmode="lin" valueType="num">
                                      <p:cBhvr>
                                        <p:cTn id="38" dur="500" fill="hold"/>
                                        <p:tgtEl>
                                          <p:spTgt spid="7"/>
                                        </p:tgtEl>
                                        <p:attrNameLst>
                                          <p:attrName>ppt_w</p:attrName>
                                        </p:attrNameLst>
                                      </p:cBhvr>
                                      <p:tavLst>
                                        <p:tav tm="0">
                                          <p:val>
                                            <p:strVal val="#ppt_w"/>
                                          </p:val>
                                        </p:tav>
                                        <p:tav tm="100000">
                                          <p:val>
                                            <p:strVal val="#ppt_w"/>
                                          </p:val>
                                        </p:tav>
                                      </p:tavLst>
                                    </p:anim>
                                    <p:anim calcmode="lin" valueType="num">
                                      <p:cBhvr>
                                        <p:cTn id="39" dur="500" fill="hold"/>
                                        <p:tgtEl>
                                          <p:spTgt spid="7"/>
                                        </p:tgtEl>
                                        <p:attrNameLst>
                                          <p:attrName>ppt_h</p:attrName>
                                        </p:attrNameLst>
                                      </p:cBhvr>
                                      <p:tavLst>
                                        <p:tav tm="0">
                                          <p:val>
                                            <p:fltVal val="0"/>
                                          </p:val>
                                        </p:tav>
                                        <p:tav tm="100000">
                                          <p:val>
                                            <p:strVal val="#ppt_h"/>
                                          </p:val>
                                        </p:tav>
                                      </p:tavLst>
                                    </p:anim>
                                  </p:childTnLst>
                                </p:cTn>
                              </p:par>
                            </p:childTnLst>
                          </p:cTn>
                        </p:par>
                      </p:childTnLst>
                    </p:cTn>
                  </p:par>
                  <p:par>
                    <p:cTn id="40" fill="hold">
                      <p:stCondLst>
                        <p:cond delay="indefinite"/>
                      </p:stCondLst>
                      <p:childTnLst>
                        <p:par>
                          <p:cTn id="41" fill="hold">
                            <p:stCondLst>
                              <p:cond delay="0"/>
                            </p:stCondLst>
                            <p:childTnLst>
                              <p:par>
                                <p:cTn id="42" presetID="17" presetClass="entr" presetSubtype="1" fill="hold" nodeType="clickEffect">
                                  <p:stCondLst>
                                    <p:cond delay="0"/>
                                  </p:stCondLst>
                                  <p:childTnLst>
                                    <p:set>
                                      <p:cBhvr>
                                        <p:cTn id="43" dur="1" fill="hold">
                                          <p:stCondLst>
                                            <p:cond delay="0"/>
                                          </p:stCondLst>
                                        </p:cTn>
                                        <p:tgtEl>
                                          <p:spTgt spid="5"/>
                                        </p:tgtEl>
                                        <p:attrNameLst>
                                          <p:attrName>style.visibility</p:attrName>
                                        </p:attrNameLst>
                                      </p:cBhvr>
                                      <p:to>
                                        <p:strVal val="visible"/>
                                      </p:to>
                                    </p:set>
                                    <p:anim calcmode="lin" valueType="num">
                                      <p:cBhvr>
                                        <p:cTn id="44" dur="500" fill="hold"/>
                                        <p:tgtEl>
                                          <p:spTgt spid="5"/>
                                        </p:tgtEl>
                                        <p:attrNameLst>
                                          <p:attrName>ppt_x</p:attrName>
                                        </p:attrNameLst>
                                      </p:cBhvr>
                                      <p:tavLst>
                                        <p:tav tm="0">
                                          <p:val>
                                            <p:strVal val="#ppt_x"/>
                                          </p:val>
                                        </p:tav>
                                        <p:tav tm="100000">
                                          <p:val>
                                            <p:strVal val="#ppt_x"/>
                                          </p:val>
                                        </p:tav>
                                      </p:tavLst>
                                    </p:anim>
                                    <p:anim calcmode="lin" valueType="num">
                                      <p:cBhvr>
                                        <p:cTn id="45" dur="500" fill="hold"/>
                                        <p:tgtEl>
                                          <p:spTgt spid="5"/>
                                        </p:tgtEl>
                                        <p:attrNameLst>
                                          <p:attrName>ppt_y</p:attrName>
                                        </p:attrNameLst>
                                      </p:cBhvr>
                                      <p:tavLst>
                                        <p:tav tm="0">
                                          <p:val>
                                            <p:strVal val="#ppt_y-#ppt_h/2"/>
                                          </p:val>
                                        </p:tav>
                                        <p:tav tm="100000">
                                          <p:val>
                                            <p:strVal val="#ppt_y"/>
                                          </p:val>
                                        </p:tav>
                                      </p:tavLst>
                                    </p:anim>
                                    <p:anim calcmode="lin" valueType="num">
                                      <p:cBhvr>
                                        <p:cTn id="46" dur="500" fill="hold"/>
                                        <p:tgtEl>
                                          <p:spTgt spid="5"/>
                                        </p:tgtEl>
                                        <p:attrNameLst>
                                          <p:attrName>ppt_w</p:attrName>
                                        </p:attrNameLst>
                                      </p:cBhvr>
                                      <p:tavLst>
                                        <p:tav tm="0">
                                          <p:val>
                                            <p:strVal val="#ppt_w"/>
                                          </p:val>
                                        </p:tav>
                                        <p:tav tm="100000">
                                          <p:val>
                                            <p:strVal val="#ppt_w"/>
                                          </p:val>
                                        </p:tav>
                                      </p:tavLst>
                                    </p:anim>
                                    <p:anim calcmode="lin" valueType="num">
                                      <p:cBhvr>
                                        <p:cTn id="47" dur="500" fill="hold"/>
                                        <p:tgtEl>
                                          <p:spTgt spid="5"/>
                                        </p:tgtEl>
                                        <p:attrNameLst>
                                          <p:attrName>ppt_h</p:attrName>
                                        </p:attrNameLst>
                                      </p:cBhvr>
                                      <p:tavLst>
                                        <p:tav tm="0">
                                          <p:val>
                                            <p:fltVal val="0"/>
                                          </p:val>
                                        </p:tav>
                                        <p:tav tm="100000">
                                          <p:val>
                                            <p:strVal val="#ppt_h"/>
                                          </p:val>
                                        </p:tav>
                                      </p:tavLst>
                                    </p:anim>
                                  </p:childTnLst>
                                </p:cTn>
                              </p:par>
                            </p:childTnLst>
                          </p:cTn>
                        </p:par>
                      </p:childTnLst>
                    </p:cTn>
                  </p:par>
                  <p:par>
                    <p:cTn id="48" fill="hold">
                      <p:stCondLst>
                        <p:cond delay="indefinite"/>
                      </p:stCondLst>
                      <p:childTnLst>
                        <p:par>
                          <p:cTn id="49" fill="hold">
                            <p:stCondLst>
                              <p:cond delay="0"/>
                            </p:stCondLst>
                            <p:childTnLst>
                              <p:par>
                                <p:cTn id="50" presetID="17" presetClass="entr" presetSubtype="1" fill="hold" nodeType="clickEffect">
                                  <p:stCondLst>
                                    <p:cond delay="0"/>
                                  </p:stCondLst>
                                  <p:childTnLst>
                                    <p:set>
                                      <p:cBhvr>
                                        <p:cTn id="51" dur="1" fill="hold">
                                          <p:stCondLst>
                                            <p:cond delay="0"/>
                                          </p:stCondLst>
                                        </p:cTn>
                                        <p:tgtEl>
                                          <p:spTgt spid="11"/>
                                        </p:tgtEl>
                                        <p:attrNameLst>
                                          <p:attrName>style.visibility</p:attrName>
                                        </p:attrNameLst>
                                      </p:cBhvr>
                                      <p:to>
                                        <p:strVal val="visible"/>
                                      </p:to>
                                    </p:set>
                                    <p:anim calcmode="lin" valueType="num">
                                      <p:cBhvr>
                                        <p:cTn id="52" dur="500" fill="hold"/>
                                        <p:tgtEl>
                                          <p:spTgt spid="11"/>
                                        </p:tgtEl>
                                        <p:attrNameLst>
                                          <p:attrName>ppt_x</p:attrName>
                                        </p:attrNameLst>
                                      </p:cBhvr>
                                      <p:tavLst>
                                        <p:tav tm="0">
                                          <p:val>
                                            <p:strVal val="#ppt_x"/>
                                          </p:val>
                                        </p:tav>
                                        <p:tav tm="100000">
                                          <p:val>
                                            <p:strVal val="#ppt_x"/>
                                          </p:val>
                                        </p:tav>
                                      </p:tavLst>
                                    </p:anim>
                                    <p:anim calcmode="lin" valueType="num">
                                      <p:cBhvr>
                                        <p:cTn id="53" dur="500" fill="hold"/>
                                        <p:tgtEl>
                                          <p:spTgt spid="11"/>
                                        </p:tgtEl>
                                        <p:attrNameLst>
                                          <p:attrName>ppt_y</p:attrName>
                                        </p:attrNameLst>
                                      </p:cBhvr>
                                      <p:tavLst>
                                        <p:tav tm="0">
                                          <p:val>
                                            <p:strVal val="#ppt_y-#ppt_h/2"/>
                                          </p:val>
                                        </p:tav>
                                        <p:tav tm="100000">
                                          <p:val>
                                            <p:strVal val="#ppt_y"/>
                                          </p:val>
                                        </p:tav>
                                      </p:tavLst>
                                    </p:anim>
                                    <p:anim calcmode="lin" valueType="num">
                                      <p:cBhvr>
                                        <p:cTn id="54" dur="500" fill="hold"/>
                                        <p:tgtEl>
                                          <p:spTgt spid="11"/>
                                        </p:tgtEl>
                                        <p:attrNameLst>
                                          <p:attrName>ppt_w</p:attrName>
                                        </p:attrNameLst>
                                      </p:cBhvr>
                                      <p:tavLst>
                                        <p:tav tm="0">
                                          <p:val>
                                            <p:strVal val="#ppt_w"/>
                                          </p:val>
                                        </p:tav>
                                        <p:tav tm="100000">
                                          <p:val>
                                            <p:strVal val="#ppt_w"/>
                                          </p:val>
                                        </p:tav>
                                      </p:tavLst>
                                    </p:anim>
                                    <p:anim calcmode="lin" valueType="num">
                                      <p:cBhvr>
                                        <p:cTn id="55" dur="500" fill="hold"/>
                                        <p:tgtEl>
                                          <p:spTgt spid="11"/>
                                        </p:tgtEl>
                                        <p:attrNameLst>
                                          <p:attrName>ppt_h</p:attrName>
                                        </p:attrNameLst>
                                      </p:cBhvr>
                                      <p:tavLst>
                                        <p:tav tm="0">
                                          <p:val>
                                            <p:fltVal val="0"/>
                                          </p:val>
                                        </p:tav>
                                        <p:tav tm="100000">
                                          <p:val>
                                            <p:strVal val="#ppt_h"/>
                                          </p:val>
                                        </p:tav>
                                      </p:tavLst>
                                    </p:anim>
                                  </p:childTnLst>
                                </p:cTn>
                              </p:par>
                            </p:childTnLst>
                          </p:cTn>
                        </p:par>
                      </p:childTnLst>
                    </p:cTn>
                  </p:par>
                  <p:par>
                    <p:cTn id="56" fill="hold">
                      <p:stCondLst>
                        <p:cond delay="indefinite"/>
                      </p:stCondLst>
                      <p:childTnLst>
                        <p:par>
                          <p:cTn id="57" fill="hold">
                            <p:stCondLst>
                              <p:cond delay="0"/>
                            </p:stCondLst>
                            <p:childTnLst>
                              <p:par>
                                <p:cTn id="58" presetID="17" presetClass="entr" presetSubtype="1" fill="hold" nodeType="clickEffect">
                                  <p:stCondLst>
                                    <p:cond delay="0"/>
                                  </p:stCondLst>
                                  <p:childTnLst>
                                    <p:set>
                                      <p:cBhvr>
                                        <p:cTn id="59" dur="1" fill="hold">
                                          <p:stCondLst>
                                            <p:cond delay="0"/>
                                          </p:stCondLst>
                                        </p:cTn>
                                        <p:tgtEl>
                                          <p:spTgt spid="10"/>
                                        </p:tgtEl>
                                        <p:attrNameLst>
                                          <p:attrName>style.visibility</p:attrName>
                                        </p:attrNameLst>
                                      </p:cBhvr>
                                      <p:to>
                                        <p:strVal val="visible"/>
                                      </p:to>
                                    </p:set>
                                    <p:anim calcmode="lin" valueType="num">
                                      <p:cBhvr>
                                        <p:cTn id="60" dur="500" fill="hold"/>
                                        <p:tgtEl>
                                          <p:spTgt spid="10"/>
                                        </p:tgtEl>
                                        <p:attrNameLst>
                                          <p:attrName>ppt_x</p:attrName>
                                        </p:attrNameLst>
                                      </p:cBhvr>
                                      <p:tavLst>
                                        <p:tav tm="0">
                                          <p:val>
                                            <p:strVal val="#ppt_x"/>
                                          </p:val>
                                        </p:tav>
                                        <p:tav tm="100000">
                                          <p:val>
                                            <p:strVal val="#ppt_x"/>
                                          </p:val>
                                        </p:tav>
                                      </p:tavLst>
                                    </p:anim>
                                    <p:anim calcmode="lin" valueType="num">
                                      <p:cBhvr>
                                        <p:cTn id="61" dur="500" fill="hold"/>
                                        <p:tgtEl>
                                          <p:spTgt spid="10"/>
                                        </p:tgtEl>
                                        <p:attrNameLst>
                                          <p:attrName>ppt_y</p:attrName>
                                        </p:attrNameLst>
                                      </p:cBhvr>
                                      <p:tavLst>
                                        <p:tav tm="0">
                                          <p:val>
                                            <p:strVal val="#ppt_y-#ppt_h/2"/>
                                          </p:val>
                                        </p:tav>
                                        <p:tav tm="100000">
                                          <p:val>
                                            <p:strVal val="#ppt_y"/>
                                          </p:val>
                                        </p:tav>
                                      </p:tavLst>
                                    </p:anim>
                                    <p:anim calcmode="lin" valueType="num">
                                      <p:cBhvr>
                                        <p:cTn id="62" dur="500" fill="hold"/>
                                        <p:tgtEl>
                                          <p:spTgt spid="10"/>
                                        </p:tgtEl>
                                        <p:attrNameLst>
                                          <p:attrName>ppt_w</p:attrName>
                                        </p:attrNameLst>
                                      </p:cBhvr>
                                      <p:tavLst>
                                        <p:tav tm="0">
                                          <p:val>
                                            <p:strVal val="#ppt_w"/>
                                          </p:val>
                                        </p:tav>
                                        <p:tav tm="100000">
                                          <p:val>
                                            <p:strVal val="#ppt_w"/>
                                          </p:val>
                                        </p:tav>
                                      </p:tavLst>
                                    </p:anim>
                                    <p:anim calcmode="lin" valueType="num">
                                      <p:cBhvr>
                                        <p:cTn id="63" dur="500" fill="hold"/>
                                        <p:tgtEl>
                                          <p:spTgt spid="10"/>
                                        </p:tgtEl>
                                        <p:attrNameLst>
                                          <p:attrName>ppt_h</p:attrName>
                                        </p:attrNameLst>
                                      </p:cBhvr>
                                      <p:tavLst>
                                        <p:tav tm="0">
                                          <p:val>
                                            <p:fltVal val="0"/>
                                          </p:val>
                                        </p:tav>
                                        <p:tav tm="100000">
                                          <p:val>
                                            <p:strVal val="#ppt_h"/>
                                          </p:val>
                                        </p:tav>
                                      </p:tavLst>
                                    </p:anim>
                                  </p:childTnLst>
                                </p:cTn>
                              </p:par>
                            </p:childTnLst>
                          </p:cTn>
                        </p:par>
                      </p:childTnLst>
                    </p:cTn>
                  </p:par>
                  <p:par>
                    <p:cTn id="64" fill="hold">
                      <p:stCondLst>
                        <p:cond delay="indefinite"/>
                      </p:stCondLst>
                      <p:childTnLst>
                        <p:par>
                          <p:cTn id="65" fill="hold">
                            <p:stCondLst>
                              <p:cond delay="0"/>
                            </p:stCondLst>
                            <p:childTnLst>
                              <p:par>
                                <p:cTn id="66" presetID="17" presetClass="entr" presetSubtype="1" fill="hold" nodeType="clickEffect">
                                  <p:stCondLst>
                                    <p:cond delay="0"/>
                                  </p:stCondLst>
                                  <p:childTnLst>
                                    <p:set>
                                      <p:cBhvr>
                                        <p:cTn id="67" dur="1" fill="hold">
                                          <p:stCondLst>
                                            <p:cond delay="0"/>
                                          </p:stCondLst>
                                        </p:cTn>
                                        <p:tgtEl>
                                          <p:spTgt spid="9"/>
                                        </p:tgtEl>
                                        <p:attrNameLst>
                                          <p:attrName>style.visibility</p:attrName>
                                        </p:attrNameLst>
                                      </p:cBhvr>
                                      <p:to>
                                        <p:strVal val="visible"/>
                                      </p:to>
                                    </p:set>
                                    <p:anim calcmode="lin" valueType="num">
                                      <p:cBhvr>
                                        <p:cTn id="68" dur="500" fill="hold"/>
                                        <p:tgtEl>
                                          <p:spTgt spid="9"/>
                                        </p:tgtEl>
                                        <p:attrNameLst>
                                          <p:attrName>ppt_x</p:attrName>
                                        </p:attrNameLst>
                                      </p:cBhvr>
                                      <p:tavLst>
                                        <p:tav tm="0">
                                          <p:val>
                                            <p:strVal val="#ppt_x"/>
                                          </p:val>
                                        </p:tav>
                                        <p:tav tm="100000">
                                          <p:val>
                                            <p:strVal val="#ppt_x"/>
                                          </p:val>
                                        </p:tav>
                                      </p:tavLst>
                                    </p:anim>
                                    <p:anim calcmode="lin" valueType="num">
                                      <p:cBhvr>
                                        <p:cTn id="69" dur="500" fill="hold"/>
                                        <p:tgtEl>
                                          <p:spTgt spid="9"/>
                                        </p:tgtEl>
                                        <p:attrNameLst>
                                          <p:attrName>ppt_y</p:attrName>
                                        </p:attrNameLst>
                                      </p:cBhvr>
                                      <p:tavLst>
                                        <p:tav tm="0">
                                          <p:val>
                                            <p:strVal val="#ppt_y-#ppt_h/2"/>
                                          </p:val>
                                        </p:tav>
                                        <p:tav tm="100000">
                                          <p:val>
                                            <p:strVal val="#ppt_y"/>
                                          </p:val>
                                        </p:tav>
                                      </p:tavLst>
                                    </p:anim>
                                    <p:anim calcmode="lin" valueType="num">
                                      <p:cBhvr>
                                        <p:cTn id="70" dur="500" fill="hold"/>
                                        <p:tgtEl>
                                          <p:spTgt spid="9"/>
                                        </p:tgtEl>
                                        <p:attrNameLst>
                                          <p:attrName>ppt_w</p:attrName>
                                        </p:attrNameLst>
                                      </p:cBhvr>
                                      <p:tavLst>
                                        <p:tav tm="0">
                                          <p:val>
                                            <p:strVal val="#ppt_w"/>
                                          </p:val>
                                        </p:tav>
                                        <p:tav tm="100000">
                                          <p:val>
                                            <p:strVal val="#ppt_w"/>
                                          </p:val>
                                        </p:tav>
                                      </p:tavLst>
                                    </p:anim>
                                    <p:anim calcmode="lin" valueType="num">
                                      <p:cBhvr>
                                        <p:cTn id="71" dur="500" fill="hold"/>
                                        <p:tgtEl>
                                          <p:spTgt spid="9"/>
                                        </p:tgtEl>
                                        <p:attrNameLst>
                                          <p:attrName>ppt_h</p:attrName>
                                        </p:attrNameLst>
                                      </p:cBhvr>
                                      <p:tavLst>
                                        <p:tav tm="0">
                                          <p:val>
                                            <p:fltVal val="0"/>
                                          </p:val>
                                        </p:tav>
                                        <p:tav tm="100000">
                                          <p:val>
                                            <p:strVal val="#ppt_h"/>
                                          </p:val>
                                        </p:tav>
                                      </p:tavLst>
                                    </p:anim>
                                  </p:childTnLst>
                                </p:cTn>
                              </p:par>
                            </p:childTnLst>
                          </p:cTn>
                        </p:par>
                      </p:childTnLst>
                    </p:cTn>
                  </p:par>
                  <p:par>
                    <p:cTn id="72" fill="hold">
                      <p:stCondLst>
                        <p:cond delay="indefinite"/>
                      </p:stCondLst>
                      <p:childTnLst>
                        <p:par>
                          <p:cTn id="73" fill="hold">
                            <p:stCondLst>
                              <p:cond delay="0"/>
                            </p:stCondLst>
                            <p:childTnLst>
                              <p:par>
                                <p:cTn id="74" presetID="17" presetClass="entr" presetSubtype="1" fill="hold" nodeType="clickEffect">
                                  <p:stCondLst>
                                    <p:cond delay="0"/>
                                  </p:stCondLst>
                                  <p:childTnLst>
                                    <p:set>
                                      <p:cBhvr>
                                        <p:cTn id="75" dur="1" fill="hold">
                                          <p:stCondLst>
                                            <p:cond delay="0"/>
                                          </p:stCondLst>
                                        </p:cTn>
                                        <p:tgtEl>
                                          <p:spTgt spid="15"/>
                                        </p:tgtEl>
                                        <p:attrNameLst>
                                          <p:attrName>style.visibility</p:attrName>
                                        </p:attrNameLst>
                                      </p:cBhvr>
                                      <p:to>
                                        <p:strVal val="visible"/>
                                      </p:to>
                                    </p:set>
                                    <p:anim calcmode="lin" valueType="num">
                                      <p:cBhvr>
                                        <p:cTn id="76" dur="500" fill="hold"/>
                                        <p:tgtEl>
                                          <p:spTgt spid="15"/>
                                        </p:tgtEl>
                                        <p:attrNameLst>
                                          <p:attrName>ppt_x</p:attrName>
                                        </p:attrNameLst>
                                      </p:cBhvr>
                                      <p:tavLst>
                                        <p:tav tm="0">
                                          <p:val>
                                            <p:strVal val="#ppt_x"/>
                                          </p:val>
                                        </p:tav>
                                        <p:tav tm="100000">
                                          <p:val>
                                            <p:strVal val="#ppt_x"/>
                                          </p:val>
                                        </p:tav>
                                      </p:tavLst>
                                    </p:anim>
                                    <p:anim calcmode="lin" valueType="num">
                                      <p:cBhvr>
                                        <p:cTn id="77" dur="500" fill="hold"/>
                                        <p:tgtEl>
                                          <p:spTgt spid="15"/>
                                        </p:tgtEl>
                                        <p:attrNameLst>
                                          <p:attrName>ppt_y</p:attrName>
                                        </p:attrNameLst>
                                      </p:cBhvr>
                                      <p:tavLst>
                                        <p:tav tm="0">
                                          <p:val>
                                            <p:strVal val="#ppt_y-#ppt_h/2"/>
                                          </p:val>
                                        </p:tav>
                                        <p:tav tm="100000">
                                          <p:val>
                                            <p:strVal val="#ppt_y"/>
                                          </p:val>
                                        </p:tav>
                                      </p:tavLst>
                                    </p:anim>
                                    <p:anim calcmode="lin" valueType="num">
                                      <p:cBhvr>
                                        <p:cTn id="78" dur="500" fill="hold"/>
                                        <p:tgtEl>
                                          <p:spTgt spid="15"/>
                                        </p:tgtEl>
                                        <p:attrNameLst>
                                          <p:attrName>ppt_w</p:attrName>
                                        </p:attrNameLst>
                                      </p:cBhvr>
                                      <p:tavLst>
                                        <p:tav tm="0">
                                          <p:val>
                                            <p:strVal val="#ppt_w"/>
                                          </p:val>
                                        </p:tav>
                                        <p:tav tm="100000">
                                          <p:val>
                                            <p:strVal val="#ppt_w"/>
                                          </p:val>
                                        </p:tav>
                                      </p:tavLst>
                                    </p:anim>
                                    <p:anim calcmode="lin" valueType="num">
                                      <p:cBhvr>
                                        <p:cTn id="79" dur="500" fill="hold"/>
                                        <p:tgtEl>
                                          <p:spTgt spid="15"/>
                                        </p:tgtEl>
                                        <p:attrNameLst>
                                          <p:attrName>ppt_h</p:attrName>
                                        </p:attrNameLst>
                                      </p:cBhvr>
                                      <p:tavLst>
                                        <p:tav tm="0">
                                          <p:val>
                                            <p:fltVal val="0"/>
                                          </p:val>
                                        </p:tav>
                                        <p:tav tm="100000">
                                          <p:val>
                                            <p:strVal val="#ppt_h"/>
                                          </p:val>
                                        </p:tav>
                                      </p:tavLst>
                                    </p:anim>
                                  </p:childTnLst>
                                </p:cTn>
                              </p:par>
                            </p:childTnLst>
                          </p:cTn>
                        </p:par>
                      </p:childTnLst>
                    </p:cTn>
                  </p:par>
                  <p:par>
                    <p:cTn id="80" fill="hold">
                      <p:stCondLst>
                        <p:cond delay="indefinite"/>
                      </p:stCondLst>
                      <p:childTnLst>
                        <p:par>
                          <p:cTn id="81" fill="hold">
                            <p:stCondLst>
                              <p:cond delay="0"/>
                            </p:stCondLst>
                            <p:childTnLst>
                              <p:par>
                                <p:cTn id="82" presetID="17" presetClass="entr" presetSubtype="1" fill="hold" nodeType="clickEffect">
                                  <p:stCondLst>
                                    <p:cond delay="0"/>
                                  </p:stCondLst>
                                  <p:childTnLst>
                                    <p:set>
                                      <p:cBhvr>
                                        <p:cTn id="83" dur="1" fill="hold">
                                          <p:stCondLst>
                                            <p:cond delay="0"/>
                                          </p:stCondLst>
                                        </p:cTn>
                                        <p:tgtEl>
                                          <p:spTgt spid="14"/>
                                        </p:tgtEl>
                                        <p:attrNameLst>
                                          <p:attrName>style.visibility</p:attrName>
                                        </p:attrNameLst>
                                      </p:cBhvr>
                                      <p:to>
                                        <p:strVal val="visible"/>
                                      </p:to>
                                    </p:set>
                                    <p:anim calcmode="lin" valueType="num">
                                      <p:cBhvr>
                                        <p:cTn id="84" dur="500" fill="hold"/>
                                        <p:tgtEl>
                                          <p:spTgt spid="14"/>
                                        </p:tgtEl>
                                        <p:attrNameLst>
                                          <p:attrName>ppt_x</p:attrName>
                                        </p:attrNameLst>
                                      </p:cBhvr>
                                      <p:tavLst>
                                        <p:tav tm="0">
                                          <p:val>
                                            <p:strVal val="#ppt_x"/>
                                          </p:val>
                                        </p:tav>
                                        <p:tav tm="100000">
                                          <p:val>
                                            <p:strVal val="#ppt_x"/>
                                          </p:val>
                                        </p:tav>
                                      </p:tavLst>
                                    </p:anim>
                                    <p:anim calcmode="lin" valueType="num">
                                      <p:cBhvr>
                                        <p:cTn id="85" dur="500" fill="hold"/>
                                        <p:tgtEl>
                                          <p:spTgt spid="14"/>
                                        </p:tgtEl>
                                        <p:attrNameLst>
                                          <p:attrName>ppt_y</p:attrName>
                                        </p:attrNameLst>
                                      </p:cBhvr>
                                      <p:tavLst>
                                        <p:tav tm="0">
                                          <p:val>
                                            <p:strVal val="#ppt_y-#ppt_h/2"/>
                                          </p:val>
                                        </p:tav>
                                        <p:tav tm="100000">
                                          <p:val>
                                            <p:strVal val="#ppt_y"/>
                                          </p:val>
                                        </p:tav>
                                      </p:tavLst>
                                    </p:anim>
                                    <p:anim calcmode="lin" valueType="num">
                                      <p:cBhvr>
                                        <p:cTn id="86" dur="500" fill="hold"/>
                                        <p:tgtEl>
                                          <p:spTgt spid="14"/>
                                        </p:tgtEl>
                                        <p:attrNameLst>
                                          <p:attrName>ppt_w</p:attrName>
                                        </p:attrNameLst>
                                      </p:cBhvr>
                                      <p:tavLst>
                                        <p:tav tm="0">
                                          <p:val>
                                            <p:strVal val="#ppt_w"/>
                                          </p:val>
                                        </p:tav>
                                        <p:tav tm="100000">
                                          <p:val>
                                            <p:strVal val="#ppt_w"/>
                                          </p:val>
                                        </p:tav>
                                      </p:tavLst>
                                    </p:anim>
                                    <p:anim calcmode="lin" valueType="num">
                                      <p:cBhvr>
                                        <p:cTn id="87" dur="500" fill="hold"/>
                                        <p:tgtEl>
                                          <p:spTgt spid="14"/>
                                        </p:tgtEl>
                                        <p:attrNameLst>
                                          <p:attrName>ppt_h</p:attrName>
                                        </p:attrNameLst>
                                      </p:cBhvr>
                                      <p:tavLst>
                                        <p:tav tm="0">
                                          <p:val>
                                            <p:fltVal val="0"/>
                                          </p:val>
                                        </p:tav>
                                        <p:tav tm="100000">
                                          <p:val>
                                            <p:strVal val="#ppt_h"/>
                                          </p:val>
                                        </p:tav>
                                      </p:tavLst>
                                    </p:anim>
                                  </p:childTnLst>
                                </p:cTn>
                              </p:par>
                            </p:childTnLst>
                          </p:cTn>
                        </p:par>
                      </p:childTnLst>
                    </p:cTn>
                  </p:par>
                  <p:par>
                    <p:cTn id="88" fill="hold">
                      <p:stCondLst>
                        <p:cond delay="indefinite"/>
                      </p:stCondLst>
                      <p:childTnLst>
                        <p:par>
                          <p:cTn id="89" fill="hold">
                            <p:stCondLst>
                              <p:cond delay="0"/>
                            </p:stCondLst>
                            <p:childTnLst>
                              <p:par>
                                <p:cTn id="90" presetID="17" presetClass="entr" presetSubtype="1" fill="hold" nodeType="clickEffect">
                                  <p:stCondLst>
                                    <p:cond delay="0"/>
                                  </p:stCondLst>
                                  <p:childTnLst>
                                    <p:set>
                                      <p:cBhvr>
                                        <p:cTn id="91" dur="1" fill="hold">
                                          <p:stCondLst>
                                            <p:cond delay="0"/>
                                          </p:stCondLst>
                                        </p:cTn>
                                        <p:tgtEl>
                                          <p:spTgt spid="13"/>
                                        </p:tgtEl>
                                        <p:attrNameLst>
                                          <p:attrName>style.visibility</p:attrName>
                                        </p:attrNameLst>
                                      </p:cBhvr>
                                      <p:to>
                                        <p:strVal val="visible"/>
                                      </p:to>
                                    </p:set>
                                    <p:anim calcmode="lin" valueType="num">
                                      <p:cBhvr>
                                        <p:cTn id="92" dur="500" fill="hold"/>
                                        <p:tgtEl>
                                          <p:spTgt spid="13"/>
                                        </p:tgtEl>
                                        <p:attrNameLst>
                                          <p:attrName>ppt_x</p:attrName>
                                        </p:attrNameLst>
                                      </p:cBhvr>
                                      <p:tavLst>
                                        <p:tav tm="0">
                                          <p:val>
                                            <p:strVal val="#ppt_x"/>
                                          </p:val>
                                        </p:tav>
                                        <p:tav tm="100000">
                                          <p:val>
                                            <p:strVal val="#ppt_x"/>
                                          </p:val>
                                        </p:tav>
                                      </p:tavLst>
                                    </p:anim>
                                    <p:anim calcmode="lin" valueType="num">
                                      <p:cBhvr>
                                        <p:cTn id="93" dur="500" fill="hold"/>
                                        <p:tgtEl>
                                          <p:spTgt spid="13"/>
                                        </p:tgtEl>
                                        <p:attrNameLst>
                                          <p:attrName>ppt_y</p:attrName>
                                        </p:attrNameLst>
                                      </p:cBhvr>
                                      <p:tavLst>
                                        <p:tav tm="0">
                                          <p:val>
                                            <p:strVal val="#ppt_y-#ppt_h/2"/>
                                          </p:val>
                                        </p:tav>
                                        <p:tav tm="100000">
                                          <p:val>
                                            <p:strVal val="#ppt_y"/>
                                          </p:val>
                                        </p:tav>
                                      </p:tavLst>
                                    </p:anim>
                                    <p:anim calcmode="lin" valueType="num">
                                      <p:cBhvr>
                                        <p:cTn id="94" dur="500" fill="hold"/>
                                        <p:tgtEl>
                                          <p:spTgt spid="13"/>
                                        </p:tgtEl>
                                        <p:attrNameLst>
                                          <p:attrName>ppt_w</p:attrName>
                                        </p:attrNameLst>
                                      </p:cBhvr>
                                      <p:tavLst>
                                        <p:tav tm="0">
                                          <p:val>
                                            <p:strVal val="#ppt_w"/>
                                          </p:val>
                                        </p:tav>
                                        <p:tav tm="100000">
                                          <p:val>
                                            <p:strVal val="#ppt_w"/>
                                          </p:val>
                                        </p:tav>
                                      </p:tavLst>
                                    </p:anim>
                                    <p:anim calcmode="lin" valueType="num">
                                      <p:cBhvr>
                                        <p:cTn id="95" dur="500" fill="hold"/>
                                        <p:tgtEl>
                                          <p:spTgt spid="13"/>
                                        </p:tgtEl>
                                        <p:attrNameLst>
                                          <p:attrName>ppt_h</p:attrName>
                                        </p:attrNameLst>
                                      </p:cBhvr>
                                      <p:tavLst>
                                        <p:tav tm="0">
                                          <p:val>
                                            <p:fltVal val="0"/>
                                          </p:val>
                                        </p:tav>
                                        <p:tav tm="100000">
                                          <p:val>
                                            <p:strVal val="#ppt_h"/>
                                          </p:val>
                                        </p:tav>
                                      </p:tavLst>
                                    </p:anim>
                                  </p:childTnLst>
                                </p:cTn>
                              </p:par>
                            </p:childTnLst>
                          </p:cTn>
                        </p:par>
                      </p:childTnLst>
                    </p:cTn>
                  </p:par>
                  <p:par>
                    <p:cTn id="96" fill="hold">
                      <p:stCondLst>
                        <p:cond delay="indefinite"/>
                      </p:stCondLst>
                      <p:childTnLst>
                        <p:par>
                          <p:cTn id="97" fill="hold">
                            <p:stCondLst>
                              <p:cond delay="0"/>
                            </p:stCondLst>
                            <p:childTnLst>
                              <p:par>
                                <p:cTn id="98" presetID="17" presetClass="entr" presetSubtype="1" fill="hold" nodeType="clickEffect">
                                  <p:stCondLst>
                                    <p:cond delay="0"/>
                                  </p:stCondLst>
                                  <p:childTnLst>
                                    <p:set>
                                      <p:cBhvr>
                                        <p:cTn id="99" dur="1" fill="hold">
                                          <p:stCondLst>
                                            <p:cond delay="0"/>
                                          </p:stCondLst>
                                        </p:cTn>
                                        <p:tgtEl>
                                          <p:spTgt spid="12"/>
                                        </p:tgtEl>
                                        <p:attrNameLst>
                                          <p:attrName>style.visibility</p:attrName>
                                        </p:attrNameLst>
                                      </p:cBhvr>
                                      <p:to>
                                        <p:strVal val="visible"/>
                                      </p:to>
                                    </p:set>
                                    <p:anim calcmode="lin" valueType="num">
                                      <p:cBhvr>
                                        <p:cTn id="100" dur="500" fill="hold"/>
                                        <p:tgtEl>
                                          <p:spTgt spid="12"/>
                                        </p:tgtEl>
                                        <p:attrNameLst>
                                          <p:attrName>ppt_x</p:attrName>
                                        </p:attrNameLst>
                                      </p:cBhvr>
                                      <p:tavLst>
                                        <p:tav tm="0">
                                          <p:val>
                                            <p:strVal val="#ppt_x"/>
                                          </p:val>
                                        </p:tav>
                                        <p:tav tm="100000">
                                          <p:val>
                                            <p:strVal val="#ppt_x"/>
                                          </p:val>
                                        </p:tav>
                                      </p:tavLst>
                                    </p:anim>
                                    <p:anim calcmode="lin" valueType="num">
                                      <p:cBhvr>
                                        <p:cTn id="101" dur="500" fill="hold"/>
                                        <p:tgtEl>
                                          <p:spTgt spid="12"/>
                                        </p:tgtEl>
                                        <p:attrNameLst>
                                          <p:attrName>ppt_y</p:attrName>
                                        </p:attrNameLst>
                                      </p:cBhvr>
                                      <p:tavLst>
                                        <p:tav tm="0">
                                          <p:val>
                                            <p:strVal val="#ppt_y-#ppt_h/2"/>
                                          </p:val>
                                        </p:tav>
                                        <p:tav tm="100000">
                                          <p:val>
                                            <p:strVal val="#ppt_y"/>
                                          </p:val>
                                        </p:tav>
                                      </p:tavLst>
                                    </p:anim>
                                    <p:anim calcmode="lin" valueType="num">
                                      <p:cBhvr>
                                        <p:cTn id="102" dur="500" fill="hold"/>
                                        <p:tgtEl>
                                          <p:spTgt spid="12"/>
                                        </p:tgtEl>
                                        <p:attrNameLst>
                                          <p:attrName>ppt_w</p:attrName>
                                        </p:attrNameLst>
                                      </p:cBhvr>
                                      <p:tavLst>
                                        <p:tav tm="0">
                                          <p:val>
                                            <p:strVal val="#ppt_w"/>
                                          </p:val>
                                        </p:tav>
                                        <p:tav tm="100000">
                                          <p:val>
                                            <p:strVal val="#ppt_w"/>
                                          </p:val>
                                        </p:tav>
                                      </p:tavLst>
                                    </p:anim>
                                    <p:anim calcmode="lin" valueType="num">
                                      <p:cBhvr>
                                        <p:cTn id="103" dur="500" fill="hold"/>
                                        <p:tgtEl>
                                          <p:spTgt spid="12"/>
                                        </p:tgtEl>
                                        <p:attrNameLst>
                                          <p:attrName>ppt_h</p:attrName>
                                        </p:attrNameLst>
                                      </p:cBhvr>
                                      <p:tavLst>
                                        <p:tav tm="0">
                                          <p:val>
                                            <p:fltVal val="0"/>
                                          </p:val>
                                        </p:tav>
                                        <p:tav tm="100000">
                                          <p:val>
                                            <p:strVal val="#ppt_h"/>
                                          </p:val>
                                        </p:tav>
                                      </p:tavLst>
                                    </p:anim>
                                  </p:childTnLst>
                                </p:cTn>
                              </p:par>
                            </p:childTnLst>
                          </p:cTn>
                        </p:par>
                      </p:childTnLst>
                    </p:cTn>
                  </p:par>
                  <p:par>
                    <p:cTn id="104" fill="hold">
                      <p:stCondLst>
                        <p:cond delay="indefinite"/>
                      </p:stCondLst>
                      <p:childTnLst>
                        <p:par>
                          <p:cTn id="105" fill="hold">
                            <p:stCondLst>
                              <p:cond delay="0"/>
                            </p:stCondLst>
                            <p:childTnLst>
                              <p:par>
                                <p:cTn id="106" presetID="4" presetClass="entr" presetSubtype="32" fill="hold" grpId="0" nodeType="clickEffect">
                                  <p:stCondLst>
                                    <p:cond delay="0"/>
                                  </p:stCondLst>
                                  <p:childTnLst>
                                    <p:set>
                                      <p:cBhvr>
                                        <p:cTn id="107" dur="1" fill="hold">
                                          <p:stCondLst>
                                            <p:cond delay="0"/>
                                          </p:stCondLst>
                                        </p:cTn>
                                        <p:tgtEl>
                                          <p:spTgt spid="909374">
                                            <p:txEl>
                                              <p:pRg st="0" end="0"/>
                                            </p:txEl>
                                          </p:spTgt>
                                        </p:tgtEl>
                                        <p:attrNameLst>
                                          <p:attrName>style.visibility</p:attrName>
                                        </p:attrNameLst>
                                      </p:cBhvr>
                                      <p:to>
                                        <p:strVal val="visible"/>
                                      </p:to>
                                    </p:set>
                                    <p:animEffect transition="in" filter="box(out)">
                                      <p:cBhvr>
                                        <p:cTn id="108" dur="500"/>
                                        <p:tgtEl>
                                          <p:spTgt spid="90937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9316" grpId="0" animBg="1"/>
      <p:bldP spid="909374" grpId="0" build="p"/>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矩形 1"/>
          <p:cNvSpPr/>
          <p:nvPr/>
        </p:nvSpPr>
        <p:spPr>
          <a:xfrm>
            <a:off x="0" y="1557338"/>
            <a:ext cx="9144000" cy="4392612"/>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758795" name="Rectangle 11"/>
          <p:cNvSpPr>
            <a:spLocks noChangeArrowheads="1"/>
          </p:cNvSpPr>
          <p:nvPr/>
        </p:nvSpPr>
        <p:spPr bwMode="auto">
          <a:xfrm>
            <a:off x="395288" y="1762125"/>
            <a:ext cx="8748713" cy="417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just"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Status </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PreOrderTraverse</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BiTree</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if(T==NULL) return OK;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空二叉树</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else{    </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smtClean="0">
                <a:ln>
                  <a:noFill/>
                </a:ln>
                <a:solidFill>
                  <a:schemeClr val="tx1"/>
                </a:solidFill>
                <a:effectLst/>
                <a:uLnTx/>
                <a:uFillTx/>
                <a:latin typeface="+mn-lt"/>
                <a:ea typeface="+mn-ea"/>
                <a:cs typeface="+mn-ea"/>
                <a:sym typeface="+mn-lt"/>
              </a:rPr>
              <a:t>visit(T-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&gt;</a:t>
            </a:r>
            <a:r>
              <a:rPr kumimoji="0" lang="en-US" altLang="zh-CN" sz="2800" b="0" i="0" u="none" strike="noStrike" kern="1200" cap="none" spc="0" normalizeH="0" baseline="0" noProof="0" dirty="0" smtClean="0">
                <a:ln>
                  <a:noFill/>
                </a:ln>
                <a:solidFill>
                  <a:schemeClr val="tx1"/>
                </a:solidFill>
                <a:effectLst/>
                <a:uLnTx/>
                <a:uFillTx/>
                <a:latin typeface="+mn-lt"/>
                <a:ea typeface="+mn-ea"/>
                <a:cs typeface="+mn-ea"/>
                <a:sym typeface="+mn-lt"/>
              </a:rPr>
              <a:t>data);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访问根结点</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err="1">
                <a:ln>
                  <a:noFill/>
                </a:ln>
                <a:solidFill>
                  <a:srgbClr val="FF3300"/>
                </a:solidFill>
                <a:effectLst/>
                <a:uLnTx/>
                <a:uFillTx/>
                <a:latin typeface="+mn-lt"/>
                <a:ea typeface="+mn-ea"/>
                <a:cs typeface="+mn-ea"/>
                <a:sym typeface="+mn-lt"/>
              </a:rPr>
              <a:t>PreOrderTraverse</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(T-&gt;</a:t>
            </a:r>
            <a:r>
              <a:rPr kumimoji="0" lang="en-US" altLang="zh-CN" sz="2800" b="0" i="0" u="none" strike="noStrike" kern="1200" cap="none" spc="0" normalizeH="0" baseline="0" noProof="0" dirty="0" err="1">
                <a:ln>
                  <a:noFill/>
                </a:ln>
                <a:solidFill>
                  <a:srgbClr val="FF3300"/>
                </a:solidFill>
                <a:effectLst/>
                <a:uLnTx/>
                <a:uFillTx/>
                <a:latin typeface="+mn-lt"/>
                <a:ea typeface="+mn-ea"/>
                <a:cs typeface="+mn-ea"/>
                <a:sym typeface="+mn-lt"/>
              </a:rPr>
              <a:t>lchild</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递归遍历左子树</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err="1">
                <a:ln>
                  <a:noFill/>
                </a:ln>
                <a:solidFill>
                  <a:srgbClr val="FF3300"/>
                </a:solidFill>
                <a:effectLst/>
                <a:uLnTx/>
                <a:uFillTx/>
                <a:latin typeface="+mn-lt"/>
                <a:ea typeface="+mn-ea"/>
                <a:cs typeface="+mn-ea"/>
                <a:sym typeface="+mn-lt"/>
              </a:rPr>
              <a:t>PreOrderTraverse</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(T-&gt;</a:t>
            </a:r>
            <a:r>
              <a:rPr kumimoji="0" lang="en-US" altLang="zh-CN" sz="2800" b="0" i="0" u="none" strike="noStrike" kern="1200" cap="none" spc="0" normalizeH="0" baseline="0" noProof="0" dirty="0" err="1">
                <a:ln>
                  <a:noFill/>
                </a:ln>
                <a:solidFill>
                  <a:srgbClr val="FF3300"/>
                </a:solidFill>
                <a:effectLst/>
                <a:uLnTx/>
                <a:uFillTx/>
                <a:latin typeface="+mn-lt"/>
                <a:ea typeface="+mn-ea"/>
                <a:cs typeface="+mn-ea"/>
                <a:sym typeface="+mn-lt"/>
              </a:rPr>
              <a:t>rchild</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递归遍历右子树</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758796" name="Rectangle 12"/>
          <p:cNvSpPr>
            <a:spLocks noChangeArrowheads="1"/>
          </p:cNvSpPr>
          <p:nvPr/>
        </p:nvSpPr>
        <p:spPr bwMode="auto">
          <a:xfrm>
            <a:off x="900113" y="184150"/>
            <a:ext cx="3811588"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先序遍历算法</a:t>
            </a:r>
          </a:p>
        </p:txBody>
      </p:sp>
    </p:spTree>
  </p:cSld>
  <p:clrMapOvr>
    <a:masterClrMapping/>
  </p:clrMapOvr>
  <p:transition>
    <p:blinds dir="vert"/>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60418"/>
                                        </p:tgtEl>
                                        <p:attrNameLst>
                                          <p:attrName>style.visibility</p:attrName>
                                        </p:attrNameLst>
                                      </p:cBhvr>
                                      <p:to>
                                        <p:strVal val="visible"/>
                                      </p:to>
                                    </p:set>
                                    <p:animEffect transition="in" filter="fade">
                                      <p:cBhvr>
                                        <p:cTn id="7" dur="1000"/>
                                        <p:tgtEl>
                                          <p:spTgt spid="60418"/>
                                        </p:tgtEl>
                                      </p:cBhvr>
                                    </p:animEffect>
                                    <p:anim calcmode="lin" valueType="num">
                                      <p:cBhvr>
                                        <p:cTn id="8" dur="1000" fill="hold"/>
                                        <p:tgtEl>
                                          <p:spTgt spid="60418"/>
                                        </p:tgtEl>
                                        <p:attrNameLst>
                                          <p:attrName>ppt_x</p:attrName>
                                        </p:attrNameLst>
                                      </p:cBhvr>
                                      <p:tavLst>
                                        <p:tav tm="0">
                                          <p:val>
                                            <p:strVal val="#ppt_x"/>
                                          </p:val>
                                        </p:tav>
                                        <p:tav tm="100000">
                                          <p:val>
                                            <p:strVal val="#ppt_x"/>
                                          </p:val>
                                        </p:tav>
                                      </p:tavLst>
                                    </p:anim>
                                    <p:anim calcmode="lin" valueType="num">
                                      <p:cBhvr>
                                        <p:cTn id="9" dur="1000" fill="hold"/>
                                        <p:tgtEl>
                                          <p:spTgt spid="6041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grpId="0" nodeType="clickEffect">
                                  <p:stCondLst>
                                    <p:cond delay="0"/>
                                  </p:stCondLst>
                                  <p:childTnLst>
                                    <p:set>
                                      <p:cBhvr>
                                        <p:cTn id="13" dur="1" fill="hold">
                                          <p:stCondLst>
                                            <p:cond delay="0"/>
                                          </p:stCondLst>
                                        </p:cTn>
                                        <p:tgtEl>
                                          <p:spTgt spid="758795"/>
                                        </p:tgtEl>
                                        <p:attrNameLst>
                                          <p:attrName>style.visibility</p:attrName>
                                        </p:attrNameLst>
                                      </p:cBhvr>
                                      <p:to>
                                        <p:strVal val="visible"/>
                                      </p:to>
                                    </p:set>
                                    <p:animEffect transition="in" filter="wipe(up)">
                                      <p:cBhvr>
                                        <p:cTn id="14" dur="500"/>
                                        <p:tgtEl>
                                          <p:spTgt spid="7587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418" grpId="0" animBg="1"/>
      <p:bldP spid="758795"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5" name="Text Box 158"/>
          <p:cNvSpPr txBox="1">
            <a:spLocks noChangeArrowheads="1"/>
          </p:cNvSpPr>
          <p:nvPr/>
        </p:nvSpPr>
        <p:spPr bwMode="auto">
          <a:xfrm>
            <a:off x="0" y="0"/>
            <a:ext cx="9144000" cy="6932613"/>
          </a:xfrm>
          <a:prstGeom prst="rect">
            <a:avLst/>
          </a:prstGeom>
          <a:solidFill>
            <a:schemeClr val="bg1"/>
          </a:solidFill>
          <a:ln>
            <a:noFill/>
          </a:ln>
        </p:spPr>
        <p:txBody>
          <a:bodyPr>
            <a:spAutoFit/>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en-US" altLang="zh-CN" sz="2800" b="0" i="0" u="none" strike="noStrike" kern="1200" cap="none" spc="0" normalizeH="0" baseline="0" noProof="0">
              <a:ln>
                <a:noFill/>
              </a:ln>
              <a:solidFill>
                <a:schemeClr val="tx1"/>
              </a:solidFill>
              <a:effectLst/>
              <a:uLnTx/>
              <a:uFillTx/>
              <a:latin typeface="+mn-lt"/>
              <a:ea typeface="+mn-ea"/>
              <a:cs typeface="+mn-ea"/>
              <a:sym typeface="+mn-lt"/>
            </a:endParaRPr>
          </a:p>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en-US" altLang="zh-CN" sz="2800" b="0" i="0" u="none" strike="noStrike" kern="1200" cap="none" spc="0" normalizeH="0" baseline="0" noProof="0">
              <a:ln>
                <a:noFill/>
              </a:ln>
              <a:solidFill>
                <a:schemeClr val="tx1"/>
              </a:solidFill>
              <a:effectLst/>
              <a:uLnTx/>
              <a:uFillTx/>
              <a:latin typeface="+mn-lt"/>
              <a:ea typeface="+mn-ea"/>
              <a:cs typeface="+mn-ea"/>
              <a:sym typeface="+mn-lt"/>
            </a:endParaRPr>
          </a:p>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en-US" altLang="zh-CN" sz="2800" b="0" i="0" u="none" strike="noStrike" kern="1200" cap="none" spc="0" normalizeH="0" baseline="0" noProof="0">
              <a:ln>
                <a:noFill/>
              </a:ln>
              <a:solidFill>
                <a:schemeClr val="tx1"/>
              </a:solidFill>
              <a:effectLst/>
              <a:uLnTx/>
              <a:uFillTx/>
              <a:latin typeface="+mn-lt"/>
              <a:ea typeface="+mn-ea"/>
              <a:cs typeface="+mn-ea"/>
              <a:sym typeface="+mn-lt"/>
            </a:endParaRPr>
          </a:p>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en-US" altLang="zh-CN" sz="2800" b="0" i="0" u="none" strike="noStrike" kern="1200" cap="none" spc="0" normalizeH="0" baseline="0" noProof="0">
              <a:ln>
                <a:noFill/>
              </a:ln>
              <a:solidFill>
                <a:schemeClr val="tx1"/>
              </a:solidFill>
              <a:effectLst/>
              <a:uLnTx/>
              <a:uFillTx/>
              <a:latin typeface="+mn-lt"/>
              <a:ea typeface="+mn-ea"/>
              <a:cs typeface="+mn-ea"/>
              <a:sym typeface="+mn-lt"/>
            </a:endParaRPr>
          </a:p>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en-US" altLang="zh-CN" sz="2800" b="0" i="0" u="none" strike="noStrike" kern="1200" cap="none" spc="0" normalizeH="0" baseline="0" noProof="0">
              <a:ln>
                <a:noFill/>
              </a:ln>
              <a:solidFill>
                <a:schemeClr val="tx1"/>
              </a:solidFill>
              <a:effectLst/>
              <a:uLnTx/>
              <a:uFillTx/>
              <a:latin typeface="+mn-lt"/>
              <a:ea typeface="+mn-ea"/>
              <a:cs typeface="+mn-ea"/>
              <a:sym typeface="+mn-lt"/>
            </a:endParaRPr>
          </a:p>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en-US" altLang="zh-CN" sz="2800" b="0" i="0" u="none" strike="noStrike" kern="1200" cap="none" spc="0" normalizeH="0" baseline="0" noProof="0">
              <a:ln>
                <a:noFill/>
              </a:ln>
              <a:solidFill>
                <a:schemeClr val="tx1"/>
              </a:solidFill>
              <a:effectLst/>
              <a:uLnTx/>
              <a:uFillTx/>
              <a:latin typeface="+mn-lt"/>
              <a:ea typeface="+mn-ea"/>
              <a:cs typeface="+mn-ea"/>
              <a:sym typeface="+mn-lt"/>
            </a:endParaRPr>
          </a:p>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en-US" altLang="zh-CN" sz="2800" b="0" i="0" u="none" strike="noStrike" kern="1200" cap="none" spc="0" normalizeH="0" baseline="0" noProof="0">
              <a:ln>
                <a:noFill/>
              </a:ln>
              <a:solidFill>
                <a:schemeClr val="tx1"/>
              </a:solidFill>
              <a:effectLst/>
              <a:uLnTx/>
              <a:uFillTx/>
              <a:latin typeface="+mn-lt"/>
              <a:ea typeface="+mn-ea"/>
              <a:cs typeface="+mn-ea"/>
              <a:sym typeface="+mn-lt"/>
            </a:endParaRPr>
          </a:p>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en-US" altLang="zh-CN" sz="2800" b="0" i="0" u="none" strike="noStrike" kern="1200" cap="none" spc="0" normalizeH="0" baseline="0" noProof="0">
              <a:ln>
                <a:noFill/>
              </a:ln>
              <a:solidFill>
                <a:schemeClr val="tx1"/>
              </a:solidFill>
              <a:effectLst/>
              <a:uLnTx/>
              <a:uFillTx/>
              <a:latin typeface="+mn-lt"/>
              <a:ea typeface="+mn-ea"/>
              <a:cs typeface="+mn-ea"/>
              <a:sym typeface="+mn-lt"/>
            </a:endParaRPr>
          </a:p>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en-US" altLang="zh-CN" sz="2800" b="0" i="0" u="none" strike="noStrike" kern="1200" cap="none" spc="0" normalizeH="0" baseline="0" noProof="0">
              <a:ln>
                <a:noFill/>
              </a:ln>
              <a:solidFill>
                <a:schemeClr val="tx1"/>
              </a:solidFill>
              <a:effectLst/>
              <a:uLnTx/>
              <a:uFillTx/>
              <a:latin typeface="+mn-lt"/>
              <a:ea typeface="+mn-ea"/>
              <a:cs typeface="+mn-ea"/>
              <a:sym typeface="+mn-lt"/>
            </a:endParaRPr>
          </a:p>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en-US" altLang="zh-CN" sz="2800" b="0" i="0" u="none" strike="noStrike" kern="1200" cap="none" spc="0" normalizeH="0" baseline="0" noProof="0">
              <a:ln>
                <a:noFill/>
              </a:ln>
              <a:solidFill>
                <a:schemeClr val="tx1"/>
              </a:solidFill>
              <a:effectLst/>
              <a:uLnTx/>
              <a:uFillTx/>
              <a:latin typeface="+mn-lt"/>
              <a:ea typeface="+mn-ea"/>
              <a:cs typeface="+mn-ea"/>
              <a:sym typeface="+mn-lt"/>
            </a:endParaRPr>
          </a:p>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endParaRPr kumimoji="0" lang="en-US" altLang="zh-CN"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276" name="Text Box 159"/>
          <p:cNvSpPr txBox="1">
            <a:spLocks noChangeArrowheads="1"/>
          </p:cNvSpPr>
          <p:nvPr/>
        </p:nvSpPr>
        <p:spPr bwMode="auto">
          <a:xfrm>
            <a:off x="334963" y="277813"/>
            <a:ext cx="3912994" cy="2246769"/>
          </a:xfrm>
          <a:prstGeom prst="rect">
            <a:avLst/>
          </a:prstGeom>
          <a:noFill/>
          <a:ln w="9525">
            <a:solidFill>
              <a:srgbClr val="000000"/>
            </a:solidFill>
            <a:miter lim="800000"/>
          </a:ln>
          <a:extLst>
            <a:ext uri="{909E8E84-426E-40DD-AFC4-6F175D3DCCD1}">
              <a14:hiddenFill xmlns:a14="http://schemas.microsoft.com/office/drawing/2010/main">
                <a:solidFill>
                  <a:srgbClr val="FFFFFF"/>
                </a:solidFill>
              </a14:hiddenFill>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Status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PreOrderTraverse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BiTree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T){</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if(T==NULL) return OK; else{    </a:t>
            </a:r>
          </a:p>
          <a:p>
            <a:pPr lvl="0">
              <a:spcBef>
                <a:spcPct val="20000"/>
              </a:spcBef>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lang="en-US" altLang="zh-CN" sz="2000" b="0" dirty="0">
                <a:latin typeface="+mn-lt"/>
                <a:ea typeface="+mn-ea"/>
                <a:cs typeface="+mn-ea"/>
                <a:sym typeface="+mn-lt"/>
              </a:rPr>
              <a:t>visit(T-&gt;data); </a:t>
            </a:r>
            <a:endParaRPr lang="en-US" altLang="zh-CN" sz="2000" b="0" dirty="0" smtClean="0">
              <a:latin typeface="+mn-lt"/>
              <a:ea typeface="+mn-ea"/>
              <a:cs typeface="+mn-ea"/>
              <a:sym typeface="+mn-lt"/>
            </a:endParaRPr>
          </a:p>
          <a:p>
            <a:pPr lvl="0">
              <a:spcBef>
                <a:spcPct val="20000"/>
              </a:spcBef>
              <a:defRPr/>
            </a:pPr>
            <a:r>
              <a:rPr lang="en-US" altLang="zh-CN" sz="2000" b="0" dirty="0" smtClean="0">
                <a:latin typeface="+mn-lt"/>
                <a:ea typeface="+mn-ea"/>
                <a:cs typeface="+mn-ea"/>
                <a:sym typeface="+mn-lt"/>
              </a:rPr>
              <a:t>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PreOrderTraverse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(T-&gt;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lchild</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PreOrderTraverse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(T-&gt;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rchild</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p>
        </p:txBody>
      </p:sp>
      <p:grpSp>
        <p:nvGrpSpPr>
          <p:cNvPr id="2" name="Group 160"/>
          <p:cNvGrpSpPr/>
          <p:nvPr/>
        </p:nvGrpSpPr>
        <p:grpSpPr>
          <a:xfrm>
            <a:off x="233363" y="3525838"/>
            <a:ext cx="1143000" cy="1235075"/>
            <a:chOff x="192" y="2160"/>
            <a:chExt cx="720" cy="778"/>
          </a:xfrm>
        </p:grpSpPr>
        <p:sp>
          <p:nvSpPr>
            <p:cNvPr id="54278" name="Line 161"/>
            <p:cNvSpPr>
              <a:spLocks noChangeShapeType="1"/>
            </p:cNvSpPr>
            <p:nvPr/>
          </p:nvSpPr>
          <p:spPr bwMode="auto">
            <a:xfrm>
              <a:off x="480" y="2400"/>
              <a:ext cx="0" cy="336"/>
            </a:xfrm>
            <a:prstGeom prst="line">
              <a:avLst/>
            </a:prstGeom>
            <a:noFill/>
            <a:ln w="19050">
              <a:solidFill>
                <a:srgbClr val="FF33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279" name="Text Box 162"/>
            <p:cNvSpPr txBox="1">
              <a:spLocks noChangeArrowheads="1"/>
            </p:cNvSpPr>
            <p:nvPr/>
          </p:nvSpPr>
          <p:spPr bwMode="auto">
            <a:xfrm>
              <a:off x="192" y="2160"/>
              <a:ext cx="62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1" i="0" u="none" strike="noStrike" kern="1200" cap="none" spc="0" normalizeH="0" baseline="0" noProof="0">
                  <a:ln>
                    <a:noFill/>
                  </a:ln>
                  <a:solidFill>
                    <a:schemeClr val="tx1"/>
                  </a:solidFill>
                  <a:effectLst/>
                  <a:uLnTx/>
                  <a:uFillTx/>
                  <a:latin typeface="+mn-lt"/>
                  <a:ea typeface="+mn-ea"/>
                  <a:cs typeface="+mn-ea"/>
                  <a:sym typeface="+mn-lt"/>
                </a:rPr>
                <a:t>主程序</a:t>
              </a:r>
            </a:p>
          </p:txBody>
        </p:sp>
        <p:sp>
          <p:nvSpPr>
            <p:cNvPr id="54280" name="Text Box 163"/>
            <p:cNvSpPr txBox="1">
              <a:spLocks noChangeArrowheads="1"/>
            </p:cNvSpPr>
            <p:nvPr/>
          </p:nvSpPr>
          <p:spPr bwMode="auto">
            <a:xfrm>
              <a:off x="240" y="2688"/>
              <a:ext cx="67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1" i="0" u="none" strike="noStrike" kern="1200" cap="none" spc="0" normalizeH="0" baseline="0" noProof="0">
                  <a:ln>
                    <a:noFill/>
                  </a:ln>
                  <a:solidFill>
                    <a:schemeClr val="tx1"/>
                  </a:solidFill>
                  <a:effectLst/>
                  <a:uLnTx/>
                  <a:uFillTx/>
                  <a:latin typeface="+mn-lt"/>
                  <a:ea typeface="+mn-ea"/>
                  <a:cs typeface="+mn-ea"/>
                  <a:sym typeface="+mn-lt"/>
                </a:rPr>
                <a:t>Pre( T )</a:t>
              </a:r>
            </a:p>
          </p:txBody>
        </p:sp>
      </p:grpSp>
      <p:sp>
        <p:nvSpPr>
          <p:cNvPr id="912548" name="Line 164"/>
          <p:cNvSpPr>
            <a:spLocks noChangeShapeType="1"/>
          </p:cNvSpPr>
          <p:nvPr/>
        </p:nvSpPr>
        <p:spPr bwMode="auto">
          <a:xfrm>
            <a:off x="690563" y="4821238"/>
            <a:ext cx="1588" cy="609600"/>
          </a:xfrm>
          <a:prstGeom prst="line">
            <a:avLst/>
          </a:prstGeom>
          <a:noFill/>
          <a:ln w="19050">
            <a:solidFill>
              <a:srgbClr val="FF33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2549" name="Text Box 165"/>
          <p:cNvSpPr txBox="1">
            <a:spLocks noChangeArrowheads="1"/>
          </p:cNvSpPr>
          <p:nvPr/>
        </p:nvSpPr>
        <p:spPr bwMode="auto">
          <a:xfrm>
            <a:off x="7777163" y="3830638"/>
            <a:ext cx="762000" cy="396875"/>
          </a:xfrm>
          <a:prstGeom prst="rect">
            <a:avLst/>
          </a:prstGeom>
          <a:solidFill>
            <a:srgbClr val="A5A5E9"/>
          </a:solid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a:ln>
                  <a:noFill/>
                </a:ln>
                <a:solidFill>
                  <a:schemeClr val="tx1"/>
                </a:solidFill>
                <a:effectLst/>
                <a:uLnTx/>
                <a:uFillTx/>
                <a:latin typeface="+mn-lt"/>
                <a:ea typeface="+mn-ea"/>
                <a:cs typeface="+mn-ea"/>
                <a:sym typeface="+mn-lt"/>
              </a:rPr>
              <a:t>返回</a:t>
            </a:r>
          </a:p>
        </p:txBody>
      </p:sp>
      <p:grpSp>
        <p:nvGrpSpPr>
          <p:cNvPr id="3" name="Group 166"/>
          <p:cNvGrpSpPr/>
          <p:nvPr/>
        </p:nvGrpSpPr>
        <p:grpSpPr>
          <a:xfrm>
            <a:off x="7167563" y="3373438"/>
            <a:ext cx="533400" cy="838200"/>
            <a:chOff x="4560" y="1968"/>
            <a:chExt cx="336" cy="528"/>
          </a:xfrm>
        </p:grpSpPr>
        <p:sp>
          <p:nvSpPr>
            <p:cNvPr id="54284" name="Line 167"/>
            <p:cNvSpPr>
              <a:spLocks noChangeShapeType="1"/>
            </p:cNvSpPr>
            <p:nvPr/>
          </p:nvSpPr>
          <p:spPr bwMode="auto">
            <a:xfrm>
              <a:off x="4560" y="2448"/>
              <a:ext cx="192"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285" name="Line 168"/>
            <p:cNvSpPr>
              <a:spLocks noChangeShapeType="1"/>
            </p:cNvSpPr>
            <p:nvPr/>
          </p:nvSpPr>
          <p:spPr bwMode="auto">
            <a:xfrm>
              <a:off x="4752" y="1968"/>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286" name="Line 169"/>
            <p:cNvSpPr>
              <a:spLocks noChangeShapeType="1"/>
            </p:cNvSpPr>
            <p:nvPr/>
          </p:nvSpPr>
          <p:spPr bwMode="auto">
            <a:xfrm>
              <a:off x="4752" y="2496"/>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287" name="Line 170"/>
            <p:cNvSpPr>
              <a:spLocks noChangeShapeType="1"/>
            </p:cNvSpPr>
            <p:nvPr/>
          </p:nvSpPr>
          <p:spPr bwMode="auto">
            <a:xfrm flipV="1">
              <a:off x="4752" y="1968"/>
              <a:ext cx="0" cy="528"/>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12555" name="Text Box 171"/>
          <p:cNvSpPr txBox="1">
            <a:spLocks noChangeArrowheads="1"/>
          </p:cNvSpPr>
          <p:nvPr/>
        </p:nvSpPr>
        <p:spPr bwMode="auto">
          <a:xfrm>
            <a:off x="7777163" y="4745038"/>
            <a:ext cx="762000" cy="396875"/>
          </a:xfrm>
          <a:prstGeom prst="rect">
            <a:avLst/>
          </a:prstGeom>
          <a:solidFill>
            <a:srgbClr val="A5A5E9"/>
          </a:solid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a:ln>
                  <a:noFill/>
                </a:ln>
                <a:solidFill>
                  <a:schemeClr val="tx1"/>
                </a:solidFill>
                <a:effectLst/>
                <a:uLnTx/>
                <a:uFillTx/>
                <a:latin typeface="+mn-lt"/>
                <a:ea typeface="+mn-ea"/>
                <a:cs typeface="+mn-ea"/>
                <a:sym typeface="+mn-lt"/>
              </a:rPr>
              <a:t>返回</a:t>
            </a:r>
          </a:p>
        </p:txBody>
      </p:sp>
      <p:grpSp>
        <p:nvGrpSpPr>
          <p:cNvPr id="4" name="Group 172"/>
          <p:cNvGrpSpPr/>
          <p:nvPr/>
        </p:nvGrpSpPr>
        <p:grpSpPr>
          <a:xfrm>
            <a:off x="7167563" y="4287838"/>
            <a:ext cx="533400" cy="838200"/>
            <a:chOff x="4560" y="2544"/>
            <a:chExt cx="336" cy="528"/>
          </a:xfrm>
        </p:grpSpPr>
        <p:sp>
          <p:nvSpPr>
            <p:cNvPr id="54290" name="Line 173"/>
            <p:cNvSpPr>
              <a:spLocks noChangeShapeType="1"/>
            </p:cNvSpPr>
            <p:nvPr/>
          </p:nvSpPr>
          <p:spPr bwMode="auto">
            <a:xfrm>
              <a:off x="4560" y="2688"/>
              <a:ext cx="192"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291" name="Line 174"/>
            <p:cNvSpPr>
              <a:spLocks noChangeShapeType="1"/>
            </p:cNvSpPr>
            <p:nvPr/>
          </p:nvSpPr>
          <p:spPr bwMode="auto">
            <a:xfrm>
              <a:off x="4752" y="2544"/>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292" name="Line 175"/>
            <p:cNvSpPr>
              <a:spLocks noChangeShapeType="1"/>
            </p:cNvSpPr>
            <p:nvPr/>
          </p:nvSpPr>
          <p:spPr bwMode="auto">
            <a:xfrm>
              <a:off x="4752" y="3072"/>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293" name="Line 176"/>
            <p:cNvSpPr>
              <a:spLocks noChangeShapeType="1"/>
            </p:cNvSpPr>
            <p:nvPr/>
          </p:nvSpPr>
          <p:spPr bwMode="auto">
            <a:xfrm flipV="1">
              <a:off x="4752" y="2544"/>
              <a:ext cx="0" cy="528"/>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5" name="Group 177"/>
          <p:cNvGrpSpPr/>
          <p:nvPr/>
        </p:nvGrpSpPr>
        <p:grpSpPr>
          <a:xfrm>
            <a:off x="3128963" y="4592638"/>
            <a:ext cx="609600" cy="1752600"/>
            <a:chOff x="2016" y="2736"/>
            <a:chExt cx="384" cy="1104"/>
          </a:xfrm>
        </p:grpSpPr>
        <p:sp>
          <p:nvSpPr>
            <p:cNvPr id="54295" name="Line 178"/>
            <p:cNvSpPr>
              <a:spLocks noChangeShapeType="1"/>
            </p:cNvSpPr>
            <p:nvPr/>
          </p:nvSpPr>
          <p:spPr bwMode="auto">
            <a:xfrm>
              <a:off x="2016" y="2832"/>
              <a:ext cx="240"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4" name="Line 179"/>
            <p:cNvSpPr>
              <a:spLocks noChangeShapeType="1"/>
            </p:cNvSpPr>
            <p:nvPr/>
          </p:nvSpPr>
          <p:spPr bwMode="auto">
            <a:xfrm>
              <a:off x="2256" y="2736"/>
              <a:ext cx="0" cy="1104"/>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6" name="Line 180"/>
            <p:cNvSpPr>
              <a:spLocks noChangeShapeType="1"/>
            </p:cNvSpPr>
            <p:nvPr/>
          </p:nvSpPr>
          <p:spPr bwMode="auto">
            <a:xfrm>
              <a:off x="2256" y="2736"/>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8" name="Line 181"/>
            <p:cNvSpPr>
              <a:spLocks noChangeShapeType="1"/>
            </p:cNvSpPr>
            <p:nvPr/>
          </p:nvSpPr>
          <p:spPr bwMode="auto">
            <a:xfrm>
              <a:off x="2256" y="3840"/>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6" name="Group 182"/>
          <p:cNvGrpSpPr/>
          <p:nvPr/>
        </p:nvGrpSpPr>
        <p:grpSpPr>
          <a:xfrm>
            <a:off x="3814763" y="5888038"/>
            <a:ext cx="1371600" cy="396875"/>
            <a:chOff x="2448" y="3552"/>
            <a:chExt cx="864" cy="250"/>
          </a:xfrm>
        </p:grpSpPr>
        <p:sp>
          <p:nvSpPr>
            <p:cNvPr id="54300" name="Text Box 183"/>
            <p:cNvSpPr txBox="1">
              <a:spLocks noChangeArrowheads="1"/>
            </p:cNvSpPr>
            <p:nvPr/>
          </p:nvSpPr>
          <p:spPr bwMode="auto">
            <a:xfrm>
              <a:off x="2448" y="3552"/>
              <a:ext cx="864" cy="250"/>
            </a:xfrm>
            <a:prstGeom prst="rect">
              <a:avLst/>
            </a:prstGeom>
            <a:solidFill>
              <a:schemeClr val="accent1">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pre(T    R);</a:t>
              </a:r>
            </a:p>
          </p:txBody>
        </p:sp>
        <p:sp>
          <p:nvSpPr>
            <p:cNvPr id="54301" name="Line 184"/>
            <p:cNvSpPr>
              <a:spLocks noChangeShapeType="1"/>
            </p:cNvSpPr>
            <p:nvPr/>
          </p:nvSpPr>
          <p:spPr bwMode="auto">
            <a:xfrm>
              <a:off x="2880" y="3696"/>
              <a:ext cx="144"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12569" name="Text Box 185"/>
          <p:cNvSpPr txBox="1">
            <a:spLocks noChangeArrowheads="1"/>
          </p:cNvSpPr>
          <p:nvPr/>
        </p:nvSpPr>
        <p:spPr bwMode="auto">
          <a:xfrm>
            <a:off x="5719763" y="5430838"/>
            <a:ext cx="762000" cy="396875"/>
          </a:xfrm>
          <a:prstGeom prst="rect">
            <a:avLst/>
          </a:prstGeom>
          <a:solidFill>
            <a:srgbClr val="A5A5E9"/>
          </a:solid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a:ln>
                  <a:noFill/>
                </a:ln>
                <a:solidFill>
                  <a:schemeClr val="tx1"/>
                </a:solidFill>
                <a:effectLst/>
                <a:uLnTx/>
                <a:uFillTx/>
                <a:latin typeface="+mn-lt"/>
                <a:ea typeface="+mn-ea"/>
                <a:cs typeface="+mn-ea"/>
                <a:sym typeface="+mn-lt"/>
              </a:rPr>
              <a:t>返回</a:t>
            </a:r>
          </a:p>
        </p:txBody>
      </p:sp>
      <p:grpSp>
        <p:nvGrpSpPr>
          <p:cNvPr id="7" name="Group 186"/>
          <p:cNvGrpSpPr/>
          <p:nvPr/>
        </p:nvGrpSpPr>
        <p:grpSpPr>
          <a:xfrm>
            <a:off x="5110163" y="4973638"/>
            <a:ext cx="533400" cy="838200"/>
            <a:chOff x="3264" y="2976"/>
            <a:chExt cx="336" cy="528"/>
          </a:xfrm>
        </p:grpSpPr>
        <p:sp>
          <p:nvSpPr>
            <p:cNvPr id="54304" name="Line 187"/>
            <p:cNvSpPr>
              <a:spLocks noChangeShapeType="1"/>
            </p:cNvSpPr>
            <p:nvPr/>
          </p:nvSpPr>
          <p:spPr bwMode="auto">
            <a:xfrm>
              <a:off x="3264" y="3456"/>
              <a:ext cx="192"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05" name="Line 188"/>
            <p:cNvSpPr>
              <a:spLocks noChangeShapeType="1"/>
            </p:cNvSpPr>
            <p:nvPr/>
          </p:nvSpPr>
          <p:spPr bwMode="auto">
            <a:xfrm>
              <a:off x="3456" y="2976"/>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06" name="Line 189"/>
            <p:cNvSpPr>
              <a:spLocks noChangeShapeType="1"/>
            </p:cNvSpPr>
            <p:nvPr/>
          </p:nvSpPr>
          <p:spPr bwMode="auto">
            <a:xfrm>
              <a:off x="3456" y="3504"/>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07" name="Line 190"/>
            <p:cNvSpPr>
              <a:spLocks noChangeShapeType="1"/>
            </p:cNvSpPr>
            <p:nvPr/>
          </p:nvSpPr>
          <p:spPr bwMode="auto">
            <a:xfrm flipV="1">
              <a:off x="3456" y="2976"/>
              <a:ext cx="0" cy="528"/>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12575" name="Text Box 191"/>
          <p:cNvSpPr txBox="1">
            <a:spLocks noChangeArrowheads="1"/>
          </p:cNvSpPr>
          <p:nvPr/>
        </p:nvSpPr>
        <p:spPr bwMode="auto">
          <a:xfrm>
            <a:off x="5719763" y="6345238"/>
            <a:ext cx="762000" cy="396875"/>
          </a:xfrm>
          <a:prstGeom prst="rect">
            <a:avLst/>
          </a:prstGeom>
          <a:solidFill>
            <a:srgbClr val="A5A5E9"/>
          </a:solid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a:ln>
                  <a:noFill/>
                </a:ln>
                <a:solidFill>
                  <a:schemeClr val="tx1"/>
                </a:solidFill>
                <a:effectLst/>
                <a:uLnTx/>
                <a:uFillTx/>
                <a:latin typeface="+mn-lt"/>
                <a:ea typeface="+mn-ea"/>
                <a:cs typeface="+mn-ea"/>
                <a:sym typeface="+mn-lt"/>
              </a:rPr>
              <a:t>返回</a:t>
            </a:r>
          </a:p>
        </p:txBody>
      </p:sp>
      <p:grpSp>
        <p:nvGrpSpPr>
          <p:cNvPr id="8" name="Group 192"/>
          <p:cNvGrpSpPr/>
          <p:nvPr/>
        </p:nvGrpSpPr>
        <p:grpSpPr>
          <a:xfrm>
            <a:off x="5110163" y="5888038"/>
            <a:ext cx="533400" cy="838200"/>
            <a:chOff x="3264" y="3552"/>
            <a:chExt cx="336" cy="528"/>
          </a:xfrm>
        </p:grpSpPr>
        <p:sp>
          <p:nvSpPr>
            <p:cNvPr id="54310" name="Line 193"/>
            <p:cNvSpPr>
              <a:spLocks noChangeShapeType="1"/>
            </p:cNvSpPr>
            <p:nvPr/>
          </p:nvSpPr>
          <p:spPr bwMode="auto">
            <a:xfrm>
              <a:off x="3264" y="3696"/>
              <a:ext cx="192"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11" name="Line 194"/>
            <p:cNvSpPr>
              <a:spLocks noChangeShapeType="1"/>
            </p:cNvSpPr>
            <p:nvPr/>
          </p:nvSpPr>
          <p:spPr bwMode="auto">
            <a:xfrm>
              <a:off x="3456" y="3552"/>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12" name="Line 195"/>
            <p:cNvSpPr>
              <a:spLocks noChangeShapeType="1"/>
            </p:cNvSpPr>
            <p:nvPr/>
          </p:nvSpPr>
          <p:spPr bwMode="auto">
            <a:xfrm>
              <a:off x="3456" y="4080"/>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0" name="Line 196"/>
            <p:cNvSpPr>
              <a:spLocks noChangeShapeType="1"/>
            </p:cNvSpPr>
            <p:nvPr/>
          </p:nvSpPr>
          <p:spPr bwMode="auto">
            <a:xfrm flipV="1">
              <a:off x="3456" y="3552"/>
              <a:ext cx="0" cy="528"/>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9" name="Group 197"/>
          <p:cNvGrpSpPr/>
          <p:nvPr/>
        </p:nvGrpSpPr>
        <p:grpSpPr>
          <a:xfrm>
            <a:off x="1223963" y="3221038"/>
            <a:ext cx="609600" cy="1752600"/>
            <a:chOff x="816" y="1872"/>
            <a:chExt cx="384" cy="1104"/>
          </a:xfrm>
        </p:grpSpPr>
        <p:sp>
          <p:nvSpPr>
            <p:cNvPr id="22" name="Line 198"/>
            <p:cNvSpPr>
              <a:spLocks noChangeShapeType="1"/>
            </p:cNvSpPr>
            <p:nvPr/>
          </p:nvSpPr>
          <p:spPr bwMode="auto">
            <a:xfrm>
              <a:off x="816" y="2736"/>
              <a:ext cx="240"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16" name="Line 199"/>
            <p:cNvSpPr>
              <a:spLocks noChangeShapeType="1"/>
            </p:cNvSpPr>
            <p:nvPr/>
          </p:nvSpPr>
          <p:spPr bwMode="auto">
            <a:xfrm>
              <a:off x="1056" y="1872"/>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17" name="Line 200"/>
            <p:cNvSpPr>
              <a:spLocks noChangeShapeType="1"/>
            </p:cNvSpPr>
            <p:nvPr/>
          </p:nvSpPr>
          <p:spPr bwMode="auto">
            <a:xfrm>
              <a:off x="1056" y="2976"/>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18" name="Line 201"/>
            <p:cNvSpPr>
              <a:spLocks noChangeShapeType="1"/>
            </p:cNvSpPr>
            <p:nvPr/>
          </p:nvSpPr>
          <p:spPr bwMode="auto">
            <a:xfrm flipV="1">
              <a:off x="1056" y="1872"/>
              <a:ext cx="0" cy="1104"/>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0" name="Group 202"/>
          <p:cNvGrpSpPr/>
          <p:nvPr/>
        </p:nvGrpSpPr>
        <p:grpSpPr>
          <a:xfrm>
            <a:off x="5033963" y="2992438"/>
            <a:ext cx="762000" cy="1752600"/>
            <a:chOff x="3216" y="1728"/>
            <a:chExt cx="480" cy="1104"/>
          </a:xfrm>
        </p:grpSpPr>
        <p:sp>
          <p:nvSpPr>
            <p:cNvPr id="54320" name="Line 203"/>
            <p:cNvSpPr>
              <a:spLocks noChangeShapeType="1"/>
            </p:cNvSpPr>
            <p:nvPr/>
          </p:nvSpPr>
          <p:spPr bwMode="auto">
            <a:xfrm>
              <a:off x="3552" y="1728"/>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21" name="Line 204"/>
            <p:cNvSpPr>
              <a:spLocks noChangeShapeType="1"/>
            </p:cNvSpPr>
            <p:nvPr/>
          </p:nvSpPr>
          <p:spPr bwMode="auto">
            <a:xfrm>
              <a:off x="3552" y="2832"/>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22" name="Line 205"/>
            <p:cNvSpPr>
              <a:spLocks noChangeShapeType="1"/>
            </p:cNvSpPr>
            <p:nvPr/>
          </p:nvSpPr>
          <p:spPr bwMode="auto">
            <a:xfrm>
              <a:off x="3216" y="2544"/>
              <a:ext cx="336"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23" name="Line 206"/>
            <p:cNvSpPr>
              <a:spLocks noChangeShapeType="1"/>
            </p:cNvSpPr>
            <p:nvPr/>
          </p:nvSpPr>
          <p:spPr bwMode="auto">
            <a:xfrm flipV="1">
              <a:off x="3552" y="1728"/>
              <a:ext cx="0" cy="1104"/>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1" name="Group 207"/>
          <p:cNvGrpSpPr/>
          <p:nvPr/>
        </p:nvGrpSpPr>
        <p:grpSpPr>
          <a:xfrm>
            <a:off x="5033963" y="2078038"/>
            <a:ext cx="762000" cy="1828800"/>
            <a:chOff x="3216" y="1152"/>
            <a:chExt cx="480" cy="1152"/>
          </a:xfrm>
        </p:grpSpPr>
        <p:sp>
          <p:nvSpPr>
            <p:cNvPr id="54325" name="Line 208"/>
            <p:cNvSpPr>
              <a:spLocks noChangeShapeType="1"/>
            </p:cNvSpPr>
            <p:nvPr/>
          </p:nvSpPr>
          <p:spPr bwMode="auto">
            <a:xfrm>
              <a:off x="3408" y="1488"/>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26" name="Line 209"/>
            <p:cNvSpPr>
              <a:spLocks noChangeShapeType="1"/>
            </p:cNvSpPr>
            <p:nvPr/>
          </p:nvSpPr>
          <p:spPr bwMode="auto">
            <a:xfrm>
              <a:off x="3552" y="1152"/>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27" name="Line 210"/>
            <p:cNvSpPr>
              <a:spLocks noChangeShapeType="1"/>
            </p:cNvSpPr>
            <p:nvPr/>
          </p:nvSpPr>
          <p:spPr bwMode="auto">
            <a:xfrm>
              <a:off x="3552" y="1680"/>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28" name="Line 211"/>
            <p:cNvSpPr>
              <a:spLocks noChangeShapeType="1"/>
            </p:cNvSpPr>
            <p:nvPr/>
          </p:nvSpPr>
          <p:spPr bwMode="auto">
            <a:xfrm flipV="1">
              <a:off x="3552" y="1152"/>
              <a:ext cx="0" cy="528"/>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24" name="Line 212"/>
            <p:cNvSpPr>
              <a:spLocks noChangeShapeType="1"/>
            </p:cNvSpPr>
            <p:nvPr/>
          </p:nvSpPr>
          <p:spPr bwMode="auto">
            <a:xfrm>
              <a:off x="3216" y="2304"/>
              <a:ext cx="192"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30" name="Line 213"/>
            <p:cNvSpPr>
              <a:spLocks noChangeShapeType="1"/>
            </p:cNvSpPr>
            <p:nvPr/>
          </p:nvSpPr>
          <p:spPr bwMode="auto">
            <a:xfrm flipV="1">
              <a:off x="3408" y="1488"/>
              <a:ext cx="0" cy="816"/>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2" name="Group 214"/>
          <p:cNvGrpSpPr/>
          <p:nvPr/>
        </p:nvGrpSpPr>
        <p:grpSpPr>
          <a:xfrm>
            <a:off x="5872163" y="4287838"/>
            <a:ext cx="1371600" cy="396875"/>
            <a:chOff x="3744" y="2544"/>
            <a:chExt cx="864" cy="250"/>
          </a:xfrm>
        </p:grpSpPr>
        <p:sp>
          <p:nvSpPr>
            <p:cNvPr id="54332" name="Text Box 215"/>
            <p:cNvSpPr txBox="1">
              <a:spLocks noChangeArrowheads="1"/>
            </p:cNvSpPr>
            <p:nvPr/>
          </p:nvSpPr>
          <p:spPr bwMode="auto">
            <a:xfrm>
              <a:off x="3744" y="2544"/>
              <a:ext cx="864" cy="250"/>
            </a:xfrm>
            <a:prstGeom prst="rect">
              <a:avLst/>
            </a:prstGeom>
            <a:solidFill>
              <a:schemeClr val="accent1">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pre(T    R);</a:t>
              </a:r>
            </a:p>
          </p:txBody>
        </p:sp>
        <p:sp>
          <p:nvSpPr>
            <p:cNvPr id="54333" name="Line 216"/>
            <p:cNvSpPr>
              <a:spLocks noChangeShapeType="1"/>
            </p:cNvSpPr>
            <p:nvPr/>
          </p:nvSpPr>
          <p:spPr bwMode="auto">
            <a:xfrm>
              <a:off x="4150" y="2688"/>
              <a:ext cx="155"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4334" name="Oval 217"/>
          <p:cNvSpPr>
            <a:spLocks noChangeArrowheads="1"/>
          </p:cNvSpPr>
          <p:nvPr/>
        </p:nvSpPr>
        <p:spPr bwMode="auto">
          <a:xfrm>
            <a:off x="7396163" y="325438"/>
            <a:ext cx="533400" cy="457200"/>
          </a:xfrm>
          <a:prstGeom prst="ellipse">
            <a:avLst/>
          </a:prstGeom>
          <a:solidFill>
            <a:srgbClr val="CCFFCC"/>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A</a:t>
            </a:r>
          </a:p>
        </p:txBody>
      </p:sp>
      <p:sp>
        <p:nvSpPr>
          <p:cNvPr id="54335" name="Oval 218"/>
          <p:cNvSpPr>
            <a:spLocks noChangeArrowheads="1"/>
          </p:cNvSpPr>
          <p:nvPr/>
        </p:nvSpPr>
        <p:spPr bwMode="auto">
          <a:xfrm>
            <a:off x="8234363" y="1163638"/>
            <a:ext cx="533400" cy="457200"/>
          </a:xfrm>
          <a:prstGeom prst="ellipse">
            <a:avLst/>
          </a:prstGeom>
          <a:solidFill>
            <a:srgbClr val="FFFFCC"/>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C</a:t>
            </a:r>
          </a:p>
        </p:txBody>
      </p:sp>
      <p:sp>
        <p:nvSpPr>
          <p:cNvPr id="54336" name="Oval 219"/>
          <p:cNvSpPr>
            <a:spLocks noChangeArrowheads="1"/>
          </p:cNvSpPr>
          <p:nvPr/>
        </p:nvSpPr>
        <p:spPr bwMode="auto">
          <a:xfrm>
            <a:off x="6557963" y="1163638"/>
            <a:ext cx="533400" cy="457200"/>
          </a:xfrm>
          <a:prstGeom prst="ellipse">
            <a:avLst/>
          </a:prstGeom>
          <a:solidFill>
            <a:srgbClr val="CCFFCC"/>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54337" name="Oval 220"/>
          <p:cNvSpPr>
            <a:spLocks noChangeArrowheads="1"/>
          </p:cNvSpPr>
          <p:nvPr/>
        </p:nvSpPr>
        <p:spPr bwMode="auto">
          <a:xfrm>
            <a:off x="7472363" y="2230438"/>
            <a:ext cx="533400" cy="457200"/>
          </a:xfrm>
          <a:prstGeom prst="ellipse">
            <a:avLst/>
          </a:prstGeom>
          <a:solidFill>
            <a:srgbClr val="99CCFF"/>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D</a:t>
            </a:r>
          </a:p>
        </p:txBody>
      </p:sp>
      <p:cxnSp>
        <p:nvCxnSpPr>
          <p:cNvPr id="56344" name="AutoShape 221"/>
          <p:cNvCxnSpPr>
            <a:stCxn id="54334" idx="3"/>
            <a:endCxn id="54336" idx="7"/>
          </p:cNvCxnSpPr>
          <p:nvPr/>
        </p:nvCxnSpPr>
        <p:spPr>
          <a:xfrm flipH="1">
            <a:off x="7013575" y="715963"/>
            <a:ext cx="460375" cy="514350"/>
          </a:xfrm>
          <a:prstGeom prst="straightConnector1">
            <a:avLst/>
          </a:prstGeom>
          <a:ln w="9525" cap="flat" cmpd="sng">
            <a:solidFill>
              <a:schemeClr val="tx1"/>
            </a:solidFill>
            <a:prstDash val="solid"/>
            <a:headEnd type="none" w="med" len="med"/>
            <a:tailEnd type="none" w="med" len="med"/>
          </a:ln>
        </p:spPr>
      </p:cxnSp>
      <p:cxnSp>
        <p:nvCxnSpPr>
          <p:cNvPr id="56345" name="AutoShape 222"/>
          <p:cNvCxnSpPr>
            <a:stCxn id="54334" idx="5"/>
            <a:endCxn id="54335" idx="1"/>
          </p:cNvCxnSpPr>
          <p:nvPr/>
        </p:nvCxnSpPr>
        <p:spPr>
          <a:xfrm>
            <a:off x="7851775" y="715963"/>
            <a:ext cx="460375" cy="514350"/>
          </a:xfrm>
          <a:prstGeom prst="straightConnector1">
            <a:avLst/>
          </a:prstGeom>
          <a:ln w="9525" cap="flat" cmpd="sng">
            <a:solidFill>
              <a:schemeClr val="tx1"/>
            </a:solidFill>
            <a:prstDash val="solid"/>
            <a:headEnd type="none" w="med" len="med"/>
            <a:tailEnd type="none" w="med" len="med"/>
          </a:ln>
        </p:spPr>
      </p:cxnSp>
      <p:cxnSp>
        <p:nvCxnSpPr>
          <p:cNvPr id="56346" name="AutoShape 223"/>
          <p:cNvCxnSpPr>
            <a:stCxn id="54336" idx="5"/>
            <a:endCxn id="54337" idx="1"/>
          </p:cNvCxnSpPr>
          <p:nvPr/>
        </p:nvCxnSpPr>
        <p:spPr>
          <a:xfrm>
            <a:off x="7013575" y="1554163"/>
            <a:ext cx="536575" cy="742950"/>
          </a:xfrm>
          <a:prstGeom prst="straightConnector1">
            <a:avLst/>
          </a:prstGeom>
          <a:ln w="9525" cap="flat" cmpd="sng">
            <a:solidFill>
              <a:schemeClr val="tx1"/>
            </a:solidFill>
            <a:prstDash val="solid"/>
            <a:headEnd type="none" w="med" len="med"/>
            <a:tailEnd type="none" w="med" len="med"/>
          </a:ln>
        </p:spPr>
      </p:cxnSp>
      <p:grpSp>
        <p:nvGrpSpPr>
          <p:cNvPr id="13" name="Group 224"/>
          <p:cNvGrpSpPr/>
          <p:nvPr/>
        </p:nvGrpSpPr>
        <p:grpSpPr>
          <a:xfrm>
            <a:off x="3738563" y="1163638"/>
            <a:ext cx="3352800" cy="2911475"/>
            <a:chOff x="2400" y="672"/>
            <a:chExt cx="2112" cy="1834"/>
          </a:xfrm>
        </p:grpSpPr>
        <p:grpSp>
          <p:nvGrpSpPr>
            <p:cNvPr id="56426" name="Group 225"/>
            <p:cNvGrpSpPr/>
            <p:nvPr/>
          </p:nvGrpSpPr>
          <p:grpSpPr>
            <a:xfrm>
              <a:off x="2400" y="1728"/>
              <a:ext cx="864" cy="778"/>
              <a:chOff x="2400" y="1632"/>
              <a:chExt cx="864" cy="778"/>
            </a:xfrm>
          </p:grpSpPr>
          <p:sp>
            <p:nvSpPr>
              <p:cNvPr id="26" name="Text Box 226"/>
              <p:cNvSpPr txBox="1">
                <a:spLocks noChangeArrowheads="1"/>
              </p:cNvSpPr>
              <p:nvPr/>
            </p:nvSpPr>
            <p:spPr bwMode="auto">
              <a:xfrm>
                <a:off x="2400" y="1632"/>
                <a:ext cx="240" cy="250"/>
              </a:xfrm>
              <a:prstGeom prst="rect">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T</a:t>
                </a:r>
              </a:p>
            </p:txBody>
          </p:sp>
          <p:sp>
            <p:nvSpPr>
              <p:cNvPr id="54344" name="Line 227"/>
              <p:cNvSpPr>
                <a:spLocks noChangeShapeType="1"/>
              </p:cNvSpPr>
              <p:nvPr/>
            </p:nvSpPr>
            <p:spPr bwMode="auto">
              <a:xfrm>
                <a:off x="2592" y="1776"/>
                <a:ext cx="192"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45" name="Oval 228"/>
              <p:cNvSpPr>
                <a:spLocks noChangeArrowheads="1"/>
              </p:cNvSpPr>
              <p:nvPr/>
            </p:nvSpPr>
            <p:spPr bwMode="auto">
              <a:xfrm>
                <a:off x="2784" y="1680"/>
                <a:ext cx="192" cy="192"/>
              </a:xfrm>
              <a:prstGeom prst="ellipse">
                <a:avLst/>
              </a:prstGeom>
              <a:solidFill>
                <a:schemeClr val="accent1">
                  <a:lumMod val="20000"/>
                  <a:lumOff val="8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B</a:t>
                </a:r>
              </a:p>
            </p:txBody>
          </p:sp>
          <p:sp>
            <p:nvSpPr>
              <p:cNvPr id="54346" name="Text Box 229"/>
              <p:cNvSpPr txBox="1">
                <a:spLocks noChangeArrowheads="1"/>
              </p:cNvSpPr>
              <p:nvPr/>
            </p:nvSpPr>
            <p:spPr bwMode="auto">
              <a:xfrm>
                <a:off x="2400" y="1920"/>
                <a:ext cx="864" cy="250"/>
              </a:xfrm>
              <a:prstGeom prst="rect">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printf(B);</a:t>
                </a:r>
              </a:p>
            </p:txBody>
          </p:sp>
          <p:sp>
            <p:nvSpPr>
              <p:cNvPr id="54347" name="Text Box 230"/>
              <p:cNvSpPr txBox="1">
                <a:spLocks noChangeArrowheads="1"/>
              </p:cNvSpPr>
              <p:nvPr/>
            </p:nvSpPr>
            <p:spPr bwMode="auto">
              <a:xfrm>
                <a:off x="2400" y="2160"/>
                <a:ext cx="864" cy="250"/>
              </a:xfrm>
              <a:prstGeom prst="rect">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pre(T    L);</a:t>
                </a:r>
              </a:p>
            </p:txBody>
          </p:sp>
          <p:sp>
            <p:nvSpPr>
              <p:cNvPr id="28" name="Line 231"/>
              <p:cNvSpPr>
                <a:spLocks noChangeShapeType="1"/>
              </p:cNvSpPr>
              <p:nvPr/>
            </p:nvSpPr>
            <p:spPr bwMode="auto">
              <a:xfrm>
                <a:off x="2832" y="2304"/>
                <a:ext cx="144"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4349" name="Oval 232"/>
            <p:cNvSpPr>
              <a:spLocks noChangeArrowheads="1"/>
            </p:cNvSpPr>
            <p:nvPr/>
          </p:nvSpPr>
          <p:spPr bwMode="auto">
            <a:xfrm>
              <a:off x="4176" y="672"/>
              <a:ext cx="336" cy="288"/>
            </a:xfrm>
            <a:prstGeom prst="ellipse">
              <a:avLst/>
            </a:prstGeom>
            <a:solidFill>
              <a:schemeClr val="accent1">
                <a:lumMod val="20000"/>
                <a:lumOff val="8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B</a:t>
              </a:r>
            </a:p>
          </p:txBody>
        </p:sp>
      </p:grpSp>
      <p:grpSp>
        <p:nvGrpSpPr>
          <p:cNvPr id="15" name="Group 233"/>
          <p:cNvGrpSpPr/>
          <p:nvPr/>
        </p:nvGrpSpPr>
        <p:grpSpPr>
          <a:xfrm>
            <a:off x="1833563" y="325438"/>
            <a:ext cx="6096000" cy="4206875"/>
            <a:chOff x="1200" y="144"/>
            <a:chExt cx="3840" cy="2650"/>
          </a:xfrm>
        </p:grpSpPr>
        <p:grpSp>
          <p:nvGrpSpPr>
            <p:cNvPr id="56418" name="Group 234"/>
            <p:cNvGrpSpPr/>
            <p:nvPr/>
          </p:nvGrpSpPr>
          <p:grpSpPr>
            <a:xfrm>
              <a:off x="1200" y="2016"/>
              <a:ext cx="864" cy="778"/>
              <a:chOff x="1200" y="1920"/>
              <a:chExt cx="864" cy="778"/>
            </a:xfrm>
          </p:grpSpPr>
          <p:sp>
            <p:nvSpPr>
              <p:cNvPr id="54352" name="Text Box 235"/>
              <p:cNvSpPr txBox="1">
                <a:spLocks noChangeArrowheads="1"/>
              </p:cNvSpPr>
              <p:nvPr/>
            </p:nvSpPr>
            <p:spPr bwMode="auto">
              <a:xfrm>
                <a:off x="1200" y="1920"/>
                <a:ext cx="240" cy="250"/>
              </a:xfrm>
              <a:prstGeom prst="rect">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T</a:t>
                </a:r>
              </a:p>
            </p:txBody>
          </p:sp>
          <p:sp>
            <p:nvSpPr>
              <p:cNvPr id="54353" name="Line 236"/>
              <p:cNvSpPr>
                <a:spLocks noChangeShapeType="1"/>
              </p:cNvSpPr>
              <p:nvPr/>
            </p:nvSpPr>
            <p:spPr bwMode="auto">
              <a:xfrm>
                <a:off x="1392" y="2064"/>
                <a:ext cx="192"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272" name="Oval 237"/>
              <p:cNvSpPr>
                <a:spLocks noChangeArrowheads="1"/>
              </p:cNvSpPr>
              <p:nvPr/>
            </p:nvSpPr>
            <p:spPr bwMode="auto">
              <a:xfrm>
                <a:off x="1584" y="1968"/>
                <a:ext cx="192" cy="192"/>
              </a:xfrm>
              <a:prstGeom prst="ellipse">
                <a:avLst/>
              </a:prstGeom>
              <a:solidFill>
                <a:schemeClr val="accent1">
                  <a:lumMod val="20000"/>
                  <a:lumOff val="8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A</a:t>
                </a:r>
              </a:p>
            </p:txBody>
          </p:sp>
          <p:sp>
            <p:nvSpPr>
              <p:cNvPr id="54355" name="Text Box 238"/>
              <p:cNvSpPr txBox="1">
                <a:spLocks noChangeArrowheads="1"/>
              </p:cNvSpPr>
              <p:nvPr/>
            </p:nvSpPr>
            <p:spPr bwMode="auto">
              <a:xfrm>
                <a:off x="1200" y="2208"/>
                <a:ext cx="864" cy="250"/>
              </a:xfrm>
              <a:prstGeom prst="rect">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printf(A);</a:t>
                </a:r>
              </a:p>
            </p:txBody>
          </p:sp>
          <p:sp>
            <p:nvSpPr>
              <p:cNvPr id="54356" name="Text Box 239"/>
              <p:cNvSpPr txBox="1">
                <a:spLocks noChangeArrowheads="1"/>
              </p:cNvSpPr>
              <p:nvPr/>
            </p:nvSpPr>
            <p:spPr bwMode="auto">
              <a:xfrm>
                <a:off x="1200" y="2448"/>
                <a:ext cx="864" cy="250"/>
              </a:xfrm>
              <a:prstGeom prst="rect">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pre(T    L);</a:t>
                </a:r>
              </a:p>
            </p:txBody>
          </p:sp>
          <p:sp>
            <p:nvSpPr>
              <p:cNvPr id="54357" name="Line 240"/>
              <p:cNvSpPr>
                <a:spLocks noChangeShapeType="1"/>
              </p:cNvSpPr>
              <p:nvPr/>
            </p:nvSpPr>
            <p:spPr bwMode="auto">
              <a:xfrm>
                <a:off x="1632" y="2592"/>
                <a:ext cx="144"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4358" name="Oval 241"/>
            <p:cNvSpPr>
              <a:spLocks noChangeArrowheads="1"/>
            </p:cNvSpPr>
            <p:nvPr/>
          </p:nvSpPr>
          <p:spPr bwMode="auto">
            <a:xfrm>
              <a:off x="4704" y="144"/>
              <a:ext cx="336" cy="288"/>
            </a:xfrm>
            <a:prstGeom prst="ellipse">
              <a:avLst/>
            </a:prstGeom>
            <a:solidFill>
              <a:schemeClr val="accent1">
                <a:lumMod val="20000"/>
                <a:lumOff val="8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A</a:t>
              </a:r>
            </a:p>
          </p:txBody>
        </p:sp>
      </p:grpSp>
      <p:grpSp>
        <p:nvGrpSpPr>
          <p:cNvPr id="17" name="Group 242"/>
          <p:cNvGrpSpPr/>
          <p:nvPr/>
        </p:nvGrpSpPr>
        <p:grpSpPr>
          <a:xfrm>
            <a:off x="5872163" y="2230438"/>
            <a:ext cx="2133600" cy="2073275"/>
            <a:chOff x="3744" y="1344"/>
            <a:chExt cx="1344" cy="1306"/>
          </a:xfrm>
        </p:grpSpPr>
        <p:grpSp>
          <p:nvGrpSpPr>
            <p:cNvPr id="56410" name="Group 243"/>
            <p:cNvGrpSpPr/>
            <p:nvPr/>
          </p:nvGrpSpPr>
          <p:grpSpPr>
            <a:xfrm>
              <a:off x="3744" y="1872"/>
              <a:ext cx="864" cy="778"/>
              <a:chOff x="3744" y="1776"/>
              <a:chExt cx="864" cy="778"/>
            </a:xfrm>
          </p:grpSpPr>
          <p:sp>
            <p:nvSpPr>
              <p:cNvPr id="54361" name="Text Box 244"/>
              <p:cNvSpPr txBox="1">
                <a:spLocks noChangeArrowheads="1"/>
              </p:cNvSpPr>
              <p:nvPr/>
            </p:nvSpPr>
            <p:spPr bwMode="auto">
              <a:xfrm>
                <a:off x="3744" y="1776"/>
                <a:ext cx="240" cy="250"/>
              </a:xfrm>
              <a:prstGeom prst="rect">
                <a:avLst/>
              </a:prstGeom>
              <a:solidFill>
                <a:srgbClr val="99CC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T</a:t>
                </a:r>
              </a:p>
            </p:txBody>
          </p:sp>
          <p:sp>
            <p:nvSpPr>
              <p:cNvPr id="54273" name="Line 245"/>
              <p:cNvSpPr>
                <a:spLocks noChangeShapeType="1"/>
              </p:cNvSpPr>
              <p:nvPr/>
            </p:nvSpPr>
            <p:spPr bwMode="auto">
              <a:xfrm>
                <a:off x="3936" y="1920"/>
                <a:ext cx="192"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63" name="Oval 246"/>
              <p:cNvSpPr>
                <a:spLocks noChangeArrowheads="1"/>
              </p:cNvSpPr>
              <p:nvPr/>
            </p:nvSpPr>
            <p:spPr bwMode="auto">
              <a:xfrm>
                <a:off x="4176" y="1824"/>
                <a:ext cx="192" cy="192"/>
              </a:xfrm>
              <a:prstGeom prst="ellipse">
                <a:avLst/>
              </a:prstGeom>
              <a:solidFill>
                <a:srgbClr val="99CCFF"/>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D</a:t>
                </a:r>
              </a:p>
            </p:txBody>
          </p:sp>
          <p:sp>
            <p:nvSpPr>
              <p:cNvPr id="54364" name="Text Box 247"/>
              <p:cNvSpPr txBox="1">
                <a:spLocks noChangeArrowheads="1"/>
              </p:cNvSpPr>
              <p:nvPr/>
            </p:nvSpPr>
            <p:spPr bwMode="auto">
              <a:xfrm>
                <a:off x="3744" y="2064"/>
                <a:ext cx="864" cy="250"/>
              </a:xfrm>
              <a:prstGeom prst="rect">
                <a:avLst/>
              </a:prstGeom>
              <a:solidFill>
                <a:srgbClr val="99CC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printf(D);</a:t>
                </a:r>
              </a:p>
            </p:txBody>
          </p:sp>
          <p:sp>
            <p:nvSpPr>
              <p:cNvPr id="54365" name="Text Box 248"/>
              <p:cNvSpPr txBox="1">
                <a:spLocks noChangeArrowheads="1"/>
              </p:cNvSpPr>
              <p:nvPr/>
            </p:nvSpPr>
            <p:spPr bwMode="auto">
              <a:xfrm>
                <a:off x="3744" y="2304"/>
                <a:ext cx="864" cy="250"/>
              </a:xfrm>
              <a:prstGeom prst="rect">
                <a:avLst/>
              </a:prstGeom>
              <a:solidFill>
                <a:srgbClr val="99CC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pre(T    L);</a:t>
                </a:r>
              </a:p>
            </p:txBody>
          </p:sp>
          <p:sp>
            <p:nvSpPr>
              <p:cNvPr id="54366" name="Line 249"/>
              <p:cNvSpPr>
                <a:spLocks noChangeShapeType="1"/>
              </p:cNvSpPr>
              <p:nvPr/>
            </p:nvSpPr>
            <p:spPr bwMode="auto">
              <a:xfrm>
                <a:off x="4150" y="2448"/>
                <a:ext cx="155"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4367" name="Oval 250"/>
            <p:cNvSpPr>
              <a:spLocks noChangeArrowheads="1"/>
            </p:cNvSpPr>
            <p:nvPr/>
          </p:nvSpPr>
          <p:spPr bwMode="auto">
            <a:xfrm>
              <a:off x="4752" y="1344"/>
              <a:ext cx="336" cy="288"/>
            </a:xfrm>
            <a:prstGeom prst="ellipse">
              <a:avLst/>
            </a:prstGeom>
            <a:solidFill>
              <a:srgbClr val="99CCFF"/>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D</a:t>
              </a:r>
            </a:p>
          </p:txBody>
        </p:sp>
      </p:grpSp>
      <p:grpSp>
        <p:nvGrpSpPr>
          <p:cNvPr id="19" name="Group 251"/>
          <p:cNvGrpSpPr/>
          <p:nvPr/>
        </p:nvGrpSpPr>
        <p:grpSpPr>
          <a:xfrm>
            <a:off x="3814763" y="1163638"/>
            <a:ext cx="4953000" cy="4740275"/>
            <a:chOff x="2448" y="672"/>
            <a:chExt cx="3120" cy="2986"/>
          </a:xfrm>
        </p:grpSpPr>
        <p:grpSp>
          <p:nvGrpSpPr>
            <p:cNvPr id="56402" name="Group 252"/>
            <p:cNvGrpSpPr/>
            <p:nvPr/>
          </p:nvGrpSpPr>
          <p:grpSpPr>
            <a:xfrm>
              <a:off x="2448" y="2880"/>
              <a:ext cx="864" cy="778"/>
              <a:chOff x="2448" y="2784"/>
              <a:chExt cx="864" cy="778"/>
            </a:xfrm>
          </p:grpSpPr>
          <p:sp>
            <p:nvSpPr>
              <p:cNvPr id="54370" name="Text Box 253"/>
              <p:cNvSpPr txBox="1">
                <a:spLocks noChangeArrowheads="1"/>
              </p:cNvSpPr>
              <p:nvPr/>
            </p:nvSpPr>
            <p:spPr bwMode="auto">
              <a:xfrm>
                <a:off x="2448" y="2784"/>
                <a:ext cx="240" cy="250"/>
              </a:xfrm>
              <a:prstGeom prst="rect">
                <a:avLst/>
              </a:prstGeom>
              <a:solidFill>
                <a:schemeClr val="bg2">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T</a:t>
                </a:r>
              </a:p>
            </p:txBody>
          </p:sp>
          <p:sp>
            <p:nvSpPr>
              <p:cNvPr id="54371" name="Line 254"/>
              <p:cNvSpPr>
                <a:spLocks noChangeShapeType="1"/>
              </p:cNvSpPr>
              <p:nvPr/>
            </p:nvSpPr>
            <p:spPr bwMode="auto">
              <a:xfrm>
                <a:off x="2640" y="2928"/>
                <a:ext cx="192"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72" name="Oval 255"/>
              <p:cNvSpPr>
                <a:spLocks noChangeArrowheads="1"/>
              </p:cNvSpPr>
              <p:nvPr/>
            </p:nvSpPr>
            <p:spPr bwMode="auto">
              <a:xfrm>
                <a:off x="2880" y="2832"/>
                <a:ext cx="192" cy="192"/>
              </a:xfrm>
              <a:prstGeom prst="ellipse">
                <a:avLst/>
              </a:prstGeom>
              <a:solidFill>
                <a:schemeClr val="bg2">
                  <a:lumMod val="20000"/>
                  <a:lumOff val="8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C</a:t>
                </a:r>
              </a:p>
            </p:txBody>
          </p:sp>
          <p:sp>
            <p:nvSpPr>
              <p:cNvPr id="54373" name="Text Box 256"/>
              <p:cNvSpPr txBox="1">
                <a:spLocks noChangeArrowheads="1"/>
              </p:cNvSpPr>
              <p:nvPr/>
            </p:nvSpPr>
            <p:spPr bwMode="auto">
              <a:xfrm>
                <a:off x="2448" y="3072"/>
                <a:ext cx="864" cy="250"/>
              </a:xfrm>
              <a:prstGeom prst="rect">
                <a:avLst/>
              </a:prstGeom>
              <a:solidFill>
                <a:schemeClr val="bg2">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printf(C);</a:t>
                </a:r>
              </a:p>
            </p:txBody>
          </p:sp>
          <p:sp>
            <p:nvSpPr>
              <p:cNvPr id="54374" name="Text Box 257"/>
              <p:cNvSpPr txBox="1">
                <a:spLocks noChangeArrowheads="1"/>
              </p:cNvSpPr>
              <p:nvPr/>
            </p:nvSpPr>
            <p:spPr bwMode="auto">
              <a:xfrm>
                <a:off x="2448" y="3312"/>
                <a:ext cx="864" cy="250"/>
              </a:xfrm>
              <a:prstGeom prst="rect">
                <a:avLst/>
              </a:prstGeom>
              <a:solidFill>
                <a:schemeClr val="bg2">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pre(T    L);</a:t>
                </a:r>
              </a:p>
            </p:txBody>
          </p:sp>
          <p:sp>
            <p:nvSpPr>
              <p:cNvPr id="54375" name="Line 258"/>
              <p:cNvSpPr>
                <a:spLocks noChangeShapeType="1"/>
              </p:cNvSpPr>
              <p:nvPr/>
            </p:nvSpPr>
            <p:spPr bwMode="auto">
              <a:xfrm>
                <a:off x="2880" y="3456"/>
                <a:ext cx="144"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4376" name="Oval 259"/>
            <p:cNvSpPr>
              <a:spLocks noChangeArrowheads="1"/>
            </p:cNvSpPr>
            <p:nvPr/>
          </p:nvSpPr>
          <p:spPr bwMode="auto">
            <a:xfrm>
              <a:off x="5232" y="672"/>
              <a:ext cx="336" cy="288"/>
            </a:xfrm>
            <a:prstGeom prst="ellipse">
              <a:avLst/>
            </a:prstGeom>
            <a:solidFill>
              <a:schemeClr val="bg2">
                <a:lumMod val="20000"/>
                <a:lumOff val="8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C</a:t>
              </a:r>
            </a:p>
          </p:txBody>
        </p:sp>
      </p:grpSp>
      <p:grpSp>
        <p:nvGrpSpPr>
          <p:cNvPr id="21" name="Group 260"/>
          <p:cNvGrpSpPr/>
          <p:nvPr/>
        </p:nvGrpSpPr>
        <p:grpSpPr>
          <a:xfrm>
            <a:off x="3128963" y="630238"/>
            <a:ext cx="4038600" cy="3886200"/>
            <a:chOff x="2016" y="336"/>
            <a:chExt cx="2544" cy="2448"/>
          </a:xfrm>
        </p:grpSpPr>
        <p:grpSp>
          <p:nvGrpSpPr>
            <p:cNvPr id="56396" name="Group 261"/>
            <p:cNvGrpSpPr/>
            <p:nvPr/>
          </p:nvGrpSpPr>
          <p:grpSpPr>
            <a:xfrm>
              <a:off x="2016" y="1680"/>
              <a:ext cx="384" cy="1104"/>
              <a:chOff x="2016" y="1584"/>
              <a:chExt cx="384" cy="1104"/>
            </a:xfrm>
          </p:grpSpPr>
          <p:sp>
            <p:nvSpPr>
              <p:cNvPr id="54379" name="Line 262"/>
              <p:cNvSpPr>
                <a:spLocks noChangeShapeType="1"/>
              </p:cNvSpPr>
              <p:nvPr/>
            </p:nvSpPr>
            <p:spPr bwMode="auto">
              <a:xfrm>
                <a:off x="2256" y="1584"/>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80" name="Line 263"/>
              <p:cNvSpPr>
                <a:spLocks noChangeShapeType="1"/>
              </p:cNvSpPr>
              <p:nvPr/>
            </p:nvSpPr>
            <p:spPr bwMode="auto">
              <a:xfrm>
                <a:off x="2256" y="2688"/>
                <a:ext cx="144"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81" name="Line 264"/>
              <p:cNvSpPr>
                <a:spLocks noChangeShapeType="1"/>
              </p:cNvSpPr>
              <p:nvPr/>
            </p:nvSpPr>
            <p:spPr bwMode="auto">
              <a:xfrm>
                <a:off x="2016" y="2592"/>
                <a:ext cx="240" cy="0"/>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4382" name="Line 265"/>
              <p:cNvSpPr>
                <a:spLocks noChangeShapeType="1"/>
              </p:cNvSpPr>
              <p:nvPr/>
            </p:nvSpPr>
            <p:spPr bwMode="auto">
              <a:xfrm flipV="1">
                <a:off x="2256" y="1584"/>
                <a:ext cx="0" cy="1104"/>
              </a:xfrm>
              <a:prstGeom prst="line">
                <a:avLst/>
              </a:prstGeom>
              <a:noFill/>
              <a:ln w="19050">
                <a:solidFill>
                  <a:srgbClr val="FF33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4383" name="AutoShape 266"/>
            <p:cNvSpPr>
              <a:spLocks noChangeArrowheads="1"/>
            </p:cNvSpPr>
            <p:nvPr/>
          </p:nvSpPr>
          <p:spPr bwMode="auto">
            <a:xfrm rot="-3001265">
              <a:off x="4392" y="456"/>
              <a:ext cx="288" cy="48"/>
            </a:xfrm>
            <a:prstGeom prst="leftArrow">
              <a:avLst>
                <a:gd name="adj1" fmla="val 50000"/>
                <a:gd name="adj2" fmla="val 150000"/>
              </a:avLst>
            </a:prstGeom>
            <a:solidFill>
              <a:srgbClr val="FF3300"/>
            </a:solidFill>
            <a:ln w="19050">
              <a:solidFill>
                <a:srgbClr val="FF3300"/>
              </a:solid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12651" name="Text Box 267"/>
          <p:cNvSpPr txBox="1">
            <a:spLocks noChangeArrowheads="1"/>
          </p:cNvSpPr>
          <p:nvPr/>
        </p:nvSpPr>
        <p:spPr bwMode="auto">
          <a:xfrm>
            <a:off x="5872163" y="2535238"/>
            <a:ext cx="762000" cy="396875"/>
          </a:xfrm>
          <a:prstGeom prst="rect">
            <a:avLst/>
          </a:prstGeom>
          <a:solidFill>
            <a:srgbClr val="A5A5E9"/>
          </a:solid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返回</a:t>
            </a:r>
          </a:p>
        </p:txBody>
      </p:sp>
      <p:grpSp>
        <p:nvGrpSpPr>
          <p:cNvPr id="23" name="Group 268"/>
          <p:cNvGrpSpPr/>
          <p:nvPr/>
        </p:nvGrpSpPr>
        <p:grpSpPr>
          <a:xfrm>
            <a:off x="4957763" y="1239838"/>
            <a:ext cx="1981200" cy="1236662"/>
            <a:chOff x="3168" y="720"/>
            <a:chExt cx="1248" cy="779"/>
          </a:xfrm>
        </p:grpSpPr>
        <p:grpSp>
          <p:nvGrpSpPr>
            <p:cNvPr id="56391" name="Group 269"/>
            <p:cNvGrpSpPr/>
            <p:nvPr/>
          </p:nvGrpSpPr>
          <p:grpSpPr>
            <a:xfrm>
              <a:off x="3747" y="1248"/>
              <a:ext cx="669" cy="251"/>
              <a:chOff x="3747" y="1152"/>
              <a:chExt cx="669" cy="251"/>
            </a:xfrm>
          </p:grpSpPr>
          <p:sp>
            <p:nvSpPr>
              <p:cNvPr id="54387" name="Text Box 270"/>
              <p:cNvSpPr txBox="1">
                <a:spLocks noChangeArrowheads="1"/>
              </p:cNvSpPr>
              <p:nvPr/>
            </p:nvSpPr>
            <p:spPr bwMode="auto">
              <a:xfrm>
                <a:off x="3747" y="1153"/>
                <a:ext cx="240" cy="250"/>
              </a:xfrm>
              <a:prstGeom prst="rect">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T</a:t>
                </a:r>
              </a:p>
            </p:txBody>
          </p:sp>
          <p:sp>
            <p:nvSpPr>
              <p:cNvPr id="54388" name="Text Box 271"/>
              <p:cNvSpPr txBox="1">
                <a:spLocks noChangeArrowheads="1"/>
              </p:cNvSpPr>
              <p:nvPr/>
            </p:nvSpPr>
            <p:spPr bwMode="auto">
              <a:xfrm rot="-5308317">
                <a:off x="4152" y="1128"/>
                <a:ext cx="240" cy="288"/>
              </a:xfrm>
              <a:prstGeom prst="rect">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&gt;</a:t>
                </a:r>
              </a:p>
            </p:txBody>
          </p:sp>
          <p:sp>
            <p:nvSpPr>
              <p:cNvPr id="54389" name="Line 272"/>
              <p:cNvSpPr>
                <a:spLocks noChangeShapeType="1"/>
              </p:cNvSpPr>
              <p:nvPr/>
            </p:nvSpPr>
            <p:spPr bwMode="auto">
              <a:xfrm>
                <a:off x="3939" y="1297"/>
                <a:ext cx="192"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4390" name="Text Box 273"/>
            <p:cNvSpPr txBox="1">
              <a:spLocks noChangeArrowheads="1"/>
            </p:cNvSpPr>
            <p:nvPr/>
          </p:nvSpPr>
          <p:spPr bwMode="auto">
            <a:xfrm>
              <a:off x="3168" y="720"/>
              <a:ext cx="9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a:ln>
                    <a:noFill/>
                  </a:ln>
                  <a:solidFill>
                    <a:srgbClr val="FF3300"/>
                  </a:solidFill>
                  <a:effectLst/>
                  <a:uLnTx/>
                  <a:uFillTx/>
                  <a:latin typeface="+mn-lt"/>
                  <a:ea typeface="+mn-ea"/>
                  <a:cs typeface="+mn-ea"/>
                  <a:sym typeface="+mn-lt"/>
                </a:rPr>
                <a:t>左是空返回</a:t>
              </a:r>
            </a:p>
          </p:txBody>
        </p:sp>
      </p:grpSp>
      <p:grpSp>
        <p:nvGrpSpPr>
          <p:cNvPr id="25" name="Group 274"/>
          <p:cNvGrpSpPr/>
          <p:nvPr/>
        </p:nvGrpSpPr>
        <p:grpSpPr>
          <a:xfrm>
            <a:off x="3738563" y="1620838"/>
            <a:ext cx="3657600" cy="2835275"/>
            <a:chOff x="2400" y="960"/>
            <a:chExt cx="2304" cy="1786"/>
          </a:xfrm>
        </p:grpSpPr>
        <p:grpSp>
          <p:nvGrpSpPr>
            <p:cNvPr id="56387" name="Group 275"/>
            <p:cNvGrpSpPr/>
            <p:nvPr/>
          </p:nvGrpSpPr>
          <p:grpSpPr>
            <a:xfrm>
              <a:off x="2400" y="2496"/>
              <a:ext cx="864" cy="250"/>
              <a:chOff x="2400" y="2400"/>
              <a:chExt cx="864" cy="250"/>
            </a:xfrm>
          </p:grpSpPr>
          <p:sp>
            <p:nvSpPr>
              <p:cNvPr id="54393" name="Text Box 276"/>
              <p:cNvSpPr txBox="1">
                <a:spLocks noChangeArrowheads="1"/>
              </p:cNvSpPr>
              <p:nvPr/>
            </p:nvSpPr>
            <p:spPr bwMode="auto">
              <a:xfrm>
                <a:off x="2400" y="2400"/>
                <a:ext cx="864" cy="250"/>
              </a:xfrm>
              <a:prstGeom prst="rect">
                <a:avLst/>
              </a:prstGeom>
              <a:solidFill>
                <a:srgbClr val="99CC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pre(T    R);</a:t>
                </a:r>
              </a:p>
            </p:txBody>
          </p:sp>
          <p:sp>
            <p:nvSpPr>
              <p:cNvPr id="54394" name="Line 277"/>
              <p:cNvSpPr>
                <a:spLocks noChangeShapeType="1"/>
              </p:cNvSpPr>
              <p:nvPr/>
            </p:nvSpPr>
            <p:spPr bwMode="auto">
              <a:xfrm>
                <a:off x="2832" y="2544"/>
                <a:ext cx="144"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4395" name="AutoShape 278"/>
            <p:cNvSpPr>
              <a:spLocks noChangeArrowheads="1"/>
            </p:cNvSpPr>
            <p:nvPr/>
          </p:nvSpPr>
          <p:spPr bwMode="auto">
            <a:xfrm rot="3494401">
              <a:off x="4512" y="1104"/>
              <a:ext cx="336" cy="48"/>
            </a:xfrm>
            <a:prstGeom prst="rightArrow">
              <a:avLst>
                <a:gd name="adj1" fmla="val 50000"/>
                <a:gd name="adj2" fmla="val 175000"/>
              </a:avLst>
            </a:prstGeom>
            <a:solidFill>
              <a:srgbClr val="FF3300"/>
            </a:solid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27" name="Group 279"/>
          <p:cNvGrpSpPr/>
          <p:nvPr/>
        </p:nvGrpSpPr>
        <p:grpSpPr>
          <a:xfrm>
            <a:off x="6938963" y="2687638"/>
            <a:ext cx="1828800" cy="1082675"/>
            <a:chOff x="4416" y="1632"/>
            <a:chExt cx="1152" cy="682"/>
          </a:xfrm>
        </p:grpSpPr>
        <p:grpSp>
          <p:nvGrpSpPr>
            <p:cNvPr id="56382" name="Group 280"/>
            <p:cNvGrpSpPr/>
            <p:nvPr/>
          </p:nvGrpSpPr>
          <p:grpSpPr>
            <a:xfrm>
              <a:off x="4944" y="2064"/>
              <a:ext cx="624" cy="250"/>
              <a:chOff x="4944" y="1968"/>
              <a:chExt cx="624" cy="250"/>
            </a:xfrm>
          </p:grpSpPr>
          <p:sp>
            <p:nvSpPr>
              <p:cNvPr id="54398" name="Text Box 281"/>
              <p:cNvSpPr txBox="1">
                <a:spLocks noChangeArrowheads="1"/>
              </p:cNvSpPr>
              <p:nvPr/>
            </p:nvSpPr>
            <p:spPr bwMode="auto">
              <a:xfrm>
                <a:off x="4944" y="1968"/>
                <a:ext cx="240" cy="250"/>
              </a:xfrm>
              <a:prstGeom prst="rect">
                <a:avLst/>
              </a:prstGeom>
              <a:solidFill>
                <a:srgbClr val="99CC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T</a:t>
                </a:r>
              </a:p>
            </p:txBody>
          </p:sp>
          <p:sp>
            <p:nvSpPr>
              <p:cNvPr id="54399" name="Text Box 282"/>
              <p:cNvSpPr txBox="1">
                <a:spLocks noChangeArrowheads="1"/>
              </p:cNvSpPr>
              <p:nvPr/>
            </p:nvSpPr>
            <p:spPr bwMode="auto">
              <a:xfrm rot="-5308317">
                <a:off x="5304" y="1944"/>
                <a:ext cx="240" cy="288"/>
              </a:xfrm>
              <a:prstGeom prst="rect">
                <a:avLst/>
              </a:prstGeom>
              <a:solidFill>
                <a:srgbClr val="99CC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&gt;</a:t>
                </a:r>
              </a:p>
            </p:txBody>
          </p:sp>
          <p:sp>
            <p:nvSpPr>
              <p:cNvPr id="54400" name="Line 283"/>
              <p:cNvSpPr>
                <a:spLocks noChangeShapeType="1"/>
              </p:cNvSpPr>
              <p:nvPr/>
            </p:nvSpPr>
            <p:spPr bwMode="auto">
              <a:xfrm>
                <a:off x="5136" y="2064"/>
                <a:ext cx="192"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4401" name="Text Box 284"/>
            <p:cNvSpPr txBox="1">
              <a:spLocks noChangeArrowheads="1"/>
            </p:cNvSpPr>
            <p:nvPr/>
          </p:nvSpPr>
          <p:spPr bwMode="auto">
            <a:xfrm>
              <a:off x="4416" y="1632"/>
              <a:ext cx="100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a:ln>
                    <a:noFill/>
                  </a:ln>
                  <a:solidFill>
                    <a:srgbClr val="FF3300"/>
                  </a:solidFill>
                  <a:effectLst/>
                  <a:uLnTx/>
                  <a:uFillTx/>
                  <a:latin typeface="+mn-lt"/>
                  <a:ea typeface="+mn-ea"/>
                  <a:cs typeface="+mn-ea"/>
                  <a:sym typeface="+mn-lt"/>
                </a:rPr>
                <a:t>左是空返回</a:t>
              </a:r>
            </a:p>
          </p:txBody>
        </p:sp>
      </p:grpSp>
      <p:grpSp>
        <p:nvGrpSpPr>
          <p:cNvPr id="29" name="Group 285"/>
          <p:cNvGrpSpPr/>
          <p:nvPr/>
        </p:nvGrpSpPr>
        <p:grpSpPr>
          <a:xfrm>
            <a:off x="6938963" y="2992438"/>
            <a:ext cx="1828800" cy="1692275"/>
            <a:chOff x="4416" y="1824"/>
            <a:chExt cx="1152" cy="1066"/>
          </a:xfrm>
        </p:grpSpPr>
        <p:grpSp>
          <p:nvGrpSpPr>
            <p:cNvPr id="56377" name="Group 286"/>
            <p:cNvGrpSpPr/>
            <p:nvPr/>
          </p:nvGrpSpPr>
          <p:grpSpPr>
            <a:xfrm>
              <a:off x="4944" y="2640"/>
              <a:ext cx="624" cy="250"/>
              <a:chOff x="4944" y="2544"/>
              <a:chExt cx="624" cy="250"/>
            </a:xfrm>
          </p:grpSpPr>
          <p:sp>
            <p:nvSpPr>
              <p:cNvPr id="54404" name="Text Box 287"/>
              <p:cNvSpPr txBox="1">
                <a:spLocks noChangeArrowheads="1"/>
              </p:cNvSpPr>
              <p:nvPr/>
            </p:nvSpPr>
            <p:spPr bwMode="auto">
              <a:xfrm>
                <a:off x="4944" y="2544"/>
                <a:ext cx="240" cy="250"/>
              </a:xfrm>
              <a:prstGeom prst="rect">
                <a:avLst/>
              </a:prstGeom>
              <a:solidFill>
                <a:schemeClr val="accent1">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T</a:t>
                </a:r>
              </a:p>
            </p:txBody>
          </p:sp>
          <p:sp>
            <p:nvSpPr>
              <p:cNvPr id="54405" name="Text Box 288"/>
              <p:cNvSpPr txBox="1">
                <a:spLocks noChangeArrowheads="1"/>
              </p:cNvSpPr>
              <p:nvPr/>
            </p:nvSpPr>
            <p:spPr bwMode="auto">
              <a:xfrm rot="-5308317">
                <a:off x="5304" y="2520"/>
                <a:ext cx="240" cy="288"/>
              </a:xfrm>
              <a:prstGeom prst="rect">
                <a:avLst/>
              </a:prstGeom>
              <a:solidFill>
                <a:schemeClr val="accent1">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&gt;</a:t>
                </a:r>
              </a:p>
            </p:txBody>
          </p:sp>
          <p:sp>
            <p:nvSpPr>
              <p:cNvPr id="54406" name="Line 289"/>
              <p:cNvSpPr>
                <a:spLocks noChangeShapeType="1"/>
              </p:cNvSpPr>
              <p:nvPr/>
            </p:nvSpPr>
            <p:spPr bwMode="auto">
              <a:xfrm>
                <a:off x="5136" y="2640"/>
                <a:ext cx="192"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4407" name="Text Box 290"/>
            <p:cNvSpPr txBox="1">
              <a:spLocks noChangeArrowheads="1"/>
            </p:cNvSpPr>
            <p:nvPr/>
          </p:nvSpPr>
          <p:spPr bwMode="auto">
            <a:xfrm>
              <a:off x="4416" y="1824"/>
              <a:ext cx="100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a:ln>
                    <a:noFill/>
                  </a:ln>
                  <a:solidFill>
                    <a:srgbClr val="FF3300"/>
                  </a:solidFill>
                  <a:effectLst/>
                  <a:uLnTx/>
                  <a:uFillTx/>
                  <a:latin typeface="+mn-lt"/>
                  <a:ea typeface="+mn-ea"/>
                  <a:cs typeface="+mn-ea"/>
                  <a:sym typeface="+mn-lt"/>
                </a:rPr>
                <a:t>右是空返回</a:t>
              </a:r>
            </a:p>
          </p:txBody>
        </p:sp>
      </p:grpSp>
      <p:grpSp>
        <p:nvGrpSpPr>
          <p:cNvPr id="31" name="Group 291"/>
          <p:cNvGrpSpPr/>
          <p:nvPr/>
        </p:nvGrpSpPr>
        <p:grpSpPr>
          <a:xfrm>
            <a:off x="5719763" y="1620838"/>
            <a:ext cx="3352800" cy="3749675"/>
            <a:chOff x="3648" y="960"/>
            <a:chExt cx="2112" cy="2362"/>
          </a:xfrm>
        </p:grpSpPr>
        <p:grpSp>
          <p:nvGrpSpPr>
            <p:cNvPr id="56372" name="Group 292"/>
            <p:cNvGrpSpPr/>
            <p:nvPr/>
          </p:nvGrpSpPr>
          <p:grpSpPr>
            <a:xfrm>
              <a:off x="3648" y="3072"/>
              <a:ext cx="624" cy="250"/>
              <a:chOff x="3648" y="2976"/>
              <a:chExt cx="624" cy="250"/>
            </a:xfrm>
          </p:grpSpPr>
          <p:sp>
            <p:nvSpPr>
              <p:cNvPr id="54410" name="Text Box 293"/>
              <p:cNvSpPr txBox="1">
                <a:spLocks noChangeArrowheads="1"/>
              </p:cNvSpPr>
              <p:nvPr/>
            </p:nvSpPr>
            <p:spPr bwMode="auto">
              <a:xfrm>
                <a:off x="3648" y="2976"/>
                <a:ext cx="240" cy="250"/>
              </a:xfrm>
              <a:prstGeom prst="rect">
                <a:avLst/>
              </a:prstGeom>
              <a:solidFill>
                <a:schemeClr val="bg2">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T</a:t>
                </a:r>
              </a:p>
            </p:txBody>
          </p:sp>
          <p:sp>
            <p:nvSpPr>
              <p:cNvPr id="54411" name="Text Box 294"/>
              <p:cNvSpPr txBox="1">
                <a:spLocks noChangeArrowheads="1"/>
              </p:cNvSpPr>
              <p:nvPr/>
            </p:nvSpPr>
            <p:spPr bwMode="auto">
              <a:xfrm rot="-5308317">
                <a:off x="4008" y="2952"/>
                <a:ext cx="240" cy="288"/>
              </a:xfrm>
              <a:prstGeom prst="rect">
                <a:avLst/>
              </a:prstGeom>
              <a:solidFill>
                <a:schemeClr val="bg2">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&gt;</a:t>
                </a:r>
              </a:p>
            </p:txBody>
          </p:sp>
          <p:sp>
            <p:nvSpPr>
              <p:cNvPr id="54412" name="Line 295"/>
              <p:cNvSpPr>
                <a:spLocks noChangeShapeType="1"/>
              </p:cNvSpPr>
              <p:nvPr/>
            </p:nvSpPr>
            <p:spPr bwMode="auto">
              <a:xfrm>
                <a:off x="3840" y="3120"/>
                <a:ext cx="192"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4413" name="Text Box 296"/>
            <p:cNvSpPr txBox="1">
              <a:spLocks noChangeArrowheads="1"/>
            </p:cNvSpPr>
            <p:nvPr/>
          </p:nvSpPr>
          <p:spPr bwMode="auto">
            <a:xfrm>
              <a:off x="4800" y="960"/>
              <a:ext cx="9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a:ln>
                    <a:noFill/>
                  </a:ln>
                  <a:solidFill>
                    <a:srgbClr val="FF3300"/>
                  </a:solidFill>
                  <a:effectLst/>
                  <a:uLnTx/>
                  <a:uFillTx/>
                  <a:latin typeface="+mn-lt"/>
                  <a:ea typeface="+mn-ea"/>
                  <a:cs typeface="+mn-ea"/>
                  <a:sym typeface="+mn-lt"/>
                </a:rPr>
                <a:t>左是空返回</a:t>
              </a:r>
            </a:p>
          </p:txBody>
        </p:sp>
      </p:grpSp>
      <p:grpSp>
        <p:nvGrpSpPr>
          <p:cNvPr id="912641" name="Group 297"/>
          <p:cNvGrpSpPr/>
          <p:nvPr/>
        </p:nvGrpSpPr>
        <p:grpSpPr>
          <a:xfrm>
            <a:off x="5719763" y="1925638"/>
            <a:ext cx="3352800" cy="4359275"/>
            <a:chOff x="3648" y="1152"/>
            <a:chExt cx="2112" cy="2746"/>
          </a:xfrm>
        </p:grpSpPr>
        <p:grpSp>
          <p:nvGrpSpPr>
            <p:cNvPr id="56367" name="Group 298"/>
            <p:cNvGrpSpPr/>
            <p:nvPr/>
          </p:nvGrpSpPr>
          <p:grpSpPr>
            <a:xfrm>
              <a:off x="3648" y="3648"/>
              <a:ext cx="624" cy="250"/>
              <a:chOff x="3648" y="3552"/>
              <a:chExt cx="624" cy="250"/>
            </a:xfrm>
          </p:grpSpPr>
          <p:sp>
            <p:nvSpPr>
              <p:cNvPr id="54416" name="Text Box 299"/>
              <p:cNvSpPr txBox="1">
                <a:spLocks noChangeArrowheads="1"/>
              </p:cNvSpPr>
              <p:nvPr/>
            </p:nvSpPr>
            <p:spPr bwMode="auto">
              <a:xfrm>
                <a:off x="3648" y="3552"/>
                <a:ext cx="240" cy="250"/>
              </a:xfrm>
              <a:prstGeom prst="rect">
                <a:avLst/>
              </a:prstGeom>
              <a:solidFill>
                <a:schemeClr val="accent1">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T</a:t>
                </a:r>
              </a:p>
            </p:txBody>
          </p:sp>
          <p:sp>
            <p:nvSpPr>
              <p:cNvPr id="54417" name="Text Box 300"/>
              <p:cNvSpPr txBox="1">
                <a:spLocks noChangeArrowheads="1"/>
              </p:cNvSpPr>
              <p:nvPr/>
            </p:nvSpPr>
            <p:spPr bwMode="auto">
              <a:xfrm rot="-5308317">
                <a:off x="4008" y="3528"/>
                <a:ext cx="240" cy="288"/>
              </a:xfrm>
              <a:prstGeom prst="rect">
                <a:avLst/>
              </a:prstGeom>
              <a:solidFill>
                <a:schemeClr val="accent1">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&gt;</a:t>
                </a:r>
              </a:p>
            </p:txBody>
          </p:sp>
          <p:sp>
            <p:nvSpPr>
              <p:cNvPr id="54418" name="Line 301"/>
              <p:cNvSpPr>
                <a:spLocks noChangeShapeType="1"/>
              </p:cNvSpPr>
              <p:nvPr/>
            </p:nvSpPr>
            <p:spPr bwMode="auto">
              <a:xfrm>
                <a:off x="3840" y="3696"/>
                <a:ext cx="192"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4419" name="Text Box 302"/>
            <p:cNvSpPr txBox="1">
              <a:spLocks noChangeArrowheads="1"/>
            </p:cNvSpPr>
            <p:nvPr/>
          </p:nvSpPr>
          <p:spPr bwMode="auto">
            <a:xfrm>
              <a:off x="4800" y="1152"/>
              <a:ext cx="9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a:ln>
                    <a:noFill/>
                  </a:ln>
                  <a:solidFill>
                    <a:srgbClr val="FF3300"/>
                  </a:solidFill>
                  <a:effectLst/>
                  <a:uLnTx/>
                  <a:uFillTx/>
                  <a:latin typeface="+mn-lt"/>
                  <a:ea typeface="+mn-ea"/>
                  <a:cs typeface="+mn-ea"/>
                  <a:sym typeface="+mn-lt"/>
                </a:rPr>
                <a:t>右是空返回</a:t>
              </a:r>
            </a:p>
          </p:txBody>
        </p:sp>
      </p:grpSp>
      <p:grpSp>
        <p:nvGrpSpPr>
          <p:cNvPr id="912643" name="Group 303"/>
          <p:cNvGrpSpPr/>
          <p:nvPr/>
        </p:nvGrpSpPr>
        <p:grpSpPr>
          <a:xfrm>
            <a:off x="1833563" y="630238"/>
            <a:ext cx="6400800" cy="4283075"/>
            <a:chOff x="1200" y="336"/>
            <a:chExt cx="4032" cy="2698"/>
          </a:xfrm>
        </p:grpSpPr>
        <p:grpSp>
          <p:nvGrpSpPr>
            <p:cNvPr id="56361" name="Group 304"/>
            <p:cNvGrpSpPr/>
            <p:nvPr/>
          </p:nvGrpSpPr>
          <p:grpSpPr>
            <a:xfrm>
              <a:off x="1200" y="336"/>
              <a:ext cx="4032" cy="2698"/>
              <a:chOff x="1200" y="336"/>
              <a:chExt cx="4032" cy="2698"/>
            </a:xfrm>
          </p:grpSpPr>
          <p:grpSp>
            <p:nvGrpSpPr>
              <p:cNvPr id="56363" name="Group 305"/>
              <p:cNvGrpSpPr/>
              <p:nvPr/>
            </p:nvGrpSpPr>
            <p:grpSpPr>
              <a:xfrm>
                <a:off x="1200" y="2784"/>
                <a:ext cx="864" cy="250"/>
                <a:chOff x="1200" y="2688"/>
                <a:chExt cx="864" cy="250"/>
              </a:xfrm>
            </p:grpSpPr>
            <p:sp>
              <p:nvSpPr>
                <p:cNvPr id="54423" name="Text Box 306"/>
                <p:cNvSpPr txBox="1">
                  <a:spLocks noChangeArrowheads="1"/>
                </p:cNvSpPr>
                <p:nvPr/>
              </p:nvSpPr>
              <p:spPr bwMode="auto">
                <a:xfrm>
                  <a:off x="1200" y="2688"/>
                  <a:ext cx="864" cy="250"/>
                </a:xfrm>
                <a:prstGeom prst="rect">
                  <a:avLst/>
                </a:prstGeom>
                <a:solidFill>
                  <a:schemeClr val="bg2">
                    <a:lumMod val="20000"/>
                    <a:lumOff val="80000"/>
                  </a:schemeClr>
                </a:solidFill>
                <a:ln>
                  <a:noFill/>
                </a:ln>
                <a:extLst>
                  <a:ext uri="{91240B29-F687-4F45-9708-019B960494DF}">
                    <a14:hiddenLine xmlns:a14="http://schemas.microsoft.com/office/drawing/2010/main" w="1905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pre(T    R);</a:t>
                  </a:r>
                </a:p>
              </p:txBody>
            </p:sp>
            <p:sp>
              <p:nvSpPr>
                <p:cNvPr id="54424" name="Line 307"/>
                <p:cNvSpPr>
                  <a:spLocks noChangeShapeType="1"/>
                </p:cNvSpPr>
                <p:nvPr/>
              </p:nvSpPr>
              <p:spPr bwMode="auto">
                <a:xfrm>
                  <a:off x="1632" y="2832"/>
                  <a:ext cx="14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9050">
                      <a:solidFill>
                        <a:srgbClr val="000000"/>
                      </a:solidFill>
                      <a:round/>
                    </a14:hiddenLine>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4425" name="AutoShape 308"/>
              <p:cNvSpPr>
                <a:spLocks noChangeArrowheads="1"/>
              </p:cNvSpPr>
              <p:nvPr/>
            </p:nvSpPr>
            <p:spPr bwMode="auto">
              <a:xfrm rot="2761019">
                <a:off x="5040" y="480"/>
                <a:ext cx="336" cy="48"/>
              </a:xfrm>
              <a:prstGeom prst="rightArrow">
                <a:avLst>
                  <a:gd name="adj1" fmla="val 50000"/>
                  <a:gd name="adj2" fmla="val 175000"/>
                </a:avLst>
              </a:prstGeom>
              <a:solidFill>
                <a:srgbClr val="FF3300"/>
              </a:solidFill>
              <a:ln>
                <a:noFill/>
              </a:ln>
              <a:extLs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4426" name="Line 309"/>
            <p:cNvSpPr>
              <a:spLocks noChangeShapeType="1"/>
            </p:cNvSpPr>
            <p:nvPr/>
          </p:nvSpPr>
          <p:spPr bwMode="auto">
            <a:xfrm>
              <a:off x="1632" y="2928"/>
              <a:ext cx="144"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12695" name="Text Box 311"/>
          <p:cNvSpPr txBox="1">
            <a:spLocks noChangeArrowheads="1"/>
          </p:cNvSpPr>
          <p:nvPr/>
        </p:nvSpPr>
        <p:spPr bwMode="auto">
          <a:xfrm>
            <a:off x="4424363" y="279400"/>
            <a:ext cx="2492375" cy="523875"/>
          </a:xfrm>
          <a:prstGeom prst="rect">
            <a:avLst/>
          </a:prstGeom>
          <a:noFill/>
          <a:ln w="28575">
            <a:solidFill>
              <a:schemeClr val="hlink"/>
            </a:solidFill>
            <a:miter lim="800000"/>
          </a:ln>
          <a:extLst>
            <a:ext uri="{909E8E84-426E-40DD-AFC4-6F175D3DCCD1}">
              <a14:hiddenFill xmlns:a14="http://schemas.microsoft.com/office/drawing/2010/main">
                <a:solidFill>
                  <a:srgbClr val="FFFFFF"/>
                </a:solidFill>
              </a14:hiddenFill>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zh-CN" sz="2000" b="0" i="0" u="none" strike="noStrike" kern="1200" cap="none" spc="0" normalizeH="0" baseline="0" noProof="0" dirty="0">
                <a:ln>
                  <a:noFill/>
                </a:ln>
                <a:solidFill>
                  <a:srgbClr val="FF3300"/>
                </a:solidFill>
                <a:effectLst/>
                <a:uLnTx/>
                <a:uFillTx/>
                <a:latin typeface="+mn-lt"/>
                <a:ea typeface="+mn-ea"/>
                <a:cs typeface="+mn-ea"/>
                <a:sym typeface="+mn-lt"/>
              </a:rPr>
              <a:t>先序序列：</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ABDC</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ppt_x</p:attrName>
                                        </p:attrNameLst>
                                      </p:cBhvr>
                                      <p:tavLst>
                                        <p:tav tm="0">
                                          <p:val>
                                            <p:strVal val="#ppt_x"/>
                                          </p:val>
                                        </p:tav>
                                        <p:tav tm="100000">
                                          <p:val>
                                            <p:strVal val="#ppt_x"/>
                                          </p:val>
                                        </p:tav>
                                      </p:tavLst>
                                    </p:anim>
                                    <p:anim calcmode="lin" valueType="num">
                                      <p:cBhvr>
                                        <p:cTn id="8" dur="500" fill="hold"/>
                                        <p:tgtEl>
                                          <p:spTgt spid="2"/>
                                        </p:tgtEl>
                                        <p:attrNameLst>
                                          <p:attrName>ppt_y</p:attrName>
                                        </p:attrNameLst>
                                      </p:cBhvr>
                                      <p:tavLst>
                                        <p:tav tm="0">
                                          <p:val>
                                            <p:strVal val="#ppt_y-#ppt_h/2"/>
                                          </p:val>
                                        </p:tav>
                                        <p:tav tm="100000">
                                          <p:val>
                                            <p:strVal val="#ppt_y"/>
                                          </p:val>
                                        </p:tav>
                                      </p:tavLst>
                                    </p:anim>
                                    <p:anim calcmode="lin" valueType="num">
                                      <p:cBhvr>
                                        <p:cTn id="9" dur="500" fill="hold"/>
                                        <p:tgtEl>
                                          <p:spTgt spid="2"/>
                                        </p:tgtEl>
                                        <p:attrNameLst>
                                          <p:attrName>ppt_w</p:attrName>
                                        </p:attrNameLst>
                                      </p:cBhvr>
                                      <p:tavLst>
                                        <p:tav tm="0">
                                          <p:val>
                                            <p:strVal val="#ppt_w"/>
                                          </p:val>
                                        </p:tav>
                                        <p:tav tm="100000">
                                          <p:val>
                                            <p:strVal val="#ppt_w"/>
                                          </p:val>
                                        </p:tav>
                                      </p:tavLst>
                                    </p:anim>
                                    <p:anim calcmode="lin" valueType="num">
                                      <p:cBhvr>
                                        <p:cTn id="10" dur="500" fill="hold"/>
                                        <p:tgtEl>
                                          <p:spTgt spid="2"/>
                                        </p:tgtEl>
                                        <p:attrNameLst>
                                          <p:attrName>ppt_h</p:attrName>
                                        </p:attrNameLst>
                                      </p:cBhvr>
                                      <p:tavLst>
                                        <p:tav tm="0">
                                          <p:val>
                                            <p:fltVal val="0"/>
                                          </p:val>
                                        </p:tav>
                                        <p:tav tm="100000">
                                          <p:val>
                                            <p:strVal val="#ppt_h"/>
                                          </p:val>
                                        </p:tav>
                                      </p:tavLst>
                                    </p:anim>
                                  </p:childTnLst>
                                </p:cTn>
                              </p:par>
                            </p:childTnLst>
                          </p:cTn>
                        </p:par>
                        <p:par>
                          <p:cTn id="11" fill="hold">
                            <p:stCondLst>
                              <p:cond delay="500"/>
                            </p:stCondLst>
                            <p:childTnLst>
                              <p:par>
                                <p:cTn id="12" presetID="9" presetClass="entr" presetSubtype="0" fill="hold"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dissolve">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17" presetClass="entr" presetSubtype="8" fill="hold" nodeType="click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p:cTn id="19" dur="500" fill="hold"/>
                                        <p:tgtEl>
                                          <p:spTgt spid="15"/>
                                        </p:tgtEl>
                                        <p:attrNameLst>
                                          <p:attrName>ppt_x</p:attrName>
                                        </p:attrNameLst>
                                      </p:cBhvr>
                                      <p:tavLst>
                                        <p:tav tm="0">
                                          <p:val>
                                            <p:strVal val="#ppt_x-#ppt_w/2"/>
                                          </p:val>
                                        </p:tav>
                                        <p:tav tm="100000">
                                          <p:val>
                                            <p:strVal val="#ppt_x"/>
                                          </p:val>
                                        </p:tav>
                                      </p:tavLst>
                                    </p:anim>
                                    <p:anim calcmode="lin" valueType="num">
                                      <p:cBhvr>
                                        <p:cTn id="20" dur="500" fill="hold"/>
                                        <p:tgtEl>
                                          <p:spTgt spid="15"/>
                                        </p:tgtEl>
                                        <p:attrNameLst>
                                          <p:attrName>ppt_y</p:attrName>
                                        </p:attrNameLst>
                                      </p:cBhvr>
                                      <p:tavLst>
                                        <p:tav tm="0">
                                          <p:val>
                                            <p:strVal val="#ppt_y"/>
                                          </p:val>
                                        </p:tav>
                                        <p:tav tm="100000">
                                          <p:val>
                                            <p:strVal val="#ppt_y"/>
                                          </p:val>
                                        </p:tav>
                                      </p:tavLst>
                                    </p:anim>
                                    <p:anim calcmode="lin" valueType="num">
                                      <p:cBhvr>
                                        <p:cTn id="21" dur="500" fill="hold"/>
                                        <p:tgtEl>
                                          <p:spTgt spid="15"/>
                                        </p:tgtEl>
                                        <p:attrNameLst>
                                          <p:attrName>ppt_w</p:attrName>
                                        </p:attrNameLst>
                                      </p:cBhvr>
                                      <p:tavLst>
                                        <p:tav tm="0">
                                          <p:val>
                                            <p:fltVal val="0"/>
                                          </p:val>
                                        </p:tav>
                                        <p:tav tm="100000">
                                          <p:val>
                                            <p:strVal val="#ppt_w"/>
                                          </p:val>
                                        </p:tav>
                                      </p:tavLst>
                                    </p:anim>
                                    <p:anim calcmode="lin" valueType="num">
                                      <p:cBhvr>
                                        <p:cTn id="22" dur="500" fill="hold"/>
                                        <p:tgtEl>
                                          <p:spTgt spid="15"/>
                                        </p:tgtEl>
                                        <p:attrNameLst>
                                          <p:attrName>ppt_h</p:attrName>
                                        </p:attrNameLst>
                                      </p:cBhvr>
                                      <p:tavLst>
                                        <p:tav tm="0">
                                          <p:val>
                                            <p:strVal val="#ppt_h"/>
                                          </p:val>
                                        </p:tav>
                                        <p:tav tm="100000">
                                          <p:val>
                                            <p:strVal val="#ppt_h"/>
                                          </p:val>
                                        </p:tav>
                                      </p:tavLst>
                                    </p:anim>
                                  </p:childTnLst>
                                </p:cTn>
                              </p:par>
                            </p:childTnLst>
                          </p:cTn>
                        </p:par>
                      </p:childTnLst>
                    </p:cTn>
                  </p:par>
                  <p:par>
                    <p:cTn id="23" fill="hold">
                      <p:stCondLst>
                        <p:cond delay="indefinite"/>
                      </p:stCondLst>
                      <p:childTnLst>
                        <p:par>
                          <p:cTn id="24" fill="hold">
                            <p:stCondLst>
                              <p:cond delay="0"/>
                            </p:stCondLst>
                            <p:childTnLst>
                              <p:par>
                                <p:cTn id="25" presetID="17" presetClass="entr" presetSubtype="8" fill="hold" nodeType="click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p:cTn id="27" dur="500" fill="hold"/>
                                        <p:tgtEl>
                                          <p:spTgt spid="21"/>
                                        </p:tgtEl>
                                        <p:attrNameLst>
                                          <p:attrName>ppt_x</p:attrName>
                                        </p:attrNameLst>
                                      </p:cBhvr>
                                      <p:tavLst>
                                        <p:tav tm="0">
                                          <p:val>
                                            <p:strVal val="#ppt_x-#ppt_w/2"/>
                                          </p:val>
                                        </p:tav>
                                        <p:tav tm="100000">
                                          <p:val>
                                            <p:strVal val="#ppt_x"/>
                                          </p:val>
                                        </p:tav>
                                      </p:tavLst>
                                    </p:anim>
                                    <p:anim calcmode="lin" valueType="num">
                                      <p:cBhvr>
                                        <p:cTn id="28" dur="500" fill="hold"/>
                                        <p:tgtEl>
                                          <p:spTgt spid="21"/>
                                        </p:tgtEl>
                                        <p:attrNameLst>
                                          <p:attrName>ppt_y</p:attrName>
                                        </p:attrNameLst>
                                      </p:cBhvr>
                                      <p:tavLst>
                                        <p:tav tm="0">
                                          <p:val>
                                            <p:strVal val="#ppt_y"/>
                                          </p:val>
                                        </p:tav>
                                        <p:tav tm="100000">
                                          <p:val>
                                            <p:strVal val="#ppt_y"/>
                                          </p:val>
                                        </p:tav>
                                      </p:tavLst>
                                    </p:anim>
                                    <p:anim calcmode="lin" valueType="num">
                                      <p:cBhvr>
                                        <p:cTn id="29" dur="500" fill="hold"/>
                                        <p:tgtEl>
                                          <p:spTgt spid="21"/>
                                        </p:tgtEl>
                                        <p:attrNameLst>
                                          <p:attrName>ppt_w</p:attrName>
                                        </p:attrNameLst>
                                      </p:cBhvr>
                                      <p:tavLst>
                                        <p:tav tm="0">
                                          <p:val>
                                            <p:fltVal val="0"/>
                                          </p:val>
                                        </p:tav>
                                        <p:tav tm="100000">
                                          <p:val>
                                            <p:strVal val="#ppt_w"/>
                                          </p:val>
                                        </p:tav>
                                      </p:tavLst>
                                    </p:anim>
                                    <p:anim calcmode="lin" valueType="num">
                                      <p:cBhvr>
                                        <p:cTn id="30" dur="500" fill="hold"/>
                                        <p:tgtEl>
                                          <p:spTgt spid="21"/>
                                        </p:tgtEl>
                                        <p:attrNameLst>
                                          <p:attrName>ppt_h</p:attrName>
                                        </p:attrNameLst>
                                      </p:cBhvr>
                                      <p:tavLst>
                                        <p:tav tm="0">
                                          <p:val>
                                            <p:strVal val="#ppt_h"/>
                                          </p:val>
                                        </p:tav>
                                        <p:tav tm="100000">
                                          <p:val>
                                            <p:strVal val="#ppt_h"/>
                                          </p:val>
                                        </p:tav>
                                      </p:tavLst>
                                    </p:anim>
                                  </p:childTnLst>
                                </p:cTn>
                              </p:par>
                            </p:childTnLst>
                          </p:cTn>
                        </p:par>
                      </p:childTnLst>
                    </p:cTn>
                  </p:par>
                  <p:par>
                    <p:cTn id="31" fill="hold">
                      <p:stCondLst>
                        <p:cond delay="indefinite"/>
                      </p:stCondLst>
                      <p:childTnLst>
                        <p:par>
                          <p:cTn id="32" fill="hold">
                            <p:stCondLst>
                              <p:cond delay="0"/>
                            </p:stCondLst>
                            <p:childTnLst>
                              <p:par>
                                <p:cTn id="33" presetID="17" presetClass="entr" presetSubtype="8" fill="hold" nodeType="clickEffect">
                                  <p:stCondLst>
                                    <p:cond delay="0"/>
                                  </p:stCondLst>
                                  <p:childTnLst>
                                    <p:set>
                                      <p:cBhvr>
                                        <p:cTn id="34" dur="1" fill="hold">
                                          <p:stCondLst>
                                            <p:cond delay="0"/>
                                          </p:stCondLst>
                                        </p:cTn>
                                        <p:tgtEl>
                                          <p:spTgt spid="13"/>
                                        </p:tgtEl>
                                        <p:attrNameLst>
                                          <p:attrName>style.visibility</p:attrName>
                                        </p:attrNameLst>
                                      </p:cBhvr>
                                      <p:to>
                                        <p:strVal val="visible"/>
                                      </p:to>
                                    </p:set>
                                    <p:anim calcmode="lin" valueType="num">
                                      <p:cBhvr>
                                        <p:cTn id="35" dur="500" fill="hold"/>
                                        <p:tgtEl>
                                          <p:spTgt spid="13"/>
                                        </p:tgtEl>
                                        <p:attrNameLst>
                                          <p:attrName>ppt_x</p:attrName>
                                        </p:attrNameLst>
                                      </p:cBhvr>
                                      <p:tavLst>
                                        <p:tav tm="0">
                                          <p:val>
                                            <p:strVal val="#ppt_x-#ppt_w/2"/>
                                          </p:val>
                                        </p:tav>
                                        <p:tav tm="100000">
                                          <p:val>
                                            <p:strVal val="#ppt_x"/>
                                          </p:val>
                                        </p:tav>
                                      </p:tavLst>
                                    </p:anim>
                                    <p:anim calcmode="lin" valueType="num">
                                      <p:cBhvr>
                                        <p:cTn id="36" dur="500" fill="hold"/>
                                        <p:tgtEl>
                                          <p:spTgt spid="13"/>
                                        </p:tgtEl>
                                        <p:attrNameLst>
                                          <p:attrName>ppt_y</p:attrName>
                                        </p:attrNameLst>
                                      </p:cBhvr>
                                      <p:tavLst>
                                        <p:tav tm="0">
                                          <p:val>
                                            <p:strVal val="#ppt_y"/>
                                          </p:val>
                                        </p:tav>
                                        <p:tav tm="100000">
                                          <p:val>
                                            <p:strVal val="#ppt_y"/>
                                          </p:val>
                                        </p:tav>
                                      </p:tavLst>
                                    </p:anim>
                                    <p:anim calcmode="lin" valueType="num">
                                      <p:cBhvr>
                                        <p:cTn id="37" dur="500" fill="hold"/>
                                        <p:tgtEl>
                                          <p:spTgt spid="13"/>
                                        </p:tgtEl>
                                        <p:attrNameLst>
                                          <p:attrName>ppt_w</p:attrName>
                                        </p:attrNameLst>
                                      </p:cBhvr>
                                      <p:tavLst>
                                        <p:tav tm="0">
                                          <p:val>
                                            <p:fltVal val="0"/>
                                          </p:val>
                                        </p:tav>
                                        <p:tav tm="100000">
                                          <p:val>
                                            <p:strVal val="#ppt_w"/>
                                          </p:val>
                                        </p:tav>
                                      </p:tavLst>
                                    </p:anim>
                                    <p:anim calcmode="lin" valueType="num">
                                      <p:cBhvr>
                                        <p:cTn id="38" dur="500" fill="hold"/>
                                        <p:tgtEl>
                                          <p:spTgt spid="13"/>
                                        </p:tgtEl>
                                        <p:attrNameLst>
                                          <p:attrName>ppt_h</p:attrName>
                                        </p:attrNameLst>
                                      </p:cBhvr>
                                      <p:tavLst>
                                        <p:tav tm="0">
                                          <p:val>
                                            <p:strVal val="#ppt_h"/>
                                          </p:val>
                                        </p:tav>
                                        <p:tav tm="100000">
                                          <p:val>
                                            <p:strVal val="#ppt_h"/>
                                          </p:val>
                                        </p:tav>
                                      </p:tavLst>
                                    </p:anim>
                                  </p:childTnLst>
                                </p:cTn>
                              </p:par>
                            </p:childTnLst>
                          </p:cTn>
                        </p:par>
                        <p:par>
                          <p:cTn id="39" fill="hold">
                            <p:stCondLst>
                              <p:cond delay="500"/>
                            </p:stCondLst>
                            <p:childTnLst>
                              <p:par>
                                <p:cTn id="40" presetID="9" presetClass="entr" presetSubtype="0" fill="hold" nodeType="after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dissolv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7" presetClass="entr" presetSubtype="8" fill="hold" nodeType="clickEffect">
                                  <p:stCondLst>
                                    <p:cond delay="0"/>
                                  </p:stCondLst>
                                  <p:childTnLst>
                                    <p:set>
                                      <p:cBhvr>
                                        <p:cTn id="46" dur="1" fill="hold">
                                          <p:stCondLst>
                                            <p:cond delay="0"/>
                                          </p:stCondLst>
                                        </p:cTn>
                                        <p:tgtEl>
                                          <p:spTgt spid="23"/>
                                        </p:tgtEl>
                                        <p:attrNameLst>
                                          <p:attrName>style.visibility</p:attrName>
                                        </p:attrNameLst>
                                      </p:cBhvr>
                                      <p:to>
                                        <p:strVal val="visible"/>
                                      </p:to>
                                    </p:set>
                                    <p:anim calcmode="lin" valueType="num">
                                      <p:cBhvr>
                                        <p:cTn id="47" dur="500" fill="hold"/>
                                        <p:tgtEl>
                                          <p:spTgt spid="23"/>
                                        </p:tgtEl>
                                        <p:attrNameLst>
                                          <p:attrName>ppt_x</p:attrName>
                                        </p:attrNameLst>
                                      </p:cBhvr>
                                      <p:tavLst>
                                        <p:tav tm="0">
                                          <p:val>
                                            <p:strVal val="#ppt_x-#ppt_w/2"/>
                                          </p:val>
                                        </p:tav>
                                        <p:tav tm="100000">
                                          <p:val>
                                            <p:strVal val="#ppt_x"/>
                                          </p:val>
                                        </p:tav>
                                      </p:tavLst>
                                    </p:anim>
                                    <p:anim calcmode="lin" valueType="num">
                                      <p:cBhvr>
                                        <p:cTn id="48" dur="500" fill="hold"/>
                                        <p:tgtEl>
                                          <p:spTgt spid="23"/>
                                        </p:tgtEl>
                                        <p:attrNameLst>
                                          <p:attrName>ppt_y</p:attrName>
                                        </p:attrNameLst>
                                      </p:cBhvr>
                                      <p:tavLst>
                                        <p:tav tm="0">
                                          <p:val>
                                            <p:strVal val="#ppt_y"/>
                                          </p:val>
                                        </p:tav>
                                        <p:tav tm="100000">
                                          <p:val>
                                            <p:strVal val="#ppt_y"/>
                                          </p:val>
                                        </p:tav>
                                      </p:tavLst>
                                    </p:anim>
                                    <p:anim calcmode="lin" valueType="num">
                                      <p:cBhvr>
                                        <p:cTn id="49" dur="500" fill="hold"/>
                                        <p:tgtEl>
                                          <p:spTgt spid="23"/>
                                        </p:tgtEl>
                                        <p:attrNameLst>
                                          <p:attrName>ppt_w</p:attrName>
                                        </p:attrNameLst>
                                      </p:cBhvr>
                                      <p:tavLst>
                                        <p:tav tm="0">
                                          <p:val>
                                            <p:fltVal val="0"/>
                                          </p:val>
                                        </p:tav>
                                        <p:tav tm="100000">
                                          <p:val>
                                            <p:strVal val="#ppt_w"/>
                                          </p:val>
                                        </p:tav>
                                      </p:tavLst>
                                    </p:anim>
                                    <p:anim calcmode="lin" valueType="num">
                                      <p:cBhvr>
                                        <p:cTn id="50" dur="500" fill="hold"/>
                                        <p:tgtEl>
                                          <p:spTgt spid="23"/>
                                        </p:tgtEl>
                                        <p:attrNameLst>
                                          <p:attrName>ppt_h</p:attrName>
                                        </p:attrNameLst>
                                      </p:cBhvr>
                                      <p:tavLst>
                                        <p:tav tm="0">
                                          <p:val>
                                            <p:strVal val="#ppt_h"/>
                                          </p:val>
                                        </p:tav>
                                        <p:tav tm="100000">
                                          <p:val>
                                            <p:strVal val="#ppt_h"/>
                                          </p:val>
                                        </p:tav>
                                      </p:tavLst>
                                    </p:anim>
                                  </p:childTnLst>
                                </p:cTn>
                              </p:par>
                            </p:childTnLst>
                          </p:cTn>
                        </p:par>
                        <p:par>
                          <p:cTn id="51" fill="hold">
                            <p:stCondLst>
                              <p:cond delay="500"/>
                            </p:stCondLst>
                            <p:childTnLst>
                              <p:par>
                                <p:cTn id="52" presetID="9" presetClass="entr" presetSubtype="0" fill="hold" grpId="0" nodeType="afterEffect">
                                  <p:stCondLst>
                                    <p:cond delay="1000"/>
                                  </p:stCondLst>
                                  <p:childTnLst>
                                    <p:set>
                                      <p:cBhvr>
                                        <p:cTn id="53" dur="1" fill="hold">
                                          <p:stCondLst>
                                            <p:cond delay="0"/>
                                          </p:stCondLst>
                                        </p:cTn>
                                        <p:tgtEl>
                                          <p:spTgt spid="912651"/>
                                        </p:tgtEl>
                                        <p:attrNameLst>
                                          <p:attrName>style.visibility</p:attrName>
                                        </p:attrNameLst>
                                      </p:cBhvr>
                                      <p:to>
                                        <p:strVal val="visible"/>
                                      </p:to>
                                    </p:set>
                                    <p:animEffect transition="in" filter="dissolve">
                                      <p:cBhvr>
                                        <p:cTn id="54" dur="500"/>
                                        <p:tgtEl>
                                          <p:spTgt spid="912651"/>
                                        </p:tgtEl>
                                      </p:cBhvr>
                                    </p:animEffect>
                                  </p:childTnLst>
                                </p:cTn>
                              </p:par>
                            </p:childTnLst>
                          </p:cTn>
                        </p:par>
                      </p:childTnLst>
                    </p:cTn>
                  </p:par>
                  <p:par>
                    <p:cTn id="55" fill="hold">
                      <p:stCondLst>
                        <p:cond delay="indefinite"/>
                      </p:stCondLst>
                      <p:childTnLst>
                        <p:par>
                          <p:cTn id="56" fill="hold">
                            <p:stCondLst>
                              <p:cond delay="0"/>
                            </p:stCondLst>
                            <p:childTnLst>
                              <p:par>
                                <p:cTn id="57" presetID="17" presetClass="entr" presetSubtype="8" fill="hold" nodeType="clickEffect">
                                  <p:stCondLst>
                                    <p:cond delay="0"/>
                                  </p:stCondLst>
                                  <p:childTnLst>
                                    <p:set>
                                      <p:cBhvr>
                                        <p:cTn id="58" dur="1" fill="hold">
                                          <p:stCondLst>
                                            <p:cond delay="0"/>
                                          </p:stCondLst>
                                        </p:cTn>
                                        <p:tgtEl>
                                          <p:spTgt spid="25"/>
                                        </p:tgtEl>
                                        <p:attrNameLst>
                                          <p:attrName>style.visibility</p:attrName>
                                        </p:attrNameLst>
                                      </p:cBhvr>
                                      <p:to>
                                        <p:strVal val="visible"/>
                                      </p:to>
                                    </p:set>
                                    <p:anim calcmode="lin" valueType="num">
                                      <p:cBhvr>
                                        <p:cTn id="59" dur="500" fill="hold"/>
                                        <p:tgtEl>
                                          <p:spTgt spid="25"/>
                                        </p:tgtEl>
                                        <p:attrNameLst>
                                          <p:attrName>ppt_x</p:attrName>
                                        </p:attrNameLst>
                                      </p:cBhvr>
                                      <p:tavLst>
                                        <p:tav tm="0">
                                          <p:val>
                                            <p:strVal val="#ppt_x-#ppt_w/2"/>
                                          </p:val>
                                        </p:tav>
                                        <p:tav tm="100000">
                                          <p:val>
                                            <p:strVal val="#ppt_x"/>
                                          </p:val>
                                        </p:tav>
                                      </p:tavLst>
                                    </p:anim>
                                    <p:anim calcmode="lin" valueType="num">
                                      <p:cBhvr>
                                        <p:cTn id="60" dur="500" fill="hold"/>
                                        <p:tgtEl>
                                          <p:spTgt spid="25"/>
                                        </p:tgtEl>
                                        <p:attrNameLst>
                                          <p:attrName>ppt_y</p:attrName>
                                        </p:attrNameLst>
                                      </p:cBhvr>
                                      <p:tavLst>
                                        <p:tav tm="0">
                                          <p:val>
                                            <p:strVal val="#ppt_y"/>
                                          </p:val>
                                        </p:tav>
                                        <p:tav tm="100000">
                                          <p:val>
                                            <p:strVal val="#ppt_y"/>
                                          </p:val>
                                        </p:tav>
                                      </p:tavLst>
                                    </p:anim>
                                    <p:anim calcmode="lin" valueType="num">
                                      <p:cBhvr>
                                        <p:cTn id="61" dur="500" fill="hold"/>
                                        <p:tgtEl>
                                          <p:spTgt spid="25"/>
                                        </p:tgtEl>
                                        <p:attrNameLst>
                                          <p:attrName>ppt_w</p:attrName>
                                        </p:attrNameLst>
                                      </p:cBhvr>
                                      <p:tavLst>
                                        <p:tav tm="0">
                                          <p:val>
                                            <p:fltVal val="0"/>
                                          </p:val>
                                        </p:tav>
                                        <p:tav tm="100000">
                                          <p:val>
                                            <p:strVal val="#ppt_w"/>
                                          </p:val>
                                        </p:tav>
                                      </p:tavLst>
                                    </p:anim>
                                    <p:anim calcmode="lin" valueType="num">
                                      <p:cBhvr>
                                        <p:cTn id="62" dur="500" fill="hold"/>
                                        <p:tgtEl>
                                          <p:spTgt spid="25"/>
                                        </p:tgtEl>
                                        <p:attrNameLst>
                                          <p:attrName>ppt_h</p:attrName>
                                        </p:attrNameLst>
                                      </p:cBhvr>
                                      <p:tavLst>
                                        <p:tav tm="0">
                                          <p:val>
                                            <p:strVal val="#ppt_h"/>
                                          </p:val>
                                        </p:tav>
                                        <p:tav tm="100000">
                                          <p:val>
                                            <p:strVal val="#ppt_h"/>
                                          </p:val>
                                        </p:tav>
                                      </p:tavLst>
                                    </p:anim>
                                  </p:childTnLst>
                                </p:cTn>
                              </p:par>
                            </p:childTnLst>
                          </p:cTn>
                        </p:par>
                        <p:par>
                          <p:cTn id="63" fill="hold">
                            <p:stCondLst>
                              <p:cond delay="500"/>
                            </p:stCondLst>
                            <p:childTnLst>
                              <p:par>
                                <p:cTn id="64" presetID="9" presetClass="entr" presetSubtype="0" fill="hold" nodeType="afterEffect">
                                  <p:stCondLst>
                                    <p:cond delay="0"/>
                                  </p:stCondLst>
                                  <p:childTnLst>
                                    <p:set>
                                      <p:cBhvr>
                                        <p:cTn id="65" dur="1" fill="hold">
                                          <p:stCondLst>
                                            <p:cond delay="0"/>
                                          </p:stCondLst>
                                        </p:cTn>
                                        <p:tgtEl>
                                          <p:spTgt spid="10"/>
                                        </p:tgtEl>
                                        <p:attrNameLst>
                                          <p:attrName>style.visibility</p:attrName>
                                        </p:attrNameLst>
                                      </p:cBhvr>
                                      <p:to>
                                        <p:strVal val="visible"/>
                                      </p:to>
                                    </p:set>
                                    <p:animEffect transition="in" filter="dissolve">
                                      <p:cBhvr>
                                        <p:cTn id="66" dur="500"/>
                                        <p:tgtEl>
                                          <p:spTgt spid="10"/>
                                        </p:tgtEl>
                                      </p:cBhvr>
                                    </p:animEffect>
                                  </p:childTnLst>
                                </p:cTn>
                              </p:par>
                            </p:childTnLst>
                          </p:cTn>
                        </p:par>
                      </p:childTnLst>
                    </p:cTn>
                  </p:par>
                  <p:par>
                    <p:cTn id="67" fill="hold">
                      <p:stCondLst>
                        <p:cond delay="indefinite"/>
                      </p:stCondLst>
                      <p:childTnLst>
                        <p:par>
                          <p:cTn id="68" fill="hold">
                            <p:stCondLst>
                              <p:cond delay="0"/>
                            </p:stCondLst>
                            <p:childTnLst>
                              <p:par>
                                <p:cTn id="69" presetID="17" presetClass="entr" presetSubtype="8" fill="hold" nodeType="clickEffect">
                                  <p:stCondLst>
                                    <p:cond delay="0"/>
                                  </p:stCondLst>
                                  <p:childTnLst>
                                    <p:set>
                                      <p:cBhvr>
                                        <p:cTn id="70" dur="1" fill="hold">
                                          <p:stCondLst>
                                            <p:cond delay="0"/>
                                          </p:stCondLst>
                                        </p:cTn>
                                        <p:tgtEl>
                                          <p:spTgt spid="17"/>
                                        </p:tgtEl>
                                        <p:attrNameLst>
                                          <p:attrName>style.visibility</p:attrName>
                                        </p:attrNameLst>
                                      </p:cBhvr>
                                      <p:to>
                                        <p:strVal val="visible"/>
                                      </p:to>
                                    </p:set>
                                    <p:anim calcmode="lin" valueType="num">
                                      <p:cBhvr>
                                        <p:cTn id="71" dur="500" fill="hold"/>
                                        <p:tgtEl>
                                          <p:spTgt spid="17"/>
                                        </p:tgtEl>
                                        <p:attrNameLst>
                                          <p:attrName>ppt_x</p:attrName>
                                        </p:attrNameLst>
                                      </p:cBhvr>
                                      <p:tavLst>
                                        <p:tav tm="0">
                                          <p:val>
                                            <p:strVal val="#ppt_x-#ppt_w/2"/>
                                          </p:val>
                                        </p:tav>
                                        <p:tav tm="100000">
                                          <p:val>
                                            <p:strVal val="#ppt_x"/>
                                          </p:val>
                                        </p:tav>
                                      </p:tavLst>
                                    </p:anim>
                                    <p:anim calcmode="lin" valueType="num">
                                      <p:cBhvr>
                                        <p:cTn id="72" dur="500" fill="hold"/>
                                        <p:tgtEl>
                                          <p:spTgt spid="17"/>
                                        </p:tgtEl>
                                        <p:attrNameLst>
                                          <p:attrName>ppt_y</p:attrName>
                                        </p:attrNameLst>
                                      </p:cBhvr>
                                      <p:tavLst>
                                        <p:tav tm="0">
                                          <p:val>
                                            <p:strVal val="#ppt_y"/>
                                          </p:val>
                                        </p:tav>
                                        <p:tav tm="100000">
                                          <p:val>
                                            <p:strVal val="#ppt_y"/>
                                          </p:val>
                                        </p:tav>
                                      </p:tavLst>
                                    </p:anim>
                                    <p:anim calcmode="lin" valueType="num">
                                      <p:cBhvr>
                                        <p:cTn id="73" dur="500" fill="hold"/>
                                        <p:tgtEl>
                                          <p:spTgt spid="17"/>
                                        </p:tgtEl>
                                        <p:attrNameLst>
                                          <p:attrName>ppt_w</p:attrName>
                                        </p:attrNameLst>
                                      </p:cBhvr>
                                      <p:tavLst>
                                        <p:tav tm="0">
                                          <p:val>
                                            <p:fltVal val="0"/>
                                          </p:val>
                                        </p:tav>
                                        <p:tav tm="100000">
                                          <p:val>
                                            <p:strVal val="#ppt_w"/>
                                          </p:val>
                                        </p:tav>
                                      </p:tavLst>
                                    </p:anim>
                                    <p:anim calcmode="lin" valueType="num">
                                      <p:cBhvr>
                                        <p:cTn id="74" dur="500" fill="hold"/>
                                        <p:tgtEl>
                                          <p:spTgt spid="17"/>
                                        </p:tgtEl>
                                        <p:attrNameLst>
                                          <p:attrName>ppt_h</p:attrName>
                                        </p:attrNameLst>
                                      </p:cBhvr>
                                      <p:tavLst>
                                        <p:tav tm="0">
                                          <p:val>
                                            <p:strVal val="#ppt_h"/>
                                          </p:val>
                                        </p:tav>
                                        <p:tav tm="100000">
                                          <p:val>
                                            <p:strVal val="#ppt_h"/>
                                          </p:val>
                                        </p:tav>
                                      </p:tavLst>
                                    </p:anim>
                                  </p:childTnLst>
                                </p:cTn>
                              </p:par>
                            </p:childTnLst>
                          </p:cTn>
                        </p:par>
                        <p:par>
                          <p:cTn id="75" fill="hold">
                            <p:stCondLst>
                              <p:cond delay="500"/>
                            </p:stCondLst>
                            <p:childTnLst>
                              <p:par>
                                <p:cTn id="76" presetID="9" presetClass="entr" presetSubtype="0" fill="hold" nodeType="afterEffect">
                                  <p:stCondLst>
                                    <p:cond delay="0"/>
                                  </p:stCondLst>
                                  <p:childTnLst>
                                    <p:set>
                                      <p:cBhvr>
                                        <p:cTn id="77" dur="1" fill="hold">
                                          <p:stCondLst>
                                            <p:cond delay="0"/>
                                          </p:stCondLst>
                                        </p:cTn>
                                        <p:tgtEl>
                                          <p:spTgt spid="3"/>
                                        </p:tgtEl>
                                        <p:attrNameLst>
                                          <p:attrName>style.visibility</p:attrName>
                                        </p:attrNameLst>
                                      </p:cBhvr>
                                      <p:to>
                                        <p:strVal val="visible"/>
                                      </p:to>
                                    </p:set>
                                    <p:animEffect transition="in" filter="dissolve">
                                      <p:cBhvr>
                                        <p:cTn id="78" dur="500"/>
                                        <p:tgtEl>
                                          <p:spTgt spid="3"/>
                                        </p:tgtEl>
                                      </p:cBhvr>
                                    </p:animEffect>
                                  </p:childTnLst>
                                </p:cTn>
                              </p:par>
                            </p:childTnLst>
                          </p:cTn>
                        </p:par>
                      </p:childTnLst>
                    </p:cTn>
                  </p:par>
                  <p:par>
                    <p:cTn id="79" fill="hold">
                      <p:stCondLst>
                        <p:cond delay="indefinite"/>
                      </p:stCondLst>
                      <p:childTnLst>
                        <p:par>
                          <p:cTn id="80" fill="hold">
                            <p:stCondLst>
                              <p:cond delay="0"/>
                            </p:stCondLst>
                            <p:childTnLst>
                              <p:par>
                                <p:cTn id="81" presetID="17" presetClass="entr" presetSubtype="8" fill="hold" nodeType="clickEffect">
                                  <p:stCondLst>
                                    <p:cond delay="0"/>
                                  </p:stCondLst>
                                  <p:childTnLst>
                                    <p:set>
                                      <p:cBhvr>
                                        <p:cTn id="82" dur="1" fill="hold">
                                          <p:stCondLst>
                                            <p:cond delay="0"/>
                                          </p:stCondLst>
                                        </p:cTn>
                                        <p:tgtEl>
                                          <p:spTgt spid="27"/>
                                        </p:tgtEl>
                                        <p:attrNameLst>
                                          <p:attrName>style.visibility</p:attrName>
                                        </p:attrNameLst>
                                      </p:cBhvr>
                                      <p:to>
                                        <p:strVal val="visible"/>
                                      </p:to>
                                    </p:set>
                                    <p:anim calcmode="lin" valueType="num">
                                      <p:cBhvr>
                                        <p:cTn id="83" dur="500" fill="hold"/>
                                        <p:tgtEl>
                                          <p:spTgt spid="27"/>
                                        </p:tgtEl>
                                        <p:attrNameLst>
                                          <p:attrName>ppt_x</p:attrName>
                                        </p:attrNameLst>
                                      </p:cBhvr>
                                      <p:tavLst>
                                        <p:tav tm="0">
                                          <p:val>
                                            <p:strVal val="#ppt_x-#ppt_w/2"/>
                                          </p:val>
                                        </p:tav>
                                        <p:tav tm="100000">
                                          <p:val>
                                            <p:strVal val="#ppt_x"/>
                                          </p:val>
                                        </p:tav>
                                      </p:tavLst>
                                    </p:anim>
                                    <p:anim calcmode="lin" valueType="num">
                                      <p:cBhvr>
                                        <p:cTn id="84" dur="500" fill="hold"/>
                                        <p:tgtEl>
                                          <p:spTgt spid="27"/>
                                        </p:tgtEl>
                                        <p:attrNameLst>
                                          <p:attrName>ppt_y</p:attrName>
                                        </p:attrNameLst>
                                      </p:cBhvr>
                                      <p:tavLst>
                                        <p:tav tm="0">
                                          <p:val>
                                            <p:strVal val="#ppt_y"/>
                                          </p:val>
                                        </p:tav>
                                        <p:tav tm="100000">
                                          <p:val>
                                            <p:strVal val="#ppt_y"/>
                                          </p:val>
                                        </p:tav>
                                      </p:tavLst>
                                    </p:anim>
                                    <p:anim calcmode="lin" valueType="num">
                                      <p:cBhvr>
                                        <p:cTn id="85" dur="500" fill="hold"/>
                                        <p:tgtEl>
                                          <p:spTgt spid="27"/>
                                        </p:tgtEl>
                                        <p:attrNameLst>
                                          <p:attrName>ppt_w</p:attrName>
                                        </p:attrNameLst>
                                      </p:cBhvr>
                                      <p:tavLst>
                                        <p:tav tm="0">
                                          <p:val>
                                            <p:fltVal val="0"/>
                                          </p:val>
                                        </p:tav>
                                        <p:tav tm="100000">
                                          <p:val>
                                            <p:strVal val="#ppt_w"/>
                                          </p:val>
                                        </p:tav>
                                      </p:tavLst>
                                    </p:anim>
                                    <p:anim calcmode="lin" valueType="num">
                                      <p:cBhvr>
                                        <p:cTn id="86" dur="500" fill="hold"/>
                                        <p:tgtEl>
                                          <p:spTgt spid="27"/>
                                        </p:tgtEl>
                                        <p:attrNameLst>
                                          <p:attrName>ppt_h</p:attrName>
                                        </p:attrNameLst>
                                      </p:cBhvr>
                                      <p:tavLst>
                                        <p:tav tm="0">
                                          <p:val>
                                            <p:strVal val="#ppt_h"/>
                                          </p:val>
                                        </p:tav>
                                        <p:tav tm="100000">
                                          <p:val>
                                            <p:strVal val="#ppt_h"/>
                                          </p:val>
                                        </p:tav>
                                      </p:tavLst>
                                    </p:anim>
                                  </p:childTnLst>
                                </p:cTn>
                              </p:par>
                            </p:childTnLst>
                          </p:cTn>
                        </p:par>
                        <p:par>
                          <p:cTn id="87" fill="hold">
                            <p:stCondLst>
                              <p:cond delay="500"/>
                            </p:stCondLst>
                            <p:childTnLst>
                              <p:par>
                                <p:cTn id="88" presetID="9" presetClass="entr" presetSubtype="0" fill="hold" grpId="0" nodeType="afterEffect">
                                  <p:stCondLst>
                                    <p:cond delay="1000"/>
                                  </p:stCondLst>
                                  <p:childTnLst>
                                    <p:set>
                                      <p:cBhvr>
                                        <p:cTn id="89" dur="1" fill="hold">
                                          <p:stCondLst>
                                            <p:cond delay="0"/>
                                          </p:stCondLst>
                                        </p:cTn>
                                        <p:tgtEl>
                                          <p:spTgt spid="912549"/>
                                        </p:tgtEl>
                                        <p:attrNameLst>
                                          <p:attrName>style.visibility</p:attrName>
                                        </p:attrNameLst>
                                      </p:cBhvr>
                                      <p:to>
                                        <p:strVal val="visible"/>
                                      </p:to>
                                    </p:set>
                                    <p:animEffect transition="in" filter="dissolve">
                                      <p:cBhvr>
                                        <p:cTn id="90" dur="500"/>
                                        <p:tgtEl>
                                          <p:spTgt spid="912549"/>
                                        </p:tgtEl>
                                      </p:cBhvr>
                                    </p:animEffect>
                                  </p:childTnLst>
                                </p:cTn>
                              </p:par>
                            </p:childTnLst>
                          </p:cTn>
                        </p:par>
                      </p:childTnLst>
                    </p:cTn>
                  </p:par>
                  <p:par>
                    <p:cTn id="91" fill="hold">
                      <p:stCondLst>
                        <p:cond delay="indefinite"/>
                      </p:stCondLst>
                      <p:childTnLst>
                        <p:par>
                          <p:cTn id="92" fill="hold">
                            <p:stCondLst>
                              <p:cond delay="0"/>
                            </p:stCondLst>
                            <p:childTnLst>
                              <p:par>
                                <p:cTn id="93" presetID="9" presetClass="entr" presetSubtype="0" fill="hold" nodeType="clickEffect">
                                  <p:stCondLst>
                                    <p:cond delay="0"/>
                                  </p:stCondLst>
                                  <p:childTnLst>
                                    <p:set>
                                      <p:cBhvr>
                                        <p:cTn id="94" dur="1" fill="hold">
                                          <p:stCondLst>
                                            <p:cond delay="0"/>
                                          </p:stCondLst>
                                        </p:cTn>
                                        <p:tgtEl>
                                          <p:spTgt spid="12"/>
                                        </p:tgtEl>
                                        <p:attrNameLst>
                                          <p:attrName>style.visibility</p:attrName>
                                        </p:attrNameLst>
                                      </p:cBhvr>
                                      <p:to>
                                        <p:strVal val="visible"/>
                                      </p:to>
                                    </p:set>
                                    <p:animEffect transition="in" filter="dissolve">
                                      <p:cBhvr>
                                        <p:cTn id="95" dur="500"/>
                                        <p:tgtEl>
                                          <p:spTgt spid="12"/>
                                        </p:tgtEl>
                                      </p:cBhvr>
                                    </p:animEffect>
                                  </p:childTnLst>
                                </p:cTn>
                              </p:par>
                            </p:childTnLst>
                          </p:cTn>
                        </p:par>
                        <p:par>
                          <p:cTn id="96" fill="hold">
                            <p:stCondLst>
                              <p:cond delay="500"/>
                            </p:stCondLst>
                            <p:childTnLst>
                              <p:par>
                                <p:cTn id="97" presetID="9" presetClass="entr" presetSubtype="0" fill="hold" nodeType="afterEffect">
                                  <p:stCondLst>
                                    <p:cond delay="0"/>
                                  </p:stCondLst>
                                  <p:childTnLst>
                                    <p:set>
                                      <p:cBhvr>
                                        <p:cTn id="98" dur="1" fill="hold">
                                          <p:stCondLst>
                                            <p:cond delay="0"/>
                                          </p:stCondLst>
                                        </p:cTn>
                                        <p:tgtEl>
                                          <p:spTgt spid="4"/>
                                        </p:tgtEl>
                                        <p:attrNameLst>
                                          <p:attrName>style.visibility</p:attrName>
                                        </p:attrNameLst>
                                      </p:cBhvr>
                                      <p:to>
                                        <p:strVal val="visible"/>
                                      </p:to>
                                    </p:set>
                                    <p:animEffect transition="in" filter="dissolve">
                                      <p:cBhvr>
                                        <p:cTn id="99" dur="500"/>
                                        <p:tgtEl>
                                          <p:spTgt spid="4"/>
                                        </p:tgtEl>
                                      </p:cBhvr>
                                    </p:animEffect>
                                  </p:childTnLst>
                                </p:cTn>
                              </p:par>
                            </p:childTnLst>
                          </p:cTn>
                        </p:par>
                      </p:childTnLst>
                    </p:cTn>
                  </p:par>
                  <p:par>
                    <p:cTn id="100" fill="hold">
                      <p:stCondLst>
                        <p:cond delay="indefinite"/>
                      </p:stCondLst>
                      <p:childTnLst>
                        <p:par>
                          <p:cTn id="101" fill="hold">
                            <p:stCondLst>
                              <p:cond delay="0"/>
                            </p:stCondLst>
                            <p:childTnLst>
                              <p:par>
                                <p:cTn id="102" presetID="17" presetClass="entr" presetSubtype="8" fill="hold" nodeType="clickEffect">
                                  <p:stCondLst>
                                    <p:cond delay="0"/>
                                  </p:stCondLst>
                                  <p:childTnLst>
                                    <p:set>
                                      <p:cBhvr>
                                        <p:cTn id="103" dur="1" fill="hold">
                                          <p:stCondLst>
                                            <p:cond delay="0"/>
                                          </p:stCondLst>
                                        </p:cTn>
                                        <p:tgtEl>
                                          <p:spTgt spid="29"/>
                                        </p:tgtEl>
                                        <p:attrNameLst>
                                          <p:attrName>style.visibility</p:attrName>
                                        </p:attrNameLst>
                                      </p:cBhvr>
                                      <p:to>
                                        <p:strVal val="visible"/>
                                      </p:to>
                                    </p:set>
                                    <p:anim calcmode="lin" valueType="num">
                                      <p:cBhvr>
                                        <p:cTn id="104" dur="500" fill="hold"/>
                                        <p:tgtEl>
                                          <p:spTgt spid="29"/>
                                        </p:tgtEl>
                                        <p:attrNameLst>
                                          <p:attrName>ppt_x</p:attrName>
                                        </p:attrNameLst>
                                      </p:cBhvr>
                                      <p:tavLst>
                                        <p:tav tm="0">
                                          <p:val>
                                            <p:strVal val="#ppt_x-#ppt_w/2"/>
                                          </p:val>
                                        </p:tav>
                                        <p:tav tm="100000">
                                          <p:val>
                                            <p:strVal val="#ppt_x"/>
                                          </p:val>
                                        </p:tav>
                                      </p:tavLst>
                                    </p:anim>
                                    <p:anim calcmode="lin" valueType="num">
                                      <p:cBhvr>
                                        <p:cTn id="105" dur="500" fill="hold"/>
                                        <p:tgtEl>
                                          <p:spTgt spid="29"/>
                                        </p:tgtEl>
                                        <p:attrNameLst>
                                          <p:attrName>ppt_y</p:attrName>
                                        </p:attrNameLst>
                                      </p:cBhvr>
                                      <p:tavLst>
                                        <p:tav tm="0">
                                          <p:val>
                                            <p:strVal val="#ppt_y"/>
                                          </p:val>
                                        </p:tav>
                                        <p:tav tm="100000">
                                          <p:val>
                                            <p:strVal val="#ppt_y"/>
                                          </p:val>
                                        </p:tav>
                                      </p:tavLst>
                                    </p:anim>
                                    <p:anim calcmode="lin" valueType="num">
                                      <p:cBhvr>
                                        <p:cTn id="106" dur="500" fill="hold"/>
                                        <p:tgtEl>
                                          <p:spTgt spid="29"/>
                                        </p:tgtEl>
                                        <p:attrNameLst>
                                          <p:attrName>ppt_w</p:attrName>
                                        </p:attrNameLst>
                                      </p:cBhvr>
                                      <p:tavLst>
                                        <p:tav tm="0">
                                          <p:val>
                                            <p:fltVal val="0"/>
                                          </p:val>
                                        </p:tav>
                                        <p:tav tm="100000">
                                          <p:val>
                                            <p:strVal val="#ppt_w"/>
                                          </p:val>
                                        </p:tav>
                                      </p:tavLst>
                                    </p:anim>
                                    <p:anim calcmode="lin" valueType="num">
                                      <p:cBhvr>
                                        <p:cTn id="107" dur="500" fill="hold"/>
                                        <p:tgtEl>
                                          <p:spTgt spid="29"/>
                                        </p:tgtEl>
                                        <p:attrNameLst>
                                          <p:attrName>ppt_h</p:attrName>
                                        </p:attrNameLst>
                                      </p:cBhvr>
                                      <p:tavLst>
                                        <p:tav tm="0">
                                          <p:val>
                                            <p:strVal val="#ppt_h"/>
                                          </p:val>
                                        </p:tav>
                                        <p:tav tm="100000">
                                          <p:val>
                                            <p:strVal val="#ppt_h"/>
                                          </p:val>
                                        </p:tav>
                                      </p:tavLst>
                                    </p:anim>
                                  </p:childTnLst>
                                </p:cTn>
                              </p:par>
                            </p:childTnLst>
                          </p:cTn>
                        </p:par>
                        <p:par>
                          <p:cTn id="108" fill="hold">
                            <p:stCondLst>
                              <p:cond delay="500"/>
                            </p:stCondLst>
                            <p:childTnLst>
                              <p:par>
                                <p:cTn id="109" presetID="9" presetClass="entr" presetSubtype="0" fill="hold" grpId="0" nodeType="afterEffect">
                                  <p:stCondLst>
                                    <p:cond delay="0"/>
                                  </p:stCondLst>
                                  <p:childTnLst>
                                    <p:set>
                                      <p:cBhvr>
                                        <p:cTn id="110" dur="1" fill="hold">
                                          <p:stCondLst>
                                            <p:cond delay="0"/>
                                          </p:stCondLst>
                                        </p:cTn>
                                        <p:tgtEl>
                                          <p:spTgt spid="912555"/>
                                        </p:tgtEl>
                                        <p:attrNameLst>
                                          <p:attrName>style.visibility</p:attrName>
                                        </p:attrNameLst>
                                      </p:cBhvr>
                                      <p:to>
                                        <p:strVal val="visible"/>
                                      </p:to>
                                    </p:set>
                                    <p:animEffect transition="in" filter="dissolve">
                                      <p:cBhvr>
                                        <p:cTn id="111" dur="500"/>
                                        <p:tgtEl>
                                          <p:spTgt spid="912555"/>
                                        </p:tgtEl>
                                      </p:cBhvr>
                                    </p:animEffect>
                                  </p:childTnLst>
                                </p:cTn>
                              </p:par>
                            </p:childTnLst>
                          </p:cTn>
                        </p:par>
                      </p:childTnLst>
                    </p:cTn>
                  </p:par>
                  <p:par>
                    <p:cTn id="112" fill="hold">
                      <p:stCondLst>
                        <p:cond delay="indefinite"/>
                      </p:stCondLst>
                      <p:childTnLst>
                        <p:par>
                          <p:cTn id="113" fill="hold">
                            <p:stCondLst>
                              <p:cond delay="0"/>
                            </p:stCondLst>
                            <p:childTnLst>
                              <p:par>
                                <p:cTn id="114" presetID="17" presetClass="entr" presetSubtype="8" fill="hold" nodeType="clickEffect">
                                  <p:stCondLst>
                                    <p:cond delay="0"/>
                                  </p:stCondLst>
                                  <p:childTnLst>
                                    <p:set>
                                      <p:cBhvr>
                                        <p:cTn id="115" dur="1" fill="hold">
                                          <p:stCondLst>
                                            <p:cond delay="0"/>
                                          </p:stCondLst>
                                        </p:cTn>
                                        <p:tgtEl>
                                          <p:spTgt spid="912643"/>
                                        </p:tgtEl>
                                        <p:attrNameLst>
                                          <p:attrName>style.visibility</p:attrName>
                                        </p:attrNameLst>
                                      </p:cBhvr>
                                      <p:to>
                                        <p:strVal val="visible"/>
                                      </p:to>
                                    </p:set>
                                    <p:anim calcmode="lin" valueType="num">
                                      <p:cBhvr>
                                        <p:cTn id="116" dur="500" fill="hold"/>
                                        <p:tgtEl>
                                          <p:spTgt spid="912643"/>
                                        </p:tgtEl>
                                        <p:attrNameLst>
                                          <p:attrName>ppt_x</p:attrName>
                                        </p:attrNameLst>
                                      </p:cBhvr>
                                      <p:tavLst>
                                        <p:tav tm="0">
                                          <p:val>
                                            <p:strVal val="#ppt_x-#ppt_w/2"/>
                                          </p:val>
                                        </p:tav>
                                        <p:tav tm="100000">
                                          <p:val>
                                            <p:strVal val="#ppt_x"/>
                                          </p:val>
                                        </p:tav>
                                      </p:tavLst>
                                    </p:anim>
                                    <p:anim calcmode="lin" valueType="num">
                                      <p:cBhvr>
                                        <p:cTn id="117" dur="500" fill="hold"/>
                                        <p:tgtEl>
                                          <p:spTgt spid="912643"/>
                                        </p:tgtEl>
                                        <p:attrNameLst>
                                          <p:attrName>ppt_y</p:attrName>
                                        </p:attrNameLst>
                                      </p:cBhvr>
                                      <p:tavLst>
                                        <p:tav tm="0">
                                          <p:val>
                                            <p:strVal val="#ppt_y"/>
                                          </p:val>
                                        </p:tav>
                                        <p:tav tm="100000">
                                          <p:val>
                                            <p:strVal val="#ppt_y"/>
                                          </p:val>
                                        </p:tav>
                                      </p:tavLst>
                                    </p:anim>
                                    <p:anim calcmode="lin" valueType="num">
                                      <p:cBhvr>
                                        <p:cTn id="118" dur="500" fill="hold"/>
                                        <p:tgtEl>
                                          <p:spTgt spid="912643"/>
                                        </p:tgtEl>
                                        <p:attrNameLst>
                                          <p:attrName>ppt_w</p:attrName>
                                        </p:attrNameLst>
                                      </p:cBhvr>
                                      <p:tavLst>
                                        <p:tav tm="0">
                                          <p:val>
                                            <p:fltVal val="0"/>
                                          </p:val>
                                        </p:tav>
                                        <p:tav tm="100000">
                                          <p:val>
                                            <p:strVal val="#ppt_w"/>
                                          </p:val>
                                        </p:tav>
                                      </p:tavLst>
                                    </p:anim>
                                    <p:anim calcmode="lin" valueType="num">
                                      <p:cBhvr>
                                        <p:cTn id="119" dur="500" fill="hold"/>
                                        <p:tgtEl>
                                          <p:spTgt spid="912643"/>
                                        </p:tgtEl>
                                        <p:attrNameLst>
                                          <p:attrName>ppt_h</p:attrName>
                                        </p:attrNameLst>
                                      </p:cBhvr>
                                      <p:tavLst>
                                        <p:tav tm="0">
                                          <p:val>
                                            <p:strVal val="#ppt_h"/>
                                          </p:val>
                                        </p:tav>
                                        <p:tav tm="100000">
                                          <p:val>
                                            <p:strVal val="#ppt_h"/>
                                          </p:val>
                                        </p:tav>
                                      </p:tavLst>
                                    </p:anim>
                                  </p:childTnLst>
                                </p:cTn>
                              </p:par>
                            </p:childTnLst>
                          </p:cTn>
                        </p:par>
                        <p:par>
                          <p:cTn id="120" fill="hold">
                            <p:stCondLst>
                              <p:cond delay="500"/>
                            </p:stCondLst>
                            <p:childTnLst>
                              <p:par>
                                <p:cTn id="121" presetID="9" presetClass="entr" presetSubtype="0" fill="hold" nodeType="afterEffect">
                                  <p:stCondLst>
                                    <p:cond delay="0"/>
                                  </p:stCondLst>
                                  <p:childTnLst>
                                    <p:set>
                                      <p:cBhvr>
                                        <p:cTn id="122" dur="1" fill="hold">
                                          <p:stCondLst>
                                            <p:cond delay="0"/>
                                          </p:stCondLst>
                                        </p:cTn>
                                        <p:tgtEl>
                                          <p:spTgt spid="5"/>
                                        </p:tgtEl>
                                        <p:attrNameLst>
                                          <p:attrName>style.visibility</p:attrName>
                                        </p:attrNameLst>
                                      </p:cBhvr>
                                      <p:to>
                                        <p:strVal val="visible"/>
                                      </p:to>
                                    </p:set>
                                    <p:animEffect transition="in" filter="dissolve">
                                      <p:cBhvr>
                                        <p:cTn id="123" dur="500"/>
                                        <p:tgtEl>
                                          <p:spTgt spid="5"/>
                                        </p:tgtEl>
                                      </p:cBhvr>
                                    </p:animEffect>
                                  </p:childTnLst>
                                </p:cTn>
                              </p:par>
                            </p:childTnLst>
                          </p:cTn>
                        </p:par>
                      </p:childTnLst>
                    </p:cTn>
                  </p:par>
                  <p:par>
                    <p:cTn id="124" fill="hold">
                      <p:stCondLst>
                        <p:cond delay="indefinite"/>
                      </p:stCondLst>
                      <p:childTnLst>
                        <p:par>
                          <p:cTn id="125" fill="hold">
                            <p:stCondLst>
                              <p:cond delay="0"/>
                            </p:stCondLst>
                            <p:childTnLst>
                              <p:par>
                                <p:cTn id="126" presetID="17" presetClass="entr" presetSubtype="8" fill="hold" nodeType="clickEffect">
                                  <p:stCondLst>
                                    <p:cond delay="0"/>
                                  </p:stCondLst>
                                  <p:childTnLst>
                                    <p:set>
                                      <p:cBhvr>
                                        <p:cTn id="127" dur="1" fill="hold">
                                          <p:stCondLst>
                                            <p:cond delay="0"/>
                                          </p:stCondLst>
                                        </p:cTn>
                                        <p:tgtEl>
                                          <p:spTgt spid="19"/>
                                        </p:tgtEl>
                                        <p:attrNameLst>
                                          <p:attrName>style.visibility</p:attrName>
                                        </p:attrNameLst>
                                      </p:cBhvr>
                                      <p:to>
                                        <p:strVal val="visible"/>
                                      </p:to>
                                    </p:set>
                                    <p:anim calcmode="lin" valueType="num">
                                      <p:cBhvr>
                                        <p:cTn id="128" dur="500" fill="hold"/>
                                        <p:tgtEl>
                                          <p:spTgt spid="19"/>
                                        </p:tgtEl>
                                        <p:attrNameLst>
                                          <p:attrName>ppt_x</p:attrName>
                                        </p:attrNameLst>
                                      </p:cBhvr>
                                      <p:tavLst>
                                        <p:tav tm="0">
                                          <p:val>
                                            <p:strVal val="#ppt_x-#ppt_w/2"/>
                                          </p:val>
                                        </p:tav>
                                        <p:tav tm="100000">
                                          <p:val>
                                            <p:strVal val="#ppt_x"/>
                                          </p:val>
                                        </p:tav>
                                      </p:tavLst>
                                    </p:anim>
                                    <p:anim calcmode="lin" valueType="num">
                                      <p:cBhvr>
                                        <p:cTn id="129" dur="500" fill="hold"/>
                                        <p:tgtEl>
                                          <p:spTgt spid="19"/>
                                        </p:tgtEl>
                                        <p:attrNameLst>
                                          <p:attrName>ppt_y</p:attrName>
                                        </p:attrNameLst>
                                      </p:cBhvr>
                                      <p:tavLst>
                                        <p:tav tm="0">
                                          <p:val>
                                            <p:strVal val="#ppt_y"/>
                                          </p:val>
                                        </p:tav>
                                        <p:tav tm="100000">
                                          <p:val>
                                            <p:strVal val="#ppt_y"/>
                                          </p:val>
                                        </p:tav>
                                      </p:tavLst>
                                    </p:anim>
                                    <p:anim calcmode="lin" valueType="num">
                                      <p:cBhvr>
                                        <p:cTn id="130" dur="500" fill="hold"/>
                                        <p:tgtEl>
                                          <p:spTgt spid="19"/>
                                        </p:tgtEl>
                                        <p:attrNameLst>
                                          <p:attrName>ppt_w</p:attrName>
                                        </p:attrNameLst>
                                      </p:cBhvr>
                                      <p:tavLst>
                                        <p:tav tm="0">
                                          <p:val>
                                            <p:fltVal val="0"/>
                                          </p:val>
                                        </p:tav>
                                        <p:tav tm="100000">
                                          <p:val>
                                            <p:strVal val="#ppt_w"/>
                                          </p:val>
                                        </p:tav>
                                      </p:tavLst>
                                    </p:anim>
                                    <p:anim calcmode="lin" valueType="num">
                                      <p:cBhvr>
                                        <p:cTn id="131" dur="500" fill="hold"/>
                                        <p:tgtEl>
                                          <p:spTgt spid="19"/>
                                        </p:tgtEl>
                                        <p:attrNameLst>
                                          <p:attrName>ppt_h</p:attrName>
                                        </p:attrNameLst>
                                      </p:cBhvr>
                                      <p:tavLst>
                                        <p:tav tm="0">
                                          <p:val>
                                            <p:strVal val="#ppt_h"/>
                                          </p:val>
                                        </p:tav>
                                        <p:tav tm="100000">
                                          <p:val>
                                            <p:strVal val="#ppt_h"/>
                                          </p:val>
                                        </p:tav>
                                      </p:tavLst>
                                    </p:anim>
                                  </p:childTnLst>
                                </p:cTn>
                              </p:par>
                            </p:childTnLst>
                          </p:cTn>
                        </p:par>
                        <p:par>
                          <p:cTn id="132" fill="hold">
                            <p:stCondLst>
                              <p:cond delay="500"/>
                            </p:stCondLst>
                            <p:childTnLst>
                              <p:par>
                                <p:cTn id="133" presetID="9" presetClass="entr" presetSubtype="0" fill="hold" nodeType="afterEffect">
                                  <p:stCondLst>
                                    <p:cond delay="0"/>
                                  </p:stCondLst>
                                  <p:childTnLst>
                                    <p:set>
                                      <p:cBhvr>
                                        <p:cTn id="134" dur="1" fill="hold">
                                          <p:stCondLst>
                                            <p:cond delay="0"/>
                                          </p:stCondLst>
                                        </p:cTn>
                                        <p:tgtEl>
                                          <p:spTgt spid="7"/>
                                        </p:tgtEl>
                                        <p:attrNameLst>
                                          <p:attrName>style.visibility</p:attrName>
                                        </p:attrNameLst>
                                      </p:cBhvr>
                                      <p:to>
                                        <p:strVal val="visible"/>
                                      </p:to>
                                    </p:set>
                                    <p:animEffect transition="in" filter="dissolve">
                                      <p:cBhvr>
                                        <p:cTn id="135" dur="500"/>
                                        <p:tgtEl>
                                          <p:spTgt spid="7"/>
                                        </p:tgtEl>
                                      </p:cBhvr>
                                    </p:animEffect>
                                  </p:childTnLst>
                                </p:cTn>
                              </p:par>
                            </p:childTnLst>
                          </p:cTn>
                        </p:par>
                      </p:childTnLst>
                    </p:cTn>
                  </p:par>
                  <p:par>
                    <p:cTn id="136" fill="hold">
                      <p:stCondLst>
                        <p:cond delay="indefinite"/>
                      </p:stCondLst>
                      <p:childTnLst>
                        <p:par>
                          <p:cTn id="137" fill="hold">
                            <p:stCondLst>
                              <p:cond delay="0"/>
                            </p:stCondLst>
                            <p:childTnLst>
                              <p:par>
                                <p:cTn id="138" presetID="17" presetClass="entr" presetSubtype="8" fill="hold" nodeType="clickEffect">
                                  <p:stCondLst>
                                    <p:cond delay="0"/>
                                  </p:stCondLst>
                                  <p:childTnLst>
                                    <p:set>
                                      <p:cBhvr>
                                        <p:cTn id="139" dur="1" fill="hold">
                                          <p:stCondLst>
                                            <p:cond delay="0"/>
                                          </p:stCondLst>
                                        </p:cTn>
                                        <p:tgtEl>
                                          <p:spTgt spid="31"/>
                                        </p:tgtEl>
                                        <p:attrNameLst>
                                          <p:attrName>style.visibility</p:attrName>
                                        </p:attrNameLst>
                                      </p:cBhvr>
                                      <p:to>
                                        <p:strVal val="visible"/>
                                      </p:to>
                                    </p:set>
                                    <p:anim calcmode="lin" valueType="num">
                                      <p:cBhvr>
                                        <p:cTn id="140" dur="500" fill="hold"/>
                                        <p:tgtEl>
                                          <p:spTgt spid="31"/>
                                        </p:tgtEl>
                                        <p:attrNameLst>
                                          <p:attrName>ppt_x</p:attrName>
                                        </p:attrNameLst>
                                      </p:cBhvr>
                                      <p:tavLst>
                                        <p:tav tm="0">
                                          <p:val>
                                            <p:strVal val="#ppt_x-#ppt_w/2"/>
                                          </p:val>
                                        </p:tav>
                                        <p:tav tm="100000">
                                          <p:val>
                                            <p:strVal val="#ppt_x"/>
                                          </p:val>
                                        </p:tav>
                                      </p:tavLst>
                                    </p:anim>
                                    <p:anim calcmode="lin" valueType="num">
                                      <p:cBhvr>
                                        <p:cTn id="141" dur="500" fill="hold"/>
                                        <p:tgtEl>
                                          <p:spTgt spid="31"/>
                                        </p:tgtEl>
                                        <p:attrNameLst>
                                          <p:attrName>ppt_y</p:attrName>
                                        </p:attrNameLst>
                                      </p:cBhvr>
                                      <p:tavLst>
                                        <p:tav tm="0">
                                          <p:val>
                                            <p:strVal val="#ppt_y"/>
                                          </p:val>
                                        </p:tav>
                                        <p:tav tm="100000">
                                          <p:val>
                                            <p:strVal val="#ppt_y"/>
                                          </p:val>
                                        </p:tav>
                                      </p:tavLst>
                                    </p:anim>
                                    <p:anim calcmode="lin" valueType="num">
                                      <p:cBhvr>
                                        <p:cTn id="142" dur="500" fill="hold"/>
                                        <p:tgtEl>
                                          <p:spTgt spid="31"/>
                                        </p:tgtEl>
                                        <p:attrNameLst>
                                          <p:attrName>ppt_w</p:attrName>
                                        </p:attrNameLst>
                                      </p:cBhvr>
                                      <p:tavLst>
                                        <p:tav tm="0">
                                          <p:val>
                                            <p:fltVal val="0"/>
                                          </p:val>
                                        </p:tav>
                                        <p:tav tm="100000">
                                          <p:val>
                                            <p:strVal val="#ppt_w"/>
                                          </p:val>
                                        </p:tav>
                                      </p:tavLst>
                                    </p:anim>
                                    <p:anim calcmode="lin" valueType="num">
                                      <p:cBhvr>
                                        <p:cTn id="143" dur="500" fill="hold"/>
                                        <p:tgtEl>
                                          <p:spTgt spid="31"/>
                                        </p:tgtEl>
                                        <p:attrNameLst>
                                          <p:attrName>ppt_h</p:attrName>
                                        </p:attrNameLst>
                                      </p:cBhvr>
                                      <p:tavLst>
                                        <p:tav tm="0">
                                          <p:val>
                                            <p:strVal val="#ppt_h"/>
                                          </p:val>
                                        </p:tav>
                                        <p:tav tm="100000">
                                          <p:val>
                                            <p:strVal val="#ppt_h"/>
                                          </p:val>
                                        </p:tav>
                                      </p:tavLst>
                                    </p:anim>
                                  </p:childTnLst>
                                </p:cTn>
                              </p:par>
                            </p:childTnLst>
                          </p:cTn>
                        </p:par>
                        <p:par>
                          <p:cTn id="144" fill="hold">
                            <p:stCondLst>
                              <p:cond delay="500"/>
                            </p:stCondLst>
                            <p:childTnLst>
                              <p:par>
                                <p:cTn id="145" presetID="9" presetClass="entr" presetSubtype="0" fill="hold" grpId="0" nodeType="afterEffect">
                                  <p:stCondLst>
                                    <p:cond delay="1000"/>
                                  </p:stCondLst>
                                  <p:childTnLst>
                                    <p:set>
                                      <p:cBhvr>
                                        <p:cTn id="146" dur="1" fill="hold">
                                          <p:stCondLst>
                                            <p:cond delay="0"/>
                                          </p:stCondLst>
                                        </p:cTn>
                                        <p:tgtEl>
                                          <p:spTgt spid="912569"/>
                                        </p:tgtEl>
                                        <p:attrNameLst>
                                          <p:attrName>style.visibility</p:attrName>
                                        </p:attrNameLst>
                                      </p:cBhvr>
                                      <p:to>
                                        <p:strVal val="visible"/>
                                      </p:to>
                                    </p:set>
                                    <p:animEffect transition="in" filter="dissolve">
                                      <p:cBhvr>
                                        <p:cTn id="147" dur="500"/>
                                        <p:tgtEl>
                                          <p:spTgt spid="912569"/>
                                        </p:tgtEl>
                                      </p:cBhvr>
                                    </p:animEffect>
                                  </p:childTnLst>
                                </p:cTn>
                              </p:par>
                            </p:childTnLst>
                          </p:cTn>
                        </p:par>
                      </p:childTnLst>
                    </p:cTn>
                  </p:par>
                  <p:par>
                    <p:cTn id="148" fill="hold">
                      <p:stCondLst>
                        <p:cond delay="indefinite"/>
                      </p:stCondLst>
                      <p:childTnLst>
                        <p:par>
                          <p:cTn id="149" fill="hold">
                            <p:stCondLst>
                              <p:cond delay="0"/>
                            </p:stCondLst>
                            <p:childTnLst>
                              <p:par>
                                <p:cTn id="150" presetID="9" presetClass="entr" presetSubtype="0" fill="hold" nodeType="clickEffect">
                                  <p:stCondLst>
                                    <p:cond delay="0"/>
                                  </p:stCondLst>
                                  <p:childTnLst>
                                    <p:set>
                                      <p:cBhvr>
                                        <p:cTn id="151" dur="1" fill="hold">
                                          <p:stCondLst>
                                            <p:cond delay="0"/>
                                          </p:stCondLst>
                                        </p:cTn>
                                        <p:tgtEl>
                                          <p:spTgt spid="6"/>
                                        </p:tgtEl>
                                        <p:attrNameLst>
                                          <p:attrName>style.visibility</p:attrName>
                                        </p:attrNameLst>
                                      </p:cBhvr>
                                      <p:to>
                                        <p:strVal val="visible"/>
                                      </p:to>
                                    </p:set>
                                    <p:animEffect transition="in" filter="dissolve">
                                      <p:cBhvr>
                                        <p:cTn id="152" dur="500"/>
                                        <p:tgtEl>
                                          <p:spTgt spid="6"/>
                                        </p:tgtEl>
                                      </p:cBhvr>
                                    </p:animEffect>
                                  </p:childTnLst>
                                </p:cTn>
                              </p:par>
                            </p:childTnLst>
                          </p:cTn>
                        </p:par>
                        <p:par>
                          <p:cTn id="153" fill="hold">
                            <p:stCondLst>
                              <p:cond delay="500"/>
                            </p:stCondLst>
                            <p:childTnLst>
                              <p:par>
                                <p:cTn id="154" presetID="9" presetClass="entr" presetSubtype="0" fill="hold" nodeType="afterEffect">
                                  <p:stCondLst>
                                    <p:cond delay="0"/>
                                  </p:stCondLst>
                                  <p:childTnLst>
                                    <p:set>
                                      <p:cBhvr>
                                        <p:cTn id="155" dur="1" fill="hold">
                                          <p:stCondLst>
                                            <p:cond delay="0"/>
                                          </p:stCondLst>
                                        </p:cTn>
                                        <p:tgtEl>
                                          <p:spTgt spid="8"/>
                                        </p:tgtEl>
                                        <p:attrNameLst>
                                          <p:attrName>style.visibility</p:attrName>
                                        </p:attrNameLst>
                                      </p:cBhvr>
                                      <p:to>
                                        <p:strVal val="visible"/>
                                      </p:to>
                                    </p:set>
                                    <p:animEffect transition="in" filter="dissolve">
                                      <p:cBhvr>
                                        <p:cTn id="156" dur="500"/>
                                        <p:tgtEl>
                                          <p:spTgt spid="8"/>
                                        </p:tgtEl>
                                      </p:cBhvr>
                                    </p:animEffect>
                                  </p:childTnLst>
                                </p:cTn>
                              </p:par>
                            </p:childTnLst>
                          </p:cTn>
                        </p:par>
                      </p:childTnLst>
                    </p:cTn>
                  </p:par>
                  <p:par>
                    <p:cTn id="157" fill="hold">
                      <p:stCondLst>
                        <p:cond delay="indefinite"/>
                      </p:stCondLst>
                      <p:childTnLst>
                        <p:par>
                          <p:cTn id="158" fill="hold">
                            <p:stCondLst>
                              <p:cond delay="0"/>
                            </p:stCondLst>
                            <p:childTnLst>
                              <p:par>
                                <p:cTn id="159" presetID="17" presetClass="entr" presetSubtype="8" fill="hold" nodeType="clickEffect">
                                  <p:stCondLst>
                                    <p:cond delay="0"/>
                                  </p:stCondLst>
                                  <p:childTnLst>
                                    <p:set>
                                      <p:cBhvr>
                                        <p:cTn id="160" dur="1" fill="hold">
                                          <p:stCondLst>
                                            <p:cond delay="0"/>
                                          </p:stCondLst>
                                        </p:cTn>
                                        <p:tgtEl>
                                          <p:spTgt spid="912641"/>
                                        </p:tgtEl>
                                        <p:attrNameLst>
                                          <p:attrName>style.visibility</p:attrName>
                                        </p:attrNameLst>
                                      </p:cBhvr>
                                      <p:to>
                                        <p:strVal val="visible"/>
                                      </p:to>
                                    </p:set>
                                    <p:anim calcmode="lin" valueType="num">
                                      <p:cBhvr>
                                        <p:cTn id="161" dur="500" fill="hold"/>
                                        <p:tgtEl>
                                          <p:spTgt spid="912641"/>
                                        </p:tgtEl>
                                        <p:attrNameLst>
                                          <p:attrName>ppt_x</p:attrName>
                                        </p:attrNameLst>
                                      </p:cBhvr>
                                      <p:tavLst>
                                        <p:tav tm="0">
                                          <p:val>
                                            <p:strVal val="#ppt_x-#ppt_w/2"/>
                                          </p:val>
                                        </p:tav>
                                        <p:tav tm="100000">
                                          <p:val>
                                            <p:strVal val="#ppt_x"/>
                                          </p:val>
                                        </p:tav>
                                      </p:tavLst>
                                    </p:anim>
                                    <p:anim calcmode="lin" valueType="num">
                                      <p:cBhvr>
                                        <p:cTn id="162" dur="500" fill="hold"/>
                                        <p:tgtEl>
                                          <p:spTgt spid="912641"/>
                                        </p:tgtEl>
                                        <p:attrNameLst>
                                          <p:attrName>ppt_y</p:attrName>
                                        </p:attrNameLst>
                                      </p:cBhvr>
                                      <p:tavLst>
                                        <p:tav tm="0">
                                          <p:val>
                                            <p:strVal val="#ppt_y"/>
                                          </p:val>
                                        </p:tav>
                                        <p:tav tm="100000">
                                          <p:val>
                                            <p:strVal val="#ppt_y"/>
                                          </p:val>
                                        </p:tav>
                                      </p:tavLst>
                                    </p:anim>
                                    <p:anim calcmode="lin" valueType="num">
                                      <p:cBhvr>
                                        <p:cTn id="163" dur="500" fill="hold"/>
                                        <p:tgtEl>
                                          <p:spTgt spid="912641"/>
                                        </p:tgtEl>
                                        <p:attrNameLst>
                                          <p:attrName>ppt_w</p:attrName>
                                        </p:attrNameLst>
                                      </p:cBhvr>
                                      <p:tavLst>
                                        <p:tav tm="0">
                                          <p:val>
                                            <p:fltVal val="0"/>
                                          </p:val>
                                        </p:tav>
                                        <p:tav tm="100000">
                                          <p:val>
                                            <p:strVal val="#ppt_w"/>
                                          </p:val>
                                        </p:tav>
                                      </p:tavLst>
                                    </p:anim>
                                    <p:anim calcmode="lin" valueType="num">
                                      <p:cBhvr>
                                        <p:cTn id="164" dur="500" fill="hold"/>
                                        <p:tgtEl>
                                          <p:spTgt spid="912641"/>
                                        </p:tgtEl>
                                        <p:attrNameLst>
                                          <p:attrName>ppt_h</p:attrName>
                                        </p:attrNameLst>
                                      </p:cBhvr>
                                      <p:tavLst>
                                        <p:tav tm="0">
                                          <p:val>
                                            <p:strVal val="#ppt_h"/>
                                          </p:val>
                                        </p:tav>
                                        <p:tav tm="100000">
                                          <p:val>
                                            <p:strVal val="#ppt_h"/>
                                          </p:val>
                                        </p:tav>
                                      </p:tavLst>
                                    </p:anim>
                                  </p:childTnLst>
                                </p:cTn>
                              </p:par>
                            </p:childTnLst>
                          </p:cTn>
                        </p:par>
                        <p:par>
                          <p:cTn id="165" fill="hold">
                            <p:stCondLst>
                              <p:cond delay="500"/>
                            </p:stCondLst>
                            <p:childTnLst>
                              <p:par>
                                <p:cTn id="166" presetID="9" presetClass="entr" presetSubtype="0" fill="hold" grpId="0" nodeType="afterEffect">
                                  <p:stCondLst>
                                    <p:cond delay="1000"/>
                                  </p:stCondLst>
                                  <p:childTnLst>
                                    <p:set>
                                      <p:cBhvr>
                                        <p:cTn id="167" dur="1" fill="hold">
                                          <p:stCondLst>
                                            <p:cond delay="0"/>
                                          </p:stCondLst>
                                        </p:cTn>
                                        <p:tgtEl>
                                          <p:spTgt spid="912575"/>
                                        </p:tgtEl>
                                        <p:attrNameLst>
                                          <p:attrName>style.visibility</p:attrName>
                                        </p:attrNameLst>
                                      </p:cBhvr>
                                      <p:to>
                                        <p:strVal val="visible"/>
                                      </p:to>
                                    </p:set>
                                    <p:animEffect transition="in" filter="dissolve">
                                      <p:cBhvr>
                                        <p:cTn id="168" dur="500"/>
                                        <p:tgtEl>
                                          <p:spTgt spid="912575"/>
                                        </p:tgtEl>
                                      </p:cBhvr>
                                    </p:animEffect>
                                  </p:childTnLst>
                                </p:cTn>
                              </p:par>
                            </p:childTnLst>
                          </p:cTn>
                        </p:par>
                        <p:par>
                          <p:cTn id="169" fill="hold">
                            <p:stCondLst>
                              <p:cond delay="2000"/>
                            </p:stCondLst>
                            <p:childTnLst>
                              <p:par>
                                <p:cTn id="170" presetID="17" presetClass="entr" presetSubtype="1" fill="hold" nodeType="afterEffect">
                                  <p:stCondLst>
                                    <p:cond delay="0"/>
                                  </p:stCondLst>
                                  <p:childTnLst>
                                    <p:set>
                                      <p:cBhvr>
                                        <p:cTn id="171" dur="1" fill="hold">
                                          <p:stCondLst>
                                            <p:cond delay="0"/>
                                          </p:stCondLst>
                                        </p:cTn>
                                        <p:tgtEl>
                                          <p:spTgt spid="912548"/>
                                        </p:tgtEl>
                                        <p:attrNameLst>
                                          <p:attrName>style.visibility</p:attrName>
                                        </p:attrNameLst>
                                      </p:cBhvr>
                                      <p:to>
                                        <p:strVal val="visible"/>
                                      </p:to>
                                    </p:set>
                                    <p:anim calcmode="lin" valueType="num">
                                      <p:cBhvr>
                                        <p:cTn id="172" dur="500" fill="hold"/>
                                        <p:tgtEl>
                                          <p:spTgt spid="912548"/>
                                        </p:tgtEl>
                                        <p:attrNameLst>
                                          <p:attrName>ppt_x</p:attrName>
                                        </p:attrNameLst>
                                      </p:cBhvr>
                                      <p:tavLst>
                                        <p:tav tm="0">
                                          <p:val>
                                            <p:strVal val="#ppt_x"/>
                                          </p:val>
                                        </p:tav>
                                        <p:tav tm="100000">
                                          <p:val>
                                            <p:strVal val="#ppt_x"/>
                                          </p:val>
                                        </p:tav>
                                      </p:tavLst>
                                    </p:anim>
                                    <p:anim calcmode="lin" valueType="num">
                                      <p:cBhvr>
                                        <p:cTn id="173" dur="500" fill="hold"/>
                                        <p:tgtEl>
                                          <p:spTgt spid="912548"/>
                                        </p:tgtEl>
                                        <p:attrNameLst>
                                          <p:attrName>ppt_y</p:attrName>
                                        </p:attrNameLst>
                                      </p:cBhvr>
                                      <p:tavLst>
                                        <p:tav tm="0">
                                          <p:val>
                                            <p:strVal val="#ppt_y-#ppt_h/2"/>
                                          </p:val>
                                        </p:tav>
                                        <p:tav tm="100000">
                                          <p:val>
                                            <p:strVal val="#ppt_y"/>
                                          </p:val>
                                        </p:tav>
                                      </p:tavLst>
                                    </p:anim>
                                    <p:anim calcmode="lin" valueType="num">
                                      <p:cBhvr>
                                        <p:cTn id="174" dur="500" fill="hold"/>
                                        <p:tgtEl>
                                          <p:spTgt spid="912548"/>
                                        </p:tgtEl>
                                        <p:attrNameLst>
                                          <p:attrName>ppt_w</p:attrName>
                                        </p:attrNameLst>
                                      </p:cBhvr>
                                      <p:tavLst>
                                        <p:tav tm="0">
                                          <p:val>
                                            <p:strVal val="#ppt_w"/>
                                          </p:val>
                                        </p:tav>
                                        <p:tav tm="100000">
                                          <p:val>
                                            <p:strVal val="#ppt_w"/>
                                          </p:val>
                                        </p:tav>
                                      </p:tavLst>
                                    </p:anim>
                                    <p:anim calcmode="lin" valueType="num">
                                      <p:cBhvr>
                                        <p:cTn id="175" dur="500" fill="hold"/>
                                        <p:tgtEl>
                                          <p:spTgt spid="912548"/>
                                        </p:tgtEl>
                                        <p:attrNameLst>
                                          <p:attrName>ppt_h</p:attrName>
                                        </p:attrNameLst>
                                      </p:cBhvr>
                                      <p:tavLst>
                                        <p:tav tm="0">
                                          <p:val>
                                            <p:fltVal val="0"/>
                                          </p:val>
                                        </p:tav>
                                        <p:tav tm="100000">
                                          <p:val>
                                            <p:strVal val="#ppt_h"/>
                                          </p:val>
                                        </p:tav>
                                      </p:tavLst>
                                    </p:anim>
                                  </p:childTnLst>
                                </p:cTn>
                              </p:par>
                            </p:childTnLst>
                          </p:cTn>
                        </p:par>
                      </p:childTnLst>
                    </p:cTn>
                  </p:par>
                  <p:par>
                    <p:cTn id="176" fill="hold">
                      <p:stCondLst>
                        <p:cond delay="indefinite"/>
                      </p:stCondLst>
                      <p:childTnLst>
                        <p:par>
                          <p:cTn id="177" fill="hold">
                            <p:stCondLst>
                              <p:cond delay="0"/>
                            </p:stCondLst>
                            <p:childTnLst>
                              <p:par>
                                <p:cTn id="178" presetID="2" presetClass="entr" presetSubtype="8" fill="hold" grpId="0" nodeType="clickEffect">
                                  <p:stCondLst>
                                    <p:cond delay="0"/>
                                  </p:stCondLst>
                                  <p:childTnLst>
                                    <p:set>
                                      <p:cBhvr>
                                        <p:cTn id="179" dur="1" fill="hold">
                                          <p:stCondLst>
                                            <p:cond delay="0"/>
                                          </p:stCondLst>
                                        </p:cTn>
                                        <p:tgtEl>
                                          <p:spTgt spid="912695"/>
                                        </p:tgtEl>
                                        <p:attrNameLst>
                                          <p:attrName>style.visibility</p:attrName>
                                        </p:attrNameLst>
                                      </p:cBhvr>
                                      <p:to>
                                        <p:strVal val="visible"/>
                                      </p:to>
                                    </p:set>
                                    <p:anim calcmode="lin" valueType="num">
                                      <p:cBhvr additive="base">
                                        <p:cTn id="180" dur="3000" fill="hold"/>
                                        <p:tgtEl>
                                          <p:spTgt spid="912695"/>
                                        </p:tgtEl>
                                        <p:attrNameLst>
                                          <p:attrName>ppt_x</p:attrName>
                                        </p:attrNameLst>
                                      </p:cBhvr>
                                      <p:tavLst>
                                        <p:tav tm="0">
                                          <p:val>
                                            <p:strVal val="0-#ppt_w/2"/>
                                          </p:val>
                                        </p:tav>
                                        <p:tav tm="100000">
                                          <p:val>
                                            <p:strVal val="#ppt_x"/>
                                          </p:val>
                                        </p:tav>
                                      </p:tavLst>
                                    </p:anim>
                                    <p:anim calcmode="lin" valueType="num">
                                      <p:cBhvr additive="base">
                                        <p:cTn id="181" dur="3000" fill="hold"/>
                                        <p:tgtEl>
                                          <p:spTgt spid="91269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2549" grpId="0" animBg="1"/>
      <p:bldP spid="912555" grpId="0" animBg="1"/>
      <p:bldP spid="912569" grpId="0" animBg="1"/>
      <p:bldP spid="912575" grpId="0" animBg="1"/>
      <p:bldP spid="912651" grpId="0" animBg="1"/>
      <p:bldP spid="912695"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0340" name="Rectangle 4"/>
          <p:cNvSpPr>
            <a:spLocks noChangeArrowheads="1"/>
          </p:cNvSpPr>
          <p:nvPr/>
        </p:nvSpPr>
        <p:spPr bwMode="auto">
          <a:xfrm>
            <a:off x="773113" y="177800"/>
            <a:ext cx="588486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a:ln>
                  <a:noFill/>
                </a:ln>
                <a:solidFill>
                  <a:schemeClr val="bg1"/>
                </a:solidFill>
                <a:effectLst/>
                <a:uLnTx/>
                <a:uFillTx/>
                <a:latin typeface="+mj-lt"/>
                <a:ea typeface="微软雅黑" panose="020B0503020204020204" pitchFamily="34" charset="-122"/>
                <a:cs typeface="+mj-cs"/>
                <a:sym typeface="+mn-lt"/>
              </a:rPr>
              <a:t>遍历的算法实现－中序遍历</a:t>
            </a:r>
          </a:p>
        </p:txBody>
      </p:sp>
      <p:sp>
        <p:nvSpPr>
          <p:cNvPr id="910341" name="Rectangle 5"/>
          <p:cNvSpPr>
            <a:spLocks noChangeArrowheads="1"/>
          </p:cNvSpPr>
          <p:nvPr/>
        </p:nvSpPr>
        <p:spPr bwMode="auto">
          <a:xfrm>
            <a:off x="384175" y="1171575"/>
            <a:ext cx="4152900" cy="2305050"/>
          </a:xfrm>
          <a:prstGeom prst="rect">
            <a:avLst/>
          </a:prstGeom>
          <a:noFill/>
          <a:ln w="38100">
            <a:solidFill>
              <a:srgbClr val="FF0000"/>
            </a:solidFill>
            <a:miter lim="800000"/>
          </a:ln>
          <a:effectLst/>
        </p:spPr>
        <p:txBody>
          <a:bodyPr/>
          <a:lstStyle/>
          <a:p>
            <a:pPr marL="342900" marR="0" lvl="0" indent="-342900" algn="l"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若二叉树为空，则空操作</a:t>
            </a:r>
          </a:p>
          <a:p>
            <a:pPr marL="342900" marR="0" lvl="0" indent="-342900" algn="l"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否则</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b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b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中序遍历左子树 </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(L)</a:t>
            </a:r>
            <a:b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b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访问根结点 </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(D)</a:t>
            </a:r>
            <a:b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b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中序遍历右子树 </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(R)</a:t>
            </a:r>
          </a:p>
        </p:txBody>
      </p:sp>
      <p:grpSp>
        <p:nvGrpSpPr>
          <p:cNvPr id="58372" name="Group 7"/>
          <p:cNvGrpSpPr/>
          <p:nvPr/>
        </p:nvGrpSpPr>
        <p:grpSpPr>
          <a:xfrm>
            <a:off x="873125" y="3714750"/>
            <a:ext cx="3060700" cy="2362200"/>
            <a:chOff x="492" y="384"/>
            <a:chExt cx="1928" cy="1488"/>
          </a:xfrm>
        </p:grpSpPr>
        <p:sp>
          <p:nvSpPr>
            <p:cNvPr id="55301" name="Oval 8"/>
            <p:cNvSpPr>
              <a:spLocks noChangeArrowheads="1"/>
            </p:cNvSpPr>
            <p:nvPr/>
          </p:nvSpPr>
          <p:spPr bwMode="auto">
            <a:xfrm>
              <a:off x="1212" y="384"/>
              <a:ext cx="384" cy="384"/>
            </a:xfrm>
            <a:prstGeom prst="ellipse">
              <a:avLst/>
            </a:prstGeom>
            <a:solidFill>
              <a:srgbClr val="FFFFCC"/>
            </a:solidFill>
            <a:ln w="19050">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A</a:t>
              </a:r>
            </a:p>
          </p:txBody>
        </p:sp>
        <p:sp>
          <p:nvSpPr>
            <p:cNvPr id="55302" name="Oval 9"/>
            <p:cNvSpPr>
              <a:spLocks noChangeArrowheads="1"/>
            </p:cNvSpPr>
            <p:nvPr/>
          </p:nvSpPr>
          <p:spPr bwMode="auto">
            <a:xfrm>
              <a:off x="1164" y="1488"/>
              <a:ext cx="384" cy="384"/>
            </a:xfrm>
            <a:prstGeom prst="ellipse">
              <a:avLst/>
            </a:prstGeom>
            <a:solidFill>
              <a:srgbClr val="FFFFCC"/>
            </a:solidFill>
            <a:ln w="19050">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D</a:t>
              </a:r>
            </a:p>
          </p:txBody>
        </p:sp>
        <p:sp>
          <p:nvSpPr>
            <p:cNvPr id="55303" name="Oval 10"/>
            <p:cNvSpPr>
              <a:spLocks noChangeArrowheads="1"/>
            </p:cNvSpPr>
            <p:nvPr/>
          </p:nvSpPr>
          <p:spPr bwMode="auto">
            <a:xfrm>
              <a:off x="492" y="1104"/>
              <a:ext cx="384" cy="384"/>
            </a:xfrm>
            <a:prstGeom prst="ellipse">
              <a:avLst/>
            </a:prstGeom>
            <a:solidFill>
              <a:srgbClr val="FFFFCC"/>
            </a:solidFill>
            <a:ln w="19050">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55304" name="Oval 11"/>
            <p:cNvSpPr>
              <a:spLocks noChangeArrowheads="1"/>
            </p:cNvSpPr>
            <p:nvPr/>
          </p:nvSpPr>
          <p:spPr bwMode="auto">
            <a:xfrm>
              <a:off x="2036" y="1064"/>
              <a:ext cx="384" cy="384"/>
            </a:xfrm>
            <a:prstGeom prst="ellipse">
              <a:avLst/>
            </a:prstGeom>
            <a:solidFill>
              <a:srgbClr val="FFFFCC"/>
            </a:solidFill>
            <a:ln w="19050">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C</a:t>
              </a:r>
            </a:p>
          </p:txBody>
        </p:sp>
        <p:sp>
          <p:nvSpPr>
            <p:cNvPr id="55305" name="Line 12"/>
            <p:cNvSpPr>
              <a:spLocks noChangeShapeType="1"/>
            </p:cNvSpPr>
            <p:nvPr/>
          </p:nvSpPr>
          <p:spPr bwMode="auto">
            <a:xfrm flipH="1">
              <a:off x="780" y="720"/>
              <a:ext cx="480" cy="43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306" name="Line 13"/>
            <p:cNvSpPr>
              <a:spLocks noChangeShapeType="1"/>
            </p:cNvSpPr>
            <p:nvPr/>
          </p:nvSpPr>
          <p:spPr bwMode="auto">
            <a:xfrm>
              <a:off x="1548" y="720"/>
              <a:ext cx="576" cy="384"/>
            </a:xfrm>
            <a:prstGeom prst="line">
              <a:avLst/>
            </a:prstGeom>
            <a:noFill/>
            <a:ln w="19050">
              <a:solidFill>
                <a:srgbClr val="FF66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307" name="Line 14"/>
            <p:cNvSpPr>
              <a:spLocks noChangeShapeType="1"/>
            </p:cNvSpPr>
            <p:nvPr/>
          </p:nvSpPr>
          <p:spPr bwMode="auto">
            <a:xfrm>
              <a:off x="876" y="1392"/>
              <a:ext cx="336" cy="192"/>
            </a:xfrm>
            <a:prstGeom prst="line">
              <a:avLst/>
            </a:prstGeom>
            <a:noFill/>
            <a:ln w="19050">
              <a:solidFill>
                <a:srgbClr val="FF66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10351" name="Rectangle 15"/>
          <p:cNvSpPr>
            <a:spLocks noChangeArrowheads="1"/>
          </p:cNvSpPr>
          <p:nvPr/>
        </p:nvSpPr>
        <p:spPr bwMode="auto">
          <a:xfrm>
            <a:off x="5362575" y="1200150"/>
            <a:ext cx="2667000" cy="45720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rgbClr val="FFC000"/>
                </a:solidFill>
                <a:effectLst/>
                <a:uLnTx/>
                <a:uFillTx/>
                <a:latin typeface="+mn-lt"/>
                <a:ea typeface="+mn-ea"/>
                <a:cs typeface="+mn-ea"/>
                <a:sym typeface="+mn-lt"/>
              </a:rPr>
              <a:t>L           D            R</a:t>
            </a:r>
          </a:p>
        </p:txBody>
      </p:sp>
      <p:grpSp>
        <p:nvGrpSpPr>
          <p:cNvPr id="3" name="Group 16"/>
          <p:cNvGrpSpPr/>
          <p:nvPr/>
        </p:nvGrpSpPr>
        <p:grpSpPr>
          <a:xfrm>
            <a:off x="5362575" y="3143250"/>
            <a:ext cx="457200" cy="1066800"/>
            <a:chOff x="2880" y="1248"/>
            <a:chExt cx="288" cy="672"/>
          </a:xfrm>
        </p:grpSpPr>
        <p:sp>
          <p:nvSpPr>
            <p:cNvPr id="55310" name="Line 17"/>
            <p:cNvSpPr>
              <a:spLocks noChangeShapeType="1"/>
            </p:cNvSpPr>
            <p:nvPr/>
          </p:nvSpPr>
          <p:spPr bwMode="auto">
            <a:xfrm>
              <a:off x="3024" y="1248"/>
              <a:ext cx="0" cy="432"/>
            </a:xfrm>
            <a:prstGeom prst="line">
              <a:avLst/>
            </a:prstGeom>
            <a:noFill/>
            <a:ln w="19050">
              <a:solidFill>
                <a:srgbClr val="FF66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311" name="Oval 18"/>
            <p:cNvSpPr>
              <a:spLocks noChangeArrowheads="1"/>
            </p:cNvSpPr>
            <p:nvPr/>
          </p:nvSpPr>
          <p:spPr bwMode="auto">
            <a:xfrm>
              <a:off x="2880" y="1680"/>
              <a:ext cx="288" cy="240"/>
            </a:xfrm>
            <a:prstGeom prst="ellipse">
              <a:avLst/>
            </a:prstGeom>
            <a:solidFill>
              <a:srgbClr val="FF9933"/>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B</a:t>
              </a:r>
            </a:p>
          </p:txBody>
        </p:sp>
      </p:grpSp>
      <p:grpSp>
        <p:nvGrpSpPr>
          <p:cNvPr id="4" name="Group 19"/>
          <p:cNvGrpSpPr/>
          <p:nvPr/>
        </p:nvGrpSpPr>
        <p:grpSpPr>
          <a:xfrm>
            <a:off x="4829175" y="1676400"/>
            <a:ext cx="1524000" cy="1447800"/>
            <a:chOff x="3216" y="1248"/>
            <a:chExt cx="960" cy="912"/>
          </a:xfrm>
        </p:grpSpPr>
        <p:sp>
          <p:nvSpPr>
            <p:cNvPr id="55313" name="Line 20"/>
            <p:cNvSpPr>
              <a:spLocks noChangeShapeType="1"/>
            </p:cNvSpPr>
            <p:nvPr/>
          </p:nvSpPr>
          <p:spPr bwMode="auto">
            <a:xfrm>
              <a:off x="3696" y="1248"/>
              <a:ext cx="0" cy="432"/>
            </a:xfrm>
            <a:prstGeom prst="line">
              <a:avLst/>
            </a:prstGeom>
            <a:noFill/>
            <a:ln w="19050">
              <a:solidFill>
                <a:schemeClr val="accent2"/>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58416" name="Group 21"/>
            <p:cNvGrpSpPr/>
            <p:nvPr/>
          </p:nvGrpSpPr>
          <p:grpSpPr>
            <a:xfrm>
              <a:off x="3408" y="1680"/>
              <a:ext cx="576" cy="240"/>
              <a:chOff x="3408" y="1680"/>
              <a:chExt cx="576" cy="240"/>
            </a:xfrm>
          </p:grpSpPr>
          <p:sp>
            <p:nvSpPr>
              <p:cNvPr id="55315" name="Line 22"/>
              <p:cNvSpPr>
                <a:spLocks noChangeShapeType="1"/>
              </p:cNvSpPr>
              <p:nvPr/>
            </p:nvSpPr>
            <p:spPr bwMode="auto">
              <a:xfrm>
                <a:off x="3408" y="1680"/>
                <a:ext cx="57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316" name="Line 23"/>
              <p:cNvSpPr>
                <a:spLocks noChangeShapeType="1"/>
              </p:cNvSpPr>
              <p:nvPr/>
            </p:nvSpPr>
            <p:spPr bwMode="auto">
              <a:xfrm>
                <a:off x="3408" y="1680"/>
                <a:ext cx="0" cy="24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317" name="Line 24"/>
              <p:cNvSpPr>
                <a:spLocks noChangeShapeType="1"/>
              </p:cNvSpPr>
              <p:nvPr/>
            </p:nvSpPr>
            <p:spPr bwMode="auto">
              <a:xfrm>
                <a:off x="3984" y="1680"/>
                <a:ext cx="0" cy="24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5318" name="Rectangle 25"/>
            <p:cNvSpPr>
              <a:spLocks noChangeArrowheads="1"/>
            </p:cNvSpPr>
            <p:nvPr/>
          </p:nvSpPr>
          <p:spPr bwMode="auto">
            <a:xfrm>
              <a:off x="3216" y="1920"/>
              <a:ext cx="960" cy="24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rgbClr val="FFC000"/>
                  </a:solidFill>
                  <a:effectLst/>
                  <a:uLnTx/>
                  <a:uFillTx/>
                  <a:latin typeface="+mn-lt"/>
                  <a:ea typeface="+mn-ea"/>
                  <a:cs typeface="+mn-ea"/>
                  <a:sym typeface="+mn-lt"/>
                </a:rPr>
                <a:t>L  D   R</a:t>
              </a:r>
            </a:p>
          </p:txBody>
        </p:sp>
      </p:grpSp>
      <p:grpSp>
        <p:nvGrpSpPr>
          <p:cNvPr id="6" name="Group 26"/>
          <p:cNvGrpSpPr/>
          <p:nvPr/>
        </p:nvGrpSpPr>
        <p:grpSpPr>
          <a:xfrm>
            <a:off x="5781675" y="3086100"/>
            <a:ext cx="1447800" cy="1447800"/>
            <a:chOff x="3744" y="2160"/>
            <a:chExt cx="912" cy="912"/>
          </a:xfrm>
        </p:grpSpPr>
        <p:grpSp>
          <p:nvGrpSpPr>
            <p:cNvPr id="58409" name="Group 27"/>
            <p:cNvGrpSpPr/>
            <p:nvPr/>
          </p:nvGrpSpPr>
          <p:grpSpPr>
            <a:xfrm>
              <a:off x="3888" y="2592"/>
              <a:ext cx="576" cy="240"/>
              <a:chOff x="3888" y="2592"/>
              <a:chExt cx="576" cy="240"/>
            </a:xfrm>
          </p:grpSpPr>
          <p:sp>
            <p:nvSpPr>
              <p:cNvPr id="55321" name="Line 28"/>
              <p:cNvSpPr>
                <a:spLocks noChangeShapeType="1"/>
              </p:cNvSpPr>
              <p:nvPr/>
            </p:nvSpPr>
            <p:spPr bwMode="auto">
              <a:xfrm>
                <a:off x="3888" y="2592"/>
                <a:ext cx="57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322" name="Line 29"/>
              <p:cNvSpPr>
                <a:spLocks noChangeShapeType="1"/>
              </p:cNvSpPr>
              <p:nvPr/>
            </p:nvSpPr>
            <p:spPr bwMode="auto">
              <a:xfrm>
                <a:off x="3888" y="2592"/>
                <a:ext cx="0" cy="24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323" name="Line 30"/>
              <p:cNvSpPr>
                <a:spLocks noChangeShapeType="1"/>
              </p:cNvSpPr>
              <p:nvPr/>
            </p:nvSpPr>
            <p:spPr bwMode="auto">
              <a:xfrm>
                <a:off x="4464" y="2592"/>
                <a:ext cx="0" cy="24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5324" name="Rectangle 31"/>
            <p:cNvSpPr>
              <a:spLocks noChangeArrowheads="1"/>
            </p:cNvSpPr>
            <p:nvPr/>
          </p:nvSpPr>
          <p:spPr bwMode="auto">
            <a:xfrm>
              <a:off x="3744" y="2832"/>
              <a:ext cx="912" cy="24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rgbClr val="FFC000"/>
                  </a:solidFill>
                  <a:effectLst/>
                  <a:uLnTx/>
                  <a:uFillTx/>
                  <a:latin typeface="+mn-lt"/>
                  <a:ea typeface="+mn-ea"/>
                  <a:cs typeface="+mn-ea"/>
                  <a:sym typeface="+mn-lt"/>
                </a:rPr>
                <a:t>L    D   R</a:t>
              </a:r>
            </a:p>
          </p:txBody>
        </p:sp>
        <p:sp>
          <p:nvSpPr>
            <p:cNvPr id="55325" name="Line 32"/>
            <p:cNvSpPr>
              <a:spLocks noChangeShapeType="1"/>
            </p:cNvSpPr>
            <p:nvPr/>
          </p:nvSpPr>
          <p:spPr bwMode="auto">
            <a:xfrm>
              <a:off x="3984" y="2160"/>
              <a:ext cx="0" cy="432"/>
            </a:xfrm>
            <a:prstGeom prst="line">
              <a:avLst/>
            </a:prstGeom>
            <a:noFill/>
            <a:ln w="19050">
              <a:solidFill>
                <a:srgbClr val="CC0099"/>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 name="Group 33"/>
          <p:cNvGrpSpPr/>
          <p:nvPr/>
        </p:nvGrpSpPr>
        <p:grpSpPr>
          <a:xfrm>
            <a:off x="4886325" y="3124200"/>
            <a:ext cx="457200" cy="990600"/>
            <a:chOff x="3552" y="2160"/>
            <a:chExt cx="288" cy="624"/>
          </a:xfrm>
        </p:grpSpPr>
        <p:sp>
          <p:nvSpPr>
            <p:cNvPr id="55327" name="Text Box 34"/>
            <p:cNvSpPr txBox="1">
              <a:spLocks noChangeArrowheads="1"/>
            </p:cNvSpPr>
            <p:nvPr/>
          </p:nvSpPr>
          <p:spPr bwMode="auto">
            <a:xfrm rot="-5503572">
              <a:off x="3576" y="2520"/>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&gt;</a:t>
              </a:r>
            </a:p>
          </p:txBody>
        </p:sp>
        <p:sp>
          <p:nvSpPr>
            <p:cNvPr id="55328" name="Line 35"/>
            <p:cNvSpPr>
              <a:spLocks noChangeShapeType="1"/>
            </p:cNvSpPr>
            <p:nvPr/>
          </p:nvSpPr>
          <p:spPr bwMode="auto">
            <a:xfrm>
              <a:off x="3696" y="2160"/>
              <a:ext cx="0" cy="432"/>
            </a:xfrm>
            <a:prstGeom prst="line">
              <a:avLst/>
            </a:prstGeom>
            <a:noFill/>
            <a:ln w="19050">
              <a:solidFill>
                <a:schemeClr val="accent2"/>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9" name="Group 36"/>
          <p:cNvGrpSpPr/>
          <p:nvPr/>
        </p:nvGrpSpPr>
        <p:grpSpPr>
          <a:xfrm>
            <a:off x="6448425" y="1657350"/>
            <a:ext cx="457200" cy="1066800"/>
            <a:chOff x="3264" y="2160"/>
            <a:chExt cx="288" cy="672"/>
          </a:xfrm>
        </p:grpSpPr>
        <p:sp>
          <p:nvSpPr>
            <p:cNvPr id="55330" name="Oval 37"/>
            <p:cNvSpPr>
              <a:spLocks noChangeArrowheads="1"/>
            </p:cNvSpPr>
            <p:nvPr/>
          </p:nvSpPr>
          <p:spPr bwMode="auto">
            <a:xfrm>
              <a:off x="3264" y="2592"/>
              <a:ext cx="288" cy="240"/>
            </a:xfrm>
            <a:prstGeom prst="ellipse">
              <a:avLst/>
            </a:prstGeom>
            <a:solidFill>
              <a:srgbClr val="FF9933"/>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A</a:t>
              </a:r>
            </a:p>
          </p:txBody>
        </p:sp>
        <p:sp>
          <p:nvSpPr>
            <p:cNvPr id="55331" name="Line 38"/>
            <p:cNvSpPr>
              <a:spLocks noChangeShapeType="1"/>
            </p:cNvSpPr>
            <p:nvPr/>
          </p:nvSpPr>
          <p:spPr bwMode="auto">
            <a:xfrm>
              <a:off x="3408" y="2160"/>
              <a:ext cx="0" cy="432"/>
            </a:xfrm>
            <a:prstGeom prst="line">
              <a:avLst/>
            </a:prstGeom>
            <a:noFill/>
            <a:ln w="19050">
              <a:solidFill>
                <a:srgbClr val="FF66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0" name="Group 39"/>
          <p:cNvGrpSpPr/>
          <p:nvPr/>
        </p:nvGrpSpPr>
        <p:grpSpPr>
          <a:xfrm>
            <a:off x="6772275" y="4514850"/>
            <a:ext cx="457200" cy="990600"/>
            <a:chOff x="4368" y="3072"/>
            <a:chExt cx="288" cy="624"/>
          </a:xfrm>
        </p:grpSpPr>
        <p:sp>
          <p:nvSpPr>
            <p:cNvPr id="55333" name="Text Box 40"/>
            <p:cNvSpPr txBox="1">
              <a:spLocks noChangeArrowheads="1"/>
            </p:cNvSpPr>
            <p:nvPr/>
          </p:nvSpPr>
          <p:spPr bwMode="auto">
            <a:xfrm rot="-5503572">
              <a:off x="4392" y="3432"/>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&gt;</a:t>
              </a:r>
            </a:p>
          </p:txBody>
        </p:sp>
        <p:sp>
          <p:nvSpPr>
            <p:cNvPr id="55334" name="Line 41"/>
            <p:cNvSpPr>
              <a:spLocks noChangeShapeType="1"/>
            </p:cNvSpPr>
            <p:nvPr/>
          </p:nvSpPr>
          <p:spPr bwMode="auto">
            <a:xfrm>
              <a:off x="4512" y="3072"/>
              <a:ext cx="0" cy="432"/>
            </a:xfrm>
            <a:prstGeom prst="line">
              <a:avLst/>
            </a:prstGeom>
            <a:noFill/>
            <a:ln w="19050">
              <a:solidFill>
                <a:srgbClr val="CC0099"/>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1" name="Group 42"/>
          <p:cNvGrpSpPr/>
          <p:nvPr/>
        </p:nvGrpSpPr>
        <p:grpSpPr>
          <a:xfrm>
            <a:off x="5762625" y="4552950"/>
            <a:ext cx="457200" cy="990600"/>
            <a:chOff x="4080" y="3072"/>
            <a:chExt cx="288" cy="624"/>
          </a:xfrm>
        </p:grpSpPr>
        <p:sp>
          <p:nvSpPr>
            <p:cNvPr id="55336" name="Text Box 43"/>
            <p:cNvSpPr txBox="1">
              <a:spLocks noChangeArrowheads="1"/>
            </p:cNvSpPr>
            <p:nvPr/>
          </p:nvSpPr>
          <p:spPr bwMode="auto">
            <a:xfrm rot="-5503572">
              <a:off x="4104" y="3432"/>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&gt;</a:t>
              </a:r>
            </a:p>
          </p:txBody>
        </p:sp>
        <p:sp>
          <p:nvSpPr>
            <p:cNvPr id="55337" name="Line 44"/>
            <p:cNvSpPr>
              <a:spLocks noChangeShapeType="1"/>
            </p:cNvSpPr>
            <p:nvPr/>
          </p:nvSpPr>
          <p:spPr bwMode="auto">
            <a:xfrm>
              <a:off x="4224" y="3072"/>
              <a:ext cx="0" cy="432"/>
            </a:xfrm>
            <a:prstGeom prst="line">
              <a:avLst/>
            </a:prstGeom>
            <a:noFill/>
            <a:ln w="19050">
              <a:solidFill>
                <a:schemeClr val="accent2"/>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2" name="Group 45"/>
          <p:cNvGrpSpPr/>
          <p:nvPr/>
        </p:nvGrpSpPr>
        <p:grpSpPr>
          <a:xfrm>
            <a:off x="6315075" y="4514850"/>
            <a:ext cx="457200" cy="1066800"/>
            <a:chOff x="3792" y="3072"/>
            <a:chExt cx="288" cy="672"/>
          </a:xfrm>
        </p:grpSpPr>
        <p:sp>
          <p:nvSpPr>
            <p:cNvPr id="55339" name="Oval 46"/>
            <p:cNvSpPr>
              <a:spLocks noChangeArrowheads="1"/>
            </p:cNvSpPr>
            <p:nvPr/>
          </p:nvSpPr>
          <p:spPr bwMode="auto">
            <a:xfrm>
              <a:off x="3792" y="3504"/>
              <a:ext cx="288" cy="240"/>
            </a:xfrm>
            <a:prstGeom prst="ellipse">
              <a:avLst/>
            </a:prstGeom>
            <a:solidFill>
              <a:srgbClr val="FF9933"/>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D</a:t>
              </a:r>
            </a:p>
          </p:txBody>
        </p:sp>
        <p:sp>
          <p:nvSpPr>
            <p:cNvPr id="55340" name="Line 47"/>
            <p:cNvSpPr>
              <a:spLocks noChangeShapeType="1"/>
            </p:cNvSpPr>
            <p:nvPr/>
          </p:nvSpPr>
          <p:spPr bwMode="auto">
            <a:xfrm>
              <a:off x="3936" y="3072"/>
              <a:ext cx="0" cy="432"/>
            </a:xfrm>
            <a:prstGeom prst="line">
              <a:avLst/>
            </a:prstGeom>
            <a:noFill/>
            <a:ln w="19050">
              <a:solidFill>
                <a:srgbClr val="FF66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3" name="Group 48"/>
          <p:cNvGrpSpPr/>
          <p:nvPr/>
        </p:nvGrpSpPr>
        <p:grpSpPr>
          <a:xfrm>
            <a:off x="8181975" y="3257550"/>
            <a:ext cx="457200" cy="990600"/>
            <a:chOff x="5280" y="2160"/>
            <a:chExt cx="288" cy="624"/>
          </a:xfrm>
        </p:grpSpPr>
        <p:sp>
          <p:nvSpPr>
            <p:cNvPr id="55342" name="Text Box 49"/>
            <p:cNvSpPr txBox="1">
              <a:spLocks noChangeArrowheads="1"/>
            </p:cNvSpPr>
            <p:nvPr/>
          </p:nvSpPr>
          <p:spPr bwMode="auto">
            <a:xfrm rot="-5503572">
              <a:off x="5304" y="2520"/>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&gt;</a:t>
              </a:r>
            </a:p>
          </p:txBody>
        </p:sp>
        <p:sp>
          <p:nvSpPr>
            <p:cNvPr id="55343" name="Line 50"/>
            <p:cNvSpPr>
              <a:spLocks noChangeShapeType="1"/>
            </p:cNvSpPr>
            <p:nvPr/>
          </p:nvSpPr>
          <p:spPr bwMode="auto">
            <a:xfrm>
              <a:off x="5424" y="2160"/>
              <a:ext cx="0" cy="432"/>
            </a:xfrm>
            <a:prstGeom prst="line">
              <a:avLst/>
            </a:prstGeom>
            <a:noFill/>
            <a:ln w="19050">
              <a:solidFill>
                <a:srgbClr val="CC0099"/>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4" name="Group 51"/>
          <p:cNvGrpSpPr/>
          <p:nvPr/>
        </p:nvGrpSpPr>
        <p:grpSpPr>
          <a:xfrm>
            <a:off x="7153275" y="3257550"/>
            <a:ext cx="457200" cy="990600"/>
            <a:chOff x="4992" y="2160"/>
            <a:chExt cx="288" cy="624"/>
          </a:xfrm>
        </p:grpSpPr>
        <p:sp>
          <p:nvSpPr>
            <p:cNvPr id="55345" name="Text Box 52"/>
            <p:cNvSpPr txBox="1">
              <a:spLocks noChangeArrowheads="1"/>
            </p:cNvSpPr>
            <p:nvPr/>
          </p:nvSpPr>
          <p:spPr bwMode="auto">
            <a:xfrm rot="-5503572">
              <a:off x="5016" y="2520"/>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&gt;</a:t>
              </a:r>
            </a:p>
          </p:txBody>
        </p:sp>
        <p:sp>
          <p:nvSpPr>
            <p:cNvPr id="55346" name="Line 53"/>
            <p:cNvSpPr>
              <a:spLocks noChangeShapeType="1"/>
            </p:cNvSpPr>
            <p:nvPr/>
          </p:nvSpPr>
          <p:spPr bwMode="auto">
            <a:xfrm>
              <a:off x="5136" y="2160"/>
              <a:ext cx="0" cy="432"/>
            </a:xfrm>
            <a:prstGeom prst="line">
              <a:avLst/>
            </a:prstGeom>
            <a:noFill/>
            <a:ln w="19050">
              <a:solidFill>
                <a:schemeClr val="accent2"/>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5" name="Group 54"/>
          <p:cNvGrpSpPr/>
          <p:nvPr/>
        </p:nvGrpSpPr>
        <p:grpSpPr>
          <a:xfrm>
            <a:off x="7705725" y="3257550"/>
            <a:ext cx="457200" cy="1066800"/>
            <a:chOff x="4704" y="2160"/>
            <a:chExt cx="288" cy="672"/>
          </a:xfrm>
        </p:grpSpPr>
        <p:sp>
          <p:nvSpPr>
            <p:cNvPr id="55348" name="Oval 55"/>
            <p:cNvSpPr>
              <a:spLocks noChangeArrowheads="1"/>
            </p:cNvSpPr>
            <p:nvPr/>
          </p:nvSpPr>
          <p:spPr bwMode="auto">
            <a:xfrm>
              <a:off x="4704" y="2592"/>
              <a:ext cx="288" cy="240"/>
            </a:xfrm>
            <a:prstGeom prst="ellipse">
              <a:avLst/>
            </a:prstGeom>
            <a:solidFill>
              <a:srgbClr val="FF9933"/>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C</a:t>
              </a:r>
            </a:p>
          </p:txBody>
        </p:sp>
        <p:sp>
          <p:nvSpPr>
            <p:cNvPr id="55349" name="Line 56"/>
            <p:cNvSpPr>
              <a:spLocks noChangeShapeType="1"/>
            </p:cNvSpPr>
            <p:nvPr/>
          </p:nvSpPr>
          <p:spPr bwMode="auto">
            <a:xfrm>
              <a:off x="4848" y="2160"/>
              <a:ext cx="0" cy="432"/>
            </a:xfrm>
            <a:prstGeom prst="line">
              <a:avLst/>
            </a:prstGeom>
            <a:noFill/>
            <a:ln w="19050">
              <a:solidFill>
                <a:srgbClr val="FF66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6" name="Group 57"/>
          <p:cNvGrpSpPr/>
          <p:nvPr/>
        </p:nvGrpSpPr>
        <p:grpSpPr>
          <a:xfrm>
            <a:off x="7172325" y="1657350"/>
            <a:ext cx="1447800" cy="1600200"/>
            <a:chOff x="4356" y="972"/>
            <a:chExt cx="912" cy="1008"/>
          </a:xfrm>
        </p:grpSpPr>
        <p:grpSp>
          <p:nvGrpSpPr>
            <p:cNvPr id="58387" name="Group 58"/>
            <p:cNvGrpSpPr/>
            <p:nvPr/>
          </p:nvGrpSpPr>
          <p:grpSpPr>
            <a:xfrm>
              <a:off x="4500" y="1500"/>
              <a:ext cx="576" cy="240"/>
              <a:chOff x="4800" y="1680"/>
              <a:chExt cx="576" cy="240"/>
            </a:xfrm>
          </p:grpSpPr>
          <p:sp>
            <p:nvSpPr>
              <p:cNvPr id="55352" name="Line 59"/>
              <p:cNvSpPr>
                <a:spLocks noChangeShapeType="1"/>
              </p:cNvSpPr>
              <p:nvPr/>
            </p:nvSpPr>
            <p:spPr bwMode="auto">
              <a:xfrm>
                <a:off x="4800" y="1680"/>
                <a:ext cx="57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353" name="Line 60"/>
              <p:cNvSpPr>
                <a:spLocks noChangeShapeType="1"/>
              </p:cNvSpPr>
              <p:nvPr/>
            </p:nvSpPr>
            <p:spPr bwMode="auto">
              <a:xfrm>
                <a:off x="4800" y="1680"/>
                <a:ext cx="0" cy="24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5354" name="Line 61"/>
              <p:cNvSpPr>
                <a:spLocks noChangeShapeType="1"/>
              </p:cNvSpPr>
              <p:nvPr/>
            </p:nvSpPr>
            <p:spPr bwMode="auto">
              <a:xfrm>
                <a:off x="5376" y="1680"/>
                <a:ext cx="0" cy="24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5355" name="Rectangle 62"/>
            <p:cNvSpPr>
              <a:spLocks noChangeArrowheads="1"/>
            </p:cNvSpPr>
            <p:nvPr/>
          </p:nvSpPr>
          <p:spPr bwMode="auto">
            <a:xfrm>
              <a:off x="4356" y="1740"/>
              <a:ext cx="912" cy="24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rgbClr val="FFC000"/>
                  </a:solidFill>
                  <a:effectLst/>
                  <a:uLnTx/>
                  <a:uFillTx/>
                  <a:latin typeface="+mn-lt"/>
                  <a:ea typeface="+mn-ea"/>
                  <a:cs typeface="+mn-ea"/>
                  <a:sym typeface="+mn-lt"/>
                </a:rPr>
                <a:t>L    D   R</a:t>
              </a:r>
            </a:p>
          </p:txBody>
        </p:sp>
        <p:sp>
          <p:nvSpPr>
            <p:cNvPr id="55356" name="Line 63"/>
            <p:cNvSpPr>
              <a:spLocks noChangeShapeType="1"/>
            </p:cNvSpPr>
            <p:nvPr/>
          </p:nvSpPr>
          <p:spPr bwMode="auto">
            <a:xfrm>
              <a:off x="4740" y="972"/>
              <a:ext cx="0" cy="528"/>
            </a:xfrm>
            <a:prstGeom prst="line">
              <a:avLst/>
            </a:prstGeom>
            <a:noFill/>
            <a:ln w="19050">
              <a:solidFill>
                <a:srgbClr val="CC0099"/>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10400" name="Text Box 64"/>
          <p:cNvSpPr txBox="1">
            <a:spLocks noChangeArrowheads="1"/>
          </p:cNvSpPr>
          <p:nvPr/>
        </p:nvSpPr>
        <p:spPr bwMode="auto">
          <a:xfrm>
            <a:off x="4435475" y="5892800"/>
            <a:ext cx="4483100" cy="519113"/>
          </a:xfrm>
          <a:prstGeom prst="rect">
            <a:avLst/>
          </a:prstGeom>
          <a:noFill/>
          <a:ln w="9525">
            <a:noFill/>
            <a:miter lim="800000"/>
          </a:ln>
          <a:effectLst/>
        </p:spPr>
        <p:txBody>
          <a:bodyPr>
            <a:spAutoFit/>
          </a:bodyPr>
          <a:lstStyle/>
          <a:p>
            <a:pPr marR="0" defTabSz="914400" eaLnBrk="1" hangingPunct="1">
              <a:buClrTx/>
              <a:buSzTx/>
              <a:buFontTx/>
              <a:buNone/>
              <a:defRPr/>
            </a:pPr>
            <a:r>
              <a:rPr kumimoji="0" lang="zh-CN" altLang="en-US" b="0" kern="1200" cap="none" spc="0" normalizeH="0" baseline="0" noProof="0" dirty="0">
                <a:solidFill>
                  <a:schemeClr val="hlink"/>
                </a:solidFill>
                <a:latin typeface="+mn-lt"/>
                <a:ea typeface="+mn-ea"/>
                <a:cs typeface="+mn-ea"/>
                <a:sym typeface="+mn-lt"/>
              </a:rPr>
              <a:t>中序遍历序列：</a:t>
            </a:r>
            <a:r>
              <a:rPr kumimoji="0" lang="en-US" altLang="zh-CN" b="0" kern="1200" cap="none" spc="0" normalizeH="0" baseline="0" noProof="0" dirty="0">
                <a:solidFill>
                  <a:schemeClr val="hlink"/>
                </a:solidFill>
                <a:latin typeface="+mn-lt"/>
                <a:ea typeface="+mn-ea"/>
                <a:cs typeface="+mn-ea"/>
                <a:sym typeface="+mn-lt"/>
              </a:rPr>
              <a:t>B  D  A  C</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0351"/>
                                        </p:tgtEl>
                                        <p:attrNameLst>
                                          <p:attrName>style.visibility</p:attrName>
                                        </p:attrNameLst>
                                      </p:cBhvr>
                                      <p:to>
                                        <p:strVal val="visible"/>
                                      </p:to>
                                    </p:set>
                                    <p:animEffect transition="in" filter="dissolve">
                                      <p:cBhvr>
                                        <p:cTn id="7" dur="500"/>
                                        <p:tgtEl>
                                          <p:spTgt spid="910351"/>
                                        </p:tgtEl>
                                      </p:cBhvr>
                                    </p:animEffect>
                                  </p:childTnLst>
                                </p:cTn>
                              </p:par>
                            </p:childTnLst>
                          </p:cTn>
                        </p:par>
                      </p:childTnLst>
                    </p:cTn>
                  </p:par>
                  <p:par>
                    <p:cTn id="8" fill="hold">
                      <p:stCondLst>
                        <p:cond delay="indefinite"/>
                      </p:stCondLst>
                      <p:childTnLst>
                        <p:par>
                          <p:cTn id="9" fill="hold">
                            <p:stCondLst>
                              <p:cond delay="0"/>
                            </p:stCondLst>
                            <p:childTnLst>
                              <p:par>
                                <p:cTn id="10" presetID="17" presetClass="entr" presetSubtype="1"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ppt_x</p:attrName>
                                        </p:attrNameLst>
                                      </p:cBhvr>
                                      <p:tavLst>
                                        <p:tav tm="0">
                                          <p:val>
                                            <p:strVal val="#ppt_x"/>
                                          </p:val>
                                        </p:tav>
                                        <p:tav tm="100000">
                                          <p:val>
                                            <p:strVal val="#ppt_x"/>
                                          </p:val>
                                        </p:tav>
                                      </p:tavLst>
                                    </p:anim>
                                    <p:anim calcmode="lin" valueType="num">
                                      <p:cBhvr>
                                        <p:cTn id="13" dur="500" fill="hold"/>
                                        <p:tgtEl>
                                          <p:spTgt spid="4"/>
                                        </p:tgtEl>
                                        <p:attrNameLst>
                                          <p:attrName>ppt_y</p:attrName>
                                        </p:attrNameLst>
                                      </p:cBhvr>
                                      <p:tavLst>
                                        <p:tav tm="0">
                                          <p:val>
                                            <p:strVal val="#ppt_y-#ppt_h/2"/>
                                          </p:val>
                                        </p:tav>
                                        <p:tav tm="100000">
                                          <p:val>
                                            <p:strVal val="#ppt_y"/>
                                          </p:val>
                                        </p:tav>
                                      </p:tavLst>
                                    </p:anim>
                                    <p:anim calcmode="lin" valueType="num">
                                      <p:cBhvr>
                                        <p:cTn id="14" dur="500" fill="hold"/>
                                        <p:tgtEl>
                                          <p:spTgt spid="4"/>
                                        </p:tgtEl>
                                        <p:attrNameLst>
                                          <p:attrName>ppt_w</p:attrName>
                                        </p:attrNameLst>
                                      </p:cBhvr>
                                      <p:tavLst>
                                        <p:tav tm="0">
                                          <p:val>
                                            <p:strVal val="#ppt_w"/>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childTnLst>
                                </p:cTn>
                              </p:par>
                            </p:childTnLst>
                          </p:cTn>
                        </p:par>
                      </p:childTnLst>
                    </p:cTn>
                  </p:par>
                  <p:par>
                    <p:cTn id="16" fill="hold">
                      <p:stCondLst>
                        <p:cond delay="indefinite"/>
                      </p:stCondLst>
                      <p:childTnLst>
                        <p:par>
                          <p:cTn id="17" fill="hold">
                            <p:stCondLst>
                              <p:cond delay="0"/>
                            </p:stCondLst>
                            <p:childTnLst>
                              <p:par>
                                <p:cTn id="18" presetID="17" presetClass="entr" presetSubtype="1" fill="hold" nodeType="clickEffect">
                                  <p:stCondLst>
                                    <p:cond delay="0"/>
                                  </p:stCondLst>
                                  <p:childTnLst>
                                    <p:set>
                                      <p:cBhvr>
                                        <p:cTn id="19" dur="1" fill="hold">
                                          <p:stCondLst>
                                            <p:cond delay="0"/>
                                          </p:stCondLst>
                                        </p:cTn>
                                        <p:tgtEl>
                                          <p:spTgt spid="8"/>
                                        </p:tgtEl>
                                        <p:attrNameLst>
                                          <p:attrName>style.visibility</p:attrName>
                                        </p:attrNameLst>
                                      </p:cBhvr>
                                      <p:to>
                                        <p:strVal val="visible"/>
                                      </p:to>
                                    </p:set>
                                    <p:anim calcmode="lin" valueType="num">
                                      <p:cBhvr>
                                        <p:cTn id="20" dur="500" fill="hold"/>
                                        <p:tgtEl>
                                          <p:spTgt spid="8"/>
                                        </p:tgtEl>
                                        <p:attrNameLst>
                                          <p:attrName>ppt_x</p:attrName>
                                        </p:attrNameLst>
                                      </p:cBhvr>
                                      <p:tavLst>
                                        <p:tav tm="0">
                                          <p:val>
                                            <p:strVal val="#ppt_x"/>
                                          </p:val>
                                        </p:tav>
                                        <p:tav tm="100000">
                                          <p:val>
                                            <p:strVal val="#ppt_x"/>
                                          </p:val>
                                        </p:tav>
                                      </p:tavLst>
                                    </p:anim>
                                    <p:anim calcmode="lin" valueType="num">
                                      <p:cBhvr>
                                        <p:cTn id="21" dur="500" fill="hold"/>
                                        <p:tgtEl>
                                          <p:spTgt spid="8"/>
                                        </p:tgtEl>
                                        <p:attrNameLst>
                                          <p:attrName>ppt_y</p:attrName>
                                        </p:attrNameLst>
                                      </p:cBhvr>
                                      <p:tavLst>
                                        <p:tav tm="0">
                                          <p:val>
                                            <p:strVal val="#ppt_y-#ppt_h/2"/>
                                          </p:val>
                                        </p:tav>
                                        <p:tav tm="100000">
                                          <p:val>
                                            <p:strVal val="#ppt_y"/>
                                          </p:val>
                                        </p:tav>
                                      </p:tavLst>
                                    </p:anim>
                                    <p:anim calcmode="lin" valueType="num">
                                      <p:cBhvr>
                                        <p:cTn id="22" dur="500" fill="hold"/>
                                        <p:tgtEl>
                                          <p:spTgt spid="8"/>
                                        </p:tgtEl>
                                        <p:attrNameLst>
                                          <p:attrName>ppt_w</p:attrName>
                                        </p:attrNameLst>
                                      </p:cBhvr>
                                      <p:tavLst>
                                        <p:tav tm="0">
                                          <p:val>
                                            <p:strVal val="#ppt_w"/>
                                          </p:val>
                                        </p:tav>
                                        <p:tav tm="100000">
                                          <p:val>
                                            <p:strVal val="#ppt_w"/>
                                          </p:val>
                                        </p:tav>
                                      </p:tavLst>
                                    </p:anim>
                                    <p:anim calcmode="lin" valueType="num">
                                      <p:cBhvr>
                                        <p:cTn id="23" dur="500" fill="hold"/>
                                        <p:tgtEl>
                                          <p:spTgt spid="8"/>
                                        </p:tgtEl>
                                        <p:attrNameLst>
                                          <p:attrName>ppt_h</p:attrName>
                                        </p:attrNameLst>
                                      </p:cBhvr>
                                      <p:tavLst>
                                        <p:tav tm="0">
                                          <p:val>
                                            <p:fltVal val="0"/>
                                          </p:val>
                                        </p:tav>
                                        <p:tav tm="100000">
                                          <p:val>
                                            <p:strVal val="#ppt_h"/>
                                          </p:val>
                                        </p:tav>
                                      </p:tavLst>
                                    </p:anim>
                                  </p:childTnLst>
                                </p:cTn>
                              </p:par>
                            </p:childTnLst>
                          </p:cTn>
                        </p:par>
                      </p:childTnLst>
                    </p:cTn>
                  </p:par>
                  <p:par>
                    <p:cTn id="24" fill="hold">
                      <p:stCondLst>
                        <p:cond delay="indefinite"/>
                      </p:stCondLst>
                      <p:childTnLst>
                        <p:par>
                          <p:cTn id="25" fill="hold">
                            <p:stCondLst>
                              <p:cond delay="0"/>
                            </p:stCondLst>
                            <p:childTnLst>
                              <p:par>
                                <p:cTn id="26" presetID="17" presetClass="entr" presetSubtype="1" fill="hold" nodeType="clickEffect">
                                  <p:stCondLst>
                                    <p:cond delay="0"/>
                                  </p:stCondLst>
                                  <p:childTnLst>
                                    <p:set>
                                      <p:cBhvr>
                                        <p:cTn id="27" dur="1" fill="hold">
                                          <p:stCondLst>
                                            <p:cond delay="0"/>
                                          </p:stCondLst>
                                        </p:cTn>
                                        <p:tgtEl>
                                          <p:spTgt spid="3"/>
                                        </p:tgtEl>
                                        <p:attrNameLst>
                                          <p:attrName>style.visibility</p:attrName>
                                        </p:attrNameLst>
                                      </p:cBhvr>
                                      <p:to>
                                        <p:strVal val="visible"/>
                                      </p:to>
                                    </p:set>
                                    <p:anim calcmode="lin" valueType="num">
                                      <p:cBhvr>
                                        <p:cTn id="28" dur="500" fill="hold"/>
                                        <p:tgtEl>
                                          <p:spTgt spid="3"/>
                                        </p:tgtEl>
                                        <p:attrNameLst>
                                          <p:attrName>ppt_x</p:attrName>
                                        </p:attrNameLst>
                                      </p:cBhvr>
                                      <p:tavLst>
                                        <p:tav tm="0">
                                          <p:val>
                                            <p:strVal val="#ppt_x"/>
                                          </p:val>
                                        </p:tav>
                                        <p:tav tm="100000">
                                          <p:val>
                                            <p:strVal val="#ppt_x"/>
                                          </p:val>
                                        </p:tav>
                                      </p:tavLst>
                                    </p:anim>
                                    <p:anim calcmode="lin" valueType="num">
                                      <p:cBhvr>
                                        <p:cTn id="29" dur="500" fill="hold"/>
                                        <p:tgtEl>
                                          <p:spTgt spid="3"/>
                                        </p:tgtEl>
                                        <p:attrNameLst>
                                          <p:attrName>ppt_y</p:attrName>
                                        </p:attrNameLst>
                                      </p:cBhvr>
                                      <p:tavLst>
                                        <p:tav tm="0">
                                          <p:val>
                                            <p:strVal val="#ppt_y-#ppt_h/2"/>
                                          </p:val>
                                        </p:tav>
                                        <p:tav tm="100000">
                                          <p:val>
                                            <p:strVal val="#ppt_y"/>
                                          </p:val>
                                        </p:tav>
                                      </p:tavLst>
                                    </p:anim>
                                    <p:anim calcmode="lin" valueType="num">
                                      <p:cBhvr>
                                        <p:cTn id="30" dur="500" fill="hold"/>
                                        <p:tgtEl>
                                          <p:spTgt spid="3"/>
                                        </p:tgtEl>
                                        <p:attrNameLst>
                                          <p:attrName>ppt_w</p:attrName>
                                        </p:attrNameLst>
                                      </p:cBhvr>
                                      <p:tavLst>
                                        <p:tav tm="0">
                                          <p:val>
                                            <p:strVal val="#ppt_w"/>
                                          </p:val>
                                        </p:tav>
                                        <p:tav tm="100000">
                                          <p:val>
                                            <p:strVal val="#ppt_w"/>
                                          </p:val>
                                        </p:tav>
                                      </p:tavLst>
                                    </p:anim>
                                    <p:anim calcmode="lin" valueType="num">
                                      <p:cBhvr>
                                        <p:cTn id="31" dur="500" fill="hold"/>
                                        <p:tgtEl>
                                          <p:spTgt spid="3"/>
                                        </p:tgtEl>
                                        <p:attrNameLst>
                                          <p:attrName>ppt_h</p:attrName>
                                        </p:attrNameLst>
                                      </p:cBhvr>
                                      <p:tavLst>
                                        <p:tav tm="0">
                                          <p:val>
                                            <p:fltVal val="0"/>
                                          </p:val>
                                        </p:tav>
                                        <p:tav tm="100000">
                                          <p:val>
                                            <p:strVal val="#ppt_h"/>
                                          </p:val>
                                        </p:tav>
                                      </p:tavLst>
                                    </p:anim>
                                  </p:childTnLst>
                                </p:cTn>
                              </p:par>
                            </p:childTnLst>
                          </p:cTn>
                        </p:par>
                      </p:childTnLst>
                    </p:cTn>
                  </p:par>
                  <p:par>
                    <p:cTn id="32" fill="hold">
                      <p:stCondLst>
                        <p:cond delay="indefinite"/>
                      </p:stCondLst>
                      <p:childTnLst>
                        <p:par>
                          <p:cTn id="33" fill="hold">
                            <p:stCondLst>
                              <p:cond delay="0"/>
                            </p:stCondLst>
                            <p:childTnLst>
                              <p:par>
                                <p:cTn id="34" presetID="17" presetClass="entr" presetSubtype="1" fill="hold" nodeType="clickEffect">
                                  <p:stCondLst>
                                    <p:cond delay="0"/>
                                  </p:stCondLst>
                                  <p:childTnLst>
                                    <p:set>
                                      <p:cBhvr>
                                        <p:cTn id="35" dur="1" fill="hold">
                                          <p:stCondLst>
                                            <p:cond delay="0"/>
                                          </p:stCondLst>
                                        </p:cTn>
                                        <p:tgtEl>
                                          <p:spTgt spid="6"/>
                                        </p:tgtEl>
                                        <p:attrNameLst>
                                          <p:attrName>style.visibility</p:attrName>
                                        </p:attrNameLst>
                                      </p:cBhvr>
                                      <p:to>
                                        <p:strVal val="visible"/>
                                      </p:to>
                                    </p:set>
                                    <p:anim calcmode="lin" valueType="num">
                                      <p:cBhvr>
                                        <p:cTn id="36" dur="500" fill="hold"/>
                                        <p:tgtEl>
                                          <p:spTgt spid="6"/>
                                        </p:tgtEl>
                                        <p:attrNameLst>
                                          <p:attrName>ppt_x</p:attrName>
                                        </p:attrNameLst>
                                      </p:cBhvr>
                                      <p:tavLst>
                                        <p:tav tm="0">
                                          <p:val>
                                            <p:strVal val="#ppt_x"/>
                                          </p:val>
                                        </p:tav>
                                        <p:tav tm="100000">
                                          <p:val>
                                            <p:strVal val="#ppt_x"/>
                                          </p:val>
                                        </p:tav>
                                      </p:tavLst>
                                    </p:anim>
                                    <p:anim calcmode="lin" valueType="num">
                                      <p:cBhvr>
                                        <p:cTn id="37" dur="500" fill="hold"/>
                                        <p:tgtEl>
                                          <p:spTgt spid="6"/>
                                        </p:tgtEl>
                                        <p:attrNameLst>
                                          <p:attrName>ppt_y</p:attrName>
                                        </p:attrNameLst>
                                      </p:cBhvr>
                                      <p:tavLst>
                                        <p:tav tm="0">
                                          <p:val>
                                            <p:strVal val="#ppt_y-#ppt_h/2"/>
                                          </p:val>
                                        </p:tav>
                                        <p:tav tm="100000">
                                          <p:val>
                                            <p:strVal val="#ppt_y"/>
                                          </p:val>
                                        </p:tav>
                                      </p:tavLst>
                                    </p:anim>
                                    <p:anim calcmode="lin" valueType="num">
                                      <p:cBhvr>
                                        <p:cTn id="38" dur="500" fill="hold"/>
                                        <p:tgtEl>
                                          <p:spTgt spid="6"/>
                                        </p:tgtEl>
                                        <p:attrNameLst>
                                          <p:attrName>ppt_w</p:attrName>
                                        </p:attrNameLst>
                                      </p:cBhvr>
                                      <p:tavLst>
                                        <p:tav tm="0">
                                          <p:val>
                                            <p:strVal val="#ppt_w"/>
                                          </p:val>
                                        </p:tav>
                                        <p:tav tm="100000">
                                          <p:val>
                                            <p:strVal val="#ppt_w"/>
                                          </p:val>
                                        </p:tav>
                                      </p:tavLst>
                                    </p:anim>
                                    <p:anim calcmode="lin" valueType="num">
                                      <p:cBhvr>
                                        <p:cTn id="39" dur="500" fill="hold"/>
                                        <p:tgtEl>
                                          <p:spTgt spid="6"/>
                                        </p:tgtEl>
                                        <p:attrNameLst>
                                          <p:attrName>ppt_h</p:attrName>
                                        </p:attrNameLst>
                                      </p:cBhvr>
                                      <p:tavLst>
                                        <p:tav tm="0">
                                          <p:val>
                                            <p:fltVal val="0"/>
                                          </p:val>
                                        </p:tav>
                                        <p:tav tm="100000">
                                          <p:val>
                                            <p:strVal val="#ppt_h"/>
                                          </p:val>
                                        </p:tav>
                                      </p:tavLst>
                                    </p:anim>
                                  </p:childTnLst>
                                </p:cTn>
                              </p:par>
                            </p:childTnLst>
                          </p:cTn>
                        </p:par>
                      </p:childTnLst>
                    </p:cTn>
                  </p:par>
                  <p:par>
                    <p:cTn id="40" fill="hold">
                      <p:stCondLst>
                        <p:cond delay="indefinite"/>
                      </p:stCondLst>
                      <p:childTnLst>
                        <p:par>
                          <p:cTn id="41" fill="hold">
                            <p:stCondLst>
                              <p:cond delay="0"/>
                            </p:stCondLst>
                            <p:childTnLst>
                              <p:par>
                                <p:cTn id="42" presetID="17" presetClass="entr" presetSubtype="1" fill="hold" nodeType="clickEffect">
                                  <p:stCondLst>
                                    <p:cond delay="0"/>
                                  </p:stCondLst>
                                  <p:childTnLst>
                                    <p:set>
                                      <p:cBhvr>
                                        <p:cTn id="43" dur="1" fill="hold">
                                          <p:stCondLst>
                                            <p:cond delay="0"/>
                                          </p:stCondLst>
                                        </p:cTn>
                                        <p:tgtEl>
                                          <p:spTgt spid="11"/>
                                        </p:tgtEl>
                                        <p:attrNameLst>
                                          <p:attrName>style.visibility</p:attrName>
                                        </p:attrNameLst>
                                      </p:cBhvr>
                                      <p:to>
                                        <p:strVal val="visible"/>
                                      </p:to>
                                    </p:set>
                                    <p:anim calcmode="lin" valueType="num">
                                      <p:cBhvr>
                                        <p:cTn id="44" dur="500" fill="hold"/>
                                        <p:tgtEl>
                                          <p:spTgt spid="11"/>
                                        </p:tgtEl>
                                        <p:attrNameLst>
                                          <p:attrName>ppt_x</p:attrName>
                                        </p:attrNameLst>
                                      </p:cBhvr>
                                      <p:tavLst>
                                        <p:tav tm="0">
                                          <p:val>
                                            <p:strVal val="#ppt_x"/>
                                          </p:val>
                                        </p:tav>
                                        <p:tav tm="100000">
                                          <p:val>
                                            <p:strVal val="#ppt_x"/>
                                          </p:val>
                                        </p:tav>
                                      </p:tavLst>
                                    </p:anim>
                                    <p:anim calcmode="lin" valueType="num">
                                      <p:cBhvr>
                                        <p:cTn id="45" dur="500" fill="hold"/>
                                        <p:tgtEl>
                                          <p:spTgt spid="11"/>
                                        </p:tgtEl>
                                        <p:attrNameLst>
                                          <p:attrName>ppt_y</p:attrName>
                                        </p:attrNameLst>
                                      </p:cBhvr>
                                      <p:tavLst>
                                        <p:tav tm="0">
                                          <p:val>
                                            <p:strVal val="#ppt_y-#ppt_h/2"/>
                                          </p:val>
                                        </p:tav>
                                        <p:tav tm="100000">
                                          <p:val>
                                            <p:strVal val="#ppt_y"/>
                                          </p:val>
                                        </p:tav>
                                      </p:tavLst>
                                    </p:anim>
                                    <p:anim calcmode="lin" valueType="num">
                                      <p:cBhvr>
                                        <p:cTn id="46" dur="500" fill="hold"/>
                                        <p:tgtEl>
                                          <p:spTgt spid="11"/>
                                        </p:tgtEl>
                                        <p:attrNameLst>
                                          <p:attrName>ppt_w</p:attrName>
                                        </p:attrNameLst>
                                      </p:cBhvr>
                                      <p:tavLst>
                                        <p:tav tm="0">
                                          <p:val>
                                            <p:strVal val="#ppt_w"/>
                                          </p:val>
                                        </p:tav>
                                        <p:tav tm="100000">
                                          <p:val>
                                            <p:strVal val="#ppt_w"/>
                                          </p:val>
                                        </p:tav>
                                      </p:tavLst>
                                    </p:anim>
                                    <p:anim calcmode="lin" valueType="num">
                                      <p:cBhvr>
                                        <p:cTn id="47" dur="500" fill="hold"/>
                                        <p:tgtEl>
                                          <p:spTgt spid="11"/>
                                        </p:tgtEl>
                                        <p:attrNameLst>
                                          <p:attrName>ppt_h</p:attrName>
                                        </p:attrNameLst>
                                      </p:cBhvr>
                                      <p:tavLst>
                                        <p:tav tm="0">
                                          <p:val>
                                            <p:fltVal val="0"/>
                                          </p:val>
                                        </p:tav>
                                        <p:tav tm="100000">
                                          <p:val>
                                            <p:strVal val="#ppt_h"/>
                                          </p:val>
                                        </p:tav>
                                      </p:tavLst>
                                    </p:anim>
                                  </p:childTnLst>
                                </p:cTn>
                              </p:par>
                            </p:childTnLst>
                          </p:cTn>
                        </p:par>
                      </p:childTnLst>
                    </p:cTn>
                  </p:par>
                  <p:par>
                    <p:cTn id="48" fill="hold">
                      <p:stCondLst>
                        <p:cond delay="indefinite"/>
                      </p:stCondLst>
                      <p:childTnLst>
                        <p:par>
                          <p:cTn id="49" fill="hold">
                            <p:stCondLst>
                              <p:cond delay="0"/>
                            </p:stCondLst>
                            <p:childTnLst>
                              <p:par>
                                <p:cTn id="50" presetID="17" presetClass="entr" presetSubtype="1" fill="hold" nodeType="click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p:cTn id="52" dur="500" fill="hold"/>
                                        <p:tgtEl>
                                          <p:spTgt spid="12"/>
                                        </p:tgtEl>
                                        <p:attrNameLst>
                                          <p:attrName>ppt_x</p:attrName>
                                        </p:attrNameLst>
                                      </p:cBhvr>
                                      <p:tavLst>
                                        <p:tav tm="0">
                                          <p:val>
                                            <p:strVal val="#ppt_x"/>
                                          </p:val>
                                        </p:tav>
                                        <p:tav tm="100000">
                                          <p:val>
                                            <p:strVal val="#ppt_x"/>
                                          </p:val>
                                        </p:tav>
                                      </p:tavLst>
                                    </p:anim>
                                    <p:anim calcmode="lin" valueType="num">
                                      <p:cBhvr>
                                        <p:cTn id="53" dur="500" fill="hold"/>
                                        <p:tgtEl>
                                          <p:spTgt spid="12"/>
                                        </p:tgtEl>
                                        <p:attrNameLst>
                                          <p:attrName>ppt_y</p:attrName>
                                        </p:attrNameLst>
                                      </p:cBhvr>
                                      <p:tavLst>
                                        <p:tav tm="0">
                                          <p:val>
                                            <p:strVal val="#ppt_y-#ppt_h/2"/>
                                          </p:val>
                                        </p:tav>
                                        <p:tav tm="100000">
                                          <p:val>
                                            <p:strVal val="#ppt_y"/>
                                          </p:val>
                                        </p:tav>
                                      </p:tavLst>
                                    </p:anim>
                                    <p:anim calcmode="lin" valueType="num">
                                      <p:cBhvr>
                                        <p:cTn id="54" dur="500" fill="hold"/>
                                        <p:tgtEl>
                                          <p:spTgt spid="12"/>
                                        </p:tgtEl>
                                        <p:attrNameLst>
                                          <p:attrName>ppt_w</p:attrName>
                                        </p:attrNameLst>
                                      </p:cBhvr>
                                      <p:tavLst>
                                        <p:tav tm="0">
                                          <p:val>
                                            <p:strVal val="#ppt_w"/>
                                          </p:val>
                                        </p:tav>
                                        <p:tav tm="100000">
                                          <p:val>
                                            <p:strVal val="#ppt_w"/>
                                          </p:val>
                                        </p:tav>
                                      </p:tavLst>
                                    </p:anim>
                                    <p:anim calcmode="lin" valueType="num">
                                      <p:cBhvr>
                                        <p:cTn id="55" dur="500" fill="hold"/>
                                        <p:tgtEl>
                                          <p:spTgt spid="12"/>
                                        </p:tgtEl>
                                        <p:attrNameLst>
                                          <p:attrName>ppt_h</p:attrName>
                                        </p:attrNameLst>
                                      </p:cBhvr>
                                      <p:tavLst>
                                        <p:tav tm="0">
                                          <p:val>
                                            <p:fltVal val="0"/>
                                          </p:val>
                                        </p:tav>
                                        <p:tav tm="100000">
                                          <p:val>
                                            <p:strVal val="#ppt_h"/>
                                          </p:val>
                                        </p:tav>
                                      </p:tavLst>
                                    </p:anim>
                                  </p:childTnLst>
                                </p:cTn>
                              </p:par>
                            </p:childTnLst>
                          </p:cTn>
                        </p:par>
                      </p:childTnLst>
                    </p:cTn>
                  </p:par>
                  <p:par>
                    <p:cTn id="56" fill="hold">
                      <p:stCondLst>
                        <p:cond delay="indefinite"/>
                      </p:stCondLst>
                      <p:childTnLst>
                        <p:par>
                          <p:cTn id="57" fill="hold">
                            <p:stCondLst>
                              <p:cond delay="0"/>
                            </p:stCondLst>
                            <p:childTnLst>
                              <p:par>
                                <p:cTn id="58" presetID="17" presetClass="entr" presetSubtype="1" fill="hold" nodeType="clickEffect">
                                  <p:stCondLst>
                                    <p:cond delay="0"/>
                                  </p:stCondLst>
                                  <p:childTnLst>
                                    <p:set>
                                      <p:cBhvr>
                                        <p:cTn id="59" dur="1" fill="hold">
                                          <p:stCondLst>
                                            <p:cond delay="0"/>
                                          </p:stCondLst>
                                        </p:cTn>
                                        <p:tgtEl>
                                          <p:spTgt spid="10"/>
                                        </p:tgtEl>
                                        <p:attrNameLst>
                                          <p:attrName>style.visibility</p:attrName>
                                        </p:attrNameLst>
                                      </p:cBhvr>
                                      <p:to>
                                        <p:strVal val="visible"/>
                                      </p:to>
                                    </p:set>
                                    <p:anim calcmode="lin" valueType="num">
                                      <p:cBhvr>
                                        <p:cTn id="60" dur="500" fill="hold"/>
                                        <p:tgtEl>
                                          <p:spTgt spid="10"/>
                                        </p:tgtEl>
                                        <p:attrNameLst>
                                          <p:attrName>ppt_x</p:attrName>
                                        </p:attrNameLst>
                                      </p:cBhvr>
                                      <p:tavLst>
                                        <p:tav tm="0">
                                          <p:val>
                                            <p:strVal val="#ppt_x"/>
                                          </p:val>
                                        </p:tav>
                                        <p:tav tm="100000">
                                          <p:val>
                                            <p:strVal val="#ppt_x"/>
                                          </p:val>
                                        </p:tav>
                                      </p:tavLst>
                                    </p:anim>
                                    <p:anim calcmode="lin" valueType="num">
                                      <p:cBhvr>
                                        <p:cTn id="61" dur="500" fill="hold"/>
                                        <p:tgtEl>
                                          <p:spTgt spid="10"/>
                                        </p:tgtEl>
                                        <p:attrNameLst>
                                          <p:attrName>ppt_y</p:attrName>
                                        </p:attrNameLst>
                                      </p:cBhvr>
                                      <p:tavLst>
                                        <p:tav tm="0">
                                          <p:val>
                                            <p:strVal val="#ppt_y-#ppt_h/2"/>
                                          </p:val>
                                        </p:tav>
                                        <p:tav tm="100000">
                                          <p:val>
                                            <p:strVal val="#ppt_y"/>
                                          </p:val>
                                        </p:tav>
                                      </p:tavLst>
                                    </p:anim>
                                    <p:anim calcmode="lin" valueType="num">
                                      <p:cBhvr>
                                        <p:cTn id="62" dur="500" fill="hold"/>
                                        <p:tgtEl>
                                          <p:spTgt spid="10"/>
                                        </p:tgtEl>
                                        <p:attrNameLst>
                                          <p:attrName>ppt_w</p:attrName>
                                        </p:attrNameLst>
                                      </p:cBhvr>
                                      <p:tavLst>
                                        <p:tav tm="0">
                                          <p:val>
                                            <p:strVal val="#ppt_w"/>
                                          </p:val>
                                        </p:tav>
                                        <p:tav tm="100000">
                                          <p:val>
                                            <p:strVal val="#ppt_w"/>
                                          </p:val>
                                        </p:tav>
                                      </p:tavLst>
                                    </p:anim>
                                    <p:anim calcmode="lin" valueType="num">
                                      <p:cBhvr>
                                        <p:cTn id="63" dur="500" fill="hold"/>
                                        <p:tgtEl>
                                          <p:spTgt spid="10"/>
                                        </p:tgtEl>
                                        <p:attrNameLst>
                                          <p:attrName>ppt_h</p:attrName>
                                        </p:attrNameLst>
                                      </p:cBhvr>
                                      <p:tavLst>
                                        <p:tav tm="0">
                                          <p:val>
                                            <p:fltVal val="0"/>
                                          </p:val>
                                        </p:tav>
                                        <p:tav tm="100000">
                                          <p:val>
                                            <p:strVal val="#ppt_h"/>
                                          </p:val>
                                        </p:tav>
                                      </p:tavLst>
                                    </p:anim>
                                  </p:childTnLst>
                                </p:cTn>
                              </p:par>
                            </p:childTnLst>
                          </p:cTn>
                        </p:par>
                      </p:childTnLst>
                    </p:cTn>
                  </p:par>
                  <p:par>
                    <p:cTn id="64" fill="hold">
                      <p:stCondLst>
                        <p:cond delay="indefinite"/>
                      </p:stCondLst>
                      <p:childTnLst>
                        <p:par>
                          <p:cTn id="65" fill="hold">
                            <p:stCondLst>
                              <p:cond delay="0"/>
                            </p:stCondLst>
                            <p:childTnLst>
                              <p:par>
                                <p:cTn id="66" presetID="17" presetClass="entr" presetSubtype="1" fill="hold" nodeType="clickEffect">
                                  <p:stCondLst>
                                    <p:cond delay="0"/>
                                  </p:stCondLst>
                                  <p:childTnLst>
                                    <p:set>
                                      <p:cBhvr>
                                        <p:cTn id="67" dur="1" fill="hold">
                                          <p:stCondLst>
                                            <p:cond delay="0"/>
                                          </p:stCondLst>
                                        </p:cTn>
                                        <p:tgtEl>
                                          <p:spTgt spid="9"/>
                                        </p:tgtEl>
                                        <p:attrNameLst>
                                          <p:attrName>style.visibility</p:attrName>
                                        </p:attrNameLst>
                                      </p:cBhvr>
                                      <p:to>
                                        <p:strVal val="visible"/>
                                      </p:to>
                                    </p:set>
                                    <p:anim calcmode="lin" valueType="num">
                                      <p:cBhvr>
                                        <p:cTn id="68" dur="500" fill="hold"/>
                                        <p:tgtEl>
                                          <p:spTgt spid="9"/>
                                        </p:tgtEl>
                                        <p:attrNameLst>
                                          <p:attrName>ppt_x</p:attrName>
                                        </p:attrNameLst>
                                      </p:cBhvr>
                                      <p:tavLst>
                                        <p:tav tm="0">
                                          <p:val>
                                            <p:strVal val="#ppt_x"/>
                                          </p:val>
                                        </p:tav>
                                        <p:tav tm="100000">
                                          <p:val>
                                            <p:strVal val="#ppt_x"/>
                                          </p:val>
                                        </p:tav>
                                      </p:tavLst>
                                    </p:anim>
                                    <p:anim calcmode="lin" valueType="num">
                                      <p:cBhvr>
                                        <p:cTn id="69" dur="500" fill="hold"/>
                                        <p:tgtEl>
                                          <p:spTgt spid="9"/>
                                        </p:tgtEl>
                                        <p:attrNameLst>
                                          <p:attrName>ppt_y</p:attrName>
                                        </p:attrNameLst>
                                      </p:cBhvr>
                                      <p:tavLst>
                                        <p:tav tm="0">
                                          <p:val>
                                            <p:strVal val="#ppt_y-#ppt_h/2"/>
                                          </p:val>
                                        </p:tav>
                                        <p:tav tm="100000">
                                          <p:val>
                                            <p:strVal val="#ppt_y"/>
                                          </p:val>
                                        </p:tav>
                                      </p:tavLst>
                                    </p:anim>
                                    <p:anim calcmode="lin" valueType="num">
                                      <p:cBhvr>
                                        <p:cTn id="70" dur="500" fill="hold"/>
                                        <p:tgtEl>
                                          <p:spTgt spid="9"/>
                                        </p:tgtEl>
                                        <p:attrNameLst>
                                          <p:attrName>ppt_w</p:attrName>
                                        </p:attrNameLst>
                                      </p:cBhvr>
                                      <p:tavLst>
                                        <p:tav tm="0">
                                          <p:val>
                                            <p:strVal val="#ppt_w"/>
                                          </p:val>
                                        </p:tav>
                                        <p:tav tm="100000">
                                          <p:val>
                                            <p:strVal val="#ppt_w"/>
                                          </p:val>
                                        </p:tav>
                                      </p:tavLst>
                                    </p:anim>
                                    <p:anim calcmode="lin" valueType="num">
                                      <p:cBhvr>
                                        <p:cTn id="71" dur="500" fill="hold"/>
                                        <p:tgtEl>
                                          <p:spTgt spid="9"/>
                                        </p:tgtEl>
                                        <p:attrNameLst>
                                          <p:attrName>ppt_h</p:attrName>
                                        </p:attrNameLst>
                                      </p:cBhvr>
                                      <p:tavLst>
                                        <p:tav tm="0">
                                          <p:val>
                                            <p:fltVal val="0"/>
                                          </p:val>
                                        </p:tav>
                                        <p:tav tm="100000">
                                          <p:val>
                                            <p:strVal val="#ppt_h"/>
                                          </p:val>
                                        </p:tav>
                                      </p:tavLst>
                                    </p:anim>
                                  </p:childTnLst>
                                </p:cTn>
                              </p:par>
                            </p:childTnLst>
                          </p:cTn>
                        </p:par>
                      </p:childTnLst>
                    </p:cTn>
                  </p:par>
                  <p:par>
                    <p:cTn id="72" fill="hold">
                      <p:stCondLst>
                        <p:cond delay="indefinite"/>
                      </p:stCondLst>
                      <p:childTnLst>
                        <p:par>
                          <p:cTn id="73" fill="hold">
                            <p:stCondLst>
                              <p:cond delay="0"/>
                            </p:stCondLst>
                            <p:childTnLst>
                              <p:par>
                                <p:cTn id="74" presetID="4" presetClass="entr" presetSubtype="32" fill="hold" nodeType="clickEffect">
                                  <p:stCondLst>
                                    <p:cond delay="0"/>
                                  </p:stCondLst>
                                  <p:childTnLst>
                                    <p:set>
                                      <p:cBhvr>
                                        <p:cTn id="75" dur="1" fill="hold">
                                          <p:stCondLst>
                                            <p:cond delay="0"/>
                                          </p:stCondLst>
                                        </p:cTn>
                                        <p:tgtEl>
                                          <p:spTgt spid="16"/>
                                        </p:tgtEl>
                                        <p:attrNameLst>
                                          <p:attrName>style.visibility</p:attrName>
                                        </p:attrNameLst>
                                      </p:cBhvr>
                                      <p:to>
                                        <p:strVal val="visible"/>
                                      </p:to>
                                    </p:set>
                                    <p:animEffect transition="in" filter="box(out)">
                                      <p:cBhvr>
                                        <p:cTn id="76" dur="500"/>
                                        <p:tgtEl>
                                          <p:spTgt spid="16"/>
                                        </p:tgtEl>
                                      </p:cBhvr>
                                    </p:animEffect>
                                  </p:childTnLst>
                                </p:cTn>
                              </p:par>
                            </p:childTnLst>
                          </p:cTn>
                        </p:par>
                      </p:childTnLst>
                    </p:cTn>
                  </p:par>
                  <p:par>
                    <p:cTn id="77" fill="hold">
                      <p:stCondLst>
                        <p:cond delay="indefinite"/>
                      </p:stCondLst>
                      <p:childTnLst>
                        <p:par>
                          <p:cTn id="78" fill="hold">
                            <p:stCondLst>
                              <p:cond delay="0"/>
                            </p:stCondLst>
                            <p:childTnLst>
                              <p:par>
                                <p:cTn id="79" presetID="17" presetClass="entr" presetSubtype="1" fill="hold" nodeType="clickEffect">
                                  <p:stCondLst>
                                    <p:cond delay="0"/>
                                  </p:stCondLst>
                                  <p:childTnLst>
                                    <p:set>
                                      <p:cBhvr>
                                        <p:cTn id="80" dur="1" fill="hold">
                                          <p:stCondLst>
                                            <p:cond delay="0"/>
                                          </p:stCondLst>
                                        </p:cTn>
                                        <p:tgtEl>
                                          <p:spTgt spid="14"/>
                                        </p:tgtEl>
                                        <p:attrNameLst>
                                          <p:attrName>style.visibility</p:attrName>
                                        </p:attrNameLst>
                                      </p:cBhvr>
                                      <p:to>
                                        <p:strVal val="visible"/>
                                      </p:to>
                                    </p:set>
                                    <p:anim calcmode="lin" valueType="num">
                                      <p:cBhvr>
                                        <p:cTn id="81" dur="500" fill="hold"/>
                                        <p:tgtEl>
                                          <p:spTgt spid="14"/>
                                        </p:tgtEl>
                                        <p:attrNameLst>
                                          <p:attrName>ppt_x</p:attrName>
                                        </p:attrNameLst>
                                      </p:cBhvr>
                                      <p:tavLst>
                                        <p:tav tm="0">
                                          <p:val>
                                            <p:strVal val="#ppt_x"/>
                                          </p:val>
                                        </p:tav>
                                        <p:tav tm="100000">
                                          <p:val>
                                            <p:strVal val="#ppt_x"/>
                                          </p:val>
                                        </p:tav>
                                      </p:tavLst>
                                    </p:anim>
                                    <p:anim calcmode="lin" valueType="num">
                                      <p:cBhvr>
                                        <p:cTn id="82" dur="500" fill="hold"/>
                                        <p:tgtEl>
                                          <p:spTgt spid="14"/>
                                        </p:tgtEl>
                                        <p:attrNameLst>
                                          <p:attrName>ppt_y</p:attrName>
                                        </p:attrNameLst>
                                      </p:cBhvr>
                                      <p:tavLst>
                                        <p:tav tm="0">
                                          <p:val>
                                            <p:strVal val="#ppt_y-#ppt_h/2"/>
                                          </p:val>
                                        </p:tav>
                                        <p:tav tm="100000">
                                          <p:val>
                                            <p:strVal val="#ppt_y"/>
                                          </p:val>
                                        </p:tav>
                                      </p:tavLst>
                                    </p:anim>
                                    <p:anim calcmode="lin" valueType="num">
                                      <p:cBhvr>
                                        <p:cTn id="83" dur="500" fill="hold"/>
                                        <p:tgtEl>
                                          <p:spTgt spid="14"/>
                                        </p:tgtEl>
                                        <p:attrNameLst>
                                          <p:attrName>ppt_w</p:attrName>
                                        </p:attrNameLst>
                                      </p:cBhvr>
                                      <p:tavLst>
                                        <p:tav tm="0">
                                          <p:val>
                                            <p:strVal val="#ppt_w"/>
                                          </p:val>
                                        </p:tav>
                                        <p:tav tm="100000">
                                          <p:val>
                                            <p:strVal val="#ppt_w"/>
                                          </p:val>
                                        </p:tav>
                                      </p:tavLst>
                                    </p:anim>
                                    <p:anim calcmode="lin" valueType="num">
                                      <p:cBhvr>
                                        <p:cTn id="84" dur="500" fill="hold"/>
                                        <p:tgtEl>
                                          <p:spTgt spid="14"/>
                                        </p:tgtEl>
                                        <p:attrNameLst>
                                          <p:attrName>ppt_h</p:attrName>
                                        </p:attrNameLst>
                                      </p:cBhvr>
                                      <p:tavLst>
                                        <p:tav tm="0">
                                          <p:val>
                                            <p:fltVal val="0"/>
                                          </p:val>
                                        </p:tav>
                                        <p:tav tm="100000">
                                          <p:val>
                                            <p:strVal val="#ppt_h"/>
                                          </p:val>
                                        </p:tav>
                                      </p:tavLst>
                                    </p:anim>
                                  </p:childTnLst>
                                </p:cTn>
                              </p:par>
                            </p:childTnLst>
                          </p:cTn>
                        </p:par>
                      </p:childTnLst>
                    </p:cTn>
                  </p:par>
                  <p:par>
                    <p:cTn id="85" fill="hold">
                      <p:stCondLst>
                        <p:cond delay="indefinite"/>
                      </p:stCondLst>
                      <p:childTnLst>
                        <p:par>
                          <p:cTn id="86" fill="hold">
                            <p:stCondLst>
                              <p:cond delay="0"/>
                            </p:stCondLst>
                            <p:childTnLst>
                              <p:par>
                                <p:cTn id="87" presetID="17" presetClass="entr" presetSubtype="1" fill="hold" nodeType="clickEffect">
                                  <p:stCondLst>
                                    <p:cond delay="0"/>
                                  </p:stCondLst>
                                  <p:childTnLst>
                                    <p:set>
                                      <p:cBhvr>
                                        <p:cTn id="88" dur="1" fill="hold">
                                          <p:stCondLst>
                                            <p:cond delay="0"/>
                                          </p:stCondLst>
                                        </p:cTn>
                                        <p:tgtEl>
                                          <p:spTgt spid="15"/>
                                        </p:tgtEl>
                                        <p:attrNameLst>
                                          <p:attrName>style.visibility</p:attrName>
                                        </p:attrNameLst>
                                      </p:cBhvr>
                                      <p:to>
                                        <p:strVal val="visible"/>
                                      </p:to>
                                    </p:set>
                                    <p:anim calcmode="lin" valueType="num">
                                      <p:cBhvr>
                                        <p:cTn id="89" dur="500" fill="hold"/>
                                        <p:tgtEl>
                                          <p:spTgt spid="15"/>
                                        </p:tgtEl>
                                        <p:attrNameLst>
                                          <p:attrName>ppt_x</p:attrName>
                                        </p:attrNameLst>
                                      </p:cBhvr>
                                      <p:tavLst>
                                        <p:tav tm="0">
                                          <p:val>
                                            <p:strVal val="#ppt_x"/>
                                          </p:val>
                                        </p:tav>
                                        <p:tav tm="100000">
                                          <p:val>
                                            <p:strVal val="#ppt_x"/>
                                          </p:val>
                                        </p:tav>
                                      </p:tavLst>
                                    </p:anim>
                                    <p:anim calcmode="lin" valueType="num">
                                      <p:cBhvr>
                                        <p:cTn id="90" dur="500" fill="hold"/>
                                        <p:tgtEl>
                                          <p:spTgt spid="15"/>
                                        </p:tgtEl>
                                        <p:attrNameLst>
                                          <p:attrName>ppt_y</p:attrName>
                                        </p:attrNameLst>
                                      </p:cBhvr>
                                      <p:tavLst>
                                        <p:tav tm="0">
                                          <p:val>
                                            <p:strVal val="#ppt_y-#ppt_h/2"/>
                                          </p:val>
                                        </p:tav>
                                        <p:tav tm="100000">
                                          <p:val>
                                            <p:strVal val="#ppt_y"/>
                                          </p:val>
                                        </p:tav>
                                      </p:tavLst>
                                    </p:anim>
                                    <p:anim calcmode="lin" valueType="num">
                                      <p:cBhvr>
                                        <p:cTn id="91" dur="500" fill="hold"/>
                                        <p:tgtEl>
                                          <p:spTgt spid="15"/>
                                        </p:tgtEl>
                                        <p:attrNameLst>
                                          <p:attrName>ppt_w</p:attrName>
                                        </p:attrNameLst>
                                      </p:cBhvr>
                                      <p:tavLst>
                                        <p:tav tm="0">
                                          <p:val>
                                            <p:strVal val="#ppt_w"/>
                                          </p:val>
                                        </p:tav>
                                        <p:tav tm="100000">
                                          <p:val>
                                            <p:strVal val="#ppt_w"/>
                                          </p:val>
                                        </p:tav>
                                      </p:tavLst>
                                    </p:anim>
                                    <p:anim calcmode="lin" valueType="num">
                                      <p:cBhvr>
                                        <p:cTn id="92" dur="500" fill="hold"/>
                                        <p:tgtEl>
                                          <p:spTgt spid="15"/>
                                        </p:tgtEl>
                                        <p:attrNameLst>
                                          <p:attrName>ppt_h</p:attrName>
                                        </p:attrNameLst>
                                      </p:cBhvr>
                                      <p:tavLst>
                                        <p:tav tm="0">
                                          <p:val>
                                            <p:fltVal val="0"/>
                                          </p:val>
                                        </p:tav>
                                        <p:tav tm="100000">
                                          <p:val>
                                            <p:strVal val="#ppt_h"/>
                                          </p:val>
                                        </p:tav>
                                      </p:tavLst>
                                    </p:anim>
                                  </p:childTnLst>
                                </p:cTn>
                              </p:par>
                            </p:childTnLst>
                          </p:cTn>
                        </p:par>
                      </p:childTnLst>
                    </p:cTn>
                  </p:par>
                  <p:par>
                    <p:cTn id="93" fill="hold">
                      <p:stCondLst>
                        <p:cond delay="indefinite"/>
                      </p:stCondLst>
                      <p:childTnLst>
                        <p:par>
                          <p:cTn id="94" fill="hold">
                            <p:stCondLst>
                              <p:cond delay="0"/>
                            </p:stCondLst>
                            <p:childTnLst>
                              <p:par>
                                <p:cTn id="95" presetID="17" presetClass="entr" presetSubtype="1" fill="hold" nodeType="clickEffect">
                                  <p:stCondLst>
                                    <p:cond delay="0"/>
                                  </p:stCondLst>
                                  <p:childTnLst>
                                    <p:set>
                                      <p:cBhvr>
                                        <p:cTn id="96" dur="1" fill="hold">
                                          <p:stCondLst>
                                            <p:cond delay="0"/>
                                          </p:stCondLst>
                                        </p:cTn>
                                        <p:tgtEl>
                                          <p:spTgt spid="13"/>
                                        </p:tgtEl>
                                        <p:attrNameLst>
                                          <p:attrName>style.visibility</p:attrName>
                                        </p:attrNameLst>
                                      </p:cBhvr>
                                      <p:to>
                                        <p:strVal val="visible"/>
                                      </p:to>
                                    </p:set>
                                    <p:anim calcmode="lin" valueType="num">
                                      <p:cBhvr>
                                        <p:cTn id="97" dur="500" fill="hold"/>
                                        <p:tgtEl>
                                          <p:spTgt spid="13"/>
                                        </p:tgtEl>
                                        <p:attrNameLst>
                                          <p:attrName>ppt_x</p:attrName>
                                        </p:attrNameLst>
                                      </p:cBhvr>
                                      <p:tavLst>
                                        <p:tav tm="0">
                                          <p:val>
                                            <p:strVal val="#ppt_x"/>
                                          </p:val>
                                        </p:tav>
                                        <p:tav tm="100000">
                                          <p:val>
                                            <p:strVal val="#ppt_x"/>
                                          </p:val>
                                        </p:tav>
                                      </p:tavLst>
                                    </p:anim>
                                    <p:anim calcmode="lin" valueType="num">
                                      <p:cBhvr>
                                        <p:cTn id="98" dur="500" fill="hold"/>
                                        <p:tgtEl>
                                          <p:spTgt spid="13"/>
                                        </p:tgtEl>
                                        <p:attrNameLst>
                                          <p:attrName>ppt_y</p:attrName>
                                        </p:attrNameLst>
                                      </p:cBhvr>
                                      <p:tavLst>
                                        <p:tav tm="0">
                                          <p:val>
                                            <p:strVal val="#ppt_y-#ppt_h/2"/>
                                          </p:val>
                                        </p:tav>
                                        <p:tav tm="100000">
                                          <p:val>
                                            <p:strVal val="#ppt_y"/>
                                          </p:val>
                                        </p:tav>
                                      </p:tavLst>
                                    </p:anim>
                                    <p:anim calcmode="lin" valueType="num">
                                      <p:cBhvr>
                                        <p:cTn id="99" dur="500" fill="hold"/>
                                        <p:tgtEl>
                                          <p:spTgt spid="13"/>
                                        </p:tgtEl>
                                        <p:attrNameLst>
                                          <p:attrName>ppt_w</p:attrName>
                                        </p:attrNameLst>
                                      </p:cBhvr>
                                      <p:tavLst>
                                        <p:tav tm="0">
                                          <p:val>
                                            <p:strVal val="#ppt_w"/>
                                          </p:val>
                                        </p:tav>
                                        <p:tav tm="100000">
                                          <p:val>
                                            <p:strVal val="#ppt_w"/>
                                          </p:val>
                                        </p:tav>
                                      </p:tavLst>
                                    </p:anim>
                                    <p:anim calcmode="lin" valueType="num">
                                      <p:cBhvr>
                                        <p:cTn id="100" dur="500" fill="hold"/>
                                        <p:tgtEl>
                                          <p:spTgt spid="13"/>
                                        </p:tgtEl>
                                        <p:attrNameLst>
                                          <p:attrName>ppt_h</p:attrName>
                                        </p:attrNameLst>
                                      </p:cBhvr>
                                      <p:tavLst>
                                        <p:tav tm="0">
                                          <p:val>
                                            <p:fltVal val="0"/>
                                          </p:val>
                                        </p:tav>
                                        <p:tav tm="100000">
                                          <p:val>
                                            <p:strVal val="#ppt_h"/>
                                          </p:val>
                                        </p:tav>
                                      </p:tavLst>
                                    </p:anim>
                                  </p:childTnLst>
                                </p:cTn>
                              </p:par>
                            </p:childTnLst>
                          </p:cTn>
                        </p:par>
                      </p:childTnLst>
                    </p:cTn>
                  </p:par>
                  <p:par>
                    <p:cTn id="101" fill="hold">
                      <p:stCondLst>
                        <p:cond delay="indefinite"/>
                      </p:stCondLst>
                      <p:childTnLst>
                        <p:par>
                          <p:cTn id="102" fill="hold">
                            <p:stCondLst>
                              <p:cond delay="0"/>
                            </p:stCondLst>
                            <p:childTnLst>
                              <p:par>
                                <p:cTn id="103" presetID="4" presetClass="entr" presetSubtype="32" fill="hold" grpId="0" nodeType="clickEffect">
                                  <p:stCondLst>
                                    <p:cond delay="0"/>
                                  </p:stCondLst>
                                  <p:childTnLst>
                                    <p:set>
                                      <p:cBhvr>
                                        <p:cTn id="104" dur="1" fill="hold">
                                          <p:stCondLst>
                                            <p:cond delay="0"/>
                                          </p:stCondLst>
                                        </p:cTn>
                                        <p:tgtEl>
                                          <p:spTgt spid="910400">
                                            <p:txEl>
                                              <p:pRg st="0" end="0"/>
                                            </p:txEl>
                                          </p:spTgt>
                                        </p:tgtEl>
                                        <p:attrNameLst>
                                          <p:attrName>style.visibility</p:attrName>
                                        </p:attrNameLst>
                                      </p:cBhvr>
                                      <p:to>
                                        <p:strVal val="visible"/>
                                      </p:to>
                                    </p:set>
                                    <p:animEffect transition="in" filter="box(out)">
                                      <p:cBhvr>
                                        <p:cTn id="105" dur="500"/>
                                        <p:tgtEl>
                                          <p:spTgt spid="91040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0351" grpId="0" animBg="1"/>
      <p:bldP spid="910400" grpId="0" build="p"/>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矩形 1"/>
          <p:cNvSpPr/>
          <p:nvPr/>
        </p:nvSpPr>
        <p:spPr>
          <a:xfrm>
            <a:off x="0" y="1484313"/>
            <a:ext cx="9144000" cy="4392612"/>
          </a:xfrm>
          <a:prstGeom prst="rect">
            <a:avLst/>
          </a:prstGeom>
          <a:solidFill>
            <a:srgbClr val="E2D9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759812" name="Rectangle 4"/>
          <p:cNvSpPr>
            <a:spLocks noChangeArrowheads="1"/>
          </p:cNvSpPr>
          <p:nvPr/>
        </p:nvSpPr>
        <p:spPr bwMode="auto">
          <a:xfrm>
            <a:off x="585788" y="1592263"/>
            <a:ext cx="8280400" cy="417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just"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Status </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InOrderTraverse</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BiTree</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if(T==NULL) return OK;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空二叉树</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else{    </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     </a:t>
            </a:r>
            <a:r>
              <a:rPr kumimoji="0" lang="en-US" altLang="zh-CN" sz="2800" b="0" i="0" u="none" strike="noStrike" kern="1200" cap="none" spc="0" normalizeH="0" baseline="0" noProof="0" dirty="0" err="1">
                <a:ln>
                  <a:noFill/>
                </a:ln>
                <a:solidFill>
                  <a:srgbClr val="FF3300"/>
                </a:solidFill>
                <a:effectLst/>
                <a:uLnTx/>
                <a:uFillTx/>
                <a:latin typeface="+mn-lt"/>
                <a:ea typeface="+mn-ea"/>
                <a:cs typeface="+mn-ea"/>
                <a:sym typeface="+mn-lt"/>
              </a:rPr>
              <a:t>InOrderTraverse</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(T-&gt;</a:t>
            </a:r>
            <a:r>
              <a:rPr kumimoji="0" lang="en-US" altLang="zh-CN" sz="2800" b="0" i="0" u="none" strike="noStrike" kern="1200" cap="none" spc="0" normalizeH="0" baseline="0" noProof="0" dirty="0" err="1">
                <a:ln>
                  <a:noFill/>
                </a:ln>
                <a:solidFill>
                  <a:srgbClr val="FF3300"/>
                </a:solidFill>
                <a:effectLst/>
                <a:uLnTx/>
                <a:uFillTx/>
                <a:latin typeface="+mn-lt"/>
                <a:ea typeface="+mn-ea"/>
                <a:cs typeface="+mn-ea"/>
                <a:sym typeface="+mn-lt"/>
              </a:rPr>
              <a:t>lchild</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递归遍历左子树</a:t>
            </a:r>
          </a:p>
          <a:p>
            <a:pPr lvl="0">
              <a:spcBef>
                <a:spcPct val="20000"/>
              </a:spcBef>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800" b="0" i="0" u="none" strike="noStrike" kern="1200" cap="none" spc="0" normalizeH="0" baseline="0" noProof="0" dirty="0" smtClean="0">
                <a:ln>
                  <a:noFill/>
                </a:ln>
                <a:solidFill>
                  <a:schemeClr val="tx1"/>
                </a:solidFill>
                <a:effectLst/>
                <a:uLnTx/>
                <a:uFillTx/>
                <a:latin typeface="+mn-lt"/>
                <a:ea typeface="+mn-ea"/>
                <a:cs typeface="+mn-ea"/>
                <a:sym typeface="+mn-lt"/>
              </a:rPr>
              <a:t>   </a:t>
            </a:r>
            <a:r>
              <a:rPr lang="en-US" altLang="zh-CN" b="0" dirty="0" smtClean="0">
                <a:latin typeface="+mn-lt"/>
                <a:ea typeface="+mn-ea"/>
                <a:cs typeface="+mn-ea"/>
                <a:sym typeface="+mn-lt"/>
              </a:rPr>
              <a:t>visit(T-</a:t>
            </a:r>
            <a:r>
              <a:rPr lang="en-US" altLang="zh-CN" b="0" dirty="0">
                <a:latin typeface="+mn-lt"/>
                <a:ea typeface="+mn-ea"/>
                <a:cs typeface="+mn-ea"/>
                <a:sym typeface="+mn-lt"/>
              </a:rPr>
              <a:t>&gt;data);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访问根结点</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err="1">
                <a:ln>
                  <a:noFill/>
                </a:ln>
                <a:solidFill>
                  <a:srgbClr val="FF3300"/>
                </a:solidFill>
                <a:effectLst/>
                <a:uLnTx/>
                <a:uFillTx/>
                <a:latin typeface="+mn-lt"/>
                <a:ea typeface="+mn-ea"/>
                <a:cs typeface="+mn-ea"/>
                <a:sym typeface="+mn-lt"/>
              </a:rPr>
              <a:t>InOrderTraverse</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(T-&gt;</a:t>
            </a:r>
            <a:r>
              <a:rPr kumimoji="0" lang="en-US" altLang="zh-CN" sz="2800" b="0" i="0" u="none" strike="noStrike" kern="1200" cap="none" spc="0" normalizeH="0" baseline="0" noProof="0" dirty="0" err="1">
                <a:ln>
                  <a:noFill/>
                </a:ln>
                <a:solidFill>
                  <a:srgbClr val="FF3300"/>
                </a:solidFill>
                <a:effectLst/>
                <a:uLnTx/>
                <a:uFillTx/>
                <a:latin typeface="+mn-lt"/>
                <a:ea typeface="+mn-ea"/>
                <a:cs typeface="+mn-ea"/>
                <a:sym typeface="+mn-lt"/>
              </a:rPr>
              <a:t>rchild</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递归遍历右子树</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p>
        </p:txBody>
      </p:sp>
      <p:sp>
        <p:nvSpPr>
          <p:cNvPr id="759813" name="Rectangle 5"/>
          <p:cNvSpPr>
            <a:spLocks noChangeArrowheads="1"/>
          </p:cNvSpPr>
          <p:nvPr/>
        </p:nvSpPr>
        <p:spPr bwMode="auto">
          <a:xfrm>
            <a:off x="781050" y="176213"/>
            <a:ext cx="3811588"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中序遍历算法</a:t>
            </a:r>
          </a:p>
        </p:txBody>
      </p:sp>
    </p:spTree>
  </p:cSld>
  <p:clrMapOvr>
    <a:masterClrMapping/>
  </p:clrMapOvr>
  <p:transition>
    <p:cover dir="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759812"/>
                                        </p:tgtEl>
                                        <p:attrNameLst>
                                          <p:attrName>style.visibility</p:attrName>
                                        </p:attrNameLst>
                                      </p:cBhvr>
                                      <p:to>
                                        <p:strVal val="visible"/>
                                      </p:to>
                                    </p:set>
                                    <p:animEffect transition="in" filter="wipe(up)">
                                      <p:cBhvr>
                                        <p:cTn id="7" dur="500"/>
                                        <p:tgtEl>
                                          <p:spTgt spid="7598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9812"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64" name="Rectangle 4"/>
          <p:cNvSpPr>
            <a:spLocks noChangeArrowheads="1"/>
          </p:cNvSpPr>
          <p:nvPr/>
        </p:nvSpPr>
        <p:spPr bwMode="auto">
          <a:xfrm>
            <a:off x="876300" y="190500"/>
            <a:ext cx="588486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遍历的算法实现－后序遍历</a:t>
            </a:r>
          </a:p>
        </p:txBody>
      </p:sp>
      <p:sp>
        <p:nvSpPr>
          <p:cNvPr id="57347" name="Rectangle 5"/>
          <p:cNvSpPr>
            <a:spLocks noChangeArrowheads="1"/>
          </p:cNvSpPr>
          <p:nvPr/>
        </p:nvSpPr>
        <p:spPr bwMode="auto">
          <a:xfrm>
            <a:off x="265113" y="1114425"/>
            <a:ext cx="3840163" cy="2565400"/>
          </a:xfrm>
          <a:prstGeom prst="rect">
            <a:avLst/>
          </a:prstGeom>
          <a:noFill/>
          <a:ln w="38100">
            <a:solidFill>
              <a:srgbClr val="FF0000"/>
            </a:solidFill>
            <a:miter lim="800000"/>
          </a:ln>
          <a:extLst>
            <a:ext uri="{909E8E84-426E-40DD-AFC4-6F175D3DCCD1}">
              <a14:hiddenFill xmlns:a14="http://schemas.microsoft.com/office/drawing/2010/main">
                <a:solidFill>
                  <a:srgbClr val="FFFFFF"/>
                </a:solidFill>
              </a14:hiddenFill>
            </a:ext>
          </a:extLst>
        </p:spPr>
        <p:txBody>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3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若二叉树为空，则空操作</a:t>
            </a:r>
          </a:p>
          <a:p>
            <a:pPr marL="342900" marR="0" lvl="0" indent="-342900" algn="l" defTabSz="914400" rtl="0" eaLnBrk="0" fontAlgn="base" latinLnBrk="0" hangingPunct="0">
              <a:lnSpc>
                <a:spcPct val="130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否则</a:t>
            </a:r>
            <a:b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后序遍历左子树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(L)</a:t>
            </a:r>
            <a:b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后序遍历右子树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(R)</a:t>
            </a:r>
            <a:b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访问根结点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(D)</a:t>
            </a:r>
          </a:p>
        </p:txBody>
      </p:sp>
      <p:grpSp>
        <p:nvGrpSpPr>
          <p:cNvPr id="60420" name="Group 7"/>
          <p:cNvGrpSpPr/>
          <p:nvPr/>
        </p:nvGrpSpPr>
        <p:grpSpPr>
          <a:xfrm>
            <a:off x="687388" y="4256088"/>
            <a:ext cx="3060700" cy="2362200"/>
            <a:chOff x="492" y="384"/>
            <a:chExt cx="1928" cy="1488"/>
          </a:xfrm>
        </p:grpSpPr>
        <p:sp>
          <p:nvSpPr>
            <p:cNvPr id="57349" name="Oval 8"/>
            <p:cNvSpPr>
              <a:spLocks noChangeArrowheads="1"/>
            </p:cNvSpPr>
            <p:nvPr/>
          </p:nvSpPr>
          <p:spPr bwMode="auto">
            <a:xfrm>
              <a:off x="1212" y="384"/>
              <a:ext cx="384" cy="384"/>
            </a:xfrm>
            <a:prstGeom prst="ellipse">
              <a:avLst/>
            </a:prstGeom>
            <a:solidFill>
              <a:srgbClr val="FFFFCC"/>
            </a:solidFill>
            <a:ln w="19050">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A</a:t>
              </a:r>
            </a:p>
          </p:txBody>
        </p:sp>
        <p:sp>
          <p:nvSpPr>
            <p:cNvPr id="57350" name="Oval 9"/>
            <p:cNvSpPr>
              <a:spLocks noChangeArrowheads="1"/>
            </p:cNvSpPr>
            <p:nvPr/>
          </p:nvSpPr>
          <p:spPr bwMode="auto">
            <a:xfrm>
              <a:off x="1164" y="1488"/>
              <a:ext cx="384" cy="384"/>
            </a:xfrm>
            <a:prstGeom prst="ellipse">
              <a:avLst/>
            </a:prstGeom>
            <a:solidFill>
              <a:srgbClr val="FFFFCC"/>
            </a:solidFill>
            <a:ln w="19050">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D</a:t>
              </a:r>
            </a:p>
          </p:txBody>
        </p:sp>
        <p:sp>
          <p:nvSpPr>
            <p:cNvPr id="57351" name="Oval 10"/>
            <p:cNvSpPr>
              <a:spLocks noChangeArrowheads="1"/>
            </p:cNvSpPr>
            <p:nvPr/>
          </p:nvSpPr>
          <p:spPr bwMode="auto">
            <a:xfrm>
              <a:off x="492" y="1104"/>
              <a:ext cx="384" cy="384"/>
            </a:xfrm>
            <a:prstGeom prst="ellipse">
              <a:avLst/>
            </a:prstGeom>
            <a:solidFill>
              <a:srgbClr val="FFFFCC"/>
            </a:solidFill>
            <a:ln w="19050">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57352" name="Oval 11"/>
            <p:cNvSpPr>
              <a:spLocks noChangeArrowheads="1"/>
            </p:cNvSpPr>
            <p:nvPr/>
          </p:nvSpPr>
          <p:spPr bwMode="auto">
            <a:xfrm>
              <a:off x="2036" y="1064"/>
              <a:ext cx="384" cy="384"/>
            </a:xfrm>
            <a:prstGeom prst="ellipse">
              <a:avLst/>
            </a:prstGeom>
            <a:solidFill>
              <a:srgbClr val="FFFFCC"/>
            </a:solidFill>
            <a:ln w="19050">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C</a:t>
              </a:r>
            </a:p>
          </p:txBody>
        </p:sp>
        <p:sp>
          <p:nvSpPr>
            <p:cNvPr id="57353" name="Line 12"/>
            <p:cNvSpPr>
              <a:spLocks noChangeShapeType="1"/>
            </p:cNvSpPr>
            <p:nvPr/>
          </p:nvSpPr>
          <p:spPr bwMode="auto">
            <a:xfrm flipH="1">
              <a:off x="780" y="720"/>
              <a:ext cx="480" cy="43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354" name="Line 13"/>
            <p:cNvSpPr>
              <a:spLocks noChangeShapeType="1"/>
            </p:cNvSpPr>
            <p:nvPr/>
          </p:nvSpPr>
          <p:spPr bwMode="auto">
            <a:xfrm>
              <a:off x="1548" y="720"/>
              <a:ext cx="576" cy="384"/>
            </a:xfrm>
            <a:prstGeom prst="line">
              <a:avLst/>
            </a:prstGeom>
            <a:noFill/>
            <a:ln w="19050">
              <a:solidFill>
                <a:srgbClr val="FF66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355" name="Line 14"/>
            <p:cNvSpPr>
              <a:spLocks noChangeShapeType="1"/>
            </p:cNvSpPr>
            <p:nvPr/>
          </p:nvSpPr>
          <p:spPr bwMode="auto">
            <a:xfrm>
              <a:off x="876" y="1392"/>
              <a:ext cx="336" cy="192"/>
            </a:xfrm>
            <a:prstGeom prst="line">
              <a:avLst/>
            </a:prstGeom>
            <a:noFill/>
            <a:ln w="19050">
              <a:solidFill>
                <a:srgbClr val="FF66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11375" name="Rectangle 15"/>
          <p:cNvSpPr>
            <a:spLocks noChangeArrowheads="1"/>
          </p:cNvSpPr>
          <p:nvPr/>
        </p:nvSpPr>
        <p:spPr bwMode="auto">
          <a:xfrm>
            <a:off x="5248275" y="1258888"/>
            <a:ext cx="3419475" cy="45720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1" i="0" u="none" strike="noStrike" kern="1200" cap="none" spc="0" normalizeH="0" baseline="0" noProof="0" dirty="0">
                <a:ln>
                  <a:noFill/>
                </a:ln>
                <a:solidFill>
                  <a:srgbClr val="FFC000"/>
                </a:solidFill>
                <a:effectLst/>
                <a:uLnTx/>
                <a:uFillTx/>
                <a:latin typeface="+mn-lt"/>
                <a:ea typeface="+mn-ea"/>
                <a:cs typeface="+mn-ea"/>
                <a:sym typeface="+mn-lt"/>
              </a:rPr>
              <a:t>L                   R              D</a:t>
            </a:r>
          </a:p>
        </p:txBody>
      </p:sp>
      <p:grpSp>
        <p:nvGrpSpPr>
          <p:cNvPr id="3" name="Group 16"/>
          <p:cNvGrpSpPr/>
          <p:nvPr/>
        </p:nvGrpSpPr>
        <p:grpSpPr>
          <a:xfrm>
            <a:off x="4714875" y="1735138"/>
            <a:ext cx="1524000" cy="1447800"/>
            <a:chOff x="3216" y="1248"/>
            <a:chExt cx="960" cy="912"/>
          </a:xfrm>
        </p:grpSpPr>
        <p:sp>
          <p:nvSpPr>
            <p:cNvPr id="57358" name="Line 17"/>
            <p:cNvSpPr>
              <a:spLocks noChangeShapeType="1"/>
            </p:cNvSpPr>
            <p:nvPr/>
          </p:nvSpPr>
          <p:spPr bwMode="auto">
            <a:xfrm>
              <a:off x="3696" y="1248"/>
              <a:ext cx="0" cy="432"/>
            </a:xfrm>
            <a:prstGeom prst="line">
              <a:avLst/>
            </a:prstGeom>
            <a:noFill/>
            <a:ln w="19050">
              <a:solidFill>
                <a:schemeClr val="accent2"/>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60464" name="Group 18"/>
            <p:cNvGrpSpPr/>
            <p:nvPr/>
          </p:nvGrpSpPr>
          <p:grpSpPr>
            <a:xfrm>
              <a:off x="3408" y="1680"/>
              <a:ext cx="576" cy="240"/>
              <a:chOff x="3408" y="1680"/>
              <a:chExt cx="576" cy="240"/>
            </a:xfrm>
          </p:grpSpPr>
          <p:sp>
            <p:nvSpPr>
              <p:cNvPr id="57360" name="Line 19"/>
              <p:cNvSpPr>
                <a:spLocks noChangeShapeType="1"/>
              </p:cNvSpPr>
              <p:nvPr/>
            </p:nvSpPr>
            <p:spPr bwMode="auto">
              <a:xfrm>
                <a:off x="3408" y="1680"/>
                <a:ext cx="57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361" name="Line 20"/>
              <p:cNvSpPr>
                <a:spLocks noChangeShapeType="1"/>
              </p:cNvSpPr>
              <p:nvPr/>
            </p:nvSpPr>
            <p:spPr bwMode="auto">
              <a:xfrm>
                <a:off x="3408" y="1680"/>
                <a:ext cx="0" cy="24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362" name="Line 21"/>
              <p:cNvSpPr>
                <a:spLocks noChangeShapeType="1"/>
              </p:cNvSpPr>
              <p:nvPr/>
            </p:nvSpPr>
            <p:spPr bwMode="auto">
              <a:xfrm>
                <a:off x="3984" y="1680"/>
                <a:ext cx="0" cy="24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7363" name="Rectangle 22"/>
            <p:cNvSpPr>
              <a:spLocks noChangeArrowheads="1"/>
            </p:cNvSpPr>
            <p:nvPr/>
          </p:nvSpPr>
          <p:spPr bwMode="auto">
            <a:xfrm>
              <a:off x="3216" y="1920"/>
              <a:ext cx="960" cy="24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rgbClr val="FFC000"/>
                  </a:solidFill>
                  <a:effectLst/>
                  <a:uLnTx/>
                  <a:uFillTx/>
                  <a:latin typeface="+mn-lt"/>
                  <a:ea typeface="+mn-ea"/>
                  <a:cs typeface="+mn-ea"/>
                  <a:sym typeface="+mn-lt"/>
                </a:rPr>
                <a:t>L  R   D</a:t>
              </a:r>
            </a:p>
          </p:txBody>
        </p:sp>
      </p:grpSp>
      <p:grpSp>
        <p:nvGrpSpPr>
          <p:cNvPr id="5" name="Group 23"/>
          <p:cNvGrpSpPr/>
          <p:nvPr/>
        </p:nvGrpSpPr>
        <p:grpSpPr>
          <a:xfrm>
            <a:off x="4829175" y="3221038"/>
            <a:ext cx="1447800" cy="1428750"/>
            <a:chOff x="2796" y="1752"/>
            <a:chExt cx="912" cy="900"/>
          </a:xfrm>
        </p:grpSpPr>
        <p:grpSp>
          <p:nvGrpSpPr>
            <p:cNvPr id="60457" name="Group 24"/>
            <p:cNvGrpSpPr/>
            <p:nvPr/>
          </p:nvGrpSpPr>
          <p:grpSpPr>
            <a:xfrm>
              <a:off x="2940" y="2172"/>
              <a:ext cx="576" cy="240"/>
              <a:chOff x="3888" y="2592"/>
              <a:chExt cx="576" cy="240"/>
            </a:xfrm>
          </p:grpSpPr>
          <p:sp>
            <p:nvSpPr>
              <p:cNvPr id="57366" name="Line 25"/>
              <p:cNvSpPr>
                <a:spLocks noChangeShapeType="1"/>
              </p:cNvSpPr>
              <p:nvPr/>
            </p:nvSpPr>
            <p:spPr bwMode="auto">
              <a:xfrm>
                <a:off x="3888" y="2592"/>
                <a:ext cx="57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367" name="Line 26"/>
              <p:cNvSpPr>
                <a:spLocks noChangeShapeType="1"/>
              </p:cNvSpPr>
              <p:nvPr/>
            </p:nvSpPr>
            <p:spPr bwMode="auto">
              <a:xfrm>
                <a:off x="3888" y="2592"/>
                <a:ext cx="0" cy="24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368" name="Line 27"/>
              <p:cNvSpPr>
                <a:spLocks noChangeShapeType="1"/>
              </p:cNvSpPr>
              <p:nvPr/>
            </p:nvSpPr>
            <p:spPr bwMode="auto">
              <a:xfrm>
                <a:off x="4464" y="2592"/>
                <a:ext cx="0" cy="24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7369" name="Rectangle 28"/>
            <p:cNvSpPr>
              <a:spLocks noChangeArrowheads="1"/>
            </p:cNvSpPr>
            <p:nvPr/>
          </p:nvSpPr>
          <p:spPr bwMode="auto">
            <a:xfrm>
              <a:off x="2796" y="2412"/>
              <a:ext cx="912" cy="24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rgbClr val="FFC000"/>
                  </a:solidFill>
                  <a:effectLst/>
                  <a:uLnTx/>
                  <a:uFillTx/>
                  <a:latin typeface="+mn-lt"/>
                  <a:ea typeface="+mn-ea"/>
                  <a:cs typeface="+mn-ea"/>
                  <a:sym typeface="+mn-lt"/>
                </a:rPr>
                <a:t>L    R   D</a:t>
              </a:r>
            </a:p>
          </p:txBody>
        </p:sp>
        <p:sp>
          <p:nvSpPr>
            <p:cNvPr id="57370" name="Line 29"/>
            <p:cNvSpPr>
              <a:spLocks noChangeShapeType="1"/>
            </p:cNvSpPr>
            <p:nvPr/>
          </p:nvSpPr>
          <p:spPr bwMode="auto">
            <a:xfrm>
              <a:off x="3204" y="1752"/>
              <a:ext cx="0" cy="432"/>
            </a:xfrm>
            <a:prstGeom prst="line">
              <a:avLst/>
            </a:prstGeom>
            <a:noFill/>
            <a:ln w="19050">
              <a:solidFill>
                <a:srgbClr val="CC0099"/>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 name="Group 30"/>
          <p:cNvGrpSpPr/>
          <p:nvPr/>
        </p:nvGrpSpPr>
        <p:grpSpPr>
          <a:xfrm>
            <a:off x="8220075" y="1754188"/>
            <a:ext cx="457200" cy="1066800"/>
            <a:chOff x="3264" y="2160"/>
            <a:chExt cx="288" cy="672"/>
          </a:xfrm>
        </p:grpSpPr>
        <p:sp>
          <p:nvSpPr>
            <p:cNvPr id="57372" name="Oval 31"/>
            <p:cNvSpPr>
              <a:spLocks noChangeArrowheads="1"/>
            </p:cNvSpPr>
            <p:nvPr/>
          </p:nvSpPr>
          <p:spPr bwMode="auto">
            <a:xfrm>
              <a:off x="3264" y="2592"/>
              <a:ext cx="288" cy="240"/>
            </a:xfrm>
            <a:prstGeom prst="ellipse">
              <a:avLst/>
            </a:prstGeom>
            <a:solidFill>
              <a:srgbClr val="FF9933"/>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A</a:t>
              </a:r>
            </a:p>
          </p:txBody>
        </p:sp>
        <p:sp>
          <p:nvSpPr>
            <p:cNvPr id="57373" name="Line 32"/>
            <p:cNvSpPr>
              <a:spLocks noChangeShapeType="1"/>
            </p:cNvSpPr>
            <p:nvPr/>
          </p:nvSpPr>
          <p:spPr bwMode="auto">
            <a:xfrm>
              <a:off x="3408" y="2160"/>
              <a:ext cx="0" cy="432"/>
            </a:xfrm>
            <a:prstGeom prst="line">
              <a:avLst/>
            </a:prstGeom>
            <a:noFill/>
            <a:ln w="19050">
              <a:solidFill>
                <a:srgbClr val="FF66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 name="Group 33"/>
          <p:cNvGrpSpPr/>
          <p:nvPr/>
        </p:nvGrpSpPr>
        <p:grpSpPr>
          <a:xfrm>
            <a:off x="5343525" y="4649788"/>
            <a:ext cx="457200" cy="990600"/>
            <a:chOff x="4368" y="3072"/>
            <a:chExt cx="288" cy="624"/>
          </a:xfrm>
        </p:grpSpPr>
        <p:sp>
          <p:nvSpPr>
            <p:cNvPr id="57375" name="Text Box 34"/>
            <p:cNvSpPr txBox="1">
              <a:spLocks noChangeArrowheads="1"/>
            </p:cNvSpPr>
            <p:nvPr/>
          </p:nvSpPr>
          <p:spPr bwMode="auto">
            <a:xfrm rot="-5503572">
              <a:off x="4392" y="3432"/>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&gt;</a:t>
              </a:r>
            </a:p>
          </p:txBody>
        </p:sp>
        <p:sp>
          <p:nvSpPr>
            <p:cNvPr id="57376" name="Line 35"/>
            <p:cNvSpPr>
              <a:spLocks noChangeShapeType="1"/>
            </p:cNvSpPr>
            <p:nvPr/>
          </p:nvSpPr>
          <p:spPr bwMode="auto">
            <a:xfrm>
              <a:off x="4512" y="3072"/>
              <a:ext cx="0" cy="432"/>
            </a:xfrm>
            <a:prstGeom prst="line">
              <a:avLst/>
            </a:prstGeom>
            <a:noFill/>
            <a:ln w="19050">
              <a:solidFill>
                <a:srgbClr val="CC0099"/>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9" name="Group 36"/>
          <p:cNvGrpSpPr/>
          <p:nvPr/>
        </p:nvGrpSpPr>
        <p:grpSpPr>
          <a:xfrm>
            <a:off x="4810125" y="4668838"/>
            <a:ext cx="457200" cy="990600"/>
            <a:chOff x="4080" y="3072"/>
            <a:chExt cx="288" cy="624"/>
          </a:xfrm>
        </p:grpSpPr>
        <p:sp>
          <p:nvSpPr>
            <p:cNvPr id="57378" name="Text Box 37"/>
            <p:cNvSpPr txBox="1">
              <a:spLocks noChangeArrowheads="1"/>
            </p:cNvSpPr>
            <p:nvPr/>
          </p:nvSpPr>
          <p:spPr bwMode="auto">
            <a:xfrm rot="-5503572">
              <a:off x="4104" y="3432"/>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&gt;</a:t>
              </a:r>
            </a:p>
          </p:txBody>
        </p:sp>
        <p:sp>
          <p:nvSpPr>
            <p:cNvPr id="57379" name="Line 38"/>
            <p:cNvSpPr>
              <a:spLocks noChangeShapeType="1"/>
            </p:cNvSpPr>
            <p:nvPr/>
          </p:nvSpPr>
          <p:spPr bwMode="auto">
            <a:xfrm>
              <a:off x="4224" y="3072"/>
              <a:ext cx="0" cy="432"/>
            </a:xfrm>
            <a:prstGeom prst="line">
              <a:avLst/>
            </a:prstGeom>
            <a:noFill/>
            <a:ln w="19050">
              <a:solidFill>
                <a:schemeClr val="accent2"/>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0" name="Group 39"/>
          <p:cNvGrpSpPr/>
          <p:nvPr/>
        </p:nvGrpSpPr>
        <p:grpSpPr>
          <a:xfrm>
            <a:off x="5819775" y="4611688"/>
            <a:ext cx="457200" cy="1066800"/>
            <a:chOff x="3792" y="3072"/>
            <a:chExt cx="288" cy="672"/>
          </a:xfrm>
        </p:grpSpPr>
        <p:sp>
          <p:nvSpPr>
            <p:cNvPr id="57381" name="Oval 40"/>
            <p:cNvSpPr>
              <a:spLocks noChangeArrowheads="1"/>
            </p:cNvSpPr>
            <p:nvPr/>
          </p:nvSpPr>
          <p:spPr bwMode="auto">
            <a:xfrm>
              <a:off x="3792" y="3504"/>
              <a:ext cx="288" cy="240"/>
            </a:xfrm>
            <a:prstGeom prst="ellipse">
              <a:avLst/>
            </a:prstGeom>
            <a:solidFill>
              <a:srgbClr val="FF9933"/>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D</a:t>
              </a:r>
            </a:p>
          </p:txBody>
        </p:sp>
        <p:sp>
          <p:nvSpPr>
            <p:cNvPr id="57382" name="Line 41"/>
            <p:cNvSpPr>
              <a:spLocks noChangeShapeType="1"/>
            </p:cNvSpPr>
            <p:nvPr/>
          </p:nvSpPr>
          <p:spPr bwMode="auto">
            <a:xfrm>
              <a:off x="3936" y="3072"/>
              <a:ext cx="0" cy="432"/>
            </a:xfrm>
            <a:prstGeom prst="line">
              <a:avLst/>
            </a:prstGeom>
            <a:noFill/>
            <a:ln w="19050">
              <a:solidFill>
                <a:srgbClr val="FF66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1" name="Group 42"/>
          <p:cNvGrpSpPr/>
          <p:nvPr/>
        </p:nvGrpSpPr>
        <p:grpSpPr>
          <a:xfrm>
            <a:off x="7077075" y="3201988"/>
            <a:ext cx="457200" cy="990600"/>
            <a:chOff x="5280" y="2160"/>
            <a:chExt cx="288" cy="624"/>
          </a:xfrm>
        </p:grpSpPr>
        <p:sp>
          <p:nvSpPr>
            <p:cNvPr id="57384" name="Text Box 43"/>
            <p:cNvSpPr txBox="1">
              <a:spLocks noChangeArrowheads="1"/>
            </p:cNvSpPr>
            <p:nvPr/>
          </p:nvSpPr>
          <p:spPr bwMode="auto">
            <a:xfrm rot="-5503572">
              <a:off x="5304" y="2520"/>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&gt;</a:t>
              </a:r>
            </a:p>
          </p:txBody>
        </p:sp>
        <p:sp>
          <p:nvSpPr>
            <p:cNvPr id="57385" name="Line 44"/>
            <p:cNvSpPr>
              <a:spLocks noChangeShapeType="1"/>
            </p:cNvSpPr>
            <p:nvPr/>
          </p:nvSpPr>
          <p:spPr bwMode="auto">
            <a:xfrm>
              <a:off x="5424" y="2160"/>
              <a:ext cx="0" cy="432"/>
            </a:xfrm>
            <a:prstGeom prst="line">
              <a:avLst/>
            </a:prstGeom>
            <a:noFill/>
            <a:ln w="19050">
              <a:solidFill>
                <a:srgbClr val="CC0099"/>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2" name="Group 45"/>
          <p:cNvGrpSpPr/>
          <p:nvPr/>
        </p:nvGrpSpPr>
        <p:grpSpPr>
          <a:xfrm>
            <a:off x="6524625" y="3221038"/>
            <a:ext cx="457200" cy="990600"/>
            <a:chOff x="4992" y="2160"/>
            <a:chExt cx="288" cy="624"/>
          </a:xfrm>
        </p:grpSpPr>
        <p:sp>
          <p:nvSpPr>
            <p:cNvPr id="57387" name="Text Box 46"/>
            <p:cNvSpPr txBox="1">
              <a:spLocks noChangeArrowheads="1"/>
            </p:cNvSpPr>
            <p:nvPr/>
          </p:nvSpPr>
          <p:spPr bwMode="auto">
            <a:xfrm rot="-5503572">
              <a:off x="5016" y="2520"/>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&gt;</a:t>
              </a:r>
            </a:p>
          </p:txBody>
        </p:sp>
        <p:sp>
          <p:nvSpPr>
            <p:cNvPr id="57388" name="Line 47"/>
            <p:cNvSpPr>
              <a:spLocks noChangeShapeType="1"/>
            </p:cNvSpPr>
            <p:nvPr/>
          </p:nvSpPr>
          <p:spPr bwMode="auto">
            <a:xfrm>
              <a:off x="5136" y="2160"/>
              <a:ext cx="0" cy="432"/>
            </a:xfrm>
            <a:prstGeom prst="line">
              <a:avLst/>
            </a:prstGeom>
            <a:noFill/>
            <a:ln w="19050">
              <a:solidFill>
                <a:schemeClr val="accent2"/>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3" name="Group 48"/>
          <p:cNvGrpSpPr/>
          <p:nvPr/>
        </p:nvGrpSpPr>
        <p:grpSpPr>
          <a:xfrm>
            <a:off x="7534275" y="3201988"/>
            <a:ext cx="457200" cy="1066800"/>
            <a:chOff x="4704" y="2160"/>
            <a:chExt cx="288" cy="672"/>
          </a:xfrm>
        </p:grpSpPr>
        <p:sp>
          <p:nvSpPr>
            <p:cNvPr id="57390" name="Oval 49"/>
            <p:cNvSpPr>
              <a:spLocks noChangeArrowheads="1"/>
            </p:cNvSpPr>
            <p:nvPr/>
          </p:nvSpPr>
          <p:spPr bwMode="auto">
            <a:xfrm>
              <a:off x="4704" y="2592"/>
              <a:ext cx="288" cy="240"/>
            </a:xfrm>
            <a:prstGeom prst="ellipse">
              <a:avLst/>
            </a:prstGeom>
            <a:solidFill>
              <a:srgbClr val="FF9933"/>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C</a:t>
              </a:r>
            </a:p>
          </p:txBody>
        </p:sp>
        <p:sp>
          <p:nvSpPr>
            <p:cNvPr id="57391" name="Line 50"/>
            <p:cNvSpPr>
              <a:spLocks noChangeShapeType="1"/>
            </p:cNvSpPr>
            <p:nvPr/>
          </p:nvSpPr>
          <p:spPr bwMode="auto">
            <a:xfrm>
              <a:off x="4848" y="2160"/>
              <a:ext cx="0" cy="432"/>
            </a:xfrm>
            <a:prstGeom prst="line">
              <a:avLst/>
            </a:prstGeom>
            <a:noFill/>
            <a:ln w="19050">
              <a:solidFill>
                <a:srgbClr val="FF66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4" name="Group 51"/>
          <p:cNvGrpSpPr/>
          <p:nvPr/>
        </p:nvGrpSpPr>
        <p:grpSpPr>
          <a:xfrm>
            <a:off x="6562725" y="1601788"/>
            <a:ext cx="1447800" cy="1600200"/>
            <a:chOff x="4356" y="972"/>
            <a:chExt cx="912" cy="1008"/>
          </a:xfrm>
        </p:grpSpPr>
        <p:grpSp>
          <p:nvGrpSpPr>
            <p:cNvPr id="60437" name="Group 52"/>
            <p:cNvGrpSpPr/>
            <p:nvPr/>
          </p:nvGrpSpPr>
          <p:grpSpPr>
            <a:xfrm>
              <a:off x="4500" y="1500"/>
              <a:ext cx="576" cy="240"/>
              <a:chOff x="4800" y="1680"/>
              <a:chExt cx="576" cy="240"/>
            </a:xfrm>
          </p:grpSpPr>
          <p:sp>
            <p:nvSpPr>
              <p:cNvPr id="57394" name="Line 53"/>
              <p:cNvSpPr>
                <a:spLocks noChangeShapeType="1"/>
              </p:cNvSpPr>
              <p:nvPr/>
            </p:nvSpPr>
            <p:spPr bwMode="auto">
              <a:xfrm>
                <a:off x="4800" y="1680"/>
                <a:ext cx="57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395" name="Line 54"/>
              <p:cNvSpPr>
                <a:spLocks noChangeShapeType="1"/>
              </p:cNvSpPr>
              <p:nvPr/>
            </p:nvSpPr>
            <p:spPr bwMode="auto">
              <a:xfrm>
                <a:off x="4800" y="1680"/>
                <a:ext cx="0" cy="24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396" name="Line 55"/>
              <p:cNvSpPr>
                <a:spLocks noChangeShapeType="1"/>
              </p:cNvSpPr>
              <p:nvPr/>
            </p:nvSpPr>
            <p:spPr bwMode="auto">
              <a:xfrm>
                <a:off x="5376" y="1680"/>
                <a:ext cx="0" cy="24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57397" name="Rectangle 56"/>
            <p:cNvSpPr>
              <a:spLocks noChangeArrowheads="1"/>
            </p:cNvSpPr>
            <p:nvPr/>
          </p:nvSpPr>
          <p:spPr bwMode="auto">
            <a:xfrm>
              <a:off x="4356" y="1740"/>
              <a:ext cx="912" cy="24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rgbClr val="FFC000"/>
                  </a:solidFill>
                  <a:effectLst/>
                  <a:uLnTx/>
                  <a:uFillTx/>
                  <a:latin typeface="+mn-lt"/>
                  <a:ea typeface="+mn-ea"/>
                  <a:cs typeface="+mn-ea"/>
                  <a:sym typeface="+mn-lt"/>
                </a:rPr>
                <a:t>L    R   D</a:t>
              </a:r>
            </a:p>
          </p:txBody>
        </p:sp>
        <p:sp>
          <p:nvSpPr>
            <p:cNvPr id="57398" name="Line 57"/>
            <p:cNvSpPr>
              <a:spLocks noChangeShapeType="1"/>
            </p:cNvSpPr>
            <p:nvPr/>
          </p:nvSpPr>
          <p:spPr bwMode="auto">
            <a:xfrm>
              <a:off x="4740" y="972"/>
              <a:ext cx="0" cy="528"/>
            </a:xfrm>
            <a:prstGeom prst="line">
              <a:avLst/>
            </a:prstGeom>
            <a:noFill/>
            <a:ln w="19050">
              <a:solidFill>
                <a:srgbClr val="CC0099"/>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6" name="Group 58"/>
          <p:cNvGrpSpPr/>
          <p:nvPr/>
        </p:nvGrpSpPr>
        <p:grpSpPr>
          <a:xfrm>
            <a:off x="5953125" y="3201988"/>
            <a:ext cx="666750" cy="990600"/>
            <a:chOff x="3360" y="1752"/>
            <a:chExt cx="420" cy="624"/>
          </a:xfrm>
        </p:grpSpPr>
        <p:sp>
          <p:nvSpPr>
            <p:cNvPr id="57400" name="Line 59"/>
            <p:cNvSpPr>
              <a:spLocks noChangeShapeType="1"/>
            </p:cNvSpPr>
            <p:nvPr/>
          </p:nvSpPr>
          <p:spPr bwMode="auto">
            <a:xfrm>
              <a:off x="3636" y="1956"/>
              <a:ext cx="0" cy="180"/>
            </a:xfrm>
            <a:prstGeom prst="line">
              <a:avLst/>
            </a:prstGeom>
            <a:noFill/>
            <a:ln w="19050">
              <a:solidFill>
                <a:srgbClr val="FF66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7401" name="Oval 60"/>
            <p:cNvSpPr>
              <a:spLocks noChangeArrowheads="1"/>
            </p:cNvSpPr>
            <p:nvPr/>
          </p:nvSpPr>
          <p:spPr bwMode="auto">
            <a:xfrm>
              <a:off x="3492" y="2136"/>
              <a:ext cx="288" cy="240"/>
            </a:xfrm>
            <a:prstGeom prst="ellipse">
              <a:avLst/>
            </a:prstGeom>
            <a:solidFill>
              <a:srgbClr val="FF9933"/>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57402" name="Line 61"/>
            <p:cNvSpPr>
              <a:spLocks noChangeShapeType="1"/>
            </p:cNvSpPr>
            <p:nvPr/>
          </p:nvSpPr>
          <p:spPr bwMode="auto">
            <a:xfrm>
              <a:off x="3360" y="1752"/>
              <a:ext cx="276" cy="204"/>
            </a:xfrm>
            <a:prstGeom prst="line">
              <a:avLst/>
            </a:prstGeom>
            <a:noFill/>
            <a:ln w="19050">
              <a:solidFill>
                <a:srgbClr val="FF66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11422" name="Text Box 62"/>
          <p:cNvSpPr txBox="1">
            <a:spLocks noChangeArrowheads="1"/>
          </p:cNvSpPr>
          <p:nvPr/>
        </p:nvSpPr>
        <p:spPr bwMode="auto">
          <a:xfrm>
            <a:off x="4348163" y="6051550"/>
            <a:ext cx="4876800" cy="519113"/>
          </a:xfrm>
          <a:prstGeom prst="rect">
            <a:avLst/>
          </a:prstGeom>
          <a:noFill/>
          <a:ln w="9525">
            <a:noFill/>
            <a:miter lim="800000"/>
          </a:ln>
          <a:effectLst/>
        </p:spPr>
        <p:txBody>
          <a:bodyPr>
            <a:spAutoFit/>
          </a:bodyPr>
          <a:lstStyle/>
          <a:p>
            <a:pPr marR="0" defTabSz="914400" eaLnBrk="1" hangingPunct="1">
              <a:buClrTx/>
              <a:buSzTx/>
              <a:buFontTx/>
              <a:buNone/>
              <a:defRPr/>
            </a:pPr>
            <a:r>
              <a:rPr kumimoji="0" lang="zh-CN" altLang="en-US" b="0" kern="1200" cap="none" spc="0" normalizeH="0" baseline="0" noProof="0" dirty="0">
                <a:solidFill>
                  <a:schemeClr val="hlink"/>
                </a:solidFill>
                <a:latin typeface="+mn-lt"/>
                <a:ea typeface="+mn-ea"/>
                <a:cs typeface="+mn-ea"/>
                <a:sym typeface="+mn-lt"/>
              </a:rPr>
              <a:t>后序遍历序列： </a:t>
            </a:r>
            <a:r>
              <a:rPr kumimoji="0" lang="en-US" altLang="zh-CN" b="0" kern="1200" cap="none" spc="0" normalizeH="0" baseline="0" noProof="0" dirty="0">
                <a:solidFill>
                  <a:schemeClr val="hlink"/>
                </a:solidFill>
                <a:latin typeface="+mn-lt"/>
                <a:ea typeface="+mn-ea"/>
                <a:cs typeface="+mn-ea"/>
                <a:sym typeface="+mn-lt"/>
              </a:rPr>
              <a:t>D   B  C  A</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1375"/>
                                        </p:tgtEl>
                                        <p:attrNameLst>
                                          <p:attrName>style.visibility</p:attrName>
                                        </p:attrNameLst>
                                      </p:cBhvr>
                                      <p:to>
                                        <p:strVal val="visible"/>
                                      </p:to>
                                    </p:set>
                                    <p:animEffect transition="in" filter="dissolve">
                                      <p:cBhvr>
                                        <p:cTn id="7" dur="500"/>
                                        <p:tgtEl>
                                          <p:spTgt spid="911375"/>
                                        </p:tgtEl>
                                      </p:cBhvr>
                                    </p:animEffect>
                                  </p:childTnLst>
                                </p:cTn>
                              </p:par>
                            </p:childTnLst>
                          </p:cTn>
                        </p:par>
                      </p:childTnLst>
                    </p:cTn>
                  </p:par>
                  <p:par>
                    <p:cTn id="8" fill="hold">
                      <p:stCondLst>
                        <p:cond delay="indefinite"/>
                      </p:stCondLst>
                      <p:childTnLst>
                        <p:par>
                          <p:cTn id="9" fill="hold">
                            <p:stCondLst>
                              <p:cond delay="0"/>
                            </p:stCondLst>
                            <p:childTnLst>
                              <p:par>
                                <p:cTn id="10" presetID="17" presetClass="entr" presetSubtype="1"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p:cTn id="12" dur="500" fill="hold"/>
                                        <p:tgtEl>
                                          <p:spTgt spid="3"/>
                                        </p:tgtEl>
                                        <p:attrNameLst>
                                          <p:attrName>ppt_x</p:attrName>
                                        </p:attrNameLst>
                                      </p:cBhvr>
                                      <p:tavLst>
                                        <p:tav tm="0">
                                          <p:val>
                                            <p:strVal val="#ppt_x"/>
                                          </p:val>
                                        </p:tav>
                                        <p:tav tm="100000">
                                          <p:val>
                                            <p:strVal val="#ppt_x"/>
                                          </p:val>
                                        </p:tav>
                                      </p:tavLst>
                                    </p:anim>
                                    <p:anim calcmode="lin" valueType="num">
                                      <p:cBhvr>
                                        <p:cTn id="13" dur="500" fill="hold"/>
                                        <p:tgtEl>
                                          <p:spTgt spid="3"/>
                                        </p:tgtEl>
                                        <p:attrNameLst>
                                          <p:attrName>ppt_y</p:attrName>
                                        </p:attrNameLst>
                                      </p:cBhvr>
                                      <p:tavLst>
                                        <p:tav tm="0">
                                          <p:val>
                                            <p:strVal val="#ppt_y-#ppt_h/2"/>
                                          </p:val>
                                        </p:tav>
                                        <p:tav tm="100000">
                                          <p:val>
                                            <p:strVal val="#ppt_y"/>
                                          </p:val>
                                        </p:tav>
                                      </p:tavLst>
                                    </p:anim>
                                    <p:anim calcmode="lin" valueType="num">
                                      <p:cBhvr>
                                        <p:cTn id="14" dur="500" fill="hold"/>
                                        <p:tgtEl>
                                          <p:spTgt spid="3"/>
                                        </p:tgtEl>
                                        <p:attrNameLst>
                                          <p:attrName>ppt_w</p:attrName>
                                        </p:attrNameLst>
                                      </p:cBhvr>
                                      <p:tavLst>
                                        <p:tav tm="0">
                                          <p:val>
                                            <p:strVal val="#ppt_w"/>
                                          </p:val>
                                        </p:tav>
                                        <p:tav tm="100000">
                                          <p:val>
                                            <p:strVal val="#ppt_w"/>
                                          </p:val>
                                        </p:tav>
                                      </p:tavLst>
                                    </p:anim>
                                    <p:anim calcmode="lin" valueType="num">
                                      <p:cBhvr>
                                        <p:cTn id="15" dur="500" fill="hold"/>
                                        <p:tgtEl>
                                          <p:spTgt spid="3"/>
                                        </p:tgtEl>
                                        <p:attrNameLst>
                                          <p:attrName>ppt_h</p:attrName>
                                        </p:attrNameLst>
                                      </p:cBhvr>
                                      <p:tavLst>
                                        <p:tav tm="0">
                                          <p:val>
                                            <p:fltVal val="0"/>
                                          </p:val>
                                        </p:tav>
                                        <p:tav tm="100000">
                                          <p:val>
                                            <p:strVal val="#ppt_h"/>
                                          </p:val>
                                        </p:tav>
                                      </p:tavLst>
                                    </p:anim>
                                  </p:childTnLst>
                                </p:cTn>
                              </p:par>
                            </p:childTnLst>
                          </p:cTn>
                        </p:par>
                      </p:childTnLst>
                    </p:cTn>
                  </p:par>
                  <p:par>
                    <p:cTn id="16" fill="hold">
                      <p:stCondLst>
                        <p:cond delay="indefinite"/>
                      </p:stCondLst>
                      <p:childTnLst>
                        <p:par>
                          <p:cTn id="17" fill="hold">
                            <p:stCondLst>
                              <p:cond delay="0"/>
                            </p:stCondLst>
                            <p:childTnLst>
                              <p:par>
                                <p:cTn id="18" presetID="4" presetClass="entr" presetSubtype="32" fill="hold" nodeType="click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box(out)">
                                      <p:cBhvr>
                                        <p:cTn id="20" dur="500"/>
                                        <p:tgtEl>
                                          <p:spTgt spid="5"/>
                                        </p:tgtEl>
                                      </p:cBhvr>
                                    </p:animEffect>
                                  </p:childTnLst>
                                </p:cTn>
                              </p:par>
                            </p:childTnLst>
                          </p:cTn>
                        </p:par>
                      </p:childTnLst>
                    </p:cTn>
                  </p:par>
                  <p:par>
                    <p:cTn id="21" fill="hold">
                      <p:stCondLst>
                        <p:cond delay="indefinite"/>
                      </p:stCondLst>
                      <p:childTnLst>
                        <p:par>
                          <p:cTn id="22" fill="hold">
                            <p:stCondLst>
                              <p:cond delay="0"/>
                            </p:stCondLst>
                            <p:childTnLst>
                              <p:par>
                                <p:cTn id="23" presetID="17" presetClass="entr" presetSubtype="1" fill="hold" nodeType="click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p:cTn id="25" dur="500" fill="hold"/>
                                        <p:tgtEl>
                                          <p:spTgt spid="9"/>
                                        </p:tgtEl>
                                        <p:attrNameLst>
                                          <p:attrName>ppt_x</p:attrName>
                                        </p:attrNameLst>
                                      </p:cBhvr>
                                      <p:tavLst>
                                        <p:tav tm="0">
                                          <p:val>
                                            <p:strVal val="#ppt_x"/>
                                          </p:val>
                                        </p:tav>
                                        <p:tav tm="100000">
                                          <p:val>
                                            <p:strVal val="#ppt_x"/>
                                          </p:val>
                                        </p:tav>
                                      </p:tavLst>
                                    </p:anim>
                                    <p:anim calcmode="lin" valueType="num">
                                      <p:cBhvr>
                                        <p:cTn id="26" dur="500" fill="hold"/>
                                        <p:tgtEl>
                                          <p:spTgt spid="9"/>
                                        </p:tgtEl>
                                        <p:attrNameLst>
                                          <p:attrName>ppt_y</p:attrName>
                                        </p:attrNameLst>
                                      </p:cBhvr>
                                      <p:tavLst>
                                        <p:tav tm="0">
                                          <p:val>
                                            <p:strVal val="#ppt_y-#ppt_h/2"/>
                                          </p:val>
                                        </p:tav>
                                        <p:tav tm="100000">
                                          <p:val>
                                            <p:strVal val="#ppt_y"/>
                                          </p:val>
                                        </p:tav>
                                      </p:tavLst>
                                    </p:anim>
                                    <p:anim calcmode="lin" valueType="num">
                                      <p:cBhvr>
                                        <p:cTn id="27" dur="500" fill="hold"/>
                                        <p:tgtEl>
                                          <p:spTgt spid="9"/>
                                        </p:tgtEl>
                                        <p:attrNameLst>
                                          <p:attrName>ppt_w</p:attrName>
                                        </p:attrNameLst>
                                      </p:cBhvr>
                                      <p:tavLst>
                                        <p:tav tm="0">
                                          <p:val>
                                            <p:strVal val="#ppt_w"/>
                                          </p:val>
                                        </p:tav>
                                        <p:tav tm="100000">
                                          <p:val>
                                            <p:strVal val="#ppt_w"/>
                                          </p:val>
                                        </p:tav>
                                      </p:tavLst>
                                    </p:anim>
                                    <p:anim calcmode="lin" valueType="num">
                                      <p:cBhvr>
                                        <p:cTn id="28" dur="500" fill="hold"/>
                                        <p:tgtEl>
                                          <p:spTgt spid="9"/>
                                        </p:tgtEl>
                                        <p:attrNameLst>
                                          <p:attrName>ppt_h</p:attrName>
                                        </p:attrNameLst>
                                      </p:cBhvr>
                                      <p:tavLst>
                                        <p:tav tm="0">
                                          <p:val>
                                            <p:fltVal val="0"/>
                                          </p:val>
                                        </p:tav>
                                        <p:tav tm="100000">
                                          <p:val>
                                            <p:strVal val="#ppt_h"/>
                                          </p:val>
                                        </p:tav>
                                      </p:tavLst>
                                    </p:anim>
                                  </p:childTnLst>
                                </p:cTn>
                              </p:par>
                            </p:childTnLst>
                          </p:cTn>
                        </p:par>
                      </p:childTnLst>
                    </p:cTn>
                  </p:par>
                  <p:par>
                    <p:cTn id="29" fill="hold">
                      <p:stCondLst>
                        <p:cond delay="indefinite"/>
                      </p:stCondLst>
                      <p:childTnLst>
                        <p:par>
                          <p:cTn id="30" fill="hold">
                            <p:stCondLst>
                              <p:cond delay="0"/>
                            </p:stCondLst>
                            <p:childTnLst>
                              <p:par>
                                <p:cTn id="31" presetID="17" presetClass="entr" presetSubtype="1" fill="hold" nodeType="clickEffect">
                                  <p:stCondLst>
                                    <p:cond delay="0"/>
                                  </p:stCondLst>
                                  <p:childTnLst>
                                    <p:set>
                                      <p:cBhvr>
                                        <p:cTn id="32" dur="1" fill="hold">
                                          <p:stCondLst>
                                            <p:cond delay="0"/>
                                          </p:stCondLst>
                                        </p:cTn>
                                        <p:tgtEl>
                                          <p:spTgt spid="8"/>
                                        </p:tgtEl>
                                        <p:attrNameLst>
                                          <p:attrName>style.visibility</p:attrName>
                                        </p:attrNameLst>
                                      </p:cBhvr>
                                      <p:to>
                                        <p:strVal val="visible"/>
                                      </p:to>
                                    </p:set>
                                    <p:anim calcmode="lin" valueType="num">
                                      <p:cBhvr>
                                        <p:cTn id="33" dur="500" fill="hold"/>
                                        <p:tgtEl>
                                          <p:spTgt spid="8"/>
                                        </p:tgtEl>
                                        <p:attrNameLst>
                                          <p:attrName>ppt_x</p:attrName>
                                        </p:attrNameLst>
                                      </p:cBhvr>
                                      <p:tavLst>
                                        <p:tav tm="0">
                                          <p:val>
                                            <p:strVal val="#ppt_x"/>
                                          </p:val>
                                        </p:tav>
                                        <p:tav tm="100000">
                                          <p:val>
                                            <p:strVal val="#ppt_x"/>
                                          </p:val>
                                        </p:tav>
                                      </p:tavLst>
                                    </p:anim>
                                    <p:anim calcmode="lin" valueType="num">
                                      <p:cBhvr>
                                        <p:cTn id="34" dur="500" fill="hold"/>
                                        <p:tgtEl>
                                          <p:spTgt spid="8"/>
                                        </p:tgtEl>
                                        <p:attrNameLst>
                                          <p:attrName>ppt_y</p:attrName>
                                        </p:attrNameLst>
                                      </p:cBhvr>
                                      <p:tavLst>
                                        <p:tav tm="0">
                                          <p:val>
                                            <p:strVal val="#ppt_y-#ppt_h/2"/>
                                          </p:val>
                                        </p:tav>
                                        <p:tav tm="100000">
                                          <p:val>
                                            <p:strVal val="#ppt_y"/>
                                          </p:val>
                                        </p:tav>
                                      </p:tavLst>
                                    </p:anim>
                                    <p:anim calcmode="lin" valueType="num">
                                      <p:cBhvr>
                                        <p:cTn id="35" dur="500" fill="hold"/>
                                        <p:tgtEl>
                                          <p:spTgt spid="8"/>
                                        </p:tgtEl>
                                        <p:attrNameLst>
                                          <p:attrName>ppt_w</p:attrName>
                                        </p:attrNameLst>
                                      </p:cBhvr>
                                      <p:tavLst>
                                        <p:tav tm="0">
                                          <p:val>
                                            <p:strVal val="#ppt_w"/>
                                          </p:val>
                                        </p:tav>
                                        <p:tav tm="100000">
                                          <p:val>
                                            <p:strVal val="#ppt_w"/>
                                          </p:val>
                                        </p:tav>
                                      </p:tavLst>
                                    </p:anim>
                                    <p:anim calcmode="lin" valueType="num">
                                      <p:cBhvr>
                                        <p:cTn id="36" dur="500" fill="hold"/>
                                        <p:tgtEl>
                                          <p:spTgt spid="8"/>
                                        </p:tgtEl>
                                        <p:attrNameLst>
                                          <p:attrName>ppt_h</p:attrName>
                                        </p:attrNameLst>
                                      </p:cBhvr>
                                      <p:tavLst>
                                        <p:tav tm="0">
                                          <p:val>
                                            <p:fltVal val="0"/>
                                          </p:val>
                                        </p:tav>
                                        <p:tav tm="100000">
                                          <p:val>
                                            <p:strVal val="#ppt_h"/>
                                          </p:val>
                                        </p:tav>
                                      </p:tavLst>
                                    </p:anim>
                                  </p:childTnLst>
                                </p:cTn>
                              </p:par>
                            </p:childTnLst>
                          </p:cTn>
                        </p:par>
                      </p:childTnLst>
                    </p:cTn>
                  </p:par>
                  <p:par>
                    <p:cTn id="37" fill="hold">
                      <p:stCondLst>
                        <p:cond delay="indefinite"/>
                      </p:stCondLst>
                      <p:childTnLst>
                        <p:par>
                          <p:cTn id="38" fill="hold">
                            <p:stCondLst>
                              <p:cond delay="0"/>
                            </p:stCondLst>
                            <p:childTnLst>
                              <p:par>
                                <p:cTn id="39" presetID="17" presetClass="entr" presetSubtype="1" fill="hold" nodeType="clickEffect">
                                  <p:stCondLst>
                                    <p:cond delay="0"/>
                                  </p:stCondLst>
                                  <p:childTnLst>
                                    <p:set>
                                      <p:cBhvr>
                                        <p:cTn id="40" dur="1" fill="hold">
                                          <p:stCondLst>
                                            <p:cond delay="0"/>
                                          </p:stCondLst>
                                        </p:cTn>
                                        <p:tgtEl>
                                          <p:spTgt spid="10"/>
                                        </p:tgtEl>
                                        <p:attrNameLst>
                                          <p:attrName>style.visibility</p:attrName>
                                        </p:attrNameLst>
                                      </p:cBhvr>
                                      <p:to>
                                        <p:strVal val="visible"/>
                                      </p:to>
                                    </p:set>
                                    <p:anim calcmode="lin" valueType="num">
                                      <p:cBhvr>
                                        <p:cTn id="41" dur="500" fill="hold"/>
                                        <p:tgtEl>
                                          <p:spTgt spid="10"/>
                                        </p:tgtEl>
                                        <p:attrNameLst>
                                          <p:attrName>ppt_x</p:attrName>
                                        </p:attrNameLst>
                                      </p:cBhvr>
                                      <p:tavLst>
                                        <p:tav tm="0">
                                          <p:val>
                                            <p:strVal val="#ppt_x"/>
                                          </p:val>
                                        </p:tav>
                                        <p:tav tm="100000">
                                          <p:val>
                                            <p:strVal val="#ppt_x"/>
                                          </p:val>
                                        </p:tav>
                                      </p:tavLst>
                                    </p:anim>
                                    <p:anim calcmode="lin" valueType="num">
                                      <p:cBhvr>
                                        <p:cTn id="42" dur="500" fill="hold"/>
                                        <p:tgtEl>
                                          <p:spTgt spid="10"/>
                                        </p:tgtEl>
                                        <p:attrNameLst>
                                          <p:attrName>ppt_y</p:attrName>
                                        </p:attrNameLst>
                                      </p:cBhvr>
                                      <p:tavLst>
                                        <p:tav tm="0">
                                          <p:val>
                                            <p:strVal val="#ppt_y-#ppt_h/2"/>
                                          </p:val>
                                        </p:tav>
                                        <p:tav tm="100000">
                                          <p:val>
                                            <p:strVal val="#ppt_y"/>
                                          </p:val>
                                        </p:tav>
                                      </p:tavLst>
                                    </p:anim>
                                    <p:anim calcmode="lin" valueType="num">
                                      <p:cBhvr>
                                        <p:cTn id="43" dur="500" fill="hold"/>
                                        <p:tgtEl>
                                          <p:spTgt spid="10"/>
                                        </p:tgtEl>
                                        <p:attrNameLst>
                                          <p:attrName>ppt_w</p:attrName>
                                        </p:attrNameLst>
                                      </p:cBhvr>
                                      <p:tavLst>
                                        <p:tav tm="0">
                                          <p:val>
                                            <p:strVal val="#ppt_w"/>
                                          </p:val>
                                        </p:tav>
                                        <p:tav tm="100000">
                                          <p:val>
                                            <p:strVal val="#ppt_w"/>
                                          </p:val>
                                        </p:tav>
                                      </p:tavLst>
                                    </p:anim>
                                    <p:anim calcmode="lin" valueType="num">
                                      <p:cBhvr>
                                        <p:cTn id="44" dur="500" fill="hold"/>
                                        <p:tgtEl>
                                          <p:spTgt spid="10"/>
                                        </p:tgtEl>
                                        <p:attrNameLst>
                                          <p:attrName>ppt_h</p:attrName>
                                        </p:attrNameLst>
                                      </p:cBhvr>
                                      <p:tavLst>
                                        <p:tav tm="0">
                                          <p:val>
                                            <p:fltVal val="0"/>
                                          </p:val>
                                        </p:tav>
                                        <p:tav tm="100000">
                                          <p:val>
                                            <p:strVal val="#ppt_h"/>
                                          </p:val>
                                        </p:tav>
                                      </p:tavLst>
                                    </p:anim>
                                  </p:childTnLst>
                                </p:cTn>
                              </p:par>
                            </p:childTnLst>
                          </p:cTn>
                        </p:par>
                      </p:childTnLst>
                    </p:cTn>
                  </p:par>
                  <p:par>
                    <p:cTn id="45" fill="hold">
                      <p:stCondLst>
                        <p:cond delay="indefinite"/>
                      </p:stCondLst>
                      <p:childTnLst>
                        <p:par>
                          <p:cTn id="46" fill="hold">
                            <p:stCondLst>
                              <p:cond delay="0"/>
                            </p:stCondLst>
                            <p:childTnLst>
                              <p:par>
                                <p:cTn id="47" presetID="4" presetClass="entr" presetSubtype="32" fill="hold" nodeType="clickEffect">
                                  <p:stCondLst>
                                    <p:cond delay="0"/>
                                  </p:stCondLst>
                                  <p:childTnLst>
                                    <p:set>
                                      <p:cBhvr>
                                        <p:cTn id="48" dur="1" fill="hold">
                                          <p:stCondLst>
                                            <p:cond delay="0"/>
                                          </p:stCondLst>
                                        </p:cTn>
                                        <p:tgtEl>
                                          <p:spTgt spid="16"/>
                                        </p:tgtEl>
                                        <p:attrNameLst>
                                          <p:attrName>style.visibility</p:attrName>
                                        </p:attrNameLst>
                                      </p:cBhvr>
                                      <p:to>
                                        <p:strVal val="visible"/>
                                      </p:to>
                                    </p:set>
                                    <p:animEffect transition="in" filter="box(out)">
                                      <p:cBhvr>
                                        <p:cTn id="49" dur="500"/>
                                        <p:tgtEl>
                                          <p:spTgt spid="16"/>
                                        </p:tgtEl>
                                      </p:cBhvr>
                                    </p:animEffect>
                                  </p:childTnLst>
                                </p:cTn>
                              </p:par>
                            </p:childTnLst>
                          </p:cTn>
                        </p:par>
                      </p:childTnLst>
                    </p:cTn>
                  </p:par>
                  <p:par>
                    <p:cTn id="50" fill="hold">
                      <p:stCondLst>
                        <p:cond delay="indefinite"/>
                      </p:stCondLst>
                      <p:childTnLst>
                        <p:par>
                          <p:cTn id="51" fill="hold">
                            <p:stCondLst>
                              <p:cond delay="0"/>
                            </p:stCondLst>
                            <p:childTnLst>
                              <p:par>
                                <p:cTn id="52" presetID="4" presetClass="entr" presetSubtype="32" fill="hold" nodeType="clickEffect">
                                  <p:stCondLst>
                                    <p:cond delay="0"/>
                                  </p:stCondLst>
                                  <p:childTnLst>
                                    <p:set>
                                      <p:cBhvr>
                                        <p:cTn id="53" dur="1" fill="hold">
                                          <p:stCondLst>
                                            <p:cond delay="0"/>
                                          </p:stCondLst>
                                        </p:cTn>
                                        <p:tgtEl>
                                          <p:spTgt spid="14"/>
                                        </p:tgtEl>
                                        <p:attrNameLst>
                                          <p:attrName>style.visibility</p:attrName>
                                        </p:attrNameLst>
                                      </p:cBhvr>
                                      <p:to>
                                        <p:strVal val="visible"/>
                                      </p:to>
                                    </p:set>
                                    <p:animEffect transition="in" filter="box(out)">
                                      <p:cBhvr>
                                        <p:cTn id="54" dur="500"/>
                                        <p:tgtEl>
                                          <p:spTgt spid="14"/>
                                        </p:tgtEl>
                                      </p:cBhvr>
                                    </p:animEffect>
                                  </p:childTnLst>
                                </p:cTn>
                              </p:par>
                            </p:childTnLst>
                          </p:cTn>
                        </p:par>
                      </p:childTnLst>
                    </p:cTn>
                  </p:par>
                  <p:par>
                    <p:cTn id="55" fill="hold">
                      <p:stCondLst>
                        <p:cond delay="indefinite"/>
                      </p:stCondLst>
                      <p:childTnLst>
                        <p:par>
                          <p:cTn id="56" fill="hold">
                            <p:stCondLst>
                              <p:cond delay="0"/>
                            </p:stCondLst>
                            <p:childTnLst>
                              <p:par>
                                <p:cTn id="57" presetID="17" presetClass="entr" presetSubtype="1" fill="hold" nodeType="clickEffect">
                                  <p:stCondLst>
                                    <p:cond delay="0"/>
                                  </p:stCondLst>
                                  <p:childTnLst>
                                    <p:set>
                                      <p:cBhvr>
                                        <p:cTn id="58" dur="1" fill="hold">
                                          <p:stCondLst>
                                            <p:cond delay="0"/>
                                          </p:stCondLst>
                                        </p:cTn>
                                        <p:tgtEl>
                                          <p:spTgt spid="12"/>
                                        </p:tgtEl>
                                        <p:attrNameLst>
                                          <p:attrName>style.visibility</p:attrName>
                                        </p:attrNameLst>
                                      </p:cBhvr>
                                      <p:to>
                                        <p:strVal val="visible"/>
                                      </p:to>
                                    </p:set>
                                    <p:anim calcmode="lin" valueType="num">
                                      <p:cBhvr>
                                        <p:cTn id="59" dur="500" fill="hold"/>
                                        <p:tgtEl>
                                          <p:spTgt spid="12"/>
                                        </p:tgtEl>
                                        <p:attrNameLst>
                                          <p:attrName>ppt_x</p:attrName>
                                        </p:attrNameLst>
                                      </p:cBhvr>
                                      <p:tavLst>
                                        <p:tav tm="0">
                                          <p:val>
                                            <p:strVal val="#ppt_x"/>
                                          </p:val>
                                        </p:tav>
                                        <p:tav tm="100000">
                                          <p:val>
                                            <p:strVal val="#ppt_x"/>
                                          </p:val>
                                        </p:tav>
                                      </p:tavLst>
                                    </p:anim>
                                    <p:anim calcmode="lin" valueType="num">
                                      <p:cBhvr>
                                        <p:cTn id="60" dur="500" fill="hold"/>
                                        <p:tgtEl>
                                          <p:spTgt spid="12"/>
                                        </p:tgtEl>
                                        <p:attrNameLst>
                                          <p:attrName>ppt_y</p:attrName>
                                        </p:attrNameLst>
                                      </p:cBhvr>
                                      <p:tavLst>
                                        <p:tav tm="0">
                                          <p:val>
                                            <p:strVal val="#ppt_y-#ppt_h/2"/>
                                          </p:val>
                                        </p:tav>
                                        <p:tav tm="100000">
                                          <p:val>
                                            <p:strVal val="#ppt_y"/>
                                          </p:val>
                                        </p:tav>
                                      </p:tavLst>
                                    </p:anim>
                                    <p:anim calcmode="lin" valueType="num">
                                      <p:cBhvr>
                                        <p:cTn id="61" dur="500" fill="hold"/>
                                        <p:tgtEl>
                                          <p:spTgt spid="12"/>
                                        </p:tgtEl>
                                        <p:attrNameLst>
                                          <p:attrName>ppt_w</p:attrName>
                                        </p:attrNameLst>
                                      </p:cBhvr>
                                      <p:tavLst>
                                        <p:tav tm="0">
                                          <p:val>
                                            <p:strVal val="#ppt_w"/>
                                          </p:val>
                                        </p:tav>
                                        <p:tav tm="100000">
                                          <p:val>
                                            <p:strVal val="#ppt_w"/>
                                          </p:val>
                                        </p:tav>
                                      </p:tavLst>
                                    </p:anim>
                                    <p:anim calcmode="lin" valueType="num">
                                      <p:cBhvr>
                                        <p:cTn id="62" dur="500" fill="hold"/>
                                        <p:tgtEl>
                                          <p:spTgt spid="12"/>
                                        </p:tgtEl>
                                        <p:attrNameLst>
                                          <p:attrName>ppt_h</p:attrName>
                                        </p:attrNameLst>
                                      </p:cBhvr>
                                      <p:tavLst>
                                        <p:tav tm="0">
                                          <p:val>
                                            <p:fltVal val="0"/>
                                          </p:val>
                                        </p:tav>
                                        <p:tav tm="100000">
                                          <p:val>
                                            <p:strVal val="#ppt_h"/>
                                          </p:val>
                                        </p:tav>
                                      </p:tavLst>
                                    </p:anim>
                                  </p:childTnLst>
                                </p:cTn>
                              </p:par>
                            </p:childTnLst>
                          </p:cTn>
                        </p:par>
                      </p:childTnLst>
                    </p:cTn>
                  </p:par>
                  <p:par>
                    <p:cTn id="63" fill="hold">
                      <p:stCondLst>
                        <p:cond delay="indefinite"/>
                      </p:stCondLst>
                      <p:childTnLst>
                        <p:par>
                          <p:cTn id="64" fill="hold">
                            <p:stCondLst>
                              <p:cond delay="0"/>
                            </p:stCondLst>
                            <p:childTnLst>
                              <p:par>
                                <p:cTn id="65" presetID="17" presetClass="entr" presetSubtype="1" fill="hold" nodeType="clickEffect">
                                  <p:stCondLst>
                                    <p:cond delay="0"/>
                                  </p:stCondLst>
                                  <p:childTnLst>
                                    <p:set>
                                      <p:cBhvr>
                                        <p:cTn id="66" dur="1" fill="hold">
                                          <p:stCondLst>
                                            <p:cond delay="0"/>
                                          </p:stCondLst>
                                        </p:cTn>
                                        <p:tgtEl>
                                          <p:spTgt spid="11"/>
                                        </p:tgtEl>
                                        <p:attrNameLst>
                                          <p:attrName>style.visibility</p:attrName>
                                        </p:attrNameLst>
                                      </p:cBhvr>
                                      <p:to>
                                        <p:strVal val="visible"/>
                                      </p:to>
                                    </p:set>
                                    <p:anim calcmode="lin" valueType="num">
                                      <p:cBhvr>
                                        <p:cTn id="67" dur="500" fill="hold"/>
                                        <p:tgtEl>
                                          <p:spTgt spid="11"/>
                                        </p:tgtEl>
                                        <p:attrNameLst>
                                          <p:attrName>ppt_x</p:attrName>
                                        </p:attrNameLst>
                                      </p:cBhvr>
                                      <p:tavLst>
                                        <p:tav tm="0">
                                          <p:val>
                                            <p:strVal val="#ppt_x"/>
                                          </p:val>
                                        </p:tav>
                                        <p:tav tm="100000">
                                          <p:val>
                                            <p:strVal val="#ppt_x"/>
                                          </p:val>
                                        </p:tav>
                                      </p:tavLst>
                                    </p:anim>
                                    <p:anim calcmode="lin" valueType="num">
                                      <p:cBhvr>
                                        <p:cTn id="68" dur="500" fill="hold"/>
                                        <p:tgtEl>
                                          <p:spTgt spid="11"/>
                                        </p:tgtEl>
                                        <p:attrNameLst>
                                          <p:attrName>ppt_y</p:attrName>
                                        </p:attrNameLst>
                                      </p:cBhvr>
                                      <p:tavLst>
                                        <p:tav tm="0">
                                          <p:val>
                                            <p:strVal val="#ppt_y-#ppt_h/2"/>
                                          </p:val>
                                        </p:tav>
                                        <p:tav tm="100000">
                                          <p:val>
                                            <p:strVal val="#ppt_y"/>
                                          </p:val>
                                        </p:tav>
                                      </p:tavLst>
                                    </p:anim>
                                    <p:anim calcmode="lin" valueType="num">
                                      <p:cBhvr>
                                        <p:cTn id="69" dur="500" fill="hold"/>
                                        <p:tgtEl>
                                          <p:spTgt spid="11"/>
                                        </p:tgtEl>
                                        <p:attrNameLst>
                                          <p:attrName>ppt_w</p:attrName>
                                        </p:attrNameLst>
                                      </p:cBhvr>
                                      <p:tavLst>
                                        <p:tav tm="0">
                                          <p:val>
                                            <p:strVal val="#ppt_w"/>
                                          </p:val>
                                        </p:tav>
                                        <p:tav tm="100000">
                                          <p:val>
                                            <p:strVal val="#ppt_w"/>
                                          </p:val>
                                        </p:tav>
                                      </p:tavLst>
                                    </p:anim>
                                    <p:anim calcmode="lin" valueType="num">
                                      <p:cBhvr>
                                        <p:cTn id="70" dur="500" fill="hold"/>
                                        <p:tgtEl>
                                          <p:spTgt spid="11"/>
                                        </p:tgtEl>
                                        <p:attrNameLst>
                                          <p:attrName>ppt_h</p:attrName>
                                        </p:attrNameLst>
                                      </p:cBhvr>
                                      <p:tavLst>
                                        <p:tav tm="0">
                                          <p:val>
                                            <p:fltVal val="0"/>
                                          </p:val>
                                        </p:tav>
                                        <p:tav tm="100000">
                                          <p:val>
                                            <p:strVal val="#ppt_h"/>
                                          </p:val>
                                        </p:tav>
                                      </p:tavLst>
                                    </p:anim>
                                  </p:childTnLst>
                                </p:cTn>
                              </p:par>
                            </p:childTnLst>
                          </p:cTn>
                        </p:par>
                      </p:childTnLst>
                    </p:cTn>
                  </p:par>
                  <p:par>
                    <p:cTn id="71" fill="hold">
                      <p:stCondLst>
                        <p:cond delay="indefinite"/>
                      </p:stCondLst>
                      <p:childTnLst>
                        <p:par>
                          <p:cTn id="72" fill="hold">
                            <p:stCondLst>
                              <p:cond delay="0"/>
                            </p:stCondLst>
                            <p:childTnLst>
                              <p:par>
                                <p:cTn id="73" presetID="17" presetClass="entr" presetSubtype="1" fill="hold" nodeType="clickEffect">
                                  <p:stCondLst>
                                    <p:cond delay="0"/>
                                  </p:stCondLst>
                                  <p:childTnLst>
                                    <p:set>
                                      <p:cBhvr>
                                        <p:cTn id="74" dur="1" fill="hold">
                                          <p:stCondLst>
                                            <p:cond delay="0"/>
                                          </p:stCondLst>
                                        </p:cTn>
                                        <p:tgtEl>
                                          <p:spTgt spid="13"/>
                                        </p:tgtEl>
                                        <p:attrNameLst>
                                          <p:attrName>style.visibility</p:attrName>
                                        </p:attrNameLst>
                                      </p:cBhvr>
                                      <p:to>
                                        <p:strVal val="visible"/>
                                      </p:to>
                                    </p:set>
                                    <p:anim calcmode="lin" valueType="num">
                                      <p:cBhvr>
                                        <p:cTn id="75" dur="500" fill="hold"/>
                                        <p:tgtEl>
                                          <p:spTgt spid="13"/>
                                        </p:tgtEl>
                                        <p:attrNameLst>
                                          <p:attrName>ppt_x</p:attrName>
                                        </p:attrNameLst>
                                      </p:cBhvr>
                                      <p:tavLst>
                                        <p:tav tm="0">
                                          <p:val>
                                            <p:strVal val="#ppt_x"/>
                                          </p:val>
                                        </p:tav>
                                        <p:tav tm="100000">
                                          <p:val>
                                            <p:strVal val="#ppt_x"/>
                                          </p:val>
                                        </p:tav>
                                      </p:tavLst>
                                    </p:anim>
                                    <p:anim calcmode="lin" valueType="num">
                                      <p:cBhvr>
                                        <p:cTn id="76" dur="500" fill="hold"/>
                                        <p:tgtEl>
                                          <p:spTgt spid="13"/>
                                        </p:tgtEl>
                                        <p:attrNameLst>
                                          <p:attrName>ppt_y</p:attrName>
                                        </p:attrNameLst>
                                      </p:cBhvr>
                                      <p:tavLst>
                                        <p:tav tm="0">
                                          <p:val>
                                            <p:strVal val="#ppt_y-#ppt_h/2"/>
                                          </p:val>
                                        </p:tav>
                                        <p:tav tm="100000">
                                          <p:val>
                                            <p:strVal val="#ppt_y"/>
                                          </p:val>
                                        </p:tav>
                                      </p:tavLst>
                                    </p:anim>
                                    <p:anim calcmode="lin" valueType="num">
                                      <p:cBhvr>
                                        <p:cTn id="77" dur="500" fill="hold"/>
                                        <p:tgtEl>
                                          <p:spTgt spid="13"/>
                                        </p:tgtEl>
                                        <p:attrNameLst>
                                          <p:attrName>ppt_w</p:attrName>
                                        </p:attrNameLst>
                                      </p:cBhvr>
                                      <p:tavLst>
                                        <p:tav tm="0">
                                          <p:val>
                                            <p:strVal val="#ppt_w"/>
                                          </p:val>
                                        </p:tav>
                                        <p:tav tm="100000">
                                          <p:val>
                                            <p:strVal val="#ppt_w"/>
                                          </p:val>
                                        </p:tav>
                                      </p:tavLst>
                                    </p:anim>
                                    <p:anim calcmode="lin" valueType="num">
                                      <p:cBhvr>
                                        <p:cTn id="78" dur="500" fill="hold"/>
                                        <p:tgtEl>
                                          <p:spTgt spid="13"/>
                                        </p:tgtEl>
                                        <p:attrNameLst>
                                          <p:attrName>ppt_h</p:attrName>
                                        </p:attrNameLst>
                                      </p:cBhvr>
                                      <p:tavLst>
                                        <p:tav tm="0">
                                          <p:val>
                                            <p:fltVal val="0"/>
                                          </p:val>
                                        </p:tav>
                                        <p:tav tm="100000">
                                          <p:val>
                                            <p:strVal val="#ppt_h"/>
                                          </p:val>
                                        </p:tav>
                                      </p:tavLst>
                                    </p:anim>
                                  </p:childTnLst>
                                </p:cTn>
                              </p:par>
                            </p:childTnLst>
                          </p:cTn>
                        </p:par>
                      </p:childTnLst>
                    </p:cTn>
                  </p:par>
                  <p:par>
                    <p:cTn id="79" fill="hold">
                      <p:stCondLst>
                        <p:cond delay="indefinite"/>
                      </p:stCondLst>
                      <p:childTnLst>
                        <p:par>
                          <p:cTn id="80" fill="hold">
                            <p:stCondLst>
                              <p:cond delay="0"/>
                            </p:stCondLst>
                            <p:childTnLst>
                              <p:par>
                                <p:cTn id="81" presetID="17" presetClass="entr" presetSubtype="1" fill="hold" nodeType="clickEffect">
                                  <p:stCondLst>
                                    <p:cond delay="0"/>
                                  </p:stCondLst>
                                  <p:childTnLst>
                                    <p:set>
                                      <p:cBhvr>
                                        <p:cTn id="82" dur="1" fill="hold">
                                          <p:stCondLst>
                                            <p:cond delay="0"/>
                                          </p:stCondLst>
                                        </p:cTn>
                                        <p:tgtEl>
                                          <p:spTgt spid="7"/>
                                        </p:tgtEl>
                                        <p:attrNameLst>
                                          <p:attrName>style.visibility</p:attrName>
                                        </p:attrNameLst>
                                      </p:cBhvr>
                                      <p:to>
                                        <p:strVal val="visible"/>
                                      </p:to>
                                    </p:set>
                                    <p:anim calcmode="lin" valueType="num">
                                      <p:cBhvr>
                                        <p:cTn id="83" dur="500" fill="hold"/>
                                        <p:tgtEl>
                                          <p:spTgt spid="7"/>
                                        </p:tgtEl>
                                        <p:attrNameLst>
                                          <p:attrName>ppt_x</p:attrName>
                                        </p:attrNameLst>
                                      </p:cBhvr>
                                      <p:tavLst>
                                        <p:tav tm="0">
                                          <p:val>
                                            <p:strVal val="#ppt_x"/>
                                          </p:val>
                                        </p:tav>
                                        <p:tav tm="100000">
                                          <p:val>
                                            <p:strVal val="#ppt_x"/>
                                          </p:val>
                                        </p:tav>
                                      </p:tavLst>
                                    </p:anim>
                                    <p:anim calcmode="lin" valueType="num">
                                      <p:cBhvr>
                                        <p:cTn id="84" dur="500" fill="hold"/>
                                        <p:tgtEl>
                                          <p:spTgt spid="7"/>
                                        </p:tgtEl>
                                        <p:attrNameLst>
                                          <p:attrName>ppt_y</p:attrName>
                                        </p:attrNameLst>
                                      </p:cBhvr>
                                      <p:tavLst>
                                        <p:tav tm="0">
                                          <p:val>
                                            <p:strVal val="#ppt_y-#ppt_h/2"/>
                                          </p:val>
                                        </p:tav>
                                        <p:tav tm="100000">
                                          <p:val>
                                            <p:strVal val="#ppt_y"/>
                                          </p:val>
                                        </p:tav>
                                      </p:tavLst>
                                    </p:anim>
                                    <p:anim calcmode="lin" valueType="num">
                                      <p:cBhvr>
                                        <p:cTn id="85" dur="500" fill="hold"/>
                                        <p:tgtEl>
                                          <p:spTgt spid="7"/>
                                        </p:tgtEl>
                                        <p:attrNameLst>
                                          <p:attrName>ppt_w</p:attrName>
                                        </p:attrNameLst>
                                      </p:cBhvr>
                                      <p:tavLst>
                                        <p:tav tm="0">
                                          <p:val>
                                            <p:strVal val="#ppt_w"/>
                                          </p:val>
                                        </p:tav>
                                        <p:tav tm="100000">
                                          <p:val>
                                            <p:strVal val="#ppt_w"/>
                                          </p:val>
                                        </p:tav>
                                      </p:tavLst>
                                    </p:anim>
                                    <p:anim calcmode="lin" valueType="num">
                                      <p:cBhvr>
                                        <p:cTn id="86" dur="500" fill="hold"/>
                                        <p:tgtEl>
                                          <p:spTgt spid="7"/>
                                        </p:tgtEl>
                                        <p:attrNameLst>
                                          <p:attrName>ppt_h</p:attrName>
                                        </p:attrNameLst>
                                      </p:cBhvr>
                                      <p:tavLst>
                                        <p:tav tm="0">
                                          <p:val>
                                            <p:fltVal val="0"/>
                                          </p:val>
                                        </p:tav>
                                        <p:tav tm="100000">
                                          <p:val>
                                            <p:strVal val="#ppt_h"/>
                                          </p:val>
                                        </p:tav>
                                      </p:tavLst>
                                    </p:anim>
                                  </p:childTnLst>
                                </p:cTn>
                              </p:par>
                            </p:childTnLst>
                          </p:cTn>
                        </p:par>
                      </p:childTnLst>
                    </p:cTn>
                  </p:par>
                  <p:par>
                    <p:cTn id="87" fill="hold">
                      <p:stCondLst>
                        <p:cond delay="indefinite"/>
                      </p:stCondLst>
                      <p:childTnLst>
                        <p:par>
                          <p:cTn id="88" fill="hold">
                            <p:stCondLst>
                              <p:cond delay="0"/>
                            </p:stCondLst>
                            <p:childTnLst>
                              <p:par>
                                <p:cTn id="89" presetID="4" presetClass="entr" presetSubtype="32" fill="hold" grpId="0" nodeType="clickEffect">
                                  <p:stCondLst>
                                    <p:cond delay="0"/>
                                  </p:stCondLst>
                                  <p:childTnLst>
                                    <p:set>
                                      <p:cBhvr>
                                        <p:cTn id="90" dur="1" fill="hold">
                                          <p:stCondLst>
                                            <p:cond delay="0"/>
                                          </p:stCondLst>
                                        </p:cTn>
                                        <p:tgtEl>
                                          <p:spTgt spid="911422">
                                            <p:txEl>
                                              <p:pRg st="0" end="0"/>
                                            </p:txEl>
                                          </p:spTgt>
                                        </p:tgtEl>
                                        <p:attrNameLst>
                                          <p:attrName>style.visibility</p:attrName>
                                        </p:attrNameLst>
                                      </p:cBhvr>
                                      <p:to>
                                        <p:strVal val="visible"/>
                                      </p:to>
                                    </p:set>
                                    <p:animEffect transition="in" filter="box(out)">
                                      <p:cBhvr>
                                        <p:cTn id="91" dur="500"/>
                                        <p:tgtEl>
                                          <p:spTgt spid="91142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1375" grpId="0" animBg="1"/>
      <p:bldP spid="911422" grpId="0" build="p"/>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矩形 4"/>
          <p:cNvSpPr/>
          <p:nvPr/>
        </p:nvSpPr>
        <p:spPr>
          <a:xfrm>
            <a:off x="0" y="1484313"/>
            <a:ext cx="9144000" cy="4392612"/>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761860" name="Rectangle 4"/>
          <p:cNvSpPr>
            <a:spLocks noChangeArrowheads="1"/>
          </p:cNvSpPr>
          <p:nvPr/>
        </p:nvSpPr>
        <p:spPr bwMode="auto">
          <a:xfrm>
            <a:off x="468313" y="1592263"/>
            <a:ext cx="8496300" cy="417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just"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Status </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PostOrderTraverse</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BiTree</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if(T==NULL) return OK;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空二叉树</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else{    </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     </a:t>
            </a:r>
            <a:r>
              <a:rPr kumimoji="0" lang="en-US" altLang="zh-CN" sz="2800" b="0" i="0" u="none" strike="noStrike" kern="1200" cap="none" spc="0" normalizeH="0" baseline="0" noProof="0" dirty="0" err="1">
                <a:ln>
                  <a:noFill/>
                </a:ln>
                <a:solidFill>
                  <a:srgbClr val="FF3300"/>
                </a:solidFill>
                <a:effectLst/>
                <a:uLnTx/>
                <a:uFillTx/>
                <a:latin typeface="+mn-lt"/>
                <a:ea typeface="+mn-ea"/>
                <a:cs typeface="+mn-ea"/>
                <a:sym typeface="+mn-lt"/>
              </a:rPr>
              <a:t>PostOrderTraverse</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(T-&gt;</a:t>
            </a:r>
            <a:r>
              <a:rPr kumimoji="0" lang="en-US" altLang="zh-CN" sz="2800" b="0" i="0" u="none" strike="noStrike" kern="1200" cap="none" spc="0" normalizeH="0" baseline="0" noProof="0" dirty="0" err="1">
                <a:ln>
                  <a:noFill/>
                </a:ln>
                <a:solidFill>
                  <a:srgbClr val="FF3300"/>
                </a:solidFill>
                <a:effectLst/>
                <a:uLnTx/>
                <a:uFillTx/>
                <a:latin typeface="+mn-lt"/>
                <a:ea typeface="+mn-ea"/>
                <a:cs typeface="+mn-ea"/>
                <a:sym typeface="+mn-lt"/>
              </a:rPr>
              <a:t>lchild</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递归遍历左子树</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err="1">
                <a:ln>
                  <a:noFill/>
                </a:ln>
                <a:solidFill>
                  <a:srgbClr val="FF3300"/>
                </a:solidFill>
                <a:effectLst/>
                <a:uLnTx/>
                <a:uFillTx/>
                <a:latin typeface="+mn-lt"/>
                <a:ea typeface="+mn-ea"/>
                <a:cs typeface="+mn-ea"/>
                <a:sym typeface="+mn-lt"/>
              </a:rPr>
              <a:t>PostOrderTraverse</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(T-&gt;</a:t>
            </a:r>
            <a:r>
              <a:rPr kumimoji="0" lang="en-US" altLang="zh-CN" sz="2800" b="0" i="0" u="none" strike="noStrike" kern="1200" cap="none" spc="0" normalizeH="0" baseline="0" noProof="0" dirty="0" err="1">
                <a:ln>
                  <a:noFill/>
                </a:ln>
                <a:solidFill>
                  <a:srgbClr val="FF3300"/>
                </a:solidFill>
                <a:effectLst/>
                <a:uLnTx/>
                <a:uFillTx/>
                <a:latin typeface="+mn-lt"/>
                <a:ea typeface="+mn-ea"/>
                <a:cs typeface="+mn-ea"/>
                <a:sym typeface="+mn-lt"/>
              </a:rPr>
              <a:t>rchild</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递归遍历右子树</a:t>
            </a:r>
          </a:p>
          <a:p>
            <a:pPr lvl="0">
              <a:spcBef>
                <a:spcPct val="20000"/>
              </a:spcBef>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lang="en-US" altLang="zh-CN" b="0" dirty="0">
                <a:latin typeface="+mn-lt"/>
                <a:ea typeface="+mn-ea"/>
                <a:cs typeface="+mn-ea"/>
                <a:sym typeface="+mn-lt"/>
              </a:rPr>
              <a:t>visit(T-&gt;data);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访问根结点</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p>
        </p:txBody>
      </p:sp>
      <p:sp>
        <p:nvSpPr>
          <p:cNvPr id="761861" name="Rectangle 5"/>
          <p:cNvSpPr>
            <a:spLocks noChangeArrowheads="1"/>
          </p:cNvSpPr>
          <p:nvPr/>
        </p:nvSpPr>
        <p:spPr bwMode="auto">
          <a:xfrm>
            <a:off x="793750" y="203200"/>
            <a:ext cx="3811588"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后序遍历算法</a:t>
            </a:r>
          </a:p>
        </p:txBody>
      </p:sp>
    </p:spTree>
  </p:cSld>
  <p:clrMapOvr>
    <a:masterClrMapping/>
  </p:clrMapOvr>
  <p:transition>
    <p:split dir="in"/>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761860"/>
                                        </p:tgtEl>
                                        <p:attrNameLst>
                                          <p:attrName>style.visibility</p:attrName>
                                        </p:attrNameLst>
                                      </p:cBhvr>
                                      <p:to>
                                        <p:strVal val="visible"/>
                                      </p:to>
                                    </p:set>
                                    <p:animEffect transition="in" filter="wipe(up)">
                                      <p:cBhvr>
                                        <p:cTn id="7" dur="500"/>
                                        <p:tgtEl>
                                          <p:spTgt spid="7618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1860"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2868" name="Rectangle 4"/>
          <p:cNvSpPr>
            <a:spLocks noChangeArrowheads="1"/>
          </p:cNvSpPr>
          <p:nvPr/>
        </p:nvSpPr>
        <p:spPr bwMode="auto">
          <a:xfrm>
            <a:off x="0" y="1052513"/>
            <a:ext cx="9144000" cy="2592388"/>
          </a:xfrm>
          <a:prstGeom prst="rect">
            <a:avLst/>
          </a:prstGeom>
          <a:solidFill>
            <a:srgbClr val="EBEBEB"/>
          </a:solidFill>
          <a:ln>
            <a:noFill/>
          </a:ln>
        </p:spPr>
        <p:txBody>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720090" marR="0" lvl="0" indent="-342900" algn="just"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Status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PreOrderTraverse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BiTree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T){</a:t>
            </a:r>
          </a:p>
          <a:p>
            <a:pPr marL="72009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if(T==NULL) return OK; </a:t>
            </a:r>
          </a:p>
          <a:p>
            <a:pPr marL="72009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else{    </a:t>
            </a:r>
          </a:p>
          <a:p>
            <a:pPr marL="720090" lvl="0">
              <a:spcBef>
                <a:spcPct val="20000"/>
              </a:spcBef>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lang="en-US" altLang="zh-CN" sz="2000" b="0" dirty="0">
                <a:latin typeface="+mn-lt"/>
                <a:ea typeface="+mn-ea"/>
                <a:cs typeface="+mn-ea"/>
                <a:sym typeface="+mn-lt"/>
              </a:rPr>
              <a:t>visit(T-&gt;data); </a:t>
            </a:r>
            <a:endParaRPr lang="en-US" altLang="zh-CN" sz="2000" b="0" dirty="0" smtClean="0">
              <a:latin typeface="+mn-lt"/>
              <a:ea typeface="+mn-ea"/>
              <a:cs typeface="+mn-ea"/>
              <a:sym typeface="+mn-lt"/>
            </a:endParaRPr>
          </a:p>
          <a:p>
            <a:pPr marL="720090" lvl="0">
              <a:spcBef>
                <a:spcPct val="20000"/>
              </a:spcBef>
              <a:defRPr/>
            </a:pPr>
            <a:r>
              <a:rPr lang="en-US" altLang="zh-CN" sz="2000" b="0" dirty="0" smtClean="0">
                <a:latin typeface="+mn-lt"/>
                <a:ea typeface="+mn-ea"/>
                <a:cs typeface="+mn-ea"/>
                <a:sym typeface="+mn-lt"/>
              </a:rPr>
              <a:t>     </a:t>
            </a:r>
            <a:r>
              <a:rPr kumimoji="0" lang="en-US" altLang="zh-CN" sz="2000" b="0" i="0" u="none" strike="noStrike" kern="1200" cap="none" spc="0" normalizeH="0" baseline="0" noProof="0" dirty="0" err="1">
                <a:ln>
                  <a:noFill/>
                </a:ln>
                <a:solidFill>
                  <a:srgbClr val="FF3300"/>
                </a:solidFill>
                <a:effectLst/>
                <a:uLnTx/>
                <a:uFillTx/>
                <a:latin typeface="+mn-lt"/>
                <a:ea typeface="+mn-ea"/>
                <a:cs typeface="+mn-ea"/>
                <a:sym typeface="+mn-lt"/>
              </a:rPr>
              <a:t>PreOrderTraverse</a:t>
            </a:r>
            <a:r>
              <a:rPr kumimoji="0" lang="en-US" altLang="zh-CN" sz="2000" b="0" i="0" u="none" strike="noStrike" kern="1200" cap="none" spc="0" normalizeH="0" baseline="0" noProof="0" dirty="0">
                <a:ln>
                  <a:noFill/>
                </a:ln>
                <a:solidFill>
                  <a:srgbClr val="FF3300"/>
                </a:solidFill>
                <a:effectLst/>
                <a:uLnTx/>
                <a:uFillTx/>
                <a:latin typeface="+mn-lt"/>
                <a:ea typeface="+mn-ea"/>
                <a:cs typeface="+mn-ea"/>
                <a:sym typeface="+mn-lt"/>
              </a:rPr>
              <a:t>(T-&gt;</a:t>
            </a:r>
            <a:r>
              <a:rPr kumimoji="0" lang="en-US" altLang="zh-CN" sz="2000" b="0" i="0" u="none" strike="noStrike" kern="1200" cap="none" spc="0" normalizeH="0" baseline="0" noProof="0" dirty="0" err="1">
                <a:ln>
                  <a:noFill/>
                </a:ln>
                <a:solidFill>
                  <a:srgbClr val="FF3300"/>
                </a:solidFill>
                <a:effectLst/>
                <a:uLnTx/>
                <a:uFillTx/>
                <a:latin typeface="+mn-lt"/>
                <a:ea typeface="+mn-ea"/>
                <a:cs typeface="+mn-ea"/>
                <a:sym typeface="+mn-lt"/>
              </a:rPr>
              <a:t>lchild</a:t>
            </a:r>
            <a:r>
              <a:rPr kumimoji="0" lang="en-US" altLang="zh-CN" sz="20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p>
          <a:p>
            <a:pPr marL="72009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rgbClr val="FF3300"/>
                </a:solidFill>
                <a:effectLst/>
                <a:uLnTx/>
                <a:uFillTx/>
                <a:latin typeface="+mn-lt"/>
                <a:ea typeface="+mn-ea"/>
                <a:cs typeface="+mn-ea"/>
                <a:sym typeface="+mn-lt"/>
              </a:rPr>
              <a:t>PreOrderTraverse</a:t>
            </a:r>
            <a:r>
              <a:rPr kumimoji="0" lang="en-US" altLang="zh-CN" sz="2000" b="0" i="0" u="none" strike="noStrike" kern="1200" cap="none" spc="0" normalizeH="0" baseline="0" noProof="0" dirty="0">
                <a:ln>
                  <a:noFill/>
                </a:ln>
                <a:solidFill>
                  <a:srgbClr val="FF3300"/>
                </a:solidFill>
                <a:effectLst/>
                <a:uLnTx/>
                <a:uFillTx/>
                <a:latin typeface="+mn-lt"/>
                <a:ea typeface="+mn-ea"/>
                <a:cs typeface="+mn-ea"/>
                <a:sym typeface="+mn-lt"/>
              </a:rPr>
              <a:t>(T-&gt;</a:t>
            </a:r>
            <a:r>
              <a:rPr kumimoji="0" lang="en-US" altLang="zh-CN" sz="2000" b="0" i="0" u="none" strike="noStrike" kern="1200" cap="none" spc="0" normalizeH="0" baseline="0" noProof="0" dirty="0" err="1">
                <a:ln>
                  <a:noFill/>
                </a:ln>
                <a:solidFill>
                  <a:srgbClr val="FF3300"/>
                </a:solidFill>
                <a:effectLst/>
                <a:uLnTx/>
                <a:uFillTx/>
                <a:latin typeface="+mn-lt"/>
                <a:ea typeface="+mn-ea"/>
                <a:cs typeface="+mn-ea"/>
                <a:sym typeface="+mn-lt"/>
              </a:rPr>
              <a:t>rchild</a:t>
            </a:r>
            <a:r>
              <a:rPr kumimoji="0" lang="en-US" altLang="zh-CN" sz="20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p>
          <a:p>
            <a:pPr marL="72009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p>
          <a:p>
            <a:pPr marL="72009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p>
        </p:txBody>
      </p:sp>
      <p:sp>
        <p:nvSpPr>
          <p:cNvPr id="932869" name="Rectangle 5"/>
          <p:cNvSpPr>
            <a:spLocks noChangeArrowheads="1"/>
          </p:cNvSpPr>
          <p:nvPr/>
        </p:nvSpPr>
        <p:spPr bwMode="auto">
          <a:xfrm>
            <a:off x="0" y="3830638"/>
            <a:ext cx="4500563" cy="2713038"/>
          </a:xfrm>
          <a:prstGeom prst="rect">
            <a:avLst/>
          </a:prstGeom>
          <a:solidFill>
            <a:srgbClr val="E2D9EB"/>
          </a:solidFill>
          <a:ln>
            <a:noFill/>
          </a:ln>
        </p:spPr>
        <p:txBody>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just"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Status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PostOrderTraverse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BiTree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if(T==NULL) return OK; </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else{    </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rgbClr val="FF3300"/>
                </a:solidFill>
                <a:effectLst/>
                <a:uLnTx/>
                <a:uFillTx/>
                <a:latin typeface="+mn-lt"/>
                <a:ea typeface="+mn-ea"/>
                <a:cs typeface="+mn-ea"/>
                <a:sym typeface="+mn-lt"/>
              </a:rPr>
              <a:t>PostOrderTraverse</a:t>
            </a:r>
            <a:r>
              <a:rPr kumimoji="0" lang="en-US" altLang="zh-CN" sz="2000" b="0" i="0" u="none" strike="noStrike" kern="1200" cap="none" spc="0" normalizeH="0" baseline="0" noProof="0" dirty="0">
                <a:ln>
                  <a:noFill/>
                </a:ln>
                <a:solidFill>
                  <a:srgbClr val="FF3300"/>
                </a:solidFill>
                <a:effectLst/>
                <a:uLnTx/>
                <a:uFillTx/>
                <a:latin typeface="+mn-lt"/>
                <a:ea typeface="+mn-ea"/>
                <a:cs typeface="+mn-ea"/>
                <a:sym typeface="+mn-lt"/>
              </a:rPr>
              <a:t>(T-&gt;</a:t>
            </a:r>
            <a:r>
              <a:rPr kumimoji="0" lang="en-US" altLang="zh-CN" sz="2000" b="0" i="0" u="none" strike="noStrike" kern="1200" cap="none" spc="0" normalizeH="0" baseline="0" noProof="0" dirty="0" err="1">
                <a:ln>
                  <a:noFill/>
                </a:ln>
                <a:solidFill>
                  <a:srgbClr val="FF3300"/>
                </a:solidFill>
                <a:effectLst/>
                <a:uLnTx/>
                <a:uFillTx/>
                <a:latin typeface="+mn-lt"/>
                <a:ea typeface="+mn-ea"/>
                <a:cs typeface="+mn-ea"/>
                <a:sym typeface="+mn-lt"/>
              </a:rPr>
              <a:t>lchild</a:t>
            </a:r>
            <a:r>
              <a:rPr kumimoji="0" lang="en-US" altLang="zh-CN" sz="20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rgbClr val="FF3300"/>
                </a:solidFill>
                <a:effectLst/>
                <a:uLnTx/>
                <a:uFillTx/>
                <a:latin typeface="+mn-lt"/>
                <a:ea typeface="+mn-ea"/>
                <a:cs typeface="+mn-ea"/>
                <a:sym typeface="+mn-lt"/>
              </a:rPr>
              <a:t>PostOrderTraverse</a:t>
            </a:r>
            <a:r>
              <a:rPr kumimoji="0" lang="en-US" altLang="zh-CN" sz="2000" b="0" i="0" u="none" strike="noStrike" kern="1200" cap="none" spc="0" normalizeH="0" baseline="0" noProof="0" dirty="0">
                <a:ln>
                  <a:noFill/>
                </a:ln>
                <a:solidFill>
                  <a:srgbClr val="FF3300"/>
                </a:solidFill>
                <a:effectLst/>
                <a:uLnTx/>
                <a:uFillTx/>
                <a:latin typeface="+mn-lt"/>
                <a:ea typeface="+mn-ea"/>
                <a:cs typeface="+mn-ea"/>
                <a:sym typeface="+mn-lt"/>
              </a:rPr>
              <a:t>(T-&gt;</a:t>
            </a:r>
            <a:r>
              <a:rPr kumimoji="0" lang="en-US" altLang="zh-CN" sz="2000" b="0" i="0" u="none" strike="noStrike" kern="1200" cap="none" spc="0" normalizeH="0" baseline="0" noProof="0" dirty="0" err="1">
                <a:ln>
                  <a:noFill/>
                </a:ln>
                <a:solidFill>
                  <a:srgbClr val="FF3300"/>
                </a:solidFill>
                <a:effectLst/>
                <a:uLnTx/>
                <a:uFillTx/>
                <a:latin typeface="+mn-lt"/>
                <a:ea typeface="+mn-ea"/>
                <a:cs typeface="+mn-ea"/>
                <a:sym typeface="+mn-lt"/>
              </a:rPr>
              <a:t>rchild</a:t>
            </a:r>
            <a:r>
              <a:rPr kumimoji="0" lang="en-US" altLang="zh-CN" sz="20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p>
          <a:p>
            <a:pPr lvl="0">
              <a:spcBef>
                <a:spcPct val="20000"/>
              </a:spcBef>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lang="en-US" altLang="zh-CN" sz="2000" b="0" dirty="0">
                <a:latin typeface="+mn-lt"/>
                <a:ea typeface="+mn-ea"/>
                <a:cs typeface="+mn-ea"/>
                <a:sym typeface="+mn-lt"/>
              </a:rPr>
              <a:t>visit(T-&gt;data); }</a:t>
            </a:r>
            <a:endPar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endParaRP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p>
        </p:txBody>
      </p:sp>
      <p:sp>
        <p:nvSpPr>
          <p:cNvPr id="932870" name="Rectangle 6"/>
          <p:cNvSpPr>
            <a:spLocks noChangeArrowheads="1"/>
          </p:cNvSpPr>
          <p:nvPr/>
        </p:nvSpPr>
        <p:spPr bwMode="auto">
          <a:xfrm>
            <a:off x="4643438" y="3830638"/>
            <a:ext cx="4500563" cy="2713038"/>
          </a:xfrm>
          <a:prstGeom prst="rect">
            <a:avLst/>
          </a:prstGeom>
          <a:solidFill>
            <a:srgbClr val="E2D9EB"/>
          </a:solidFill>
          <a:ln>
            <a:noFill/>
          </a:ln>
        </p:spPr>
        <p:txBody>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just"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Status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InOrderTraverse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BiTree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if(T==NULL) return OK; </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else{    </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rgbClr val="FF3300"/>
                </a:solidFill>
                <a:effectLst/>
                <a:uLnTx/>
                <a:uFillTx/>
                <a:latin typeface="+mn-lt"/>
                <a:ea typeface="+mn-ea"/>
                <a:cs typeface="+mn-ea"/>
                <a:sym typeface="+mn-lt"/>
              </a:rPr>
              <a:t>InOrderTraverse</a:t>
            </a:r>
            <a:r>
              <a:rPr kumimoji="0" lang="en-US" altLang="zh-CN" sz="2000" b="0" i="0" u="none" strike="noStrike" kern="1200" cap="none" spc="0" normalizeH="0" baseline="0" noProof="0" dirty="0">
                <a:ln>
                  <a:noFill/>
                </a:ln>
                <a:solidFill>
                  <a:srgbClr val="FF3300"/>
                </a:solidFill>
                <a:effectLst/>
                <a:uLnTx/>
                <a:uFillTx/>
                <a:latin typeface="+mn-lt"/>
                <a:ea typeface="+mn-ea"/>
                <a:cs typeface="+mn-ea"/>
                <a:sym typeface="+mn-lt"/>
              </a:rPr>
              <a:t>(T-&gt;</a:t>
            </a:r>
            <a:r>
              <a:rPr kumimoji="0" lang="en-US" altLang="zh-CN" sz="2000" b="0" i="0" u="none" strike="noStrike" kern="1200" cap="none" spc="0" normalizeH="0" baseline="0" noProof="0" dirty="0" err="1">
                <a:ln>
                  <a:noFill/>
                </a:ln>
                <a:solidFill>
                  <a:srgbClr val="FF3300"/>
                </a:solidFill>
                <a:effectLst/>
                <a:uLnTx/>
                <a:uFillTx/>
                <a:latin typeface="+mn-lt"/>
                <a:ea typeface="+mn-ea"/>
                <a:cs typeface="+mn-ea"/>
                <a:sym typeface="+mn-lt"/>
              </a:rPr>
              <a:t>lchild</a:t>
            </a:r>
            <a:r>
              <a:rPr kumimoji="0" lang="en-US" altLang="zh-CN" sz="20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p>
          <a:p>
            <a:pPr lvl="0">
              <a:spcBef>
                <a:spcPct val="20000"/>
              </a:spcBef>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lang="en-US" altLang="zh-CN" sz="2000" b="0" dirty="0">
                <a:latin typeface="+mn-lt"/>
                <a:ea typeface="+mn-ea"/>
                <a:cs typeface="+mn-ea"/>
                <a:sym typeface="+mn-lt"/>
              </a:rPr>
              <a:t>visit(T-&gt;data); </a:t>
            </a:r>
            <a:endParaRPr lang="en-US" altLang="zh-CN" sz="2000" b="0" dirty="0" smtClean="0">
              <a:latin typeface="+mn-lt"/>
              <a:ea typeface="+mn-ea"/>
              <a:cs typeface="+mn-ea"/>
              <a:sym typeface="+mn-lt"/>
            </a:endParaRPr>
          </a:p>
          <a:p>
            <a:pPr lvl="0">
              <a:spcBef>
                <a:spcPct val="20000"/>
              </a:spcBef>
              <a:defRPr/>
            </a:pPr>
            <a:r>
              <a:rPr kumimoji="0" lang="en-US" altLang="zh-CN" sz="2000" b="0" i="0" u="none" strike="noStrike" kern="1200" cap="none" spc="0" normalizeH="0" baseline="0" noProof="0" dirty="0" smtClean="0">
                <a:ln>
                  <a:noFill/>
                </a:ln>
                <a:solidFill>
                  <a:srgbClr val="FF3300"/>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rgbClr val="FF3300"/>
                </a:solidFill>
                <a:effectLst/>
                <a:uLnTx/>
                <a:uFillTx/>
                <a:latin typeface="+mn-lt"/>
                <a:ea typeface="+mn-ea"/>
                <a:cs typeface="+mn-ea"/>
                <a:sym typeface="+mn-lt"/>
              </a:rPr>
              <a:t>InOrderTraverse</a:t>
            </a:r>
            <a:r>
              <a:rPr kumimoji="0" lang="en-US" altLang="zh-CN" sz="2000" b="0" i="0" u="none" strike="noStrike" kern="1200" cap="none" spc="0" normalizeH="0" baseline="0" noProof="0" dirty="0">
                <a:ln>
                  <a:noFill/>
                </a:ln>
                <a:solidFill>
                  <a:srgbClr val="FF3300"/>
                </a:solidFill>
                <a:effectLst/>
                <a:uLnTx/>
                <a:uFillTx/>
                <a:latin typeface="+mn-lt"/>
                <a:ea typeface="+mn-ea"/>
                <a:cs typeface="+mn-ea"/>
                <a:sym typeface="+mn-lt"/>
              </a:rPr>
              <a:t>(T-&gt;</a:t>
            </a:r>
            <a:r>
              <a:rPr kumimoji="0" lang="en-US" altLang="zh-CN" sz="2000" b="0" i="0" u="none" strike="noStrike" kern="1200" cap="none" spc="0" normalizeH="0" baseline="0" noProof="0" dirty="0" err="1">
                <a:ln>
                  <a:noFill/>
                </a:ln>
                <a:solidFill>
                  <a:srgbClr val="FF3300"/>
                </a:solidFill>
                <a:effectLst/>
                <a:uLnTx/>
                <a:uFillTx/>
                <a:latin typeface="+mn-lt"/>
                <a:ea typeface="+mn-ea"/>
                <a:cs typeface="+mn-ea"/>
                <a:sym typeface="+mn-lt"/>
              </a:rPr>
              <a:t>rchild</a:t>
            </a:r>
            <a:r>
              <a:rPr kumimoji="0" lang="en-US" altLang="zh-CN" sz="20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p>
        </p:txBody>
      </p:sp>
      <p:sp>
        <p:nvSpPr>
          <p:cNvPr id="59397" name="Rectangle 7"/>
          <p:cNvSpPr>
            <a:spLocks noChangeArrowheads="1"/>
          </p:cNvSpPr>
          <p:nvPr/>
        </p:nvSpPr>
        <p:spPr bwMode="auto">
          <a:xfrm>
            <a:off x="806450" y="207963"/>
            <a:ext cx="369411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遍历算法的分析</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932868"/>
                                        </p:tgtEl>
                                        <p:attrNameLst>
                                          <p:attrName>style.visibility</p:attrName>
                                        </p:attrNameLst>
                                      </p:cBhvr>
                                      <p:to>
                                        <p:strVal val="visible"/>
                                      </p:to>
                                    </p:set>
                                    <p:animEffect transition="in" filter="wipe(up)">
                                      <p:cBhvr>
                                        <p:cTn id="7" dur="500"/>
                                        <p:tgtEl>
                                          <p:spTgt spid="93286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932869"/>
                                        </p:tgtEl>
                                        <p:attrNameLst>
                                          <p:attrName>style.visibility</p:attrName>
                                        </p:attrNameLst>
                                      </p:cBhvr>
                                      <p:to>
                                        <p:strVal val="visible"/>
                                      </p:to>
                                    </p:set>
                                    <p:animEffect transition="in" filter="wipe(up)">
                                      <p:cBhvr>
                                        <p:cTn id="12" dur="500"/>
                                        <p:tgtEl>
                                          <p:spTgt spid="93286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932870"/>
                                        </p:tgtEl>
                                        <p:attrNameLst>
                                          <p:attrName>style.visibility</p:attrName>
                                        </p:attrNameLst>
                                      </p:cBhvr>
                                      <p:to>
                                        <p:strVal val="visible"/>
                                      </p:to>
                                    </p:set>
                                    <p:animEffect transition="in" filter="wipe(up)">
                                      <p:cBhvr>
                                        <p:cTn id="17" dur="500"/>
                                        <p:tgtEl>
                                          <p:spTgt spid="9328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2868" grpId="0" animBg="1"/>
      <p:bldP spid="932869" grpId="0" animBg="1"/>
      <p:bldP spid="932870"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4"/>
          <p:cNvSpPr>
            <a:spLocks noChangeArrowheads="1"/>
          </p:cNvSpPr>
          <p:nvPr/>
        </p:nvSpPr>
        <p:spPr bwMode="auto">
          <a:xfrm>
            <a:off x="314325" y="989013"/>
            <a:ext cx="8382000" cy="1654175"/>
          </a:xfrm>
          <a:prstGeom prst="roundRect">
            <a:avLst>
              <a:gd name="adj" fmla="val 7298"/>
            </a:avLst>
          </a:prstGeom>
          <a:solidFill>
            <a:srgbClr val="EBEBEB"/>
          </a:solidFill>
          <a:ln w="38100">
            <a:noFill/>
            <a:miter lim="800000"/>
          </a:ln>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如果去掉输出语句，从递归的角度看，三种算法是完全相同的，或说这三种算法的</a:t>
            </a:r>
            <a:r>
              <a:rPr kumimoji="0" lang="zh-CN" altLang="en-US" sz="2600" b="0" i="0" u="none" strike="noStrike" kern="1200" cap="none" spc="0" normalizeH="0" baseline="0" noProof="0" dirty="0">
                <a:ln>
                  <a:noFill/>
                </a:ln>
                <a:solidFill>
                  <a:srgbClr val="FF3300"/>
                </a:solidFill>
                <a:effectLst/>
                <a:uLnTx/>
                <a:uFillTx/>
                <a:latin typeface="+mn-lt"/>
                <a:ea typeface="+mn-ea"/>
                <a:cs typeface="+mn-ea"/>
                <a:sym typeface="+mn-lt"/>
              </a:rPr>
              <a:t>访问路径是相同的，只是访问结点的时机不同</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a:t>
            </a:r>
          </a:p>
        </p:txBody>
      </p:sp>
      <p:sp>
        <p:nvSpPr>
          <p:cNvPr id="763909" name="Rectangle 5"/>
          <p:cNvSpPr>
            <a:spLocks noChangeArrowheads="1"/>
          </p:cNvSpPr>
          <p:nvPr/>
        </p:nvSpPr>
        <p:spPr bwMode="auto">
          <a:xfrm>
            <a:off x="4610100" y="3248025"/>
            <a:ext cx="4124325"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从虚线的出发点到终点的路径上，每个结点经过</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次</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p>
        </p:txBody>
      </p:sp>
      <p:grpSp>
        <p:nvGrpSpPr>
          <p:cNvPr id="63492" name="Group 6"/>
          <p:cNvGrpSpPr/>
          <p:nvPr/>
        </p:nvGrpSpPr>
        <p:grpSpPr>
          <a:xfrm>
            <a:off x="360363" y="2843213"/>
            <a:ext cx="3581400" cy="3810000"/>
            <a:chOff x="96" y="1488"/>
            <a:chExt cx="2256" cy="2400"/>
          </a:xfrm>
        </p:grpSpPr>
        <p:sp>
          <p:nvSpPr>
            <p:cNvPr id="60421" name="Oval 7"/>
            <p:cNvSpPr>
              <a:spLocks noChangeArrowheads="1"/>
            </p:cNvSpPr>
            <p:nvPr/>
          </p:nvSpPr>
          <p:spPr bwMode="auto">
            <a:xfrm>
              <a:off x="1207" y="1510"/>
              <a:ext cx="231" cy="234"/>
            </a:xfrm>
            <a:prstGeom prst="ellipse">
              <a:avLst/>
            </a:prstGeom>
            <a:solidFill>
              <a:schemeClr val="accent1"/>
            </a:solidFill>
            <a:ln w="38100">
              <a:solidFill>
                <a:srgbClr val="00008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bg1"/>
                  </a:solidFill>
                  <a:effectLst/>
                  <a:uLnTx/>
                  <a:uFillTx/>
                  <a:latin typeface="+mn-lt"/>
                  <a:ea typeface="+mn-ea"/>
                  <a:cs typeface="+mn-ea"/>
                  <a:sym typeface="+mn-lt"/>
                </a:rPr>
                <a:t>A</a:t>
              </a:r>
            </a:p>
          </p:txBody>
        </p:sp>
        <p:sp>
          <p:nvSpPr>
            <p:cNvPr id="60422" name="Oval 8"/>
            <p:cNvSpPr>
              <a:spLocks noChangeArrowheads="1"/>
            </p:cNvSpPr>
            <p:nvPr/>
          </p:nvSpPr>
          <p:spPr bwMode="auto">
            <a:xfrm>
              <a:off x="836" y="3155"/>
              <a:ext cx="232" cy="233"/>
            </a:xfrm>
            <a:prstGeom prst="ellipse">
              <a:avLst/>
            </a:prstGeom>
            <a:solidFill>
              <a:schemeClr val="accent1"/>
            </a:solidFill>
            <a:ln w="38100">
              <a:solidFill>
                <a:srgbClr val="00008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bg1"/>
                  </a:solidFill>
                  <a:effectLst/>
                  <a:uLnTx/>
                  <a:uFillTx/>
                  <a:latin typeface="+mn-lt"/>
                  <a:ea typeface="+mn-ea"/>
                  <a:cs typeface="+mn-ea"/>
                  <a:sym typeface="+mn-lt"/>
                </a:rPr>
                <a:t>F</a:t>
              </a:r>
            </a:p>
          </p:txBody>
        </p:sp>
        <p:sp>
          <p:nvSpPr>
            <p:cNvPr id="60423" name="Oval 9"/>
            <p:cNvSpPr>
              <a:spLocks noChangeArrowheads="1"/>
            </p:cNvSpPr>
            <p:nvPr/>
          </p:nvSpPr>
          <p:spPr bwMode="auto">
            <a:xfrm>
              <a:off x="1207" y="2599"/>
              <a:ext cx="231" cy="233"/>
            </a:xfrm>
            <a:prstGeom prst="ellipse">
              <a:avLst/>
            </a:prstGeom>
            <a:solidFill>
              <a:schemeClr val="accent1"/>
            </a:solidFill>
            <a:ln w="38100">
              <a:solidFill>
                <a:srgbClr val="00008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bg1"/>
                  </a:solidFill>
                  <a:effectLst/>
                  <a:uLnTx/>
                  <a:uFillTx/>
                  <a:latin typeface="+mn-lt"/>
                  <a:ea typeface="+mn-ea"/>
                  <a:cs typeface="+mn-ea"/>
                  <a:sym typeface="+mn-lt"/>
                </a:rPr>
                <a:t>E</a:t>
              </a:r>
            </a:p>
          </p:txBody>
        </p:sp>
        <p:sp>
          <p:nvSpPr>
            <p:cNvPr id="60424" name="Oval 10"/>
            <p:cNvSpPr>
              <a:spLocks noChangeArrowheads="1"/>
            </p:cNvSpPr>
            <p:nvPr/>
          </p:nvSpPr>
          <p:spPr bwMode="auto">
            <a:xfrm>
              <a:off x="489" y="2621"/>
              <a:ext cx="232" cy="234"/>
            </a:xfrm>
            <a:prstGeom prst="ellipse">
              <a:avLst/>
            </a:prstGeom>
            <a:solidFill>
              <a:schemeClr val="accent1"/>
            </a:solidFill>
            <a:ln w="38100">
              <a:solidFill>
                <a:srgbClr val="00008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bg1"/>
                  </a:solidFill>
                  <a:effectLst/>
                  <a:uLnTx/>
                  <a:uFillTx/>
                  <a:latin typeface="+mn-lt"/>
                  <a:ea typeface="+mn-ea"/>
                  <a:cs typeface="+mn-ea"/>
                  <a:sym typeface="+mn-lt"/>
                </a:rPr>
                <a:t>D</a:t>
              </a:r>
            </a:p>
          </p:txBody>
        </p:sp>
        <p:sp>
          <p:nvSpPr>
            <p:cNvPr id="60425" name="Oval 11"/>
            <p:cNvSpPr>
              <a:spLocks noChangeArrowheads="1"/>
            </p:cNvSpPr>
            <p:nvPr/>
          </p:nvSpPr>
          <p:spPr bwMode="auto">
            <a:xfrm>
              <a:off x="1727" y="2010"/>
              <a:ext cx="232" cy="234"/>
            </a:xfrm>
            <a:prstGeom prst="ellipse">
              <a:avLst/>
            </a:prstGeom>
            <a:solidFill>
              <a:schemeClr val="accent1"/>
            </a:solidFill>
            <a:ln w="38100">
              <a:solidFill>
                <a:srgbClr val="00008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bg1"/>
                  </a:solidFill>
                  <a:effectLst/>
                  <a:uLnTx/>
                  <a:uFillTx/>
                  <a:latin typeface="+mn-lt"/>
                  <a:ea typeface="+mn-ea"/>
                  <a:cs typeface="+mn-ea"/>
                  <a:sym typeface="+mn-lt"/>
                </a:rPr>
                <a:t>C</a:t>
              </a:r>
            </a:p>
          </p:txBody>
        </p:sp>
        <p:sp>
          <p:nvSpPr>
            <p:cNvPr id="60426" name="Oval 12"/>
            <p:cNvSpPr>
              <a:spLocks noChangeArrowheads="1"/>
            </p:cNvSpPr>
            <p:nvPr/>
          </p:nvSpPr>
          <p:spPr bwMode="auto">
            <a:xfrm>
              <a:off x="825" y="2044"/>
              <a:ext cx="231" cy="233"/>
            </a:xfrm>
            <a:prstGeom prst="ellipse">
              <a:avLst/>
            </a:prstGeom>
            <a:solidFill>
              <a:schemeClr val="accent1"/>
            </a:solidFill>
            <a:ln w="38100">
              <a:solidFill>
                <a:srgbClr val="00008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bg1"/>
                  </a:solidFill>
                  <a:effectLst/>
                  <a:uLnTx/>
                  <a:uFillTx/>
                  <a:latin typeface="+mn-lt"/>
                  <a:ea typeface="+mn-ea"/>
                  <a:cs typeface="+mn-ea"/>
                  <a:sym typeface="+mn-lt"/>
                </a:rPr>
                <a:t>B</a:t>
              </a:r>
            </a:p>
          </p:txBody>
        </p:sp>
        <p:sp>
          <p:nvSpPr>
            <p:cNvPr id="60427" name="Oval 13"/>
            <p:cNvSpPr>
              <a:spLocks noChangeArrowheads="1"/>
            </p:cNvSpPr>
            <p:nvPr/>
          </p:nvSpPr>
          <p:spPr bwMode="auto">
            <a:xfrm>
              <a:off x="1542" y="3177"/>
              <a:ext cx="232" cy="233"/>
            </a:xfrm>
            <a:prstGeom prst="ellipse">
              <a:avLst/>
            </a:prstGeom>
            <a:solidFill>
              <a:schemeClr val="accent1"/>
            </a:solidFill>
            <a:ln w="38100">
              <a:solidFill>
                <a:srgbClr val="00008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bg1"/>
                  </a:solidFill>
                  <a:effectLst/>
                  <a:uLnTx/>
                  <a:uFillTx/>
                  <a:latin typeface="+mn-lt"/>
                  <a:ea typeface="+mn-ea"/>
                  <a:cs typeface="+mn-ea"/>
                  <a:sym typeface="+mn-lt"/>
                </a:rPr>
                <a:t>G</a:t>
              </a:r>
            </a:p>
          </p:txBody>
        </p:sp>
        <p:sp>
          <p:nvSpPr>
            <p:cNvPr id="60428" name="Line 14"/>
            <p:cNvSpPr>
              <a:spLocks noChangeShapeType="1"/>
            </p:cNvSpPr>
            <p:nvPr/>
          </p:nvSpPr>
          <p:spPr bwMode="auto">
            <a:xfrm flipH="1">
              <a:off x="1022" y="1732"/>
              <a:ext cx="242" cy="334"/>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29" name="Line 15"/>
            <p:cNvSpPr>
              <a:spLocks noChangeShapeType="1"/>
            </p:cNvSpPr>
            <p:nvPr/>
          </p:nvSpPr>
          <p:spPr bwMode="auto">
            <a:xfrm flipH="1">
              <a:off x="640" y="2288"/>
              <a:ext cx="243" cy="333"/>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30" name="Line 16"/>
            <p:cNvSpPr>
              <a:spLocks noChangeShapeType="1"/>
            </p:cNvSpPr>
            <p:nvPr/>
          </p:nvSpPr>
          <p:spPr bwMode="auto">
            <a:xfrm flipH="1">
              <a:off x="1010" y="2832"/>
              <a:ext cx="243" cy="334"/>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31" name="Line 17"/>
            <p:cNvSpPr>
              <a:spLocks noChangeShapeType="1"/>
            </p:cNvSpPr>
            <p:nvPr/>
          </p:nvSpPr>
          <p:spPr bwMode="auto">
            <a:xfrm flipH="1">
              <a:off x="1646" y="2221"/>
              <a:ext cx="104" cy="167"/>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32" name="Line 18"/>
            <p:cNvSpPr>
              <a:spLocks noChangeShapeType="1"/>
            </p:cNvSpPr>
            <p:nvPr/>
          </p:nvSpPr>
          <p:spPr bwMode="auto">
            <a:xfrm>
              <a:off x="1403" y="1710"/>
              <a:ext cx="347" cy="334"/>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33" name="Line 19"/>
            <p:cNvSpPr>
              <a:spLocks noChangeShapeType="1"/>
            </p:cNvSpPr>
            <p:nvPr/>
          </p:nvSpPr>
          <p:spPr bwMode="auto">
            <a:xfrm>
              <a:off x="1010" y="2232"/>
              <a:ext cx="231" cy="378"/>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34" name="Line 20"/>
            <p:cNvSpPr>
              <a:spLocks noChangeShapeType="1"/>
            </p:cNvSpPr>
            <p:nvPr/>
          </p:nvSpPr>
          <p:spPr bwMode="auto">
            <a:xfrm>
              <a:off x="1392" y="2799"/>
              <a:ext cx="231" cy="378"/>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35" name="Oval 21"/>
            <p:cNvSpPr>
              <a:spLocks noChangeArrowheads="1"/>
            </p:cNvSpPr>
            <p:nvPr/>
          </p:nvSpPr>
          <p:spPr bwMode="auto">
            <a:xfrm>
              <a:off x="316" y="2999"/>
              <a:ext cx="92" cy="100"/>
            </a:xfrm>
            <a:prstGeom prst="ellipse">
              <a:avLst/>
            </a:pr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1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36" name="Oval 22"/>
            <p:cNvSpPr>
              <a:spLocks noChangeArrowheads="1"/>
            </p:cNvSpPr>
            <p:nvPr/>
          </p:nvSpPr>
          <p:spPr bwMode="auto">
            <a:xfrm>
              <a:off x="709" y="3021"/>
              <a:ext cx="93" cy="100"/>
            </a:xfrm>
            <a:prstGeom prst="ellipse">
              <a:avLst/>
            </a:pr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1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37" name="Oval 23"/>
            <p:cNvSpPr>
              <a:spLocks noChangeArrowheads="1"/>
            </p:cNvSpPr>
            <p:nvPr/>
          </p:nvSpPr>
          <p:spPr bwMode="auto">
            <a:xfrm>
              <a:off x="674" y="3521"/>
              <a:ext cx="93" cy="100"/>
            </a:xfrm>
            <a:prstGeom prst="ellipse">
              <a:avLst/>
            </a:pr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1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38" name="Oval 24"/>
            <p:cNvSpPr>
              <a:spLocks noChangeArrowheads="1"/>
            </p:cNvSpPr>
            <p:nvPr/>
          </p:nvSpPr>
          <p:spPr bwMode="auto">
            <a:xfrm>
              <a:off x="1033" y="3532"/>
              <a:ext cx="93" cy="100"/>
            </a:xfrm>
            <a:prstGeom prst="ellipse">
              <a:avLst/>
            </a:pr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1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39" name="Oval 25"/>
            <p:cNvSpPr>
              <a:spLocks noChangeArrowheads="1"/>
            </p:cNvSpPr>
            <p:nvPr/>
          </p:nvSpPr>
          <p:spPr bwMode="auto">
            <a:xfrm>
              <a:off x="1450" y="3599"/>
              <a:ext cx="92" cy="100"/>
            </a:xfrm>
            <a:prstGeom prst="ellipse">
              <a:avLst/>
            </a:pr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1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40" name="Oval 26"/>
            <p:cNvSpPr>
              <a:spLocks noChangeArrowheads="1"/>
            </p:cNvSpPr>
            <p:nvPr/>
          </p:nvSpPr>
          <p:spPr bwMode="auto">
            <a:xfrm>
              <a:off x="1820" y="3555"/>
              <a:ext cx="92" cy="100"/>
            </a:xfrm>
            <a:prstGeom prst="ellipse">
              <a:avLst/>
            </a:pr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1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41" name="Oval 27"/>
            <p:cNvSpPr>
              <a:spLocks noChangeArrowheads="1"/>
            </p:cNvSpPr>
            <p:nvPr/>
          </p:nvSpPr>
          <p:spPr bwMode="auto">
            <a:xfrm>
              <a:off x="2040" y="2366"/>
              <a:ext cx="92" cy="100"/>
            </a:xfrm>
            <a:prstGeom prst="ellipse">
              <a:avLst/>
            </a:pr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1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42" name="Line 28"/>
            <p:cNvSpPr>
              <a:spLocks noChangeShapeType="1"/>
            </p:cNvSpPr>
            <p:nvPr/>
          </p:nvSpPr>
          <p:spPr bwMode="auto">
            <a:xfrm flipH="1">
              <a:off x="385" y="2844"/>
              <a:ext cx="127" cy="166"/>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43" name="Line 29"/>
            <p:cNvSpPr>
              <a:spLocks noChangeShapeType="1"/>
            </p:cNvSpPr>
            <p:nvPr/>
          </p:nvSpPr>
          <p:spPr bwMode="auto">
            <a:xfrm>
              <a:off x="651" y="2855"/>
              <a:ext cx="81" cy="189"/>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44" name="Line 30"/>
            <p:cNvSpPr>
              <a:spLocks noChangeShapeType="1"/>
            </p:cNvSpPr>
            <p:nvPr/>
          </p:nvSpPr>
          <p:spPr bwMode="auto">
            <a:xfrm flipV="1">
              <a:off x="721" y="3744"/>
              <a:ext cx="58" cy="33"/>
            </a:xfrm>
            <a:prstGeom prst="line">
              <a:avLst/>
            </a:prstGeom>
            <a:noFill/>
            <a:ln w="38100">
              <a:solidFill>
                <a:srgbClr val="FF00FF"/>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45" name="Line 31"/>
            <p:cNvSpPr>
              <a:spLocks noChangeShapeType="1"/>
            </p:cNvSpPr>
            <p:nvPr/>
          </p:nvSpPr>
          <p:spPr bwMode="auto">
            <a:xfrm>
              <a:off x="1022" y="3766"/>
              <a:ext cx="104" cy="22"/>
            </a:xfrm>
            <a:prstGeom prst="line">
              <a:avLst/>
            </a:prstGeom>
            <a:noFill/>
            <a:ln w="38100">
              <a:solidFill>
                <a:srgbClr val="FF00FF"/>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46" name="Line 32"/>
            <p:cNvSpPr>
              <a:spLocks noChangeShapeType="1"/>
            </p:cNvSpPr>
            <p:nvPr/>
          </p:nvSpPr>
          <p:spPr bwMode="auto">
            <a:xfrm flipV="1">
              <a:off x="1531" y="3844"/>
              <a:ext cx="57" cy="33"/>
            </a:xfrm>
            <a:prstGeom prst="line">
              <a:avLst/>
            </a:prstGeom>
            <a:noFill/>
            <a:ln w="38100">
              <a:solidFill>
                <a:srgbClr val="FF00FF"/>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47" name="Line 33"/>
            <p:cNvSpPr>
              <a:spLocks noChangeShapeType="1"/>
            </p:cNvSpPr>
            <p:nvPr/>
          </p:nvSpPr>
          <p:spPr bwMode="auto">
            <a:xfrm>
              <a:off x="96" y="3099"/>
              <a:ext cx="35" cy="100"/>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48" name="Line 34"/>
            <p:cNvSpPr>
              <a:spLocks noChangeShapeType="1"/>
            </p:cNvSpPr>
            <p:nvPr/>
          </p:nvSpPr>
          <p:spPr bwMode="auto">
            <a:xfrm>
              <a:off x="212" y="3288"/>
              <a:ext cx="104" cy="0"/>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49" name="Line 35"/>
            <p:cNvSpPr>
              <a:spLocks noChangeShapeType="1"/>
            </p:cNvSpPr>
            <p:nvPr/>
          </p:nvSpPr>
          <p:spPr bwMode="auto">
            <a:xfrm flipV="1">
              <a:off x="2329" y="2444"/>
              <a:ext cx="11" cy="100"/>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50" name="Line 36"/>
            <p:cNvSpPr>
              <a:spLocks noChangeShapeType="1"/>
            </p:cNvSpPr>
            <p:nvPr/>
          </p:nvSpPr>
          <p:spPr bwMode="auto">
            <a:xfrm flipH="1">
              <a:off x="779" y="1555"/>
              <a:ext cx="381" cy="489"/>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51" name="Line 37"/>
            <p:cNvSpPr>
              <a:spLocks noChangeShapeType="1"/>
            </p:cNvSpPr>
            <p:nvPr/>
          </p:nvSpPr>
          <p:spPr bwMode="auto">
            <a:xfrm flipH="1">
              <a:off x="131" y="2044"/>
              <a:ext cx="671" cy="922"/>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52" name="Line 38"/>
            <p:cNvSpPr>
              <a:spLocks noChangeShapeType="1"/>
            </p:cNvSpPr>
            <p:nvPr/>
          </p:nvSpPr>
          <p:spPr bwMode="auto">
            <a:xfrm flipH="1">
              <a:off x="108" y="2955"/>
              <a:ext cx="23" cy="122"/>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53" name="Line 39"/>
            <p:cNvSpPr>
              <a:spLocks noChangeShapeType="1"/>
            </p:cNvSpPr>
            <p:nvPr/>
          </p:nvSpPr>
          <p:spPr bwMode="auto">
            <a:xfrm>
              <a:off x="131" y="3210"/>
              <a:ext cx="81" cy="67"/>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54" name="Line 40"/>
            <p:cNvSpPr>
              <a:spLocks noChangeShapeType="1"/>
            </p:cNvSpPr>
            <p:nvPr/>
          </p:nvSpPr>
          <p:spPr bwMode="auto">
            <a:xfrm flipV="1">
              <a:off x="339" y="3232"/>
              <a:ext cx="93" cy="56"/>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55" name="Line 41"/>
            <p:cNvSpPr>
              <a:spLocks noChangeShapeType="1"/>
            </p:cNvSpPr>
            <p:nvPr/>
          </p:nvSpPr>
          <p:spPr bwMode="auto">
            <a:xfrm flipV="1">
              <a:off x="432" y="3044"/>
              <a:ext cx="115" cy="200"/>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56" name="Line 42"/>
            <p:cNvSpPr>
              <a:spLocks noChangeShapeType="1"/>
            </p:cNvSpPr>
            <p:nvPr/>
          </p:nvSpPr>
          <p:spPr bwMode="auto">
            <a:xfrm>
              <a:off x="536" y="3055"/>
              <a:ext cx="115" cy="189"/>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57" name="Line 43"/>
            <p:cNvSpPr>
              <a:spLocks noChangeShapeType="1"/>
            </p:cNvSpPr>
            <p:nvPr/>
          </p:nvSpPr>
          <p:spPr bwMode="auto">
            <a:xfrm flipV="1">
              <a:off x="663" y="3210"/>
              <a:ext cx="92" cy="34"/>
            </a:xfrm>
            <a:prstGeom prst="line">
              <a:avLst/>
            </a:prstGeom>
            <a:noFill/>
            <a:ln w="38100">
              <a:solidFill>
                <a:srgbClr val="FF00FF"/>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58" name="Line 44"/>
            <p:cNvSpPr>
              <a:spLocks noChangeShapeType="1"/>
            </p:cNvSpPr>
            <p:nvPr/>
          </p:nvSpPr>
          <p:spPr bwMode="auto">
            <a:xfrm flipV="1">
              <a:off x="779" y="3088"/>
              <a:ext cx="81" cy="111"/>
            </a:xfrm>
            <a:prstGeom prst="line">
              <a:avLst/>
            </a:prstGeom>
            <a:noFill/>
            <a:ln w="38100">
              <a:solidFill>
                <a:srgbClr val="FF00FF"/>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59" name="Line 45"/>
            <p:cNvSpPr>
              <a:spLocks noChangeShapeType="1"/>
            </p:cNvSpPr>
            <p:nvPr/>
          </p:nvSpPr>
          <p:spPr bwMode="auto">
            <a:xfrm>
              <a:off x="790" y="2721"/>
              <a:ext cx="81" cy="356"/>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60" name="Line 46"/>
            <p:cNvSpPr>
              <a:spLocks noChangeShapeType="1"/>
            </p:cNvSpPr>
            <p:nvPr/>
          </p:nvSpPr>
          <p:spPr bwMode="auto">
            <a:xfrm flipV="1">
              <a:off x="790" y="2444"/>
              <a:ext cx="174" cy="277"/>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61" name="Line 47"/>
            <p:cNvSpPr>
              <a:spLocks noChangeShapeType="1"/>
            </p:cNvSpPr>
            <p:nvPr/>
          </p:nvSpPr>
          <p:spPr bwMode="auto">
            <a:xfrm>
              <a:off x="975" y="2432"/>
              <a:ext cx="162" cy="267"/>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62" name="Line 48"/>
            <p:cNvSpPr>
              <a:spLocks noChangeShapeType="1"/>
            </p:cNvSpPr>
            <p:nvPr/>
          </p:nvSpPr>
          <p:spPr bwMode="auto">
            <a:xfrm flipH="1">
              <a:off x="570" y="2710"/>
              <a:ext cx="567" cy="867"/>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63" name="Line 49"/>
            <p:cNvSpPr>
              <a:spLocks noChangeShapeType="1"/>
            </p:cNvSpPr>
            <p:nvPr/>
          </p:nvSpPr>
          <p:spPr bwMode="auto">
            <a:xfrm>
              <a:off x="559" y="3599"/>
              <a:ext cx="23" cy="111"/>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64" name="Line 50"/>
            <p:cNvSpPr>
              <a:spLocks noChangeShapeType="1"/>
            </p:cNvSpPr>
            <p:nvPr/>
          </p:nvSpPr>
          <p:spPr bwMode="auto">
            <a:xfrm>
              <a:off x="582" y="3732"/>
              <a:ext cx="127" cy="45"/>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65" name="Line 51"/>
            <p:cNvSpPr>
              <a:spLocks noChangeShapeType="1"/>
            </p:cNvSpPr>
            <p:nvPr/>
          </p:nvSpPr>
          <p:spPr bwMode="auto">
            <a:xfrm flipV="1">
              <a:off x="779" y="3488"/>
              <a:ext cx="150" cy="244"/>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66" name="Line 52"/>
            <p:cNvSpPr>
              <a:spLocks noChangeShapeType="1"/>
            </p:cNvSpPr>
            <p:nvPr/>
          </p:nvSpPr>
          <p:spPr bwMode="auto">
            <a:xfrm>
              <a:off x="929" y="3510"/>
              <a:ext cx="104" cy="267"/>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67" name="Line 53"/>
            <p:cNvSpPr>
              <a:spLocks noChangeShapeType="1"/>
            </p:cNvSpPr>
            <p:nvPr/>
          </p:nvSpPr>
          <p:spPr bwMode="auto">
            <a:xfrm flipV="1">
              <a:off x="1126" y="3744"/>
              <a:ext cx="104" cy="55"/>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68" name="Line 54"/>
            <p:cNvSpPr>
              <a:spLocks noChangeShapeType="1"/>
            </p:cNvSpPr>
            <p:nvPr/>
          </p:nvSpPr>
          <p:spPr bwMode="auto">
            <a:xfrm flipV="1">
              <a:off x="1241" y="3610"/>
              <a:ext cx="47" cy="145"/>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69" name="Line 55"/>
            <p:cNvSpPr>
              <a:spLocks noChangeShapeType="1"/>
            </p:cNvSpPr>
            <p:nvPr/>
          </p:nvSpPr>
          <p:spPr bwMode="auto">
            <a:xfrm flipH="1" flipV="1">
              <a:off x="1137" y="3232"/>
              <a:ext cx="151" cy="400"/>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70" name="Line 56"/>
            <p:cNvSpPr>
              <a:spLocks noChangeShapeType="1"/>
            </p:cNvSpPr>
            <p:nvPr/>
          </p:nvSpPr>
          <p:spPr bwMode="auto">
            <a:xfrm flipV="1">
              <a:off x="1137" y="2944"/>
              <a:ext cx="208" cy="311"/>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71" name="Line 57"/>
            <p:cNvSpPr>
              <a:spLocks noChangeShapeType="1"/>
            </p:cNvSpPr>
            <p:nvPr/>
          </p:nvSpPr>
          <p:spPr bwMode="auto">
            <a:xfrm>
              <a:off x="1334" y="2966"/>
              <a:ext cx="150" cy="311"/>
            </a:xfrm>
            <a:prstGeom prst="line">
              <a:avLst/>
            </a:prstGeom>
            <a:noFill/>
            <a:ln w="38100" cap="rnd">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72" name="Line 58"/>
            <p:cNvSpPr>
              <a:spLocks noChangeShapeType="1"/>
            </p:cNvSpPr>
            <p:nvPr/>
          </p:nvSpPr>
          <p:spPr bwMode="auto">
            <a:xfrm flipH="1">
              <a:off x="1345" y="3244"/>
              <a:ext cx="139" cy="500"/>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73" name="Line 59"/>
            <p:cNvSpPr>
              <a:spLocks noChangeShapeType="1"/>
            </p:cNvSpPr>
            <p:nvPr/>
          </p:nvSpPr>
          <p:spPr bwMode="auto">
            <a:xfrm>
              <a:off x="1345" y="3766"/>
              <a:ext cx="81" cy="89"/>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74" name="Line 60"/>
            <p:cNvSpPr>
              <a:spLocks noChangeShapeType="1"/>
            </p:cNvSpPr>
            <p:nvPr/>
          </p:nvSpPr>
          <p:spPr bwMode="auto">
            <a:xfrm>
              <a:off x="1426" y="3866"/>
              <a:ext cx="105" cy="22"/>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75" name="Line 61"/>
            <p:cNvSpPr>
              <a:spLocks noChangeShapeType="1"/>
            </p:cNvSpPr>
            <p:nvPr/>
          </p:nvSpPr>
          <p:spPr bwMode="auto">
            <a:xfrm flipV="1">
              <a:off x="1577" y="3466"/>
              <a:ext cx="104" cy="378"/>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76" name="Line 62"/>
            <p:cNvSpPr>
              <a:spLocks noChangeShapeType="1"/>
            </p:cNvSpPr>
            <p:nvPr/>
          </p:nvSpPr>
          <p:spPr bwMode="auto">
            <a:xfrm>
              <a:off x="1693" y="3477"/>
              <a:ext cx="185" cy="389"/>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77" name="Line 63"/>
            <p:cNvSpPr>
              <a:spLocks noChangeShapeType="1"/>
            </p:cNvSpPr>
            <p:nvPr/>
          </p:nvSpPr>
          <p:spPr bwMode="auto">
            <a:xfrm flipV="1">
              <a:off x="1866" y="3799"/>
              <a:ext cx="174" cy="56"/>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78" name="Line 64"/>
            <p:cNvSpPr>
              <a:spLocks noChangeShapeType="1"/>
            </p:cNvSpPr>
            <p:nvPr/>
          </p:nvSpPr>
          <p:spPr bwMode="auto">
            <a:xfrm flipV="1">
              <a:off x="2040" y="3677"/>
              <a:ext cx="69" cy="111"/>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79" name="Line 65"/>
            <p:cNvSpPr>
              <a:spLocks noChangeShapeType="1"/>
            </p:cNvSpPr>
            <p:nvPr/>
          </p:nvSpPr>
          <p:spPr bwMode="auto">
            <a:xfrm flipH="1" flipV="1">
              <a:off x="1149" y="2099"/>
              <a:ext cx="960" cy="1567"/>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80" name="Line 66"/>
            <p:cNvSpPr>
              <a:spLocks noChangeShapeType="1"/>
            </p:cNvSpPr>
            <p:nvPr/>
          </p:nvSpPr>
          <p:spPr bwMode="auto">
            <a:xfrm flipV="1">
              <a:off x="1669" y="2332"/>
              <a:ext cx="174" cy="278"/>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81" name="Line 67"/>
            <p:cNvSpPr>
              <a:spLocks noChangeShapeType="1"/>
            </p:cNvSpPr>
            <p:nvPr/>
          </p:nvSpPr>
          <p:spPr bwMode="auto">
            <a:xfrm>
              <a:off x="1866" y="2399"/>
              <a:ext cx="139" cy="200"/>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82" name="Line 68"/>
            <p:cNvSpPr>
              <a:spLocks noChangeShapeType="1"/>
            </p:cNvSpPr>
            <p:nvPr/>
          </p:nvSpPr>
          <p:spPr bwMode="auto">
            <a:xfrm>
              <a:off x="1970" y="2577"/>
              <a:ext cx="162" cy="78"/>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83" name="Line 69"/>
            <p:cNvSpPr>
              <a:spLocks noChangeShapeType="1"/>
            </p:cNvSpPr>
            <p:nvPr/>
          </p:nvSpPr>
          <p:spPr bwMode="auto">
            <a:xfrm flipV="1">
              <a:off x="2190" y="2577"/>
              <a:ext cx="81" cy="67"/>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84" name="Line 70"/>
            <p:cNvSpPr>
              <a:spLocks noChangeShapeType="1"/>
            </p:cNvSpPr>
            <p:nvPr/>
          </p:nvSpPr>
          <p:spPr bwMode="auto">
            <a:xfrm flipH="1" flipV="1">
              <a:off x="1519" y="1488"/>
              <a:ext cx="833" cy="933"/>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85" name="Line 71"/>
            <p:cNvSpPr>
              <a:spLocks noChangeShapeType="1"/>
            </p:cNvSpPr>
            <p:nvPr/>
          </p:nvSpPr>
          <p:spPr bwMode="auto">
            <a:xfrm flipH="1">
              <a:off x="755" y="3366"/>
              <a:ext cx="128" cy="166"/>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86" name="Line 72"/>
            <p:cNvSpPr>
              <a:spLocks noChangeShapeType="1"/>
            </p:cNvSpPr>
            <p:nvPr/>
          </p:nvSpPr>
          <p:spPr bwMode="auto">
            <a:xfrm flipH="1">
              <a:off x="1531" y="3399"/>
              <a:ext cx="104" cy="189"/>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87" name="Line 73"/>
            <p:cNvSpPr>
              <a:spLocks noChangeShapeType="1"/>
            </p:cNvSpPr>
            <p:nvPr/>
          </p:nvSpPr>
          <p:spPr bwMode="auto">
            <a:xfrm>
              <a:off x="998" y="3366"/>
              <a:ext cx="81" cy="189"/>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88" name="Line 74"/>
            <p:cNvSpPr>
              <a:spLocks noChangeShapeType="1"/>
            </p:cNvSpPr>
            <p:nvPr/>
          </p:nvSpPr>
          <p:spPr bwMode="auto">
            <a:xfrm>
              <a:off x="1762" y="3377"/>
              <a:ext cx="81" cy="189"/>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89" name="Line 75"/>
            <p:cNvSpPr>
              <a:spLocks noChangeShapeType="1"/>
            </p:cNvSpPr>
            <p:nvPr/>
          </p:nvSpPr>
          <p:spPr bwMode="auto">
            <a:xfrm>
              <a:off x="1912" y="2210"/>
              <a:ext cx="139" cy="167"/>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90" name="Oval 76"/>
            <p:cNvSpPr>
              <a:spLocks noChangeArrowheads="1"/>
            </p:cNvSpPr>
            <p:nvPr/>
          </p:nvSpPr>
          <p:spPr bwMode="auto">
            <a:xfrm>
              <a:off x="1577" y="2388"/>
              <a:ext cx="92" cy="100"/>
            </a:xfrm>
            <a:prstGeom prst="ellipse">
              <a:avLst/>
            </a:pr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1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91" name="Line 77"/>
            <p:cNvSpPr>
              <a:spLocks noChangeShapeType="1"/>
            </p:cNvSpPr>
            <p:nvPr/>
          </p:nvSpPr>
          <p:spPr bwMode="auto">
            <a:xfrm flipV="1">
              <a:off x="1160" y="1855"/>
              <a:ext cx="174" cy="277"/>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92" name="Line 78"/>
            <p:cNvSpPr>
              <a:spLocks noChangeShapeType="1"/>
            </p:cNvSpPr>
            <p:nvPr/>
          </p:nvSpPr>
          <p:spPr bwMode="auto">
            <a:xfrm>
              <a:off x="1369" y="1910"/>
              <a:ext cx="243" cy="256"/>
            </a:xfrm>
            <a:prstGeom prst="line">
              <a:avLst/>
            </a:prstGeom>
            <a:noFill/>
            <a:ln w="38100" cap="rnd">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93" name="Line 79"/>
            <p:cNvSpPr>
              <a:spLocks noChangeShapeType="1"/>
            </p:cNvSpPr>
            <p:nvPr/>
          </p:nvSpPr>
          <p:spPr bwMode="auto">
            <a:xfrm flipV="1">
              <a:off x="1473" y="2110"/>
              <a:ext cx="173" cy="278"/>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94" name="Line 80"/>
            <p:cNvSpPr>
              <a:spLocks noChangeShapeType="1"/>
            </p:cNvSpPr>
            <p:nvPr/>
          </p:nvSpPr>
          <p:spPr bwMode="auto">
            <a:xfrm>
              <a:off x="1496" y="2432"/>
              <a:ext cx="23" cy="112"/>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0495" name="Line 81"/>
            <p:cNvSpPr>
              <a:spLocks noChangeShapeType="1"/>
            </p:cNvSpPr>
            <p:nvPr/>
          </p:nvSpPr>
          <p:spPr bwMode="auto">
            <a:xfrm>
              <a:off x="1519" y="2566"/>
              <a:ext cx="127" cy="44"/>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63986" name="Rectangle 82"/>
          <p:cNvSpPr>
            <a:spLocks noChangeArrowheads="1"/>
          </p:cNvSpPr>
          <p:nvPr/>
        </p:nvSpPr>
        <p:spPr bwMode="auto">
          <a:xfrm>
            <a:off x="4557713" y="4889500"/>
            <a:ext cx="4124325" cy="1533525"/>
          </a:xfrm>
          <a:prstGeom prst="rect">
            <a:avLst/>
          </a:prstGeom>
          <a:noFill/>
          <a:ln w="38100">
            <a:solidFill>
              <a:srgbClr val="0000FF"/>
            </a:solidFill>
            <a:miter lim="800000"/>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第</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次</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经过时访问＝</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先序</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遍历</a:t>
            </a:r>
          </a:p>
          <a:p>
            <a:pPr marL="0" marR="0" lvl="0" indent="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第</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2</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次</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经过时访问＝</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中序</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遍历</a:t>
            </a:r>
          </a:p>
          <a:p>
            <a:pPr marL="0" marR="0" lvl="0" indent="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第</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3</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次</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经过时访问＝</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后序</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遍历</a:t>
            </a:r>
          </a:p>
        </p:txBody>
      </p:sp>
      <p:sp>
        <p:nvSpPr>
          <p:cNvPr id="60497" name="Rectangle 85"/>
          <p:cNvSpPr>
            <a:spLocks noChangeArrowheads="1"/>
          </p:cNvSpPr>
          <p:nvPr/>
        </p:nvSpPr>
        <p:spPr bwMode="auto">
          <a:xfrm>
            <a:off x="750888" y="190500"/>
            <a:ext cx="369411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遍历算法的分析</a:t>
            </a:r>
          </a:p>
        </p:txBody>
      </p:sp>
    </p:spTree>
  </p:cSld>
  <p:clrMapOvr>
    <a:masterClrMapping/>
  </p:clrMapOvr>
  <p:transition>
    <p:split orient="vert" dir="in"/>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76390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 presetClass="entr" presetSubtype="4" fill="hold" grpId="0" nodeType="clickEffect">
                                  <p:stCondLst>
                                    <p:cond delay="0"/>
                                  </p:stCondLst>
                                  <p:childTnLst>
                                    <p:set>
                                      <p:cBhvr>
                                        <p:cTn id="10" dur="1" fill="hold">
                                          <p:stCondLst>
                                            <p:cond delay="0"/>
                                          </p:stCondLst>
                                        </p:cTn>
                                        <p:tgtEl>
                                          <p:spTgt spid="763986"/>
                                        </p:tgtEl>
                                        <p:attrNameLst>
                                          <p:attrName>style.visibility</p:attrName>
                                        </p:attrNameLst>
                                      </p:cBhvr>
                                      <p:to>
                                        <p:strVal val="visible"/>
                                      </p:to>
                                    </p:set>
                                    <p:anim calcmode="lin" valueType="num">
                                      <p:cBhvr additive="base">
                                        <p:cTn id="11" dur="500" fill="hold"/>
                                        <p:tgtEl>
                                          <p:spTgt spid="763986"/>
                                        </p:tgtEl>
                                        <p:attrNameLst>
                                          <p:attrName>ppt_x</p:attrName>
                                        </p:attrNameLst>
                                      </p:cBhvr>
                                      <p:tavLst>
                                        <p:tav tm="0">
                                          <p:val>
                                            <p:strVal val="#ppt_x"/>
                                          </p:val>
                                        </p:tav>
                                        <p:tav tm="100000">
                                          <p:val>
                                            <p:strVal val="#ppt_x"/>
                                          </p:val>
                                        </p:tav>
                                      </p:tavLst>
                                    </p:anim>
                                    <p:anim calcmode="lin" valueType="num">
                                      <p:cBhvr additive="base">
                                        <p:cTn id="12" dur="500" fill="hold"/>
                                        <p:tgtEl>
                                          <p:spTgt spid="76398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3909" grpId="0"/>
      <p:bldP spid="763986"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514" name="Group 6"/>
          <p:cNvGrpSpPr/>
          <p:nvPr/>
        </p:nvGrpSpPr>
        <p:grpSpPr>
          <a:xfrm>
            <a:off x="471488" y="1935163"/>
            <a:ext cx="3581400" cy="3810000"/>
            <a:chOff x="96" y="1488"/>
            <a:chExt cx="2256" cy="2400"/>
          </a:xfrm>
        </p:grpSpPr>
        <p:sp>
          <p:nvSpPr>
            <p:cNvPr id="61443" name="Oval 7"/>
            <p:cNvSpPr>
              <a:spLocks noChangeArrowheads="1"/>
            </p:cNvSpPr>
            <p:nvPr/>
          </p:nvSpPr>
          <p:spPr bwMode="auto">
            <a:xfrm>
              <a:off x="1207" y="1510"/>
              <a:ext cx="231" cy="234"/>
            </a:xfrm>
            <a:prstGeom prst="ellipse">
              <a:avLst/>
            </a:prstGeom>
            <a:solidFill>
              <a:schemeClr val="accent1"/>
            </a:solidFill>
            <a:ln w="38100">
              <a:solidFill>
                <a:srgbClr val="00008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bg1"/>
                  </a:solidFill>
                  <a:effectLst/>
                  <a:uLnTx/>
                  <a:uFillTx/>
                  <a:latin typeface="+mn-lt"/>
                  <a:ea typeface="+mn-ea"/>
                  <a:cs typeface="+mn-ea"/>
                  <a:sym typeface="+mn-lt"/>
                </a:rPr>
                <a:t>A</a:t>
              </a:r>
            </a:p>
          </p:txBody>
        </p:sp>
        <p:sp>
          <p:nvSpPr>
            <p:cNvPr id="61444" name="Oval 8"/>
            <p:cNvSpPr>
              <a:spLocks noChangeArrowheads="1"/>
            </p:cNvSpPr>
            <p:nvPr/>
          </p:nvSpPr>
          <p:spPr bwMode="auto">
            <a:xfrm>
              <a:off x="836" y="3155"/>
              <a:ext cx="232" cy="233"/>
            </a:xfrm>
            <a:prstGeom prst="ellipse">
              <a:avLst/>
            </a:prstGeom>
            <a:solidFill>
              <a:schemeClr val="accent1"/>
            </a:solidFill>
            <a:ln w="38100">
              <a:solidFill>
                <a:srgbClr val="00008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bg1"/>
                  </a:solidFill>
                  <a:effectLst/>
                  <a:uLnTx/>
                  <a:uFillTx/>
                  <a:latin typeface="+mn-lt"/>
                  <a:ea typeface="+mn-ea"/>
                  <a:cs typeface="+mn-ea"/>
                  <a:sym typeface="+mn-lt"/>
                </a:rPr>
                <a:t>F</a:t>
              </a:r>
            </a:p>
          </p:txBody>
        </p:sp>
        <p:sp>
          <p:nvSpPr>
            <p:cNvPr id="61445" name="Oval 9"/>
            <p:cNvSpPr>
              <a:spLocks noChangeArrowheads="1"/>
            </p:cNvSpPr>
            <p:nvPr/>
          </p:nvSpPr>
          <p:spPr bwMode="auto">
            <a:xfrm>
              <a:off x="1207" y="2599"/>
              <a:ext cx="231" cy="233"/>
            </a:xfrm>
            <a:prstGeom prst="ellipse">
              <a:avLst/>
            </a:prstGeom>
            <a:solidFill>
              <a:schemeClr val="accent1"/>
            </a:solidFill>
            <a:ln w="38100">
              <a:solidFill>
                <a:srgbClr val="00008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bg1"/>
                  </a:solidFill>
                  <a:effectLst/>
                  <a:uLnTx/>
                  <a:uFillTx/>
                  <a:latin typeface="+mn-lt"/>
                  <a:ea typeface="+mn-ea"/>
                  <a:cs typeface="+mn-ea"/>
                  <a:sym typeface="+mn-lt"/>
                </a:rPr>
                <a:t>E</a:t>
              </a:r>
            </a:p>
          </p:txBody>
        </p:sp>
        <p:sp>
          <p:nvSpPr>
            <p:cNvPr id="61446" name="Oval 10"/>
            <p:cNvSpPr>
              <a:spLocks noChangeArrowheads="1"/>
            </p:cNvSpPr>
            <p:nvPr/>
          </p:nvSpPr>
          <p:spPr bwMode="auto">
            <a:xfrm>
              <a:off x="489" y="2621"/>
              <a:ext cx="232" cy="234"/>
            </a:xfrm>
            <a:prstGeom prst="ellipse">
              <a:avLst/>
            </a:prstGeom>
            <a:solidFill>
              <a:schemeClr val="accent1"/>
            </a:solidFill>
            <a:ln w="38100">
              <a:solidFill>
                <a:srgbClr val="00008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bg1"/>
                  </a:solidFill>
                  <a:effectLst/>
                  <a:uLnTx/>
                  <a:uFillTx/>
                  <a:latin typeface="+mn-lt"/>
                  <a:ea typeface="+mn-ea"/>
                  <a:cs typeface="+mn-ea"/>
                  <a:sym typeface="+mn-lt"/>
                </a:rPr>
                <a:t>D</a:t>
              </a:r>
            </a:p>
          </p:txBody>
        </p:sp>
        <p:sp>
          <p:nvSpPr>
            <p:cNvPr id="61447" name="Oval 11"/>
            <p:cNvSpPr>
              <a:spLocks noChangeArrowheads="1"/>
            </p:cNvSpPr>
            <p:nvPr/>
          </p:nvSpPr>
          <p:spPr bwMode="auto">
            <a:xfrm>
              <a:off x="1727" y="2010"/>
              <a:ext cx="232" cy="234"/>
            </a:xfrm>
            <a:prstGeom prst="ellipse">
              <a:avLst/>
            </a:prstGeom>
            <a:solidFill>
              <a:schemeClr val="accent1"/>
            </a:solidFill>
            <a:ln w="38100">
              <a:solidFill>
                <a:srgbClr val="00008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bg1"/>
                  </a:solidFill>
                  <a:effectLst/>
                  <a:uLnTx/>
                  <a:uFillTx/>
                  <a:latin typeface="+mn-lt"/>
                  <a:ea typeface="+mn-ea"/>
                  <a:cs typeface="+mn-ea"/>
                  <a:sym typeface="+mn-lt"/>
                </a:rPr>
                <a:t>C</a:t>
              </a:r>
            </a:p>
          </p:txBody>
        </p:sp>
        <p:sp>
          <p:nvSpPr>
            <p:cNvPr id="61448" name="Oval 12"/>
            <p:cNvSpPr>
              <a:spLocks noChangeArrowheads="1"/>
            </p:cNvSpPr>
            <p:nvPr/>
          </p:nvSpPr>
          <p:spPr bwMode="auto">
            <a:xfrm>
              <a:off x="825" y="2044"/>
              <a:ext cx="231" cy="233"/>
            </a:xfrm>
            <a:prstGeom prst="ellipse">
              <a:avLst/>
            </a:prstGeom>
            <a:solidFill>
              <a:schemeClr val="accent1"/>
            </a:solidFill>
            <a:ln w="38100">
              <a:solidFill>
                <a:srgbClr val="00008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bg1"/>
                  </a:solidFill>
                  <a:effectLst/>
                  <a:uLnTx/>
                  <a:uFillTx/>
                  <a:latin typeface="+mn-lt"/>
                  <a:ea typeface="+mn-ea"/>
                  <a:cs typeface="+mn-ea"/>
                  <a:sym typeface="+mn-lt"/>
                </a:rPr>
                <a:t>B</a:t>
              </a:r>
            </a:p>
          </p:txBody>
        </p:sp>
        <p:sp>
          <p:nvSpPr>
            <p:cNvPr id="61449" name="Oval 13"/>
            <p:cNvSpPr>
              <a:spLocks noChangeArrowheads="1"/>
            </p:cNvSpPr>
            <p:nvPr/>
          </p:nvSpPr>
          <p:spPr bwMode="auto">
            <a:xfrm>
              <a:off x="1542" y="3177"/>
              <a:ext cx="232" cy="233"/>
            </a:xfrm>
            <a:prstGeom prst="ellipse">
              <a:avLst/>
            </a:prstGeom>
            <a:solidFill>
              <a:schemeClr val="accent1"/>
            </a:solidFill>
            <a:ln w="38100">
              <a:solidFill>
                <a:srgbClr val="00008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bg1"/>
                  </a:solidFill>
                  <a:effectLst/>
                  <a:uLnTx/>
                  <a:uFillTx/>
                  <a:latin typeface="+mn-lt"/>
                  <a:ea typeface="+mn-ea"/>
                  <a:cs typeface="+mn-ea"/>
                  <a:sym typeface="+mn-lt"/>
                </a:rPr>
                <a:t>G</a:t>
              </a:r>
            </a:p>
          </p:txBody>
        </p:sp>
        <p:sp>
          <p:nvSpPr>
            <p:cNvPr id="61450" name="Line 14"/>
            <p:cNvSpPr>
              <a:spLocks noChangeShapeType="1"/>
            </p:cNvSpPr>
            <p:nvPr/>
          </p:nvSpPr>
          <p:spPr bwMode="auto">
            <a:xfrm flipH="1">
              <a:off x="1022" y="1732"/>
              <a:ext cx="242" cy="334"/>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51" name="Line 15"/>
            <p:cNvSpPr>
              <a:spLocks noChangeShapeType="1"/>
            </p:cNvSpPr>
            <p:nvPr/>
          </p:nvSpPr>
          <p:spPr bwMode="auto">
            <a:xfrm flipH="1">
              <a:off x="640" y="2288"/>
              <a:ext cx="243" cy="333"/>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52" name="Line 16"/>
            <p:cNvSpPr>
              <a:spLocks noChangeShapeType="1"/>
            </p:cNvSpPr>
            <p:nvPr/>
          </p:nvSpPr>
          <p:spPr bwMode="auto">
            <a:xfrm flipH="1">
              <a:off x="1010" y="2832"/>
              <a:ext cx="243" cy="334"/>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53" name="Line 17"/>
            <p:cNvSpPr>
              <a:spLocks noChangeShapeType="1"/>
            </p:cNvSpPr>
            <p:nvPr/>
          </p:nvSpPr>
          <p:spPr bwMode="auto">
            <a:xfrm flipH="1">
              <a:off x="1646" y="2221"/>
              <a:ext cx="104" cy="167"/>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54" name="Line 18"/>
            <p:cNvSpPr>
              <a:spLocks noChangeShapeType="1"/>
            </p:cNvSpPr>
            <p:nvPr/>
          </p:nvSpPr>
          <p:spPr bwMode="auto">
            <a:xfrm>
              <a:off x="1403" y="1710"/>
              <a:ext cx="347" cy="334"/>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55" name="Line 19"/>
            <p:cNvSpPr>
              <a:spLocks noChangeShapeType="1"/>
            </p:cNvSpPr>
            <p:nvPr/>
          </p:nvSpPr>
          <p:spPr bwMode="auto">
            <a:xfrm>
              <a:off x="1010" y="2232"/>
              <a:ext cx="231" cy="378"/>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56" name="Line 20"/>
            <p:cNvSpPr>
              <a:spLocks noChangeShapeType="1"/>
            </p:cNvSpPr>
            <p:nvPr/>
          </p:nvSpPr>
          <p:spPr bwMode="auto">
            <a:xfrm>
              <a:off x="1392" y="2799"/>
              <a:ext cx="231" cy="378"/>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57" name="Oval 21"/>
            <p:cNvSpPr>
              <a:spLocks noChangeArrowheads="1"/>
            </p:cNvSpPr>
            <p:nvPr/>
          </p:nvSpPr>
          <p:spPr bwMode="auto">
            <a:xfrm>
              <a:off x="316" y="2999"/>
              <a:ext cx="92" cy="100"/>
            </a:xfrm>
            <a:prstGeom prst="ellipse">
              <a:avLst/>
            </a:pr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1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58" name="Oval 22"/>
            <p:cNvSpPr>
              <a:spLocks noChangeArrowheads="1"/>
            </p:cNvSpPr>
            <p:nvPr/>
          </p:nvSpPr>
          <p:spPr bwMode="auto">
            <a:xfrm>
              <a:off x="709" y="3021"/>
              <a:ext cx="93" cy="100"/>
            </a:xfrm>
            <a:prstGeom prst="ellipse">
              <a:avLst/>
            </a:pr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1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59" name="Oval 23"/>
            <p:cNvSpPr>
              <a:spLocks noChangeArrowheads="1"/>
            </p:cNvSpPr>
            <p:nvPr/>
          </p:nvSpPr>
          <p:spPr bwMode="auto">
            <a:xfrm>
              <a:off x="674" y="3521"/>
              <a:ext cx="93" cy="100"/>
            </a:xfrm>
            <a:prstGeom prst="ellipse">
              <a:avLst/>
            </a:pr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1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60" name="Oval 24"/>
            <p:cNvSpPr>
              <a:spLocks noChangeArrowheads="1"/>
            </p:cNvSpPr>
            <p:nvPr/>
          </p:nvSpPr>
          <p:spPr bwMode="auto">
            <a:xfrm>
              <a:off x="1033" y="3532"/>
              <a:ext cx="93" cy="100"/>
            </a:xfrm>
            <a:prstGeom prst="ellipse">
              <a:avLst/>
            </a:pr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1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61" name="Oval 25"/>
            <p:cNvSpPr>
              <a:spLocks noChangeArrowheads="1"/>
            </p:cNvSpPr>
            <p:nvPr/>
          </p:nvSpPr>
          <p:spPr bwMode="auto">
            <a:xfrm>
              <a:off x="1450" y="3599"/>
              <a:ext cx="92" cy="100"/>
            </a:xfrm>
            <a:prstGeom prst="ellipse">
              <a:avLst/>
            </a:pr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1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62" name="Oval 26"/>
            <p:cNvSpPr>
              <a:spLocks noChangeArrowheads="1"/>
            </p:cNvSpPr>
            <p:nvPr/>
          </p:nvSpPr>
          <p:spPr bwMode="auto">
            <a:xfrm>
              <a:off x="1820" y="3555"/>
              <a:ext cx="92" cy="100"/>
            </a:xfrm>
            <a:prstGeom prst="ellipse">
              <a:avLst/>
            </a:pr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1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63" name="Oval 27"/>
            <p:cNvSpPr>
              <a:spLocks noChangeArrowheads="1"/>
            </p:cNvSpPr>
            <p:nvPr/>
          </p:nvSpPr>
          <p:spPr bwMode="auto">
            <a:xfrm>
              <a:off x="2040" y="2366"/>
              <a:ext cx="92" cy="100"/>
            </a:xfrm>
            <a:prstGeom prst="ellipse">
              <a:avLst/>
            </a:pr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1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64" name="Line 28"/>
            <p:cNvSpPr>
              <a:spLocks noChangeShapeType="1"/>
            </p:cNvSpPr>
            <p:nvPr/>
          </p:nvSpPr>
          <p:spPr bwMode="auto">
            <a:xfrm flipH="1">
              <a:off x="385" y="2844"/>
              <a:ext cx="127" cy="166"/>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65" name="Line 29"/>
            <p:cNvSpPr>
              <a:spLocks noChangeShapeType="1"/>
            </p:cNvSpPr>
            <p:nvPr/>
          </p:nvSpPr>
          <p:spPr bwMode="auto">
            <a:xfrm>
              <a:off x="651" y="2855"/>
              <a:ext cx="81" cy="189"/>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66" name="Line 30"/>
            <p:cNvSpPr>
              <a:spLocks noChangeShapeType="1"/>
            </p:cNvSpPr>
            <p:nvPr/>
          </p:nvSpPr>
          <p:spPr bwMode="auto">
            <a:xfrm flipV="1">
              <a:off x="721" y="3744"/>
              <a:ext cx="58" cy="33"/>
            </a:xfrm>
            <a:prstGeom prst="line">
              <a:avLst/>
            </a:prstGeom>
            <a:noFill/>
            <a:ln w="38100">
              <a:solidFill>
                <a:srgbClr val="FF00FF"/>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67" name="Line 31"/>
            <p:cNvSpPr>
              <a:spLocks noChangeShapeType="1"/>
            </p:cNvSpPr>
            <p:nvPr/>
          </p:nvSpPr>
          <p:spPr bwMode="auto">
            <a:xfrm>
              <a:off x="1022" y="3766"/>
              <a:ext cx="104" cy="22"/>
            </a:xfrm>
            <a:prstGeom prst="line">
              <a:avLst/>
            </a:prstGeom>
            <a:noFill/>
            <a:ln w="38100">
              <a:solidFill>
                <a:srgbClr val="FF00FF"/>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68" name="Line 32"/>
            <p:cNvSpPr>
              <a:spLocks noChangeShapeType="1"/>
            </p:cNvSpPr>
            <p:nvPr/>
          </p:nvSpPr>
          <p:spPr bwMode="auto">
            <a:xfrm flipV="1">
              <a:off x="1531" y="3844"/>
              <a:ext cx="57" cy="33"/>
            </a:xfrm>
            <a:prstGeom prst="line">
              <a:avLst/>
            </a:prstGeom>
            <a:noFill/>
            <a:ln w="38100">
              <a:solidFill>
                <a:srgbClr val="FF00FF"/>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69" name="Line 33"/>
            <p:cNvSpPr>
              <a:spLocks noChangeShapeType="1"/>
            </p:cNvSpPr>
            <p:nvPr/>
          </p:nvSpPr>
          <p:spPr bwMode="auto">
            <a:xfrm>
              <a:off x="96" y="3099"/>
              <a:ext cx="35" cy="100"/>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70" name="Line 34"/>
            <p:cNvSpPr>
              <a:spLocks noChangeShapeType="1"/>
            </p:cNvSpPr>
            <p:nvPr/>
          </p:nvSpPr>
          <p:spPr bwMode="auto">
            <a:xfrm>
              <a:off x="212" y="3288"/>
              <a:ext cx="104" cy="0"/>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71" name="Line 35"/>
            <p:cNvSpPr>
              <a:spLocks noChangeShapeType="1"/>
            </p:cNvSpPr>
            <p:nvPr/>
          </p:nvSpPr>
          <p:spPr bwMode="auto">
            <a:xfrm flipV="1">
              <a:off x="2329" y="2444"/>
              <a:ext cx="11" cy="100"/>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72" name="Line 36"/>
            <p:cNvSpPr>
              <a:spLocks noChangeShapeType="1"/>
            </p:cNvSpPr>
            <p:nvPr/>
          </p:nvSpPr>
          <p:spPr bwMode="auto">
            <a:xfrm flipH="1">
              <a:off x="779" y="1555"/>
              <a:ext cx="381" cy="489"/>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73" name="Line 37"/>
            <p:cNvSpPr>
              <a:spLocks noChangeShapeType="1"/>
            </p:cNvSpPr>
            <p:nvPr/>
          </p:nvSpPr>
          <p:spPr bwMode="auto">
            <a:xfrm flipH="1">
              <a:off x="131" y="2044"/>
              <a:ext cx="671" cy="922"/>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74" name="Line 38"/>
            <p:cNvSpPr>
              <a:spLocks noChangeShapeType="1"/>
            </p:cNvSpPr>
            <p:nvPr/>
          </p:nvSpPr>
          <p:spPr bwMode="auto">
            <a:xfrm flipH="1">
              <a:off x="108" y="2955"/>
              <a:ext cx="23" cy="122"/>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75" name="Line 39"/>
            <p:cNvSpPr>
              <a:spLocks noChangeShapeType="1"/>
            </p:cNvSpPr>
            <p:nvPr/>
          </p:nvSpPr>
          <p:spPr bwMode="auto">
            <a:xfrm>
              <a:off x="131" y="3210"/>
              <a:ext cx="81" cy="67"/>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76" name="Line 40"/>
            <p:cNvSpPr>
              <a:spLocks noChangeShapeType="1"/>
            </p:cNvSpPr>
            <p:nvPr/>
          </p:nvSpPr>
          <p:spPr bwMode="auto">
            <a:xfrm flipV="1">
              <a:off x="339" y="3232"/>
              <a:ext cx="93" cy="56"/>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77" name="Line 41"/>
            <p:cNvSpPr>
              <a:spLocks noChangeShapeType="1"/>
            </p:cNvSpPr>
            <p:nvPr/>
          </p:nvSpPr>
          <p:spPr bwMode="auto">
            <a:xfrm flipV="1">
              <a:off x="432" y="3044"/>
              <a:ext cx="115" cy="200"/>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78" name="Line 42"/>
            <p:cNvSpPr>
              <a:spLocks noChangeShapeType="1"/>
            </p:cNvSpPr>
            <p:nvPr/>
          </p:nvSpPr>
          <p:spPr bwMode="auto">
            <a:xfrm>
              <a:off x="536" y="3055"/>
              <a:ext cx="115" cy="189"/>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79" name="Line 43"/>
            <p:cNvSpPr>
              <a:spLocks noChangeShapeType="1"/>
            </p:cNvSpPr>
            <p:nvPr/>
          </p:nvSpPr>
          <p:spPr bwMode="auto">
            <a:xfrm flipV="1">
              <a:off x="663" y="3210"/>
              <a:ext cx="92" cy="34"/>
            </a:xfrm>
            <a:prstGeom prst="line">
              <a:avLst/>
            </a:prstGeom>
            <a:noFill/>
            <a:ln w="38100">
              <a:solidFill>
                <a:srgbClr val="FF00FF"/>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80" name="Line 44"/>
            <p:cNvSpPr>
              <a:spLocks noChangeShapeType="1"/>
            </p:cNvSpPr>
            <p:nvPr/>
          </p:nvSpPr>
          <p:spPr bwMode="auto">
            <a:xfrm flipV="1">
              <a:off x="779" y="3088"/>
              <a:ext cx="81" cy="111"/>
            </a:xfrm>
            <a:prstGeom prst="line">
              <a:avLst/>
            </a:prstGeom>
            <a:noFill/>
            <a:ln w="38100">
              <a:solidFill>
                <a:srgbClr val="FF00FF"/>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81" name="Line 45"/>
            <p:cNvSpPr>
              <a:spLocks noChangeShapeType="1"/>
            </p:cNvSpPr>
            <p:nvPr/>
          </p:nvSpPr>
          <p:spPr bwMode="auto">
            <a:xfrm>
              <a:off x="790" y="2721"/>
              <a:ext cx="81" cy="356"/>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82" name="Line 46"/>
            <p:cNvSpPr>
              <a:spLocks noChangeShapeType="1"/>
            </p:cNvSpPr>
            <p:nvPr/>
          </p:nvSpPr>
          <p:spPr bwMode="auto">
            <a:xfrm flipV="1">
              <a:off x="790" y="2444"/>
              <a:ext cx="174" cy="277"/>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83" name="Line 47"/>
            <p:cNvSpPr>
              <a:spLocks noChangeShapeType="1"/>
            </p:cNvSpPr>
            <p:nvPr/>
          </p:nvSpPr>
          <p:spPr bwMode="auto">
            <a:xfrm>
              <a:off x="975" y="2432"/>
              <a:ext cx="162" cy="267"/>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84" name="Line 48"/>
            <p:cNvSpPr>
              <a:spLocks noChangeShapeType="1"/>
            </p:cNvSpPr>
            <p:nvPr/>
          </p:nvSpPr>
          <p:spPr bwMode="auto">
            <a:xfrm flipH="1">
              <a:off x="570" y="2710"/>
              <a:ext cx="567" cy="867"/>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85" name="Line 49"/>
            <p:cNvSpPr>
              <a:spLocks noChangeShapeType="1"/>
            </p:cNvSpPr>
            <p:nvPr/>
          </p:nvSpPr>
          <p:spPr bwMode="auto">
            <a:xfrm>
              <a:off x="559" y="3599"/>
              <a:ext cx="23" cy="111"/>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86" name="Line 50"/>
            <p:cNvSpPr>
              <a:spLocks noChangeShapeType="1"/>
            </p:cNvSpPr>
            <p:nvPr/>
          </p:nvSpPr>
          <p:spPr bwMode="auto">
            <a:xfrm>
              <a:off x="582" y="3732"/>
              <a:ext cx="127" cy="45"/>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87" name="Line 51"/>
            <p:cNvSpPr>
              <a:spLocks noChangeShapeType="1"/>
            </p:cNvSpPr>
            <p:nvPr/>
          </p:nvSpPr>
          <p:spPr bwMode="auto">
            <a:xfrm flipV="1">
              <a:off x="779" y="3488"/>
              <a:ext cx="150" cy="244"/>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88" name="Line 52"/>
            <p:cNvSpPr>
              <a:spLocks noChangeShapeType="1"/>
            </p:cNvSpPr>
            <p:nvPr/>
          </p:nvSpPr>
          <p:spPr bwMode="auto">
            <a:xfrm>
              <a:off x="929" y="3510"/>
              <a:ext cx="104" cy="267"/>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89" name="Line 53"/>
            <p:cNvSpPr>
              <a:spLocks noChangeShapeType="1"/>
            </p:cNvSpPr>
            <p:nvPr/>
          </p:nvSpPr>
          <p:spPr bwMode="auto">
            <a:xfrm flipV="1">
              <a:off x="1126" y="3744"/>
              <a:ext cx="104" cy="55"/>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90" name="Line 54"/>
            <p:cNvSpPr>
              <a:spLocks noChangeShapeType="1"/>
            </p:cNvSpPr>
            <p:nvPr/>
          </p:nvSpPr>
          <p:spPr bwMode="auto">
            <a:xfrm flipV="1">
              <a:off x="1241" y="3610"/>
              <a:ext cx="47" cy="145"/>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91" name="Line 55"/>
            <p:cNvSpPr>
              <a:spLocks noChangeShapeType="1"/>
            </p:cNvSpPr>
            <p:nvPr/>
          </p:nvSpPr>
          <p:spPr bwMode="auto">
            <a:xfrm flipH="1" flipV="1">
              <a:off x="1137" y="3232"/>
              <a:ext cx="151" cy="400"/>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92" name="Line 56"/>
            <p:cNvSpPr>
              <a:spLocks noChangeShapeType="1"/>
            </p:cNvSpPr>
            <p:nvPr/>
          </p:nvSpPr>
          <p:spPr bwMode="auto">
            <a:xfrm flipV="1">
              <a:off x="1137" y="2944"/>
              <a:ext cx="208" cy="311"/>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93" name="Line 57"/>
            <p:cNvSpPr>
              <a:spLocks noChangeShapeType="1"/>
            </p:cNvSpPr>
            <p:nvPr/>
          </p:nvSpPr>
          <p:spPr bwMode="auto">
            <a:xfrm>
              <a:off x="1334" y="2966"/>
              <a:ext cx="150" cy="311"/>
            </a:xfrm>
            <a:prstGeom prst="line">
              <a:avLst/>
            </a:prstGeom>
            <a:noFill/>
            <a:ln w="38100" cap="rnd">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94" name="Line 58"/>
            <p:cNvSpPr>
              <a:spLocks noChangeShapeType="1"/>
            </p:cNvSpPr>
            <p:nvPr/>
          </p:nvSpPr>
          <p:spPr bwMode="auto">
            <a:xfrm flipH="1">
              <a:off x="1345" y="3244"/>
              <a:ext cx="139" cy="500"/>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95" name="Line 59"/>
            <p:cNvSpPr>
              <a:spLocks noChangeShapeType="1"/>
            </p:cNvSpPr>
            <p:nvPr/>
          </p:nvSpPr>
          <p:spPr bwMode="auto">
            <a:xfrm>
              <a:off x="1345" y="3766"/>
              <a:ext cx="81" cy="89"/>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96" name="Line 60"/>
            <p:cNvSpPr>
              <a:spLocks noChangeShapeType="1"/>
            </p:cNvSpPr>
            <p:nvPr/>
          </p:nvSpPr>
          <p:spPr bwMode="auto">
            <a:xfrm>
              <a:off x="1426" y="3866"/>
              <a:ext cx="105" cy="22"/>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97" name="Line 61"/>
            <p:cNvSpPr>
              <a:spLocks noChangeShapeType="1"/>
            </p:cNvSpPr>
            <p:nvPr/>
          </p:nvSpPr>
          <p:spPr bwMode="auto">
            <a:xfrm flipV="1">
              <a:off x="1577" y="3466"/>
              <a:ext cx="104" cy="378"/>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98" name="Line 62"/>
            <p:cNvSpPr>
              <a:spLocks noChangeShapeType="1"/>
            </p:cNvSpPr>
            <p:nvPr/>
          </p:nvSpPr>
          <p:spPr bwMode="auto">
            <a:xfrm>
              <a:off x="1693" y="3477"/>
              <a:ext cx="185" cy="389"/>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499" name="Line 63"/>
            <p:cNvSpPr>
              <a:spLocks noChangeShapeType="1"/>
            </p:cNvSpPr>
            <p:nvPr/>
          </p:nvSpPr>
          <p:spPr bwMode="auto">
            <a:xfrm flipV="1">
              <a:off x="1866" y="3799"/>
              <a:ext cx="174" cy="56"/>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500" name="Line 64"/>
            <p:cNvSpPr>
              <a:spLocks noChangeShapeType="1"/>
            </p:cNvSpPr>
            <p:nvPr/>
          </p:nvSpPr>
          <p:spPr bwMode="auto">
            <a:xfrm flipV="1">
              <a:off x="2040" y="3677"/>
              <a:ext cx="69" cy="111"/>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501" name="Line 65"/>
            <p:cNvSpPr>
              <a:spLocks noChangeShapeType="1"/>
            </p:cNvSpPr>
            <p:nvPr/>
          </p:nvSpPr>
          <p:spPr bwMode="auto">
            <a:xfrm flipH="1" flipV="1">
              <a:off x="1149" y="2099"/>
              <a:ext cx="960" cy="1567"/>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502" name="Line 66"/>
            <p:cNvSpPr>
              <a:spLocks noChangeShapeType="1"/>
            </p:cNvSpPr>
            <p:nvPr/>
          </p:nvSpPr>
          <p:spPr bwMode="auto">
            <a:xfrm flipV="1">
              <a:off x="1669" y="2332"/>
              <a:ext cx="174" cy="278"/>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503" name="Line 67"/>
            <p:cNvSpPr>
              <a:spLocks noChangeShapeType="1"/>
            </p:cNvSpPr>
            <p:nvPr/>
          </p:nvSpPr>
          <p:spPr bwMode="auto">
            <a:xfrm>
              <a:off x="1866" y="2399"/>
              <a:ext cx="139" cy="200"/>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504" name="Line 68"/>
            <p:cNvSpPr>
              <a:spLocks noChangeShapeType="1"/>
            </p:cNvSpPr>
            <p:nvPr/>
          </p:nvSpPr>
          <p:spPr bwMode="auto">
            <a:xfrm>
              <a:off x="1970" y="2577"/>
              <a:ext cx="162" cy="78"/>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505" name="Line 69"/>
            <p:cNvSpPr>
              <a:spLocks noChangeShapeType="1"/>
            </p:cNvSpPr>
            <p:nvPr/>
          </p:nvSpPr>
          <p:spPr bwMode="auto">
            <a:xfrm flipV="1">
              <a:off x="2190" y="2577"/>
              <a:ext cx="81" cy="67"/>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506" name="Line 70"/>
            <p:cNvSpPr>
              <a:spLocks noChangeShapeType="1"/>
            </p:cNvSpPr>
            <p:nvPr/>
          </p:nvSpPr>
          <p:spPr bwMode="auto">
            <a:xfrm flipH="1" flipV="1">
              <a:off x="1519" y="1488"/>
              <a:ext cx="833" cy="933"/>
            </a:xfrm>
            <a:prstGeom prst="line">
              <a:avLst/>
            </a:prstGeom>
            <a:noFill/>
            <a:ln w="38100">
              <a:solidFill>
                <a:srgbClr val="FF00FF"/>
              </a:solidFill>
              <a:prstDash val="sysDot"/>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507" name="Line 71"/>
            <p:cNvSpPr>
              <a:spLocks noChangeShapeType="1"/>
            </p:cNvSpPr>
            <p:nvPr/>
          </p:nvSpPr>
          <p:spPr bwMode="auto">
            <a:xfrm flipH="1">
              <a:off x="755" y="3366"/>
              <a:ext cx="128" cy="166"/>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508" name="Line 72"/>
            <p:cNvSpPr>
              <a:spLocks noChangeShapeType="1"/>
            </p:cNvSpPr>
            <p:nvPr/>
          </p:nvSpPr>
          <p:spPr bwMode="auto">
            <a:xfrm flipH="1">
              <a:off x="1531" y="3399"/>
              <a:ext cx="104" cy="189"/>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509" name="Line 73"/>
            <p:cNvSpPr>
              <a:spLocks noChangeShapeType="1"/>
            </p:cNvSpPr>
            <p:nvPr/>
          </p:nvSpPr>
          <p:spPr bwMode="auto">
            <a:xfrm>
              <a:off x="998" y="3366"/>
              <a:ext cx="81" cy="189"/>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510" name="Line 74"/>
            <p:cNvSpPr>
              <a:spLocks noChangeShapeType="1"/>
            </p:cNvSpPr>
            <p:nvPr/>
          </p:nvSpPr>
          <p:spPr bwMode="auto">
            <a:xfrm>
              <a:off x="1762" y="3377"/>
              <a:ext cx="81" cy="189"/>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511" name="Line 75"/>
            <p:cNvSpPr>
              <a:spLocks noChangeShapeType="1"/>
            </p:cNvSpPr>
            <p:nvPr/>
          </p:nvSpPr>
          <p:spPr bwMode="auto">
            <a:xfrm>
              <a:off x="1912" y="2210"/>
              <a:ext cx="139" cy="167"/>
            </a:xfrm>
            <a:prstGeom prst="line">
              <a:avLst/>
            </a:prstGeom>
            <a:noFill/>
            <a:ln w="38100">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512" name="Oval 76"/>
            <p:cNvSpPr>
              <a:spLocks noChangeArrowheads="1"/>
            </p:cNvSpPr>
            <p:nvPr/>
          </p:nvSpPr>
          <p:spPr bwMode="auto">
            <a:xfrm>
              <a:off x="1577" y="2388"/>
              <a:ext cx="92" cy="100"/>
            </a:xfrm>
            <a:prstGeom prst="ellipse">
              <a:avLst/>
            </a:pr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1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513" name="Line 77"/>
            <p:cNvSpPr>
              <a:spLocks noChangeShapeType="1"/>
            </p:cNvSpPr>
            <p:nvPr/>
          </p:nvSpPr>
          <p:spPr bwMode="auto">
            <a:xfrm flipV="1">
              <a:off x="1160" y="1855"/>
              <a:ext cx="174" cy="277"/>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514" name="Line 78"/>
            <p:cNvSpPr>
              <a:spLocks noChangeShapeType="1"/>
            </p:cNvSpPr>
            <p:nvPr/>
          </p:nvSpPr>
          <p:spPr bwMode="auto">
            <a:xfrm>
              <a:off x="1369" y="1910"/>
              <a:ext cx="243" cy="256"/>
            </a:xfrm>
            <a:prstGeom prst="line">
              <a:avLst/>
            </a:prstGeom>
            <a:noFill/>
            <a:ln w="38100" cap="rnd">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515" name="Line 79"/>
            <p:cNvSpPr>
              <a:spLocks noChangeShapeType="1"/>
            </p:cNvSpPr>
            <p:nvPr/>
          </p:nvSpPr>
          <p:spPr bwMode="auto">
            <a:xfrm flipV="1">
              <a:off x="1473" y="2110"/>
              <a:ext cx="173" cy="278"/>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516" name="Line 80"/>
            <p:cNvSpPr>
              <a:spLocks noChangeShapeType="1"/>
            </p:cNvSpPr>
            <p:nvPr/>
          </p:nvSpPr>
          <p:spPr bwMode="auto">
            <a:xfrm>
              <a:off x="1496" y="2432"/>
              <a:ext cx="23" cy="112"/>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1517" name="Line 81"/>
            <p:cNvSpPr>
              <a:spLocks noChangeShapeType="1"/>
            </p:cNvSpPr>
            <p:nvPr/>
          </p:nvSpPr>
          <p:spPr bwMode="auto">
            <a:xfrm>
              <a:off x="1519" y="2566"/>
              <a:ext cx="127" cy="44"/>
            </a:xfrm>
            <a:prstGeom prst="line">
              <a:avLst/>
            </a:prstGeom>
            <a:noFill/>
            <a:ln w="38100">
              <a:solidFill>
                <a:srgbClr val="FF00FF"/>
              </a:solidFill>
              <a:prstDash val="sysDot"/>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65012" name="Rectangle 84"/>
          <p:cNvSpPr>
            <a:spLocks noChangeArrowheads="1"/>
          </p:cNvSpPr>
          <p:nvPr/>
        </p:nvSpPr>
        <p:spPr bwMode="auto">
          <a:xfrm>
            <a:off x="4535488" y="2217738"/>
            <a:ext cx="4187825" cy="2892425"/>
          </a:xfrm>
          <a:prstGeom prst="rect">
            <a:avLst/>
          </a:prstGeom>
          <a:noFill/>
          <a:ln w="38100">
            <a:noFill/>
            <a:miter lim="800000"/>
          </a:ln>
          <a:effectLst/>
        </p:spPr>
        <p:txBody>
          <a:bodyPr>
            <a:spAutoFit/>
          </a:bodyPr>
          <a:lstStyle/>
          <a:p>
            <a:pPr marL="0" marR="0" lvl="0" indent="0" algn="l" defTabSz="914400" rtl="0" eaLnBrk="1" fontAlgn="base" latinLnBrk="0" hangingPunct="1">
              <a:lnSpc>
                <a:spcPct val="130000"/>
              </a:lnSpc>
              <a:spcBef>
                <a:spcPct val="0"/>
              </a:spcBef>
              <a:spcAft>
                <a:spcPct val="0"/>
              </a:spcAft>
              <a:buClrTx/>
              <a:buSzTx/>
              <a:buFontTx/>
              <a:buNone/>
              <a:defRPr/>
            </a:pP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时间效率</a:t>
            </a:r>
            <a:r>
              <a:rPr kumimoji="1" lang="en-US" altLang="zh-CN" sz="2800" b="0" i="0" u="none" strike="noStrike" kern="1200" cap="none" spc="0" normalizeH="0" baseline="0" noProof="0" dirty="0">
                <a:ln>
                  <a:noFill/>
                </a:ln>
                <a:solidFill>
                  <a:srgbClr val="FF3300"/>
                </a:solidFill>
                <a:effectLst/>
                <a:uLnTx/>
                <a:uFillTx/>
                <a:latin typeface="+mn-lt"/>
                <a:ea typeface="+mn-ea"/>
                <a:cs typeface="+mn-ea"/>
                <a:sym typeface="+mn-lt"/>
              </a:rPr>
              <a:t>:O(n)</a:t>
            </a:r>
            <a:r>
              <a:rPr kumimoji="1" lang="en-US" altLang="zh-CN" sz="2800" b="0" i="0" u="none" strike="noStrike" kern="1200" cap="none" spc="0" normalizeH="0" baseline="0" noProof="0" dirty="0">
                <a:ln>
                  <a:noFill/>
                </a:ln>
                <a:solidFill>
                  <a:srgbClr val="66FF33"/>
                </a:solidFill>
                <a:effectLst/>
                <a:uLnTx/>
                <a:uFillTx/>
                <a:latin typeface="+mn-lt"/>
                <a:ea typeface="+mn-ea"/>
                <a:cs typeface="+mn-ea"/>
                <a:sym typeface="+mn-lt"/>
              </a:rPr>
              <a:t> </a:t>
            </a:r>
          </a:p>
          <a:p>
            <a:pPr marL="0" marR="0" lvl="0" indent="0" algn="l" defTabSz="914400" rtl="0" eaLnBrk="1" fontAlgn="base" latinLnBrk="0" hangingPunct="1">
              <a:lnSpc>
                <a:spcPct val="130000"/>
              </a:lnSpc>
              <a:spcBef>
                <a:spcPct val="0"/>
              </a:spcBef>
              <a:spcAft>
                <a:spcPct val="0"/>
              </a:spcAft>
              <a:buClrTx/>
              <a:buSzTx/>
              <a:buFontTx/>
              <a:buNone/>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每个结点只访问一次</a:t>
            </a:r>
            <a:endPar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30000"/>
              </a:lnSpc>
              <a:spcBef>
                <a:spcPct val="0"/>
              </a:spcBef>
              <a:spcAft>
                <a:spcPct val="0"/>
              </a:spcAft>
              <a:buClrTx/>
              <a:buSzTx/>
              <a:buFontTx/>
              <a:buNone/>
              <a:defRPr/>
            </a:pPr>
            <a:endPar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30000"/>
              </a:lnSpc>
              <a:spcBef>
                <a:spcPct val="0"/>
              </a:spcBef>
              <a:spcAft>
                <a:spcPct val="0"/>
              </a:spcAft>
              <a:buClrTx/>
              <a:buSzTx/>
              <a:buFontTx/>
              <a:buNone/>
              <a:defRPr/>
            </a:pP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空间效率</a:t>
            </a:r>
            <a:r>
              <a:rPr kumimoji="1" lang="en-US" altLang="zh-CN" sz="2800" b="0" i="0" u="none" strike="noStrike" kern="1200" cap="none" spc="0" normalizeH="0" baseline="0" noProof="0" dirty="0">
                <a:ln>
                  <a:noFill/>
                </a:ln>
                <a:solidFill>
                  <a:srgbClr val="FF3300"/>
                </a:solidFill>
                <a:effectLst/>
                <a:uLnTx/>
                <a:uFillTx/>
                <a:latin typeface="+mn-lt"/>
                <a:ea typeface="+mn-ea"/>
                <a:cs typeface="+mn-ea"/>
                <a:sym typeface="+mn-lt"/>
              </a:rPr>
              <a:t>:O(n)</a:t>
            </a:r>
            <a:r>
              <a:rPr kumimoji="1" lang="en-US" altLang="zh-CN" sz="2800" b="0" i="0" u="none" strike="noStrike" kern="1200" cap="none" spc="0" normalizeH="0" baseline="0" noProof="0" dirty="0">
                <a:ln>
                  <a:noFill/>
                </a:ln>
                <a:solidFill>
                  <a:srgbClr val="66FF33"/>
                </a:solidFill>
                <a:effectLst/>
                <a:uLnTx/>
                <a:uFillTx/>
                <a:latin typeface="+mn-lt"/>
                <a:ea typeface="+mn-ea"/>
                <a:cs typeface="+mn-ea"/>
                <a:sym typeface="+mn-lt"/>
              </a:rPr>
              <a:t> </a:t>
            </a:r>
            <a:endParaRPr kumimoji="1" lang="en-US" altLang="zh-CN" sz="2800" b="0" i="0" u="none" strike="noStrike" kern="1200" cap="none" spc="0" normalizeH="0" baseline="0" noProof="0" dirty="0">
              <a:ln>
                <a:noFill/>
              </a:ln>
              <a:solidFill>
                <a:schemeClr val="accent2"/>
              </a:solidFill>
              <a:effectLst/>
              <a:uLnTx/>
              <a:uFillTx/>
              <a:latin typeface="+mn-lt"/>
              <a:ea typeface="+mn-ea"/>
              <a:cs typeface="+mn-ea"/>
              <a:sym typeface="+mn-lt"/>
            </a:endParaRPr>
          </a:p>
          <a:p>
            <a:pPr marL="0" marR="0" lvl="0" indent="0" algn="l" defTabSz="914400" rtl="0" eaLnBrk="1" fontAlgn="base" latinLnBrk="0" hangingPunct="1">
              <a:lnSpc>
                <a:spcPct val="130000"/>
              </a:lnSpc>
              <a:spcBef>
                <a:spcPct val="0"/>
              </a:spcBef>
              <a:spcAft>
                <a:spcPct val="0"/>
              </a:spcAft>
              <a:buClrTx/>
              <a:buSzTx/>
              <a:buFontTx/>
              <a:buNone/>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栈占用的最大辅助空间</a:t>
            </a:r>
          </a:p>
        </p:txBody>
      </p:sp>
      <p:sp>
        <p:nvSpPr>
          <p:cNvPr id="61519" name="Rectangle 86"/>
          <p:cNvSpPr>
            <a:spLocks noChangeArrowheads="1"/>
          </p:cNvSpPr>
          <p:nvPr/>
        </p:nvSpPr>
        <p:spPr bwMode="auto">
          <a:xfrm>
            <a:off x="841375" y="228600"/>
            <a:ext cx="369411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遍历算法的分析</a:t>
            </a:r>
          </a:p>
        </p:txBody>
      </p:sp>
      <p:cxnSp>
        <p:nvCxnSpPr>
          <p:cNvPr id="64517" name="直接连接符 2"/>
          <p:cNvCxnSpPr/>
          <p:nvPr/>
        </p:nvCxnSpPr>
        <p:spPr>
          <a:xfrm>
            <a:off x="4535488" y="3470275"/>
            <a:ext cx="4187825" cy="0"/>
          </a:xfrm>
          <a:prstGeom prst="line">
            <a:avLst/>
          </a:prstGeom>
          <a:ln w="9525" cap="flat" cmpd="sng">
            <a:solidFill>
              <a:srgbClr val="FF0000"/>
            </a:solidFill>
            <a:prstDash val="solid"/>
            <a:headEnd type="none" w="med" len="med"/>
            <a:tailEnd type="none" w="med" len="med"/>
          </a:ln>
        </p:spPr>
      </p:cxnSp>
      <p:cxnSp>
        <p:nvCxnSpPr>
          <p:cNvPr id="64518" name="直接连接符 82"/>
          <p:cNvCxnSpPr/>
          <p:nvPr/>
        </p:nvCxnSpPr>
        <p:spPr>
          <a:xfrm>
            <a:off x="4535488" y="5383213"/>
            <a:ext cx="4187825" cy="0"/>
          </a:xfrm>
          <a:prstGeom prst="line">
            <a:avLst/>
          </a:prstGeom>
          <a:ln w="9525" cap="flat" cmpd="sng">
            <a:solidFill>
              <a:srgbClr val="FF0000"/>
            </a:solidFill>
            <a:prstDash val="solid"/>
            <a:headEnd type="none" w="med" len="med"/>
            <a:tailEnd type="none" w="med" len="med"/>
          </a:ln>
        </p:spPr>
      </p:cxnSp>
    </p:spTree>
  </p:cSld>
  <p:clrMapOvr>
    <a:masterClrMapping/>
  </p:clrMapOvr>
  <p:transition>
    <p:split orient="vert"/>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1" name="矩形 1"/>
          <p:cNvSpPr>
            <a:spLocks noChangeArrowheads="1"/>
          </p:cNvSpPr>
          <p:nvPr/>
        </p:nvSpPr>
        <p:spPr bwMode="auto">
          <a:xfrm>
            <a:off x="782123" y="300038"/>
            <a:ext cx="34940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zh-CN" altLang="en-US" sz="2000" b="1" dirty="0">
                <a:solidFill>
                  <a:srgbClr val="FFFF00"/>
                </a:solidFill>
                <a:latin typeface="Times New Roman" pitchFamily="18" charset="0"/>
              </a:rPr>
              <a:t>（</a:t>
            </a:r>
            <a:r>
              <a:rPr lang="en-US" altLang="zh-CN" sz="2000" b="1" dirty="0">
                <a:solidFill>
                  <a:srgbClr val="FFFF00"/>
                </a:solidFill>
                <a:latin typeface="Times New Roman" pitchFamily="18" charset="0"/>
              </a:rPr>
              <a:t>4</a:t>
            </a:r>
            <a:r>
              <a:rPr lang="zh-CN" altLang="en-US" sz="2000" b="1" dirty="0">
                <a:solidFill>
                  <a:srgbClr val="FFFF00"/>
                </a:solidFill>
                <a:latin typeface="Times New Roman" pitchFamily="18" charset="0"/>
              </a:rPr>
              <a:t>）	二叉树的非递归遍历 </a:t>
            </a:r>
          </a:p>
        </p:txBody>
      </p:sp>
      <p:sp>
        <p:nvSpPr>
          <p:cNvPr id="6" name="矩形 5"/>
          <p:cNvSpPr>
            <a:spLocks noChangeArrowheads="1"/>
          </p:cNvSpPr>
          <p:nvPr/>
        </p:nvSpPr>
        <p:spPr bwMode="auto">
          <a:xfrm>
            <a:off x="443333" y="928688"/>
            <a:ext cx="7358062"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r>
              <a:rPr lang="en-US" altLang="zh-CN" sz="2000" b="1" dirty="0">
                <a:solidFill>
                  <a:schemeClr val="hlink"/>
                </a:solidFill>
                <a:latin typeface="Times New Roman" pitchFamily="18" charset="0"/>
                <a:sym typeface="Wingdings" pitchFamily="2" charset="2"/>
              </a:rPr>
              <a:t> </a:t>
            </a:r>
            <a:r>
              <a:rPr lang="zh-CN" altLang="en-US" sz="2000" b="1" dirty="0">
                <a:latin typeface="Times New Roman" pitchFamily="18" charset="0"/>
              </a:rPr>
              <a:t>从二叉树先序、中序和后序的遍历过程的遍历路径来看，都是从根结点</a:t>
            </a:r>
            <a:r>
              <a:rPr lang="en-US" altLang="zh-CN" sz="2000" b="1" dirty="0">
                <a:latin typeface="Times New Roman" pitchFamily="18" charset="0"/>
              </a:rPr>
              <a:t>A</a:t>
            </a:r>
            <a:r>
              <a:rPr lang="zh-CN" altLang="en-US" sz="2000" b="1" dirty="0">
                <a:latin typeface="Times New Roman" pitchFamily="18" charset="0"/>
              </a:rPr>
              <a:t>开始的，且在遍历过程中经过结点的</a:t>
            </a:r>
            <a:r>
              <a:rPr lang="zh-CN" altLang="en-US" sz="2000" b="1" dirty="0">
                <a:solidFill>
                  <a:srgbClr val="0000FF"/>
                </a:solidFill>
                <a:latin typeface="Times New Roman" pitchFamily="18" charset="0"/>
              </a:rPr>
              <a:t>路线是一样的</a:t>
            </a:r>
            <a:r>
              <a:rPr lang="zh-CN" altLang="en-US" sz="2000" b="1" dirty="0">
                <a:latin typeface="Times New Roman" pitchFamily="18" charset="0"/>
              </a:rPr>
              <a:t>，只是</a:t>
            </a:r>
            <a:r>
              <a:rPr lang="zh-CN" altLang="en-US" sz="2000" b="1" dirty="0">
                <a:solidFill>
                  <a:srgbClr val="0000FF"/>
                </a:solidFill>
                <a:latin typeface="Times New Roman" pitchFamily="18" charset="0"/>
              </a:rPr>
              <a:t>访问各结点的时机不同</a:t>
            </a:r>
            <a:r>
              <a:rPr lang="zh-CN" altLang="en-US" sz="2000" b="1" dirty="0">
                <a:latin typeface="Times New Roman" pitchFamily="18" charset="0"/>
              </a:rPr>
              <a:t>而已。</a:t>
            </a:r>
          </a:p>
        </p:txBody>
      </p:sp>
      <p:sp>
        <p:nvSpPr>
          <p:cNvPr id="7" name="矩形 6"/>
          <p:cNvSpPr>
            <a:spLocks noChangeArrowheads="1"/>
          </p:cNvSpPr>
          <p:nvPr/>
        </p:nvSpPr>
        <p:spPr bwMode="auto">
          <a:xfrm>
            <a:off x="642938" y="2071688"/>
            <a:ext cx="7427912"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r>
              <a:rPr lang="en-US" altLang="zh-CN" sz="2000" b="1" dirty="0">
                <a:solidFill>
                  <a:schemeClr val="hlink"/>
                </a:solidFill>
                <a:latin typeface="Times New Roman" pitchFamily="18" charset="0"/>
                <a:sym typeface="Wingdings" pitchFamily="2" charset="2"/>
              </a:rPr>
              <a:t> </a:t>
            </a:r>
            <a:r>
              <a:rPr lang="zh-CN" altLang="en-US" sz="2000" b="1" dirty="0" smtClean="0">
                <a:latin typeface="Times New Roman" pitchFamily="18" charset="0"/>
              </a:rPr>
              <a:t>在下图中</a:t>
            </a:r>
            <a:r>
              <a:rPr lang="zh-CN" altLang="en-US" sz="2000" b="1" dirty="0">
                <a:latin typeface="Times New Roman" pitchFamily="18" charset="0"/>
              </a:rPr>
              <a:t>，并在从入口到出口的曲线上用</a:t>
            </a:r>
            <a:r>
              <a:rPr lang="en-US" altLang="zh-CN" sz="2000" b="1" dirty="0">
                <a:solidFill>
                  <a:srgbClr val="0000FF"/>
                </a:solidFill>
                <a:latin typeface="Times New Roman" pitchFamily="18" charset="0"/>
                <a:sym typeface="Wingdings 2" pitchFamily="18" charset="2"/>
              </a:rPr>
              <a:t></a:t>
            </a:r>
            <a:r>
              <a:rPr lang="zh-CN" altLang="en-US" sz="2000" b="1" dirty="0">
                <a:solidFill>
                  <a:srgbClr val="0000FF"/>
                </a:solidFill>
                <a:latin typeface="Times New Roman" pitchFamily="18" charset="0"/>
              </a:rPr>
              <a:t>、</a:t>
            </a:r>
            <a:r>
              <a:rPr lang="en-US" altLang="zh-CN" sz="2000" b="1" dirty="0">
                <a:solidFill>
                  <a:srgbClr val="0000FF"/>
                </a:solidFill>
                <a:latin typeface="Times New Roman" pitchFamily="18" charset="0"/>
                <a:sym typeface="Wingdings" pitchFamily="2" charset="2"/>
              </a:rPr>
              <a:t></a:t>
            </a:r>
            <a:r>
              <a:rPr lang="zh-CN" altLang="en-US" sz="2000" b="1" dirty="0">
                <a:solidFill>
                  <a:srgbClr val="0000FF"/>
                </a:solidFill>
                <a:latin typeface="Times New Roman" pitchFamily="18" charset="0"/>
              </a:rPr>
              <a:t>和</a:t>
            </a:r>
            <a:r>
              <a:rPr lang="en-US" altLang="zh-CN" sz="2000" b="1" dirty="0">
                <a:solidFill>
                  <a:srgbClr val="0000FF"/>
                </a:solidFill>
                <a:latin typeface="Times New Roman" pitchFamily="18" charset="0"/>
                <a:sym typeface="Wingdings 3" pitchFamily="18" charset="2"/>
              </a:rPr>
              <a:t></a:t>
            </a:r>
            <a:r>
              <a:rPr lang="zh-CN" altLang="en-US" sz="2000" b="1" dirty="0">
                <a:latin typeface="Times New Roman" pitchFamily="18" charset="0"/>
              </a:rPr>
              <a:t>三种符号分别标记出了</a:t>
            </a:r>
            <a:r>
              <a:rPr lang="zh-CN" altLang="en-US" sz="2000" b="1" dirty="0">
                <a:solidFill>
                  <a:srgbClr val="0000FF"/>
                </a:solidFill>
                <a:latin typeface="Times New Roman" pitchFamily="18" charset="0"/>
              </a:rPr>
              <a:t>先序、中序和后序</a:t>
            </a:r>
            <a:r>
              <a:rPr lang="zh-CN" altLang="en-US" sz="2000" b="1" dirty="0">
                <a:latin typeface="Times New Roman" pitchFamily="18" charset="0"/>
              </a:rPr>
              <a:t>遍历各结点的时刻。</a:t>
            </a:r>
            <a:endParaRPr lang="en-US" altLang="zh-CN" sz="2000" b="1" dirty="0">
              <a:latin typeface="Times New Roman" pitchFamily="18" charset="0"/>
            </a:endParaRPr>
          </a:p>
        </p:txBody>
      </p:sp>
      <p:grpSp>
        <p:nvGrpSpPr>
          <p:cNvPr id="87041" name="Group 1"/>
          <p:cNvGrpSpPr>
            <a:grpSpLocks/>
          </p:cNvGrpSpPr>
          <p:nvPr/>
        </p:nvGrpSpPr>
        <p:grpSpPr bwMode="auto">
          <a:xfrm>
            <a:off x="1842359" y="3088848"/>
            <a:ext cx="5000625" cy="3071812"/>
            <a:chOff x="3826" y="7164"/>
            <a:chExt cx="4063" cy="2382"/>
          </a:xfrm>
        </p:grpSpPr>
        <p:sp>
          <p:nvSpPr>
            <p:cNvPr id="32777" name="Text Box 2"/>
            <p:cNvSpPr txBox="1">
              <a:spLocks noChangeArrowheads="1"/>
            </p:cNvSpPr>
            <p:nvPr/>
          </p:nvSpPr>
          <p:spPr bwMode="auto">
            <a:xfrm>
              <a:off x="6240" y="7164"/>
              <a:ext cx="434" cy="20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just" eaLnBrk="1" hangingPunct="1"/>
              <a:r>
                <a:rPr lang="zh-CN" altLang="en-US" sz="1600" b="1">
                  <a:latin typeface="仿宋" pitchFamily="49" charset="-122"/>
                  <a:ea typeface="仿宋" pitchFamily="49" charset="-122"/>
                </a:rPr>
                <a:t>出口</a:t>
              </a:r>
              <a:endParaRPr lang="zh-CN" altLang="en-US" sz="1600" b="1">
                <a:latin typeface="Arial" pitchFamily="34" charset="0"/>
              </a:endParaRPr>
            </a:p>
          </p:txBody>
        </p:sp>
        <p:sp>
          <p:nvSpPr>
            <p:cNvPr id="32778" name="Text Box 3"/>
            <p:cNvSpPr txBox="1">
              <a:spLocks noChangeArrowheads="1"/>
            </p:cNvSpPr>
            <p:nvPr/>
          </p:nvSpPr>
          <p:spPr bwMode="auto">
            <a:xfrm>
              <a:off x="5328" y="7168"/>
              <a:ext cx="434" cy="20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just" eaLnBrk="1" hangingPunct="1"/>
              <a:r>
                <a:rPr lang="zh-CN" altLang="en-US" sz="1600" b="1" dirty="0">
                  <a:latin typeface="仿宋" pitchFamily="49" charset="-122"/>
                  <a:ea typeface="仿宋" pitchFamily="49" charset="-122"/>
                </a:rPr>
                <a:t>入口</a:t>
              </a:r>
              <a:endParaRPr lang="zh-CN" altLang="en-US" sz="1600" b="1" dirty="0">
                <a:latin typeface="Arial" pitchFamily="34" charset="0"/>
              </a:endParaRPr>
            </a:p>
          </p:txBody>
        </p:sp>
        <p:sp>
          <p:nvSpPr>
            <p:cNvPr id="32779" name="Freeform 4"/>
            <p:cNvSpPr>
              <a:spLocks/>
            </p:cNvSpPr>
            <p:nvPr/>
          </p:nvSpPr>
          <p:spPr bwMode="auto">
            <a:xfrm>
              <a:off x="3826" y="7431"/>
              <a:ext cx="4063" cy="2115"/>
            </a:xfrm>
            <a:custGeom>
              <a:avLst/>
              <a:gdLst>
                <a:gd name="T0" fmla="*/ 1934 w 4063"/>
                <a:gd name="T1" fmla="*/ 210 h 2115"/>
                <a:gd name="T2" fmla="*/ 1649 w 4063"/>
                <a:gd name="T3" fmla="*/ 345 h 2115"/>
                <a:gd name="T4" fmla="*/ 1244 w 4063"/>
                <a:gd name="T5" fmla="*/ 480 h 2115"/>
                <a:gd name="T6" fmla="*/ 929 w 4063"/>
                <a:gd name="T7" fmla="*/ 585 h 2115"/>
                <a:gd name="T8" fmla="*/ 614 w 4063"/>
                <a:gd name="T9" fmla="*/ 810 h 2115"/>
                <a:gd name="T10" fmla="*/ 314 w 4063"/>
                <a:gd name="T11" fmla="*/ 1035 h 2115"/>
                <a:gd name="T12" fmla="*/ 104 w 4063"/>
                <a:gd name="T13" fmla="*/ 1170 h 2115"/>
                <a:gd name="T14" fmla="*/ 224 w 4063"/>
                <a:gd name="T15" fmla="*/ 1590 h 2115"/>
                <a:gd name="T16" fmla="*/ 404 w 4063"/>
                <a:gd name="T17" fmla="*/ 1665 h 2115"/>
                <a:gd name="T18" fmla="*/ 659 w 4063"/>
                <a:gd name="T19" fmla="*/ 1530 h 2115"/>
                <a:gd name="T20" fmla="*/ 899 w 4063"/>
                <a:gd name="T21" fmla="*/ 1200 h 2115"/>
                <a:gd name="T22" fmla="*/ 1064 w 4063"/>
                <a:gd name="T23" fmla="*/ 1110 h 2115"/>
                <a:gd name="T24" fmla="*/ 1274 w 4063"/>
                <a:gd name="T25" fmla="*/ 1200 h 2115"/>
                <a:gd name="T26" fmla="*/ 1214 w 4063"/>
                <a:gd name="T27" fmla="*/ 1455 h 2115"/>
                <a:gd name="T28" fmla="*/ 1109 w 4063"/>
                <a:gd name="T29" fmla="*/ 1695 h 2115"/>
                <a:gd name="T30" fmla="*/ 1169 w 4063"/>
                <a:gd name="T31" fmla="*/ 1875 h 2115"/>
                <a:gd name="T32" fmla="*/ 1469 w 4063"/>
                <a:gd name="T33" fmla="*/ 2115 h 2115"/>
                <a:gd name="T34" fmla="*/ 1694 w 4063"/>
                <a:gd name="T35" fmla="*/ 1935 h 2115"/>
                <a:gd name="T36" fmla="*/ 1799 w 4063"/>
                <a:gd name="T37" fmla="*/ 1590 h 2115"/>
                <a:gd name="T38" fmla="*/ 1904 w 4063"/>
                <a:gd name="T39" fmla="*/ 1395 h 2115"/>
                <a:gd name="T40" fmla="*/ 1814 w 4063"/>
                <a:gd name="T41" fmla="*/ 1005 h 2115"/>
                <a:gd name="T42" fmla="*/ 1409 w 4063"/>
                <a:gd name="T43" fmla="*/ 825 h 2115"/>
                <a:gd name="T44" fmla="*/ 1619 w 4063"/>
                <a:gd name="T45" fmla="*/ 675 h 2115"/>
                <a:gd name="T46" fmla="*/ 2189 w 4063"/>
                <a:gd name="T47" fmla="*/ 570 h 2115"/>
                <a:gd name="T48" fmla="*/ 2564 w 4063"/>
                <a:gd name="T49" fmla="*/ 723 h 2115"/>
                <a:gd name="T50" fmla="*/ 2669 w 4063"/>
                <a:gd name="T51" fmla="*/ 855 h 2115"/>
                <a:gd name="T52" fmla="*/ 2504 w 4063"/>
                <a:gd name="T53" fmla="*/ 945 h 2115"/>
                <a:gd name="T54" fmla="*/ 2309 w 4063"/>
                <a:gd name="T55" fmla="*/ 1170 h 2115"/>
                <a:gd name="T56" fmla="*/ 2414 w 4063"/>
                <a:gd name="T57" fmla="*/ 1470 h 2115"/>
                <a:gd name="T58" fmla="*/ 2519 w 4063"/>
                <a:gd name="T59" fmla="*/ 1680 h 2115"/>
                <a:gd name="T60" fmla="*/ 2744 w 4063"/>
                <a:gd name="T61" fmla="*/ 1920 h 2115"/>
                <a:gd name="T62" fmla="*/ 2954 w 4063"/>
                <a:gd name="T63" fmla="*/ 2070 h 2115"/>
                <a:gd name="T64" fmla="*/ 3164 w 4063"/>
                <a:gd name="T65" fmla="*/ 1920 h 2115"/>
                <a:gd name="T66" fmla="*/ 3089 w 4063"/>
                <a:gd name="T67" fmla="*/ 1605 h 2115"/>
                <a:gd name="T68" fmla="*/ 3014 w 4063"/>
                <a:gd name="T69" fmla="*/ 1470 h 2115"/>
                <a:gd name="T70" fmla="*/ 3044 w 4063"/>
                <a:gd name="T71" fmla="*/ 1065 h 2115"/>
                <a:gd name="T72" fmla="*/ 3329 w 4063"/>
                <a:gd name="T73" fmla="*/ 1110 h 2115"/>
                <a:gd name="T74" fmla="*/ 3419 w 4063"/>
                <a:gd name="T75" fmla="*/ 1170 h 2115"/>
                <a:gd name="T76" fmla="*/ 3719 w 4063"/>
                <a:gd name="T77" fmla="*/ 1440 h 2115"/>
                <a:gd name="T78" fmla="*/ 3989 w 4063"/>
                <a:gd name="T79" fmla="*/ 1425 h 2115"/>
                <a:gd name="T80" fmla="*/ 3974 w 4063"/>
                <a:gd name="T81" fmla="*/ 960 h 2115"/>
                <a:gd name="T82" fmla="*/ 3779 w 4063"/>
                <a:gd name="T83" fmla="*/ 795 h 2115"/>
                <a:gd name="T84" fmla="*/ 3644 w 4063"/>
                <a:gd name="T85" fmla="*/ 720 h 2115"/>
                <a:gd name="T86" fmla="*/ 3449 w 4063"/>
                <a:gd name="T87" fmla="*/ 630 h 2115"/>
                <a:gd name="T88" fmla="*/ 3089 w 4063"/>
                <a:gd name="T89" fmla="*/ 495 h 2115"/>
                <a:gd name="T90" fmla="*/ 2744 w 4063"/>
                <a:gd name="T91" fmla="*/ 420 h 2115"/>
                <a:gd name="T92" fmla="*/ 2399 w 4063"/>
                <a:gd name="T93" fmla="*/ 300 h 2115"/>
                <a:gd name="T94" fmla="*/ 2324 w 4063"/>
                <a:gd name="T95" fmla="*/ 105 h 2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4063" h="2115">
                  <a:moveTo>
                    <a:pt x="1934" y="15"/>
                  </a:moveTo>
                  <a:cubicBezTo>
                    <a:pt x="1957" y="83"/>
                    <a:pt x="1977" y="124"/>
                    <a:pt x="1934" y="210"/>
                  </a:cubicBezTo>
                  <a:cubicBezTo>
                    <a:pt x="1918" y="242"/>
                    <a:pt x="1874" y="250"/>
                    <a:pt x="1844" y="270"/>
                  </a:cubicBezTo>
                  <a:cubicBezTo>
                    <a:pt x="1783" y="311"/>
                    <a:pt x="1719" y="327"/>
                    <a:pt x="1649" y="345"/>
                  </a:cubicBezTo>
                  <a:cubicBezTo>
                    <a:pt x="1580" y="391"/>
                    <a:pt x="1504" y="400"/>
                    <a:pt x="1424" y="420"/>
                  </a:cubicBezTo>
                  <a:cubicBezTo>
                    <a:pt x="1363" y="435"/>
                    <a:pt x="1304" y="462"/>
                    <a:pt x="1244" y="480"/>
                  </a:cubicBezTo>
                  <a:cubicBezTo>
                    <a:pt x="1168" y="503"/>
                    <a:pt x="1094" y="530"/>
                    <a:pt x="1019" y="555"/>
                  </a:cubicBezTo>
                  <a:cubicBezTo>
                    <a:pt x="989" y="565"/>
                    <a:pt x="955" y="567"/>
                    <a:pt x="929" y="585"/>
                  </a:cubicBezTo>
                  <a:cubicBezTo>
                    <a:pt x="839" y="645"/>
                    <a:pt x="749" y="705"/>
                    <a:pt x="659" y="765"/>
                  </a:cubicBezTo>
                  <a:cubicBezTo>
                    <a:pt x="641" y="777"/>
                    <a:pt x="630" y="796"/>
                    <a:pt x="614" y="810"/>
                  </a:cubicBezTo>
                  <a:cubicBezTo>
                    <a:pt x="535" y="878"/>
                    <a:pt x="442" y="928"/>
                    <a:pt x="359" y="990"/>
                  </a:cubicBezTo>
                  <a:cubicBezTo>
                    <a:pt x="342" y="1003"/>
                    <a:pt x="331" y="1023"/>
                    <a:pt x="314" y="1035"/>
                  </a:cubicBezTo>
                  <a:cubicBezTo>
                    <a:pt x="276" y="1062"/>
                    <a:pt x="233" y="1083"/>
                    <a:pt x="194" y="1110"/>
                  </a:cubicBezTo>
                  <a:cubicBezTo>
                    <a:pt x="164" y="1131"/>
                    <a:pt x="104" y="1170"/>
                    <a:pt x="104" y="1170"/>
                  </a:cubicBezTo>
                  <a:cubicBezTo>
                    <a:pt x="0" y="1327"/>
                    <a:pt x="91" y="1443"/>
                    <a:pt x="179" y="1575"/>
                  </a:cubicBezTo>
                  <a:cubicBezTo>
                    <a:pt x="188" y="1588"/>
                    <a:pt x="210" y="1583"/>
                    <a:pt x="224" y="1590"/>
                  </a:cubicBezTo>
                  <a:cubicBezTo>
                    <a:pt x="367" y="1661"/>
                    <a:pt x="127" y="1573"/>
                    <a:pt x="359" y="1650"/>
                  </a:cubicBezTo>
                  <a:cubicBezTo>
                    <a:pt x="374" y="1655"/>
                    <a:pt x="404" y="1665"/>
                    <a:pt x="404" y="1665"/>
                  </a:cubicBezTo>
                  <a:cubicBezTo>
                    <a:pt x="449" y="1660"/>
                    <a:pt x="495" y="1661"/>
                    <a:pt x="539" y="1650"/>
                  </a:cubicBezTo>
                  <a:cubicBezTo>
                    <a:pt x="587" y="1638"/>
                    <a:pt x="626" y="1563"/>
                    <a:pt x="659" y="1530"/>
                  </a:cubicBezTo>
                  <a:cubicBezTo>
                    <a:pt x="679" y="1471"/>
                    <a:pt x="697" y="1445"/>
                    <a:pt x="749" y="1410"/>
                  </a:cubicBezTo>
                  <a:cubicBezTo>
                    <a:pt x="777" y="1326"/>
                    <a:pt x="826" y="1249"/>
                    <a:pt x="899" y="1200"/>
                  </a:cubicBezTo>
                  <a:cubicBezTo>
                    <a:pt x="947" y="1129"/>
                    <a:pt x="912" y="1161"/>
                    <a:pt x="1019" y="1125"/>
                  </a:cubicBezTo>
                  <a:cubicBezTo>
                    <a:pt x="1034" y="1120"/>
                    <a:pt x="1064" y="1110"/>
                    <a:pt x="1064" y="1110"/>
                  </a:cubicBezTo>
                  <a:cubicBezTo>
                    <a:pt x="1085" y="1114"/>
                    <a:pt x="1158" y="1126"/>
                    <a:pt x="1184" y="1140"/>
                  </a:cubicBezTo>
                  <a:cubicBezTo>
                    <a:pt x="1216" y="1158"/>
                    <a:pt x="1274" y="1200"/>
                    <a:pt x="1274" y="1200"/>
                  </a:cubicBezTo>
                  <a:cubicBezTo>
                    <a:pt x="1296" y="1265"/>
                    <a:pt x="1306" y="1275"/>
                    <a:pt x="1274" y="1365"/>
                  </a:cubicBezTo>
                  <a:cubicBezTo>
                    <a:pt x="1262" y="1399"/>
                    <a:pt x="1214" y="1455"/>
                    <a:pt x="1214" y="1455"/>
                  </a:cubicBezTo>
                  <a:cubicBezTo>
                    <a:pt x="1173" y="1620"/>
                    <a:pt x="1235" y="1414"/>
                    <a:pt x="1154" y="1560"/>
                  </a:cubicBezTo>
                  <a:cubicBezTo>
                    <a:pt x="1137" y="1600"/>
                    <a:pt x="1114" y="1648"/>
                    <a:pt x="1109" y="1695"/>
                  </a:cubicBezTo>
                  <a:cubicBezTo>
                    <a:pt x="1114" y="1745"/>
                    <a:pt x="1108" y="1797"/>
                    <a:pt x="1124" y="1845"/>
                  </a:cubicBezTo>
                  <a:cubicBezTo>
                    <a:pt x="1130" y="1862"/>
                    <a:pt x="1159" y="1860"/>
                    <a:pt x="1169" y="1875"/>
                  </a:cubicBezTo>
                  <a:cubicBezTo>
                    <a:pt x="1218" y="1949"/>
                    <a:pt x="1146" y="1921"/>
                    <a:pt x="1214" y="1980"/>
                  </a:cubicBezTo>
                  <a:cubicBezTo>
                    <a:pt x="1289" y="2045"/>
                    <a:pt x="1373" y="2096"/>
                    <a:pt x="1469" y="2115"/>
                  </a:cubicBezTo>
                  <a:cubicBezTo>
                    <a:pt x="1515" y="2104"/>
                    <a:pt x="1539" y="2105"/>
                    <a:pt x="1574" y="2070"/>
                  </a:cubicBezTo>
                  <a:cubicBezTo>
                    <a:pt x="1628" y="2016"/>
                    <a:pt x="1629" y="1979"/>
                    <a:pt x="1694" y="1935"/>
                  </a:cubicBezTo>
                  <a:cubicBezTo>
                    <a:pt x="1710" y="1886"/>
                    <a:pt x="1741" y="1850"/>
                    <a:pt x="1754" y="1800"/>
                  </a:cubicBezTo>
                  <a:cubicBezTo>
                    <a:pt x="1770" y="1734"/>
                    <a:pt x="1778" y="1653"/>
                    <a:pt x="1799" y="1590"/>
                  </a:cubicBezTo>
                  <a:cubicBezTo>
                    <a:pt x="1805" y="1573"/>
                    <a:pt x="1820" y="1561"/>
                    <a:pt x="1829" y="1545"/>
                  </a:cubicBezTo>
                  <a:cubicBezTo>
                    <a:pt x="1857" y="1496"/>
                    <a:pt x="1886" y="1448"/>
                    <a:pt x="1904" y="1395"/>
                  </a:cubicBezTo>
                  <a:cubicBezTo>
                    <a:pt x="1899" y="1285"/>
                    <a:pt x="1902" y="1174"/>
                    <a:pt x="1889" y="1065"/>
                  </a:cubicBezTo>
                  <a:cubicBezTo>
                    <a:pt x="1882" y="1009"/>
                    <a:pt x="1848" y="1024"/>
                    <a:pt x="1814" y="1005"/>
                  </a:cubicBezTo>
                  <a:cubicBezTo>
                    <a:pt x="1767" y="979"/>
                    <a:pt x="1730" y="932"/>
                    <a:pt x="1679" y="915"/>
                  </a:cubicBezTo>
                  <a:cubicBezTo>
                    <a:pt x="1587" y="884"/>
                    <a:pt x="1490" y="879"/>
                    <a:pt x="1409" y="825"/>
                  </a:cubicBezTo>
                  <a:cubicBezTo>
                    <a:pt x="1414" y="810"/>
                    <a:pt x="1413" y="791"/>
                    <a:pt x="1424" y="780"/>
                  </a:cubicBezTo>
                  <a:cubicBezTo>
                    <a:pt x="1478" y="726"/>
                    <a:pt x="1547" y="693"/>
                    <a:pt x="1619" y="675"/>
                  </a:cubicBezTo>
                  <a:cubicBezTo>
                    <a:pt x="1729" y="602"/>
                    <a:pt x="1894" y="577"/>
                    <a:pt x="2024" y="555"/>
                  </a:cubicBezTo>
                  <a:cubicBezTo>
                    <a:pt x="2079" y="560"/>
                    <a:pt x="2135" y="560"/>
                    <a:pt x="2189" y="570"/>
                  </a:cubicBezTo>
                  <a:cubicBezTo>
                    <a:pt x="2406" y="608"/>
                    <a:pt x="2177" y="559"/>
                    <a:pt x="2399" y="633"/>
                  </a:cubicBezTo>
                  <a:cubicBezTo>
                    <a:pt x="2448" y="657"/>
                    <a:pt x="2524" y="696"/>
                    <a:pt x="2564" y="723"/>
                  </a:cubicBezTo>
                  <a:cubicBezTo>
                    <a:pt x="2616" y="750"/>
                    <a:pt x="2697" y="776"/>
                    <a:pt x="2714" y="798"/>
                  </a:cubicBezTo>
                  <a:cubicBezTo>
                    <a:pt x="2719" y="813"/>
                    <a:pt x="2669" y="839"/>
                    <a:pt x="2669" y="855"/>
                  </a:cubicBezTo>
                  <a:cubicBezTo>
                    <a:pt x="2651" y="875"/>
                    <a:pt x="2622" y="873"/>
                    <a:pt x="2594" y="888"/>
                  </a:cubicBezTo>
                  <a:cubicBezTo>
                    <a:pt x="2566" y="903"/>
                    <a:pt x="2534" y="928"/>
                    <a:pt x="2504" y="945"/>
                  </a:cubicBezTo>
                  <a:cubicBezTo>
                    <a:pt x="2388" y="1003"/>
                    <a:pt x="2527" y="952"/>
                    <a:pt x="2414" y="990"/>
                  </a:cubicBezTo>
                  <a:cubicBezTo>
                    <a:pt x="2352" y="1052"/>
                    <a:pt x="2338" y="1084"/>
                    <a:pt x="2309" y="1170"/>
                  </a:cubicBezTo>
                  <a:cubicBezTo>
                    <a:pt x="2304" y="1185"/>
                    <a:pt x="2294" y="1215"/>
                    <a:pt x="2294" y="1215"/>
                  </a:cubicBezTo>
                  <a:cubicBezTo>
                    <a:pt x="2331" y="1345"/>
                    <a:pt x="2276" y="1424"/>
                    <a:pt x="2414" y="1470"/>
                  </a:cubicBezTo>
                  <a:cubicBezTo>
                    <a:pt x="2452" y="1522"/>
                    <a:pt x="2457" y="1525"/>
                    <a:pt x="2489" y="1560"/>
                  </a:cubicBezTo>
                  <a:cubicBezTo>
                    <a:pt x="2506" y="1595"/>
                    <a:pt x="2492" y="1638"/>
                    <a:pt x="2519" y="1680"/>
                  </a:cubicBezTo>
                  <a:cubicBezTo>
                    <a:pt x="2537" y="1712"/>
                    <a:pt x="2643" y="1781"/>
                    <a:pt x="2654" y="1815"/>
                  </a:cubicBezTo>
                  <a:cubicBezTo>
                    <a:pt x="2685" y="1907"/>
                    <a:pt x="2686" y="1852"/>
                    <a:pt x="2744" y="1920"/>
                  </a:cubicBezTo>
                  <a:cubicBezTo>
                    <a:pt x="2777" y="1959"/>
                    <a:pt x="2816" y="2018"/>
                    <a:pt x="2864" y="2040"/>
                  </a:cubicBezTo>
                  <a:cubicBezTo>
                    <a:pt x="2893" y="2053"/>
                    <a:pt x="2954" y="2070"/>
                    <a:pt x="2954" y="2070"/>
                  </a:cubicBezTo>
                  <a:cubicBezTo>
                    <a:pt x="3032" y="2061"/>
                    <a:pt x="3093" y="2083"/>
                    <a:pt x="3134" y="2010"/>
                  </a:cubicBezTo>
                  <a:cubicBezTo>
                    <a:pt x="3149" y="1982"/>
                    <a:pt x="3154" y="1950"/>
                    <a:pt x="3164" y="1920"/>
                  </a:cubicBezTo>
                  <a:cubicBezTo>
                    <a:pt x="3169" y="1905"/>
                    <a:pt x="3179" y="1875"/>
                    <a:pt x="3179" y="1875"/>
                  </a:cubicBezTo>
                  <a:cubicBezTo>
                    <a:pt x="3160" y="1719"/>
                    <a:pt x="3153" y="1733"/>
                    <a:pt x="3089" y="1605"/>
                  </a:cubicBezTo>
                  <a:cubicBezTo>
                    <a:pt x="3082" y="1591"/>
                    <a:pt x="3082" y="1574"/>
                    <a:pt x="3074" y="1560"/>
                  </a:cubicBezTo>
                  <a:cubicBezTo>
                    <a:pt x="3056" y="1528"/>
                    <a:pt x="3025" y="1504"/>
                    <a:pt x="3014" y="1470"/>
                  </a:cubicBezTo>
                  <a:cubicBezTo>
                    <a:pt x="2978" y="1363"/>
                    <a:pt x="2942" y="1379"/>
                    <a:pt x="2894" y="1308"/>
                  </a:cubicBezTo>
                  <a:cubicBezTo>
                    <a:pt x="2899" y="1241"/>
                    <a:pt x="3004" y="1110"/>
                    <a:pt x="3044" y="1065"/>
                  </a:cubicBezTo>
                  <a:cubicBezTo>
                    <a:pt x="3070" y="1047"/>
                    <a:pt x="3134" y="1035"/>
                    <a:pt x="3134" y="1035"/>
                  </a:cubicBezTo>
                  <a:cubicBezTo>
                    <a:pt x="3275" y="1055"/>
                    <a:pt x="3210" y="1030"/>
                    <a:pt x="3329" y="1110"/>
                  </a:cubicBezTo>
                  <a:cubicBezTo>
                    <a:pt x="3344" y="1120"/>
                    <a:pt x="3359" y="1130"/>
                    <a:pt x="3374" y="1140"/>
                  </a:cubicBezTo>
                  <a:cubicBezTo>
                    <a:pt x="3389" y="1150"/>
                    <a:pt x="3419" y="1170"/>
                    <a:pt x="3419" y="1170"/>
                  </a:cubicBezTo>
                  <a:cubicBezTo>
                    <a:pt x="3473" y="1251"/>
                    <a:pt x="3526" y="1376"/>
                    <a:pt x="3629" y="1410"/>
                  </a:cubicBezTo>
                  <a:cubicBezTo>
                    <a:pt x="3659" y="1420"/>
                    <a:pt x="3689" y="1430"/>
                    <a:pt x="3719" y="1440"/>
                  </a:cubicBezTo>
                  <a:cubicBezTo>
                    <a:pt x="3734" y="1445"/>
                    <a:pt x="3764" y="1455"/>
                    <a:pt x="3764" y="1455"/>
                  </a:cubicBezTo>
                  <a:cubicBezTo>
                    <a:pt x="3839" y="1449"/>
                    <a:pt x="3930" y="1472"/>
                    <a:pt x="3989" y="1425"/>
                  </a:cubicBezTo>
                  <a:cubicBezTo>
                    <a:pt x="4027" y="1394"/>
                    <a:pt x="4049" y="1290"/>
                    <a:pt x="4049" y="1290"/>
                  </a:cubicBezTo>
                  <a:cubicBezTo>
                    <a:pt x="4037" y="1107"/>
                    <a:pt x="4063" y="1078"/>
                    <a:pt x="3974" y="960"/>
                  </a:cubicBezTo>
                  <a:cubicBezTo>
                    <a:pt x="3948" y="883"/>
                    <a:pt x="3932" y="890"/>
                    <a:pt x="3869" y="855"/>
                  </a:cubicBezTo>
                  <a:cubicBezTo>
                    <a:pt x="3837" y="837"/>
                    <a:pt x="3809" y="815"/>
                    <a:pt x="3779" y="795"/>
                  </a:cubicBezTo>
                  <a:cubicBezTo>
                    <a:pt x="3766" y="786"/>
                    <a:pt x="3748" y="788"/>
                    <a:pt x="3734" y="780"/>
                  </a:cubicBezTo>
                  <a:cubicBezTo>
                    <a:pt x="3702" y="762"/>
                    <a:pt x="3674" y="740"/>
                    <a:pt x="3644" y="720"/>
                  </a:cubicBezTo>
                  <a:cubicBezTo>
                    <a:pt x="3608" y="696"/>
                    <a:pt x="3562" y="694"/>
                    <a:pt x="3524" y="675"/>
                  </a:cubicBezTo>
                  <a:cubicBezTo>
                    <a:pt x="3498" y="662"/>
                    <a:pt x="3476" y="642"/>
                    <a:pt x="3449" y="630"/>
                  </a:cubicBezTo>
                  <a:cubicBezTo>
                    <a:pt x="3406" y="610"/>
                    <a:pt x="3353" y="611"/>
                    <a:pt x="3314" y="585"/>
                  </a:cubicBezTo>
                  <a:cubicBezTo>
                    <a:pt x="3246" y="539"/>
                    <a:pt x="3167" y="521"/>
                    <a:pt x="3089" y="495"/>
                  </a:cubicBezTo>
                  <a:cubicBezTo>
                    <a:pt x="3036" y="477"/>
                    <a:pt x="2978" y="479"/>
                    <a:pt x="2924" y="465"/>
                  </a:cubicBezTo>
                  <a:cubicBezTo>
                    <a:pt x="2702" y="409"/>
                    <a:pt x="2919" y="455"/>
                    <a:pt x="2744" y="420"/>
                  </a:cubicBezTo>
                  <a:cubicBezTo>
                    <a:pt x="2661" y="379"/>
                    <a:pt x="2577" y="356"/>
                    <a:pt x="2489" y="330"/>
                  </a:cubicBezTo>
                  <a:cubicBezTo>
                    <a:pt x="2459" y="321"/>
                    <a:pt x="2399" y="300"/>
                    <a:pt x="2399" y="300"/>
                  </a:cubicBezTo>
                  <a:cubicBezTo>
                    <a:pt x="2394" y="281"/>
                    <a:pt x="2335" y="250"/>
                    <a:pt x="2324" y="228"/>
                  </a:cubicBezTo>
                  <a:cubicBezTo>
                    <a:pt x="2303" y="187"/>
                    <a:pt x="2329" y="152"/>
                    <a:pt x="2324" y="105"/>
                  </a:cubicBezTo>
                  <a:cubicBezTo>
                    <a:pt x="2321" y="70"/>
                    <a:pt x="2324" y="35"/>
                    <a:pt x="2324" y="0"/>
                  </a:cubicBezTo>
                </a:path>
              </a:pathLst>
            </a:custGeom>
            <a:noFill/>
            <a:ln w="9525">
              <a:solidFill>
                <a:srgbClr val="7F7F7F"/>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780" name="Text Box 5"/>
            <p:cNvSpPr txBox="1">
              <a:spLocks noChangeArrowheads="1"/>
            </p:cNvSpPr>
            <p:nvPr/>
          </p:nvSpPr>
          <p:spPr bwMode="auto">
            <a:xfrm>
              <a:off x="5148" y="9073"/>
              <a:ext cx="157" cy="2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80000"/>
                </a:lnSpc>
              </a:pPr>
              <a:r>
                <a:rPr lang="en-US" altLang="zh-CN" sz="1600" b="1">
                  <a:latin typeface="Arial" pitchFamily="34" charset="0"/>
                </a:rPr>
                <a:t>E</a:t>
              </a:r>
              <a:endParaRPr lang="zh-CN" altLang="zh-CN" sz="1600" b="1">
                <a:latin typeface="Arial" pitchFamily="34" charset="0"/>
              </a:endParaRPr>
            </a:p>
          </p:txBody>
        </p:sp>
        <p:sp>
          <p:nvSpPr>
            <p:cNvPr id="32781" name="Text Box 6"/>
            <p:cNvSpPr txBox="1">
              <a:spLocks noChangeArrowheads="1"/>
            </p:cNvSpPr>
            <p:nvPr/>
          </p:nvSpPr>
          <p:spPr bwMode="auto">
            <a:xfrm>
              <a:off x="5358" y="8524"/>
              <a:ext cx="177" cy="2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80000"/>
                </a:lnSpc>
              </a:pPr>
              <a:r>
                <a:rPr lang="en-US" altLang="zh-CN" sz="1600" b="1">
                  <a:latin typeface="Arial" pitchFamily="34" charset="0"/>
                </a:rPr>
                <a:t>F</a:t>
              </a:r>
              <a:endParaRPr lang="zh-CN" altLang="zh-CN" sz="1600" b="1">
                <a:latin typeface="Arial" pitchFamily="34" charset="0"/>
              </a:endParaRPr>
            </a:p>
          </p:txBody>
        </p:sp>
        <p:sp>
          <p:nvSpPr>
            <p:cNvPr id="32782" name="Text Box 7"/>
            <p:cNvSpPr txBox="1">
              <a:spLocks noChangeArrowheads="1"/>
            </p:cNvSpPr>
            <p:nvPr/>
          </p:nvSpPr>
          <p:spPr bwMode="auto">
            <a:xfrm>
              <a:off x="6933" y="8101"/>
              <a:ext cx="147" cy="20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80000"/>
                </a:lnSpc>
              </a:pPr>
              <a:r>
                <a:rPr lang="en-US" altLang="zh-CN" sz="1600" b="1">
                  <a:latin typeface="Arial" pitchFamily="34" charset="0"/>
                </a:rPr>
                <a:t>C</a:t>
              </a:r>
              <a:endParaRPr lang="zh-CN" altLang="zh-CN" sz="1600" b="1">
                <a:latin typeface="Arial" pitchFamily="34" charset="0"/>
              </a:endParaRPr>
            </a:p>
          </p:txBody>
        </p:sp>
        <p:sp>
          <p:nvSpPr>
            <p:cNvPr id="32783" name="Text Box 8"/>
            <p:cNvSpPr txBox="1">
              <a:spLocks noChangeArrowheads="1"/>
            </p:cNvSpPr>
            <p:nvPr/>
          </p:nvSpPr>
          <p:spPr bwMode="auto">
            <a:xfrm>
              <a:off x="4773" y="8131"/>
              <a:ext cx="222" cy="23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80000"/>
                </a:lnSpc>
              </a:pPr>
              <a:r>
                <a:rPr lang="en-US" altLang="zh-CN" sz="1600" b="1">
                  <a:latin typeface="Arial" pitchFamily="34" charset="0"/>
                </a:rPr>
                <a:t>B</a:t>
              </a:r>
              <a:endParaRPr lang="zh-CN" altLang="zh-CN" sz="1600" b="1">
                <a:latin typeface="Arial" pitchFamily="34" charset="0"/>
              </a:endParaRPr>
            </a:p>
          </p:txBody>
        </p:sp>
        <p:sp>
          <p:nvSpPr>
            <p:cNvPr id="32784" name="Text Box 9"/>
            <p:cNvSpPr txBox="1">
              <a:spLocks noChangeArrowheads="1"/>
            </p:cNvSpPr>
            <p:nvPr/>
          </p:nvSpPr>
          <p:spPr bwMode="auto">
            <a:xfrm>
              <a:off x="4248" y="8539"/>
              <a:ext cx="180" cy="26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80000"/>
                </a:lnSpc>
              </a:pPr>
              <a:r>
                <a:rPr lang="en-US" altLang="zh-CN" sz="1600" b="1">
                  <a:latin typeface="Arial" pitchFamily="34" charset="0"/>
                </a:rPr>
                <a:t>D</a:t>
              </a:r>
              <a:endParaRPr lang="zh-CN" altLang="zh-CN" sz="1600" b="1">
                <a:latin typeface="Arial" pitchFamily="34" charset="0"/>
              </a:endParaRPr>
            </a:p>
          </p:txBody>
        </p:sp>
        <p:sp>
          <p:nvSpPr>
            <p:cNvPr id="32785" name="Oval 10"/>
            <p:cNvSpPr>
              <a:spLocks noChangeArrowheads="1"/>
            </p:cNvSpPr>
            <p:nvPr/>
          </p:nvSpPr>
          <p:spPr bwMode="auto">
            <a:xfrm>
              <a:off x="6573" y="8983"/>
              <a:ext cx="312" cy="312"/>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32786" name="Oval 11"/>
            <p:cNvSpPr>
              <a:spLocks noChangeArrowheads="1"/>
            </p:cNvSpPr>
            <p:nvPr/>
          </p:nvSpPr>
          <p:spPr bwMode="auto">
            <a:xfrm>
              <a:off x="5073" y="9028"/>
              <a:ext cx="312" cy="312"/>
            </a:xfrm>
            <a:prstGeom prst="ellipse">
              <a:avLst/>
            </a:prstGeom>
            <a:solidFill>
              <a:srgbClr val="FFFFFF">
                <a:alpha val="0"/>
              </a:srgbClr>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32787" name="Oval 12"/>
            <p:cNvSpPr>
              <a:spLocks noChangeArrowheads="1"/>
            </p:cNvSpPr>
            <p:nvPr/>
          </p:nvSpPr>
          <p:spPr bwMode="auto">
            <a:xfrm>
              <a:off x="4158" y="8479"/>
              <a:ext cx="312" cy="312"/>
            </a:xfrm>
            <a:prstGeom prst="ellipse">
              <a:avLst/>
            </a:prstGeom>
            <a:solidFill>
              <a:srgbClr val="FFFFFF">
                <a:alpha val="0"/>
              </a:srgbClr>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32788" name="Oval 13"/>
            <p:cNvSpPr>
              <a:spLocks noChangeArrowheads="1"/>
            </p:cNvSpPr>
            <p:nvPr/>
          </p:nvSpPr>
          <p:spPr bwMode="auto">
            <a:xfrm>
              <a:off x="4728" y="8065"/>
              <a:ext cx="312" cy="312"/>
            </a:xfrm>
            <a:prstGeom prst="ellipse">
              <a:avLst/>
            </a:prstGeom>
            <a:solidFill>
              <a:srgbClr val="FFFFFF">
                <a:alpha val="0"/>
              </a:srgbClr>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32789" name="Oval 14"/>
            <p:cNvSpPr>
              <a:spLocks noChangeArrowheads="1"/>
            </p:cNvSpPr>
            <p:nvPr/>
          </p:nvSpPr>
          <p:spPr bwMode="auto">
            <a:xfrm>
              <a:off x="6258" y="8470"/>
              <a:ext cx="312" cy="312"/>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32790" name="Line 15"/>
            <p:cNvSpPr>
              <a:spLocks noChangeShapeType="1"/>
            </p:cNvSpPr>
            <p:nvPr/>
          </p:nvSpPr>
          <p:spPr bwMode="auto">
            <a:xfrm flipH="1">
              <a:off x="5013" y="7861"/>
              <a:ext cx="762" cy="2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91" name="Oval 16"/>
            <p:cNvSpPr>
              <a:spLocks noChangeArrowheads="1"/>
            </p:cNvSpPr>
            <p:nvPr/>
          </p:nvSpPr>
          <p:spPr bwMode="auto">
            <a:xfrm>
              <a:off x="6828" y="8050"/>
              <a:ext cx="312" cy="312"/>
            </a:xfrm>
            <a:prstGeom prst="ellipse">
              <a:avLst/>
            </a:prstGeom>
            <a:solidFill>
              <a:srgbClr val="FFFFFF">
                <a:alpha val="0"/>
              </a:srgbClr>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32792" name="Text Box 17"/>
            <p:cNvSpPr txBox="1">
              <a:spLocks noChangeArrowheads="1"/>
            </p:cNvSpPr>
            <p:nvPr/>
          </p:nvSpPr>
          <p:spPr bwMode="auto">
            <a:xfrm>
              <a:off x="6342" y="8530"/>
              <a:ext cx="153" cy="20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80000"/>
                </a:lnSpc>
              </a:pPr>
              <a:r>
                <a:rPr lang="en-US" altLang="zh-CN" sz="1600" b="1">
                  <a:latin typeface="Arial" pitchFamily="34" charset="0"/>
                </a:rPr>
                <a:t>G</a:t>
              </a:r>
              <a:endParaRPr lang="zh-CN" altLang="zh-CN" sz="1600" b="1">
                <a:latin typeface="Arial" pitchFamily="34" charset="0"/>
              </a:endParaRPr>
            </a:p>
          </p:txBody>
        </p:sp>
        <p:sp>
          <p:nvSpPr>
            <p:cNvPr id="32793" name="Oval 18"/>
            <p:cNvSpPr>
              <a:spLocks noChangeArrowheads="1"/>
            </p:cNvSpPr>
            <p:nvPr/>
          </p:nvSpPr>
          <p:spPr bwMode="auto">
            <a:xfrm>
              <a:off x="7383" y="8440"/>
              <a:ext cx="312" cy="312"/>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32794" name="Text Box 19"/>
            <p:cNvSpPr txBox="1">
              <a:spLocks noChangeArrowheads="1"/>
            </p:cNvSpPr>
            <p:nvPr/>
          </p:nvSpPr>
          <p:spPr bwMode="auto">
            <a:xfrm>
              <a:off x="7488" y="8500"/>
              <a:ext cx="147" cy="15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80000"/>
                </a:lnSpc>
              </a:pPr>
              <a:r>
                <a:rPr lang="en-US" altLang="zh-CN" sz="1600" b="1">
                  <a:latin typeface="Arial" pitchFamily="34" charset="0"/>
                </a:rPr>
                <a:t>I</a:t>
              </a:r>
              <a:endParaRPr lang="zh-CN" altLang="zh-CN" sz="1600" b="1">
                <a:latin typeface="Arial" pitchFamily="34" charset="0"/>
              </a:endParaRPr>
            </a:p>
          </p:txBody>
        </p:sp>
        <p:sp>
          <p:nvSpPr>
            <p:cNvPr id="32795" name="Line 20"/>
            <p:cNvSpPr>
              <a:spLocks noChangeShapeType="1"/>
            </p:cNvSpPr>
            <p:nvPr/>
          </p:nvSpPr>
          <p:spPr bwMode="auto">
            <a:xfrm flipH="1">
              <a:off x="4428" y="8323"/>
              <a:ext cx="330" cy="1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96" name="Oval 21"/>
            <p:cNvSpPr>
              <a:spLocks noChangeArrowheads="1"/>
            </p:cNvSpPr>
            <p:nvPr/>
          </p:nvSpPr>
          <p:spPr bwMode="auto">
            <a:xfrm>
              <a:off x="5283" y="8464"/>
              <a:ext cx="312" cy="312"/>
            </a:xfrm>
            <a:prstGeom prst="ellipse">
              <a:avLst/>
            </a:prstGeom>
            <a:solidFill>
              <a:srgbClr val="FFFFFF">
                <a:alpha val="0"/>
              </a:srgbClr>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32797" name="Text Box 22"/>
            <p:cNvSpPr txBox="1">
              <a:spLocks noChangeArrowheads="1"/>
            </p:cNvSpPr>
            <p:nvPr/>
          </p:nvSpPr>
          <p:spPr bwMode="auto">
            <a:xfrm>
              <a:off x="6663" y="9058"/>
              <a:ext cx="147" cy="15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80000"/>
                </a:lnSpc>
              </a:pPr>
              <a:r>
                <a:rPr lang="en-US" altLang="zh-CN" sz="1600" b="1">
                  <a:latin typeface="Arial" pitchFamily="34" charset="0"/>
                </a:rPr>
                <a:t>H</a:t>
              </a:r>
              <a:endParaRPr lang="zh-CN" altLang="zh-CN" sz="1600" b="1">
                <a:latin typeface="Arial" pitchFamily="34" charset="0"/>
              </a:endParaRPr>
            </a:p>
          </p:txBody>
        </p:sp>
        <p:sp>
          <p:nvSpPr>
            <p:cNvPr id="32798" name="Oval 23"/>
            <p:cNvSpPr>
              <a:spLocks noChangeArrowheads="1"/>
            </p:cNvSpPr>
            <p:nvPr/>
          </p:nvSpPr>
          <p:spPr bwMode="auto">
            <a:xfrm>
              <a:off x="5775" y="7645"/>
              <a:ext cx="312" cy="312"/>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32799" name="Text Box 24"/>
            <p:cNvSpPr txBox="1">
              <a:spLocks noChangeArrowheads="1"/>
            </p:cNvSpPr>
            <p:nvPr/>
          </p:nvSpPr>
          <p:spPr bwMode="auto">
            <a:xfrm>
              <a:off x="5868" y="7702"/>
              <a:ext cx="147" cy="15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80000"/>
                </a:lnSpc>
              </a:pPr>
              <a:r>
                <a:rPr lang="en-US" altLang="zh-CN" sz="1600" b="1">
                  <a:latin typeface="Arial" pitchFamily="34" charset="0"/>
                </a:rPr>
                <a:t>A</a:t>
              </a:r>
              <a:endParaRPr lang="zh-CN" altLang="zh-CN" sz="1600" b="1">
                <a:latin typeface="Arial" pitchFamily="34" charset="0"/>
              </a:endParaRPr>
            </a:p>
          </p:txBody>
        </p:sp>
        <p:sp>
          <p:nvSpPr>
            <p:cNvPr id="32800" name="Line 25"/>
            <p:cNvSpPr>
              <a:spLocks noChangeShapeType="1"/>
            </p:cNvSpPr>
            <p:nvPr/>
          </p:nvSpPr>
          <p:spPr bwMode="auto">
            <a:xfrm flipH="1">
              <a:off x="5268" y="8740"/>
              <a:ext cx="97" cy="30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01" name="AutoShape 26"/>
            <p:cNvSpPr>
              <a:spLocks noChangeArrowheads="1"/>
            </p:cNvSpPr>
            <p:nvPr/>
          </p:nvSpPr>
          <p:spPr bwMode="auto">
            <a:xfrm>
              <a:off x="5718" y="7567"/>
              <a:ext cx="125" cy="125"/>
            </a:xfrm>
            <a:prstGeom prst="flowChartSummingJunction">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32802" name="AutoShape 27"/>
            <p:cNvSpPr>
              <a:spLocks noChangeArrowheads="1"/>
            </p:cNvSpPr>
            <p:nvPr/>
          </p:nvSpPr>
          <p:spPr bwMode="auto">
            <a:xfrm>
              <a:off x="4728" y="7935"/>
              <a:ext cx="125" cy="125"/>
            </a:xfrm>
            <a:prstGeom prst="flowChartSummingJunction">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32803" name="AutoShape 28"/>
            <p:cNvSpPr>
              <a:spLocks noChangeArrowheads="1"/>
            </p:cNvSpPr>
            <p:nvPr/>
          </p:nvSpPr>
          <p:spPr bwMode="auto">
            <a:xfrm>
              <a:off x="4178" y="8369"/>
              <a:ext cx="125" cy="125"/>
            </a:xfrm>
            <a:prstGeom prst="flowChartSummingJunction">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32804" name="AutoShape 29"/>
            <p:cNvSpPr>
              <a:spLocks noChangeArrowheads="1"/>
            </p:cNvSpPr>
            <p:nvPr/>
          </p:nvSpPr>
          <p:spPr bwMode="auto">
            <a:xfrm>
              <a:off x="5098" y="8554"/>
              <a:ext cx="125" cy="125"/>
            </a:xfrm>
            <a:prstGeom prst="flowChartSummingJunction">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32805" name="AutoShape 30"/>
            <p:cNvSpPr>
              <a:spLocks noChangeArrowheads="1"/>
            </p:cNvSpPr>
            <p:nvPr/>
          </p:nvSpPr>
          <p:spPr bwMode="auto">
            <a:xfrm>
              <a:off x="4903" y="9106"/>
              <a:ext cx="125" cy="125"/>
            </a:xfrm>
            <a:prstGeom prst="flowChartSummingJunction">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32806" name="AutoShape 31"/>
            <p:cNvSpPr>
              <a:spLocks noChangeArrowheads="1"/>
            </p:cNvSpPr>
            <p:nvPr/>
          </p:nvSpPr>
          <p:spPr bwMode="auto">
            <a:xfrm>
              <a:off x="6615" y="8114"/>
              <a:ext cx="125" cy="125"/>
            </a:xfrm>
            <a:prstGeom prst="flowChartSummingJunction">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32807" name="AutoShape 32"/>
            <p:cNvSpPr>
              <a:spLocks noChangeArrowheads="1"/>
            </p:cNvSpPr>
            <p:nvPr/>
          </p:nvSpPr>
          <p:spPr bwMode="auto">
            <a:xfrm>
              <a:off x="6145" y="8404"/>
              <a:ext cx="125" cy="125"/>
            </a:xfrm>
            <a:prstGeom prst="flowChartSummingJunction">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32808" name="AutoShape 33"/>
            <p:cNvSpPr>
              <a:spLocks noChangeArrowheads="1"/>
            </p:cNvSpPr>
            <p:nvPr/>
          </p:nvSpPr>
          <p:spPr bwMode="auto">
            <a:xfrm>
              <a:off x="6400" y="9080"/>
              <a:ext cx="125" cy="125"/>
            </a:xfrm>
            <a:prstGeom prst="flowChartSummingJunction">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32809" name="AutoShape 34"/>
            <p:cNvSpPr>
              <a:spLocks noChangeArrowheads="1"/>
            </p:cNvSpPr>
            <p:nvPr/>
          </p:nvSpPr>
          <p:spPr bwMode="auto">
            <a:xfrm>
              <a:off x="7215" y="8501"/>
              <a:ext cx="125" cy="125"/>
            </a:xfrm>
            <a:prstGeom prst="flowChartSummingJunction">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32810" name="AutoShape 35"/>
            <p:cNvSpPr>
              <a:spLocks noChangeArrowheads="1"/>
            </p:cNvSpPr>
            <p:nvPr/>
          </p:nvSpPr>
          <p:spPr bwMode="auto">
            <a:xfrm>
              <a:off x="4398" y="8779"/>
              <a:ext cx="125" cy="125"/>
            </a:xfrm>
            <a:prstGeom prst="triangle">
              <a:avLst>
                <a:gd name="adj" fmla="val 50000"/>
              </a:avLst>
            </a:prstGeom>
            <a:solidFill>
              <a:srgbClr val="FFFFFF"/>
            </a:solidFill>
            <a:ln w="9525">
              <a:solidFill>
                <a:srgbClr val="000000"/>
              </a:solidFill>
              <a:miter lim="800000"/>
              <a:headEnd/>
              <a:tailEnd/>
            </a:ln>
          </p:spPr>
          <p:txBody>
            <a:bodyPr/>
            <a:lstStyle/>
            <a:p>
              <a:pPr eaLnBrk="1" hangingPunct="1"/>
              <a:endParaRPr lang="zh-CN" altLang="en-US" sz="1600" b="1">
                <a:latin typeface="Times New Roman" pitchFamily="18" charset="0"/>
              </a:endParaRPr>
            </a:p>
          </p:txBody>
        </p:sp>
        <p:sp>
          <p:nvSpPr>
            <p:cNvPr id="32811" name="AutoShape 36"/>
            <p:cNvSpPr>
              <a:spLocks noChangeArrowheads="1"/>
            </p:cNvSpPr>
            <p:nvPr/>
          </p:nvSpPr>
          <p:spPr bwMode="auto">
            <a:xfrm>
              <a:off x="5135" y="9380"/>
              <a:ext cx="125" cy="125"/>
            </a:xfrm>
            <a:prstGeom prst="triangle">
              <a:avLst>
                <a:gd name="adj" fmla="val 50000"/>
              </a:avLst>
            </a:prstGeom>
            <a:solidFill>
              <a:srgbClr val="FFFFFF"/>
            </a:solidFill>
            <a:ln w="9525">
              <a:solidFill>
                <a:srgbClr val="000000"/>
              </a:solidFill>
              <a:miter lim="800000"/>
              <a:headEnd/>
              <a:tailEnd/>
            </a:ln>
          </p:spPr>
          <p:txBody>
            <a:bodyPr/>
            <a:lstStyle/>
            <a:p>
              <a:pPr eaLnBrk="1" hangingPunct="1"/>
              <a:endParaRPr lang="zh-CN" altLang="en-US" sz="1600" b="1">
                <a:latin typeface="Times New Roman" pitchFamily="18" charset="0"/>
              </a:endParaRPr>
            </a:p>
          </p:txBody>
        </p:sp>
        <p:sp>
          <p:nvSpPr>
            <p:cNvPr id="32812" name="AutoShape 37"/>
            <p:cNvSpPr>
              <a:spLocks noChangeArrowheads="1"/>
            </p:cNvSpPr>
            <p:nvPr/>
          </p:nvSpPr>
          <p:spPr bwMode="auto">
            <a:xfrm>
              <a:off x="5590" y="8719"/>
              <a:ext cx="125" cy="125"/>
            </a:xfrm>
            <a:prstGeom prst="triangle">
              <a:avLst>
                <a:gd name="adj" fmla="val 50000"/>
              </a:avLst>
            </a:prstGeom>
            <a:solidFill>
              <a:srgbClr val="FFFFFF"/>
            </a:solidFill>
            <a:ln w="9525">
              <a:solidFill>
                <a:srgbClr val="000000"/>
              </a:solidFill>
              <a:miter lim="800000"/>
              <a:headEnd/>
              <a:tailEnd/>
            </a:ln>
          </p:spPr>
          <p:txBody>
            <a:bodyPr/>
            <a:lstStyle/>
            <a:p>
              <a:pPr eaLnBrk="1" hangingPunct="1"/>
              <a:endParaRPr lang="zh-CN" altLang="en-US" sz="1600" b="1">
                <a:latin typeface="Times New Roman" pitchFamily="18" charset="0"/>
              </a:endParaRPr>
            </a:p>
          </p:txBody>
        </p:sp>
        <p:sp>
          <p:nvSpPr>
            <p:cNvPr id="32813" name="AutoShape 38"/>
            <p:cNvSpPr>
              <a:spLocks noChangeArrowheads="1"/>
            </p:cNvSpPr>
            <p:nvPr/>
          </p:nvSpPr>
          <p:spPr bwMode="auto">
            <a:xfrm>
              <a:off x="5113" y="8162"/>
              <a:ext cx="125" cy="125"/>
            </a:xfrm>
            <a:prstGeom prst="triangle">
              <a:avLst>
                <a:gd name="adj" fmla="val 50000"/>
              </a:avLst>
            </a:prstGeom>
            <a:solidFill>
              <a:srgbClr val="FFFFFF"/>
            </a:solidFill>
            <a:ln w="9525">
              <a:solidFill>
                <a:srgbClr val="000000"/>
              </a:solidFill>
              <a:miter lim="800000"/>
              <a:headEnd/>
              <a:tailEnd/>
            </a:ln>
          </p:spPr>
          <p:txBody>
            <a:bodyPr/>
            <a:lstStyle/>
            <a:p>
              <a:pPr eaLnBrk="1" hangingPunct="1"/>
              <a:endParaRPr lang="zh-CN" altLang="en-US" sz="1600" b="1">
                <a:latin typeface="Times New Roman" pitchFamily="18" charset="0"/>
              </a:endParaRPr>
            </a:p>
          </p:txBody>
        </p:sp>
        <p:sp>
          <p:nvSpPr>
            <p:cNvPr id="32814" name="AutoShape 39"/>
            <p:cNvSpPr>
              <a:spLocks noChangeArrowheads="1"/>
            </p:cNvSpPr>
            <p:nvPr/>
          </p:nvSpPr>
          <p:spPr bwMode="auto">
            <a:xfrm>
              <a:off x="6855" y="9240"/>
              <a:ext cx="125" cy="125"/>
            </a:xfrm>
            <a:prstGeom prst="triangle">
              <a:avLst>
                <a:gd name="adj" fmla="val 50000"/>
              </a:avLst>
            </a:prstGeom>
            <a:solidFill>
              <a:srgbClr val="FFFFFF"/>
            </a:solidFill>
            <a:ln w="9525">
              <a:solidFill>
                <a:srgbClr val="000000"/>
              </a:solidFill>
              <a:miter lim="800000"/>
              <a:headEnd/>
              <a:tailEnd/>
            </a:ln>
          </p:spPr>
          <p:txBody>
            <a:bodyPr/>
            <a:lstStyle/>
            <a:p>
              <a:pPr eaLnBrk="1" hangingPunct="1"/>
              <a:endParaRPr lang="zh-CN" altLang="en-US" sz="1600" b="1">
                <a:latin typeface="Times New Roman" pitchFamily="18" charset="0"/>
              </a:endParaRPr>
            </a:p>
          </p:txBody>
        </p:sp>
        <p:sp>
          <p:nvSpPr>
            <p:cNvPr id="32815" name="AutoShape 40"/>
            <p:cNvSpPr>
              <a:spLocks noChangeArrowheads="1"/>
            </p:cNvSpPr>
            <p:nvPr/>
          </p:nvSpPr>
          <p:spPr bwMode="auto">
            <a:xfrm>
              <a:off x="6598" y="8644"/>
              <a:ext cx="125" cy="125"/>
            </a:xfrm>
            <a:prstGeom prst="triangle">
              <a:avLst>
                <a:gd name="adj" fmla="val 50000"/>
              </a:avLst>
            </a:prstGeom>
            <a:solidFill>
              <a:srgbClr val="FFFFFF"/>
            </a:solidFill>
            <a:ln w="9525">
              <a:solidFill>
                <a:srgbClr val="000000"/>
              </a:solidFill>
              <a:miter lim="800000"/>
              <a:headEnd/>
              <a:tailEnd/>
            </a:ln>
          </p:spPr>
          <p:txBody>
            <a:bodyPr/>
            <a:lstStyle/>
            <a:p>
              <a:pPr eaLnBrk="1" hangingPunct="1"/>
              <a:endParaRPr lang="zh-CN" altLang="en-US" sz="1600" b="1">
                <a:latin typeface="Times New Roman" pitchFamily="18" charset="0"/>
              </a:endParaRPr>
            </a:p>
          </p:txBody>
        </p:sp>
        <p:sp>
          <p:nvSpPr>
            <p:cNvPr id="32816" name="AutoShape 41"/>
            <p:cNvSpPr>
              <a:spLocks noChangeArrowheads="1"/>
            </p:cNvSpPr>
            <p:nvPr/>
          </p:nvSpPr>
          <p:spPr bwMode="auto">
            <a:xfrm>
              <a:off x="7735" y="8656"/>
              <a:ext cx="125" cy="125"/>
            </a:xfrm>
            <a:prstGeom prst="triangle">
              <a:avLst>
                <a:gd name="adj" fmla="val 50000"/>
              </a:avLst>
            </a:prstGeom>
            <a:solidFill>
              <a:srgbClr val="FFFFFF"/>
            </a:solidFill>
            <a:ln w="9525">
              <a:solidFill>
                <a:srgbClr val="000000"/>
              </a:solidFill>
              <a:miter lim="800000"/>
              <a:headEnd/>
              <a:tailEnd/>
            </a:ln>
          </p:spPr>
          <p:txBody>
            <a:bodyPr/>
            <a:lstStyle/>
            <a:p>
              <a:pPr eaLnBrk="1" hangingPunct="1"/>
              <a:endParaRPr lang="zh-CN" altLang="en-US" sz="1600" b="1">
                <a:latin typeface="Times New Roman" pitchFamily="18" charset="0"/>
              </a:endParaRPr>
            </a:p>
          </p:txBody>
        </p:sp>
        <p:sp>
          <p:nvSpPr>
            <p:cNvPr id="32817" name="AutoShape 42"/>
            <p:cNvSpPr>
              <a:spLocks noChangeArrowheads="1"/>
            </p:cNvSpPr>
            <p:nvPr/>
          </p:nvSpPr>
          <p:spPr bwMode="auto">
            <a:xfrm>
              <a:off x="7168" y="8020"/>
              <a:ext cx="125" cy="125"/>
            </a:xfrm>
            <a:prstGeom prst="triangle">
              <a:avLst>
                <a:gd name="adj" fmla="val 50000"/>
              </a:avLst>
            </a:prstGeom>
            <a:solidFill>
              <a:srgbClr val="FFFFFF"/>
            </a:solidFill>
            <a:ln w="9525">
              <a:solidFill>
                <a:srgbClr val="000000"/>
              </a:solidFill>
              <a:miter lim="800000"/>
              <a:headEnd/>
              <a:tailEnd/>
            </a:ln>
          </p:spPr>
          <p:txBody>
            <a:bodyPr/>
            <a:lstStyle/>
            <a:p>
              <a:pPr eaLnBrk="1" hangingPunct="1"/>
              <a:endParaRPr lang="zh-CN" altLang="en-US" sz="1600" b="1">
                <a:latin typeface="Times New Roman" pitchFamily="18" charset="0"/>
              </a:endParaRPr>
            </a:p>
          </p:txBody>
        </p:sp>
        <p:sp>
          <p:nvSpPr>
            <p:cNvPr id="32818" name="AutoShape 43"/>
            <p:cNvSpPr>
              <a:spLocks noChangeArrowheads="1"/>
            </p:cNvSpPr>
            <p:nvPr/>
          </p:nvSpPr>
          <p:spPr bwMode="auto">
            <a:xfrm>
              <a:off x="6145" y="7662"/>
              <a:ext cx="125" cy="125"/>
            </a:xfrm>
            <a:prstGeom prst="triangle">
              <a:avLst>
                <a:gd name="adj" fmla="val 50000"/>
              </a:avLst>
            </a:prstGeom>
            <a:solidFill>
              <a:srgbClr val="FFFFFF"/>
            </a:solidFill>
            <a:ln w="9525">
              <a:solidFill>
                <a:srgbClr val="000000"/>
              </a:solidFill>
              <a:miter lim="800000"/>
              <a:headEnd/>
              <a:tailEnd/>
            </a:ln>
          </p:spPr>
          <p:txBody>
            <a:bodyPr/>
            <a:lstStyle/>
            <a:p>
              <a:pPr eaLnBrk="1" hangingPunct="1"/>
              <a:endParaRPr lang="zh-CN" altLang="en-US" sz="1600" b="1">
                <a:latin typeface="Times New Roman" pitchFamily="18" charset="0"/>
              </a:endParaRPr>
            </a:p>
          </p:txBody>
        </p:sp>
        <p:sp>
          <p:nvSpPr>
            <p:cNvPr id="87084" name="AutoShape 44"/>
            <p:cNvSpPr>
              <a:spLocks noChangeArrowheads="1"/>
            </p:cNvSpPr>
            <p:nvPr/>
          </p:nvSpPr>
          <p:spPr bwMode="auto">
            <a:xfrm>
              <a:off x="4922" y="9239"/>
              <a:ext cx="182" cy="181"/>
            </a:xfrm>
            <a:prstGeom prst="star5">
              <a:avLst/>
            </a:prstGeom>
            <a:solidFill>
              <a:srgbClr val="FFFFFF"/>
            </a:solidFill>
            <a:ln w="9525">
              <a:solidFill>
                <a:srgbClr val="000000"/>
              </a:solidFill>
              <a:miter lim="800000"/>
              <a:headEnd/>
              <a:tailEnd/>
            </a:ln>
          </p:spPr>
          <p:txBody>
            <a:bodyPr/>
            <a:lstStyle/>
            <a:p>
              <a:pPr eaLnBrk="1" fontAlgn="auto" hangingPunct="1">
                <a:spcBef>
                  <a:spcPts val="0"/>
                </a:spcBef>
                <a:spcAft>
                  <a:spcPts val="0"/>
                </a:spcAft>
                <a:defRPr/>
              </a:pPr>
              <a:endParaRPr lang="zh-CN" altLang="en-US" sz="1600" b="1">
                <a:latin typeface="+mn-lt"/>
                <a:ea typeface="+mn-ea"/>
              </a:endParaRPr>
            </a:p>
          </p:txBody>
        </p:sp>
        <p:sp>
          <p:nvSpPr>
            <p:cNvPr id="87085" name="AutoShape 45"/>
            <p:cNvSpPr>
              <a:spLocks noChangeArrowheads="1"/>
            </p:cNvSpPr>
            <p:nvPr/>
          </p:nvSpPr>
          <p:spPr bwMode="auto">
            <a:xfrm>
              <a:off x="3932" y="8754"/>
              <a:ext cx="182" cy="181"/>
            </a:xfrm>
            <a:prstGeom prst="star5">
              <a:avLst/>
            </a:prstGeom>
            <a:solidFill>
              <a:srgbClr val="FFFFFF"/>
            </a:solidFill>
            <a:ln w="9525">
              <a:solidFill>
                <a:srgbClr val="000000"/>
              </a:solidFill>
              <a:miter lim="800000"/>
              <a:headEnd/>
              <a:tailEnd/>
            </a:ln>
          </p:spPr>
          <p:txBody>
            <a:bodyPr/>
            <a:lstStyle/>
            <a:p>
              <a:pPr eaLnBrk="1" fontAlgn="auto" hangingPunct="1">
                <a:spcBef>
                  <a:spcPts val="0"/>
                </a:spcBef>
                <a:spcAft>
                  <a:spcPts val="0"/>
                </a:spcAft>
                <a:defRPr/>
              </a:pPr>
              <a:endParaRPr lang="zh-CN" altLang="en-US" sz="1600" b="1">
                <a:latin typeface="+mn-lt"/>
                <a:ea typeface="+mn-ea"/>
              </a:endParaRPr>
            </a:p>
          </p:txBody>
        </p:sp>
        <p:sp>
          <p:nvSpPr>
            <p:cNvPr id="87086" name="AutoShape 46"/>
            <p:cNvSpPr>
              <a:spLocks noChangeArrowheads="1"/>
            </p:cNvSpPr>
            <p:nvPr/>
          </p:nvSpPr>
          <p:spPr bwMode="auto">
            <a:xfrm>
              <a:off x="4698" y="8400"/>
              <a:ext cx="181" cy="181"/>
            </a:xfrm>
            <a:prstGeom prst="star5">
              <a:avLst/>
            </a:prstGeom>
            <a:solidFill>
              <a:srgbClr val="FFFFFF"/>
            </a:solidFill>
            <a:ln w="9525">
              <a:solidFill>
                <a:srgbClr val="000000"/>
              </a:solidFill>
              <a:miter lim="800000"/>
              <a:headEnd/>
              <a:tailEnd/>
            </a:ln>
          </p:spPr>
          <p:txBody>
            <a:bodyPr/>
            <a:lstStyle/>
            <a:p>
              <a:pPr eaLnBrk="1" fontAlgn="auto" hangingPunct="1">
                <a:spcBef>
                  <a:spcPts val="0"/>
                </a:spcBef>
                <a:spcAft>
                  <a:spcPts val="0"/>
                </a:spcAft>
                <a:defRPr/>
              </a:pPr>
              <a:endParaRPr lang="zh-CN" altLang="en-US" sz="1600" b="1">
                <a:latin typeface="+mn-lt"/>
                <a:ea typeface="+mn-ea"/>
              </a:endParaRPr>
            </a:p>
          </p:txBody>
        </p:sp>
        <p:sp>
          <p:nvSpPr>
            <p:cNvPr id="87087" name="AutoShape 47"/>
            <p:cNvSpPr>
              <a:spLocks noChangeArrowheads="1"/>
            </p:cNvSpPr>
            <p:nvPr/>
          </p:nvSpPr>
          <p:spPr bwMode="auto">
            <a:xfrm>
              <a:off x="5415" y="8814"/>
              <a:ext cx="181" cy="181"/>
            </a:xfrm>
            <a:prstGeom prst="star5">
              <a:avLst/>
            </a:prstGeom>
            <a:solidFill>
              <a:srgbClr val="FFFFFF"/>
            </a:solidFill>
            <a:ln w="9525">
              <a:solidFill>
                <a:srgbClr val="000000"/>
              </a:solidFill>
              <a:miter lim="800000"/>
              <a:headEnd/>
              <a:tailEnd/>
            </a:ln>
          </p:spPr>
          <p:txBody>
            <a:bodyPr/>
            <a:lstStyle/>
            <a:p>
              <a:pPr eaLnBrk="1" fontAlgn="auto" hangingPunct="1">
                <a:spcBef>
                  <a:spcPts val="0"/>
                </a:spcBef>
                <a:spcAft>
                  <a:spcPts val="0"/>
                </a:spcAft>
                <a:defRPr/>
              </a:pPr>
              <a:endParaRPr lang="zh-CN" altLang="en-US" sz="1600" b="1">
                <a:latin typeface="+mn-lt"/>
                <a:ea typeface="+mn-ea"/>
              </a:endParaRPr>
            </a:p>
          </p:txBody>
        </p:sp>
        <p:sp>
          <p:nvSpPr>
            <p:cNvPr id="87088" name="AutoShape 48"/>
            <p:cNvSpPr>
              <a:spLocks noChangeArrowheads="1"/>
            </p:cNvSpPr>
            <p:nvPr/>
          </p:nvSpPr>
          <p:spPr bwMode="auto">
            <a:xfrm>
              <a:off x="5744" y="7951"/>
              <a:ext cx="181" cy="181"/>
            </a:xfrm>
            <a:prstGeom prst="star5">
              <a:avLst/>
            </a:prstGeom>
            <a:solidFill>
              <a:srgbClr val="FFFFFF"/>
            </a:solidFill>
            <a:ln w="9525">
              <a:solidFill>
                <a:srgbClr val="000000"/>
              </a:solidFill>
              <a:miter lim="800000"/>
              <a:headEnd/>
              <a:tailEnd/>
            </a:ln>
          </p:spPr>
          <p:txBody>
            <a:bodyPr/>
            <a:lstStyle/>
            <a:p>
              <a:pPr eaLnBrk="1" fontAlgn="auto" hangingPunct="1">
                <a:spcBef>
                  <a:spcPts val="0"/>
                </a:spcBef>
                <a:spcAft>
                  <a:spcPts val="0"/>
                </a:spcAft>
                <a:defRPr/>
              </a:pPr>
              <a:endParaRPr lang="zh-CN" altLang="en-US" sz="1600" b="1">
                <a:latin typeface="+mn-lt"/>
                <a:ea typeface="+mn-ea"/>
              </a:endParaRPr>
            </a:p>
          </p:txBody>
        </p:sp>
        <p:sp>
          <p:nvSpPr>
            <p:cNvPr id="87089" name="AutoShape 49"/>
            <p:cNvSpPr>
              <a:spLocks noChangeArrowheads="1"/>
            </p:cNvSpPr>
            <p:nvPr/>
          </p:nvSpPr>
          <p:spPr bwMode="auto">
            <a:xfrm>
              <a:off x="6161" y="8754"/>
              <a:ext cx="182" cy="181"/>
            </a:xfrm>
            <a:prstGeom prst="star5">
              <a:avLst/>
            </a:prstGeom>
            <a:solidFill>
              <a:srgbClr val="FFFFFF"/>
            </a:solidFill>
            <a:ln w="9525">
              <a:solidFill>
                <a:srgbClr val="000000"/>
              </a:solidFill>
              <a:miter lim="800000"/>
              <a:headEnd/>
              <a:tailEnd/>
            </a:ln>
          </p:spPr>
          <p:txBody>
            <a:bodyPr/>
            <a:lstStyle/>
            <a:p>
              <a:pPr eaLnBrk="1" fontAlgn="auto" hangingPunct="1">
                <a:spcBef>
                  <a:spcPts val="0"/>
                </a:spcBef>
                <a:spcAft>
                  <a:spcPts val="0"/>
                </a:spcAft>
                <a:defRPr/>
              </a:pPr>
              <a:endParaRPr lang="zh-CN" altLang="en-US" sz="1600" b="1">
                <a:latin typeface="+mn-lt"/>
                <a:ea typeface="+mn-ea"/>
              </a:endParaRPr>
            </a:p>
          </p:txBody>
        </p:sp>
        <p:sp>
          <p:nvSpPr>
            <p:cNvPr id="87090" name="AutoShape 50"/>
            <p:cNvSpPr>
              <a:spLocks noChangeArrowheads="1"/>
            </p:cNvSpPr>
            <p:nvPr/>
          </p:nvSpPr>
          <p:spPr bwMode="auto">
            <a:xfrm>
              <a:off x="6573" y="9334"/>
              <a:ext cx="181" cy="181"/>
            </a:xfrm>
            <a:prstGeom prst="star5">
              <a:avLst/>
            </a:prstGeom>
            <a:solidFill>
              <a:srgbClr val="FFFFFF"/>
            </a:solidFill>
            <a:ln w="9525">
              <a:solidFill>
                <a:srgbClr val="000000"/>
              </a:solidFill>
              <a:miter lim="800000"/>
              <a:headEnd/>
              <a:tailEnd/>
            </a:ln>
          </p:spPr>
          <p:txBody>
            <a:bodyPr/>
            <a:lstStyle/>
            <a:p>
              <a:pPr eaLnBrk="1" fontAlgn="auto" hangingPunct="1">
                <a:spcBef>
                  <a:spcPts val="0"/>
                </a:spcBef>
                <a:spcAft>
                  <a:spcPts val="0"/>
                </a:spcAft>
                <a:defRPr/>
              </a:pPr>
              <a:endParaRPr lang="zh-CN" altLang="en-US" sz="1600" b="1">
                <a:latin typeface="+mn-lt"/>
                <a:ea typeface="+mn-ea"/>
              </a:endParaRPr>
            </a:p>
          </p:txBody>
        </p:sp>
        <p:sp>
          <p:nvSpPr>
            <p:cNvPr id="87091" name="AutoShape 51"/>
            <p:cNvSpPr>
              <a:spLocks noChangeArrowheads="1"/>
            </p:cNvSpPr>
            <p:nvPr/>
          </p:nvSpPr>
          <p:spPr bwMode="auto">
            <a:xfrm>
              <a:off x="6843" y="8381"/>
              <a:ext cx="181" cy="181"/>
            </a:xfrm>
            <a:prstGeom prst="star5">
              <a:avLst/>
            </a:prstGeom>
            <a:solidFill>
              <a:srgbClr val="FFFFFF"/>
            </a:solidFill>
            <a:ln w="9525">
              <a:solidFill>
                <a:srgbClr val="000000"/>
              </a:solidFill>
              <a:miter lim="800000"/>
              <a:headEnd/>
              <a:tailEnd/>
            </a:ln>
          </p:spPr>
          <p:txBody>
            <a:bodyPr/>
            <a:lstStyle/>
            <a:p>
              <a:pPr eaLnBrk="1" fontAlgn="auto" hangingPunct="1">
                <a:spcBef>
                  <a:spcPts val="0"/>
                </a:spcBef>
                <a:spcAft>
                  <a:spcPts val="0"/>
                </a:spcAft>
                <a:defRPr/>
              </a:pPr>
              <a:endParaRPr lang="zh-CN" altLang="en-US" sz="1600" b="1">
                <a:latin typeface="+mn-lt"/>
                <a:ea typeface="+mn-ea"/>
              </a:endParaRPr>
            </a:p>
          </p:txBody>
        </p:sp>
        <p:sp>
          <p:nvSpPr>
            <p:cNvPr id="87092" name="AutoShape 52"/>
            <p:cNvSpPr>
              <a:spLocks noChangeArrowheads="1"/>
            </p:cNvSpPr>
            <p:nvPr/>
          </p:nvSpPr>
          <p:spPr bwMode="auto">
            <a:xfrm>
              <a:off x="7337" y="8731"/>
              <a:ext cx="181" cy="181"/>
            </a:xfrm>
            <a:prstGeom prst="star5">
              <a:avLst/>
            </a:prstGeom>
            <a:solidFill>
              <a:srgbClr val="FFFFFF"/>
            </a:solidFill>
            <a:ln w="9525">
              <a:solidFill>
                <a:srgbClr val="000000"/>
              </a:solidFill>
              <a:miter lim="800000"/>
              <a:headEnd/>
              <a:tailEnd/>
            </a:ln>
          </p:spPr>
          <p:txBody>
            <a:bodyPr/>
            <a:lstStyle/>
            <a:p>
              <a:pPr eaLnBrk="1" fontAlgn="auto" hangingPunct="1">
                <a:spcBef>
                  <a:spcPts val="0"/>
                </a:spcBef>
                <a:spcAft>
                  <a:spcPts val="0"/>
                </a:spcAft>
                <a:defRPr/>
              </a:pPr>
              <a:endParaRPr lang="zh-CN" altLang="en-US" sz="1600" b="1">
                <a:latin typeface="+mn-lt"/>
                <a:ea typeface="+mn-ea"/>
              </a:endParaRPr>
            </a:p>
          </p:txBody>
        </p:sp>
        <p:sp>
          <p:nvSpPr>
            <p:cNvPr id="32828" name="Line 53"/>
            <p:cNvSpPr>
              <a:spLocks noChangeShapeType="1"/>
            </p:cNvSpPr>
            <p:nvPr/>
          </p:nvSpPr>
          <p:spPr bwMode="auto">
            <a:xfrm>
              <a:off x="6078" y="7861"/>
              <a:ext cx="762" cy="2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29" name="Line 54"/>
            <p:cNvSpPr>
              <a:spLocks noChangeShapeType="1"/>
            </p:cNvSpPr>
            <p:nvPr/>
          </p:nvSpPr>
          <p:spPr bwMode="auto">
            <a:xfrm>
              <a:off x="4998" y="8323"/>
              <a:ext cx="330" cy="1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30" name="Line 55"/>
            <p:cNvSpPr>
              <a:spLocks noChangeShapeType="1"/>
            </p:cNvSpPr>
            <p:nvPr/>
          </p:nvSpPr>
          <p:spPr bwMode="auto">
            <a:xfrm>
              <a:off x="7095" y="8300"/>
              <a:ext cx="330" cy="1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31" name="Line 56"/>
            <p:cNvSpPr>
              <a:spLocks noChangeShapeType="1"/>
            </p:cNvSpPr>
            <p:nvPr/>
          </p:nvSpPr>
          <p:spPr bwMode="auto">
            <a:xfrm flipH="1">
              <a:off x="6528" y="8310"/>
              <a:ext cx="330" cy="1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32" name="Line 57"/>
            <p:cNvSpPr>
              <a:spLocks noChangeShapeType="1"/>
            </p:cNvSpPr>
            <p:nvPr/>
          </p:nvSpPr>
          <p:spPr bwMode="auto">
            <a:xfrm>
              <a:off x="6525" y="8722"/>
              <a:ext cx="97" cy="30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cxnSp>
          <p:nvCxnSpPr>
            <p:cNvPr id="32833" name="AutoShape 58"/>
            <p:cNvCxnSpPr>
              <a:cxnSpLocks noChangeShapeType="1"/>
            </p:cNvCxnSpPr>
            <p:nvPr/>
          </p:nvCxnSpPr>
          <p:spPr bwMode="auto">
            <a:xfrm>
              <a:off x="5700" y="7329"/>
              <a:ext cx="0" cy="270"/>
            </a:xfrm>
            <a:prstGeom prst="straightConnector1">
              <a:avLst/>
            </a:prstGeom>
            <a:noFill/>
            <a:ln w="25400">
              <a:solidFill>
                <a:srgbClr val="000000"/>
              </a:solidFill>
              <a:round/>
              <a:headEnd/>
              <a:tailEnd type="triangle" w="med" len="med"/>
            </a:ln>
            <a:extLst>
              <a:ext uri="{909E8E84-426E-40DD-AFC4-6F175D3DCCD1}">
                <a14:hiddenFill xmlns:a14="http://schemas.microsoft.com/office/drawing/2010/main">
                  <a:noFill/>
                </a14:hiddenFill>
              </a:ext>
            </a:extLst>
          </p:spPr>
        </p:cxnSp>
        <p:cxnSp>
          <p:nvCxnSpPr>
            <p:cNvPr id="32834" name="AutoShape 59"/>
            <p:cNvCxnSpPr>
              <a:cxnSpLocks noChangeShapeType="1"/>
            </p:cNvCxnSpPr>
            <p:nvPr/>
          </p:nvCxnSpPr>
          <p:spPr bwMode="auto">
            <a:xfrm flipV="1">
              <a:off x="6210" y="7299"/>
              <a:ext cx="0" cy="270"/>
            </a:xfrm>
            <a:prstGeom prst="straightConnector1">
              <a:avLst/>
            </a:prstGeom>
            <a:noFill/>
            <a:ln w="25400">
              <a:solidFill>
                <a:srgbClr val="000000"/>
              </a:solidFill>
              <a:round/>
              <a:headEnd/>
              <a:tailEnd type="triangle" w="med" len="med"/>
            </a:ln>
            <a:extLst>
              <a:ext uri="{909E8E84-426E-40DD-AFC4-6F175D3DCCD1}">
                <a14:hiddenFill xmlns:a14="http://schemas.microsoft.com/office/drawing/2010/main">
                  <a:noFill/>
                </a14:hiddenFill>
              </a:ext>
            </a:extLst>
          </p:spPr>
        </p:cxnSp>
      </p:grpSp>
    </p:spTree>
    <p:extLst>
      <p:ext uri="{BB962C8B-B14F-4D97-AF65-F5344CB8AC3E}">
        <p14:creationId xmlns:p14="http://schemas.microsoft.com/office/powerpoint/2010/main" val="411012492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strips(downRight)">
                                      <p:cBhvr>
                                        <p:cTn id="12" dur="500"/>
                                        <p:tgtEl>
                                          <p:spTgt spid="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87041"/>
                                        </p:tgtEl>
                                        <p:attrNameLst>
                                          <p:attrName>style.visibility</p:attrName>
                                        </p:attrNameLst>
                                      </p:cBhvr>
                                      <p:to>
                                        <p:strVal val="visible"/>
                                      </p:to>
                                    </p:set>
                                    <p:animEffect transition="in" filter="wipe(left)">
                                      <p:cBhvr>
                                        <p:cTn id="17" dur="500"/>
                                        <p:tgtEl>
                                          <p:spTgt spid="870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2"/>
          <p:cNvSpPr txBox="1">
            <a:spLocks noChangeArrowheads="1"/>
          </p:cNvSpPr>
          <p:nvPr/>
        </p:nvSpPr>
        <p:spPr bwMode="auto">
          <a:xfrm>
            <a:off x="595495" y="1968500"/>
            <a:ext cx="8296985" cy="4247317"/>
          </a:xfrm>
          <a:prstGeom prst="rect">
            <a:avLst/>
          </a:prstGeom>
          <a:noFill/>
          <a:ln w="9525">
            <a:solidFill>
              <a:srgbClr val="000000"/>
            </a:solidFill>
            <a:miter lim="800000"/>
            <a:headEnd/>
            <a:tailEnd/>
          </a:ln>
        </p:spPr>
        <p:txBody>
          <a:bodyPr wrap="square">
            <a:spAutoFit/>
          </a:bodyPr>
          <a:lstStyle/>
          <a:p>
            <a:pPr algn="just" eaLnBrk="1" hangingPunct="1">
              <a:defRPr/>
            </a:pPr>
            <a:r>
              <a:rPr lang="en-US" altLang="zh-CN" sz="1800" b="1" dirty="0">
                <a:solidFill>
                  <a:srgbClr val="0000FF"/>
                </a:solidFill>
                <a:latin typeface="Courier New" pitchFamily="49" charset="0"/>
              </a:rPr>
              <a:t>void</a:t>
            </a:r>
            <a:r>
              <a:rPr lang="en-US" altLang="zh-CN" sz="1800" b="1" dirty="0">
                <a:latin typeface="Courier New" pitchFamily="49" charset="0"/>
              </a:rPr>
              <a:t> </a:t>
            </a:r>
            <a:r>
              <a:rPr lang="en-US" altLang="zh-CN" sz="1800" b="1" dirty="0" err="1">
                <a:latin typeface="Courier New" pitchFamily="49" charset="0"/>
              </a:rPr>
              <a:t>InOrderTraversal</a:t>
            </a:r>
            <a:r>
              <a:rPr lang="en-US" altLang="zh-CN" sz="1800" b="1" dirty="0">
                <a:latin typeface="Courier New" pitchFamily="49" charset="0"/>
              </a:rPr>
              <a:t>( </a:t>
            </a:r>
            <a:r>
              <a:rPr lang="en-US" altLang="zh-CN" sz="1800" b="1" dirty="0" err="1" smtClean="0">
                <a:latin typeface="Courier New" pitchFamily="49" charset="0"/>
              </a:rPr>
              <a:t>BiTree</a:t>
            </a:r>
            <a:r>
              <a:rPr lang="en-US" altLang="zh-CN" sz="1800" b="1" dirty="0" smtClean="0">
                <a:latin typeface="Courier New" pitchFamily="49" charset="0"/>
              </a:rPr>
              <a:t> </a:t>
            </a:r>
            <a:r>
              <a:rPr lang="en-US" altLang="zh-CN" sz="1800" b="1" dirty="0">
                <a:latin typeface="Courier New" pitchFamily="49" charset="0"/>
              </a:rPr>
              <a:t>BT )</a:t>
            </a:r>
          </a:p>
          <a:p>
            <a:pPr algn="just" eaLnBrk="1" hangingPunct="1">
              <a:defRPr/>
            </a:pPr>
            <a:r>
              <a:rPr lang="en-US" altLang="zh-CN" sz="1800" b="1" dirty="0">
                <a:latin typeface="Courier New" pitchFamily="49" charset="0"/>
              </a:rPr>
              <a:t>{   </a:t>
            </a:r>
            <a:r>
              <a:rPr lang="en-US" altLang="zh-CN" sz="1800" b="1" dirty="0" err="1" smtClean="0">
                <a:latin typeface="Courier New" pitchFamily="49" charset="0"/>
              </a:rPr>
              <a:t>BiTree</a:t>
            </a:r>
            <a:r>
              <a:rPr lang="en-US" altLang="zh-CN" sz="1800" b="1" dirty="0" smtClean="0">
                <a:latin typeface="Courier New" pitchFamily="49" charset="0"/>
              </a:rPr>
              <a:t> T=BT</a:t>
            </a:r>
            <a:r>
              <a:rPr lang="en-US" altLang="zh-CN" sz="1800" b="1" dirty="0">
                <a:latin typeface="Courier New" pitchFamily="49" charset="0"/>
              </a:rPr>
              <a:t>;</a:t>
            </a:r>
          </a:p>
          <a:p>
            <a:pPr lvl="1" algn="just" eaLnBrk="1" hangingPunct="1">
              <a:defRPr/>
            </a:pPr>
            <a:r>
              <a:rPr lang="en-US" altLang="zh-CN" sz="1800" b="1" dirty="0">
                <a:latin typeface="Courier New" pitchFamily="49" charset="0"/>
              </a:rPr>
              <a:t>Stack S = </a:t>
            </a:r>
            <a:r>
              <a:rPr lang="en-US" altLang="zh-CN" sz="1800" b="1" dirty="0" err="1">
                <a:latin typeface="Courier New" pitchFamily="49" charset="0"/>
              </a:rPr>
              <a:t>CreatStack</a:t>
            </a:r>
            <a:r>
              <a:rPr lang="en-US" altLang="zh-CN" sz="1800" b="1" dirty="0">
                <a:latin typeface="Courier New" pitchFamily="49" charset="0"/>
              </a:rPr>
              <a:t>( </a:t>
            </a:r>
            <a:r>
              <a:rPr lang="en-US" altLang="zh-CN" sz="1800" b="1" dirty="0" err="1">
                <a:latin typeface="Courier New" pitchFamily="49" charset="0"/>
              </a:rPr>
              <a:t>MaxSize</a:t>
            </a:r>
            <a:r>
              <a:rPr lang="en-US" altLang="zh-CN" sz="1800" b="1" dirty="0">
                <a:latin typeface="Courier New" pitchFamily="49" charset="0"/>
              </a:rPr>
              <a:t> ); </a:t>
            </a:r>
            <a:r>
              <a:rPr lang="en-US" altLang="zh-CN" sz="1800" b="1" dirty="0">
                <a:solidFill>
                  <a:schemeClr val="bg2">
                    <a:lumMod val="60000"/>
                    <a:lumOff val="40000"/>
                  </a:schemeClr>
                </a:solidFill>
                <a:latin typeface="Courier New" pitchFamily="49" charset="0"/>
              </a:rPr>
              <a:t>/*</a:t>
            </a:r>
            <a:r>
              <a:rPr lang="zh-CN" altLang="en-US" sz="1800" b="1" dirty="0">
                <a:solidFill>
                  <a:schemeClr val="bg2">
                    <a:lumMod val="60000"/>
                    <a:lumOff val="40000"/>
                  </a:schemeClr>
                </a:solidFill>
                <a:latin typeface="Courier New" pitchFamily="49" charset="0"/>
              </a:rPr>
              <a:t>创建并初始化堆栈</a:t>
            </a:r>
            <a:r>
              <a:rPr lang="en-US" altLang="zh-CN" sz="1800" b="1" dirty="0">
                <a:solidFill>
                  <a:schemeClr val="bg2">
                    <a:lumMod val="60000"/>
                    <a:lumOff val="40000"/>
                  </a:schemeClr>
                </a:solidFill>
                <a:latin typeface="Courier New" pitchFamily="49" charset="0"/>
              </a:rPr>
              <a:t>S*/</a:t>
            </a:r>
          </a:p>
          <a:p>
            <a:pPr lvl="1" algn="just" eaLnBrk="1" hangingPunct="1">
              <a:defRPr/>
            </a:pPr>
            <a:r>
              <a:rPr lang="en-US" altLang="zh-CN" sz="1800" b="1" dirty="0">
                <a:solidFill>
                  <a:srgbClr val="0000FF"/>
                </a:solidFill>
                <a:latin typeface="Courier New" pitchFamily="49" charset="0"/>
              </a:rPr>
              <a:t>while</a:t>
            </a:r>
            <a:r>
              <a:rPr lang="en-US" altLang="zh-CN" sz="1800" b="1" dirty="0">
                <a:latin typeface="Courier New" pitchFamily="49" charset="0"/>
              </a:rPr>
              <a:t>( T || !</a:t>
            </a:r>
            <a:r>
              <a:rPr lang="en-US" altLang="zh-CN" sz="1800" b="1" dirty="0" err="1">
                <a:latin typeface="Courier New" pitchFamily="49" charset="0"/>
              </a:rPr>
              <a:t>IsEmpty</a:t>
            </a:r>
            <a:r>
              <a:rPr lang="en-US" altLang="zh-CN" sz="1800" b="1" dirty="0">
                <a:latin typeface="Courier New" pitchFamily="49" charset="0"/>
              </a:rPr>
              <a:t>(S) ){</a:t>
            </a:r>
          </a:p>
          <a:p>
            <a:pPr lvl="1" algn="just" eaLnBrk="1" hangingPunct="1">
              <a:defRPr/>
            </a:pPr>
            <a:r>
              <a:rPr lang="en-US" altLang="zh-CN" sz="1800" b="1" dirty="0">
                <a:latin typeface="Courier New" pitchFamily="49" charset="0"/>
              </a:rPr>
              <a:t>    </a:t>
            </a:r>
            <a:r>
              <a:rPr lang="en-US" altLang="zh-CN" sz="1800" b="1" dirty="0">
                <a:solidFill>
                  <a:srgbClr val="0000FF"/>
                </a:solidFill>
                <a:latin typeface="Courier New" pitchFamily="49" charset="0"/>
              </a:rPr>
              <a:t>while(T</a:t>
            </a:r>
            <a:r>
              <a:rPr lang="en-US" altLang="zh-CN" sz="1800" b="1" dirty="0">
                <a:latin typeface="Courier New" pitchFamily="49" charset="0"/>
              </a:rPr>
              <a:t>){   </a:t>
            </a:r>
            <a:r>
              <a:rPr lang="en-US" altLang="zh-CN" sz="1800" b="1" dirty="0">
                <a:solidFill>
                  <a:schemeClr val="bg2">
                    <a:lumMod val="60000"/>
                    <a:lumOff val="40000"/>
                  </a:schemeClr>
                </a:solidFill>
                <a:latin typeface="Courier New" pitchFamily="49" charset="0"/>
              </a:rPr>
              <a:t>/*</a:t>
            </a:r>
            <a:r>
              <a:rPr lang="zh-CN" altLang="en-US" sz="1800" b="1" dirty="0">
                <a:solidFill>
                  <a:schemeClr val="bg2">
                    <a:lumMod val="60000"/>
                    <a:lumOff val="40000"/>
                  </a:schemeClr>
                </a:solidFill>
                <a:latin typeface="Courier New" pitchFamily="49" charset="0"/>
              </a:rPr>
              <a:t>一直向左并将沿途结点压入堆栈*</a:t>
            </a:r>
            <a:r>
              <a:rPr lang="en-US" altLang="zh-CN" sz="1800" b="1" dirty="0">
                <a:solidFill>
                  <a:schemeClr val="bg2">
                    <a:lumMod val="60000"/>
                    <a:lumOff val="40000"/>
                  </a:schemeClr>
                </a:solidFill>
                <a:latin typeface="Courier New" pitchFamily="49" charset="0"/>
              </a:rPr>
              <a:t>/</a:t>
            </a:r>
          </a:p>
          <a:p>
            <a:pPr lvl="1" algn="just" eaLnBrk="1" hangingPunct="1">
              <a:defRPr/>
            </a:pPr>
            <a:r>
              <a:rPr lang="en-US" altLang="zh-CN" sz="1800" b="1" dirty="0">
                <a:latin typeface="Courier New" pitchFamily="49" charset="0"/>
              </a:rPr>
              <a:t>        Push(</a:t>
            </a:r>
            <a:r>
              <a:rPr lang="en-US" altLang="zh-CN" sz="1800" b="1" dirty="0" err="1">
                <a:latin typeface="Courier New" pitchFamily="49" charset="0"/>
              </a:rPr>
              <a:t>S,T</a:t>
            </a:r>
            <a:r>
              <a:rPr lang="en-US" altLang="zh-CN" sz="1800" b="1" dirty="0">
                <a:latin typeface="Courier New" pitchFamily="49" charset="0"/>
              </a:rPr>
              <a:t>); </a:t>
            </a:r>
          </a:p>
          <a:p>
            <a:pPr lvl="1" algn="just" eaLnBrk="1" hangingPunct="1">
              <a:defRPr/>
            </a:pPr>
            <a:r>
              <a:rPr lang="en-US" altLang="zh-CN" sz="1800" b="1" dirty="0">
                <a:latin typeface="Courier New" pitchFamily="49" charset="0"/>
              </a:rPr>
              <a:t>        T = T-</a:t>
            </a:r>
            <a:r>
              <a:rPr lang="en-US" altLang="zh-CN" sz="1800" b="1" dirty="0" smtClean="0">
                <a:latin typeface="Courier New" pitchFamily="49" charset="0"/>
              </a:rPr>
              <a:t>&gt;</a:t>
            </a:r>
            <a:r>
              <a:rPr lang="en-US" altLang="zh-CN" sz="1800" b="1" dirty="0" err="1" smtClean="0">
                <a:latin typeface="Courier New" pitchFamily="49" charset="0"/>
              </a:rPr>
              <a:t>lchild</a:t>
            </a:r>
            <a:r>
              <a:rPr lang="en-US" altLang="zh-CN" sz="1800" b="1" dirty="0" smtClean="0">
                <a:latin typeface="Courier New" pitchFamily="49" charset="0"/>
              </a:rPr>
              <a:t>; </a:t>
            </a:r>
            <a:endParaRPr lang="en-US" altLang="zh-CN" sz="1800" b="1" dirty="0">
              <a:latin typeface="Courier New" pitchFamily="49" charset="0"/>
            </a:endParaRPr>
          </a:p>
          <a:p>
            <a:pPr lvl="1" algn="just" eaLnBrk="1" hangingPunct="1">
              <a:defRPr/>
            </a:pPr>
            <a:r>
              <a:rPr lang="en-US" altLang="zh-CN" sz="1800" b="1" dirty="0">
                <a:latin typeface="Courier New" pitchFamily="49" charset="0"/>
              </a:rPr>
              <a:t>    }</a:t>
            </a:r>
          </a:p>
          <a:p>
            <a:pPr lvl="1" algn="just" eaLnBrk="1" hangingPunct="1">
              <a:defRPr/>
            </a:pPr>
            <a:r>
              <a:rPr lang="en-US" altLang="zh-CN" sz="1800" b="1" dirty="0">
                <a:latin typeface="Courier New" pitchFamily="49" charset="0"/>
              </a:rPr>
              <a:t>    </a:t>
            </a:r>
            <a:r>
              <a:rPr lang="en-US" altLang="zh-CN" sz="1800" b="1" dirty="0">
                <a:solidFill>
                  <a:srgbClr val="0000FF"/>
                </a:solidFill>
                <a:latin typeface="Courier New" pitchFamily="49" charset="0"/>
              </a:rPr>
              <a:t>if</a:t>
            </a:r>
            <a:r>
              <a:rPr lang="en-US" altLang="zh-CN" sz="1800" b="1" dirty="0">
                <a:latin typeface="Courier New" pitchFamily="49" charset="0"/>
              </a:rPr>
              <a:t>(!</a:t>
            </a:r>
            <a:r>
              <a:rPr lang="en-US" altLang="zh-CN" sz="1800" b="1" dirty="0" err="1">
                <a:latin typeface="Courier New" pitchFamily="49" charset="0"/>
              </a:rPr>
              <a:t>IsEmpty</a:t>
            </a:r>
            <a:r>
              <a:rPr lang="en-US" altLang="zh-CN" sz="1800" b="1" dirty="0">
                <a:latin typeface="Courier New" pitchFamily="49" charset="0"/>
              </a:rPr>
              <a:t>(S)){</a:t>
            </a:r>
          </a:p>
          <a:p>
            <a:pPr lvl="1" algn="just" eaLnBrk="1" hangingPunct="1">
              <a:defRPr/>
            </a:pPr>
            <a:r>
              <a:rPr lang="en-US" altLang="zh-CN" sz="1800" b="1" dirty="0">
                <a:latin typeface="Courier New" pitchFamily="49" charset="0"/>
              </a:rPr>
              <a:t>        T = Pop(S); </a:t>
            </a:r>
            <a:r>
              <a:rPr lang="en-US" altLang="zh-CN" sz="1800" b="1" dirty="0">
                <a:solidFill>
                  <a:schemeClr val="bg2">
                    <a:lumMod val="60000"/>
                    <a:lumOff val="40000"/>
                  </a:schemeClr>
                </a:solidFill>
                <a:latin typeface="Courier New" pitchFamily="49" charset="0"/>
              </a:rPr>
              <a:t>/*</a:t>
            </a:r>
            <a:r>
              <a:rPr lang="zh-CN" altLang="en-US" sz="1800" b="1" dirty="0">
                <a:solidFill>
                  <a:schemeClr val="bg2">
                    <a:lumMod val="60000"/>
                    <a:lumOff val="40000"/>
                  </a:schemeClr>
                </a:solidFill>
                <a:latin typeface="Courier New" pitchFamily="49" charset="0"/>
              </a:rPr>
              <a:t>结点弹出堆栈*</a:t>
            </a:r>
            <a:r>
              <a:rPr lang="en-US" altLang="zh-CN" sz="1800" b="1" dirty="0">
                <a:solidFill>
                  <a:schemeClr val="bg2">
                    <a:lumMod val="60000"/>
                    <a:lumOff val="40000"/>
                  </a:schemeClr>
                </a:solidFill>
                <a:latin typeface="Courier New" pitchFamily="49" charset="0"/>
              </a:rPr>
              <a:t>/</a:t>
            </a:r>
          </a:p>
          <a:p>
            <a:pPr lvl="1" algn="just" eaLnBrk="1" hangingPunct="1">
              <a:defRPr/>
            </a:pPr>
            <a:r>
              <a:rPr lang="en-US" altLang="zh-CN" sz="1800" b="1" dirty="0">
                <a:latin typeface="Courier New" pitchFamily="49" charset="0"/>
              </a:rPr>
              <a:t>        </a:t>
            </a:r>
            <a:r>
              <a:rPr lang="en-US" altLang="zh-CN" sz="1800" b="1" dirty="0" err="1">
                <a:latin typeface="Courier New" pitchFamily="49" charset="0"/>
              </a:rPr>
              <a:t>printf</a:t>
            </a:r>
            <a:r>
              <a:rPr lang="en-US" altLang="zh-CN" sz="1800" b="1" dirty="0">
                <a:latin typeface="Courier New" pitchFamily="49" charset="0"/>
              </a:rPr>
              <a:t>(“%5d”, T-&gt;Data); </a:t>
            </a:r>
            <a:r>
              <a:rPr lang="en-US" altLang="zh-CN" sz="1800" b="1" dirty="0">
                <a:solidFill>
                  <a:schemeClr val="bg2">
                    <a:lumMod val="60000"/>
                    <a:lumOff val="40000"/>
                  </a:schemeClr>
                </a:solidFill>
                <a:latin typeface="Courier New" pitchFamily="49" charset="0"/>
              </a:rPr>
              <a:t>/*</a:t>
            </a:r>
            <a:r>
              <a:rPr lang="zh-CN" altLang="en-US" sz="1800" b="1" dirty="0">
                <a:solidFill>
                  <a:schemeClr val="bg2">
                    <a:lumMod val="60000"/>
                    <a:lumOff val="40000"/>
                  </a:schemeClr>
                </a:solidFill>
                <a:latin typeface="Courier New" pitchFamily="49" charset="0"/>
              </a:rPr>
              <a:t>（访问）打印结点*</a:t>
            </a:r>
            <a:r>
              <a:rPr lang="en-US" altLang="zh-CN" sz="1800" b="1" dirty="0">
                <a:solidFill>
                  <a:schemeClr val="bg2">
                    <a:lumMod val="60000"/>
                    <a:lumOff val="40000"/>
                  </a:schemeClr>
                </a:solidFill>
                <a:latin typeface="Courier New" pitchFamily="49" charset="0"/>
              </a:rPr>
              <a:t>/</a:t>
            </a:r>
          </a:p>
          <a:p>
            <a:pPr lvl="1" algn="just" eaLnBrk="1" hangingPunct="1">
              <a:defRPr/>
            </a:pPr>
            <a:r>
              <a:rPr lang="en-US" altLang="zh-CN" sz="1800" b="1" dirty="0">
                <a:latin typeface="Courier New" pitchFamily="49" charset="0"/>
              </a:rPr>
              <a:t>        T = T-</a:t>
            </a:r>
            <a:r>
              <a:rPr lang="en-US" altLang="zh-CN" sz="1800" b="1" dirty="0" smtClean="0">
                <a:latin typeface="Courier New" pitchFamily="49" charset="0"/>
              </a:rPr>
              <a:t>&gt;</a:t>
            </a:r>
            <a:r>
              <a:rPr lang="en-US" altLang="zh-CN" sz="1800" dirty="0" err="1" smtClean="0">
                <a:latin typeface="Courier New" pitchFamily="49" charset="0"/>
              </a:rPr>
              <a:t>rc</a:t>
            </a:r>
            <a:r>
              <a:rPr lang="en-US" altLang="zh-CN" sz="1800" b="1" dirty="0" err="1" smtClean="0">
                <a:latin typeface="Courier New" pitchFamily="49" charset="0"/>
              </a:rPr>
              <a:t>hild</a:t>
            </a:r>
            <a:r>
              <a:rPr lang="en-US" altLang="zh-CN" sz="1800" b="1" dirty="0" smtClean="0">
                <a:latin typeface="Courier New" pitchFamily="49" charset="0"/>
              </a:rPr>
              <a:t>; </a:t>
            </a:r>
            <a:r>
              <a:rPr lang="en-US" altLang="zh-CN" sz="1800" b="1" dirty="0">
                <a:solidFill>
                  <a:schemeClr val="bg2">
                    <a:lumMod val="60000"/>
                    <a:lumOff val="40000"/>
                  </a:schemeClr>
                </a:solidFill>
                <a:latin typeface="Courier New" pitchFamily="49" charset="0"/>
              </a:rPr>
              <a:t>/*</a:t>
            </a:r>
            <a:r>
              <a:rPr lang="zh-CN" altLang="en-US" sz="1800" b="1" dirty="0">
                <a:solidFill>
                  <a:schemeClr val="bg2">
                    <a:lumMod val="60000"/>
                    <a:lumOff val="40000"/>
                  </a:schemeClr>
                </a:solidFill>
                <a:latin typeface="Courier New" pitchFamily="49" charset="0"/>
              </a:rPr>
              <a:t>转向右子树*</a:t>
            </a:r>
            <a:r>
              <a:rPr lang="en-US" altLang="zh-CN" sz="1800" b="1" dirty="0">
                <a:solidFill>
                  <a:schemeClr val="bg2">
                    <a:lumMod val="60000"/>
                    <a:lumOff val="40000"/>
                  </a:schemeClr>
                </a:solidFill>
                <a:latin typeface="Courier New" pitchFamily="49" charset="0"/>
              </a:rPr>
              <a:t>/</a:t>
            </a:r>
          </a:p>
          <a:p>
            <a:pPr lvl="1" algn="just" eaLnBrk="1" hangingPunct="1">
              <a:defRPr/>
            </a:pPr>
            <a:r>
              <a:rPr lang="en-US" altLang="zh-CN" sz="1800" b="1" dirty="0">
                <a:latin typeface="Courier New" pitchFamily="49" charset="0"/>
              </a:rPr>
              <a:t>    }</a:t>
            </a:r>
          </a:p>
          <a:p>
            <a:pPr lvl="1" algn="just" eaLnBrk="1" hangingPunct="1">
              <a:defRPr/>
            </a:pPr>
            <a:r>
              <a:rPr lang="en-US" altLang="zh-CN" sz="1800" b="1" dirty="0">
                <a:latin typeface="Courier New" pitchFamily="49" charset="0"/>
              </a:rPr>
              <a:t>}</a:t>
            </a:r>
          </a:p>
          <a:p>
            <a:pPr algn="just" eaLnBrk="1" hangingPunct="1">
              <a:defRPr/>
            </a:pPr>
            <a:r>
              <a:rPr lang="en-US" altLang="zh-CN" sz="1800" b="1" dirty="0">
                <a:latin typeface="Courier New" pitchFamily="49" charset="0"/>
              </a:rPr>
              <a:t>}</a:t>
            </a:r>
            <a:endParaRPr lang="zh-CN" altLang="zh-CN" sz="1800" b="1" dirty="0">
              <a:latin typeface="Courier New" pitchFamily="49" charset="0"/>
            </a:endParaRPr>
          </a:p>
        </p:txBody>
      </p:sp>
      <p:sp>
        <p:nvSpPr>
          <p:cNvPr id="33796" name="矩形 2"/>
          <p:cNvSpPr>
            <a:spLocks noChangeArrowheads="1"/>
          </p:cNvSpPr>
          <p:nvPr/>
        </p:nvSpPr>
        <p:spPr bwMode="auto">
          <a:xfrm>
            <a:off x="899592" y="285749"/>
            <a:ext cx="41068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r>
              <a:rPr lang="en-US" altLang="zh-CN" sz="2400" b="1" dirty="0">
                <a:solidFill>
                  <a:schemeClr val="hlink"/>
                </a:solidFill>
                <a:latin typeface="Times New Roman" pitchFamily="18" charset="0"/>
                <a:sym typeface="Wingdings" pitchFamily="2" charset="2"/>
              </a:rPr>
              <a:t></a:t>
            </a:r>
            <a:r>
              <a:rPr lang="zh-CN" altLang="en-US" sz="2400" b="1" dirty="0">
                <a:solidFill>
                  <a:srgbClr val="FFC000"/>
                </a:solidFill>
                <a:latin typeface="Times New Roman" pitchFamily="18" charset="0"/>
              </a:rPr>
              <a:t>中序</a:t>
            </a:r>
            <a:r>
              <a:rPr lang="zh-CN" altLang="en-US" sz="2400" b="1" dirty="0">
                <a:solidFill>
                  <a:srgbClr val="FFFF00"/>
                </a:solidFill>
                <a:latin typeface="Times New Roman" pitchFamily="18" charset="0"/>
              </a:rPr>
              <a:t>遍历</a:t>
            </a:r>
            <a:r>
              <a:rPr lang="zh-CN" altLang="en-US" sz="2400" b="1" dirty="0">
                <a:solidFill>
                  <a:srgbClr val="FFC000"/>
                </a:solidFill>
                <a:latin typeface="Times New Roman" pitchFamily="18" charset="0"/>
              </a:rPr>
              <a:t>非递归</a:t>
            </a:r>
            <a:r>
              <a:rPr lang="zh-CN" altLang="en-US" sz="2400" b="1" dirty="0">
                <a:solidFill>
                  <a:srgbClr val="FFFF00"/>
                </a:solidFill>
                <a:latin typeface="Times New Roman" pitchFamily="18" charset="0"/>
              </a:rPr>
              <a:t>遍历算法</a:t>
            </a:r>
          </a:p>
        </p:txBody>
      </p:sp>
      <p:sp>
        <p:nvSpPr>
          <p:cNvPr id="7" name="矩形 6"/>
          <p:cNvSpPr>
            <a:spLocks noChangeArrowheads="1"/>
          </p:cNvSpPr>
          <p:nvPr/>
        </p:nvSpPr>
        <p:spPr bwMode="auto">
          <a:xfrm>
            <a:off x="571500" y="841375"/>
            <a:ext cx="7072313"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r>
              <a:rPr lang="en-US" altLang="zh-CN" sz="2000" b="1">
                <a:solidFill>
                  <a:srgbClr val="0000FF"/>
                </a:solidFill>
                <a:latin typeface="Times New Roman" pitchFamily="18" charset="0"/>
                <a:sym typeface="Wingdings" pitchFamily="2" charset="2"/>
              </a:rPr>
              <a:t> </a:t>
            </a:r>
            <a:r>
              <a:rPr lang="zh-CN" altLang="en-US" sz="2000" b="1">
                <a:latin typeface="Times New Roman" pitchFamily="18" charset="0"/>
              </a:rPr>
              <a:t>遇到一个结点，就把它</a:t>
            </a:r>
            <a:r>
              <a:rPr lang="zh-CN" altLang="en-US" sz="2000" b="1">
                <a:solidFill>
                  <a:srgbClr val="0000FF"/>
                </a:solidFill>
                <a:latin typeface="Times New Roman" pitchFamily="18" charset="0"/>
              </a:rPr>
              <a:t>压栈</a:t>
            </a:r>
            <a:r>
              <a:rPr lang="zh-CN" altLang="en-US" sz="2000" b="1">
                <a:latin typeface="Times New Roman" pitchFamily="18" charset="0"/>
              </a:rPr>
              <a:t>，并去遍历它的</a:t>
            </a:r>
            <a:r>
              <a:rPr lang="zh-CN" altLang="en-US" sz="2000" b="1">
                <a:solidFill>
                  <a:srgbClr val="0000FF"/>
                </a:solidFill>
                <a:latin typeface="Times New Roman" pitchFamily="18" charset="0"/>
              </a:rPr>
              <a:t>左子树</a:t>
            </a:r>
            <a:r>
              <a:rPr lang="zh-CN" altLang="en-US" sz="2000" b="1">
                <a:latin typeface="Times New Roman" pitchFamily="18" charset="0"/>
              </a:rPr>
              <a:t>；</a:t>
            </a:r>
            <a:endParaRPr lang="en-US" altLang="zh-CN" sz="2000" b="1">
              <a:latin typeface="Times New Roman" pitchFamily="18" charset="0"/>
            </a:endParaRPr>
          </a:p>
          <a:p>
            <a:pPr eaLnBrk="1" hangingPunct="1"/>
            <a:r>
              <a:rPr lang="en-US" altLang="zh-CN" sz="2000" b="1">
                <a:solidFill>
                  <a:srgbClr val="0000FF"/>
                </a:solidFill>
                <a:latin typeface="Times New Roman" pitchFamily="18" charset="0"/>
                <a:sym typeface="Wingdings" pitchFamily="2" charset="2"/>
              </a:rPr>
              <a:t> </a:t>
            </a:r>
            <a:r>
              <a:rPr lang="zh-CN" altLang="en-US" sz="2000" b="1">
                <a:latin typeface="Times New Roman" pitchFamily="18" charset="0"/>
              </a:rPr>
              <a:t>当</a:t>
            </a:r>
            <a:r>
              <a:rPr lang="zh-CN" altLang="en-US" sz="2000" b="1">
                <a:solidFill>
                  <a:srgbClr val="0000FF"/>
                </a:solidFill>
                <a:latin typeface="Times New Roman" pitchFamily="18" charset="0"/>
              </a:rPr>
              <a:t>左子树遍历结束</a:t>
            </a:r>
            <a:r>
              <a:rPr lang="zh-CN" altLang="en-US" sz="2000" b="1">
                <a:latin typeface="Times New Roman" pitchFamily="18" charset="0"/>
              </a:rPr>
              <a:t>后，从栈顶弹出这个结点并</a:t>
            </a:r>
            <a:r>
              <a:rPr lang="zh-CN" altLang="en-US" sz="2000" b="1">
                <a:solidFill>
                  <a:srgbClr val="0000FF"/>
                </a:solidFill>
                <a:latin typeface="Times New Roman" pitchFamily="18" charset="0"/>
              </a:rPr>
              <a:t>访问它</a:t>
            </a:r>
            <a:r>
              <a:rPr lang="zh-CN" altLang="en-US" sz="2000" b="1">
                <a:latin typeface="Times New Roman" pitchFamily="18" charset="0"/>
              </a:rPr>
              <a:t>；</a:t>
            </a:r>
            <a:endParaRPr lang="en-US" altLang="zh-CN" sz="2000" b="1">
              <a:latin typeface="Times New Roman" pitchFamily="18" charset="0"/>
            </a:endParaRPr>
          </a:p>
          <a:p>
            <a:pPr eaLnBrk="1" hangingPunct="1"/>
            <a:r>
              <a:rPr lang="en-US" altLang="zh-CN" sz="2000" b="1">
                <a:solidFill>
                  <a:srgbClr val="0000FF"/>
                </a:solidFill>
                <a:latin typeface="Times New Roman" pitchFamily="18" charset="0"/>
                <a:sym typeface="Wingdings" pitchFamily="2" charset="2"/>
              </a:rPr>
              <a:t> </a:t>
            </a:r>
            <a:r>
              <a:rPr lang="zh-CN" altLang="en-US" sz="2000" b="1">
                <a:latin typeface="Times New Roman" pitchFamily="18" charset="0"/>
              </a:rPr>
              <a:t>然后按其右指针再去中序遍历该结点的</a:t>
            </a:r>
            <a:r>
              <a:rPr lang="zh-CN" altLang="en-US" sz="2000" b="1">
                <a:solidFill>
                  <a:srgbClr val="0000FF"/>
                </a:solidFill>
                <a:latin typeface="Times New Roman" pitchFamily="18" charset="0"/>
              </a:rPr>
              <a:t>右子树</a:t>
            </a:r>
            <a:r>
              <a:rPr lang="zh-CN" altLang="en-US" sz="2000" b="1">
                <a:latin typeface="Times New Roman" pitchFamily="18" charset="0"/>
              </a:rPr>
              <a:t>。</a:t>
            </a:r>
          </a:p>
        </p:txBody>
      </p:sp>
      <p:sp>
        <p:nvSpPr>
          <p:cNvPr id="8" name="AutoShape 87"/>
          <p:cNvSpPr>
            <a:spLocks noChangeArrowheads="1"/>
          </p:cNvSpPr>
          <p:nvPr/>
        </p:nvSpPr>
        <p:spPr bwMode="auto">
          <a:xfrm>
            <a:off x="4214813" y="3429000"/>
            <a:ext cx="4357687" cy="1000125"/>
          </a:xfrm>
          <a:prstGeom prst="wedgeEllipseCallout">
            <a:avLst>
              <a:gd name="adj1" fmla="val -68472"/>
              <a:gd name="adj2" fmla="val -40375"/>
            </a:avLst>
          </a:prstGeom>
          <a:gradFill rotWithShape="0">
            <a:gsLst>
              <a:gs pos="0">
                <a:srgbClr val="C0C0C0"/>
              </a:gs>
              <a:gs pos="100000">
                <a:srgbClr val="FFFFFF"/>
              </a:gs>
            </a:gsLst>
            <a:lin ang="18900000" scaled="1"/>
          </a:gradFill>
          <a:ln w="12700">
            <a:solidFill>
              <a:schemeClr val="tx1"/>
            </a:solidFill>
            <a:miter lim="800000"/>
            <a:headEnd/>
            <a:tailEnd/>
          </a:ln>
        </p:spPr>
        <p:txBody>
          <a:bodyPr/>
          <a:lstStyle/>
          <a:p>
            <a:pPr algn="ctr" eaLnBrk="1" hangingPunct="1"/>
            <a:r>
              <a:rPr lang="zh-CN" altLang="en-US" sz="2000" b="1" dirty="0">
                <a:solidFill>
                  <a:srgbClr val="0000FF"/>
                </a:solidFill>
                <a:latin typeface="Times New Roman" pitchFamily="18" charset="0"/>
              </a:rPr>
              <a:t>先序</a:t>
            </a:r>
            <a:r>
              <a:rPr lang="zh-CN" altLang="en-US" sz="2000" b="1" dirty="0">
                <a:latin typeface="Times New Roman" pitchFamily="18" charset="0"/>
              </a:rPr>
              <a:t>遍历</a:t>
            </a:r>
            <a:r>
              <a:rPr lang="zh-CN" altLang="en-US" sz="2000" b="1" dirty="0">
                <a:solidFill>
                  <a:srgbClr val="0000FF"/>
                </a:solidFill>
                <a:latin typeface="Times New Roman" pitchFamily="18" charset="0"/>
              </a:rPr>
              <a:t>非递归</a:t>
            </a:r>
            <a:r>
              <a:rPr lang="zh-CN" altLang="en-US" sz="2000" b="1" dirty="0">
                <a:latin typeface="Times New Roman" pitchFamily="18" charset="0"/>
              </a:rPr>
              <a:t>遍历算法只需把</a:t>
            </a:r>
            <a:r>
              <a:rPr lang="zh-CN" altLang="en-US" sz="2000" b="1" dirty="0">
                <a:solidFill>
                  <a:srgbClr val="0000FF"/>
                </a:solidFill>
                <a:latin typeface="Times New Roman" pitchFamily="18" charset="0"/>
              </a:rPr>
              <a:t>访问时机</a:t>
            </a:r>
            <a:r>
              <a:rPr lang="zh-CN" altLang="en-US" sz="2000" b="1" dirty="0">
                <a:latin typeface="Times New Roman" pitchFamily="18" charset="0"/>
              </a:rPr>
              <a:t>改在进栈时</a:t>
            </a:r>
            <a:endParaRPr lang="en-US" altLang="zh-CN" sz="2000" b="1" i="1" dirty="0">
              <a:latin typeface="Times New Roman" pitchFamily="18" charset="0"/>
            </a:endParaRPr>
          </a:p>
        </p:txBody>
      </p:sp>
      <p:sp>
        <p:nvSpPr>
          <p:cNvPr id="9" name="AutoShape 87"/>
          <p:cNvSpPr>
            <a:spLocks noChangeArrowheads="1"/>
          </p:cNvSpPr>
          <p:nvPr/>
        </p:nvSpPr>
        <p:spPr bwMode="auto">
          <a:xfrm>
            <a:off x="4500563" y="1785938"/>
            <a:ext cx="4000500" cy="1000125"/>
          </a:xfrm>
          <a:prstGeom prst="wedgeEllipseCallout">
            <a:avLst>
              <a:gd name="adj1" fmla="val -95361"/>
              <a:gd name="adj2" fmla="val -161384"/>
            </a:avLst>
          </a:prstGeom>
          <a:gradFill rotWithShape="0">
            <a:gsLst>
              <a:gs pos="0">
                <a:srgbClr val="C0C0C0"/>
              </a:gs>
              <a:gs pos="100000">
                <a:srgbClr val="FFFFFF"/>
              </a:gs>
            </a:gsLst>
            <a:lin ang="18900000" scaled="1"/>
          </a:gradFill>
          <a:ln w="12700">
            <a:solidFill>
              <a:schemeClr val="tx1"/>
            </a:solidFill>
            <a:miter lim="800000"/>
            <a:headEnd/>
            <a:tailEnd/>
          </a:ln>
        </p:spPr>
        <p:txBody>
          <a:bodyPr/>
          <a:lstStyle/>
          <a:p>
            <a:pPr algn="ctr" eaLnBrk="1" hangingPunct="1"/>
            <a:r>
              <a:rPr lang="zh-CN" altLang="en-US" sz="2000" b="1" dirty="0">
                <a:solidFill>
                  <a:srgbClr val="0000FF"/>
                </a:solidFill>
                <a:latin typeface="Times New Roman" pitchFamily="18" charset="0"/>
              </a:rPr>
              <a:t>后序</a:t>
            </a:r>
            <a:r>
              <a:rPr lang="zh-CN" altLang="en-US" sz="2000" b="1" dirty="0">
                <a:latin typeface="Times New Roman" pitchFamily="18" charset="0"/>
              </a:rPr>
              <a:t>遍历</a:t>
            </a:r>
            <a:r>
              <a:rPr lang="zh-CN" altLang="en-US" sz="2000" b="1" dirty="0">
                <a:solidFill>
                  <a:srgbClr val="0000FF"/>
                </a:solidFill>
                <a:latin typeface="Times New Roman" pitchFamily="18" charset="0"/>
              </a:rPr>
              <a:t>非递归</a:t>
            </a:r>
            <a:r>
              <a:rPr lang="zh-CN" altLang="en-US" sz="2000" b="1" dirty="0">
                <a:latin typeface="Times New Roman" pitchFamily="18" charset="0"/>
              </a:rPr>
              <a:t>遍历算法比较复杂。作为思考题。</a:t>
            </a:r>
            <a:endParaRPr lang="en-US" altLang="zh-CN" sz="2000" b="1" i="1" dirty="0">
              <a:latin typeface="Times New Roman" pitchFamily="18" charset="0"/>
            </a:endParaRPr>
          </a:p>
        </p:txBody>
      </p:sp>
    </p:spTree>
    <p:extLst>
      <p:ext uri="{BB962C8B-B14F-4D97-AF65-F5344CB8AC3E}">
        <p14:creationId xmlns:p14="http://schemas.microsoft.com/office/powerpoint/2010/main" val="1024603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3000"/>
                                        <p:tgtEl>
                                          <p:spTgt spid="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strips(downRight)">
                                      <p:cBhvr>
                                        <p:cTn id="12" dur="1000"/>
                                        <p:tgtEl>
                                          <p:spTgt spid="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down)">
                                      <p:cBhvr>
                                        <p:cTn id="17" dur="500"/>
                                        <p:tgtEl>
                                          <p:spTgt spid="8"/>
                                        </p:tgtEl>
                                      </p:cBhvr>
                                    </p:animEffect>
                                  </p:childTnLst>
                                  <p:subTnLst>
                                    <p:set>
                                      <p:cBhvr override="childStyle">
                                        <p:cTn dur="1" fill="hold" display="0" masterRel="nextClick" afterEffect="1"/>
                                        <p:tgtEl>
                                          <p:spTgt spid="8"/>
                                        </p:tgtEl>
                                        <p:attrNameLst>
                                          <p:attrName>style.visibility</p:attrName>
                                        </p:attrNameLst>
                                      </p:cBhvr>
                                      <p:to>
                                        <p:strVal val="hidden"/>
                                      </p:to>
                                    </p:set>
                                  </p:sub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wipe(down)">
                                      <p:cBhvr>
                                        <p:cTn id="22" dur="500"/>
                                        <p:tgtEl>
                                          <p:spTgt spid="9"/>
                                        </p:tgtEl>
                                      </p:cBhvr>
                                    </p:animEffect>
                                  </p:childTnLst>
                                  <p:subTnLst>
                                    <p:set>
                                      <p:cBhvr override="childStyle">
                                        <p:cTn dur="1" fill="hold" display="0" masterRel="nextClick" afterEffect="1"/>
                                        <p:tgtEl>
                                          <p:spTgt spid="9"/>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p:bldP spid="8" grpId="0" animBg="1" autoUpdateAnimBg="0"/>
      <p:bldP spid="9" grpId="0" animBg="1" autoUpdateAnimBg="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a:spLocks noChangeArrowheads="1"/>
          </p:cNvSpPr>
          <p:nvPr/>
        </p:nvSpPr>
        <p:spPr bwMode="auto">
          <a:xfrm>
            <a:off x="536575" y="3286125"/>
            <a:ext cx="41068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r>
              <a:rPr lang="en-US" altLang="zh-CN" sz="2400" b="1">
                <a:solidFill>
                  <a:schemeClr val="hlink"/>
                </a:solidFill>
                <a:latin typeface="Times New Roman" pitchFamily="18" charset="0"/>
                <a:sym typeface="Wingdings" pitchFamily="2" charset="2"/>
              </a:rPr>
              <a:t></a:t>
            </a:r>
            <a:r>
              <a:rPr lang="zh-CN" altLang="en-US" sz="2400" b="1">
                <a:solidFill>
                  <a:schemeClr val="hlink"/>
                </a:solidFill>
                <a:latin typeface="Times New Roman" pitchFamily="18" charset="0"/>
                <a:sym typeface="Wingdings" pitchFamily="2" charset="2"/>
              </a:rPr>
              <a:t>后</a:t>
            </a:r>
            <a:r>
              <a:rPr lang="zh-CN" altLang="en-US" sz="2400" b="1">
                <a:solidFill>
                  <a:srgbClr val="0000FF"/>
                </a:solidFill>
                <a:latin typeface="Times New Roman" pitchFamily="18" charset="0"/>
              </a:rPr>
              <a:t>序</a:t>
            </a:r>
            <a:r>
              <a:rPr lang="zh-CN" altLang="en-US" sz="2400" b="1">
                <a:latin typeface="Times New Roman" pitchFamily="18" charset="0"/>
              </a:rPr>
              <a:t>遍历</a:t>
            </a:r>
            <a:r>
              <a:rPr lang="zh-CN" altLang="en-US" sz="2400" b="1">
                <a:solidFill>
                  <a:srgbClr val="0000FF"/>
                </a:solidFill>
                <a:latin typeface="Times New Roman" pitchFamily="18" charset="0"/>
              </a:rPr>
              <a:t>非递归</a:t>
            </a:r>
            <a:r>
              <a:rPr lang="zh-CN" altLang="en-US" sz="2400" b="1">
                <a:latin typeface="Times New Roman" pitchFamily="18" charset="0"/>
              </a:rPr>
              <a:t>遍历算法</a:t>
            </a:r>
          </a:p>
        </p:txBody>
      </p:sp>
      <p:sp>
        <p:nvSpPr>
          <p:cNvPr id="7" name="矩形 6"/>
          <p:cNvSpPr>
            <a:spLocks noChangeArrowheads="1"/>
          </p:cNvSpPr>
          <p:nvPr/>
        </p:nvSpPr>
        <p:spPr bwMode="auto">
          <a:xfrm>
            <a:off x="571500" y="3786188"/>
            <a:ext cx="8286750"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r>
              <a:rPr lang="en-US" altLang="zh-CN" sz="2000" b="1" dirty="0">
                <a:solidFill>
                  <a:srgbClr val="0000FF"/>
                </a:solidFill>
                <a:latin typeface="Times New Roman" pitchFamily="18" charset="0"/>
                <a:sym typeface="Wingdings" pitchFamily="2" charset="2"/>
              </a:rPr>
              <a:t> </a:t>
            </a:r>
            <a:r>
              <a:rPr lang="zh-CN" altLang="en-US" sz="2000" b="1" dirty="0">
                <a:latin typeface="Times New Roman" pitchFamily="18" charset="0"/>
              </a:rPr>
              <a:t>遇到一个结点，就把它</a:t>
            </a:r>
            <a:r>
              <a:rPr lang="zh-CN" altLang="en-US" sz="2000" b="1" dirty="0">
                <a:solidFill>
                  <a:srgbClr val="0000FF"/>
                </a:solidFill>
                <a:latin typeface="Times New Roman" pitchFamily="18" charset="0"/>
              </a:rPr>
              <a:t>（附带标志</a:t>
            </a:r>
            <a:r>
              <a:rPr lang="en-US" altLang="zh-CN" sz="2000" b="1" dirty="0">
                <a:solidFill>
                  <a:srgbClr val="0000FF"/>
                </a:solidFill>
                <a:latin typeface="Times New Roman" pitchFamily="18" charset="0"/>
              </a:rPr>
              <a:t>0</a:t>
            </a:r>
            <a:r>
              <a:rPr lang="zh-CN" altLang="en-US" sz="2000" b="1" dirty="0">
                <a:solidFill>
                  <a:srgbClr val="0000FF"/>
                </a:solidFill>
                <a:latin typeface="Times New Roman" pitchFamily="18" charset="0"/>
              </a:rPr>
              <a:t>以后）压栈</a:t>
            </a:r>
            <a:r>
              <a:rPr lang="zh-CN" altLang="en-US" sz="2000" b="1" dirty="0">
                <a:latin typeface="Times New Roman" pitchFamily="18" charset="0"/>
              </a:rPr>
              <a:t>，并去遍历它的</a:t>
            </a:r>
            <a:r>
              <a:rPr lang="zh-CN" altLang="en-US" sz="2000" b="1" dirty="0">
                <a:solidFill>
                  <a:srgbClr val="0000FF"/>
                </a:solidFill>
                <a:latin typeface="Times New Roman" pitchFamily="18" charset="0"/>
              </a:rPr>
              <a:t>左子树</a:t>
            </a:r>
            <a:r>
              <a:rPr lang="zh-CN" altLang="en-US" sz="2000" b="1" dirty="0">
                <a:latin typeface="Times New Roman" pitchFamily="18" charset="0"/>
              </a:rPr>
              <a:t>；</a:t>
            </a:r>
            <a:endParaRPr lang="en-US" altLang="zh-CN" sz="2000" b="1" dirty="0">
              <a:latin typeface="Times New Roman" pitchFamily="18" charset="0"/>
            </a:endParaRPr>
          </a:p>
          <a:p>
            <a:pPr eaLnBrk="1" hangingPunct="1"/>
            <a:r>
              <a:rPr lang="en-US" altLang="zh-CN" sz="2000" b="1" dirty="0">
                <a:solidFill>
                  <a:srgbClr val="0000FF"/>
                </a:solidFill>
                <a:latin typeface="Times New Roman" pitchFamily="18" charset="0"/>
                <a:sym typeface="Wingdings" pitchFamily="2" charset="2"/>
              </a:rPr>
              <a:t> </a:t>
            </a:r>
            <a:r>
              <a:rPr lang="zh-CN" altLang="en-US" sz="2000" b="1" dirty="0">
                <a:latin typeface="Times New Roman" pitchFamily="18" charset="0"/>
              </a:rPr>
              <a:t>当</a:t>
            </a:r>
            <a:r>
              <a:rPr lang="zh-CN" altLang="en-US" sz="2000" b="1" dirty="0">
                <a:solidFill>
                  <a:srgbClr val="0000FF"/>
                </a:solidFill>
                <a:latin typeface="Times New Roman" pitchFamily="18" charset="0"/>
              </a:rPr>
              <a:t>左子树遍历结束</a:t>
            </a:r>
            <a:r>
              <a:rPr lang="zh-CN" altLang="en-US" sz="2000" b="1" dirty="0">
                <a:latin typeface="Times New Roman" pitchFamily="18" charset="0"/>
              </a:rPr>
              <a:t>后，检查栈顶元素的附带标志是否为</a:t>
            </a:r>
            <a:r>
              <a:rPr lang="en-US" altLang="zh-CN" sz="2000" b="1" dirty="0">
                <a:latin typeface="Times New Roman" pitchFamily="18" charset="0"/>
              </a:rPr>
              <a:t>0</a:t>
            </a:r>
            <a:r>
              <a:rPr lang="zh-CN" altLang="en-US" sz="2000" b="1" dirty="0">
                <a:latin typeface="Times New Roman" pitchFamily="18" charset="0"/>
              </a:rPr>
              <a:t>；</a:t>
            </a:r>
            <a:endParaRPr lang="en-US" altLang="zh-CN" sz="2000" b="1" dirty="0">
              <a:latin typeface="Times New Roman" pitchFamily="18" charset="0"/>
            </a:endParaRPr>
          </a:p>
          <a:p>
            <a:pPr eaLnBrk="1" hangingPunct="1"/>
            <a:r>
              <a:rPr lang="en-US" altLang="zh-CN" sz="2000" b="1" dirty="0">
                <a:solidFill>
                  <a:srgbClr val="0000FF"/>
                </a:solidFill>
                <a:latin typeface="Times New Roman" pitchFamily="18" charset="0"/>
                <a:sym typeface="Wingdings" pitchFamily="2" charset="2"/>
              </a:rPr>
              <a:t> </a:t>
            </a:r>
            <a:r>
              <a:rPr lang="zh-CN" altLang="en-US" sz="2000" b="1" dirty="0">
                <a:latin typeface="Times New Roman" pitchFamily="18" charset="0"/>
              </a:rPr>
              <a:t>若标志为</a:t>
            </a:r>
            <a:r>
              <a:rPr lang="en-US" altLang="zh-CN" sz="2000" b="1" dirty="0">
                <a:latin typeface="Times New Roman" pitchFamily="18" charset="0"/>
              </a:rPr>
              <a:t>0</a:t>
            </a:r>
            <a:r>
              <a:rPr lang="zh-CN" altLang="en-US" sz="2000" b="1" dirty="0">
                <a:latin typeface="Times New Roman" pitchFamily="18" charset="0"/>
              </a:rPr>
              <a:t>，则把</a:t>
            </a:r>
            <a:r>
              <a:rPr lang="zh-CN" altLang="en-US" sz="2000" b="1" dirty="0">
                <a:solidFill>
                  <a:srgbClr val="0000FF"/>
                </a:solidFill>
                <a:latin typeface="Times New Roman" pitchFamily="18" charset="0"/>
              </a:rPr>
              <a:t>标志改成</a:t>
            </a:r>
            <a:r>
              <a:rPr lang="en-US" altLang="zh-CN" sz="2000" b="1" dirty="0">
                <a:solidFill>
                  <a:srgbClr val="0000FF"/>
                </a:solidFill>
                <a:latin typeface="Times New Roman" pitchFamily="18" charset="0"/>
              </a:rPr>
              <a:t>1</a:t>
            </a:r>
            <a:r>
              <a:rPr lang="zh-CN" altLang="en-US" sz="2000" b="1" dirty="0">
                <a:solidFill>
                  <a:srgbClr val="0000FF"/>
                </a:solidFill>
                <a:latin typeface="Times New Roman" pitchFamily="18" charset="0"/>
              </a:rPr>
              <a:t>，</a:t>
            </a:r>
            <a:r>
              <a:rPr lang="zh-CN" altLang="en-US" sz="2000" b="1" dirty="0">
                <a:latin typeface="Times New Roman" pitchFamily="18" charset="0"/>
              </a:rPr>
              <a:t>并按其右指针再去遍历该结点的</a:t>
            </a:r>
            <a:r>
              <a:rPr lang="zh-CN" altLang="en-US" sz="2000" b="1" dirty="0">
                <a:solidFill>
                  <a:srgbClr val="0000FF"/>
                </a:solidFill>
                <a:latin typeface="Times New Roman" pitchFamily="18" charset="0"/>
              </a:rPr>
              <a:t>右子树；</a:t>
            </a:r>
            <a:endParaRPr lang="en-US" altLang="zh-CN" sz="2000" b="1" dirty="0">
              <a:solidFill>
                <a:srgbClr val="0000FF"/>
              </a:solidFill>
              <a:latin typeface="Times New Roman" pitchFamily="18" charset="0"/>
            </a:endParaRPr>
          </a:p>
          <a:p>
            <a:pPr eaLnBrk="1" hangingPunct="1"/>
            <a:r>
              <a:rPr lang="en-US" altLang="zh-CN" sz="2000" b="1" dirty="0">
                <a:solidFill>
                  <a:srgbClr val="0000FF"/>
                </a:solidFill>
                <a:latin typeface="Times New Roman" pitchFamily="18" charset="0"/>
                <a:sym typeface="Wingdings" pitchFamily="2" charset="2"/>
              </a:rPr>
              <a:t> </a:t>
            </a:r>
            <a:r>
              <a:rPr lang="zh-CN" altLang="en-US" sz="2000" b="1" dirty="0">
                <a:latin typeface="Times New Roman" pitchFamily="18" charset="0"/>
              </a:rPr>
              <a:t>若标志为</a:t>
            </a:r>
            <a:r>
              <a:rPr lang="en-US" altLang="zh-CN" sz="2000" b="1" dirty="0">
                <a:latin typeface="Times New Roman" pitchFamily="18" charset="0"/>
              </a:rPr>
              <a:t>1</a:t>
            </a:r>
            <a:r>
              <a:rPr lang="zh-CN" altLang="en-US" sz="2000" b="1" dirty="0">
                <a:latin typeface="Times New Roman" pitchFamily="18" charset="0"/>
              </a:rPr>
              <a:t>，则从栈顶弹出这个结点并</a:t>
            </a:r>
            <a:r>
              <a:rPr lang="zh-CN" altLang="en-US" sz="2000" b="1" dirty="0">
                <a:solidFill>
                  <a:srgbClr val="0000FF"/>
                </a:solidFill>
                <a:latin typeface="Times New Roman" pitchFamily="18" charset="0"/>
              </a:rPr>
              <a:t>访问它</a:t>
            </a:r>
            <a:r>
              <a:rPr lang="zh-CN" altLang="en-US" sz="2000" b="1" dirty="0">
                <a:latin typeface="Times New Roman" pitchFamily="18" charset="0"/>
              </a:rPr>
              <a:t>。</a:t>
            </a:r>
          </a:p>
        </p:txBody>
      </p:sp>
      <p:sp>
        <p:nvSpPr>
          <p:cNvPr id="10" name="矩形 9"/>
          <p:cNvSpPr>
            <a:spLocks noChangeArrowheads="1"/>
          </p:cNvSpPr>
          <p:nvPr/>
        </p:nvSpPr>
        <p:spPr bwMode="auto">
          <a:xfrm>
            <a:off x="571500" y="912813"/>
            <a:ext cx="46434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r>
              <a:rPr lang="en-US" altLang="zh-CN" sz="2400" b="1">
                <a:solidFill>
                  <a:schemeClr val="hlink"/>
                </a:solidFill>
                <a:latin typeface="Times New Roman" pitchFamily="18" charset="0"/>
                <a:sym typeface="Wingdings" pitchFamily="2" charset="2"/>
              </a:rPr>
              <a:t></a:t>
            </a:r>
            <a:r>
              <a:rPr lang="zh-CN" altLang="en-US" sz="2400" b="1">
                <a:solidFill>
                  <a:srgbClr val="0000FF"/>
                </a:solidFill>
                <a:latin typeface="Times New Roman" pitchFamily="18" charset="0"/>
                <a:sym typeface="Wingdings" pitchFamily="2" charset="2"/>
              </a:rPr>
              <a:t>先</a:t>
            </a:r>
            <a:r>
              <a:rPr lang="zh-CN" altLang="en-US" sz="2400" b="1">
                <a:solidFill>
                  <a:srgbClr val="0000FF"/>
                </a:solidFill>
                <a:latin typeface="Times New Roman" pitchFamily="18" charset="0"/>
              </a:rPr>
              <a:t>序</a:t>
            </a:r>
            <a:r>
              <a:rPr lang="zh-CN" altLang="en-US" sz="2400" b="1">
                <a:latin typeface="Times New Roman" pitchFamily="18" charset="0"/>
              </a:rPr>
              <a:t>遍历的</a:t>
            </a:r>
            <a:r>
              <a:rPr lang="zh-CN" altLang="en-US" sz="2400" b="1">
                <a:solidFill>
                  <a:srgbClr val="0000FF"/>
                </a:solidFill>
                <a:latin typeface="Times New Roman" pitchFamily="18" charset="0"/>
              </a:rPr>
              <a:t>非递归</a:t>
            </a:r>
            <a:r>
              <a:rPr lang="zh-CN" altLang="en-US" sz="2400" b="1">
                <a:latin typeface="Times New Roman" pitchFamily="18" charset="0"/>
              </a:rPr>
              <a:t>遍历算法</a:t>
            </a:r>
          </a:p>
        </p:txBody>
      </p:sp>
      <p:sp>
        <p:nvSpPr>
          <p:cNvPr id="11" name="矩形 10"/>
          <p:cNvSpPr>
            <a:spLocks noChangeArrowheads="1"/>
          </p:cNvSpPr>
          <p:nvPr/>
        </p:nvSpPr>
        <p:spPr bwMode="auto">
          <a:xfrm>
            <a:off x="571500" y="1484313"/>
            <a:ext cx="7500938"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r>
              <a:rPr lang="en-US" altLang="zh-CN" sz="2000" b="1">
                <a:solidFill>
                  <a:srgbClr val="0000FF"/>
                </a:solidFill>
                <a:latin typeface="Times New Roman" pitchFamily="18" charset="0"/>
                <a:sym typeface="Wingdings" pitchFamily="2" charset="2"/>
              </a:rPr>
              <a:t> </a:t>
            </a:r>
            <a:r>
              <a:rPr lang="zh-CN" altLang="en-US" sz="2000" b="1">
                <a:latin typeface="Times New Roman" pitchFamily="18" charset="0"/>
              </a:rPr>
              <a:t>遇到一个结点，就把它</a:t>
            </a:r>
            <a:r>
              <a:rPr lang="zh-CN" altLang="en-US" sz="2000" b="1">
                <a:solidFill>
                  <a:srgbClr val="0000FF"/>
                </a:solidFill>
                <a:latin typeface="Times New Roman" pitchFamily="18" charset="0"/>
              </a:rPr>
              <a:t>压栈</a:t>
            </a:r>
            <a:r>
              <a:rPr lang="zh-CN" altLang="en-US" sz="2000" b="1">
                <a:latin typeface="Times New Roman" pitchFamily="18" charset="0"/>
              </a:rPr>
              <a:t>并</a:t>
            </a:r>
            <a:r>
              <a:rPr lang="zh-CN" altLang="en-US" sz="2000" b="1">
                <a:solidFill>
                  <a:srgbClr val="0000FF"/>
                </a:solidFill>
                <a:latin typeface="Times New Roman" pitchFamily="18" charset="0"/>
              </a:rPr>
              <a:t>访问它</a:t>
            </a:r>
            <a:r>
              <a:rPr lang="zh-CN" altLang="en-US" sz="2000" b="1">
                <a:latin typeface="Times New Roman" pitchFamily="18" charset="0"/>
              </a:rPr>
              <a:t>，然后去遍历它的</a:t>
            </a:r>
            <a:r>
              <a:rPr lang="zh-CN" altLang="en-US" sz="2000" b="1">
                <a:solidFill>
                  <a:srgbClr val="0000FF"/>
                </a:solidFill>
                <a:latin typeface="Times New Roman" pitchFamily="18" charset="0"/>
              </a:rPr>
              <a:t>左子树</a:t>
            </a:r>
            <a:r>
              <a:rPr lang="zh-CN" altLang="en-US" sz="2000" b="1">
                <a:latin typeface="Times New Roman" pitchFamily="18" charset="0"/>
              </a:rPr>
              <a:t>；</a:t>
            </a:r>
            <a:endParaRPr lang="en-US" altLang="zh-CN" sz="2000" b="1">
              <a:latin typeface="Times New Roman" pitchFamily="18" charset="0"/>
            </a:endParaRPr>
          </a:p>
          <a:p>
            <a:pPr eaLnBrk="1" hangingPunct="1"/>
            <a:r>
              <a:rPr lang="en-US" altLang="zh-CN" sz="2000" b="1">
                <a:solidFill>
                  <a:srgbClr val="0000FF"/>
                </a:solidFill>
                <a:latin typeface="Times New Roman" pitchFamily="18" charset="0"/>
                <a:sym typeface="Wingdings" pitchFamily="2" charset="2"/>
              </a:rPr>
              <a:t> </a:t>
            </a:r>
            <a:r>
              <a:rPr lang="zh-CN" altLang="en-US" sz="2000" b="1">
                <a:latin typeface="Times New Roman" pitchFamily="18" charset="0"/>
              </a:rPr>
              <a:t>当</a:t>
            </a:r>
            <a:r>
              <a:rPr lang="zh-CN" altLang="en-US" sz="2000" b="1">
                <a:solidFill>
                  <a:srgbClr val="0000FF"/>
                </a:solidFill>
                <a:latin typeface="Times New Roman" pitchFamily="18" charset="0"/>
              </a:rPr>
              <a:t>左子树遍历结束</a:t>
            </a:r>
            <a:r>
              <a:rPr lang="zh-CN" altLang="en-US" sz="2000" b="1">
                <a:latin typeface="Times New Roman" pitchFamily="18" charset="0"/>
              </a:rPr>
              <a:t>后，从栈顶弹出这个结点；</a:t>
            </a:r>
            <a:endParaRPr lang="en-US" altLang="zh-CN" sz="2000" b="1">
              <a:latin typeface="Times New Roman" pitchFamily="18" charset="0"/>
            </a:endParaRPr>
          </a:p>
          <a:p>
            <a:pPr eaLnBrk="1" hangingPunct="1"/>
            <a:r>
              <a:rPr lang="en-US" altLang="zh-CN" sz="2000" b="1">
                <a:solidFill>
                  <a:srgbClr val="0000FF"/>
                </a:solidFill>
                <a:latin typeface="Times New Roman" pitchFamily="18" charset="0"/>
                <a:sym typeface="Wingdings" pitchFamily="2" charset="2"/>
              </a:rPr>
              <a:t> </a:t>
            </a:r>
            <a:r>
              <a:rPr lang="zh-CN" altLang="en-US" sz="2000" b="1">
                <a:latin typeface="Times New Roman" pitchFamily="18" charset="0"/>
              </a:rPr>
              <a:t>然后按其右指针再去中序遍历该结点的</a:t>
            </a:r>
            <a:r>
              <a:rPr lang="zh-CN" altLang="en-US" sz="2000" b="1">
                <a:solidFill>
                  <a:srgbClr val="0000FF"/>
                </a:solidFill>
                <a:latin typeface="Times New Roman" pitchFamily="18" charset="0"/>
              </a:rPr>
              <a:t>右子树</a:t>
            </a:r>
            <a:r>
              <a:rPr lang="zh-CN" altLang="en-US" sz="2000" b="1">
                <a:latin typeface="Times New Roman" pitchFamily="18" charset="0"/>
              </a:rPr>
              <a:t>。</a:t>
            </a:r>
          </a:p>
        </p:txBody>
      </p:sp>
    </p:spTree>
    <p:extLst>
      <p:ext uri="{BB962C8B-B14F-4D97-AF65-F5344CB8AC3E}">
        <p14:creationId xmlns:p14="http://schemas.microsoft.com/office/powerpoint/2010/main" val="75578769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up)">
                                      <p:cBhvr>
                                        <p:cTn id="7" dur="500"/>
                                        <p:tgtEl>
                                          <p:spTgt spid="10"/>
                                        </p:tgtEl>
                                      </p:cBhvr>
                                    </p:animEffect>
                                  </p:childTnLst>
                                </p:cTn>
                              </p:par>
                            </p:childTnLst>
                          </p:cTn>
                        </p:par>
                        <p:par>
                          <p:cTn id="8" fill="hold" nodeType="afterGroup">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wipe(up)">
                                      <p:cBhvr>
                                        <p:cTn id="11" dur="500"/>
                                        <p:tgtEl>
                                          <p:spTgt spid="11"/>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1" fill="hold" grpId="0"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up)">
                                      <p:cBhvr>
                                        <p:cTn id="16" dur="500"/>
                                        <p:tgtEl>
                                          <p:spTgt spid="3"/>
                                        </p:tgtEl>
                                      </p:cBhvr>
                                    </p:animEffect>
                                  </p:childTnLst>
                                </p:cTn>
                              </p:par>
                            </p:childTnLst>
                          </p:cTn>
                        </p:par>
                        <p:par>
                          <p:cTn id="17" fill="hold" nodeType="afterGroup">
                            <p:stCondLst>
                              <p:cond delay="500"/>
                            </p:stCondLst>
                            <p:childTnLst>
                              <p:par>
                                <p:cTn id="18" presetID="22" presetClass="entr" presetSubtype="1" fill="hold" grpId="0" nodeType="after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wipe(up)">
                                      <p:cBhvr>
                                        <p:cTn id="2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7" grpId="0"/>
      <p:bldP spid="10" grpId="0"/>
      <p:bldP spid="11"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3" name="矩形 1"/>
          <p:cNvSpPr>
            <a:spLocks noChangeArrowheads="1"/>
          </p:cNvSpPr>
          <p:nvPr/>
        </p:nvSpPr>
        <p:spPr bwMode="auto">
          <a:xfrm>
            <a:off x="890588" y="242217"/>
            <a:ext cx="23241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zh-CN" altLang="en-US" sz="2400" b="1" dirty="0">
                <a:solidFill>
                  <a:srgbClr val="FFFF00"/>
                </a:solidFill>
                <a:latin typeface="Times New Roman" pitchFamily="18" charset="0"/>
              </a:rPr>
              <a:t>（</a:t>
            </a:r>
            <a:r>
              <a:rPr lang="en-US" altLang="zh-CN" sz="2400" b="1" dirty="0">
                <a:solidFill>
                  <a:srgbClr val="FFFF00"/>
                </a:solidFill>
                <a:latin typeface="Times New Roman" pitchFamily="18" charset="0"/>
              </a:rPr>
              <a:t>5</a:t>
            </a:r>
            <a:r>
              <a:rPr lang="zh-CN" altLang="en-US" sz="2400" b="1" dirty="0">
                <a:solidFill>
                  <a:srgbClr val="FFFF00"/>
                </a:solidFill>
                <a:latin typeface="Times New Roman" pitchFamily="18" charset="0"/>
              </a:rPr>
              <a:t>）	层序遍历</a:t>
            </a:r>
          </a:p>
        </p:txBody>
      </p:sp>
      <p:sp>
        <p:nvSpPr>
          <p:cNvPr id="3" name="矩形 2"/>
          <p:cNvSpPr>
            <a:spLocks noChangeArrowheads="1"/>
          </p:cNvSpPr>
          <p:nvPr/>
        </p:nvSpPr>
        <p:spPr bwMode="auto">
          <a:xfrm>
            <a:off x="500063" y="785813"/>
            <a:ext cx="7891462"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r>
              <a:rPr lang="en-US" altLang="zh-CN" sz="2000" b="1">
                <a:solidFill>
                  <a:schemeClr val="hlink"/>
                </a:solidFill>
                <a:latin typeface="Times New Roman" pitchFamily="18" charset="0"/>
                <a:sym typeface="Wingdings" pitchFamily="2" charset="2"/>
              </a:rPr>
              <a:t> </a:t>
            </a:r>
            <a:r>
              <a:rPr lang="zh-CN" altLang="zh-CN" sz="2000" b="1">
                <a:latin typeface="Times New Roman" pitchFamily="18" charset="0"/>
              </a:rPr>
              <a:t>具体的算法实现可以设置一个</a:t>
            </a:r>
            <a:r>
              <a:rPr lang="zh-CN" altLang="zh-CN" sz="2000" b="1">
                <a:solidFill>
                  <a:srgbClr val="0000FF"/>
                </a:solidFill>
                <a:latin typeface="Times New Roman" pitchFamily="18" charset="0"/>
              </a:rPr>
              <a:t>队列</a:t>
            </a:r>
            <a:r>
              <a:rPr lang="zh-CN" altLang="zh-CN" sz="2000" b="1">
                <a:latin typeface="Times New Roman" pitchFamily="18" charset="0"/>
              </a:rPr>
              <a:t>结构，遍历从根结点开始，首先将</a:t>
            </a:r>
            <a:r>
              <a:rPr lang="zh-CN" altLang="zh-CN" sz="2000" b="1">
                <a:solidFill>
                  <a:srgbClr val="0000FF"/>
                </a:solidFill>
                <a:latin typeface="Times New Roman" pitchFamily="18" charset="0"/>
              </a:rPr>
              <a:t>根结点指针入队</a:t>
            </a:r>
            <a:r>
              <a:rPr lang="zh-CN" altLang="zh-CN" sz="2000" b="1">
                <a:latin typeface="Times New Roman" pitchFamily="18" charset="0"/>
              </a:rPr>
              <a:t>，然后开始执行下面三个操作</a:t>
            </a:r>
            <a:r>
              <a:rPr lang="zh-CN" altLang="en-US" sz="2000" b="1">
                <a:latin typeface="Times New Roman" pitchFamily="18" charset="0"/>
              </a:rPr>
              <a:t>（</a:t>
            </a:r>
            <a:r>
              <a:rPr lang="zh-CN" altLang="en-US" sz="2000" b="1">
                <a:solidFill>
                  <a:srgbClr val="0000FF"/>
                </a:solidFill>
                <a:latin typeface="Times New Roman" pitchFamily="18" charset="0"/>
              </a:rPr>
              <a:t>直到队列空</a:t>
            </a:r>
            <a:r>
              <a:rPr lang="zh-CN" altLang="en-US" sz="2000" b="1">
                <a:latin typeface="Times New Roman" pitchFamily="18" charset="0"/>
              </a:rPr>
              <a:t>）</a:t>
            </a:r>
            <a:r>
              <a:rPr lang="zh-CN" altLang="zh-CN" sz="2000" b="1">
                <a:latin typeface="Times New Roman" pitchFamily="18" charset="0"/>
              </a:rPr>
              <a:t>：</a:t>
            </a:r>
            <a:endParaRPr lang="zh-CN" altLang="en-US" sz="2000" b="1">
              <a:latin typeface="Times New Roman" pitchFamily="18" charset="0"/>
            </a:endParaRPr>
          </a:p>
        </p:txBody>
      </p:sp>
      <p:sp>
        <p:nvSpPr>
          <p:cNvPr id="6" name="Text Box 2"/>
          <p:cNvSpPr txBox="1">
            <a:spLocks noChangeArrowheads="1"/>
          </p:cNvSpPr>
          <p:nvPr/>
        </p:nvSpPr>
        <p:spPr bwMode="auto">
          <a:xfrm>
            <a:off x="610266" y="3284984"/>
            <a:ext cx="7215188" cy="3416300"/>
          </a:xfrm>
          <a:prstGeom prst="rect">
            <a:avLst/>
          </a:prstGeom>
          <a:noFill/>
          <a:ln w="9525">
            <a:solidFill>
              <a:srgbClr val="000000"/>
            </a:solidFill>
            <a:miter lim="800000"/>
            <a:headEnd/>
            <a:tailEnd/>
          </a:ln>
        </p:spPr>
        <p:txBody>
          <a:bodyPr>
            <a:spAutoFit/>
          </a:bodyPr>
          <a:lstStyle/>
          <a:p>
            <a:pPr algn="just" eaLnBrk="1" hangingPunct="1">
              <a:defRPr/>
            </a:pPr>
            <a:r>
              <a:rPr lang="en-US" altLang="zh-CN" sz="1800" b="1" dirty="0">
                <a:solidFill>
                  <a:srgbClr val="0000FF"/>
                </a:solidFill>
                <a:latin typeface="Courier New" pitchFamily="49" charset="0"/>
              </a:rPr>
              <a:t>void</a:t>
            </a:r>
            <a:r>
              <a:rPr lang="en-US" altLang="zh-CN" sz="1800" b="1" dirty="0">
                <a:latin typeface="Courier New" pitchFamily="49" charset="0"/>
              </a:rPr>
              <a:t> </a:t>
            </a:r>
            <a:r>
              <a:rPr lang="en-US" altLang="zh-CN" sz="1800" b="1" dirty="0" err="1">
                <a:latin typeface="Courier New" pitchFamily="49" charset="0"/>
              </a:rPr>
              <a:t>LevelOrderTraversal</a:t>
            </a:r>
            <a:r>
              <a:rPr lang="en-US" altLang="zh-CN" sz="1800" b="1" dirty="0">
                <a:latin typeface="Courier New" pitchFamily="49" charset="0"/>
              </a:rPr>
              <a:t> ( </a:t>
            </a:r>
            <a:r>
              <a:rPr lang="en-US" altLang="zh-CN" sz="1800" b="1" dirty="0" err="1" smtClean="0">
                <a:latin typeface="Courier New" pitchFamily="49" charset="0"/>
              </a:rPr>
              <a:t>BiTree</a:t>
            </a:r>
            <a:r>
              <a:rPr lang="en-US" altLang="zh-CN" sz="1800" b="1" dirty="0" smtClean="0">
                <a:latin typeface="Courier New" pitchFamily="49" charset="0"/>
              </a:rPr>
              <a:t> </a:t>
            </a:r>
            <a:r>
              <a:rPr lang="en-US" altLang="zh-CN" sz="1800" b="1" dirty="0">
                <a:latin typeface="Courier New" pitchFamily="49" charset="0"/>
              </a:rPr>
              <a:t>BT )</a:t>
            </a:r>
          </a:p>
          <a:p>
            <a:pPr algn="just" eaLnBrk="1" hangingPunct="1">
              <a:defRPr/>
            </a:pPr>
            <a:r>
              <a:rPr lang="en-US" altLang="zh-CN" sz="1800" b="1" dirty="0">
                <a:latin typeface="Courier New" pitchFamily="49" charset="0"/>
              </a:rPr>
              <a:t>{   Queue Q;  </a:t>
            </a:r>
            <a:r>
              <a:rPr lang="en-US" altLang="zh-CN" sz="1800" b="1" dirty="0" err="1" smtClean="0">
                <a:latin typeface="Courier New" pitchFamily="49" charset="0"/>
              </a:rPr>
              <a:t>BiTree</a:t>
            </a:r>
            <a:r>
              <a:rPr lang="en-US" altLang="zh-CN" sz="1800" b="1" dirty="0" smtClean="0">
                <a:latin typeface="Courier New" pitchFamily="49" charset="0"/>
              </a:rPr>
              <a:t> </a:t>
            </a:r>
            <a:r>
              <a:rPr lang="en-US" altLang="zh-CN" sz="1800" b="1" dirty="0">
                <a:latin typeface="Courier New" pitchFamily="49" charset="0"/>
              </a:rPr>
              <a:t>T;</a:t>
            </a:r>
          </a:p>
          <a:p>
            <a:pPr lvl="1" algn="just" eaLnBrk="1" hangingPunct="1">
              <a:defRPr/>
            </a:pPr>
            <a:r>
              <a:rPr lang="en-US" altLang="zh-CN" sz="1800" b="1" dirty="0">
                <a:solidFill>
                  <a:srgbClr val="0000FF"/>
                </a:solidFill>
                <a:latin typeface="Courier New" pitchFamily="49" charset="0"/>
              </a:rPr>
              <a:t>if</a:t>
            </a:r>
            <a:r>
              <a:rPr lang="en-US" altLang="zh-CN" sz="1800" b="1" dirty="0">
                <a:latin typeface="Courier New" pitchFamily="49" charset="0"/>
              </a:rPr>
              <a:t> ( !BT ) </a:t>
            </a:r>
            <a:r>
              <a:rPr lang="en-US" altLang="zh-CN" sz="1800" b="1" dirty="0">
                <a:solidFill>
                  <a:srgbClr val="0000FF"/>
                </a:solidFill>
                <a:latin typeface="Courier New" pitchFamily="49" charset="0"/>
              </a:rPr>
              <a:t>return</a:t>
            </a:r>
            <a:r>
              <a:rPr lang="en-US" altLang="zh-CN" sz="1800" b="1" dirty="0">
                <a:latin typeface="Courier New" pitchFamily="49" charset="0"/>
              </a:rPr>
              <a:t>; </a:t>
            </a:r>
            <a:r>
              <a:rPr lang="en-US" altLang="zh-CN" sz="1800" b="1" dirty="0">
                <a:solidFill>
                  <a:schemeClr val="bg2">
                    <a:lumMod val="60000"/>
                    <a:lumOff val="40000"/>
                  </a:schemeClr>
                </a:solidFill>
                <a:latin typeface="Courier New" pitchFamily="49" charset="0"/>
              </a:rPr>
              <a:t>/* </a:t>
            </a:r>
            <a:r>
              <a:rPr lang="zh-CN" altLang="en-US" sz="1800" b="1" dirty="0">
                <a:solidFill>
                  <a:schemeClr val="bg2">
                    <a:lumMod val="60000"/>
                    <a:lumOff val="40000"/>
                  </a:schemeClr>
                </a:solidFill>
                <a:latin typeface="Courier New" pitchFamily="49" charset="0"/>
              </a:rPr>
              <a:t>若是空树则直接返回 *</a:t>
            </a:r>
            <a:r>
              <a:rPr lang="en-US" altLang="zh-CN" sz="1800" b="1" dirty="0">
                <a:solidFill>
                  <a:schemeClr val="bg2">
                    <a:lumMod val="60000"/>
                    <a:lumOff val="40000"/>
                  </a:schemeClr>
                </a:solidFill>
                <a:latin typeface="Courier New" pitchFamily="49" charset="0"/>
              </a:rPr>
              <a:t>/</a:t>
            </a:r>
          </a:p>
          <a:p>
            <a:pPr lvl="1" algn="just" eaLnBrk="1" hangingPunct="1">
              <a:defRPr/>
            </a:pPr>
            <a:r>
              <a:rPr lang="en-US" altLang="zh-CN" sz="1800" b="1" dirty="0">
                <a:latin typeface="Courier New" pitchFamily="49" charset="0"/>
              </a:rPr>
              <a:t>Q = </a:t>
            </a:r>
            <a:r>
              <a:rPr lang="en-US" altLang="zh-CN" sz="1800" b="1" dirty="0" err="1">
                <a:latin typeface="Courier New" pitchFamily="49" charset="0"/>
              </a:rPr>
              <a:t>CreatQueue</a:t>
            </a:r>
            <a:r>
              <a:rPr lang="en-US" altLang="zh-CN" sz="1800" b="1" dirty="0">
                <a:latin typeface="Courier New" pitchFamily="49" charset="0"/>
              </a:rPr>
              <a:t>( </a:t>
            </a:r>
            <a:r>
              <a:rPr lang="en-US" altLang="zh-CN" sz="1800" b="1" dirty="0" err="1">
                <a:latin typeface="Courier New" pitchFamily="49" charset="0"/>
              </a:rPr>
              <a:t>MaxSize</a:t>
            </a:r>
            <a:r>
              <a:rPr lang="en-US" altLang="zh-CN" sz="1800" b="1" dirty="0">
                <a:latin typeface="Courier New" pitchFamily="49" charset="0"/>
              </a:rPr>
              <a:t> ); </a:t>
            </a:r>
            <a:r>
              <a:rPr lang="en-US" altLang="zh-CN" sz="1800" b="1" dirty="0">
                <a:solidFill>
                  <a:schemeClr val="bg2">
                    <a:lumMod val="60000"/>
                    <a:lumOff val="40000"/>
                  </a:schemeClr>
                </a:solidFill>
                <a:latin typeface="Courier New" pitchFamily="49" charset="0"/>
              </a:rPr>
              <a:t>/*</a:t>
            </a:r>
            <a:r>
              <a:rPr lang="zh-CN" altLang="en-US" sz="1800" b="1" dirty="0">
                <a:solidFill>
                  <a:schemeClr val="bg2">
                    <a:lumMod val="60000"/>
                    <a:lumOff val="40000"/>
                  </a:schemeClr>
                </a:solidFill>
                <a:latin typeface="Courier New" pitchFamily="49" charset="0"/>
              </a:rPr>
              <a:t>创建并初始化队列</a:t>
            </a:r>
            <a:r>
              <a:rPr lang="en-US" altLang="zh-CN" sz="1800" b="1" dirty="0">
                <a:solidFill>
                  <a:schemeClr val="bg2">
                    <a:lumMod val="60000"/>
                    <a:lumOff val="40000"/>
                  </a:schemeClr>
                </a:solidFill>
                <a:latin typeface="Courier New" pitchFamily="49" charset="0"/>
              </a:rPr>
              <a:t>Q*/</a:t>
            </a:r>
          </a:p>
          <a:p>
            <a:pPr lvl="1" algn="just" eaLnBrk="1" hangingPunct="1">
              <a:defRPr/>
            </a:pPr>
            <a:r>
              <a:rPr lang="en-US" altLang="zh-CN" sz="1800" b="1" dirty="0" err="1">
                <a:latin typeface="Courier New" pitchFamily="49" charset="0"/>
              </a:rPr>
              <a:t>AddQ</a:t>
            </a:r>
            <a:r>
              <a:rPr lang="en-US" altLang="zh-CN" sz="1800" b="1" dirty="0">
                <a:latin typeface="Courier New" pitchFamily="49" charset="0"/>
              </a:rPr>
              <a:t>( Q, BT );</a:t>
            </a:r>
          </a:p>
          <a:p>
            <a:pPr lvl="1" algn="just" eaLnBrk="1" hangingPunct="1">
              <a:defRPr/>
            </a:pPr>
            <a:r>
              <a:rPr lang="en-US" altLang="zh-CN" sz="1800" b="1" dirty="0">
                <a:solidFill>
                  <a:srgbClr val="0000FF"/>
                </a:solidFill>
                <a:latin typeface="Courier New" pitchFamily="49" charset="0"/>
              </a:rPr>
              <a:t>while</a:t>
            </a:r>
            <a:r>
              <a:rPr lang="en-US" altLang="zh-CN" sz="1800" b="1" dirty="0">
                <a:latin typeface="Courier New" pitchFamily="49" charset="0"/>
              </a:rPr>
              <a:t> ( !</a:t>
            </a:r>
            <a:r>
              <a:rPr lang="en-US" altLang="zh-CN" sz="1800" b="1" dirty="0" err="1">
                <a:latin typeface="Courier New" pitchFamily="49" charset="0"/>
              </a:rPr>
              <a:t>IsEmptyQ</a:t>
            </a:r>
            <a:r>
              <a:rPr lang="en-US" altLang="zh-CN" sz="1800" b="1" dirty="0">
                <a:latin typeface="Courier New" pitchFamily="49" charset="0"/>
              </a:rPr>
              <a:t>( Q ) ) {</a:t>
            </a:r>
          </a:p>
          <a:p>
            <a:pPr lvl="1" algn="just" eaLnBrk="1" hangingPunct="1">
              <a:defRPr/>
            </a:pPr>
            <a:r>
              <a:rPr lang="en-US" altLang="zh-CN" sz="1800" b="1" dirty="0">
                <a:latin typeface="Courier New" pitchFamily="49" charset="0"/>
              </a:rPr>
              <a:t>    T = </a:t>
            </a:r>
            <a:r>
              <a:rPr lang="en-US" altLang="zh-CN" sz="1800" b="1" dirty="0" err="1">
                <a:latin typeface="Courier New" pitchFamily="49" charset="0"/>
              </a:rPr>
              <a:t>DeleteQ</a:t>
            </a:r>
            <a:r>
              <a:rPr lang="en-US" altLang="zh-CN" sz="1800" b="1" dirty="0">
                <a:latin typeface="Courier New" pitchFamily="49" charset="0"/>
              </a:rPr>
              <a:t>( Q );</a:t>
            </a:r>
          </a:p>
          <a:p>
            <a:pPr lvl="2" algn="just" eaLnBrk="1" hangingPunct="1">
              <a:defRPr/>
            </a:pPr>
            <a:r>
              <a:rPr lang="en-US" altLang="zh-CN" sz="1800" b="1" dirty="0" err="1">
                <a:latin typeface="Courier New" pitchFamily="49" charset="0"/>
              </a:rPr>
              <a:t>printf</a:t>
            </a:r>
            <a:r>
              <a:rPr lang="en-US" altLang="zh-CN" sz="1800" b="1" dirty="0">
                <a:latin typeface="Courier New" pitchFamily="49" charset="0"/>
              </a:rPr>
              <a:t>(“%d\n”, T-&gt;Data); </a:t>
            </a:r>
            <a:r>
              <a:rPr lang="en-US" altLang="zh-CN" sz="1800" b="1" dirty="0">
                <a:solidFill>
                  <a:schemeClr val="bg2">
                    <a:lumMod val="60000"/>
                    <a:lumOff val="40000"/>
                  </a:schemeClr>
                </a:solidFill>
                <a:latin typeface="Courier New" pitchFamily="49" charset="0"/>
              </a:rPr>
              <a:t>/*</a:t>
            </a:r>
            <a:r>
              <a:rPr lang="zh-CN" altLang="en-US" sz="1800" b="1" dirty="0">
                <a:solidFill>
                  <a:schemeClr val="bg2">
                    <a:lumMod val="60000"/>
                    <a:lumOff val="40000"/>
                  </a:schemeClr>
                </a:solidFill>
                <a:latin typeface="Courier New" pitchFamily="49" charset="0"/>
              </a:rPr>
              <a:t>访问取出队列的结点*</a:t>
            </a:r>
            <a:r>
              <a:rPr lang="en-US" altLang="zh-CN" sz="1800" b="1" dirty="0">
                <a:solidFill>
                  <a:schemeClr val="bg2">
                    <a:lumMod val="60000"/>
                    <a:lumOff val="40000"/>
                  </a:schemeClr>
                </a:solidFill>
                <a:latin typeface="Courier New" pitchFamily="49" charset="0"/>
              </a:rPr>
              <a:t>/</a:t>
            </a:r>
          </a:p>
          <a:p>
            <a:pPr lvl="2" algn="just" eaLnBrk="1" hangingPunct="1">
              <a:defRPr/>
            </a:pPr>
            <a:r>
              <a:rPr lang="en-US" altLang="zh-CN" sz="1800" b="1" dirty="0">
                <a:solidFill>
                  <a:srgbClr val="0000FF"/>
                </a:solidFill>
                <a:latin typeface="Courier New" pitchFamily="49" charset="0"/>
              </a:rPr>
              <a:t>if</a:t>
            </a:r>
            <a:r>
              <a:rPr lang="en-US" altLang="zh-CN" sz="1800" b="1" dirty="0">
                <a:latin typeface="Courier New" pitchFamily="49" charset="0"/>
              </a:rPr>
              <a:t> ( T-</a:t>
            </a:r>
            <a:r>
              <a:rPr lang="en-US" altLang="zh-CN" sz="1800" b="1" dirty="0" smtClean="0">
                <a:latin typeface="Courier New" pitchFamily="49" charset="0"/>
              </a:rPr>
              <a:t>&gt;</a:t>
            </a:r>
            <a:r>
              <a:rPr lang="en-US" altLang="zh-CN" sz="1800" b="1" dirty="0" err="1" smtClean="0">
                <a:latin typeface="Courier New" pitchFamily="49" charset="0"/>
              </a:rPr>
              <a:t>lchild</a:t>
            </a:r>
            <a:r>
              <a:rPr lang="en-US" altLang="zh-CN" sz="1800" b="1" dirty="0" smtClean="0">
                <a:latin typeface="Courier New" pitchFamily="49" charset="0"/>
              </a:rPr>
              <a:t> </a:t>
            </a:r>
            <a:r>
              <a:rPr lang="en-US" altLang="zh-CN" sz="1800" b="1" dirty="0">
                <a:latin typeface="Courier New" pitchFamily="49" charset="0"/>
              </a:rPr>
              <a:t>)  </a:t>
            </a:r>
            <a:r>
              <a:rPr lang="en-US" altLang="zh-CN" sz="1800" b="1" dirty="0" err="1">
                <a:latin typeface="Courier New" pitchFamily="49" charset="0"/>
              </a:rPr>
              <a:t>AddQ</a:t>
            </a:r>
            <a:r>
              <a:rPr lang="en-US" altLang="zh-CN" sz="1800" b="1" dirty="0">
                <a:latin typeface="Courier New" pitchFamily="49" charset="0"/>
              </a:rPr>
              <a:t>( Q, T-</a:t>
            </a:r>
            <a:r>
              <a:rPr lang="en-US" altLang="zh-CN" sz="1800" b="1" dirty="0" smtClean="0">
                <a:latin typeface="Courier New" pitchFamily="49" charset="0"/>
              </a:rPr>
              <a:t>&gt;</a:t>
            </a:r>
            <a:r>
              <a:rPr lang="en-US" altLang="zh-CN" sz="1800" b="1" dirty="0" err="1" smtClean="0">
                <a:latin typeface="Courier New" pitchFamily="49" charset="0"/>
              </a:rPr>
              <a:t>lchild</a:t>
            </a:r>
            <a:r>
              <a:rPr lang="en-US" altLang="zh-CN" sz="1800" b="1" dirty="0" smtClean="0">
                <a:latin typeface="Courier New" pitchFamily="49" charset="0"/>
              </a:rPr>
              <a:t>);</a:t>
            </a:r>
            <a:endParaRPr lang="en-US" altLang="zh-CN" sz="1800" b="1" dirty="0">
              <a:latin typeface="Courier New" pitchFamily="49" charset="0"/>
            </a:endParaRPr>
          </a:p>
          <a:p>
            <a:pPr lvl="2" algn="just" eaLnBrk="1" hangingPunct="1">
              <a:defRPr/>
            </a:pPr>
            <a:r>
              <a:rPr lang="en-US" altLang="zh-CN" sz="1800" b="1" dirty="0">
                <a:solidFill>
                  <a:srgbClr val="0000FF"/>
                </a:solidFill>
                <a:latin typeface="Courier New" pitchFamily="49" charset="0"/>
              </a:rPr>
              <a:t>if</a:t>
            </a:r>
            <a:r>
              <a:rPr lang="en-US" altLang="zh-CN" sz="1800" b="1" dirty="0">
                <a:latin typeface="Courier New" pitchFamily="49" charset="0"/>
              </a:rPr>
              <a:t> ( T-</a:t>
            </a:r>
            <a:r>
              <a:rPr lang="en-US" altLang="zh-CN" sz="1800" b="1" dirty="0" smtClean="0">
                <a:latin typeface="Courier New" pitchFamily="49" charset="0"/>
              </a:rPr>
              <a:t>&gt;</a:t>
            </a:r>
            <a:r>
              <a:rPr lang="en-US" altLang="zh-CN" sz="1800" b="1" dirty="0" err="1" smtClean="0">
                <a:latin typeface="Courier New" pitchFamily="49" charset="0"/>
              </a:rPr>
              <a:t>rchild</a:t>
            </a:r>
            <a:r>
              <a:rPr lang="en-US" altLang="zh-CN" sz="1800" b="1" dirty="0" smtClean="0">
                <a:latin typeface="Courier New" pitchFamily="49" charset="0"/>
              </a:rPr>
              <a:t> </a:t>
            </a:r>
            <a:r>
              <a:rPr lang="en-US" altLang="zh-CN" sz="1800" b="1" dirty="0">
                <a:latin typeface="Courier New" pitchFamily="49" charset="0"/>
              </a:rPr>
              <a:t>)  </a:t>
            </a:r>
            <a:r>
              <a:rPr lang="en-US" altLang="zh-CN" sz="1800" b="1" dirty="0" err="1">
                <a:latin typeface="Courier New" pitchFamily="49" charset="0"/>
              </a:rPr>
              <a:t>AddQ</a:t>
            </a:r>
            <a:r>
              <a:rPr lang="en-US" altLang="zh-CN" sz="1800" b="1" dirty="0">
                <a:latin typeface="Courier New" pitchFamily="49" charset="0"/>
              </a:rPr>
              <a:t>( Q, T-</a:t>
            </a:r>
            <a:r>
              <a:rPr lang="en-US" altLang="zh-CN" sz="1800" b="1" dirty="0" smtClean="0">
                <a:latin typeface="Courier New" pitchFamily="49" charset="0"/>
              </a:rPr>
              <a:t>&gt;</a:t>
            </a:r>
            <a:r>
              <a:rPr lang="en-US" altLang="zh-CN" sz="1800" b="1" dirty="0" err="1" smtClean="0">
                <a:latin typeface="Courier New" pitchFamily="49" charset="0"/>
              </a:rPr>
              <a:t>rchild</a:t>
            </a:r>
            <a:r>
              <a:rPr lang="en-US" altLang="zh-CN" sz="1800" b="1" dirty="0" smtClean="0">
                <a:latin typeface="Courier New" pitchFamily="49" charset="0"/>
              </a:rPr>
              <a:t>);</a:t>
            </a:r>
            <a:endParaRPr lang="en-US" altLang="zh-CN" sz="1800" b="1" dirty="0">
              <a:latin typeface="Courier New" pitchFamily="49" charset="0"/>
            </a:endParaRPr>
          </a:p>
          <a:p>
            <a:pPr lvl="1" algn="just" eaLnBrk="1" hangingPunct="1">
              <a:defRPr/>
            </a:pPr>
            <a:r>
              <a:rPr lang="en-US" altLang="zh-CN" sz="1800" b="1" dirty="0">
                <a:latin typeface="Courier New" pitchFamily="49" charset="0"/>
              </a:rPr>
              <a:t>}</a:t>
            </a:r>
          </a:p>
          <a:p>
            <a:pPr algn="just" eaLnBrk="1" hangingPunct="1">
              <a:defRPr/>
            </a:pPr>
            <a:r>
              <a:rPr lang="en-US" altLang="zh-CN" sz="1800" b="1" dirty="0">
                <a:latin typeface="Courier New" pitchFamily="49" charset="0"/>
              </a:rPr>
              <a:t>}</a:t>
            </a:r>
            <a:endParaRPr lang="zh-CN" altLang="zh-CN" sz="1800" b="1" dirty="0" err="1">
              <a:latin typeface="Courier New" pitchFamily="49" charset="0"/>
            </a:endParaRPr>
          </a:p>
        </p:txBody>
      </p:sp>
      <p:sp>
        <p:nvSpPr>
          <p:cNvPr id="5" name="矩形 4"/>
          <p:cNvSpPr>
            <a:spLocks noChangeArrowheads="1"/>
          </p:cNvSpPr>
          <p:nvPr/>
        </p:nvSpPr>
        <p:spPr bwMode="auto">
          <a:xfrm>
            <a:off x="500063" y="1533525"/>
            <a:ext cx="5429250"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r>
              <a:rPr lang="en-US" altLang="zh-CN" sz="2000" b="1" dirty="0">
                <a:latin typeface="Times New Roman" pitchFamily="18" charset="0"/>
                <a:sym typeface="Wingdings" pitchFamily="2" charset="2"/>
              </a:rPr>
              <a:t></a:t>
            </a:r>
            <a:r>
              <a:rPr lang="en-US" altLang="zh-CN" sz="2000" b="1" dirty="0">
                <a:latin typeface="Times New Roman" pitchFamily="18" charset="0"/>
              </a:rPr>
              <a:t> </a:t>
            </a:r>
            <a:r>
              <a:rPr lang="zh-CN" altLang="zh-CN" sz="2000" b="1" dirty="0">
                <a:latin typeface="Times New Roman" pitchFamily="18" charset="0"/>
              </a:rPr>
              <a:t>从队列中</a:t>
            </a:r>
            <a:r>
              <a:rPr lang="zh-CN" altLang="zh-CN" sz="2000" b="1" dirty="0">
                <a:solidFill>
                  <a:srgbClr val="0000FF"/>
                </a:solidFill>
                <a:latin typeface="Times New Roman" pitchFamily="18" charset="0"/>
              </a:rPr>
              <a:t>取出一个</a:t>
            </a:r>
            <a:r>
              <a:rPr lang="zh-CN" altLang="zh-CN" sz="2000" b="1" dirty="0">
                <a:latin typeface="Times New Roman" pitchFamily="18" charset="0"/>
              </a:rPr>
              <a:t>元素；</a:t>
            </a:r>
          </a:p>
          <a:p>
            <a:pPr eaLnBrk="1" hangingPunct="1"/>
            <a:r>
              <a:rPr lang="en-US" altLang="zh-CN" sz="2000" b="1" dirty="0">
                <a:latin typeface="Times New Roman" pitchFamily="18" charset="0"/>
                <a:sym typeface="Wingdings" pitchFamily="2" charset="2"/>
              </a:rPr>
              <a:t></a:t>
            </a:r>
            <a:r>
              <a:rPr lang="en-US" altLang="zh-CN" sz="2000" b="1" dirty="0">
                <a:latin typeface="Times New Roman" pitchFamily="18" charset="0"/>
              </a:rPr>
              <a:t> </a:t>
            </a:r>
            <a:r>
              <a:rPr lang="zh-CN" altLang="zh-CN" sz="2000" b="1" dirty="0">
                <a:solidFill>
                  <a:srgbClr val="0000FF"/>
                </a:solidFill>
                <a:latin typeface="Times New Roman" pitchFamily="18" charset="0"/>
              </a:rPr>
              <a:t>访问</a:t>
            </a:r>
            <a:r>
              <a:rPr lang="zh-CN" altLang="zh-CN" sz="2000" b="1" dirty="0">
                <a:latin typeface="Times New Roman" pitchFamily="18" charset="0"/>
              </a:rPr>
              <a:t>该元素所指结点；</a:t>
            </a:r>
          </a:p>
          <a:p>
            <a:pPr eaLnBrk="1" hangingPunct="1"/>
            <a:r>
              <a:rPr lang="en-US" altLang="zh-CN" sz="2000" b="1" dirty="0">
                <a:latin typeface="Times New Roman" pitchFamily="18" charset="0"/>
                <a:sym typeface="Wingdings" pitchFamily="2" charset="2"/>
              </a:rPr>
              <a:t></a:t>
            </a:r>
            <a:r>
              <a:rPr lang="en-US" altLang="zh-CN" sz="2000" b="1" dirty="0">
                <a:latin typeface="Times New Roman" pitchFamily="18" charset="0"/>
              </a:rPr>
              <a:t> </a:t>
            </a:r>
            <a:r>
              <a:rPr lang="zh-CN" altLang="zh-CN" sz="2000" b="1" dirty="0">
                <a:latin typeface="Times New Roman" pitchFamily="18" charset="0"/>
              </a:rPr>
              <a:t>若该元素所指结点的左、右孩子结点非空，则将其</a:t>
            </a:r>
            <a:r>
              <a:rPr lang="zh-CN" altLang="zh-CN" sz="2000" b="1" dirty="0">
                <a:solidFill>
                  <a:srgbClr val="0000FF"/>
                </a:solidFill>
                <a:latin typeface="Times New Roman" pitchFamily="18" charset="0"/>
              </a:rPr>
              <a:t>左、右孩子的指针顺序入队</a:t>
            </a:r>
            <a:r>
              <a:rPr lang="zh-CN" altLang="zh-CN" sz="2000" b="1" dirty="0">
                <a:latin typeface="Times New Roman" pitchFamily="18" charset="0"/>
              </a:rPr>
              <a:t>。</a:t>
            </a:r>
          </a:p>
        </p:txBody>
      </p:sp>
      <p:sp>
        <p:nvSpPr>
          <p:cNvPr id="82" name="Text Box 1"/>
          <p:cNvSpPr txBox="1">
            <a:spLocks noChangeArrowheads="1"/>
          </p:cNvSpPr>
          <p:nvPr/>
        </p:nvSpPr>
        <p:spPr bwMode="auto">
          <a:xfrm>
            <a:off x="571500" y="2071688"/>
            <a:ext cx="1928813" cy="4000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2000" b="1">
                <a:solidFill>
                  <a:srgbClr val="0000FF"/>
                </a:solidFill>
              </a:rPr>
              <a:t>层序</a:t>
            </a:r>
            <a:r>
              <a:rPr lang="zh-CN" altLang="en-US" sz="2000" b="1"/>
              <a:t>遍历 </a:t>
            </a:r>
            <a:r>
              <a:rPr lang="en-US" altLang="zh-CN" sz="2000" b="1"/>
              <a:t>=&gt;</a:t>
            </a:r>
            <a:endParaRPr lang="zh-CN" altLang="zh-CN" sz="2000" b="1">
              <a:latin typeface="Arial" pitchFamily="34" charset="0"/>
            </a:endParaRPr>
          </a:p>
        </p:txBody>
      </p:sp>
      <p:grpSp>
        <p:nvGrpSpPr>
          <p:cNvPr id="84" name="组合 83"/>
          <p:cNvGrpSpPr>
            <a:grpSpLocks/>
          </p:cNvGrpSpPr>
          <p:nvPr/>
        </p:nvGrpSpPr>
        <p:grpSpPr bwMode="auto">
          <a:xfrm>
            <a:off x="5643563" y="642938"/>
            <a:ext cx="2330450" cy="2300287"/>
            <a:chOff x="5715008" y="714356"/>
            <a:chExt cx="2330820" cy="2300009"/>
          </a:xfrm>
        </p:grpSpPr>
        <p:grpSp>
          <p:nvGrpSpPr>
            <p:cNvPr id="35900" name="Group 4"/>
            <p:cNvGrpSpPr>
              <a:grpSpLocks/>
            </p:cNvGrpSpPr>
            <p:nvPr/>
          </p:nvGrpSpPr>
          <p:grpSpPr bwMode="auto">
            <a:xfrm>
              <a:off x="5715008" y="2000265"/>
              <a:ext cx="284307" cy="299746"/>
              <a:chOff x="2550" y="6603"/>
              <a:chExt cx="243" cy="264"/>
            </a:xfrm>
          </p:grpSpPr>
          <p:sp>
            <p:nvSpPr>
              <p:cNvPr id="35925" name="Oval 5"/>
              <p:cNvSpPr>
                <a:spLocks noChangeArrowheads="1"/>
              </p:cNvSpPr>
              <p:nvPr/>
            </p:nvSpPr>
            <p:spPr bwMode="auto">
              <a:xfrm>
                <a:off x="2550" y="6648"/>
                <a:ext cx="215" cy="215"/>
              </a:xfrm>
              <a:prstGeom prst="ellipse">
                <a:avLst/>
              </a:prstGeom>
              <a:solidFill>
                <a:srgbClr val="000000"/>
              </a:solidFill>
              <a:ln w="9525">
                <a:solidFill>
                  <a:srgbClr val="000000"/>
                </a:solidFill>
                <a:round/>
                <a:headEnd/>
                <a:tailEnd/>
              </a:ln>
            </p:spPr>
            <p:txBody>
              <a:bodyPr/>
              <a:lstStyle/>
              <a:p>
                <a:pPr eaLnBrk="1" hangingPunct="1"/>
                <a:endParaRPr lang="zh-CN" altLang="en-US" b="1">
                  <a:latin typeface="Times New Roman" pitchFamily="18" charset="0"/>
                </a:endParaRPr>
              </a:p>
            </p:txBody>
          </p:sp>
          <p:sp>
            <p:nvSpPr>
              <p:cNvPr id="35926" name="Text Box 6"/>
              <p:cNvSpPr txBox="1">
                <a:spLocks noChangeArrowheads="1"/>
              </p:cNvSpPr>
              <p:nvPr/>
            </p:nvSpPr>
            <p:spPr bwMode="auto">
              <a:xfrm>
                <a:off x="2609" y="6603"/>
                <a:ext cx="184" cy="264"/>
              </a:xfrm>
              <a:prstGeom prst="rect">
                <a:avLst/>
              </a:prstGeom>
              <a:solidFill>
                <a:srgbClr val="FFFFFF">
                  <a:alpha val="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just" eaLnBrk="1" hangingPunct="1"/>
                <a:r>
                  <a:rPr lang="en-US" altLang="zh-CN" sz="2000" b="1">
                    <a:solidFill>
                      <a:srgbClr val="FFFFFF"/>
                    </a:solidFill>
                  </a:rPr>
                  <a:t>4</a:t>
                </a:r>
                <a:endParaRPr lang="zh-CN" altLang="zh-CN" sz="2000" b="1">
                  <a:latin typeface="Arial" pitchFamily="34" charset="0"/>
                </a:endParaRPr>
              </a:p>
            </p:txBody>
          </p:sp>
        </p:grpSp>
        <p:grpSp>
          <p:nvGrpSpPr>
            <p:cNvPr id="35901" name="Group 7"/>
            <p:cNvGrpSpPr>
              <a:grpSpLocks/>
            </p:cNvGrpSpPr>
            <p:nvPr/>
          </p:nvGrpSpPr>
          <p:grpSpPr bwMode="auto">
            <a:xfrm>
              <a:off x="7358082" y="2714645"/>
              <a:ext cx="284307" cy="299746"/>
              <a:chOff x="2550" y="6603"/>
              <a:chExt cx="243" cy="264"/>
            </a:xfrm>
          </p:grpSpPr>
          <p:sp>
            <p:nvSpPr>
              <p:cNvPr id="35923" name="Oval 8"/>
              <p:cNvSpPr>
                <a:spLocks noChangeArrowheads="1"/>
              </p:cNvSpPr>
              <p:nvPr/>
            </p:nvSpPr>
            <p:spPr bwMode="auto">
              <a:xfrm>
                <a:off x="2550" y="6648"/>
                <a:ext cx="215" cy="215"/>
              </a:xfrm>
              <a:prstGeom prst="ellipse">
                <a:avLst/>
              </a:prstGeom>
              <a:solidFill>
                <a:srgbClr val="000000"/>
              </a:solidFill>
              <a:ln w="9525">
                <a:solidFill>
                  <a:srgbClr val="000000"/>
                </a:solidFill>
                <a:round/>
                <a:headEnd/>
                <a:tailEnd/>
              </a:ln>
            </p:spPr>
            <p:txBody>
              <a:bodyPr/>
              <a:lstStyle/>
              <a:p>
                <a:pPr eaLnBrk="1" hangingPunct="1"/>
                <a:endParaRPr lang="zh-CN" altLang="en-US" b="1">
                  <a:latin typeface="Times New Roman" pitchFamily="18" charset="0"/>
                </a:endParaRPr>
              </a:p>
            </p:txBody>
          </p:sp>
          <p:sp>
            <p:nvSpPr>
              <p:cNvPr id="35924" name="Text Box 9"/>
              <p:cNvSpPr txBox="1">
                <a:spLocks noChangeArrowheads="1"/>
              </p:cNvSpPr>
              <p:nvPr/>
            </p:nvSpPr>
            <p:spPr bwMode="auto">
              <a:xfrm>
                <a:off x="2609" y="6603"/>
                <a:ext cx="184" cy="264"/>
              </a:xfrm>
              <a:prstGeom prst="rect">
                <a:avLst/>
              </a:prstGeom>
              <a:solidFill>
                <a:srgbClr val="FFFFFF">
                  <a:alpha val="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just" eaLnBrk="1" hangingPunct="1"/>
                <a:r>
                  <a:rPr lang="en-US" altLang="zh-CN" sz="2000" b="1" dirty="0">
                    <a:solidFill>
                      <a:srgbClr val="FFFFFF"/>
                    </a:solidFill>
                  </a:rPr>
                  <a:t>9</a:t>
                </a:r>
                <a:endParaRPr lang="zh-CN" altLang="zh-CN" sz="2000" b="1" dirty="0">
                  <a:latin typeface="Arial" pitchFamily="34" charset="0"/>
                </a:endParaRPr>
              </a:p>
            </p:txBody>
          </p:sp>
        </p:grpSp>
        <p:grpSp>
          <p:nvGrpSpPr>
            <p:cNvPr id="35902" name="Group 27"/>
            <p:cNvGrpSpPr>
              <a:grpSpLocks/>
            </p:cNvGrpSpPr>
            <p:nvPr/>
          </p:nvGrpSpPr>
          <p:grpSpPr bwMode="auto">
            <a:xfrm>
              <a:off x="6643702" y="714381"/>
              <a:ext cx="284307" cy="299746"/>
              <a:chOff x="2550" y="6603"/>
              <a:chExt cx="243" cy="264"/>
            </a:xfrm>
          </p:grpSpPr>
          <p:sp>
            <p:nvSpPr>
              <p:cNvPr id="35921" name="Oval 28"/>
              <p:cNvSpPr>
                <a:spLocks noChangeArrowheads="1"/>
              </p:cNvSpPr>
              <p:nvPr/>
            </p:nvSpPr>
            <p:spPr bwMode="auto">
              <a:xfrm>
                <a:off x="2550" y="6648"/>
                <a:ext cx="215" cy="215"/>
              </a:xfrm>
              <a:prstGeom prst="ellipse">
                <a:avLst/>
              </a:prstGeom>
              <a:solidFill>
                <a:srgbClr val="000000"/>
              </a:solidFill>
              <a:ln w="9525">
                <a:solidFill>
                  <a:srgbClr val="000000"/>
                </a:solidFill>
                <a:round/>
                <a:headEnd/>
                <a:tailEnd/>
              </a:ln>
            </p:spPr>
            <p:txBody>
              <a:bodyPr/>
              <a:lstStyle/>
              <a:p>
                <a:pPr eaLnBrk="1" hangingPunct="1"/>
                <a:endParaRPr lang="zh-CN" altLang="en-US" b="1">
                  <a:latin typeface="Times New Roman" pitchFamily="18" charset="0"/>
                </a:endParaRPr>
              </a:p>
            </p:txBody>
          </p:sp>
          <p:sp>
            <p:nvSpPr>
              <p:cNvPr id="35922" name="Text Box 29"/>
              <p:cNvSpPr txBox="1">
                <a:spLocks noChangeArrowheads="1"/>
              </p:cNvSpPr>
              <p:nvPr/>
            </p:nvSpPr>
            <p:spPr bwMode="auto">
              <a:xfrm>
                <a:off x="2609" y="6603"/>
                <a:ext cx="184" cy="264"/>
              </a:xfrm>
              <a:prstGeom prst="rect">
                <a:avLst/>
              </a:prstGeom>
              <a:solidFill>
                <a:srgbClr val="FFFFFF">
                  <a:alpha val="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just" eaLnBrk="1" hangingPunct="1"/>
                <a:r>
                  <a:rPr lang="en-US" altLang="zh-CN" sz="2000" b="1" dirty="0">
                    <a:solidFill>
                      <a:srgbClr val="FFFFFF"/>
                    </a:solidFill>
                  </a:rPr>
                  <a:t>1</a:t>
                </a:r>
                <a:endParaRPr lang="zh-CN" altLang="zh-CN" sz="2000" b="1" dirty="0">
                  <a:latin typeface="Arial" pitchFamily="34" charset="0"/>
                </a:endParaRPr>
              </a:p>
            </p:txBody>
          </p:sp>
        </p:grpSp>
        <p:grpSp>
          <p:nvGrpSpPr>
            <p:cNvPr id="35903" name="Group 30"/>
            <p:cNvGrpSpPr>
              <a:grpSpLocks/>
            </p:cNvGrpSpPr>
            <p:nvPr/>
          </p:nvGrpSpPr>
          <p:grpSpPr bwMode="auto">
            <a:xfrm>
              <a:off x="7286644" y="1285885"/>
              <a:ext cx="284307" cy="299746"/>
              <a:chOff x="2550" y="6603"/>
              <a:chExt cx="243" cy="264"/>
            </a:xfrm>
          </p:grpSpPr>
          <p:sp>
            <p:nvSpPr>
              <p:cNvPr id="35919" name="Oval 31"/>
              <p:cNvSpPr>
                <a:spLocks noChangeArrowheads="1"/>
              </p:cNvSpPr>
              <p:nvPr/>
            </p:nvSpPr>
            <p:spPr bwMode="auto">
              <a:xfrm>
                <a:off x="2550" y="6648"/>
                <a:ext cx="215" cy="215"/>
              </a:xfrm>
              <a:prstGeom prst="ellipse">
                <a:avLst/>
              </a:prstGeom>
              <a:solidFill>
                <a:srgbClr val="000000"/>
              </a:solidFill>
              <a:ln w="9525">
                <a:solidFill>
                  <a:srgbClr val="000000"/>
                </a:solidFill>
                <a:round/>
                <a:headEnd/>
                <a:tailEnd/>
              </a:ln>
            </p:spPr>
            <p:txBody>
              <a:bodyPr/>
              <a:lstStyle/>
              <a:p>
                <a:pPr eaLnBrk="1" hangingPunct="1"/>
                <a:endParaRPr lang="zh-CN" altLang="en-US" b="1">
                  <a:latin typeface="Times New Roman" pitchFamily="18" charset="0"/>
                </a:endParaRPr>
              </a:p>
            </p:txBody>
          </p:sp>
          <p:sp>
            <p:nvSpPr>
              <p:cNvPr id="35920" name="Text Box 32"/>
              <p:cNvSpPr txBox="1">
                <a:spLocks noChangeArrowheads="1"/>
              </p:cNvSpPr>
              <p:nvPr/>
            </p:nvSpPr>
            <p:spPr bwMode="auto">
              <a:xfrm>
                <a:off x="2609" y="6603"/>
                <a:ext cx="184" cy="264"/>
              </a:xfrm>
              <a:prstGeom prst="rect">
                <a:avLst/>
              </a:prstGeom>
              <a:solidFill>
                <a:srgbClr val="FFFFFF">
                  <a:alpha val="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just" eaLnBrk="1" hangingPunct="1"/>
                <a:r>
                  <a:rPr lang="en-US" altLang="zh-CN" sz="2000" b="1">
                    <a:solidFill>
                      <a:srgbClr val="FFFFFF"/>
                    </a:solidFill>
                  </a:rPr>
                  <a:t>3</a:t>
                </a:r>
                <a:endParaRPr lang="zh-CN" altLang="zh-CN" sz="2000" b="1">
                  <a:latin typeface="Arial" pitchFamily="34" charset="0"/>
                </a:endParaRPr>
              </a:p>
            </p:txBody>
          </p:sp>
        </p:grpSp>
        <p:grpSp>
          <p:nvGrpSpPr>
            <p:cNvPr id="35904" name="Group 33"/>
            <p:cNvGrpSpPr>
              <a:grpSpLocks/>
            </p:cNvGrpSpPr>
            <p:nvPr/>
          </p:nvGrpSpPr>
          <p:grpSpPr bwMode="auto">
            <a:xfrm>
              <a:off x="6072198" y="1285885"/>
              <a:ext cx="284307" cy="299746"/>
              <a:chOff x="2550" y="6603"/>
              <a:chExt cx="243" cy="264"/>
            </a:xfrm>
          </p:grpSpPr>
          <p:sp>
            <p:nvSpPr>
              <p:cNvPr id="35917" name="Oval 34"/>
              <p:cNvSpPr>
                <a:spLocks noChangeArrowheads="1"/>
              </p:cNvSpPr>
              <p:nvPr/>
            </p:nvSpPr>
            <p:spPr bwMode="auto">
              <a:xfrm>
                <a:off x="2550" y="6648"/>
                <a:ext cx="215" cy="215"/>
              </a:xfrm>
              <a:prstGeom prst="ellipse">
                <a:avLst/>
              </a:prstGeom>
              <a:solidFill>
                <a:srgbClr val="000000"/>
              </a:solidFill>
              <a:ln w="9525">
                <a:solidFill>
                  <a:srgbClr val="000000"/>
                </a:solidFill>
                <a:round/>
                <a:headEnd/>
                <a:tailEnd/>
              </a:ln>
            </p:spPr>
            <p:txBody>
              <a:bodyPr/>
              <a:lstStyle/>
              <a:p>
                <a:pPr eaLnBrk="1" hangingPunct="1"/>
                <a:endParaRPr lang="zh-CN" altLang="en-US" b="1">
                  <a:latin typeface="Times New Roman" pitchFamily="18" charset="0"/>
                </a:endParaRPr>
              </a:p>
            </p:txBody>
          </p:sp>
          <p:sp>
            <p:nvSpPr>
              <p:cNvPr id="35918" name="Text Box 35"/>
              <p:cNvSpPr txBox="1">
                <a:spLocks noChangeArrowheads="1"/>
              </p:cNvSpPr>
              <p:nvPr/>
            </p:nvSpPr>
            <p:spPr bwMode="auto">
              <a:xfrm>
                <a:off x="2609" y="6603"/>
                <a:ext cx="184" cy="264"/>
              </a:xfrm>
              <a:prstGeom prst="rect">
                <a:avLst/>
              </a:prstGeom>
              <a:solidFill>
                <a:srgbClr val="FFFFFF">
                  <a:alpha val="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just" eaLnBrk="1" hangingPunct="1"/>
                <a:r>
                  <a:rPr lang="en-US" altLang="zh-CN" sz="2000" b="1" dirty="0">
                    <a:solidFill>
                      <a:srgbClr val="FFFFFF"/>
                    </a:solidFill>
                  </a:rPr>
                  <a:t>2</a:t>
                </a:r>
                <a:endParaRPr lang="zh-CN" altLang="zh-CN" sz="2000" b="1" dirty="0">
                  <a:latin typeface="Arial" pitchFamily="34" charset="0"/>
                </a:endParaRPr>
              </a:p>
            </p:txBody>
          </p:sp>
        </p:grpSp>
        <p:grpSp>
          <p:nvGrpSpPr>
            <p:cNvPr id="35905" name="Group 36"/>
            <p:cNvGrpSpPr>
              <a:grpSpLocks/>
            </p:cNvGrpSpPr>
            <p:nvPr/>
          </p:nvGrpSpPr>
          <p:grpSpPr bwMode="auto">
            <a:xfrm>
              <a:off x="6072198" y="2714645"/>
              <a:ext cx="284307" cy="299746"/>
              <a:chOff x="2550" y="6603"/>
              <a:chExt cx="243" cy="264"/>
            </a:xfrm>
          </p:grpSpPr>
          <p:sp>
            <p:nvSpPr>
              <p:cNvPr id="35915" name="Oval 37"/>
              <p:cNvSpPr>
                <a:spLocks noChangeArrowheads="1"/>
              </p:cNvSpPr>
              <p:nvPr/>
            </p:nvSpPr>
            <p:spPr bwMode="auto">
              <a:xfrm>
                <a:off x="2550" y="6648"/>
                <a:ext cx="215" cy="215"/>
              </a:xfrm>
              <a:prstGeom prst="ellipse">
                <a:avLst/>
              </a:prstGeom>
              <a:solidFill>
                <a:srgbClr val="000000"/>
              </a:solidFill>
              <a:ln w="9525">
                <a:solidFill>
                  <a:srgbClr val="000000"/>
                </a:solidFill>
                <a:round/>
                <a:headEnd/>
                <a:tailEnd/>
              </a:ln>
            </p:spPr>
            <p:txBody>
              <a:bodyPr/>
              <a:lstStyle/>
              <a:p>
                <a:pPr eaLnBrk="1" hangingPunct="1"/>
                <a:endParaRPr lang="zh-CN" altLang="en-US" b="1">
                  <a:latin typeface="Times New Roman" pitchFamily="18" charset="0"/>
                </a:endParaRPr>
              </a:p>
            </p:txBody>
          </p:sp>
          <p:sp>
            <p:nvSpPr>
              <p:cNvPr id="35916" name="Text Box 38"/>
              <p:cNvSpPr txBox="1">
                <a:spLocks noChangeArrowheads="1"/>
              </p:cNvSpPr>
              <p:nvPr/>
            </p:nvSpPr>
            <p:spPr bwMode="auto">
              <a:xfrm>
                <a:off x="2609" y="6603"/>
                <a:ext cx="184" cy="264"/>
              </a:xfrm>
              <a:prstGeom prst="rect">
                <a:avLst/>
              </a:prstGeom>
              <a:solidFill>
                <a:srgbClr val="FFFFFF">
                  <a:alpha val="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just" eaLnBrk="1" hangingPunct="1"/>
                <a:r>
                  <a:rPr lang="en-US" altLang="zh-CN" sz="2000" b="1" dirty="0">
                    <a:solidFill>
                      <a:srgbClr val="FFFFFF"/>
                    </a:solidFill>
                  </a:rPr>
                  <a:t>8</a:t>
                </a:r>
                <a:endParaRPr lang="zh-CN" altLang="zh-CN" sz="2000" b="1" dirty="0">
                  <a:latin typeface="Arial" pitchFamily="34" charset="0"/>
                </a:endParaRPr>
              </a:p>
            </p:txBody>
          </p:sp>
        </p:grpSp>
        <p:grpSp>
          <p:nvGrpSpPr>
            <p:cNvPr id="35906" name="Group 39"/>
            <p:cNvGrpSpPr>
              <a:grpSpLocks/>
            </p:cNvGrpSpPr>
            <p:nvPr/>
          </p:nvGrpSpPr>
          <p:grpSpPr bwMode="auto">
            <a:xfrm>
              <a:off x="7198757" y="1859046"/>
              <a:ext cx="284307" cy="299746"/>
              <a:chOff x="2550" y="6603"/>
              <a:chExt cx="243" cy="264"/>
            </a:xfrm>
          </p:grpSpPr>
          <p:sp>
            <p:nvSpPr>
              <p:cNvPr id="35913" name="Oval 40"/>
              <p:cNvSpPr>
                <a:spLocks noChangeArrowheads="1"/>
              </p:cNvSpPr>
              <p:nvPr/>
            </p:nvSpPr>
            <p:spPr bwMode="auto">
              <a:xfrm>
                <a:off x="2550" y="6648"/>
                <a:ext cx="215" cy="215"/>
              </a:xfrm>
              <a:prstGeom prst="ellipse">
                <a:avLst/>
              </a:prstGeom>
              <a:solidFill>
                <a:srgbClr val="000000"/>
              </a:solidFill>
              <a:ln w="9525">
                <a:solidFill>
                  <a:srgbClr val="000000"/>
                </a:solidFill>
                <a:round/>
                <a:headEnd/>
                <a:tailEnd/>
              </a:ln>
            </p:spPr>
            <p:txBody>
              <a:bodyPr/>
              <a:lstStyle/>
              <a:p>
                <a:pPr eaLnBrk="1" hangingPunct="1"/>
                <a:endParaRPr lang="zh-CN" altLang="en-US" sz="2000" b="1" dirty="0">
                  <a:latin typeface="Times New Roman" pitchFamily="18" charset="0"/>
                </a:endParaRPr>
              </a:p>
            </p:txBody>
          </p:sp>
          <p:sp>
            <p:nvSpPr>
              <p:cNvPr id="35914" name="Text Box 41"/>
              <p:cNvSpPr txBox="1">
                <a:spLocks noChangeArrowheads="1"/>
              </p:cNvSpPr>
              <p:nvPr/>
            </p:nvSpPr>
            <p:spPr bwMode="auto">
              <a:xfrm>
                <a:off x="2609" y="6603"/>
                <a:ext cx="184" cy="264"/>
              </a:xfrm>
              <a:prstGeom prst="rect">
                <a:avLst/>
              </a:prstGeom>
              <a:solidFill>
                <a:srgbClr val="FFFFFF">
                  <a:alpha val="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just" eaLnBrk="1" hangingPunct="1"/>
                <a:r>
                  <a:rPr lang="en-US" altLang="zh-CN" sz="2000" b="1" dirty="0">
                    <a:solidFill>
                      <a:srgbClr val="FFFFFF"/>
                    </a:solidFill>
                  </a:rPr>
                  <a:t>6</a:t>
                </a:r>
                <a:endParaRPr lang="zh-CN" altLang="zh-CN" sz="2000" b="1" dirty="0">
                  <a:latin typeface="Arial" pitchFamily="34" charset="0"/>
                </a:endParaRPr>
              </a:p>
            </p:txBody>
          </p:sp>
        </p:grpSp>
        <p:grpSp>
          <p:nvGrpSpPr>
            <p:cNvPr id="35907" name="Group 42"/>
            <p:cNvGrpSpPr>
              <a:grpSpLocks/>
            </p:cNvGrpSpPr>
            <p:nvPr/>
          </p:nvGrpSpPr>
          <p:grpSpPr bwMode="auto">
            <a:xfrm>
              <a:off x="6500826" y="2000265"/>
              <a:ext cx="284307" cy="299746"/>
              <a:chOff x="2550" y="6603"/>
              <a:chExt cx="243" cy="264"/>
            </a:xfrm>
          </p:grpSpPr>
          <p:sp>
            <p:nvSpPr>
              <p:cNvPr id="35911" name="Oval 43"/>
              <p:cNvSpPr>
                <a:spLocks noChangeArrowheads="1"/>
              </p:cNvSpPr>
              <p:nvPr/>
            </p:nvSpPr>
            <p:spPr bwMode="auto">
              <a:xfrm>
                <a:off x="2550" y="6648"/>
                <a:ext cx="215" cy="215"/>
              </a:xfrm>
              <a:prstGeom prst="ellipse">
                <a:avLst/>
              </a:prstGeom>
              <a:solidFill>
                <a:srgbClr val="000000"/>
              </a:solidFill>
              <a:ln w="9525">
                <a:solidFill>
                  <a:srgbClr val="000000"/>
                </a:solidFill>
                <a:round/>
                <a:headEnd/>
                <a:tailEnd/>
              </a:ln>
            </p:spPr>
            <p:txBody>
              <a:bodyPr/>
              <a:lstStyle/>
              <a:p>
                <a:pPr eaLnBrk="1" hangingPunct="1"/>
                <a:endParaRPr lang="zh-CN" altLang="en-US" b="1">
                  <a:latin typeface="Times New Roman" pitchFamily="18" charset="0"/>
                </a:endParaRPr>
              </a:p>
            </p:txBody>
          </p:sp>
          <p:sp>
            <p:nvSpPr>
              <p:cNvPr id="35912" name="Text Box 44"/>
              <p:cNvSpPr txBox="1">
                <a:spLocks noChangeArrowheads="1"/>
              </p:cNvSpPr>
              <p:nvPr/>
            </p:nvSpPr>
            <p:spPr bwMode="auto">
              <a:xfrm>
                <a:off x="2609" y="6603"/>
                <a:ext cx="184" cy="264"/>
              </a:xfrm>
              <a:prstGeom prst="rect">
                <a:avLst/>
              </a:prstGeom>
              <a:solidFill>
                <a:srgbClr val="FFFFFF">
                  <a:alpha val="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just" eaLnBrk="1" hangingPunct="1"/>
                <a:r>
                  <a:rPr lang="en-US" altLang="zh-CN" sz="2000" b="1" dirty="0">
                    <a:solidFill>
                      <a:srgbClr val="FFFFFF"/>
                    </a:solidFill>
                  </a:rPr>
                  <a:t>5</a:t>
                </a:r>
                <a:endParaRPr lang="zh-CN" altLang="zh-CN" sz="2000" b="1" dirty="0">
                  <a:latin typeface="Arial" pitchFamily="34" charset="0"/>
                </a:endParaRPr>
              </a:p>
            </p:txBody>
          </p:sp>
        </p:grpSp>
        <p:grpSp>
          <p:nvGrpSpPr>
            <p:cNvPr id="35908" name="Group 45"/>
            <p:cNvGrpSpPr>
              <a:grpSpLocks/>
            </p:cNvGrpSpPr>
            <p:nvPr/>
          </p:nvGrpSpPr>
          <p:grpSpPr bwMode="auto">
            <a:xfrm>
              <a:off x="7761521" y="2029356"/>
              <a:ext cx="284307" cy="299746"/>
              <a:chOff x="2550" y="6603"/>
              <a:chExt cx="243" cy="264"/>
            </a:xfrm>
          </p:grpSpPr>
          <p:sp>
            <p:nvSpPr>
              <p:cNvPr id="35909" name="Oval 46"/>
              <p:cNvSpPr>
                <a:spLocks noChangeArrowheads="1"/>
              </p:cNvSpPr>
              <p:nvPr/>
            </p:nvSpPr>
            <p:spPr bwMode="auto">
              <a:xfrm>
                <a:off x="2550" y="6648"/>
                <a:ext cx="215" cy="215"/>
              </a:xfrm>
              <a:prstGeom prst="ellipse">
                <a:avLst/>
              </a:prstGeom>
              <a:solidFill>
                <a:srgbClr val="000000"/>
              </a:solidFill>
              <a:ln w="9525">
                <a:solidFill>
                  <a:srgbClr val="000000"/>
                </a:solidFill>
                <a:round/>
                <a:headEnd/>
                <a:tailEnd/>
              </a:ln>
            </p:spPr>
            <p:txBody>
              <a:bodyPr/>
              <a:lstStyle/>
              <a:p>
                <a:pPr eaLnBrk="1" hangingPunct="1"/>
                <a:endParaRPr lang="zh-CN" altLang="en-US" b="1">
                  <a:latin typeface="Times New Roman" pitchFamily="18" charset="0"/>
                </a:endParaRPr>
              </a:p>
            </p:txBody>
          </p:sp>
          <p:sp>
            <p:nvSpPr>
              <p:cNvPr id="35910" name="Text Box 47"/>
              <p:cNvSpPr txBox="1">
                <a:spLocks noChangeArrowheads="1"/>
              </p:cNvSpPr>
              <p:nvPr/>
            </p:nvSpPr>
            <p:spPr bwMode="auto">
              <a:xfrm>
                <a:off x="2609" y="6603"/>
                <a:ext cx="184" cy="264"/>
              </a:xfrm>
              <a:prstGeom prst="rect">
                <a:avLst/>
              </a:prstGeom>
              <a:solidFill>
                <a:srgbClr val="FFFFFF">
                  <a:alpha val="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just" eaLnBrk="1" hangingPunct="1"/>
                <a:r>
                  <a:rPr lang="en-US" altLang="zh-CN" sz="2000" b="1" dirty="0">
                    <a:solidFill>
                      <a:srgbClr val="FFFFFF"/>
                    </a:solidFill>
                  </a:rPr>
                  <a:t>7</a:t>
                </a:r>
                <a:endParaRPr lang="zh-CN" altLang="zh-CN" sz="2000" b="1" dirty="0">
                  <a:latin typeface="Arial" pitchFamily="34" charset="0"/>
                </a:endParaRPr>
              </a:p>
            </p:txBody>
          </p:sp>
        </p:grpSp>
      </p:grpSp>
      <p:grpSp>
        <p:nvGrpSpPr>
          <p:cNvPr id="112" name="组合 111"/>
          <p:cNvGrpSpPr>
            <a:grpSpLocks/>
          </p:cNvGrpSpPr>
          <p:nvPr/>
        </p:nvGrpSpPr>
        <p:grpSpPr bwMode="auto">
          <a:xfrm>
            <a:off x="6000750" y="285750"/>
            <a:ext cx="2365375" cy="2643188"/>
            <a:chOff x="5992501" y="571480"/>
            <a:chExt cx="2365713" cy="2643206"/>
          </a:xfrm>
        </p:grpSpPr>
        <p:sp>
          <p:nvSpPr>
            <p:cNvPr id="35873" name="Text Box 3"/>
            <p:cNvSpPr txBox="1">
              <a:spLocks noChangeArrowheads="1"/>
            </p:cNvSpPr>
            <p:nvPr/>
          </p:nvSpPr>
          <p:spPr bwMode="auto">
            <a:xfrm>
              <a:off x="6413696" y="2911535"/>
              <a:ext cx="183688" cy="26908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80000"/>
                </a:lnSpc>
              </a:pPr>
              <a:r>
                <a:rPr lang="en-US" altLang="zh-CN" sz="2000" b="1">
                  <a:latin typeface="Arial" pitchFamily="34" charset="0"/>
                </a:rPr>
                <a:t>E</a:t>
              </a:r>
              <a:endParaRPr lang="zh-CN" altLang="zh-CN" sz="2000" b="1">
                <a:latin typeface="Arial" pitchFamily="34" charset="0"/>
              </a:endParaRPr>
            </a:p>
          </p:txBody>
        </p:sp>
        <p:cxnSp>
          <p:nvCxnSpPr>
            <p:cNvPr id="35874" name="AutoShape 26"/>
            <p:cNvCxnSpPr>
              <a:cxnSpLocks noChangeShapeType="1"/>
            </p:cNvCxnSpPr>
            <p:nvPr/>
          </p:nvCxnSpPr>
          <p:spPr bwMode="auto">
            <a:xfrm>
              <a:off x="7163658" y="571480"/>
              <a:ext cx="0" cy="207778"/>
            </a:xfrm>
            <a:prstGeom prst="straightConnector1">
              <a:avLst/>
            </a:prstGeom>
            <a:noFill/>
            <a:ln w="9525">
              <a:solidFill>
                <a:srgbClr val="A5A5A5"/>
              </a:solidFill>
              <a:round/>
              <a:headEnd/>
              <a:tailEnd type="arrow" w="med" len="med"/>
            </a:ln>
            <a:extLst>
              <a:ext uri="{909E8E84-426E-40DD-AFC4-6F175D3DCCD1}">
                <a14:hiddenFill xmlns:a14="http://schemas.microsoft.com/office/drawing/2010/main">
                  <a:noFill/>
                </a14:hiddenFill>
              </a:ext>
            </a:extLst>
          </p:spPr>
        </p:cxnSp>
        <p:sp>
          <p:nvSpPr>
            <p:cNvPr id="35875" name="Text Box 48"/>
            <p:cNvSpPr txBox="1">
              <a:spLocks noChangeArrowheads="1"/>
            </p:cNvSpPr>
            <p:nvPr/>
          </p:nvSpPr>
          <p:spPr bwMode="auto">
            <a:xfrm>
              <a:off x="6834892" y="2237109"/>
              <a:ext cx="207088" cy="26908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80000"/>
                </a:lnSpc>
              </a:pPr>
              <a:r>
                <a:rPr lang="en-US" altLang="zh-CN" sz="2000" b="1">
                  <a:latin typeface="Arial" pitchFamily="34" charset="0"/>
                </a:rPr>
                <a:t>F</a:t>
              </a:r>
              <a:endParaRPr lang="zh-CN" altLang="zh-CN" sz="2000" b="1">
                <a:latin typeface="Arial" pitchFamily="34" charset="0"/>
              </a:endParaRPr>
            </a:p>
          </p:txBody>
        </p:sp>
        <p:sp>
          <p:nvSpPr>
            <p:cNvPr id="35876" name="Text Box 49"/>
            <p:cNvSpPr txBox="1">
              <a:spLocks noChangeArrowheads="1"/>
            </p:cNvSpPr>
            <p:nvPr/>
          </p:nvSpPr>
          <p:spPr bwMode="auto">
            <a:xfrm>
              <a:off x="7729931" y="1535433"/>
              <a:ext cx="171988" cy="23162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80000"/>
                </a:lnSpc>
              </a:pPr>
              <a:r>
                <a:rPr lang="en-US" altLang="zh-CN" sz="2000" b="1">
                  <a:latin typeface="Arial" pitchFamily="34" charset="0"/>
                </a:rPr>
                <a:t>C</a:t>
              </a:r>
              <a:endParaRPr lang="zh-CN" altLang="zh-CN" sz="2000" b="1">
                <a:latin typeface="Arial" pitchFamily="34" charset="0"/>
              </a:endParaRPr>
            </a:p>
          </p:txBody>
        </p:sp>
        <p:sp>
          <p:nvSpPr>
            <p:cNvPr id="35877" name="Text Box 50"/>
            <p:cNvSpPr txBox="1">
              <a:spLocks noChangeArrowheads="1"/>
            </p:cNvSpPr>
            <p:nvPr/>
          </p:nvSpPr>
          <p:spPr bwMode="auto">
            <a:xfrm>
              <a:off x="6448796" y="1552464"/>
              <a:ext cx="259737" cy="26227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80000"/>
                </a:lnSpc>
              </a:pPr>
              <a:r>
                <a:rPr lang="en-US" altLang="zh-CN" sz="2000" b="1">
                  <a:latin typeface="Arial" pitchFamily="34" charset="0"/>
                </a:rPr>
                <a:t>B</a:t>
              </a:r>
              <a:endParaRPr lang="zh-CN" altLang="zh-CN" sz="2000" b="1">
                <a:latin typeface="Arial" pitchFamily="34" charset="0"/>
              </a:endParaRPr>
            </a:p>
          </p:txBody>
        </p:sp>
        <p:sp>
          <p:nvSpPr>
            <p:cNvPr id="35878" name="Text Box 51"/>
            <p:cNvSpPr txBox="1">
              <a:spLocks noChangeArrowheads="1"/>
            </p:cNvSpPr>
            <p:nvPr/>
          </p:nvSpPr>
          <p:spPr bwMode="auto">
            <a:xfrm>
              <a:off x="6097800" y="2220078"/>
              <a:ext cx="210598" cy="30315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80000"/>
                </a:lnSpc>
              </a:pPr>
              <a:r>
                <a:rPr lang="en-US" altLang="zh-CN" sz="2000" b="1">
                  <a:latin typeface="Arial" pitchFamily="34" charset="0"/>
                </a:rPr>
                <a:t>D</a:t>
              </a:r>
              <a:endParaRPr lang="zh-CN" altLang="zh-CN" sz="2000" b="1">
                <a:latin typeface="Arial" pitchFamily="34" charset="0"/>
              </a:endParaRPr>
            </a:p>
          </p:txBody>
        </p:sp>
        <p:sp>
          <p:nvSpPr>
            <p:cNvPr id="35879" name="Oval 52"/>
            <p:cNvSpPr>
              <a:spLocks noChangeArrowheads="1"/>
            </p:cNvSpPr>
            <p:nvPr/>
          </p:nvSpPr>
          <p:spPr bwMode="auto">
            <a:xfrm>
              <a:off x="7677282" y="2792318"/>
              <a:ext cx="365036" cy="354244"/>
            </a:xfrm>
            <a:prstGeom prst="ellipse">
              <a:avLst/>
            </a:prstGeom>
            <a:solidFill>
              <a:srgbClr val="FFFFFF"/>
            </a:solidFill>
            <a:ln w="9525">
              <a:solidFill>
                <a:srgbClr val="000000"/>
              </a:solidFill>
              <a:round/>
              <a:headEnd/>
              <a:tailEnd/>
            </a:ln>
          </p:spPr>
          <p:txBody>
            <a:bodyPr/>
            <a:lstStyle/>
            <a:p>
              <a:pPr eaLnBrk="1" hangingPunct="1"/>
              <a:endParaRPr lang="zh-CN" altLang="en-US" sz="2000" b="1">
                <a:latin typeface="Times New Roman" pitchFamily="18" charset="0"/>
              </a:endParaRPr>
            </a:p>
          </p:txBody>
        </p:sp>
        <p:sp>
          <p:nvSpPr>
            <p:cNvPr id="35880" name="Oval 53"/>
            <p:cNvSpPr>
              <a:spLocks noChangeArrowheads="1"/>
            </p:cNvSpPr>
            <p:nvPr/>
          </p:nvSpPr>
          <p:spPr bwMode="auto">
            <a:xfrm>
              <a:off x="6325947" y="2860442"/>
              <a:ext cx="365036" cy="354244"/>
            </a:xfrm>
            <a:prstGeom prst="ellipse">
              <a:avLst/>
            </a:prstGeom>
            <a:solidFill>
              <a:srgbClr val="FFFFFF">
                <a:alpha val="0"/>
              </a:srgbClr>
            </a:solidFill>
            <a:ln w="9525">
              <a:solidFill>
                <a:srgbClr val="000000"/>
              </a:solidFill>
              <a:round/>
              <a:headEnd/>
              <a:tailEnd/>
            </a:ln>
          </p:spPr>
          <p:txBody>
            <a:bodyPr/>
            <a:lstStyle/>
            <a:p>
              <a:pPr eaLnBrk="1" hangingPunct="1"/>
              <a:endParaRPr lang="zh-CN" altLang="en-US" sz="2000" b="1">
                <a:latin typeface="Times New Roman" pitchFamily="18" charset="0"/>
              </a:endParaRPr>
            </a:p>
          </p:txBody>
        </p:sp>
        <p:sp>
          <p:nvSpPr>
            <p:cNvPr id="35881" name="Oval 54"/>
            <p:cNvSpPr>
              <a:spLocks noChangeArrowheads="1"/>
            </p:cNvSpPr>
            <p:nvPr/>
          </p:nvSpPr>
          <p:spPr bwMode="auto">
            <a:xfrm>
              <a:off x="5992501" y="2151954"/>
              <a:ext cx="365036" cy="354244"/>
            </a:xfrm>
            <a:prstGeom prst="ellipse">
              <a:avLst/>
            </a:prstGeom>
            <a:solidFill>
              <a:srgbClr val="FFFFFF">
                <a:alpha val="0"/>
              </a:srgbClr>
            </a:solidFill>
            <a:ln w="9525">
              <a:solidFill>
                <a:srgbClr val="000000"/>
              </a:solidFill>
              <a:round/>
              <a:headEnd/>
              <a:tailEnd/>
            </a:ln>
          </p:spPr>
          <p:txBody>
            <a:bodyPr/>
            <a:lstStyle/>
            <a:p>
              <a:pPr eaLnBrk="1" hangingPunct="1"/>
              <a:endParaRPr lang="zh-CN" altLang="en-US" sz="2000" b="1">
                <a:latin typeface="Times New Roman" pitchFamily="18" charset="0"/>
              </a:endParaRPr>
            </a:p>
          </p:txBody>
        </p:sp>
        <p:sp>
          <p:nvSpPr>
            <p:cNvPr id="35882" name="Oval 55"/>
            <p:cNvSpPr>
              <a:spLocks noChangeArrowheads="1"/>
            </p:cNvSpPr>
            <p:nvPr/>
          </p:nvSpPr>
          <p:spPr bwMode="auto">
            <a:xfrm>
              <a:off x="6396147" y="1477527"/>
              <a:ext cx="365036" cy="354244"/>
            </a:xfrm>
            <a:prstGeom prst="ellipse">
              <a:avLst/>
            </a:prstGeom>
            <a:solidFill>
              <a:srgbClr val="FFFFFF">
                <a:alpha val="0"/>
              </a:srgbClr>
            </a:solidFill>
            <a:ln w="9525">
              <a:solidFill>
                <a:srgbClr val="000000"/>
              </a:solidFill>
              <a:round/>
              <a:headEnd/>
              <a:tailEnd/>
            </a:ln>
          </p:spPr>
          <p:txBody>
            <a:bodyPr/>
            <a:lstStyle/>
            <a:p>
              <a:pPr eaLnBrk="1" hangingPunct="1"/>
              <a:endParaRPr lang="zh-CN" altLang="en-US" sz="2000" b="1">
                <a:latin typeface="Times New Roman" pitchFamily="18" charset="0"/>
              </a:endParaRPr>
            </a:p>
          </p:txBody>
        </p:sp>
        <p:sp>
          <p:nvSpPr>
            <p:cNvPr id="35883" name="Oval 56"/>
            <p:cNvSpPr>
              <a:spLocks noChangeArrowheads="1"/>
            </p:cNvSpPr>
            <p:nvPr/>
          </p:nvSpPr>
          <p:spPr bwMode="auto">
            <a:xfrm>
              <a:off x="7238537" y="2158766"/>
              <a:ext cx="365036" cy="354244"/>
            </a:xfrm>
            <a:prstGeom prst="ellipse">
              <a:avLst/>
            </a:prstGeom>
            <a:solidFill>
              <a:srgbClr val="FFFFFF"/>
            </a:solidFill>
            <a:ln w="9525">
              <a:solidFill>
                <a:srgbClr val="000000"/>
              </a:solidFill>
              <a:round/>
              <a:headEnd/>
              <a:tailEnd/>
            </a:ln>
          </p:spPr>
          <p:txBody>
            <a:bodyPr/>
            <a:lstStyle/>
            <a:p>
              <a:pPr eaLnBrk="1" hangingPunct="1"/>
              <a:endParaRPr lang="zh-CN" altLang="en-US" sz="2000" b="1">
                <a:latin typeface="Times New Roman" pitchFamily="18" charset="0"/>
              </a:endParaRPr>
            </a:p>
          </p:txBody>
        </p:sp>
        <p:sp>
          <p:nvSpPr>
            <p:cNvPr id="35884" name="Line 57"/>
            <p:cNvSpPr>
              <a:spLocks noChangeShapeType="1"/>
            </p:cNvSpPr>
            <p:nvPr/>
          </p:nvSpPr>
          <p:spPr bwMode="auto">
            <a:xfrm>
              <a:off x="7294696" y="1102846"/>
              <a:ext cx="421195" cy="3542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35885" name="Line 58"/>
            <p:cNvSpPr>
              <a:spLocks noChangeShapeType="1"/>
            </p:cNvSpPr>
            <p:nvPr/>
          </p:nvSpPr>
          <p:spPr bwMode="auto">
            <a:xfrm flipH="1">
              <a:off x="6627804" y="1136908"/>
              <a:ext cx="421195" cy="3542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35886" name="Oval 59"/>
            <p:cNvSpPr>
              <a:spLocks noChangeArrowheads="1"/>
            </p:cNvSpPr>
            <p:nvPr/>
          </p:nvSpPr>
          <p:spPr bwMode="auto">
            <a:xfrm>
              <a:off x="7607083" y="1477527"/>
              <a:ext cx="365036" cy="354244"/>
            </a:xfrm>
            <a:prstGeom prst="ellipse">
              <a:avLst/>
            </a:prstGeom>
            <a:solidFill>
              <a:srgbClr val="FFFFFF">
                <a:alpha val="0"/>
              </a:srgbClr>
            </a:solidFill>
            <a:ln w="9525">
              <a:solidFill>
                <a:srgbClr val="000000"/>
              </a:solidFill>
              <a:round/>
              <a:headEnd/>
              <a:tailEnd/>
            </a:ln>
          </p:spPr>
          <p:txBody>
            <a:bodyPr/>
            <a:lstStyle/>
            <a:p>
              <a:pPr eaLnBrk="1" hangingPunct="1"/>
              <a:endParaRPr lang="zh-CN" altLang="en-US" sz="2000" b="1">
                <a:latin typeface="Times New Roman" pitchFamily="18" charset="0"/>
              </a:endParaRPr>
            </a:p>
          </p:txBody>
        </p:sp>
        <p:sp>
          <p:nvSpPr>
            <p:cNvPr id="35887" name="Text Box 60"/>
            <p:cNvSpPr txBox="1">
              <a:spLocks noChangeArrowheads="1"/>
            </p:cNvSpPr>
            <p:nvPr/>
          </p:nvSpPr>
          <p:spPr bwMode="auto">
            <a:xfrm>
              <a:off x="7336816" y="2226890"/>
              <a:ext cx="179008" cy="22821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80000"/>
                </a:lnSpc>
              </a:pPr>
              <a:r>
                <a:rPr lang="en-US" altLang="zh-CN" sz="2000" b="1" dirty="0">
                  <a:latin typeface="Arial" pitchFamily="34" charset="0"/>
                </a:rPr>
                <a:t>G</a:t>
              </a:r>
              <a:endParaRPr lang="zh-CN" altLang="zh-CN" sz="2000" b="1" dirty="0">
                <a:latin typeface="Arial" pitchFamily="34" charset="0"/>
              </a:endParaRPr>
            </a:p>
          </p:txBody>
        </p:sp>
        <p:sp>
          <p:nvSpPr>
            <p:cNvPr id="35888" name="Oval 61"/>
            <p:cNvSpPr>
              <a:spLocks noChangeArrowheads="1"/>
            </p:cNvSpPr>
            <p:nvPr/>
          </p:nvSpPr>
          <p:spPr bwMode="auto">
            <a:xfrm>
              <a:off x="7993178" y="2175797"/>
              <a:ext cx="365036" cy="354244"/>
            </a:xfrm>
            <a:prstGeom prst="ellipse">
              <a:avLst/>
            </a:prstGeom>
            <a:solidFill>
              <a:srgbClr val="FFFFFF"/>
            </a:solidFill>
            <a:ln w="9525">
              <a:solidFill>
                <a:srgbClr val="000000"/>
              </a:solidFill>
              <a:round/>
              <a:headEnd/>
              <a:tailEnd/>
            </a:ln>
          </p:spPr>
          <p:txBody>
            <a:bodyPr/>
            <a:lstStyle/>
            <a:p>
              <a:pPr eaLnBrk="1" hangingPunct="1"/>
              <a:endParaRPr lang="zh-CN" altLang="en-US" sz="2000" b="1">
                <a:latin typeface="Times New Roman" pitchFamily="18" charset="0"/>
              </a:endParaRPr>
            </a:p>
          </p:txBody>
        </p:sp>
        <p:sp>
          <p:nvSpPr>
            <p:cNvPr id="35889" name="Text Box 62"/>
            <p:cNvSpPr txBox="1">
              <a:spLocks noChangeArrowheads="1"/>
            </p:cNvSpPr>
            <p:nvPr/>
          </p:nvSpPr>
          <p:spPr bwMode="auto">
            <a:xfrm>
              <a:off x="8116027" y="2243921"/>
              <a:ext cx="171988" cy="18052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80000"/>
                </a:lnSpc>
              </a:pPr>
              <a:r>
                <a:rPr lang="en-US" altLang="zh-CN" sz="2000" b="1">
                  <a:latin typeface="Arial" pitchFamily="34" charset="0"/>
                </a:rPr>
                <a:t>I</a:t>
              </a:r>
              <a:endParaRPr lang="zh-CN" altLang="zh-CN" sz="2000" b="1">
                <a:latin typeface="Arial" pitchFamily="34" charset="0"/>
              </a:endParaRPr>
            </a:p>
          </p:txBody>
        </p:sp>
        <p:sp>
          <p:nvSpPr>
            <p:cNvPr id="35890" name="Line 63"/>
            <p:cNvSpPr>
              <a:spLocks noChangeShapeType="1"/>
            </p:cNvSpPr>
            <p:nvPr/>
          </p:nvSpPr>
          <p:spPr bwMode="auto">
            <a:xfrm>
              <a:off x="7905429" y="1821553"/>
              <a:ext cx="210598" cy="3542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35891" name="Line 64"/>
            <p:cNvSpPr>
              <a:spLocks noChangeShapeType="1"/>
            </p:cNvSpPr>
            <p:nvPr/>
          </p:nvSpPr>
          <p:spPr bwMode="auto">
            <a:xfrm flipH="1">
              <a:off x="7519334" y="1821553"/>
              <a:ext cx="210598" cy="3542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35892" name="Line 65"/>
            <p:cNvSpPr>
              <a:spLocks noChangeShapeType="1"/>
            </p:cNvSpPr>
            <p:nvPr/>
          </p:nvSpPr>
          <p:spPr bwMode="auto">
            <a:xfrm>
              <a:off x="6659394" y="1814741"/>
              <a:ext cx="210598" cy="3542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35893" name="Line 66"/>
            <p:cNvSpPr>
              <a:spLocks noChangeShapeType="1"/>
            </p:cNvSpPr>
            <p:nvPr/>
          </p:nvSpPr>
          <p:spPr bwMode="auto">
            <a:xfrm flipH="1">
              <a:off x="6273298" y="1814741"/>
              <a:ext cx="210598" cy="3542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35894" name="Oval 67"/>
            <p:cNvSpPr>
              <a:spLocks noChangeArrowheads="1"/>
            </p:cNvSpPr>
            <p:nvPr/>
          </p:nvSpPr>
          <p:spPr bwMode="auto">
            <a:xfrm>
              <a:off x="6747143" y="2168985"/>
              <a:ext cx="365036" cy="354244"/>
            </a:xfrm>
            <a:prstGeom prst="ellipse">
              <a:avLst/>
            </a:prstGeom>
            <a:solidFill>
              <a:srgbClr val="FFFFFF">
                <a:alpha val="0"/>
              </a:srgbClr>
            </a:solidFill>
            <a:ln w="9525">
              <a:solidFill>
                <a:srgbClr val="000000"/>
              </a:solidFill>
              <a:round/>
              <a:headEnd/>
              <a:tailEnd/>
            </a:ln>
          </p:spPr>
          <p:txBody>
            <a:bodyPr/>
            <a:lstStyle/>
            <a:p>
              <a:pPr eaLnBrk="1" hangingPunct="1"/>
              <a:endParaRPr lang="zh-CN" altLang="en-US" sz="2000" b="1">
                <a:latin typeface="Times New Roman" pitchFamily="18" charset="0"/>
              </a:endParaRPr>
            </a:p>
          </p:txBody>
        </p:sp>
        <p:sp>
          <p:nvSpPr>
            <p:cNvPr id="35895" name="Line 68"/>
            <p:cNvSpPr>
              <a:spLocks noChangeShapeType="1"/>
            </p:cNvSpPr>
            <p:nvPr/>
          </p:nvSpPr>
          <p:spPr bwMode="auto">
            <a:xfrm flipH="1">
              <a:off x="6624294" y="2523229"/>
              <a:ext cx="210598" cy="3542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35896" name="Text Box 69"/>
            <p:cNvSpPr txBox="1">
              <a:spLocks noChangeArrowheads="1"/>
            </p:cNvSpPr>
            <p:nvPr/>
          </p:nvSpPr>
          <p:spPr bwMode="auto">
            <a:xfrm>
              <a:off x="7782581" y="2877473"/>
              <a:ext cx="171988" cy="18052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80000"/>
                </a:lnSpc>
              </a:pPr>
              <a:r>
                <a:rPr lang="en-US" altLang="zh-CN" sz="2000" b="1" dirty="0">
                  <a:latin typeface="Arial" pitchFamily="34" charset="0"/>
                </a:rPr>
                <a:t>H</a:t>
              </a:r>
              <a:endParaRPr lang="zh-CN" altLang="zh-CN" sz="2000" b="1" dirty="0">
                <a:latin typeface="Arial" pitchFamily="34" charset="0"/>
              </a:endParaRPr>
            </a:p>
          </p:txBody>
        </p:sp>
        <p:sp>
          <p:nvSpPr>
            <p:cNvPr id="35897" name="Line 70"/>
            <p:cNvSpPr>
              <a:spLocks noChangeShapeType="1"/>
            </p:cNvSpPr>
            <p:nvPr/>
          </p:nvSpPr>
          <p:spPr bwMode="auto">
            <a:xfrm>
              <a:off x="7519334" y="2472136"/>
              <a:ext cx="210598" cy="3542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2000"/>
            </a:p>
          </p:txBody>
        </p:sp>
        <p:sp>
          <p:nvSpPr>
            <p:cNvPr id="35898" name="Oval 71"/>
            <p:cNvSpPr>
              <a:spLocks noChangeArrowheads="1"/>
            </p:cNvSpPr>
            <p:nvPr/>
          </p:nvSpPr>
          <p:spPr bwMode="auto">
            <a:xfrm>
              <a:off x="6971780" y="813320"/>
              <a:ext cx="365036" cy="354244"/>
            </a:xfrm>
            <a:prstGeom prst="ellipse">
              <a:avLst/>
            </a:prstGeom>
            <a:solidFill>
              <a:srgbClr val="FFFFFF"/>
            </a:solidFill>
            <a:ln w="9525">
              <a:solidFill>
                <a:srgbClr val="000000"/>
              </a:solidFill>
              <a:round/>
              <a:headEnd/>
              <a:tailEnd/>
            </a:ln>
          </p:spPr>
          <p:txBody>
            <a:bodyPr/>
            <a:lstStyle/>
            <a:p>
              <a:pPr eaLnBrk="1" hangingPunct="1"/>
              <a:endParaRPr lang="zh-CN" altLang="en-US" sz="2000" b="1">
                <a:latin typeface="Times New Roman" pitchFamily="18" charset="0"/>
              </a:endParaRPr>
            </a:p>
          </p:txBody>
        </p:sp>
        <p:sp>
          <p:nvSpPr>
            <p:cNvPr id="35899" name="Text Box 72"/>
            <p:cNvSpPr txBox="1">
              <a:spLocks noChangeArrowheads="1"/>
            </p:cNvSpPr>
            <p:nvPr/>
          </p:nvSpPr>
          <p:spPr bwMode="auto">
            <a:xfrm>
              <a:off x="7080589" y="878037"/>
              <a:ext cx="171988" cy="18052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80000"/>
                </a:lnSpc>
              </a:pPr>
              <a:r>
                <a:rPr lang="en-US" altLang="zh-CN" sz="2000" b="1">
                  <a:latin typeface="Arial" pitchFamily="34" charset="0"/>
                </a:rPr>
                <a:t>A</a:t>
              </a:r>
              <a:endParaRPr lang="zh-CN" altLang="zh-CN" sz="2000" b="1">
                <a:latin typeface="Arial" pitchFamily="34" charset="0"/>
              </a:endParaRPr>
            </a:p>
          </p:txBody>
        </p:sp>
      </p:grpSp>
      <p:sp>
        <p:nvSpPr>
          <p:cNvPr id="140" name="矩形 139"/>
          <p:cNvSpPr>
            <a:spLocks noChangeArrowheads="1"/>
          </p:cNvSpPr>
          <p:nvPr/>
        </p:nvSpPr>
        <p:spPr bwMode="auto">
          <a:xfrm>
            <a:off x="2687638" y="1214438"/>
            <a:ext cx="341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a:t>A</a:t>
            </a:r>
            <a:endParaRPr lang="zh-CN" altLang="en-US" sz="2000">
              <a:latin typeface="Times New Roman" pitchFamily="18" charset="0"/>
            </a:endParaRPr>
          </a:p>
        </p:txBody>
      </p:sp>
      <p:sp>
        <p:nvSpPr>
          <p:cNvPr id="141" name="矩形 140"/>
          <p:cNvSpPr>
            <a:spLocks noChangeArrowheads="1"/>
          </p:cNvSpPr>
          <p:nvPr/>
        </p:nvSpPr>
        <p:spPr bwMode="auto">
          <a:xfrm>
            <a:off x="2944813" y="1214438"/>
            <a:ext cx="330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a:t>B</a:t>
            </a:r>
            <a:endParaRPr lang="zh-CN" altLang="en-US" sz="2000">
              <a:latin typeface="Times New Roman" pitchFamily="18" charset="0"/>
            </a:endParaRPr>
          </a:p>
        </p:txBody>
      </p:sp>
      <p:sp>
        <p:nvSpPr>
          <p:cNvPr id="142" name="矩形 141"/>
          <p:cNvSpPr>
            <a:spLocks noChangeArrowheads="1"/>
          </p:cNvSpPr>
          <p:nvPr/>
        </p:nvSpPr>
        <p:spPr bwMode="auto">
          <a:xfrm>
            <a:off x="3238500" y="1214438"/>
            <a:ext cx="3222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a:t>C</a:t>
            </a:r>
            <a:endParaRPr lang="zh-CN" altLang="en-US" sz="2000">
              <a:latin typeface="Times New Roman" pitchFamily="18" charset="0"/>
            </a:endParaRPr>
          </a:p>
        </p:txBody>
      </p:sp>
      <p:sp>
        <p:nvSpPr>
          <p:cNvPr id="143" name="矩形 142"/>
          <p:cNvSpPr>
            <a:spLocks noChangeArrowheads="1"/>
          </p:cNvSpPr>
          <p:nvPr/>
        </p:nvSpPr>
        <p:spPr bwMode="auto">
          <a:xfrm>
            <a:off x="3473450" y="1214438"/>
            <a:ext cx="3476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a:t>D</a:t>
            </a:r>
            <a:endParaRPr lang="zh-CN" altLang="en-US" sz="2000">
              <a:latin typeface="Times New Roman" pitchFamily="18" charset="0"/>
            </a:endParaRPr>
          </a:p>
        </p:txBody>
      </p:sp>
      <p:sp>
        <p:nvSpPr>
          <p:cNvPr id="144" name="矩形 143"/>
          <p:cNvSpPr>
            <a:spLocks noChangeArrowheads="1"/>
          </p:cNvSpPr>
          <p:nvPr/>
        </p:nvSpPr>
        <p:spPr bwMode="auto">
          <a:xfrm>
            <a:off x="3759200" y="1214438"/>
            <a:ext cx="3032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a:t>F</a:t>
            </a:r>
            <a:endParaRPr lang="zh-CN" altLang="en-US" sz="2000">
              <a:latin typeface="Times New Roman" pitchFamily="18" charset="0"/>
            </a:endParaRPr>
          </a:p>
        </p:txBody>
      </p:sp>
      <p:sp>
        <p:nvSpPr>
          <p:cNvPr id="145" name="矩形 144"/>
          <p:cNvSpPr>
            <a:spLocks noChangeArrowheads="1"/>
          </p:cNvSpPr>
          <p:nvPr/>
        </p:nvSpPr>
        <p:spPr bwMode="auto">
          <a:xfrm>
            <a:off x="3973513" y="1214438"/>
            <a:ext cx="3492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a:t>G</a:t>
            </a:r>
            <a:endParaRPr lang="zh-CN" altLang="en-US" sz="2000">
              <a:latin typeface="Times New Roman" pitchFamily="18" charset="0"/>
            </a:endParaRPr>
          </a:p>
        </p:txBody>
      </p:sp>
      <p:sp>
        <p:nvSpPr>
          <p:cNvPr id="146" name="矩形 145"/>
          <p:cNvSpPr>
            <a:spLocks noChangeArrowheads="1"/>
          </p:cNvSpPr>
          <p:nvPr/>
        </p:nvSpPr>
        <p:spPr bwMode="auto">
          <a:xfrm>
            <a:off x="4259263" y="1214438"/>
            <a:ext cx="254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a:t>I</a:t>
            </a:r>
            <a:endParaRPr lang="zh-CN" altLang="en-US" sz="2000">
              <a:latin typeface="Times New Roman" pitchFamily="18" charset="0"/>
            </a:endParaRPr>
          </a:p>
        </p:txBody>
      </p:sp>
      <p:sp>
        <p:nvSpPr>
          <p:cNvPr id="147" name="矩形 146"/>
          <p:cNvSpPr>
            <a:spLocks noChangeArrowheads="1"/>
          </p:cNvSpPr>
          <p:nvPr/>
        </p:nvSpPr>
        <p:spPr bwMode="auto">
          <a:xfrm>
            <a:off x="4473575" y="1214438"/>
            <a:ext cx="311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a:t>E</a:t>
            </a:r>
            <a:endParaRPr lang="zh-CN" altLang="en-US" sz="2000">
              <a:latin typeface="Times New Roman" pitchFamily="18" charset="0"/>
            </a:endParaRPr>
          </a:p>
        </p:txBody>
      </p:sp>
      <p:sp>
        <p:nvSpPr>
          <p:cNvPr id="148" name="矩形 147"/>
          <p:cNvSpPr>
            <a:spLocks noChangeArrowheads="1"/>
          </p:cNvSpPr>
          <p:nvPr/>
        </p:nvSpPr>
        <p:spPr bwMode="auto">
          <a:xfrm>
            <a:off x="4759325" y="1214438"/>
            <a:ext cx="4048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a:t>H </a:t>
            </a:r>
            <a:endParaRPr lang="zh-CN" altLang="en-US" sz="2000">
              <a:latin typeface="Times New Roman" pitchFamily="18" charset="0"/>
            </a:endParaRPr>
          </a:p>
        </p:txBody>
      </p:sp>
      <p:sp>
        <p:nvSpPr>
          <p:cNvPr id="149" name="矩形 148"/>
          <p:cNvSpPr>
            <a:spLocks noChangeArrowheads="1"/>
          </p:cNvSpPr>
          <p:nvPr/>
        </p:nvSpPr>
        <p:spPr bwMode="auto">
          <a:xfrm>
            <a:off x="2544763" y="2071688"/>
            <a:ext cx="341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dirty="0"/>
              <a:t>A</a:t>
            </a:r>
            <a:endParaRPr lang="zh-CN" altLang="en-US" sz="2000" dirty="0">
              <a:latin typeface="Times New Roman" pitchFamily="18" charset="0"/>
            </a:endParaRPr>
          </a:p>
        </p:txBody>
      </p:sp>
      <p:sp>
        <p:nvSpPr>
          <p:cNvPr id="150" name="矩形 149"/>
          <p:cNvSpPr>
            <a:spLocks noChangeArrowheads="1"/>
          </p:cNvSpPr>
          <p:nvPr/>
        </p:nvSpPr>
        <p:spPr bwMode="auto">
          <a:xfrm>
            <a:off x="2801938" y="2071688"/>
            <a:ext cx="330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a:t>B</a:t>
            </a:r>
            <a:endParaRPr lang="zh-CN" altLang="en-US" sz="2000">
              <a:latin typeface="Times New Roman" pitchFamily="18" charset="0"/>
            </a:endParaRPr>
          </a:p>
        </p:txBody>
      </p:sp>
      <p:sp>
        <p:nvSpPr>
          <p:cNvPr id="151" name="矩形 150"/>
          <p:cNvSpPr>
            <a:spLocks noChangeArrowheads="1"/>
          </p:cNvSpPr>
          <p:nvPr/>
        </p:nvSpPr>
        <p:spPr bwMode="auto">
          <a:xfrm>
            <a:off x="3095625" y="2071688"/>
            <a:ext cx="3222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a:t>C</a:t>
            </a:r>
            <a:endParaRPr lang="zh-CN" altLang="en-US" sz="2000">
              <a:latin typeface="Times New Roman" pitchFamily="18" charset="0"/>
            </a:endParaRPr>
          </a:p>
        </p:txBody>
      </p:sp>
      <p:sp>
        <p:nvSpPr>
          <p:cNvPr id="152" name="矩形 151"/>
          <p:cNvSpPr>
            <a:spLocks noChangeArrowheads="1"/>
          </p:cNvSpPr>
          <p:nvPr/>
        </p:nvSpPr>
        <p:spPr bwMode="auto">
          <a:xfrm>
            <a:off x="3330575" y="2071688"/>
            <a:ext cx="3476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a:t>D</a:t>
            </a:r>
            <a:endParaRPr lang="zh-CN" altLang="en-US" sz="2000">
              <a:latin typeface="Times New Roman" pitchFamily="18" charset="0"/>
            </a:endParaRPr>
          </a:p>
        </p:txBody>
      </p:sp>
      <p:sp>
        <p:nvSpPr>
          <p:cNvPr id="153" name="矩形 152"/>
          <p:cNvSpPr>
            <a:spLocks noChangeArrowheads="1"/>
          </p:cNvSpPr>
          <p:nvPr/>
        </p:nvSpPr>
        <p:spPr bwMode="auto">
          <a:xfrm>
            <a:off x="3616325" y="2071688"/>
            <a:ext cx="3032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a:t>F</a:t>
            </a:r>
            <a:endParaRPr lang="zh-CN" altLang="en-US" sz="2000">
              <a:latin typeface="Times New Roman" pitchFamily="18" charset="0"/>
            </a:endParaRPr>
          </a:p>
        </p:txBody>
      </p:sp>
      <p:sp>
        <p:nvSpPr>
          <p:cNvPr id="154" name="矩形 153"/>
          <p:cNvSpPr>
            <a:spLocks noChangeArrowheads="1"/>
          </p:cNvSpPr>
          <p:nvPr/>
        </p:nvSpPr>
        <p:spPr bwMode="auto">
          <a:xfrm>
            <a:off x="3830638" y="2071688"/>
            <a:ext cx="3492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a:t>G</a:t>
            </a:r>
            <a:endParaRPr lang="zh-CN" altLang="en-US" sz="2000">
              <a:latin typeface="Times New Roman" pitchFamily="18" charset="0"/>
            </a:endParaRPr>
          </a:p>
        </p:txBody>
      </p:sp>
      <p:sp>
        <p:nvSpPr>
          <p:cNvPr id="155" name="矩形 154"/>
          <p:cNvSpPr>
            <a:spLocks noChangeArrowheads="1"/>
          </p:cNvSpPr>
          <p:nvPr/>
        </p:nvSpPr>
        <p:spPr bwMode="auto">
          <a:xfrm>
            <a:off x="4116388" y="2071688"/>
            <a:ext cx="254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a:t>I</a:t>
            </a:r>
            <a:endParaRPr lang="zh-CN" altLang="en-US" sz="2000">
              <a:latin typeface="Times New Roman" pitchFamily="18" charset="0"/>
            </a:endParaRPr>
          </a:p>
        </p:txBody>
      </p:sp>
      <p:sp>
        <p:nvSpPr>
          <p:cNvPr id="156" name="矩形 155"/>
          <p:cNvSpPr>
            <a:spLocks noChangeArrowheads="1"/>
          </p:cNvSpPr>
          <p:nvPr/>
        </p:nvSpPr>
        <p:spPr bwMode="auto">
          <a:xfrm>
            <a:off x="4330700" y="2071688"/>
            <a:ext cx="3111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a:t>E</a:t>
            </a:r>
            <a:endParaRPr lang="zh-CN" altLang="en-US" sz="2000">
              <a:latin typeface="Times New Roman" pitchFamily="18" charset="0"/>
            </a:endParaRPr>
          </a:p>
        </p:txBody>
      </p:sp>
      <p:sp>
        <p:nvSpPr>
          <p:cNvPr id="157" name="矩形 156"/>
          <p:cNvSpPr>
            <a:spLocks noChangeArrowheads="1"/>
          </p:cNvSpPr>
          <p:nvPr/>
        </p:nvSpPr>
        <p:spPr bwMode="auto">
          <a:xfrm>
            <a:off x="4616450" y="2071688"/>
            <a:ext cx="4048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a:t>H </a:t>
            </a:r>
            <a:endParaRPr lang="zh-CN" altLang="en-US" sz="2000">
              <a:latin typeface="Times New Roman" pitchFamily="18" charset="0"/>
            </a:endParaRPr>
          </a:p>
        </p:txBody>
      </p:sp>
      <p:sp>
        <p:nvSpPr>
          <p:cNvPr id="158" name="Text Box 1"/>
          <p:cNvSpPr txBox="1">
            <a:spLocks noChangeArrowheads="1"/>
          </p:cNvSpPr>
          <p:nvPr/>
        </p:nvSpPr>
        <p:spPr bwMode="auto">
          <a:xfrm>
            <a:off x="571500" y="857250"/>
            <a:ext cx="1928813" cy="4000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2000" b="1">
                <a:latin typeface="Arial" pitchFamily="34" charset="0"/>
              </a:rPr>
              <a:t>工作队列：</a:t>
            </a:r>
            <a:endParaRPr lang="zh-CN" altLang="zh-CN" sz="2000" b="1">
              <a:latin typeface="Arial" pitchFamily="34" charset="0"/>
            </a:endParaRPr>
          </a:p>
        </p:txBody>
      </p:sp>
      <p:sp>
        <p:nvSpPr>
          <p:cNvPr id="159" name="矩形 158"/>
          <p:cNvSpPr>
            <a:spLocks noChangeArrowheads="1"/>
          </p:cNvSpPr>
          <p:nvPr/>
        </p:nvSpPr>
        <p:spPr bwMode="auto">
          <a:xfrm>
            <a:off x="2643188" y="1143000"/>
            <a:ext cx="2500312" cy="71438"/>
          </a:xfrm>
          <a:prstGeom prst="rect">
            <a:avLst/>
          </a:prstGeom>
          <a:solidFill>
            <a:schemeClr val="accent1"/>
          </a:solidFill>
          <a:ln w="9525" algn="ctr">
            <a:solidFill>
              <a:schemeClr val="tx1"/>
            </a:solidFill>
            <a:round/>
            <a:headEnd/>
            <a:tailEnd/>
          </a:ln>
        </p:spPr>
        <p:txBody>
          <a:bodyPr/>
          <a:lstStyle/>
          <a:p>
            <a:pPr eaLnBrk="1" hangingPunct="1"/>
            <a:endParaRPr kumimoji="1" lang="zh-CN" altLang="en-US" sz="2000">
              <a:latin typeface="Times New Roman" pitchFamily="18" charset="0"/>
            </a:endParaRPr>
          </a:p>
        </p:txBody>
      </p:sp>
      <p:sp>
        <p:nvSpPr>
          <p:cNvPr id="160" name="矩形 159"/>
          <p:cNvSpPr>
            <a:spLocks noChangeArrowheads="1"/>
          </p:cNvSpPr>
          <p:nvPr/>
        </p:nvSpPr>
        <p:spPr bwMode="auto">
          <a:xfrm>
            <a:off x="2643188" y="1571625"/>
            <a:ext cx="2500312" cy="71438"/>
          </a:xfrm>
          <a:prstGeom prst="rect">
            <a:avLst/>
          </a:prstGeom>
          <a:solidFill>
            <a:schemeClr val="accent1"/>
          </a:solidFill>
          <a:ln w="9525" algn="ctr">
            <a:solidFill>
              <a:schemeClr val="tx1"/>
            </a:solidFill>
            <a:round/>
            <a:headEnd/>
            <a:tailEnd/>
          </a:ln>
        </p:spPr>
        <p:txBody>
          <a:bodyPr/>
          <a:lstStyle/>
          <a:p>
            <a:pPr eaLnBrk="1" hangingPunct="1"/>
            <a:endParaRPr kumimoji="1" lang="zh-CN" altLang="en-US" sz="2000">
              <a:latin typeface="Times New Roman" pitchFamily="18" charset="0"/>
            </a:endParaRPr>
          </a:p>
        </p:txBody>
      </p:sp>
    </p:spTree>
    <p:extLst>
      <p:ext uri="{BB962C8B-B14F-4D97-AF65-F5344CB8AC3E}">
        <p14:creationId xmlns:p14="http://schemas.microsoft.com/office/powerpoint/2010/main" val="240433763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trips(downRight)">
                                      <p:cBhvr>
                                        <p:cTn id="7" dur="5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500"/>
                                        <p:tgtEl>
                                          <p:spTgt spid="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box(in)">
                                      <p:cBhvr>
                                        <p:cTn id="17" dur="500"/>
                                        <p:tgtEl>
                                          <p:spTgt spid="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9" presetClass="exit" presetSubtype="0" fill="hold" grpId="1" nodeType="clickEffect">
                                  <p:stCondLst>
                                    <p:cond delay="0"/>
                                  </p:stCondLst>
                                  <p:childTnLst>
                                    <p:animEffect transition="out" filter="dissolve">
                                      <p:cBhvr>
                                        <p:cTn id="21" dur="500"/>
                                        <p:tgtEl>
                                          <p:spTgt spid="3"/>
                                        </p:tgtEl>
                                      </p:cBhvr>
                                    </p:animEffect>
                                    <p:set>
                                      <p:cBhvr>
                                        <p:cTn id="22" dur="1" fill="hold">
                                          <p:stCondLst>
                                            <p:cond delay="499"/>
                                          </p:stCondLst>
                                        </p:cTn>
                                        <p:tgtEl>
                                          <p:spTgt spid="3"/>
                                        </p:tgtEl>
                                        <p:attrNameLst>
                                          <p:attrName>style.visibility</p:attrName>
                                        </p:attrNameLst>
                                      </p:cBhvr>
                                      <p:to>
                                        <p:strVal val="hidden"/>
                                      </p:to>
                                    </p:set>
                                  </p:childTnLst>
                                </p:cTn>
                              </p:par>
                              <p:par>
                                <p:cTn id="23" presetID="9" presetClass="exit" presetSubtype="0" fill="hold" grpId="1" nodeType="withEffect">
                                  <p:stCondLst>
                                    <p:cond delay="0"/>
                                  </p:stCondLst>
                                  <p:childTnLst>
                                    <p:animEffect transition="out" filter="dissolve">
                                      <p:cBhvr>
                                        <p:cTn id="24" dur="500"/>
                                        <p:tgtEl>
                                          <p:spTgt spid="5"/>
                                        </p:tgtEl>
                                      </p:cBhvr>
                                    </p:animEffect>
                                    <p:set>
                                      <p:cBhvr>
                                        <p:cTn id="25" dur="1" fill="hold">
                                          <p:stCondLst>
                                            <p:cond delay="499"/>
                                          </p:stCondLst>
                                        </p:cTn>
                                        <p:tgtEl>
                                          <p:spTgt spid="5"/>
                                        </p:tgtEl>
                                        <p:attrNameLst>
                                          <p:attrName>style.visibility</p:attrName>
                                        </p:attrNameLst>
                                      </p:cBhvr>
                                      <p:to>
                                        <p:strVal val="hidden"/>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82"/>
                                        </p:tgtEl>
                                        <p:attrNameLst>
                                          <p:attrName>style.visibility</p:attrName>
                                        </p:attrNameLst>
                                      </p:cBhvr>
                                      <p:to>
                                        <p:strVal val="visible"/>
                                      </p:to>
                                    </p:set>
                                    <p:animEffect transition="in" filter="wipe(left)">
                                      <p:cBhvr>
                                        <p:cTn id="30" dur="500"/>
                                        <p:tgtEl>
                                          <p:spTgt spid="82"/>
                                        </p:tgtEl>
                                      </p:cBhvr>
                                    </p:animEffect>
                                  </p:childTnLst>
                                </p:cTn>
                              </p:par>
                              <p:par>
                                <p:cTn id="31" presetID="22" presetClass="entr" presetSubtype="8" fill="hold" grpId="0" nodeType="withEffect">
                                  <p:stCondLst>
                                    <p:cond delay="0"/>
                                  </p:stCondLst>
                                  <p:childTnLst>
                                    <p:set>
                                      <p:cBhvr>
                                        <p:cTn id="32" dur="1" fill="hold">
                                          <p:stCondLst>
                                            <p:cond delay="0"/>
                                          </p:stCondLst>
                                        </p:cTn>
                                        <p:tgtEl>
                                          <p:spTgt spid="158"/>
                                        </p:tgtEl>
                                        <p:attrNameLst>
                                          <p:attrName>style.visibility</p:attrName>
                                        </p:attrNameLst>
                                      </p:cBhvr>
                                      <p:to>
                                        <p:strVal val="visible"/>
                                      </p:to>
                                    </p:set>
                                    <p:animEffect transition="in" filter="wipe(left)">
                                      <p:cBhvr>
                                        <p:cTn id="33" dur="500"/>
                                        <p:tgtEl>
                                          <p:spTgt spid="158"/>
                                        </p:tgtEl>
                                      </p:cBhvr>
                                    </p:animEffect>
                                  </p:childTnLst>
                                </p:cTn>
                              </p:par>
                              <p:par>
                                <p:cTn id="34" presetID="1" presetClass="entr" presetSubtype="0" fill="hold" grpId="0" nodeType="withEffect">
                                  <p:stCondLst>
                                    <p:cond delay="0"/>
                                  </p:stCondLst>
                                  <p:childTnLst>
                                    <p:set>
                                      <p:cBhvr>
                                        <p:cTn id="35" dur="1" fill="hold">
                                          <p:stCondLst>
                                            <p:cond delay="0"/>
                                          </p:stCondLst>
                                        </p:cTn>
                                        <p:tgtEl>
                                          <p:spTgt spid="159"/>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60"/>
                                        </p:tgtEl>
                                        <p:attrNameLst>
                                          <p:attrName>style.visibility</p:attrName>
                                        </p:attrNameLst>
                                      </p:cBhvr>
                                      <p:to>
                                        <p:strVal val="visible"/>
                                      </p:to>
                                    </p:set>
                                  </p:childTnLst>
                                </p:cTn>
                              </p:par>
                              <p:par>
                                <p:cTn id="38" presetID="22" presetClass="entr" presetSubtype="1" fill="hold" nodeType="withEffect">
                                  <p:stCondLst>
                                    <p:cond delay="0"/>
                                  </p:stCondLst>
                                  <p:childTnLst>
                                    <p:set>
                                      <p:cBhvr>
                                        <p:cTn id="39" dur="1" fill="hold">
                                          <p:stCondLst>
                                            <p:cond delay="0"/>
                                          </p:stCondLst>
                                        </p:cTn>
                                        <p:tgtEl>
                                          <p:spTgt spid="112"/>
                                        </p:tgtEl>
                                        <p:attrNameLst>
                                          <p:attrName>style.visibility</p:attrName>
                                        </p:attrNameLst>
                                      </p:cBhvr>
                                      <p:to>
                                        <p:strVal val="visible"/>
                                      </p:to>
                                    </p:set>
                                    <p:animEffect transition="in" filter="wipe(up)">
                                      <p:cBhvr>
                                        <p:cTn id="40" dur="500"/>
                                        <p:tgtEl>
                                          <p:spTgt spid="112"/>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2" presetClass="entr" presetSubtype="2" fill="hold" grpId="0" nodeType="clickEffect">
                                  <p:stCondLst>
                                    <p:cond delay="0"/>
                                  </p:stCondLst>
                                  <p:childTnLst>
                                    <p:set>
                                      <p:cBhvr>
                                        <p:cTn id="44" dur="1" fill="hold">
                                          <p:stCondLst>
                                            <p:cond delay="0"/>
                                          </p:stCondLst>
                                        </p:cTn>
                                        <p:tgtEl>
                                          <p:spTgt spid="140"/>
                                        </p:tgtEl>
                                        <p:attrNameLst>
                                          <p:attrName>style.visibility</p:attrName>
                                        </p:attrNameLst>
                                      </p:cBhvr>
                                      <p:to>
                                        <p:strVal val="visible"/>
                                      </p:to>
                                    </p:set>
                                    <p:anim calcmode="lin" valueType="num">
                                      <p:cBhvr additive="base">
                                        <p:cTn id="45" dur="500" fill="hold"/>
                                        <p:tgtEl>
                                          <p:spTgt spid="140"/>
                                        </p:tgtEl>
                                        <p:attrNameLst>
                                          <p:attrName>ppt_x</p:attrName>
                                        </p:attrNameLst>
                                      </p:cBhvr>
                                      <p:tavLst>
                                        <p:tav tm="0">
                                          <p:val>
                                            <p:strVal val="1+#ppt_w/2"/>
                                          </p:val>
                                        </p:tav>
                                        <p:tav tm="100000">
                                          <p:val>
                                            <p:strVal val="#ppt_x"/>
                                          </p:val>
                                        </p:tav>
                                      </p:tavLst>
                                    </p:anim>
                                    <p:anim calcmode="lin" valueType="num">
                                      <p:cBhvr additive="base">
                                        <p:cTn id="46" dur="500" fill="hold"/>
                                        <p:tgtEl>
                                          <p:spTgt spid="140"/>
                                        </p:tgtEl>
                                        <p:attrNameLst>
                                          <p:attrName>ppt_y</p:attrName>
                                        </p:attrNameLst>
                                      </p:cBhvr>
                                      <p:tavLst>
                                        <p:tav tm="0">
                                          <p:val>
                                            <p:strVal val="#ppt_y"/>
                                          </p:val>
                                        </p:tav>
                                        <p:tav tm="100000">
                                          <p:val>
                                            <p:strVal val="#ppt_y"/>
                                          </p:val>
                                        </p:tav>
                                      </p:tavLst>
                                    </p:anim>
                                  </p:childTnLst>
                                </p:cTn>
                              </p:par>
                            </p:childTnLst>
                          </p:cTn>
                        </p:par>
                      </p:childTnLst>
                    </p:cTn>
                  </p:par>
                  <p:par>
                    <p:cTn id="47" fill="hold" nodeType="clickPar">
                      <p:stCondLst>
                        <p:cond delay="indefinite"/>
                      </p:stCondLst>
                      <p:childTnLst>
                        <p:par>
                          <p:cTn id="48" fill="hold" nodeType="withGroup">
                            <p:stCondLst>
                              <p:cond delay="0"/>
                            </p:stCondLst>
                            <p:childTnLst>
                              <p:par>
                                <p:cTn id="49" presetID="2" presetClass="exit" presetSubtype="8" fill="hold" grpId="1" nodeType="clickEffect">
                                  <p:stCondLst>
                                    <p:cond delay="0"/>
                                  </p:stCondLst>
                                  <p:childTnLst>
                                    <p:anim calcmode="lin" valueType="num">
                                      <p:cBhvr additive="base">
                                        <p:cTn id="50" dur="500"/>
                                        <p:tgtEl>
                                          <p:spTgt spid="140"/>
                                        </p:tgtEl>
                                        <p:attrNameLst>
                                          <p:attrName>ppt_x</p:attrName>
                                        </p:attrNameLst>
                                      </p:cBhvr>
                                      <p:tavLst>
                                        <p:tav tm="0">
                                          <p:val>
                                            <p:strVal val="ppt_x"/>
                                          </p:val>
                                        </p:tav>
                                        <p:tav tm="100000">
                                          <p:val>
                                            <p:strVal val="0-ppt_w/2"/>
                                          </p:val>
                                        </p:tav>
                                      </p:tavLst>
                                    </p:anim>
                                    <p:anim calcmode="lin" valueType="num">
                                      <p:cBhvr additive="base">
                                        <p:cTn id="51" dur="500"/>
                                        <p:tgtEl>
                                          <p:spTgt spid="140"/>
                                        </p:tgtEl>
                                        <p:attrNameLst>
                                          <p:attrName>ppt_y</p:attrName>
                                        </p:attrNameLst>
                                      </p:cBhvr>
                                      <p:tavLst>
                                        <p:tav tm="0">
                                          <p:val>
                                            <p:strVal val="ppt_y"/>
                                          </p:val>
                                        </p:tav>
                                        <p:tav tm="100000">
                                          <p:val>
                                            <p:strVal val="ppt_y"/>
                                          </p:val>
                                        </p:tav>
                                      </p:tavLst>
                                    </p:anim>
                                    <p:set>
                                      <p:cBhvr>
                                        <p:cTn id="52" dur="1" fill="hold">
                                          <p:stCondLst>
                                            <p:cond delay="499"/>
                                          </p:stCondLst>
                                        </p:cTn>
                                        <p:tgtEl>
                                          <p:spTgt spid="140"/>
                                        </p:tgtEl>
                                        <p:attrNameLst>
                                          <p:attrName>style.visibility</p:attrName>
                                        </p:attrNameLst>
                                      </p:cBhvr>
                                      <p:to>
                                        <p:strVal val="hidden"/>
                                      </p:to>
                                    </p:set>
                                  </p:childTnLst>
                                </p:cTn>
                              </p:par>
                            </p:childTnLst>
                          </p:cTn>
                        </p:par>
                        <p:par>
                          <p:cTn id="53" fill="hold" nodeType="afterGroup">
                            <p:stCondLst>
                              <p:cond delay="500"/>
                            </p:stCondLst>
                            <p:childTnLst>
                              <p:par>
                                <p:cTn id="54" presetID="2" presetClass="entr" presetSubtype="8" fill="hold" grpId="0" nodeType="afterEffect">
                                  <p:stCondLst>
                                    <p:cond delay="0"/>
                                  </p:stCondLst>
                                  <p:childTnLst>
                                    <p:set>
                                      <p:cBhvr>
                                        <p:cTn id="55" dur="1" fill="hold">
                                          <p:stCondLst>
                                            <p:cond delay="0"/>
                                          </p:stCondLst>
                                        </p:cTn>
                                        <p:tgtEl>
                                          <p:spTgt spid="149"/>
                                        </p:tgtEl>
                                        <p:attrNameLst>
                                          <p:attrName>style.visibility</p:attrName>
                                        </p:attrNameLst>
                                      </p:cBhvr>
                                      <p:to>
                                        <p:strVal val="visible"/>
                                      </p:to>
                                    </p:set>
                                    <p:anim calcmode="lin" valueType="num">
                                      <p:cBhvr additive="base">
                                        <p:cTn id="56" dur="500" fill="hold"/>
                                        <p:tgtEl>
                                          <p:spTgt spid="149"/>
                                        </p:tgtEl>
                                        <p:attrNameLst>
                                          <p:attrName>ppt_x</p:attrName>
                                        </p:attrNameLst>
                                      </p:cBhvr>
                                      <p:tavLst>
                                        <p:tav tm="0">
                                          <p:val>
                                            <p:strVal val="0-#ppt_w/2"/>
                                          </p:val>
                                        </p:tav>
                                        <p:tav tm="100000">
                                          <p:val>
                                            <p:strVal val="#ppt_x"/>
                                          </p:val>
                                        </p:tav>
                                      </p:tavLst>
                                    </p:anim>
                                    <p:anim calcmode="lin" valueType="num">
                                      <p:cBhvr additive="base">
                                        <p:cTn id="57" dur="500" fill="hold"/>
                                        <p:tgtEl>
                                          <p:spTgt spid="149"/>
                                        </p:tgtEl>
                                        <p:attrNameLst>
                                          <p:attrName>ppt_y</p:attrName>
                                        </p:attrNameLst>
                                      </p:cBhvr>
                                      <p:tavLst>
                                        <p:tav tm="0">
                                          <p:val>
                                            <p:strVal val="#ppt_y"/>
                                          </p:val>
                                        </p:tav>
                                        <p:tav tm="100000">
                                          <p:val>
                                            <p:strVal val="#ppt_y"/>
                                          </p:val>
                                        </p:tav>
                                      </p:tavLst>
                                    </p:anim>
                                  </p:childTnLst>
                                </p:cTn>
                              </p:par>
                            </p:childTnLst>
                          </p:cTn>
                        </p:par>
                        <p:par>
                          <p:cTn id="58" fill="hold" nodeType="afterGroup">
                            <p:stCondLst>
                              <p:cond delay="1000"/>
                            </p:stCondLst>
                            <p:childTnLst>
                              <p:par>
                                <p:cTn id="59" presetID="2" presetClass="entr" presetSubtype="2" fill="hold" grpId="0" nodeType="afterEffect">
                                  <p:stCondLst>
                                    <p:cond delay="0"/>
                                  </p:stCondLst>
                                  <p:childTnLst>
                                    <p:set>
                                      <p:cBhvr>
                                        <p:cTn id="60" dur="1" fill="hold">
                                          <p:stCondLst>
                                            <p:cond delay="0"/>
                                          </p:stCondLst>
                                        </p:cTn>
                                        <p:tgtEl>
                                          <p:spTgt spid="141"/>
                                        </p:tgtEl>
                                        <p:attrNameLst>
                                          <p:attrName>style.visibility</p:attrName>
                                        </p:attrNameLst>
                                      </p:cBhvr>
                                      <p:to>
                                        <p:strVal val="visible"/>
                                      </p:to>
                                    </p:set>
                                    <p:anim calcmode="lin" valueType="num">
                                      <p:cBhvr additive="base">
                                        <p:cTn id="61" dur="500" fill="hold"/>
                                        <p:tgtEl>
                                          <p:spTgt spid="141"/>
                                        </p:tgtEl>
                                        <p:attrNameLst>
                                          <p:attrName>ppt_x</p:attrName>
                                        </p:attrNameLst>
                                      </p:cBhvr>
                                      <p:tavLst>
                                        <p:tav tm="0">
                                          <p:val>
                                            <p:strVal val="1+#ppt_w/2"/>
                                          </p:val>
                                        </p:tav>
                                        <p:tav tm="100000">
                                          <p:val>
                                            <p:strVal val="#ppt_x"/>
                                          </p:val>
                                        </p:tav>
                                      </p:tavLst>
                                    </p:anim>
                                    <p:anim calcmode="lin" valueType="num">
                                      <p:cBhvr additive="base">
                                        <p:cTn id="62" dur="500" fill="hold"/>
                                        <p:tgtEl>
                                          <p:spTgt spid="141"/>
                                        </p:tgtEl>
                                        <p:attrNameLst>
                                          <p:attrName>ppt_y</p:attrName>
                                        </p:attrNameLst>
                                      </p:cBhvr>
                                      <p:tavLst>
                                        <p:tav tm="0">
                                          <p:val>
                                            <p:strVal val="#ppt_y"/>
                                          </p:val>
                                        </p:tav>
                                        <p:tav tm="100000">
                                          <p:val>
                                            <p:strVal val="#ppt_y"/>
                                          </p:val>
                                        </p:tav>
                                      </p:tavLst>
                                    </p:anim>
                                  </p:childTnLst>
                                </p:cTn>
                              </p:par>
                            </p:childTnLst>
                          </p:cTn>
                        </p:par>
                        <p:par>
                          <p:cTn id="63" fill="hold" nodeType="afterGroup">
                            <p:stCondLst>
                              <p:cond delay="1500"/>
                            </p:stCondLst>
                            <p:childTnLst>
                              <p:par>
                                <p:cTn id="64" presetID="2" presetClass="entr" presetSubtype="2" fill="hold" grpId="0" nodeType="afterEffect">
                                  <p:stCondLst>
                                    <p:cond delay="0"/>
                                  </p:stCondLst>
                                  <p:childTnLst>
                                    <p:set>
                                      <p:cBhvr>
                                        <p:cTn id="65" dur="1" fill="hold">
                                          <p:stCondLst>
                                            <p:cond delay="0"/>
                                          </p:stCondLst>
                                        </p:cTn>
                                        <p:tgtEl>
                                          <p:spTgt spid="142"/>
                                        </p:tgtEl>
                                        <p:attrNameLst>
                                          <p:attrName>style.visibility</p:attrName>
                                        </p:attrNameLst>
                                      </p:cBhvr>
                                      <p:to>
                                        <p:strVal val="visible"/>
                                      </p:to>
                                    </p:set>
                                    <p:anim calcmode="lin" valueType="num">
                                      <p:cBhvr additive="base">
                                        <p:cTn id="66" dur="500" fill="hold"/>
                                        <p:tgtEl>
                                          <p:spTgt spid="142"/>
                                        </p:tgtEl>
                                        <p:attrNameLst>
                                          <p:attrName>ppt_x</p:attrName>
                                        </p:attrNameLst>
                                      </p:cBhvr>
                                      <p:tavLst>
                                        <p:tav tm="0">
                                          <p:val>
                                            <p:strVal val="1+#ppt_w/2"/>
                                          </p:val>
                                        </p:tav>
                                        <p:tav tm="100000">
                                          <p:val>
                                            <p:strVal val="#ppt_x"/>
                                          </p:val>
                                        </p:tav>
                                      </p:tavLst>
                                    </p:anim>
                                    <p:anim calcmode="lin" valueType="num">
                                      <p:cBhvr additive="base">
                                        <p:cTn id="67" dur="500" fill="hold"/>
                                        <p:tgtEl>
                                          <p:spTgt spid="142"/>
                                        </p:tgtEl>
                                        <p:attrNameLst>
                                          <p:attrName>ppt_y</p:attrName>
                                        </p:attrNameLst>
                                      </p:cBhvr>
                                      <p:tavLst>
                                        <p:tav tm="0">
                                          <p:val>
                                            <p:strVal val="#ppt_y"/>
                                          </p:val>
                                        </p:tav>
                                        <p:tav tm="100000">
                                          <p:val>
                                            <p:strVal val="#ppt_y"/>
                                          </p:val>
                                        </p:tav>
                                      </p:tavLst>
                                    </p:anim>
                                  </p:childTnLst>
                                </p:cTn>
                              </p:par>
                            </p:childTnLst>
                          </p:cTn>
                        </p:par>
                      </p:childTnLst>
                    </p:cTn>
                  </p:par>
                  <p:par>
                    <p:cTn id="68" fill="hold" nodeType="clickPar">
                      <p:stCondLst>
                        <p:cond delay="indefinite"/>
                      </p:stCondLst>
                      <p:childTnLst>
                        <p:par>
                          <p:cTn id="69" fill="hold" nodeType="withGroup">
                            <p:stCondLst>
                              <p:cond delay="0"/>
                            </p:stCondLst>
                            <p:childTnLst>
                              <p:par>
                                <p:cTn id="70" presetID="2" presetClass="exit" presetSubtype="8" fill="hold" grpId="1" nodeType="clickEffect">
                                  <p:stCondLst>
                                    <p:cond delay="0"/>
                                  </p:stCondLst>
                                  <p:childTnLst>
                                    <p:anim calcmode="lin" valueType="num">
                                      <p:cBhvr additive="base">
                                        <p:cTn id="71" dur="500"/>
                                        <p:tgtEl>
                                          <p:spTgt spid="141"/>
                                        </p:tgtEl>
                                        <p:attrNameLst>
                                          <p:attrName>ppt_x</p:attrName>
                                        </p:attrNameLst>
                                      </p:cBhvr>
                                      <p:tavLst>
                                        <p:tav tm="0">
                                          <p:val>
                                            <p:strVal val="ppt_x"/>
                                          </p:val>
                                        </p:tav>
                                        <p:tav tm="100000">
                                          <p:val>
                                            <p:strVal val="0-ppt_w/2"/>
                                          </p:val>
                                        </p:tav>
                                      </p:tavLst>
                                    </p:anim>
                                    <p:anim calcmode="lin" valueType="num">
                                      <p:cBhvr additive="base">
                                        <p:cTn id="72" dur="500"/>
                                        <p:tgtEl>
                                          <p:spTgt spid="141"/>
                                        </p:tgtEl>
                                        <p:attrNameLst>
                                          <p:attrName>ppt_y</p:attrName>
                                        </p:attrNameLst>
                                      </p:cBhvr>
                                      <p:tavLst>
                                        <p:tav tm="0">
                                          <p:val>
                                            <p:strVal val="ppt_y"/>
                                          </p:val>
                                        </p:tav>
                                        <p:tav tm="100000">
                                          <p:val>
                                            <p:strVal val="ppt_y"/>
                                          </p:val>
                                        </p:tav>
                                      </p:tavLst>
                                    </p:anim>
                                    <p:set>
                                      <p:cBhvr>
                                        <p:cTn id="73" dur="1" fill="hold">
                                          <p:stCondLst>
                                            <p:cond delay="499"/>
                                          </p:stCondLst>
                                        </p:cTn>
                                        <p:tgtEl>
                                          <p:spTgt spid="141"/>
                                        </p:tgtEl>
                                        <p:attrNameLst>
                                          <p:attrName>style.visibility</p:attrName>
                                        </p:attrNameLst>
                                      </p:cBhvr>
                                      <p:to>
                                        <p:strVal val="hidden"/>
                                      </p:to>
                                    </p:set>
                                  </p:childTnLst>
                                </p:cTn>
                              </p:par>
                            </p:childTnLst>
                          </p:cTn>
                        </p:par>
                        <p:par>
                          <p:cTn id="74" fill="hold" nodeType="afterGroup">
                            <p:stCondLst>
                              <p:cond delay="500"/>
                            </p:stCondLst>
                            <p:childTnLst>
                              <p:par>
                                <p:cTn id="75" presetID="2" presetClass="entr" presetSubtype="8" fill="hold" grpId="0" nodeType="afterEffect">
                                  <p:stCondLst>
                                    <p:cond delay="0"/>
                                  </p:stCondLst>
                                  <p:childTnLst>
                                    <p:set>
                                      <p:cBhvr>
                                        <p:cTn id="76" dur="1" fill="hold">
                                          <p:stCondLst>
                                            <p:cond delay="0"/>
                                          </p:stCondLst>
                                        </p:cTn>
                                        <p:tgtEl>
                                          <p:spTgt spid="150"/>
                                        </p:tgtEl>
                                        <p:attrNameLst>
                                          <p:attrName>style.visibility</p:attrName>
                                        </p:attrNameLst>
                                      </p:cBhvr>
                                      <p:to>
                                        <p:strVal val="visible"/>
                                      </p:to>
                                    </p:set>
                                    <p:anim calcmode="lin" valueType="num">
                                      <p:cBhvr additive="base">
                                        <p:cTn id="77" dur="500" fill="hold"/>
                                        <p:tgtEl>
                                          <p:spTgt spid="150"/>
                                        </p:tgtEl>
                                        <p:attrNameLst>
                                          <p:attrName>ppt_x</p:attrName>
                                        </p:attrNameLst>
                                      </p:cBhvr>
                                      <p:tavLst>
                                        <p:tav tm="0">
                                          <p:val>
                                            <p:strVal val="0-#ppt_w/2"/>
                                          </p:val>
                                        </p:tav>
                                        <p:tav tm="100000">
                                          <p:val>
                                            <p:strVal val="#ppt_x"/>
                                          </p:val>
                                        </p:tav>
                                      </p:tavLst>
                                    </p:anim>
                                    <p:anim calcmode="lin" valueType="num">
                                      <p:cBhvr additive="base">
                                        <p:cTn id="78" dur="500" fill="hold"/>
                                        <p:tgtEl>
                                          <p:spTgt spid="150"/>
                                        </p:tgtEl>
                                        <p:attrNameLst>
                                          <p:attrName>ppt_y</p:attrName>
                                        </p:attrNameLst>
                                      </p:cBhvr>
                                      <p:tavLst>
                                        <p:tav tm="0">
                                          <p:val>
                                            <p:strVal val="#ppt_y"/>
                                          </p:val>
                                        </p:tav>
                                        <p:tav tm="100000">
                                          <p:val>
                                            <p:strVal val="#ppt_y"/>
                                          </p:val>
                                        </p:tav>
                                      </p:tavLst>
                                    </p:anim>
                                  </p:childTnLst>
                                </p:cTn>
                              </p:par>
                            </p:childTnLst>
                          </p:cTn>
                        </p:par>
                        <p:par>
                          <p:cTn id="79" fill="hold" nodeType="afterGroup">
                            <p:stCondLst>
                              <p:cond delay="1000"/>
                            </p:stCondLst>
                            <p:childTnLst>
                              <p:par>
                                <p:cTn id="80" presetID="2" presetClass="entr" presetSubtype="2" fill="hold" grpId="0" nodeType="afterEffect">
                                  <p:stCondLst>
                                    <p:cond delay="0"/>
                                  </p:stCondLst>
                                  <p:childTnLst>
                                    <p:set>
                                      <p:cBhvr>
                                        <p:cTn id="81" dur="1" fill="hold">
                                          <p:stCondLst>
                                            <p:cond delay="0"/>
                                          </p:stCondLst>
                                        </p:cTn>
                                        <p:tgtEl>
                                          <p:spTgt spid="143"/>
                                        </p:tgtEl>
                                        <p:attrNameLst>
                                          <p:attrName>style.visibility</p:attrName>
                                        </p:attrNameLst>
                                      </p:cBhvr>
                                      <p:to>
                                        <p:strVal val="visible"/>
                                      </p:to>
                                    </p:set>
                                    <p:anim calcmode="lin" valueType="num">
                                      <p:cBhvr additive="base">
                                        <p:cTn id="82" dur="500" fill="hold"/>
                                        <p:tgtEl>
                                          <p:spTgt spid="143"/>
                                        </p:tgtEl>
                                        <p:attrNameLst>
                                          <p:attrName>ppt_x</p:attrName>
                                        </p:attrNameLst>
                                      </p:cBhvr>
                                      <p:tavLst>
                                        <p:tav tm="0">
                                          <p:val>
                                            <p:strVal val="1+#ppt_w/2"/>
                                          </p:val>
                                        </p:tav>
                                        <p:tav tm="100000">
                                          <p:val>
                                            <p:strVal val="#ppt_x"/>
                                          </p:val>
                                        </p:tav>
                                      </p:tavLst>
                                    </p:anim>
                                    <p:anim calcmode="lin" valueType="num">
                                      <p:cBhvr additive="base">
                                        <p:cTn id="83" dur="500" fill="hold"/>
                                        <p:tgtEl>
                                          <p:spTgt spid="143"/>
                                        </p:tgtEl>
                                        <p:attrNameLst>
                                          <p:attrName>ppt_y</p:attrName>
                                        </p:attrNameLst>
                                      </p:cBhvr>
                                      <p:tavLst>
                                        <p:tav tm="0">
                                          <p:val>
                                            <p:strVal val="#ppt_y"/>
                                          </p:val>
                                        </p:tav>
                                        <p:tav tm="100000">
                                          <p:val>
                                            <p:strVal val="#ppt_y"/>
                                          </p:val>
                                        </p:tav>
                                      </p:tavLst>
                                    </p:anim>
                                  </p:childTnLst>
                                </p:cTn>
                              </p:par>
                            </p:childTnLst>
                          </p:cTn>
                        </p:par>
                        <p:par>
                          <p:cTn id="84" fill="hold" nodeType="afterGroup">
                            <p:stCondLst>
                              <p:cond delay="1500"/>
                            </p:stCondLst>
                            <p:childTnLst>
                              <p:par>
                                <p:cTn id="85" presetID="2" presetClass="entr" presetSubtype="2" fill="hold" grpId="0" nodeType="afterEffect">
                                  <p:stCondLst>
                                    <p:cond delay="0"/>
                                  </p:stCondLst>
                                  <p:childTnLst>
                                    <p:set>
                                      <p:cBhvr>
                                        <p:cTn id="86" dur="1" fill="hold">
                                          <p:stCondLst>
                                            <p:cond delay="0"/>
                                          </p:stCondLst>
                                        </p:cTn>
                                        <p:tgtEl>
                                          <p:spTgt spid="144"/>
                                        </p:tgtEl>
                                        <p:attrNameLst>
                                          <p:attrName>style.visibility</p:attrName>
                                        </p:attrNameLst>
                                      </p:cBhvr>
                                      <p:to>
                                        <p:strVal val="visible"/>
                                      </p:to>
                                    </p:set>
                                    <p:anim calcmode="lin" valueType="num">
                                      <p:cBhvr additive="base">
                                        <p:cTn id="87" dur="500" fill="hold"/>
                                        <p:tgtEl>
                                          <p:spTgt spid="144"/>
                                        </p:tgtEl>
                                        <p:attrNameLst>
                                          <p:attrName>ppt_x</p:attrName>
                                        </p:attrNameLst>
                                      </p:cBhvr>
                                      <p:tavLst>
                                        <p:tav tm="0">
                                          <p:val>
                                            <p:strVal val="1+#ppt_w/2"/>
                                          </p:val>
                                        </p:tav>
                                        <p:tav tm="100000">
                                          <p:val>
                                            <p:strVal val="#ppt_x"/>
                                          </p:val>
                                        </p:tav>
                                      </p:tavLst>
                                    </p:anim>
                                    <p:anim calcmode="lin" valueType="num">
                                      <p:cBhvr additive="base">
                                        <p:cTn id="88" dur="500" fill="hold"/>
                                        <p:tgtEl>
                                          <p:spTgt spid="144"/>
                                        </p:tgtEl>
                                        <p:attrNameLst>
                                          <p:attrName>ppt_y</p:attrName>
                                        </p:attrNameLst>
                                      </p:cBhvr>
                                      <p:tavLst>
                                        <p:tav tm="0">
                                          <p:val>
                                            <p:strVal val="#ppt_y"/>
                                          </p:val>
                                        </p:tav>
                                        <p:tav tm="100000">
                                          <p:val>
                                            <p:strVal val="#ppt_y"/>
                                          </p:val>
                                        </p:tav>
                                      </p:tavLst>
                                    </p:anim>
                                  </p:childTnLst>
                                </p:cTn>
                              </p:par>
                            </p:childTnLst>
                          </p:cTn>
                        </p:par>
                      </p:childTnLst>
                    </p:cTn>
                  </p:par>
                  <p:par>
                    <p:cTn id="89" fill="hold" nodeType="clickPar">
                      <p:stCondLst>
                        <p:cond delay="indefinite"/>
                      </p:stCondLst>
                      <p:childTnLst>
                        <p:par>
                          <p:cTn id="90" fill="hold" nodeType="withGroup">
                            <p:stCondLst>
                              <p:cond delay="0"/>
                            </p:stCondLst>
                            <p:childTnLst>
                              <p:par>
                                <p:cTn id="91" presetID="2" presetClass="exit" presetSubtype="8" fill="hold" grpId="1" nodeType="clickEffect">
                                  <p:stCondLst>
                                    <p:cond delay="0"/>
                                  </p:stCondLst>
                                  <p:childTnLst>
                                    <p:anim calcmode="lin" valueType="num">
                                      <p:cBhvr additive="base">
                                        <p:cTn id="92" dur="500"/>
                                        <p:tgtEl>
                                          <p:spTgt spid="142"/>
                                        </p:tgtEl>
                                        <p:attrNameLst>
                                          <p:attrName>ppt_x</p:attrName>
                                        </p:attrNameLst>
                                      </p:cBhvr>
                                      <p:tavLst>
                                        <p:tav tm="0">
                                          <p:val>
                                            <p:strVal val="ppt_x"/>
                                          </p:val>
                                        </p:tav>
                                        <p:tav tm="100000">
                                          <p:val>
                                            <p:strVal val="0-ppt_w/2"/>
                                          </p:val>
                                        </p:tav>
                                      </p:tavLst>
                                    </p:anim>
                                    <p:anim calcmode="lin" valueType="num">
                                      <p:cBhvr additive="base">
                                        <p:cTn id="93" dur="500"/>
                                        <p:tgtEl>
                                          <p:spTgt spid="142"/>
                                        </p:tgtEl>
                                        <p:attrNameLst>
                                          <p:attrName>ppt_y</p:attrName>
                                        </p:attrNameLst>
                                      </p:cBhvr>
                                      <p:tavLst>
                                        <p:tav tm="0">
                                          <p:val>
                                            <p:strVal val="ppt_y"/>
                                          </p:val>
                                        </p:tav>
                                        <p:tav tm="100000">
                                          <p:val>
                                            <p:strVal val="ppt_y"/>
                                          </p:val>
                                        </p:tav>
                                      </p:tavLst>
                                    </p:anim>
                                    <p:set>
                                      <p:cBhvr>
                                        <p:cTn id="94" dur="1" fill="hold">
                                          <p:stCondLst>
                                            <p:cond delay="499"/>
                                          </p:stCondLst>
                                        </p:cTn>
                                        <p:tgtEl>
                                          <p:spTgt spid="142"/>
                                        </p:tgtEl>
                                        <p:attrNameLst>
                                          <p:attrName>style.visibility</p:attrName>
                                        </p:attrNameLst>
                                      </p:cBhvr>
                                      <p:to>
                                        <p:strVal val="hidden"/>
                                      </p:to>
                                    </p:set>
                                  </p:childTnLst>
                                </p:cTn>
                              </p:par>
                            </p:childTnLst>
                          </p:cTn>
                        </p:par>
                        <p:par>
                          <p:cTn id="95" fill="hold" nodeType="afterGroup">
                            <p:stCondLst>
                              <p:cond delay="500"/>
                            </p:stCondLst>
                            <p:childTnLst>
                              <p:par>
                                <p:cTn id="96" presetID="2" presetClass="entr" presetSubtype="8" fill="hold" grpId="0" nodeType="afterEffect">
                                  <p:stCondLst>
                                    <p:cond delay="0"/>
                                  </p:stCondLst>
                                  <p:childTnLst>
                                    <p:set>
                                      <p:cBhvr>
                                        <p:cTn id="97" dur="1" fill="hold">
                                          <p:stCondLst>
                                            <p:cond delay="0"/>
                                          </p:stCondLst>
                                        </p:cTn>
                                        <p:tgtEl>
                                          <p:spTgt spid="151"/>
                                        </p:tgtEl>
                                        <p:attrNameLst>
                                          <p:attrName>style.visibility</p:attrName>
                                        </p:attrNameLst>
                                      </p:cBhvr>
                                      <p:to>
                                        <p:strVal val="visible"/>
                                      </p:to>
                                    </p:set>
                                    <p:anim calcmode="lin" valueType="num">
                                      <p:cBhvr additive="base">
                                        <p:cTn id="98" dur="500" fill="hold"/>
                                        <p:tgtEl>
                                          <p:spTgt spid="151"/>
                                        </p:tgtEl>
                                        <p:attrNameLst>
                                          <p:attrName>ppt_x</p:attrName>
                                        </p:attrNameLst>
                                      </p:cBhvr>
                                      <p:tavLst>
                                        <p:tav tm="0">
                                          <p:val>
                                            <p:strVal val="0-#ppt_w/2"/>
                                          </p:val>
                                        </p:tav>
                                        <p:tav tm="100000">
                                          <p:val>
                                            <p:strVal val="#ppt_x"/>
                                          </p:val>
                                        </p:tav>
                                      </p:tavLst>
                                    </p:anim>
                                    <p:anim calcmode="lin" valueType="num">
                                      <p:cBhvr additive="base">
                                        <p:cTn id="99" dur="500" fill="hold"/>
                                        <p:tgtEl>
                                          <p:spTgt spid="151"/>
                                        </p:tgtEl>
                                        <p:attrNameLst>
                                          <p:attrName>ppt_y</p:attrName>
                                        </p:attrNameLst>
                                      </p:cBhvr>
                                      <p:tavLst>
                                        <p:tav tm="0">
                                          <p:val>
                                            <p:strVal val="#ppt_y"/>
                                          </p:val>
                                        </p:tav>
                                        <p:tav tm="100000">
                                          <p:val>
                                            <p:strVal val="#ppt_y"/>
                                          </p:val>
                                        </p:tav>
                                      </p:tavLst>
                                    </p:anim>
                                  </p:childTnLst>
                                </p:cTn>
                              </p:par>
                            </p:childTnLst>
                          </p:cTn>
                        </p:par>
                        <p:par>
                          <p:cTn id="100" fill="hold" nodeType="afterGroup">
                            <p:stCondLst>
                              <p:cond delay="1000"/>
                            </p:stCondLst>
                            <p:childTnLst>
                              <p:par>
                                <p:cTn id="101" presetID="2" presetClass="entr" presetSubtype="2" fill="hold" grpId="0" nodeType="afterEffect">
                                  <p:stCondLst>
                                    <p:cond delay="0"/>
                                  </p:stCondLst>
                                  <p:childTnLst>
                                    <p:set>
                                      <p:cBhvr>
                                        <p:cTn id="102" dur="1" fill="hold">
                                          <p:stCondLst>
                                            <p:cond delay="0"/>
                                          </p:stCondLst>
                                        </p:cTn>
                                        <p:tgtEl>
                                          <p:spTgt spid="145"/>
                                        </p:tgtEl>
                                        <p:attrNameLst>
                                          <p:attrName>style.visibility</p:attrName>
                                        </p:attrNameLst>
                                      </p:cBhvr>
                                      <p:to>
                                        <p:strVal val="visible"/>
                                      </p:to>
                                    </p:set>
                                    <p:anim calcmode="lin" valueType="num">
                                      <p:cBhvr additive="base">
                                        <p:cTn id="103" dur="500" fill="hold"/>
                                        <p:tgtEl>
                                          <p:spTgt spid="145"/>
                                        </p:tgtEl>
                                        <p:attrNameLst>
                                          <p:attrName>ppt_x</p:attrName>
                                        </p:attrNameLst>
                                      </p:cBhvr>
                                      <p:tavLst>
                                        <p:tav tm="0">
                                          <p:val>
                                            <p:strVal val="1+#ppt_w/2"/>
                                          </p:val>
                                        </p:tav>
                                        <p:tav tm="100000">
                                          <p:val>
                                            <p:strVal val="#ppt_x"/>
                                          </p:val>
                                        </p:tav>
                                      </p:tavLst>
                                    </p:anim>
                                    <p:anim calcmode="lin" valueType="num">
                                      <p:cBhvr additive="base">
                                        <p:cTn id="104" dur="500" fill="hold"/>
                                        <p:tgtEl>
                                          <p:spTgt spid="145"/>
                                        </p:tgtEl>
                                        <p:attrNameLst>
                                          <p:attrName>ppt_y</p:attrName>
                                        </p:attrNameLst>
                                      </p:cBhvr>
                                      <p:tavLst>
                                        <p:tav tm="0">
                                          <p:val>
                                            <p:strVal val="#ppt_y"/>
                                          </p:val>
                                        </p:tav>
                                        <p:tav tm="100000">
                                          <p:val>
                                            <p:strVal val="#ppt_y"/>
                                          </p:val>
                                        </p:tav>
                                      </p:tavLst>
                                    </p:anim>
                                  </p:childTnLst>
                                </p:cTn>
                              </p:par>
                            </p:childTnLst>
                          </p:cTn>
                        </p:par>
                        <p:par>
                          <p:cTn id="105" fill="hold" nodeType="afterGroup">
                            <p:stCondLst>
                              <p:cond delay="1500"/>
                            </p:stCondLst>
                            <p:childTnLst>
                              <p:par>
                                <p:cTn id="106" presetID="2" presetClass="entr" presetSubtype="2" fill="hold" grpId="0" nodeType="afterEffect">
                                  <p:stCondLst>
                                    <p:cond delay="0"/>
                                  </p:stCondLst>
                                  <p:childTnLst>
                                    <p:set>
                                      <p:cBhvr>
                                        <p:cTn id="107" dur="1" fill="hold">
                                          <p:stCondLst>
                                            <p:cond delay="0"/>
                                          </p:stCondLst>
                                        </p:cTn>
                                        <p:tgtEl>
                                          <p:spTgt spid="146"/>
                                        </p:tgtEl>
                                        <p:attrNameLst>
                                          <p:attrName>style.visibility</p:attrName>
                                        </p:attrNameLst>
                                      </p:cBhvr>
                                      <p:to>
                                        <p:strVal val="visible"/>
                                      </p:to>
                                    </p:set>
                                    <p:anim calcmode="lin" valueType="num">
                                      <p:cBhvr additive="base">
                                        <p:cTn id="108" dur="500" fill="hold"/>
                                        <p:tgtEl>
                                          <p:spTgt spid="146"/>
                                        </p:tgtEl>
                                        <p:attrNameLst>
                                          <p:attrName>ppt_x</p:attrName>
                                        </p:attrNameLst>
                                      </p:cBhvr>
                                      <p:tavLst>
                                        <p:tav tm="0">
                                          <p:val>
                                            <p:strVal val="1+#ppt_w/2"/>
                                          </p:val>
                                        </p:tav>
                                        <p:tav tm="100000">
                                          <p:val>
                                            <p:strVal val="#ppt_x"/>
                                          </p:val>
                                        </p:tav>
                                      </p:tavLst>
                                    </p:anim>
                                    <p:anim calcmode="lin" valueType="num">
                                      <p:cBhvr additive="base">
                                        <p:cTn id="109" dur="500" fill="hold"/>
                                        <p:tgtEl>
                                          <p:spTgt spid="146"/>
                                        </p:tgtEl>
                                        <p:attrNameLst>
                                          <p:attrName>ppt_y</p:attrName>
                                        </p:attrNameLst>
                                      </p:cBhvr>
                                      <p:tavLst>
                                        <p:tav tm="0">
                                          <p:val>
                                            <p:strVal val="#ppt_y"/>
                                          </p:val>
                                        </p:tav>
                                        <p:tav tm="100000">
                                          <p:val>
                                            <p:strVal val="#ppt_y"/>
                                          </p:val>
                                        </p:tav>
                                      </p:tavLst>
                                    </p:anim>
                                  </p:childTnLst>
                                </p:cTn>
                              </p:par>
                            </p:childTnLst>
                          </p:cTn>
                        </p:par>
                      </p:childTnLst>
                    </p:cTn>
                  </p:par>
                  <p:par>
                    <p:cTn id="110" fill="hold" nodeType="clickPar">
                      <p:stCondLst>
                        <p:cond delay="indefinite"/>
                      </p:stCondLst>
                      <p:childTnLst>
                        <p:par>
                          <p:cTn id="111" fill="hold" nodeType="withGroup">
                            <p:stCondLst>
                              <p:cond delay="0"/>
                            </p:stCondLst>
                            <p:childTnLst>
                              <p:par>
                                <p:cTn id="112" presetID="2" presetClass="exit" presetSubtype="8" fill="hold" grpId="1" nodeType="clickEffect">
                                  <p:stCondLst>
                                    <p:cond delay="0"/>
                                  </p:stCondLst>
                                  <p:childTnLst>
                                    <p:anim calcmode="lin" valueType="num">
                                      <p:cBhvr additive="base">
                                        <p:cTn id="113" dur="500"/>
                                        <p:tgtEl>
                                          <p:spTgt spid="143"/>
                                        </p:tgtEl>
                                        <p:attrNameLst>
                                          <p:attrName>ppt_x</p:attrName>
                                        </p:attrNameLst>
                                      </p:cBhvr>
                                      <p:tavLst>
                                        <p:tav tm="0">
                                          <p:val>
                                            <p:strVal val="ppt_x"/>
                                          </p:val>
                                        </p:tav>
                                        <p:tav tm="100000">
                                          <p:val>
                                            <p:strVal val="0-ppt_w/2"/>
                                          </p:val>
                                        </p:tav>
                                      </p:tavLst>
                                    </p:anim>
                                    <p:anim calcmode="lin" valueType="num">
                                      <p:cBhvr additive="base">
                                        <p:cTn id="114" dur="500"/>
                                        <p:tgtEl>
                                          <p:spTgt spid="143"/>
                                        </p:tgtEl>
                                        <p:attrNameLst>
                                          <p:attrName>ppt_y</p:attrName>
                                        </p:attrNameLst>
                                      </p:cBhvr>
                                      <p:tavLst>
                                        <p:tav tm="0">
                                          <p:val>
                                            <p:strVal val="ppt_y"/>
                                          </p:val>
                                        </p:tav>
                                        <p:tav tm="100000">
                                          <p:val>
                                            <p:strVal val="ppt_y"/>
                                          </p:val>
                                        </p:tav>
                                      </p:tavLst>
                                    </p:anim>
                                    <p:set>
                                      <p:cBhvr>
                                        <p:cTn id="115" dur="1" fill="hold">
                                          <p:stCondLst>
                                            <p:cond delay="499"/>
                                          </p:stCondLst>
                                        </p:cTn>
                                        <p:tgtEl>
                                          <p:spTgt spid="143"/>
                                        </p:tgtEl>
                                        <p:attrNameLst>
                                          <p:attrName>style.visibility</p:attrName>
                                        </p:attrNameLst>
                                      </p:cBhvr>
                                      <p:to>
                                        <p:strVal val="hidden"/>
                                      </p:to>
                                    </p:set>
                                  </p:childTnLst>
                                </p:cTn>
                              </p:par>
                            </p:childTnLst>
                          </p:cTn>
                        </p:par>
                        <p:par>
                          <p:cTn id="116" fill="hold" nodeType="afterGroup">
                            <p:stCondLst>
                              <p:cond delay="500"/>
                            </p:stCondLst>
                            <p:childTnLst>
                              <p:par>
                                <p:cTn id="117" presetID="2" presetClass="entr" presetSubtype="8" fill="hold" grpId="0" nodeType="afterEffect">
                                  <p:stCondLst>
                                    <p:cond delay="0"/>
                                  </p:stCondLst>
                                  <p:childTnLst>
                                    <p:set>
                                      <p:cBhvr>
                                        <p:cTn id="118" dur="1" fill="hold">
                                          <p:stCondLst>
                                            <p:cond delay="0"/>
                                          </p:stCondLst>
                                        </p:cTn>
                                        <p:tgtEl>
                                          <p:spTgt spid="152"/>
                                        </p:tgtEl>
                                        <p:attrNameLst>
                                          <p:attrName>style.visibility</p:attrName>
                                        </p:attrNameLst>
                                      </p:cBhvr>
                                      <p:to>
                                        <p:strVal val="visible"/>
                                      </p:to>
                                    </p:set>
                                    <p:anim calcmode="lin" valueType="num">
                                      <p:cBhvr additive="base">
                                        <p:cTn id="119" dur="500" fill="hold"/>
                                        <p:tgtEl>
                                          <p:spTgt spid="152"/>
                                        </p:tgtEl>
                                        <p:attrNameLst>
                                          <p:attrName>ppt_x</p:attrName>
                                        </p:attrNameLst>
                                      </p:cBhvr>
                                      <p:tavLst>
                                        <p:tav tm="0">
                                          <p:val>
                                            <p:strVal val="0-#ppt_w/2"/>
                                          </p:val>
                                        </p:tav>
                                        <p:tav tm="100000">
                                          <p:val>
                                            <p:strVal val="#ppt_x"/>
                                          </p:val>
                                        </p:tav>
                                      </p:tavLst>
                                    </p:anim>
                                    <p:anim calcmode="lin" valueType="num">
                                      <p:cBhvr additive="base">
                                        <p:cTn id="120" dur="500" fill="hold"/>
                                        <p:tgtEl>
                                          <p:spTgt spid="152"/>
                                        </p:tgtEl>
                                        <p:attrNameLst>
                                          <p:attrName>ppt_y</p:attrName>
                                        </p:attrNameLst>
                                      </p:cBhvr>
                                      <p:tavLst>
                                        <p:tav tm="0">
                                          <p:val>
                                            <p:strVal val="#ppt_y"/>
                                          </p:val>
                                        </p:tav>
                                        <p:tav tm="100000">
                                          <p:val>
                                            <p:strVal val="#ppt_y"/>
                                          </p:val>
                                        </p:tav>
                                      </p:tavLst>
                                    </p:anim>
                                  </p:childTnLst>
                                </p:cTn>
                              </p:par>
                            </p:childTnLst>
                          </p:cTn>
                        </p:par>
                      </p:childTnLst>
                    </p:cTn>
                  </p:par>
                  <p:par>
                    <p:cTn id="121" fill="hold" nodeType="clickPar">
                      <p:stCondLst>
                        <p:cond delay="indefinite"/>
                      </p:stCondLst>
                      <p:childTnLst>
                        <p:par>
                          <p:cTn id="122" fill="hold" nodeType="withGroup">
                            <p:stCondLst>
                              <p:cond delay="0"/>
                            </p:stCondLst>
                            <p:childTnLst>
                              <p:par>
                                <p:cTn id="123" presetID="2" presetClass="exit" presetSubtype="8" fill="hold" grpId="1" nodeType="clickEffect">
                                  <p:stCondLst>
                                    <p:cond delay="0"/>
                                  </p:stCondLst>
                                  <p:childTnLst>
                                    <p:anim calcmode="lin" valueType="num">
                                      <p:cBhvr additive="base">
                                        <p:cTn id="124" dur="500"/>
                                        <p:tgtEl>
                                          <p:spTgt spid="144"/>
                                        </p:tgtEl>
                                        <p:attrNameLst>
                                          <p:attrName>ppt_x</p:attrName>
                                        </p:attrNameLst>
                                      </p:cBhvr>
                                      <p:tavLst>
                                        <p:tav tm="0">
                                          <p:val>
                                            <p:strVal val="ppt_x"/>
                                          </p:val>
                                        </p:tav>
                                        <p:tav tm="100000">
                                          <p:val>
                                            <p:strVal val="0-ppt_w/2"/>
                                          </p:val>
                                        </p:tav>
                                      </p:tavLst>
                                    </p:anim>
                                    <p:anim calcmode="lin" valueType="num">
                                      <p:cBhvr additive="base">
                                        <p:cTn id="125" dur="500"/>
                                        <p:tgtEl>
                                          <p:spTgt spid="144"/>
                                        </p:tgtEl>
                                        <p:attrNameLst>
                                          <p:attrName>ppt_y</p:attrName>
                                        </p:attrNameLst>
                                      </p:cBhvr>
                                      <p:tavLst>
                                        <p:tav tm="0">
                                          <p:val>
                                            <p:strVal val="ppt_y"/>
                                          </p:val>
                                        </p:tav>
                                        <p:tav tm="100000">
                                          <p:val>
                                            <p:strVal val="ppt_y"/>
                                          </p:val>
                                        </p:tav>
                                      </p:tavLst>
                                    </p:anim>
                                    <p:set>
                                      <p:cBhvr>
                                        <p:cTn id="126" dur="1" fill="hold">
                                          <p:stCondLst>
                                            <p:cond delay="499"/>
                                          </p:stCondLst>
                                        </p:cTn>
                                        <p:tgtEl>
                                          <p:spTgt spid="144"/>
                                        </p:tgtEl>
                                        <p:attrNameLst>
                                          <p:attrName>style.visibility</p:attrName>
                                        </p:attrNameLst>
                                      </p:cBhvr>
                                      <p:to>
                                        <p:strVal val="hidden"/>
                                      </p:to>
                                    </p:set>
                                  </p:childTnLst>
                                </p:cTn>
                              </p:par>
                            </p:childTnLst>
                          </p:cTn>
                        </p:par>
                        <p:par>
                          <p:cTn id="127" fill="hold" nodeType="afterGroup">
                            <p:stCondLst>
                              <p:cond delay="500"/>
                            </p:stCondLst>
                            <p:childTnLst>
                              <p:par>
                                <p:cTn id="128" presetID="2" presetClass="entr" presetSubtype="8" fill="hold" grpId="0" nodeType="afterEffect">
                                  <p:stCondLst>
                                    <p:cond delay="0"/>
                                  </p:stCondLst>
                                  <p:childTnLst>
                                    <p:set>
                                      <p:cBhvr>
                                        <p:cTn id="129" dur="1" fill="hold">
                                          <p:stCondLst>
                                            <p:cond delay="0"/>
                                          </p:stCondLst>
                                        </p:cTn>
                                        <p:tgtEl>
                                          <p:spTgt spid="153"/>
                                        </p:tgtEl>
                                        <p:attrNameLst>
                                          <p:attrName>style.visibility</p:attrName>
                                        </p:attrNameLst>
                                      </p:cBhvr>
                                      <p:to>
                                        <p:strVal val="visible"/>
                                      </p:to>
                                    </p:set>
                                    <p:anim calcmode="lin" valueType="num">
                                      <p:cBhvr additive="base">
                                        <p:cTn id="130" dur="500" fill="hold"/>
                                        <p:tgtEl>
                                          <p:spTgt spid="153"/>
                                        </p:tgtEl>
                                        <p:attrNameLst>
                                          <p:attrName>ppt_x</p:attrName>
                                        </p:attrNameLst>
                                      </p:cBhvr>
                                      <p:tavLst>
                                        <p:tav tm="0">
                                          <p:val>
                                            <p:strVal val="0-#ppt_w/2"/>
                                          </p:val>
                                        </p:tav>
                                        <p:tav tm="100000">
                                          <p:val>
                                            <p:strVal val="#ppt_x"/>
                                          </p:val>
                                        </p:tav>
                                      </p:tavLst>
                                    </p:anim>
                                    <p:anim calcmode="lin" valueType="num">
                                      <p:cBhvr additive="base">
                                        <p:cTn id="131" dur="500" fill="hold"/>
                                        <p:tgtEl>
                                          <p:spTgt spid="153"/>
                                        </p:tgtEl>
                                        <p:attrNameLst>
                                          <p:attrName>ppt_y</p:attrName>
                                        </p:attrNameLst>
                                      </p:cBhvr>
                                      <p:tavLst>
                                        <p:tav tm="0">
                                          <p:val>
                                            <p:strVal val="#ppt_y"/>
                                          </p:val>
                                        </p:tav>
                                        <p:tav tm="100000">
                                          <p:val>
                                            <p:strVal val="#ppt_y"/>
                                          </p:val>
                                        </p:tav>
                                      </p:tavLst>
                                    </p:anim>
                                  </p:childTnLst>
                                </p:cTn>
                              </p:par>
                            </p:childTnLst>
                          </p:cTn>
                        </p:par>
                        <p:par>
                          <p:cTn id="132" fill="hold" nodeType="afterGroup">
                            <p:stCondLst>
                              <p:cond delay="1000"/>
                            </p:stCondLst>
                            <p:childTnLst>
                              <p:par>
                                <p:cTn id="133" presetID="2" presetClass="entr" presetSubtype="2" fill="hold" grpId="0" nodeType="afterEffect">
                                  <p:stCondLst>
                                    <p:cond delay="0"/>
                                  </p:stCondLst>
                                  <p:childTnLst>
                                    <p:set>
                                      <p:cBhvr>
                                        <p:cTn id="134" dur="1" fill="hold">
                                          <p:stCondLst>
                                            <p:cond delay="0"/>
                                          </p:stCondLst>
                                        </p:cTn>
                                        <p:tgtEl>
                                          <p:spTgt spid="147"/>
                                        </p:tgtEl>
                                        <p:attrNameLst>
                                          <p:attrName>style.visibility</p:attrName>
                                        </p:attrNameLst>
                                      </p:cBhvr>
                                      <p:to>
                                        <p:strVal val="visible"/>
                                      </p:to>
                                    </p:set>
                                    <p:anim calcmode="lin" valueType="num">
                                      <p:cBhvr additive="base">
                                        <p:cTn id="135" dur="500" fill="hold"/>
                                        <p:tgtEl>
                                          <p:spTgt spid="147"/>
                                        </p:tgtEl>
                                        <p:attrNameLst>
                                          <p:attrName>ppt_x</p:attrName>
                                        </p:attrNameLst>
                                      </p:cBhvr>
                                      <p:tavLst>
                                        <p:tav tm="0">
                                          <p:val>
                                            <p:strVal val="1+#ppt_w/2"/>
                                          </p:val>
                                        </p:tav>
                                        <p:tav tm="100000">
                                          <p:val>
                                            <p:strVal val="#ppt_x"/>
                                          </p:val>
                                        </p:tav>
                                      </p:tavLst>
                                    </p:anim>
                                    <p:anim calcmode="lin" valueType="num">
                                      <p:cBhvr additive="base">
                                        <p:cTn id="136" dur="500" fill="hold"/>
                                        <p:tgtEl>
                                          <p:spTgt spid="147"/>
                                        </p:tgtEl>
                                        <p:attrNameLst>
                                          <p:attrName>ppt_y</p:attrName>
                                        </p:attrNameLst>
                                      </p:cBhvr>
                                      <p:tavLst>
                                        <p:tav tm="0">
                                          <p:val>
                                            <p:strVal val="#ppt_y"/>
                                          </p:val>
                                        </p:tav>
                                        <p:tav tm="100000">
                                          <p:val>
                                            <p:strVal val="#ppt_y"/>
                                          </p:val>
                                        </p:tav>
                                      </p:tavLst>
                                    </p:anim>
                                  </p:childTnLst>
                                </p:cTn>
                              </p:par>
                            </p:childTnLst>
                          </p:cTn>
                        </p:par>
                      </p:childTnLst>
                    </p:cTn>
                  </p:par>
                  <p:par>
                    <p:cTn id="137" fill="hold" nodeType="clickPar">
                      <p:stCondLst>
                        <p:cond delay="indefinite"/>
                      </p:stCondLst>
                      <p:childTnLst>
                        <p:par>
                          <p:cTn id="138" fill="hold" nodeType="withGroup">
                            <p:stCondLst>
                              <p:cond delay="0"/>
                            </p:stCondLst>
                            <p:childTnLst>
                              <p:par>
                                <p:cTn id="139" presetID="2" presetClass="exit" presetSubtype="8" fill="hold" grpId="1" nodeType="clickEffect">
                                  <p:stCondLst>
                                    <p:cond delay="0"/>
                                  </p:stCondLst>
                                  <p:childTnLst>
                                    <p:anim calcmode="lin" valueType="num">
                                      <p:cBhvr additive="base">
                                        <p:cTn id="140" dur="500"/>
                                        <p:tgtEl>
                                          <p:spTgt spid="145"/>
                                        </p:tgtEl>
                                        <p:attrNameLst>
                                          <p:attrName>ppt_x</p:attrName>
                                        </p:attrNameLst>
                                      </p:cBhvr>
                                      <p:tavLst>
                                        <p:tav tm="0">
                                          <p:val>
                                            <p:strVal val="ppt_x"/>
                                          </p:val>
                                        </p:tav>
                                        <p:tav tm="100000">
                                          <p:val>
                                            <p:strVal val="0-ppt_w/2"/>
                                          </p:val>
                                        </p:tav>
                                      </p:tavLst>
                                    </p:anim>
                                    <p:anim calcmode="lin" valueType="num">
                                      <p:cBhvr additive="base">
                                        <p:cTn id="141" dur="500"/>
                                        <p:tgtEl>
                                          <p:spTgt spid="145"/>
                                        </p:tgtEl>
                                        <p:attrNameLst>
                                          <p:attrName>ppt_y</p:attrName>
                                        </p:attrNameLst>
                                      </p:cBhvr>
                                      <p:tavLst>
                                        <p:tav tm="0">
                                          <p:val>
                                            <p:strVal val="ppt_y"/>
                                          </p:val>
                                        </p:tav>
                                        <p:tav tm="100000">
                                          <p:val>
                                            <p:strVal val="ppt_y"/>
                                          </p:val>
                                        </p:tav>
                                      </p:tavLst>
                                    </p:anim>
                                    <p:set>
                                      <p:cBhvr>
                                        <p:cTn id="142" dur="1" fill="hold">
                                          <p:stCondLst>
                                            <p:cond delay="499"/>
                                          </p:stCondLst>
                                        </p:cTn>
                                        <p:tgtEl>
                                          <p:spTgt spid="145"/>
                                        </p:tgtEl>
                                        <p:attrNameLst>
                                          <p:attrName>style.visibility</p:attrName>
                                        </p:attrNameLst>
                                      </p:cBhvr>
                                      <p:to>
                                        <p:strVal val="hidden"/>
                                      </p:to>
                                    </p:set>
                                  </p:childTnLst>
                                </p:cTn>
                              </p:par>
                            </p:childTnLst>
                          </p:cTn>
                        </p:par>
                        <p:par>
                          <p:cTn id="143" fill="hold" nodeType="afterGroup">
                            <p:stCondLst>
                              <p:cond delay="500"/>
                            </p:stCondLst>
                            <p:childTnLst>
                              <p:par>
                                <p:cTn id="144" presetID="2" presetClass="entr" presetSubtype="8" fill="hold" grpId="0" nodeType="afterEffect">
                                  <p:stCondLst>
                                    <p:cond delay="0"/>
                                  </p:stCondLst>
                                  <p:childTnLst>
                                    <p:set>
                                      <p:cBhvr>
                                        <p:cTn id="145" dur="1" fill="hold">
                                          <p:stCondLst>
                                            <p:cond delay="0"/>
                                          </p:stCondLst>
                                        </p:cTn>
                                        <p:tgtEl>
                                          <p:spTgt spid="154"/>
                                        </p:tgtEl>
                                        <p:attrNameLst>
                                          <p:attrName>style.visibility</p:attrName>
                                        </p:attrNameLst>
                                      </p:cBhvr>
                                      <p:to>
                                        <p:strVal val="visible"/>
                                      </p:to>
                                    </p:set>
                                    <p:anim calcmode="lin" valueType="num">
                                      <p:cBhvr additive="base">
                                        <p:cTn id="146" dur="500" fill="hold"/>
                                        <p:tgtEl>
                                          <p:spTgt spid="154"/>
                                        </p:tgtEl>
                                        <p:attrNameLst>
                                          <p:attrName>ppt_x</p:attrName>
                                        </p:attrNameLst>
                                      </p:cBhvr>
                                      <p:tavLst>
                                        <p:tav tm="0">
                                          <p:val>
                                            <p:strVal val="0-#ppt_w/2"/>
                                          </p:val>
                                        </p:tav>
                                        <p:tav tm="100000">
                                          <p:val>
                                            <p:strVal val="#ppt_x"/>
                                          </p:val>
                                        </p:tav>
                                      </p:tavLst>
                                    </p:anim>
                                    <p:anim calcmode="lin" valueType="num">
                                      <p:cBhvr additive="base">
                                        <p:cTn id="147" dur="500" fill="hold"/>
                                        <p:tgtEl>
                                          <p:spTgt spid="154"/>
                                        </p:tgtEl>
                                        <p:attrNameLst>
                                          <p:attrName>ppt_y</p:attrName>
                                        </p:attrNameLst>
                                      </p:cBhvr>
                                      <p:tavLst>
                                        <p:tav tm="0">
                                          <p:val>
                                            <p:strVal val="#ppt_y"/>
                                          </p:val>
                                        </p:tav>
                                        <p:tav tm="100000">
                                          <p:val>
                                            <p:strVal val="#ppt_y"/>
                                          </p:val>
                                        </p:tav>
                                      </p:tavLst>
                                    </p:anim>
                                  </p:childTnLst>
                                </p:cTn>
                              </p:par>
                            </p:childTnLst>
                          </p:cTn>
                        </p:par>
                        <p:par>
                          <p:cTn id="148" fill="hold" nodeType="afterGroup">
                            <p:stCondLst>
                              <p:cond delay="1000"/>
                            </p:stCondLst>
                            <p:childTnLst>
                              <p:par>
                                <p:cTn id="149" presetID="2" presetClass="entr" presetSubtype="2" fill="hold" grpId="0" nodeType="afterEffect">
                                  <p:stCondLst>
                                    <p:cond delay="0"/>
                                  </p:stCondLst>
                                  <p:childTnLst>
                                    <p:set>
                                      <p:cBhvr>
                                        <p:cTn id="150" dur="1" fill="hold">
                                          <p:stCondLst>
                                            <p:cond delay="0"/>
                                          </p:stCondLst>
                                        </p:cTn>
                                        <p:tgtEl>
                                          <p:spTgt spid="148"/>
                                        </p:tgtEl>
                                        <p:attrNameLst>
                                          <p:attrName>style.visibility</p:attrName>
                                        </p:attrNameLst>
                                      </p:cBhvr>
                                      <p:to>
                                        <p:strVal val="visible"/>
                                      </p:to>
                                    </p:set>
                                    <p:anim calcmode="lin" valueType="num">
                                      <p:cBhvr additive="base">
                                        <p:cTn id="151" dur="500" fill="hold"/>
                                        <p:tgtEl>
                                          <p:spTgt spid="148"/>
                                        </p:tgtEl>
                                        <p:attrNameLst>
                                          <p:attrName>ppt_x</p:attrName>
                                        </p:attrNameLst>
                                      </p:cBhvr>
                                      <p:tavLst>
                                        <p:tav tm="0">
                                          <p:val>
                                            <p:strVal val="1+#ppt_w/2"/>
                                          </p:val>
                                        </p:tav>
                                        <p:tav tm="100000">
                                          <p:val>
                                            <p:strVal val="#ppt_x"/>
                                          </p:val>
                                        </p:tav>
                                      </p:tavLst>
                                    </p:anim>
                                    <p:anim calcmode="lin" valueType="num">
                                      <p:cBhvr additive="base">
                                        <p:cTn id="152" dur="500" fill="hold"/>
                                        <p:tgtEl>
                                          <p:spTgt spid="148"/>
                                        </p:tgtEl>
                                        <p:attrNameLst>
                                          <p:attrName>ppt_y</p:attrName>
                                        </p:attrNameLst>
                                      </p:cBhvr>
                                      <p:tavLst>
                                        <p:tav tm="0">
                                          <p:val>
                                            <p:strVal val="#ppt_y"/>
                                          </p:val>
                                        </p:tav>
                                        <p:tav tm="100000">
                                          <p:val>
                                            <p:strVal val="#ppt_y"/>
                                          </p:val>
                                        </p:tav>
                                      </p:tavLst>
                                    </p:anim>
                                  </p:childTnLst>
                                </p:cTn>
                              </p:par>
                            </p:childTnLst>
                          </p:cTn>
                        </p:par>
                      </p:childTnLst>
                    </p:cTn>
                  </p:par>
                  <p:par>
                    <p:cTn id="153" fill="hold" nodeType="clickPar">
                      <p:stCondLst>
                        <p:cond delay="indefinite"/>
                      </p:stCondLst>
                      <p:childTnLst>
                        <p:par>
                          <p:cTn id="154" fill="hold" nodeType="withGroup">
                            <p:stCondLst>
                              <p:cond delay="0"/>
                            </p:stCondLst>
                            <p:childTnLst>
                              <p:par>
                                <p:cTn id="155" presetID="2" presetClass="exit" presetSubtype="8" fill="hold" grpId="1" nodeType="clickEffect">
                                  <p:stCondLst>
                                    <p:cond delay="0"/>
                                  </p:stCondLst>
                                  <p:childTnLst>
                                    <p:anim calcmode="lin" valueType="num">
                                      <p:cBhvr additive="base">
                                        <p:cTn id="156" dur="500"/>
                                        <p:tgtEl>
                                          <p:spTgt spid="146"/>
                                        </p:tgtEl>
                                        <p:attrNameLst>
                                          <p:attrName>ppt_x</p:attrName>
                                        </p:attrNameLst>
                                      </p:cBhvr>
                                      <p:tavLst>
                                        <p:tav tm="0">
                                          <p:val>
                                            <p:strVal val="ppt_x"/>
                                          </p:val>
                                        </p:tav>
                                        <p:tav tm="100000">
                                          <p:val>
                                            <p:strVal val="0-ppt_w/2"/>
                                          </p:val>
                                        </p:tav>
                                      </p:tavLst>
                                    </p:anim>
                                    <p:anim calcmode="lin" valueType="num">
                                      <p:cBhvr additive="base">
                                        <p:cTn id="157" dur="500"/>
                                        <p:tgtEl>
                                          <p:spTgt spid="146"/>
                                        </p:tgtEl>
                                        <p:attrNameLst>
                                          <p:attrName>ppt_y</p:attrName>
                                        </p:attrNameLst>
                                      </p:cBhvr>
                                      <p:tavLst>
                                        <p:tav tm="0">
                                          <p:val>
                                            <p:strVal val="ppt_y"/>
                                          </p:val>
                                        </p:tav>
                                        <p:tav tm="100000">
                                          <p:val>
                                            <p:strVal val="ppt_y"/>
                                          </p:val>
                                        </p:tav>
                                      </p:tavLst>
                                    </p:anim>
                                    <p:set>
                                      <p:cBhvr>
                                        <p:cTn id="158" dur="1" fill="hold">
                                          <p:stCondLst>
                                            <p:cond delay="499"/>
                                          </p:stCondLst>
                                        </p:cTn>
                                        <p:tgtEl>
                                          <p:spTgt spid="146"/>
                                        </p:tgtEl>
                                        <p:attrNameLst>
                                          <p:attrName>style.visibility</p:attrName>
                                        </p:attrNameLst>
                                      </p:cBhvr>
                                      <p:to>
                                        <p:strVal val="hidden"/>
                                      </p:to>
                                    </p:set>
                                  </p:childTnLst>
                                </p:cTn>
                              </p:par>
                            </p:childTnLst>
                          </p:cTn>
                        </p:par>
                        <p:par>
                          <p:cTn id="159" fill="hold" nodeType="afterGroup">
                            <p:stCondLst>
                              <p:cond delay="500"/>
                            </p:stCondLst>
                            <p:childTnLst>
                              <p:par>
                                <p:cTn id="160" presetID="2" presetClass="entr" presetSubtype="8" fill="hold" grpId="0" nodeType="afterEffect">
                                  <p:stCondLst>
                                    <p:cond delay="0"/>
                                  </p:stCondLst>
                                  <p:childTnLst>
                                    <p:set>
                                      <p:cBhvr>
                                        <p:cTn id="161" dur="1" fill="hold">
                                          <p:stCondLst>
                                            <p:cond delay="0"/>
                                          </p:stCondLst>
                                        </p:cTn>
                                        <p:tgtEl>
                                          <p:spTgt spid="155"/>
                                        </p:tgtEl>
                                        <p:attrNameLst>
                                          <p:attrName>style.visibility</p:attrName>
                                        </p:attrNameLst>
                                      </p:cBhvr>
                                      <p:to>
                                        <p:strVal val="visible"/>
                                      </p:to>
                                    </p:set>
                                    <p:anim calcmode="lin" valueType="num">
                                      <p:cBhvr additive="base">
                                        <p:cTn id="162" dur="500" fill="hold"/>
                                        <p:tgtEl>
                                          <p:spTgt spid="155"/>
                                        </p:tgtEl>
                                        <p:attrNameLst>
                                          <p:attrName>ppt_x</p:attrName>
                                        </p:attrNameLst>
                                      </p:cBhvr>
                                      <p:tavLst>
                                        <p:tav tm="0">
                                          <p:val>
                                            <p:strVal val="0-#ppt_w/2"/>
                                          </p:val>
                                        </p:tav>
                                        <p:tav tm="100000">
                                          <p:val>
                                            <p:strVal val="#ppt_x"/>
                                          </p:val>
                                        </p:tav>
                                      </p:tavLst>
                                    </p:anim>
                                    <p:anim calcmode="lin" valueType="num">
                                      <p:cBhvr additive="base">
                                        <p:cTn id="163" dur="500" fill="hold"/>
                                        <p:tgtEl>
                                          <p:spTgt spid="155"/>
                                        </p:tgtEl>
                                        <p:attrNameLst>
                                          <p:attrName>ppt_y</p:attrName>
                                        </p:attrNameLst>
                                      </p:cBhvr>
                                      <p:tavLst>
                                        <p:tav tm="0">
                                          <p:val>
                                            <p:strVal val="#ppt_y"/>
                                          </p:val>
                                        </p:tav>
                                        <p:tav tm="100000">
                                          <p:val>
                                            <p:strVal val="#ppt_y"/>
                                          </p:val>
                                        </p:tav>
                                      </p:tavLst>
                                    </p:anim>
                                  </p:childTnLst>
                                </p:cTn>
                              </p:par>
                            </p:childTnLst>
                          </p:cTn>
                        </p:par>
                      </p:childTnLst>
                    </p:cTn>
                  </p:par>
                  <p:par>
                    <p:cTn id="164" fill="hold" nodeType="clickPar">
                      <p:stCondLst>
                        <p:cond delay="indefinite"/>
                      </p:stCondLst>
                      <p:childTnLst>
                        <p:par>
                          <p:cTn id="165" fill="hold" nodeType="withGroup">
                            <p:stCondLst>
                              <p:cond delay="0"/>
                            </p:stCondLst>
                            <p:childTnLst>
                              <p:par>
                                <p:cTn id="166" presetID="2" presetClass="exit" presetSubtype="8" fill="hold" grpId="1" nodeType="clickEffect">
                                  <p:stCondLst>
                                    <p:cond delay="0"/>
                                  </p:stCondLst>
                                  <p:childTnLst>
                                    <p:anim calcmode="lin" valueType="num">
                                      <p:cBhvr additive="base">
                                        <p:cTn id="167" dur="500"/>
                                        <p:tgtEl>
                                          <p:spTgt spid="147"/>
                                        </p:tgtEl>
                                        <p:attrNameLst>
                                          <p:attrName>ppt_x</p:attrName>
                                        </p:attrNameLst>
                                      </p:cBhvr>
                                      <p:tavLst>
                                        <p:tav tm="0">
                                          <p:val>
                                            <p:strVal val="ppt_x"/>
                                          </p:val>
                                        </p:tav>
                                        <p:tav tm="100000">
                                          <p:val>
                                            <p:strVal val="0-ppt_w/2"/>
                                          </p:val>
                                        </p:tav>
                                      </p:tavLst>
                                    </p:anim>
                                    <p:anim calcmode="lin" valueType="num">
                                      <p:cBhvr additive="base">
                                        <p:cTn id="168" dur="500"/>
                                        <p:tgtEl>
                                          <p:spTgt spid="147"/>
                                        </p:tgtEl>
                                        <p:attrNameLst>
                                          <p:attrName>ppt_y</p:attrName>
                                        </p:attrNameLst>
                                      </p:cBhvr>
                                      <p:tavLst>
                                        <p:tav tm="0">
                                          <p:val>
                                            <p:strVal val="ppt_y"/>
                                          </p:val>
                                        </p:tav>
                                        <p:tav tm="100000">
                                          <p:val>
                                            <p:strVal val="ppt_y"/>
                                          </p:val>
                                        </p:tav>
                                      </p:tavLst>
                                    </p:anim>
                                    <p:set>
                                      <p:cBhvr>
                                        <p:cTn id="169" dur="1" fill="hold">
                                          <p:stCondLst>
                                            <p:cond delay="499"/>
                                          </p:stCondLst>
                                        </p:cTn>
                                        <p:tgtEl>
                                          <p:spTgt spid="147"/>
                                        </p:tgtEl>
                                        <p:attrNameLst>
                                          <p:attrName>style.visibility</p:attrName>
                                        </p:attrNameLst>
                                      </p:cBhvr>
                                      <p:to>
                                        <p:strVal val="hidden"/>
                                      </p:to>
                                    </p:set>
                                  </p:childTnLst>
                                </p:cTn>
                              </p:par>
                            </p:childTnLst>
                          </p:cTn>
                        </p:par>
                        <p:par>
                          <p:cTn id="170" fill="hold" nodeType="afterGroup">
                            <p:stCondLst>
                              <p:cond delay="500"/>
                            </p:stCondLst>
                            <p:childTnLst>
                              <p:par>
                                <p:cTn id="171" presetID="2" presetClass="entr" presetSubtype="8" fill="hold" grpId="0" nodeType="afterEffect">
                                  <p:stCondLst>
                                    <p:cond delay="0"/>
                                  </p:stCondLst>
                                  <p:childTnLst>
                                    <p:set>
                                      <p:cBhvr>
                                        <p:cTn id="172" dur="1" fill="hold">
                                          <p:stCondLst>
                                            <p:cond delay="0"/>
                                          </p:stCondLst>
                                        </p:cTn>
                                        <p:tgtEl>
                                          <p:spTgt spid="156"/>
                                        </p:tgtEl>
                                        <p:attrNameLst>
                                          <p:attrName>style.visibility</p:attrName>
                                        </p:attrNameLst>
                                      </p:cBhvr>
                                      <p:to>
                                        <p:strVal val="visible"/>
                                      </p:to>
                                    </p:set>
                                    <p:anim calcmode="lin" valueType="num">
                                      <p:cBhvr additive="base">
                                        <p:cTn id="173" dur="500" fill="hold"/>
                                        <p:tgtEl>
                                          <p:spTgt spid="156"/>
                                        </p:tgtEl>
                                        <p:attrNameLst>
                                          <p:attrName>ppt_x</p:attrName>
                                        </p:attrNameLst>
                                      </p:cBhvr>
                                      <p:tavLst>
                                        <p:tav tm="0">
                                          <p:val>
                                            <p:strVal val="0-#ppt_w/2"/>
                                          </p:val>
                                        </p:tav>
                                        <p:tav tm="100000">
                                          <p:val>
                                            <p:strVal val="#ppt_x"/>
                                          </p:val>
                                        </p:tav>
                                      </p:tavLst>
                                    </p:anim>
                                    <p:anim calcmode="lin" valueType="num">
                                      <p:cBhvr additive="base">
                                        <p:cTn id="174" dur="500" fill="hold"/>
                                        <p:tgtEl>
                                          <p:spTgt spid="156"/>
                                        </p:tgtEl>
                                        <p:attrNameLst>
                                          <p:attrName>ppt_y</p:attrName>
                                        </p:attrNameLst>
                                      </p:cBhvr>
                                      <p:tavLst>
                                        <p:tav tm="0">
                                          <p:val>
                                            <p:strVal val="#ppt_y"/>
                                          </p:val>
                                        </p:tav>
                                        <p:tav tm="100000">
                                          <p:val>
                                            <p:strVal val="#ppt_y"/>
                                          </p:val>
                                        </p:tav>
                                      </p:tavLst>
                                    </p:anim>
                                  </p:childTnLst>
                                </p:cTn>
                              </p:par>
                            </p:childTnLst>
                          </p:cTn>
                        </p:par>
                      </p:childTnLst>
                    </p:cTn>
                  </p:par>
                  <p:par>
                    <p:cTn id="175" fill="hold" nodeType="clickPar">
                      <p:stCondLst>
                        <p:cond delay="indefinite"/>
                      </p:stCondLst>
                      <p:childTnLst>
                        <p:par>
                          <p:cTn id="176" fill="hold" nodeType="withGroup">
                            <p:stCondLst>
                              <p:cond delay="0"/>
                            </p:stCondLst>
                            <p:childTnLst>
                              <p:par>
                                <p:cTn id="177" presetID="2" presetClass="exit" presetSubtype="8" fill="hold" grpId="1" nodeType="clickEffect">
                                  <p:stCondLst>
                                    <p:cond delay="0"/>
                                  </p:stCondLst>
                                  <p:childTnLst>
                                    <p:anim calcmode="lin" valueType="num">
                                      <p:cBhvr additive="base">
                                        <p:cTn id="178" dur="500"/>
                                        <p:tgtEl>
                                          <p:spTgt spid="148"/>
                                        </p:tgtEl>
                                        <p:attrNameLst>
                                          <p:attrName>ppt_x</p:attrName>
                                        </p:attrNameLst>
                                      </p:cBhvr>
                                      <p:tavLst>
                                        <p:tav tm="0">
                                          <p:val>
                                            <p:strVal val="ppt_x"/>
                                          </p:val>
                                        </p:tav>
                                        <p:tav tm="100000">
                                          <p:val>
                                            <p:strVal val="0-ppt_w/2"/>
                                          </p:val>
                                        </p:tav>
                                      </p:tavLst>
                                    </p:anim>
                                    <p:anim calcmode="lin" valueType="num">
                                      <p:cBhvr additive="base">
                                        <p:cTn id="179" dur="500"/>
                                        <p:tgtEl>
                                          <p:spTgt spid="148"/>
                                        </p:tgtEl>
                                        <p:attrNameLst>
                                          <p:attrName>ppt_y</p:attrName>
                                        </p:attrNameLst>
                                      </p:cBhvr>
                                      <p:tavLst>
                                        <p:tav tm="0">
                                          <p:val>
                                            <p:strVal val="ppt_y"/>
                                          </p:val>
                                        </p:tav>
                                        <p:tav tm="100000">
                                          <p:val>
                                            <p:strVal val="ppt_y"/>
                                          </p:val>
                                        </p:tav>
                                      </p:tavLst>
                                    </p:anim>
                                    <p:set>
                                      <p:cBhvr>
                                        <p:cTn id="180" dur="1" fill="hold">
                                          <p:stCondLst>
                                            <p:cond delay="499"/>
                                          </p:stCondLst>
                                        </p:cTn>
                                        <p:tgtEl>
                                          <p:spTgt spid="148"/>
                                        </p:tgtEl>
                                        <p:attrNameLst>
                                          <p:attrName>style.visibility</p:attrName>
                                        </p:attrNameLst>
                                      </p:cBhvr>
                                      <p:to>
                                        <p:strVal val="hidden"/>
                                      </p:to>
                                    </p:set>
                                  </p:childTnLst>
                                </p:cTn>
                              </p:par>
                            </p:childTnLst>
                          </p:cTn>
                        </p:par>
                        <p:par>
                          <p:cTn id="181" fill="hold" nodeType="afterGroup">
                            <p:stCondLst>
                              <p:cond delay="500"/>
                            </p:stCondLst>
                            <p:childTnLst>
                              <p:par>
                                <p:cTn id="182" presetID="2" presetClass="entr" presetSubtype="8" fill="hold" grpId="0" nodeType="afterEffect">
                                  <p:stCondLst>
                                    <p:cond delay="0"/>
                                  </p:stCondLst>
                                  <p:childTnLst>
                                    <p:set>
                                      <p:cBhvr>
                                        <p:cTn id="183" dur="1" fill="hold">
                                          <p:stCondLst>
                                            <p:cond delay="0"/>
                                          </p:stCondLst>
                                        </p:cTn>
                                        <p:tgtEl>
                                          <p:spTgt spid="157"/>
                                        </p:tgtEl>
                                        <p:attrNameLst>
                                          <p:attrName>style.visibility</p:attrName>
                                        </p:attrNameLst>
                                      </p:cBhvr>
                                      <p:to>
                                        <p:strVal val="visible"/>
                                      </p:to>
                                    </p:set>
                                    <p:anim calcmode="lin" valueType="num">
                                      <p:cBhvr additive="base">
                                        <p:cTn id="184" dur="500" fill="hold"/>
                                        <p:tgtEl>
                                          <p:spTgt spid="157"/>
                                        </p:tgtEl>
                                        <p:attrNameLst>
                                          <p:attrName>ppt_x</p:attrName>
                                        </p:attrNameLst>
                                      </p:cBhvr>
                                      <p:tavLst>
                                        <p:tav tm="0">
                                          <p:val>
                                            <p:strVal val="0-#ppt_w/2"/>
                                          </p:val>
                                        </p:tav>
                                        <p:tav tm="100000">
                                          <p:val>
                                            <p:strVal val="#ppt_x"/>
                                          </p:val>
                                        </p:tav>
                                      </p:tavLst>
                                    </p:anim>
                                    <p:anim calcmode="lin" valueType="num">
                                      <p:cBhvr additive="base">
                                        <p:cTn id="185" dur="500" fill="hold"/>
                                        <p:tgtEl>
                                          <p:spTgt spid="157"/>
                                        </p:tgtEl>
                                        <p:attrNameLst>
                                          <p:attrName>ppt_y</p:attrName>
                                        </p:attrNameLst>
                                      </p:cBhvr>
                                      <p:tavLst>
                                        <p:tav tm="0">
                                          <p:val>
                                            <p:strVal val="#ppt_y"/>
                                          </p:val>
                                        </p:tav>
                                        <p:tav tm="100000">
                                          <p:val>
                                            <p:strVal val="#ppt_y"/>
                                          </p:val>
                                        </p:tav>
                                      </p:tavLst>
                                    </p:anim>
                                  </p:childTnLst>
                                </p:cTn>
                              </p:par>
                            </p:childTnLst>
                          </p:cTn>
                        </p:par>
                      </p:childTnLst>
                    </p:cTn>
                  </p:par>
                  <p:par>
                    <p:cTn id="186" fill="hold" nodeType="clickPar">
                      <p:stCondLst>
                        <p:cond delay="indefinite"/>
                      </p:stCondLst>
                      <p:childTnLst>
                        <p:par>
                          <p:cTn id="187" fill="hold" nodeType="withGroup">
                            <p:stCondLst>
                              <p:cond delay="0"/>
                            </p:stCondLst>
                            <p:childTnLst>
                              <p:par>
                                <p:cTn id="188" presetID="22" presetClass="entr" presetSubtype="1" fill="hold" nodeType="clickEffect">
                                  <p:stCondLst>
                                    <p:cond delay="0"/>
                                  </p:stCondLst>
                                  <p:childTnLst>
                                    <p:set>
                                      <p:cBhvr>
                                        <p:cTn id="189" dur="1" fill="hold">
                                          <p:stCondLst>
                                            <p:cond delay="0"/>
                                          </p:stCondLst>
                                        </p:cTn>
                                        <p:tgtEl>
                                          <p:spTgt spid="84"/>
                                        </p:tgtEl>
                                        <p:attrNameLst>
                                          <p:attrName>style.visibility</p:attrName>
                                        </p:attrNameLst>
                                      </p:cBhvr>
                                      <p:to>
                                        <p:strVal val="visible"/>
                                      </p:to>
                                    </p:set>
                                    <p:animEffect transition="in" filter="wipe(up)">
                                      <p:cBhvr>
                                        <p:cTn id="190"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P spid="6" grpId="0" animBg="1"/>
      <p:bldP spid="5" grpId="0"/>
      <p:bldP spid="5" grpId="1"/>
      <p:bldP spid="82" grpId="0" animBg="1"/>
      <p:bldP spid="140" grpId="0"/>
      <p:bldP spid="140" grpId="1"/>
      <p:bldP spid="141" grpId="0"/>
      <p:bldP spid="141" grpId="1"/>
      <p:bldP spid="142" grpId="0"/>
      <p:bldP spid="142" grpId="1"/>
      <p:bldP spid="143" grpId="0"/>
      <p:bldP spid="143" grpId="1"/>
      <p:bldP spid="144" grpId="0"/>
      <p:bldP spid="144" grpId="1"/>
      <p:bldP spid="145" grpId="0"/>
      <p:bldP spid="145" grpId="1"/>
      <p:bldP spid="146" grpId="0"/>
      <p:bldP spid="146" grpId="1"/>
      <p:bldP spid="147" grpId="0"/>
      <p:bldP spid="147" grpId="1"/>
      <p:bldP spid="148" grpId="0"/>
      <p:bldP spid="148" grpId="1"/>
      <p:bldP spid="149" grpId="0"/>
      <p:bldP spid="150" grpId="0"/>
      <p:bldP spid="151" grpId="0"/>
      <p:bldP spid="152" grpId="0"/>
      <p:bldP spid="153" grpId="0"/>
      <p:bldP spid="154" grpId="0"/>
      <p:bldP spid="155" grpId="0"/>
      <p:bldP spid="156" grpId="0"/>
      <p:bldP spid="157" grpId="0"/>
      <p:bldP spid="158" grpId="0" animBg="1"/>
      <p:bldP spid="159" grpId="0" animBg="1"/>
      <p:bldP spid="160"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288668" y="1124744"/>
            <a:ext cx="8531803" cy="3046988"/>
          </a:xfrm>
          <a:prstGeom prst="rect">
            <a:avLst/>
          </a:prstGeom>
        </p:spPr>
        <p:txBody>
          <a:bodyPr wrap="square">
            <a:spAutoFit/>
          </a:bodyPr>
          <a:lstStyle/>
          <a:p>
            <a:pPr marL="514350" indent="-514350">
              <a:buFont typeface="+mj-lt"/>
              <a:buAutoNum type="arabicPeriod"/>
            </a:pPr>
            <a:r>
              <a:rPr lang="zh-CN" altLang="en-US" sz="2400" dirty="0"/>
              <a:t>已知一棵二叉树的先序遍历结果是</a:t>
            </a:r>
            <a:r>
              <a:rPr lang="en-US" altLang="zh-CN" sz="2400" dirty="0"/>
              <a:t>ABC,</a:t>
            </a:r>
            <a:r>
              <a:rPr lang="zh-CN" altLang="en-US" sz="2400" dirty="0"/>
              <a:t>　则</a:t>
            </a:r>
            <a:r>
              <a:rPr lang="en-US" altLang="zh-CN" sz="2400" dirty="0"/>
              <a:t>CAB</a:t>
            </a:r>
            <a:r>
              <a:rPr lang="zh-CN" altLang="en-US" sz="2400" dirty="0"/>
              <a:t>不可能是中序遍历结果。（         ）</a:t>
            </a:r>
          </a:p>
          <a:p>
            <a:pPr marL="514350" indent="-514350">
              <a:buFont typeface="+mj-lt"/>
              <a:buAutoNum type="arabicPeriod"/>
            </a:pPr>
            <a:r>
              <a:rPr lang="zh-CN" altLang="en-US" sz="2400" dirty="0"/>
              <a:t>某二叉树的后序和中序遍历序列正好一样，则该二叉树中的任何结点一定都无左孩子。（         ）</a:t>
            </a:r>
          </a:p>
          <a:p>
            <a:pPr marL="514350" indent="-514350">
              <a:buFont typeface="+mj-lt"/>
              <a:buAutoNum type="arabicPeriod"/>
            </a:pPr>
            <a:r>
              <a:rPr lang="zh-CN" altLang="en-US" sz="2400" dirty="0"/>
              <a:t>某二叉树的后序和中序遍历序列正好一样，则该二叉树中的任何结点一定都无右孩子。（         ）</a:t>
            </a:r>
          </a:p>
          <a:p>
            <a:pPr marL="514350" indent="-514350">
              <a:buFont typeface="+mj-lt"/>
              <a:buAutoNum type="arabicPeriod"/>
            </a:pPr>
            <a:r>
              <a:rPr lang="zh-CN" altLang="en-US" sz="2400" dirty="0"/>
              <a:t>某二叉树的前序和中序遍历序列正好一样，则该二叉树中的任何结点一定都无左孩子。（         ）</a:t>
            </a:r>
          </a:p>
        </p:txBody>
      </p:sp>
      <p:sp>
        <p:nvSpPr>
          <p:cNvPr id="3" name="TextBox 2"/>
          <p:cNvSpPr txBox="1"/>
          <p:nvPr/>
        </p:nvSpPr>
        <p:spPr>
          <a:xfrm>
            <a:off x="1043608" y="240178"/>
            <a:ext cx="1266693" cy="523220"/>
          </a:xfrm>
          <a:prstGeom prst="rect">
            <a:avLst/>
          </a:prstGeom>
          <a:noFill/>
        </p:spPr>
        <p:txBody>
          <a:bodyPr wrap="none" rtlCol="0">
            <a:spAutoFit/>
          </a:bodyPr>
          <a:lstStyle/>
          <a:p>
            <a:r>
              <a:rPr lang="zh-CN" altLang="en-US" dirty="0" smtClean="0">
                <a:solidFill>
                  <a:srgbClr val="FFFF00"/>
                </a:solidFill>
              </a:rPr>
              <a:t>判断题</a:t>
            </a:r>
            <a:endParaRPr lang="zh-CN" altLang="en-US" dirty="0">
              <a:solidFill>
                <a:srgbClr val="FFFF00"/>
              </a:solidFill>
            </a:endParaRPr>
          </a:p>
        </p:txBody>
      </p:sp>
    </p:spTree>
    <p:extLst>
      <p:ext uri="{BB962C8B-B14F-4D97-AF65-F5344CB8AC3E}">
        <p14:creationId xmlns:p14="http://schemas.microsoft.com/office/powerpoint/2010/main" val="844007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barn(inVertical)">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fade">
                                      <p:cBhvr>
                                        <p:cTn id="12" dur="1000"/>
                                        <p:tgtEl>
                                          <p:spTgt spid="2">
                                            <p:txEl>
                                              <p:pRg st="1" end="1"/>
                                            </p:txEl>
                                          </p:spTgt>
                                        </p:tgtEl>
                                      </p:cBhvr>
                                    </p:animEffect>
                                    <p:anim calcmode="lin" valueType="num">
                                      <p:cBhvr>
                                        <p:cTn id="13"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4"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4" presetClass="entr" presetSubtype="10" fill="hold" nodeType="clickEffect">
                                  <p:stCondLst>
                                    <p:cond delay="0"/>
                                  </p:stCondLst>
                                  <p:childTnLst>
                                    <p:set>
                                      <p:cBhvr>
                                        <p:cTn id="18" dur="1" fill="hold">
                                          <p:stCondLst>
                                            <p:cond delay="0"/>
                                          </p:stCondLst>
                                        </p:cTn>
                                        <p:tgtEl>
                                          <p:spTgt spid="2">
                                            <p:txEl>
                                              <p:pRg st="2" end="2"/>
                                            </p:txEl>
                                          </p:spTgt>
                                        </p:tgtEl>
                                        <p:attrNameLst>
                                          <p:attrName>style.visibility</p:attrName>
                                        </p:attrNameLst>
                                      </p:cBhvr>
                                      <p:to>
                                        <p:strVal val="visible"/>
                                      </p:to>
                                    </p:set>
                                    <p:animEffect transition="in" filter="randombar(horizontal)">
                                      <p:cBhvr>
                                        <p:cTn id="19" dur="500"/>
                                        <p:tgtEl>
                                          <p:spTgt spid="2">
                                            <p:txEl>
                                              <p:pRg st="2" end="2"/>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nodeType="clickEffect">
                                  <p:stCondLst>
                                    <p:cond delay="0"/>
                                  </p:stCondLst>
                                  <p:childTnLst>
                                    <p:set>
                                      <p:cBhvr>
                                        <p:cTn id="23" dur="1" fill="hold">
                                          <p:stCondLst>
                                            <p:cond delay="0"/>
                                          </p:stCondLst>
                                        </p:cTn>
                                        <p:tgtEl>
                                          <p:spTgt spid="2">
                                            <p:txEl>
                                              <p:pRg st="3" end="3"/>
                                            </p:txEl>
                                          </p:spTgt>
                                        </p:tgtEl>
                                        <p:attrNameLst>
                                          <p:attrName>style.visibility</p:attrName>
                                        </p:attrNameLst>
                                      </p:cBhvr>
                                      <p:to>
                                        <p:strVal val="visible"/>
                                      </p:to>
                                    </p:set>
                                    <p:anim calcmode="lin" valueType="num">
                                      <p:cBhvr>
                                        <p:cTn id="24" dur="500" fill="hold"/>
                                        <p:tgtEl>
                                          <p:spTgt spid="2">
                                            <p:txEl>
                                              <p:pRg st="3" end="3"/>
                                            </p:txEl>
                                          </p:spTgt>
                                        </p:tgtEl>
                                        <p:attrNameLst>
                                          <p:attrName>ppt_w</p:attrName>
                                        </p:attrNameLst>
                                      </p:cBhvr>
                                      <p:tavLst>
                                        <p:tav tm="0">
                                          <p:val>
                                            <p:fltVal val="0"/>
                                          </p:val>
                                        </p:tav>
                                        <p:tav tm="100000">
                                          <p:val>
                                            <p:strVal val="#ppt_w"/>
                                          </p:val>
                                        </p:tav>
                                      </p:tavLst>
                                    </p:anim>
                                    <p:anim calcmode="lin" valueType="num">
                                      <p:cBhvr>
                                        <p:cTn id="25" dur="500" fill="hold"/>
                                        <p:tgtEl>
                                          <p:spTgt spid="2">
                                            <p:txEl>
                                              <p:pRg st="3" end="3"/>
                                            </p:txEl>
                                          </p:spTgt>
                                        </p:tgtEl>
                                        <p:attrNameLst>
                                          <p:attrName>ppt_h</p:attrName>
                                        </p:attrNameLst>
                                      </p:cBhvr>
                                      <p:tavLst>
                                        <p:tav tm="0">
                                          <p:val>
                                            <p:fltVal val="0"/>
                                          </p:val>
                                        </p:tav>
                                        <p:tav tm="100000">
                                          <p:val>
                                            <p:strVal val="#ppt_h"/>
                                          </p:val>
                                        </p:tav>
                                      </p:tavLst>
                                    </p:anim>
                                    <p:animEffect transition="in" filter="fade">
                                      <p:cBhvr>
                                        <p:cTn id="26" dur="500"/>
                                        <p:tgtEl>
                                          <p:spTgt spid="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矩形 2"/>
          <p:cNvSpPr/>
          <p:nvPr/>
        </p:nvSpPr>
        <p:spPr>
          <a:xfrm>
            <a:off x="1588" y="3060700"/>
            <a:ext cx="9144000" cy="3608388"/>
          </a:xfrm>
          <a:prstGeom prst="rect">
            <a:avLst/>
          </a:prstGeom>
          <a:solidFill>
            <a:srgbClr val="E2D9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grpSp>
        <p:nvGrpSpPr>
          <p:cNvPr id="2" name="Group 60"/>
          <p:cNvGrpSpPr/>
          <p:nvPr/>
        </p:nvGrpSpPr>
        <p:grpSpPr>
          <a:xfrm>
            <a:off x="1177925" y="3213100"/>
            <a:ext cx="6346825" cy="3200400"/>
            <a:chOff x="652" y="1345"/>
            <a:chExt cx="3998" cy="2016"/>
          </a:xfrm>
        </p:grpSpPr>
        <p:grpSp>
          <p:nvGrpSpPr>
            <p:cNvPr id="65542" name="Group 3"/>
            <p:cNvGrpSpPr/>
            <p:nvPr/>
          </p:nvGrpSpPr>
          <p:grpSpPr>
            <a:xfrm>
              <a:off x="3628" y="1585"/>
              <a:ext cx="1022" cy="1672"/>
              <a:chOff x="703" y="2015"/>
              <a:chExt cx="1022" cy="1672"/>
            </a:xfrm>
          </p:grpSpPr>
          <p:sp>
            <p:nvSpPr>
              <p:cNvPr id="62468" name="Oval 4"/>
              <p:cNvSpPr>
                <a:spLocks noChangeArrowheads="1"/>
              </p:cNvSpPr>
              <p:nvPr/>
            </p:nvSpPr>
            <p:spPr bwMode="auto">
              <a:xfrm>
                <a:off x="1222" y="2015"/>
                <a:ext cx="255" cy="224"/>
              </a:xfrm>
              <a:prstGeom prst="ellipse">
                <a:avLst/>
              </a:prstGeom>
              <a:solidFill>
                <a:schemeClr val="accent1">
                  <a:lumMod val="60000"/>
                  <a:lumOff val="40000"/>
                </a:schemeClr>
              </a:solidFill>
              <a:ln w="2857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a:t>
                </a:r>
              </a:p>
            </p:txBody>
          </p:sp>
          <p:sp>
            <p:nvSpPr>
              <p:cNvPr id="62469" name="Oval 5"/>
              <p:cNvSpPr>
                <a:spLocks noChangeArrowheads="1"/>
              </p:cNvSpPr>
              <p:nvPr/>
            </p:nvSpPr>
            <p:spPr bwMode="auto">
              <a:xfrm>
                <a:off x="974" y="2367"/>
                <a:ext cx="255" cy="224"/>
              </a:xfrm>
              <a:prstGeom prst="ellipse">
                <a:avLst/>
              </a:prstGeom>
              <a:solidFill>
                <a:schemeClr val="accent1">
                  <a:lumMod val="60000"/>
                  <a:lumOff val="40000"/>
                </a:schemeClr>
              </a:solidFill>
              <a:ln w="2857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62470" name="Oval 6"/>
              <p:cNvSpPr>
                <a:spLocks noChangeArrowheads="1"/>
              </p:cNvSpPr>
              <p:nvPr/>
            </p:nvSpPr>
            <p:spPr bwMode="auto">
              <a:xfrm>
                <a:off x="703" y="2729"/>
                <a:ext cx="255" cy="224"/>
              </a:xfrm>
              <a:prstGeom prst="ellipse">
                <a:avLst/>
              </a:prstGeom>
              <a:solidFill>
                <a:schemeClr val="accent1">
                  <a:lumMod val="60000"/>
                  <a:lumOff val="40000"/>
                </a:schemeClr>
              </a:solidFill>
              <a:ln w="2857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C</a:t>
                </a:r>
              </a:p>
            </p:txBody>
          </p:sp>
          <p:sp>
            <p:nvSpPr>
              <p:cNvPr id="62471" name="Oval 7"/>
              <p:cNvSpPr>
                <a:spLocks noChangeArrowheads="1"/>
              </p:cNvSpPr>
              <p:nvPr/>
            </p:nvSpPr>
            <p:spPr bwMode="auto">
              <a:xfrm>
                <a:off x="1215" y="2729"/>
                <a:ext cx="255" cy="224"/>
              </a:xfrm>
              <a:prstGeom prst="ellipse">
                <a:avLst/>
              </a:prstGeom>
              <a:solidFill>
                <a:schemeClr val="accent1">
                  <a:lumMod val="60000"/>
                  <a:lumOff val="40000"/>
                </a:schemeClr>
              </a:solidFill>
              <a:ln w="2857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D</a:t>
                </a:r>
              </a:p>
            </p:txBody>
          </p:sp>
          <p:sp>
            <p:nvSpPr>
              <p:cNvPr id="62472" name="Oval 8"/>
              <p:cNvSpPr>
                <a:spLocks noChangeArrowheads="1"/>
              </p:cNvSpPr>
              <p:nvPr/>
            </p:nvSpPr>
            <p:spPr bwMode="auto">
              <a:xfrm>
                <a:off x="1015" y="3051"/>
                <a:ext cx="255" cy="235"/>
              </a:xfrm>
              <a:prstGeom prst="ellipse">
                <a:avLst/>
              </a:prstGeom>
              <a:solidFill>
                <a:schemeClr val="accent1">
                  <a:lumMod val="60000"/>
                  <a:lumOff val="40000"/>
                </a:schemeClr>
              </a:solidFill>
              <a:ln w="2857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E</a:t>
                </a:r>
              </a:p>
            </p:txBody>
          </p:sp>
          <p:sp>
            <p:nvSpPr>
              <p:cNvPr id="62473" name="Oval 9"/>
              <p:cNvSpPr>
                <a:spLocks noChangeArrowheads="1"/>
              </p:cNvSpPr>
              <p:nvPr/>
            </p:nvSpPr>
            <p:spPr bwMode="auto">
              <a:xfrm>
                <a:off x="1470" y="3051"/>
                <a:ext cx="255" cy="224"/>
              </a:xfrm>
              <a:prstGeom prst="ellipse">
                <a:avLst/>
              </a:prstGeom>
              <a:solidFill>
                <a:schemeClr val="accent1">
                  <a:lumMod val="60000"/>
                  <a:lumOff val="40000"/>
                </a:schemeClr>
              </a:solidFill>
              <a:ln w="2857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F</a:t>
                </a:r>
              </a:p>
            </p:txBody>
          </p:sp>
          <p:sp>
            <p:nvSpPr>
              <p:cNvPr id="62474" name="Oval 10"/>
              <p:cNvSpPr>
                <a:spLocks noChangeArrowheads="1"/>
              </p:cNvSpPr>
              <p:nvPr/>
            </p:nvSpPr>
            <p:spPr bwMode="auto">
              <a:xfrm>
                <a:off x="1225" y="3463"/>
                <a:ext cx="255" cy="224"/>
              </a:xfrm>
              <a:prstGeom prst="ellipse">
                <a:avLst/>
              </a:prstGeom>
              <a:solidFill>
                <a:schemeClr val="accent1">
                  <a:lumMod val="60000"/>
                  <a:lumOff val="40000"/>
                </a:schemeClr>
              </a:solidFill>
              <a:ln w="2857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G</a:t>
                </a:r>
              </a:p>
            </p:txBody>
          </p:sp>
          <p:sp>
            <p:nvSpPr>
              <p:cNvPr id="62475" name="Line 11"/>
              <p:cNvSpPr>
                <a:spLocks noChangeShapeType="1"/>
              </p:cNvSpPr>
              <p:nvPr/>
            </p:nvSpPr>
            <p:spPr bwMode="auto">
              <a:xfrm flipH="1">
                <a:off x="1156" y="2200"/>
                <a:ext cx="111" cy="190"/>
              </a:xfrm>
              <a:prstGeom prst="line">
                <a:avLst/>
              </a:prstGeom>
              <a:noFill/>
              <a:ln w="28575">
                <a:solidFill>
                  <a:srgbClr val="FF00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476" name="Line 12"/>
              <p:cNvSpPr>
                <a:spLocks noChangeShapeType="1"/>
              </p:cNvSpPr>
              <p:nvPr/>
            </p:nvSpPr>
            <p:spPr bwMode="auto">
              <a:xfrm flipH="1">
                <a:off x="911" y="2566"/>
                <a:ext cx="122" cy="189"/>
              </a:xfrm>
              <a:prstGeom prst="line">
                <a:avLst/>
              </a:prstGeom>
              <a:noFill/>
              <a:ln w="28575">
                <a:solidFill>
                  <a:srgbClr val="FF00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477" name="Line 13"/>
              <p:cNvSpPr>
                <a:spLocks noChangeShapeType="1"/>
              </p:cNvSpPr>
              <p:nvPr/>
            </p:nvSpPr>
            <p:spPr bwMode="auto">
              <a:xfrm>
                <a:off x="1189" y="2566"/>
                <a:ext cx="133" cy="189"/>
              </a:xfrm>
              <a:prstGeom prst="line">
                <a:avLst/>
              </a:prstGeom>
              <a:noFill/>
              <a:ln w="28575">
                <a:solidFill>
                  <a:srgbClr val="FF00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478" name="Line 14"/>
              <p:cNvSpPr>
                <a:spLocks noChangeShapeType="1"/>
              </p:cNvSpPr>
              <p:nvPr/>
            </p:nvSpPr>
            <p:spPr bwMode="auto">
              <a:xfrm flipH="1">
                <a:off x="1211" y="2955"/>
                <a:ext cx="78" cy="145"/>
              </a:xfrm>
              <a:prstGeom prst="line">
                <a:avLst/>
              </a:prstGeom>
              <a:noFill/>
              <a:ln w="28575">
                <a:solidFill>
                  <a:srgbClr val="FF00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479" name="Line 15"/>
              <p:cNvSpPr>
                <a:spLocks noChangeShapeType="1"/>
              </p:cNvSpPr>
              <p:nvPr/>
            </p:nvSpPr>
            <p:spPr bwMode="auto">
              <a:xfrm>
                <a:off x="1411" y="2933"/>
                <a:ext cx="112" cy="145"/>
              </a:xfrm>
              <a:prstGeom prst="line">
                <a:avLst/>
              </a:prstGeom>
              <a:noFill/>
              <a:ln w="28575">
                <a:solidFill>
                  <a:srgbClr val="FF00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480" name="Line 16"/>
              <p:cNvSpPr>
                <a:spLocks noChangeShapeType="1"/>
              </p:cNvSpPr>
              <p:nvPr/>
            </p:nvSpPr>
            <p:spPr bwMode="auto">
              <a:xfrm>
                <a:off x="1178" y="3277"/>
                <a:ext cx="133" cy="189"/>
              </a:xfrm>
              <a:prstGeom prst="line">
                <a:avLst/>
              </a:prstGeom>
              <a:noFill/>
              <a:ln w="28575">
                <a:solidFill>
                  <a:srgbClr val="FF00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65543" name="Group 17"/>
            <p:cNvGrpSpPr/>
            <p:nvPr/>
          </p:nvGrpSpPr>
          <p:grpSpPr>
            <a:xfrm>
              <a:off x="652" y="1345"/>
              <a:ext cx="2304" cy="2016"/>
              <a:chOff x="2540" y="1367"/>
              <a:chExt cx="2223" cy="2592"/>
            </a:xfrm>
          </p:grpSpPr>
          <p:grpSp>
            <p:nvGrpSpPr>
              <p:cNvPr id="65544" name="Group 18"/>
              <p:cNvGrpSpPr/>
              <p:nvPr/>
            </p:nvGrpSpPr>
            <p:grpSpPr>
              <a:xfrm>
                <a:off x="2540" y="1809"/>
                <a:ext cx="2223" cy="2150"/>
                <a:chOff x="1873" y="1821"/>
                <a:chExt cx="2223" cy="2150"/>
              </a:xfrm>
            </p:grpSpPr>
            <p:grpSp>
              <p:nvGrpSpPr>
                <p:cNvPr id="65548" name="Group 19"/>
                <p:cNvGrpSpPr/>
                <p:nvPr/>
              </p:nvGrpSpPr>
              <p:grpSpPr>
                <a:xfrm>
                  <a:off x="2622" y="1821"/>
                  <a:ext cx="778" cy="256"/>
                  <a:chOff x="1700" y="2033"/>
                  <a:chExt cx="778" cy="256"/>
                </a:xfrm>
              </p:grpSpPr>
              <p:sp>
                <p:nvSpPr>
                  <p:cNvPr id="62484" name="Rectangle 20"/>
                  <p:cNvSpPr>
                    <a:spLocks noChangeArrowheads="1"/>
                  </p:cNvSpPr>
                  <p:nvPr/>
                </p:nvSpPr>
                <p:spPr bwMode="auto">
                  <a:xfrm>
                    <a:off x="1700" y="2033"/>
                    <a:ext cx="782" cy="256"/>
                  </a:xfrm>
                  <a:prstGeom prst="rect">
                    <a:avLst/>
                  </a:prstGeom>
                  <a:solidFill>
                    <a:schemeClr val="accent1">
                      <a:lumMod val="60000"/>
                      <a:lumOff val="40000"/>
                    </a:schemeClr>
                  </a:solidFill>
                  <a:ln w="28575">
                    <a:solidFill>
                      <a:schemeClr val="tx1"/>
                    </a:solid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    ^   </a:t>
                    </a:r>
                  </a:p>
                </p:txBody>
              </p:sp>
              <p:sp>
                <p:nvSpPr>
                  <p:cNvPr id="62485" name="Line 21"/>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486" name="Line 22"/>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65549" name="Group 23"/>
                <p:cNvGrpSpPr/>
                <p:nvPr/>
              </p:nvGrpSpPr>
              <p:grpSpPr>
                <a:xfrm>
                  <a:off x="2152" y="2229"/>
                  <a:ext cx="778" cy="256"/>
                  <a:chOff x="1700" y="2033"/>
                  <a:chExt cx="778" cy="256"/>
                </a:xfrm>
              </p:grpSpPr>
              <p:sp>
                <p:nvSpPr>
                  <p:cNvPr id="62488" name="Rectangle 24"/>
                  <p:cNvSpPr>
                    <a:spLocks noChangeArrowheads="1"/>
                  </p:cNvSpPr>
                  <p:nvPr/>
                </p:nvSpPr>
                <p:spPr bwMode="auto">
                  <a:xfrm>
                    <a:off x="1700" y="2033"/>
                    <a:ext cx="782" cy="256"/>
                  </a:xfrm>
                  <a:prstGeom prst="rect">
                    <a:avLst/>
                  </a:prstGeom>
                  <a:solidFill>
                    <a:schemeClr val="accent1">
                      <a:lumMod val="60000"/>
                      <a:lumOff val="40000"/>
                    </a:schemeClr>
                  </a:solidFill>
                  <a:ln w="28575">
                    <a:solidFill>
                      <a:schemeClr val="tx1"/>
                    </a:solid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62489" name="Line 25"/>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490" name="Line 26"/>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65550" name="Group 27"/>
                <p:cNvGrpSpPr/>
                <p:nvPr/>
              </p:nvGrpSpPr>
              <p:grpSpPr>
                <a:xfrm>
                  <a:off x="1873" y="2729"/>
                  <a:ext cx="778" cy="256"/>
                  <a:chOff x="1700" y="2033"/>
                  <a:chExt cx="778" cy="256"/>
                </a:xfrm>
              </p:grpSpPr>
              <p:sp>
                <p:nvSpPr>
                  <p:cNvPr id="62492" name="Rectangle 28"/>
                  <p:cNvSpPr>
                    <a:spLocks noChangeArrowheads="1"/>
                  </p:cNvSpPr>
                  <p:nvPr/>
                </p:nvSpPr>
                <p:spPr bwMode="auto">
                  <a:xfrm>
                    <a:off x="1700" y="2033"/>
                    <a:ext cx="778" cy="256"/>
                  </a:xfrm>
                  <a:prstGeom prst="rect">
                    <a:avLst/>
                  </a:prstGeom>
                  <a:solidFill>
                    <a:schemeClr val="accent1">
                      <a:lumMod val="60000"/>
                      <a:lumOff val="40000"/>
                    </a:schemeClr>
                  </a:solidFill>
                  <a:ln w="28575">
                    <a:solidFill>
                      <a:schemeClr val="tx1"/>
                    </a:solid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    C    ^</a:t>
                    </a:r>
                  </a:p>
                </p:txBody>
              </p:sp>
              <p:sp>
                <p:nvSpPr>
                  <p:cNvPr id="62493" name="Line 29"/>
                  <p:cNvSpPr>
                    <a:spLocks noChangeShapeType="1"/>
                  </p:cNvSpPr>
                  <p:nvPr/>
                </p:nvSpPr>
                <p:spPr bwMode="auto">
                  <a:xfrm>
                    <a:off x="1933"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494" name="Line 30"/>
                  <p:cNvSpPr>
                    <a:spLocks noChangeShapeType="1"/>
                  </p:cNvSpPr>
                  <p:nvPr/>
                </p:nvSpPr>
                <p:spPr bwMode="auto">
                  <a:xfrm>
                    <a:off x="2208"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65551" name="Group 31"/>
                <p:cNvGrpSpPr/>
                <p:nvPr/>
              </p:nvGrpSpPr>
              <p:grpSpPr>
                <a:xfrm>
                  <a:off x="2830" y="2728"/>
                  <a:ext cx="778" cy="256"/>
                  <a:chOff x="1700" y="2033"/>
                  <a:chExt cx="778" cy="256"/>
                </a:xfrm>
              </p:grpSpPr>
              <p:sp>
                <p:nvSpPr>
                  <p:cNvPr id="62496" name="Rectangle 32"/>
                  <p:cNvSpPr>
                    <a:spLocks noChangeArrowheads="1"/>
                  </p:cNvSpPr>
                  <p:nvPr/>
                </p:nvSpPr>
                <p:spPr bwMode="auto">
                  <a:xfrm>
                    <a:off x="1700" y="2033"/>
                    <a:ext cx="778" cy="256"/>
                  </a:xfrm>
                  <a:prstGeom prst="rect">
                    <a:avLst/>
                  </a:prstGeom>
                  <a:solidFill>
                    <a:schemeClr val="accent1">
                      <a:lumMod val="60000"/>
                      <a:lumOff val="40000"/>
                    </a:schemeClr>
                  </a:solidFill>
                  <a:ln w="28575">
                    <a:solidFill>
                      <a:schemeClr val="tx1"/>
                    </a:solid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D</a:t>
                    </a:r>
                  </a:p>
                </p:txBody>
              </p:sp>
              <p:sp>
                <p:nvSpPr>
                  <p:cNvPr id="62497" name="Line 33"/>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498" name="Line 34"/>
                  <p:cNvSpPr>
                    <a:spLocks noChangeShapeType="1"/>
                  </p:cNvSpPr>
                  <p:nvPr/>
                </p:nvSpPr>
                <p:spPr bwMode="auto">
                  <a:xfrm>
                    <a:off x="2211"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65552" name="Group 35"/>
                <p:cNvGrpSpPr/>
                <p:nvPr/>
              </p:nvGrpSpPr>
              <p:grpSpPr>
                <a:xfrm>
                  <a:off x="2385" y="3238"/>
                  <a:ext cx="778" cy="256"/>
                  <a:chOff x="1700" y="2033"/>
                  <a:chExt cx="778" cy="256"/>
                </a:xfrm>
              </p:grpSpPr>
              <p:sp>
                <p:nvSpPr>
                  <p:cNvPr id="62500" name="Rectangle 36"/>
                  <p:cNvSpPr>
                    <a:spLocks noChangeArrowheads="1"/>
                  </p:cNvSpPr>
                  <p:nvPr/>
                </p:nvSpPr>
                <p:spPr bwMode="auto">
                  <a:xfrm>
                    <a:off x="1700" y="2033"/>
                    <a:ext cx="778" cy="256"/>
                  </a:xfrm>
                  <a:prstGeom prst="rect">
                    <a:avLst/>
                  </a:prstGeom>
                  <a:solidFill>
                    <a:schemeClr val="accent1">
                      <a:lumMod val="60000"/>
                      <a:lumOff val="40000"/>
                    </a:schemeClr>
                  </a:solidFill>
                  <a:ln w="28575">
                    <a:solidFill>
                      <a:schemeClr val="tx1"/>
                    </a:solid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    E</a:t>
                    </a:r>
                  </a:p>
                </p:txBody>
              </p:sp>
              <p:sp>
                <p:nvSpPr>
                  <p:cNvPr id="62501" name="Line 37"/>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502" name="Line 38"/>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65553" name="Group 39"/>
                <p:cNvGrpSpPr/>
                <p:nvPr/>
              </p:nvGrpSpPr>
              <p:grpSpPr>
                <a:xfrm>
                  <a:off x="3318" y="3228"/>
                  <a:ext cx="778" cy="256"/>
                  <a:chOff x="1700" y="2033"/>
                  <a:chExt cx="778" cy="256"/>
                </a:xfrm>
              </p:grpSpPr>
              <p:sp>
                <p:nvSpPr>
                  <p:cNvPr id="62504" name="Rectangle 40"/>
                  <p:cNvSpPr>
                    <a:spLocks noChangeArrowheads="1"/>
                  </p:cNvSpPr>
                  <p:nvPr/>
                </p:nvSpPr>
                <p:spPr bwMode="auto">
                  <a:xfrm>
                    <a:off x="1700" y="2033"/>
                    <a:ext cx="778" cy="256"/>
                  </a:xfrm>
                  <a:prstGeom prst="rect">
                    <a:avLst/>
                  </a:prstGeom>
                  <a:solidFill>
                    <a:schemeClr val="accent1">
                      <a:lumMod val="60000"/>
                      <a:lumOff val="40000"/>
                    </a:schemeClr>
                  </a:solidFill>
                  <a:ln w="28575">
                    <a:solidFill>
                      <a:schemeClr val="tx1"/>
                    </a:solid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     F   ^</a:t>
                    </a:r>
                  </a:p>
                </p:txBody>
              </p:sp>
              <p:sp>
                <p:nvSpPr>
                  <p:cNvPr id="62505" name="Line 41"/>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506" name="Line 42"/>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65554" name="Group 43"/>
                <p:cNvGrpSpPr/>
                <p:nvPr/>
              </p:nvGrpSpPr>
              <p:grpSpPr>
                <a:xfrm>
                  <a:off x="2850" y="3715"/>
                  <a:ext cx="778" cy="256"/>
                  <a:chOff x="1700" y="2033"/>
                  <a:chExt cx="778" cy="256"/>
                </a:xfrm>
              </p:grpSpPr>
              <p:sp>
                <p:nvSpPr>
                  <p:cNvPr id="62508" name="Rectangle 44"/>
                  <p:cNvSpPr>
                    <a:spLocks noChangeArrowheads="1"/>
                  </p:cNvSpPr>
                  <p:nvPr/>
                </p:nvSpPr>
                <p:spPr bwMode="auto">
                  <a:xfrm>
                    <a:off x="1700" y="2033"/>
                    <a:ext cx="778" cy="256"/>
                  </a:xfrm>
                  <a:prstGeom prst="rect">
                    <a:avLst/>
                  </a:prstGeom>
                  <a:solidFill>
                    <a:schemeClr val="accent1">
                      <a:lumMod val="60000"/>
                      <a:lumOff val="40000"/>
                    </a:schemeClr>
                  </a:solidFill>
                  <a:ln w="28575">
                    <a:solidFill>
                      <a:schemeClr val="tx1"/>
                    </a:solid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    G     ^</a:t>
                    </a:r>
                  </a:p>
                </p:txBody>
              </p:sp>
              <p:sp>
                <p:nvSpPr>
                  <p:cNvPr id="62509" name="Line 45"/>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510" name="Line 46"/>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62511" name="Line 47"/>
                <p:cNvSpPr>
                  <a:spLocks noChangeShapeType="1"/>
                </p:cNvSpPr>
                <p:nvPr/>
              </p:nvSpPr>
              <p:spPr bwMode="auto">
                <a:xfrm flipH="1">
                  <a:off x="2567" y="2000"/>
                  <a:ext cx="150" cy="233"/>
                </a:xfrm>
                <a:prstGeom prst="line">
                  <a:avLst/>
                </a:prstGeom>
                <a:noFill/>
                <a:ln w="28575">
                  <a:solidFill>
                    <a:srgbClr val="FF00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512" name="Line 48"/>
                <p:cNvSpPr>
                  <a:spLocks noChangeShapeType="1"/>
                </p:cNvSpPr>
                <p:nvPr/>
              </p:nvSpPr>
              <p:spPr bwMode="auto">
                <a:xfrm flipH="1">
                  <a:off x="2167" y="2433"/>
                  <a:ext cx="111" cy="300"/>
                </a:xfrm>
                <a:prstGeom prst="line">
                  <a:avLst/>
                </a:prstGeom>
                <a:noFill/>
                <a:ln w="28575">
                  <a:solidFill>
                    <a:srgbClr val="FF00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513" name="Line 49"/>
                <p:cNvSpPr>
                  <a:spLocks noChangeShapeType="1"/>
                </p:cNvSpPr>
                <p:nvPr/>
              </p:nvSpPr>
              <p:spPr bwMode="auto">
                <a:xfrm>
                  <a:off x="2834" y="2400"/>
                  <a:ext cx="322" cy="333"/>
                </a:xfrm>
                <a:prstGeom prst="line">
                  <a:avLst/>
                </a:prstGeom>
                <a:noFill/>
                <a:ln w="28575">
                  <a:solidFill>
                    <a:srgbClr val="FF00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514" name="Line 50"/>
                <p:cNvSpPr>
                  <a:spLocks noChangeShapeType="1"/>
                </p:cNvSpPr>
                <p:nvPr/>
              </p:nvSpPr>
              <p:spPr bwMode="auto">
                <a:xfrm flipH="1">
                  <a:off x="2767" y="2878"/>
                  <a:ext cx="178" cy="355"/>
                </a:xfrm>
                <a:prstGeom prst="line">
                  <a:avLst/>
                </a:prstGeom>
                <a:noFill/>
                <a:ln w="28575">
                  <a:solidFill>
                    <a:srgbClr val="FF00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515" name="Line 51"/>
                <p:cNvSpPr>
                  <a:spLocks noChangeShapeType="1"/>
                </p:cNvSpPr>
                <p:nvPr/>
              </p:nvSpPr>
              <p:spPr bwMode="auto">
                <a:xfrm>
                  <a:off x="3467" y="2878"/>
                  <a:ext cx="200" cy="355"/>
                </a:xfrm>
                <a:prstGeom prst="line">
                  <a:avLst/>
                </a:prstGeom>
                <a:noFill/>
                <a:ln w="28575">
                  <a:solidFill>
                    <a:srgbClr val="FF00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516" name="Line 52"/>
                <p:cNvSpPr>
                  <a:spLocks noChangeShapeType="1"/>
                </p:cNvSpPr>
                <p:nvPr/>
              </p:nvSpPr>
              <p:spPr bwMode="auto">
                <a:xfrm>
                  <a:off x="3000" y="3434"/>
                  <a:ext cx="200" cy="288"/>
                </a:xfrm>
                <a:prstGeom prst="line">
                  <a:avLst/>
                </a:prstGeom>
                <a:noFill/>
                <a:ln w="28575">
                  <a:solidFill>
                    <a:srgbClr val="FF00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65545" name="Group 53"/>
              <p:cNvGrpSpPr/>
              <p:nvPr/>
            </p:nvGrpSpPr>
            <p:grpSpPr>
              <a:xfrm>
                <a:off x="3445" y="1367"/>
                <a:ext cx="211" cy="444"/>
                <a:chOff x="3445" y="1367"/>
                <a:chExt cx="211" cy="444"/>
              </a:xfrm>
            </p:grpSpPr>
            <p:sp>
              <p:nvSpPr>
                <p:cNvPr id="62518" name="Freeform 54"/>
                <p:cNvSpPr>
                  <a:spLocks noChangeArrowheads="1"/>
                </p:cNvSpPr>
                <p:nvPr/>
              </p:nvSpPr>
              <p:spPr bwMode="auto">
                <a:xfrm>
                  <a:off x="3445" y="1367"/>
                  <a:ext cx="72" cy="222"/>
                </a:xfrm>
                <a:custGeom>
                  <a:avLst/>
                  <a:gdLst>
                    <a:gd name="T0" fmla="*/ 33 w 94"/>
                    <a:gd name="T1" fmla="*/ 0 h 233"/>
                    <a:gd name="T2" fmla="*/ 89 w 94"/>
                    <a:gd name="T3" fmla="*/ 111 h 233"/>
                    <a:gd name="T4" fmla="*/ 0 w 94"/>
                    <a:gd name="T5" fmla="*/ 233 h 233"/>
                  </a:gdLst>
                  <a:ahLst/>
                  <a:cxnLst>
                    <a:cxn ang="0">
                      <a:pos x="T0" y="T1"/>
                    </a:cxn>
                    <a:cxn ang="0">
                      <a:pos x="T2" y="T3"/>
                    </a:cxn>
                    <a:cxn ang="0">
                      <a:pos x="T4" y="T5"/>
                    </a:cxn>
                  </a:cxnLst>
                  <a:rect l="0" t="0" r="r" b="b"/>
                  <a:pathLst>
                    <a:path w="94" h="233">
                      <a:moveTo>
                        <a:pt x="33" y="0"/>
                      </a:moveTo>
                      <a:cubicBezTo>
                        <a:pt x="63" y="36"/>
                        <a:pt x="94" y="72"/>
                        <a:pt x="89" y="111"/>
                      </a:cubicBezTo>
                      <a:cubicBezTo>
                        <a:pt x="84" y="150"/>
                        <a:pt x="19" y="218"/>
                        <a:pt x="0" y="233"/>
                      </a:cubicBezTo>
                    </a:path>
                  </a:pathLst>
                </a:cu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62519" name="Line 55"/>
                <p:cNvSpPr>
                  <a:spLocks noChangeShapeType="1"/>
                </p:cNvSpPr>
                <p:nvPr/>
              </p:nvSpPr>
              <p:spPr bwMode="auto">
                <a:xfrm>
                  <a:off x="3456" y="1589"/>
                  <a:ext cx="206" cy="219"/>
                </a:xfrm>
                <a:prstGeom prst="line">
                  <a:avLst/>
                </a:prstGeom>
                <a:noFill/>
                <a:ln w="28575">
                  <a:solidFill>
                    <a:srgbClr val="FF00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grpSp>
      <p:sp>
        <p:nvSpPr>
          <p:cNvPr id="62520" name="Rectangle 56"/>
          <p:cNvSpPr>
            <a:spLocks noChangeArrowheads="1"/>
          </p:cNvSpPr>
          <p:nvPr/>
        </p:nvSpPr>
        <p:spPr bwMode="auto">
          <a:xfrm>
            <a:off x="374650" y="1079500"/>
            <a:ext cx="8620125" cy="1771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3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按先序遍历序列建立二叉树的二叉链表</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a:r>
            <a:b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例：已知先序序列为：</a:t>
            </a:r>
            <a:b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楷体_GB2312" pitchFamily="49" charset="-122"/>
                <a:ea typeface="楷体_GB2312" pitchFamily="49" charset="-122"/>
                <a:cs typeface="+mn-cs"/>
              </a:rPr>
              <a:t>A B C </a:t>
            </a:r>
            <a:r>
              <a:rPr kumimoji="0" lang="en-US" altLang="zh-CN" sz="2800" b="0" i="0" u="none" strike="noStrike" kern="1200" cap="none" spc="0" normalizeH="0" baseline="0" noProof="0" dirty="0">
                <a:ln>
                  <a:noFill/>
                </a:ln>
                <a:solidFill>
                  <a:schemeClr val="tx1"/>
                </a:solidFill>
                <a:effectLst/>
                <a:uLnTx/>
                <a:uFillTx/>
                <a:latin typeface="楷体_GB2312" pitchFamily="49" charset="-122"/>
                <a:ea typeface="楷体_GB2312" pitchFamily="49" charset="-122"/>
                <a:cs typeface="+mn-cs"/>
                <a:sym typeface="Symbol" panose="05050102010706020507" pitchFamily="18" charset="2"/>
              </a:rPr>
              <a:t>  D E  G   F   </a:t>
            </a:r>
            <a:r>
              <a:rPr kumimoji="0" lang="en-US" altLang="zh-CN" sz="2800" b="0" i="0" u="none" strike="noStrike" kern="1200" cap="none" spc="0" normalizeH="0" baseline="0" noProof="0" dirty="0" smtClean="0">
                <a:ln>
                  <a:noFill/>
                </a:ln>
                <a:solidFill>
                  <a:schemeClr val="tx1"/>
                </a:solidFill>
                <a:effectLst/>
                <a:uLnTx/>
                <a:uFillTx/>
                <a:latin typeface="楷体_GB2312" pitchFamily="49" charset="-122"/>
                <a:ea typeface="楷体_GB2312" pitchFamily="49" charset="-122"/>
                <a:cs typeface="+mn-cs"/>
                <a:sym typeface="Symbol" panose="05050102010706020507" pitchFamily="18" charset="2"/>
              </a:rPr>
              <a:t></a:t>
            </a:r>
            <a:endPar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endParaRPr>
          </a:p>
        </p:txBody>
      </p:sp>
      <p:sp>
        <p:nvSpPr>
          <p:cNvPr id="62521" name="Rectangle 59"/>
          <p:cNvSpPr>
            <a:spLocks noChangeArrowheads="1"/>
          </p:cNvSpPr>
          <p:nvPr/>
        </p:nvSpPr>
        <p:spPr bwMode="auto">
          <a:xfrm>
            <a:off x="833438" y="203200"/>
            <a:ext cx="53562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二叉树的建立（算法</a:t>
            </a:r>
            <a:r>
              <a:rPr kumimoji="0" lang="en-US" altLang="zh-CN"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5.3</a:t>
            </a: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a:t>
            </a:r>
          </a:p>
        </p:txBody>
      </p:sp>
    </p:spTree>
  </p:cSld>
  <p:clrMapOvr>
    <a:masterClrMapping/>
  </p:clrMapOvr>
  <p:transition>
    <p:strips dir="l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矩形 1"/>
          <p:cNvSpPr/>
          <p:nvPr/>
        </p:nvSpPr>
        <p:spPr>
          <a:xfrm>
            <a:off x="0" y="1268413"/>
            <a:ext cx="9144000" cy="4897437"/>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63491" name="Rectangle 4"/>
          <p:cNvSpPr>
            <a:spLocks noChangeArrowheads="1"/>
          </p:cNvSpPr>
          <p:nvPr/>
        </p:nvSpPr>
        <p:spPr bwMode="auto">
          <a:xfrm>
            <a:off x="398463" y="1362075"/>
            <a:ext cx="8677275" cy="5176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Arial Unicode MS" pitchFamily="34" charset="-122"/>
                <a:ea typeface="Arial Unicode MS" pitchFamily="34" charset="-122"/>
                <a:cs typeface="Arial Unicode MS" pitchFamily="34" charset="-122"/>
                <a:sym typeface="+mn-lt"/>
              </a:rPr>
              <a:t>void </a:t>
            </a:r>
            <a:r>
              <a:rPr kumimoji="0" lang="en-US" altLang="zh-CN" sz="2800" b="0" i="0" u="none" strike="noStrike" kern="1200" cap="none" spc="0" normalizeH="0" baseline="0" noProof="0" dirty="0" err="1">
                <a:ln>
                  <a:noFill/>
                </a:ln>
                <a:solidFill>
                  <a:schemeClr val="tx1"/>
                </a:solidFill>
                <a:effectLst/>
                <a:uLnTx/>
                <a:uFillTx/>
                <a:latin typeface="Arial Unicode MS" pitchFamily="34" charset="-122"/>
                <a:ea typeface="Arial Unicode MS" pitchFamily="34" charset="-122"/>
                <a:cs typeface="Arial Unicode MS" pitchFamily="34" charset="-122"/>
                <a:sym typeface="+mn-lt"/>
              </a:rPr>
              <a:t>CreateBiTree</a:t>
            </a:r>
            <a:r>
              <a:rPr kumimoji="0" lang="en-US" altLang="zh-CN" sz="2800" b="0" i="0" u="none" strike="noStrike" kern="1200" cap="none" spc="0" normalizeH="0" baseline="0" noProof="0" dirty="0">
                <a:ln>
                  <a:noFill/>
                </a:ln>
                <a:solidFill>
                  <a:schemeClr val="tx1"/>
                </a:solidFill>
                <a:effectLst/>
                <a:uLnTx/>
                <a:uFillTx/>
                <a:latin typeface="Arial Unicode MS" pitchFamily="34" charset="-122"/>
                <a:ea typeface="Arial Unicode MS" pitchFamily="34" charset="-122"/>
                <a:cs typeface="Arial Unicode MS" pitchFamily="34" charset="-122"/>
                <a:sym typeface="+mn-lt"/>
              </a:rPr>
              <a:t>(</a:t>
            </a:r>
            <a:r>
              <a:rPr kumimoji="0" lang="en-US" altLang="zh-CN" sz="2800" b="0" i="0" u="none" strike="noStrike" kern="1200" cap="none" spc="0" normalizeH="0" baseline="0" noProof="0" dirty="0" err="1">
                <a:ln>
                  <a:noFill/>
                </a:ln>
                <a:solidFill>
                  <a:schemeClr val="tx1"/>
                </a:solidFill>
                <a:effectLst/>
                <a:uLnTx/>
                <a:uFillTx/>
                <a:latin typeface="Arial Unicode MS" pitchFamily="34" charset="-122"/>
                <a:ea typeface="Arial Unicode MS" pitchFamily="34" charset="-122"/>
                <a:cs typeface="Arial Unicode MS" pitchFamily="34" charset="-122"/>
                <a:sym typeface="+mn-lt"/>
              </a:rPr>
              <a:t>BiTree</a:t>
            </a:r>
            <a:r>
              <a:rPr kumimoji="0" lang="en-US" altLang="zh-CN" sz="2800" b="0" i="0" u="none" strike="noStrike" kern="1200" cap="none" spc="0" normalizeH="0" baseline="0" noProof="0" dirty="0">
                <a:ln>
                  <a:noFill/>
                </a:ln>
                <a:solidFill>
                  <a:schemeClr val="tx1"/>
                </a:solidFill>
                <a:effectLst/>
                <a:uLnTx/>
                <a:uFillTx/>
                <a:latin typeface="Arial Unicode MS" pitchFamily="34" charset="-122"/>
                <a:ea typeface="Arial Unicode MS" pitchFamily="34" charset="-122"/>
                <a:cs typeface="Arial Unicode MS" pitchFamily="34" charset="-122"/>
                <a:sym typeface="+mn-lt"/>
              </a:rPr>
              <a:t> &amp;T</a:t>
            </a:r>
            <a:r>
              <a:rPr kumimoji="0" lang="zh-CN" altLang="en-US" sz="2800" b="0" i="0" u="none" strike="noStrike" kern="1200" cap="none" spc="0" normalizeH="0" baseline="0" noProof="0" dirty="0">
                <a:ln>
                  <a:noFill/>
                </a:ln>
                <a:solidFill>
                  <a:schemeClr val="tx1"/>
                </a:solidFill>
                <a:effectLst/>
                <a:uLnTx/>
                <a:uFillTx/>
                <a:latin typeface="Arial Unicode MS" pitchFamily="34" charset="-122"/>
                <a:ea typeface="Arial Unicode MS" pitchFamily="34" charset="-122"/>
                <a:cs typeface="Arial Unicode MS" pitchFamily="34" charset="-122"/>
                <a:sym typeface="+mn-lt"/>
              </a:rPr>
              <a:t>）</a:t>
            </a:r>
            <a:r>
              <a:rPr kumimoji="0" lang="en-US" altLang="zh-CN" sz="2800" b="0" i="0" u="none" strike="noStrike" kern="1200" cap="none" spc="0" normalizeH="0" baseline="0" noProof="0" dirty="0">
                <a:ln>
                  <a:noFill/>
                </a:ln>
                <a:solidFill>
                  <a:schemeClr val="tx1"/>
                </a:solidFill>
                <a:effectLst/>
                <a:uLnTx/>
                <a:uFillTx/>
                <a:latin typeface="Arial Unicode MS" pitchFamily="34" charset="-122"/>
                <a:ea typeface="Arial Unicode MS" pitchFamily="34" charset="-122"/>
                <a:cs typeface="Arial Unicode MS" pitchFamily="34" charset="-122"/>
                <a:sym typeface="+mn-lt"/>
              </a:rPr>
              <a: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err="1" smtClean="0">
                <a:ln>
                  <a:noFill/>
                </a:ln>
                <a:solidFill>
                  <a:schemeClr val="tx1"/>
                </a:solidFill>
                <a:effectLst/>
                <a:uLnTx/>
                <a:uFillTx/>
                <a:latin typeface="Arial Unicode MS" pitchFamily="34" charset="-122"/>
                <a:ea typeface="Arial Unicode MS" pitchFamily="34" charset="-122"/>
                <a:cs typeface="Arial Unicode MS" pitchFamily="34" charset="-122"/>
                <a:sym typeface="+mn-lt"/>
              </a:rPr>
              <a:t>ch</a:t>
            </a:r>
            <a:r>
              <a:rPr kumimoji="0" lang="en-US" altLang="zh-CN" sz="2800" b="0" i="0" u="none" strike="noStrike" kern="1200" cap="none" spc="0" normalizeH="0" baseline="0" noProof="0" dirty="0" smtClean="0">
                <a:ln>
                  <a:noFill/>
                </a:ln>
                <a:solidFill>
                  <a:schemeClr val="tx1"/>
                </a:solidFill>
                <a:effectLst/>
                <a:uLnTx/>
                <a:uFillTx/>
                <a:latin typeface="Arial Unicode MS" pitchFamily="34" charset="-122"/>
                <a:ea typeface="Arial Unicode MS" pitchFamily="34" charset="-122"/>
                <a:cs typeface="Arial Unicode MS" pitchFamily="34" charset="-122"/>
                <a:sym typeface="+mn-lt"/>
              </a:rPr>
              <a:t>=</a:t>
            </a:r>
            <a:r>
              <a:rPr kumimoji="0" lang="en-US" altLang="zh-CN" sz="2800" b="0" i="0" u="none" strike="noStrike" kern="1200" cap="none" spc="0" normalizeH="0" baseline="0" noProof="0" dirty="0" err="1" smtClean="0">
                <a:ln>
                  <a:noFill/>
                </a:ln>
                <a:solidFill>
                  <a:schemeClr val="tx1"/>
                </a:solidFill>
                <a:effectLst/>
                <a:uLnTx/>
                <a:uFillTx/>
                <a:latin typeface="Arial Unicode MS" pitchFamily="34" charset="-122"/>
                <a:ea typeface="Arial Unicode MS" pitchFamily="34" charset="-122"/>
                <a:cs typeface="Arial Unicode MS" pitchFamily="34" charset="-122"/>
                <a:sym typeface="+mn-lt"/>
              </a:rPr>
              <a:t>getchar</a:t>
            </a:r>
            <a:r>
              <a:rPr kumimoji="0" lang="en-US" altLang="zh-CN" sz="2800" b="0" i="0" u="none" strike="noStrike" kern="1200" cap="none" spc="0" normalizeH="0" baseline="0" noProof="0" dirty="0" smtClean="0">
                <a:ln>
                  <a:noFill/>
                </a:ln>
                <a:solidFill>
                  <a:schemeClr val="tx1"/>
                </a:solidFill>
                <a:effectLst/>
                <a:uLnTx/>
                <a:uFillTx/>
                <a:latin typeface="Arial Unicode MS" pitchFamily="34" charset="-122"/>
                <a:ea typeface="Arial Unicode MS" pitchFamily="34" charset="-122"/>
                <a:cs typeface="Arial Unicode MS" pitchFamily="34" charset="-122"/>
                <a:sym typeface="+mn-lt"/>
              </a:rPr>
              <a:t>();</a:t>
            </a:r>
            <a:endParaRPr kumimoji="0" lang="en-US" altLang="zh-CN" sz="2800" b="0" i="0" u="none" strike="noStrike" kern="1200" cap="none" spc="0" normalizeH="0" baseline="0" noProof="0" dirty="0">
              <a:ln>
                <a:noFill/>
              </a:ln>
              <a:solidFill>
                <a:schemeClr val="tx1"/>
              </a:solidFill>
              <a:effectLst/>
              <a:uLnTx/>
              <a:uFillTx/>
              <a:latin typeface="Arial Unicode MS" pitchFamily="34" charset="-122"/>
              <a:ea typeface="Arial Unicode MS" pitchFamily="34" charset="-122"/>
              <a:cs typeface="Arial Unicode MS" pitchFamily="34" charset="-122"/>
              <a:sym typeface="+mn-lt"/>
            </a:endParaRP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Arial Unicode MS" pitchFamily="34" charset="-122"/>
                <a:ea typeface="Arial Unicode MS" pitchFamily="34" charset="-122"/>
                <a:cs typeface="Arial Unicode MS" pitchFamily="34" charset="-122"/>
                <a:sym typeface="+mn-lt"/>
              </a:rPr>
              <a:t>if (</a:t>
            </a:r>
            <a:r>
              <a:rPr kumimoji="0" lang="en-US" altLang="zh-CN" sz="2800" b="0" i="0" u="none" strike="noStrike" kern="1200" cap="none" spc="0" normalizeH="0" baseline="0" noProof="0" dirty="0" err="1" smtClean="0">
                <a:ln>
                  <a:noFill/>
                </a:ln>
                <a:solidFill>
                  <a:schemeClr val="tx1"/>
                </a:solidFill>
                <a:effectLst/>
                <a:uLnTx/>
                <a:uFillTx/>
                <a:latin typeface="Arial Unicode MS" pitchFamily="34" charset="-122"/>
                <a:ea typeface="Arial Unicode MS" pitchFamily="34" charset="-122"/>
                <a:cs typeface="Arial Unicode MS" pitchFamily="34" charset="-122"/>
                <a:sym typeface="+mn-lt"/>
              </a:rPr>
              <a:t>ch</a:t>
            </a:r>
            <a:r>
              <a:rPr kumimoji="0" lang="en-US" altLang="zh-CN" sz="2800" b="0" i="0" u="none" strike="noStrike" kern="1200" cap="none" spc="0" normalizeH="0" baseline="0" noProof="0" dirty="0" smtClean="0">
                <a:ln>
                  <a:noFill/>
                </a:ln>
                <a:solidFill>
                  <a:schemeClr val="tx1"/>
                </a:solidFill>
                <a:effectLst/>
                <a:uLnTx/>
                <a:uFillTx/>
                <a:latin typeface="Arial Unicode MS" pitchFamily="34" charset="-122"/>
                <a:ea typeface="Arial Unicode MS" pitchFamily="34" charset="-122"/>
                <a:cs typeface="Arial Unicode MS" pitchFamily="34" charset="-122"/>
                <a:sym typeface="+mn-lt"/>
              </a:rPr>
              <a:t>== ‘#’)   </a:t>
            </a:r>
            <a:r>
              <a:rPr kumimoji="0" lang="en-US" altLang="zh-CN" sz="2800" b="0" i="0" u="none" strike="noStrike" kern="1200" cap="none" spc="0" normalizeH="0" baseline="0" noProof="0" dirty="0">
                <a:ln>
                  <a:noFill/>
                </a:ln>
                <a:solidFill>
                  <a:schemeClr val="tx1"/>
                </a:solidFill>
                <a:effectLst/>
                <a:uLnTx/>
                <a:uFillTx/>
                <a:latin typeface="Arial Unicode MS" pitchFamily="34" charset="-122"/>
                <a:ea typeface="Arial Unicode MS" pitchFamily="34" charset="-122"/>
                <a:cs typeface="Arial Unicode MS" pitchFamily="34" charset="-122"/>
                <a:sym typeface="+mn-lt"/>
              </a:rPr>
              <a:t>T=NULL;  	</a:t>
            </a:r>
            <a:r>
              <a:rPr kumimoji="0" lang="en-US" altLang="zh-CN" sz="2800" b="0" i="0" u="none" strike="noStrike" kern="1200" cap="none" spc="0" normalizeH="0" baseline="0" noProof="0" dirty="0">
                <a:ln>
                  <a:noFill/>
                </a:ln>
                <a:solidFill>
                  <a:schemeClr val="tx1"/>
                </a:solidFill>
                <a:effectLst/>
                <a:uLnTx/>
                <a:uFillTx/>
                <a:latin typeface="+mn-ea"/>
                <a:ea typeface="+mn-ea"/>
                <a:cs typeface="Arial Unicode MS" pitchFamily="34" charset="-122"/>
                <a:sym typeface="+mn-lt"/>
              </a:rPr>
              <a:t>//</a:t>
            </a:r>
            <a:r>
              <a:rPr kumimoji="0" lang="zh-CN" altLang="en-US" sz="2800" b="0" i="0" u="none" strike="noStrike" kern="1200" cap="none" spc="0" normalizeH="0" baseline="0" noProof="0" dirty="0">
                <a:ln>
                  <a:noFill/>
                </a:ln>
                <a:solidFill>
                  <a:schemeClr val="tx1"/>
                </a:solidFill>
                <a:effectLst/>
                <a:uLnTx/>
                <a:uFillTx/>
                <a:latin typeface="+mn-ea"/>
                <a:ea typeface="+mn-ea"/>
                <a:cs typeface="Arial Unicode MS" pitchFamily="34" charset="-122"/>
                <a:sym typeface="+mn-lt"/>
              </a:rPr>
              <a:t>递归结束，建空树</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Arial Unicode MS" pitchFamily="34" charset="-122"/>
                <a:ea typeface="Arial Unicode MS" pitchFamily="34" charset="-122"/>
                <a:cs typeface="Arial Unicode MS" pitchFamily="34" charset="-122"/>
                <a:sym typeface="+mn-lt"/>
              </a:rPr>
              <a:t>else{</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Arial Unicode MS" pitchFamily="34" charset="-122"/>
                <a:ea typeface="Arial Unicode MS" pitchFamily="34" charset="-122"/>
                <a:cs typeface="Arial Unicode MS" pitchFamily="34" charset="-122"/>
                <a:sym typeface="+mn-lt"/>
              </a:rPr>
              <a:t>    T</a:t>
            </a:r>
            <a:r>
              <a:rPr kumimoji="0" lang="en-US" altLang="zh-CN" sz="2800" b="0" i="0" u="none" strike="noStrike" kern="1200" cap="none" spc="0" normalizeH="0" baseline="0" noProof="0" dirty="0" smtClean="0">
                <a:ln>
                  <a:noFill/>
                </a:ln>
                <a:solidFill>
                  <a:schemeClr val="tx1"/>
                </a:solidFill>
                <a:effectLst/>
                <a:uLnTx/>
                <a:uFillTx/>
                <a:latin typeface="Arial Unicode MS" pitchFamily="34" charset="-122"/>
                <a:ea typeface="Arial Unicode MS" pitchFamily="34" charset="-122"/>
                <a:cs typeface="Arial Unicode MS" pitchFamily="34" charset="-122"/>
                <a:sym typeface="+mn-lt"/>
              </a:rPr>
              <a:t>=(</a:t>
            </a:r>
            <a:r>
              <a:rPr kumimoji="0" lang="en-US" altLang="zh-CN" sz="2800" b="0" i="0" u="none" strike="noStrike" kern="1200" cap="none" spc="0" normalizeH="0" baseline="0" noProof="0" dirty="0" err="1" smtClean="0">
                <a:ln>
                  <a:noFill/>
                </a:ln>
                <a:solidFill>
                  <a:schemeClr val="tx1"/>
                </a:solidFill>
                <a:effectLst/>
                <a:uLnTx/>
                <a:uFillTx/>
                <a:latin typeface="Arial Unicode MS" pitchFamily="34" charset="-122"/>
                <a:ea typeface="Arial Unicode MS" pitchFamily="34" charset="-122"/>
                <a:cs typeface="Arial Unicode MS" pitchFamily="34" charset="-122"/>
                <a:sym typeface="+mn-lt"/>
              </a:rPr>
              <a:t>BiTree</a:t>
            </a:r>
            <a:r>
              <a:rPr kumimoji="0" lang="en-US" altLang="zh-CN" sz="2800" b="0" i="0" u="none" strike="noStrike" kern="1200" cap="none" spc="0" normalizeH="0" baseline="0" noProof="0" dirty="0" smtClean="0">
                <a:ln>
                  <a:noFill/>
                </a:ln>
                <a:solidFill>
                  <a:schemeClr val="tx1"/>
                </a:solidFill>
                <a:effectLst/>
                <a:uLnTx/>
                <a:uFillTx/>
                <a:latin typeface="Arial Unicode MS" pitchFamily="34" charset="-122"/>
                <a:ea typeface="Arial Unicode MS" pitchFamily="34" charset="-122"/>
                <a:cs typeface="Arial Unicode MS" pitchFamily="34" charset="-122"/>
                <a:sym typeface="+mn-lt"/>
              </a:rPr>
              <a:t>)</a:t>
            </a:r>
            <a:r>
              <a:rPr kumimoji="0" lang="en-US" altLang="zh-CN" sz="2800" b="0" i="0" u="none" strike="noStrike" kern="1200" cap="none" spc="0" normalizeH="0" baseline="0" noProof="0" dirty="0" err="1" smtClean="0">
                <a:ln>
                  <a:noFill/>
                </a:ln>
                <a:solidFill>
                  <a:schemeClr val="tx1"/>
                </a:solidFill>
                <a:effectLst/>
                <a:uLnTx/>
                <a:uFillTx/>
                <a:latin typeface="Arial Unicode MS" pitchFamily="34" charset="-122"/>
                <a:ea typeface="Arial Unicode MS" pitchFamily="34" charset="-122"/>
                <a:cs typeface="Arial Unicode MS" pitchFamily="34" charset="-122"/>
                <a:sym typeface="+mn-lt"/>
              </a:rPr>
              <a:t>malloc</a:t>
            </a:r>
            <a:r>
              <a:rPr kumimoji="0" lang="en-US" altLang="zh-CN" sz="2800" b="0" i="0" u="none" strike="noStrike" kern="1200" cap="none" spc="0" normalizeH="0" baseline="0" noProof="0" dirty="0" smtClean="0">
                <a:ln>
                  <a:noFill/>
                </a:ln>
                <a:solidFill>
                  <a:schemeClr val="tx1"/>
                </a:solidFill>
                <a:effectLst/>
                <a:uLnTx/>
                <a:uFillTx/>
                <a:latin typeface="Arial Unicode MS" pitchFamily="34" charset="-122"/>
                <a:ea typeface="Arial Unicode MS" pitchFamily="34" charset="-122"/>
                <a:cs typeface="Arial Unicode MS" pitchFamily="34" charset="-122"/>
                <a:sym typeface="+mn-lt"/>
              </a:rPr>
              <a:t>(</a:t>
            </a:r>
            <a:r>
              <a:rPr kumimoji="0" lang="en-US" altLang="zh-CN" sz="2800" b="0" i="0" u="none" strike="noStrike" kern="1200" cap="none" spc="0" normalizeH="0" baseline="0" noProof="0" dirty="0" err="1" smtClean="0">
                <a:ln>
                  <a:noFill/>
                </a:ln>
                <a:solidFill>
                  <a:schemeClr val="tx1"/>
                </a:solidFill>
                <a:effectLst/>
                <a:uLnTx/>
                <a:uFillTx/>
                <a:latin typeface="Arial Unicode MS" pitchFamily="34" charset="-122"/>
                <a:ea typeface="Arial Unicode MS" pitchFamily="34" charset="-122"/>
                <a:cs typeface="Arial Unicode MS" pitchFamily="34" charset="-122"/>
                <a:sym typeface="+mn-lt"/>
              </a:rPr>
              <a:t>sizeof</a:t>
            </a:r>
            <a:r>
              <a:rPr kumimoji="0" lang="en-US" altLang="zh-CN" sz="2800" b="0" i="0" u="none" strike="noStrike" kern="1200" cap="none" spc="0" normalizeH="0" baseline="0" noProof="0" dirty="0" smtClean="0">
                <a:ln>
                  <a:noFill/>
                </a:ln>
                <a:solidFill>
                  <a:schemeClr val="tx1"/>
                </a:solidFill>
                <a:effectLst/>
                <a:uLnTx/>
                <a:uFillTx/>
                <a:latin typeface="Arial Unicode MS" pitchFamily="34" charset="-122"/>
                <a:ea typeface="Arial Unicode MS" pitchFamily="34" charset="-122"/>
                <a:cs typeface="Arial Unicode MS" pitchFamily="34" charset="-122"/>
                <a:sym typeface="+mn-lt"/>
              </a:rPr>
              <a:t>(</a:t>
            </a:r>
            <a:r>
              <a:rPr kumimoji="0" lang="en-US" altLang="zh-CN" sz="2800" b="0" i="0" u="none" strike="noStrike" kern="1200" cap="none" spc="0" normalizeH="0" baseline="0" noProof="0" dirty="0" err="1" smtClean="0">
                <a:ln>
                  <a:noFill/>
                </a:ln>
                <a:solidFill>
                  <a:schemeClr val="tx1"/>
                </a:solidFill>
                <a:effectLst/>
                <a:uLnTx/>
                <a:uFillTx/>
                <a:latin typeface="Arial Unicode MS" pitchFamily="34" charset="-122"/>
                <a:ea typeface="Arial Unicode MS" pitchFamily="34" charset="-122"/>
                <a:cs typeface="Arial Unicode MS" pitchFamily="34" charset="-122"/>
                <a:sym typeface="+mn-lt"/>
              </a:rPr>
              <a:t>BiTNode</a:t>
            </a:r>
            <a:r>
              <a:rPr kumimoji="0" lang="en-US" altLang="zh-CN" sz="2800" b="0" i="0" u="none" strike="noStrike" kern="1200" cap="none" spc="0" normalizeH="0" baseline="0" noProof="0" dirty="0" smtClean="0">
                <a:ln>
                  <a:noFill/>
                </a:ln>
                <a:solidFill>
                  <a:schemeClr val="tx1"/>
                </a:solidFill>
                <a:effectLst/>
                <a:uLnTx/>
                <a:uFillTx/>
                <a:latin typeface="Arial Unicode MS" pitchFamily="34" charset="-122"/>
                <a:ea typeface="Arial Unicode MS" pitchFamily="34" charset="-122"/>
                <a:cs typeface="Arial Unicode MS" pitchFamily="34" charset="-122"/>
                <a:sym typeface="+mn-lt"/>
              </a:rPr>
              <a:t>));    </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lang="en-US" altLang="zh-CN" b="0" dirty="0">
                <a:latin typeface="Arial Unicode MS" pitchFamily="34" charset="-122"/>
                <a:ea typeface="Arial Unicode MS" pitchFamily="34" charset="-122"/>
                <a:cs typeface="Arial Unicode MS" pitchFamily="34" charset="-122"/>
                <a:sym typeface="+mn-lt"/>
              </a:rPr>
              <a:t> </a:t>
            </a:r>
            <a:r>
              <a:rPr lang="en-US" altLang="zh-CN" b="0" dirty="0" smtClean="0">
                <a:latin typeface="Arial Unicode MS" pitchFamily="34" charset="-122"/>
                <a:ea typeface="Arial Unicode MS" pitchFamily="34" charset="-122"/>
                <a:cs typeface="Arial Unicode MS" pitchFamily="34" charset="-122"/>
                <a:sym typeface="+mn-lt"/>
              </a:rPr>
              <a:t>   </a:t>
            </a:r>
            <a:r>
              <a:rPr kumimoji="0" lang="en-US" altLang="zh-CN" sz="2800" b="0" i="0" u="none" strike="noStrike" kern="1200" cap="none" spc="0" normalizeH="0" baseline="0" noProof="0" dirty="0" smtClean="0">
                <a:ln>
                  <a:noFill/>
                </a:ln>
                <a:solidFill>
                  <a:schemeClr val="tx1"/>
                </a:solidFill>
                <a:effectLst/>
                <a:uLnTx/>
                <a:uFillTx/>
                <a:latin typeface="Arial Unicode MS" pitchFamily="34" charset="-122"/>
                <a:ea typeface="Arial Unicode MS" pitchFamily="34" charset="-122"/>
                <a:cs typeface="Arial Unicode MS" pitchFamily="34" charset="-122"/>
                <a:sym typeface="+mn-lt"/>
              </a:rPr>
              <a:t>T-</a:t>
            </a:r>
            <a:r>
              <a:rPr kumimoji="0" lang="zh-CN" altLang="en-US" sz="2800" b="0" i="0" u="none" strike="noStrike" kern="1200" cap="none" spc="0" normalizeH="0" baseline="0" noProof="0" dirty="0">
                <a:ln>
                  <a:noFill/>
                </a:ln>
                <a:solidFill>
                  <a:schemeClr val="tx1"/>
                </a:solidFill>
                <a:effectLst/>
                <a:uLnTx/>
                <a:uFillTx/>
                <a:latin typeface="Arial Unicode MS" pitchFamily="34" charset="-122"/>
                <a:ea typeface="Arial Unicode MS" pitchFamily="34" charset="-122"/>
                <a:cs typeface="Arial Unicode MS" pitchFamily="34" charset="-122"/>
                <a:sym typeface="+mn-lt"/>
              </a:rPr>
              <a:t>＞</a:t>
            </a:r>
            <a:r>
              <a:rPr kumimoji="0" lang="en-US" altLang="zh-CN" sz="2800" b="0" i="0" u="none" strike="noStrike" kern="1200" cap="none" spc="0" normalizeH="0" baseline="0" noProof="0" dirty="0">
                <a:ln>
                  <a:noFill/>
                </a:ln>
                <a:solidFill>
                  <a:schemeClr val="tx1"/>
                </a:solidFill>
                <a:effectLst/>
                <a:uLnTx/>
                <a:uFillTx/>
                <a:latin typeface="Arial Unicode MS" pitchFamily="34" charset="-122"/>
                <a:ea typeface="Arial Unicode MS" pitchFamily="34" charset="-122"/>
                <a:cs typeface="Arial Unicode MS" pitchFamily="34" charset="-122"/>
                <a:sym typeface="+mn-lt"/>
              </a:rPr>
              <a:t>data=</a:t>
            </a:r>
            <a:r>
              <a:rPr kumimoji="0" lang="en-US" altLang="zh-CN" sz="2800" b="0" i="0" u="none" strike="noStrike" kern="1200" cap="none" spc="0" normalizeH="0" baseline="0" noProof="0" dirty="0" err="1">
                <a:ln>
                  <a:noFill/>
                </a:ln>
                <a:solidFill>
                  <a:schemeClr val="tx1"/>
                </a:solidFill>
                <a:effectLst/>
                <a:uLnTx/>
                <a:uFillTx/>
                <a:latin typeface="Arial Unicode MS" pitchFamily="34" charset="-122"/>
                <a:ea typeface="Arial Unicode MS" pitchFamily="34" charset="-122"/>
                <a:cs typeface="Arial Unicode MS" pitchFamily="34" charset="-122"/>
                <a:sym typeface="+mn-lt"/>
              </a:rPr>
              <a:t>ch</a:t>
            </a:r>
            <a:r>
              <a:rPr kumimoji="0" lang="en-US" altLang="zh-CN" sz="2800" b="0" i="0" u="none" strike="noStrike" kern="1200" cap="none" spc="0" normalizeH="0" baseline="0" noProof="0" dirty="0">
                <a:ln>
                  <a:noFill/>
                </a:ln>
                <a:solidFill>
                  <a:schemeClr val="tx1"/>
                </a:solidFill>
                <a:effectLst/>
                <a:uLnTx/>
                <a:uFillTx/>
                <a:latin typeface="Arial Unicode MS" pitchFamily="34" charset="-122"/>
                <a:ea typeface="Arial Unicode MS" pitchFamily="34" charset="-122"/>
                <a:cs typeface="Arial Unicode MS" pitchFamily="34" charset="-122"/>
                <a:sym typeface="+mn-lt"/>
              </a:rPr>
              <a:t>; 	</a:t>
            </a:r>
            <a:r>
              <a:rPr kumimoji="0" lang="en-US" altLang="zh-CN" sz="2800" b="0" i="0" u="none" strike="noStrike" kern="1200" cap="none" spc="0" normalizeH="0" baseline="0" noProof="0" dirty="0">
                <a:ln>
                  <a:noFill/>
                </a:ln>
                <a:solidFill>
                  <a:schemeClr val="tx1"/>
                </a:solidFill>
                <a:effectLst/>
                <a:uLnTx/>
                <a:uFillTx/>
                <a:latin typeface="+mn-ea"/>
                <a:ea typeface="+mn-ea"/>
                <a:cs typeface="Arial Unicode MS" pitchFamily="34" charset="-122"/>
                <a:sym typeface="+mn-lt"/>
              </a:rPr>
              <a:t>//</a:t>
            </a:r>
            <a:r>
              <a:rPr kumimoji="0" lang="zh-CN" altLang="en-US" sz="2800" b="0" i="0" u="none" strike="noStrike" kern="1200" cap="none" spc="0" normalizeH="0" baseline="0" noProof="0" dirty="0">
                <a:ln>
                  <a:noFill/>
                </a:ln>
                <a:solidFill>
                  <a:schemeClr val="tx1"/>
                </a:solidFill>
                <a:effectLst/>
                <a:uLnTx/>
                <a:uFillTx/>
                <a:latin typeface="+mn-ea"/>
                <a:ea typeface="+mn-ea"/>
                <a:cs typeface="Arial Unicode MS" pitchFamily="34" charset="-122"/>
                <a:sym typeface="+mn-lt"/>
              </a:rPr>
              <a:t>生成根结点</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Arial Unicode MS" pitchFamily="34" charset="-122"/>
                <a:ea typeface="Arial Unicode MS" pitchFamily="34" charset="-122"/>
                <a:cs typeface="Arial Unicode MS" pitchFamily="34" charset="-122"/>
                <a:sym typeface="+mn-lt"/>
              </a:rPr>
              <a:t>    </a:t>
            </a:r>
            <a:r>
              <a:rPr kumimoji="0" lang="en-US" altLang="zh-CN" sz="2800" b="0" i="0" u="none" strike="noStrike" kern="1200" cap="none" spc="0" normalizeH="0" baseline="0" noProof="0" dirty="0" err="1">
                <a:ln>
                  <a:noFill/>
                </a:ln>
                <a:solidFill>
                  <a:srgbClr val="FF0000"/>
                </a:solidFill>
                <a:effectLst/>
                <a:uLnTx/>
                <a:uFillTx/>
                <a:latin typeface="Arial Unicode MS" pitchFamily="34" charset="-122"/>
                <a:ea typeface="Arial Unicode MS" pitchFamily="34" charset="-122"/>
                <a:cs typeface="Arial Unicode MS" pitchFamily="34" charset="-122"/>
                <a:sym typeface="+mn-lt"/>
              </a:rPr>
              <a:t>CreateBiTree</a:t>
            </a:r>
            <a:r>
              <a:rPr kumimoji="0" lang="en-US" altLang="zh-CN" sz="2800" b="0" i="0" u="none" strike="noStrike" kern="1200" cap="none" spc="0" normalizeH="0" baseline="0" noProof="0" dirty="0">
                <a:ln>
                  <a:noFill/>
                </a:ln>
                <a:solidFill>
                  <a:srgbClr val="FF0000"/>
                </a:solidFill>
                <a:effectLst/>
                <a:uLnTx/>
                <a:uFillTx/>
                <a:latin typeface="Arial Unicode MS" pitchFamily="34" charset="-122"/>
                <a:ea typeface="Arial Unicode MS" pitchFamily="34" charset="-122"/>
                <a:cs typeface="Arial Unicode MS" pitchFamily="34" charset="-122"/>
                <a:sym typeface="+mn-lt"/>
              </a:rPr>
              <a:t>(T-</a:t>
            </a:r>
            <a:r>
              <a:rPr kumimoji="0" lang="zh-CN" altLang="en-US" sz="2800" b="0" i="0" u="none" strike="noStrike" kern="1200" cap="none" spc="0" normalizeH="0" baseline="0" noProof="0" dirty="0">
                <a:ln>
                  <a:noFill/>
                </a:ln>
                <a:solidFill>
                  <a:srgbClr val="FF0000"/>
                </a:solidFill>
                <a:effectLst/>
                <a:uLnTx/>
                <a:uFillTx/>
                <a:latin typeface="Arial Unicode MS" pitchFamily="34" charset="-122"/>
                <a:ea typeface="Arial Unicode MS" pitchFamily="34" charset="-122"/>
                <a:cs typeface="Arial Unicode MS" pitchFamily="34" charset="-122"/>
                <a:sym typeface="+mn-lt"/>
              </a:rPr>
              <a:t>＞</a:t>
            </a:r>
            <a:r>
              <a:rPr kumimoji="0" lang="en-US" altLang="zh-CN" sz="2800" b="0" i="0" u="none" strike="noStrike" kern="1200" cap="none" spc="0" normalizeH="0" baseline="0" noProof="0" dirty="0" err="1">
                <a:ln>
                  <a:noFill/>
                </a:ln>
                <a:solidFill>
                  <a:srgbClr val="FF0000"/>
                </a:solidFill>
                <a:effectLst/>
                <a:uLnTx/>
                <a:uFillTx/>
                <a:latin typeface="Arial Unicode MS" pitchFamily="34" charset="-122"/>
                <a:ea typeface="Arial Unicode MS" pitchFamily="34" charset="-122"/>
                <a:cs typeface="Arial Unicode MS" pitchFamily="34" charset="-122"/>
                <a:sym typeface="+mn-lt"/>
              </a:rPr>
              <a:t>lchild</a:t>
            </a:r>
            <a:r>
              <a:rPr kumimoji="0" lang="en-US" altLang="zh-CN" sz="2800" b="0" i="0" u="none" strike="noStrike" kern="1200" cap="none" spc="0" normalizeH="0" baseline="0" noProof="0" dirty="0">
                <a:ln>
                  <a:noFill/>
                </a:ln>
                <a:solidFill>
                  <a:srgbClr val="FF0000"/>
                </a:solidFill>
                <a:effectLst/>
                <a:uLnTx/>
                <a:uFillTx/>
                <a:latin typeface="Arial Unicode MS" pitchFamily="34" charset="-122"/>
                <a:ea typeface="Arial Unicode MS" pitchFamily="34" charset="-122"/>
                <a:cs typeface="Arial Unicode MS" pitchFamily="34" charset="-122"/>
                <a:sym typeface="+mn-lt"/>
              </a:rPr>
              <a:t>);  </a:t>
            </a:r>
            <a:r>
              <a:rPr kumimoji="0" lang="en-US" altLang="zh-CN" sz="2800" b="0" i="0" u="none" strike="noStrike" kern="1200" cap="none" spc="0" normalizeH="0" baseline="0" noProof="0" dirty="0">
                <a:ln>
                  <a:noFill/>
                </a:ln>
                <a:solidFill>
                  <a:schemeClr val="tx1"/>
                </a:solidFill>
                <a:effectLst/>
                <a:uLnTx/>
                <a:uFillTx/>
                <a:latin typeface="+mn-ea"/>
                <a:ea typeface="+mn-ea"/>
                <a:cs typeface="Arial Unicode MS" pitchFamily="34" charset="-122"/>
                <a:sym typeface="+mn-lt"/>
              </a:rPr>
              <a:t>//</a:t>
            </a:r>
            <a:r>
              <a:rPr kumimoji="0" lang="zh-CN" altLang="en-US" sz="2800" b="0" i="0" u="none" strike="noStrike" kern="1200" cap="none" spc="0" normalizeH="0" baseline="0" noProof="0" dirty="0">
                <a:ln>
                  <a:noFill/>
                </a:ln>
                <a:solidFill>
                  <a:schemeClr val="tx1"/>
                </a:solidFill>
                <a:effectLst/>
                <a:uLnTx/>
                <a:uFillTx/>
                <a:latin typeface="+mn-ea"/>
                <a:ea typeface="+mn-ea"/>
                <a:cs typeface="Arial Unicode MS" pitchFamily="34" charset="-122"/>
                <a:sym typeface="+mn-lt"/>
              </a:rPr>
              <a:t>递归创建左子树</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Arial Unicode MS" pitchFamily="34" charset="-122"/>
                <a:ea typeface="Arial Unicode MS" pitchFamily="34" charset="-122"/>
                <a:cs typeface="Arial Unicode MS" pitchFamily="34" charset="-122"/>
                <a:sym typeface="+mn-lt"/>
              </a:rPr>
              <a:t>    </a:t>
            </a:r>
            <a:r>
              <a:rPr kumimoji="0" lang="en-US" altLang="zh-CN" sz="2800" b="0" i="0" u="none" strike="noStrike" kern="1200" cap="none" spc="0" normalizeH="0" baseline="0" noProof="0" dirty="0" err="1">
                <a:ln>
                  <a:noFill/>
                </a:ln>
                <a:solidFill>
                  <a:srgbClr val="FF0000"/>
                </a:solidFill>
                <a:effectLst/>
                <a:uLnTx/>
                <a:uFillTx/>
                <a:latin typeface="Arial Unicode MS" pitchFamily="34" charset="-122"/>
                <a:ea typeface="Arial Unicode MS" pitchFamily="34" charset="-122"/>
                <a:cs typeface="Arial Unicode MS" pitchFamily="34" charset="-122"/>
                <a:sym typeface="+mn-lt"/>
              </a:rPr>
              <a:t>CreateBiTree</a:t>
            </a:r>
            <a:r>
              <a:rPr kumimoji="0" lang="en-US" altLang="zh-CN" sz="2800" b="0" i="0" u="none" strike="noStrike" kern="1200" cap="none" spc="0" normalizeH="0" baseline="0" noProof="0" dirty="0">
                <a:ln>
                  <a:noFill/>
                </a:ln>
                <a:solidFill>
                  <a:srgbClr val="FF0000"/>
                </a:solidFill>
                <a:effectLst/>
                <a:uLnTx/>
                <a:uFillTx/>
                <a:latin typeface="Arial Unicode MS" pitchFamily="34" charset="-122"/>
                <a:ea typeface="Arial Unicode MS" pitchFamily="34" charset="-122"/>
                <a:cs typeface="Arial Unicode MS" pitchFamily="34" charset="-122"/>
                <a:sym typeface="+mn-lt"/>
              </a:rPr>
              <a:t>(T-</a:t>
            </a:r>
            <a:r>
              <a:rPr kumimoji="0" lang="zh-CN" altLang="en-US" sz="2800" b="0" i="0" u="none" strike="noStrike" kern="1200" cap="none" spc="0" normalizeH="0" baseline="0" noProof="0" dirty="0">
                <a:ln>
                  <a:noFill/>
                </a:ln>
                <a:solidFill>
                  <a:srgbClr val="FF0000"/>
                </a:solidFill>
                <a:effectLst/>
                <a:uLnTx/>
                <a:uFillTx/>
                <a:latin typeface="Arial Unicode MS" pitchFamily="34" charset="-122"/>
                <a:ea typeface="Arial Unicode MS" pitchFamily="34" charset="-122"/>
                <a:cs typeface="Arial Unicode MS" pitchFamily="34" charset="-122"/>
                <a:sym typeface="+mn-lt"/>
              </a:rPr>
              <a:t>＞</a:t>
            </a:r>
            <a:r>
              <a:rPr kumimoji="0" lang="en-US" altLang="zh-CN" sz="2800" b="0" i="0" u="none" strike="noStrike" kern="1200" cap="none" spc="0" normalizeH="0" baseline="0" noProof="0" dirty="0" err="1">
                <a:ln>
                  <a:noFill/>
                </a:ln>
                <a:solidFill>
                  <a:srgbClr val="FF0000"/>
                </a:solidFill>
                <a:effectLst/>
                <a:uLnTx/>
                <a:uFillTx/>
                <a:latin typeface="Arial Unicode MS" pitchFamily="34" charset="-122"/>
                <a:ea typeface="Arial Unicode MS" pitchFamily="34" charset="-122"/>
                <a:cs typeface="Arial Unicode MS" pitchFamily="34" charset="-122"/>
                <a:sym typeface="+mn-lt"/>
              </a:rPr>
              <a:t>rchild</a:t>
            </a:r>
            <a:r>
              <a:rPr kumimoji="0" lang="en-US" altLang="zh-CN" sz="2800" b="0" i="0" u="none" strike="noStrike" kern="1200" cap="none" spc="0" normalizeH="0" baseline="0" noProof="0" dirty="0">
                <a:ln>
                  <a:noFill/>
                </a:ln>
                <a:solidFill>
                  <a:srgbClr val="FF0000"/>
                </a:solidFill>
                <a:effectLst/>
                <a:uLnTx/>
                <a:uFillTx/>
                <a:latin typeface="Arial Unicode MS" pitchFamily="34" charset="-122"/>
                <a:ea typeface="Arial Unicode MS" pitchFamily="34" charset="-122"/>
                <a:cs typeface="Arial Unicode MS" pitchFamily="34" charset="-122"/>
                <a:sym typeface="+mn-lt"/>
              </a:rPr>
              <a:t>); </a:t>
            </a:r>
            <a:r>
              <a:rPr kumimoji="0" lang="en-US" altLang="zh-CN" sz="2800" b="0" i="0" u="none" strike="noStrike" kern="1200" cap="none" spc="0" normalizeH="0" baseline="0" noProof="0" dirty="0">
                <a:ln>
                  <a:noFill/>
                </a:ln>
                <a:solidFill>
                  <a:schemeClr val="tx1"/>
                </a:solidFill>
                <a:effectLst/>
                <a:uLnTx/>
                <a:uFillTx/>
                <a:latin typeface="+mn-ea"/>
                <a:ea typeface="+mn-ea"/>
                <a:cs typeface="Arial Unicode MS" pitchFamily="34" charset="-122"/>
                <a:sym typeface="+mn-lt"/>
              </a:rPr>
              <a:t>//</a:t>
            </a:r>
            <a:r>
              <a:rPr kumimoji="0" lang="zh-CN" altLang="en-US" sz="2800" b="0" i="0" u="none" strike="noStrike" kern="1200" cap="none" spc="0" normalizeH="0" baseline="0" noProof="0" dirty="0">
                <a:ln>
                  <a:noFill/>
                </a:ln>
                <a:solidFill>
                  <a:schemeClr val="tx1"/>
                </a:solidFill>
                <a:effectLst/>
                <a:uLnTx/>
                <a:uFillTx/>
                <a:latin typeface="+mn-ea"/>
                <a:ea typeface="+mn-ea"/>
                <a:cs typeface="Arial Unicode MS" pitchFamily="34" charset="-122"/>
                <a:sym typeface="+mn-lt"/>
              </a:rPr>
              <a:t>递归创建右子树</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Arial Unicode MS" pitchFamily="34" charset="-122"/>
                <a:ea typeface="Arial Unicode MS" pitchFamily="34" charset="-122"/>
                <a:cs typeface="Arial Unicode MS" pitchFamily="34" charset="-122"/>
                <a:sym typeface="+mn-lt"/>
              </a:rPr>
              <a:t>  </a:t>
            </a:r>
            <a:r>
              <a:rPr kumimoji="0" lang="en-US" altLang="zh-CN" sz="2800" b="0" i="0" u="none" strike="noStrike" kern="1200" cap="none" spc="0" normalizeH="0" baseline="0" noProof="0" dirty="0">
                <a:ln>
                  <a:noFill/>
                </a:ln>
                <a:solidFill>
                  <a:schemeClr val="tx1"/>
                </a:solidFill>
                <a:effectLst/>
                <a:uLnTx/>
                <a:uFillTx/>
                <a:latin typeface="Arial Unicode MS" pitchFamily="34" charset="-122"/>
                <a:ea typeface="Arial Unicode MS" pitchFamily="34" charset="-122"/>
                <a:cs typeface="Arial Unicode MS" pitchFamily="34" charset="-122"/>
                <a:sym typeface="+mn-lt"/>
              </a:rPr>
              <a:t>}									</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Arial Unicode MS" pitchFamily="34" charset="-122"/>
                <a:ea typeface="Arial Unicode MS" pitchFamily="34" charset="-122"/>
                <a:cs typeface="Arial Unicode MS" pitchFamily="34" charset="-122"/>
                <a:sym typeface="+mn-lt"/>
              </a:rPr>
              <a:t>}</a:t>
            </a:r>
            <a:r>
              <a:rPr kumimoji="0" lang="en-US" altLang="zh-CN" sz="2800" b="0" i="0" u="none" strike="noStrike" kern="1200" cap="none" spc="0" normalizeH="0" baseline="0" noProof="0" dirty="0">
                <a:ln>
                  <a:noFill/>
                </a:ln>
                <a:solidFill>
                  <a:schemeClr val="tx1"/>
                </a:solidFill>
                <a:effectLst/>
                <a:uLnTx/>
                <a:uFillTx/>
                <a:latin typeface="+mn-ea"/>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p>
        </p:txBody>
      </p:sp>
      <p:sp>
        <p:nvSpPr>
          <p:cNvPr id="63492" name="Rectangle 5"/>
          <p:cNvSpPr>
            <a:spLocks noChangeArrowheads="1"/>
          </p:cNvSpPr>
          <p:nvPr/>
        </p:nvSpPr>
        <p:spPr bwMode="auto">
          <a:xfrm>
            <a:off x="781050" y="214313"/>
            <a:ext cx="53562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二叉树的建立（算法</a:t>
            </a:r>
            <a:r>
              <a:rPr kumimoji="0" lang="en-US" altLang="zh-CN"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5.3</a:t>
            </a: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a:t>
            </a:r>
          </a:p>
        </p:txBody>
      </p:sp>
      <p:sp>
        <p:nvSpPr>
          <p:cNvPr id="6" name="矩形 5"/>
          <p:cNvSpPr/>
          <p:nvPr/>
        </p:nvSpPr>
        <p:spPr>
          <a:xfrm>
            <a:off x="0" y="6257925"/>
            <a:ext cx="9144000" cy="60325"/>
          </a:xfrm>
          <a:prstGeom prst="rect">
            <a:avLst/>
          </a:prstGeom>
          <a:solidFill>
            <a:srgbClr val="FF99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800" b="1" i="0" u="none" strike="noStrike" kern="1200" cap="none" spc="0" normalizeH="0" baseline="0" noProof="0">
              <a:ln>
                <a:noFill/>
              </a:ln>
              <a:solidFill>
                <a:schemeClr val="lt1"/>
              </a:solidFill>
              <a:effectLst/>
              <a:uLnTx/>
              <a:uFillTx/>
              <a:latin typeface="+mn-lt"/>
              <a:ea typeface="+mn-ea"/>
              <a:cs typeface="+mn-cs"/>
            </a:endParaRPr>
          </a:p>
        </p:txBody>
      </p:sp>
    </p:spTree>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4"/>
          <p:cNvSpPr>
            <a:spLocks noChangeArrowheads="1"/>
          </p:cNvSpPr>
          <p:nvPr/>
        </p:nvSpPr>
        <p:spPr bwMode="auto">
          <a:xfrm>
            <a:off x="595313" y="1150938"/>
            <a:ext cx="48958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
                <a:srgbClr val="FF3300"/>
              </a:buClr>
              <a:buSzTx/>
              <a:buFontTx/>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计算二叉树结点总数</a:t>
            </a:r>
          </a:p>
        </p:txBody>
      </p:sp>
      <p:sp>
        <p:nvSpPr>
          <p:cNvPr id="64515" name="Rectangle 6"/>
          <p:cNvSpPr>
            <a:spLocks noChangeArrowheads="1"/>
          </p:cNvSpPr>
          <p:nvPr/>
        </p:nvSpPr>
        <p:spPr bwMode="auto">
          <a:xfrm>
            <a:off x="827088" y="236538"/>
            <a:ext cx="664527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二叉树遍历算法的应用</a:t>
            </a:r>
          </a:p>
        </p:txBody>
      </p:sp>
      <p:sp>
        <p:nvSpPr>
          <p:cNvPr id="64516" name="Rectangle 7"/>
          <p:cNvSpPr>
            <a:spLocks noChangeArrowheads="1"/>
          </p:cNvSpPr>
          <p:nvPr/>
        </p:nvSpPr>
        <p:spPr bwMode="auto">
          <a:xfrm>
            <a:off x="595313" y="1989138"/>
            <a:ext cx="8080375" cy="1409700"/>
          </a:xfrm>
          <a:prstGeom prst="roundRect">
            <a:avLst>
              <a:gd name="adj" fmla="val 10361"/>
            </a:avLst>
          </a:prstGeom>
          <a:solidFill>
            <a:srgbClr val="EBEBEB"/>
          </a:solidFill>
          <a:ln w="38100">
            <a:noFill/>
            <a:miter lim="800000"/>
          </a:ln>
        </p:spPr>
        <p:txBody>
          <a:bodyPr>
            <a:spAutoFit/>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
                <a:srgbClr val="FF3300"/>
              </a:buClr>
              <a:buSzTx/>
              <a:buFont typeface="Wingdings" panose="05000000000000000000" pitchFamily="2" charset="2"/>
              <a:buChar char="Ø"/>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如果是空树，则结点个数为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p>
          <a:p>
            <a:pPr marL="342900" marR="0" lvl="0" indent="-342900" algn="l" defTabSz="914400" rtl="0" eaLnBrk="0" fontAlgn="base" latinLnBrk="0" hangingPunct="0">
              <a:lnSpc>
                <a:spcPct val="100000"/>
              </a:lnSpc>
              <a:spcBef>
                <a:spcPct val="20000"/>
              </a:spcBef>
              <a:spcAft>
                <a:spcPct val="0"/>
              </a:spcAft>
              <a:buClr>
                <a:srgbClr val="FF3300"/>
              </a:buClr>
              <a:buSzTx/>
              <a:buFont typeface="Wingdings" panose="05000000000000000000" pitchFamily="2" charset="2"/>
              <a:buChar char="Ø"/>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否则，结点个数为左子树的结点个数</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右子树的结点个数再</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p>
        </p:txBody>
      </p:sp>
      <p:sp>
        <p:nvSpPr>
          <p:cNvPr id="855048" name="Rectangle 8"/>
          <p:cNvSpPr>
            <a:spLocks noChangeArrowheads="1"/>
          </p:cNvSpPr>
          <p:nvPr/>
        </p:nvSpPr>
        <p:spPr bwMode="auto">
          <a:xfrm>
            <a:off x="595313" y="3775075"/>
            <a:ext cx="8080375" cy="2781240"/>
          </a:xfrm>
          <a:prstGeom prst="roundRect">
            <a:avLst>
              <a:gd name="adj" fmla="val 7104"/>
            </a:avLst>
          </a:prstGeom>
          <a:solidFill>
            <a:srgbClr val="A5A5E9"/>
          </a:solidFill>
          <a:ln w="38100">
            <a:noFill/>
            <a:miter lim="800000"/>
          </a:ln>
        </p:spPr>
        <p:txBody>
          <a:bodyPr>
            <a:spAutoFit/>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
                <a:srgbClr val="FF3300"/>
              </a:buClr>
              <a:buSzTx/>
              <a:buFont typeface="Wingdings" panose="05000000000000000000" pitchFamily="2" charset="2"/>
              <a:buNone/>
              <a:defRPr/>
            </a:pP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算法</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5.6</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int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NodeCount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BiTree</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if(T == NULL ) return 0;  			</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else return</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lang="en-US" altLang="zh-CN" sz="2400" b="0" dirty="0">
                <a:latin typeface="+mn-lt"/>
                <a:ea typeface="+mn-ea"/>
                <a:cs typeface="+mn-ea"/>
                <a:sym typeface="+mn-lt"/>
              </a:rPr>
              <a:t>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NodeCount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(T-&gt;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lchild</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NodeCount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(T-&gt;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rchild</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55048">
                                            <p:bg/>
                                          </p:spTgt>
                                        </p:tgtEl>
                                        <p:attrNameLst>
                                          <p:attrName>style.visibility</p:attrName>
                                        </p:attrNameLst>
                                      </p:cBhvr>
                                      <p:to>
                                        <p:strVal val="visible"/>
                                      </p:to>
                                    </p:set>
                                    <p:animEffect transition="in" filter="fade">
                                      <p:cBhvr>
                                        <p:cTn id="7" dur="2000"/>
                                        <p:tgtEl>
                                          <p:spTgt spid="855048">
                                            <p:bg/>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55048">
                                            <p:txEl>
                                              <p:pRg st="0" end="0"/>
                                            </p:txEl>
                                          </p:spTgt>
                                        </p:tgtEl>
                                        <p:attrNameLst>
                                          <p:attrName>style.visibility</p:attrName>
                                        </p:attrNameLst>
                                      </p:cBhvr>
                                      <p:to>
                                        <p:strVal val="visible"/>
                                      </p:to>
                                    </p:set>
                                    <p:animEffect transition="in" filter="fade">
                                      <p:cBhvr>
                                        <p:cTn id="10" dur="2000"/>
                                        <p:tgtEl>
                                          <p:spTgt spid="855048">
                                            <p:txEl>
                                              <p:pRg st="0" end="0"/>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855048">
                                            <p:txEl>
                                              <p:pRg st="1" end="1"/>
                                            </p:txEl>
                                          </p:spTgt>
                                        </p:tgtEl>
                                        <p:attrNameLst>
                                          <p:attrName>style.visibility</p:attrName>
                                        </p:attrNameLst>
                                      </p:cBhvr>
                                      <p:to>
                                        <p:strVal val="visible"/>
                                      </p:to>
                                    </p:set>
                                    <p:animEffect transition="in" filter="fade">
                                      <p:cBhvr>
                                        <p:cTn id="13" dur="2000"/>
                                        <p:tgtEl>
                                          <p:spTgt spid="855048">
                                            <p:txEl>
                                              <p:pRg st="1" end="1"/>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855048">
                                            <p:txEl>
                                              <p:pRg st="2" end="2"/>
                                            </p:txEl>
                                          </p:spTgt>
                                        </p:tgtEl>
                                        <p:attrNameLst>
                                          <p:attrName>style.visibility</p:attrName>
                                        </p:attrNameLst>
                                      </p:cBhvr>
                                      <p:to>
                                        <p:strVal val="visible"/>
                                      </p:to>
                                    </p:set>
                                    <p:animEffect transition="in" filter="fade">
                                      <p:cBhvr>
                                        <p:cTn id="16" dur="2000"/>
                                        <p:tgtEl>
                                          <p:spTgt spid="855048">
                                            <p:txEl>
                                              <p:pRg st="2" end="2"/>
                                            </p:txEl>
                                          </p:spTgt>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855048">
                                            <p:txEl>
                                              <p:pRg st="3" end="3"/>
                                            </p:txEl>
                                          </p:spTgt>
                                        </p:tgtEl>
                                        <p:attrNameLst>
                                          <p:attrName>style.visibility</p:attrName>
                                        </p:attrNameLst>
                                      </p:cBhvr>
                                      <p:to>
                                        <p:strVal val="visible"/>
                                      </p:to>
                                    </p:set>
                                    <p:animEffect transition="in" filter="fade">
                                      <p:cBhvr>
                                        <p:cTn id="19" dur="2000"/>
                                        <p:tgtEl>
                                          <p:spTgt spid="855048">
                                            <p:txEl>
                                              <p:pRg st="3" end="3"/>
                                            </p:txEl>
                                          </p:spTgt>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855048">
                                            <p:txEl>
                                              <p:pRg st="4" end="4"/>
                                            </p:txEl>
                                          </p:spTgt>
                                        </p:tgtEl>
                                        <p:attrNameLst>
                                          <p:attrName>style.visibility</p:attrName>
                                        </p:attrNameLst>
                                      </p:cBhvr>
                                      <p:to>
                                        <p:strVal val="visible"/>
                                      </p:to>
                                    </p:set>
                                    <p:animEffect transition="in" filter="fade">
                                      <p:cBhvr>
                                        <p:cTn id="22" dur="2000"/>
                                        <p:tgtEl>
                                          <p:spTgt spid="855048">
                                            <p:txEl>
                                              <p:pRg st="4" end="4"/>
                                            </p:txEl>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855048">
                                            <p:txEl>
                                              <p:pRg st="5" end="5"/>
                                            </p:txEl>
                                          </p:spTgt>
                                        </p:tgtEl>
                                        <p:attrNameLst>
                                          <p:attrName>style.visibility</p:attrName>
                                        </p:attrNameLst>
                                      </p:cBhvr>
                                      <p:to>
                                        <p:strVal val="visible"/>
                                      </p:to>
                                    </p:set>
                                    <p:animEffect transition="in" filter="fade">
                                      <p:cBhvr>
                                        <p:cTn id="25" dur="2000"/>
                                        <p:tgtEl>
                                          <p:spTgt spid="855048">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5048" grpId="0" build="allAtOnce"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4"/>
          <p:cNvSpPr>
            <a:spLocks noChangeArrowheads="1"/>
          </p:cNvSpPr>
          <p:nvPr/>
        </p:nvSpPr>
        <p:spPr bwMode="auto">
          <a:xfrm>
            <a:off x="468313" y="1000125"/>
            <a:ext cx="59753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
                <a:srgbClr val="FF3300"/>
              </a:buClr>
              <a:buSzTx/>
              <a:buFontTx/>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计算二叉树叶子结点总数</a:t>
            </a:r>
          </a:p>
        </p:txBody>
      </p:sp>
      <p:sp>
        <p:nvSpPr>
          <p:cNvPr id="65539" name="Rectangle 5"/>
          <p:cNvSpPr>
            <a:spLocks noChangeArrowheads="1"/>
          </p:cNvSpPr>
          <p:nvPr/>
        </p:nvSpPr>
        <p:spPr bwMode="auto">
          <a:xfrm>
            <a:off x="827088" y="223838"/>
            <a:ext cx="664527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二叉树遍历算法的应用</a:t>
            </a:r>
          </a:p>
        </p:txBody>
      </p:sp>
      <p:sp>
        <p:nvSpPr>
          <p:cNvPr id="65540" name="Rectangle 6"/>
          <p:cNvSpPr>
            <a:spLocks noChangeArrowheads="1"/>
          </p:cNvSpPr>
          <p:nvPr/>
        </p:nvSpPr>
        <p:spPr bwMode="auto">
          <a:xfrm>
            <a:off x="468313" y="1755775"/>
            <a:ext cx="8080375" cy="2084388"/>
          </a:xfrm>
          <a:prstGeom prst="roundRect">
            <a:avLst>
              <a:gd name="adj" fmla="val 8007"/>
            </a:avLst>
          </a:prstGeom>
          <a:solidFill>
            <a:srgbClr val="EBEBEB"/>
          </a:solidFill>
          <a:ln w="38100">
            <a:solidFill>
              <a:srgbClr val="E2D9EB"/>
            </a:solidFill>
            <a:miter lim="800000"/>
          </a:ln>
        </p:spPr>
        <p:txBody>
          <a:bodyPr anchor="ctr">
            <a:spAutoFit/>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
                <a:srgbClr val="FF3300"/>
              </a:buClr>
              <a:buSzTx/>
              <a:buFont typeface="Wingdings" panose="05000000000000000000" pitchFamily="2" charset="2"/>
              <a:buChar char="Ø"/>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如果是空树，则叶子结点个数为</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0</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p>
          <a:p>
            <a:pPr marL="342900" marR="0" lvl="0" indent="-342900" algn="l" defTabSz="914400" rtl="0" eaLnBrk="0" fontAlgn="base" latinLnBrk="0" hangingPunct="0">
              <a:lnSpc>
                <a:spcPct val="100000"/>
              </a:lnSpc>
              <a:spcBef>
                <a:spcPct val="20000"/>
              </a:spcBef>
              <a:spcAft>
                <a:spcPct val="0"/>
              </a:spcAft>
              <a:buClr>
                <a:srgbClr val="FF3300"/>
              </a:buClr>
              <a:buSzTx/>
              <a:buFont typeface="Wingdings" panose="05000000000000000000" pitchFamily="2" charset="2"/>
              <a:buChar char="Ø"/>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否则，为左子树的叶子结点个数</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右子树的叶子结点个数。</a:t>
            </a:r>
          </a:p>
          <a:p>
            <a:pPr marL="342900" marR="0" lvl="0" indent="-342900" algn="l" defTabSz="914400" rtl="0" eaLnBrk="0" fontAlgn="base" latinLnBrk="0" hangingPunct="0">
              <a:lnSpc>
                <a:spcPct val="100000"/>
              </a:lnSpc>
              <a:spcBef>
                <a:spcPct val="20000"/>
              </a:spcBef>
              <a:spcAft>
                <a:spcPct val="0"/>
              </a:spcAft>
              <a:buClr>
                <a:srgbClr val="FF3300"/>
              </a:buClr>
              <a:buSzTx/>
              <a:buFont typeface="Wingdings" panose="05000000000000000000" pitchFamily="2" charset="2"/>
              <a:buChar char="Ø"/>
              <a:defRPr/>
            </a:pP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a:t>
            </a:r>
          </a:p>
        </p:txBody>
      </p:sp>
      <p:sp>
        <p:nvSpPr>
          <p:cNvPr id="7" name="Rectangle 8"/>
          <p:cNvSpPr>
            <a:spLocks noChangeArrowheads="1"/>
          </p:cNvSpPr>
          <p:nvPr/>
        </p:nvSpPr>
        <p:spPr bwMode="auto">
          <a:xfrm>
            <a:off x="468313" y="4032250"/>
            <a:ext cx="8080375" cy="2690813"/>
          </a:xfrm>
          <a:prstGeom prst="roundRect">
            <a:avLst>
              <a:gd name="adj" fmla="val 6136"/>
            </a:avLst>
          </a:prstGeom>
          <a:solidFill>
            <a:schemeClr val="accent1">
              <a:lumMod val="20000"/>
              <a:lumOff val="80000"/>
            </a:schemeClr>
          </a:solidFill>
          <a:ln w="38100">
            <a:noFill/>
            <a:miter lim="800000"/>
          </a:ln>
        </p:spPr>
        <p:txBody>
          <a:bodyPr anchor="ctr">
            <a:spAutoFit/>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effectLst/>
                <a:uLnTx/>
                <a:uFillTx/>
                <a:latin typeface="+mn-lt"/>
                <a:ea typeface="+mn-ea"/>
                <a:cs typeface="+mn-ea"/>
                <a:sym typeface="+mn-lt"/>
              </a:rPr>
              <a:t>int </a:t>
            </a:r>
            <a:r>
              <a:rPr kumimoji="0" lang="en-US" altLang="zh-CN" sz="2000" b="0" i="0" u="none" strike="noStrike" kern="1200" cap="none" spc="0" normalizeH="0" baseline="0" noProof="0" dirty="0" err="1">
                <a:ln>
                  <a:noFill/>
                </a:ln>
                <a:effectLst/>
                <a:uLnTx/>
                <a:uFillTx/>
                <a:latin typeface="+mn-lt"/>
                <a:ea typeface="+mn-ea"/>
                <a:cs typeface="+mn-ea"/>
                <a:sym typeface="+mn-lt"/>
              </a:rPr>
              <a:t>LeadCount</a:t>
            </a:r>
            <a:r>
              <a:rPr kumimoji="0" lang="en-US" altLang="zh-CN" sz="2000" b="0" i="0" u="none" strike="noStrike" kern="1200" cap="none" spc="0" normalizeH="0" baseline="0" noProof="0" dirty="0">
                <a:ln>
                  <a:noFill/>
                </a:ln>
                <a:effectLst/>
                <a:uLnTx/>
                <a:uFillTx/>
                <a:latin typeface="+mn-lt"/>
                <a:ea typeface="+mn-ea"/>
                <a:cs typeface="+mn-ea"/>
                <a:sym typeface="+mn-lt"/>
              </a:rPr>
              <a:t>(</a:t>
            </a:r>
            <a:r>
              <a:rPr kumimoji="0" lang="en-US" altLang="zh-CN" sz="2000" b="0" i="0" u="none" strike="noStrike" kern="1200" cap="none" spc="0" normalizeH="0" baseline="0" noProof="0" dirty="0" err="1">
                <a:ln>
                  <a:noFill/>
                </a:ln>
                <a:effectLst/>
                <a:uLnTx/>
                <a:uFillTx/>
                <a:latin typeface="+mn-lt"/>
                <a:ea typeface="+mn-ea"/>
                <a:cs typeface="+mn-ea"/>
                <a:sym typeface="+mn-lt"/>
              </a:rPr>
              <a:t>BiTree</a:t>
            </a:r>
            <a:r>
              <a:rPr kumimoji="0" lang="en-US" altLang="zh-CN" sz="2000" b="0" i="0" u="none" strike="noStrike" kern="1200" cap="none" spc="0" normalizeH="0" baseline="0" noProof="0" dirty="0">
                <a:ln>
                  <a:noFill/>
                </a:ln>
                <a:effectLst/>
                <a:uLnTx/>
                <a:uFillTx/>
                <a:latin typeface="+mn-lt"/>
                <a:ea typeface="+mn-ea"/>
                <a:cs typeface="+mn-ea"/>
                <a:sym typeface="+mn-lt"/>
              </a:rPr>
              <a:t> 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effectLst/>
                <a:uLnTx/>
                <a:uFillTx/>
                <a:latin typeface="+mn-lt"/>
                <a:ea typeface="+mn-ea"/>
                <a:cs typeface="+mn-ea"/>
                <a:sym typeface="+mn-lt"/>
              </a:rPr>
              <a:t> 	if(T==NULL) 	//</a:t>
            </a:r>
            <a:r>
              <a:rPr kumimoji="0" lang="zh-CN" altLang="en-US" sz="2000" b="0" i="0" u="none" strike="noStrike" kern="1200" cap="none" spc="0" normalizeH="0" baseline="0" noProof="0" dirty="0">
                <a:ln>
                  <a:noFill/>
                </a:ln>
                <a:effectLst/>
                <a:uLnTx/>
                <a:uFillTx/>
                <a:latin typeface="+mn-lt"/>
                <a:ea typeface="+mn-ea"/>
                <a:cs typeface="+mn-ea"/>
                <a:sym typeface="+mn-lt"/>
              </a:rPr>
              <a:t>如果是空树返回</a:t>
            </a:r>
            <a:r>
              <a:rPr kumimoji="0" lang="en-US" altLang="zh-CN" sz="2000" b="0" i="0" u="none" strike="noStrike" kern="1200" cap="none" spc="0" normalizeH="0" baseline="0" noProof="0" dirty="0">
                <a:ln>
                  <a:noFill/>
                </a:ln>
                <a:effectLst/>
                <a:uLnTx/>
                <a:uFillTx/>
                <a:latin typeface="+mn-lt"/>
                <a:ea typeface="+mn-ea"/>
                <a:cs typeface="+mn-ea"/>
                <a:sym typeface="+mn-lt"/>
              </a:rPr>
              <a:t>0</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effectLst/>
                <a:uLnTx/>
                <a:uFillTx/>
                <a:latin typeface="+mn-lt"/>
                <a:ea typeface="+mn-ea"/>
                <a:cs typeface="+mn-ea"/>
                <a:sym typeface="+mn-lt"/>
              </a:rPr>
              <a:t>		return 0;</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	if (T-&gt;</a:t>
            </a:r>
            <a:r>
              <a:rPr kumimoji="0" lang="en-US" altLang="zh-CN" sz="2000" b="0" i="0" u="none" strike="noStrike" kern="1200" cap="none" spc="0" normalizeH="0" baseline="0" noProof="0" dirty="0" err="1">
                <a:ln>
                  <a:noFill/>
                </a:ln>
                <a:solidFill>
                  <a:srgbClr val="FF0000"/>
                </a:solidFill>
                <a:effectLst/>
                <a:uLnTx/>
                <a:uFillTx/>
                <a:latin typeface="+mn-lt"/>
                <a:ea typeface="+mn-ea"/>
                <a:cs typeface="+mn-ea"/>
                <a:sym typeface="+mn-lt"/>
              </a:rPr>
              <a:t>lchild</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 == NULL &amp;&amp; T-&gt;</a:t>
            </a:r>
            <a:r>
              <a:rPr kumimoji="0" lang="en-US" altLang="zh-CN" sz="2000" b="0" i="0" u="none" strike="noStrike" kern="1200" cap="none" spc="0" normalizeH="0" baseline="0" noProof="0" dirty="0" err="1">
                <a:ln>
                  <a:noFill/>
                </a:ln>
                <a:solidFill>
                  <a:srgbClr val="FF0000"/>
                </a:solidFill>
                <a:effectLst/>
                <a:uLnTx/>
                <a:uFillTx/>
                <a:latin typeface="+mn-lt"/>
                <a:ea typeface="+mn-ea"/>
                <a:cs typeface="+mn-ea"/>
                <a:sym typeface="+mn-lt"/>
              </a:rPr>
              <a:t>rchild</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 == NULL)</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		return 1;            //</a:t>
            </a:r>
            <a:r>
              <a:rPr kumimoji="0" lang="zh-CN" altLang="en-US" sz="2000" b="0" i="0" u="none" strike="noStrike" kern="1200" cap="none" spc="0" normalizeH="0" baseline="0" noProof="0" dirty="0">
                <a:ln>
                  <a:noFill/>
                </a:ln>
                <a:solidFill>
                  <a:srgbClr val="FF0000"/>
                </a:solidFill>
                <a:effectLst/>
                <a:uLnTx/>
                <a:uFillTx/>
                <a:latin typeface="+mn-lt"/>
                <a:ea typeface="+mn-ea"/>
                <a:cs typeface="+mn-ea"/>
                <a:sym typeface="+mn-lt"/>
              </a:rPr>
              <a:t>如果是叶子结点返回</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1</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effectLst/>
                <a:uLnTx/>
                <a:uFillTx/>
                <a:latin typeface="+mn-lt"/>
                <a:ea typeface="+mn-ea"/>
                <a:cs typeface="+mn-ea"/>
                <a:sym typeface="+mn-lt"/>
              </a:rPr>
              <a:t>	else return </a:t>
            </a:r>
            <a:r>
              <a:rPr kumimoji="0" lang="en-US" altLang="zh-CN" sz="2000" b="0" i="0" u="none" strike="noStrike" kern="1200" cap="none" spc="0" normalizeH="0" baseline="0" noProof="0" dirty="0" err="1">
                <a:ln>
                  <a:noFill/>
                </a:ln>
                <a:effectLst/>
                <a:uLnTx/>
                <a:uFillTx/>
                <a:latin typeface="+mn-lt"/>
                <a:ea typeface="+mn-ea"/>
                <a:cs typeface="+mn-ea"/>
                <a:sym typeface="+mn-lt"/>
              </a:rPr>
              <a:t>LeafCount</a:t>
            </a:r>
            <a:r>
              <a:rPr kumimoji="0" lang="en-US" altLang="zh-CN" sz="2000" b="0" i="0" u="none" strike="noStrike" kern="1200" cap="none" spc="0" normalizeH="0" baseline="0" noProof="0" dirty="0">
                <a:ln>
                  <a:noFill/>
                </a:ln>
                <a:effectLst/>
                <a:uLnTx/>
                <a:uFillTx/>
                <a:latin typeface="+mn-lt"/>
                <a:ea typeface="+mn-ea"/>
                <a:cs typeface="+mn-ea"/>
                <a:sym typeface="+mn-lt"/>
              </a:rPr>
              <a:t>(T-&gt;</a:t>
            </a:r>
            <a:r>
              <a:rPr kumimoji="0" lang="en-US" altLang="zh-CN" sz="2000" b="0" i="0" u="none" strike="noStrike" kern="1200" cap="none" spc="0" normalizeH="0" baseline="0" noProof="0" dirty="0" err="1">
                <a:ln>
                  <a:noFill/>
                </a:ln>
                <a:effectLst/>
                <a:uLnTx/>
                <a:uFillTx/>
                <a:latin typeface="+mn-lt"/>
                <a:ea typeface="+mn-ea"/>
                <a:cs typeface="+mn-ea"/>
                <a:sym typeface="+mn-lt"/>
              </a:rPr>
              <a:t>lchild</a:t>
            </a:r>
            <a:r>
              <a:rPr kumimoji="0" lang="en-US" altLang="zh-CN" sz="2000" b="0" i="0" u="none" strike="noStrike" kern="1200" cap="none" spc="0" normalizeH="0" baseline="0" noProof="0" dirty="0">
                <a:ln>
                  <a:noFill/>
                </a:ln>
                <a:effectLst/>
                <a:uLnTx/>
                <a:uFillTx/>
                <a:latin typeface="+mn-lt"/>
                <a:ea typeface="+mn-ea"/>
                <a:cs typeface="+mn-ea"/>
                <a:sym typeface="+mn-lt"/>
              </a:rPr>
              <a:t>) + </a:t>
            </a:r>
            <a:r>
              <a:rPr kumimoji="0" lang="en-US" altLang="zh-CN" sz="2000" b="0" i="0" u="none" strike="noStrike" kern="1200" cap="none" spc="0" normalizeH="0" baseline="0" noProof="0" dirty="0" err="1">
                <a:ln>
                  <a:noFill/>
                </a:ln>
                <a:effectLst/>
                <a:uLnTx/>
                <a:uFillTx/>
                <a:latin typeface="+mn-lt"/>
                <a:ea typeface="+mn-ea"/>
                <a:cs typeface="+mn-ea"/>
                <a:sym typeface="+mn-lt"/>
              </a:rPr>
              <a:t>LeafCount</a:t>
            </a:r>
            <a:r>
              <a:rPr kumimoji="0" lang="en-US" altLang="zh-CN" sz="2000" b="0" i="0" u="none" strike="noStrike" kern="1200" cap="none" spc="0" normalizeH="0" baseline="0" noProof="0" dirty="0">
                <a:ln>
                  <a:noFill/>
                </a:ln>
                <a:effectLst/>
                <a:uLnTx/>
                <a:uFillTx/>
                <a:latin typeface="+mn-lt"/>
                <a:ea typeface="+mn-ea"/>
                <a:cs typeface="+mn-ea"/>
                <a:sym typeface="+mn-lt"/>
              </a:rPr>
              <a:t>(T-&gt;</a:t>
            </a:r>
            <a:r>
              <a:rPr kumimoji="0" lang="en-US" altLang="zh-CN" sz="2000" b="0" i="0" u="none" strike="noStrike" kern="1200" cap="none" spc="0" normalizeH="0" baseline="0" noProof="0" dirty="0" err="1">
                <a:ln>
                  <a:noFill/>
                </a:ln>
                <a:effectLst/>
                <a:uLnTx/>
                <a:uFillTx/>
                <a:latin typeface="+mn-lt"/>
                <a:ea typeface="+mn-ea"/>
                <a:cs typeface="+mn-ea"/>
                <a:sym typeface="+mn-lt"/>
              </a:rPr>
              <a:t>rchild</a:t>
            </a:r>
            <a:r>
              <a:rPr kumimoji="0" lang="en-US" altLang="zh-CN" sz="2000" b="0" i="0" u="none" strike="noStrike" kern="1200" cap="none" spc="0" normalizeH="0" baseline="0" noProof="0" dirty="0">
                <a:ln>
                  <a:noFill/>
                </a:ln>
                <a:effectLst/>
                <a:uLnTx/>
                <a:uFillTx/>
                <a:latin typeface="+mn-lt"/>
                <a:ea typeface="+mn-ea"/>
                <a:cs typeface="+mn-ea"/>
                <a:sym typeface="+mn-lt"/>
              </a:rPr>
              <a:t>);</a:t>
            </a:r>
          </a:p>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effectLst/>
                <a:uLnTx/>
                <a:uFillTx/>
                <a:latin typeface="+mn-lt"/>
                <a:ea typeface="+mn-ea"/>
                <a:cs typeface="+mn-ea"/>
                <a:sym typeface="+mn-lt"/>
              </a:rPr>
              <a:t>}</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bg/>
                                          </p:spTgt>
                                        </p:tgtEl>
                                        <p:attrNameLst>
                                          <p:attrName>style.visibility</p:attrName>
                                        </p:attrNameLst>
                                      </p:cBhvr>
                                      <p:to>
                                        <p:strVal val="visible"/>
                                      </p:to>
                                    </p:set>
                                    <p:animEffect transition="in" filter="fade">
                                      <p:cBhvr>
                                        <p:cTn id="7" dur="2000"/>
                                        <p:tgtEl>
                                          <p:spTgt spid="7">
                                            <p:bg/>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xEl>
                                              <p:pRg st="0" end="0"/>
                                            </p:txEl>
                                          </p:spTgt>
                                        </p:tgtEl>
                                        <p:attrNameLst>
                                          <p:attrName>style.visibility</p:attrName>
                                        </p:attrNameLst>
                                      </p:cBhvr>
                                      <p:to>
                                        <p:strVal val="visible"/>
                                      </p:to>
                                    </p:set>
                                    <p:animEffect transition="in" filter="fade">
                                      <p:cBhvr>
                                        <p:cTn id="10" dur="2000"/>
                                        <p:tgtEl>
                                          <p:spTgt spid="7">
                                            <p:txEl>
                                              <p:pRg st="0" end="0"/>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xEl>
                                              <p:pRg st="1" end="1"/>
                                            </p:txEl>
                                          </p:spTgt>
                                        </p:tgtEl>
                                        <p:attrNameLst>
                                          <p:attrName>style.visibility</p:attrName>
                                        </p:attrNameLst>
                                      </p:cBhvr>
                                      <p:to>
                                        <p:strVal val="visible"/>
                                      </p:to>
                                    </p:set>
                                    <p:animEffect transition="in" filter="fade">
                                      <p:cBhvr>
                                        <p:cTn id="13" dur="2000"/>
                                        <p:tgtEl>
                                          <p:spTgt spid="7">
                                            <p:txEl>
                                              <p:pRg st="1" end="1"/>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7">
                                            <p:txEl>
                                              <p:pRg st="2" end="2"/>
                                            </p:txEl>
                                          </p:spTgt>
                                        </p:tgtEl>
                                        <p:attrNameLst>
                                          <p:attrName>style.visibility</p:attrName>
                                        </p:attrNameLst>
                                      </p:cBhvr>
                                      <p:to>
                                        <p:strVal val="visible"/>
                                      </p:to>
                                    </p:set>
                                    <p:animEffect transition="in" filter="fade">
                                      <p:cBhvr>
                                        <p:cTn id="16" dur="2000"/>
                                        <p:tgtEl>
                                          <p:spTgt spid="7">
                                            <p:txEl>
                                              <p:pRg st="2" end="2"/>
                                            </p:txEl>
                                          </p:spTgt>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7">
                                            <p:txEl>
                                              <p:pRg st="3" end="3"/>
                                            </p:txEl>
                                          </p:spTgt>
                                        </p:tgtEl>
                                        <p:attrNameLst>
                                          <p:attrName>style.visibility</p:attrName>
                                        </p:attrNameLst>
                                      </p:cBhvr>
                                      <p:to>
                                        <p:strVal val="visible"/>
                                      </p:to>
                                    </p:set>
                                    <p:animEffect transition="in" filter="fade">
                                      <p:cBhvr>
                                        <p:cTn id="19" dur="2000"/>
                                        <p:tgtEl>
                                          <p:spTgt spid="7">
                                            <p:txEl>
                                              <p:pRg st="3" end="3"/>
                                            </p:txEl>
                                          </p:spTgt>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7">
                                            <p:txEl>
                                              <p:pRg st="4" end="4"/>
                                            </p:txEl>
                                          </p:spTgt>
                                        </p:tgtEl>
                                        <p:attrNameLst>
                                          <p:attrName>style.visibility</p:attrName>
                                        </p:attrNameLst>
                                      </p:cBhvr>
                                      <p:to>
                                        <p:strVal val="visible"/>
                                      </p:to>
                                    </p:set>
                                    <p:animEffect transition="in" filter="fade">
                                      <p:cBhvr>
                                        <p:cTn id="22" dur="2000"/>
                                        <p:tgtEl>
                                          <p:spTgt spid="7">
                                            <p:txEl>
                                              <p:pRg st="4" end="4"/>
                                            </p:txEl>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7">
                                            <p:txEl>
                                              <p:pRg st="5" end="5"/>
                                            </p:txEl>
                                          </p:spTgt>
                                        </p:tgtEl>
                                        <p:attrNameLst>
                                          <p:attrName>style.visibility</p:attrName>
                                        </p:attrNameLst>
                                      </p:cBhvr>
                                      <p:to>
                                        <p:strVal val="visible"/>
                                      </p:to>
                                    </p:set>
                                    <p:animEffect transition="in" filter="fade">
                                      <p:cBhvr>
                                        <p:cTn id="25" dur="2000"/>
                                        <p:tgtEl>
                                          <p:spTgt spid="7">
                                            <p:txEl>
                                              <p:pRg st="5" end="5"/>
                                            </p:tx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7">
                                            <p:txEl>
                                              <p:pRg st="6" end="6"/>
                                            </p:txEl>
                                          </p:spTgt>
                                        </p:tgtEl>
                                        <p:attrNameLst>
                                          <p:attrName>style.visibility</p:attrName>
                                        </p:attrNameLst>
                                      </p:cBhvr>
                                      <p:to>
                                        <p:strVal val="visible"/>
                                      </p:to>
                                    </p:set>
                                    <p:animEffect transition="in" filter="fade">
                                      <p:cBhvr>
                                        <p:cTn id="28" dur="2000"/>
                                        <p:tgtEl>
                                          <p:spTgt spid="7">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allAtOnce"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4"/>
          <p:cNvSpPr>
            <a:spLocks noChangeArrowheads="1"/>
          </p:cNvSpPr>
          <p:nvPr/>
        </p:nvSpPr>
        <p:spPr bwMode="auto">
          <a:xfrm>
            <a:off x="467544" y="833196"/>
            <a:ext cx="4895850" cy="581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25000"/>
              </a:lnSpc>
              <a:spcBef>
                <a:spcPct val="0"/>
              </a:spcBef>
              <a:spcAft>
                <a:spcPct val="0"/>
              </a:spcAft>
              <a:buClr>
                <a:srgbClr val="FF3300"/>
              </a:buClr>
              <a:buSzTx/>
              <a:buFontTx/>
              <a:buNone/>
              <a:defRPr/>
            </a:pPr>
            <a:r>
              <a:rPr kumimoji="0" lang="zh-CN" altLang="en-US" b="0" i="0" u="none" strike="noStrike" kern="1200" cap="none" spc="0" normalizeH="0" baseline="0" noProof="0" dirty="0">
                <a:ln>
                  <a:noFill/>
                </a:ln>
                <a:solidFill>
                  <a:schemeClr val="tx1"/>
                </a:solidFill>
                <a:effectLst/>
                <a:uLnTx/>
                <a:uFillTx/>
                <a:latin typeface="+mn-lt"/>
                <a:ea typeface="+mn-ea"/>
                <a:cs typeface="+mn-ea"/>
                <a:sym typeface="+mn-lt"/>
              </a:rPr>
              <a:t>计算二叉树深度</a:t>
            </a:r>
          </a:p>
        </p:txBody>
      </p:sp>
      <p:sp>
        <p:nvSpPr>
          <p:cNvPr id="66563" name="Rectangle 5"/>
          <p:cNvSpPr>
            <a:spLocks noChangeArrowheads="1"/>
          </p:cNvSpPr>
          <p:nvPr/>
        </p:nvSpPr>
        <p:spPr bwMode="auto">
          <a:xfrm>
            <a:off x="887413" y="214313"/>
            <a:ext cx="664527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二叉树遍历算法的应用</a:t>
            </a:r>
          </a:p>
        </p:txBody>
      </p:sp>
      <p:sp>
        <p:nvSpPr>
          <p:cNvPr id="66564" name="Rectangle 6"/>
          <p:cNvSpPr>
            <a:spLocks noChangeArrowheads="1"/>
          </p:cNvSpPr>
          <p:nvPr/>
        </p:nvSpPr>
        <p:spPr bwMode="auto">
          <a:xfrm>
            <a:off x="251521" y="1737394"/>
            <a:ext cx="4237930" cy="2393027"/>
          </a:xfrm>
          <a:prstGeom prst="rect">
            <a:avLst/>
          </a:prstGeom>
          <a:solidFill>
            <a:schemeClr val="bg2">
              <a:lumMod val="20000"/>
              <a:lumOff val="80000"/>
            </a:schemeClr>
          </a:solidFill>
          <a:ln w="38100">
            <a:noFill/>
            <a:miter lim="800000"/>
          </a:ln>
        </p:spPr>
        <p:txBody>
          <a:bodyPr wrap="square">
            <a:spAutoFit/>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25000"/>
              </a:lnSpc>
              <a:spcBef>
                <a:spcPct val="20000"/>
              </a:spcBef>
              <a:spcAft>
                <a:spcPct val="0"/>
              </a:spcAft>
              <a:buClr>
                <a:srgbClr val="FF3300"/>
              </a:buClr>
              <a:buSzTx/>
              <a:buFont typeface="Wingdings" panose="05000000000000000000" pitchFamily="2" charset="2"/>
              <a:buChar char="Ø"/>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如果是空树，则深度为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p>
          <a:p>
            <a:pPr marL="342900" marR="0" lvl="0" indent="-342900" algn="l" defTabSz="914400" rtl="0" eaLnBrk="0" fontAlgn="base" latinLnBrk="0" hangingPunct="0">
              <a:lnSpc>
                <a:spcPct val="125000"/>
              </a:lnSpc>
              <a:spcBef>
                <a:spcPct val="20000"/>
              </a:spcBef>
              <a:spcAft>
                <a:spcPct val="0"/>
              </a:spcAft>
              <a:buClr>
                <a:srgbClr val="FF3300"/>
              </a:buClr>
              <a:buSzTx/>
              <a:buFont typeface="Wingdings" panose="05000000000000000000" pitchFamily="2" charset="2"/>
              <a:buChar char="Ø"/>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否则：</a:t>
            </a: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a:p>
            <a:pPr lvl="1" indent="-342900">
              <a:lnSpc>
                <a:spcPct val="125000"/>
              </a:lnSpc>
              <a:spcBef>
                <a:spcPct val="20000"/>
              </a:spcBef>
              <a:buClr>
                <a:srgbClr val="FF3300"/>
              </a:buClr>
              <a:buFont typeface="Wingdings" panose="05000000000000000000" pitchFamily="2" charset="2"/>
              <a:buChar char="ü"/>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递归计算左子树的深度记为</a:t>
            </a:r>
            <a:r>
              <a:rPr kumimoji="0" lang="en-US" altLang="zh-CN" sz="2000" b="0" i="1" u="none" strike="noStrike" kern="1200" cap="none" spc="0" normalizeH="0" baseline="0" noProof="0" dirty="0">
                <a:ln>
                  <a:noFill/>
                </a:ln>
                <a:solidFill>
                  <a:schemeClr val="tx1"/>
                </a:solidFill>
                <a:effectLst/>
                <a:uLnTx/>
                <a:uFillTx/>
                <a:latin typeface="+mn-lt"/>
                <a:ea typeface="+mn-ea"/>
                <a:cs typeface="+mn-ea"/>
                <a:sym typeface="+mn-lt"/>
              </a:rPr>
              <a:t>m</a:t>
            </a:r>
            <a:endParaRPr lang="en-US" altLang="zh-CN" sz="2000" b="0" dirty="0">
              <a:latin typeface="+mn-lt"/>
              <a:ea typeface="+mn-ea"/>
              <a:cs typeface="+mn-ea"/>
              <a:sym typeface="+mn-lt"/>
            </a:endParaRPr>
          </a:p>
          <a:p>
            <a:pPr lvl="1" indent="-342900">
              <a:lnSpc>
                <a:spcPct val="125000"/>
              </a:lnSpc>
              <a:spcBef>
                <a:spcPct val="20000"/>
              </a:spcBef>
              <a:buClr>
                <a:srgbClr val="FF3300"/>
              </a:buClr>
              <a:buFont typeface="Wingdings" panose="05000000000000000000" pitchFamily="2" charset="2"/>
              <a:buChar char="ü"/>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递归计算右子树的深度记为</a:t>
            </a:r>
            <a:r>
              <a:rPr kumimoji="0" lang="en-US" altLang="zh-CN" sz="2000" b="0" i="1" u="none" strike="noStrike" kern="1200" cap="none" spc="0" normalizeH="0" baseline="0" noProof="0" dirty="0">
                <a:ln>
                  <a:noFill/>
                </a:ln>
                <a:solidFill>
                  <a:schemeClr val="tx1"/>
                </a:solidFill>
                <a:effectLst/>
                <a:uLnTx/>
                <a:uFillTx/>
                <a:latin typeface="+mn-lt"/>
                <a:ea typeface="+mn-ea"/>
                <a:cs typeface="+mn-ea"/>
                <a:sym typeface="+mn-lt"/>
              </a:rPr>
              <a:t>n</a:t>
            </a:r>
            <a:endParaRPr lang="en-US" altLang="zh-CN" sz="2000" b="0" dirty="0">
              <a:latin typeface="+mn-lt"/>
              <a:ea typeface="+mn-ea"/>
              <a:cs typeface="+mn-ea"/>
              <a:sym typeface="+mn-lt"/>
            </a:endParaRPr>
          </a:p>
          <a:p>
            <a:pPr lvl="1" indent="-342900">
              <a:lnSpc>
                <a:spcPct val="125000"/>
              </a:lnSpc>
              <a:spcBef>
                <a:spcPct val="20000"/>
              </a:spcBef>
              <a:buClr>
                <a:srgbClr val="FF3300"/>
              </a:buClr>
              <a:buFont typeface="Wingdings" panose="05000000000000000000" pitchFamily="2" charset="2"/>
              <a:buChar char="ü"/>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深度则为</a:t>
            </a:r>
            <a:r>
              <a:rPr kumimoji="0" lang="en-US" altLang="zh-CN" sz="2000" b="0" i="1" u="none" strike="noStrike" kern="1200" cap="none" spc="0" normalizeH="0" baseline="0" noProof="0" dirty="0">
                <a:ln>
                  <a:noFill/>
                </a:ln>
                <a:solidFill>
                  <a:schemeClr val="tx1"/>
                </a:solidFill>
                <a:effectLst/>
                <a:uLnTx/>
                <a:uFillTx/>
                <a:latin typeface="+mn-lt"/>
                <a:ea typeface="+mn-ea"/>
                <a:cs typeface="+mn-ea"/>
                <a:sym typeface="+mn-lt"/>
              </a:rPr>
              <a:t>m</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与</a:t>
            </a:r>
            <a:r>
              <a:rPr kumimoji="0" lang="en-US" altLang="zh-CN" sz="2000" b="0" i="1"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的较大者加</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 </a:t>
            </a:r>
          </a:p>
        </p:txBody>
      </p:sp>
      <p:grpSp>
        <p:nvGrpSpPr>
          <p:cNvPr id="69637" name="组合 1"/>
          <p:cNvGrpSpPr/>
          <p:nvPr/>
        </p:nvGrpSpPr>
        <p:grpSpPr>
          <a:xfrm>
            <a:off x="4787900" y="1842169"/>
            <a:ext cx="3890963" cy="3675063"/>
            <a:chOff x="4267041" y="2193925"/>
            <a:chExt cx="4572793" cy="4318001"/>
          </a:xfrm>
        </p:grpSpPr>
        <p:sp>
          <p:nvSpPr>
            <p:cNvPr id="7" name="Freeform 5"/>
            <p:cNvSpPr/>
            <p:nvPr/>
          </p:nvSpPr>
          <p:spPr bwMode="auto">
            <a:xfrm>
              <a:off x="4267041" y="2193925"/>
              <a:ext cx="2087701" cy="4318001"/>
            </a:xfrm>
            <a:custGeom>
              <a:avLst/>
              <a:gdLst>
                <a:gd name="T0" fmla="*/ 113 w 131"/>
                <a:gd name="T1" fmla="*/ 246 h 270"/>
                <a:gd name="T2" fmla="*/ 105 w 131"/>
                <a:gd name="T3" fmla="*/ 246 h 270"/>
                <a:gd name="T4" fmla="*/ 105 w 131"/>
                <a:gd name="T5" fmla="*/ 246 h 270"/>
                <a:gd name="T6" fmla="*/ 105 w 131"/>
                <a:gd name="T7" fmla="*/ 17 h 270"/>
                <a:gd name="T8" fmla="*/ 87 w 131"/>
                <a:gd name="T9" fmla="*/ 0 h 270"/>
                <a:gd name="T10" fmla="*/ 43 w 131"/>
                <a:gd name="T11" fmla="*/ 0 h 270"/>
                <a:gd name="T12" fmla="*/ 26 w 131"/>
                <a:gd name="T13" fmla="*/ 17 h 270"/>
                <a:gd name="T14" fmla="*/ 26 w 131"/>
                <a:gd name="T15" fmla="*/ 246 h 270"/>
                <a:gd name="T16" fmla="*/ 26 w 131"/>
                <a:gd name="T17" fmla="*/ 246 h 270"/>
                <a:gd name="T18" fmla="*/ 17 w 131"/>
                <a:gd name="T19" fmla="*/ 246 h 270"/>
                <a:gd name="T20" fmla="*/ 0 w 131"/>
                <a:gd name="T21" fmla="*/ 264 h 270"/>
                <a:gd name="T22" fmla="*/ 0 w 131"/>
                <a:gd name="T23" fmla="*/ 270 h 270"/>
                <a:gd name="T24" fmla="*/ 131 w 131"/>
                <a:gd name="T25" fmla="*/ 270 h 270"/>
                <a:gd name="T26" fmla="*/ 131 w 131"/>
                <a:gd name="T27" fmla="*/ 264 h 270"/>
                <a:gd name="T28" fmla="*/ 113 w 131"/>
                <a:gd name="T29" fmla="*/ 24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1" h="270">
                  <a:moveTo>
                    <a:pt x="113" y="246"/>
                  </a:moveTo>
                  <a:cubicBezTo>
                    <a:pt x="105" y="246"/>
                    <a:pt x="105" y="246"/>
                    <a:pt x="105" y="246"/>
                  </a:cubicBezTo>
                  <a:cubicBezTo>
                    <a:pt x="105" y="246"/>
                    <a:pt x="105" y="246"/>
                    <a:pt x="105" y="246"/>
                  </a:cubicBezTo>
                  <a:cubicBezTo>
                    <a:pt x="105" y="17"/>
                    <a:pt x="105" y="17"/>
                    <a:pt x="105" y="17"/>
                  </a:cubicBezTo>
                  <a:cubicBezTo>
                    <a:pt x="105" y="8"/>
                    <a:pt x="97" y="0"/>
                    <a:pt x="87" y="0"/>
                  </a:cubicBezTo>
                  <a:cubicBezTo>
                    <a:pt x="43" y="0"/>
                    <a:pt x="43" y="0"/>
                    <a:pt x="43" y="0"/>
                  </a:cubicBezTo>
                  <a:cubicBezTo>
                    <a:pt x="34" y="0"/>
                    <a:pt x="26" y="8"/>
                    <a:pt x="26" y="17"/>
                  </a:cubicBezTo>
                  <a:cubicBezTo>
                    <a:pt x="26" y="246"/>
                    <a:pt x="26" y="246"/>
                    <a:pt x="26" y="246"/>
                  </a:cubicBezTo>
                  <a:cubicBezTo>
                    <a:pt x="26" y="246"/>
                    <a:pt x="26" y="246"/>
                    <a:pt x="26" y="246"/>
                  </a:cubicBezTo>
                  <a:cubicBezTo>
                    <a:pt x="17" y="246"/>
                    <a:pt x="17" y="246"/>
                    <a:pt x="17" y="246"/>
                  </a:cubicBezTo>
                  <a:cubicBezTo>
                    <a:pt x="8" y="246"/>
                    <a:pt x="0" y="254"/>
                    <a:pt x="0" y="264"/>
                  </a:cubicBezTo>
                  <a:cubicBezTo>
                    <a:pt x="0" y="270"/>
                    <a:pt x="0" y="270"/>
                    <a:pt x="0" y="270"/>
                  </a:cubicBezTo>
                  <a:cubicBezTo>
                    <a:pt x="131" y="270"/>
                    <a:pt x="131" y="270"/>
                    <a:pt x="131" y="270"/>
                  </a:cubicBezTo>
                  <a:cubicBezTo>
                    <a:pt x="131" y="264"/>
                    <a:pt x="131" y="264"/>
                    <a:pt x="131" y="264"/>
                  </a:cubicBezTo>
                  <a:cubicBezTo>
                    <a:pt x="131" y="254"/>
                    <a:pt x="123" y="246"/>
                    <a:pt x="113" y="246"/>
                  </a:cubicBezTo>
                  <a:close/>
                </a:path>
              </a:pathLst>
            </a:custGeom>
            <a:solidFill>
              <a:srgbClr val="0070C0"/>
            </a:solid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 name="Freeform 7"/>
            <p:cNvSpPr/>
            <p:nvPr/>
          </p:nvSpPr>
          <p:spPr bwMode="auto">
            <a:xfrm>
              <a:off x="5446154" y="2466248"/>
              <a:ext cx="14925" cy="14922"/>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 name="Freeform 9"/>
            <p:cNvSpPr/>
            <p:nvPr/>
          </p:nvSpPr>
          <p:spPr bwMode="auto">
            <a:xfrm>
              <a:off x="6752133" y="3040738"/>
              <a:ext cx="2087701" cy="3471188"/>
            </a:xfrm>
            <a:custGeom>
              <a:avLst/>
              <a:gdLst>
                <a:gd name="T0" fmla="*/ 113 w 131"/>
                <a:gd name="T1" fmla="*/ 193 h 217"/>
                <a:gd name="T2" fmla="*/ 105 w 131"/>
                <a:gd name="T3" fmla="*/ 193 h 217"/>
                <a:gd name="T4" fmla="*/ 105 w 131"/>
                <a:gd name="T5" fmla="*/ 17 h 217"/>
                <a:gd name="T6" fmla="*/ 88 w 131"/>
                <a:gd name="T7" fmla="*/ 0 h 217"/>
                <a:gd name="T8" fmla="*/ 44 w 131"/>
                <a:gd name="T9" fmla="*/ 0 h 217"/>
                <a:gd name="T10" fmla="*/ 26 w 131"/>
                <a:gd name="T11" fmla="*/ 17 h 217"/>
                <a:gd name="T12" fmla="*/ 26 w 131"/>
                <a:gd name="T13" fmla="*/ 193 h 217"/>
                <a:gd name="T14" fmla="*/ 17 w 131"/>
                <a:gd name="T15" fmla="*/ 193 h 217"/>
                <a:gd name="T16" fmla="*/ 0 w 131"/>
                <a:gd name="T17" fmla="*/ 211 h 217"/>
                <a:gd name="T18" fmla="*/ 0 w 131"/>
                <a:gd name="T19" fmla="*/ 217 h 217"/>
                <a:gd name="T20" fmla="*/ 131 w 131"/>
                <a:gd name="T21" fmla="*/ 217 h 217"/>
                <a:gd name="T22" fmla="*/ 131 w 131"/>
                <a:gd name="T23" fmla="*/ 211 h 217"/>
                <a:gd name="T24" fmla="*/ 113 w 131"/>
                <a:gd name="T25" fmla="*/ 193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17">
                  <a:moveTo>
                    <a:pt x="113" y="193"/>
                  </a:moveTo>
                  <a:cubicBezTo>
                    <a:pt x="105" y="193"/>
                    <a:pt x="105" y="193"/>
                    <a:pt x="105" y="193"/>
                  </a:cubicBezTo>
                  <a:cubicBezTo>
                    <a:pt x="105" y="17"/>
                    <a:pt x="105" y="17"/>
                    <a:pt x="105" y="17"/>
                  </a:cubicBezTo>
                  <a:cubicBezTo>
                    <a:pt x="105" y="8"/>
                    <a:pt x="98" y="0"/>
                    <a:pt x="88" y="0"/>
                  </a:cubicBezTo>
                  <a:cubicBezTo>
                    <a:pt x="44" y="0"/>
                    <a:pt x="44" y="0"/>
                    <a:pt x="44" y="0"/>
                  </a:cubicBezTo>
                  <a:cubicBezTo>
                    <a:pt x="34" y="0"/>
                    <a:pt x="26" y="8"/>
                    <a:pt x="26" y="17"/>
                  </a:cubicBezTo>
                  <a:cubicBezTo>
                    <a:pt x="26" y="193"/>
                    <a:pt x="26" y="193"/>
                    <a:pt x="26" y="193"/>
                  </a:cubicBezTo>
                  <a:cubicBezTo>
                    <a:pt x="17" y="193"/>
                    <a:pt x="17" y="193"/>
                    <a:pt x="17" y="193"/>
                  </a:cubicBezTo>
                  <a:cubicBezTo>
                    <a:pt x="8" y="193"/>
                    <a:pt x="0" y="201"/>
                    <a:pt x="0" y="211"/>
                  </a:cubicBezTo>
                  <a:cubicBezTo>
                    <a:pt x="0" y="217"/>
                    <a:pt x="0" y="217"/>
                    <a:pt x="0" y="217"/>
                  </a:cubicBezTo>
                  <a:cubicBezTo>
                    <a:pt x="131" y="217"/>
                    <a:pt x="131" y="217"/>
                    <a:pt x="131" y="217"/>
                  </a:cubicBezTo>
                  <a:cubicBezTo>
                    <a:pt x="131" y="211"/>
                    <a:pt x="131" y="211"/>
                    <a:pt x="131" y="211"/>
                  </a:cubicBezTo>
                  <a:cubicBezTo>
                    <a:pt x="131" y="201"/>
                    <a:pt x="123" y="193"/>
                    <a:pt x="113" y="193"/>
                  </a:cubicBezTo>
                  <a:close/>
                </a:path>
              </a:pathLst>
            </a:custGeom>
            <a:solidFill>
              <a:srgbClr val="A78DC2"/>
            </a:solid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 name="Oval 10"/>
            <p:cNvSpPr>
              <a:spLocks noChangeArrowheads="1"/>
            </p:cNvSpPr>
            <p:nvPr/>
          </p:nvSpPr>
          <p:spPr bwMode="auto">
            <a:xfrm>
              <a:off x="7709229" y="3152652"/>
              <a:ext cx="190300" cy="192119"/>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 name="Freeform 11"/>
            <p:cNvSpPr/>
            <p:nvPr/>
          </p:nvSpPr>
          <p:spPr bwMode="auto">
            <a:xfrm>
              <a:off x="7948037" y="3361557"/>
              <a:ext cx="1679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 name="Freeform 12"/>
            <p:cNvSpPr/>
            <p:nvPr/>
          </p:nvSpPr>
          <p:spPr bwMode="auto">
            <a:xfrm>
              <a:off x="7550646" y="3361557"/>
              <a:ext cx="492541" cy="927018"/>
            </a:xfrm>
            <a:custGeom>
              <a:avLst/>
              <a:gdLst>
                <a:gd name="T0" fmla="*/ 31 w 31"/>
                <a:gd name="T1" fmla="*/ 2 h 58"/>
                <a:gd name="T2" fmla="*/ 27 w 31"/>
                <a:gd name="T3" fmla="*/ 0 h 58"/>
                <a:gd name="T4" fmla="*/ 26 w 31"/>
                <a:gd name="T5" fmla="*/ 0 h 58"/>
                <a:gd name="T6" fmla="*/ 25 w 31"/>
                <a:gd name="T7" fmla="*/ 0 h 58"/>
                <a:gd name="T8" fmla="*/ 25 w 31"/>
                <a:gd name="T9" fmla="*/ 0 h 58"/>
                <a:gd name="T10" fmla="*/ 23 w 31"/>
                <a:gd name="T11" fmla="*/ 0 h 58"/>
                <a:gd name="T12" fmla="*/ 7 w 31"/>
                <a:gd name="T13" fmla="*/ 0 h 58"/>
                <a:gd name="T14" fmla="*/ 7 w 31"/>
                <a:gd name="T15" fmla="*/ 0 h 58"/>
                <a:gd name="T16" fmla="*/ 7 w 31"/>
                <a:gd name="T17" fmla="*/ 0 h 58"/>
                <a:gd name="T18" fmla="*/ 7 w 31"/>
                <a:gd name="T19" fmla="*/ 0 h 58"/>
                <a:gd name="T20" fmla="*/ 4 w 31"/>
                <a:gd name="T21" fmla="*/ 0 h 58"/>
                <a:gd name="T22" fmla="*/ 0 w 31"/>
                <a:gd name="T23" fmla="*/ 5 h 58"/>
                <a:gd name="T24" fmla="*/ 0 w 31"/>
                <a:gd name="T25" fmla="*/ 5 h 58"/>
                <a:gd name="T26" fmla="*/ 0 w 31"/>
                <a:gd name="T27" fmla="*/ 5 h 58"/>
                <a:gd name="T28" fmla="*/ 0 w 31"/>
                <a:gd name="T29" fmla="*/ 23 h 58"/>
                <a:gd name="T30" fmla="*/ 3 w 31"/>
                <a:gd name="T31" fmla="*/ 26 h 58"/>
                <a:gd name="T32" fmla="*/ 6 w 31"/>
                <a:gd name="T33" fmla="*/ 23 h 58"/>
                <a:gd name="T34" fmla="*/ 6 w 31"/>
                <a:gd name="T35" fmla="*/ 6 h 58"/>
                <a:gd name="T36" fmla="*/ 7 w 31"/>
                <a:gd name="T37" fmla="*/ 6 h 58"/>
                <a:gd name="T38" fmla="*/ 7 w 31"/>
                <a:gd name="T39" fmla="*/ 29 h 58"/>
                <a:gd name="T40" fmla="*/ 7 w 31"/>
                <a:gd name="T41" fmla="*/ 29 h 58"/>
                <a:gd name="T42" fmla="*/ 7 w 31"/>
                <a:gd name="T43" fmla="*/ 29 h 58"/>
                <a:gd name="T44" fmla="*/ 7 w 31"/>
                <a:gd name="T45" fmla="*/ 54 h 58"/>
                <a:gd name="T46" fmla="*/ 10 w 31"/>
                <a:gd name="T47" fmla="*/ 58 h 58"/>
                <a:gd name="T48" fmla="*/ 14 w 31"/>
                <a:gd name="T49" fmla="*/ 54 h 58"/>
                <a:gd name="T50" fmla="*/ 14 w 31"/>
                <a:gd name="T51" fmla="*/ 29 h 58"/>
                <a:gd name="T52" fmla="*/ 14 w 31"/>
                <a:gd name="T53" fmla="*/ 29 h 58"/>
                <a:gd name="T54" fmla="*/ 14 w 31"/>
                <a:gd name="T55" fmla="*/ 29 h 58"/>
                <a:gd name="T56" fmla="*/ 14 w 31"/>
                <a:gd name="T57" fmla="*/ 29 h 58"/>
                <a:gd name="T58" fmla="*/ 16 w 31"/>
                <a:gd name="T59" fmla="*/ 27 h 58"/>
                <a:gd name="T60" fmla="*/ 18 w 31"/>
                <a:gd name="T61" fmla="*/ 29 h 58"/>
                <a:gd name="T62" fmla="*/ 18 w 31"/>
                <a:gd name="T63" fmla="*/ 29 h 58"/>
                <a:gd name="T64" fmla="*/ 18 w 31"/>
                <a:gd name="T65" fmla="*/ 29 h 58"/>
                <a:gd name="T66" fmla="*/ 18 w 31"/>
                <a:gd name="T67" fmla="*/ 29 h 58"/>
                <a:gd name="T68" fmla="*/ 18 w 31"/>
                <a:gd name="T69" fmla="*/ 54 h 58"/>
                <a:gd name="T70" fmla="*/ 21 w 31"/>
                <a:gd name="T71" fmla="*/ 58 h 58"/>
                <a:gd name="T72" fmla="*/ 25 w 31"/>
                <a:gd name="T73" fmla="*/ 54 h 58"/>
                <a:gd name="T74" fmla="*/ 25 w 31"/>
                <a:gd name="T75" fmla="*/ 29 h 58"/>
                <a:gd name="T76" fmla="*/ 25 w 31"/>
                <a:gd name="T77" fmla="*/ 29 h 58"/>
                <a:gd name="T78" fmla="*/ 25 w 31"/>
                <a:gd name="T79" fmla="*/ 29 h 58"/>
                <a:gd name="T80" fmla="*/ 25 w 31"/>
                <a:gd name="T81" fmla="*/ 6 h 58"/>
                <a:gd name="T82" fmla="*/ 26 w 31"/>
                <a:gd name="T83" fmla="*/ 6 h 58"/>
                <a:gd name="T84" fmla="*/ 26 w 31"/>
                <a:gd name="T85" fmla="*/ 23 h 58"/>
                <a:gd name="T86" fmla="*/ 28 w 31"/>
                <a:gd name="T87" fmla="*/ 26 h 58"/>
                <a:gd name="T88" fmla="*/ 31 w 31"/>
                <a:gd name="T89" fmla="*/ 23 h 58"/>
                <a:gd name="T90" fmla="*/ 31 w 31"/>
                <a:gd name="T91" fmla="*/ 5 h 58"/>
                <a:gd name="T92" fmla="*/ 31 w 31"/>
                <a:gd name="T93"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 h="58">
                  <a:moveTo>
                    <a:pt x="31" y="2"/>
                  </a:moveTo>
                  <a:cubicBezTo>
                    <a:pt x="30" y="1"/>
                    <a:pt x="29" y="1"/>
                    <a:pt x="27" y="0"/>
                  </a:cubicBezTo>
                  <a:cubicBezTo>
                    <a:pt x="27" y="0"/>
                    <a:pt x="26" y="0"/>
                    <a:pt x="26" y="0"/>
                  </a:cubicBezTo>
                  <a:cubicBezTo>
                    <a:pt x="25" y="0"/>
                    <a:pt x="25" y="0"/>
                    <a:pt x="25" y="0"/>
                  </a:cubicBezTo>
                  <a:cubicBezTo>
                    <a:pt x="25" y="0"/>
                    <a:pt x="25" y="0"/>
                    <a:pt x="25" y="0"/>
                  </a:cubicBezTo>
                  <a:cubicBezTo>
                    <a:pt x="23" y="0"/>
                    <a:pt x="23" y="0"/>
                    <a:pt x="23" y="0"/>
                  </a:cubicBezTo>
                  <a:cubicBezTo>
                    <a:pt x="7" y="0"/>
                    <a:pt x="7" y="0"/>
                    <a:pt x="7" y="0"/>
                  </a:cubicBezTo>
                  <a:cubicBezTo>
                    <a:pt x="7" y="0"/>
                    <a:pt x="7" y="0"/>
                    <a:pt x="7" y="0"/>
                  </a:cubicBezTo>
                  <a:cubicBezTo>
                    <a:pt x="7" y="0"/>
                    <a:pt x="7" y="0"/>
                    <a:pt x="7" y="0"/>
                  </a:cubicBezTo>
                  <a:cubicBezTo>
                    <a:pt x="7" y="0"/>
                    <a:pt x="7" y="0"/>
                    <a:pt x="7" y="0"/>
                  </a:cubicBezTo>
                  <a:cubicBezTo>
                    <a:pt x="6" y="0"/>
                    <a:pt x="5" y="0"/>
                    <a:pt x="4" y="0"/>
                  </a:cubicBezTo>
                  <a:cubicBezTo>
                    <a:pt x="3" y="1"/>
                    <a:pt x="0" y="2"/>
                    <a:pt x="0" y="5"/>
                  </a:cubicBezTo>
                  <a:cubicBezTo>
                    <a:pt x="0" y="5"/>
                    <a:pt x="0" y="5"/>
                    <a:pt x="0" y="5"/>
                  </a:cubicBezTo>
                  <a:cubicBezTo>
                    <a:pt x="0" y="5"/>
                    <a:pt x="0" y="5"/>
                    <a:pt x="0" y="5"/>
                  </a:cubicBezTo>
                  <a:cubicBezTo>
                    <a:pt x="0" y="23"/>
                    <a:pt x="0" y="23"/>
                    <a:pt x="0" y="23"/>
                  </a:cubicBezTo>
                  <a:cubicBezTo>
                    <a:pt x="0" y="25"/>
                    <a:pt x="2" y="26"/>
                    <a:pt x="3" y="26"/>
                  </a:cubicBezTo>
                  <a:cubicBezTo>
                    <a:pt x="5" y="26"/>
                    <a:pt x="6" y="25"/>
                    <a:pt x="6" y="23"/>
                  </a:cubicBezTo>
                  <a:cubicBezTo>
                    <a:pt x="6" y="6"/>
                    <a:pt x="6" y="6"/>
                    <a:pt x="6" y="6"/>
                  </a:cubicBezTo>
                  <a:cubicBezTo>
                    <a:pt x="7" y="6"/>
                    <a:pt x="7" y="6"/>
                    <a:pt x="7" y="6"/>
                  </a:cubicBezTo>
                  <a:cubicBezTo>
                    <a:pt x="7" y="29"/>
                    <a:pt x="7" y="29"/>
                    <a:pt x="7" y="29"/>
                  </a:cubicBezTo>
                  <a:cubicBezTo>
                    <a:pt x="7" y="29"/>
                    <a:pt x="7" y="29"/>
                    <a:pt x="7" y="29"/>
                  </a:cubicBezTo>
                  <a:cubicBezTo>
                    <a:pt x="7" y="29"/>
                    <a:pt x="7" y="29"/>
                    <a:pt x="7" y="29"/>
                  </a:cubicBezTo>
                  <a:cubicBezTo>
                    <a:pt x="7" y="54"/>
                    <a:pt x="7" y="54"/>
                    <a:pt x="7" y="54"/>
                  </a:cubicBezTo>
                  <a:cubicBezTo>
                    <a:pt x="7" y="56"/>
                    <a:pt x="8" y="58"/>
                    <a:pt x="10" y="58"/>
                  </a:cubicBezTo>
                  <a:cubicBezTo>
                    <a:pt x="12" y="58"/>
                    <a:pt x="14" y="56"/>
                    <a:pt x="14" y="54"/>
                  </a:cubicBezTo>
                  <a:cubicBezTo>
                    <a:pt x="14" y="29"/>
                    <a:pt x="14" y="29"/>
                    <a:pt x="14" y="29"/>
                  </a:cubicBezTo>
                  <a:cubicBezTo>
                    <a:pt x="14" y="29"/>
                    <a:pt x="14" y="29"/>
                    <a:pt x="14" y="29"/>
                  </a:cubicBezTo>
                  <a:cubicBezTo>
                    <a:pt x="14" y="29"/>
                    <a:pt x="14" y="29"/>
                    <a:pt x="14" y="29"/>
                  </a:cubicBezTo>
                  <a:cubicBezTo>
                    <a:pt x="14" y="29"/>
                    <a:pt x="14" y="29"/>
                    <a:pt x="14" y="29"/>
                  </a:cubicBezTo>
                  <a:cubicBezTo>
                    <a:pt x="14" y="28"/>
                    <a:pt x="15" y="27"/>
                    <a:pt x="16" y="27"/>
                  </a:cubicBezTo>
                  <a:cubicBezTo>
                    <a:pt x="17" y="27"/>
                    <a:pt x="18" y="28"/>
                    <a:pt x="18" y="29"/>
                  </a:cubicBezTo>
                  <a:cubicBezTo>
                    <a:pt x="18" y="29"/>
                    <a:pt x="18" y="29"/>
                    <a:pt x="18" y="29"/>
                  </a:cubicBezTo>
                  <a:cubicBezTo>
                    <a:pt x="18" y="29"/>
                    <a:pt x="18" y="29"/>
                    <a:pt x="18" y="29"/>
                  </a:cubicBezTo>
                  <a:cubicBezTo>
                    <a:pt x="18" y="29"/>
                    <a:pt x="18" y="29"/>
                    <a:pt x="18" y="29"/>
                  </a:cubicBezTo>
                  <a:cubicBezTo>
                    <a:pt x="18" y="54"/>
                    <a:pt x="18" y="54"/>
                    <a:pt x="18" y="54"/>
                  </a:cubicBezTo>
                  <a:cubicBezTo>
                    <a:pt x="18" y="56"/>
                    <a:pt x="19" y="58"/>
                    <a:pt x="21" y="58"/>
                  </a:cubicBezTo>
                  <a:cubicBezTo>
                    <a:pt x="23" y="58"/>
                    <a:pt x="25" y="56"/>
                    <a:pt x="25" y="54"/>
                  </a:cubicBezTo>
                  <a:cubicBezTo>
                    <a:pt x="25" y="29"/>
                    <a:pt x="25" y="29"/>
                    <a:pt x="25" y="29"/>
                  </a:cubicBezTo>
                  <a:cubicBezTo>
                    <a:pt x="25" y="29"/>
                    <a:pt x="25" y="29"/>
                    <a:pt x="25" y="29"/>
                  </a:cubicBezTo>
                  <a:cubicBezTo>
                    <a:pt x="25" y="29"/>
                    <a:pt x="25" y="29"/>
                    <a:pt x="25" y="29"/>
                  </a:cubicBezTo>
                  <a:cubicBezTo>
                    <a:pt x="25" y="6"/>
                    <a:pt x="25" y="6"/>
                    <a:pt x="25" y="6"/>
                  </a:cubicBezTo>
                  <a:cubicBezTo>
                    <a:pt x="26" y="6"/>
                    <a:pt x="26" y="6"/>
                    <a:pt x="26" y="6"/>
                  </a:cubicBezTo>
                  <a:cubicBezTo>
                    <a:pt x="26" y="23"/>
                    <a:pt x="26" y="23"/>
                    <a:pt x="26" y="23"/>
                  </a:cubicBezTo>
                  <a:cubicBezTo>
                    <a:pt x="26" y="25"/>
                    <a:pt x="27" y="26"/>
                    <a:pt x="28" y="26"/>
                  </a:cubicBezTo>
                  <a:cubicBezTo>
                    <a:pt x="30" y="26"/>
                    <a:pt x="31" y="25"/>
                    <a:pt x="31" y="23"/>
                  </a:cubicBezTo>
                  <a:cubicBezTo>
                    <a:pt x="31" y="5"/>
                    <a:pt x="31" y="5"/>
                    <a:pt x="31" y="5"/>
                  </a:cubicBezTo>
                  <a:cubicBezTo>
                    <a:pt x="31" y="4"/>
                    <a:pt x="31" y="3"/>
                    <a:pt x="3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3" name="Freeform 19"/>
            <p:cNvSpPr/>
            <p:nvPr/>
          </p:nvSpPr>
          <p:spPr bwMode="auto">
            <a:xfrm>
              <a:off x="6003994" y="4641103"/>
              <a:ext cx="748139" cy="559568"/>
            </a:xfrm>
            <a:custGeom>
              <a:avLst/>
              <a:gdLst>
                <a:gd name="T0" fmla="*/ 17 w 47"/>
                <a:gd name="T1" fmla="*/ 9 h 35"/>
                <a:gd name="T2" fmla="*/ 17 w 47"/>
                <a:gd name="T3" fmla="*/ 0 h 35"/>
                <a:gd name="T4" fmla="*/ 0 w 47"/>
                <a:gd name="T5" fmla="*/ 18 h 35"/>
                <a:gd name="T6" fmla="*/ 17 w 47"/>
                <a:gd name="T7" fmla="*/ 35 h 35"/>
                <a:gd name="T8" fmla="*/ 17 w 47"/>
                <a:gd name="T9" fmla="*/ 27 h 35"/>
                <a:gd name="T10" fmla="*/ 38 w 47"/>
                <a:gd name="T11" fmla="*/ 27 h 35"/>
                <a:gd name="T12" fmla="*/ 38 w 47"/>
                <a:gd name="T13" fmla="*/ 27 h 35"/>
                <a:gd name="T14" fmla="*/ 47 w 47"/>
                <a:gd name="T15" fmla="*/ 18 h 35"/>
                <a:gd name="T16" fmla="*/ 38 w 47"/>
                <a:gd name="T17" fmla="*/ 9 h 35"/>
                <a:gd name="T18" fmla="*/ 38 w 47"/>
                <a:gd name="T19" fmla="*/ 9 h 35"/>
                <a:gd name="T20" fmla="*/ 38 w 47"/>
                <a:gd name="T21" fmla="*/ 9 h 35"/>
                <a:gd name="T22" fmla="*/ 17 w 47"/>
                <a:gd name="T23"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35">
                  <a:moveTo>
                    <a:pt x="17" y="9"/>
                  </a:moveTo>
                  <a:cubicBezTo>
                    <a:pt x="17" y="0"/>
                    <a:pt x="17" y="0"/>
                    <a:pt x="17" y="0"/>
                  </a:cubicBezTo>
                  <a:cubicBezTo>
                    <a:pt x="0" y="18"/>
                    <a:pt x="0" y="18"/>
                    <a:pt x="0" y="18"/>
                  </a:cubicBezTo>
                  <a:cubicBezTo>
                    <a:pt x="17" y="35"/>
                    <a:pt x="17" y="35"/>
                    <a:pt x="17" y="35"/>
                  </a:cubicBezTo>
                  <a:cubicBezTo>
                    <a:pt x="17" y="27"/>
                    <a:pt x="17" y="27"/>
                    <a:pt x="17" y="27"/>
                  </a:cubicBezTo>
                  <a:cubicBezTo>
                    <a:pt x="38" y="27"/>
                    <a:pt x="38" y="27"/>
                    <a:pt x="38" y="27"/>
                  </a:cubicBezTo>
                  <a:cubicBezTo>
                    <a:pt x="38" y="27"/>
                    <a:pt x="38" y="27"/>
                    <a:pt x="38" y="27"/>
                  </a:cubicBezTo>
                  <a:cubicBezTo>
                    <a:pt x="43" y="27"/>
                    <a:pt x="47" y="23"/>
                    <a:pt x="47" y="18"/>
                  </a:cubicBezTo>
                  <a:cubicBezTo>
                    <a:pt x="47" y="13"/>
                    <a:pt x="43" y="9"/>
                    <a:pt x="38" y="9"/>
                  </a:cubicBezTo>
                  <a:cubicBezTo>
                    <a:pt x="38" y="9"/>
                    <a:pt x="38" y="9"/>
                    <a:pt x="38" y="9"/>
                  </a:cubicBezTo>
                  <a:cubicBezTo>
                    <a:pt x="38" y="9"/>
                    <a:pt x="38" y="9"/>
                    <a:pt x="38" y="9"/>
                  </a:cubicBezTo>
                  <a:lnTo>
                    <a:pt x="17" y="9"/>
                  </a:lnTo>
                  <a:close/>
                </a:path>
              </a:pathLst>
            </a:custGeom>
            <a:solidFill>
              <a:srgbClr val="A78DC2"/>
            </a:solid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4" name="Freeform 20"/>
            <p:cNvSpPr/>
            <p:nvPr/>
          </p:nvSpPr>
          <p:spPr bwMode="auto">
            <a:xfrm>
              <a:off x="6386458" y="4480693"/>
              <a:ext cx="750005" cy="559568"/>
            </a:xfrm>
            <a:custGeom>
              <a:avLst/>
              <a:gdLst>
                <a:gd name="T0" fmla="*/ 15 w 47"/>
                <a:gd name="T1" fmla="*/ 15 h 35"/>
                <a:gd name="T2" fmla="*/ 0 w 47"/>
                <a:gd name="T3" fmla="*/ 15 h 35"/>
                <a:gd name="T4" fmla="*/ 9 w 47"/>
                <a:gd name="T5" fmla="*/ 9 h 35"/>
                <a:gd name="T6" fmla="*/ 30 w 47"/>
                <a:gd name="T7" fmla="*/ 9 h 35"/>
                <a:gd name="T8" fmla="*/ 30 w 47"/>
                <a:gd name="T9" fmla="*/ 0 h 35"/>
                <a:gd name="T10" fmla="*/ 47 w 47"/>
                <a:gd name="T11" fmla="*/ 18 h 35"/>
                <a:gd name="T12" fmla="*/ 30 w 47"/>
                <a:gd name="T13" fmla="*/ 35 h 35"/>
                <a:gd name="T14" fmla="*/ 30 w 47"/>
                <a:gd name="T15" fmla="*/ 26 h 35"/>
                <a:gd name="T16" fmla="*/ 27 w 47"/>
                <a:gd name="T17" fmla="*/ 26 h 35"/>
                <a:gd name="T18" fmla="*/ 15 w 47"/>
                <a:gd name="T19"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35">
                  <a:moveTo>
                    <a:pt x="15" y="15"/>
                  </a:moveTo>
                  <a:cubicBezTo>
                    <a:pt x="0" y="15"/>
                    <a:pt x="0" y="15"/>
                    <a:pt x="0" y="15"/>
                  </a:cubicBezTo>
                  <a:cubicBezTo>
                    <a:pt x="1" y="11"/>
                    <a:pt x="5" y="9"/>
                    <a:pt x="9" y="9"/>
                  </a:cubicBezTo>
                  <a:cubicBezTo>
                    <a:pt x="30" y="9"/>
                    <a:pt x="30" y="9"/>
                    <a:pt x="30" y="9"/>
                  </a:cubicBezTo>
                  <a:cubicBezTo>
                    <a:pt x="30" y="0"/>
                    <a:pt x="30" y="0"/>
                    <a:pt x="30" y="0"/>
                  </a:cubicBezTo>
                  <a:cubicBezTo>
                    <a:pt x="47" y="18"/>
                    <a:pt x="47" y="18"/>
                    <a:pt x="47" y="18"/>
                  </a:cubicBezTo>
                  <a:cubicBezTo>
                    <a:pt x="30" y="35"/>
                    <a:pt x="30" y="35"/>
                    <a:pt x="30" y="35"/>
                  </a:cubicBezTo>
                  <a:cubicBezTo>
                    <a:pt x="30" y="26"/>
                    <a:pt x="30" y="26"/>
                    <a:pt x="30" y="26"/>
                  </a:cubicBezTo>
                  <a:cubicBezTo>
                    <a:pt x="27" y="26"/>
                    <a:pt x="27" y="26"/>
                    <a:pt x="27" y="26"/>
                  </a:cubicBezTo>
                  <a:cubicBezTo>
                    <a:pt x="26" y="20"/>
                    <a:pt x="21" y="15"/>
                    <a:pt x="15" y="15"/>
                  </a:cubicBezTo>
                  <a:close/>
                </a:path>
              </a:pathLst>
            </a:custGeom>
            <a:solidFill>
              <a:srgbClr val="0070C0"/>
            </a:solidFill>
            <a:ln>
              <a:noFill/>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5" name="Oval 10"/>
            <p:cNvSpPr>
              <a:spLocks noChangeArrowheads="1"/>
            </p:cNvSpPr>
            <p:nvPr/>
          </p:nvSpPr>
          <p:spPr bwMode="auto">
            <a:xfrm>
              <a:off x="5222271" y="2315165"/>
              <a:ext cx="190300" cy="192118"/>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6" name="Freeform 12"/>
            <p:cNvSpPr/>
            <p:nvPr/>
          </p:nvSpPr>
          <p:spPr bwMode="auto">
            <a:xfrm>
              <a:off x="5063689" y="2522205"/>
              <a:ext cx="494406" cy="927018"/>
            </a:xfrm>
            <a:custGeom>
              <a:avLst/>
              <a:gdLst>
                <a:gd name="T0" fmla="*/ 31 w 31"/>
                <a:gd name="T1" fmla="*/ 2 h 58"/>
                <a:gd name="T2" fmla="*/ 27 w 31"/>
                <a:gd name="T3" fmla="*/ 0 h 58"/>
                <a:gd name="T4" fmla="*/ 26 w 31"/>
                <a:gd name="T5" fmla="*/ 0 h 58"/>
                <a:gd name="T6" fmla="*/ 25 w 31"/>
                <a:gd name="T7" fmla="*/ 0 h 58"/>
                <a:gd name="T8" fmla="*/ 25 w 31"/>
                <a:gd name="T9" fmla="*/ 0 h 58"/>
                <a:gd name="T10" fmla="*/ 23 w 31"/>
                <a:gd name="T11" fmla="*/ 0 h 58"/>
                <a:gd name="T12" fmla="*/ 7 w 31"/>
                <a:gd name="T13" fmla="*/ 0 h 58"/>
                <a:gd name="T14" fmla="*/ 7 w 31"/>
                <a:gd name="T15" fmla="*/ 0 h 58"/>
                <a:gd name="T16" fmla="*/ 7 w 31"/>
                <a:gd name="T17" fmla="*/ 0 h 58"/>
                <a:gd name="T18" fmla="*/ 7 w 31"/>
                <a:gd name="T19" fmla="*/ 0 h 58"/>
                <a:gd name="T20" fmla="*/ 4 w 31"/>
                <a:gd name="T21" fmla="*/ 0 h 58"/>
                <a:gd name="T22" fmla="*/ 0 w 31"/>
                <a:gd name="T23" fmla="*/ 5 h 58"/>
                <a:gd name="T24" fmla="*/ 0 w 31"/>
                <a:gd name="T25" fmla="*/ 5 h 58"/>
                <a:gd name="T26" fmla="*/ 0 w 31"/>
                <a:gd name="T27" fmla="*/ 5 h 58"/>
                <a:gd name="T28" fmla="*/ 0 w 31"/>
                <a:gd name="T29" fmla="*/ 23 h 58"/>
                <a:gd name="T30" fmla="*/ 3 w 31"/>
                <a:gd name="T31" fmla="*/ 26 h 58"/>
                <a:gd name="T32" fmla="*/ 6 w 31"/>
                <a:gd name="T33" fmla="*/ 23 h 58"/>
                <a:gd name="T34" fmla="*/ 6 w 31"/>
                <a:gd name="T35" fmla="*/ 6 h 58"/>
                <a:gd name="T36" fmla="*/ 7 w 31"/>
                <a:gd name="T37" fmla="*/ 6 h 58"/>
                <a:gd name="T38" fmla="*/ 7 w 31"/>
                <a:gd name="T39" fmla="*/ 29 h 58"/>
                <a:gd name="T40" fmla="*/ 7 w 31"/>
                <a:gd name="T41" fmla="*/ 29 h 58"/>
                <a:gd name="T42" fmla="*/ 7 w 31"/>
                <a:gd name="T43" fmla="*/ 29 h 58"/>
                <a:gd name="T44" fmla="*/ 7 w 31"/>
                <a:gd name="T45" fmla="*/ 54 h 58"/>
                <a:gd name="T46" fmla="*/ 10 w 31"/>
                <a:gd name="T47" fmla="*/ 58 h 58"/>
                <a:gd name="T48" fmla="*/ 14 w 31"/>
                <a:gd name="T49" fmla="*/ 54 h 58"/>
                <a:gd name="T50" fmla="*/ 14 w 31"/>
                <a:gd name="T51" fmla="*/ 29 h 58"/>
                <a:gd name="T52" fmla="*/ 14 w 31"/>
                <a:gd name="T53" fmla="*/ 29 h 58"/>
                <a:gd name="T54" fmla="*/ 14 w 31"/>
                <a:gd name="T55" fmla="*/ 29 h 58"/>
                <a:gd name="T56" fmla="*/ 14 w 31"/>
                <a:gd name="T57" fmla="*/ 29 h 58"/>
                <a:gd name="T58" fmla="*/ 16 w 31"/>
                <a:gd name="T59" fmla="*/ 27 h 58"/>
                <a:gd name="T60" fmla="*/ 18 w 31"/>
                <a:gd name="T61" fmla="*/ 29 h 58"/>
                <a:gd name="T62" fmla="*/ 18 w 31"/>
                <a:gd name="T63" fmla="*/ 29 h 58"/>
                <a:gd name="T64" fmla="*/ 18 w 31"/>
                <a:gd name="T65" fmla="*/ 29 h 58"/>
                <a:gd name="T66" fmla="*/ 18 w 31"/>
                <a:gd name="T67" fmla="*/ 29 h 58"/>
                <a:gd name="T68" fmla="*/ 18 w 31"/>
                <a:gd name="T69" fmla="*/ 54 h 58"/>
                <a:gd name="T70" fmla="*/ 21 w 31"/>
                <a:gd name="T71" fmla="*/ 58 h 58"/>
                <a:gd name="T72" fmla="*/ 25 w 31"/>
                <a:gd name="T73" fmla="*/ 54 h 58"/>
                <a:gd name="T74" fmla="*/ 25 w 31"/>
                <a:gd name="T75" fmla="*/ 29 h 58"/>
                <a:gd name="T76" fmla="*/ 25 w 31"/>
                <a:gd name="T77" fmla="*/ 29 h 58"/>
                <a:gd name="T78" fmla="*/ 25 w 31"/>
                <a:gd name="T79" fmla="*/ 29 h 58"/>
                <a:gd name="T80" fmla="*/ 25 w 31"/>
                <a:gd name="T81" fmla="*/ 6 h 58"/>
                <a:gd name="T82" fmla="*/ 26 w 31"/>
                <a:gd name="T83" fmla="*/ 6 h 58"/>
                <a:gd name="T84" fmla="*/ 26 w 31"/>
                <a:gd name="T85" fmla="*/ 23 h 58"/>
                <a:gd name="T86" fmla="*/ 28 w 31"/>
                <a:gd name="T87" fmla="*/ 26 h 58"/>
                <a:gd name="T88" fmla="*/ 31 w 31"/>
                <a:gd name="T89" fmla="*/ 23 h 58"/>
                <a:gd name="T90" fmla="*/ 31 w 31"/>
                <a:gd name="T91" fmla="*/ 5 h 58"/>
                <a:gd name="T92" fmla="*/ 31 w 31"/>
                <a:gd name="T93"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 h="58">
                  <a:moveTo>
                    <a:pt x="31" y="2"/>
                  </a:moveTo>
                  <a:cubicBezTo>
                    <a:pt x="30" y="1"/>
                    <a:pt x="29" y="1"/>
                    <a:pt x="27" y="0"/>
                  </a:cubicBezTo>
                  <a:cubicBezTo>
                    <a:pt x="27" y="0"/>
                    <a:pt x="26" y="0"/>
                    <a:pt x="26" y="0"/>
                  </a:cubicBezTo>
                  <a:cubicBezTo>
                    <a:pt x="25" y="0"/>
                    <a:pt x="25" y="0"/>
                    <a:pt x="25" y="0"/>
                  </a:cubicBezTo>
                  <a:cubicBezTo>
                    <a:pt x="25" y="0"/>
                    <a:pt x="25" y="0"/>
                    <a:pt x="25" y="0"/>
                  </a:cubicBezTo>
                  <a:cubicBezTo>
                    <a:pt x="23" y="0"/>
                    <a:pt x="23" y="0"/>
                    <a:pt x="23" y="0"/>
                  </a:cubicBezTo>
                  <a:cubicBezTo>
                    <a:pt x="7" y="0"/>
                    <a:pt x="7" y="0"/>
                    <a:pt x="7" y="0"/>
                  </a:cubicBezTo>
                  <a:cubicBezTo>
                    <a:pt x="7" y="0"/>
                    <a:pt x="7" y="0"/>
                    <a:pt x="7" y="0"/>
                  </a:cubicBezTo>
                  <a:cubicBezTo>
                    <a:pt x="7" y="0"/>
                    <a:pt x="7" y="0"/>
                    <a:pt x="7" y="0"/>
                  </a:cubicBezTo>
                  <a:cubicBezTo>
                    <a:pt x="7" y="0"/>
                    <a:pt x="7" y="0"/>
                    <a:pt x="7" y="0"/>
                  </a:cubicBezTo>
                  <a:cubicBezTo>
                    <a:pt x="6" y="0"/>
                    <a:pt x="5" y="0"/>
                    <a:pt x="4" y="0"/>
                  </a:cubicBezTo>
                  <a:cubicBezTo>
                    <a:pt x="3" y="1"/>
                    <a:pt x="0" y="2"/>
                    <a:pt x="0" y="5"/>
                  </a:cubicBezTo>
                  <a:cubicBezTo>
                    <a:pt x="0" y="5"/>
                    <a:pt x="0" y="5"/>
                    <a:pt x="0" y="5"/>
                  </a:cubicBezTo>
                  <a:cubicBezTo>
                    <a:pt x="0" y="5"/>
                    <a:pt x="0" y="5"/>
                    <a:pt x="0" y="5"/>
                  </a:cubicBezTo>
                  <a:cubicBezTo>
                    <a:pt x="0" y="23"/>
                    <a:pt x="0" y="23"/>
                    <a:pt x="0" y="23"/>
                  </a:cubicBezTo>
                  <a:cubicBezTo>
                    <a:pt x="0" y="25"/>
                    <a:pt x="2" y="26"/>
                    <a:pt x="3" y="26"/>
                  </a:cubicBezTo>
                  <a:cubicBezTo>
                    <a:pt x="5" y="26"/>
                    <a:pt x="6" y="25"/>
                    <a:pt x="6" y="23"/>
                  </a:cubicBezTo>
                  <a:cubicBezTo>
                    <a:pt x="6" y="6"/>
                    <a:pt x="6" y="6"/>
                    <a:pt x="6" y="6"/>
                  </a:cubicBezTo>
                  <a:cubicBezTo>
                    <a:pt x="7" y="6"/>
                    <a:pt x="7" y="6"/>
                    <a:pt x="7" y="6"/>
                  </a:cubicBezTo>
                  <a:cubicBezTo>
                    <a:pt x="7" y="29"/>
                    <a:pt x="7" y="29"/>
                    <a:pt x="7" y="29"/>
                  </a:cubicBezTo>
                  <a:cubicBezTo>
                    <a:pt x="7" y="29"/>
                    <a:pt x="7" y="29"/>
                    <a:pt x="7" y="29"/>
                  </a:cubicBezTo>
                  <a:cubicBezTo>
                    <a:pt x="7" y="29"/>
                    <a:pt x="7" y="29"/>
                    <a:pt x="7" y="29"/>
                  </a:cubicBezTo>
                  <a:cubicBezTo>
                    <a:pt x="7" y="54"/>
                    <a:pt x="7" y="54"/>
                    <a:pt x="7" y="54"/>
                  </a:cubicBezTo>
                  <a:cubicBezTo>
                    <a:pt x="7" y="56"/>
                    <a:pt x="8" y="58"/>
                    <a:pt x="10" y="58"/>
                  </a:cubicBezTo>
                  <a:cubicBezTo>
                    <a:pt x="12" y="58"/>
                    <a:pt x="14" y="56"/>
                    <a:pt x="14" y="54"/>
                  </a:cubicBezTo>
                  <a:cubicBezTo>
                    <a:pt x="14" y="29"/>
                    <a:pt x="14" y="29"/>
                    <a:pt x="14" y="29"/>
                  </a:cubicBezTo>
                  <a:cubicBezTo>
                    <a:pt x="14" y="29"/>
                    <a:pt x="14" y="29"/>
                    <a:pt x="14" y="29"/>
                  </a:cubicBezTo>
                  <a:cubicBezTo>
                    <a:pt x="14" y="29"/>
                    <a:pt x="14" y="29"/>
                    <a:pt x="14" y="29"/>
                  </a:cubicBezTo>
                  <a:cubicBezTo>
                    <a:pt x="14" y="29"/>
                    <a:pt x="14" y="29"/>
                    <a:pt x="14" y="29"/>
                  </a:cubicBezTo>
                  <a:cubicBezTo>
                    <a:pt x="14" y="28"/>
                    <a:pt x="15" y="27"/>
                    <a:pt x="16" y="27"/>
                  </a:cubicBezTo>
                  <a:cubicBezTo>
                    <a:pt x="17" y="27"/>
                    <a:pt x="18" y="28"/>
                    <a:pt x="18" y="29"/>
                  </a:cubicBezTo>
                  <a:cubicBezTo>
                    <a:pt x="18" y="29"/>
                    <a:pt x="18" y="29"/>
                    <a:pt x="18" y="29"/>
                  </a:cubicBezTo>
                  <a:cubicBezTo>
                    <a:pt x="18" y="29"/>
                    <a:pt x="18" y="29"/>
                    <a:pt x="18" y="29"/>
                  </a:cubicBezTo>
                  <a:cubicBezTo>
                    <a:pt x="18" y="29"/>
                    <a:pt x="18" y="29"/>
                    <a:pt x="18" y="29"/>
                  </a:cubicBezTo>
                  <a:cubicBezTo>
                    <a:pt x="18" y="54"/>
                    <a:pt x="18" y="54"/>
                    <a:pt x="18" y="54"/>
                  </a:cubicBezTo>
                  <a:cubicBezTo>
                    <a:pt x="18" y="56"/>
                    <a:pt x="19" y="58"/>
                    <a:pt x="21" y="58"/>
                  </a:cubicBezTo>
                  <a:cubicBezTo>
                    <a:pt x="23" y="58"/>
                    <a:pt x="25" y="56"/>
                    <a:pt x="25" y="54"/>
                  </a:cubicBezTo>
                  <a:cubicBezTo>
                    <a:pt x="25" y="29"/>
                    <a:pt x="25" y="29"/>
                    <a:pt x="25" y="29"/>
                  </a:cubicBezTo>
                  <a:cubicBezTo>
                    <a:pt x="25" y="29"/>
                    <a:pt x="25" y="29"/>
                    <a:pt x="25" y="29"/>
                  </a:cubicBezTo>
                  <a:cubicBezTo>
                    <a:pt x="25" y="29"/>
                    <a:pt x="25" y="29"/>
                    <a:pt x="25" y="29"/>
                  </a:cubicBezTo>
                  <a:cubicBezTo>
                    <a:pt x="25" y="6"/>
                    <a:pt x="25" y="6"/>
                    <a:pt x="25" y="6"/>
                  </a:cubicBezTo>
                  <a:cubicBezTo>
                    <a:pt x="26" y="6"/>
                    <a:pt x="26" y="6"/>
                    <a:pt x="26" y="6"/>
                  </a:cubicBezTo>
                  <a:cubicBezTo>
                    <a:pt x="26" y="23"/>
                    <a:pt x="26" y="23"/>
                    <a:pt x="26" y="23"/>
                  </a:cubicBezTo>
                  <a:cubicBezTo>
                    <a:pt x="26" y="25"/>
                    <a:pt x="27" y="26"/>
                    <a:pt x="28" y="26"/>
                  </a:cubicBezTo>
                  <a:cubicBezTo>
                    <a:pt x="30" y="26"/>
                    <a:pt x="31" y="25"/>
                    <a:pt x="31" y="23"/>
                  </a:cubicBezTo>
                  <a:cubicBezTo>
                    <a:pt x="31" y="5"/>
                    <a:pt x="31" y="5"/>
                    <a:pt x="31" y="5"/>
                  </a:cubicBezTo>
                  <a:cubicBezTo>
                    <a:pt x="31" y="4"/>
                    <a:pt x="31" y="3"/>
                    <a:pt x="3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Tree>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7" name="Rectangle 5"/>
          <p:cNvSpPr>
            <a:spLocks noChangeArrowheads="1"/>
          </p:cNvSpPr>
          <p:nvPr/>
        </p:nvSpPr>
        <p:spPr bwMode="auto">
          <a:xfrm>
            <a:off x="755576" y="188640"/>
            <a:ext cx="3621088"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重要结论</a:t>
            </a:r>
          </a:p>
        </p:txBody>
      </p:sp>
      <p:sp>
        <p:nvSpPr>
          <p:cNvPr id="70659" name="椭圆 6"/>
          <p:cNvSpPr/>
          <p:nvPr/>
        </p:nvSpPr>
        <p:spPr>
          <a:xfrm>
            <a:off x="979488" y="4470772"/>
            <a:ext cx="95250" cy="155575"/>
          </a:xfrm>
          <a:prstGeom prst="ellipse">
            <a:avLst/>
          </a:prstGeom>
          <a:solidFill>
            <a:srgbClr val="A5A5E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latin typeface="Arial Narrow" panose="020B0606020202030204" pitchFamily="34" charset="0"/>
            </a:endParaRPr>
          </a:p>
        </p:txBody>
      </p:sp>
      <p:sp>
        <p:nvSpPr>
          <p:cNvPr id="70660" name="椭圆 6"/>
          <p:cNvSpPr/>
          <p:nvPr/>
        </p:nvSpPr>
        <p:spPr>
          <a:xfrm>
            <a:off x="309563" y="4480297"/>
            <a:ext cx="95250" cy="155575"/>
          </a:xfrm>
          <a:prstGeom prst="ellipse">
            <a:avLst/>
          </a:prstGeom>
          <a:solidFill>
            <a:srgbClr val="59595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latin typeface="Arial Narrow" panose="020B0606020202030204" pitchFamily="34" charset="0"/>
            </a:endParaRPr>
          </a:p>
        </p:txBody>
      </p:sp>
      <p:sp>
        <p:nvSpPr>
          <p:cNvPr id="70661" name="椭圆 11"/>
          <p:cNvSpPr/>
          <p:nvPr/>
        </p:nvSpPr>
        <p:spPr>
          <a:xfrm>
            <a:off x="304800" y="1468810"/>
            <a:ext cx="96838" cy="155575"/>
          </a:xfrm>
          <a:prstGeom prst="ellipse">
            <a:avLst/>
          </a:prstGeom>
          <a:solidFill>
            <a:srgbClr val="59595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latin typeface="Arial Narrow" panose="020B0606020202030204" pitchFamily="34" charset="0"/>
            </a:endParaRPr>
          </a:p>
        </p:txBody>
      </p:sp>
      <p:sp>
        <p:nvSpPr>
          <p:cNvPr id="7" name="矩形 6"/>
          <p:cNvSpPr>
            <a:spLocks noChangeArrowheads="1"/>
          </p:cNvSpPr>
          <p:nvPr/>
        </p:nvSpPr>
        <p:spPr bwMode="auto">
          <a:xfrm>
            <a:off x="3175" y="1579935"/>
            <a:ext cx="9140825" cy="2987675"/>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lIns="4248000" rIns="252000" anchor="ctr"/>
          <a:lstStyle/>
          <a:p>
            <a:pPr marL="0" marR="0" lvl="0" indent="0" algn="just" defTabSz="914400" rtl="0" eaLnBrk="1" fontAlgn="base" latinLnBrk="0" hangingPunct="1">
              <a:lnSpc>
                <a:spcPct val="130000"/>
              </a:lnSpc>
              <a:spcBef>
                <a:spcPts val="600"/>
              </a:spcBef>
              <a:spcAft>
                <a:spcPts val="600"/>
              </a:spcAft>
              <a:buClrTx/>
              <a:buSzTx/>
              <a:buFontTx/>
              <a:buNone/>
              <a:defRPr/>
            </a:pPr>
            <a:endParaRPr kumimoji="0" lang="zh-CN" altLang="en-US" sz="2800" b="1" i="0" u="none" strike="noStrike" kern="1200" cap="none" spc="0" normalizeH="0" baseline="0" noProof="0" dirty="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cs typeface="+mn-cs"/>
            </a:endParaRPr>
          </a:p>
        </p:txBody>
      </p:sp>
      <p:sp>
        <p:nvSpPr>
          <p:cNvPr id="70663" name="圆角矩形 15"/>
          <p:cNvSpPr/>
          <p:nvPr/>
        </p:nvSpPr>
        <p:spPr>
          <a:xfrm>
            <a:off x="334963" y="1465635"/>
            <a:ext cx="492125" cy="3171825"/>
          </a:xfrm>
          <a:custGeom>
            <a:avLst/>
            <a:gdLst>
              <a:gd name="txL" fmla="*/ 0 w 738285"/>
              <a:gd name="txT" fmla="*/ 0 h 4248500"/>
              <a:gd name="txR" fmla="*/ 738285 w 738285"/>
              <a:gd name="txB" fmla="*/ 4248500 h 4248500"/>
            </a:gdLst>
            <a:ahLst/>
            <a:cxnLst>
              <a:cxn ang="0">
                <a:pos x="1562" y="5697"/>
              </a:cxn>
              <a:cxn ang="0">
                <a:pos x="217" y="1"/>
              </a:cxn>
              <a:cxn ang="0">
                <a:pos x="10915" y="1"/>
              </a:cxn>
              <a:cxn ang="0">
                <a:pos x="12786" y="4212"/>
              </a:cxn>
              <a:cxn ang="0">
                <a:pos x="12786" y="161439"/>
              </a:cxn>
              <a:cxn ang="0">
                <a:pos x="10915" y="165651"/>
              </a:cxn>
              <a:cxn ang="0">
                <a:pos x="629" y="165651"/>
              </a:cxn>
              <a:cxn ang="0">
                <a:pos x="1562" y="161439"/>
              </a:cxn>
              <a:cxn ang="0">
                <a:pos x="1562" y="5697"/>
              </a:cxn>
            </a:cxnLst>
            <a:rect l="txL" t="txT" r="txR" b="txB"/>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0070C0">
              <a:alpha val="100000"/>
            </a:srgbClr>
          </a:solidFill>
          <a:ln w="9525">
            <a:noFill/>
          </a:ln>
        </p:spPr>
        <p:txBody>
          <a:bodyPr/>
          <a:lstStyle/>
          <a:p>
            <a:endParaRPr lang="zh-CN" altLang="en-US"/>
          </a:p>
        </p:txBody>
      </p:sp>
      <p:sp>
        <p:nvSpPr>
          <p:cNvPr id="70664" name="椭圆 11"/>
          <p:cNvSpPr/>
          <p:nvPr/>
        </p:nvSpPr>
        <p:spPr>
          <a:xfrm>
            <a:off x="974725" y="1459285"/>
            <a:ext cx="96838" cy="155575"/>
          </a:xfrm>
          <a:prstGeom prst="ellipse">
            <a:avLst/>
          </a:prstGeom>
          <a:solidFill>
            <a:srgbClr val="A5A5E9"/>
          </a:solid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gn="ctr" eaLnBrk="1" hangingPunct="1">
              <a:lnSpc>
                <a:spcPct val="100000"/>
              </a:lnSpc>
              <a:spcBef>
                <a:spcPct val="20000"/>
              </a:spcBef>
            </a:pPr>
            <a:endParaRPr lang="zh-CN" altLang="en-US" sz="2800" b="1" dirty="0">
              <a:solidFill>
                <a:srgbClr val="FFFFFF"/>
              </a:solidFill>
              <a:latin typeface="Arial Narrow" panose="020B0606020202030204" pitchFamily="34" charset="0"/>
            </a:endParaRPr>
          </a:p>
        </p:txBody>
      </p:sp>
      <p:sp>
        <p:nvSpPr>
          <p:cNvPr id="70665" name="圆角矩形 15"/>
          <p:cNvSpPr/>
          <p:nvPr/>
        </p:nvSpPr>
        <p:spPr>
          <a:xfrm>
            <a:off x="1004888" y="1456110"/>
            <a:ext cx="492125" cy="3171825"/>
          </a:xfrm>
          <a:custGeom>
            <a:avLst/>
            <a:gdLst>
              <a:gd name="txL" fmla="*/ 0 w 738285"/>
              <a:gd name="txT" fmla="*/ 0 h 4248500"/>
              <a:gd name="txR" fmla="*/ 738285 w 738285"/>
              <a:gd name="txB" fmla="*/ 4248500 h 4248500"/>
            </a:gdLst>
            <a:ahLst/>
            <a:cxnLst>
              <a:cxn ang="0">
                <a:pos x="1562" y="5697"/>
              </a:cxn>
              <a:cxn ang="0">
                <a:pos x="217" y="1"/>
              </a:cxn>
              <a:cxn ang="0">
                <a:pos x="10915" y="1"/>
              </a:cxn>
              <a:cxn ang="0">
                <a:pos x="12786" y="4212"/>
              </a:cxn>
              <a:cxn ang="0">
                <a:pos x="12786" y="161439"/>
              </a:cxn>
              <a:cxn ang="0">
                <a:pos x="10915" y="165651"/>
              </a:cxn>
              <a:cxn ang="0">
                <a:pos x="629" y="165651"/>
              </a:cxn>
              <a:cxn ang="0">
                <a:pos x="1562" y="161439"/>
              </a:cxn>
              <a:cxn ang="0">
                <a:pos x="1562" y="5697"/>
              </a:cxn>
            </a:cxnLst>
            <a:rect l="txL" t="txT" r="txR" b="txB"/>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A5A5E9">
              <a:alpha val="100000"/>
            </a:srgbClr>
          </a:solidFill>
          <a:ln w="9525">
            <a:noFill/>
          </a:ln>
        </p:spPr>
        <p:txBody>
          <a:bodyPr/>
          <a:lstStyle/>
          <a:p>
            <a:endParaRPr lang="zh-CN" altLang="en-US"/>
          </a:p>
        </p:txBody>
      </p:sp>
      <p:sp>
        <p:nvSpPr>
          <p:cNvPr id="67586" name="Rectangle 4"/>
          <p:cNvSpPr>
            <a:spLocks noChangeArrowheads="1"/>
          </p:cNvSpPr>
          <p:nvPr/>
        </p:nvSpPr>
        <p:spPr bwMode="auto">
          <a:xfrm>
            <a:off x="1908175" y="1803772"/>
            <a:ext cx="7056438" cy="2478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若二叉树中各结点的值均不相同，则：</a:t>
            </a:r>
          </a:p>
          <a:p>
            <a:pPr marL="0" marR="0" lvl="0" indent="0" algn="l" defTabSz="914400" rtl="0" eaLnBrk="0" fontAlgn="base" latinLnBrk="0" hangingPunct="0">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由二叉树的前序序列和中序序列，或由其后序序列和中序序列均</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能唯一</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地确定一棵二叉树，</a:t>
            </a:r>
          </a:p>
          <a:p>
            <a:pPr marL="0" marR="0" lvl="0" indent="0" algn="l" defTabSz="914400" rtl="0" eaLnBrk="0" fontAlgn="base" latinLnBrk="0" hangingPunct="0">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但由前序序列和后序序列却</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不一定能唯一</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地确定一棵二叉树。 </a:t>
            </a:r>
          </a:p>
        </p:txBody>
      </p:sp>
    </p:spTree>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4"/>
          <p:cNvSpPr>
            <a:spLocks noChangeArrowheads="1"/>
          </p:cNvSpPr>
          <p:nvPr/>
        </p:nvSpPr>
        <p:spPr bwMode="auto">
          <a:xfrm>
            <a:off x="827088" y="133350"/>
            <a:ext cx="233997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练习</a:t>
            </a:r>
          </a:p>
        </p:txBody>
      </p:sp>
      <p:sp>
        <p:nvSpPr>
          <p:cNvPr id="68611" name="Rectangle 5"/>
          <p:cNvSpPr>
            <a:spLocks noChangeArrowheads="1"/>
          </p:cNvSpPr>
          <p:nvPr/>
        </p:nvSpPr>
        <p:spPr bwMode="auto">
          <a:xfrm>
            <a:off x="461963" y="1528763"/>
            <a:ext cx="8218488" cy="1076325"/>
          </a:xfrm>
          <a:prstGeom prst="roundRect">
            <a:avLst/>
          </a:prstGeom>
          <a:solidFill>
            <a:srgbClr val="A78DC2"/>
          </a:solidFill>
          <a:ln w="38100">
            <a:noFill/>
            <a:miter lim="800000"/>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已知一棵二叉树的</a:t>
            </a:r>
            <a:r>
              <a:rPr kumimoji="0" lang="zh-CN" altLang="en-US" sz="2400" b="0" i="0" u="none" strike="noStrike" kern="1200" cap="none" spc="0" normalizeH="0" baseline="0" noProof="0" dirty="0">
                <a:ln>
                  <a:noFill/>
                </a:ln>
                <a:solidFill>
                  <a:srgbClr val="C00000"/>
                </a:solidFill>
                <a:effectLst/>
                <a:uLnTx/>
                <a:uFillTx/>
                <a:latin typeface="+mn-lt"/>
                <a:ea typeface="+mn-ea"/>
                <a:cs typeface="+mn-ea"/>
                <a:sym typeface="+mn-lt"/>
              </a:rPr>
              <a:t>中序序列</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和</a:t>
            </a:r>
            <a:r>
              <a:rPr kumimoji="0" lang="zh-CN" altLang="en-US" sz="2400" b="0" i="0" u="none" strike="noStrike" kern="1200" cap="none" spc="0" normalizeH="0" baseline="0" noProof="0" dirty="0">
                <a:ln>
                  <a:noFill/>
                </a:ln>
                <a:solidFill>
                  <a:srgbClr val="C00000"/>
                </a:solidFill>
                <a:effectLst/>
                <a:uLnTx/>
                <a:uFillTx/>
                <a:latin typeface="+mn-lt"/>
                <a:ea typeface="+mn-ea"/>
                <a:cs typeface="+mn-ea"/>
                <a:sym typeface="+mn-lt"/>
              </a:rPr>
              <a:t>后序序列</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分别是</a:t>
            </a:r>
            <a:r>
              <a:rPr kumimoji="0" lang="en-US" altLang="zh-CN" sz="2400" b="0" i="0" u="none" strike="noStrike" kern="1200" cap="none" spc="0" normalizeH="0" baseline="0" noProof="0" dirty="0">
                <a:ln>
                  <a:noFill/>
                </a:ln>
                <a:solidFill>
                  <a:srgbClr val="C00000"/>
                </a:solidFill>
                <a:effectLst/>
                <a:uLnTx/>
                <a:uFillTx/>
                <a:latin typeface="+mn-lt"/>
                <a:ea typeface="+mn-ea"/>
                <a:cs typeface="+mn-ea"/>
                <a:sym typeface="+mn-lt"/>
              </a:rPr>
              <a:t>BDCEAFHG </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和</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rgbClr val="C00000"/>
                </a:solidFill>
                <a:effectLst/>
                <a:uLnTx/>
                <a:uFillTx/>
                <a:latin typeface="+mn-lt"/>
                <a:ea typeface="+mn-ea"/>
                <a:cs typeface="+mn-ea"/>
                <a:sym typeface="+mn-lt"/>
              </a:rPr>
              <a:t>DECBHGFA</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，请画出这棵二叉树。</a:t>
            </a:r>
          </a:p>
        </p:txBody>
      </p:sp>
      <p:sp>
        <p:nvSpPr>
          <p:cNvPr id="856070" name="Rectangle 6"/>
          <p:cNvSpPr>
            <a:spLocks noChangeArrowheads="1"/>
          </p:cNvSpPr>
          <p:nvPr/>
        </p:nvSpPr>
        <p:spPr bwMode="auto">
          <a:xfrm>
            <a:off x="461963" y="2703513"/>
            <a:ext cx="8218488" cy="3173413"/>
          </a:xfrm>
          <a:prstGeom prst="roundRect">
            <a:avLst>
              <a:gd name="adj" fmla="val 5128"/>
            </a:avLst>
          </a:prstGeom>
          <a:solidFill>
            <a:schemeClr val="bg2">
              <a:lumMod val="20000"/>
              <a:lumOff val="80000"/>
            </a:schemeClr>
          </a:solidFill>
          <a:ln w="28575">
            <a:noFill/>
            <a:miter lim="800000"/>
          </a:ln>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①</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由后序遍历特征，根结点必在后序序列尾部</a:t>
            </a: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A</a:t>
            </a: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p>
          <a:p>
            <a:pPr marL="0" marR="0" lvl="0" indent="0" algn="just" defTabSz="914400" rtl="0" eaLnBrk="1" fontAlgn="base" latinLnBrk="0" hangingPunct="1">
              <a:lnSpc>
                <a:spcPct val="125000"/>
              </a:lnSpc>
              <a:spcBef>
                <a:spcPct val="3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②由中序遍历特征，根结点必在其中间，而且其左部必全部是左子树子孙</a:t>
            </a: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BDCE</a:t>
            </a: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，其右部必全部是右子树子孙</a:t>
            </a: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FHG</a:t>
            </a: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p>
          <a:p>
            <a:pPr marL="0" marR="0" lvl="0" indent="0" algn="just" defTabSz="914400" rtl="0" eaLnBrk="1" fontAlgn="base" latinLnBrk="0" hangingPunct="1">
              <a:lnSpc>
                <a:spcPct val="125000"/>
              </a:lnSpc>
              <a:spcBef>
                <a:spcPct val="3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③继而，根据后序中的</a:t>
            </a:r>
            <a:r>
              <a:rPr kumimoji="0" lang="en-US" altLang="zh-CN" sz="2400" b="0" i="0" u="sng" strike="noStrike" kern="1200" cap="none" spc="0" normalizeH="0" baseline="0" noProof="0" dirty="0">
                <a:ln>
                  <a:noFill/>
                </a:ln>
                <a:solidFill>
                  <a:schemeClr val="tx1"/>
                </a:solidFill>
                <a:effectLst/>
                <a:uLnTx/>
                <a:uFillTx/>
                <a:latin typeface="+mn-lt"/>
                <a:ea typeface="+mn-ea"/>
                <a:cs typeface="+mn-ea"/>
                <a:sym typeface="+mn-lt"/>
              </a:rPr>
              <a:t>DECB</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子树可确定</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B</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的左孩子，根据</a:t>
            </a:r>
            <a:r>
              <a:rPr kumimoji="0" lang="en-US" altLang="zh-CN" sz="2400" b="0" i="0" u="sng" strike="noStrike" kern="1200" cap="none" spc="0" normalizeH="0" baseline="0" noProof="0" dirty="0">
                <a:ln>
                  <a:noFill/>
                </a:ln>
                <a:solidFill>
                  <a:schemeClr val="tx1"/>
                </a:solidFill>
                <a:effectLst/>
                <a:uLnTx/>
                <a:uFillTx/>
                <a:latin typeface="+mn-lt"/>
                <a:ea typeface="+mn-ea"/>
                <a:cs typeface="+mn-ea"/>
                <a:sym typeface="+mn-lt"/>
              </a:rPr>
              <a:t>HGF</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子串可确定</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F</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的右孩子；以此类推。</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856070">
                                            <p:bg/>
                                          </p:spTgt>
                                        </p:tgtEl>
                                        <p:attrNameLst>
                                          <p:attrName>style.visibility</p:attrName>
                                        </p:attrNameLst>
                                      </p:cBhvr>
                                      <p:to>
                                        <p:strVal val="visible"/>
                                      </p:to>
                                    </p:set>
                                    <p:animEffect transition="in" filter="strips(downRight)">
                                      <p:cBhvr>
                                        <p:cTn id="7" dur="500"/>
                                        <p:tgtEl>
                                          <p:spTgt spid="856070">
                                            <p:bg/>
                                          </p:spTgt>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856070">
                                            <p:txEl>
                                              <p:pRg st="0" end="0"/>
                                            </p:txEl>
                                          </p:spTgt>
                                        </p:tgtEl>
                                        <p:attrNameLst>
                                          <p:attrName>style.visibility</p:attrName>
                                        </p:attrNameLst>
                                      </p:cBhvr>
                                      <p:to>
                                        <p:strVal val="visible"/>
                                      </p:to>
                                    </p:set>
                                    <p:animEffect transition="in" filter="strips(downRight)">
                                      <p:cBhvr>
                                        <p:cTn id="12" dur="500"/>
                                        <p:tgtEl>
                                          <p:spTgt spid="856070">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856070">
                                            <p:txEl>
                                              <p:pRg st="1" end="1"/>
                                            </p:txEl>
                                          </p:spTgt>
                                        </p:tgtEl>
                                        <p:attrNameLst>
                                          <p:attrName>style.visibility</p:attrName>
                                        </p:attrNameLst>
                                      </p:cBhvr>
                                      <p:to>
                                        <p:strVal val="visible"/>
                                      </p:to>
                                    </p:set>
                                    <p:animEffect transition="in" filter="strips(downRight)">
                                      <p:cBhvr>
                                        <p:cTn id="17" dur="500"/>
                                        <p:tgtEl>
                                          <p:spTgt spid="856070">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856070">
                                            <p:txEl>
                                              <p:pRg st="2" end="2"/>
                                            </p:txEl>
                                          </p:spTgt>
                                        </p:tgtEl>
                                        <p:attrNameLst>
                                          <p:attrName>style.visibility</p:attrName>
                                        </p:attrNameLst>
                                      </p:cBhvr>
                                      <p:to>
                                        <p:strVal val="visible"/>
                                      </p:to>
                                    </p:set>
                                    <p:animEffect transition="in" filter="strips(downRight)">
                                      <p:cBhvr>
                                        <p:cTn id="22" dur="500"/>
                                        <p:tgtEl>
                                          <p:spTgt spid="85607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6070" grpId="0" build="p"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矩形 1"/>
          <p:cNvSpPr/>
          <p:nvPr/>
        </p:nvSpPr>
        <p:spPr>
          <a:xfrm>
            <a:off x="0" y="2889250"/>
            <a:ext cx="9144000" cy="3563938"/>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857122" name="Rectangle 34"/>
          <p:cNvSpPr>
            <a:spLocks noChangeArrowheads="1"/>
          </p:cNvSpPr>
          <p:nvPr/>
        </p:nvSpPr>
        <p:spPr bwMode="auto">
          <a:xfrm>
            <a:off x="1357313" y="1041400"/>
            <a:ext cx="6096000" cy="1524000"/>
          </a:xfrm>
          <a:prstGeom prst="rect">
            <a:avLst/>
          </a:prstGeom>
          <a:noFill/>
          <a:ln w="9525">
            <a:noFill/>
            <a:miter lim="800000"/>
          </a:ln>
          <a:effec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中序遍历：</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B D C E A F H G</a:t>
            </a:r>
            <a:b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b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r>
            <a:b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b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后序遍历：</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D E C B H G F </a:t>
            </a:r>
            <a:r>
              <a:rPr kumimoji="1" lang="en-US" altLang="zh-CN" sz="2800" b="0" i="0" u="none" strike="noStrike" kern="1200" cap="none" spc="0" normalizeH="0" baseline="0" noProof="0" dirty="0">
                <a:ln>
                  <a:noFill/>
                </a:ln>
                <a:solidFill>
                  <a:schemeClr val="accent1"/>
                </a:solidFill>
                <a:effectLst/>
                <a:uLnTx/>
                <a:uFillTx/>
                <a:latin typeface="+mn-lt"/>
                <a:ea typeface="+mn-ea"/>
                <a:cs typeface="+mn-ea"/>
                <a:sym typeface="+mn-lt"/>
              </a:rPr>
              <a:t>A</a:t>
            </a:r>
          </a:p>
        </p:txBody>
      </p:sp>
      <p:sp>
        <p:nvSpPr>
          <p:cNvPr id="857124" name="Line 36"/>
          <p:cNvSpPr>
            <a:spLocks noChangeShapeType="1"/>
          </p:cNvSpPr>
          <p:nvPr/>
        </p:nvSpPr>
        <p:spPr bwMode="auto">
          <a:xfrm>
            <a:off x="3262313" y="1651000"/>
            <a:ext cx="1219200" cy="0"/>
          </a:xfrm>
          <a:prstGeom prst="line">
            <a:avLst/>
          </a:prstGeom>
          <a:noFill/>
          <a:ln w="22225">
            <a:solidFill>
              <a:schemeClr val="hlink"/>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57125" name="Line 37"/>
          <p:cNvSpPr>
            <a:spLocks noChangeShapeType="1"/>
          </p:cNvSpPr>
          <p:nvPr/>
        </p:nvSpPr>
        <p:spPr bwMode="auto">
          <a:xfrm>
            <a:off x="3262313" y="2489200"/>
            <a:ext cx="1219200" cy="0"/>
          </a:xfrm>
          <a:prstGeom prst="line">
            <a:avLst/>
          </a:prstGeom>
          <a:noFill/>
          <a:ln w="22225">
            <a:solidFill>
              <a:schemeClr val="hlink"/>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57126" name="Line 38"/>
          <p:cNvSpPr>
            <a:spLocks noChangeShapeType="1"/>
          </p:cNvSpPr>
          <p:nvPr/>
        </p:nvSpPr>
        <p:spPr bwMode="auto">
          <a:xfrm>
            <a:off x="4938713" y="1651000"/>
            <a:ext cx="914400" cy="0"/>
          </a:xfrm>
          <a:prstGeom prst="line">
            <a:avLst/>
          </a:prstGeom>
          <a:noFill/>
          <a:ln w="22225">
            <a:solidFill>
              <a:srgbClr val="FF00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57127" name="Line 39"/>
          <p:cNvSpPr>
            <a:spLocks noChangeShapeType="1"/>
          </p:cNvSpPr>
          <p:nvPr/>
        </p:nvSpPr>
        <p:spPr bwMode="auto">
          <a:xfrm>
            <a:off x="4633913" y="2489200"/>
            <a:ext cx="914400" cy="0"/>
          </a:xfrm>
          <a:prstGeom prst="line">
            <a:avLst/>
          </a:prstGeom>
          <a:noFill/>
          <a:ln w="22225">
            <a:solidFill>
              <a:srgbClr val="FF0000"/>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57128" name="Rectangle 40"/>
          <p:cNvSpPr>
            <a:spLocks noChangeArrowheads="1"/>
          </p:cNvSpPr>
          <p:nvPr/>
        </p:nvSpPr>
        <p:spPr bwMode="auto">
          <a:xfrm>
            <a:off x="1814513" y="5567363"/>
            <a:ext cx="21526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a:ln>
                  <a:noFill/>
                </a:ln>
                <a:solidFill>
                  <a:schemeClr val="hlink"/>
                </a:solidFill>
                <a:effectLst/>
                <a:uLnTx/>
                <a:uFillTx/>
                <a:latin typeface="+mn-lt"/>
                <a:ea typeface="+mn-ea"/>
                <a:cs typeface="+mn-ea"/>
                <a:sym typeface="+mn-lt"/>
              </a:rPr>
              <a:t>（</a:t>
            </a:r>
            <a:r>
              <a:rPr kumimoji="0" lang="en-US" altLang="zh-CN" sz="2800" b="0" i="0" u="none" strike="noStrike" kern="1200" cap="none" spc="0" normalizeH="0" baseline="0" noProof="0">
                <a:ln>
                  <a:noFill/>
                </a:ln>
                <a:solidFill>
                  <a:schemeClr val="hlink"/>
                </a:solidFill>
                <a:effectLst/>
                <a:uLnTx/>
                <a:uFillTx/>
                <a:latin typeface="+mn-lt"/>
                <a:ea typeface="+mn-ea"/>
                <a:cs typeface="+mn-ea"/>
                <a:sym typeface="+mn-lt"/>
              </a:rPr>
              <a:t>B D C E</a:t>
            </a:r>
            <a:r>
              <a:rPr kumimoji="0" lang="zh-CN" altLang="en-US" sz="2800" b="0" i="0" u="none" strike="noStrike" kern="1200" cap="none" spc="0" normalizeH="0" baseline="0" noProof="0">
                <a:ln>
                  <a:noFill/>
                </a:ln>
                <a:solidFill>
                  <a:schemeClr val="hlink"/>
                </a:solidFill>
                <a:effectLst/>
                <a:uLnTx/>
                <a:uFillTx/>
                <a:latin typeface="+mn-lt"/>
                <a:ea typeface="+mn-ea"/>
                <a:cs typeface="+mn-ea"/>
                <a:sym typeface="+mn-lt"/>
              </a:rPr>
              <a:t>）</a:t>
            </a:r>
          </a:p>
        </p:txBody>
      </p:sp>
      <p:sp>
        <p:nvSpPr>
          <p:cNvPr id="857129" name="Rectangle 41"/>
          <p:cNvSpPr>
            <a:spLocks noChangeArrowheads="1"/>
          </p:cNvSpPr>
          <p:nvPr/>
        </p:nvSpPr>
        <p:spPr bwMode="auto">
          <a:xfrm>
            <a:off x="5129213" y="5646738"/>
            <a:ext cx="19351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a:ln>
                  <a:noFill/>
                </a:ln>
                <a:solidFill>
                  <a:srgbClr val="66FF33"/>
                </a:solidFill>
                <a:effectLst/>
                <a:uLnTx/>
                <a:uFillTx/>
                <a:latin typeface="+mn-lt"/>
                <a:ea typeface="+mn-ea"/>
                <a:cs typeface="+mn-ea"/>
                <a:sym typeface="+mn-lt"/>
              </a:rPr>
              <a:t>（ </a:t>
            </a:r>
            <a:r>
              <a:rPr kumimoji="0" lang="en-US" altLang="zh-CN" sz="2800" b="0" i="0" u="none" strike="noStrike" kern="1200" cap="none" spc="0" normalizeH="0" baseline="0" noProof="0">
                <a:ln>
                  <a:noFill/>
                </a:ln>
                <a:solidFill>
                  <a:srgbClr val="66FF33"/>
                </a:solidFill>
                <a:effectLst/>
                <a:uLnTx/>
                <a:uFillTx/>
                <a:latin typeface="+mn-lt"/>
                <a:ea typeface="+mn-ea"/>
                <a:cs typeface="+mn-ea"/>
                <a:sym typeface="+mn-lt"/>
              </a:rPr>
              <a:t>F H G</a:t>
            </a:r>
            <a:r>
              <a:rPr kumimoji="0" lang="zh-CN" altLang="en-US" sz="2800" b="0" i="0" u="none" strike="noStrike" kern="1200" cap="none" spc="0" normalizeH="0" baseline="0" noProof="0">
                <a:ln>
                  <a:noFill/>
                </a:ln>
                <a:solidFill>
                  <a:srgbClr val="66FF33"/>
                </a:solidFill>
                <a:effectLst/>
                <a:uLnTx/>
                <a:uFillTx/>
                <a:latin typeface="+mn-lt"/>
                <a:ea typeface="+mn-ea"/>
                <a:cs typeface="+mn-ea"/>
                <a:sym typeface="+mn-lt"/>
              </a:rPr>
              <a:t>）</a:t>
            </a:r>
          </a:p>
        </p:txBody>
      </p:sp>
      <p:sp>
        <p:nvSpPr>
          <p:cNvPr id="857130" name="Rectangle 42"/>
          <p:cNvSpPr>
            <a:spLocks noChangeArrowheads="1"/>
          </p:cNvSpPr>
          <p:nvPr/>
        </p:nvSpPr>
        <p:spPr bwMode="auto">
          <a:xfrm>
            <a:off x="4062413" y="2889250"/>
            <a:ext cx="477838"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0" i="0" u="none" strike="noStrike" kern="1200" cap="none" spc="0" normalizeH="0" baseline="0" noProof="0">
                <a:ln>
                  <a:noFill/>
                </a:ln>
                <a:solidFill>
                  <a:schemeClr val="accent1"/>
                </a:solidFill>
                <a:effectLst/>
                <a:uLnTx/>
                <a:uFillTx/>
                <a:latin typeface="+mn-lt"/>
                <a:ea typeface="+mn-ea"/>
                <a:cs typeface="+mn-ea"/>
                <a:sym typeface="+mn-lt"/>
              </a:rPr>
              <a:t>A</a:t>
            </a:r>
          </a:p>
        </p:txBody>
      </p:sp>
      <p:sp>
        <p:nvSpPr>
          <p:cNvPr id="857131" name="Rectangle 43"/>
          <p:cNvSpPr>
            <a:spLocks noChangeArrowheads="1"/>
          </p:cNvSpPr>
          <p:nvPr/>
        </p:nvSpPr>
        <p:spPr bwMode="auto">
          <a:xfrm>
            <a:off x="3300413" y="3575050"/>
            <a:ext cx="455613"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0" i="0" u="none" strike="noStrike" kern="1200" cap="none" spc="0" normalizeH="0" baseline="0" noProof="0">
                <a:ln>
                  <a:noFill/>
                </a:ln>
                <a:solidFill>
                  <a:schemeClr val="accent1"/>
                </a:solidFill>
                <a:effectLst/>
                <a:uLnTx/>
                <a:uFillTx/>
                <a:latin typeface="+mn-lt"/>
                <a:ea typeface="+mn-ea"/>
                <a:cs typeface="+mn-ea"/>
                <a:sym typeface="+mn-lt"/>
              </a:rPr>
              <a:t>B</a:t>
            </a:r>
          </a:p>
        </p:txBody>
      </p:sp>
      <p:sp>
        <p:nvSpPr>
          <p:cNvPr id="857132" name="Rectangle 44"/>
          <p:cNvSpPr>
            <a:spLocks noChangeArrowheads="1"/>
          </p:cNvSpPr>
          <p:nvPr/>
        </p:nvSpPr>
        <p:spPr bwMode="auto">
          <a:xfrm>
            <a:off x="4824413" y="3575050"/>
            <a:ext cx="412750"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0" i="0" u="none" strike="noStrike" kern="1200" cap="none" spc="0" normalizeH="0" baseline="0" noProof="0">
                <a:ln>
                  <a:noFill/>
                </a:ln>
                <a:solidFill>
                  <a:schemeClr val="accent1"/>
                </a:solidFill>
                <a:effectLst/>
                <a:uLnTx/>
                <a:uFillTx/>
                <a:latin typeface="+mn-lt"/>
                <a:ea typeface="+mn-ea"/>
                <a:cs typeface="+mn-ea"/>
                <a:sym typeface="+mn-lt"/>
              </a:rPr>
              <a:t>F</a:t>
            </a:r>
          </a:p>
        </p:txBody>
      </p:sp>
      <p:sp>
        <p:nvSpPr>
          <p:cNvPr id="857133" name="Rectangle 45"/>
          <p:cNvSpPr>
            <a:spLocks noChangeArrowheads="1"/>
          </p:cNvSpPr>
          <p:nvPr/>
        </p:nvSpPr>
        <p:spPr bwMode="auto">
          <a:xfrm>
            <a:off x="1585913" y="5673725"/>
            <a:ext cx="3200400" cy="519113"/>
          </a:xfrm>
          <a:prstGeom prst="rect">
            <a:avLst/>
          </a:prstGeom>
          <a:solidFill>
            <a:srgbClr val="EBEBEB"/>
          </a:solid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hlink"/>
                </a:solidFill>
                <a:effectLst/>
                <a:uLnTx/>
                <a:uFillTx/>
                <a:latin typeface="+mn-lt"/>
                <a:ea typeface="+mn-ea"/>
                <a:cs typeface="+mn-ea"/>
                <a:sym typeface="+mn-lt"/>
              </a:rPr>
              <a:t>D C E</a:t>
            </a: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a:t>
            </a:r>
          </a:p>
        </p:txBody>
      </p:sp>
      <p:sp>
        <p:nvSpPr>
          <p:cNvPr id="857134" name="Rectangle 46"/>
          <p:cNvSpPr>
            <a:spLocks noChangeArrowheads="1"/>
          </p:cNvSpPr>
          <p:nvPr/>
        </p:nvSpPr>
        <p:spPr bwMode="auto">
          <a:xfrm>
            <a:off x="4905375" y="5673725"/>
            <a:ext cx="1984375" cy="519113"/>
          </a:xfrm>
          <a:prstGeom prst="rect">
            <a:avLst/>
          </a:prstGeom>
          <a:solidFill>
            <a:srgbClr val="EBEBEB"/>
          </a:solidFill>
          <a:ln>
            <a:noFill/>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    </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H G</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a:t>
            </a:r>
          </a:p>
        </p:txBody>
      </p:sp>
      <p:sp>
        <p:nvSpPr>
          <p:cNvPr id="857135" name="Rectangle 47"/>
          <p:cNvSpPr>
            <a:spLocks noChangeArrowheads="1"/>
          </p:cNvSpPr>
          <p:nvPr/>
        </p:nvSpPr>
        <p:spPr bwMode="auto">
          <a:xfrm>
            <a:off x="3605213" y="4260850"/>
            <a:ext cx="458788"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0" i="0" u="none" strike="noStrike" kern="1200" cap="none" spc="0" normalizeH="0" baseline="0" noProof="0">
                <a:ln>
                  <a:noFill/>
                </a:ln>
                <a:solidFill>
                  <a:schemeClr val="accent1"/>
                </a:solidFill>
                <a:effectLst/>
                <a:uLnTx/>
                <a:uFillTx/>
                <a:latin typeface="+mn-lt"/>
                <a:ea typeface="+mn-ea"/>
                <a:cs typeface="+mn-ea"/>
                <a:sym typeface="+mn-lt"/>
              </a:rPr>
              <a:t>C</a:t>
            </a:r>
          </a:p>
        </p:txBody>
      </p:sp>
      <p:sp>
        <p:nvSpPr>
          <p:cNvPr id="857136" name="Rectangle 48"/>
          <p:cNvSpPr>
            <a:spLocks noChangeArrowheads="1"/>
          </p:cNvSpPr>
          <p:nvPr/>
        </p:nvSpPr>
        <p:spPr bwMode="auto">
          <a:xfrm>
            <a:off x="3224213" y="4870450"/>
            <a:ext cx="1257300"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0" i="0" u="none" strike="noStrike" kern="1200" cap="none" spc="0" normalizeH="0" baseline="0" noProof="0">
                <a:ln>
                  <a:noFill/>
                </a:ln>
                <a:solidFill>
                  <a:schemeClr val="accent1"/>
                </a:solidFill>
                <a:effectLst/>
                <a:uLnTx/>
                <a:uFillTx/>
                <a:latin typeface="+mn-lt"/>
                <a:ea typeface="+mn-ea"/>
                <a:cs typeface="+mn-ea"/>
                <a:sym typeface="+mn-lt"/>
              </a:rPr>
              <a:t>D     E</a:t>
            </a:r>
          </a:p>
        </p:txBody>
      </p:sp>
      <p:sp>
        <p:nvSpPr>
          <p:cNvPr id="857137" name="Rectangle 49"/>
          <p:cNvSpPr>
            <a:spLocks noChangeArrowheads="1"/>
          </p:cNvSpPr>
          <p:nvPr/>
        </p:nvSpPr>
        <p:spPr bwMode="auto">
          <a:xfrm>
            <a:off x="5391150" y="4260850"/>
            <a:ext cx="500063"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0" i="0" u="none" strike="noStrike" kern="1200" cap="none" spc="0" normalizeH="0" baseline="0" noProof="0">
                <a:ln>
                  <a:noFill/>
                </a:ln>
                <a:solidFill>
                  <a:schemeClr val="accent1"/>
                </a:solidFill>
                <a:effectLst/>
                <a:uLnTx/>
                <a:uFillTx/>
                <a:latin typeface="+mn-lt"/>
                <a:ea typeface="+mn-ea"/>
                <a:cs typeface="+mn-ea"/>
                <a:sym typeface="+mn-lt"/>
              </a:rPr>
              <a:t>G</a:t>
            </a:r>
          </a:p>
        </p:txBody>
      </p:sp>
      <p:sp>
        <p:nvSpPr>
          <p:cNvPr id="857138" name="Rectangle 50"/>
          <p:cNvSpPr>
            <a:spLocks noChangeArrowheads="1"/>
          </p:cNvSpPr>
          <p:nvPr/>
        </p:nvSpPr>
        <p:spPr bwMode="auto">
          <a:xfrm>
            <a:off x="4748213" y="4870450"/>
            <a:ext cx="500063"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3200" b="0" i="0" u="none" strike="noStrike" kern="1200" cap="none" spc="0" normalizeH="0" baseline="0" noProof="0">
                <a:ln>
                  <a:noFill/>
                </a:ln>
                <a:solidFill>
                  <a:schemeClr val="accent1"/>
                </a:solidFill>
                <a:effectLst/>
                <a:uLnTx/>
                <a:uFillTx/>
                <a:latin typeface="+mn-lt"/>
                <a:ea typeface="+mn-ea"/>
                <a:cs typeface="+mn-ea"/>
                <a:sym typeface="+mn-lt"/>
              </a:rPr>
              <a:t>H</a:t>
            </a:r>
          </a:p>
        </p:txBody>
      </p:sp>
      <p:sp>
        <p:nvSpPr>
          <p:cNvPr id="857139" name="Line 51"/>
          <p:cNvSpPr>
            <a:spLocks noChangeShapeType="1"/>
          </p:cNvSpPr>
          <p:nvPr/>
        </p:nvSpPr>
        <p:spPr bwMode="auto">
          <a:xfrm flipH="1">
            <a:off x="3681413" y="3346450"/>
            <a:ext cx="457200" cy="381000"/>
          </a:xfrm>
          <a:prstGeom prst="line">
            <a:avLst/>
          </a:prstGeom>
          <a:noFill/>
          <a:ln w="25400">
            <a:solidFill>
              <a:schemeClr val="tx2"/>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57140" name="Line 52"/>
          <p:cNvSpPr>
            <a:spLocks noChangeShapeType="1"/>
          </p:cNvSpPr>
          <p:nvPr/>
        </p:nvSpPr>
        <p:spPr bwMode="auto">
          <a:xfrm flipH="1">
            <a:off x="3376613" y="4718050"/>
            <a:ext cx="381000" cy="304800"/>
          </a:xfrm>
          <a:prstGeom prst="line">
            <a:avLst/>
          </a:prstGeom>
          <a:noFill/>
          <a:ln w="25400">
            <a:solidFill>
              <a:schemeClr val="tx2"/>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57141" name="Line 53"/>
          <p:cNvSpPr>
            <a:spLocks noChangeShapeType="1"/>
          </p:cNvSpPr>
          <p:nvPr/>
        </p:nvSpPr>
        <p:spPr bwMode="auto">
          <a:xfrm flipH="1">
            <a:off x="5205413" y="4718050"/>
            <a:ext cx="304800" cy="381000"/>
          </a:xfrm>
          <a:prstGeom prst="line">
            <a:avLst/>
          </a:prstGeom>
          <a:noFill/>
          <a:ln w="25400">
            <a:solidFill>
              <a:schemeClr val="tx2"/>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57142" name="Line 54"/>
          <p:cNvSpPr>
            <a:spLocks noChangeShapeType="1"/>
          </p:cNvSpPr>
          <p:nvPr/>
        </p:nvSpPr>
        <p:spPr bwMode="auto">
          <a:xfrm>
            <a:off x="4443413" y="3346450"/>
            <a:ext cx="457200" cy="381000"/>
          </a:xfrm>
          <a:prstGeom prst="line">
            <a:avLst/>
          </a:prstGeom>
          <a:noFill/>
          <a:ln w="25400">
            <a:solidFill>
              <a:schemeClr val="tx2"/>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57143" name="Line 55"/>
          <p:cNvSpPr>
            <a:spLocks noChangeShapeType="1"/>
          </p:cNvSpPr>
          <p:nvPr/>
        </p:nvSpPr>
        <p:spPr bwMode="auto">
          <a:xfrm>
            <a:off x="5129213" y="3956050"/>
            <a:ext cx="457200" cy="381000"/>
          </a:xfrm>
          <a:prstGeom prst="line">
            <a:avLst/>
          </a:prstGeom>
          <a:noFill/>
          <a:ln w="25400">
            <a:solidFill>
              <a:schemeClr val="tx2"/>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57144" name="Line 56"/>
          <p:cNvSpPr>
            <a:spLocks noChangeShapeType="1"/>
          </p:cNvSpPr>
          <p:nvPr/>
        </p:nvSpPr>
        <p:spPr bwMode="auto">
          <a:xfrm>
            <a:off x="3605213" y="4032250"/>
            <a:ext cx="152400" cy="381000"/>
          </a:xfrm>
          <a:prstGeom prst="line">
            <a:avLst/>
          </a:prstGeom>
          <a:noFill/>
          <a:ln w="25400">
            <a:solidFill>
              <a:schemeClr val="tx2"/>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57145" name="Line 57"/>
          <p:cNvSpPr>
            <a:spLocks noChangeShapeType="1"/>
          </p:cNvSpPr>
          <p:nvPr/>
        </p:nvSpPr>
        <p:spPr bwMode="auto">
          <a:xfrm>
            <a:off x="3986213" y="4718050"/>
            <a:ext cx="228600" cy="304800"/>
          </a:xfrm>
          <a:prstGeom prst="line">
            <a:avLst/>
          </a:prstGeom>
          <a:noFill/>
          <a:ln w="25400">
            <a:solidFill>
              <a:schemeClr val="tx2"/>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57146" name="Rectangle 58"/>
          <p:cNvSpPr>
            <a:spLocks noChangeArrowheads="1"/>
          </p:cNvSpPr>
          <p:nvPr/>
        </p:nvSpPr>
        <p:spPr bwMode="auto">
          <a:xfrm>
            <a:off x="4429125" y="1117600"/>
            <a:ext cx="441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accent1"/>
                </a:solidFill>
                <a:effectLst/>
                <a:uLnTx/>
                <a:uFillTx/>
                <a:latin typeface="+mn-lt"/>
                <a:ea typeface="+mn-ea"/>
                <a:cs typeface="+mn-ea"/>
                <a:sym typeface="+mn-lt"/>
              </a:rPr>
              <a:t>A</a:t>
            </a:r>
          </a:p>
        </p:txBody>
      </p:sp>
      <p:sp>
        <p:nvSpPr>
          <p:cNvPr id="857147" name="Rectangle 59"/>
          <p:cNvSpPr>
            <a:spLocks noChangeArrowheads="1"/>
          </p:cNvSpPr>
          <p:nvPr/>
        </p:nvSpPr>
        <p:spPr bwMode="auto">
          <a:xfrm>
            <a:off x="4122738" y="1970088"/>
            <a:ext cx="4206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hlink"/>
                </a:solidFill>
                <a:effectLst/>
                <a:uLnTx/>
                <a:uFillTx/>
                <a:latin typeface="+mn-lt"/>
                <a:ea typeface="+mn-ea"/>
                <a:cs typeface="+mn-ea"/>
                <a:sym typeface="+mn-lt"/>
              </a:rPr>
              <a:t>B</a:t>
            </a:r>
          </a:p>
        </p:txBody>
      </p:sp>
      <p:sp>
        <p:nvSpPr>
          <p:cNvPr id="857148" name="Rectangle 60"/>
          <p:cNvSpPr>
            <a:spLocks noChangeArrowheads="1"/>
          </p:cNvSpPr>
          <p:nvPr/>
        </p:nvSpPr>
        <p:spPr bwMode="auto">
          <a:xfrm>
            <a:off x="3133725" y="1117600"/>
            <a:ext cx="4206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hlink"/>
                </a:solidFill>
                <a:effectLst/>
                <a:uLnTx/>
                <a:uFillTx/>
                <a:latin typeface="+mn-lt"/>
                <a:ea typeface="+mn-ea"/>
                <a:cs typeface="+mn-ea"/>
                <a:sym typeface="+mn-lt"/>
              </a:rPr>
              <a:t>B</a:t>
            </a:r>
          </a:p>
        </p:txBody>
      </p:sp>
      <p:sp>
        <p:nvSpPr>
          <p:cNvPr id="857149" name="Rectangle 61"/>
          <p:cNvSpPr>
            <a:spLocks noChangeArrowheads="1"/>
          </p:cNvSpPr>
          <p:nvPr/>
        </p:nvSpPr>
        <p:spPr bwMode="auto">
          <a:xfrm>
            <a:off x="5137150" y="1970088"/>
            <a:ext cx="4016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F</a:t>
            </a:r>
          </a:p>
        </p:txBody>
      </p:sp>
      <p:sp>
        <p:nvSpPr>
          <p:cNvPr id="857150" name="Rectangle 62"/>
          <p:cNvSpPr>
            <a:spLocks noChangeArrowheads="1"/>
          </p:cNvSpPr>
          <p:nvPr/>
        </p:nvSpPr>
        <p:spPr bwMode="auto">
          <a:xfrm>
            <a:off x="4740275" y="1117600"/>
            <a:ext cx="4016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F</a:t>
            </a:r>
          </a:p>
        </p:txBody>
      </p:sp>
      <p:sp>
        <p:nvSpPr>
          <p:cNvPr id="30" name="Rectangle 4"/>
          <p:cNvSpPr>
            <a:spLocks noChangeArrowheads="1"/>
          </p:cNvSpPr>
          <p:nvPr/>
        </p:nvSpPr>
        <p:spPr bwMode="auto">
          <a:xfrm>
            <a:off x="827088" y="133350"/>
            <a:ext cx="233997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练习</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7826"/>
                                        </p:tgtEl>
                                        <p:attrNameLst>
                                          <p:attrName>style.visibility</p:attrName>
                                        </p:attrNameLst>
                                      </p:cBhvr>
                                      <p:to>
                                        <p:strVal val="visible"/>
                                      </p:to>
                                    </p:set>
                                    <p:animEffect transition="in" filter="fade">
                                      <p:cBhvr>
                                        <p:cTn id="7" dur="1000"/>
                                        <p:tgtEl>
                                          <p:spTgt spid="77826"/>
                                        </p:tgtEl>
                                      </p:cBhvr>
                                    </p:animEffect>
                                    <p:anim calcmode="lin" valueType="num">
                                      <p:cBhvr>
                                        <p:cTn id="8" dur="1000" fill="hold"/>
                                        <p:tgtEl>
                                          <p:spTgt spid="77826"/>
                                        </p:tgtEl>
                                        <p:attrNameLst>
                                          <p:attrName>ppt_x</p:attrName>
                                        </p:attrNameLst>
                                      </p:cBhvr>
                                      <p:tavLst>
                                        <p:tav tm="0">
                                          <p:val>
                                            <p:strVal val="#ppt_x"/>
                                          </p:val>
                                        </p:tav>
                                        <p:tav tm="100000">
                                          <p:val>
                                            <p:strVal val="#ppt_x"/>
                                          </p:val>
                                        </p:tav>
                                      </p:tavLst>
                                    </p:anim>
                                    <p:anim calcmode="lin" valueType="num">
                                      <p:cBhvr>
                                        <p:cTn id="9" dur="1000" fill="hold"/>
                                        <p:tgtEl>
                                          <p:spTgt spid="7782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499"/>
                                          </p:stCondLst>
                                        </p:cTn>
                                        <p:tgtEl>
                                          <p:spTgt spid="857130"/>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499"/>
                                          </p:stCondLst>
                                        </p:cTn>
                                        <p:tgtEl>
                                          <p:spTgt spid="857146"/>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499"/>
                                          </p:stCondLst>
                                        </p:cTn>
                                        <p:tgtEl>
                                          <p:spTgt spid="857124"/>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499"/>
                                          </p:stCondLst>
                                        </p:cTn>
                                        <p:tgtEl>
                                          <p:spTgt spid="857126"/>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499"/>
                                          </p:stCondLst>
                                        </p:cTn>
                                        <p:tgtEl>
                                          <p:spTgt spid="857125"/>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499"/>
                                          </p:stCondLst>
                                        </p:cTn>
                                        <p:tgtEl>
                                          <p:spTgt spid="857127"/>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grpId="0" nodeType="clickEffect">
                                  <p:stCondLst>
                                    <p:cond delay="0"/>
                                  </p:stCondLst>
                                  <p:childTnLst>
                                    <p:set>
                                      <p:cBhvr>
                                        <p:cTn id="37" dur="1" fill="hold">
                                          <p:stCondLst>
                                            <p:cond delay="499"/>
                                          </p:stCondLst>
                                        </p:cTn>
                                        <p:tgtEl>
                                          <p:spTgt spid="857128"/>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grpId="0" nodeType="clickEffect">
                                  <p:stCondLst>
                                    <p:cond delay="0"/>
                                  </p:stCondLst>
                                  <p:childTnLst>
                                    <p:set>
                                      <p:cBhvr>
                                        <p:cTn id="41" dur="1" fill="hold">
                                          <p:stCondLst>
                                            <p:cond delay="499"/>
                                          </p:stCondLst>
                                        </p:cTn>
                                        <p:tgtEl>
                                          <p:spTgt spid="857129"/>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499"/>
                                          </p:stCondLst>
                                        </p:cTn>
                                        <p:tgtEl>
                                          <p:spTgt spid="857147"/>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nodeType="clickEffect">
                                  <p:stCondLst>
                                    <p:cond delay="0"/>
                                  </p:stCondLst>
                                  <p:childTnLst>
                                    <p:set>
                                      <p:cBhvr>
                                        <p:cTn id="49" dur="1" fill="hold">
                                          <p:stCondLst>
                                            <p:cond delay="499"/>
                                          </p:stCondLst>
                                        </p:cTn>
                                        <p:tgtEl>
                                          <p:spTgt spid="857139"/>
                                        </p:tgtEl>
                                        <p:attrNameLst>
                                          <p:attrName>style.visibility</p:attrName>
                                        </p:attrNameLst>
                                      </p:cBhvr>
                                      <p:to>
                                        <p:strVal val="visible"/>
                                      </p:to>
                                    </p:set>
                                  </p:childTnLst>
                                </p:cTn>
                              </p:par>
                            </p:childTnLst>
                          </p:cTn>
                        </p:par>
                        <p:par>
                          <p:cTn id="50" fill="hold">
                            <p:stCondLst>
                              <p:cond delay="500"/>
                            </p:stCondLst>
                            <p:childTnLst>
                              <p:par>
                                <p:cTn id="51" presetID="1" presetClass="entr" presetSubtype="0" fill="hold" grpId="0" nodeType="afterEffect">
                                  <p:stCondLst>
                                    <p:cond delay="0"/>
                                  </p:stCondLst>
                                  <p:childTnLst>
                                    <p:set>
                                      <p:cBhvr>
                                        <p:cTn id="52" dur="1" fill="hold">
                                          <p:stCondLst>
                                            <p:cond delay="499"/>
                                          </p:stCondLst>
                                        </p:cTn>
                                        <p:tgtEl>
                                          <p:spTgt spid="857131"/>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499"/>
                                          </p:stCondLst>
                                        </p:cTn>
                                        <p:tgtEl>
                                          <p:spTgt spid="857148"/>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grpId="0" nodeType="clickEffect">
                                  <p:stCondLst>
                                    <p:cond delay="0"/>
                                  </p:stCondLst>
                                  <p:childTnLst>
                                    <p:set>
                                      <p:cBhvr>
                                        <p:cTn id="60" dur="1" fill="hold">
                                          <p:stCondLst>
                                            <p:cond delay="499"/>
                                          </p:stCondLst>
                                        </p:cTn>
                                        <p:tgtEl>
                                          <p:spTgt spid="857133"/>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grpId="0" nodeType="clickEffect">
                                  <p:stCondLst>
                                    <p:cond delay="0"/>
                                  </p:stCondLst>
                                  <p:childTnLst>
                                    <p:set>
                                      <p:cBhvr>
                                        <p:cTn id="64" dur="1" fill="hold">
                                          <p:stCondLst>
                                            <p:cond delay="499"/>
                                          </p:stCondLst>
                                        </p:cTn>
                                        <p:tgtEl>
                                          <p:spTgt spid="857135"/>
                                        </p:tgtEl>
                                        <p:attrNameLst>
                                          <p:attrName>style.visibility</p:attrName>
                                        </p:attrNameLst>
                                      </p:cBhvr>
                                      <p:to>
                                        <p:strVal val="visible"/>
                                      </p:to>
                                    </p:set>
                                  </p:childTnLst>
                                </p:cTn>
                              </p:par>
                            </p:childTnLst>
                          </p:cTn>
                        </p:par>
                        <p:par>
                          <p:cTn id="65" fill="hold">
                            <p:stCondLst>
                              <p:cond delay="500"/>
                            </p:stCondLst>
                            <p:childTnLst>
                              <p:par>
                                <p:cTn id="66" presetID="1" presetClass="entr" presetSubtype="0" fill="hold" nodeType="afterEffect">
                                  <p:stCondLst>
                                    <p:cond delay="0"/>
                                  </p:stCondLst>
                                  <p:childTnLst>
                                    <p:set>
                                      <p:cBhvr>
                                        <p:cTn id="67" dur="1" fill="hold">
                                          <p:stCondLst>
                                            <p:cond delay="499"/>
                                          </p:stCondLst>
                                        </p:cTn>
                                        <p:tgtEl>
                                          <p:spTgt spid="857144"/>
                                        </p:tgtEl>
                                        <p:attrNameLst>
                                          <p:attrName>style.visibility</p:attrName>
                                        </p:attrNameLst>
                                      </p:cBhvr>
                                      <p:to>
                                        <p:strVal val="visible"/>
                                      </p:to>
                                    </p:set>
                                  </p:childTnLst>
                                </p:cTn>
                              </p:par>
                            </p:childTnLst>
                          </p:cTn>
                        </p:par>
                      </p:childTnLst>
                    </p:cTn>
                  </p:par>
                  <p:par>
                    <p:cTn id="68" fill="hold">
                      <p:stCondLst>
                        <p:cond delay="indefinite"/>
                      </p:stCondLst>
                      <p:childTnLst>
                        <p:par>
                          <p:cTn id="69" fill="hold">
                            <p:stCondLst>
                              <p:cond delay="0"/>
                            </p:stCondLst>
                            <p:childTnLst>
                              <p:par>
                                <p:cTn id="70" presetID="1" presetClass="entr" presetSubtype="0" fill="hold" grpId="0" nodeType="clickEffect">
                                  <p:stCondLst>
                                    <p:cond delay="0"/>
                                  </p:stCondLst>
                                  <p:childTnLst>
                                    <p:set>
                                      <p:cBhvr>
                                        <p:cTn id="71" dur="1" fill="hold">
                                          <p:stCondLst>
                                            <p:cond delay="499"/>
                                          </p:stCondLst>
                                        </p:cTn>
                                        <p:tgtEl>
                                          <p:spTgt spid="857136"/>
                                        </p:tgtEl>
                                        <p:attrNameLst>
                                          <p:attrName>style.visibility</p:attrName>
                                        </p:attrNameLst>
                                      </p:cBhvr>
                                      <p:to>
                                        <p:strVal val="visible"/>
                                      </p:to>
                                    </p:set>
                                  </p:childTnLst>
                                </p:cTn>
                              </p:par>
                            </p:childTnLst>
                          </p:cTn>
                        </p:par>
                        <p:par>
                          <p:cTn id="72" fill="hold">
                            <p:stCondLst>
                              <p:cond delay="500"/>
                            </p:stCondLst>
                            <p:childTnLst>
                              <p:par>
                                <p:cTn id="73" presetID="1" presetClass="entr" presetSubtype="0" fill="hold" nodeType="afterEffect">
                                  <p:stCondLst>
                                    <p:cond delay="0"/>
                                  </p:stCondLst>
                                  <p:childTnLst>
                                    <p:set>
                                      <p:cBhvr>
                                        <p:cTn id="74" dur="1" fill="hold">
                                          <p:stCondLst>
                                            <p:cond delay="499"/>
                                          </p:stCondLst>
                                        </p:cTn>
                                        <p:tgtEl>
                                          <p:spTgt spid="857140"/>
                                        </p:tgtEl>
                                        <p:attrNameLst>
                                          <p:attrName>style.visibility</p:attrName>
                                        </p:attrNameLst>
                                      </p:cBhvr>
                                      <p:to>
                                        <p:strVal val="visible"/>
                                      </p:to>
                                    </p:set>
                                  </p:childTnLst>
                                </p:cTn>
                              </p:par>
                            </p:childTnLst>
                          </p:cTn>
                        </p:par>
                        <p:par>
                          <p:cTn id="75" fill="hold">
                            <p:stCondLst>
                              <p:cond delay="1000"/>
                            </p:stCondLst>
                            <p:childTnLst>
                              <p:par>
                                <p:cTn id="76" presetID="1" presetClass="entr" presetSubtype="0" fill="hold" nodeType="afterEffect">
                                  <p:stCondLst>
                                    <p:cond delay="0"/>
                                  </p:stCondLst>
                                  <p:childTnLst>
                                    <p:set>
                                      <p:cBhvr>
                                        <p:cTn id="77" dur="1" fill="hold">
                                          <p:stCondLst>
                                            <p:cond delay="499"/>
                                          </p:stCondLst>
                                        </p:cTn>
                                        <p:tgtEl>
                                          <p:spTgt spid="857145"/>
                                        </p:tgtEl>
                                        <p:attrNameLst>
                                          <p:attrName>style.visibility</p:attrName>
                                        </p:attrNameLst>
                                      </p:cBhvr>
                                      <p:to>
                                        <p:strVal val="visible"/>
                                      </p:to>
                                    </p:set>
                                  </p:childTnLst>
                                </p:cTn>
                              </p:par>
                            </p:childTnLst>
                          </p:cTn>
                        </p:par>
                      </p:childTnLst>
                    </p:cTn>
                  </p:par>
                  <p:par>
                    <p:cTn id="78" fill="hold">
                      <p:stCondLst>
                        <p:cond delay="indefinite"/>
                      </p:stCondLst>
                      <p:childTnLst>
                        <p:par>
                          <p:cTn id="79" fill="hold">
                            <p:stCondLst>
                              <p:cond delay="0"/>
                            </p:stCondLst>
                            <p:childTnLst>
                              <p:par>
                                <p:cTn id="80" presetID="1" presetClass="entr" presetSubtype="0" fill="hold" grpId="0" nodeType="clickEffect">
                                  <p:stCondLst>
                                    <p:cond delay="0"/>
                                  </p:stCondLst>
                                  <p:childTnLst>
                                    <p:set>
                                      <p:cBhvr>
                                        <p:cTn id="81" dur="1" fill="hold">
                                          <p:stCondLst>
                                            <p:cond delay="499"/>
                                          </p:stCondLst>
                                        </p:cTn>
                                        <p:tgtEl>
                                          <p:spTgt spid="857149"/>
                                        </p:tgtEl>
                                        <p:attrNameLst>
                                          <p:attrName>style.visibility</p:attrName>
                                        </p:attrNameLst>
                                      </p:cBhvr>
                                      <p:to>
                                        <p:strVal val="visible"/>
                                      </p:to>
                                    </p:set>
                                  </p:childTnLst>
                                </p:cTn>
                              </p:par>
                            </p:childTnLst>
                          </p:cTn>
                        </p:par>
                      </p:childTnLst>
                    </p:cTn>
                  </p:par>
                  <p:par>
                    <p:cTn id="82" fill="hold">
                      <p:stCondLst>
                        <p:cond delay="indefinite"/>
                      </p:stCondLst>
                      <p:childTnLst>
                        <p:par>
                          <p:cTn id="83" fill="hold">
                            <p:stCondLst>
                              <p:cond delay="0"/>
                            </p:stCondLst>
                            <p:childTnLst>
                              <p:par>
                                <p:cTn id="84" presetID="1" presetClass="entr" presetSubtype="0" fill="hold" grpId="0" nodeType="clickEffect">
                                  <p:stCondLst>
                                    <p:cond delay="0"/>
                                  </p:stCondLst>
                                  <p:childTnLst>
                                    <p:set>
                                      <p:cBhvr>
                                        <p:cTn id="85" dur="1" fill="hold">
                                          <p:stCondLst>
                                            <p:cond delay="499"/>
                                          </p:stCondLst>
                                        </p:cTn>
                                        <p:tgtEl>
                                          <p:spTgt spid="857132"/>
                                        </p:tgtEl>
                                        <p:attrNameLst>
                                          <p:attrName>style.visibility</p:attrName>
                                        </p:attrNameLst>
                                      </p:cBhvr>
                                      <p:to>
                                        <p:strVal val="visible"/>
                                      </p:to>
                                    </p:set>
                                  </p:childTnLst>
                                </p:cTn>
                              </p:par>
                            </p:childTnLst>
                          </p:cTn>
                        </p:par>
                        <p:par>
                          <p:cTn id="86" fill="hold">
                            <p:stCondLst>
                              <p:cond delay="500"/>
                            </p:stCondLst>
                            <p:childTnLst>
                              <p:par>
                                <p:cTn id="87" presetID="1" presetClass="entr" presetSubtype="0" fill="hold" nodeType="afterEffect">
                                  <p:stCondLst>
                                    <p:cond delay="0"/>
                                  </p:stCondLst>
                                  <p:childTnLst>
                                    <p:set>
                                      <p:cBhvr>
                                        <p:cTn id="88" dur="1" fill="hold">
                                          <p:stCondLst>
                                            <p:cond delay="499"/>
                                          </p:stCondLst>
                                        </p:cTn>
                                        <p:tgtEl>
                                          <p:spTgt spid="857142"/>
                                        </p:tgtEl>
                                        <p:attrNameLst>
                                          <p:attrName>style.visibility</p:attrName>
                                        </p:attrNameLst>
                                      </p:cBhvr>
                                      <p:to>
                                        <p:strVal val="visible"/>
                                      </p:to>
                                    </p:set>
                                  </p:childTnLst>
                                </p:cTn>
                              </p:par>
                            </p:childTnLst>
                          </p:cTn>
                        </p:par>
                      </p:childTnLst>
                    </p:cTn>
                  </p:par>
                  <p:par>
                    <p:cTn id="89" fill="hold">
                      <p:stCondLst>
                        <p:cond delay="indefinite"/>
                      </p:stCondLst>
                      <p:childTnLst>
                        <p:par>
                          <p:cTn id="90" fill="hold">
                            <p:stCondLst>
                              <p:cond delay="0"/>
                            </p:stCondLst>
                            <p:childTnLst>
                              <p:par>
                                <p:cTn id="91" presetID="1" presetClass="entr" presetSubtype="0" fill="hold" grpId="0" nodeType="clickEffect">
                                  <p:stCondLst>
                                    <p:cond delay="0"/>
                                  </p:stCondLst>
                                  <p:childTnLst>
                                    <p:set>
                                      <p:cBhvr>
                                        <p:cTn id="92" dur="1" fill="hold">
                                          <p:stCondLst>
                                            <p:cond delay="499"/>
                                          </p:stCondLst>
                                        </p:cTn>
                                        <p:tgtEl>
                                          <p:spTgt spid="857150"/>
                                        </p:tgtEl>
                                        <p:attrNameLst>
                                          <p:attrName>style.visibility</p:attrName>
                                        </p:attrNameLst>
                                      </p:cBhvr>
                                      <p:to>
                                        <p:strVal val="visible"/>
                                      </p:to>
                                    </p:set>
                                  </p:childTnLst>
                                </p:cTn>
                              </p:par>
                            </p:childTnLst>
                          </p:cTn>
                        </p:par>
                      </p:childTnLst>
                    </p:cTn>
                  </p:par>
                  <p:par>
                    <p:cTn id="93" fill="hold">
                      <p:stCondLst>
                        <p:cond delay="indefinite"/>
                      </p:stCondLst>
                      <p:childTnLst>
                        <p:par>
                          <p:cTn id="94" fill="hold">
                            <p:stCondLst>
                              <p:cond delay="0"/>
                            </p:stCondLst>
                            <p:childTnLst>
                              <p:par>
                                <p:cTn id="95" presetID="1" presetClass="entr" presetSubtype="0" fill="hold" grpId="0" nodeType="clickEffect">
                                  <p:stCondLst>
                                    <p:cond delay="0"/>
                                  </p:stCondLst>
                                  <p:childTnLst>
                                    <p:set>
                                      <p:cBhvr>
                                        <p:cTn id="96" dur="1" fill="hold">
                                          <p:stCondLst>
                                            <p:cond delay="499"/>
                                          </p:stCondLst>
                                        </p:cTn>
                                        <p:tgtEl>
                                          <p:spTgt spid="857134"/>
                                        </p:tgtEl>
                                        <p:attrNameLst>
                                          <p:attrName>style.visibility</p:attrName>
                                        </p:attrNameLst>
                                      </p:cBhvr>
                                      <p:to>
                                        <p:strVal val="visible"/>
                                      </p:to>
                                    </p:set>
                                  </p:childTnLst>
                                </p:cTn>
                              </p:par>
                            </p:childTnLst>
                          </p:cTn>
                        </p:par>
                      </p:childTnLst>
                    </p:cTn>
                  </p:par>
                  <p:par>
                    <p:cTn id="97" fill="hold">
                      <p:stCondLst>
                        <p:cond delay="indefinite"/>
                      </p:stCondLst>
                      <p:childTnLst>
                        <p:par>
                          <p:cTn id="98" fill="hold">
                            <p:stCondLst>
                              <p:cond delay="0"/>
                            </p:stCondLst>
                            <p:childTnLst>
                              <p:par>
                                <p:cTn id="99" presetID="1" presetClass="entr" presetSubtype="0" fill="hold" grpId="0" nodeType="clickEffect">
                                  <p:stCondLst>
                                    <p:cond delay="0"/>
                                  </p:stCondLst>
                                  <p:childTnLst>
                                    <p:set>
                                      <p:cBhvr>
                                        <p:cTn id="100" dur="1" fill="hold">
                                          <p:stCondLst>
                                            <p:cond delay="499"/>
                                          </p:stCondLst>
                                        </p:cTn>
                                        <p:tgtEl>
                                          <p:spTgt spid="857137"/>
                                        </p:tgtEl>
                                        <p:attrNameLst>
                                          <p:attrName>style.visibility</p:attrName>
                                        </p:attrNameLst>
                                      </p:cBhvr>
                                      <p:to>
                                        <p:strVal val="visible"/>
                                      </p:to>
                                    </p:set>
                                  </p:childTnLst>
                                </p:cTn>
                              </p:par>
                            </p:childTnLst>
                          </p:cTn>
                        </p:par>
                        <p:par>
                          <p:cTn id="101" fill="hold">
                            <p:stCondLst>
                              <p:cond delay="500"/>
                            </p:stCondLst>
                            <p:childTnLst>
                              <p:par>
                                <p:cTn id="102" presetID="1" presetClass="entr" presetSubtype="0" fill="hold" nodeType="afterEffect">
                                  <p:stCondLst>
                                    <p:cond delay="0"/>
                                  </p:stCondLst>
                                  <p:childTnLst>
                                    <p:set>
                                      <p:cBhvr>
                                        <p:cTn id="103" dur="1" fill="hold">
                                          <p:stCondLst>
                                            <p:cond delay="499"/>
                                          </p:stCondLst>
                                        </p:cTn>
                                        <p:tgtEl>
                                          <p:spTgt spid="857143"/>
                                        </p:tgtEl>
                                        <p:attrNameLst>
                                          <p:attrName>style.visibility</p:attrName>
                                        </p:attrNameLst>
                                      </p:cBhvr>
                                      <p:to>
                                        <p:strVal val="visible"/>
                                      </p:to>
                                    </p:set>
                                  </p:childTnLst>
                                </p:cTn>
                              </p:par>
                            </p:childTnLst>
                          </p:cTn>
                        </p:par>
                      </p:childTnLst>
                    </p:cTn>
                  </p:par>
                  <p:par>
                    <p:cTn id="104" fill="hold">
                      <p:stCondLst>
                        <p:cond delay="indefinite"/>
                      </p:stCondLst>
                      <p:childTnLst>
                        <p:par>
                          <p:cTn id="105" fill="hold">
                            <p:stCondLst>
                              <p:cond delay="0"/>
                            </p:stCondLst>
                            <p:childTnLst>
                              <p:par>
                                <p:cTn id="106" presetID="1" presetClass="entr" presetSubtype="0" fill="hold" grpId="0" nodeType="clickEffect">
                                  <p:stCondLst>
                                    <p:cond delay="0"/>
                                  </p:stCondLst>
                                  <p:childTnLst>
                                    <p:set>
                                      <p:cBhvr>
                                        <p:cTn id="107" dur="1" fill="hold">
                                          <p:stCondLst>
                                            <p:cond delay="499"/>
                                          </p:stCondLst>
                                        </p:cTn>
                                        <p:tgtEl>
                                          <p:spTgt spid="857138"/>
                                        </p:tgtEl>
                                        <p:attrNameLst>
                                          <p:attrName>style.visibility</p:attrName>
                                        </p:attrNameLst>
                                      </p:cBhvr>
                                      <p:to>
                                        <p:strVal val="visible"/>
                                      </p:to>
                                    </p:set>
                                  </p:childTnLst>
                                </p:cTn>
                              </p:par>
                            </p:childTnLst>
                          </p:cTn>
                        </p:par>
                        <p:par>
                          <p:cTn id="108" fill="hold">
                            <p:stCondLst>
                              <p:cond delay="500"/>
                            </p:stCondLst>
                            <p:childTnLst>
                              <p:par>
                                <p:cTn id="109" presetID="1" presetClass="entr" presetSubtype="0" fill="hold" nodeType="afterEffect">
                                  <p:stCondLst>
                                    <p:cond delay="0"/>
                                  </p:stCondLst>
                                  <p:childTnLst>
                                    <p:set>
                                      <p:cBhvr>
                                        <p:cTn id="110" dur="1" fill="hold">
                                          <p:stCondLst>
                                            <p:cond delay="499"/>
                                          </p:stCondLst>
                                        </p:cTn>
                                        <p:tgtEl>
                                          <p:spTgt spid="85714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826" grpId="0" animBg="1"/>
      <p:bldP spid="857128" grpId="0"/>
      <p:bldP spid="857129" grpId="0"/>
      <p:bldP spid="857130" grpId="0"/>
      <p:bldP spid="857131" grpId="0"/>
      <p:bldP spid="857132" grpId="0"/>
      <p:bldP spid="857133" grpId="0" animBg="1"/>
      <p:bldP spid="857134" grpId="0" animBg="1"/>
      <p:bldP spid="857135" grpId="0"/>
      <p:bldP spid="857136" grpId="0"/>
      <p:bldP spid="857137" grpId="0"/>
      <p:bldP spid="857138" grpId="0"/>
      <p:bldP spid="857146" grpId="0"/>
      <p:bldP spid="857147" grpId="0"/>
      <p:bldP spid="857148" grpId="0"/>
      <p:bldP spid="857149" grpId="0"/>
      <p:bldP spid="857150"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custDataLst>
              <p:tags r:id="rId2"/>
            </p:custDataLst>
          </p:nvPr>
        </p:nvSpPr>
        <p:spPr>
          <a:xfrm>
            <a:off x="914400" y="635000"/>
            <a:ext cx="7315200" cy="2143125"/>
          </a:xfrm>
          <a:prstGeom prst="rect">
            <a:avLst/>
          </a:prstGeom>
          <a:noFill/>
        </p:spPr>
        <p:txBody>
          <a:bodyPr vert="horz" wrap="square" rtlCol="0" anchor="ctr" anchorCtr="0">
            <a:noAutofit/>
          </a:bodyPr>
          <a:lstStyle/>
          <a:p>
            <a:r>
              <a:rPr lang="zh-CN" altLang="en-US" sz="2600" dirty="0">
                <a:solidFill>
                  <a:srgbClr val="000000"/>
                </a:solidFill>
                <a:latin typeface="Microsoft Yahei"/>
                <a:ea typeface="Microsoft Yahei"/>
                <a:sym typeface="Microsoft Yahei"/>
              </a:rPr>
              <a:t>有一颗二叉树</a:t>
            </a:r>
            <a:r>
              <a:rPr lang="en-US" altLang="zh-CN" sz="2600" dirty="0">
                <a:solidFill>
                  <a:srgbClr val="000000"/>
                </a:solidFill>
                <a:latin typeface="Microsoft Yahei"/>
                <a:ea typeface="Microsoft Yahei"/>
                <a:sym typeface="Microsoft Yahei"/>
              </a:rPr>
              <a:t>T</a:t>
            </a:r>
            <a:r>
              <a:rPr lang="zh-CN" altLang="en-US" sz="2600" dirty="0">
                <a:solidFill>
                  <a:srgbClr val="000000"/>
                </a:solidFill>
                <a:latin typeface="Microsoft Yahei"/>
                <a:ea typeface="Microsoft Yahei"/>
                <a:sym typeface="Microsoft Yahei"/>
              </a:rPr>
              <a:t>，已知其前序遍历序列为</a:t>
            </a:r>
            <a:r>
              <a:rPr lang="en-US" altLang="zh-CN" sz="2600" dirty="0">
                <a:solidFill>
                  <a:srgbClr val="000000"/>
                </a:solidFill>
                <a:latin typeface="Microsoft Yahei"/>
                <a:ea typeface="Microsoft Yahei"/>
                <a:sym typeface="Microsoft Yahei"/>
              </a:rPr>
              <a:t>1 2 4 3 5 7 6</a:t>
            </a:r>
            <a:r>
              <a:rPr lang="zh-CN" altLang="en-US" sz="2600" dirty="0">
                <a:solidFill>
                  <a:srgbClr val="000000"/>
                </a:solidFill>
                <a:latin typeface="Microsoft Yahei"/>
                <a:ea typeface="Microsoft Yahei"/>
                <a:sym typeface="Microsoft Yahei"/>
              </a:rPr>
              <a:t>，中序遍历序列为</a:t>
            </a:r>
            <a:r>
              <a:rPr lang="en-US" altLang="zh-CN" sz="2600" dirty="0">
                <a:solidFill>
                  <a:srgbClr val="000000"/>
                </a:solidFill>
                <a:latin typeface="Microsoft Yahei"/>
                <a:ea typeface="Microsoft Yahei"/>
                <a:sym typeface="Microsoft Yahei"/>
              </a:rPr>
              <a:t>4 2 1 5 7 3 6</a:t>
            </a:r>
            <a:r>
              <a:rPr lang="zh-CN" altLang="en-US" sz="2600" dirty="0">
                <a:solidFill>
                  <a:srgbClr val="000000"/>
                </a:solidFill>
                <a:latin typeface="Microsoft Yahei"/>
                <a:ea typeface="Microsoft Yahei"/>
                <a:sym typeface="Microsoft Yahei"/>
              </a:rPr>
              <a:t>，则其后序</a:t>
            </a:r>
            <a:r>
              <a:rPr lang="zh-CN" altLang="en-US" sz="2600" dirty="0" smtClean="0">
                <a:solidFill>
                  <a:srgbClr val="000000"/>
                </a:solidFill>
                <a:latin typeface="Microsoft Yahei"/>
                <a:ea typeface="Microsoft Yahei"/>
                <a:sym typeface="Microsoft Yahei"/>
              </a:rPr>
              <a:t>遍历序列</a:t>
            </a:r>
            <a:r>
              <a:rPr lang="zh-CN" altLang="en-US" sz="2600" dirty="0">
                <a:solidFill>
                  <a:srgbClr val="000000"/>
                </a:solidFill>
                <a:latin typeface="Microsoft Yahei"/>
                <a:ea typeface="Microsoft Yahei"/>
                <a:sym typeface="Microsoft Yahei"/>
              </a:rPr>
              <a:t>为（ ）。</a:t>
            </a:r>
          </a:p>
        </p:txBody>
      </p:sp>
      <p:sp>
        <p:nvSpPr>
          <p:cNvPr id="5" name="TextBox 4"/>
          <p:cNvSpPr txBox="1"/>
          <p:nvPr>
            <p:custDataLst>
              <p:tags r:id="rId3"/>
            </p:custDataLst>
          </p:nvPr>
        </p:nvSpPr>
        <p:spPr>
          <a:xfrm>
            <a:off x="1828800" y="2786063"/>
            <a:ext cx="6400800" cy="642938"/>
          </a:xfrm>
          <a:prstGeom prst="rect">
            <a:avLst/>
          </a:prstGeom>
          <a:noFill/>
        </p:spPr>
        <p:txBody>
          <a:bodyPr vert="horz" rtlCol="0" anchor="ctr" anchorCtr="0">
            <a:noAutofit/>
          </a:bodyPr>
          <a:lstStyle/>
          <a:p>
            <a:r>
              <a:rPr lang="en-US" altLang="zh-CN" sz="2600" dirty="0">
                <a:solidFill>
                  <a:srgbClr val="000000"/>
                </a:solidFill>
                <a:latin typeface="Microsoft Yahei"/>
                <a:ea typeface="Microsoft Yahei"/>
                <a:sym typeface="Microsoft Yahei"/>
              </a:rPr>
              <a:t>4 2 5 7 6 3 1</a:t>
            </a:r>
          </a:p>
        </p:txBody>
      </p:sp>
      <p:sp>
        <p:nvSpPr>
          <p:cNvPr id="6" name="TextBox 5"/>
          <p:cNvSpPr txBox="1"/>
          <p:nvPr>
            <p:custDataLst>
              <p:tags r:id="rId4"/>
            </p:custDataLst>
          </p:nvPr>
        </p:nvSpPr>
        <p:spPr>
          <a:xfrm>
            <a:off x="1828800" y="3643313"/>
            <a:ext cx="6400800" cy="642938"/>
          </a:xfrm>
          <a:prstGeom prst="rect">
            <a:avLst/>
          </a:prstGeom>
          <a:noFill/>
        </p:spPr>
        <p:txBody>
          <a:bodyPr vert="horz" rtlCol="0" anchor="ctr" anchorCtr="0">
            <a:noAutofit/>
          </a:bodyPr>
          <a:lstStyle/>
          <a:p>
            <a:r>
              <a:rPr lang="en-US" altLang="zh-CN" sz="2600" dirty="0">
                <a:solidFill>
                  <a:srgbClr val="000000"/>
                </a:solidFill>
                <a:latin typeface="Microsoft Yahei"/>
                <a:ea typeface="Microsoft Yahei"/>
                <a:sym typeface="Microsoft Yahei"/>
              </a:rPr>
              <a:t>4 2 7 5 6 3 1</a:t>
            </a:r>
          </a:p>
        </p:txBody>
      </p:sp>
      <p:sp>
        <p:nvSpPr>
          <p:cNvPr id="7" name="TextBox 6"/>
          <p:cNvSpPr txBox="1"/>
          <p:nvPr>
            <p:custDataLst>
              <p:tags r:id="rId5"/>
            </p:custDataLst>
          </p:nvPr>
        </p:nvSpPr>
        <p:spPr>
          <a:xfrm>
            <a:off x="1828800" y="4500563"/>
            <a:ext cx="6400800" cy="642938"/>
          </a:xfrm>
          <a:prstGeom prst="rect">
            <a:avLst/>
          </a:prstGeom>
          <a:noFill/>
        </p:spPr>
        <p:txBody>
          <a:bodyPr vert="horz" rtlCol="0" anchor="ctr" anchorCtr="0">
            <a:noAutofit/>
          </a:bodyPr>
          <a:lstStyle/>
          <a:p>
            <a:r>
              <a:rPr lang="en-US" altLang="zh-CN" sz="2600" dirty="0">
                <a:solidFill>
                  <a:srgbClr val="000000"/>
                </a:solidFill>
                <a:latin typeface="Microsoft Yahei"/>
                <a:ea typeface="Microsoft Yahei"/>
                <a:sym typeface="Microsoft Yahei"/>
              </a:rPr>
              <a:t>4 2 7 5 3 6 1</a:t>
            </a:r>
          </a:p>
        </p:txBody>
      </p:sp>
      <p:sp>
        <p:nvSpPr>
          <p:cNvPr id="8" name="TextBox 7"/>
          <p:cNvSpPr txBox="1"/>
          <p:nvPr>
            <p:custDataLst>
              <p:tags r:id="rId6"/>
            </p:custDataLst>
          </p:nvPr>
        </p:nvSpPr>
        <p:spPr>
          <a:xfrm>
            <a:off x="1828800" y="5357813"/>
            <a:ext cx="6400800" cy="642938"/>
          </a:xfrm>
          <a:prstGeom prst="rect">
            <a:avLst/>
          </a:prstGeom>
          <a:noFill/>
        </p:spPr>
        <p:txBody>
          <a:bodyPr vert="horz" rtlCol="0" anchor="ctr" anchorCtr="0">
            <a:noAutofit/>
          </a:bodyPr>
          <a:lstStyle/>
          <a:p>
            <a:r>
              <a:rPr lang="en-US" altLang="zh-CN" sz="2600" dirty="0">
                <a:solidFill>
                  <a:srgbClr val="000000"/>
                </a:solidFill>
                <a:latin typeface="Microsoft Yahei"/>
                <a:ea typeface="Microsoft Yahei"/>
                <a:sym typeface="Microsoft Yahei"/>
              </a:rPr>
              <a:t>4 7 2 3 5 6 1</a:t>
            </a:r>
          </a:p>
        </p:txBody>
      </p:sp>
      <p:sp>
        <p:nvSpPr>
          <p:cNvPr id="9" name="椭圆 8"/>
          <p:cNvSpPr>
            <a:spLocks noChangeAspect="1"/>
          </p:cNvSpPr>
          <p:nvPr>
            <p:custDataLst>
              <p:tags r:id="rId7"/>
            </p:custDataLst>
          </p:nvPr>
        </p:nvSpPr>
        <p:spPr bwMode="auto">
          <a:xfrm>
            <a:off x="1114425" y="285035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A</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0" name="椭圆 9"/>
          <p:cNvSpPr>
            <a:spLocks noChangeAspect="1"/>
          </p:cNvSpPr>
          <p:nvPr>
            <p:custDataLst>
              <p:tags r:id="rId8"/>
            </p:custDataLst>
          </p:nvPr>
        </p:nvSpPr>
        <p:spPr bwMode="auto">
          <a:xfrm>
            <a:off x="1114425" y="3707606"/>
            <a:ext cx="514350" cy="514350"/>
          </a:xfrm>
          <a:prstGeom prst="ellipse">
            <a:avLst/>
          </a:prstGeom>
          <a:solidFill>
            <a:srgbClr val="00FF00"/>
          </a:solidFill>
          <a:ln w="254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B</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1" name="椭圆 10"/>
          <p:cNvSpPr>
            <a:spLocks noChangeAspect="1"/>
          </p:cNvSpPr>
          <p:nvPr>
            <p:custDataLst>
              <p:tags r:id="rId9"/>
            </p:custDataLst>
          </p:nvPr>
        </p:nvSpPr>
        <p:spPr bwMode="auto">
          <a:xfrm>
            <a:off x="1114425" y="456485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C</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2" name="椭圆 11"/>
          <p:cNvSpPr>
            <a:spLocks noChangeAspect="1"/>
          </p:cNvSpPr>
          <p:nvPr>
            <p:custDataLst>
              <p:tags r:id="rId10"/>
            </p:custDataLst>
          </p:nvPr>
        </p:nvSpPr>
        <p:spPr bwMode="auto">
          <a:xfrm>
            <a:off x="1114425" y="5422106"/>
            <a:ext cx="514350" cy="514350"/>
          </a:xfrm>
          <a:prstGeom prst="ellipse">
            <a:avLst/>
          </a:prstGeom>
          <a:solidFill>
            <a:srgbClr val="808080"/>
          </a:solidFill>
          <a:ln w="127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algn="l" defTabSz="914400" rtl="0" eaLnBrk="0" fontAlgn="base" latinLnBrk="0" hangingPunct="0">
              <a:lnSpc>
                <a:spcPct val="100000"/>
              </a:lnSpc>
              <a:spcBef>
                <a:spcPct val="20000"/>
              </a:spcBef>
              <a:spcAft>
                <a:spcPct val="0"/>
              </a:spcAft>
              <a:buClrTx/>
              <a:buSzTx/>
              <a:buFontTx/>
              <a:buNone/>
            </a:pPr>
            <a:r>
              <a:rPr kumimoji="1" lang="en-US" altLang="zh-CN" sz="1600" b="0" i="0" u="none" strike="noStrike" cap="none" normalizeH="0" baseline="0" smtClean="0">
                <a:ln>
                  <a:noFill/>
                </a:ln>
                <a:solidFill>
                  <a:srgbClr val="FFFFFF"/>
                </a:solidFill>
                <a:effectLst/>
                <a:latin typeface="Microsoft Yahei"/>
                <a:ea typeface="Microsoft Yahei"/>
                <a:sym typeface="Microsoft Yahei"/>
              </a:rPr>
              <a:t>D</a:t>
            </a:r>
            <a:endParaRPr kumimoji="1" lang="zh-CN" altLang="en-US" sz="1600" b="0" i="0" u="none" strike="noStrike" cap="none" normalizeH="0" baseline="0" smtClean="0">
              <a:ln>
                <a:noFill/>
              </a:ln>
              <a:solidFill>
                <a:srgbClr val="FFFFFF"/>
              </a:solidFill>
              <a:effectLst/>
              <a:latin typeface="Microsoft Yahei"/>
              <a:ea typeface="Microsoft Yahei"/>
              <a:sym typeface="Microsoft Yahei"/>
            </a:endParaRPr>
          </a:p>
        </p:txBody>
      </p:sp>
      <p:sp>
        <p:nvSpPr>
          <p:cNvPr id="13" name="圆角矩形 12"/>
          <p:cNvSpPr/>
          <p:nvPr>
            <p:custDataLst>
              <p:tags r:id="rId11"/>
            </p:custDataLst>
          </p:nvPr>
        </p:nvSpPr>
        <p:spPr bwMode="auto">
          <a:xfrm>
            <a:off x="6172200" y="6215063"/>
            <a:ext cx="1543050" cy="411480"/>
          </a:xfrm>
          <a:prstGeom prst="roundRect">
            <a:avLst/>
          </a:prstGeom>
          <a:solidFill>
            <a:srgbClr val="808080"/>
          </a:solidFill>
          <a:ln w="381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marL="342900" marR="0" indent="-342900" algn="l" defTabSz="914400" rtl="0" eaLnBrk="0" fontAlgn="base" latinLnBrk="0" hangingPunct="0">
              <a:lnSpc>
                <a:spcPct val="100000"/>
              </a:lnSpc>
              <a:spcBef>
                <a:spcPct val="20000"/>
              </a:spcBef>
              <a:spcAft>
                <a:spcPct val="0"/>
              </a:spcAft>
              <a:buClrTx/>
              <a:buSzTx/>
              <a:buFontTx/>
              <a:buNone/>
            </a:pPr>
            <a:r>
              <a:rPr kumimoji="1" lang="zh-CN" altLang="en-US" sz="1600" b="0" i="0" u="none" strike="noStrike" cap="none" normalizeH="0" baseline="0" smtClean="0">
                <a:ln>
                  <a:noFill/>
                </a:ln>
                <a:solidFill>
                  <a:srgbClr val="FFFFFF"/>
                </a:solidFill>
                <a:effectLst/>
                <a:latin typeface="Microsoft Yahei"/>
                <a:ea typeface="Microsoft Yahei"/>
                <a:sym typeface="Microsoft Yahei"/>
              </a:rPr>
              <a:t>提交</a:t>
            </a:r>
          </a:p>
        </p:txBody>
      </p:sp>
      <p:grpSp>
        <p:nvGrpSpPr>
          <p:cNvPr id="18" name="组合 17"/>
          <p:cNvGrpSpPr/>
          <p:nvPr>
            <p:custDataLst>
              <p:tags r:id="rId12"/>
            </p:custDataLst>
          </p:nvPr>
        </p:nvGrpSpPr>
        <p:grpSpPr>
          <a:xfrm>
            <a:off x="0" y="0"/>
            <a:ext cx="9144000" cy="635000"/>
            <a:chOff x="0" y="0"/>
            <a:chExt cx="9144000" cy="635000"/>
          </a:xfrm>
        </p:grpSpPr>
        <p:sp>
          <p:nvSpPr>
            <p:cNvPr id="14" name="TitleBackground"/>
            <p:cNvSpPr/>
            <p:nvPr>
              <p:custDataLst>
                <p:tags r:id="rId14"/>
              </p:custDataLst>
            </p:nvPr>
          </p:nvSpPr>
          <p:spPr bwMode="auto">
            <a:xfrm>
              <a:off x="0" y="0"/>
              <a:ext cx="9144000" cy="635000"/>
            </a:xfrm>
            <a:prstGeom prst="rect">
              <a:avLst/>
            </a:prstGeom>
            <a:solidFill>
              <a:srgbClr val="F6F7F8"/>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5" name="ColorBlock"/>
            <p:cNvSpPr/>
            <p:nvPr>
              <p:custDataLst>
                <p:tags r:id="rId15"/>
              </p:custDataLst>
            </p:nvPr>
          </p:nvSpPr>
          <p:spPr bwMode="auto">
            <a:xfrm>
              <a:off x="0" y="0"/>
              <a:ext cx="190500" cy="635000"/>
            </a:xfrm>
            <a:prstGeom prst="rect">
              <a:avLst/>
            </a:prstGeom>
            <a:solidFill>
              <a:srgbClr val="639EF4"/>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16" name="TypeText"/>
            <p:cNvSpPr txBox="1"/>
            <p:nvPr>
              <p:custDataLst>
                <p:tags r:id="rId16"/>
              </p:custDataLst>
            </p:nvPr>
          </p:nvSpPr>
          <p:spPr>
            <a:xfrm>
              <a:off x="254000" y="0"/>
              <a:ext cx="1905000" cy="635000"/>
            </a:xfrm>
            <a:prstGeom prst="rect">
              <a:avLst/>
            </a:prstGeom>
            <a:noFill/>
          </p:spPr>
          <p:txBody>
            <a:bodyPr vert="horz" wrap="none" rtlCol="0" anchor="ctr" anchorCtr="0">
              <a:noAutofit/>
            </a:bodyPr>
            <a:lstStyle/>
            <a:p>
              <a:r>
                <a:rPr lang="zh-CN" altLang="en-US" sz="2600" smtClean="0">
                  <a:solidFill>
                    <a:srgbClr val="000000"/>
                  </a:solidFill>
                  <a:latin typeface="Microsoft Yahei"/>
                  <a:ea typeface="Microsoft Yahei"/>
                  <a:sym typeface="Microsoft Yahei"/>
                </a:rPr>
                <a:t>单选题</a:t>
              </a:r>
              <a:endParaRPr lang="zh-CN" altLang="en-US" sz="2600">
                <a:solidFill>
                  <a:srgbClr val="000000"/>
                </a:solidFill>
                <a:latin typeface="Microsoft Yahei"/>
                <a:ea typeface="Microsoft Yahei"/>
                <a:sym typeface="Microsoft Yahei"/>
              </a:endParaRPr>
            </a:p>
          </p:txBody>
        </p:sp>
        <p:sp>
          <p:nvSpPr>
            <p:cNvPr id="17" name="TipText"/>
            <p:cNvSpPr txBox="1"/>
            <p:nvPr>
              <p:custDataLst>
                <p:tags r:id="rId17"/>
              </p:custDataLst>
            </p:nvPr>
          </p:nvSpPr>
          <p:spPr>
            <a:xfrm>
              <a:off x="1525905" y="109220"/>
              <a:ext cx="2286000" cy="508000"/>
            </a:xfrm>
            <a:prstGeom prst="rect">
              <a:avLst/>
            </a:prstGeom>
            <a:noFill/>
          </p:spPr>
          <p:txBody>
            <a:bodyPr vert="horz" wrap="none" rtlCol="0" anchor="ctr" anchorCtr="0">
              <a:noAutofit/>
            </a:bodyPr>
            <a:lstStyle/>
            <a:p>
              <a:r>
                <a:rPr lang="en-US" altLang="zh-CN" sz="2000" smtClean="0">
                  <a:solidFill>
                    <a:srgbClr val="808080"/>
                  </a:solidFill>
                  <a:latin typeface="Microsoft Yahei"/>
                  <a:ea typeface="Microsoft Yahei"/>
                  <a:sym typeface="Microsoft Yahei"/>
                </a:rPr>
                <a:t>1</a:t>
              </a:r>
              <a:r>
                <a:rPr lang="zh-CN" altLang="en-US" sz="2000" smtClean="0">
                  <a:solidFill>
                    <a:srgbClr val="808080"/>
                  </a:solidFill>
                  <a:latin typeface="Microsoft Yahei"/>
                  <a:ea typeface="Microsoft Yahei"/>
                  <a:sym typeface="Microsoft Yahei"/>
                </a:rPr>
                <a:t>分</a:t>
              </a:r>
              <a:endParaRPr lang="zh-CN" altLang="en-US" sz="2000">
                <a:solidFill>
                  <a:srgbClr val="808080"/>
                </a:solidFill>
                <a:latin typeface="Microsoft Yahei"/>
                <a:ea typeface="Microsoft Yahei"/>
                <a:sym typeface="Microsoft Yahei"/>
              </a:endParaRPr>
            </a:p>
          </p:txBody>
        </p:sp>
      </p:grpSp>
      <p:pic>
        <p:nvPicPr>
          <p:cNvPr id="3" name="图片 2"/>
          <p:cNvPicPr>
            <a:picLocks/>
          </p:cNvPicPr>
          <p:nvPr>
            <p:custDataLst>
              <p:tags r:id="rId13"/>
            </p:custDataLst>
          </p:nvPr>
        </p:nvPicPr>
        <p:blipFill>
          <a:blip r:embed="rId19">
            <a:extLst>
              <a:ext uri="{28A0092B-C50C-407E-A947-70E740481C1C}">
                <a14:useLocalDpi xmlns:a14="http://schemas.microsoft.com/office/drawing/2010/main" val="0"/>
              </a:ext>
            </a:extLst>
          </a:blip>
          <a:stretch>
            <a:fillRect/>
          </a:stretch>
        </p:blipFill>
        <p:spPr>
          <a:xfrm>
            <a:off x="7594600" y="63500"/>
            <a:ext cx="1422400" cy="508000"/>
          </a:xfrm>
          <a:prstGeom prst="rect">
            <a:avLst/>
          </a:prstGeom>
        </p:spPr>
      </p:pic>
    </p:spTree>
    <p:custDataLst>
      <p:tags r:id="rId1"/>
    </p:custDataLst>
    <p:extLst>
      <p:ext uri="{BB962C8B-B14F-4D97-AF65-F5344CB8AC3E}">
        <p14:creationId xmlns:p14="http://schemas.microsoft.com/office/powerpoint/2010/main" val="2131842114"/>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custDataLst>
              <p:tags r:id="rId2"/>
            </p:custDataLst>
          </p:nvPr>
        </p:nvSpPr>
        <p:spPr>
          <a:xfrm>
            <a:off x="611560" y="1718909"/>
            <a:ext cx="7315200" cy="2143125"/>
          </a:xfrm>
          <a:prstGeom prst="rect">
            <a:avLst/>
          </a:prstGeom>
          <a:noFill/>
        </p:spPr>
        <p:txBody>
          <a:bodyPr vert="horz" wrap="square" rtlCol="0" anchor="ctr" anchorCtr="0">
            <a:noAutofit/>
          </a:bodyPr>
          <a:lstStyle/>
          <a:p>
            <a:r>
              <a:rPr lang="zh-CN" altLang="en-US" sz="2600" dirty="0" smtClean="0">
                <a:solidFill>
                  <a:srgbClr val="000000"/>
                </a:solidFill>
                <a:latin typeface="Microsoft Yahei"/>
                <a:ea typeface="Microsoft Yahei"/>
                <a:sym typeface="Microsoft Yahei"/>
              </a:rPr>
              <a:t>二叉树</a:t>
            </a:r>
            <a:r>
              <a:rPr lang="zh-CN" altLang="en-US" sz="2600" dirty="0">
                <a:solidFill>
                  <a:srgbClr val="000000"/>
                </a:solidFill>
                <a:latin typeface="Microsoft Yahei"/>
                <a:ea typeface="Microsoft Yahei"/>
                <a:sym typeface="Microsoft Yahei"/>
              </a:rPr>
              <a:t>的前序遍历和中序遍历如下：前序遍历：</a:t>
            </a:r>
            <a:r>
              <a:rPr lang="en-US" altLang="zh-CN" sz="2600" dirty="0">
                <a:solidFill>
                  <a:srgbClr val="000000"/>
                </a:solidFill>
                <a:latin typeface="Microsoft Yahei"/>
                <a:ea typeface="Microsoft Yahei"/>
                <a:sym typeface="Microsoft Yahei"/>
              </a:rPr>
              <a:t>EFHIGJK; </a:t>
            </a:r>
            <a:r>
              <a:rPr lang="zh-CN" altLang="en-US" sz="2600" dirty="0">
                <a:solidFill>
                  <a:srgbClr val="000000"/>
                </a:solidFill>
                <a:latin typeface="Microsoft Yahei"/>
                <a:ea typeface="Microsoft Yahei"/>
                <a:sym typeface="Microsoft Yahei"/>
              </a:rPr>
              <a:t>中序遍历：</a:t>
            </a:r>
            <a:r>
              <a:rPr lang="en-US" altLang="zh-CN" sz="2600" dirty="0">
                <a:solidFill>
                  <a:srgbClr val="000000"/>
                </a:solidFill>
                <a:latin typeface="Microsoft Yahei"/>
                <a:ea typeface="Microsoft Yahei"/>
                <a:sym typeface="Microsoft Yahei"/>
              </a:rPr>
              <a:t>HFIEJKG</a:t>
            </a:r>
            <a:r>
              <a:rPr lang="zh-CN" altLang="en-US" sz="2600" dirty="0">
                <a:solidFill>
                  <a:srgbClr val="000000"/>
                </a:solidFill>
                <a:latin typeface="Microsoft Yahei"/>
                <a:ea typeface="Microsoft Yahei"/>
                <a:sym typeface="Microsoft Yahei"/>
              </a:rPr>
              <a:t>。该二叉树根的右子树中最左下的结点</a:t>
            </a:r>
            <a:r>
              <a:rPr lang="zh-CN" altLang="en-US" sz="2600" dirty="0" smtClean="0">
                <a:solidFill>
                  <a:srgbClr val="000000"/>
                </a:solidFill>
                <a:latin typeface="Microsoft Yahei"/>
                <a:ea typeface="Microsoft Yahei"/>
                <a:sym typeface="Microsoft Yahei"/>
              </a:rPr>
              <a:t>是</a:t>
            </a:r>
            <a:r>
              <a:rPr lang="zh-CN" altLang="en-US" sz="2600" dirty="0" smtClean="0">
                <a:solidFill>
                  <a:srgbClr val="639EF4"/>
                </a:solidFill>
                <a:latin typeface="Microsoft Yahei"/>
                <a:ea typeface="Microsoft Yahei"/>
                <a:sym typeface="Microsoft Yahei"/>
              </a:rPr>
              <a:t> </a:t>
            </a:r>
            <a:r>
              <a:rPr lang="en-US" altLang="zh-CN" sz="2600" dirty="0" smtClean="0">
                <a:solidFill>
                  <a:srgbClr val="639EF4"/>
                </a:solidFill>
                <a:latin typeface="Microsoft Yahei"/>
                <a:ea typeface="Microsoft Yahei"/>
                <a:sym typeface="Microsoft Yahei"/>
              </a:rPr>
              <a:t>[</a:t>
            </a:r>
            <a:r>
              <a:rPr lang="zh-CN" altLang="en-US" sz="2600" dirty="0" smtClean="0">
                <a:solidFill>
                  <a:srgbClr val="639EF4"/>
                </a:solidFill>
                <a:latin typeface="Microsoft Yahei"/>
                <a:ea typeface="Microsoft Yahei"/>
                <a:sym typeface="Microsoft Yahei"/>
              </a:rPr>
              <a:t>填空</a:t>
            </a:r>
            <a:r>
              <a:rPr lang="en-US" altLang="zh-CN" sz="2600" dirty="0" smtClean="0">
                <a:solidFill>
                  <a:srgbClr val="639EF4"/>
                </a:solidFill>
                <a:latin typeface="Microsoft Yahei"/>
                <a:ea typeface="Microsoft Yahei"/>
                <a:sym typeface="Microsoft Yahei"/>
              </a:rPr>
              <a:t>1]</a:t>
            </a:r>
            <a:r>
              <a:rPr lang="en-US" altLang="zh-CN" sz="2600" dirty="0" smtClean="0">
                <a:solidFill>
                  <a:srgbClr val="000000"/>
                </a:solidFill>
                <a:latin typeface="Microsoft Yahei"/>
                <a:ea typeface="Microsoft Yahei"/>
                <a:sym typeface="Microsoft Yahei"/>
              </a:rPr>
              <a:t> </a:t>
            </a:r>
            <a:r>
              <a:rPr lang="zh-CN" altLang="en-US" sz="2600" dirty="0" smtClean="0">
                <a:solidFill>
                  <a:srgbClr val="000000"/>
                </a:solidFill>
                <a:latin typeface="Microsoft Yahei"/>
                <a:ea typeface="Microsoft Yahei"/>
                <a:sym typeface="Microsoft Yahei"/>
              </a:rPr>
              <a:t>。</a:t>
            </a:r>
            <a:endParaRPr lang="zh-CN" altLang="en-US" sz="2600" dirty="0">
              <a:solidFill>
                <a:srgbClr val="000000"/>
              </a:solidFill>
              <a:latin typeface="Microsoft Yahei"/>
              <a:ea typeface="Microsoft Yahei"/>
              <a:sym typeface="Microsoft Yahei"/>
            </a:endParaRPr>
          </a:p>
        </p:txBody>
      </p:sp>
      <p:sp>
        <p:nvSpPr>
          <p:cNvPr id="4" name="圆角矩形 3"/>
          <p:cNvSpPr/>
          <p:nvPr>
            <p:custDataLst>
              <p:tags r:id="rId3"/>
            </p:custDataLst>
          </p:nvPr>
        </p:nvSpPr>
        <p:spPr bwMode="auto">
          <a:xfrm>
            <a:off x="6172200" y="6215063"/>
            <a:ext cx="1543050" cy="411480"/>
          </a:xfrm>
          <a:prstGeom prst="roundRect">
            <a:avLst/>
          </a:prstGeom>
          <a:solidFill>
            <a:srgbClr val="808080"/>
          </a:solidFill>
          <a:ln w="38100" cap="flat" cmpd="sng" algn="ctr">
            <a:solidFill>
              <a:srgbClr val="000000"/>
            </a:solidFill>
            <a:prstDash val="solid"/>
            <a:round/>
            <a:headEnd type="none" w="med" len="med"/>
            <a:tailEnd type="none" w="med" len="med"/>
          </a:ln>
        </p:spPr>
        <p:txBody>
          <a:bodyPr vert="horz" wrap="square" lIns="91440" tIns="45720" rIns="91440" bIns="45720" numCol="1" rtlCol="0" anchor="ctr" anchorCtr="1" compatLnSpc="1"/>
          <a:lstStyle/>
          <a:p>
            <a:pPr marL="342900" marR="0" indent="-342900" algn="l" defTabSz="914400" rtl="0" eaLnBrk="0" fontAlgn="base" latinLnBrk="0" hangingPunct="0">
              <a:lnSpc>
                <a:spcPct val="100000"/>
              </a:lnSpc>
              <a:spcBef>
                <a:spcPct val="20000"/>
              </a:spcBef>
              <a:spcAft>
                <a:spcPct val="0"/>
              </a:spcAft>
              <a:buClrTx/>
              <a:buSzTx/>
              <a:buFontTx/>
              <a:buNone/>
            </a:pPr>
            <a:r>
              <a:rPr kumimoji="1" lang="zh-CN" altLang="en-US" sz="1600" b="0" i="0" u="none" strike="noStrike" cap="none" normalizeH="0" baseline="0" smtClean="0">
                <a:ln>
                  <a:noFill/>
                </a:ln>
                <a:solidFill>
                  <a:srgbClr val="FFFFFF"/>
                </a:solidFill>
                <a:effectLst/>
                <a:latin typeface="Microsoft Yahei"/>
                <a:ea typeface="Microsoft Yahei"/>
                <a:sym typeface="Microsoft Yahei"/>
              </a:rPr>
              <a:t>作答</a:t>
            </a:r>
          </a:p>
        </p:txBody>
      </p:sp>
      <p:grpSp>
        <p:nvGrpSpPr>
          <p:cNvPr id="9" name="组合 8"/>
          <p:cNvGrpSpPr/>
          <p:nvPr>
            <p:custDataLst>
              <p:tags r:id="rId4"/>
            </p:custDataLst>
          </p:nvPr>
        </p:nvGrpSpPr>
        <p:grpSpPr>
          <a:xfrm>
            <a:off x="0" y="0"/>
            <a:ext cx="9144000" cy="635000"/>
            <a:chOff x="0" y="0"/>
            <a:chExt cx="9144000" cy="635000"/>
          </a:xfrm>
        </p:grpSpPr>
        <p:sp>
          <p:nvSpPr>
            <p:cNvPr id="5" name="TitleBackground"/>
            <p:cNvSpPr/>
            <p:nvPr>
              <p:custDataLst>
                <p:tags r:id="rId6"/>
              </p:custDataLst>
            </p:nvPr>
          </p:nvSpPr>
          <p:spPr bwMode="auto">
            <a:xfrm>
              <a:off x="0" y="0"/>
              <a:ext cx="9144000" cy="635000"/>
            </a:xfrm>
            <a:prstGeom prst="rect">
              <a:avLst/>
            </a:prstGeom>
            <a:solidFill>
              <a:srgbClr val="F6F7F8"/>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6" name="ColorBlock"/>
            <p:cNvSpPr/>
            <p:nvPr>
              <p:custDataLst>
                <p:tags r:id="rId7"/>
              </p:custDataLst>
            </p:nvPr>
          </p:nvSpPr>
          <p:spPr bwMode="auto">
            <a:xfrm>
              <a:off x="0" y="0"/>
              <a:ext cx="190500" cy="635000"/>
            </a:xfrm>
            <a:prstGeom prst="rect">
              <a:avLst/>
            </a:prstGeom>
            <a:solidFill>
              <a:srgbClr val="639EF4"/>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
          <p:nvSpPr>
            <p:cNvPr id="7" name="TypeText"/>
            <p:cNvSpPr txBox="1"/>
            <p:nvPr>
              <p:custDataLst>
                <p:tags r:id="rId8"/>
              </p:custDataLst>
            </p:nvPr>
          </p:nvSpPr>
          <p:spPr>
            <a:xfrm>
              <a:off x="254000" y="0"/>
              <a:ext cx="1905000" cy="635000"/>
            </a:xfrm>
            <a:prstGeom prst="rect">
              <a:avLst/>
            </a:prstGeom>
            <a:noFill/>
          </p:spPr>
          <p:txBody>
            <a:bodyPr vert="horz" wrap="none" rtlCol="0" anchor="ctr" anchorCtr="0">
              <a:noAutofit/>
            </a:bodyPr>
            <a:lstStyle/>
            <a:p>
              <a:r>
                <a:rPr lang="zh-CN" altLang="en-US" sz="2600" smtClean="0">
                  <a:solidFill>
                    <a:srgbClr val="000000"/>
                  </a:solidFill>
                  <a:latin typeface="Microsoft Yahei"/>
                  <a:ea typeface="Microsoft Yahei"/>
                  <a:sym typeface="Microsoft Yahei"/>
                </a:rPr>
                <a:t>填空题</a:t>
              </a:r>
              <a:endParaRPr lang="zh-CN" altLang="en-US" sz="2600">
                <a:solidFill>
                  <a:srgbClr val="000000"/>
                </a:solidFill>
                <a:latin typeface="Microsoft Yahei"/>
                <a:ea typeface="Microsoft Yahei"/>
                <a:sym typeface="Microsoft Yahei"/>
              </a:endParaRPr>
            </a:p>
          </p:txBody>
        </p:sp>
        <p:sp>
          <p:nvSpPr>
            <p:cNvPr id="8" name="TipText"/>
            <p:cNvSpPr txBox="1"/>
            <p:nvPr>
              <p:custDataLst>
                <p:tags r:id="rId9"/>
              </p:custDataLst>
            </p:nvPr>
          </p:nvSpPr>
          <p:spPr>
            <a:xfrm>
              <a:off x="1525905" y="109220"/>
              <a:ext cx="2286000" cy="508000"/>
            </a:xfrm>
            <a:prstGeom prst="rect">
              <a:avLst/>
            </a:prstGeom>
            <a:noFill/>
          </p:spPr>
          <p:txBody>
            <a:bodyPr vert="horz" wrap="none" rtlCol="0" anchor="ctr" anchorCtr="0">
              <a:noAutofit/>
            </a:bodyPr>
            <a:lstStyle/>
            <a:p>
              <a:r>
                <a:rPr lang="en-US" altLang="zh-CN" sz="2000" smtClean="0">
                  <a:solidFill>
                    <a:srgbClr val="808080"/>
                  </a:solidFill>
                  <a:latin typeface="Microsoft Yahei"/>
                  <a:ea typeface="Microsoft Yahei"/>
                  <a:sym typeface="Microsoft Yahei"/>
                </a:rPr>
                <a:t>1</a:t>
              </a:r>
              <a:r>
                <a:rPr lang="zh-CN" altLang="en-US" sz="2000" smtClean="0">
                  <a:solidFill>
                    <a:srgbClr val="808080"/>
                  </a:solidFill>
                  <a:latin typeface="Microsoft Yahei"/>
                  <a:ea typeface="Microsoft Yahei"/>
                  <a:sym typeface="Microsoft Yahei"/>
                </a:rPr>
                <a:t>分</a:t>
              </a:r>
              <a:endParaRPr lang="zh-CN" altLang="en-US" sz="2000">
                <a:solidFill>
                  <a:srgbClr val="808080"/>
                </a:solidFill>
                <a:latin typeface="Microsoft Yahei"/>
                <a:ea typeface="Microsoft Yahei"/>
                <a:sym typeface="Microsoft Yahei"/>
              </a:endParaRPr>
            </a:p>
          </p:txBody>
        </p:sp>
      </p:grpSp>
      <p:pic>
        <p:nvPicPr>
          <p:cNvPr id="2" name="图片 1"/>
          <p:cNvPicPr>
            <a:picLocks/>
          </p:cNvPicPr>
          <p:nvPr>
            <p:custDataLst>
              <p:tags r:id="rId5"/>
            </p:custDataLst>
          </p:nvPr>
        </p:nvPicPr>
        <p:blipFill>
          <a:blip r:embed="rId11">
            <a:extLst>
              <a:ext uri="{28A0092B-C50C-407E-A947-70E740481C1C}">
                <a14:useLocalDpi xmlns:a14="http://schemas.microsoft.com/office/drawing/2010/main" val="0"/>
              </a:ext>
            </a:extLst>
          </a:blip>
          <a:stretch>
            <a:fillRect/>
          </a:stretch>
        </p:blipFill>
        <p:spPr>
          <a:xfrm>
            <a:off x="7594600" y="63500"/>
            <a:ext cx="1422400" cy="508000"/>
          </a:xfrm>
          <a:prstGeom prst="rect">
            <a:avLst/>
          </a:prstGeom>
        </p:spPr>
      </p:pic>
    </p:spTree>
    <p:custDataLst>
      <p:tags r:id="rId1"/>
    </p:custDataLst>
    <p:extLst>
      <p:ext uri="{BB962C8B-B14F-4D97-AF65-F5344CB8AC3E}">
        <p14:creationId xmlns:p14="http://schemas.microsoft.com/office/powerpoint/2010/main" val="2771748032"/>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3730" name="圆角矩形 4"/>
          <p:cNvSpPr/>
          <p:nvPr/>
        </p:nvSpPr>
        <p:spPr>
          <a:xfrm>
            <a:off x="192088" y="1968500"/>
            <a:ext cx="8701087" cy="4629150"/>
          </a:xfrm>
          <a:prstGeom prst="roundRect">
            <a:avLst>
              <a:gd name="adj" fmla="val 3500"/>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862212" name="Rectangle 4"/>
          <p:cNvSpPr>
            <a:spLocks noChangeArrowheads="1"/>
          </p:cNvSpPr>
          <p:nvPr/>
        </p:nvSpPr>
        <p:spPr bwMode="auto">
          <a:xfrm>
            <a:off x="320675" y="2098675"/>
            <a:ext cx="4633913" cy="293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二叉链表空间效率这么低，能否利用这些空闲区存放有用的信息或线索？</a:t>
            </a:r>
          </a:p>
          <a:p>
            <a:pPr marL="0" marR="0" lvl="0" indent="0" algn="l" defTabSz="914400" rtl="0" eaLnBrk="1" fontAlgn="base" latinLnBrk="0" hangingPunct="1">
              <a:lnSpc>
                <a:spcPct val="125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可以用它来存放当前结点的</a:t>
            </a: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直接前驱和后继</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等线索，以加快查找速度。</a:t>
            </a:r>
          </a:p>
        </p:txBody>
      </p:sp>
      <p:sp>
        <p:nvSpPr>
          <p:cNvPr id="70659" name="Rectangle 5"/>
          <p:cNvSpPr>
            <a:spLocks noChangeArrowheads="1"/>
          </p:cNvSpPr>
          <p:nvPr/>
        </p:nvSpPr>
        <p:spPr bwMode="auto">
          <a:xfrm>
            <a:off x="900113" y="131763"/>
            <a:ext cx="233997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思考</a:t>
            </a:r>
          </a:p>
        </p:txBody>
      </p:sp>
      <p:sp>
        <p:nvSpPr>
          <p:cNvPr id="862215" name="AutoShape 7"/>
          <p:cNvSpPr>
            <a:spLocks noChangeArrowheads="1"/>
          </p:cNvSpPr>
          <p:nvPr/>
        </p:nvSpPr>
        <p:spPr bwMode="auto">
          <a:xfrm>
            <a:off x="647700" y="5464175"/>
            <a:ext cx="3722688" cy="1008063"/>
          </a:xfrm>
          <a:prstGeom prst="cloudCallout">
            <a:avLst>
              <a:gd name="adj1" fmla="val -17879"/>
              <a:gd name="adj2" fmla="val -198348"/>
            </a:avLst>
          </a:prstGeom>
          <a:solidFill>
            <a:srgbClr val="6C4C8F"/>
          </a:solidFill>
          <a:ln>
            <a:noFill/>
          </a:ln>
        </p:spPr>
        <p:txBody>
          <a:bodyPr anchor="ct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线索化二叉树</a:t>
            </a:r>
          </a:p>
        </p:txBody>
      </p:sp>
      <p:sp>
        <p:nvSpPr>
          <p:cNvPr id="862216" name="Text Box 8"/>
          <p:cNvSpPr txBox="1">
            <a:spLocks noChangeArrowheads="1"/>
          </p:cNvSpPr>
          <p:nvPr/>
        </p:nvSpPr>
        <p:spPr bwMode="auto">
          <a:xfrm>
            <a:off x="179388" y="1095375"/>
            <a:ext cx="8713788" cy="585788"/>
          </a:xfrm>
          <a:prstGeom prst="rect">
            <a:avLst/>
          </a:prstGeom>
          <a:noFill/>
          <a:ln w="38100">
            <a:noFill/>
            <a:miter lim="800000"/>
          </a:ln>
          <a:effectLst/>
        </p:spPr>
        <p:txBody>
          <a:bodyPr anchor="ctr">
            <a:spAutoFit/>
          </a:bodyPr>
          <a:lstStyle/>
          <a:p>
            <a:pPr marR="0" defTabSz="914400" eaLnBrk="1" hangingPunct="1">
              <a:buClrTx/>
              <a:buSzTx/>
              <a:buFontTx/>
              <a:buNone/>
              <a:defRPr/>
            </a:pPr>
            <a:r>
              <a:rPr kumimoji="1" lang="zh-CN" altLang="en-US" sz="3200" b="0" kern="1200" cap="none" spc="0" normalizeH="0" baseline="0" noProof="0" dirty="0">
                <a:latin typeface="+mn-lt"/>
                <a:ea typeface="+mn-ea"/>
                <a:cs typeface="+mn-ea"/>
                <a:sym typeface="+mn-lt"/>
              </a:rPr>
              <a:t>在</a:t>
            </a:r>
            <a:r>
              <a:rPr kumimoji="1" lang="en-US" altLang="zh-CN" sz="3200" b="0" kern="1200" cap="none" spc="0" normalizeH="0" baseline="0" noProof="0" dirty="0">
                <a:latin typeface="+mn-lt"/>
                <a:ea typeface="+mn-ea"/>
                <a:cs typeface="+mn-ea"/>
                <a:sym typeface="+mn-lt"/>
              </a:rPr>
              <a:t>n</a:t>
            </a:r>
            <a:r>
              <a:rPr kumimoji="1" lang="zh-CN" altLang="zh-CN" sz="3200" b="0" kern="1200" cap="none" spc="0" normalizeH="0" baseline="0" noProof="0" dirty="0">
                <a:latin typeface="+mn-lt"/>
                <a:ea typeface="+mn-ea"/>
                <a:cs typeface="+mn-ea"/>
                <a:sym typeface="+mn-lt"/>
              </a:rPr>
              <a:t>个结点的二叉链表中，</a:t>
            </a:r>
            <a:r>
              <a:rPr kumimoji="1" lang="zh-CN" altLang="en-US" sz="3200" b="0" kern="1200" cap="none" spc="0" normalizeH="0" baseline="0" noProof="0" dirty="0">
                <a:latin typeface="+mn-lt"/>
                <a:ea typeface="+mn-ea"/>
                <a:cs typeface="+mn-ea"/>
                <a:sym typeface="+mn-lt"/>
              </a:rPr>
              <a:t>有</a:t>
            </a:r>
            <a:r>
              <a:rPr kumimoji="1" lang="en-US" altLang="zh-CN" sz="3200" b="0" u="sng" kern="1200" cap="none" spc="0" normalizeH="0" baseline="0" noProof="0" dirty="0">
                <a:solidFill>
                  <a:srgbClr val="FF0000"/>
                </a:solidFill>
                <a:latin typeface="+mn-lt"/>
                <a:ea typeface="+mn-ea"/>
                <a:cs typeface="+mn-ea"/>
                <a:sym typeface="+mn-lt"/>
              </a:rPr>
              <a:t>n+1</a:t>
            </a:r>
            <a:r>
              <a:rPr kumimoji="1" lang="zh-CN" altLang="en-US" sz="3200" b="0" kern="1200" cap="none" spc="0" normalizeH="0" baseline="0" noProof="0" dirty="0">
                <a:latin typeface="+mn-lt"/>
                <a:ea typeface="+mn-ea"/>
                <a:cs typeface="+mn-ea"/>
                <a:sym typeface="+mn-lt"/>
              </a:rPr>
              <a:t>个</a:t>
            </a:r>
            <a:r>
              <a:rPr kumimoji="1" lang="zh-CN" altLang="zh-CN" sz="3200" b="0" kern="1200" cap="none" spc="0" normalizeH="0" baseline="0" noProof="0" dirty="0">
                <a:latin typeface="+mn-lt"/>
                <a:ea typeface="+mn-ea"/>
                <a:cs typeface="+mn-ea"/>
                <a:sym typeface="+mn-lt"/>
              </a:rPr>
              <a:t>空指针域</a:t>
            </a:r>
            <a:endParaRPr kumimoji="1" lang="zh-CN" altLang="en-US" sz="3200" b="0" kern="1200" cap="none" spc="0" normalizeH="0" baseline="0" noProof="0" dirty="0">
              <a:latin typeface="+mn-lt"/>
              <a:ea typeface="+mn-ea"/>
              <a:cs typeface="+mn-ea"/>
              <a:sym typeface="+mn-lt"/>
            </a:endParaRPr>
          </a:p>
        </p:txBody>
      </p:sp>
      <p:grpSp>
        <p:nvGrpSpPr>
          <p:cNvPr id="73735" name="Group 9"/>
          <p:cNvGrpSpPr/>
          <p:nvPr/>
        </p:nvGrpSpPr>
        <p:grpSpPr>
          <a:xfrm>
            <a:off x="5224463" y="2206625"/>
            <a:ext cx="3529012" cy="3689350"/>
            <a:chOff x="2963" y="1354"/>
            <a:chExt cx="2223" cy="2652"/>
          </a:xfrm>
        </p:grpSpPr>
        <p:grpSp>
          <p:nvGrpSpPr>
            <p:cNvPr id="73737" name="Group 10"/>
            <p:cNvGrpSpPr/>
            <p:nvPr/>
          </p:nvGrpSpPr>
          <p:grpSpPr>
            <a:xfrm>
              <a:off x="2963" y="1796"/>
              <a:ext cx="2223" cy="2150"/>
              <a:chOff x="2540" y="1809"/>
              <a:chExt cx="2223" cy="2150"/>
            </a:xfrm>
          </p:grpSpPr>
          <p:grpSp>
            <p:nvGrpSpPr>
              <p:cNvPr id="73755" name="Group 11"/>
              <p:cNvGrpSpPr/>
              <p:nvPr/>
            </p:nvGrpSpPr>
            <p:grpSpPr>
              <a:xfrm>
                <a:off x="3289" y="1809"/>
                <a:ext cx="778" cy="256"/>
                <a:chOff x="1700" y="2033"/>
                <a:chExt cx="778" cy="256"/>
              </a:xfrm>
            </p:grpSpPr>
            <p:sp>
              <p:nvSpPr>
                <p:cNvPr id="70665" name="Rectangle 12"/>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A</a:t>
                  </a:r>
                </a:p>
              </p:txBody>
            </p:sp>
            <p:sp>
              <p:nvSpPr>
                <p:cNvPr id="70666" name="Line 13"/>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0667" name="Line 14"/>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3756" name="Group 15"/>
              <p:cNvGrpSpPr/>
              <p:nvPr/>
            </p:nvGrpSpPr>
            <p:grpSpPr>
              <a:xfrm>
                <a:off x="2819" y="2217"/>
                <a:ext cx="778" cy="256"/>
                <a:chOff x="1700" y="2033"/>
                <a:chExt cx="778" cy="256"/>
              </a:xfrm>
            </p:grpSpPr>
            <p:sp>
              <p:nvSpPr>
                <p:cNvPr id="70669" name="Rectangle 16"/>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70670" name="Line 17"/>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0671" name="Line 18"/>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3757" name="Group 19"/>
              <p:cNvGrpSpPr/>
              <p:nvPr/>
            </p:nvGrpSpPr>
            <p:grpSpPr>
              <a:xfrm>
                <a:off x="2540" y="2717"/>
                <a:ext cx="778" cy="256"/>
                <a:chOff x="1700" y="2033"/>
                <a:chExt cx="778" cy="256"/>
              </a:xfrm>
            </p:grpSpPr>
            <p:sp>
              <p:nvSpPr>
                <p:cNvPr id="70673" name="Rectangle 20"/>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C</a:t>
                  </a:r>
                </a:p>
              </p:txBody>
            </p:sp>
            <p:sp>
              <p:nvSpPr>
                <p:cNvPr id="70674" name="Line 21"/>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0675" name="Line 22"/>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3758" name="Group 23"/>
              <p:cNvGrpSpPr/>
              <p:nvPr/>
            </p:nvGrpSpPr>
            <p:grpSpPr>
              <a:xfrm>
                <a:off x="3497" y="2716"/>
                <a:ext cx="778" cy="256"/>
                <a:chOff x="1700" y="2033"/>
                <a:chExt cx="778" cy="256"/>
              </a:xfrm>
            </p:grpSpPr>
            <p:sp>
              <p:nvSpPr>
                <p:cNvPr id="70677" name="Rectangle 24"/>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D</a:t>
                  </a:r>
                </a:p>
              </p:txBody>
            </p:sp>
            <p:sp>
              <p:nvSpPr>
                <p:cNvPr id="70678" name="Line 25"/>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0679" name="Line 26"/>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3759" name="Group 27"/>
              <p:cNvGrpSpPr/>
              <p:nvPr/>
            </p:nvGrpSpPr>
            <p:grpSpPr>
              <a:xfrm>
                <a:off x="3052" y="3226"/>
                <a:ext cx="778" cy="256"/>
                <a:chOff x="1700" y="2033"/>
                <a:chExt cx="778" cy="256"/>
              </a:xfrm>
            </p:grpSpPr>
            <p:sp>
              <p:nvSpPr>
                <p:cNvPr id="70681" name="Rectangle 28"/>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E</a:t>
                  </a:r>
                </a:p>
              </p:txBody>
            </p:sp>
            <p:sp>
              <p:nvSpPr>
                <p:cNvPr id="70682" name="Line 29"/>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0683" name="Line 30"/>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3760" name="Group 31"/>
              <p:cNvGrpSpPr/>
              <p:nvPr/>
            </p:nvGrpSpPr>
            <p:grpSpPr>
              <a:xfrm>
                <a:off x="3985" y="3216"/>
                <a:ext cx="778" cy="256"/>
                <a:chOff x="1700" y="2033"/>
                <a:chExt cx="778" cy="256"/>
              </a:xfrm>
            </p:grpSpPr>
            <p:sp>
              <p:nvSpPr>
                <p:cNvPr id="70685" name="Rectangle 32"/>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F</a:t>
                  </a:r>
                </a:p>
              </p:txBody>
            </p:sp>
            <p:sp>
              <p:nvSpPr>
                <p:cNvPr id="70686" name="Line 33"/>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0687" name="Line 34"/>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3761" name="Group 35"/>
              <p:cNvGrpSpPr/>
              <p:nvPr/>
            </p:nvGrpSpPr>
            <p:grpSpPr>
              <a:xfrm>
                <a:off x="3517" y="3703"/>
                <a:ext cx="778" cy="256"/>
                <a:chOff x="1700" y="2033"/>
                <a:chExt cx="778" cy="256"/>
              </a:xfrm>
            </p:grpSpPr>
            <p:sp>
              <p:nvSpPr>
                <p:cNvPr id="70689" name="Rectangle 36"/>
                <p:cNvSpPr>
                  <a:spLocks noChangeArrowheads="1"/>
                </p:cNvSpPr>
                <p:nvPr/>
              </p:nvSpPr>
              <p:spPr bwMode="auto">
                <a:xfrm>
                  <a:off x="1700" y="2033"/>
                  <a:ext cx="778" cy="256"/>
                </a:xfrm>
                <a:prstGeom prst="rect">
                  <a:avLst/>
                </a:prstGeom>
                <a:noFill/>
                <a:ln w="2857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G</a:t>
                  </a:r>
                </a:p>
              </p:txBody>
            </p:sp>
            <p:sp>
              <p:nvSpPr>
                <p:cNvPr id="70690" name="Line 37"/>
                <p:cNvSpPr>
                  <a:spLocks noChangeShapeType="1"/>
                </p:cNvSpPr>
                <p:nvPr/>
              </p:nvSpPr>
              <p:spPr bwMode="auto">
                <a:xfrm>
                  <a:off x="1934"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0691" name="Line 38"/>
                <p:cNvSpPr>
                  <a:spLocks noChangeShapeType="1"/>
                </p:cNvSpPr>
                <p:nvPr/>
              </p:nvSpPr>
              <p:spPr bwMode="auto">
                <a:xfrm>
                  <a:off x="2212" y="2033"/>
                  <a:ext cx="0" cy="25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grpSp>
        <p:sp>
          <p:nvSpPr>
            <p:cNvPr id="70692" name="Line 39"/>
            <p:cNvSpPr>
              <a:spLocks noChangeShapeType="1"/>
            </p:cNvSpPr>
            <p:nvPr/>
          </p:nvSpPr>
          <p:spPr bwMode="auto">
            <a:xfrm flipH="1">
              <a:off x="3657" y="1975"/>
              <a:ext cx="144" cy="233"/>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0693" name="Line 40"/>
            <p:cNvSpPr>
              <a:spLocks noChangeShapeType="1"/>
            </p:cNvSpPr>
            <p:nvPr/>
          </p:nvSpPr>
          <p:spPr bwMode="auto">
            <a:xfrm flipH="1">
              <a:off x="3257" y="2410"/>
              <a:ext cx="111" cy="299"/>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0694" name="Line 41"/>
            <p:cNvSpPr>
              <a:spLocks noChangeShapeType="1"/>
            </p:cNvSpPr>
            <p:nvPr/>
          </p:nvSpPr>
          <p:spPr bwMode="auto">
            <a:xfrm>
              <a:off x="3924" y="2375"/>
              <a:ext cx="322" cy="332"/>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0695" name="Line 42"/>
            <p:cNvSpPr>
              <a:spLocks noChangeShapeType="1"/>
            </p:cNvSpPr>
            <p:nvPr/>
          </p:nvSpPr>
          <p:spPr bwMode="auto">
            <a:xfrm flipH="1">
              <a:off x="3857" y="2852"/>
              <a:ext cx="178" cy="356"/>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0696" name="Line 43"/>
            <p:cNvSpPr>
              <a:spLocks noChangeShapeType="1"/>
            </p:cNvSpPr>
            <p:nvPr/>
          </p:nvSpPr>
          <p:spPr bwMode="auto">
            <a:xfrm>
              <a:off x="4557" y="2852"/>
              <a:ext cx="200" cy="356"/>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0697" name="Line 44"/>
            <p:cNvSpPr>
              <a:spLocks noChangeShapeType="1"/>
            </p:cNvSpPr>
            <p:nvPr/>
          </p:nvSpPr>
          <p:spPr bwMode="auto">
            <a:xfrm>
              <a:off x="4090" y="3408"/>
              <a:ext cx="200" cy="289"/>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73744" name="Group 45"/>
            <p:cNvGrpSpPr/>
            <p:nvPr/>
          </p:nvGrpSpPr>
          <p:grpSpPr>
            <a:xfrm>
              <a:off x="3868" y="1354"/>
              <a:ext cx="211" cy="444"/>
              <a:chOff x="3445" y="1367"/>
              <a:chExt cx="211" cy="444"/>
            </a:xfrm>
          </p:grpSpPr>
          <p:sp>
            <p:nvSpPr>
              <p:cNvPr id="70699" name="Freeform 46"/>
              <p:cNvSpPr>
                <a:spLocks noChangeArrowheads="1"/>
              </p:cNvSpPr>
              <p:nvPr/>
            </p:nvSpPr>
            <p:spPr bwMode="auto">
              <a:xfrm>
                <a:off x="3445" y="1367"/>
                <a:ext cx="72" cy="223"/>
              </a:xfrm>
              <a:custGeom>
                <a:avLst/>
                <a:gdLst>
                  <a:gd name="T0" fmla="*/ 33 w 94"/>
                  <a:gd name="T1" fmla="*/ 0 h 233"/>
                  <a:gd name="T2" fmla="*/ 89 w 94"/>
                  <a:gd name="T3" fmla="*/ 111 h 233"/>
                  <a:gd name="T4" fmla="*/ 0 w 94"/>
                  <a:gd name="T5" fmla="*/ 233 h 233"/>
                </a:gdLst>
                <a:ahLst/>
                <a:cxnLst>
                  <a:cxn ang="0">
                    <a:pos x="T0" y="T1"/>
                  </a:cxn>
                  <a:cxn ang="0">
                    <a:pos x="T2" y="T3"/>
                  </a:cxn>
                  <a:cxn ang="0">
                    <a:pos x="T4" y="T5"/>
                  </a:cxn>
                </a:cxnLst>
                <a:rect l="0" t="0" r="r" b="b"/>
                <a:pathLst>
                  <a:path w="94" h="233">
                    <a:moveTo>
                      <a:pt x="33" y="0"/>
                    </a:moveTo>
                    <a:cubicBezTo>
                      <a:pt x="63" y="36"/>
                      <a:pt x="94" y="72"/>
                      <a:pt x="89" y="111"/>
                    </a:cubicBezTo>
                    <a:cubicBezTo>
                      <a:pt x="84" y="150"/>
                      <a:pt x="19" y="218"/>
                      <a:pt x="0" y="233"/>
                    </a:cubicBezTo>
                  </a:path>
                </a:pathLst>
              </a:custGeom>
              <a:noFill/>
              <a:ln w="28575">
                <a:solidFill>
                  <a:srgbClr val="0000FF"/>
                </a:solidFill>
                <a:round/>
              </a:ln>
              <a:extLst>
                <a:ext uri="{909E8E84-426E-40DD-AFC4-6F175D3DCCD1}">
                  <a14:hiddenFill xmlns:a14="http://schemas.microsoft.com/office/drawing/2010/main">
                    <a:solidFill>
                      <a:srgbClr val="FFFFFF"/>
                    </a:solidFill>
                  </a14:hiddenFill>
                </a:ext>
              </a:extLst>
            </p:spPr>
            <p:txBody>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0700" name="Line 47"/>
              <p:cNvSpPr>
                <a:spLocks noChangeShapeType="1"/>
              </p:cNvSpPr>
              <p:nvPr/>
            </p:nvSpPr>
            <p:spPr bwMode="auto">
              <a:xfrm>
                <a:off x="3456" y="1590"/>
                <a:ext cx="200" cy="221"/>
              </a:xfrm>
              <a:prstGeom prst="line">
                <a:avLst/>
              </a:prstGeom>
              <a:noFill/>
              <a:ln w="28575">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0701" name="Text Box 48"/>
            <p:cNvSpPr txBox="1">
              <a:spLocks noChangeArrowheads="1"/>
            </p:cNvSpPr>
            <p:nvPr/>
          </p:nvSpPr>
          <p:spPr bwMode="auto">
            <a:xfrm>
              <a:off x="4232" y="1766"/>
              <a:ext cx="207" cy="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70702" name="Text Box 49"/>
            <p:cNvSpPr txBox="1">
              <a:spLocks noChangeArrowheads="1"/>
            </p:cNvSpPr>
            <p:nvPr/>
          </p:nvSpPr>
          <p:spPr bwMode="auto">
            <a:xfrm>
              <a:off x="2972" y="2665"/>
              <a:ext cx="207" cy="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70703" name="Text Box 50"/>
            <p:cNvSpPr txBox="1">
              <a:spLocks noChangeArrowheads="1"/>
            </p:cNvSpPr>
            <p:nvPr/>
          </p:nvSpPr>
          <p:spPr bwMode="auto">
            <a:xfrm>
              <a:off x="3512" y="2665"/>
              <a:ext cx="207" cy="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70704" name="Text Box 51"/>
            <p:cNvSpPr txBox="1">
              <a:spLocks noChangeArrowheads="1"/>
            </p:cNvSpPr>
            <p:nvPr/>
          </p:nvSpPr>
          <p:spPr bwMode="auto">
            <a:xfrm>
              <a:off x="3500" y="3181"/>
              <a:ext cx="207" cy="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70705" name="Text Box 52"/>
            <p:cNvSpPr txBox="1">
              <a:spLocks noChangeArrowheads="1"/>
            </p:cNvSpPr>
            <p:nvPr/>
          </p:nvSpPr>
          <p:spPr bwMode="auto">
            <a:xfrm>
              <a:off x="4424" y="3170"/>
              <a:ext cx="207" cy="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70706" name="Text Box 53"/>
            <p:cNvSpPr txBox="1">
              <a:spLocks noChangeArrowheads="1"/>
            </p:cNvSpPr>
            <p:nvPr/>
          </p:nvSpPr>
          <p:spPr bwMode="auto">
            <a:xfrm>
              <a:off x="4952" y="3170"/>
              <a:ext cx="207" cy="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70707" name="Text Box 54"/>
            <p:cNvSpPr txBox="1">
              <a:spLocks noChangeArrowheads="1"/>
            </p:cNvSpPr>
            <p:nvPr/>
          </p:nvSpPr>
          <p:spPr bwMode="auto">
            <a:xfrm>
              <a:off x="3956" y="3674"/>
              <a:ext cx="207" cy="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rgbClr val="FF3300"/>
                  </a:solidFill>
                  <a:effectLst/>
                  <a:uLnTx/>
                  <a:uFillTx/>
                  <a:latin typeface="+mn-lt"/>
                  <a:ea typeface="+mn-ea"/>
                  <a:cs typeface="+mn-ea"/>
                  <a:sym typeface="+mn-lt"/>
                </a:rPr>
                <a:t>^</a:t>
              </a:r>
            </a:p>
          </p:txBody>
        </p:sp>
        <p:sp>
          <p:nvSpPr>
            <p:cNvPr id="70708" name="Text Box 55"/>
            <p:cNvSpPr txBox="1">
              <a:spLocks noChangeArrowheads="1"/>
            </p:cNvSpPr>
            <p:nvPr/>
          </p:nvSpPr>
          <p:spPr bwMode="auto">
            <a:xfrm>
              <a:off x="4484" y="3661"/>
              <a:ext cx="207" cy="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rgbClr val="FF3300"/>
                  </a:solidFill>
                  <a:effectLst/>
                  <a:uLnTx/>
                  <a:uFillTx/>
                  <a:latin typeface="+mn-lt"/>
                  <a:ea typeface="+mn-ea"/>
                  <a:cs typeface="+mn-ea"/>
                  <a:sym typeface="+mn-lt"/>
                </a:rPr>
                <a:t>^</a:t>
              </a:r>
            </a:p>
          </p:txBody>
        </p:sp>
      </p:grpSp>
      <p:cxnSp>
        <p:nvCxnSpPr>
          <p:cNvPr id="3" name="直接连接符 2"/>
          <p:cNvCxnSpPr/>
          <p:nvPr/>
        </p:nvCxnSpPr>
        <p:spPr bwMode="auto">
          <a:xfrm>
            <a:off x="195263" y="1873250"/>
            <a:ext cx="8697913" cy="0"/>
          </a:xfrm>
          <a:prstGeom prst="line">
            <a:avLst/>
          </a:prstGeom>
          <a:solidFill>
            <a:schemeClr val="accent1"/>
          </a:solidFill>
          <a:ln w="9525" cap="flat" cmpd="sng" algn="ctr">
            <a:solidFill>
              <a:schemeClr val="accent1">
                <a:lumMod val="40000"/>
                <a:lumOff val="60000"/>
              </a:schemeClr>
            </a:solidFill>
            <a:prstDash val="solid"/>
            <a:round/>
            <a:headEnd type="none" w="med" len="med"/>
            <a:tailEnd type="none" w="med" len="med"/>
          </a:ln>
        </p:spPr>
      </p:cxn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62212">
                                            <p:txEl>
                                              <p:pRg st="0" end="0"/>
                                            </p:txEl>
                                          </p:spTgt>
                                        </p:tgtEl>
                                        <p:attrNameLst>
                                          <p:attrName>style.visibility</p:attrName>
                                        </p:attrNameLst>
                                      </p:cBhvr>
                                      <p:to>
                                        <p:strVal val="visible"/>
                                      </p:to>
                                    </p:set>
                                    <p:animEffect transition="in" filter="wipe(left)">
                                      <p:cBhvr>
                                        <p:cTn id="7" dur="500"/>
                                        <p:tgtEl>
                                          <p:spTgt spid="86221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862212">
                                            <p:txEl>
                                              <p:pRg st="1" end="1"/>
                                            </p:txEl>
                                          </p:spTgt>
                                        </p:tgtEl>
                                        <p:attrNameLst>
                                          <p:attrName>style.visibility</p:attrName>
                                        </p:attrNameLst>
                                      </p:cBhvr>
                                      <p:to>
                                        <p:strVal val="visible"/>
                                      </p:to>
                                    </p:set>
                                    <p:animEffect transition="in" filter="wipe(left)">
                                      <p:cBhvr>
                                        <p:cTn id="12" dur="500"/>
                                        <p:tgtEl>
                                          <p:spTgt spid="86221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862215"/>
                                        </p:tgtEl>
                                        <p:attrNameLst>
                                          <p:attrName>style.visibility</p:attrName>
                                        </p:attrNameLst>
                                      </p:cBhvr>
                                      <p:to>
                                        <p:strVal val="visible"/>
                                      </p:to>
                                    </p:set>
                                    <p:anim calcmode="lin" valueType="num">
                                      <p:cBhvr additive="base">
                                        <p:cTn id="17" dur="500" fill="hold"/>
                                        <p:tgtEl>
                                          <p:spTgt spid="862215"/>
                                        </p:tgtEl>
                                        <p:attrNameLst>
                                          <p:attrName>ppt_x</p:attrName>
                                        </p:attrNameLst>
                                      </p:cBhvr>
                                      <p:tavLst>
                                        <p:tav tm="0">
                                          <p:val>
                                            <p:strVal val="#ppt_x"/>
                                          </p:val>
                                        </p:tav>
                                        <p:tav tm="100000">
                                          <p:val>
                                            <p:strVal val="#ppt_x"/>
                                          </p:val>
                                        </p:tav>
                                      </p:tavLst>
                                    </p:anim>
                                    <p:anim calcmode="lin" valueType="num">
                                      <p:cBhvr additive="base">
                                        <p:cTn id="18" dur="500" fill="hold"/>
                                        <p:tgtEl>
                                          <p:spTgt spid="862215"/>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6" presetClass="emph" presetSubtype="0" fill="hold" grpId="1" nodeType="clickEffect">
                                  <p:stCondLst>
                                    <p:cond delay="0"/>
                                  </p:stCondLst>
                                  <p:childTnLst>
                                    <p:animScale>
                                      <p:cBhvr>
                                        <p:cTn id="22" dur="2000" fill="hold"/>
                                        <p:tgtEl>
                                          <p:spTgt spid="862215"/>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2212" grpId="0" build="p"/>
      <p:bldP spid="862215" grpId="0" animBg="1"/>
      <p:bldP spid="862215" grpId="1" animBg="1"/>
    </p:bldLst>
  </p:timing>
</p:sld>
</file>

<file path=ppt/slides/slide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861189" name="Rectangle 5"/>
          <p:cNvSpPr>
            <a:spLocks noChangeArrowheads="1"/>
          </p:cNvSpPr>
          <p:nvPr/>
        </p:nvSpPr>
        <p:spPr bwMode="auto">
          <a:xfrm>
            <a:off x="276225" y="1382713"/>
            <a:ext cx="8659813" cy="2012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66675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66675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普通二叉树只能找到结点的左右孩子信息，而该结点的直接前驱和直接后继只能在遍历过程中获得</a:t>
            </a:r>
          </a:p>
          <a:p>
            <a:pPr marL="0" marR="0" lvl="0" indent="66675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若将遍历后对应的有关前驱和后继预存起来，则从</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第一个结点</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开始就能很快“顺藤摸瓜”而遍历整个树</a:t>
            </a:r>
          </a:p>
        </p:txBody>
      </p:sp>
      <p:sp>
        <p:nvSpPr>
          <p:cNvPr id="861190" name="Rectangle 6"/>
          <p:cNvSpPr>
            <a:spLocks noChangeArrowheads="1"/>
          </p:cNvSpPr>
          <p:nvPr/>
        </p:nvSpPr>
        <p:spPr bwMode="auto">
          <a:xfrm>
            <a:off x="517525" y="3648075"/>
            <a:ext cx="3924300" cy="2227263"/>
          </a:xfrm>
          <a:prstGeom prst="roundRect">
            <a:avLst>
              <a:gd name="adj" fmla="val 6972"/>
            </a:avLst>
          </a:prstGeom>
          <a:solidFill>
            <a:srgbClr val="EBEBEB"/>
          </a:solidFill>
          <a:ln w="38100">
            <a:noFill/>
            <a:miter lim="800000"/>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例如中序遍历结果：</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B D C E A F H G</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，实际上已将二叉树转为线性排列，显然具有唯一前驱和唯一后继！</a:t>
            </a:r>
          </a:p>
        </p:txBody>
      </p:sp>
      <p:sp>
        <p:nvSpPr>
          <p:cNvPr id="861191" name="AutoShape 7"/>
          <p:cNvSpPr>
            <a:spLocks noChangeArrowheads="1"/>
          </p:cNvSpPr>
          <p:nvPr/>
        </p:nvSpPr>
        <p:spPr bwMode="auto">
          <a:xfrm>
            <a:off x="5046663" y="3998913"/>
            <a:ext cx="3671888" cy="1368425"/>
          </a:xfrm>
          <a:prstGeom prst="cloudCallout">
            <a:avLst>
              <a:gd name="adj1" fmla="val 35396"/>
              <a:gd name="adj2" fmla="val -137611"/>
            </a:avLst>
          </a:prstGeom>
          <a:solidFill>
            <a:srgbClr val="6C4C8F"/>
          </a:solidFill>
          <a:ln w="9525">
            <a:solidFill>
              <a:schemeClr val="tx1"/>
            </a:solidFill>
            <a:miter lim="800000"/>
          </a:ln>
        </p:spPr>
        <p:txBody>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3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可能是根、或最左（右）叶子</a:t>
            </a:r>
          </a:p>
        </p:txBody>
      </p:sp>
      <p:sp>
        <p:nvSpPr>
          <p:cNvPr id="71685" name="Rectangle 8"/>
          <p:cNvSpPr>
            <a:spLocks noChangeArrowheads="1"/>
          </p:cNvSpPr>
          <p:nvPr/>
        </p:nvSpPr>
        <p:spPr bwMode="auto">
          <a:xfrm>
            <a:off x="731838" y="233363"/>
            <a:ext cx="419735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线索化二叉树</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861189">
                                            <p:txEl>
                                              <p:pRg st="0" end="0"/>
                                            </p:txEl>
                                          </p:spTgt>
                                        </p:tgtEl>
                                        <p:attrNameLst>
                                          <p:attrName>style.visibility</p:attrName>
                                        </p:attrNameLst>
                                      </p:cBhvr>
                                      <p:to>
                                        <p:strVal val="visible"/>
                                      </p:to>
                                    </p:set>
                                    <p:animEffect transition="in" filter="strips(downRight)">
                                      <p:cBhvr>
                                        <p:cTn id="7" dur="500"/>
                                        <p:tgtEl>
                                          <p:spTgt spid="861189">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861189">
                                            <p:txEl>
                                              <p:pRg st="1" end="1"/>
                                            </p:txEl>
                                          </p:spTgt>
                                        </p:tgtEl>
                                        <p:attrNameLst>
                                          <p:attrName>style.visibility</p:attrName>
                                        </p:attrNameLst>
                                      </p:cBhvr>
                                      <p:to>
                                        <p:strVal val="visible"/>
                                      </p:to>
                                    </p:set>
                                    <p:animEffect transition="in" filter="strips(downRight)">
                                      <p:cBhvr>
                                        <p:cTn id="12" dur="500"/>
                                        <p:tgtEl>
                                          <p:spTgt spid="861189">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499"/>
                                          </p:stCondLst>
                                        </p:cTn>
                                        <p:tgtEl>
                                          <p:spTgt spid="861191"/>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86119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1189" grpId="0" build="p"/>
      <p:bldP spid="861190" grpId="0" animBg="1"/>
      <p:bldP spid="861191" grpId="0" animBg="1"/>
    </p:bldLst>
  </p:timing>
</p:sld>
</file>

<file path=ppt/slides/slide6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860168" name="Rectangle 8"/>
          <p:cNvSpPr>
            <a:spLocks noChangeArrowheads="1"/>
          </p:cNvSpPr>
          <p:nvPr/>
        </p:nvSpPr>
        <p:spPr bwMode="auto">
          <a:xfrm>
            <a:off x="825500" y="1165225"/>
            <a:ext cx="33988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a:ln>
                  <a:noFill/>
                </a:ln>
                <a:solidFill>
                  <a:schemeClr val="tx1"/>
                </a:solidFill>
                <a:effectLst/>
                <a:uLnTx/>
                <a:uFillTx/>
                <a:latin typeface="+mn-lt"/>
                <a:ea typeface="+mn-ea"/>
                <a:cs typeface="+mn-ea"/>
                <a:sym typeface="+mn-lt"/>
              </a:rPr>
              <a:t>如何保存这类信息？</a:t>
            </a:r>
          </a:p>
        </p:txBody>
      </p:sp>
      <p:sp>
        <p:nvSpPr>
          <p:cNvPr id="72712" name="Rectangle 9"/>
          <p:cNvSpPr>
            <a:spLocks noChangeArrowheads="1"/>
          </p:cNvSpPr>
          <p:nvPr/>
        </p:nvSpPr>
        <p:spPr bwMode="auto">
          <a:xfrm>
            <a:off x="901700" y="192088"/>
            <a:ext cx="419735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线索化二叉树</a:t>
            </a:r>
          </a:p>
        </p:txBody>
      </p:sp>
      <p:grpSp>
        <p:nvGrpSpPr>
          <p:cNvPr id="3" name="组合 2"/>
          <p:cNvGrpSpPr/>
          <p:nvPr/>
        </p:nvGrpSpPr>
        <p:grpSpPr>
          <a:xfrm>
            <a:off x="2295525" y="2187575"/>
            <a:ext cx="4275138" cy="3454400"/>
            <a:chOff x="1053587" y="1934093"/>
            <a:chExt cx="5589917" cy="4518112"/>
          </a:xfrm>
        </p:grpSpPr>
        <p:sp>
          <p:nvSpPr>
            <p:cNvPr id="21" name="iS1ide-Arc 12"/>
            <p:cNvSpPr/>
            <p:nvPr/>
          </p:nvSpPr>
          <p:spPr>
            <a:xfrm flipH="1" flipV="1">
              <a:off x="1728197" y="2212322"/>
              <a:ext cx="4240697" cy="4239883"/>
            </a:xfrm>
            <a:prstGeom prst="arc">
              <a:avLst>
                <a:gd name="adj1" fmla="val 12136914"/>
                <a:gd name="adj2" fmla="val 20239707"/>
              </a:avLst>
            </a:prstGeom>
            <a:noFill/>
            <a:ln w="19050" cap="flat" cmpd="sng" algn="ctr">
              <a:solidFill>
                <a:sysClr val="window" lastClr="FFFFFF">
                  <a:lumMod val="75000"/>
                </a:sysClr>
              </a:solidFill>
              <a:prstDash val="dash"/>
              <a:tailEnd type="triangle"/>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mn-ea"/>
                <a:cs typeface="+mn-cs"/>
                <a:sym typeface="Arial" panose="020B0604020202020204" pitchFamily="34" charset="0"/>
              </a:endParaRPr>
            </a:p>
          </p:txBody>
        </p:sp>
        <p:sp>
          <p:nvSpPr>
            <p:cNvPr id="22" name="iS1ide-Oval 8"/>
            <p:cNvSpPr/>
            <p:nvPr/>
          </p:nvSpPr>
          <p:spPr>
            <a:xfrm>
              <a:off x="2288642" y="2494704"/>
              <a:ext cx="3119808" cy="3120737"/>
            </a:xfrm>
            <a:prstGeom prst="ellipse">
              <a:avLst/>
            </a:prstGeom>
            <a:solidFill>
              <a:srgbClr val="4F81BD"/>
            </a:solidFill>
            <a:ln w="3175" cap="flat" cmpd="sng" algn="ctr">
              <a:noFill/>
              <a:prstDash val="solid"/>
            </a:ln>
            <a:effectLst/>
          </p:spPr>
          <p:txBody>
            <a:bodyPr bIns="360000" anchor="b" anchorCtr="1">
              <a:normAutofit/>
            </a:bodyPr>
            <a:lstStyle/>
            <a:p>
              <a:pPr marL="0" marR="0" lvl="0" indent="0" algn="ctr" defTabSz="914400" rtl="0" eaLnBrk="1" fontAlgn="auto" latinLnBrk="0" hangingPunct="1">
                <a:lnSpc>
                  <a:spcPct val="120000"/>
                </a:lnSpc>
                <a:spcBef>
                  <a:spcPts val="0"/>
                </a:spcBef>
                <a:spcAft>
                  <a:spcPts val="0"/>
                </a:spcAft>
                <a:buClrTx/>
                <a:buSzTx/>
                <a:buFontTx/>
                <a:buNone/>
                <a:defRPr/>
              </a:pPr>
              <a:endParaRPr kumimoji="0" lang="zh-CN" altLang="en-US" sz="1200" b="0" i="0" u="none" strike="noStrike" kern="0" cap="none" spc="0" normalizeH="0" baseline="0" noProof="0" dirty="0">
                <a:ln>
                  <a:noFill/>
                </a:ln>
                <a:solidFill>
                  <a:prstClr val="white"/>
                </a:solidFill>
                <a:effectLst/>
                <a:uLnTx/>
                <a:uFillTx/>
                <a:latin typeface="Arial" panose="020B0604020202020204" pitchFamily="34" charset="0"/>
                <a:ea typeface="宋体" panose="02010600030101010101" pitchFamily="2" charset="-122"/>
                <a:cs typeface="+mn-cs"/>
                <a:sym typeface="Arial" panose="020B0604020202020204" pitchFamily="34" charset="0"/>
              </a:endParaRPr>
            </a:p>
          </p:txBody>
        </p:sp>
        <p:sp>
          <p:nvSpPr>
            <p:cNvPr id="23" name="iS1ide-Oval 9"/>
            <p:cNvSpPr/>
            <p:nvPr/>
          </p:nvSpPr>
          <p:spPr>
            <a:xfrm>
              <a:off x="1053587" y="3244263"/>
              <a:ext cx="1619062" cy="1619544"/>
            </a:xfrm>
            <a:prstGeom prst="ellipse">
              <a:avLst/>
            </a:prstGeom>
            <a:solidFill>
              <a:srgbClr val="C0504D"/>
            </a:solidFill>
            <a:ln w="3175"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white"/>
                </a:solidFill>
                <a:effectLst/>
                <a:uLnTx/>
                <a:uFillTx/>
                <a:latin typeface="Arial" panose="020B0604020202020204" pitchFamily="34" charset="0"/>
                <a:ea typeface="+mn-ea"/>
                <a:cs typeface="+mn-cs"/>
                <a:sym typeface="Arial" panose="020B0604020202020204" pitchFamily="34" charset="0"/>
              </a:endParaRPr>
            </a:p>
          </p:txBody>
        </p:sp>
        <p:sp>
          <p:nvSpPr>
            <p:cNvPr id="24" name="iS1ide-Oval 10"/>
            <p:cNvSpPr/>
            <p:nvPr/>
          </p:nvSpPr>
          <p:spPr>
            <a:xfrm>
              <a:off x="5024442" y="3244263"/>
              <a:ext cx="1619062" cy="1619544"/>
            </a:xfrm>
            <a:prstGeom prst="ellipse">
              <a:avLst/>
            </a:prstGeom>
            <a:solidFill>
              <a:srgbClr val="8064A2"/>
            </a:solidFill>
            <a:ln w="3175"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white"/>
                </a:solidFill>
                <a:effectLst/>
                <a:uLnTx/>
                <a:uFillTx/>
                <a:latin typeface="Arial" panose="020B0604020202020204" pitchFamily="34" charset="0"/>
                <a:ea typeface="+mn-ea"/>
                <a:cs typeface="+mn-cs"/>
                <a:sym typeface="Arial" panose="020B0604020202020204" pitchFamily="34" charset="0"/>
              </a:endParaRPr>
            </a:p>
          </p:txBody>
        </p:sp>
        <p:sp>
          <p:nvSpPr>
            <p:cNvPr id="25" name="iS1ide-Arc 11"/>
            <p:cNvSpPr/>
            <p:nvPr/>
          </p:nvSpPr>
          <p:spPr>
            <a:xfrm>
              <a:off x="1728197" y="1934093"/>
              <a:ext cx="4240697" cy="4239883"/>
            </a:xfrm>
            <a:prstGeom prst="arc">
              <a:avLst>
                <a:gd name="adj1" fmla="val 12136914"/>
                <a:gd name="adj2" fmla="val 20239707"/>
              </a:avLst>
            </a:prstGeom>
            <a:noFill/>
            <a:ln w="19050" cap="flat" cmpd="sng" algn="ctr">
              <a:solidFill>
                <a:sysClr val="window" lastClr="FFFFFF">
                  <a:lumMod val="75000"/>
                </a:sysClr>
              </a:solidFill>
              <a:prstDash val="dash"/>
              <a:tailEnd type="triangle"/>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mn-ea"/>
                <a:cs typeface="+mn-cs"/>
                <a:sym typeface="Arial" panose="020B0604020202020204" pitchFamily="34" charset="0"/>
              </a:endParaRPr>
            </a:p>
          </p:txBody>
        </p:sp>
        <p:sp>
          <p:nvSpPr>
            <p:cNvPr id="26" name="iS1ide-Freeform: Shape 15"/>
            <p:cNvSpPr/>
            <p:nvPr/>
          </p:nvSpPr>
          <p:spPr bwMode="auto">
            <a:xfrm>
              <a:off x="1545534" y="3788264"/>
              <a:ext cx="637246" cy="531543"/>
            </a:xfrm>
            <a:custGeom>
              <a:avLst/>
              <a:gdLst>
                <a:gd name="T0" fmla="*/ 1028 w 1149"/>
                <a:gd name="T1" fmla="*/ 541 h 955"/>
                <a:gd name="T2" fmla="*/ 1044 w 1149"/>
                <a:gd name="T3" fmla="*/ 661 h 955"/>
                <a:gd name="T4" fmla="*/ 1005 w 1149"/>
                <a:gd name="T5" fmla="*/ 753 h 955"/>
                <a:gd name="T6" fmla="*/ 915 w 1149"/>
                <a:gd name="T7" fmla="*/ 813 h 955"/>
                <a:gd name="T8" fmla="*/ 862 w 1149"/>
                <a:gd name="T9" fmla="*/ 882 h 955"/>
                <a:gd name="T10" fmla="*/ 786 w 1149"/>
                <a:gd name="T11" fmla="*/ 926 h 955"/>
                <a:gd name="T12" fmla="*/ 670 w 1149"/>
                <a:gd name="T13" fmla="*/ 944 h 955"/>
                <a:gd name="T14" fmla="*/ 702 w 1149"/>
                <a:gd name="T15" fmla="*/ 895 h 955"/>
                <a:gd name="T16" fmla="*/ 752 w 1149"/>
                <a:gd name="T17" fmla="*/ 876 h 955"/>
                <a:gd name="T18" fmla="*/ 670 w 1149"/>
                <a:gd name="T19" fmla="*/ 761 h 955"/>
                <a:gd name="T20" fmla="*/ 793 w 1149"/>
                <a:gd name="T21" fmla="*/ 816 h 955"/>
                <a:gd name="T22" fmla="*/ 854 w 1149"/>
                <a:gd name="T23" fmla="*/ 819 h 955"/>
                <a:gd name="T24" fmla="*/ 754 w 1149"/>
                <a:gd name="T25" fmla="*/ 707 h 955"/>
                <a:gd name="T26" fmla="*/ 767 w 1149"/>
                <a:gd name="T27" fmla="*/ 662 h 955"/>
                <a:gd name="T28" fmla="*/ 909 w 1149"/>
                <a:gd name="T29" fmla="*/ 755 h 955"/>
                <a:gd name="T30" fmla="*/ 948 w 1149"/>
                <a:gd name="T31" fmla="*/ 714 h 955"/>
                <a:gd name="T32" fmla="*/ 813 w 1149"/>
                <a:gd name="T33" fmla="*/ 581 h 955"/>
                <a:gd name="T34" fmla="*/ 858 w 1149"/>
                <a:gd name="T35" fmla="*/ 566 h 955"/>
                <a:gd name="T36" fmla="*/ 998 w 1149"/>
                <a:gd name="T37" fmla="*/ 628 h 955"/>
                <a:gd name="T38" fmla="*/ 683 w 1149"/>
                <a:gd name="T39" fmla="*/ 301 h 955"/>
                <a:gd name="T40" fmla="*/ 730 w 1149"/>
                <a:gd name="T41" fmla="*/ 285 h 955"/>
                <a:gd name="T42" fmla="*/ 97 w 1149"/>
                <a:gd name="T43" fmla="*/ 439 h 955"/>
                <a:gd name="T44" fmla="*/ 0 w 1149"/>
                <a:gd name="T45" fmla="*/ 254 h 955"/>
                <a:gd name="T46" fmla="*/ 174 w 1149"/>
                <a:gd name="T47" fmla="*/ 32 h 955"/>
                <a:gd name="T48" fmla="*/ 260 w 1149"/>
                <a:gd name="T49" fmla="*/ 2 h 955"/>
                <a:gd name="T50" fmla="*/ 362 w 1149"/>
                <a:gd name="T51" fmla="*/ 59 h 955"/>
                <a:gd name="T52" fmla="*/ 525 w 1149"/>
                <a:gd name="T53" fmla="*/ 40 h 955"/>
                <a:gd name="T54" fmla="*/ 338 w 1149"/>
                <a:gd name="T55" fmla="*/ 112 h 955"/>
                <a:gd name="T56" fmla="*/ 233 w 1149"/>
                <a:gd name="T57" fmla="*/ 59 h 955"/>
                <a:gd name="T58" fmla="*/ 60 w 1149"/>
                <a:gd name="T59" fmla="*/ 267 h 955"/>
                <a:gd name="T60" fmla="*/ 143 w 1149"/>
                <a:gd name="T61" fmla="*/ 367 h 955"/>
                <a:gd name="T62" fmla="*/ 149 w 1149"/>
                <a:gd name="T63" fmla="*/ 500 h 955"/>
                <a:gd name="T64" fmla="*/ 538 w 1149"/>
                <a:gd name="T65" fmla="*/ 788 h 955"/>
                <a:gd name="T66" fmla="*/ 512 w 1149"/>
                <a:gd name="T67" fmla="*/ 773 h 955"/>
                <a:gd name="T68" fmla="*/ 456 w 1149"/>
                <a:gd name="T69" fmla="*/ 707 h 955"/>
                <a:gd name="T70" fmla="*/ 394 w 1149"/>
                <a:gd name="T71" fmla="*/ 710 h 955"/>
                <a:gd name="T72" fmla="*/ 370 w 1149"/>
                <a:gd name="T73" fmla="*/ 642 h 955"/>
                <a:gd name="T74" fmla="*/ 295 w 1149"/>
                <a:gd name="T75" fmla="*/ 627 h 955"/>
                <a:gd name="T76" fmla="*/ 283 w 1149"/>
                <a:gd name="T77" fmla="*/ 546 h 955"/>
                <a:gd name="T78" fmla="*/ 195 w 1149"/>
                <a:gd name="T79" fmla="*/ 527 h 955"/>
                <a:gd name="T80" fmla="*/ 135 w 1149"/>
                <a:gd name="T81" fmla="*/ 607 h 955"/>
                <a:gd name="T82" fmla="*/ 174 w 1149"/>
                <a:gd name="T83" fmla="*/ 681 h 955"/>
                <a:gd name="T84" fmla="*/ 230 w 1149"/>
                <a:gd name="T85" fmla="*/ 692 h 955"/>
                <a:gd name="T86" fmla="*/ 239 w 1149"/>
                <a:gd name="T87" fmla="*/ 794 h 955"/>
                <a:gd name="T88" fmla="*/ 341 w 1149"/>
                <a:gd name="T89" fmla="*/ 789 h 955"/>
                <a:gd name="T90" fmla="*/ 358 w 1149"/>
                <a:gd name="T91" fmla="*/ 843 h 955"/>
                <a:gd name="T92" fmla="*/ 458 w 1149"/>
                <a:gd name="T93" fmla="*/ 862 h 955"/>
                <a:gd name="T94" fmla="*/ 478 w 1149"/>
                <a:gd name="T95" fmla="*/ 883 h 955"/>
                <a:gd name="T96" fmla="*/ 540 w 1149"/>
                <a:gd name="T97" fmla="*/ 937 h 955"/>
                <a:gd name="T98" fmla="*/ 618 w 1149"/>
                <a:gd name="T99" fmla="*/ 894 h 955"/>
                <a:gd name="T100" fmla="*/ 602 w 1149"/>
                <a:gd name="T101" fmla="*/ 804 h 955"/>
                <a:gd name="T102" fmla="*/ 1035 w 1149"/>
                <a:gd name="T103" fmla="*/ 442 h 955"/>
                <a:gd name="T104" fmla="*/ 1090 w 1149"/>
                <a:gd name="T105" fmla="*/ 313 h 955"/>
                <a:gd name="T106" fmla="*/ 1130 w 1149"/>
                <a:gd name="T107" fmla="*/ 172 h 955"/>
                <a:gd name="T108" fmla="*/ 864 w 1149"/>
                <a:gd name="T109" fmla="*/ 42 h 955"/>
                <a:gd name="T110" fmla="*/ 685 w 1149"/>
                <a:gd name="T111" fmla="*/ 43 h 955"/>
                <a:gd name="T112" fmla="*/ 333 w 1149"/>
                <a:gd name="T113" fmla="*/ 247 h 955"/>
                <a:gd name="T114" fmla="*/ 358 w 1149"/>
                <a:gd name="T115" fmla="*/ 338 h 955"/>
                <a:gd name="T116" fmla="*/ 609 w 1149"/>
                <a:gd name="T117" fmla="*/ 222 h 955"/>
                <a:gd name="T118" fmla="*/ 713 w 1149"/>
                <a:gd name="T119" fmla="*/ 240 h 955"/>
                <a:gd name="T120" fmla="*/ 797 w 1149"/>
                <a:gd name="T121" fmla="*/ 256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49" h="955">
                  <a:moveTo>
                    <a:pt x="748" y="284"/>
                  </a:moveTo>
                  <a:lnTo>
                    <a:pt x="748" y="284"/>
                  </a:lnTo>
                  <a:lnTo>
                    <a:pt x="852" y="378"/>
                  </a:lnTo>
                  <a:lnTo>
                    <a:pt x="903" y="424"/>
                  </a:lnTo>
                  <a:lnTo>
                    <a:pt x="954" y="473"/>
                  </a:lnTo>
                  <a:lnTo>
                    <a:pt x="954" y="473"/>
                  </a:lnTo>
                  <a:lnTo>
                    <a:pt x="961" y="478"/>
                  </a:lnTo>
                  <a:lnTo>
                    <a:pt x="968" y="484"/>
                  </a:lnTo>
                  <a:lnTo>
                    <a:pt x="1006" y="518"/>
                  </a:lnTo>
                  <a:lnTo>
                    <a:pt x="1028" y="541"/>
                  </a:lnTo>
                  <a:lnTo>
                    <a:pt x="1028" y="541"/>
                  </a:lnTo>
                  <a:lnTo>
                    <a:pt x="1037" y="552"/>
                  </a:lnTo>
                  <a:lnTo>
                    <a:pt x="1044" y="562"/>
                  </a:lnTo>
                  <a:lnTo>
                    <a:pt x="1050" y="573"/>
                  </a:lnTo>
                  <a:lnTo>
                    <a:pt x="1054" y="585"/>
                  </a:lnTo>
                  <a:lnTo>
                    <a:pt x="1057" y="596"/>
                  </a:lnTo>
                  <a:lnTo>
                    <a:pt x="1057" y="607"/>
                  </a:lnTo>
                  <a:lnTo>
                    <a:pt x="1057" y="618"/>
                  </a:lnTo>
                  <a:lnTo>
                    <a:pt x="1056" y="630"/>
                  </a:lnTo>
                  <a:lnTo>
                    <a:pt x="1054" y="641"/>
                  </a:lnTo>
                  <a:lnTo>
                    <a:pt x="1049" y="651"/>
                  </a:lnTo>
                  <a:lnTo>
                    <a:pt x="1044" y="661"/>
                  </a:lnTo>
                  <a:lnTo>
                    <a:pt x="1038" y="671"/>
                  </a:lnTo>
                  <a:lnTo>
                    <a:pt x="1030" y="679"/>
                  </a:lnTo>
                  <a:lnTo>
                    <a:pt x="1022" y="686"/>
                  </a:lnTo>
                  <a:lnTo>
                    <a:pt x="1013" y="692"/>
                  </a:lnTo>
                  <a:lnTo>
                    <a:pt x="1003" y="697"/>
                  </a:lnTo>
                  <a:lnTo>
                    <a:pt x="1003" y="697"/>
                  </a:lnTo>
                  <a:lnTo>
                    <a:pt x="1006" y="709"/>
                  </a:lnTo>
                  <a:lnTo>
                    <a:pt x="1009" y="720"/>
                  </a:lnTo>
                  <a:lnTo>
                    <a:pt x="1009" y="731"/>
                  </a:lnTo>
                  <a:lnTo>
                    <a:pt x="1008" y="742"/>
                  </a:lnTo>
                  <a:lnTo>
                    <a:pt x="1005" y="753"/>
                  </a:lnTo>
                  <a:lnTo>
                    <a:pt x="1002" y="762"/>
                  </a:lnTo>
                  <a:lnTo>
                    <a:pt x="997" y="772"/>
                  </a:lnTo>
                  <a:lnTo>
                    <a:pt x="991" y="780"/>
                  </a:lnTo>
                  <a:lnTo>
                    <a:pt x="984" y="787"/>
                  </a:lnTo>
                  <a:lnTo>
                    <a:pt x="977" y="794"/>
                  </a:lnTo>
                  <a:lnTo>
                    <a:pt x="967" y="800"/>
                  </a:lnTo>
                  <a:lnTo>
                    <a:pt x="958" y="806"/>
                  </a:lnTo>
                  <a:lnTo>
                    <a:pt x="948" y="810"/>
                  </a:lnTo>
                  <a:lnTo>
                    <a:pt x="937" y="812"/>
                  </a:lnTo>
                  <a:lnTo>
                    <a:pt x="927" y="813"/>
                  </a:lnTo>
                  <a:lnTo>
                    <a:pt x="915" y="813"/>
                  </a:lnTo>
                  <a:lnTo>
                    <a:pt x="915" y="813"/>
                  </a:lnTo>
                  <a:lnTo>
                    <a:pt x="914" y="823"/>
                  </a:lnTo>
                  <a:lnTo>
                    <a:pt x="911" y="832"/>
                  </a:lnTo>
                  <a:lnTo>
                    <a:pt x="908" y="841"/>
                  </a:lnTo>
                  <a:lnTo>
                    <a:pt x="903" y="849"/>
                  </a:lnTo>
                  <a:lnTo>
                    <a:pt x="898" y="856"/>
                  </a:lnTo>
                  <a:lnTo>
                    <a:pt x="892" y="862"/>
                  </a:lnTo>
                  <a:lnTo>
                    <a:pt x="885" y="869"/>
                  </a:lnTo>
                  <a:lnTo>
                    <a:pt x="878" y="874"/>
                  </a:lnTo>
                  <a:lnTo>
                    <a:pt x="871" y="879"/>
                  </a:lnTo>
                  <a:lnTo>
                    <a:pt x="862" y="882"/>
                  </a:lnTo>
                  <a:lnTo>
                    <a:pt x="854" y="886"/>
                  </a:lnTo>
                  <a:lnTo>
                    <a:pt x="846" y="888"/>
                  </a:lnTo>
                  <a:lnTo>
                    <a:pt x="836" y="889"/>
                  </a:lnTo>
                  <a:lnTo>
                    <a:pt x="827" y="889"/>
                  </a:lnTo>
                  <a:lnTo>
                    <a:pt x="817" y="888"/>
                  </a:lnTo>
                  <a:lnTo>
                    <a:pt x="808" y="887"/>
                  </a:lnTo>
                  <a:lnTo>
                    <a:pt x="808" y="887"/>
                  </a:lnTo>
                  <a:lnTo>
                    <a:pt x="804" y="898"/>
                  </a:lnTo>
                  <a:lnTo>
                    <a:pt x="799" y="908"/>
                  </a:lnTo>
                  <a:lnTo>
                    <a:pt x="793" y="918"/>
                  </a:lnTo>
                  <a:lnTo>
                    <a:pt x="786" y="926"/>
                  </a:lnTo>
                  <a:lnTo>
                    <a:pt x="778" y="934"/>
                  </a:lnTo>
                  <a:lnTo>
                    <a:pt x="770" y="940"/>
                  </a:lnTo>
                  <a:lnTo>
                    <a:pt x="760" y="945"/>
                  </a:lnTo>
                  <a:lnTo>
                    <a:pt x="750" y="950"/>
                  </a:lnTo>
                  <a:lnTo>
                    <a:pt x="739" y="952"/>
                  </a:lnTo>
                  <a:lnTo>
                    <a:pt x="728" y="955"/>
                  </a:lnTo>
                  <a:lnTo>
                    <a:pt x="716" y="955"/>
                  </a:lnTo>
                  <a:lnTo>
                    <a:pt x="704" y="953"/>
                  </a:lnTo>
                  <a:lnTo>
                    <a:pt x="692" y="952"/>
                  </a:lnTo>
                  <a:lnTo>
                    <a:pt x="681" y="949"/>
                  </a:lnTo>
                  <a:lnTo>
                    <a:pt x="670" y="944"/>
                  </a:lnTo>
                  <a:lnTo>
                    <a:pt x="658" y="938"/>
                  </a:lnTo>
                  <a:lnTo>
                    <a:pt x="650" y="932"/>
                  </a:lnTo>
                  <a:lnTo>
                    <a:pt x="650" y="932"/>
                  </a:lnTo>
                  <a:lnTo>
                    <a:pt x="658" y="920"/>
                  </a:lnTo>
                  <a:lnTo>
                    <a:pt x="664" y="907"/>
                  </a:lnTo>
                  <a:lnTo>
                    <a:pt x="669" y="894"/>
                  </a:lnTo>
                  <a:lnTo>
                    <a:pt x="672" y="880"/>
                  </a:lnTo>
                  <a:lnTo>
                    <a:pt x="672" y="880"/>
                  </a:lnTo>
                  <a:lnTo>
                    <a:pt x="684" y="887"/>
                  </a:lnTo>
                  <a:lnTo>
                    <a:pt x="696" y="893"/>
                  </a:lnTo>
                  <a:lnTo>
                    <a:pt x="702" y="895"/>
                  </a:lnTo>
                  <a:lnTo>
                    <a:pt x="708" y="896"/>
                  </a:lnTo>
                  <a:lnTo>
                    <a:pt x="714" y="898"/>
                  </a:lnTo>
                  <a:lnTo>
                    <a:pt x="721" y="898"/>
                  </a:lnTo>
                  <a:lnTo>
                    <a:pt x="721" y="898"/>
                  </a:lnTo>
                  <a:lnTo>
                    <a:pt x="732" y="895"/>
                  </a:lnTo>
                  <a:lnTo>
                    <a:pt x="740" y="892"/>
                  </a:lnTo>
                  <a:lnTo>
                    <a:pt x="744" y="888"/>
                  </a:lnTo>
                  <a:lnTo>
                    <a:pt x="747" y="885"/>
                  </a:lnTo>
                  <a:lnTo>
                    <a:pt x="750" y="881"/>
                  </a:lnTo>
                  <a:lnTo>
                    <a:pt x="752" y="876"/>
                  </a:lnTo>
                  <a:lnTo>
                    <a:pt x="752" y="876"/>
                  </a:lnTo>
                  <a:lnTo>
                    <a:pt x="753" y="867"/>
                  </a:lnTo>
                  <a:lnTo>
                    <a:pt x="751" y="855"/>
                  </a:lnTo>
                  <a:lnTo>
                    <a:pt x="677" y="795"/>
                  </a:lnTo>
                  <a:lnTo>
                    <a:pt x="677" y="795"/>
                  </a:lnTo>
                  <a:lnTo>
                    <a:pt x="673" y="792"/>
                  </a:lnTo>
                  <a:lnTo>
                    <a:pt x="670" y="787"/>
                  </a:lnTo>
                  <a:lnTo>
                    <a:pt x="667" y="782"/>
                  </a:lnTo>
                  <a:lnTo>
                    <a:pt x="666" y="776"/>
                  </a:lnTo>
                  <a:lnTo>
                    <a:pt x="666" y="772"/>
                  </a:lnTo>
                  <a:lnTo>
                    <a:pt x="667" y="766"/>
                  </a:lnTo>
                  <a:lnTo>
                    <a:pt x="670" y="761"/>
                  </a:lnTo>
                  <a:lnTo>
                    <a:pt x="672" y="756"/>
                  </a:lnTo>
                  <a:lnTo>
                    <a:pt x="672" y="756"/>
                  </a:lnTo>
                  <a:lnTo>
                    <a:pt x="677" y="751"/>
                  </a:lnTo>
                  <a:lnTo>
                    <a:pt x="682" y="749"/>
                  </a:lnTo>
                  <a:lnTo>
                    <a:pt x="686" y="747"/>
                  </a:lnTo>
                  <a:lnTo>
                    <a:pt x="691" y="745"/>
                  </a:lnTo>
                  <a:lnTo>
                    <a:pt x="697" y="745"/>
                  </a:lnTo>
                  <a:lnTo>
                    <a:pt x="702" y="747"/>
                  </a:lnTo>
                  <a:lnTo>
                    <a:pt x="708" y="748"/>
                  </a:lnTo>
                  <a:lnTo>
                    <a:pt x="713" y="751"/>
                  </a:lnTo>
                  <a:lnTo>
                    <a:pt x="793" y="816"/>
                  </a:lnTo>
                  <a:lnTo>
                    <a:pt x="793" y="816"/>
                  </a:lnTo>
                  <a:lnTo>
                    <a:pt x="801" y="821"/>
                  </a:lnTo>
                  <a:lnTo>
                    <a:pt x="808" y="826"/>
                  </a:lnTo>
                  <a:lnTo>
                    <a:pt x="816" y="830"/>
                  </a:lnTo>
                  <a:lnTo>
                    <a:pt x="823" y="831"/>
                  </a:lnTo>
                  <a:lnTo>
                    <a:pt x="829" y="832"/>
                  </a:lnTo>
                  <a:lnTo>
                    <a:pt x="836" y="831"/>
                  </a:lnTo>
                  <a:lnTo>
                    <a:pt x="843" y="829"/>
                  </a:lnTo>
                  <a:lnTo>
                    <a:pt x="849" y="825"/>
                  </a:lnTo>
                  <a:lnTo>
                    <a:pt x="849" y="825"/>
                  </a:lnTo>
                  <a:lnTo>
                    <a:pt x="854" y="819"/>
                  </a:lnTo>
                  <a:lnTo>
                    <a:pt x="858" y="813"/>
                  </a:lnTo>
                  <a:lnTo>
                    <a:pt x="858" y="813"/>
                  </a:lnTo>
                  <a:lnTo>
                    <a:pt x="859" y="806"/>
                  </a:lnTo>
                  <a:lnTo>
                    <a:pt x="860" y="799"/>
                  </a:lnTo>
                  <a:lnTo>
                    <a:pt x="860" y="795"/>
                  </a:lnTo>
                  <a:lnTo>
                    <a:pt x="859" y="792"/>
                  </a:lnTo>
                  <a:lnTo>
                    <a:pt x="857" y="789"/>
                  </a:lnTo>
                  <a:lnTo>
                    <a:pt x="854" y="786"/>
                  </a:lnTo>
                  <a:lnTo>
                    <a:pt x="758" y="711"/>
                  </a:lnTo>
                  <a:lnTo>
                    <a:pt x="758" y="711"/>
                  </a:lnTo>
                  <a:lnTo>
                    <a:pt x="754" y="707"/>
                  </a:lnTo>
                  <a:lnTo>
                    <a:pt x="751" y="703"/>
                  </a:lnTo>
                  <a:lnTo>
                    <a:pt x="748" y="698"/>
                  </a:lnTo>
                  <a:lnTo>
                    <a:pt x="747" y="692"/>
                  </a:lnTo>
                  <a:lnTo>
                    <a:pt x="747" y="687"/>
                  </a:lnTo>
                  <a:lnTo>
                    <a:pt x="748" y="681"/>
                  </a:lnTo>
                  <a:lnTo>
                    <a:pt x="751" y="676"/>
                  </a:lnTo>
                  <a:lnTo>
                    <a:pt x="753" y="672"/>
                  </a:lnTo>
                  <a:lnTo>
                    <a:pt x="753" y="672"/>
                  </a:lnTo>
                  <a:lnTo>
                    <a:pt x="758" y="667"/>
                  </a:lnTo>
                  <a:lnTo>
                    <a:pt x="763" y="665"/>
                  </a:lnTo>
                  <a:lnTo>
                    <a:pt x="767" y="662"/>
                  </a:lnTo>
                  <a:lnTo>
                    <a:pt x="772" y="661"/>
                  </a:lnTo>
                  <a:lnTo>
                    <a:pt x="778" y="661"/>
                  </a:lnTo>
                  <a:lnTo>
                    <a:pt x="783" y="661"/>
                  </a:lnTo>
                  <a:lnTo>
                    <a:pt x="789" y="663"/>
                  </a:lnTo>
                  <a:lnTo>
                    <a:pt x="793" y="667"/>
                  </a:lnTo>
                  <a:lnTo>
                    <a:pt x="893" y="745"/>
                  </a:lnTo>
                  <a:lnTo>
                    <a:pt x="893" y="745"/>
                  </a:lnTo>
                  <a:lnTo>
                    <a:pt x="896" y="747"/>
                  </a:lnTo>
                  <a:lnTo>
                    <a:pt x="896" y="747"/>
                  </a:lnTo>
                  <a:lnTo>
                    <a:pt x="902" y="751"/>
                  </a:lnTo>
                  <a:lnTo>
                    <a:pt x="909" y="755"/>
                  </a:lnTo>
                  <a:lnTo>
                    <a:pt x="916" y="756"/>
                  </a:lnTo>
                  <a:lnTo>
                    <a:pt x="922" y="757"/>
                  </a:lnTo>
                  <a:lnTo>
                    <a:pt x="929" y="756"/>
                  </a:lnTo>
                  <a:lnTo>
                    <a:pt x="935" y="754"/>
                  </a:lnTo>
                  <a:lnTo>
                    <a:pt x="940" y="750"/>
                  </a:lnTo>
                  <a:lnTo>
                    <a:pt x="944" y="747"/>
                  </a:lnTo>
                  <a:lnTo>
                    <a:pt x="948" y="741"/>
                  </a:lnTo>
                  <a:lnTo>
                    <a:pt x="950" y="735"/>
                  </a:lnTo>
                  <a:lnTo>
                    <a:pt x="952" y="729"/>
                  </a:lnTo>
                  <a:lnTo>
                    <a:pt x="950" y="722"/>
                  </a:lnTo>
                  <a:lnTo>
                    <a:pt x="948" y="714"/>
                  </a:lnTo>
                  <a:lnTo>
                    <a:pt x="944" y="706"/>
                  </a:lnTo>
                  <a:lnTo>
                    <a:pt x="937" y="699"/>
                  </a:lnTo>
                  <a:lnTo>
                    <a:pt x="929" y="691"/>
                  </a:lnTo>
                  <a:lnTo>
                    <a:pt x="823" y="611"/>
                  </a:lnTo>
                  <a:lnTo>
                    <a:pt x="823" y="611"/>
                  </a:lnTo>
                  <a:lnTo>
                    <a:pt x="818" y="607"/>
                  </a:lnTo>
                  <a:lnTo>
                    <a:pt x="816" y="603"/>
                  </a:lnTo>
                  <a:lnTo>
                    <a:pt x="814" y="598"/>
                  </a:lnTo>
                  <a:lnTo>
                    <a:pt x="813" y="592"/>
                  </a:lnTo>
                  <a:lnTo>
                    <a:pt x="813" y="587"/>
                  </a:lnTo>
                  <a:lnTo>
                    <a:pt x="813" y="581"/>
                  </a:lnTo>
                  <a:lnTo>
                    <a:pt x="815" y="577"/>
                  </a:lnTo>
                  <a:lnTo>
                    <a:pt x="817" y="572"/>
                  </a:lnTo>
                  <a:lnTo>
                    <a:pt x="817" y="572"/>
                  </a:lnTo>
                  <a:lnTo>
                    <a:pt x="822" y="567"/>
                  </a:lnTo>
                  <a:lnTo>
                    <a:pt x="826" y="564"/>
                  </a:lnTo>
                  <a:lnTo>
                    <a:pt x="832" y="561"/>
                  </a:lnTo>
                  <a:lnTo>
                    <a:pt x="836" y="560"/>
                  </a:lnTo>
                  <a:lnTo>
                    <a:pt x="842" y="560"/>
                  </a:lnTo>
                  <a:lnTo>
                    <a:pt x="847" y="561"/>
                  </a:lnTo>
                  <a:lnTo>
                    <a:pt x="853" y="562"/>
                  </a:lnTo>
                  <a:lnTo>
                    <a:pt x="858" y="566"/>
                  </a:lnTo>
                  <a:lnTo>
                    <a:pt x="962" y="644"/>
                  </a:lnTo>
                  <a:lnTo>
                    <a:pt x="962" y="644"/>
                  </a:lnTo>
                  <a:lnTo>
                    <a:pt x="967" y="647"/>
                  </a:lnTo>
                  <a:lnTo>
                    <a:pt x="971" y="647"/>
                  </a:lnTo>
                  <a:lnTo>
                    <a:pt x="975" y="647"/>
                  </a:lnTo>
                  <a:lnTo>
                    <a:pt x="979" y="646"/>
                  </a:lnTo>
                  <a:lnTo>
                    <a:pt x="984" y="643"/>
                  </a:lnTo>
                  <a:lnTo>
                    <a:pt x="987" y="641"/>
                  </a:lnTo>
                  <a:lnTo>
                    <a:pt x="994" y="634"/>
                  </a:lnTo>
                  <a:lnTo>
                    <a:pt x="994" y="634"/>
                  </a:lnTo>
                  <a:lnTo>
                    <a:pt x="998" y="628"/>
                  </a:lnTo>
                  <a:lnTo>
                    <a:pt x="1000" y="621"/>
                  </a:lnTo>
                  <a:lnTo>
                    <a:pt x="1002" y="615"/>
                  </a:lnTo>
                  <a:lnTo>
                    <a:pt x="1002" y="607"/>
                  </a:lnTo>
                  <a:lnTo>
                    <a:pt x="999" y="600"/>
                  </a:lnTo>
                  <a:lnTo>
                    <a:pt x="997" y="593"/>
                  </a:lnTo>
                  <a:lnTo>
                    <a:pt x="993" y="587"/>
                  </a:lnTo>
                  <a:lnTo>
                    <a:pt x="987" y="581"/>
                  </a:lnTo>
                  <a:lnTo>
                    <a:pt x="966" y="559"/>
                  </a:lnTo>
                  <a:lnTo>
                    <a:pt x="685" y="303"/>
                  </a:lnTo>
                  <a:lnTo>
                    <a:pt x="685" y="303"/>
                  </a:lnTo>
                  <a:lnTo>
                    <a:pt x="683" y="301"/>
                  </a:lnTo>
                  <a:lnTo>
                    <a:pt x="683" y="298"/>
                  </a:lnTo>
                  <a:lnTo>
                    <a:pt x="682" y="296"/>
                  </a:lnTo>
                  <a:lnTo>
                    <a:pt x="683" y="292"/>
                  </a:lnTo>
                  <a:lnTo>
                    <a:pt x="684" y="290"/>
                  </a:lnTo>
                  <a:lnTo>
                    <a:pt x="686" y="289"/>
                  </a:lnTo>
                  <a:lnTo>
                    <a:pt x="689" y="288"/>
                  </a:lnTo>
                  <a:lnTo>
                    <a:pt x="692" y="288"/>
                  </a:lnTo>
                  <a:lnTo>
                    <a:pt x="692" y="288"/>
                  </a:lnTo>
                  <a:lnTo>
                    <a:pt x="706" y="288"/>
                  </a:lnTo>
                  <a:lnTo>
                    <a:pt x="719" y="286"/>
                  </a:lnTo>
                  <a:lnTo>
                    <a:pt x="730" y="285"/>
                  </a:lnTo>
                  <a:lnTo>
                    <a:pt x="744" y="284"/>
                  </a:lnTo>
                  <a:lnTo>
                    <a:pt x="744" y="284"/>
                  </a:lnTo>
                  <a:lnTo>
                    <a:pt x="748" y="284"/>
                  </a:lnTo>
                  <a:lnTo>
                    <a:pt x="748" y="284"/>
                  </a:lnTo>
                  <a:close/>
                  <a:moveTo>
                    <a:pt x="129" y="522"/>
                  </a:moveTo>
                  <a:lnTo>
                    <a:pt x="129" y="522"/>
                  </a:lnTo>
                  <a:lnTo>
                    <a:pt x="119" y="506"/>
                  </a:lnTo>
                  <a:lnTo>
                    <a:pt x="112" y="491"/>
                  </a:lnTo>
                  <a:lnTo>
                    <a:pt x="106" y="474"/>
                  </a:lnTo>
                  <a:lnTo>
                    <a:pt x="102" y="457"/>
                  </a:lnTo>
                  <a:lnTo>
                    <a:pt x="97" y="439"/>
                  </a:lnTo>
                  <a:lnTo>
                    <a:pt x="94" y="421"/>
                  </a:lnTo>
                  <a:lnTo>
                    <a:pt x="90" y="383"/>
                  </a:lnTo>
                  <a:lnTo>
                    <a:pt x="54" y="350"/>
                  </a:lnTo>
                  <a:lnTo>
                    <a:pt x="54" y="350"/>
                  </a:lnTo>
                  <a:lnTo>
                    <a:pt x="34" y="328"/>
                  </a:lnTo>
                  <a:lnTo>
                    <a:pt x="24" y="317"/>
                  </a:lnTo>
                  <a:lnTo>
                    <a:pt x="17" y="307"/>
                  </a:lnTo>
                  <a:lnTo>
                    <a:pt x="10" y="296"/>
                  </a:lnTo>
                  <a:lnTo>
                    <a:pt x="5" y="283"/>
                  </a:lnTo>
                  <a:lnTo>
                    <a:pt x="2" y="270"/>
                  </a:lnTo>
                  <a:lnTo>
                    <a:pt x="0" y="254"/>
                  </a:lnTo>
                  <a:lnTo>
                    <a:pt x="0" y="254"/>
                  </a:lnTo>
                  <a:lnTo>
                    <a:pt x="2" y="246"/>
                  </a:lnTo>
                  <a:lnTo>
                    <a:pt x="3" y="238"/>
                  </a:lnTo>
                  <a:lnTo>
                    <a:pt x="4" y="229"/>
                  </a:lnTo>
                  <a:lnTo>
                    <a:pt x="8" y="222"/>
                  </a:lnTo>
                  <a:lnTo>
                    <a:pt x="11" y="214"/>
                  </a:lnTo>
                  <a:lnTo>
                    <a:pt x="15" y="207"/>
                  </a:lnTo>
                  <a:lnTo>
                    <a:pt x="19" y="200"/>
                  </a:lnTo>
                  <a:lnTo>
                    <a:pt x="25" y="193"/>
                  </a:lnTo>
                  <a:lnTo>
                    <a:pt x="174" y="32"/>
                  </a:lnTo>
                  <a:lnTo>
                    <a:pt x="174" y="32"/>
                  </a:lnTo>
                  <a:lnTo>
                    <a:pt x="180" y="25"/>
                  </a:lnTo>
                  <a:lnTo>
                    <a:pt x="187" y="20"/>
                  </a:lnTo>
                  <a:lnTo>
                    <a:pt x="194" y="15"/>
                  </a:lnTo>
                  <a:lnTo>
                    <a:pt x="203" y="11"/>
                  </a:lnTo>
                  <a:lnTo>
                    <a:pt x="210" y="7"/>
                  </a:lnTo>
                  <a:lnTo>
                    <a:pt x="218" y="5"/>
                  </a:lnTo>
                  <a:lnTo>
                    <a:pt x="226" y="2"/>
                  </a:lnTo>
                  <a:lnTo>
                    <a:pt x="235" y="1"/>
                  </a:lnTo>
                  <a:lnTo>
                    <a:pt x="243" y="1"/>
                  </a:lnTo>
                  <a:lnTo>
                    <a:pt x="251" y="1"/>
                  </a:lnTo>
                  <a:lnTo>
                    <a:pt x="260" y="2"/>
                  </a:lnTo>
                  <a:lnTo>
                    <a:pt x="268" y="5"/>
                  </a:lnTo>
                  <a:lnTo>
                    <a:pt x="276" y="7"/>
                  </a:lnTo>
                  <a:lnTo>
                    <a:pt x="285" y="11"/>
                  </a:lnTo>
                  <a:lnTo>
                    <a:pt x="292" y="15"/>
                  </a:lnTo>
                  <a:lnTo>
                    <a:pt x="299" y="20"/>
                  </a:lnTo>
                  <a:lnTo>
                    <a:pt x="299" y="20"/>
                  </a:lnTo>
                  <a:lnTo>
                    <a:pt x="314" y="32"/>
                  </a:lnTo>
                  <a:lnTo>
                    <a:pt x="329" y="42"/>
                  </a:lnTo>
                  <a:lnTo>
                    <a:pt x="343" y="51"/>
                  </a:lnTo>
                  <a:lnTo>
                    <a:pt x="362" y="59"/>
                  </a:lnTo>
                  <a:lnTo>
                    <a:pt x="362" y="59"/>
                  </a:lnTo>
                  <a:lnTo>
                    <a:pt x="375" y="64"/>
                  </a:lnTo>
                  <a:lnTo>
                    <a:pt x="382" y="65"/>
                  </a:lnTo>
                  <a:lnTo>
                    <a:pt x="382" y="65"/>
                  </a:lnTo>
                  <a:lnTo>
                    <a:pt x="399" y="62"/>
                  </a:lnTo>
                  <a:lnTo>
                    <a:pt x="415" y="58"/>
                  </a:lnTo>
                  <a:lnTo>
                    <a:pt x="451" y="50"/>
                  </a:lnTo>
                  <a:lnTo>
                    <a:pt x="469" y="46"/>
                  </a:lnTo>
                  <a:lnTo>
                    <a:pt x="488" y="43"/>
                  </a:lnTo>
                  <a:lnTo>
                    <a:pt x="506" y="40"/>
                  </a:lnTo>
                  <a:lnTo>
                    <a:pt x="525" y="40"/>
                  </a:lnTo>
                  <a:lnTo>
                    <a:pt x="525" y="40"/>
                  </a:lnTo>
                  <a:lnTo>
                    <a:pt x="501" y="57"/>
                  </a:lnTo>
                  <a:lnTo>
                    <a:pt x="469" y="82"/>
                  </a:lnTo>
                  <a:lnTo>
                    <a:pt x="426" y="114"/>
                  </a:lnTo>
                  <a:lnTo>
                    <a:pt x="426" y="114"/>
                  </a:lnTo>
                  <a:lnTo>
                    <a:pt x="407" y="119"/>
                  </a:lnTo>
                  <a:lnTo>
                    <a:pt x="389" y="121"/>
                  </a:lnTo>
                  <a:lnTo>
                    <a:pt x="389" y="121"/>
                  </a:lnTo>
                  <a:lnTo>
                    <a:pt x="379" y="121"/>
                  </a:lnTo>
                  <a:lnTo>
                    <a:pt x="365" y="120"/>
                  </a:lnTo>
                  <a:lnTo>
                    <a:pt x="352" y="116"/>
                  </a:lnTo>
                  <a:lnTo>
                    <a:pt x="338" y="112"/>
                  </a:lnTo>
                  <a:lnTo>
                    <a:pt x="325" y="106"/>
                  </a:lnTo>
                  <a:lnTo>
                    <a:pt x="313" y="100"/>
                  </a:lnTo>
                  <a:lnTo>
                    <a:pt x="302" y="93"/>
                  </a:lnTo>
                  <a:lnTo>
                    <a:pt x="293" y="88"/>
                  </a:lnTo>
                  <a:lnTo>
                    <a:pt x="264" y="65"/>
                  </a:lnTo>
                  <a:lnTo>
                    <a:pt x="264" y="65"/>
                  </a:lnTo>
                  <a:lnTo>
                    <a:pt x="258" y="62"/>
                  </a:lnTo>
                  <a:lnTo>
                    <a:pt x="253" y="59"/>
                  </a:lnTo>
                  <a:lnTo>
                    <a:pt x="247" y="58"/>
                  </a:lnTo>
                  <a:lnTo>
                    <a:pt x="239" y="58"/>
                  </a:lnTo>
                  <a:lnTo>
                    <a:pt x="233" y="59"/>
                  </a:lnTo>
                  <a:lnTo>
                    <a:pt x="228" y="62"/>
                  </a:lnTo>
                  <a:lnTo>
                    <a:pt x="222" y="65"/>
                  </a:lnTo>
                  <a:lnTo>
                    <a:pt x="216" y="70"/>
                  </a:lnTo>
                  <a:lnTo>
                    <a:pt x="67" y="231"/>
                  </a:lnTo>
                  <a:lnTo>
                    <a:pt x="67" y="231"/>
                  </a:lnTo>
                  <a:lnTo>
                    <a:pt x="63" y="237"/>
                  </a:lnTo>
                  <a:lnTo>
                    <a:pt x="60" y="243"/>
                  </a:lnTo>
                  <a:lnTo>
                    <a:pt x="59" y="248"/>
                  </a:lnTo>
                  <a:lnTo>
                    <a:pt x="58" y="256"/>
                  </a:lnTo>
                  <a:lnTo>
                    <a:pt x="59" y="262"/>
                  </a:lnTo>
                  <a:lnTo>
                    <a:pt x="60" y="267"/>
                  </a:lnTo>
                  <a:lnTo>
                    <a:pt x="63" y="273"/>
                  </a:lnTo>
                  <a:lnTo>
                    <a:pt x="67" y="279"/>
                  </a:lnTo>
                  <a:lnTo>
                    <a:pt x="67" y="279"/>
                  </a:lnTo>
                  <a:lnTo>
                    <a:pt x="85" y="300"/>
                  </a:lnTo>
                  <a:lnTo>
                    <a:pt x="105" y="320"/>
                  </a:lnTo>
                  <a:lnTo>
                    <a:pt x="105" y="320"/>
                  </a:lnTo>
                  <a:lnTo>
                    <a:pt x="117" y="332"/>
                  </a:lnTo>
                  <a:lnTo>
                    <a:pt x="130" y="346"/>
                  </a:lnTo>
                  <a:lnTo>
                    <a:pt x="136" y="353"/>
                  </a:lnTo>
                  <a:lnTo>
                    <a:pt x="140" y="360"/>
                  </a:lnTo>
                  <a:lnTo>
                    <a:pt x="143" y="367"/>
                  </a:lnTo>
                  <a:lnTo>
                    <a:pt x="146" y="374"/>
                  </a:lnTo>
                  <a:lnTo>
                    <a:pt x="146" y="374"/>
                  </a:lnTo>
                  <a:lnTo>
                    <a:pt x="149" y="403"/>
                  </a:lnTo>
                  <a:lnTo>
                    <a:pt x="154" y="433"/>
                  </a:lnTo>
                  <a:lnTo>
                    <a:pt x="157" y="448"/>
                  </a:lnTo>
                  <a:lnTo>
                    <a:pt x="161" y="461"/>
                  </a:lnTo>
                  <a:lnTo>
                    <a:pt x="167" y="474"/>
                  </a:lnTo>
                  <a:lnTo>
                    <a:pt x="173" y="485"/>
                  </a:lnTo>
                  <a:lnTo>
                    <a:pt x="173" y="485"/>
                  </a:lnTo>
                  <a:lnTo>
                    <a:pt x="160" y="492"/>
                  </a:lnTo>
                  <a:lnTo>
                    <a:pt x="149" y="500"/>
                  </a:lnTo>
                  <a:lnTo>
                    <a:pt x="140" y="510"/>
                  </a:lnTo>
                  <a:lnTo>
                    <a:pt x="129" y="522"/>
                  </a:lnTo>
                  <a:lnTo>
                    <a:pt x="129" y="522"/>
                  </a:lnTo>
                  <a:close/>
                  <a:moveTo>
                    <a:pt x="602" y="804"/>
                  </a:moveTo>
                  <a:lnTo>
                    <a:pt x="602" y="804"/>
                  </a:lnTo>
                  <a:lnTo>
                    <a:pt x="593" y="797"/>
                  </a:lnTo>
                  <a:lnTo>
                    <a:pt x="582" y="792"/>
                  </a:lnTo>
                  <a:lnTo>
                    <a:pt x="571" y="788"/>
                  </a:lnTo>
                  <a:lnTo>
                    <a:pt x="560" y="786"/>
                  </a:lnTo>
                  <a:lnTo>
                    <a:pt x="549" y="786"/>
                  </a:lnTo>
                  <a:lnTo>
                    <a:pt x="538" y="788"/>
                  </a:lnTo>
                  <a:lnTo>
                    <a:pt x="527" y="791"/>
                  </a:lnTo>
                  <a:lnTo>
                    <a:pt x="518" y="797"/>
                  </a:lnTo>
                  <a:lnTo>
                    <a:pt x="518" y="797"/>
                  </a:lnTo>
                  <a:lnTo>
                    <a:pt x="514" y="797"/>
                  </a:lnTo>
                  <a:lnTo>
                    <a:pt x="512" y="795"/>
                  </a:lnTo>
                  <a:lnTo>
                    <a:pt x="512" y="795"/>
                  </a:lnTo>
                  <a:lnTo>
                    <a:pt x="511" y="794"/>
                  </a:lnTo>
                  <a:lnTo>
                    <a:pt x="511" y="791"/>
                  </a:lnTo>
                  <a:lnTo>
                    <a:pt x="511" y="791"/>
                  </a:lnTo>
                  <a:lnTo>
                    <a:pt x="512" y="782"/>
                  </a:lnTo>
                  <a:lnTo>
                    <a:pt x="512" y="773"/>
                  </a:lnTo>
                  <a:lnTo>
                    <a:pt x="509" y="763"/>
                  </a:lnTo>
                  <a:lnTo>
                    <a:pt x="507" y="754"/>
                  </a:lnTo>
                  <a:lnTo>
                    <a:pt x="503" y="745"/>
                  </a:lnTo>
                  <a:lnTo>
                    <a:pt x="499" y="737"/>
                  </a:lnTo>
                  <a:lnTo>
                    <a:pt x="493" y="729"/>
                  </a:lnTo>
                  <a:lnTo>
                    <a:pt x="487" y="723"/>
                  </a:lnTo>
                  <a:lnTo>
                    <a:pt x="487" y="723"/>
                  </a:lnTo>
                  <a:lnTo>
                    <a:pt x="487" y="723"/>
                  </a:lnTo>
                  <a:lnTo>
                    <a:pt x="477" y="716"/>
                  </a:lnTo>
                  <a:lnTo>
                    <a:pt x="467" y="710"/>
                  </a:lnTo>
                  <a:lnTo>
                    <a:pt x="456" y="707"/>
                  </a:lnTo>
                  <a:lnTo>
                    <a:pt x="444" y="705"/>
                  </a:lnTo>
                  <a:lnTo>
                    <a:pt x="433" y="705"/>
                  </a:lnTo>
                  <a:lnTo>
                    <a:pt x="423" y="706"/>
                  </a:lnTo>
                  <a:lnTo>
                    <a:pt x="412" y="710"/>
                  </a:lnTo>
                  <a:lnTo>
                    <a:pt x="401" y="716"/>
                  </a:lnTo>
                  <a:lnTo>
                    <a:pt x="401" y="716"/>
                  </a:lnTo>
                  <a:lnTo>
                    <a:pt x="399" y="716"/>
                  </a:lnTo>
                  <a:lnTo>
                    <a:pt x="396" y="714"/>
                  </a:lnTo>
                  <a:lnTo>
                    <a:pt x="396" y="714"/>
                  </a:lnTo>
                  <a:lnTo>
                    <a:pt x="394" y="713"/>
                  </a:lnTo>
                  <a:lnTo>
                    <a:pt x="394" y="710"/>
                  </a:lnTo>
                  <a:lnTo>
                    <a:pt x="394" y="710"/>
                  </a:lnTo>
                  <a:lnTo>
                    <a:pt x="395" y="700"/>
                  </a:lnTo>
                  <a:lnTo>
                    <a:pt x="395" y="692"/>
                  </a:lnTo>
                  <a:lnTo>
                    <a:pt x="394" y="682"/>
                  </a:lnTo>
                  <a:lnTo>
                    <a:pt x="392" y="673"/>
                  </a:lnTo>
                  <a:lnTo>
                    <a:pt x="388" y="665"/>
                  </a:lnTo>
                  <a:lnTo>
                    <a:pt x="383" y="656"/>
                  </a:lnTo>
                  <a:lnTo>
                    <a:pt x="377" y="648"/>
                  </a:lnTo>
                  <a:lnTo>
                    <a:pt x="370" y="642"/>
                  </a:lnTo>
                  <a:lnTo>
                    <a:pt x="370" y="642"/>
                  </a:lnTo>
                  <a:lnTo>
                    <a:pt x="370" y="642"/>
                  </a:lnTo>
                  <a:lnTo>
                    <a:pt x="363" y="636"/>
                  </a:lnTo>
                  <a:lnTo>
                    <a:pt x="355" y="631"/>
                  </a:lnTo>
                  <a:lnTo>
                    <a:pt x="345" y="628"/>
                  </a:lnTo>
                  <a:lnTo>
                    <a:pt x="337" y="625"/>
                  </a:lnTo>
                  <a:lnTo>
                    <a:pt x="327" y="624"/>
                  </a:lnTo>
                  <a:lnTo>
                    <a:pt x="318" y="624"/>
                  </a:lnTo>
                  <a:lnTo>
                    <a:pt x="308" y="625"/>
                  </a:lnTo>
                  <a:lnTo>
                    <a:pt x="300" y="628"/>
                  </a:lnTo>
                  <a:lnTo>
                    <a:pt x="300" y="628"/>
                  </a:lnTo>
                  <a:lnTo>
                    <a:pt x="298" y="628"/>
                  </a:lnTo>
                  <a:lnTo>
                    <a:pt x="295" y="627"/>
                  </a:lnTo>
                  <a:lnTo>
                    <a:pt x="295" y="627"/>
                  </a:lnTo>
                  <a:lnTo>
                    <a:pt x="294" y="624"/>
                  </a:lnTo>
                  <a:lnTo>
                    <a:pt x="294" y="622"/>
                  </a:lnTo>
                  <a:lnTo>
                    <a:pt x="294" y="622"/>
                  </a:lnTo>
                  <a:lnTo>
                    <a:pt x="298" y="610"/>
                  </a:lnTo>
                  <a:lnTo>
                    <a:pt x="300" y="599"/>
                  </a:lnTo>
                  <a:lnTo>
                    <a:pt x="300" y="587"/>
                  </a:lnTo>
                  <a:lnTo>
                    <a:pt x="299" y="577"/>
                  </a:lnTo>
                  <a:lnTo>
                    <a:pt x="295" y="566"/>
                  </a:lnTo>
                  <a:lnTo>
                    <a:pt x="291" y="555"/>
                  </a:lnTo>
                  <a:lnTo>
                    <a:pt x="283" y="546"/>
                  </a:lnTo>
                  <a:lnTo>
                    <a:pt x="275" y="537"/>
                  </a:lnTo>
                  <a:lnTo>
                    <a:pt x="275" y="537"/>
                  </a:lnTo>
                  <a:lnTo>
                    <a:pt x="275" y="537"/>
                  </a:lnTo>
                  <a:lnTo>
                    <a:pt x="269" y="533"/>
                  </a:lnTo>
                  <a:lnTo>
                    <a:pt x="263" y="529"/>
                  </a:lnTo>
                  <a:lnTo>
                    <a:pt x="256" y="525"/>
                  </a:lnTo>
                  <a:lnTo>
                    <a:pt x="250" y="523"/>
                  </a:lnTo>
                  <a:lnTo>
                    <a:pt x="236" y="520"/>
                  </a:lnTo>
                  <a:lnTo>
                    <a:pt x="222" y="520"/>
                  </a:lnTo>
                  <a:lnTo>
                    <a:pt x="209" y="522"/>
                  </a:lnTo>
                  <a:lnTo>
                    <a:pt x="195" y="527"/>
                  </a:lnTo>
                  <a:lnTo>
                    <a:pt x="190" y="530"/>
                  </a:lnTo>
                  <a:lnTo>
                    <a:pt x="184" y="535"/>
                  </a:lnTo>
                  <a:lnTo>
                    <a:pt x="178" y="540"/>
                  </a:lnTo>
                  <a:lnTo>
                    <a:pt x="173" y="544"/>
                  </a:lnTo>
                  <a:lnTo>
                    <a:pt x="151" y="568"/>
                  </a:lnTo>
                  <a:lnTo>
                    <a:pt x="151" y="568"/>
                  </a:lnTo>
                  <a:lnTo>
                    <a:pt x="147" y="574"/>
                  </a:lnTo>
                  <a:lnTo>
                    <a:pt x="143" y="581"/>
                  </a:lnTo>
                  <a:lnTo>
                    <a:pt x="140" y="587"/>
                  </a:lnTo>
                  <a:lnTo>
                    <a:pt x="137" y="594"/>
                  </a:lnTo>
                  <a:lnTo>
                    <a:pt x="135" y="607"/>
                  </a:lnTo>
                  <a:lnTo>
                    <a:pt x="134" y="622"/>
                  </a:lnTo>
                  <a:lnTo>
                    <a:pt x="136" y="635"/>
                  </a:lnTo>
                  <a:lnTo>
                    <a:pt x="142" y="648"/>
                  </a:lnTo>
                  <a:lnTo>
                    <a:pt x="146" y="655"/>
                  </a:lnTo>
                  <a:lnTo>
                    <a:pt x="149" y="661"/>
                  </a:lnTo>
                  <a:lnTo>
                    <a:pt x="154" y="666"/>
                  </a:lnTo>
                  <a:lnTo>
                    <a:pt x="159" y="672"/>
                  </a:lnTo>
                  <a:lnTo>
                    <a:pt x="159" y="672"/>
                  </a:lnTo>
                  <a:lnTo>
                    <a:pt x="159" y="672"/>
                  </a:lnTo>
                  <a:lnTo>
                    <a:pt x="166" y="676"/>
                  </a:lnTo>
                  <a:lnTo>
                    <a:pt x="174" y="681"/>
                  </a:lnTo>
                  <a:lnTo>
                    <a:pt x="182" y="685"/>
                  </a:lnTo>
                  <a:lnTo>
                    <a:pt x="191" y="687"/>
                  </a:lnTo>
                  <a:lnTo>
                    <a:pt x="199" y="688"/>
                  </a:lnTo>
                  <a:lnTo>
                    <a:pt x="207" y="688"/>
                  </a:lnTo>
                  <a:lnTo>
                    <a:pt x="216" y="688"/>
                  </a:lnTo>
                  <a:lnTo>
                    <a:pt x="224" y="687"/>
                  </a:lnTo>
                  <a:lnTo>
                    <a:pt x="224" y="687"/>
                  </a:lnTo>
                  <a:lnTo>
                    <a:pt x="228" y="687"/>
                  </a:lnTo>
                  <a:lnTo>
                    <a:pt x="230" y="688"/>
                  </a:lnTo>
                  <a:lnTo>
                    <a:pt x="230" y="688"/>
                  </a:lnTo>
                  <a:lnTo>
                    <a:pt x="230" y="692"/>
                  </a:lnTo>
                  <a:lnTo>
                    <a:pt x="229" y="694"/>
                  </a:lnTo>
                  <a:lnTo>
                    <a:pt x="229" y="694"/>
                  </a:lnTo>
                  <a:lnTo>
                    <a:pt x="222" y="706"/>
                  </a:lnTo>
                  <a:lnTo>
                    <a:pt x="217" y="719"/>
                  </a:lnTo>
                  <a:lnTo>
                    <a:pt x="214" y="732"/>
                  </a:lnTo>
                  <a:lnTo>
                    <a:pt x="214" y="745"/>
                  </a:lnTo>
                  <a:lnTo>
                    <a:pt x="217" y="758"/>
                  </a:lnTo>
                  <a:lnTo>
                    <a:pt x="222" y="772"/>
                  </a:lnTo>
                  <a:lnTo>
                    <a:pt x="229" y="783"/>
                  </a:lnTo>
                  <a:lnTo>
                    <a:pt x="239" y="794"/>
                  </a:lnTo>
                  <a:lnTo>
                    <a:pt x="239" y="794"/>
                  </a:lnTo>
                  <a:lnTo>
                    <a:pt x="239" y="794"/>
                  </a:lnTo>
                  <a:lnTo>
                    <a:pt x="250" y="801"/>
                  </a:lnTo>
                  <a:lnTo>
                    <a:pt x="263" y="807"/>
                  </a:lnTo>
                  <a:lnTo>
                    <a:pt x="276" y="811"/>
                  </a:lnTo>
                  <a:lnTo>
                    <a:pt x="289" y="811"/>
                  </a:lnTo>
                  <a:lnTo>
                    <a:pt x="302" y="810"/>
                  </a:lnTo>
                  <a:lnTo>
                    <a:pt x="316" y="805"/>
                  </a:lnTo>
                  <a:lnTo>
                    <a:pt x="327" y="799"/>
                  </a:lnTo>
                  <a:lnTo>
                    <a:pt x="338" y="791"/>
                  </a:lnTo>
                  <a:lnTo>
                    <a:pt x="338" y="791"/>
                  </a:lnTo>
                  <a:lnTo>
                    <a:pt x="341" y="789"/>
                  </a:lnTo>
                  <a:lnTo>
                    <a:pt x="343" y="789"/>
                  </a:lnTo>
                  <a:lnTo>
                    <a:pt x="343" y="789"/>
                  </a:lnTo>
                  <a:lnTo>
                    <a:pt x="345" y="792"/>
                  </a:lnTo>
                  <a:lnTo>
                    <a:pt x="345" y="794"/>
                  </a:lnTo>
                  <a:lnTo>
                    <a:pt x="345" y="794"/>
                  </a:lnTo>
                  <a:lnTo>
                    <a:pt x="345" y="802"/>
                  </a:lnTo>
                  <a:lnTo>
                    <a:pt x="346" y="811"/>
                  </a:lnTo>
                  <a:lnTo>
                    <a:pt x="348" y="820"/>
                  </a:lnTo>
                  <a:lnTo>
                    <a:pt x="350" y="827"/>
                  </a:lnTo>
                  <a:lnTo>
                    <a:pt x="354" y="836"/>
                  </a:lnTo>
                  <a:lnTo>
                    <a:pt x="358" y="843"/>
                  </a:lnTo>
                  <a:lnTo>
                    <a:pt x="364" y="850"/>
                  </a:lnTo>
                  <a:lnTo>
                    <a:pt x="370" y="857"/>
                  </a:lnTo>
                  <a:lnTo>
                    <a:pt x="370" y="857"/>
                  </a:lnTo>
                  <a:lnTo>
                    <a:pt x="370" y="857"/>
                  </a:lnTo>
                  <a:lnTo>
                    <a:pt x="382" y="864"/>
                  </a:lnTo>
                  <a:lnTo>
                    <a:pt x="394" y="870"/>
                  </a:lnTo>
                  <a:lnTo>
                    <a:pt x="407" y="874"/>
                  </a:lnTo>
                  <a:lnTo>
                    <a:pt x="420" y="874"/>
                  </a:lnTo>
                  <a:lnTo>
                    <a:pt x="433" y="873"/>
                  </a:lnTo>
                  <a:lnTo>
                    <a:pt x="446" y="868"/>
                  </a:lnTo>
                  <a:lnTo>
                    <a:pt x="458" y="862"/>
                  </a:lnTo>
                  <a:lnTo>
                    <a:pt x="469" y="854"/>
                  </a:lnTo>
                  <a:lnTo>
                    <a:pt x="469" y="854"/>
                  </a:lnTo>
                  <a:lnTo>
                    <a:pt x="471" y="852"/>
                  </a:lnTo>
                  <a:lnTo>
                    <a:pt x="474" y="852"/>
                  </a:lnTo>
                  <a:lnTo>
                    <a:pt x="474" y="852"/>
                  </a:lnTo>
                  <a:lnTo>
                    <a:pt x="476" y="855"/>
                  </a:lnTo>
                  <a:lnTo>
                    <a:pt x="477" y="857"/>
                  </a:lnTo>
                  <a:lnTo>
                    <a:pt x="477" y="857"/>
                  </a:lnTo>
                  <a:lnTo>
                    <a:pt x="476" y="865"/>
                  </a:lnTo>
                  <a:lnTo>
                    <a:pt x="477" y="874"/>
                  </a:lnTo>
                  <a:lnTo>
                    <a:pt x="478" y="883"/>
                  </a:lnTo>
                  <a:lnTo>
                    <a:pt x="482" y="890"/>
                  </a:lnTo>
                  <a:lnTo>
                    <a:pt x="486" y="899"/>
                  </a:lnTo>
                  <a:lnTo>
                    <a:pt x="489" y="906"/>
                  </a:lnTo>
                  <a:lnTo>
                    <a:pt x="495" y="913"/>
                  </a:lnTo>
                  <a:lnTo>
                    <a:pt x="502" y="920"/>
                  </a:lnTo>
                  <a:lnTo>
                    <a:pt x="502" y="920"/>
                  </a:lnTo>
                  <a:lnTo>
                    <a:pt x="507" y="924"/>
                  </a:lnTo>
                  <a:lnTo>
                    <a:pt x="514" y="928"/>
                  </a:lnTo>
                  <a:lnTo>
                    <a:pt x="520" y="931"/>
                  </a:lnTo>
                  <a:lnTo>
                    <a:pt x="527" y="933"/>
                  </a:lnTo>
                  <a:lnTo>
                    <a:pt x="540" y="937"/>
                  </a:lnTo>
                  <a:lnTo>
                    <a:pt x="555" y="937"/>
                  </a:lnTo>
                  <a:lnTo>
                    <a:pt x="569" y="934"/>
                  </a:lnTo>
                  <a:lnTo>
                    <a:pt x="582" y="930"/>
                  </a:lnTo>
                  <a:lnTo>
                    <a:pt x="588" y="926"/>
                  </a:lnTo>
                  <a:lnTo>
                    <a:pt x="594" y="923"/>
                  </a:lnTo>
                  <a:lnTo>
                    <a:pt x="599" y="918"/>
                  </a:lnTo>
                  <a:lnTo>
                    <a:pt x="604" y="912"/>
                  </a:lnTo>
                  <a:lnTo>
                    <a:pt x="609" y="906"/>
                  </a:lnTo>
                  <a:lnTo>
                    <a:pt x="609" y="906"/>
                  </a:lnTo>
                  <a:lnTo>
                    <a:pt x="614" y="900"/>
                  </a:lnTo>
                  <a:lnTo>
                    <a:pt x="618" y="894"/>
                  </a:lnTo>
                  <a:lnTo>
                    <a:pt x="621" y="887"/>
                  </a:lnTo>
                  <a:lnTo>
                    <a:pt x="623" y="881"/>
                  </a:lnTo>
                  <a:lnTo>
                    <a:pt x="627" y="867"/>
                  </a:lnTo>
                  <a:lnTo>
                    <a:pt x="627" y="854"/>
                  </a:lnTo>
                  <a:lnTo>
                    <a:pt x="625" y="839"/>
                  </a:lnTo>
                  <a:lnTo>
                    <a:pt x="620" y="826"/>
                  </a:lnTo>
                  <a:lnTo>
                    <a:pt x="616" y="820"/>
                  </a:lnTo>
                  <a:lnTo>
                    <a:pt x="612" y="814"/>
                  </a:lnTo>
                  <a:lnTo>
                    <a:pt x="607" y="808"/>
                  </a:lnTo>
                  <a:lnTo>
                    <a:pt x="602" y="804"/>
                  </a:lnTo>
                  <a:lnTo>
                    <a:pt x="602" y="804"/>
                  </a:lnTo>
                  <a:close/>
                  <a:moveTo>
                    <a:pt x="797" y="256"/>
                  </a:moveTo>
                  <a:lnTo>
                    <a:pt x="797" y="256"/>
                  </a:lnTo>
                  <a:lnTo>
                    <a:pt x="987" y="439"/>
                  </a:lnTo>
                  <a:lnTo>
                    <a:pt x="987" y="439"/>
                  </a:lnTo>
                  <a:lnTo>
                    <a:pt x="994" y="443"/>
                  </a:lnTo>
                  <a:lnTo>
                    <a:pt x="1002" y="447"/>
                  </a:lnTo>
                  <a:lnTo>
                    <a:pt x="1010" y="449"/>
                  </a:lnTo>
                  <a:lnTo>
                    <a:pt x="1019" y="448"/>
                  </a:lnTo>
                  <a:lnTo>
                    <a:pt x="1019" y="448"/>
                  </a:lnTo>
                  <a:lnTo>
                    <a:pt x="1028" y="446"/>
                  </a:lnTo>
                  <a:lnTo>
                    <a:pt x="1035" y="442"/>
                  </a:lnTo>
                  <a:lnTo>
                    <a:pt x="1042" y="436"/>
                  </a:lnTo>
                  <a:lnTo>
                    <a:pt x="1047" y="429"/>
                  </a:lnTo>
                  <a:lnTo>
                    <a:pt x="1047" y="429"/>
                  </a:lnTo>
                  <a:lnTo>
                    <a:pt x="1057" y="409"/>
                  </a:lnTo>
                  <a:lnTo>
                    <a:pt x="1066" y="388"/>
                  </a:lnTo>
                  <a:lnTo>
                    <a:pt x="1072" y="365"/>
                  </a:lnTo>
                  <a:lnTo>
                    <a:pt x="1078" y="341"/>
                  </a:lnTo>
                  <a:lnTo>
                    <a:pt x="1078" y="341"/>
                  </a:lnTo>
                  <a:lnTo>
                    <a:pt x="1080" y="330"/>
                  </a:lnTo>
                  <a:lnTo>
                    <a:pt x="1084" y="321"/>
                  </a:lnTo>
                  <a:lnTo>
                    <a:pt x="1090" y="313"/>
                  </a:lnTo>
                  <a:lnTo>
                    <a:pt x="1095" y="304"/>
                  </a:lnTo>
                  <a:lnTo>
                    <a:pt x="1129" y="269"/>
                  </a:lnTo>
                  <a:lnTo>
                    <a:pt x="1129" y="269"/>
                  </a:lnTo>
                  <a:lnTo>
                    <a:pt x="1138" y="258"/>
                  </a:lnTo>
                  <a:lnTo>
                    <a:pt x="1144" y="246"/>
                  </a:lnTo>
                  <a:lnTo>
                    <a:pt x="1148" y="233"/>
                  </a:lnTo>
                  <a:lnTo>
                    <a:pt x="1149" y="220"/>
                  </a:lnTo>
                  <a:lnTo>
                    <a:pt x="1148" y="208"/>
                  </a:lnTo>
                  <a:lnTo>
                    <a:pt x="1144" y="195"/>
                  </a:lnTo>
                  <a:lnTo>
                    <a:pt x="1138" y="183"/>
                  </a:lnTo>
                  <a:lnTo>
                    <a:pt x="1130" y="172"/>
                  </a:lnTo>
                  <a:lnTo>
                    <a:pt x="993" y="23"/>
                  </a:lnTo>
                  <a:lnTo>
                    <a:pt x="993" y="23"/>
                  </a:lnTo>
                  <a:lnTo>
                    <a:pt x="983" y="13"/>
                  </a:lnTo>
                  <a:lnTo>
                    <a:pt x="972" y="7"/>
                  </a:lnTo>
                  <a:lnTo>
                    <a:pt x="959" y="2"/>
                  </a:lnTo>
                  <a:lnTo>
                    <a:pt x="946" y="0"/>
                  </a:lnTo>
                  <a:lnTo>
                    <a:pt x="933" y="0"/>
                  </a:lnTo>
                  <a:lnTo>
                    <a:pt x="920" y="2"/>
                  </a:lnTo>
                  <a:lnTo>
                    <a:pt x="908" y="7"/>
                  </a:lnTo>
                  <a:lnTo>
                    <a:pt x="896" y="15"/>
                  </a:lnTo>
                  <a:lnTo>
                    <a:pt x="864" y="42"/>
                  </a:lnTo>
                  <a:lnTo>
                    <a:pt x="864" y="42"/>
                  </a:lnTo>
                  <a:lnTo>
                    <a:pt x="852" y="49"/>
                  </a:lnTo>
                  <a:lnTo>
                    <a:pt x="845" y="52"/>
                  </a:lnTo>
                  <a:lnTo>
                    <a:pt x="839" y="55"/>
                  </a:lnTo>
                  <a:lnTo>
                    <a:pt x="832" y="56"/>
                  </a:lnTo>
                  <a:lnTo>
                    <a:pt x="824" y="57"/>
                  </a:lnTo>
                  <a:lnTo>
                    <a:pt x="810" y="57"/>
                  </a:lnTo>
                  <a:lnTo>
                    <a:pt x="810" y="57"/>
                  </a:lnTo>
                  <a:lnTo>
                    <a:pt x="708" y="44"/>
                  </a:lnTo>
                  <a:lnTo>
                    <a:pt x="708" y="44"/>
                  </a:lnTo>
                  <a:lnTo>
                    <a:pt x="685" y="43"/>
                  </a:lnTo>
                  <a:lnTo>
                    <a:pt x="662" y="43"/>
                  </a:lnTo>
                  <a:lnTo>
                    <a:pt x="639" y="45"/>
                  </a:lnTo>
                  <a:lnTo>
                    <a:pt x="618" y="50"/>
                  </a:lnTo>
                  <a:lnTo>
                    <a:pt x="596" y="57"/>
                  </a:lnTo>
                  <a:lnTo>
                    <a:pt x="575" y="67"/>
                  </a:lnTo>
                  <a:lnTo>
                    <a:pt x="555" y="77"/>
                  </a:lnTo>
                  <a:lnTo>
                    <a:pt x="535" y="92"/>
                  </a:lnTo>
                  <a:lnTo>
                    <a:pt x="535" y="92"/>
                  </a:lnTo>
                  <a:lnTo>
                    <a:pt x="434" y="169"/>
                  </a:lnTo>
                  <a:lnTo>
                    <a:pt x="333" y="247"/>
                  </a:lnTo>
                  <a:lnTo>
                    <a:pt x="333" y="247"/>
                  </a:lnTo>
                  <a:lnTo>
                    <a:pt x="323" y="257"/>
                  </a:lnTo>
                  <a:lnTo>
                    <a:pt x="316" y="267"/>
                  </a:lnTo>
                  <a:lnTo>
                    <a:pt x="311" y="278"/>
                  </a:lnTo>
                  <a:lnTo>
                    <a:pt x="310" y="288"/>
                  </a:lnTo>
                  <a:lnTo>
                    <a:pt x="311" y="298"/>
                  </a:lnTo>
                  <a:lnTo>
                    <a:pt x="314" y="308"/>
                  </a:lnTo>
                  <a:lnTo>
                    <a:pt x="320" y="316"/>
                  </a:lnTo>
                  <a:lnTo>
                    <a:pt x="327" y="323"/>
                  </a:lnTo>
                  <a:lnTo>
                    <a:pt x="336" y="329"/>
                  </a:lnTo>
                  <a:lnTo>
                    <a:pt x="346" y="335"/>
                  </a:lnTo>
                  <a:lnTo>
                    <a:pt x="358" y="338"/>
                  </a:lnTo>
                  <a:lnTo>
                    <a:pt x="371" y="340"/>
                  </a:lnTo>
                  <a:lnTo>
                    <a:pt x="386" y="339"/>
                  </a:lnTo>
                  <a:lnTo>
                    <a:pt x="400" y="336"/>
                  </a:lnTo>
                  <a:lnTo>
                    <a:pt x="414" y="332"/>
                  </a:lnTo>
                  <a:lnTo>
                    <a:pt x="430" y="323"/>
                  </a:lnTo>
                  <a:lnTo>
                    <a:pt x="576" y="233"/>
                  </a:lnTo>
                  <a:lnTo>
                    <a:pt x="576" y="233"/>
                  </a:lnTo>
                  <a:lnTo>
                    <a:pt x="584" y="228"/>
                  </a:lnTo>
                  <a:lnTo>
                    <a:pt x="593" y="225"/>
                  </a:lnTo>
                  <a:lnTo>
                    <a:pt x="601" y="223"/>
                  </a:lnTo>
                  <a:lnTo>
                    <a:pt x="609" y="222"/>
                  </a:lnTo>
                  <a:lnTo>
                    <a:pt x="618" y="222"/>
                  </a:lnTo>
                  <a:lnTo>
                    <a:pt x="626" y="222"/>
                  </a:lnTo>
                  <a:lnTo>
                    <a:pt x="634" y="225"/>
                  </a:lnTo>
                  <a:lnTo>
                    <a:pt x="643" y="228"/>
                  </a:lnTo>
                  <a:lnTo>
                    <a:pt x="643" y="228"/>
                  </a:lnTo>
                  <a:lnTo>
                    <a:pt x="653" y="232"/>
                  </a:lnTo>
                  <a:lnTo>
                    <a:pt x="665" y="235"/>
                  </a:lnTo>
                  <a:lnTo>
                    <a:pt x="677" y="238"/>
                  </a:lnTo>
                  <a:lnTo>
                    <a:pt x="689" y="239"/>
                  </a:lnTo>
                  <a:lnTo>
                    <a:pt x="701" y="240"/>
                  </a:lnTo>
                  <a:lnTo>
                    <a:pt x="713" y="240"/>
                  </a:lnTo>
                  <a:lnTo>
                    <a:pt x="725" y="239"/>
                  </a:lnTo>
                  <a:lnTo>
                    <a:pt x="735" y="238"/>
                  </a:lnTo>
                  <a:lnTo>
                    <a:pt x="735" y="238"/>
                  </a:lnTo>
                  <a:lnTo>
                    <a:pt x="744" y="237"/>
                  </a:lnTo>
                  <a:lnTo>
                    <a:pt x="752" y="237"/>
                  </a:lnTo>
                  <a:lnTo>
                    <a:pt x="760" y="237"/>
                  </a:lnTo>
                  <a:lnTo>
                    <a:pt x="769" y="239"/>
                  </a:lnTo>
                  <a:lnTo>
                    <a:pt x="776" y="241"/>
                  </a:lnTo>
                  <a:lnTo>
                    <a:pt x="783" y="246"/>
                  </a:lnTo>
                  <a:lnTo>
                    <a:pt x="790" y="251"/>
                  </a:lnTo>
                  <a:lnTo>
                    <a:pt x="797" y="256"/>
                  </a:lnTo>
                  <a:lnTo>
                    <a:pt x="797" y="256"/>
                  </a:lnTo>
                  <a:close/>
                </a:path>
              </a:pathLst>
            </a:custGeom>
            <a:solidFill>
              <a:sysClr val="window" lastClr="FFFFFF">
                <a:lumMod val="100000"/>
              </a:sysClr>
            </a:solidFill>
            <a:ln>
              <a:noFill/>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27" name="iS1ide-Freeform: Shape 16"/>
            <p:cNvSpPr/>
            <p:nvPr/>
          </p:nvSpPr>
          <p:spPr bwMode="auto">
            <a:xfrm>
              <a:off x="5578659" y="3715591"/>
              <a:ext cx="508552" cy="676886"/>
            </a:xfrm>
            <a:custGeom>
              <a:avLst/>
              <a:gdLst>
                <a:gd name="T0" fmla="*/ 560 w 915"/>
                <a:gd name="T1" fmla="*/ 881 h 1218"/>
                <a:gd name="T2" fmla="*/ 900 w 915"/>
                <a:gd name="T3" fmla="*/ 652 h 1218"/>
                <a:gd name="T4" fmla="*/ 887 w 915"/>
                <a:gd name="T5" fmla="*/ 898 h 1218"/>
                <a:gd name="T6" fmla="*/ 379 w 915"/>
                <a:gd name="T7" fmla="*/ 67 h 1218"/>
                <a:gd name="T8" fmla="*/ 380 w 915"/>
                <a:gd name="T9" fmla="*/ 54 h 1218"/>
                <a:gd name="T10" fmla="*/ 391 w 915"/>
                <a:gd name="T11" fmla="*/ 30 h 1218"/>
                <a:gd name="T12" fmla="*/ 409 w 915"/>
                <a:gd name="T13" fmla="*/ 12 h 1218"/>
                <a:gd name="T14" fmla="*/ 433 w 915"/>
                <a:gd name="T15" fmla="*/ 1 h 1218"/>
                <a:gd name="T16" fmla="*/ 446 w 915"/>
                <a:gd name="T17" fmla="*/ 0 h 1218"/>
                <a:gd name="T18" fmla="*/ 472 w 915"/>
                <a:gd name="T19" fmla="*/ 5 h 1218"/>
                <a:gd name="T20" fmla="*/ 493 w 915"/>
                <a:gd name="T21" fmla="*/ 19 h 1218"/>
                <a:gd name="T22" fmla="*/ 508 w 915"/>
                <a:gd name="T23" fmla="*/ 41 h 1218"/>
                <a:gd name="T24" fmla="*/ 512 w 915"/>
                <a:gd name="T25" fmla="*/ 67 h 1218"/>
                <a:gd name="T26" fmla="*/ 379 w 915"/>
                <a:gd name="T27" fmla="*/ 161 h 1218"/>
                <a:gd name="T28" fmla="*/ 379 w 915"/>
                <a:gd name="T29" fmla="*/ 67 h 1218"/>
                <a:gd name="T30" fmla="*/ 512 w 915"/>
                <a:gd name="T31" fmla="*/ 1103 h 1218"/>
                <a:gd name="T32" fmla="*/ 514 w 915"/>
                <a:gd name="T33" fmla="*/ 1107 h 1218"/>
                <a:gd name="T34" fmla="*/ 518 w 915"/>
                <a:gd name="T35" fmla="*/ 1116 h 1218"/>
                <a:gd name="T36" fmla="*/ 528 w 915"/>
                <a:gd name="T37" fmla="*/ 1122 h 1218"/>
                <a:gd name="T38" fmla="*/ 568 w 915"/>
                <a:gd name="T39" fmla="*/ 1122 h 1218"/>
                <a:gd name="T40" fmla="*/ 579 w 915"/>
                <a:gd name="T41" fmla="*/ 1124 h 1218"/>
                <a:gd name="T42" fmla="*/ 598 w 915"/>
                <a:gd name="T43" fmla="*/ 1132 h 1218"/>
                <a:gd name="T44" fmla="*/ 613 w 915"/>
                <a:gd name="T45" fmla="*/ 1146 h 1218"/>
                <a:gd name="T46" fmla="*/ 621 w 915"/>
                <a:gd name="T47" fmla="*/ 1165 h 1218"/>
                <a:gd name="T48" fmla="*/ 622 w 915"/>
                <a:gd name="T49" fmla="*/ 1218 h 1218"/>
                <a:gd name="T50" fmla="*/ 270 w 915"/>
                <a:gd name="T51" fmla="*/ 1176 h 1218"/>
                <a:gd name="T52" fmla="*/ 271 w 915"/>
                <a:gd name="T53" fmla="*/ 1165 h 1218"/>
                <a:gd name="T54" fmla="*/ 279 w 915"/>
                <a:gd name="T55" fmla="*/ 1146 h 1218"/>
                <a:gd name="T56" fmla="*/ 294 w 915"/>
                <a:gd name="T57" fmla="*/ 1132 h 1218"/>
                <a:gd name="T58" fmla="*/ 313 w 915"/>
                <a:gd name="T59" fmla="*/ 1124 h 1218"/>
                <a:gd name="T60" fmla="*/ 360 w 915"/>
                <a:gd name="T61" fmla="*/ 1122 h 1218"/>
                <a:gd name="T62" fmla="*/ 364 w 915"/>
                <a:gd name="T63" fmla="*/ 1122 h 1218"/>
                <a:gd name="T64" fmla="*/ 375 w 915"/>
                <a:gd name="T65" fmla="*/ 1116 h 1218"/>
                <a:gd name="T66" fmla="*/ 379 w 915"/>
                <a:gd name="T67" fmla="*/ 1107 h 1218"/>
                <a:gd name="T68" fmla="*/ 379 w 915"/>
                <a:gd name="T69" fmla="*/ 504 h 1218"/>
                <a:gd name="T70" fmla="*/ 512 w 915"/>
                <a:gd name="T71" fmla="*/ 497 h 1218"/>
                <a:gd name="T72" fmla="*/ 89 w 915"/>
                <a:gd name="T73" fmla="*/ 856 h 1218"/>
                <a:gd name="T74" fmla="*/ 102 w 915"/>
                <a:gd name="T75" fmla="*/ 610 h 1218"/>
                <a:gd name="T76" fmla="*/ 332 w 915"/>
                <a:gd name="T77" fmla="*/ 869 h 1218"/>
                <a:gd name="T78" fmla="*/ 15 w 915"/>
                <a:gd name="T79" fmla="*/ 228 h 1218"/>
                <a:gd name="T80" fmla="*/ 814 w 915"/>
                <a:gd name="T81" fmla="*/ 186 h 1218"/>
                <a:gd name="T82" fmla="*/ 827 w 915"/>
                <a:gd name="T83" fmla="*/ 433 h 1218"/>
                <a:gd name="T84" fmla="*/ 29 w 915"/>
                <a:gd name="T85" fmla="*/ 476 h 1218"/>
                <a:gd name="T86" fmla="*/ 15 w 915"/>
                <a:gd name="T87" fmla="*/ 22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15" h="1218">
                  <a:moveTo>
                    <a:pt x="887" y="898"/>
                  </a:moveTo>
                  <a:lnTo>
                    <a:pt x="560" y="881"/>
                  </a:lnTo>
                  <a:lnTo>
                    <a:pt x="560" y="634"/>
                  </a:lnTo>
                  <a:lnTo>
                    <a:pt x="900" y="652"/>
                  </a:lnTo>
                  <a:lnTo>
                    <a:pt x="799" y="769"/>
                  </a:lnTo>
                  <a:lnTo>
                    <a:pt x="887" y="898"/>
                  </a:lnTo>
                  <a:lnTo>
                    <a:pt x="887" y="898"/>
                  </a:lnTo>
                  <a:close/>
                  <a:moveTo>
                    <a:pt x="379" y="67"/>
                  </a:moveTo>
                  <a:lnTo>
                    <a:pt x="379" y="67"/>
                  </a:lnTo>
                  <a:lnTo>
                    <a:pt x="380" y="54"/>
                  </a:lnTo>
                  <a:lnTo>
                    <a:pt x="385" y="41"/>
                  </a:lnTo>
                  <a:lnTo>
                    <a:pt x="391" y="30"/>
                  </a:lnTo>
                  <a:lnTo>
                    <a:pt x="399" y="19"/>
                  </a:lnTo>
                  <a:lnTo>
                    <a:pt x="409" y="12"/>
                  </a:lnTo>
                  <a:lnTo>
                    <a:pt x="420" y="5"/>
                  </a:lnTo>
                  <a:lnTo>
                    <a:pt x="433" y="1"/>
                  </a:lnTo>
                  <a:lnTo>
                    <a:pt x="446" y="0"/>
                  </a:lnTo>
                  <a:lnTo>
                    <a:pt x="446" y="0"/>
                  </a:lnTo>
                  <a:lnTo>
                    <a:pt x="460" y="1"/>
                  </a:lnTo>
                  <a:lnTo>
                    <a:pt x="472" y="5"/>
                  </a:lnTo>
                  <a:lnTo>
                    <a:pt x="484" y="12"/>
                  </a:lnTo>
                  <a:lnTo>
                    <a:pt x="493" y="19"/>
                  </a:lnTo>
                  <a:lnTo>
                    <a:pt x="502" y="30"/>
                  </a:lnTo>
                  <a:lnTo>
                    <a:pt x="508" y="41"/>
                  </a:lnTo>
                  <a:lnTo>
                    <a:pt x="511" y="54"/>
                  </a:lnTo>
                  <a:lnTo>
                    <a:pt x="512" y="67"/>
                  </a:lnTo>
                  <a:lnTo>
                    <a:pt x="512" y="155"/>
                  </a:lnTo>
                  <a:lnTo>
                    <a:pt x="379" y="161"/>
                  </a:lnTo>
                  <a:lnTo>
                    <a:pt x="379" y="67"/>
                  </a:lnTo>
                  <a:lnTo>
                    <a:pt x="379" y="67"/>
                  </a:lnTo>
                  <a:close/>
                  <a:moveTo>
                    <a:pt x="512" y="497"/>
                  </a:moveTo>
                  <a:lnTo>
                    <a:pt x="512" y="1103"/>
                  </a:lnTo>
                  <a:lnTo>
                    <a:pt x="512" y="1103"/>
                  </a:lnTo>
                  <a:lnTo>
                    <a:pt x="514" y="1107"/>
                  </a:lnTo>
                  <a:lnTo>
                    <a:pt x="515" y="1111"/>
                  </a:lnTo>
                  <a:lnTo>
                    <a:pt x="518" y="1116"/>
                  </a:lnTo>
                  <a:lnTo>
                    <a:pt x="524" y="1121"/>
                  </a:lnTo>
                  <a:lnTo>
                    <a:pt x="528" y="1122"/>
                  </a:lnTo>
                  <a:lnTo>
                    <a:pt x="531" y="1122"/>
                  </a:lnTo>
                  <a:lnTo>
                    <a:pt x="568" y="1122"/>
                  </a:lnTo>
                  <a:lnTo>
                    <a:pt x="568" y="1122"/>
                  </a:lnTo>
                  <a:lnTo>
                    <a:pt x="579" y="1124"/>
                  </a:lnTo>
                  <a:lnTo>
                    <a:pt x="590" y="1127"/>
                  </a:lnTo>
                  <a:lnTo>
                    <a:pt x="598" y="1132"/>
                  </a:lnTo>
                  <a:lnTo>
                    <a:pt x="606" y="1138"/>
                  </a:lnTo>
                  <a:lnTo>
                    <a:pt x="613" y="1146"/>
                  </a:lnTo>
                  <a:lnTo>
                    <a:pt x="618" y="1156"/>
                  </a:lnTo>
                  <a:lnTo>
                    <a:pt x="621" y="1165"/>
                  </a:lnTo>
                  <a:lnTo>
                    <a:pt x="622" y="1176"/>
                  </a:lnTo>
                  <a:lnTo>
                    <a:pt x="622" y="1218"/>
                  </a:lnTo>
                  <a:lnTo>
                    <a:pt x="270" y="1218"/>
                  </a:lnTo>
                  <a:lnTo>
                    <a:pt x="270" y="1176"/>
                  </a:lnTo>
                  <a:lnTo>
                    <a:pt x="270" y="1176"/>
                  </a:lnTo>
                  <a:lnTo>
                    <a:pt x="271" y="1165"/>
                  </a:lnTo>
                  <a:lnTo>
                    <a:pt x="275" y="1156"/>
                  </a:lnTo>
                  <a:lnTo>
                    <a:pt x="279" y="1146"/>
                  </a:lnTo>
                  <a:lnTo>
                    <a:pt x="285" y="1138"/>
                  </a:lnTo>
                  <a:lnTo>
                    <a:pt x="294" y="1132"/>
                  </a:lnTo>
                  <a:lnTo>
                    <a:pt x="303" y="1127"/>
                  </a:lnTo>
                  <a:lnTo>
                    <a:pt x="313" y="1124"/>
                  </a:lnTo>
                  <a:lnTo>
                    <a:pt x="323" y="1122"/>
                  </a:lnTo>
                  <a:lnTo>
                    <a:pt x="360" y="1122"/>
                  </a:lnTo>
                  <a:lnTo>
                    <a:pt x="360" y="1122"/>
                  </a:lnTo>
                  <a:lnTo>
                    <a:pt x="364" y="1122"/>
                  </a:lnTo>
                  <a:lnTo>
                    <a:pt x="367" y="1121"/>
                  </a:lnTo>
                  <a:lnTo>
                    <a:pt x="375" y="1116"/>
                  </a:lnTo>
                  <a:lnTo>
                    <a:pt x="378" y="1111"/>
                  </a:lnTo>
                  <a:lnTo>
                    <a:pt x="379" y="1107"/>
                  </a:lnTo>
                  <a:lnTo>
                    <a:pt x="379" y="1103"/>
                  </a:lnTo>
                  <a:lnTo>
                    <a:pt x="379" y="504"/>
                  </a:lnTo>
                  <a:lnTo>
                    <a:pt x="512" y="497"/>
                  </a:lnTo>
                  <a:lnTo>
                    <a:pt x="512" y="497"/>
                  </a:lnTo>
                  <a:close/>
                  <a:moveTo>
                    <a:pt x="332" y="869"/>
                  </a:moveTo>
                  <a:lnTo>
                    <a:pt x="89" y="856"/>
                  </a:lnTo>
                  <a:lnTo>
                    <a:pt x="0" y="728"/>
                  </a:lnTo>
                  <a:lnTo>
                    <a:pt x="102" y="610"/>
                  </a:lnTo>
                  <a:lnTo>
                    <a:pt x="332" y="622"/>
                  </a:lnTo>
                  <a:lnTo>
                    <a:pt x="332" y="869"/>
                  </a:lnTo>
                  <a:lnTo>
                    <a:pt x="332" y="869"/>
                  </a:lnTo>
                  <a:close/>
                  <a:moveTo>
                    <a:pt x="15" y="228"/>
                  </a:moveTo>
                  <a:lnTo>
                    <a:pt x="415" y="207"/>
                  </a:lnTo>
                  <a:lnTo>
                    <a:pt x="814" y="186"/>
                  </a:lnTo>
                  <a:lnTo>
                    <a:pt x="915" y="304"/>
                  </a:lnTo>
                  <a:lnTo>
                    <a:pt x="827" y="433"/>
                  </a:lnTo>
                  <a:lnTo>
                    <a:pt x="428" y="454"/>
                  </a:lnTo>
                  <a:lnTo>
                    <a:pt x="29" y="476"/>
                  </a:lnTo>
                  <a:lnTo>
                    <a:pt x="118" y="346"/>
                  </a:lnTo>
                  <a:lnTo>
                    <a:pt x="15" y="228"/>
                  </a:lnTo>
                  <a:lnTo>
                    <a:pt x="15" y="228"/>
                  </a:lnTo>
                  <a:close/>
                </a:path>
              </a:pathLst>
            </a:custGeom>
            <a:solidFill>
              <a:sysClr val="window" lastClr="FFFFFF">
                <a:lumMod val="100000"/>
              </a:sysClr>
            </a:solidFill>
            <a:ln>
              <a:noFill/>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grpSp>
      <p:sp>
        <p:nvSpPr>
          <p:cNvPr id="72707" name="Rectangle 4"/>
          <p:cNvSpPr>
            <a:spLocks noChangeArrowheads="1"/>
          </p:cNvSpPr>
          <p:nvPr/>
        </p:nvSpPr>
        <p:spPr bwMode="auto">
          <a:xfrm>
            <a:off x="3702050" y="3294063"/>
            <a:ext cx="1620838"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两种解决</a:t>
            </a:r>
            <a:endParaRPr kumimoji="0" lang="en-US" altLang="zh-CN" sz="2800" b="0"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方法</a:t>
            </a:r>
          </a:p>
        </p:txBody>
      </p:sp>
      <p:sp>
        <p:nvSpPr>
          <p:cNvPr id="39" name="Rectangle 5"/>
          <p:cNvSpPr>
            <a:spLocks noChangeArrowheads="1"/>
          </p:cNvSpPr>
          <p:nvPr/>
        </p:nvSpPr>
        <p:spPr bwMode="auto">
          <a:xfrm>
            <a:off x="347663" y="3400425"/>
            <a:ext cx="2030413"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增加两个域：</a:t>
            </a: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fwd</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和</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bwd</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p>
        </p:txBody>
      </p:sp>
      <p:sp>
        <p:nvSpPr>
          <p:cNvPr id="40" name="Rectangle 6"/>
          <p:cNvSpPr>
            <a:spLocks noChangeArrowheads="1"/>
          </p:cNvSpPr>
          <p:nvPr/>
        </p:nvSpPr>
        <p:spPr bwMode="auto">
          <a:xfrm>
            <a:off x="6675438" y="3400425"/>
            <a:ext cx="2513013"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利用空链域</a:t>
            </a:r>
            <a:endPar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n+1</a:t>
            </a: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个空链域）</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860168"/>
                                        </p:tgtEl>
                                        <p:attrNameLst>
                                          <p:attrName>style.visibility</p:attrName>
                                        </p:attrNameLst>
                                      </p:cBhvr>
                                      <p:to>
                                        <p:strVal val="visible"/>
                                      </p:to>
                                    </p:set>
                                    <p:anim calcmode="lin" valueType="num">
                                      <p:cBhvr>
                                        <p:cTn id="7" dur="500" fill="hold"/>
                                        <p:tgtEl>
                                          <p:spTgt spid="860168"/>
                                        </p:tgtEl>
                                        <p:attrNameLst>
                                          <p:attrName>ppt_w</p:attrName>
                                        </p:attrNameLst>
                                      </p:cBhvr>
                                      <p:tavLst>
                                        <p:tav tm="0">
                                          <p:val>
                                            <p:fltVal val="0"/>
                                          </p:val>
                                        </p:tav>
                                        <p:tav tm="100000">
                                          <p:val>
                                            <p:strVal val="#ppt_w"/>
                                          </p:val>
                                        </p:tav>
                                      </p:tavLst>
                                    </p:anim>
                                    <p:anim calcmode="lin" valueType="num">
                                      <p:cBhvr>
                                        <p:cTn id="8" dur="500" fill="hold"/>
                                        <p:tgtEl>
                                          <p:spTgt spid="860168"/>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wipe(down)">
                                      <p:cBhvr>
                                        <p:cTn id="13" dur="500"/>
                                        <p:tgtEl>
                                          <p:spTgt spid="3"/>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4" fill="hold" grpId="0" nodeType="clickEffect">
                                  <p:stCondLst>
                                    <p:cond delay="0"/>
                                  </p:stCondLst>
                                  <p:childTnLst>
                                    <p:set>
                                      <p:cBhvr>
                                        <p:cTn id="17" dur="1" fill="hold">
                                          <p:stCondLst>
                                            <p:cond delay="0"/>
                                          </p:stCondLst>
                                        </p:cTn>
                                        <p:tgtEl>
                                          <p:spTgt spid="39"/>
                                        </p:tgtEl>
                                        <p:attrNameLst>
                                          <p:attrName>style.visibility</p:attrName>
                                        </p:attrNameLst>
                                      </p:cBhvr>
                                      <p:to>
                                        <p:strVal val="visible"/>
                                      </p:to>
                                    </p:set>
                                    <p:animEffect transition="in" filter="wipe(down)">
                                      <p:cBhvr>
                                        <p:cTn id="18" dur="500"/>
                                        <p:tgtEl>
                                          <p:spTgt spid="39"/>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4" fill="hold" grpId="0" nodeType="clickEffect">
                                  <p:stCondLst>
                                    <p:cond delay="0"/>
                                  </p:stCondLst>
                                  <p:childTnLst>
                                    <p:set>
                                      <p:cBhvr>
                                        <p:cTn id="22" dur="1" fill="hold">
                                          <p:stCondLst>
                                            <p:cond delay="0"/>
                                          </p:stCondLst>
                                        </p:cTn>
                                        <p:tgtEl>
                                          <p:spTgt spid="40"/>
                                        </p:tgtEl>
                                        <p:attrNameLst>
                                          <p:attrName>style.visibility</p:attrName>
                                        </p:attrNameLst>
                                      </p:cBhvr>
                                      <p:to>
                                        <p:strVal val="visible"/>
                                      </p:to>
                                    </p:set>
                                    <p:animEffect transition="in" filter="wipe(down)">
                                      <p:cBhvr>
                                        <p:cTn id="23"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0168" grpId="0"/>
      <p:bldP spid="39" grpId="0"/>
      <p:bldP spid="40" grpId="0"/>
    </p:bldLst>
  </p:timing>
</p:sld>
</file>

<file path=ppt/slides/slide6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70075" name="Rectangle 27"/>
          <p:cNvSpPr>
            <a:spLocks noChangeArrowheads="1"/>
          </p:cNvSpPr>
          <p:nvPr/>
        </p:nvSpPr>
        <p:spPr bwMode="auto">
          <a:xfrm>
            <a:off x="395288" y="4378325"/>
            <a:ext cx="5545138"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为了避免混淆，增加两个标志域</a:t>
            </a:r>
          </a:p>
        </p:txBody>
      </p:sp>
      <p:graphicFrame>
        <p:nvGraphicFramePr>
          <p:cNvPr id="770076" name="Group 28"/>
          <p:cNvGraphicFramePr>
            <a:graphicFrameLocks noGrp="1"/>
          </p:cNvGraphicFramePr>
          <p:nvPr/>
        </p:nvGraphicFramePr>
        <p:xfrm>
          <a:off x="395288" y="5249863"/>
          <a:ext cx="8256589" cy="519112"/>
        </p:xfrm>
        <a:graphic>
          <a:graphicData uri="http://schemas.openxmlformats.org/drawingml/2006/table">
            <a:tbl>
              <a:tblPr/>
              <a:tblGrid>
                <a:gridCol w="1650332"/>
                <a:gridCol w="1652797"/>
                <a:gridCol w="1650332"/>
                <a:gridCol w="1652796"/>
                <a:gridCol w="1650332"/>
              </a:tblGrid>
              <a:tr h="519112">
                <a:tc>
                  <a:txBody>
                    <a:bodyPr/>
                    <a:lstStyle/>
                    <a:p>
                      <a:pPr marL="0" marR="0" lvl="0" indent="0" algn="ctr" defTabSz="914400" rtl="0" eaLnBrk="0" fontAlgn="base" latinLnBrk="0" hangingPunct="0">
                        <a:lnSpc>
                          <a:spcPct val="100000"/>
                        </a:lnSpc>
                        <a:spcBef>
                          <a:spcPct val="20000"/>
                        </a:spcBef>
                        <a:spcAft>
                          <a:spcPct val="0"/>
                        </a:spcAft>
                        <a:buClrTx/>
                        <a:buSzTx/>
                        <a:buFontTx/>
                        <a:buNone/>
                      </a:pPr>
                      <a:r>
                        <a:rPr kumimoji="1" lang="en-US" altLang="zh-CN" sz="2800" b="0" i="0" u="none" strike="noStrike" cap="none" normalizeH="0" baseline="0" dirty="0" err="1">
                          <a:ln>
                            <a:noFill/>
                          </a:ln>
                          <a:solidFill>
                            <a:schemeClr val="tx1"/>
                          </a:solidFill>
                          <a:effectLst/>
                          <a:latin typeface="+mn-lt"/>
                          <a:ea typeface="+mn-ea"/>
                          <a:cs typeface="+mn-ea"/>
                          <a:sym typeface="+mn-lt"/>
                        </a:rPr>
                        <a:t>lchild</a:t>
                      </a:r>
                      <a:endParaRPr kumimoji="1" lang="en-US" altLang="zh-CN" sz="2800" b="0" i="0" u="none" strike="noStrike" cap="none" normalizeH="0" baseline="0" dirty="0">
                        <a:ln>
                          <a:noFill/>
                        </a:ln>
                        <a:solidFill>
                          <a:schemeClr val="tx1"/>
                        </a:solidFill>
                        <a:effectLst/>
                        <a:latin typeface="+mn-lt"/>
                        <a:ea typeface="+mn-ea"/>
                        <a:cs typeface="+mn-ea"/>
                        <a:sym typeface="+mn-lt"/>
                      </a:endParaRPr>
                    </a:p>
                  </a:txBody>
                  <a:tcPr marL="91437" marR="9143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pPr>
                      <a:r>
                        <a:rPr kumimoji="1" lang="en-US" altLang="zh-CN" sz="2800" b="0" i="0" u="none" strike="noStrike" cap="none" normalizeH="0" baseline="0" dirty="0" err="1">
                          <a:ln>
                            <a:noFill/>
                          </a:ln>
                          <a:solidFill>
                            <a:srgbClr val="FF3300"/>
                          </a:solidFill>
                          <a:effectLst/>
                          <a:latin typeface="+mn-lt"/>
                          <a:ea typeface="+mn-ea"/>
                          <a:cs typeface="+mn-ea"/>
                          <a:sym typeface="+mn-lt"/>
                        </a:rPr>
                        <a:t>LTag</a:t>
                      </a:r>
                      <a:endParaRPr kumimoji="1" lang="en-US" altLang="zh-CN" sz="2800" b="0" i="0" u="none" strike="noStrike" cap="none" normalizeH="0" baseline="0" dirty="0">
                        <a:ln>
                          <a:noFill/>
                        </a:ln>
                        <a:solidFill>
                          <a:srgbClr val="FF3300"/>
                        </a:solidFill>
                        <a:effectLst/>
                        <a:latin typeface="+mn-lt"/>
                        <a:ea typeface="+mn-ea"/>
                        <a:cs typeface="+mn-ea"/>
                        <a:sym typeface="+mn-lt"/>
                      </a:endParaRPr>
                    </a:p>
                  </a:txBody>
                  <a:tcPr marL="91437" marR="91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pPr>
                      <a:r>
                        <a:rPr kumimoji="1" lang="en-US" altLang="zh-CN" sz="2800" b="0" i="0" u="none" strike="noStrike" cap="none" normalizeH="0" baseline="0" dirty="0">
                          <a:ln>
                            <a:noFill/>
                          </a:ln>
                          <a:solidFill>
                            <a:schemeClr val="tx1"/>
                          </a:solidFill>
                          <a:effectLst/>
                          <a:latin typeface="+mn-lt"/>
                          <a:ea typeface="+mn-ea"/>
                          <a:cs typeface="+mn-ea"/>
                          <a:sym typeface="+mn-lt"/>
                        </a:rPr>
                        <a:t>data</a:t>
                      </a:r>
                    </a:p>
                  </a:txBody>
                  <a:tcPr marL="91437" marR="91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pPr>
                      <a:r>
                        <a:rPr kumimoji="1" lang="en-US" altLang="zh-CN" sz="2800" b="0" i="0" u="none" strike="noStrike" cap="none" normalizeH="0" baseline="0">
                          <a:ln>
                            <a:noFill/>
                          </a:ln>
                          <a:solidFill>
                            <a:srgbClr val="FF3300"/>
                          </a:solidFill>
                          <a:effectLst/>
                          <a:latin typeface="+mn-lt"/>
                          <a:ea typeface="+mn-ea"/>
                          <a:cs typeface="+mn-ea"/>
                          <a:sym typeface="+mn-lt"/>
                        </a:rPr>
                        <a:t>RTag</a:t>
                      </a:r>
                    </a:p>
                  </a:txBody>
                  <a:tcPr marL="91437" marR="9143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pPr>
                      <a:r>
                        <a:rPr kumimoji="1" lang="en-US" altLang="zh-CN" sz="2800" b="0" i="0" u="none" strike="noStrike" cap="none" normalizeH="0" baseline="0" dirty="0" err="1">
                          <a:ln>
                            <a:noFill/>
                          </a:ln>
                          <a:solidFill>
                            <a:schemeClr val="tx1"/>
                          </a:solidFill>
                          <a:effectLst/>
                          <a:latin typeface="+mn-lt"/>
                          <a:ea typeface="+mn-ea"/>
                          <a:cs typeface="+mn-ea"/>
                          <a:sym typeface="+mn-lt"/>
                        </a:rPr>
                        <a:t>rchild</a:t>
                      </a:r>
                      <a:endParaRPr kumimoji="1" lang="en-US" altLang="zh-CN" sz="2800" b="0" i="0" u="none" strike="noStrike" cap="none" normalizeH="0" baseline="0" dirty="0">
                        <a:ln>
                          <a:noFill/>
                        </a:ln>
                        <a:solidFill>
                          <a:schemeClr val="tx1"/>
                        </a:solidFill>
                        <a:effectLst/>
                        <a:latin typeface="+mn-lt"/>
                        <a:ea typeface="+mn-ea"/>
                        <a:cs typeface="+mn-ea"/>
                        <a:sym typeface="+mn-lt"/>
                      </a:endParaRPr>
                    </a:p>
                  </a:txBody>
                  <a:tcPr marL="91437" marR="9143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73747" name="Rectangle 47"/>
          <p:cNvSpPr>
            <a:spLocks noChangeArrowheads="1"/>
          </p:cNvSpPr>
          <p:nvPr/>
        </p:nvSpPr>
        <p:spPr bwMode="auto">
          <a:xfrm>
            <a:off x="787400" y="220663"/>
            <a:ext cx="419735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线索化二叉树</a:t>
            </a:r>
          </a:p>
        </p:txBody>
      </p:sp>
      <p:grpSp>
        <p:nvGrpSpPr>
          <p:cNvPr id="2" name="组合 1"/>
          <p:cNvGrpSpPr/>
          <p:nvPr/>
        </p:nvGrpSpPr>
        <p:grpSpPr>
          <a:xfrm>
            <a:off x="443706" y="1185778"/>
            <a:ext cx="8256587" cy="1370013"/>
            <a:chOff x="395288" y="1263650"/>
            <a:chExt cx="8256587" cy="1370013"/>
          </a:xfrm>
        </p:grpSpPr>
        <p:sp>
          <p:nvSpPr>
            <p:cNvPr id="15" name="矩形 14"/>
            <p:cNvSpPr/>
            <p:nvPr/>
          </p:nvSpPr>
          <p:spPr>
            <a:xfrm>
              <a:off x="2347913" y="1263650"/>
              <a:ext cx="6303962" cy="1370013"/>
            </a:xfrm>
            <a:prstGeom prst="rect">
              <a:avLst/>
            </a:prstGeom>
            <a:solidFill>
              <a:schemeClr val="bg2">
                <a:lumMod val="20000"/>
                <a:lumOff val="80000"/>
              </a:schemeClr>
            </a:solidFill>
            <a:ln w="25400" cap="flat" cmpd="sng" algn="ctr">
              <a:noFill/>
              <a:prstDash val="solid"/>
            </a:ln>
            <a:effectLst/>
          </p:spPr>
          <p:txBody>
            <a:bodyPr lIns="121917" tIns="60958" rIns="121917" bIns="60958"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dirty="0">
                <a:ln>
                  <a:noFill/>
                </a:ln>
                <a:solidFill>
                  <a:prstClr val="white"/>
                </a:solidFill>
                <a:effectLst/>
                <a:uLnTx/>
                <a:uFillTx/>
                <a:latin typeface="Calibri" panose="020F0502020204030204"/>
                <a:ea typeface="宋体" panose="02010600030101010101" pitchFamily="2" charset="-122"/>
                <a:cs typeface="+mn-cs"/>
              </a:endParaRPr>
            </a:p>
          </p:txBody>
        </p:sp>
        <p:sp>
          <p:nvSpPr>
            <p:cNvPr id="16" name="等腰三角形 5"/>
            <p:cNvSpPr/>
            <p:nvPr/>
          </p:nvSpPr>
          <p:spPr>
            <a:xfrm rot="5400000">
              <a:off x="577850" y="1081088"/>
              <a:ext cx="1370013" cy="1735137"/>
            </a:xfrm>
            <a:custGeom>
              <a:avLst/>
              <a:gdLst/>
              <a:ahLst/>
              <a:cxnLst/>
              <a:rect l="l" t="t" r="r" b="b"/>
              <a:pathLst>
                <a:path w="1450218" h="1860602">
                  <a:moveTo>
                    <a:pt x="0" y="1860602"/>
                  </a:moveTo>
                  <a:lnTo>
                    <a:pt x="0" y="132410"/>
                  </a:lnTo>
                  <a:lnTo>
                    <a:pt x="582757" y="132410"/>
                  </a:lnTo>
                  <a:lnTo>
                    <a:pt x="725109" y="0"/>
                  </a:lnTo>
                  <a:lnTo>
                    <a:pt x="867461" y="132410"/>
                  </a:lnTo>
                  <a:lnTo>
                    <a:pt x="1450218" y="132410"/>
                  </a:lnTo>
                  <a:lnTo>
                    <a:pt x="1450218" y="1860602"/>
                  </a:lnTo>
                  <a:close/>
                </a:path>
              </a:pathLst>
            </a:custGeom>
            <a:solidFill>
              <a:schemeClr val="bg2">
                <a:lumMod val="20000"/>
                <a:lumOff val="80000"/>
              </a:schemeClr>
            </a:solidFill>
            <a:ln w="25400" cap="flat" cmpd="sng" algn="ctr">
              <a:noFill/>
              <a:prstDash val="solid"/>
            </a:ln>
            <a:effectLst/>
          </p:spPr>
          <p:txBody>
            <a:bodyPr lIns="121917" tIns="60958" rIns="121917" bIns="60958"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18" name="TextBox 4"/>
            <p:cNvSpPr txBox="1"/>
            <p:nvPr/>
          </p:nvSpPr>
          <p:spPr>
            <a:xfrm>
              <a:off x="787400" y="1703388"/>
              <a:ext cx="1166813" cy="492125"/>
            </a:xfrm>
            <a:prstGeom prst="rect">
              <a:avLst/>
            </a:prstGeom>
            <a:noFill/>
          </p:spPr>
          <p:txBody>
            <a:bodyPr lIns="0" tIns="0" rIns="0" bIns="0">
              <a:spAutoFit/>
            </a:bodyPr>
            <a:lstStyle>
              <a:defPPr>
                <a:defRPr lang="zh-CN"/>
              </a:defPPr>
              <a:lvl1pPr>
                <a:defRPr sz="2200">
                  <a:solidFill>
                    <a:schemeClr val="bg1"/>
                  </a:solidFill>
                  <a:latin typeface="微软雅黑" panose="020B0503020204020204" pitchFamily="34" charset="-122"/>
                  <a:ea typeface="微软雅黑" panose="020B0503020204020204" pitchFamily="34" charset="-122"/>
                </a:defRPr>
              </a:lvl1p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3200" b="0" i="0" u="none" strike="noStrike" kern="0" cap="none" spc="40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770073" name="Rectangle 25"/>
            <p:cNvSpPr>
              <a:spLocks noChangeArrowheads="1"/>
            </p:cNvSpPr>
            <p:nvPr/>
          </p:nvSpPr>
          <p:spPr bwMode="auto">
            <a:xfrm>
              <a:off x="2530475" y="1454150"/>
              <a:ext cx="5808000" cy="973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若结点有左子树，则</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lchild</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指向其左孩子；</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否则，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lchild</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指向其直接前驱</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即线索</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p>
          </p:txBody>
        </p:sp>
      </p:grpSp>
      <p:grpSp>
        <p:nvGrpSpPr>
          <p:cNvPr id="5" name="组合 16"/>
          <p:cNvGrpSpPr/>
          <p:nvPr/>
        </p:nvGrpSpPr>
        <p:grpSpPr>
          <a:xfrm>
            <a:off x="854028" y="1594756"/>
            <a:ext cx="577850" cy="627062"/>
            <a:chOff x="6242320" y="1105727"/>
            <a:chExt cx="579005" cy="626656"/>
          </a:xfrm>
        </p:grpSpPr>
        <p:sp>
          <p:nvSpPr>
            <p:cNvPr id="6" name="TextBox 6"/>
            <p:cNvSpPr txBox="1"/>
            <p:nvPr/>
          </p:nvSpPr>
          <p:spPr>
            <a:xfrm>
              <a:off x="6327224" y="1105727"/>
              <a:ext cx="448425" cy="492443"/>
            </a:xfrm>
            <a:prstGeom prst="rect">
              <a:avLst/>
            </a:prstGeom>
            <a:noFill/>
            <a:ln w="9525">
              <a:noFill/>
            </a:ln>
          </p:spPr>
          <p:txBody>
            <a:bodyPr lIns="0" tIns="0" rIns="0" bIns="0"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spcBef>
                  <a:spcPct val="20000"/>
                </a:spcBef>
              </a:pPr>
              <a:r>
                <a:rPr lang="en-US" altLang="zh-CN" sz="3200" b="1" dirty="0">
                  <a:solidFill>
                    <a:srgbClr val="FF9900"/>
                  </a:solidFill>
                  <a:latin typeface="Impact" panose="020B0806030902050204" pitchFamily="34" charset="0"/>
                </a:rPr>
                <a:t>01</a:t>
              </a:r>
              <a:endParaRPr lang="zh-CN" altLang="en-US" sz="3200" b="1" dirty="0">
                <a:solidFill>
                  <a:srgbClr val="FF9900"/>
                </a:solidFill>
                <a:latin typeface="微软雅黑" panose="020B0503020204020204" pitchFamily="34" charset="-122"/>
              </a:endParaRPr>
            </a:p>
          </p:txBody>
        </p:sp>
        <p:sp>
          <p:nvSpPr>
            <p:cNvPr id="7" name="文本框 22"/>
            <p:cNvSpPr txBox="1"/>
            <p:nvPr/>
          </p:nvSpPr>
          <p:spPr>
            <a:xfrm>
              <a:off x="6242320" y="1516939"/>
              <a:ext cx="579005" cy="215444"/>
            </a:xfrm>
            <a:prstGeom prst="rect">
              <a:avLst/>
            </a:prstGeom>
            <a:noFill/>
            <a:ln w="9525">
              <a:noFill/>
            </a:ln>
          </p:spPr>
          <p:txBody>
            <a:bodyPr wrap="none">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spcBef>
                  <a:spcPct val="20000"/>
                </a:spcBef>
                <a:buNone/>
              </a:pPr>
              <a:r>
                <a:rPr lang="en-US" altLang="zh-CN" sz="800" b="1" dirty="0">
                  <a:solidFill>
                    <a:srgbClr val="818181"/>
                  </a:solidFill>
                  <a:latin typeface="Leelawadee" panose="020B0502040204020203" pitchFamily="34" charset="-34"/>
                  <a:ea typeface="楷体_GB2312" pitchFamily="49" charset="-122"/>
                </a:rPr>
                <a:t>OPTION</a:t>
              </a:r>
              <a:endParaRPr lang="zh-CN" altLang="en-US" sz="800" b="1" dirty="0">
                <a:solidFill>
                  <a:srgbClr val="818181"/>
                </a:solidFill>
                <a:latin typeface="Leelawadee" panose="020B0502040204020203" pitchFamily="34" charset="-34"/>
                <a:ea typeface="楷体_GB2312" pitchFamily="49" charset="-122"/>
              </a:endParaRPr>
            </a:p>
          </p:txBody>
        </p:sp>
      </p:grpSp>
      <p:grpSp>
        <p:nvGrpSpPr>
          <p:cNvPr id="11" name="组合 10"/>
          <p:cNvGrpSpPr/>
          <p:nvPr/>
        </p:nvGrpSpPr>
        <p:grpSpPr>
          <a:xfrm>
            <a:off x="395288" y="2872641"/>
            <a:ext cx="8256587" cy="1370013"/>
            <a:chOff x="395288" y="1263650"/>
            <a:chExt cx="8256587" cy="1370013"/>
          </a:xfrm>
        </p:grpSpPr>
        <p:sp>
          <p:nvSpPr>
            <p:cNvPr id="12" name="矩形 11"/>
            <p:cNvSpPr/>
            <p:nvPr/>
          </p:nvSpPr>
          <p:spPr>
            <a:xfrm>
              <a:off x="2347913" y="1263650"/>
              <a:ext cx="6303962" cy="1370013"/>
            </a:xfrm>
            <a:prstGeom prst="rect">
              <a:avLst/>
            </a:prstGeom>
            <a:solidFill>
              <a:schemeClr val="bg2">
                <a:lumMod val="20000"/>
                <a:lumOff val="80000"/>
              </a:schemeClr>
            </a:solidFill>
            <a:ln w="25400" cap="flat" cmpd="sng" algn="ctr">
              <a:noFill/>
              <a:prstDash val="solid"/>
            </a:ln>
            <a:effectLst/>
          </p:spPr>
          <p:txBody>
            <a:bodyPr lIns="121917" tIns="60958" rIns="121917" bIns="60958"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dirty="0">
                <a:ln>
                  <a:noFill/>
                </a:ln>
                <a:solidFill>
                  <a:prstClr val="white"/>
                </a:solidFill>
                <a:effectLst/>
                <a:uLnTx/>
                <a:uFillTx/>
                <a:latin typeface="Calibri" panose="020F0502020204030204"/>
                <a:ea typeface="宋体" panose="02010600030101010101" pitchFamily="2" charset="-122"/>
                <a:cs typeface="+mn-cs"/>
              </a:endParaRPr>
            </a:p>
          </p:txBody>
        </p:sp>
        <p:sp>
          <p:nvSpPr>
            <p:cNvPr id="13" name="等腰三角形 5"/>
            <p:cNvSpPr/>
            <p:nvPr/>
          </p:nvSpPr>
          <p:spPr>
            <a:xfrm rot="5400000">
              <a:off x="577850" y="1081088"/>
              <a:ext cx="1370013" cy="1735137"/>
            </a:xfrm>
            <a:custGeom>
              <a:avLst/>
              <a:gdLst/>
              <a:ahLst/>
              <a:cxnLst/>
              <a:rect l="l" t="t" r="r" b="b"/>
              <a:pathLst>
                <a:path w="1450218" h="1860602">
                  <a:moveTo>
                    <a:pt x="0" y="1860602"/>
                  </a:moveTo>
                  <a:lnTo>
                    <a:pt x="0" y="132410"/>
                  </a:lnTo>
                  <a:lnTo>
                    <a:pt x="582757" y="132410"/>
                  </a:lnTo>
                  <a:lnTo>
                    <a:pt x="725109" y="0"/>
                  </a:lnTo>
                  <a:lnTo>
                    <a:pt x="867461" y="132410"/>
                  </a:lnTo>
                  <a:lnTo>
                    <a:pt x="1450218" y="132410"/>
                  </a:lnTo>
                  <a:lnTo>
                    <a:pt x="1450218" y="1860602"/>
                  </a:lnTo>
                  <a:close/>
                </a:path>
              </a:pathLst>
            </a:custGeom>
            <a:solidFill>
              <a:schemeClr val="bg2">
                <a:lumMod val="20000"/>
                <a:lumOff val="80000"/>
              </a:schemeClr>
            </a:solidFill>
            <a:ln w="25400" cap="flat" cmpd="sng" algn="ctr">
              <a:noFill/>
              <a:prstDash val="solid"/>
            </a:ln>
            <a:effectLst/>
          </p:spPr>
          <p:txBody>
            <a:bodyPr lIns="121917" tIns="60958" rIns="121917" bIns="60958"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14" name="TextBox 4"/>
            <p:cNvSpPr txBox="1"/>
            <p:nvPr/>
          </p:nvSpPr>
          <p:spPr>
            <a:xfrm>
              <a:off x="787400" y="1703388"/>
              <a:ext cx="1166813" cy="492125"/>
            </a:xfrm>
            <a:prstGeom prst="rect">
              <a:avLst/>
            </a:prstGeom>
            <a:noFill/>
          </p:spPr>
          <p:txBody>
            <a:bodyPr lIns="0" tIns="0" rIns="0" bIns="0">
              <a:spAutoFit/>
            </a:bodyPr>
            <a:lstStyle>
              <a:defPPr>
                <a:defRPr lang="zh-CN"/>
              </a:defPPr>
              <a:lvl1pPr>
                <a:defRPr sz="2200">
                  <a:solidFill>
                    <a:schemeClr val="bg1"/>
                  </a:solidFill>
                  <a:latin typeface="微软雅黑" panose="020B0503020204020204" pitchFamily="34" charset="-122"/>
                  <a:ea typeface="微软雅黑" panose="020B0503020204020204" pitchFamily="34" charset="-122"/>
                </a:defRPr>
              </a:lvl1p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3200" b="0" i="0" u="none" strike="noStrike" kern="0" cap="none" spc="40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17" name="Rectangle 25"/>
            <p:cNvSpPr>
              <a:spLocks noChangeArrowheads="1"/>
            </p:cNvSpPr>
            <p:nvPr/>
          </p:nvSpPr>
          <p:spPr bwMode="auto">
            <a:xfrm>
              <a:off x="2530475" y="1454150"/>
              <a:ext cx="5808000" cy="973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若结点有右子树，则</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rchild</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指向其右孩子；</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否则，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rchild</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指向其直接后继</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rgbClr val="FF0000"/>
                  </a:solidFill>
                  <a:effectLst/>
                  <a:uLnTx/>
                  <a:uFillTx/>
                  <a:latin typeface="+mn-lt"/>
                  <a:ea typeface="+mn-ea"/>
                  <a:cs typeface="+mn-ea"/>
                  <a:sym typeface="+mn-lt"/>
                </a:rPr>
                <a:t>即线索</a:t>
              </a:r>
              <a:r>
                <a:rPr kumimoji="0" lang="en-US" altLang="zh-CN" sz="2400" b="0" i="0" u="none" strike="noStrike" kern="1200" cap="none" spc="0" normalizeH="0" baseline="0" noProof="0" dirty="0">
                  <a:ln>
                    <a:noFill/>
                  </a:ln>
                  <a:solidFill>
                    <a:srgbClr val="FF0000"/>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p>
          </p:txBody>
        </p:sp>
      </p:grpSp>
      <p:grpSp>
        <p:nvGrpSpPr>
          <p:cNvPr id="8" name="组合 19"/>
          <p:cNvGrpSpPr/>
          <p:nvPr/>
        </p:nvGrpSpPr>
        <p:grpSpPr>
          <a:xfrm>
            <a:off x="827584" y="3291167"/>
            <a:ext cx="577850" cy="756329"/>
            <a:chOff x="6129195" y="2248741"/>
            <a:chExt cx="579005" cy="756254"/>
          </a:xfrm>
        </p:grpSpPr>
        <p:sp>
          <p:nvSpPr>
            <p:cNvPr id="9" name="TextBox 6"/>
            <p:cNvSpPr txBox="1"/>
            <p:nvPr/>
          </p:nvSpPr>
          <p:spPr>
            <a:xfrm>
              <a:off x="6188810" y="2248741"/>
              <a:ext cx="448425" cy="492443"/>
            </a:xfrm>
            <a:prstGeom prst="rect">
              <a:avLst/>
            </a:prstGeom>
            <a:noFill/>
            <a:ln w="9525">
              <a:noFill/>
            </a:ln>
          </p:spPr>
          <p:txBody>
            <a:bodyPr lIns="0" tIns="0" rIns="0" bIns="0"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spcBef>
                  <a:spcPct val="20000"/>
                </a:spcBef>
              </a:pPr>
              <a:r>
                <a:rPr lang="en-US" altLang="zh-CN" sz="3200" b="1" dirty="0">
                  <a:solidFill>
                    <a:srgbClr val="01ACBE"/>
                  </a:solidFill>
                  <a:latin typeface="Impact" panose="020B0806030902050204" pitchFamily="34" charset="0"/>
                </a:rPr>
                <a:t>02</a:t>
              </a:r>
              <a:endParaRPr lang="zh-CN" altLang="en-US" sz="3200" b="1" dirty="0">
                <a:solidFill>
                  <a:srgbClr val="01ACBE"/>
                </a:solidFill>
                <a:latin typeface="微软雅黑" panose="020B0503020204020204" pitchFamily="34" charset="-122"/>
              </a:endParaRPr>
            </a:p>
          </p:txBody>
        </p:sp>
        <p:sp>
          <p:nvSpPr>
            <p:cNvPr id="10" name="文本框 23"/>
            <p:cNvSpPr txBox="1"/>
            <p:nvPr/>
          </p:nvSpPr>
          <p:spPr>
            <a:xfrm>
              <a:off x="6129195" y="2789551"/>
              <a:ext cx="579005" cy="215444"/>
            </a:xfrm>
            <a:prstGeom prst="rect">
              <a:avLst/>
            </a:prstGeom>
            <a:noFill/>
            <a:ln w="9525">
              <a:noFill/>
            </a:ln>
          </p:spPr>
          <p:txBody>
            <a:bodyPr wrap="none">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spcBef>
                  <a:spcPct val="20000"/>
                </a:spcBef>
                <a:buNone/>
              </a:pPr>
              <a:r>
                <a:rPr lang="en-US" altLang="zh-CN" sz="800" b="1" dirty="0">
                  <a:solidFill>
                    <a:srgbClr val="818181"/>
                  </a:solidFill>
                  <a:latin typeface="Leelawadee" panose="020B0502040204020203" pitchFamily="34" charset="-34"/>
                  <a:ea typeface="楷体_GB2312" pitchFamily="49" charset="-122"/>
                </a:rPr>
                <a:t>OPTION</a:t>
              </a:r>
              <a:endParaRPr lang="zh-CN" altLang="en-US" sz="800" b="1" dirty="0">
                <a:solidFill>
                  <a:srgbClr val="818181"/>
                </a:solidFill>
                <a:latin typeface="Leelawadee" panose="020B0502040204020203" pitchFamily="34" charset="-34"/>
                <a:ea typeface="楷体_GB2312" pitchFamily="49" charset="-122"/>
              </a:endParaRPr>
            </a:p>
          </p:txBody>
        </p:sp>
      </p:grpSp>
    </p:spTree>
  </p:cSld>
  <p:clrMapOvr>
    <a:masterClrMapping/>
  </p:clrMapOvr>
  <p:transition>
    <p:strips dir="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3" presetClass="entr" presetSubtype="16" fill="hold" grpId="0" nodeType="clickEffect">
                                  <p:stCondLst>
                                    <p:cond delay="0"/>
                                  </p:stCondLst>
                                  <p:childTnLst>
                                    <p:set>
                                      <p:cBhvr>
                                        <p:cTn id="13" dur="1" fill="hold">
                                          <p:stCondLst>
                                            <p:cond delay="0"/>
                                          </p:stCondLst>
                                        </p:cTn>
                                        <p:tgtEl>
                                          <p:spTgt spid="770075"/>
                                        </p:tgtEl>
                                        <p:attrNameLst>
                                          <p:attrName>style.visibility</p:attrName>
                                        </p:attrNameLst>
                                      </p:cBhvr>
                                      <p:to>
                                        <p:strVal val="visible"/>
                                      </p:to>
                                    </p:set>
                                    <p:anim calcmode="lin" valueType="num">
                                      <p:cBhvr>
                                        <p:cTn id="14" dur="500" fill="hold"/>
                                        <p:tgtEl>
                                          <p:spTgt spid="770075"/>
                                        </p:tgtEl>
                                        <p:attrNameLst>
                                          <p:attrName>ppt_w</p:attrName>
                                        </p:attrNameLst>
                                      </p:cBhvr>
                                      <p:tavLst>
                                        <p:tav tm="0">
                                          <p:val>
                                            <p:fltVal val="0"/>
                                          </p:val>
                                        </p:tav>
                                        <p:tav tm="100000">
                                          <p:val>
                                            <p:strVal val="#ppt_w"/>
                                          </p:val>
                                        </p:tav>
                                      </p:tavLst>
                                    </p:anim>
                                    <p:anim calcmode="lin" valueType="num">
                                      <p:cBhvr>
                                        <p:cTn id="15" dur="500" fill="hold"/>
                                        <p:tgtEl>
                                          <p:spTgt spid="770075"/>
                                        </p:tgtEl>
                                        <p:attrNameLst>
                                          <p:attrName>ppt_h</p:attrName>
                                        </p:attrNameLst>
                                      </p:cBhvr>
                                      <p:tavLst>
                                        <p:tav tm="0">
                                          <p:val>
                                            <p:fltVal val="0"/>
                                          </p:val>
                                        </p:tav>
                                        <p:tav tm="100000">
                                          <p:val>
                                            <p:strVal val="#ppt_h"/>
                                          </p:val>
                                        </p:tav>
                                      </p:tavLst>
                                    </p:anim>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499"/>
                                          </p:stCondLst>
                                        </p:cTn>
                                        <p:tgtEl>
                                          <p:spTgt spid="770076"/>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1000"/>
                                        <p:tgtEl>
                                          <p:spTgt spid="11"/>
                                        </p:tgtEl>
                                      </p:cBhvr>
                                    </p:animEffect>
                                    <p:anim calcmode="lin" valueType="num">
                                      <p:cBhvr>
                                        <p:cTn id="25" dur="1000" fill="hold"/>
                                        <p:tgtEl>
                                          <p:spTgt spid="11"/>
                                        </p:tgtEl>
                                        <p:attrNameLst>
                                          <p:attrName>ppt_x</p:attrName>
                                        </p:attrNameLst>
                                      </p:cBhvr>
                                      <p:tavLst>
                                        <p:tav tm="0">
                                          <p:val>
                                            <p:strVal val="#ppt_x"/>
                                          </p:val>
                                        </p:tav>
                                        <p:tav tm="100000">
                                          <p:val>
                                            <p:strVal val="#ppt_x"/>
                                          </p:val>
                                        </p:tav>
                                      </p:tavLst>
                                    </p:anim>
                                    <p:anim calcmode="lin" valueType="num">
                                      <p:cBhvr>
                                        <p:cTn id="26"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0075" grpId="0"/>
    </p:bldLst>
  </p:timing>
</p:sld>
</file>

<file path=ppt/slides/slide7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7826" name="圆角矩形 1"/>
          <p:cNvSpPr/>
          <p:nvPr/>
        </p:nvSpPr>
        <p:spPr>
          <a:xfrm>
            <a:off x="755650" y="2133600"/>
            <a:ext cx="7632700" cy="3167063"/>
          </a:xfrm>
          <a:prstGeom prst="roundRect">
            <a:avLst>
              <a:gd name="adj" fmla="val 4241"/>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74754" name="Rectangle 4"/>
          <p:cNvSpPr>
            <a:spLocks noChangeArrowheads="1"/>
          </p:cNvSpPr>
          <p:nvPr/>
        </p:nvSpPr>
        <p:spPr bwMode="auto">
          <a:xfrm>
            <a:off x="1295400" y="2427288"/>
            <a:ext cx="6553200" cy="2579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3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LTag</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zh-CN" sz="2800" b="0" i="0" u="none" strike="noStrike" kern="1200" cap="none" spc="0" normalizeH="0" baseline="0" noProof="0" dirty="0">
                <a:ln>
                  <a:noFill/>
                </a:ln>
                <a:solidFill>
                  <a:schemeClr val="tx1"/>
                </a:solidFill>
                <a:effectLst/>
                <a:uLnTx/>
                <a:uFillTx/>
                <a:latin typeface="+mn-lt"/>
                <a:ea typeface="+mn-ea"/>
                <a:cs typeface="+mn-ea"/>
                <a:sym typeface="+mn-lt"/>
              </a:rPr>
              <a:t>若 </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LTag</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=0, </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lchild</a:t>
            </a:r>
            <a:r>
              <a:rPr kumimoji="0" lang="zh-CN" altLang="zh-CN" sz="2800" b="0" i="0" u="none" strike="noStrike" kern="1200" cap="none" spc="0" normalizeH="0" baseline="0" noProof="0" dirty="0">
                <a:ln>
                  <a:noFill/>
                </a:ln>
                <a:solidFill>
                  <a:schemeClr val="tx1"/>
                </a:solidFill>
                <a:effectLst/>
                <a:uLnTx/>
                <a:uFillTx/>
                <a:latin typeface="+mn-lt"/>
                <a:ea typeface="+mn-ea"/>
                <a:cs typeface="+mn-ea"/>
                <a:sym typeface="+mn-lt"/>
              </a:rPr>
              <a:t>域指向左孩子；</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r>
            <a:b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zh-CN" sz="2800" b="0" i="0" u="none" strike="noStrike" kern="1200" cap="none" spc="0" normalizeH="0" baseline="0" noProof="0" dirty="0">
                <a:ln>
                  <a:noFill/>
                </a:ln>
                <a:solidFill>
                  <a:schemeClr val="tx1"/>
                </a:solidFill>
                <a:effectLst/>
                <a:uLnTx/>
                <a:uFillTx/>
                <a:latin typeface="+mn-lt"/>
                <a:ea typeface="+mn-ea"/>
                <a:cs typeface="+mn-ea"/>
                <a:sym typeface="+mn-lt"/>
              </a:rPr>
              <a:t>若 </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LTag</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=1, </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lchild</a:t>
            </a:r>
            <a:r>
              <a:rPr kumimoji="0" lang="zh-CN" altLang="zh-CN" sz="2800" b="0" i="0" u="none" strike="noStrike" kern="1200" cap="none" spc="0" normalizeH="0" baseline="0" noProof="0" dirty="0">
                <a:ln>
                  <a:noFill/>
                </a:ln>
                <a:solidFill>
                  <a:schemeClr val="tx1"/>
                </a:solidFill>
                <a:effectLst/>
                <a:uLnTx/>
                <a:uFillTx/>
                <a:latin typeface="+mn-lt"/>
                <a:ea typeface="+mn-ea"/>
                <a:cs typeface="+mn-ea"/>
                <a:sym typeface="+mn-lt"/>
              </a:rPr>
              <a:t>域指向其前驱。</a:t>
            </a:r>
            <a:endPar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3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RTag</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zh-CN" sz="2800" b="0" i="0" u="none" strike="noStrike" kern="1200" cap="none" spc="0" normalizeH="0" baseline="0" noProof="0" dirty="0">
                <a:ln>
                  <a:noFill/>
                </a:ln>
                <a:solidFill>
                  <a:schemeClr val="tx1"/>
                </a:solidFill>
                <a:effectLst/>
                <a:uLnTx/>
                <a:uFillTx/>
                <a:latin typeface="+mn-lt"/>
                <a:ea typeface="+mn-ea"/>
                <a:cs typeface="+mn-ea"/>
                <a:sym typeface="+mn-lt"/>
              </a:rPr>
              <a:t>若 </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RTag</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=0, </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rchild</a:t>
            </a:r>
            <a:r>
              <a:rPr kumimoji="0" lang="zh-CN" altLang="zh-CN" sz="2800" b="0" i="0" u="none" strike="noStrike" kern="1200" cap="none" spc="0" normalizeH="0" baseline="0" noProof="0" dirty="0">
                <a:ln>
                  <a:noFill/>
                </a:ln>
                <a:solidFill>
                  <a:schemeClr val="tx1"/>
                </a:solidFill>
                <a:effectLst/>
                <a:uLnTx/>
                <a:uFillTx/>
                <a:latin typeface="+mn-lt"/>
                <a:ea typeface="+mn-ea"/>
                <a:cs typeface="+mn-ea"/>
                <a:sym typeface="+mn-lt"/>
              </a:rPr>
              <a:t>域指向右孩子；</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r>
            <a:b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zh-CN" sz="2800" b="0" i="0" u="none" strike="noStrike" kern="1200" cap="none" spc="0" normalizeH="0" baseline="0" noProof="0" dirty="0">
                <a:ln>
                  <a:noFill/>
                </a:ln>
                <a:solidFill>
                  <a:schemeClr val="tx1"/>
                </a:solidFill>
                <a:effectLst/>
                <a:uLnTx/>
                <a:uFillTx/>
                <a:latin typeface="+mn-lt"/>
                <a:ea typeface="+mn-ea"/>
                <a:cs typeface="+mn-ea"/>
                <a:sym typeface="+mn-lt"/>
              </a:rPr>
              <a:t>若 </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RTag</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=1, </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rchild</a:t>
            </a:r>
            <a:r>
              <a:rPr kumimoji="0" lang="zh-CN" altLang="zh-CN" sz="2800" b="0" i="0" u="none" strike="noStrike" kern="1200" cap="none" spc="0" normalizeH="0" baseline="0" noProof="0" dirty="0">
                <a:ln>
                  <a:noFill/>
                </a:ln>
                <a:solidFill>
                  <a:schemeClr val="tx1"/>
                </a:solidFill>
                <a:effectLst/>
                <a:uLnTx/>
                <a:uFillTx/>
                <a:latin typeface="+mn-lt"/>
                <a:ea typeface="+mn-ea"/>
                <a:cs typeface="+mn-ea"/>
                <a:sym typeface="+mn-lt"/>
              </a:rPr>
              <a:t>域指向其后继。</a:t>
            </a:r>
            <a:r>
              <a:rPr kumimoji="0" lang="zh-CN" altLang="en-US" sz="3600" b="0" i="0" u="none" strike="noStrike" kern="1200" cap="none" spc="0" normalizeH="0" baseline="0" noProof="0" dirty="0">
                <a:ln>
                  <a:noFill/>
                </a:ln>
                <a:solidFill>
                  <a:schemeClr val="tx1"/>
                </a:solidFill>
                <a:effectLst/>
                <a:uLnTx/>
                <a:uFillTx/>
                <a:latin typeface="+mn-lt"/>
                <a:ea typeface="+mn-ea"/>
                <a:cs typeface="+mn-ea"/>
                <a:sym typeface="+mn-lt"/>
              </a:rPr>
              <a:t> </a:t>
            </a:r>
          </a:p>
        </p:txBody>
      </p:sp>
      <p:graphicFrame>
        <p:nvGraphicFramePr>
          <p:cNvPr id="935955" name="Group 19"/>
          <p:cNvGraphicFramePr>
            <a:graphicFrameLocks noGrp="1"/>
          </p:cNvGraphicFramePr>
          <p:nvPr/>
        </p:nvGraphicFramePr>
        <p:xfrm>
          <a:off x="755650" y="1535113"/>
          <a:ext cx="7632699" cy="519112"/>
        </p:xfrm>
        <a:graphic>
          <a:graphicData uri="http://schemas.openxmlformats.org/drawingml/2006/table">
            <a:tbl>
              <a:tblPr/>
              <a:tblGrid>
                <a:gridCol w="1525629"/>
                <a:gridCol w="1527907"/>
                <a:gridCol w="1525629"/>
                <a:gridCol w="1527905"/>
                <a:gridCol w="1525629"/>
              </a:tblGrid>
              <a:tr h="519112">
                <a:tc>
                  <a:txBody>
                    <a:bodyPr/>
                    <a:lstStyle/>
                    <a:p>
                      <a:pPr marL="0" marR="0" lvl="0" indent="0" algn="ctr" defTabSz="914400" rtl="0" eaLnBrk="0" fontAlgn="base" latinLnBrk="0" hangingPunct="0">
                        <a:lnSpc>
                          <a:spcPct val="100000"/>
                        </a:lnSpc>
                        <a:spcBef>
                          <a:spcPct val="20000"/>
                        </a:spcBef>
                        <a:spcAft>
                          <a:spcPct val="0"/>
                        </a:spcAft>
                        <a:buClrTx/>
                        <a:buSzTx/>
                        <a:buFontTx/>
                        <a:buNone/>
                      </a:pPr>
                      <a:r>
                        <a:rPr kumimoji="1" lang="en-US" altLang="zh-CN" sz="2800" b="0" i="0" u="none" strike="noStrike" cap="none" normalizeH="0" baseline="0" dirty="0" err="1">
                          <a:ln>
                            <a:noFill/>
                          </a:ln>
                          <a:solidFill>
                            <a:schemeClr val="bg1"/>
                          </a:solidFill>
                          <a:effectLst/>
                          <a:latin typeface="+mn-lt"/>
                          <a:ea typeface="+mn-ea"/>
                          <a:cs typeface="+mn-ea"/>
                          <a:sym typeface="+mn-lt"/>
                        </a:rPr>
                        <a:t>lchild</a:t>
                      </a:r>
                      <a:endParaRPr kumimoji="1" lang="en-US" altLang="zh-CN" sz="2800" b="0" i="0" u="none" strike="noStrike" cap="none" normalizeH="0" baseline="0" dirty="0">
                        <a:ln>
                          <a:noFill/>
                        </a:ln>
                        <a:solidFill>
                          <a:schemeClr val="bg1"/>
                        </a:solidFill>
                        <a:effectLst/>
                        <a:latin typeface="+mn-lt"/>
                        <a:ea typeface="+mn-ea"/>
                        <a:cs typeface="+mn-ea"/>
                        <a:sym typeface="+mn-lt"/>
                      </a:endParaRPr>
                    </a:p>
                  </a:txBody>
                  <a:tcPr marL="91438" marR="9143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pPr>
                      <a:r>
                        <a:rPr kumimoji="1" lang="en-US" altLang="zh-CN" sz="2800" b="0" i="0" u="none" strike="noStrike" cap="none" normalizeH="0" baseline="0" dirty="0" err="1">
                          <a:ln>
                            <a:noFill/>
                          </a:ln>
                          <a:solidFill>
                            <a:srgbClr val="FF0000"/>
                          </a:solidFill>
                          <a:effectLst/>
                          <a:latin typeface="+mn-lt"/>
                          <a:ea typeface="+mn-ea"/>
                          <a:cs typeface="+mn-ea"/>
                          <a:sym typeface="+mn-lt"/>
                        </a:rPr>
                        <a:t>LTag</a:t>
                      </a:r>
                      <a:endParaRPr kumimoji="1" lang="en-US" altLang="zh-CN" sz="2800" b="0" i="0" u="none" strike="noStrike" cap="none" normalizeH="0" baseline="0" dirty="0">
                        <a:ln>
                          <a:noFill/>
                        </a:ln>
                        <a:solidFill>
                          <a:srgbClr val="FF0000"/>
                        </a:solidFill>
                        <a:effectLst/>
                        <a:latin typeface="+mn-lt"/>
                        <a:ea typeface="+mn-ea"/>
                        <a:cs typeface="+mn-ea"/>
                        <a:sym typeface="+mn-lt"/>
                      </a:endParaRPr>
                    </a:p>
                  </a:txBody>
                  <a:tcPr marL="91438" marR="9143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pPr>
                      <a:r>
                        <a:rPr kumimoji="1" lang="en-US" altLang="zh-CN" sz="2800" b="0" i="0" u="none" strike="noStrike" cap="none" normalizeH="0" baseline="0" dirty="0">
                          <a:ln>
                            <a:noFill/>
                          </a:ln>
                          <a:solidFill>
                            <a:schemeClr val="bg1"/>
                          </a:solidFill>
                          <a:effectLst/>
                          <a:latin typeface="+mn-lt"/>
                          <a:ea typeface="+mn-ea"/>
                          <a:cs typeface="+mn-ea"/>
                          <a:sym typeface="+mn-lt"/>
                        </a:rPr>
                        <a:t>data</a:t>
                      </a:r>
                    </a:p>
                  </a:txBody>
                  <a:tcPr marL="91438" marR="9143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pPr>
                      <a:r>
                        <a:rPr kumimoji="1" lang="en-US" altLang="zh-CN" sz="2800" b="0" i="0" u="none" strike="noStrike" cap="none" normalizeH="0" baseline="0" dirty="0" err="1">
                          <a:ln>
                            <a:noFill/>
                          </a:ln>
                          <a:solidFill>
                            <a:srgbClr val="FF0000"/>
                          </a:solidFill>
                          <a:effectLst/>
                          <a:latin typeface="+mn-lt"/>
                          <a:ea typeface="+mn-ea"/>
                          <a:cs typeface="+mn-ea"/>
                          <a:sym typeface="+mn-lt"/>
                        </a:rPr>
                        <a:t>RTag</a:t>
                      </a:r>
                      <a:endParaRPr kumimoji="1" lang="en-US" altLang="zh-CN" sz="2800" b="0" i="0" u="none" strike="noStrike" cap="none" normalizeH="0" baseline="0" dirty="0">
                        <a:ln>
                          <a:noFill/>
                        </a:ln>
                        <a:solidFill>
                          <a:srgbClr val="FF0000"/>
                        </a:solidFill>
                        <a:effectLst/>
                        <a:latin typeface="+mn-lt"/>
                        <a:ea typeface="+mn-ea"/>
                        <a:cs typeface="+mn-ea"/>
                        <a:sym typeface="+mn-lt"/>
                      </a:endParaRPr>
                    </a:p>
                  </a:txBody>
                  <a:tcPr marL="91438" marR="9143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pPr>
                      <a:r>
                        <a:rPr kumimoji="1" lang="en-US" altLang="zh-CN" sz="2800" b="0" i="0" u="none" strike="noStrike" cap="none" normalizeH="0" baseline="0" dirty="0" err="1">
                          <a:ln>
                            <a:noFill/>
                          </a:ln>
                          <a:solidFill>
                            <a:schemeClr val="bg1"/>
                          </a:solidFill>
                          <a:effectLst/>
                          <a:latin typeface="+mn-lt"/>
                          <a:ea typeface="+mn-ea"/>
                          <a:cs typeface="+mn-ea"/>
                          <a:sym typeface="+mn-lt"/>
                        </a:rPr>
                        <a:t>rchild</a:t>
                      </a:r>
                      <a:endParaRPr kumimoji="1" lang="en-US" altLang="zh-CN" sz="2800" b="0" i="0" u="none" strike="noStrike" cap="none" normalizeH="0" baseline="0" dirty="0">
                        <a:ln>
                          <a:noFill/>
                        </a:ln>
                        <a:solidFill>
                          <a:schemeClr val="bg1"/>
                        </a:solidFill>
                        <a:effectLst/>
                        <a:latin typeface="+mn-lt"/>
                        <a:ea typeface="+mn-ea"/>
                        <a:cs typeface="+mn-ea"/>
                        <a:sym typeface="+mn-lt"/>
                      </a:endParaRPr>
                    </a:p>
                  </a:txBody>
                  <a:tcPr marL="91438" marR="9143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r>
            </a:tbl>
          </a:graphicData>
        </a:graphic>
      </p:graphicFrame>
      <p:sp>
        <p:nvSpPr>
          <p:cNvPr id="74769" name="Rectangle 20"/>
          <p:cNvSpPr>
            <a:spLocks noChangeArrowheads="1"/>
          </p:cNvSpPr>
          <p:nvPr/>
        </p:nvSpPr>
        <p:spPr bwMode="auto">
          <a:xfrm>
            <a:off x="900113" y="220663"/>
            <a:ext cx="419735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线索化二叉树</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9359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8850" name="矩形 3"/>
          <p:cNvSpPr/>
          <p:nvPr/>
        </p:nvSpPr>
        <p:spPr>
          <a:xfrm>
            <a:off x="0" y="1412875"/>
            <a:ext cx="4049713" cy="4824413"/>
          </a:xfrm>
          <a:prstGeom prst="rect">
            <a:avLst/>
          </a:prstGeom>
          <a:solidFill>
            <a:srgbClr val="E2D9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83971" name="矩形 73"/>
          <p:cNvSpPr/>
          <p:nvPr/>
        </p:nvSpPr>
        <p:spPr>
          <a:xfrm>
            <a:off x="4175125" y="1412875"/>
            <a:ext cx="4968875" cy="4824413"/>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grpSp>
        <p:nvGrpSpPr>
          <p:cNvPr id="2" name="Group 4"/>
          <p:cNvGrpSpPr/>
          <p:nvPr/>
        </p:nvGrpSpPr>
        <p:grpSpPr>
          <a:xfrm>
            <a:off x="919163" y="4027488"/>
            <a:ext cx="1852612" cy="1668462"/>
            <a:chOff x="1632" y="768"/>
            <a:chExt cx="1167" cy="1051"/>
          </a:xfrm>
        </p:grpSpPr>
        <p:sp>
          <p:nvSpPr>
            <p:cNvPr id="75779" name="Oval 5"/>
            <p:cNvSpPr>
              <a:spLocks noChangeArrowheads="1"/>
            </p:cNvSpPr>
            <p:nvPr/>
          </p:nvSpPr>
          <p:spPr bwMode="auto">
            <a:xfrm>
              <a:off x="2112" y="768"/>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a:t>
              </a:r>
            </a:p>
          </p:txBody>
        </p:sp>
        <p:sp>
          <p:nvSpPr>
            <p:cNvPr id="75780" name="Oval 6"/>
            <p:cNvSpPr>
              <a:spLocks noChangeArrowheads="1"/>
            </p:cNvSpPr>
            <p:nvPr/>
          </p:nvSpPr>
          <p:spPr bwMode="auto">
            <a:xfrm>
              <a:off x="1632" y="1152"/>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75781" name="Oval 7"/>
            <p:cNvSpPr>
              <a:spLocks noChangeArrowheads="1"/>
            </p:cNvSpPr>
            <p:nvPr/>
          </p:nvSpPr>
          <p:spPr bwMode="auto">
            <a:xfrm>
              <a:off x="1920" y="1584"/>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C</a:t>
              </a:r>
            </a:p>
          </p:txBody>
        </p:sp>
        <p:sp>
          <p:nvSpPr>
            <p:cNvPr id="75782" name="Oval 8"/>
            <p:cNvSpPr>
              <a:spLocks noChangeArrowheads="1"/>
            </p:cNvSpPr>
            <p:nvPr/>
          </p:nvSpPr>
          <p:spPr bwMode="auto">
            <a:xfrm>
              <a:off x="2544" y="1152"/>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D</a:t>
              </a:r>
            </a:p>
          </p:txBody>
        </p:sp>
        <p:sp>
          <p:nvSpPr>
            <p:cNvPr id="75783" name="Oval 9"/>
            <p:cNvSpPr>
              <a:spLocks noChangeArrowheads="1"/>
            </p:cNvSpPr>
            <p:nvPr/>
          </p:nvSpPr>
          <p:spPr bwMode="auto">
            <a:xfrm>
              <a:off x="2256" y="1584"/>
              <a:ext cx="255" cy="235"/>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E</a:t>
              </a:r>
            </a:p>
          </p:txBody>
        </p:sp>
        <p:sp>
          <p:nvSpPr>
            <p:cNvPr id="75784" name="Line 10"/>
            <p:cNvSpPr>
              <a:spLocks noChangeShapeType="1"/>
            </p:cNvSpPr>
            <p:nvPr/>
          </p:nvSpPr>
          <p:spPr bwMode="auto">
            <a:xfrm flipH="1">
              <a:off x="1872" y="960"/>
              <a:ext cx="24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785" name="Line 11"/>
            <p:cNvSpPr>
              <a:spLocks noChangeShapeType="1"/>
            </p:cNvSpPr>
            <p:nvPr/>
          </p:nvSpPr>
          <p:spPr bwMode="auto">
            <a:xfrm>
              <a:off x="2304" y="960"/>
              <a:ext cx="24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786" name="Line 12"/>
            <p:cNvSpPr>
              <a:spLocks noChangeShapeType="1"/>
            </p:cNvSpPr>
            <p:nvPr/>
          </p:nvSpPr>
          <p:spPr bwMode="auto">
            <a:xfrm>
              <a:off x="1824" y="1392"/>
              <a:ext cx="144"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787" name="Line 13"/>
            <p:cNvSpPr>
              <a:spLocks noChangeShapeType="1"/>
            </p:cNvSpPr>
            <p:nvPr/>
          </p:nvSpPr>
          <p:spPr bwMode="auto">
            <a:xfrm flipH="1">
              <a:off x="2496" y="1392"/>
              <a:ext cx="144"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36974" name="Line 14"/>
          <p:cNvSpPr>
            <a:spLocks noChangeShapeType="1"/>
          </p:cNvSpPr>
          <p:nvPr/>
        </p:nvSpPr>
        <p:spPr bwMode="auto">
          <a:xfrm flipH="1">
            <a:off x="5373688" y="3422650"/>
            <a:ext cx="609600" cy="609600"/>
          </a:xfrm>
          <a:prstGeom prst="line">
            <a:avLst/>
          </a:prstGeom>
          <a:noFill/>
          <a:ln w="38100">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6975" name="Line 15"/>
          <p:cNvSpPr>
            <a:spLocks noChangeShapeType="1"/>
          </p:cNvSpPr>
          <p:nvPr/>
        </p:nvSpPr>
        <p:spPr bwMode="auto">
          <a:xfrm flipV="1">
            <a:off x="4687888" y="3270250"/>
            <a:ext cx="1219200" cy="838200"/>
          </a:xfrm>
          <a:prstGeom prst="line">
            <a:avLst/>
          </a:prstGeom>
          <a:noFill/>
          <a:ln w="38100">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6976" name="Line 16"/>
          <p:cNvSpPr>
            <a:spLocks noChangeShapeType="1"/>
          </p:cNvSpPr>
          <p:nvPr/>
        </p:nvSpPr>
        <p:spPr bwMode="auto">
          <a:xfrm>
            <a:off x="7202488" y="3422650"/>
            <a:ext cx="838200" cy="609600"/>
          </a:xfrm>
          <a:prstGeom prst="line">
            <a:avLst/>
          </a:prstGeom>
          <a:noFill/>
          <a:ln w="38100">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6977" name="Line 17"/>
          <p:cNvSpPr>
            <a:spLocks noChangeShapeType="1"/>
          </p:cNvSpPr>
          <p:nvPr/>
        </p:nvSpPr>
        <p:spPr bwMode="auto">
          <a:xfrm>
            <a:off x="5830888" y="4337050"/>
            <a:ext cx="381000" cy="685800"/>
          </a:xfrm>
          <a:prstGeom prst="line">
            <a:avLst/>
          </a:prstGeom>
          <a:noFill/>
          <a:ln w="38100">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6978" name="Line 18"/>
          <p:cNvSpPr>
            <a:spLocks noChangeShapeType="1"/>
          </p:cNvSpPr>
          <p:nvPr/>
        </p:nvSpPr>
        <p:spPr bwMode="auto">
          <a:xfrm flipH="1" flipV="1">
            <a:off x="4687888" y="4413250"/>
            <a:ext cx="533400" cy="685800"/>
          </a:xfrm>
          <a:prstGeom prst="line">
            <a:avLst/>
          </a:prstGeom>
          <a:noFill/>
          <a:ln w="38100">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6979" name="Line 19"/>
          <p:cNvSpPr>
            <a:spLocks noChangeShapeType="1"/>
          </p:cNvSpPr>
          <p:nvPr/>
        </p:nvSpPr>
        <p:spPr bwMode="auto">
          <a:xfrm flipH="1">
            <a:off x="7050088" y="4337050"/>
            <a:ext cx="457200" cy="685800"/>
          </a:xfrm>
          <a:prstGeom prst="line">
            <a:avLst/>
          </a:prstGeom>
          <a:noFill/>
          <a:ln w="38100">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6980" name="Line 20"/>
          <p:cNvSpPr>
            <a:spLocks noChangeShapeType="1"/>
          </p:cNvSpPr>
          <p:nvPr/>
        </p:nvSpPr>
        <p:spPr bwMode="auto">
          <a:xfrm flipV="1">
            <a:off x="6364288" y="4260850"/>
            <a:ext cx="914400" cy="762000"/>
          </a:xfrm>
          <a:prstGeom prst="line">
            <a:avLst/>
          </a:prstGeom>
          <a:noFill/>
          <a:ln w="38100">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6981" name="Line 21"/>
          <p:cNvSpPr>
            <a:spLocks noChangeShapeType="1"/>
          </p:cNvSpPr>
          <p:nvPr/>
        </p:nvSpPr>
        <p:spPr bwMode="auto">
          <a:xfrm flipH="1">
            <a:off x="7964488" y="4413250"/>
            <a:ext cx="533400" cy="609600"/>
          </a:xfrm>
          <a:prstGeom prst="line">
            <a:avLst/>
          </a:prstGeom>
          <a:noFill/>
          <a:ln w="38100">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6982" name="Line 22"/>
          <p:cNvSpPr>
            <a:spLocks noChangeShapeType="1"/>
          </p:cNvSpPr>
          <p:nvPr/>
        </p:nvSpPr>
        <p:spPr bwMode="auto">
          <a:xfrm flipV="1">
            <a:off x="6821488" y="4413250"/>
            <a:ext cx="533400" cy="685800"/>
          </a:xfrm>
          <a:prstGeom prst="line">
            <a:avLst/>
          </a:prstGeom>
          <a:noFill/>
          <a:ln w="38100">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3" name="Group 23"/>
          <p:cNvGrpSpPr/>
          <p:nvPr/>
        </p:nvGrpSpPr>
        <p:grpSpPr>
          <a:xfrm>
            <a:off x="4535488" y="2508250"/>
            <a:ext cx="4191000" cy="3527425"/>
            <a:chOff x="2928" y="144"/>
            <a:chExt cx="2640" cy="2222"/>
          </a:xfrm>
        </p:grpSpPr>
        <p:grpSp>
          <p:nvGrpSpPr>
            <p:cNvPr id="78882" name="Group 24"/>
            <p:cNvGrpSpPr/>
            <p:nvPr/>
          </p:nvGrpSpPr>
          <p:grpSpPr>
            <a:xfrm>
              <a:off x="3792" y="528"/>
              <a:ext cx="912" cy="256"/>
              <a:chOff x="3216" y="3312"/>
              <a:chExt cx="1680" cy="256"/>
            </a:xfrm>
          </p:grpSpPr>
          <p:sp>
            <p:nvSpPr>
              <p:cNvPr id="75799" name="Rectangle 25"/>
              <p:cNvSpPr>
                <a:spLocks noChangeArrowheads="1"/>
              </p:cNvSpPr>
              <p:nvPr/>
            </p:nvSpPr>
            <p:spPr bwMode="auto">
              <a:xfrm>
                <a:off x="3216" y="3312"/>
                <a:ext cx="1680"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A</a:t>
                </a:r>
              </a:p>
            </p:txBody>
          </p:sp>
          <p:sp>
            <p:nvSpPr>
              <p:cNvPr id="75800" name="Line 26"/>
              <p:cNvSpPr>
                <a:spLocks noChangeShapeType="1"/>
              </p:cNvSpPr>
              <p:nvPr/>
            </p:nvSpPr>
            <p:spPr bwMode="auto">
              <a:xfrm>
                <a:off x="3551" y="3312"/>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01" name="Line 27"/>
              <p:cNvSpPr>
                <a:spLocks noChangeShapeType="1"/>
              </p:cNvSpPr>
              <p:nvPr/>
            </p:nvSpPr>
            <p:spPr bwMode="auto">
              <a:xfrm>
                <a:off x="3888"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02" name="Line 28"/>
              <p:cNvSpPr>
                <a:spLocks noChangeShapeType="1"/>
              </p:cNvSpPr>
              <p:nvPr/>
            </p:nvSpPr>
            <p:spPr bwMode="auto">
              <a:xfrm>
                <a:off x="4224"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03" name="Line 29"/>
              <p:cNvSpPr>
                <a:spLocks noChangeShapeType="1"/>
              </p:cNvSpPr>
              <p:nvPr/>
            </p:nvSpPr>
            <p:spPr bwMode="auto">
              <a:xfrm>
                <a:off x="4561" y="3312"/>
                <a:ext cx="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5804" name="Rectangle 30"/>
            <p:cNvSpPr>
              <a:spLocks noChangeArrowheads="1"/>
            </p:cNvSpPr>
            <p:nvPr/>
          </p:nvSpPr>
          <p:spPr bwMode="auto">
            <a:xfrm>
              <a:off x="2928" y="1104"/>
              <a:ext cx="912"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B</a:t>
              </a:r>
            </a:p>
          </p:txBody>
        </p:sp>
        <p:sp>
          <p:nvSpPr>
            <p:cNvPr id="75805" name="Line 31"/>
            <p:cNvSpPr>
              <a:spLocks noChangeShapeType="1"/>
            </p:cNvSpPr>
            <p:nvPr/>
          </p:nvSpPr>
          <p:spPr bwMode="auto">
            <a:xfrm>
              <a:off x="3110" y="1104"/>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06" name="Line 32"/>
            <p:cNvSpPr>
              <a:spLocks noChangeShapeType="1"/>
            </p:cNvSpPr>
            <p:nvPr/>
          </p:nvSpPr>
          <p:spPr bwMode="auto">
            <a:xfrm>
              <a:off x="3293" y="1104"/>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07" name="Line 33"/>
            <p:cNvSpPr>
              <a:spLocks noChangeShapeType="1"/>
            </p:cNvSpPr>
            <p:nvPr/>
          </p:nvSpPr>
          <p:spPr bwMode="auto">
            <a:xfrm>
              <a:off x="3475" y="1104"/>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08" name="Line 34"/>
            <p:cNvSpPr>
              <a:spLocks noChangeShapeType="1"/>
            </p:cNvSpPr>
            <p:nvPr/>
          </p:nvSpPr>
          <p:spPr bwMode="auto">
            <a:xfrm>
              <a:off x="3658" y="1104"/>
              <a:ext cx="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78888" name="Group 35"/>
            <p:cNvGrpSpPr/>
            <p:nvPr/>
          </p:nvGrpSpPr>
          <p:grpSpPr>
            <a:xfrm>
              <a:off x="4656" y="1104"/>
              <a:ext cx="912" cy="256"/>
              <a:chOff x="3216" y="3312"/>
              <a:chExt cx="1680" cy="256"/>
            </a:xfrm>
          </p:grpSpPr>
          <p:sp>
            <p:nvSpPr>
              <p:cNvPr id="75810" name="Rectangle 36"/>
              <p:cNvSpPr>
                <a:spLocks noChangeArrowheads="1"/>
              </p:cNvSpPr>
              <p:nvPr/>
            </p:nvSpPr>
            <p:spPr bwMode="auto">
              <a:xfrm>
                <a:off x="3216" y="3312"/>
                <a:ext cx="1680"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D</a:t>
                </a:r>
              </a:p>
            </p:txBody>
          </p:sp>
          <p:sp>
            <p:nvSpPr>
              <p:cNvPr id="75811" name="Line 37"/>
              <p:cNvSpPr>
                <a:spLocks noChangeShapeType="1"/>
              </p:cNvSpPr>
              <p:nvPr/>
            </p:nvSpPr>
            <p:spPr bwMode="auto">
              <a:xfrm>
                <a:off x="3551" y="3312"/>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12" name="Line 38"/>
              <p:cNvSpPr>
                <a:spLocks noChangeShapeType="1"/>
              </p:cNvSpPr>
              <p:nvPr/>
            </p:nvSpPr>
            <p:spPr bwMode="auto">
              <a:xfrm>
                <a:off x="3888"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13" name="Line 39"/>
              <p:cNvSpPr>
                <a:spLocks noChangeShapeType="1"/>
              </p:cNvSpPr>
              <p:nvPr/>
            </p:nvSpPr>
            <p:spPr bwMode="auto">
              <a:xfrm>
                <a:off x="4224"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14" name="Line 40"/>
              <p:cNvSpPr>
                <a:spLocks noChangeShapeType="1"/>
              </p:cNvSpPr>
              <p:nvPr/>
            </p:nvSpPr>
            <p:spPr bwMode="auto">
              <a:xfrm>
                <a:off x="4561" y="3312"/>
                <a:ext cx="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8889" name="Group 41"/>
            <p:cNvGrpSpPr/>
            <p:nvPr/>
          </p:nvGrpSpPr>
          <p:grpSpPr>
            <a:xfrm>
              <a:off x="3264" y="1728"/>
              <a:ext cx="912" cy="256"/>
              <a:chOff x="3216" y="3312"/>
              <a:chExt cx="1680" cy="256"/>
            </a:xfrm>
          </p:grpSpPr>
          <p:sp>
            <p:nvSpPr>
              <p:cNvPr id="75816" name="Rectangle 42"/>
              <p:cNvSpPr>
                <a:spLocks noChangeArrowheads="1"/>
              </p:cNvSpPr>
              <p:nvPr/>
            </p:nvSpPr>
            <p:spPr bwMode="auto">
              <a:xfrm>
                <a:off x="3216" y="3312"/>
                <a:ext cx="1680"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C</a:t>
                </a:r>
              </a:p>
            </p:txBody>
          </p:sp>
          <p:sp>
            <p:nvSpPr>
              <p:cNvPr id="75817" name="Line 43"/>
              <p:cNvSpPr>
                <a:spLocks noChangeShapeType="1"/>
              </p:cNvSpPr>
              <p:nvPr/>
            </p:nvSpPr>
            <p:spPr bwMode="auto">
              <a:xfrm>
                <a:off x="3551" y="3312"/>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18" name="Line 44"/>
              <p:cNvSpPr>
                <a:spLocks noChangeShapeType="1"/>
              </p:cNvSpPr>
              <p:nvPr/>
            </p:nvSpPr>
            <p:spPr bwMode="auto">
              <a:xfrm>
                <a:off x="3888"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19" name="Line 45"/>
              <p:cNvSpPr>
                <a:spLocks noChangeShapeType="1"/>
              </p:cNvSpPr>
              <p:nvPr/>
            </p:nvSpPr>
            <p:spPr bwMode="auto">
              <a:xfrm>
                <a:off x="4224"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20" name="Line 46"/>
              <p:cNvSpPr>
                <a:spLocks noChangeShapeType="1"/>
              </p:cNvSpPr>
              <p:nvPr/>
            </p:nvSpPr>
            <p:spPr bwMode="auto">
              <a:xfrm>
                <a:off x="4561" y="3312"/>
                <a:ext cx="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8890" name="Group 47"/>
            <p:cNvGrpSpPr/>
            <p:nvPr/>
          </p:nvGrpSpPr>
          <p:grpSpPr>
            <a:xfrm>
              <a:off x="4272" y="1728"/>
              <a:ext cx="912" cy="256"/>
              <a:chOff x="3216" y="3312"/>
              <a:chExt cx="1680" cy="256"/>
            </a:xfrm>
          </p:grpSpPr>
          <p:sp>
            <p:nvSpPr>
              <p:cNvPr id="75822" name="Rectangle 48"/>
              <p:cNvSpPr>
                <a:spLocks noChangeArrowheads="1"/>
              </p:cNvSpPr>
              <p:nvPr/>
            </p:nvSpPr>
            <p:spPr bwMode="auto">
              <a:xfrm>
                <a:off x="3216" y="3312"/>
                <a:ext cx="1680"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E</a:t>
                </a:r>
              </a:p>
            </p:txBody>
          </p:sp>
          <p:sp>
            <p:nvSpPr>
              <p:cNvPr id="75823" name="Line 49"/>
              <p:cNvSpPr>
                <a:spLocks noChangeShapeType="1"/>
              </p:cNvSpPr>
              <p:nvPr/>
            </p:nvSpPr>
            <p:spPr bwMode="auto">
              <a:xfrm>
                <a:off x="3551" y="3312"/>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24" name="Line 50"/>
              <p:cNvSpPr>
                <a:spLocks noChangeShapeType="1"/>
              </p:cNvSpPr>
              <p:nvPr/>
            </p:nvSpPr>
            <p:spPr bwMode="auto">
              <a:xfrm>
                <a:off x="3888"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25" name="Line 51"/>
              <p:cNvSpPr>
                <a:spLocks noChangeShapeType="1"/>
              </p:cNvSpPr>
              <p:nvPr/>
            </p:nvSpPr>
            <p:spPr bwMode="auto">
              <a:xfrm>
                <a:off x="4224"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26" name="Line 52"/>
              <p:cNvSpPr>
                <a:spLocks noChangeShapeType="1"/>
              </p:cNvSpPr>
              <p:nvPr/>
            </p:nvSpPr>
            <p:spPr bwMode="auto">
              <a:xfrm>
                <a:off x="4561" y="3312"/>
                <a:ext cx="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5827" name="Line 53"/>
            <p:cNvSpPr>
              <a:spLocks noChangeShapeType="1"/>
            </p:cNvSpPr>
            <p:nvPr/>
          </p:nvSpPr>
          <p:spPr bwMode="auto">
            <a:xfrm flipH="1">
              <a:off x="4272" y="288"/>
              <a:ext cx="96" cy="240"/>
            </a:xfrm>
            <a:prstGeom prst="line">
              <a:avLst/>
            </a:prstGeom>
            <a:noFill/>
            <a:ln w="38100">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28" name="Text Box 54"/>
            <p:cNvSpPr txBox="1">
              <a:spLocks noChangeArrowheads="1"/>
            </p:cNvSpPr>
            <p:nvPr/>
          </p:nvSpPr>
          <p:spPr bwMode="auto">
            <a:xfrm>
              <a:off x="4368" y="144"/>
              <a:ext cx="21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T</a:t>
              </a:r>
            </a:p>
          </p:txBody>
        </p:sp>
        <p:sp>
          <p:nvSpPr>
            <p:cNvPr id="75829" name="Text Box 55"/>
            <p:cNvSpPr txBox="1">
              <a:spLocks noChangeArrowheads="1"/>
            </p:cNvSpPr>
            <p:nvPr/>
          </p:nvSpPr>
          <p:spPr bwMode="auto">
            <a:xfrm>
              <a:off x="3369" y="2078"/>
              <a:ext cx="175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先序序列：</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ABCDE</a:t>
              </a:r>
            </a:p>
          </p:txBody>
        </p:sp>
      </p:grpSp>
      <p:sp>
        <p:nvSpPr>
          <p:cNvPr id="937016" name="Text Box 56"/>
          <p:cNvSpPr txBox="1">
            <a:spLocks noChangeArrowheads="1"/>
          </p:cNvSpPr>
          <p:nvPr/>
        </p:nvSpPr>
        <p:spPr bwMode="auto">
          <a:xfrm>
            <a:off x="6189663" y="3132138"/>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37017" name="Text Box 57"/>
          <p:cNvSpPr txBox="1">
            <a:spLocks noChangeArrowheads="1"/>
          </p:cNvSpPr>
          <p:nvPr/>
        </p:nvSpPr>
        <p:spPr bwMode="auto">
          <a:xfrm>
            <a:off x="6762750" y="3135313"/>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37018" name="Text Box 58"/>
          <p:cNvSpPr txBox="1">
            <a:spLocks noChangeArrowheads="1"/>
          </p:cNvSpPr>
          <p:nvPr/>
        </p:nvSpPr>
        <p:spPr bwMode="auto">
          <a:xfrm>
            <a:off x="5389563" y="4040188"/>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37019" name="Text Box 59"/>
          <p:cNvSpPr txBox="1">
            <a:spLocks noChangeArrowheads="1"/>
          </p:cNvSpPr>
          <p:nvPr/>
        </p:nvSpPr>
        <p:spPr bwMode="auto">
          <a:xfrm>
            <a:off x="7542213" y="4038600"/>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37020" name="Text Box 60"/>
          <p:cNvSpPr txBox="1">
            <a:spLocks noChangeArrowheads="1"/>
          </p:cNvSpPr>
          <p:nvPr/>
        </p:nvSpPr>
        <p:spPr bwMode="auto">
          <a:xfrm>
            <a:off x="4808538" y="4025900"/>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7021" name="Text Box 61"/>
          <p:cNvSpPr txBox="1">
            <a:spLocks noChangeArrowheads="1"/>
          </p:cNvSpPr>
          <p:nvPr/>
        </p:nvSpPr>
        <p:spPr bwMode="auto">
          <a:xfrm>
            <a:off x="8123238" y="4038600"/>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7022" name="Text Box 62"/>
          <p:cNvSpPr txBox="1">
            <a:spLocks noChangeArrowheads="1"/>
          </p:cNvSpPr>
          <p:nvPr/>
        </p:nvSpPr>
        <p:spPr bwMode="auto">
          <a:xfrm>
            <a:off x="5946775" y="5041900"/>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7023" name="Text Box 63"/>
          <p:cNvSpPr txBox="1">
            <a:spLocks noChangeArrowheads="1"/>
          </p:cNvSpPr>
          <p:nvPr/>
        </p:nvSpPr>
        <p:spPr bwMode="auto">
          <a:xfrm>
            <a:off x="7529513" y="5016500"/>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7024" name="Text Box 64"/>
          <p:cNvSpPr txBox="1">
            <a:spLocks noChangeArrowheads="1"/>
          </p:cNvSpPr>
          <p:nvPr/>
        </p:nvSpPr>
        <p:spPr bwMode="auto">
          <a:xfrm>
            <a:off x="7789863" y="4986338"/>
            <a:ext cx="361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endParaRPr kumimoji="0" lang="en-US"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7025" name="Text Box 65"/>
          <p:cNvSpPr txBox="1">
            <a:spLocks noChangeArrowheads="1"/>
          </p:cNvSpPr>
          <p:nvPr/>
        </p:nvSpPr>
        <p:spPr bwMode="auto">
          <a:xfrm>
            <a:off x="5327650" y="5040313"/>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7026" name="Text Box 66"/>
          <p:cNvSpPr txBox="1">
            <a:spLocks noChangeArrowheads="1"/>
          </p:cNvSpPr>
          <p:nvPr/>
        </p:nvSpPr>
        <p:spPr bwMode="auto">
          <a:xfrm>
            <a:off x="6948488" y="5040313"/>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1</a:t>
            </a:r>
          </a:p>
        </p:txBody>
      </p:sp>
      <p:grpSp>
        <p:nvGrpSpPr>
          <p:cNvPr id="8" name="Group 67"/>
          <p:cNvGrpSpPr/>
          <p:nvPr/>
        </p:nvGrpSpPr>
        <p:grpSpPr>
          <a:xfrm>
            <a:off x="4264025" y="1673225"/>
            <a:ext cx="4700588" cy="430213"/>
            <a:chOff x="3349" y="3305"/>
            <a:chExt cx="1547" cy="271"/>
          </a:xfrm>
        </p:grpSpPr>
        <p:sp>
          <p:nvSpPr>
            <p:cNvPr id="75842" name="Rectangle 68"/>
            <p:cNvSpPr>
              <a:spLocks noChangeArrowheads="1"/>
            </p:cNvSpPr>
            <p:nvPr/>
          </p:nvSpPr>
          <p:spPr bwMode="auto">
            <a:xfrm>
              <a:off x="3349" y="3305"/>
              <a:ext cx="1547" cy="271"/>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lchild</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LTag</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data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RTag</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rchild</a:t>
              </a:r>
              <a:endPar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75843" name="Line 69"/>
            <p:cNvSpPr>
              <a:spLocks noChangeShapeType="1"/>
            </p:cNvSpPr>
            <p:nvPr/>
          </p:nvSpPr>
          <p:spPr bwMode="auto">
            <a:xfrm>
              <a:off x="3650" y="3312"/>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44" name="Line 70"/>
            <p:cNvSpPr>
              <a:spLocks noChangeShapeType="1"/>
            </p:cNvSpPr>
            <p:nvPr/>
          </p:nvSpPr>
          <p:spPr bwMode="auto">
            <a:xfrm>
              <a:off x="3934"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45" name="Line 71"/>
            <p:cNvSpPr>
              <a:spLocks noChangeShapeType="1"/>
            </p:cNvSpPr>
            <p:nvPr/>
          </p:nvSpPr>
          <p:spPr bwMode="auto">
            <a:xfrm>
              <a:off x="4224"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5846" name="Line 72"/>
            <p:cNvSpPr>
              <a:spLocks noChangeShapeType="1"/>
            </p:cNvSpPr>
            <p:nvPr/>
          </p:nvSpPr>
          <p:spPr bwMode="auto">
            <a:xfrm>
              <a:off x="4560" y="3312"/>
              <a:ext cx="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5847" name="Rectangle 74"/>
          <p:cNvSpPr>
            <a:spLocks noChangeArrowheads="1"/>
          </p:cNvSpPr>
          <p:nvPr/>
        </p:nvSpPr>
        <p:spPr bwMode="auto">
          <a:xfrm>
            <a:off x="800100" y="203200"/>
            <a:ext cx="419735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先序线索二叉树</a:t>
            </a:r>
          </a:p>
        </p:txBody>
      </p:sp>
      <p:sp>
        <p:nvSpPr>
          <p:cNvPr id="75848" name="Rectangle 75"/>
          <p:cNvSpPr>
            <a:spLocks noChangeArrowheads="1"/>
          </p:cNvSpPr>
          <p:nvPr/>
        </p:nvSpPr>
        <p:spPr bwMode="auto">
          <a:xfrm>
            <a:off x="182563" y="1535113"/>
            <a:ext cx="3863975" cy="197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LTag</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=0,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lchild</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域指向左孩子</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a:r>
            <a:b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b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LTag</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lchild</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域指向其前驱</a:t>
            </a:r>
            <a:endPar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25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RTag</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=0,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rchild</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域指向右孩子</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a:r>
            <a:b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b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RTag</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rchild</a:t>
            </a: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域指向其后继</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32"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ou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83971"/>
                                        </p:tgtEl>
                                        <p:attrNameLst>
                                          <p:attrName>style.visibility</p:attrName>
                                        </p:attrNameLst>
                                      </p:cBhvr>
                                      <p:to>
                                        <p:strVal val="visible"/>
                                      </p:to>
                                    </p:set>
                                    <p:anim calcmode="lin" valueType="num">
                                      <p:cBhvr additive="base">
                                        <p:cTn id="12" dur="500" fill="hold"/>
                                        <p:tgtEl>
                                          <p:spTgt spid="83971"/>
                                        </p:tgtEl>
                                        <p:attrNameLst>
                                          <p:attrName>ppt_x</p:attrName>
                                        </p:attrNameLst>
                                      </p:cBhvr>
                                      <p:tavLst>
                                        <p:tav tm="0">
                                          <p:val>
                                            <p:strVal val="#ppt_x"/>
                                          </p:val>
                                        </p:tav>
                                        <p:tav tm="100000">
                                          <p:val>
                                            <p:strVal val="#ppt_x"/>
                                          </p:val>
                                        </p:tav>
                                      </p:tavLst>
                                    </p:anim>
                                    <p:anim calcmode="lin" valueType="num">
                                      <p:cBhvr additive="base">
                                        <p:cTn id="13" dur="500" fill="hold"/>
                                        <p:tgtEl>
                                          <p:spTgt spid="83971"/>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4" presetClass="entr" presetSubtype="16" fill="hold" nodeType="click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box(in)">
                                      <p:cBhvr>
                                        <p:cTn id="18" dur="500"/>
                                        <p:tgtEl>
                                          <p:spTgt spid="8"/>
                                        </p:tgtEl>
                                      </p:cBhvr>
                                    </p:animEffect>
                                  </p:childTnLst>
                                </p:cTn>
                              </p:par>
                            </p:childTnLst>
                          </p:cTn>
                        </p:par>
                      </p:childTnLst>
                    </p:cTn>
                  </p:par>
                  <p:par>
                    <p:cTn id="19" fill="hold">
                      <p:stCondLst>
                        <p:cond delay="indefinite"/>
                      </p:stCondLst>
                      <p:childTnLst>
                        <p:par>
                          <p:cTn id="20" fill="hold">
                            <p:stCondLst>
                              <p:cond delay="0"/>
                            </p:stCondLst>
                            <p:childTnLst>
                              <p:par>
                                <p:cTn id="21" presetID="4" presetClass="entr" presetSubtype="32" fill="hold" nodeType="click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box(out)">
                                      <p:cBhvr>
                                        <p:cTn id="23" dur="500"/>
                                        <p:tgtEl>
                                          <p:spTgt spid="3"/>
                                        </p:tgtEl>
                                      </p:cBhvr>
                                    </p:animEffect>
                                  </p:childTnLst>
                                </p:cTn>
                              </p:par>
                            </p:childTnLst>
                          </p:cTn>
                        </p:par>
                      </p:childTnLst>
                    </p:cTn>
                  </p:par>
                  <p:par>
                    <p:cTn id="24" fill="hold">
                      <p:stCondLst>
                        <p:cond delay="indefinite"/>
                      </p:stCondLst>
                      <p:childTnLst>
                        <p:par>
                          <p:cTn id="25" fill="hold">
                            <p:stCondLst>
                              <p:cond delay="0"/>
                            </p:stCondLst>
                            <p:childTnLst>
                              <p:par>
                                <p:cTn id="26" presetID="4" presetClass="entr" presetSubtype="32" fill="hold" grpId="0" nodeType="clickEffect">
                                  <p:stCondLst>
                                    <p:cond delay="0"/>
                                  </p:stCondLst>
                                  <p:childTnLst>
                                    <p:set>
                                      <p:cBhvr>
                                        <p:cTn id="27" dur="1" fill="hold">
                                          <p:stCondLst>
                                            <p:cond delay="0"/>
                                          </p:stCondLst>
                                        </p:cTn>
                                        <p:tgtEl>
                                          <p:spTgt spid="937016">
                                            <p:txEl>
                                              <p:pRg st="0" end="0"/>
                                            </p:txEl>
                                          </p:spTgt>
                                        </p:tgtEl>
                                        <p:attrNameLst>
                                          <p:attrName>style.visibility</p:attrName>
                                        </p:attrNameLst>
                                      </p:cBhvr>
                                      <p:to>
                                        <p:strVal val="visible"/>
                                      </p:to>
                                    </p:set>
                                    <p:animEffect transition="in" filter="box(out)">
                                      <p:cBhvr>
                                        <p:cTn id="28" dur="500"/>
                                        <p:tgtEl>
                                          <p:spTgt spid="937016">
                                            <p:txEl>
                                              <p:pRg st="0" end="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4" presetClass="entr" presetSubtype="32" fill="hold" nodeType="clickEffect">
                                  <p:stCondLst>
                                    <p:cond delay="0"/>
                                  </p:stCondLst>
                                  <p:childTnLst>
                                    <p:set>
                                      <p:cBhvr>
                                        <p:cTn id="32" dur="1" fill="hold">
                                          <p:stCondLst>
                                            <p:cond delay="0"/>
                                          </p:stCondLst>
                                        </p:cTn>
                                        <p:tgtEl>
                                          <p:spTgt spid="936974"/>
                                        </p:tgtEl>
                                        <p:attrNameLst>
                                          <p:attrName>style.visibility</p:attrName>
                                        </p:attrNameLst>
                                      </p:cBhvr>
                                      <p:to>
                                        <p:strVal val="visible"/>
                                      </p:to>
                                    </p:set>
                                    <p:animEffect transition="in" filter="box(out)">
                                      <p:cBhvr>
                                        <p:cTn id="33" dur="500"/>
                                        <p:tgtEl>
                                          <p:spTgt spid="936974"/>
                                        </p:tgtEl>
                                      </p:cBhvr>
                                    </p:animEffect>
                                  </p:childTnLst>
                                </p:cTn>
                              </p:par>
                            </p:childTnLst>
                          </p:cTn>
                        </p:par>
                      </p:childTnLst>
                    </p:cTn>
                  </p:par>
                  <p:par>
                    <p:cTn id="34" fill="hold">
                      <p:stCondLst>
                        <p:cond delay="indefinite"/>
                      </p:stCondLst>
                      <p:childTnLst>
                        <p:par>
                          <p:cTn id="35" fill="hold">
                            <p:stCondLst>
                              <p:cond delay="0"/>
                            </p:stCondLst>
                            <p:childTnLst>
                              <p:par>
                                <p:cTn id="36" presetID="4" presetClass="entr" presetSubtype="32" fill="hold" grpId="0" nodeType="clickEffect">
                                  <p:stCondLst>
                                    <p:cond delay="0"/>
                                  </p:stCondLst>
                                  <p:childTnLst>
                                    <p:set>
                                      <p:cBhvr>
                                        <p:cTn id="37" dur="1" fill="hold">
                                          <p:stCondLst>
                                            <p:cond delay="0"/>
                                          </p:stCondLst>
                                        </p:cTn>
                                        <p:tgtEl>
                                          <p:spTgt spid="937017">
                                            <p:txEl>
                                              <p:pRg st="0" end="0"/>
                                            </p:txEl>
                                          </p:spTgt>
                                        </p:tgtEl>
                                        <p:attrNameLst>
                                          <p:attrName>style.visibility</p:attrName>
                                        </p:attrNameLst>
                                      </p:cBhvr>
                                      <p:to>
                                        <p:strVal val="visible"/>
                                      </p:to>
                                    </p:set>
                                    <p:animEffect transition="in" filter="box(out)">
                                      <p:cBhvr>
                                        <p:cTn id="38" dur="500"/>
                                        <p:tgtEl>
                                          <p:spTgt spid="937017">
                                            <p:txEl>
                                              <p:pRg st="0" end="0"/>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4" presetClass="entr" presetSubtype="32" fill="hold" nodeType="clickEffect">
                                  <p:stCondLst>
                                    <p:cond delay="0"/>
                                  </p:stCondLst>
                                  <p:childTnLst>
                                    <p:set>
                                      <p:cBhvr>
                                        <p:cTn id="42" dur="1" fill="hold">
                                          <p:stCondLst>
                                            <p:cond delay="0"/>
                                          </p:stCondLst>
                                        </p:cTn>
                                        <p:tgtEl>
                                          <p:spTgt spid="936976"/>
                                        </p:tgtEl>
                                        <p:attrNameLst>
                                          <p:attrName>style.visibility</p:attrName>
                                        </p:attrNameLst>
                                      </p:cBhvr>
                                      <p:to>
                                        <p:strVal val="visible"/>
                                      </p:to>
                                    </p:set>
                                    <p:animEffect transition="in" filter="box(out)">
                                      <p:cBhvr>
                                        <p:cTn id="43" dur="500"/>
                                        <p:tgtEl>
                                          <p:spTgt spid="936976"/>
                                        </p:tgtEl>
                                      </p:cBhvr>
                                    </p:animEffect>
                                  </p:childTnLst>
                                </p:cTn>
                              </p:par>
                            </p:childTnLst>
                          </p:cTn>
                        </p:par>
                      </p:childTnLst>
                    </p:cTn>
                  </p:par>
                  <p:par>
                    <p:cTn id="44" fill="hold">
                      <p:stCondLst>
                        <p:cond delay="indefinite"/>
                      </p:stCondLst>
                      <p:childTnLst>
                        <p:par>
                          <p:cTn id="45" fill="hold">
                            <p:stCondLst>
                              <p:cond delay="0"/>
                            </p:stCondLst>
                            <p:childTnLst>
                              <p:par>
                                <p:cTn id="46" presetID="4" presetClass="entr" presetSubtype="32" fill="hold" grpId="0" nodeType="clickEffect">
                                  <p:stCondLst>
                                    <p:cond delay="0"/>
                                  </p:stCondLst>
                                  <p:childTnLst>
                                    <p:set>
                                      <p:cBhvr>
                                        <p:cTn id="47" dur="1" fill="hold">
                                          <p:stCondLst>
                                            <p:cond delay="0"/>
                                          </p:stCondLst>
                                        </p:cTn>
                                        <p:tgtEl>
                                          <p:spTgt spid="937020">
                                            <p:txEl>
                                              <p:pRg st="0" end="0"/>
                                            </p:txEl>
                                          </p:spTgt>
                                        </p:tgtEl>
                                        <p:attrNameLst>
                                          <p:attrName>style.visibility</p:attrName>
                                        </p:attrNameLst>
                                      </p:cBhvr>
                                      <p:to>
                                        <p:strVal val="visible"/>
                                      </p:to>
                                    </p:set>
                                    <p:animEffect transition="in" filter="box(out)">
                                      <p:cBhvr>
                                        <p:cTn id="48" dur="500"/>
                                        <p:tgtEl>
                                          <p:spTgt spid="937020">
                                            <p:txEl>
                                              <p:pRg st="0" end="0"/>
                                            </p:txEl>
                                          </p:spTgt>
                                        </p:tgtEl>
                                      </p:cBhvr>
                                    </p:animEffect>
                                  </p:childTnLst>
                                </p:cTn>
                              </p:par>
                            </p:childTnLst>
                          </p:cTn>
                        </p:par>
                      </p:childTnLst>
                    </p:cTn>
                  </p:par>
                  <p:par>
                    <p:cTn id="49" fill="hold">
                      <p:stCondLst>
                        <p:cond delay="indefinite"/>
                      </p:stCondLst>
                      <p:childTnLst>
                        <p:par>
                          <p:cTn id="50" fill="hold">
                            <p:stCondLst>
                              <p:cond delay="0"/>
                            </p:stCondLst>
                            <p:childTnLst>
                              <p:par>
                                <p:cTn id="51" presetID="4" presetClass="entr" presetSubtype="32" fill="hold" nodeType="clickEffect">
                                  <p:stCondLst>
                                    <p:cond delay="0"/>
                                  </p:stCondLst>
                                  <p:childTnLst>
                                    <p:set>
                                      <p:cBhvr>
                                        <p:cTn id="52" dur="1" fill="hold">
                                          <p:stCondLst>
                                            <p:cond delay="0"/>
                                          </p:stCondLst>
                                        </p:cTn>
                                        <p:tgtEl>
                                          <p:spTgt spid="936975"/>
                                        </p:tgtEl>
                                        <p:attrNameLst>
                                          <p:attrName>style.visibility</p:attrName>
                                        </p:attrNameLst>
                                      </p:cBhvr>
                                      <p:to>
                                        <p:strVal val="visible"/>
                                      </p:to>
                                    </p:set>
                                    <p:animEffect transition="in" filter="box(out)">
                                      <p:cBhvr>
                                        <p:cTn id="53" dur="500"/>
                                        <p:tgtEl>
                                          <p:spTgt spid="936975"/>
                                        </p:tgtEl>
                                      </p:cBhvr>
                                    </p:animEffect>
                                  </p:childTnLst>
                                </p:cTn>
                              </p:par>
                            </p:childTnLst>
                          </p:cTn>
                        </p:par>
                      </p:childTnLst>
                    </p:cTn>
                  </p:par>
                  <p:par>
                    <p:cTn id="54" fill="hold">
                      <p:stCondLst>
                        <p:cond delay="indefinite"/>
                      </p:stCondLst>
                      <p:childTnLst>
                        <p:par>
                          <p:cTn id="55" fill="hold">
                            <p:stCondLst>
                              <p:cond delay="0"/>
                            </p:stCondLst>
                            <p:childTnLst>
                              <p:par>
                                <p:cTn id="56" presetID="4" presetClass="entr" presetSubtype="32" fill="hold" grpId="0" nodeType="clickEffect">
                                  <p:stCondLst>
                                    <p:cond delay="0"/>
                                  </p:stCondLst>
                                  <p:childTnLst>
                                    <p:set>
                                      <p:cBhvr>
                                        <p:cTn id="57" dur="1" fill="hold">
                                          <p:stCondLst>
                                            <p:cond delay="0"/>
                                          </p:stCondLst>
                                        </p:cTn>
                                        <p:tgtEl>
                                          <p:spTgt spid="937018">
                                            <p:txEl>
                                              <p:pRg st="0" end="0"/>
                                            </p:txEl>
                                          </p:spTgt>
                                        </p:tgtEl>
                                        <p:attrNameLst>
                                          <p:attrName>style.visibility</p:attrName>
                                        </p:attrNameLst>
                                      </p:cBhvr>
                                      <p:to>
                                        <p:strVal val="visible"/>
                                      </p:to>
                                    </p:set>
                                    <p:animEffect transition="in" filter="box(out)">
                                      <p:cBhvr>
                                        <p:cTn id="58" dur="500"/>
                                        <p:tgtEl>
                                          <p:spTgt spid="937018">
                                            <p:txEl>
                                              <p:pRg st="0" end="0"/>
                                            </p:txEl>
                                          </p:spTgt>
                                        </p:tgtEl>
                                      </p:cBhvr>
                                    </p:animEffect>
                                  </p:childTnLst>
                                </p:cTn>
                              </p:par>
                            </p:childTnLst>
                          </p:cTn>
                        </p:par>
                      </p:childTnLst>
                    </p:cTn>
                  </p:par>
                  <p:par>
                    <p:cTn id="59" fill="hold">
                      <p:stCondLst>
                        <p:cond delay="indefinite"/>
                      </p:stCondLst>
                      <p:childTnLst>
                        <p:par>
                          <p:cTn id="60" fill="hold">
                            <p:stCondLst>
                              <p:cond delay="0"/>
                            </p:stCondLst>
                            <p:childTnLst>
                              <p:par>
                                <p:cTn id="61" presetID="4" presetClass="entr" presetSubtype="32" fill="hold" nodeType="clickEffect">
                                  <p:stCondLst>
                                    <p:cond delay="0"/>
                                  </p:stCondLst>
                                  <p:childTnLst>
                                    <p:set>
                                      <p:cBhvr>
                                        <p:cTn id="62" dur="1" fill="hold">
                                          <p:stCondLst>
                                            <p:cond delay="0"/>
                                          </p:stCondLst>
                                        </p:cTn>
                                        <p:tgtEl>
                                          <p:spTgt spid="936977"/>
                                        </p:tgtEl>
                                        <p:attrNameLst>
                                          <p:attrName>style.visibility</p:attrName>
                                        </p:attrNameLst>
                                      </p:cBhvr>
                                      <p:to>
                                        <p:strVal val="visible"/>
                                      </p:to>
                                    </p:set>
                                    <p:animEffect transition="in" filter="box(out)">
                                      <p:cBhvr>
                                        <p:cTn id="63" dur="500"/>
                                        <p:tgtEl>
                                          <p:spTgt spid="936977"/>
                                        </p:tgtEl>
                                      </p:cBhvr>
                                    </p:animEffect>
                                  </p:childTnLst>
                                </p:cTn>
                              </p:par>
                            </p:childTnLst>
                          </p:cTn>
                        </p:par>
                      </p:childTnLst>
                    </p:cTn>
                  </p:par>
                  <p:par>
                    <p:cTn id="64" fill="hold">
                      <p:stCondLst>
                        <p:cond delay="indefinite"/>
                      </p:stCondLst>
                      <p:childTnLst>
                        <p:par>
                          <p:cTn id="65" fill="hold">
                            <p:stCondLst>
                              <p:cond delay="0"/>
                            </p:stCondLst>
                            <p:childTnLst>
                              <p:par>
                                <p:cTn id="66" presetID="4" presetClass="entr" presetSubtype="32" fill="hold" grpId="0" nodeType="clickEffect">
                                  <p:stCondLst>
                                    <p:cond delay="0"/>
                                  </p:stCondLst>
                                  <p:childTnLst>
                                    <p:set>
                                      <p:cBhvr>
                                        <p:cTn id="67" dur="1" fill="hold">
                                          <p:stCondLst>
                                            <p:cond delay="0"/>
                                          </p:stCondLst>
                                        </p:cTn>
                                        <p:tgtEl>
                                          <p:spTgt spid="937019">
                                            <p:txEl>
                                              <p:pRg st="0" end="0"/>
                                            </p:txEl>
                                          </p:spTgt>
                                        </p:tgtEl>
                                        <p:attrNameLst>
                                          <p:attrName>style.visibility</p:attrName>
                                        </p:attrNameLst>
                                      </p:cBhvr>
                                      <p:to>
                                        <p:strVal val="visible"/>
                                      </p:to>
                                    </p:set>
                                    <p:animEffect transition="in" filter="box(out)">
                                      <p:cBhvr>
                                        <p:cTn id="68" dur="500"/>
                                        <p:tgtEl>
                                          <p:spTgt spid="937019">
                                            <p:txEl>
                                              <p:pRg st="0" end="0"/>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4" presetClass="entr" presetSubtype="32" fill="hold" nodeType="clickEffect">
                                  <p:stCondLst>
                                    <p:cond delay="0"/>
                                  </p:stCondLst>
                                  <p:childTnLst>
                                    <p:set>
                                      <p:cBhvr>
                                        <p:cTn id="72" dur="1" fill="hold">
                                          <p:stCondLst>
                                            <p:cond delay="0"/>
                                          </p:stCondLst>
                                        </p:cTn>
                                        <p:tgtEl>
                                          <p:spTgt spid="936979"/>
                                        </p:tgtEl>
                                        <p:attrNameLst>
                                          <p:attrName>style.visibility</p:attrName>
                                        </p:attrNameLst>
                                      </p:cBhvr>
                                      <p:to>
                                        <p:strVal val="visible"/>
                                      </p:to>
                                    </p:set>
                                    <p:animEffect transition="in" filter="box(out)">
                                      <p:cBhvr>
                                        <p:cTn id="73" dur="500"/>
                                        <p:tgtEl>
                                          <p:spTgt spid="936979"/>
                                        </p:tgtEl>
                                      </p:cBhvr>
                                    </p:animEffect>
                                  </p:childTnLst>
                                </p:cTn>
                              </p:par>
                            </p:childTnLst>
                          </p:cTn>
                        </p:par>
                      </p:childTnLst>
                    </p:cTn>
                  </p:par>
                  <p:par>
                    <p:cTn id="74" fill="hold">
                      <p:stCondLst>
                        <p:cond delay="indefinite"/>
                      </p:stCondLst>
                      <p:childTnLst>
                        <p:par>
                          <p:cTn id="75" fill="hold">
                            <p:stCondLst>
                              <p:cond delay="0"/>
                            </p:stCondLst>
                            <p:childTnLst>
                              <p:par>
                                <p:cTn id="76" presetID="4" presetClass="entr" presetSubtype="32" fill="hold" grpId="0" nodeType="clickEffect">
                                  <p:stCondLst>
                                    <p:cond delay="0"/>
                                  </p:stCondLst>
                                  <p:childTnLst>
                                    <p:set>
                                      <p:cBhvr>
                                        <p:cTn id="77" dur="1" fill="hold">
                                          <p:stCondLst>
                                            <p:cond delay="0"/>
                                          </p:stCondLst>
                                        </p:cTn>
                                        <p:tgtEl>
                                          <p:spTgt spid="937021">
                                            <p:txEl>
                                              <p:pRg st="0" end="0"/>
                                            </p:txEl>
                                          </p:spTgt>
                                        </p:tgtEl>
                                        <p:attrNameLst>
                                          <p:attrName>style.visibility</p:attrName>
                                        </p:attrNameLst>
                                      </p:cBhvr>
                                      <p:to>
                                        <p:strVal val="visible"/>
                                      </p:to>
                                    </p:set>
                                    <p:animEffect transition="in" filter="box(out)">
                                      <p:cBhvr>
                                        <p:cTn id="78" dur="500"/>
                                        <p:tgtEl>
                                          <p:spTgt spid="937021">
                                            <p:txEl>
                                              <p:pRg st="0" end="0"/>
                                            </p:txEl>
                                          </p:spTgt>
                                        </p:tgtEl>
                                      </p:cBhvr>
                                    </p:animEffect>
                                  </p:childTnLst>
                                </p:cTn>
                              </p:par>
                            </p:childTnLst>
                          </p:cTn>
                        </p:par>
                      </p:childTnLst>
                    </p:cTn>
                  </p:par>
                  <p:par>
                    <p:cTn id="79" fill="hold">
                      <p:stCondLst>
                        <p:cond delay="indefinite"/>
                      </p:stCondLst>
                      <p:childTnLst>
                        <p:par>
                          <p:cTn id="80" fill="hold">
                            <p:stCondLst>
                              <p:cond delay="0"/>
                            </p:stCondLst>
                            <p:childTnLst>
                              <p:par>
                                <p:cTn id="81" presetID="4" presetClass="entr" presetSubtype="32" fill="hold" nodeType="clickEffect">
                                  <p:stCondLst>
                                    <p:cond delay="0"/>
                                  </p:stCondLst>
                                  <p:childTnLst>
                                    <p:set>
                                      <p:cBhvr>
                                        <p:cTn id="82" dur="1" fill="hold">
                                          <p:stCondLst>
                                            <p:cond delay="0"/>
                                          </p:stCondLst>
                                        </p:cTn>
                                        <p:tgtEl>
                                          <p:spTgt spid="936981"/>
                                        </p:tgtEl>
                                        <p:attrNameLst>
                                          <p:attrName>style.visibility</p:attrName>
                                        </p:attrNameLst>
                                      </p:cBhvr>
                                      <p:to>
                                        <p:strVal val="visible"/>
                                      </p:to>
                                    </p:set>
                                    <p:animEffect transition="in" filter="box(out)">
                                      <p:cBhvr>
                                        <p:cTn id="83" dur="500"/>
                                        <p:tgtEl>
                                          <p:spTgt spid="936981"/>
                                        </p:tgtEl>
                                      </p:cBhvr>
                                    </p:animEffect>
                                  </p:childTnLst>
                                </p:cTn>
                              </p:par>
                            </p:childTnLst>
                          </p:cTn>
                        </p:par>
                      </p:childTnLst>
                    </p:cTn>
                  </p:par>
                  <p:par>
                    <p:cTn id="84" fill="hold">
                      <p:stCondLst>
                        <p:cond delay="indefinite"/>
                      </p:stCondLst>
                      <p:childTnLst>
                        <p:par>
                          <p:cTn id="85" fill="hold">
                            <p:stCondLst>
                              <p:cond delay="0"/>
                            </p:stCondLst>
                            <p:childTnLst>
                              <p:par>
                                <p:cTn id="86" presetID="4" presetClass="entr" presetSubtype="32" fill="hold" grpId="0" nodeType="clickEffect">
                                  <p:stCondLst>
                                    <p:cond delay="0"/>
                                  </p:stCondLst>
                                  <p:childTnLst>
                                    <p:set>
                                      <p:cBhvr>
                                        <p:cTn id="87" dur="1" fill="hold">
                                          <p:stCondLst>
                                            <p:cond delay="0"/>
                                          </p:stCondLst>
                                        </p:cTn>
                                        <p:tgtEl>
                                          <p:spTgt spid="937025">
                                            <p:txEl>
                                              <p:pRg st="0" end="0"/>
                                            </p:txEl>
                                          </p:spTgt>
                                        </p:tgtEl>
                                        <p:attrNameLst>
                                          <p:attrName>style.visibility</p:attrName>
                                        </p:attrNameLst>
                                      </p:cBhvr>
                                      <p:to>
                                        <p:strVal val="visible"/>
                                      </p:to>
                                    </p:set>
                                    <p:animEffect transition="in" filter="box(out)">
                                      <p:cBhvr>
                                        <p:cTn id="88" dur="500"/>
                                        <p:tgtEl>
                                          <p:spTgt spid="937025">
                                            <p:txEl>
                                              <p:pRg st="0" end="0"/>
                                            </p:txEl>
                                          </p:spTgt>
                                        </p:tgtEl>
                                      </p:cBhvr>
                                    </p:animEffect>
                                  </p:childTnLst>
                                </p:cTn>
                              </p:par>
                            </p:childTnLst>
                          </p:cTn>
                        </p:par>
                      </p:childTnLst>
                    </p:cTn>
                  </p:par>
                  <p:par>
                    <p:cTn id="89" fill="hold">
                      <p:stCondLst>
                        <p:cond delay="indefinite"/>
                      </p:stCondLst>
                      <p:childTnLst>
                        <p:par>
                          <p:cTn id="90" fill="hold">
                            <p:stCondLst>
                              <p:cond delay="0"/>
                            </p:stCondLst>
                            <p:childTnLst>
                              <p:par>
                                <p:cTn id="91" presetID="4" presetClass="entr" presetSubtype="32" fill="hold" nodeType="clickEffect">
                                  <p:stCondLst>
                                    <p:cond delay="0"/>
                                  </p:stCondLst>
                                  <p:childTnLst>
                                    <p:set>
                                      <p:cBhvr>
                                        <p:cTn id="92" dur="1" fill="hold">
                                          <p:stCondLst>
                                            <p:cond delay="0"/>
                                          </p:stCondLst>
                                        </p:cTn>
                                        <p:tgtEl>
                                          <p:spTgt spid="936978"/>
                                        </p:tgtEl>
                                        <p:attrNameLst>
                                          <p:attrName>style.visibility</p:attrName>
                                        </p:attrNameLst>
                                      </p:cBhvr>
                                      <p:to>
                                        <p:strVal val="visible"/>
                                      </p:to>
                                    </p:set>
                                    <p:animEffect transition="in" filter="box(out)">
                                      <p:cBhvr>
                                        <p:cTn id="93" dur="500"/>
                                        <p:tgtEl>
                                          <p:spTgt spid="936978"/>
                                        </p:tgtEl>
                                      </p:cBhvr>
                                    </p:animEffect>
                                  </p:childTnLst>
                                </p:cTn>
                              </p:par>
                            </p:childTnLst>
                          </p:cTn>
                        </p:par>
                      </p:childTnLst>
                    </p:cTn>
                  </p:par>
                  <p:par>
                    <p:cTn id="94" fill="hold">
                      <p:stCondLst>
                        <p:cond delay="indefinite"/>
                      </p:stCondLst>
                      <p:childTnLst>
                        <p:par>
                          <p:cTn id="95" fill="hold">
                            <p:stCondLst>
                              <p:cond delay="0"/>
                            </p:stCondLst>
                            <p:childTnLst>
                              <p:par>
                                <p:cTn id="96" presetID="4" presetClass="entr" presetSubtype="32" fill="hold" grpId="0" nodeType="clickEffect">
                                  <p:stCondLst>
                                    <p:cond delay="0"/>
                                  </p:stCondLst>
                                  <p:childTnLst>
                                    <p:set>
                                      <p:cBhvr>
                                        <p:cTn id="97" dur="1" fill="hold">
                                          <p:stCondLst>
                                            <p:cond delay="0"/>
                                          </p:stCondLst>
                                        </p:cTn>
                                        <p:tgtEl>
                                          <p:spTgt spid="937022">
                                            <p:txEl>
                                              <p:pRg st="0" end="0"/>
                                            </p:txEl>
                                          </p:spTgt>
                                        </p:tgtEl>
                                        <p:attrNameLst>
                                          <p:attrName>style.visibility</p:attrName>
                                        </p:attrNameLst>
                                      </p:cBhvr>
                                      <p:to>
                                        <p:strVal val="visible"/>
                                      </p:to>
                                    </p:set>
                                    <p:animEffect transition="in" filter="box(out)">
                                      <p:cBhvr>
                                        <p:cTn id="98" dur="500"/>
                                        <p:tgtEl>
                                          <p:spTgt spid="937022">
                                            <p:txEl>
                                              <p:pRg st="0" end="0"/>
                                            </p:txEl>
                                          </p:spTgt>
                                        </p:tgtEl>
                                      </p:cBhvr>
                                    </p:animEffect>
                                  </p:childTnLst>
                                </p:cTn>
                              </p:par>
                            </p:childTnLst>
                          </p:cTn>
                        </p:par>
                      </p:childTnLst>
                    </p:cTn>
                  </p:par>
                  <p:par>
                    <p:cTn id="99" fill="hold">
                      <p:stCondLst>
                        <p:cond delay="indefinite"/>
                      </p:stCondLst>
                      <p:childTnLst>
                        <p:par>
                          <p:cTn id="100" fill="hold">
                            <p:stCondLst>
                              <p:cond delay="0"/>
                            </p:stCondLst>
                            <p:childTnLst>
                              <p:par>
                                <p:cTn id="101" presetID="4" presetClass="entr" presetSubtype="32" fill="hold" nodeType="clickEffect">
                                  <p:stCondLst>
                                    <p:cond delay="0"/>
                                  </p:stCondLst>
                                  <p:childTnLst>
                                    <p:set>
                                      <p:cBhvr>
                                        <p:cTn id="102" dur="1" fill="hold">
                                          <p:stCondLst>
                                            <p:cond delay="0"/>
                                          </p:stCondLst>
                                        </p:cTn>
                                        <p:tgtEl>
                                          <p:spTgt spid="936980"/>
                                        </p:tgtEl>
                                        <p:attrNameLst>
                                          <p:attrName>style.visibility</p:attrName>
                                        </p:attrNameLst>
                                      </p:cBhvr>
                                      <p:to>
                                        <p:strVal val="visible"/>
                                      </p:to>
                                    </p:set>
                                    <p:animEffect transition="in" filter="box(out)">
                                      <p:cBhvr>
                                        <p:cTn id="103" dur="500"/>
                                        <p:tgtEl>
                                          <p:spTgt spid="936980"/>
                                        </p:tgtEl>
                                      </p:cBhvr>
                                    </p:animEffect>
                                  </p:childTnLst>
                                </p:cTn>
                              </p:par>
                            </p:childTnLst>
                          </p:cTn>
                        </p:par>
                      </p:childTnLst>
                    </p:cTn>
                  </p:par>
                  <p:par>
                    <p:cTn id="104" fill="hold">
                      <p:stCondLst>
                        <p:cond delay="indefinite"/>
                      </p:stCondLst>
                      <p:childTnLst>
                        <p:par>
                          <p:cTn id="105" fill="hold">
                            <p:stCondLst>
                              <p:cond delay="0"/>
                            </p:stCondLst>
                            <p:childTnLst>
                              <p:par>
                                <p:cTn id="106" presetID="4" presetClass="entr" presetSubtype="32" fill="hold" grpId="0" nodeType="clickEffect">
                                  <p:stCondLst>
                                    <p:cond delay="0"/>
                                  </p:stCondLst>
                                  <p:childTnLst>
                                    <p:set>
                                      <p:cBhvr>
                                        <p:cTn id="107" dur="1" fill="hold">
                                          <p:stCondLst>
                                            <p:cond delay="0"/>
                                          </p:stCondLst>
                                        </p:cTn>
                                        <p:tgtEl>
                                          <p:spTgt spid="937026">
                                            <p:txEl>
                                              <p:pRg st="0" end="0"/>
                                            </p:txEl>
                                          </p:spTgt>
                                        </p:tgtEl>
                                        <p:attrNameLst>
                                          <p:attrName>style.visibility</p:attrName>
                                        </p:attrNameLst>
                                      </p:cBhvr>
                                      <p:to>
                                        <p:strVal val="visible"/>
                                      </p:to>
                                    </p:set>
                                    <p:animEffect transition="in" filter="box(out)">
                                      <p:cBhvr>
                                        <p:cTn id="108" dur="500"/>
                                        <p:tgtEl>
                                          <p:spTgt spid="937026">
                                            <p:txEl>
                                              <p:pRg st="0" end="0"/>
                                            </p:txEl>
                                          </p:spTgt>
                                        </p:tgtEl>
                                      </p:cBhvr>
                                    </p:animEffect>
                                  </p:childTnLst>
                                </p:cTn>
                              </p:par>
                            </p:childTnLst>
                          </p:cTn>
                        </p:par>
                      </p:childTnLst>
                    </p:cTn>
                  </p:par>
                  <p:par>
                    <p:cTn id="109" fill="hold">
                      <p:stCondLst>
                        <p:cond delay="indefinite"/>
                      </p:stCondLst>
                      <p:childTnLst>
                        <p:par>
                          <p:cTn id="110" fill="hold">
                            <p:stCondLst>
                              <p:cond delay="0"/>
                            </p:stCondLst>
                            <p:childTnLst>
                              <p:par>
                                <p:cTn id="111" presetID="4" presetClass="entr" presetSubtype="32" fill="hold" nodeType="clickEffect">
                                  <p:stCondLst>
                                    <p:cond delay="0"/>
                                  </p:stCondLst>
                                  <p:childTnLst>
                                    <p:set>
                                      <p:cBhvr>
                                        <p:cTn id="112" dur="1" fill="hold">
                                          <p:stCondLst>
                                            <p:cond delay="0"/>
                                          </p:stCondLst>
                                        </p:cTn>
                                        <p:tgtEl>
                                          <p:spTgt spid="936982"/>
                                        </p:tgtEl>
                                        <p:attrNameLst>
                                          <p:attrName>style.visibility</p:attrName>
                                        </p:attrNameLst>
                                      </p:cBhvr>
                                      <p:to>
                                        <p:strVal val="visible"/>
                                      </p:to>
                                    </p:set>
                                    <p:animEffect transition="in" filter="box(out)">
                                      <p:cBhvr>
                                        <p:cTn id="113" dur="500"/>
                                        <p:tgtEl>
                                          <p:spTgt spid="936982"/>
                                        </p:tgtEl>
                                      </p:cBhvr>
                                    </p:animEffect>
                                  </p:childTnLst>
                                </p:cTn>
                              </p:par>
                            </p:childTnLst>
                          </p:cTn>
                        </p:par>
                      </p:childTnLst>
                    </p:cTn>
                  </p:par>
                  <p:par>
                    <p:cTn id="114" fill="hold">
                      <p:stCondLst>
                        <p:cond delay="indefinite"/>
                      </p:stCondLst>
                      <p:childTnLst>
                        <p:par>
                          <p:cTn id="115" fill="hold">
                            <p:stCondLst>
                              <p:cond delay="0"/>
                            </p:stCondLst>
                            <p:childTnLst>
                              <p:par>
                                <p:cTn id="116" presetID="4" presetClass="entr" presetSubtype="32" fill="hold" grpId="0" nodeType="clickEffect">
                                  <p:stCondLst>
                                    <p:cond delay="0"/>
                                  </p:stCondLst>
                                  <p:childTnLst>
                                    <p:set>
                                      <p:cBhvr>
                                        <p:cTn id="117" dur="1" fill="hold">
                                          <p:stCondLst>
                                            <p:cond delay="0"/>
                                          </p:stCondLst>
                                        </p:cTn>
                                        <p:tgtEl>
                                          <p:spTgt spid="937023">
                                            <p:txEl>
                                              <p:pRg st="0" end="0"/>
                                            </p:txEl>
                                          </p:spTgt>
                                        </p:tgtEl>
                                        <p:attrNameLst>
                                          <p:attrName>style.visibility</p:attrName>
                                        </p:attrNameLst>
                                      </p:cBhvr>
                                      <p:to>
                                        <p:strVal val="visible"/>
                                      </p:to>
                                    </p:set>
                                    <p:animEffect transition="in" filter="box(out)">
                                      <p:cBhvr>
                                        <p:cTn id="118" dur="500"/>
                                        <p:tgtEl>
                                          <p:spTgt spid="937023">
                                            <p:txEl>
                                              <p:pRg st="0" end="0"/>
                                            </p:txEl>
                                          </p:spTgt>
                                        </p:tgtEl>
                                      </p:cBhvr>
                                    </p:animEffect>
                                  </p:childTnLst>
                                </p:cTn>
                              </p:par>
                            </p:childTnLst>
                          </p:cTn>
                        </p:par>
                      </p:childTnLst>
                    </p:cTn>
                  </p:par>
                  <p:par>
                    <p:cTn id="119" fill="hold">
                      <p:stCondLst>
                        <p:cond delay="indefinite"/>
                      </p:stCondLst>
                      <p:childTnLst>
                        <p:par>
                          <p:cTn id="120" fill="hold">
                            <p:stCondLst>
                              <p:cond delay="0"/>
                            </p:stCondLst>
                            <p:childTnLst>
                              <p:par>
                                <p:cTn id="121" presetID="4" presetClass="entr" presetSubtype="32" fill="hold" grpId="0" nodeType="clickEffect">
                                  <p:stCondLst>
                                    <p:cond delay="0"/>
                                  </p:stCondLst>
                                  <p:childTnLst>
                                    <p:set>
                                      <p:cBhvr>
                                        <p:cTn id="122" dur="1" fill="hold">
                                          <p:stCondLst>
                                            <p:cond delay="0"/>
                                          </p:stCondLst>
                                        </p:cTn>
                                        <p:tgtEl>
                                          <p:spTgt spid="937024">
                                            <p:txEl>
                                              <p:pRg st="0" end="0"/>
                                            </p:txEl>
                                          </p:spTgt>
                                        </p:tgtEl>
                                        <p:attrNameLst>
                                          <p:attrName>style.visibility</p:attrName>
                                        </p:attrNameLst>
                                      </p:cBhvr>
                                      <p:to>
                                        <p:strVal val="visible"/>
                                      </p:to>
                                    </p:set>
                                    <p:animEffect transition="in" filter="box(out)">
                                      <p:cBhvr>
                                        <p:cTn id="123" dur="500"/>
                                        <p:tgtEl>
                                          <p:spTgt spid="93702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971" grpId="0" animBg="1"/>
      <p:bldP spid="937016" grpId="0" build="p"/>
      <p:bldP spid="937017" grpId="0" build="p"/>
      <p:bldP spid="937018" grpId="0" build="p"/>
      <p:bldP spid="937019" grpId="0" build="p"/>
      <p:bldP spid="937020" grpId="0" build="p"/>
      <p:bldP spid="937021" grpId="0" build="p"/>
      <p:bldP spid="937022" grpId="0" build="p"/>
      <p:bldP spid="937023" grpId="0" build="p"/>
      <p:bldP spid="937024" grpId="0" build="p"/>
      <p:bldP spid="937025" grpId="0" build="p"/>
      <p:bldP spid="937026" grpId="0" build="p"/>
    </p:bldLst>
  </p:timing>
</p:sld>
</file>

<file path=ppt/slides/slide7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矩形 3"/>
          <p:cNvSpPr/>
          <p:nvPr/>
        </p:nvSpPr>
        <p:spPr bwMode="auto">
          <a:xfrm>
            <a:off x="0" y="2278063"/>
            <a:ext cx="9144000" cy="3743325"/>
          </a:xfrm>
          <a:prstGeom prst="rect">
            <a:avLst/>
          </a:prstGeom>
          <a:solidFill>
            <a:schemeClr val="bg2">
              <a:lumMod val="40000"/>
              <a:lumOff val="6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grpSp>
        <p:nvGrpSpPr>
          <p:cNvPr id="2" name="Group 4"/>
          <p:cNvGrpSpPr/>
          <p:nvPr/>
        </p:nvGrpSpPr>
        <p:grpSpPr>
          <a:xfrm>
            <a:off x="1447800" y="3414713"/>
            <a:ext cx="1852613" cy="1668462"/>
            <a:chOff x="1632" y="768"/>
            <a:chExt cx="1167" cy="1051"/>
          </a:xfrm>
        </p:grpSpPr>
        <p:sp>
          <p:nvSpPr>
            <p:cNvPr id="76803" name="Oval 5"/>
            <p:cNvSpPr>
              <a:spLocks noChangeArrowheads="1"/>
            </p:cNvSpPr>
            <p:nvPr/>
          </p:nvSpPr>
          <p:spPr bwMode="auto">
            <a:xfrm>
              <a:off x="2112" y="768"/>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A</a:t>
              </a:r>
            </a:p>
          </p:txBody>
        </p:sp>
        <p:sp>
          <p:nvSpPr>
            <p:cNvPr id="76804" name="Oval 6"/>
            <p:cNvSpPr>
              <a:spLocks noChangeArrowheads="1"/>
            </p:cNvSpPr>
            <p:nvPr/>
          </p:nvSpPr>
          <p:spPr bwMode="auto">
            <a:xfrm>
              <a:off x="1632" y="1152"/>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76805" name="Oval 7"/>
            <p:cNvSpPr>
              <a:spLocks noChangeArrowheads="1"/>
            </p:cNvSpPr>
            <p:nvPr/>
          </p:nvSpPr>
          <p:spPr bwMode="auto">
            <a:xfrm>
              <a:off x="1920" y="1584"/>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C</a:t>
              </a:r>
            </a:p>
          </p:txBody>
        </p:sp>
        <p:sp>
          <p:nvSpPr>
            <p:cNvPr id="76806" name="Oval 8"/>
            <p:cNvSpPr>
              <a:spLocks noChangeArrowheads="1"/>
            </p:cNvSpPr>
            <p:nvPr/>
          </p:nvSpPr>
          <p:spPr bwMode="auto">
            <a:xfrm>
              <a:off x="2544" y="1152"/>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D</a:t>
              </a:r>
            </a:p>
          </p:txBody>
        </p:sp>
        <p:sp>
          <p:nvSpPr>
            <p:cNvPr id="76807" name="Oval 9"/>
            <p:cNvSpPr>
              <a:spLocks noChangeArrowheads="1"/>
            </p:cNvSpPr>
            <p:nvPr/>
          </p:nvSpPr>
          <p:spPr bwMode="auto">
            <a:xfrm>
              <a:off x="2256" y="1584"/>
              <a:ext cx="255" cy="235"/>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E</a:t>
              </a:r>
            </a:p>
          </p:txBody>
        </p:sp>
        <p:sp>
          <p:nvSpPr>
            <p:cNvPr id="76808" name="Line 10"/>
            <p:cNvSpPr>
              <a:spLocks noChangeShapeType="1"/>
            </p:cNvSpPr>
            <p:nvPr/>
          </p:nvSpPr>
          <p:spPr bwMode="auto">
            <a:xfrm flipH="1">
              <a:off x="1872" y="960"/>
              <a:ext cx="24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09" name="Line 11"/>
            <p:cNvSpPr>
              <a:spLocks noChangeShapeType="1"/>
            </p:cNvSpPr>
            <p:nvPr/>
          </p:nvSpPr>
          <p:spPr bwMode="auto">
            <a:xfrm>
              <a:off x="2304" y="960"/>
              <a:ext cx="24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10" name="Line 12"/>
            <p:cNvSpPr>
              <a:spLocks noChangeShapeType="1"/>
            </p:cNvSpPr>
            <p:nvPr/>
          </p:nvSpPr>
          <p:spPr bwMode="auto">
            <a:xfrm>
              <a:off x="1824" y="1392"/>
              <a:ext cx="144"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11" name="Line 13"/>
            <p:cNvSpPr>
              <a:spLocks noChangeShapeType="1"/>
            </p:cNvSpPr>
            <p:nvPr/>
          </p:nvSpPr>
          <p:spPr bwMode="auto">
            <a:xfrm flipH="1">
              <a:off x="2496" y="1392"/>
              <a:ext cx="144"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37998" name="Line 14"/>
          <p:cNvSpPr>
            <a:spLocks noChangeShapeType="1"/>
          </p:cNvSpPr>
          <p:nvPr/>
        </p:nvSpPr>
        <p:spPr bwMode="auto">
          <a:xfrm flipH="1">
            <a:off x="5437188" y="3190875"/>
            <a:ext cx="609600" cy="609600"/>
          </a:xfrm>
          <a:prstGeom prst="line">
            <a:avLst/>
          </a:prstGeom>
          <a:noFill/>
          <a:ln w="38100">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7999" name="Line 15"/>
          <p:cNvSpPr>
            <a:spLocks noChangeShapeType="1"/>
          </p:cNvSpPr>
          <p:nvPr/>
        </p:nvSpPr>
        <p:spPr bwMode="auto">
          <a:xfrm>
            <a:off x="7265988" y="3190875"/>
            <a:ext cx="838200" cy="609600"/>
          </a:xfrm>
          <a:prstGeom prst="line">
            <a:avLst/>
          </a:prstGeom>
          <a:noFill/>
          <a:ln w="38100">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8000" name="Line 16"/>
          <p:cNvSpPr>
            <a:spLocks noChangeShapeType="1"/>
          </p:cNvSpPr>
          <p:nvPr/>
        </p:nvSpPr>
        <p:spPr bwMode="auto">
          <a:xfrm>
            <a:off x="5894388" y="4105275"/>
            <a:ext cx="381000" cy="685800"/>
          </a:xfrm>
          <a:prstGeom prst="line">
            <a:avLst/>
          </a:prstGeom>
          <a:noFill/>
          <a:ln w="38100">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8001" name="Line 17"/>
          <p:cNvSpPr>
            <a:spLocks noChangeShapeType="1"/>
          </p:cNvSpPr>
          <p:nvPr/>
        </p:nvSpPr>
        <p:spPr bwMode="auto">
          <a:xfrm flipH="1">
            <a:off x="7113588" y="4105275"/>
            <a:ext cx="457200" cy="685800"/>
          </a:xfrm>
          <a:prstGeom prst="line">
            <a:avLst/>
          </a:prstGeom>
          <a:noFill/>
          <a:ln w="38100">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3" name="Group 18"/>
          <p:cNvGrpSpPr/>
          <p:nvPr/>
        </p:nvGrpSpPr>
        <p:grpSpPr>
          <a:xfrm>
            <a:off x="4598988" y="2276475"/>
            <a:ext cx="4191000" cy="3554413"/>
            <a:chOff x="2928" y="144"/>
            <a:chExt cx="2640" cy="2239"/>
          </a:xfrm>
        </p:grpSpPr>
        <p:grpSp>
          <p:nvGrpSpPr>
            <p:cNvPr id="79904" name="Group 19"/>
            <p:cNvGrpSpPr/>
            <p:nvPr/>
          </p:nvGrpSpPr>
          <p:grpSpPr>
            <a:xfrm>
              <a:off x="3792" y="528"/>
              <a:ext cx="912" cy="256"/>
              <a:chOff x="3216" y="3312"/>
              <a:chExt cx="1680" cy="256"/>
            </a:xfrm>
          </p:grpSpPr>
          <p:sp>
            <p:nvSpPr>
              <p:cNvPr id="76818" name="Rectangle 20"/>
              <p:cNvSpPr>
                <a:spLocks noChangeArrowheads="1"/>
              </p:cNvSpPr>
              <p:nvPr/>
            </p:nvSpPr>
            <p:spPr bwMode="auto">
              <a:xfrm>
                <a:off x="3216" y="3312"/>
                <a:ext cx="1680"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A</a:t>
                </a:r>
              </a:p>
            </p:txBody>
          </p:sp>
          <p:sp>
            <p:nvSpPr>
              <p:cNvPr id="76819" name="Line 21"/>
              <p:cNvSpPr>
                <a:spLocks noChangeShapeType="1"/>
              </p:cNvSpPr>
              <p:nvPr/>
            </p:nvSpPr>
            <p:spPr bwMode="auto">
              <a:xfrm>
                <a:off x="3551" y="3312"/>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20" name="Line 22"/>
              <p:cNvSpPr>
                <a:spLocks noChangeShapeType="1"/>
              </p:cNvSpPr>
              <p:nvPr/>
            </p:nvSpPr>
            <p:spPr bwMode="auto">
              <a:xfrm>
                <a:off x="3888"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21" name="Line 23"/>
              <p:cNvSpPr>
                <a:spLocks noChangeShapeType="1"/>
              </p:cNvSpPr>
              <p:nvPr/>
            </p:nvSpPr>
            <p:spPr bwMode="auto">
              <a:xfrm>
                <a:off x="4224"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22" name="Line 24"/>
              <p:cNvSpPr>
                <a:spLocks noChangeShapeType="1"/>
              </p:cNvSpPr>
              <p:nvPr/>
            </p:nvSpPr>
            <p:spPr bwMode="auto">
              <a:xfrm>
                <a:off x="4561" y="3312"/>
                <a:ext cx="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6823" name="Rectangle 25"/>
            <p:cNvSpPr>
              <a:spLocks noChangeArrowheads="1"/>
            </p:cNvSpPr>
            <p:nvPr/>
          </p:nvSpPr>
          <p:spPr bwMode="auto">
            <a:xfrm>
              <a:off x="2928" y="1104"/>
              <a:ext cx="912"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B</a:t>
              </a:r>
            </a:p>
          </p:txBody>
        </p:sp>
        <p:sp>
          <p:nvSpPr>
            <p:cNvPr id="76824" name="Line 26"/>
            <p:cNvSpPr>
              <a:spLocks noChangeShapeType="1"/>
            </p:cNvSpPr>
            <p:nvPr/>
          </p:nvSpPr>
          <p:spPr bwMode="auto">
            <a:xfrm>
              <a:off x="3110" y="1104"/>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25" name="Line 27"/>
            <p:cNvSpPr>
              <a:spLocks noChangeShapeType="1"/>
            </p:cNvSpPr>
            <p:nvPr/>
          </p:nvSpPr>
          <p:spPr bwMode="auto">
            <a:xfrm>
              <a:off x="3293" y="1104"/>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26" name="Line 28"/>
            <p:cNvSpPr>
              <a:spLocks noChangeShapeType="1"/>
            </p:cNvSpPr>
            <p:nvPr/>
          </p:nvSpPr>
          <p:spPr bwMode="auto">
            <a:xfrm>
              <a:off x="3475" y="1104"/>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27" name="Line 29"/>
            <p:cNvSpPr>
              <a:spLocks noChangeShapeType="1"/>
            </p:cNvSpPr>
            <p:nvPr/>
          </p:nvSpPr>
          <p:spPr bwMode="auto">
            <a:xfrm>
              <a:off x="3658" y="1104"/>
              <a:ext cx="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79910" name="Group 30"/>
            <p:cNvGrpSpPr/>
            <p:nvPr/>
          </p:nvGrpSpPr>
          <p:grpSpPr>
            <a:xfrm>
              <a:off x="4656" y="1104"/>
              <a:ext cx="912" cy="256"/>
              <a:chOff x="3216" y="3312"/>
              <a:chExt cx="1680" cy="256"/>
            </a:xfrm>
          </p:grpSpPr>
          <p:sp>
            <p:nvSpPr>
              <p:cNvPr id="76829" name="Rectangle 31"/>
              <p:cNvSpPr>
                <a:spLocks noChangeArrowheads="1"/>
              </p:cNvSpPr>
              <p:nvPr/>
            </p:nvSpPr>
            <p:spPr bwMode="auto">
              <a:xfrm>
                <a:off x="3216" y="3312"/>
                <a:ext cx="1680"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D</a:t>
                </a:r>
              </a:p>
            </p:txBody>
          </p:sp>
          <p:sp>
            <p:nvSpPr>
              <p:cNvPr id="76830" name="Line 32"/>
              <p:cNvSpPr>
                <a:spLocks noChangeShapeType="1"/>
              </p:cNvSpPr>
              <p:nvPr/>
            </p:nvSpPr>
            <p:spPr bwMode="auto">
              <a:xfrm>
                <a:off x="3551" y="3312"/>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31" name="Line 33"/>
              <p:cNvSpPr>
                <a:spLocks noChangeShapeType="1"/>
              </p:cNvSpPr>
              <p:nvPr/>
            </p:nvSpPr>
            <p:spPr bwMode="auto">
              <a:xfrm>
                <a:off x="3888"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32" name="Line 34"/>
              <p:cNvSpPr>
                <a:spLocks noChangeShapeType="1"/>
              </p:cNvSpPr>
              <p:nvPr/>
            </p:nvSpPr>
            <p:spPr bwMode="auto">
              <a:xfrm>
                <a:off x="4224"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33" name="Line 35"/>
              <p:cNvSpPr>
                <a:spLocks noChangeShapeType="1"/>
              </p:cNvSpPr>
              <p:nvPr/>
            </p:nvSpPr>
            <p:spPr bwMode="auto">
              <a:xfrm>
                <a:off x="4561" y="3312"/>
                <a:ext cx="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9911" name="Group 36"/>
            <p:cNvGrpSpPr/>
            <p:nvPr/>
          </p:nvGrpSpPr>
          <p:grpSpPr>
            <a:xfrm>
              <a:off x="3264" y="1728"/>
              <a:ext cx="912" cy="256"/>
              <a:chOff x="3216" y="3312"/>
              <a:chExt cx="1680" cy="256"/>
            </a:xfrm>
          </p:grpSpPr>
          <p:sp>
            <p:nvSpPr>
              <p:cNvPr id="76835" name="Rectangle 37"/>
              <p:cNvSpPr>
                <a:spLocks noChangeArrowheads="1"/>
              </p:cNvSpPr>
              <p:nvPr/>
            </p:nvSpPr>
            <p:spPr bwMode="auto">
              <a:xfrm>
                <a:off x="3216" y="3312"/>
                <a:ext cx="1680"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C</a:t>
                </a:r>
              </a:p>
            </p:txBody>
          </p:sp>
          <p:sp>
            <p:nvSpPr>
              <p:cNvPr id="76836" name="Line 38"/>
              <p:cNvSpPr>
                <a:spLocks noChangeShapeType="1"/>
              </p:cNvSpPr>
              <p:nvPr/>
            </p:nvSpPr>
            <p:spPr bwMode="auto">
              <a:xfrm>
                <a:off x="3551" y="3312"/>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37" name="Line 39"/>
              <p:cNvSpPr>
                <a:spLocks noChangeShapeType="1"/>
              </p:cNvSpPr>
              <p:nvPr/>
            </p:nvSpPr>
            <p:spPr bwMode="auto">
              <a:xfrm>
                <a:off x="3888"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38" name="Line 40"/>
              <p:cNvSpPr>
                <a:spLocks noChangeShapeType="1"/>
              </p:cNvSpPr>
              <p:nvPr/>
            </p:nvSpPr>
            <p:spPr bwMode="auto">
              <a:xfrm>
                <a:off x="4224"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39" name="Line 41"/>
              <p:cNvSpPr>
                <a:spLocks noChangeShapeType="1"/>
              </p:cNvSpPr>
              <p:nvPr/>
            </p:nvSpPr>
            <p:spPr bwMode="auto">
              <a:xfrm>
                <a:off x="4561" y="3312"/>
                <a:ext cx="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9912" name="Group 42"/>
            <p:cNvGrpSpPr/>
            <p:nvPr/>
          </p:nvGrpSpPr>
          <p:grpSpPr>
            <a:xfrm>
              <a:off x="4272" y="1728"/>
              <a:ext cx="912" cy="256"/>
              <a:chOff x="3216" y="3312"/>
              <a:chExt cx="1680" cy="256"/>
            </a:xfrm>
          </p:grpSpPr>
          <p:sp>
            <p:nvSpPr>
              <p:cNvPr id="76841" name="Rectangle 43"/>
              <p:cNvSpPr>
                <a:spLocks noChangeArrowheads="1"/>
              </p:cNvSpPr>
              <p:nvPr/>
            </p:nvSpPr>
            <p:spPr bwMode="auto">
              <a:xfrm>
                <a:off x="3216" y="3312"/>
                <a:ext cx="1680"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E</a:t>
                </a:r>
              </a:p>
            </p:txBody>
          </p:sp>
          <p:sp>
            <p:nvSpPr>
              <p:cNvPr id="76842" name="Line 44"/>
              <p:cNvSpPr>
                <a:spLocks noChangeShapeType="1"/>
              </p:cNvSpPr>
              <p:nvPr/>
            </p:nvSpPr>
            <p:spPr bwMode="auto">
              <a:xfrm>
                <a:off x="3551" y="3312"/>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43" name="Line 45"/>
              <p:cNvSpPr>
                <a:spLocks noChangeShapeType="1"/>
              </p:cNvSpPr>
              <p:nvPr/>
            </p:nvSpPr>
            <p:spPr bwMode="auto">
              <a:xfrm>
                <a:off x="3888"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44" name="Line 46"/>
              <p:cNvSpPr>
                <a:spLocks noChangeShapeType="1"/>
              </p:cNvSpPr>
              <p:nvPr/>
            </p:nvSpPr>
            <p:spPr bwMode="auto">
              <a:xfrm>
                <a:off x="4224"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45" name="Line 47"/>
              <p:cNvSpPr>
                <a:spLocks noChangeShapeType="1"/>
              </p:cNvSpPr>
              <p:nvPr/>
            </p:nvSpPr>
            <p:spPr bwMode="auto">
              <a:xfrm>
                <a:off x="4561" y="3312"/>
                <a:ext cx="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6846" name="Line 48"/>
            <p:cNvSpPr>
              <a:spLocks noChangeShapeType="1"/>
            </p:cNvSpPr>
            <p:nvPr/>
          </p:nvSpPr>
          <p:spPr bwMode="auto">
            <a:xfrm flipH="1">
              <a:off x="4272" y="288"/>
              <a:ext cx="96" cy="240"/>
            </a:xfrm>
            <a:prstGeom prst="line">
              <a:avLst/>
            </a:prstGeom>
            <a:noFill/>
            <a:ln w="38100">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47" name="Text Box 49"/>
            <p:cNvSpPr txBox="1">
              <a:spLocks noChangeArrowheads="1"/>
            </p:cNvSpPr>
            <p:nvPr/>
          </p:nvSpPr>
          <p:spPr bwMode="auto">
            <a:xfrm>
              <a:off x="4368" y="144"/>
              <a:ext cx="21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T</a:t>
              </a:r>
            </a:p>
          </p:txBody>
        </p:sp>
        <p:sp>
          <p:nvSpPr>
            <p:cNvPr id="76848" name="Text Box 50"/>
            <p:cNvSpPr txBox="1">
              <a:spLocks noChangeArrowheads="1"/>
            </p:cNvSpPr>
            <p:nvPr/>
          </p:nvSpPr>
          <p:spPr bwMode="auto">
            <a:xfrm>
              <a:off x="3368" y="2092"/>
              <a:ext cx="176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中序序列：</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BCAED</a:t>
              </a:r>
            </a:p>
          </p:txBody>
        </p:sp>
      </p:grpSp>
      <p:sp>
        <p:nvSpPr>
          <p:cNvPr id="938035" name="Text Box 51"/>
          <p:cNvSpPr txBox="1">
            <a:spLocks noChangeArrowheads="1"/>
          </p:cNvSpPr>
          <p:nvPr/>
        </p:nvSpPr>
        <p:spPr bwMode="auto">
          <a:xfrm>
            <a:off x="6253163" y="2900363"/>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38036" name="Text Box 52"/>
          <p:cNvSpPr txBox="1">
            <a:spLocks noChangeArrowheads="1"/>
          </p:cNvSpPr>
          <p:nvPr/>
        </p:nvSpPr>
        <p:spPr bwMode="auto">
          <a:xfrm>
            <a:off x="6826250" y="2903538"/>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38037" name="Text Box 53"/>
          <p:cNvSpPr txBox="1">
            <a:spLocks noChangeArrowheads="1"/>
          </p:cNvSpPr>
          <p:nvPr/>
        </p:nvSpPr>
        <p:spPr bwMode="auto">
          <a:xfrm>
            <a:off x="5453063" y="3808413"/>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38038" name="Text Box 54"/>
          <p:cNvSpPr txBox="1">
            <a:spLocks noChangeArrowheads="1"/>
          </p:cNvSpPr>
          <p:nvPr/>
        </p:nvSpPr>
        <p:spPr bwMode="auto">
          <a:xfrm>
            <a:off x="7605713" y="3806825"/>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38039" name="Text Box 55"/>
          <p:cNvSpPr txBox="1">
            <a:spLocks noChangeArrowheads="1"/>
          </p:cNvSpPr>
          <p:nvPr/>
        </p:nvSpPr>
        <p:spPr bwMode="auto">
          <a:xfrm>
            <a:off x="4872038" y="3794125"/>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8040" name="Text Box 56"/>
          <p:cNvSpPr txBox="1">
            <a:spLocks noChangeArrowheads="1"/>
          </p:cNvSpPr>
          <p:nvPr/>
        </p:nvSpPr>
        <p:spPr bwMode="auto">
          <a:xfrm>
            <a:off x="8186738" y="3806825"/>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8041" name="Text Box 57"/>
          <p:cNvSpPr txBox="1">
            <a:spLocks noChangeArrowheads="1"/>
          </p:cNvSpPr>
          <p:nvPr/>
        </p:nvSpPr>
        <p:spPr bwMode="auto">
          <a:xfrm>
            <a:off x="6010275" y="4810125"/>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8042" name="Text Box 58"/>
          <p:cNvSpPr txBox="1">
            <a:spLocks noChangeArrowheads="1"/>
          </p:cNvSpPr>
          <p:nvPr/>
        </p:nvSpPr>
        <p:spPr bwMode="auto">
          <a:xfrm>
            <a:off x="7593013" y="4784725"/>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8043" name="Text Box 59"/>
          <p:cNvSpPr txBox="1">
            <a:spLocks noChangeArrowheads="1"/>
          </p:cNvSpPr>
          <p:nvPr/>
        </p:nvSpPr>
        <p:spPr bwMode="auto">
          <a:xfrm>
            <a:off x="8458200" y="3790950"/>
            <a:ext cx="361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endParaRPr kumimoji="0" lang="en-US"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8044" name="Text Box 60"/>
          <p:cNvSpPr txBox="1">
            <a:spLocks noChangeArrowheads="1"/>
          </p:cNvSpPr>
          <p:nvPr/>
        </p:nvSpPr>
        <p:spPr bwMode="auto">
          <a:xfrm>
            <a:off x="5391150" y="4808538"/>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1</a:t>
            </a:r>
          </a:p>
        </p:txBody>
      </p:sp>
      <p:sp>
        <p:nvSpPr>
          <p:cNvPr id="938045" name="Text Box 61"/>
          <p:cNvSpPr txBox="1">
            <a:spLocks noChangeArrowheads="1"/>
          </p:cNvSpPr>
          <p:nvPr/>
        </p:nvSpPr>
        <p:spPr bwMode="auto">
          <a:xfrm>
            <a:off x="7011988" y="4808538"/>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8046" name="Line 62"/>
          <p:cNvSpPr>
            <a:spLocks noChangeShapeType="1"/>
          </p:cNvSpPr>
          <p:nvPr/>
        </p:nvSpPr>
        <p:spPr bwMode="auto">
          <a:xfrm flipH="1" flipV="1">
            <a:off x="4916488" y="4195763"/>
            <a:ext cx="381000" cy="762000"/>
          </a:xfrm>
          <a:prstGeom prst="line">
            <a:avLst/>
          </a:prstGeom>
          <a:noFill/>
          <a:ln w="38100">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8047" name="Line 63"/>
          <p:cNvSpPr>
            <a:spLocks noChangeShapeType="1"/>
          </p:cNvSpPr>
          <p:nvPr/>
        </p:nvSpPr>
        <p:spPr bwMode="auto">
          <a:xfrm flipV="1">
            <a:off x="6440488" y="3281363"/>
            <a:ext cx="0" cy="1600200"/>
          </a:xfrm>
          <a:prstGeom prst="line">
            <a:avLst/>
          </a:prstGeom>
          <a:noFill/>
          <a:ln w="38100">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8048" name="Line 64"/>
          <p:cNvSpPr>
            <a:spLocks noChangeShapeType="1"/>
          </p:cNvSpPr>
          <p:nvPr/>
        </p:nvSpPr>
        <p:spPr bwMode="auto">
          <a:xfrm flipV="1">
            <a:off x="6897688" y="3281363"/>
            <a:ext cx="0" cy="1600200"/>
          </a:xfrm>
          <a:prstGeom prst="line">
            <a:avLst/>
          </a:prstGeom>
          <a:noFill/>
          <a:ln w="38100">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8049" name="Line 65"/>
          <p:cNvSpPr>
            <a:spLocks noChangeShapeType="1"/>
          </p:cNvSpPr>
          <p:nvPr/>
        </p:nvSpPr>
        <p:spPr bwMode="auto">
          <a:xfrm flipV="1">
            <a:off x="8040688" y="4195763"/>
            <a:ext cx="533400" cy="685800"/>
          </a:xfrm>
          <a:prstGeom prst="line">
            <a:avLst/>
          </a:prstGeom>
          <a:noFill/>
          <a:ln w="38100">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8050" name="Text Box 66"/>
          <p:cNvSpPr txBox="1">
            <a:spLocks noChangeArrowheads="1"/>
          </p:cNvSpPr>
          <p:nvPr/>
        </p:nvSpPr>
        <p:spPr bwMode="auto">
          <a:xfrm>
            <a:off x="4567238" y="3781425"/>
            <a:ext cx="361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endParaRPr kumimoji="0" lang="en-US"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8" name="Group 67"/>
          <p:cNvGrpSpPr/>
          <p:nvPr/>
        </p:nvGrpSpPr>
        <p:grpSpPr>
          <a:xfrm>
            <a:off x="4038600" y="1549400"/>
            <a:ext cx="5105400" cy="436563"/>
            <a:chOff x="3216" y="3303"/>
            <a:chExt cx="1680" cy="275"/>
          </a:xfrm>
        </p:grpSpPr>
        <p:sp>
          <p:nvSpPr>
            <p:cNvPr id="76866" name="Rectangle 68"/>
            <p:cNvSpPr>
              <a:spLocks noChangeArrowheads="1"/>
            </p:cNvSpPr>
            <p:nvPr/>
          </p:nvSpPr>
          <p:spPr bwMode="auto">
            <a:xfrm>
              <a:off x="3216" y="3303"/>
              <a:ext cx="1680" cy="275"/>
            </a:xfrm>
            <a:prstGeom prst="rect">
              <a:avLst/>
            </a:prstGeom>
            <a:solidFill>
              <a:schemeClr val="accent1">
                <a:lumMod val="60000"/>
                <a:lumOff val="40000"/>
              </a:schemeClr>
            </a:solidFill>
            <a:ln w="9525">
              <a:solidFill>
                <a:schemeClr val="tx1"/>
              </a:solidFill>
              <a:miter lim="800000"/>
            </a:ln>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bg1"/>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chemeClr val="bg1"/>
                  </a:solidFill>
                  <a:effectLst/>
                  <a:uLnTx/>
                  <a:uFillTx/>
                  <a:latin typeface="+mn-lt"/>
                  <a:ea typeface="+mn-ea"/>
                  <a:cs typeface="+mn-ea"/>
                  <a:sym typeface="+mn-lt"/>
                </a:rPr>
                <a:t>lchild</a:t>
              </a:r>
              <a:r>
                <a:rPr kumimoji="0" lang="en-US" altLang="zh-CN" sz="2200" b="0" i="0" u="none" strike="noStrike" kern="1200" cap="none" spc="0" normalizeH="0" baseline="0" noProof="0" dirty="0">
                  <a:ln>
                    <a:noFill/>
                  </a:ln>
                  <a:solidFill>
                    <a:schemeClr val="bg1"/>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chemeClr val="bg1"/>
                  </a:solidFill>
                  <a:effectLst/>
                  <a:uLnTx/>
                  <a:uFillTx/>
                  <a:latin typeface="+mn-lt"/>
                  <a:ea typeface="+mn-ea"/>
                  <a:cs typeface="+mn-ea"/>
                  <a:sym typeface="+mn-lt"/>
                </a:rPr>
                <a:t>LTag</a:t>
              </a:r>
              <a:r>
                <a:rPr kumimoji="0" lang="en-US" altLang="zh-CN" sz="2200" b="0" i="0" u="none" strike="noStrike" kern="1200" cap="none" spc="0" normalizeH="0" baseline="0" noProof="0" dirty="0">
                  <a:ln>
                    <a:noFill/>
                  </a:ln>
                  <a:solidFill>
                    <a:schemeClr val="bg1"/>
                  </a:solidFill>
                  <a:effectLst/>
                  <a:uLnTx/>
                  <a:uFillTx/>
                  <a:latin typeface="+mn-lt"/>
                  <a:ea typeface="+mn-ea"/>
                  <a:cs typeface="+mn-ea"/>
                  <a:sym typeface="+mn-lt"/>
                </a:rPr>
                <a:t>       data       </a:t>
              </a:r>
              <a:r>
                <a:rPr kumimoji="0" lang="en-US" altLang="zh-CN" sz="2200" b="0" i="0" u="none" strike="noStrike" kern="1200" cap="none" spc="0" normalizeH="0" baseline="0" noProof="0" dirty="0" err="1">
                  <a:ln>
                    <a:noFill/>
                  </a:ln>
                  <a:solidFill>
                    <a:schemeClr val="bg1"/>
                  </a:solidFill>
                  <a:effectLst/>
                  <a:uLnTx/>
                  <a:uFillTx/>
                  <a:latin typeface="+mn-lt"/>
                  <a:ea typeface="+mn-ea"/>
                  <a:cs typeface="+mn-ea"/>
                  <a:sym typeface="+mn-lt"/>
                </a:rPr>
                <a:t>RTag</a:t>
              </a:r>
              <a:r>
                <a:rPr kumimoji="0" lang="en-US" altLang="zh-CN" sz="2200" b="0" i="0" u="none" strike="noStrike" kern="1200" cap="none" spc="0" normalizeH="0" baseline="0" noProof="0" dirty="0">
                  <a:ln>
                    <a:noFill/>
                  </a:ln>
                  <a:solidFill>
                    <a:schemeClr val="bg1"/>
                  </a:solidFill>
                  <a:effectLst/>
                  <a:uLnTx/>
                  <a:uFillTx/>
                  <a:latin typeface="+mn-lt"/>
                  <a:ea typeface="+mn-ea"/>
                  <a:cs typeface="+mn-ea"/>
                  <a:sym typeface="+mn-lt"/>
                </a:rPr>
                <a:t>     </a:t>
              </a:r>
              <a:r>
                <a:rPr kumimoji="0" lang="en-US" altLang="zh-CN" sz="2200" b="0" i="0" u="none" strike="noStrike" kern="1200" cap="none" spc="0" normalizeH="0" baseline="0" noProof="0" dirty="0" err="1">
                  <a:ln>
                    <a:noFill/>
                  </a:ln>
                  <a:solidFill>
                    <a:schemeClr val="bg1"/>
                  </a:solidFill>
                  <a:effectLst/>
                  <a:uLnTx/>
                  <a:uFillTx/>
                  <a:latin typeface="+mn-lt"/>
                  <a:ea typeface="+mn-ea"/>
                  <a:cs typeface="+mn-ea"/>
                  <a:sym typeface="+mn-lt"/>
                </a:rPr>
                <a:t>rchild</a:t>
              </a:r>
              <a:endParaRPr kumimoji="0" lang="en-US" altLang="zh-CN" sz="2200" b="0"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6867" name="Line 69"/>
            <p:cNvSpPr>
              <a:spLocks noChangeShapeType="1"/>
            </p:cNvSpPr>
            <p:nvPr/>
          </p:nvSpPr>
          <p:spPr bwMode="auto">
            <a:xfrm>
              <a:off x="3552" y="3312"/>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68" name="Line 70"/>
            <p:cNvSpPr>
              <a:spLocks noChangeShapeType="1"/>
            </p:cNvSpPr>
            <p:nvPr/>
          </p:nvSpPr>
          <p:spPr bwMode="auto">
            <a:xfrm>
              <a:off x="3888"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69" name="Line 71"/>
            <p:cNvSpPr>
              <a:spLocks noChangeShapeType="1"/>
            </p:cNvSpPr>
            <p:nvPr/>
          </p:nvSpPr>
          <p:spPr bwMode="auto">
            <a:xfrm>
              <a:off x="4224"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6870" name="Line 72"/>
            <p:cNvSpPr>
              <a:spLocks noChangeShapeType="1"/>
            </p:cNvSpPr>
            <p:nvPr/>
          </p:nvSpPr>
          <p:spPr bwMode="auto">
            <a:xfrm>
              <a:off x="4560" y="3312"/>
              <a:ext cx="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6871" name="Rectangle 73"/>
          <p:cNvSpPr>
            <a:spLocks noChangeArrowheads="1"/>
          </p:cNvSpPr>
          <p:nvPr/>
        </p:nvSpPr>
        <p:spPr bwMode="auto">
          <a:xfrm>
            <a:off x="787400" y="214313"/>
            <a:ext cx="419735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中序线索二叉树</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32"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ou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32"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box(out)">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4" presetClass="entr" presetSubtype="32" fill="hold" grpId="0" nodeType="clickEffect">
                                  <p:stCondLst>
                                    <p:cond delay="0"/>
                                  </p:stCondLst>
                                  <p:childTnLst>
                                    <p:set>
                                      <p:cBhvr>
                                        <p:cTn id="16" dur="1" fill="hold">
                                          <p:stCondLst>
                                            <p:cond delay="0"/>
                                          </p:stCondLst>
                                        </p:cTn>
                                        <p:tgtEl>
                                          <p:spTgt spid="938035">
                                            <p:txEl>
                                              <p:pRg st="0" end="0"/>
                                            </p:txEl>
                                          </p:spTgt>
                                        </p:tgtEl>
                                        <p:attrNameLst>
                                          <p:attrName>style.visibility</p:attrName>
                                        </p:attrNameLst>
                                      </p:cBhvr>
                                      <p:to>
                                        <p:strVal val="visible"/>
                                      </p:to>
                                    </p:set>
                                    <p:animEffect transition="in" filter="box(out)">
                                      <p:cBhvr>
                                        <p:cTn id="17" dur="500"/>
                                        <p:tgtEl>
                                          <p:spTgt spid="938035">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4" presetClass="entr" presetSubtype="32" fill="hold" nodeType="clickEffect">
                                  <p:stCondLst>
                                    <p:cond delay="0"/>
                                  </p:stCondLst>
                                  <p:childTnLst>
                                    <p:set>
                                      <p:cBhvr>
                                        <p:cTn id="21" dur="1" fill="hold">
                                          <p:stCondLst>
                                            <p:cond delay="0"/>
                                          </p:stCondLst>
                                        </p:cTn>
                                        <p:tgtEl>
                                          <p:spTgt spid="937998"/>
                                        </p:tgtEl>
                                        <p:attrNameLst>
                                          <p:attrName>style.visibility</p:attrName>
                                        </p:attrNameLst>
                                      </p:cBhvr>
                                      <p:to>
                                        <p:strVal val="visible"/>
                                      </p:to>
                                    </p:set>
                                    <p:animEffect transition="in" filter="box(out)">
                                      <p:cBhvr>
                                        <p:cTn id="22" dur="500"/>
                                        <p:tgtEl>
                                          <p:spTgt spid="937998"/>
                                        </p:tgtEl>
                                      </p:cBhvr>
                                    </p:animEffect>
                                  </p:childTnLst>
                                </p:cTn>
                              </p:par>
                            </p:childTnLst>
                          </p:cTn>
                        </p:par>
                      </p:childTnLst>
                    </p:cTn>
                  </p:par>
                  <p:par>
                    <p:cTn id="23" fill="hold">
                      <p:stCondLst>
                        <p:cond delay="indefinite"/>
                      </p:stCondLst>
                      <p:childTnLst>
                        <p:par>
                          <p:cTn id="24" fill="hold">
                            <p:stCondLst>
                              <p:cond delay="0"/>
                            </p:stCondLst>
                            <p:childTnLst>
                              <p:par>
                                <p:cTn id="25" presetID="4" presetClass="entr" presetSubtype="32" fill="hold" grpId="0" nodeType="clickEffect">
                                  <p:stCondLst>
                                    <p:cond delay="0"/>
                                  </p:stCondLst>
                                  <p:childTnLst>
                                    <p:set>
                                      <p:cBhvr>
                                        <p:cTn id="26" dur="1" fill="hold">
                                          <p:stCondLst>
                                            <p:cond delay="0"/>
                                          </p:stCondLst>
                                        </p:cTn>
                                        <p:tgtEl>
                                          <p:spTgt spid="938036">
                                            <p:txEl>
                                              <p:pRg st="0" end="0"/>
                                            </p:txEl>
                                          </p:spTgt>
                                        </p:tgtEl>
                                        <p:attrNameLst>
                                          <p:attrName>style.visibility</p:attrName>
                                        </p:attrNameLst>
                                      </p:cBhvr>
                                      <p:to>
                                        <p:strVal val="visible"/>
                                      </p:to>
                                    </p:set>
                                    <p:animEffect transition="in" filter="box(out)">
                                      <p:cBhvr>
                                        <p:cTn id="27" dur="500"/>
                                        <p:tgtEl>
                                          <p:spTgt spid="938036">
                                            <p:txEl>
                                              <p:pRg st="0" end="0"/>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4" presetClass="entr" presetSubtype="32" fill="hold" nodeType="clickEffect">
                                  <p:stCondLst>
                                    <p:cond delay="0"/>
                                  </p:stCondLst>
                                  <p:childTnLst>
                                    <p:set>
                                      <p:cBhvr>
                                        <p:cTn id="31" dur="1" fill="hold">
                                          <p:stCondLst>
                                            <p:cond delay="0"/>
                                          </p:stCondLst>
                                        </p:cTn>
                                        <p:tgtEl>
                                          <p:spTgt spid="937999"/>
                                        </p:tgtEl>
                                        <p:attrNameLst>
                                          <p:attrName>style.visibility</p:attrName>
                                        </p:attrNameLst>
                                      </p:cBhvr>
                                      <p:to>
                                        <p:strVal val="visible"/>
                                      </p:to>
                                    </p:set>
                                    <p:animEffect transition="in" filter="box(out)">
                                      <p:cBhvr>
                                        <p:cTn id="32" dur="500"/>
                                        <p:tgtEl>
                                          <p:spTgt spid="937999"/>
                                        </p:tgtEl>
                                      </p:cBhvr>
                                    </p:animEffect>
                                  </p:childTnLst>
                                </p:cTn>
                              </p:par>
                            </p:childTnLst>
                          </p:cTn>
                        </p:par>
                      </p:childTnLst>
                    </p:cTn>
                  </p:par>
                  <p:par>
                    <p:cTn id="33" fill="hold">
                      <p:stCondLst>
                        <p:cond delay="indefinite"/>
                      </p:stCondLst>
                      <p:childTnLst>
                        <p:par>
                          <p:cTn id="34" fill="hold">
                            <p:stCondLst>
                              <p:cond delay="0"/>
                            </p:stCondLst>
                            <p:childTnLst>
                              <p:par>
                                <p:cTn id="35" presetID="4" presetClass="entr" presetSubtype="32" fill="hold" grpId="0" nodeType="clickEffect">
                                  <p:stCondLst>
                                    <p:cond delay="0"/>
                                  </p:stCondLst>
                                  <p:childTnLst>
                                    <p:set>
                                      <p:cBhvr>
                                        <p:cTn id="36" dur="1" fill="hold">
                                          <p:stCondLst>
                                            <p:cond delay="0"/>
                                          </p:stCondLst>
                                        </p:cTn>
                                        <p:tgtEl>
                                          <p:spTgt spid="938039">
                                            <p:txEl>
                                              <p:pRg st="0" end="0"/>
                                            </p:txEl>
                                          </p:spTgt>
                                        </p:tgtEl>
                                        <p:attrNameLst>
                                          <p:attrName>style.visibility</p:attrName>
                                        </p:attrNameLst>
                                      </p:cBhvr>
                                      <p:to>
                                        <p:strVal val="visible"/>
                                      </p:to>
                                    </p:set>
                                    <p:animEffect transition="in" filter="box(out)">
                                      <p:cBhvr>
                                        <p:cTn id="37" dur="500"/>
                                        <p:tgtEl>
                                          <p:spTgt spid="938039">
                                            <p:txEl>
                                              <p:pRg st="0" end="0"/>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4" presetClass="entr" presetSubtype="32" fill="hold" grpId="0" nodeType="clickEffect">
                                  <p:stCondLst>
                                    <p:cond delay="0"/>
                                  </p:stCondLst>
                                  <p:childTnLst>
                                    <p:set>
                                      <p:cBhvr>
                                        <p:cTn id="41" dur="1" fill="hold">
                                          <p:stCondLst>
                                            <p:cond delay="0"/>
                                          </p:stCondLst>
                                        </p:cTn>
                                        <p:tgtEl>
                                          <p:spTgt spid="938050">
                                            <p:txEl>
                                              <p:pRg st="0" end="0"/>
                                            </p:txEl>
                                          </p:spTgt>
                                        </p:tgtEl>
                                        <p:attrNameLst>
                                          <p:attrName>style.visibility</p:attrName>
                                        </p:attrNameLst>
                                      </p:cBhvr>
                                      <p:to>
                                        <p:strVal val="visible"/>
                                      </p:to>
                                    </p:set>
                                    <p:animEffect transition="in" filter="box(out)">
                                      <p:cBhvr>
                                        <p:cTn id="42" dur="500"/>
                                        <p:tgtEl>
                                          <p:spTgt spid="938050">
                                            <p:txEl>
                                              <p:pRg st="0" end="0"/>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4" presetClass="entr" presetSubtype="32" fill="hold" grpId="0" nodeType="clickEffect">
                                  <p:stCondLst>
                                    <p:cond delay="0"/>
                                  </p:stCondLst>
                                  <p:childTnLst>
                                    <p:set>
                                      <p:cBhvr>
                                        <p:cTn id="46" dur="1" fill="hold">
                                          <p:stCondLst>
                                            <p:cond delay="0"/>
                                          </p:stCondLst>
                                        </p:cTn>
                                        <p:tgtEl>
                                          <p:spTgt spid="938037">
                                            <p:txEl>
                                              <p:pRg st="0" end="0"/>
                                            </p:txEl>
                                          </p:spTgt>
                                        </p:tgtEl>
                                        <p:attrNameLst>
                                          <p:attrName>style.visibility</p:attrName>
                                        </p:attrNameLst>
                                      </p:cBhvr>
                                      <p:to>
                                        <p:strVal val="visible"/>
                                      </p:to>
                                    </p:set>
                                    <p:animEffect transition="in" filter="box(out)">
                                      <p:cBhvr>
                                        <p:cTn id="47" dur="500"/>
                                        <p:tgtEl>
                                          <p:spTgt spid="938037">
                                            <p:txEl>
                                              <p:pRg st="0" end="0"/>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4" presetClass="entr" presetSubtype="32" fill="hold" nodeType="clickEffect">
                                  <p:stCondLst>
                                    <p:cond delay="0"/>
                                  </p:stCondLst>
                                  <p:childTnLst>
                                    <p:set>
                                      <p:cBhvr>
                                        <p:cTn id="51" dur="1" fill="hold">
                                          <p:stCondLst>
                                            <p:cond delay="0"/>
                                          </p:stCondLst>
                                        </p:cTn>
                                        <p:tgtEl>
                                          <p:spTgt spid="938000"/>
                                        </p:tgtEl>
                                        <p:attrNameLst>
                                          <p:attrName>style.visibility</p:attrName>
                                        </p:attrNameLst>
                                      </p:cBhvr>
                                      <p:to>
                                        <p:strVal val="visible"/>
                                      </p:to>
                                    </p:set>
                                    <p:animEffect transition="in" filter="box(out)">
                                      <p:cBhvr>
                                        <p:cTn id="52" dur="500"/>
                                        <p:tgtEl>
                                          <p:spTgt spid="938000"/>
                                        </p:tgtEl>
                                      </p:cBhvr>
                                    </p:animEffect>
                                  </p:childTnLst>
                                </p:cTn>
                              </p:par>
                            </p:childTnLst>
                          </p:cTn>
                        </p:par>
                      </p:childTnLst>
                    </p:cTn>
                  </p:par>
                  <p:par>
                    <p:cTn id="53" fill="hold">
                      <p:stCondLst>
                        <p:cond delay="indefinite"/>
                      </p:stCondLst>
                      <p:childTnLst>
                        <p:par>
                          <p:cTn id="54" fill="hold">
                            <p:stCondLst>
                              <p:cond delay="0"/>
                            </p:stCondLst>
                            <p:childTnLst>
                              <p:par>
                                <p:cTn id="55" presetID="4" presetClass="entr" presetSubtype="32" fill="hold" grpId="0" nodeType="clickEffect">
                                  <p:stCondLst>
                                    <p:cond delay="0"/>
                                  </p:stCondLst>
                                  <p:childTnLst>
                                    <p:set>
                                      <p:cBhvr>
                                        <p:cTn id="56" dur="1" fill="hold">
                                          <p:stCondLst>
                                            <p:cond delay="0"/>
                                          </p:stCondLst>
                                        </p:cTn>
                                        <p:tgtEl>
                                          <p:spTgt spid="938038">
                                            <p:txEl>
                                              <p:pRg st="0" end="0"/>
                                            </p:txEl>
                                          </p:spTgt>
                                        </p:tgtEl>
                                        <p:attrNameLst>
                                          <p:attrName>style.visibility</p:attrName>
                                        </p:attrNameLst>
                                      </p:cBhvr>
                                      <p:to>
                                        <p:strVal val="visible"/>
                                      </p:to>
                                    </p:set>
                                    <p:animEffect transition="in" filter="box(out)">
                                      <p:cBhvr>
                                        <p:cTn id="57" dur="500"/>
                                        <p:tgtEl>
                                          <p:spTgt spid="938038">
                                            <p:txEl>
                                              <p:pRg st="0" end="0"/>
                                            </p:txEl>
                                          </p:spTgt>
                                        </p:tgtEl>
                                      </p:cBhvr>
                                    </p:animEffect>
                                  </p:childTnLst>
                                </p:cTn>
                              </p:par>
                            </p:childTnLst>
                          </p:cTn>
                        </p:par>
                      </p:childTnLst>
                    </p:cTn>
                  </p:par>
                  <p:par>
                    <p:cTn id="58" fill="hold">
                      <p:stCondLst>
                        <p:cond delay="indefinite"/>
                      </p:stCondLst>
                      <p:childTnLst>
                        <p:par>
                          <p:cTn id="59" fill="hold">
                            <p:stCondLst>
                              <p:cond delay="0"/>
                            </p:stCondLst>
                            <p:childTnLst>
                              <p:par>
                                <p:cTn id="60" presetID="4" presetClass="entr" presetSubtype="32" fill="hold" nodeType="clickEffect">
                                  <p:stCondLst>
                                    <p:cond delay="0"/>
                                  </p:stCondLst>
                                  <p:childTnLst>
                                    <p:set>
                                      <p:cBhvr>
                                        <p:cTn id="61" dur="1" fill="hold">
                                          <p:stCondLst>
                                            <p:cond delay="0"/>
                                          </p:stCondLst>
                                        </p:cTn>
                                        <p:tgtEl>
                                          <p:spTgt spid="938001"/>
                                        </p:tgtEl>
                                        <p:attrNameLst>
                                          <p:attrName>style.visibility</p:attrName>
                                        </p:attrNameLst>
                                      </p:cBhvr>
                                      <p:to>
                                        <p:strVal val="visible"/>
                                      </p:to>
                                    </p:set>
                                    <p:animEffect transition="in" filter="box(out)">
                                      <p:cBhvr>
                                        <p:cTn id="62" dur="500"/>
                                        <p:tgtEl>
                                          <p:spTgt spid="938001"/>
                                        </p:tgtEl>
                                      </p:cBhvr>
                                    </p:animEffect>
                                  </p:childTnLst>
                                </p:cTn>
                              </p:par>
                            </p:childTnLst>
                          </p:cTn>
                        </p:par>
                      </p:childTnLst>
                    </p:cTn>
                  </p:par>
                  <p:par>
                    <p:cTn id="63" fill="hold">
                      <p:stCondLst>
                        <p:cond delay="indefinite"/>
                      </p:stCondLst>
                      <p:childTnLst>
                        <p:par>
                          <p:cTn id="64" fill="hold">
                            <p:stCondLst>
                              <p:cond delay="0"/>
                            </p:stCondLst>
                            <p:childTnLst>
                              <p:par>
                                <p:cTn id="65" presetID="4" presetClass="entr" presetSubtype="32" fill="hold" grpId="0" nodeType="clickEffect">
                                  <p:stCondLst>
                                    <p:cond delay="0"/>
                                  </p:stCondLst>
                                  <p:childTnLst>
                                    <p:set>
                                      <p:cBhvr>
                                        <p:cTn id="66" dur="1" fill="hold">
                                          <p:stCondLst>
                                            <p:cond delay="0"/>
                                          </p:stCondLst>
                                        </p:cTn>
                                        <p:tgtEl>
                                          <p:spTgt spid="938040">
                                            <p:txEl>
                                              <p:pRg st="0" end="0"/>
                                            </p:txEl>
                                          </p:spTgt>
                                        </p:tgtEl>
                                        <p:attrNameLst>
                                          <p:attrName>style.visibility</p:attrName>
                                        </p:attrNameLst>
                                      </p:cBhvr>
                                      <p:to>
                                        <p:strVal val="visible"/>
                                      </p:to>
                                    </p:set>
                                    <p:animEffect transition="in" filter="box(out)">
                                      <p:cBhvr>
                                        <p:cTn id="67" dur="500"/>
                                        <p:tgtEl>
                                          <p:spTgt spid="938040">
                                            <p:txEl>
                                              <p:pRg st="0" end="0"/>
                                            </p:txEl>
                                          </p:spTgt>
                                        </p:tgtEl>
                                      </p:cBhvr>
                                    </p:animEffect>
                                  </p:childTnLst>
                                </p:cTn>
                              </p:par>
                            </p:childTnLst>
                          </p:cTn>
                        </p:par>
                      </p:childTnLst>
                    </p:cTn>
                  </p:par>
                  <p:par>
                    <p:cTn id="68" fill="hold">
                      <p:stCondLst>
                        <p:cond delay="indefinite"/>
                      </p:stCondLst>
                      <p:childTnLst>
                        <p:par>
                          <p:cTn id="69" fill="hold">
                            <p:stCondLst>
                              <p:cond delay="0"/>
                            </p:stCondLst>
                            <p:childTnLst>
                              <p:par>
                                <p:cTn id="70" presetID="4" presetClass="entr" presetSubtype="32" fill="hold" grpId="0" nodeType="clickEffect">
                                  <p:stCondLst>
                                    <p:cond delay="0"/>
                                  </p:stCondLst>
                                  <p:childTnLst>
                                    <p:set>
                                      <p:cBhvr>
                                        <p:cTn id="71" dur="1" fill="hold">
                                          <p:stCondLst>
                                            <p:cond delay="0"/>
                                          </p:stCondLst>
                                        </p:cTn>
                                        <p:tgtEl>
                                          <p:spTgt spid="938043">
                                            <p:txEl>
                                              <p:pRg st="0" end="0"/>
                                            </p:txEl>
                                          </p:spTgt>
                                        </p:tgtEl>
                                        <p:attrNameLst>
                                          <p:attrName>style.visibility</p:attrName>
                                        </p:attrNameLst>
                                      </p:cBhvr>
                                      <p:to>
                                        <p:strVal val="visible"/>
                                      </p:to>
                                    </p:set>
                                    <p:animEffect transition="in" filter="box(out)">
                                      <p:cBhvr>
                                        <p:cTn id="72" dur="500"/>
                                        <p:tgtEl>
                                          <p:spTgt spid="938043">
                                            <p:txEl>
                                              <p:pRg st="0" end="0"/>
                                            </p:txEl>
                                          </p:spTgt>
                                        </p:tgtEl>
                                      </p:cBhvr>
                                    </p:animEffect>
                                  </p:childTnLst>
                                </p:cTn>
                              </p:par>
                            </p:childTnLst>
                          </p:cTn>
                        </p:par>
                      </p:childTnLst>
                    </p:cTn>
                  </p:par>
                  <p:par>
                    <p:cTn id="73" fill="hold">
                      <p:stCondLst>
                        <p:cond delay="indefinite"/>
                      </p:stCondLst>
                      <p:childTnLst>
                        <p:par>
                          <p:cTn id="74" fill="hold">
                            <p:stCondLst>
                              <p:cond delay="0"/>
                            </p:stCondLst>
                            <p:childTnLst>
                              <p:par>
                                <p:cTn id="75" presetID="4" presetClass="entr" presetSubtype="32" fill="hold" grpId="0" nodeType="clickEffect">
                                  <p:stCondLst>
                                    <p:cond delay="0"/>
                                  </p:stCondLst>
                                  <p:childTnLst>
                                    <p:set>
                                      <p:cBhvr>
                                        <p:cTn id="76" dur="1" fill="hold">
                                          <p:stCondLst>
                                            <p:cond delay="0"/>
                                          </p:stCondLst>
                                        </p:cTn>
                                        <p:tgtEl>
                                          <p:spTgt spid="938044">
                                            <p:txEl>
                                              <p:pRg st="0" end="0"/>
                                            </p:txEl>
                                          </p:spTgt>
                                        </p:tgtEl>
                                        <p:attrNameLst>
                                          <p:attrName>style.visibility</p:attrName>
                                        </p:attrNameLst>
                                      </p:cBhvr>
                                      <p:to>
                                        <p:strVal val="visible"/>
                                      </p:to>
                                    </p:set>
                                    <p:animEffect transition="in" filter="box(out)">
                                      <p:cBhvr>
                                        <p:cTn id="77" dur="500"/>
                                        <p:tgtEl>
                                          <p:spTgt spid="938044">
                                            <p:txEl>
                                              <p:pRg st="0" end="0"/>
                                            </p:txEl>
                                          </p:spTgt>
                                        </p:tgtEl>
                                      </p:cBhvr>
                                    </p:animEffect>
                                  </p:childTnLst>
                                </p:cTn>
                              </p:par>
                            </p:childTnLst>
                          </p:cTn>
                        </p:par>
                      </p:childTnLst>
                    </p:cTn>
                  </p:par>
                  <p:par>
                    <p:cTn id="78" fill="hold">
                      <p:stCondLst>
                        <p:cond delay="indefinite"/>
                      </p:stCondLst>
                      <p:childTnLst>
                        <p:par>
                          <p:cTn id="79" fill="hold">
                            <p:stCondLst>
                              <p:cond delay="0"/>
                            </p:stCondLst>
                            <p:childTnLst>
                              <p:par>
                                <p:cTn id="80" presetID="4" presetClass="entr" presetSubtype="32" fill="hold" nodeType="clickEffect">
                                  <p:stCondLst>
                                    <p:cond delay="0"/>
                                  </p:stCondLst>
                                  <p:childTnLst>
                                    <p:set>
                                      <p:cBhvr>
                                        <p:cTn id="81" dur="1" fill="hold">
                                          <p:stCondLst>
                                            <p:cond delay="0"/>
                                          </p:stCondLst>
                                        </p:cTn>
                                        <p:tgtEl>
                                          <p:spTgt spid="938046"/>
                                        </p:tgtEl>
                                        <p:attrNameLst>
                                          <p:attrName>style.visibility</p:attrName>
                                        </p:attrNameLst>
                                      </p:cBhvr>
                                      <p:to>
                                        <p:strVal val="visible"/>
                                      </p:to>
                                    </p:set>
                                    <p:animEffect transition="in" filter="box(out)">
                                      <p:cBhvr>
                                        <p:cTn id="82" dur="500"/>
                                        <p:tgtEl>
                                          <p:spTgt spid="938046"/>
                                        </p:tgtEl>
                                      </p:cBhvr>
                                    </p:animEffect>
                                  </p:childTnLst>
                                </p:cTn>
                              </p:par>
                            </p:childTnLst>
                          </p:cTn>
                        </p:par>
                      </p:childTnLst>
                    </p:cTn>
                  </p:par>
                  <p:par>
                    <p:cTn id="83" fill="hold">
                      <p:stCondLst>
                        <p:cond delay="indefinite"/>
                      </p:stCondLst>
                      <p:childTnLst>
                        <p:par>
                          <p:cTn id="84" fill="hold">
                            <p:stCondLst>
                              <p:cond delay="0"/>
                            </p:stCondLst>
                            <p:childTnLst>
                              <p:par>
                                <p:cTn id="85" presetID="4" presetClass="entr" presetSubtype="32" fill="hold" grpId="0" nodeType="clickEffect">
                                  <p:stCondLst>
                                    <p:cond delay="0"/>
                                  </p:stCondLst>
                                  <p:childTnLst>
                                    <p:set>
                                      <p:cBhvr>
                                        <p:cTn id="86" dur="1" fill="hold">
                                          <p:stCondLst>
                                            <p:cond delay="0"/>
                                          </p:stCondLst>
                                        </p:cTn>
                                        <p:tgtEl>
                                          <p:spTgt spid="938041">
                                            <p:txEl>
                                              <p:pRg st="0" end="0"/>
                                            </p:txEl>
                                          </p:spTgt>
                                        </p:tgtEl>
                                        <p:attrNameLst>
                                          <p:attrName>style.visibility</p:attrName>
                                        </p:attrNameLst>
                                      </p:cBhvr>
                                      <p:to>
                                        <p:strVal val="visible"/>
                                      </p:to>
                                    </p:set>
                                    <p:animEffect transition="in" filter="box(out)">
                                      <p:cBhvr>
                                        <p:cTn id="87" dur="500"/>
                                        <p:tgtEl>
                                          <p:spTgt spid="938041">
                                            <p:txEl>
                                              <p:pRg st="0" end="0"/>
                                            </p:txEl>
                                          </p:spTgt>
                                        </p:tgtEl>
                                      </p:cBhvr>
                                    </p:animEffect>
                                  </p:childTnLst>
                                </p:cTn>
                              </p:par>
                            </p:childTnLst>
                          </p:cTn>
                        </p:par>
                      </p:childTnLst>
                    </p:cTn>
                  </p:par>
                  <p:par>
                    <p:cTn id="88" fill="hold">
                      <p:stCondLst>
                        <p:cond delay="indefinite"/>
                      </p:stCondLst>
                      <p:childTnLst>
                        <p:par>
                          <p:cTn id="89" fill="hold">
                            <p:stCondLst>
                              <p:cond delay="0"/>
                            </p:stCondLst>
                            <p:childTnLst>
                              <p:par>
                                <p:cTn id="90" presetID="4" presetClass="entr" presetSubtype="32" fill="hold" nodeType="clickEffect">
                                  <p:stCondLst>
                                    <p:cond delay="0"/>
                                  </p:stCondLst>
                                  <p:childTnLst>
                                    <p:set>
                                      <p:cBhvr>
                                        <p:cTn id="91" dur="1" fill="hold">
                                          <p:stCondLst>
                                            <p:cond delay="0"/>
                                          </p:stCondLst>
                                        </p:cTn>
                                        <p:tgtEl>
                                          <p:spTgt spid="938047"/>
                                        </p:tgtEl>
                                        <p:attrNameLst>
                                          <p:attrName>style.visibility</p:attrName>
                                        </p:attrNameLst>
                                      </p:cBhvr>
                                      <p:to>
                                        <p:strVal val="visible"/>
                                      </p:to>
                                    </p:set>
                                    <p:animEffect transition="in" filter="box(out)">
                                      <p:cBhvr>
                                        <p:cTn id="92" dur="500"/>
                                        <p:tgtEl>
                                          <p:spTgt spid="938047"/>
                                        </p:tgtEl>
                                      </p:cBhvr>
                                    </p:animEffect>
                                  </p:childTnLst>
                                </p:cTn>
                              </p:par>
                            </p:childTnLst>
                          </p:cTn>
                        </p:par>
                      </p:childTnLst>
                    </p:cTn>
                  </p:par>
                  <p:par>
                    <p:cTn id="93" fill="hold">
                      <p:stCondLst>
                        <p:cond delay="indefinite"/>
                      </p:stCondLst>
                      <p:childTnLst>
                        <p:par>
                          <p:cTn id="94" fill="hold">
                            <p:stCondLst>
                              <p:cond delay="0"/>
                            </p:stCondLst>
                            <p:childTnLst>
                              <p:par>
                                <p:cTn id="95" presetID="4" presetClass="entr" presetSubtype="32" fill="hold" grpId="0" nodeType="clickEffect">
                                  <p:stCondLst>
                                    <p:cond delay="0"/>
                                  </p:stCondLst>
                                  <p:childTnLst>
                                    <p:set>
                                      <p:cBhvr>
                                        <p:cTn id="96" dur="1" fill="hold">
                                          <p:stCondLst>
                                            <p:cond delay="0"/>
                                          </p:stCondLst>
                                        </p:cTn>
                                        <p:tgtEl>
                                          <p:spTgt spid="938045">
                                            <p:txEl>
                                              <p:pRg st="0" end="0"/>
                                            </p:txEl>
                                          </p:spTgt>
                                        </p:tgtEl>
                                        <p:attrNameLst>
                                          <p:attrName>style.visibility</p:attrName>
                                        </p:attrNameLst>
                                      </p:cBhvr>
                                      <p:to>
                                        <p:strVal val="visible"/>
                                      </p:to>
                                    </p:set>
                                    <p:animEffect transition="in" filter="box(out)">
                                      <p:cBhvr>
                                        <p:cTn id="97" dur="500"/>
                                        <p:tgtEl>
                                          <p:spTgt spid="938045">
                                            <p:txEl>
                                              <p:pRg st="0" end="0"/>
                                            </p:txEl>
                                          </p:spTgt>
                                        </p:tgtEl>
                                      </p:cBhvr>
                                    </p:animEffect>
                                  </p:childTnLst>
                                </p:cTn>
                              </p:par>
                            </p:childTnLst>
                          </p:cTn>
                        </p:par>
                      </p:childTnLst>
                    </p:cTn>
                  </p:par>
                  <p:par>
                    <p:cTn id="98" fill="hold">
                      <p:stCondLst>
                        <p:cond delay="indefinite"/>
                      </p:stCondLst>
                      <p:childTnLst>
                        <p:par>
                          <p:cTn id="99" fill="hold">
                            <p:stCondLst>
                              <p:cond delay="0"/>
                            </p:stCondLst>
                            <p:childTnLst>
                              <p:par>
                                <p:cTn id="100" presetID="4" presetClass="entr" presetSubtype="32" fill="hold" nodeType="clickEffect">
                                  <p:stCondLst>
                                    <p:cond delay="0"/>
                                  </p:stCondLst>
                                  <p:childTnLst>
                                    <p:set>
                                      <p:cBhvr>
                                        <p:cTn id="101" dur="1" fill="hold">
                                          <p:stCondLst>
                                            <p:cond delay="0"/>
                                          </p:stCondLst>
                                        </p:cTn>
                                        <p:tgtEl>
                                          <p:spTgt spid="938048"/>
                                        </p:tgtEl>
                                        <p:attrNameLst>
                                          <p:attrName>style.visibility</p:attrName>
                                        </p:attrNameLst>
                                      </p:cBhvr>
                                      <p:to>
                                        <p:strVal val="visible"/>
                                      </p:to>
                                    </p:set>
                                    <p:animEffect transition="in" filter="box(out)">
                                      <p:cBhvr>
                                        <p:cTn id="102" dur="500"/>
                                        <p:tgtEl>
                                          <p:spTgt spid="938048"/>
                                        </p:tgtEl>
                                      </p:cBhvr>
                                    </p:animEffect>
                                  </p:childTnLst>
                                </p:cTn>
                              </p:par>
                            </p:childTnLst>
                          </p:cTn>
                        </p:par>
                      </p:childTnLst>
                    </p:cTn>
                  </p:par>
                  <p:par>
                    <p:cTn id="103" fill="hold">
                      <p:stCondLst>
                        <p:cond delay="indefinite"/>
                      </p:stCondLst>
                      <p:childTnLst>
                        <p:par>
                          <p:cTn id="104" fill="hold">
                            <p:stCondLst>
                              <p:cond delay="0"/>
                            </p:stCondLst>
                            <p:childTnLst>
                              <p:par>
                                <p:cTn id="105" presetID="4" presetClass="entr" presetSubtype="32" fill="hold" grpId="0" nodeType="clickEffect">
                                  <p:stCondLst>
                                    <p:cond delay="0"/>
                                  </p:stCondLst>
                                  <p:childTnLst>
                                    <p:set>
                                      <p:cBhvr>
                                        <p:cTn id="106" dur="1" fill="hold">
                                          <p:stCondLst>
                                            <p:cond delay="0"/>
                                          </p:stCondLst>
                                        </p:cTn>
                                        <p:tgtEl>
                                          <p:spTgt spid="938042">
                                            <p:txEl>
                                              <p:pRg st="0" end="0"/>
                                            </p:txEl>
                                          </p:spTgt>
                                        </p:tgtEl>
                                        <p:attrNameLst>
                                          <p:attrName>style.visibility</p:attrName>
                                        </p:attrNameLst>
                                      </p:cBhvr>
                                      <p:to>
                                        <p:strVal val="visible"/>
                                      </p:to>
                                    </p:set>
                                    <p:animEffect transition="in" filter="box(out)">
                                      <p:cBhvr>
                                        <p:cTn id="107" dur="500"/>
                                        <p:tgtEl>
                                          <p:spTgt spid="938042">
                                            <p:txEl>
                                              <p:pRg st="0" end="0"/>
                                            </p:txEl>
                                          </p:spTgt>
                                        </p:tgtEl>
                                      </p:cBhvr>
                                    </p:animEffect>
                                  </p:childTnLst>
                                </p:cTn>
                              </p:par>
                            </p:childTnLst>
                          </p:cTn>
                        </p:par>
                      </p:childTnLst>
                    </p:cTn>
                  </p:par>
                  <p:par>
                    <p:cTn id="108" fill="hold">
                      <p:stCondLst>
                        <p:cond delay="indefinite"/>
                      </p:stCondLst>
                      <p:childTnLst>
                        <p:par>
                          <p:cTn id="109" fill="hold">
                            <p:stCondLst>
                              <p:cond delay="0"/>
                            </p:stCondLst>
                            <p:childTnLst>
                              <p:par>
                                <p:cTn id="110" presetID="4" presetClass="entr" presetSubtype="32" fill="hold" nodeType="clickEffect">
                                  <p:stCondLst>
                                    <p:cond delay="0"/>
                                  </p:stCondLst>
                                  <p:childTnLst>
                                    <p:set>
                                      <p:cBhvr>
                                        <p:cTn id="111" dur="1" fill="hold">
                                          <p:stCondLst>
                                            <p:cond delay="0"/>
                                          </p:stCondLst>
                                        </p:cTn>
                                        <p:tgtEl>
                                          <p:spTgt spid="938049"/>
                                        </p:tgtEl>
                                        <p:attrNameLst>
                                          <p:attrName>style.visibility</p:attrName>
                                        </p:attrNameLst>
                                      </p:cBhvr>
                                      <p:to>
                                        <p:strVal val="visible"/>
                                      </p:to>
                                    </p:set>
                                    <p:animEffect transition="in" filter="box(out)">
                                      <p:cBhvr>
                                        <p:cTn id="112" dur="500"/>
                                        <p:tgtEl>
                                          <p:spTgt spid="938049"/>
                                        </p:tgtEl>
                                      </p:cBhvr>
                                    </p:animEffect>
                                  </p:childTnLst>
                                </p:cTn>
                              </p:par>
                            </p:childTnLst>
                          </p:cTn>
                        </p:par>
                      </p:childTnLst>
                    </p:cTn>
                  </p:par>
                  <p:par>
                    <p:cTn id="113" fill="hold">
                      <p:stCondLst>
                        <p:cond delay="indefinite"/>
                      </p:stCondLst>
                      <p:childTnLst>
                        <p:par>
                          <p:cTn id="114" fill="hold">
                            <p:stCondLst>
                              <p:cond delay="0"/>
                            </p:stCondLst>
                            <p:childTnLst>
                              <p:par>
                                <p:cTn id="115" presetID="4" presetClass="entr" presetSubtype="16" fill="hold" nodeType="clickEffect">
                                  <p:stCondLst>
                                    <p:cond delay="0"/>
                                  </p:stCondLst>
                                  <p:childTnLst>
                                    <p:set>
                                      <p:cBhvr>
                                        <p:cTn id="116" dur="1" fill="hold">
                                          <p:stCondLst>
                                            <p:cond delay="0"/>
                                          </p:stCondLst>
                                        </p:cTn>
                                        <p:tgtEl>
                                          <p:spTgt spid="8"/>
                                        </p:tgtEl>
                                        <p:attrNameLst>
                                          <p:attrName>style.visibility</p:attrName>
                                        </p:attrNameLst>
                                      </p:cBhvr>
                                      <p:to>
                                        <p:strVal val="visible"/>
                                      </p:to>
                                    </p:set>
                                    <p:animEffect transition="in" filter="box(in)">
                                      <p:cBhvr>
                                        <p:cTn id="1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8035" grpId="0" build="p"/>
      <p:bldP spid="938036" grpId="0" build="p"/>
      <p:bldP spid="938037" grpId="0" build="p"/>
      <p:bldP spid="938038" grpId="0" build="p"/>
      <p:bldP spid="938039" grpId="0" build="p"/>
      <p:bldP spid="938040" grpId="0" build="p"/>
      <p:bldP spid="938041" grpId="0" build="p"/>
      <p:bldP spid="938042" grpId="0" build="p"/>
      <p:bldP spid="938043" grpId="0" build="p"/>
      <p:bldP spid="938044" grpId="0" build="p"/>
      <p:bldP spid="938045" grpId="0" build="p"/>
      <p:bldP spid="938050" grpId="0" build="p"/>
    </p:bldLst>
  </p:timing>
</p:sld>
</file>

<file path=ppt/slides/slide7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2" name="矩形 71"/>
          <p:cNvSpPr/>
          <p:nvPr/>
        </p:nvSpPr>
        <p:spPr bwMode="auto">
          <a:xfrm>
            <a:off x="0" y="2205038"/>
            <a:ext cx="9144000" cy="3816350"/>
          </a:xfrm>
          <a:prstGeom prst="rect">
            <a:avLst/>
          </a:prstGeom>
          <a:solidFill>
            <a:schemeClr val="bg2">
              <a:lumMod val="40000"/>
              <a:lumOff val="6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grpSp>
        <p:nvGrpSpPr>
          <p:cNvPr id="2" name="Group 4"/>
          <p:cNvGrpSpPr/>
          <p:nvPr/>
        </p:nvGrpSpPr>
        <p:grpSpPr>
          <a:xfrm>
            <a:off x="3995738" y="1436688"/>
            <a:ext cx="5105400" cy="436562"/>
            <a:chOff x="3216" y="3303"/>
            <a:chExt cx="1680" cy="275"/>
          </a:xfrm>
        </p:grpSpPr>
        <p:sp>
          <p:nvSpPr>
            <p:cNvPr id="77827" name="Rectangle 5"/>
            <p:cNvSpPr>
              <a:spLocks noChangeArrowheads="1"/>
            </p:cNvSpPr>
            <p:nvPr/>
          </p:nvSpPr>
          <p:spPr bwMode="auto">
            <a:xfrm>
              <a:off x="3216" y="3303"/>
              <a:ext cx="1680" cy="275"/>
            </a:xfrm>
            <a:prstGeom prst="rect">
              <a:avLst/>
            </a:prstGeom>
            <a:solidFill>
              <a:schemeClr val="accent1">
                <a:lumMod val="60000"/>
                <a:lumOff val="40000"/>
              </a:schemeClr>
            </a:solidFill>
            <a:ln w="9525">
              <a:solidFill>
                <a:schemeClr val="tx1"/>
              </a:solidFill>
              <a:miter lim="800000"/>
            </a:ln>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1"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200" b="1" i="0" u="none" strike="noStrike" kern="1200" cap="none" spc="0" normalizeH="0" baseline="0" noProof="0" dirty="0" err="1">
                  <a:ln>
                    <a:noFill/>
                  </a:ln>
                  <a:solidFill>
                    <a:schemeClr val="bg1"/>
                  </a:solidFill>
                  <a:effectLst/>
                  <a:uLnTx/>
                  <a:uFillTx/>
                  <a:latin typeface="+mn-lt"/>
                  <a:ea typeface="+mn-ea"/>
                  <a:cs typeface="+mn-ea"/>
                  <a:sym typeface="+mn-lt"/>
                </a:rPr>
                <a:t>lchild</a:t>
              </a:r>
              <a:r>
                <a:rPr kumimoji="0" lang="en-US" altLang="zh-CN" sz="2200" b="1" i="0" u="none" strike="noStrike" kern="1200" cap="none" spc="0" normalizeH="0" baseline="0" noProof="0" dirty="0">
                  <a:ln>
                    <a:noFill/>
                  </a:ln>
                  <a:solidFill>
                    <a:schemeClr val="bg1"/>
                  </a:solidFill>
                  <a:effectLst/>
                  <a:uLnTx/>
                  <a:uFillTx/>
                  <a:latin typeface="+mn-lt"/>
                  <a:ea typeface="+mn-ea"/>
                  <a:cs typeface="+mn-ea"/>
                  <a:sym typeface="+mn-lt"/>
                </a:rPr>
                <a:t>     </a:t>
              </a:r>
              <a:r>
                <a:rPr kumimoji="0" lang="en-US" altLang="zh-CN" sz="2200" b="1" i="0" u="none" strike="noStrike" kern="1200" cap="none" spc="0" normalizeH="0" baseline="0" noProof="0" dirty="0" err="1">
                  <a:ln>
                    <a:noFill/>
                  </a:ln>
                  <a:solidFill>
                    <a:schemeClr val="bg1"/>
                  </a:solidFill>
                  <a:effectLst/>
                  <a:uLnTx/>
                  <a:uFillTx/>
                  <a:latin typeface="+mn-lt"/>
                  <a:ea typeface="+mn-ea"/>
                  <a:cs typeface="+mn-ea"/>
                  <a:sym typeface="+mn-lt"/>
                </a:rPr>
                <a:t>LTag</a:t>
              </a:r>
              <a:r>
                <a:rPr kumimoji="0" lang="en-US" altLang="zh-CN" sz="2200" b="1" i="0" u="none" strike="noStrike" kern="1200" cap="none" spc="0" normalizeH="0" baseline="0" noProof="0" dirty="0">
                  <a:ln>
                    <a:noFill/>
                  </a:ln>
                  <a:solidFill>
                    <a:schemeClr val="bg1"/>
                  </a:solidFill>
                  <a:effectLst/>
                  <a:uLnTx/>
                  <a:uFillTx/>
                  <a:latin typeface="+mn-lt"/>
                  <a:ea typeface="+mn-ea"/>
                  <a:cs typeface="+mn-ea"/>
                  <a:sym typeface="+mn-lt"/>
                </a:rPr>
                <a:t>       data      </a:t>
              </a:r>
              <a:r>
                <a:rPr kumimoji="0" lang="en-US" altLang="zh-CN" sz="2200" b="1" i="0" u="none" strike="noStrike" kern="1200" cap="none" spc="0" normalizeH="0" baseline="0" noProof="0" dirty="0" err="1">
                  <a:ln>
                    <a:noFill/>
                  </a:ln>
                  <a:solidFill>
                    <a:schemeClr val="bg1"/>
                  </a:solidFill>
                  <a:effectLst/>
                  <a:uLnTx/>
                  <a:uFillTx/>
                  <a:latin typeface="+mn-lt"/>
                  <a:ea typeface="+mn-ea"/>
                  <a:cs typeface="+mn-ea"/>
                  <a:sym typeface="+mn-lt"/>
                </a:rPr>
                <a:t>RTag</a:t>
              </a:r>
              <a:r>
                <a:rPr kumimoji="0" lang="en-US" altLang="zh-CN" sz="2200" b="1" i="0" u="none" strike="noStrike" kern="1200" cap="none" spc="0" normalizeH="0" baseline="0" noProof="0" dirty="0">
                  <a:ln>
                    <a:noFill/>
                  </a:ln>
                  <a:solidFill>
                    <a:schemeClr val="bg1"/>
                  </a:solidFill>
                  <a:effectLst/>
                  <a:uLnTx/>
                  <a:uFillTx/>
                  <a:latin typeface="+mn-lt"/>
                  <a:ea typeface="+mn-ea"/>
                  <a:cs typeface="+mn-ea"/>
                  <a:sym typeface="+mn-lt"/>
                </a:rPr>
                <a:t>     </a:t>
              </a:r>
              <a:r>
                <a:rPr kumimoji="0" lang="en-US" altLang="zh-CN" sz="2200" b="1" i="0" u="none" strike="noStrike" kern="1200" cap="none" spc="0" normalizeH="0" baseline="0" noProof="0" dirty="0" err="1">
                  <a:ln>
                    <a:noFill/>
                  </a:ln>
                  <a:solidFill>
                    <a:schemeClr val="bg1"/>
                  </a:solidFill>
                  <a:effectLst/>
                  <a:uLnTx/>
                  <a:uFillTx/>
                  <a:latin typeface="+mn-lt"/>
                  <a:ea typeface="+mn-ea"/>
                  <a:cs typeface="+mn-ea"/>
                  <a:sym typeface="+mn-lt"/>
                </a:rPr>
                <a:t>rchild</a:t>
              </a:r>
              <a:endParaRPr kumimoji="0" lang="en-US" altLang="zh-CN" sz="2200" b="1"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77828" name="Line 6"/>
            <p:cNvSpPr>
              <a:spLocks noChangeShapeType="1"/>
            </p:cNvSpPr>
            <p:nvPr/>
          </p:nvSpPr>
          <p:spPr bwMode="auto">
            <a:xfrm>
              <a:off x="3552" y="3312"/>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29" name="Line 7"/>
            <p:cNvSpPr>
              <a:spLocks noChangeShapeType="1"/>
            </p:cNvSpPr>
            <p:nvPr/>
          </p:nvSpPr>
          <p:spPr bwMode="auto">
            <a:xfrm>
              <a:off x="3888"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30" name="Line 8"/>
            <p:cNvSpPr>
              <a:spLocks noChangeShapeType="1"/>
            </p:cNvSpPr>
            <p:nvPr/>
          </p:nvSpPr>
          <p:spPr bwMode="auto">
            <a:xfrm>
              <a:off x="4224"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31" name="Line 9"/>
            <p:cNvSpPr>
              <a:spLocks noChangeShapeType="1"/>
            </p:cNvSpPr>
            <p:nvPr/>
          </p:nvSpPr>
          <p:spPr bwMode="auto">
            <a:xfrm>
              <a:off x="4560" y="3312"/>
              <a:ext cx="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3" name="Group 10"/>
          <p:cNvGrpSpPr/>
          <p:nvPr/>
        </p:nvGrpSpPr>
        <p:grpSpPr>
          <a:xfrm>
            <a:off x="1466850" y="3519488"/>
            <a:ext cx="1852613" cy="1668462"/>
            <a:chOff x="1632" y="768"/>
            <a:chExt cx="1167" cy="1051"/>
          </a:xfrm>
        </p:grpSpPr>
        <p:sp>
          <p:nvSpPr>
            <p:cNvPr id="77833" name="Oval 11"/>
            <p:cNvSpPr>
              <a:spLocks noChangeArrowheads="1"/>
            </p:cNvSpPr>
            <p:nvPr/>
          </p:nvSpPr>
          <p:spPr bwMode="auto">
            <a:xfrm>
              <a:off x="2112" y="768"/>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A</a:t>
              </a:r>
            </a:p>
          </p:txBody>
        </p:sp>
        <p:sp>
          <p:nvSpPr>
            <p:cNvPr id="77834" name="Oval 12"/>
            <p:cNvSpPr>
              <a:spLocks noChangeArrowheads="1"/>
            </p:cNvSpPr>
            <p:nvPr/>
          </p:nvSpPr>
          <p:spPr bwMode="auto">
            <a:xfrm>
              <a:off x="1632" y="1152"/>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77835" name="Oval 13"/>
            <p:cNvSpPr>
              <a:spLocks noChangeArrowheads="1"/>
            </p:cNvSpPr>
            <p:nvPr/>
          </p:nvSpPr>
          <p:spPr bwMode="auto">
            <a:xfrm>
              <a:off x="1920" y="1584"/>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C</a:t>
              </a:r>
            </a:p>
          </p:txBody>
        </p:sp>
        <p:sp>
          <p:nvSpPr>
            <p:cNvPr id="77836" name="Oval 14"/>
            <p:cNvSpPr>
              <a:spLocks noChangeArrowheads="1"/>
            </p:cNvSpPr>
            <p:nvPr/>
          </p:nvSpPr>
          <p:spPr bwMode="auto">
            <a:xfrm>
              <a:off x="2544" y="1152"/>
              <a:ext cx="255" cy="224"/>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D</a:t>
              </a:r>
            </a:p>
          </p:txBody>
        </p:sp>
        <p:sp>
          <p:nvSpPr>
            <p:cNvPr id="77837" name="Oval 15"/>
            <p:cNvSpPr>
              <a:spLocks noChangeArrowheads="1"/>
            </p:cNvSpPr>
            <p:nvPr/>
          </p:nvSpPr>
          <p:spPr bwMode="auto">
            <a:xfrm>
              <a:off x="2256" y="1584"/>
              <a:ext cx="255" cy="235"/>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E</a:t>
              </a:r>
            </a:p>
          </p:txBody>
        </p:sp>
        <p:sp>
          <p:nvSpPr>
            <p:cNvPr id="77838" name="Line 16"/>
            <p:cNvSpPr>
              <a:spLocks noChangeShapeType="1"/>
            </p:cNvSpPr>
            <p:nvPr/>
          </p:nvSpPr>
          <p:spPr bwMode="auto">
            <a:xfrm flipH="1">
              <a:off x="1872" y="960"/>
              <a:ext cx="24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39" name="Line 17"/>
            <p:cNvSpPr>
              <a:spLocks noChangeShapeType="1"/>
            </p:cNvSpPr>
            <p:nvPr/>
          </p:nvSpPr>
          <p:spPr bwMode="auto">
            <a:xfrm>
              <a:off x="2304" y="960"/>
              <a:ext cx="24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40" name="Line 18"/>
            <p:cNvSpPr>
              <a:spLocks noChangeShapeType="1"/>
            </p:cNvSpPr>
            <p:nvPr/>
          </p:nvSpPr>
          <p:spPr bwMode="auto">
            <a:xfrm>
              <a:off x="1824" y="1392"/>
              <a:ext cx="144"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41" name="Line 19"/>
            <p:cNvSpPr>
              <a:spLocks noChangeShapeType="1"/>
            </p:cNvSpPr>
            <p:nvPr/>
          </p:nvSpPr>
          <p:spPr bwMode="auto">
            <a:xfrm flipH="1">
              <a:off x="2496" y="1392"/>
              <a:ext cx="144"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39028" name="Line 20"/>
          <p:cNvSpPr>
            <a:spLocks noChangeShapeType="1"/>
          </p:cNvSpPr>
          <p:nvPr/>
        </p:nvSpPr>
        <p:spPr bwMode="auto">
          <a:xfrm flipH="1">
            <a:off x="4978400" y="3252788"/>
            <a:ext cx="609600" cy="609600"/>
          </a:xfrm>
          <a:prstGeom prst="line">
            <a:avLst/>
          </a:prstGeom>
          <a:noFill/>
          <a:ln w="38100">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9029" name="Line 21"/>
          <p:cNvSpPr>
            <a:spLocks noChangeShapeType="1"/>
          </p:cNvSpPr>
          <p:nvPr/>
        </p:nvSpPr>
        <p:spPr bwMode="auto">
          <a:xfrm>
            <a:off x="6807200" y="3252788"/>
            <a:ext cx="838200" cy="609600"/>
          </a:xfrm>
          <a:prstGeom prst="line">
            <a:avLst/>
          </a:prstGeom>
          <a:noFill/>
          <a:ln w="38100">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9030" name="Line 22"/>
          <p:cNvSpPr>
            <a:spLocks noChangeShapeType="1"/>
          </p:cNvSpPr>
          <p:nvPr/>
        </p:nvSpPr>
        <p:spPr bwMode="auto">
          <a:xfrm>
            <a:off x="5435600" y="4167188"/>
            <a:ext cx="381000" cy="685800"/>
          </a:xfrm>
          <a:prstGeom prst="line">
            <a:avLst/>
          </a:prstGeom>
          <a:noFill/>
          <a:ln w="38100">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9031" name="Line 23"/>
          <p:cNvSpPr>
            <a:spLocks noChangeShapeType="1"/>
          </p:cNvSpPr>
          <p:nvPr/>
        </p:nvSpPr>
        <p:spPr bwMode="auto">
          <a:xfrm flipH="1">
            <a:off x="6654800" y="4167188"/>
            <a:ext cx="457200" cy="685800"/>
          </a:xfrm>
          <a:prstGeom prst="line">
            <a:avLst/>
          </a:prstGeom>
          <a:noFill/>
          <a:ln w="38100">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4" name="Group 24"/>
          <p:cNvGrpSpPr/>
          <p:nvPr/>
        </p:nvGrpSpPr>
        <p:grpSpPr>
          <a:xfrm>
            <a:off x="4140200" y="2338388"/>
            <a:ext cx="4191000" cy="3536950"/>
            <a:chOff x="2928" y="144"/>
            <a:chExt cx="2640" cy="2228"/>
          </a:xfrm>
        </p:grpSpPr>
        <p:grpSp>
          <p:nvGrpSpPr>
            <p:cNvPr id="80923" name="Group 25"/>
            <p:cNvGrpSpPr/>
            <p:nvPr/>
          </p:nvGrpSpPr>
          <p:grpSpPr>
            <a:xfrm>
              <a:off x="3792" y="528"/>
              <a:ext cx="912" cy="256"/>
              <a:chOff x="3216" y="3312"/>
              <a:chExt cx="1680" cy="256"/>
            </a:xfrm>
          </p:grpSpPr>
          <p:sp>
            <p:nvSpPr>
              <p:cNvPr id="77848" name="Rectangle 26"/>
              <p:cNvSpPr>
                <a:spLocks noChangeArrowheads="1"/>
              </p:cNvSpPr>
              <p:nvPr/>
            </p:nvSpPr>
            <p:spPr bwMode="auto">
              <a:xfrm>
                <a:off x="3216" y="3312"/>
                <a:ext cx="1680"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A</a:t>
                </a:r>
              </a:p>
            </p:txBody>
          </p:sp>
          <p:sp>
            <p:nvSpPr>
              <p:cNvPr id="77849" name="Line 27"/>
              <p:cNvSpPr>
                <a:spLocks noChangeShapeType="1"/>
              </p:cNvSpPr>
              <p:nvPr/>
            </p:nvSpPr>
            <p:spPr bwMode="auto">
              <a:xfrm>
                <a:off x="3551" y="3312"/>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50" name="Line 28"/>
              <p:cNvSpPr>
                <a:spLocks noChangeShapeType="1"/>
              </p:cNvSpPr>
              <p:nvPr/>
            </p:nvSpPr>
            <p:spPr bwMode="auto">
              <a:xfrm>
                <a:off x="3888"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51" name="Line 29"/>
              <p:cNvSpPr>
                <a:spLocks noChangeShapeType="1"/>
              </p:cNvSpPr>
              <p:nvPr/>
            </p:nvSpPr>
            <p:spPr bwMode="auto">
              <a:xfrm>
                <a:off x="4224"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52" name="Line 30"/>
              <p:cNvSpPr>
                <a:spLocks noChangeShapeType="1"/>
              </p:cNvSpPr>
              <p:nvPr/>
            </p:nvSpPr>
            <p:spPr bwMode="auto">
              <a:xfrm>
                <a:off x="4561" y="3312"/>
                <a:ext cx="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7853" name="Rectangle 31"/>
            <p:cNvSpPr>
              <a:spLocks noChangeArrowheads="1"/>
            </p:cNvSpPr>
            <p:nvPr/>
          </p:nvSpPr>
          <p:spPr bwMode="auto">
            <a:xfrm>
              <a:off x="2928" y="1104"/>
              <a:ext cx="912"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B</a:t>
              </a:r>
            </a:p>
          </p:txBody>
        </p:sp>
        <p:sp>
          <p:nvSpPr>
            <p:cNvPr id="77854" name="Line 32"/>
            <p:cNvSpPr>
              <a:spLocks noChangeShapeType="1"/>
            </p:cNvSpPr>
            <p:nvPr/>
          </p:nvSpPr>
          <p:spPr bwMode="auto">
            <a:xfrm>
              <a:off x="3110" y="1104"/>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55" name="Line 33"/>
            <p:cNvSpPr>
              <a:spLocks noChangeShapeType="1"/>
            </p:cNvSpPr>
            <p:nvPr/>
          </p:nvSpPr>
          <p:spPr bwMode="auto">
            <a:xfrm>
              <a:off x="3293" y="1104"/>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56" name="Line 34"/>
            <p:cNvSpPr>
              <a:spLocks noChangeShapeType="1"/>
            </p:cNvSpPr>
            <p:nvPr/>
          </p:nvSpPr>
          <p:spPr bwMode="auto">
            <a:xfrm>
              <a:off x="3475" y="1104"/>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57" name="Line 35"/>
            <p:cNvSpPr>
              <a:spLocks noChangeShapeType="1"/>
            </p:cNvSpPr>
            <p:nvPr/>
          </p:nvSpPr>
          <p:spPr bwMode="auto">
            <a:xfrm>
              <a:off x="3658" y="1104"/>
              <a:ext cx="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80929" name="Group 36"/>
            <p:cNvGrpSpPr/>
            <p:nvPr/>
          </p:nvGrpSpPr>
          <p:grpSpPr>
            <a:xfrm>
              <a:off x="4656" y="1104"/>
              <a:ext cx="912" cy="256"/>
              <a:chOff x="3216" y="3312"/>
              <a:chExt cx="1680" cy="256"/>
            </a:xfrm>
          </p:grpSpPr>
          <p:sp>
            <p:nvSpPr>
              <p:cNvPr id="77859" name="Rectangle 37"/>
              <p:cNvSpPr>
                <a:spLocks noChangeArrowheads="1"/>
              </p:cNvSpPr>
              <p:nvPr/>
            </p:nvSpPr>
            <p:spPr bwMode="auto">
              <a:xfrm>
                <a:off x="3216" y="3312"/>
                <a:ext cx="1680"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D</a:t>
                </a:r>
              </a:p>
            </p:txBody>
          </p:sp>
          <p:sp>
            <p:nvSpPr>
              <p:cNvPr id="77860" name="Line 38"/>
              <p:cNvSpPr>
                <a:spLocks noChangeShapeType="1"/>
              </p:cNvSpPr>
              <p:nvPr/>
            </p:nvSpPr>
            <p:spPr bwMode="auto">
              <a:xfrm>
                <a:off x="3551" y="3312"/>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61" name="Line 39"/>
              <p:cNvSpPr>
                <a:spLocks noChangeShapeType="1"/>
              </p:cNvSpPr>
              <p:nvPr/>
            </p:nvSpPr>
            <p:spPr bwMode="auto">
              <a:xfrm>
                <a:off x="3888"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62" name="Line 40"/>
              <p:cNvSpPr>
                <a:spLocks noChangeShapeType="1"/>
              </p:cNvSpPr>
              <p:nvPr/>
            </p:nvSpPr>
            <p:spPr bwMode="auto">
              <a:xfrm>
                <a:off x="4224"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63" name="Line 41"/>
              <p:cNvSpPr>
                <a:spLocks noChangeShapeType="1"/>
              </p:cNvSpPr>
              <p:nvPr/>
            </p:nvSpPr>
            <p:spPr bwMode="auto">
              <a:xfrm>
                <a:off x="4561" y="3312"/>
                <a:ext cx="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0930" name="Group 42"/>
            <p:cNvGrpSpPr/>
            <p:nvPr/>
          </p:nvGrpSpPr>
          <p:grpSpPr>
            <a:xfrm>
              <a:off x="3264" y="1728"/>
              <a:ext cx="912" cy="256"/>
              <a:chOff x="3216" y="3312"/>
              <a:chExt cx="1680" cy="256"/>
            </a:xfrm>
          </p:grpSpPr>
          <p:sp>
            <p:nvSpPr>
              <p:cNvPr id="77865" name="Rectangle 43"/>
              <p:cNvSpPr>
                <a:spLocks noChangeArrowheads="1"/>
              </p:cNvSpPr>
              <p:nvPr/>
            </p:nvSpPr>
            <p:spPr bwMode="auto">
              <a:xfrm>
                <a:off x="3216" y="3312"/>
                <a:ext cx="1680"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C</a:t>
                </a:r>
              </a:p>
            </p:txBody>
          </p:sp>
          <p:sp>
            <p:nvSpPr>
              <p:cNvPr id="77866" name="Line 44"/>
              <p:cNvSpPr>
                <a:spLocks noChangeShapeType="1"/>
              </p:cNvSpPr>
              <p:nvPr/>
            </p:nvSpPr>
            <p:spPr bwMode="auto">
              <a:xfrm>
                <a:off x="3551" y="3312"/>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67" name="Line 45"/>
              <p:cNvSpPr>
                <a:spLocks noChangeShapeType="1"/>
              </p:cNvSpPr>
              <p:nvPr/>
            </p:nvSpPr>
            <p:spPr bwMode="auto">
              <a:xfrm>
                <a:off x="3888"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68" name="Line 46"/>
              <p:cNvSpPr>
                <a:spLocks noChangeShapeType="1"/>
              </p:cNvSpPr>
              <p:nvPr/>
            </p:nvSpPr>
            <p:spPr bwMode="auto">
              <a:xfrm>
                <a:off x="4224"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69" name="Line 47"/>
              <p:cNvSpPr>
                <a:spLocks noChangeShapeType="1"/>
              </p:cNvSpPr>
              <p:nvPr/>
            </p:nvSpPr>
            <p:spPr bwMode="auto">
              <a:xfrm>
                <a:off x="4561" y="3312"/>
                <a:ext cx="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0931" name="Group 48"/>
            <p:cNvGrpSpPr/>
            <p:nvPr/>
          </p:nvGrpSpPr>
          <p:grpSpPr>
            <a:xfrm>
              <a:off x="4272" y="1728"/>
              <a:ext cx="912" cy="256"/>
              <a:chOff x="3216" y="3312"/>
              <a:chExt cx="1680" cy="256"/>
            </a:xfrm>
          </p:grpSpPr>
          <p:sp>
            <p:nvSpPr>
              <p:cNvPr id="77871" name="Rectangle 49"/>
              <p:cNvSpPr>
                <a:spLocks noChangeArrowheads="1"/>
              </p:cNvSpPr>
              <p:nvPr/>
            </p:nvSpPr>
            <p:spPr bwMode="auto">
              <a:xfrm>
                <a:off x="3216" y="3312"/>
                <a:ext cx="1680" cy="256"/>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         E</a:t>
                </a:r>
              </a:p>
            </p:txBody>
          </p:sp>
          <p:sp>
            <p:nvSpPr>
              <p:cNvPr id="77872" name="Line 50"/>
              <p:cNvSpPr>
                <a:spLocks noChangeShapeType="1"/>
              </p:cNvSpPr>
              <p:nvPr/>
            </p:nvSpPr>
            <p:spPr bwMode="auto">
              <a:xfrm>
                <a:off x="3551" y="3312"/>
                <a:ext cx="0" cy="2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73" name="Line 51"/>
              <p:cNvSpPr>
                <a:spLocks noChangeShapeType="1"/>
              </p:cNvSpPr>
              <p:nvPr/>
            </p:nvSpPr>
            <p:spPr bwMode="auto">
              <a:xfrm>
                <a:off x="3888"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74" name="Line 52"/>
              <p:cNvSpPr>
                <a:spLocks noChangeShapeType="1"/>
              </p:cNvSpPr>
              <p:nvPr/>
            </p:nvSpPr>
            <p:spPr bwMode="auto">
              <a:xfrm>
                <a:off x="4224" y="3312"/>
                <a:ext cx="0" cy="25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75" name="Line 53"/>
              <p:cNvSpPr>
                <a:spLocks noChangeShapeType="1"/>
              </p:cNvSpPr>
              <p:nvPr/>
            </p:nvSpPr>
            <p:spPr bwMode="auto">
              <a:xfrm>
                <a:off x="4561" y="3312"/>
                <a:ext cx="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7876" name="Line 54"/>
            <p:cNvSpPr>
              <a:spLocks noChangeShapeType="1"/>
            </p:cNvSpPr>
            <p:nvPr/>
          </p:nvSpPr>
          <p:spPr bwMode="auto">
            <a:xfrm flipH="1">
              <a:off x="4272" y="288"/>
              <a:ext cx="96" cy="240"/>
            </a:xfrm>
            <a:prstGeom prst="line">
              <a:avLst/>
            </a:prstGeom>
            <a:noFill/>
            <a:ln w="38100">
              <a:solidFill>
                <a:srgbClr val="0000FF"/>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77" name="Text Box 55"/>
            <p:cNvSpPr txBox="1">
              <a:spLocks noChangeArrowheads="1"/>
            </p:cNvSpPr>
            <p:nvPr/>
          </p:nvSpPr>
          <p:spPr bwMode="auto">
            <a:xfrm>
              <a:off x="4368" y="144"/>
              <a:ext cx="21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T</a:t>
              </a:r>
            </a:p>
          </p:txBody>
        </p:sp>
        <p:sp>
          <p:nvSpPr>
            <p:cNvPr id="77878" name="Text Box 56"/>
            <p:cNvSpPr txBox="1">
              <a:spLocks noChangeArrowheads="1"/>
            </p:cNvSpPr>
            <p:nvPr/>
          </p:nvSpPr>
          <p:spPr bwMode="auto">
            <a:xfrm>
              <a:off x="3427" y="2084"/>
              <a:ext cx="175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后序序列：</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CBEDA</a:t>
              </a:r>
            </a:p>
          </p:txBody>
        </p:sp>
      </p:grpSp>
      <p:sp>
        <p:nvSpPr>
          <p:cNvPr id="939065" name="Text Box 57"/>
          <p:cNvSpPr txBox="1">
            <a:spLocks noChangeArrowheads="1"/>
          </p:cNvSpPr>
          <p:nvPr/>
        </p:nvSpPr>
        <p:spPr bwMode="auto">
          <a:xfrm>
            <a:off x="5794375" y="2962275"/>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39066" name="Text Box 58"/>
          <p:cNvSpPr txBox="1">
            <a:spLocks noChangeArrowheads="1"/>
          </p:cNvSpPr>
          <p:nvPr/>
        </p:nvSpPr>
        <p:spPr bwMode="auto">
          <a:xfrm>
            <a:off x="6367463" y="2965450"/>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39067" name="Text Box 59"/>
          <p:cNvSpPr txBox="1">
            <a:spLocks noChangeArrowheads="1"/>
          </p:cNvSpPr>
          <p:nvPr/>
        </p:nvSpPr>
        <p:spPr bwMode="auto">
          <a:xfrm>
            <a:off x="4994275" y="3870325"/>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39068" name="Text Box 60"/>
          <p:cNvSpPr txBox="1">
            <a:spLocks noChangeArrowheads="1"/>
          </p:cNvSpPr>
          <p:nvPr/>
        </p:nvSpPr>
        <p:spPr bwMode="auto">
          <a:xfrm>
            <a:off x="7146925" y="3868738"/>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39069" name="Text Box 61"/>
          <p:cNvSpPr txBox="1">
            <a:spLocks noChangeArrowheads="1"/>
          </p:cNvSpPr>
          <p:nvPr/>
        </p:nvSpPr>
        <p:spPr bwMode="auto">
          <a:xfrm>
            <a:off x="4413250" y="3856038"/>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9070" name="Text Box 62"/>
          <p:cNvSpPr txBox="1">
            <a:spLocks noChangeArrowheads="1"/>
          </p:cNvSpPr>
          <p:nvPr/>
        </p:nvSpPr>
        <p:spPr bwMode="auto">
          <a:xfrm>
            <a:off x="7727950" y="3868738"/>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9071" name="Text Box 63"/>
          <p:cNvSpPr txBox="1">
            <a:spLocks noChangeArrowheads="1"/>
          </p:cNvSpPr>
          <p:nvPr/>
        </p:nvSpPr>
        <p:spPr bwMode="auto">
          <a:xfrm>
            <a:off x="5551488" y="4872038"/>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9072" name="Text Box 64"/>
          <p:cNvSpPr txBox="1">
            <a:spLocks noChangeArrowheads="1"/>
          </p:cNvSpPr>
          <p:nvPr/>
        </p:nvSpPr>
        <p:spPr bwMode="auto">
          <a:xfrm>
            <a:off x="7134225" y="4846638"/>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9073" name="Text Box 65"/>
          <p:cNvSpPr txBox="1">
            <a:spLocks noChangeArrowheads="1"/>
          </p:cNvSpPr>
          <p:nvPr/>
        </p:nvSpPr>
        <p:spPr bwMode="auto">
          <a:xfrm>
            <a:off x="4932363" y="4870450"/>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9074" name="Text Box 66"/>
          <p:cNvSpPr txBox="1">
            <a:spLocks noChangeArrowheads="1"/>
          </p:cNvSpPr>
          <p:nvPr/>
        </p:nvSpPr>
        <p:spPr bwMode="auto">
          <a:xfrm>
            <a:off x="6553200" y="4870450"/>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9075" name="Text Box 67"/>
          <p:cNvSpPr txBox="1">
            <a:spLocks noChangeArrowheads="1"/>
          </p:cNvSpPr>
          <p:nvPr/>
        </p:nvSpPr>
        <p:spPr bwMode="auto">
          <a:xfrm>
            <a:off x="4614863" y="4832350"/>
            <a:ext cx="361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3300"/>
                </a:solidFill>
                <a:effectLst/>
                <a:uLnTx/>
                <a:uFillTx/>
                <a:latin typeface="+mn-lt"/>
                <a:ea typeface="+mn-ea"/>
                <a:cs typeface="+mn-ea"/>
                <a:sym typeface="+mn-lt"/>
              </a:rPr>
              <a:t>^</a:t>
            </a:r>
            <a:endParaRPr kumimoji="0" lang="en-US"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9076" name="Line 68"/>
          <p:cNvSpPr>
            <a:spLocks noChangeShapeType="1"/>
          </p:cNvSpPr>
          <p:nvPr/>
        </p:nvSpPr>
        <p:spPr bwMode="auto">
          <a:xfrm flipH="1" flipV="1">
            <a:off x="4262438" y="4164013"/>
            <a:ext cx="457200" cy="685800"/>
          </a:xfrm>
          <a:prstGeom prst="line">
            <a:avLst/>
          </a:prstGeom>
          <a:noFill/>
          <a:ln w="38100">
            <a:solidFill>
              <a:srgbClr val="FF3300"/>
            </a:solidFill>
            <a:prstDash val="dash"/>
            <a:round/>
            <a:head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9077" name="Line 69"/>
          <p:cNvSpPr>
            <a:spLocks noChangeShapeType="1"/>
          </p:cNvSpPr>
          <p:nvPr/>
        </p:nvSpPr>
        <p:spPr bwMode="auto">
          <a:xfrm flipH="1" flipV="1">
            <a:off x="5557838" y="4087813"/>
            <a:ext cx="381000" cy="822325"/>
          </a:xfrm>
          <a:prstGeom prst="line">
            <a:avLst/>
          </a:prstGeom>
          <a:noFill/>
          <a:ln w="38100">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9078" name="Line 70"/>
          <p:cNvSpPr>
            <a:spLocks noChangeShapeType="1"/>
          </p:cNvSpPr>
          <p:nvPr/>
        </p:nvSpPr>
        <p:spPr bwMode="auto">
          <a:xfrm flipH="1" flipV="1">
            <a:off x="5557838" y="3935413"/>
            <a:ext cx="838200" cy="974725"/>
          </a:xfrm>
          <a:prstGeom prst="line">
            <a:avLst/>
          </a:prstGeom>
          <a:noFill/>
          <a:ln w="38100">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9079" name="Line 71"/>
          <p:cNvSpPr>
            <a:spLocks noChangeShapeType="1"/>
          </p:cNvSpPr>
          <p:nvPr/>
        </p:nvSpPr>
        <p:spPr bwMode="auto">
          <a:xfrm flipV="1">
            <a:off x="7539038" y="4224338"/>
            <a:ext cx="533400" cy="685800"/>
          </a:xfrm>
          <a:prstGeom prst="line">
            <a:avLst/>
          </a:prstGeom>
          <a:noFill/>
          <a:ln w="38100">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9080" name="Line 72"/>
          <p:cNvSpPr>
            <a:spLocks noChangeShapeType="1"/>
          </p:cNvSpPr>
          <p:nvPr/>
        </p:nvSpPr>
        <p:spPr bwMode="auto">
          <a:xfrm flipH="1" flipV="1">
            <a:off x="6929438" y="3097213"/>
            <a:ext cx="1295400" cy="838200"/>
          </a:xfrm>
          <a:prstGeom prst="line">
            <a:avLst/>
          </a:prstGeom>
          <a:noFill/>
          <a:ln w="38100">
            <a:solidFill>
              <a:srgbClr val="FF3300"/>
            </a:solidFill>
            <a:prstDash val="dash"/>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7895" name="Rectangle 73"/>
          <p:cNvSpPr>
            <a:spLocks noChangeArrowheads="1"/>
          </p:cNvSpPr>
          <p:nvPr/>
        </p:nvSpPr>
        <p:spPr bwMode="auto">
          <a:xfrm>
            <a:off x="855663" y="196850"/>
            <a:ext cx="419735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后序线索二叉树</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32"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box(out)">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4" presetClass="entr" presetSubtype="32"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box(out)">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4" presetClass="entr" presetSubtype="32" fill="hold" grpId="0" nodeType="clickEffect">
                                  <p:stCondLst>
                                    <p:cond delay="0"/>
                                  </p:stCondLst>
                                  <p:childTnLst>
                                    <p:set>
                                      <p:cBhvr>
                                        <p:cTn id="21" dur="1" fill="hold">
                                          <p:stCondLst>
                                            <p:cond delay="0"/>
                                          </p:stCondLst>
                                        </p:cTn>
                                        <p:tgtEl>
                                          <p:spTgt spid="939065">
                                            <p:txEl>
                                              <p:pRg st="0" end="0"/>
                                            </p:txEl>
                                          </p:spTgt>
                                        </p:tgtEl>
                                        <p:attrNameLst>
                                          <p:attrName>style.visibility</p:attrName>
                                        </p:attrNameLst>
                                      </p:cBhvr>
                                      <p:to>
                                        <p:strVal val="visible"/>
                                      </p:to>
                                    </p:set>
                                    <p:animEffect transition="in" filter="box(out)">
                                      <p:cBhvr>
                                        <p:cTn id="22" dur="500"/>
                                        <p:tgtEl>
                                          <p:spTgt spid="939065">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4" presetClass="entr" presetSubtype="32" fill="hold" nodeType="clickEffect">
                                  <p:stCondLst>
                                    <p:cond delay="0"/>
                                  </p:stCondLst>
                                  <p:childTnLst>
                                    <p:set>
                                      <p:cBhvr>
                                        <p:cTn id="26" dur="1" fill="hold">
                                          <p:stCondLst>
                                            <p:cond delay="0"/>
                                          </p:stCondLst>
                                        </p:cTn>
                                        <p:tgtEl>
                                          <p:spTgt spid="939028"/>
                                        </p:tgtEl>
                                        <p:attrNameLst>
                                          <p:attrName>style.visibility</p:attrName>
                                        </p:attrNameLst>
                                      </p:cBhvr>
                                      <p:to>
                                        <p:strVal val="visible"/>
                                      </p:to>
                                    </p:set>
                                    <p:animEffect transition="in" filter="box(out)">
                                      <p:cBhvr>
                                        <p:cTn id="27" dur="500"/>
                                        <p:tgtEl>
                                          <p:spTgt spid="939028"/>
                                        </p:tgtEl>
                                      </p:cBhvr>
                                    </p:animEffect>
                                  </p:childTnLst>
                                </p:cTn>
                              </p:par>
                            </p:childTnLst>
                          </p:cTn>
                        </p:par>
                      </p:childTnLst>
                    </p:cTn>
                  </p:par>
                  <p:par>
                    <p:cTn id="28" fill="hold">
                      <p:stCondLst>
                        <p:cond delay="indefinite"/>
                      </p:stCondLst>
                      <p:childTnLst>
                        <p:par>
                          <p:cTn id="29" fill="hold">
                            <p:stCondLst>
                              <p:cond delay="0"/>
                            </p:stCondLst>
                            <p:childTnLst>
                              <p:par>
                                <p:cTn id="30" presetID="4" presetClass="entr" presetSubtype="32" fill="hold" grpId="0" nodeType="clickEffect">
                                  <p:stCondLst>
                                    <p:cond delay="0"/>
                                  </p:stCondLst>
                                  <p:childTnLst>
                                    <p:set>
                                      <p:cBhvr>
                                        <p:cTn id="31" dur="1" fill="hold">
                                          <p:stCondLst>
                                            <p:cond delay="0"/>
                                          </p:stCondLst>
                                        </p:cTn>
                                        <p:tgtEl>
                                          <p:spTgt spid="939066">
                                            <p:txEl>
                                              <p:pRg st="0" end="0"/>
                                            </p:txEl>
                                          </p:spTgt>
                                        </p:tgtEl>
                                        <p:attrNameLst>
                                          <p:attrName>style.visibility</p:attrName>
                                        </p:attrNameLst>
                                      </p:cBhvr>
                                      <p:to>
                                        <p:strVal val="visible"/>
                                      </p:to>
                                    </p:set>
                                    <p:animEffect transition="in" filter="box(out)">
                                      <p:cBhvr>
                                        <p:cTn id="32" dur="500"/>
                                        <p:tgtEl>
                                          <p:spTgt spid="939066">
                                            <p:txEl>
                                              <p:pRg st="0" end="0"/>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4" presetClass="entr" presetSubtype="32" fill="hold" nodeType="clickEffect">
                                  <p:stCondLst>
                                    <p:cond delay="0"/>
                                  </p:stCondLst>
                                  <p:childTnLst>
                                    <p:set>
                                      <p:cBhvr>
                                        <p:cTn id="36" dur="1" fill="hold">
                                          <p:stCondLst>
                                            <p:cond delay="0"/>
                                          </p:stCondLst>
                                        </p:cTn>
                                        <p:tgtEl>
                                          <p:spTgt spid="939029"/>
                                        </p:tgtEl>
                                        <p:attrNameLst>
                                          <p:attrName>style.visibility</p:attrName>
                                        </p:attrNameLst>
                                      </p:cBhvr>
                                      <p:to>
                                        <p:strVal val="visible"/>
                                      </p:to>
                                    </p:set>
                                    <p:animEffect transition="in" filter="box(out)">
                                      <p:cBhvr>
                                        <p:cTn id="37" dur="500"/>
                                        <p:tgtEl>
                                          <p:spTgt spid="939029"/>
                                        </p:tgtEl>
                                      </p:cBhvr>
                                    </p:animEffect>
                                  </p:childTnLst>
                                </p:cTn>
                              </p:par>
                            </p:childTnLst>
                          </p:cTn>
                        </p:par>
                      </p:childTnLst>
                    </p:cTn>
                  </p:par>
                  <p:par>
                    <p:cTn id="38" fill="hold">
                      <p:stCondLst>
                        <p:cond delay="indefinite"/>
                      </p:stCondLst>
                      <p:childTnLst>
                        <p:par>
                          <p:cTn id="39" fill="hold">
                            <p:stCondLst>
                              <p:cond delay="0"/>
                            </p:stCondLst>
                            <p:childTnLst>
                              <p:par>
                                <p:cTn id="40" presetID="4" presetClass="entr" presetSubtype="32" fill="hold" grpId="0" nodeType="clickEffect">
                                  <p:stCondLst>
                                    <p:cond delay="0"/>
                                  </p:stCondLst>
                                  <p:childTnLst>
                                    <p:set>
                                      <p:cBhvr>
                                        <p:cTn id="41" dur="1" fill="hold">
                                          <p:stCondLst>
                                            <p:cond delay="0"/>
                                          </p:stCondLst>
                                        </p:cTn>
                                        <p:tgtEl>
                                          <p:spTgt spid="939069">
                                            <p:txEl>
                                              <p:pRg st="0" end="0"/>
                                            </p:txEl>
                                          </p:spTgt>
                                        </p:tgtEl>
                                        <p:attrNameLst>
                                          <p:attrName>style.visibility</p:attrName>
                                        </p:attrNameLst>
                                      </p:cBhvr>
                                      <p:to>
                                        <p:strVal val="visible"/>
                                      </p:to>
                                    </p:set>
                                    <p:animEffect transition="in" filter="box(out)">
                                      <p:cBhvr>
                                        <p:cTn id="42" dur="500"/>
                                        <p:tgtEl>
                                          <p:spTgt spid="939069">
                                            <p:txEl>
                                              <p:pRg st="0" end="0"/>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4" presetClass="entr" presetSubtype="32" fill="hold" nodeType="clickEffect">
                                  <p:stCondLst>
                                    <p:cond delay="0"/>
                                  </p:stCondLst>
                                  <p:childTnLst>
                                    <p:set>
                                      <p:cBhvr>
                                        <p:cTn id="46" dur="1" fill="hold">
                                          <p:stCondLst>
                                            <p:cond delay="0"/>
                                          </p:stCondLst>
                                        </p:cTn>
                                        <p:tgtEl>
                                          <p:spTgt spid="939076"/>
                                        </p:tgtEl>
                                        <p:attrNameLst>
                                          <p:attrName>style.visibility</p:attrName>
                                        </p:attrNameLst>
                                      </p:cBhvr>
                                      <p:to>
                                        <p:strVal val="visible"/>
                                      </p:to>
                                    </p:set>
                                    <p:animEffect transition="in" filter="box(out)">
                                      <p:cBhvr>
                                        <p:cTn id="47" dur="500"/>
                                        <p:tgtEl>
                                          <p:spTgt spid="939076"/>
                                        </p:tgtEl>
                                      </p:cBhvr>
                                    </p:animEffect>
                                  </p:childTnLst>
                                </p:cTn>
                              </p:par>
                            </p:childTnLst>
                          </p:cTn>
                        </p:par>
                      </p:childTnLst>
                    </p:cTn>
                  </p:par>
                  <p:par>
                    <p:cTn id="48" fill="hold">
                      <p:stCondLst>
                        <p:cond delay="indefinite"/>
                      </p:stCondLst>
                      <p:childTnLst>
                        <p:par>
                          <p:cTn id="49" fill="hold">
                            <p:stCondLst>
                              <p:cond delay="0"/>
                            </p:stCondLst>
                            <p:childTnLst>
                              <p:par>
                                <p:cTn id="50" presetID="4" presetClass="entr" presetSubtype="32" fill="hold" grpId="0" nodeType="clickEffect">
                                  <p:stCondLst>
                                    <p:cond delay="0"/>
                                  </p:stCondLst>
                                  <p:childTnLst>
                                    <p:set>
                                      <p:cBhvr>
                                        <p:cTn id="51" dur="1" fill="hold">
                                          <p:stCondLst>
                                            <p:cond delay="0"/>
                                          </p:stCondLst>
                                        </p:cTn>
                                        <p:tgtEl>
                                          <p:spTgt spid="939067">
                                            <p:txEl>
                                              <p:pRg st="0" end="0"/>
                                            </p:txEl>
                                          </p:spTgt>
                                        </p:tgtEl>
                                        <p:attrNameLst>
                                          <p:attrName>style.visibility</p:attrName>
                                        </p:attrNameLst>
                                      </p:cBhvr>
                                      <p:to>
                                        <p:strVal val="visible"/>
                                      </p:to>
                                    </p:set>
                                    <p:animEffect transition="in" filter="box(out)">
                                      <p:cBhvr>
                                        <p:cTn id="52" dur="500"/>
                                        <p:tgtEl>
                                          <p:spTgt spid="939067">
                                            <p:txEl>
                                              <p:pRg st="0" end="0"/>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4" presetClass="entr" presetSubtype="32" fill="hold" nodeType="clickEffect">
                                  <p:stCondLst>
                                    <p:cond delay="0"/>
                                  </p:stCondLst>
                                  <p:childTnLst>
                                    <p:set>
                                      <p:cBhvr>
                                        <p:cTn id="56" dur="1" fill="hold">
                                          <p:stCondLst>
                                            <p:cond delay="0"/>
                                          </p:stCondLst>
                                        </p:cTn>
                                        <p:tgtEl>
                                          <p:spTgt spid="939030"/>
                                        </p:tgtEl>
                                        <p:attrNameLst>
                                          <p:attrName>style.visibility</p:attrName>
                                        </p:attrNameLst>
                                      </p:cBhvr>
                                      <p:to>
                                        <p:strVal val="visible"/>
                                      </p:to>
                                    </p:set>
                                    <p:animEffect transition="in" filter="box(out)">
                                      <p:cBhvr>
                                        <p:cTn id="57" dur="500"/>
                                        <p:tgtEl>
                                          <p:spTgt spid="939030"/>
                                        </p:tgtEl>
                                      </p:cBhvr>
                                    </p:animEffect>
                                  </p:childTnLst>
                                </p:cTn>
                              </p:par>
                            </p:childTnLst>
                          </p:cTn>
                        </p:par>
                      </p:childTnLst>
                    </p:cTn>
                  </p:par>
                  <p:par>
                    <p:cTn id="58" fill="hold">
                      <p:stCondLst>
                        <p:cond delay="indefinite"/>
                      </p:stCondLst>
                      <p:childTnLst>
                        <p:par>
                          <p:cTn id="59" fill="hold">
                            <p:stCondLst>
                              <p:cond delay="0"/>
                            </p:stCondLst>
                            <p:childTnLst>
                              <p:par>
                                <p:cTn id="60" presetID="4" presetClass="entr" presetSubtype="32" fill="hold" grpId="0" nodeType="clickEffect">
                                  <p:stCondLst>
                                    <p:cond delay="0"/>
                                  </p:stCondLst>
                                  <p:childTnLst>
                                    <p:set>
                                      <p:cBhvr>
                                        <p:cTn id="61" dur="1" fill="hold">
                                          <p:stCondLst>
                                            <p:cond delay="0"/>
                                          </p:stCondLst>
                                        </p:cTn>
                                        <p:tgtEl>
                                          <p:spTgt spid="939068">
                                            <p:txEl>
                                              <p:pRg st="0" end="0"/>
                                            </p:txEl>
                                          </p:spTgt>
                                        </p:tgtEl>
                                        <p:attrNameLst>
                                          <p:attrName>style.visibility</p:attrName>
                                        </p:attrNameLst>
                                      </p:cBhvr>
                                      <p:to>
                                        <p:strVal val="visible"/>
                                      </p:to>
                                    </p:set>
                                    <p:animEffect transition="in" filter="box(out)">
                                      <p:cBhvr>
                                        <p:cTn id="62" dur="500"/>
                                        <p:tgtEl>
                                          <p:spTgt spid="939068">
                                            <p:txEl>
                                              <p:pRg st="0" end="0"/>
                                            </p:txEl>
                                          </p:spTgt>
                                        </p:tgtEl>
                                      </p:cBhvr>
                                    </p:animEffect>
                                  </p:childTnLst>
                                </p:cTn>
                              </p:par>
                            </p:childTnLst>
                          </p:cTn>
                        </p:par>
                      </p:childTnLst>
                    </p:cTn>
                  </p:par>
                  <p:par>
                    <p:cTn id="63" fill="hold">
                      <p:stCondLst>
                        <p:cond delay="indefinite"/>
                      </p:stCondLst>
                      <p:childTnLst>
                        <p:par>
                          <p:cTn id="64" fill="hold">
                            <p:stCondLst>
                              <p:cond delay="0"/>
                            </p:stCondLst>
                            <p:childTnLst>
                              <p:par>
                                <p:cTn id="65" presetID="4" presetClass="entr" presetSubtype="32" fill="hold" nodeType="clickEffect">
                                  <p:stCondLst>
                                    <p:cond delay="0"/>
                                  </p:stCondLst>
                                  <p:childTnLst>
                                    <p:set>
                                      <p:cBhvr>
                                        <p:cTn id="66" dur="1" fill="hold">
                                          <p:stCondLst>
                                            <p:cond delay="0"/>
                                          </p:stCondLst>
                                        </p:cTn>
                                        <p:tgtEl>
                                          <p:spTgt spid="939031"/>
                                        </p:tgtEl>
                                        <p:attrNameLst>
                                          <p:attrName>style.visibility</p:attrName>
                                        </p:attrNameLst>
                                      </p:cBhvr>
                                      <p:to>
                                        <p:strVal val="visible"/>
                                      </p:to>
                                    </p:set>
                                    <p:animEffect transition="in" filter="box(out)">
                                      <p:cBhvr>
                                        <p:cTn id="67" dur="500"/>
                                        <p:tgtEl>
                                          <p:spTgt spid="939031"/>
                                        </p:tgtEl>
                                      </p:cBhvr>
                                    </p:animEffect>
                                  </p:childTnLst>
                                </p:cTn>
                              </p:par>
                            </p:childTnLst>
                          </p:cTn>
                        </p:par>
                      </p:childTnLst>
                    </p:cTn>
                  </p:par>
                  <p:par>
                    <p:cTn id="68" fill="hold">
                      <p:stCondLst>
                        <p:cond delay="indefinite"/>
                      </p:stCondLst>
                      <p:childTnLst>
                        <p:par>
                          <p:cTn id="69" fill="hold">
                            <p:stCondLst>
                              <p:cond delay="0"/>
                            </p:stCondLst>
                            <p:childTnLst>
                              <p:par>
                                <p:cTn id="70" presetID="4" presetClass="entr" presetSubtype="32" fill="hold" grpId="0" nodeType="clickEffect">
                                  <p:stCondLst>
                                    <p:cond delay="0"/>
                                  </p:stCondLst>
                                  <p:childTnLst>
                                    <p:set>
                                      <p:cBhvr>
                                        <p:cTn id="71" dur="1" fill="hold">
                                          <p:stCondLst>
                                            <p:cond delay="0"/>
                                          </p:stCondLst>
                                        </p:cTn>
                                        <p:tgtEl>
                                          <p:spTgt spid="939070">
                                            <p:txEl>
                                              <p:pRg st="0" end="0"/>
                                            </p:txEl>
                                          </p:spTgt>
                                        </p:tgtEl>
                                        <p:attrNameLst>
                                          <p:attrName>style.visibility</p:attrName>
                                        </p:attrNameLst>
                                      </p:cBhvr>
                                      <p:to>
                                        <p:strVal val="visible"/>
                                      </p:to>
                                    </p:set>
                                    <p:animEffect transition="in" filter="box(out)">
                                      <p:cBhvr>
                                        <p:cTn id="72" dur="500"/>
                                        <p:tgtEl>
                                          <p:spTgt spid="939070">
                                            <p:txEl>
                                              <p:pRg st="0" end="0"/>
                                            </p:txEl>
                                          </p:spTgt>
                                        </p:tgtEl>
                                      </p:cBhvr>
                                    </p:animEffect>
                                  </p:childTnLst>
                                </p:cTn>
                              </p:par>
                            </p:childTnLst>
                          </p:cTn>
                        </p:par>
                      </p:childTnLst>
                    </p:cTn>
                  </p:par>
                  <p:par>
                    <p:cTn id="73" fill="hold">
                      <p:stCondLst>
                        <p:cond delay="indefinite"/>
                      </p:stCondLst>
                      <p:childTnLst>
                        <p:par>
                          <p:cTn id="74" fill="hold">
                            <p:stCondLst>
                              <p:cond delay="0"/>
                            </p:stCondLst>
                            <p:childTnLst>
                              <p:par>
                                <p:cTn id="75" presetID="4" presetClass="entr" presetSubtype="32" fill="hold" nodeType="clickEffect">
                                  <p:stCondLst>
                                    <p:cond delay="0"/>
                                  </p:stCondLst>
                                  <p:childTnLst>
                                    <p:set>
                                      <p:cBhvr>
                                        <p:cTn id="76" dur="1" fill="hold">
                                          <p:stCondLst>
                                            <p:cond delay="0"/>
                                          </p:stCondLst>
                                        </p:cTn>
                                        <p:tgtEl>
                                          <p:spTgt spid="939080"/>
                                        </p:tgtEl>
                                        <p:attrNameLst>
                                          <p:attrName>style.visibility</p:attrName>
                                        </p:attrNameLst>
                                      </p:cBhvr>
                                      <p:to>
                                        <p:strVal val="visible"/>
                                      </p:to>
                                    </p:set>
                                    <p:animEffect transition="in" filter="box(out)">
                                      <p:cBhvr>
                                        <p:cTn id="77" dur="500"/>
                                        <p:tgtEl>
                                          <p:spTgt spid="939080"/>
                                        </p:tgtEl>
                                      </p:cBhvr>
                                    </p:animEffect>
                                  </p:childTnLst>
                                </p:cTn>
                              </p:par>
                            </p:childTnLst>
                          </p:cTn>
                        </p:par>
                      </p:childTnLst>
                    </p:cTn>
                  </p:par>
                  <p:par>
                    <p:cTn id="78" fill="hold">
                      <p:stCondLst>
                        <p:cond delay="indefinite"/>
                      </p:stCondLst>
                      <p:childTnLst>
                        <p:par>
                          <p:cTn id="79" fill="hold">
                            <p:stCondLst>
                              <p:cond delay="0"/>
                            </p:stCondLst>
                            <p:childTnLst>
                              <p:par>
                                <p:cTn id="80" presetID="4" presetClass="entr" presetSubtype="32" fill="hold" grpId="0" nodeType="clickEffect">
                                  <p:stCondLst>
                                    <p:cond delay="0"/>
                                  </p:stCondLst>
                                  <p:childTnLst>
                                    <p:set>
                                      <p:cBhvr>
                                        <p:cTn id="81" dur="1" fill="hold">
                                          <p:stCondLst>
                                            <p:cond delay="0"/>
                                          </p:stCondLst>
                                        </p:cTn>
                                        <p:tgtEl>
                                          <p:spTgt spid="939073">
                                            <p:txEl>
                                              <p:pRg st="0" end="0"/>
                                            </p:txEl>
                                          </p:spTgt>
                                        </p:tgtEl>
                                        <p:attrNameLst>
                                          <p:attrName>style.visibility</p:attrName>
                                        </p:attrNameLst>
                                      </p:cBhvr>
                                      <p:to>
                                        <p:strVal val="visible"/>
                                      </p:to>
                                    </p:set>
                                    <p:animEffect transition="in" filter="box(out)">
                                      <p:cBhvr>
                                        <p:cTn id="82" dur="500"/>
                                        <p:tgtEl>
                                          <p:spTgt spid="939073">
                                            <p:txEl>
                                              <p:pRg st="0" end="0"/>
                                            </p:txEl>
                                          </p:spTgt>
                                        </p:tgtEl>
                                      </p:cBhvr>
                                    </p:animEffect>
                                  </p:childTnLst>
                                </p:cTn>
                              </p:par>
                            </p:childTnLst>
                          </p:cTn>
                        </p:par>
                      </p:childTnLst>
                    </p:cTn>
                  </p:par>
                  <p:par>
                    <p:cTn id="83" fill="hold">
                      <p:stCondLst>
                        <p:cond delay="indefinite"/>
                      </p:stCondLst>
                      <p:childTnLst>
                        <p:par>
                          <p:cTn id="84" fill="hold">
                            <p:stCondLst>
                              <p:cond delay="0"/>
                            </p:stCondLst>
                            <p:childTnLst>
                              <p:par>
                                <p:cTn id="85" presetID="4" presetClass="entr" presetSubtype="32" fill="hold" grpId="0" nodeType="clickEffect">
                                  <p:stCondLst>
                                    <p:cond delay="0"/>
                                  </p:stCondLst>
                                  <p:childTnLst>
                                    <p:set>
                                      <p:cBhvr>
                                        <p:cTn id="86" dur="1" fill="hold">
                                          <p:stCondLst>
                                            <p:cond delay="0"/>
                                          </p:stCondLst>
                                        </p:cTn>
                                        <p:tgtEl>
                                          <p:spTgt spid="939075">
                                            <p:txEl>
                                              <p:pRg st="0" end="0"/>
                                            </p:txEl>
                                          </p:spTgt>
                                        </p:tgtEl>
                                        <p:attrNameLst>
                                          <p:attrName>style.visibility</p:attrName>
                                        </p:attrNameLst>
                                      </p:cBhvr>
                                      <p:to>
                                        <p:strVal val="visible"/>
                                      </p:to>
                                    </p:set>
                                    <p:animEffect transition="in" filter="box(out)">
                                      <p:cBhvr>
                                        <p:cTn id="87" dur="500"/>
                                        <p:tgtEl>
                                          <p:spTgt spid="939075">
                                            <p:txEl>
                                              <p:pRg st="0" end="0"/>
                                            </p:txEl>
                                          </p:spTgt>
                                        </p:tgtEl>
                                      </p:cBhvr>
                                    </p:animEffect>
                                  </p:childTnLst>
                                </p:cTn>
                              </p:par>
                            </p:childTnLst>
                          </p:cTn>
                        </p:par>
                      </p:childTnLst>
                    </p:cTn>
                  </p:par>
                  <p:par>
                    <p:cTn id="88" fill="hold">
                      <p:stCondLst>
                        <p:cond delay="indefinite"/>
                      </p:stCondLst>
                      <p:childTnLst>
                        <p:par>
                          <p:cTn id="89" fill="hold">
                            <p:stCondLst>
                              <p:cond delay="0"/>
                            </p:stCondLst>
                            <p:childTnLst>
                              <p:par>
                                <p:cTn id="90" presetID="4" presetClass="entr" presetSubtype="32" fill="hold" grpId="0" nodeType="clickEffect">
                                  <p:stCondLst>
                                    <p:cond delay="0"/>
                                  </p:stCondLst>
                                  <p:childTnLst>
                                    <p:set>
                                      <p:cBhvr>
                                        <p:cTn id="91" dur="1" fill="hold">
                                          <p:stCondLst>
                                            <p:cond delay="0"/>
                                          </p:stCondLst>
                                        </p:cTn>
                                        <p:tgtEl>
                                          <p:spTgt spid="939071">
                                            <p:txEl>
                                              <p:pRg st="0" end="0"/>
                                            </p:txEl>
                                          </p:spTgt>
                                        </p:tgtEl>
                                        <p:attrNameLst>
                                          <p:attrName>style.visibility</p:attrName>
                                        </p:attrNameLst>
                                      </p:cBhvr>
                                      <p:to>
                                        <p:strVal val="visible"/>
                                      </p:to>
                                    </p:set>
                                    <p:animEffect transition="in" filter="box(out)">
                                      <p:cBhvr>
                                        <p:cTn id="92" dur="500"/>
                                        <p:tgtEl>
                                          <p:spTgt spid="939071">
                                            <p:txEl>
                                              <p:pRg st="0" end="0"/>
                                            </p:txEl>
                                          </p:spTgt>
                                        </p:tgtEl>
                                      </p:cBhvr>
                                    </p:animEffect>
                                  </p:childTnLst>
                                </p:cTn>
                              </p:par>
                            </p:childTnLst>
                          </p:cTn>
                        </p:par>
                      </p:childTnLst>
                    </p:cTn>
                  </p:par>
                  <p:par>
                    <p:cTn id="93" fill="hold">
                      <p:stCondLst>
                        <p:cond delay="indefinite"/>
                      </p:stCondLst>
                      <p:childTnLst>
                        <p:par>
                          <p:cTn id="94" fill="hold">
                            <p:stCondLst>
                              <p:cond delay="0"/>
                            </p:stCondLst>
                            <p:childTnLst>
                              <p:par>
                                <p:cTn id="95" presetID="4" presetClass="entr" presetSubtype="32" fill="hold" nodeType="clickEffect">
                                  <p:stCondLst>
                                    <p:cond delay="0"/>
                                  </p:stCondLst>
                                  <p:childTnLst>
                                    <p:set>
                                      <p:cBhvr>
                                        <p:cTn id="96" dur="1" fill="hold">
                                          <p:stCondLst>
                                            <p:cond delay="0"/>
                                          </p:stCondLst>
                                        </p:cTn>
                                        <p:tgtEl>
                                          <p:spTgt spid="939077"/>
                                        </p:tgtEl>
                                        <p:attrNameLst>
                                          <p:attrName>style.visibility</p:attrName>
                                        </p:attrNameLst>
                                      </p:cBhvr>
                                      <p:to>
                                        <p:strVal val="visible"/>
                                      </p:to>
                                    </p:set>
                                    <p:animEffect transition="in" filter="box(out)">
                                      <p:cBhvr>
                                        <p:cTn id="97" dur="500"/>
                                        <p:tgtEl>
                                          <p:spTgt spid="939077"/>
                                        </p:tgtEl>
                                      </p:cBhvr>
                                    </p:animEffect>
                                  </p:childTnLst>
                                </p:cTn>
                              </p:par>
                            </p:childTnLst>
                          </p:cTn>
                        </p:par>
                      </p:childTnLst>
                    </p:cTn>
                  </p:par>
                  <p:par>
                    <p:cTn id="98" fill="hold">
                      <p:stCondLst>
                        <p:cond delay="indefinite"/>
                      </p:stCondLst>
                      <p:childTnLst>
                        <p:par>
                          <p:cTn id="99" fill="hold">
                            <p:stCondLst>
                              <p:cond delay="0"/>
                            </p:stCondLst>
                            <p:childTnLst>
                              <p:par>
                                <p:cTn id="100" presetID="4" presetClass="entr" presetSubtype="32" fill="hold" grpId="0" nodeType="clickEffect">
                                  <p:stCondLst>
                                    <p:cond delay="0"/>
                                  </p:stCondLst>
                                  <p:childTnLst>
                                    <p:set>
                                      <p:cBhvr>
                                        <p:cTn id="101" dur="1" fill="hold">
                                          <p:stCondLst>
                                            <p:cond delay="0"/>
                                          </p:stCondLst>
                                        </p:cTn>
                                        <p:tgtEl>
                                          <p:spTgt spid="939074">
                                            <p:txEl>
                                              <p:pRg st="0" end="0"/>
                                            </p:txEl>
                                          </p:spTgt>
                                        </p:tgtEl>
                                        <p:attrNameLst>
                                          <p:attrName>style.visibility</p:attrName>
                                        </p:attrNameLst>
                                      </p:cBhvr>
                                      <p:to>
                                        <p:strVal val="visible"/>
                                      </p:to>
                                    </p:set>
                                    <p:animEffect transition="in" filter="box(out)">
                                      <p:cBhvr>
                                        <p:cTn id="102" dur="500"/>
                                        <p:tgtEl>
                                          <p:spTgt spid="939074">
                                            <p:txEl>
                                              <p:pRg st="0" end="0"/>
                                            </p:txEl>
                                          </p:spTgt>
                                        </p:tgtEl>
                                      </p:cBhvr>
                                    </p:animEffect>
                                  </p:childTnLst>
                                </p:cTn>
                              </p:par>
                            </p:childTnLst>
                          </p:cTn>
                        </p:par>
                      </p:childTnLst>
                    </p:cTn>
                  </p:par>
                  <p:par>
                    <p:cTn id="103" fill="hold">
                      <p:stCondLst>
                        <p:cond delay="indefinite"/>
                      </p:stCondLst>
                      <p:childTnLst>
                        <p:par>
                          <p:cTn id="104" fill="hold">
                            <p:stCondLst>
                              <p:cond delay="0"/>
                            </p:stCondLst>
                            <p:childTnLst>
                              <p:par>
                                <p:cTn id="105" presetID="4" presetClass="entr" presetSubtype="32" fill="hold" nodeType="clickEffect">
                                  <p:stCondLst>
                                    <p:cond delay="0"/>
                                  </p:stCondLst>
                                  <p:childTnLst>
                                    <p:set>
                                      <p:cBhvr>
                                        <p:cTn id="106" dur="1" fill="hold">
                                          <p:stCondLst>
                                            <p:cond delay="0"/>
                                          </p:stCondLst>
                                        </p:cTn>
                                        <p:tgtEl>
                                          <p:spTgt spid="939078"/>
                                        </p:tgtEl>
                                        <p:attrNameLst>
                                          <p:attrName>style.visibility</p:attrName>
                                        </p:attrNameLst>
                                      </p:cBhvr>
                                      <p:to>
                                        <p:strVal val="visible"/>
                                      </p:to>
                                    </p:set>
                                    <p:animEffect transition="in" filter="box(out)">
                                      <p:cBhvr>
                                        <p:cTn id="107" dur="500"/>
                                        <p:tgtEl>
                                          <p:spTgt spid="939078"/>
                                        </p:tgtEl>
                                      </p:cBhvr>
                                    </p:animEffect>
                                  </p:childTnLst>
                                </p:cTn>
                              </p:par>
                            </p:childTnLst>
                          </p:cTn>
                        </p:par>
                      </p:childTnLst>
                    </p:cTn>
                  </p:par>
                  <p:par>
                    <p:cTn id="108" fill="hold">
                      <p:stCondLst>
                        <p:cond delay="indefinite"/>
                      </p:stCondLst>
                      <p:childTnLst>
                        <p:par>
                          <p:cTn id="109" fill="hold">
                            <p:stCondLst>
                              <p:cond delay="0"/>
                            </p:stCondLst>
                            <p:childTnLst>
                              <p:par>
                                <p:cTn id="110" presetID="4" presetClass="entr" presetSubtype="32" fill="hold" grpId="0" nodeType="clickEffect">
                                  <p:stCondLst>
                                    <p:cond delay="0"/>
                                  </p:stCondLst>
                                  <p:childTnLst>
                                    <p:set>
                                      <p:cBhvr>
                                        <p:cTn id="111" dur="1" fill="hold">
                                          <p:stCondLst>
                                            <p:cond delay="0"/>
                                          </p:stCondLst>
                                        </p:cTn>
                                        <p:tgtEl>
                                          <p:spTgt spid="939072">
                                            <p:txEl>
                                              <p:pRg st="0" end="0"/>
                                            </p:txEl>
                                          </p:spTgt>
                                        </p:tgtEl>
                                        <p:attrNameLst>
                                          <p:attrName>style.visibility</p:attrName>
                                        </p:attrNameLst>
                                      </p:cBhvr>
                                      <p:to>
                                        <p:strVal val="visible"/>
                                      </p:to>
                                    </p:set>
                                    <p:animEffect transition="in" filter="box(out)">
                                      <p:cBhvr>
                                        <p:cTn id="112" dur="500"/>
                                        <p:tgtEl>
                                          <p:spTgt spid="939072">
                                            <p:txEl>
                                              <p:pRg st="0" end="0"/>
                                            </p:txEl>
                                          </p:spTgt>
                                        </p:tgtEl>
                                      </p:cBhvr>
                                    </p:animEffect>
                                  </p:childTnLst>
                                </p:cTn>
                              </p:par>
                            </p:childTnLst>
                          </p:cTn>
                        </p:par>
                      </p:childTnLst>
                    </p:cTn>
                  </p:par>
                  <p:par>
                    <p:cTn id="113" fill="hold">
                      <p:stCondLst>
                        <p:cond delay="indefinite"/>
                      </p:stCondLst>
                      <p:childTnLst>
                        <p:par>
                          <p:cTn id="114" fill="hold">
                            <p:stCondLst>
                              <p:cond delay="0"/>
                            </p:stCondLst>
                            <p:childTnLst>
                              <p:par>
                                <p:cTn id="115" presetID="4" presetClass="entr" presetSubtype="32" fill="hold" nodeType="clickEffect">
                                  <p:stCondLst>
                                    <p:cond delay="0"/>
                                  </p:stCondLst>
                                  <p:childTnLst>
                                    <p:set>
                                      <p:cBhvr>
                                        <p:cTn id="116" dur="1" fill="hold">
                                          <p:stCondLst>
                                            <p:cond delay="0"/>
                                          </p:stCondLst>
                                        </p:cTn>
                                        <p:tgtEl>
                                          <p:spTgt spid="939079"/>
                                        </p:tgtEl>
                                        <p:attrNameLst>
                                          <p:attrName>style.visibility</p:attrName>
                                        </p:attrNameLst>
                                      </p:cBhvr>
                                      <p:to>
                                        <p:strVal val="visible"/>
                                      </p:to>
                                    </p:set>
                                    <p:animEffect transition="in" filter="box(out)">
                                      <p:cBhvr>
                                        <p:cTn id="117" dur="500"/>
                                        <p:tgtEl>
                                          <p:spTgt spid="9390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9065" grpId="0" build="p"/>
      <p:bldP spid="939066" grpId="0" build="p"/>
      <p:bldP spid="939067" grpId="0" build="p"/>
      <p:bldP spid="939068" grpId="0" build="p"/>
      <p:bldP spid="939069" grpId="0" build="p"/>
      <p:bldP spid="939070" grpId="0" build="p"/>
      <p:bldP spid="939071" grpId="0" build="p"/>
      <p:bldP spid="939072" grpId="0" build="p"/>
      <p:bldP spid="939073" grpId="0" build="p"/>
      <p:bldP spid="939074" grpId="0" build="p"/>
      <p:bldP spid="939075" grpId="0" build="p"/>
    </p:bldLst>
  </p:timing>
</p:sld>
</file>

<file path=ppt/slides/slide7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8851" name="Rectangle 8"/>
          <p:cNvSpPr>
            <a:spLocks noChangeArrowheads="1"/>
          </p:cNvSpPr>
          <p:nvPr/>
        </p:nvSpPr>
        <p:spPr bwMode="auto">
          <a:xfrm>
            <a:off x="827088" y="201613"/>
            <a:ext cx="5494338"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线索化二叉树的几个术语</a:t>
            </a:r>
          </a:p>
        </p:txBody>
      </p:sp>
      <p:grpSp>
        <p:nvGrpSpPr>
          <p:cNvPr id="56" name="e8066064-0b4e-4747-9412-2aa624795e92"/>
          <p:cNvGrpSpPr>
            <a:grpSpLocks noChangeAspect="1"/>
          </p:cNvGrpSpPr>
          <p:nvPr/>
        </p:nvGrpSpPr>
        <p:grpSpPr>
          <a:xfrm>
            <a:off x="0" y="1801813"/>
            <a:ext cx="9036050" cy="4219575"/>
            <a:chOff x="1643018" y="1819284"/>
            <a:chExt cx="9036496" cy="4219651"/>
          </a:xfrm>
        </p:grpSpPr>
        <p:sp>
          <p:nvSpPr>
            <p:cNvPr id="57" name="íṡľíḍè-Oval 60"/>
            <p:cNvSpPr/>
            <p:nvPr/>
          </p:nvSpPr>
          <p:spPr bwMode="auto">
            <a:xfrm>
              <a:off x="6645478" y="4137076"/>
              <a:ext cx="1589165" cy="1589116"/>
            </a:xfrm>
            <a:prstGeom prst="ellipse">
              <a:avLst/>
            </a:prstGeom>
            <a:solidFill>
              <a:srgbClr val="8064A2"/>
            </a:solidFill>
            <a:ln w="19050">
              <a:noFill/>
              <a:roun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58" name="íṡľíḍè-Oval 61"/>
            <p:cNvSpPr/>
            <p:nvPr/>
          </p:nvSpPr>
          <p:spPr bwMode="auto">
            <a:xfrm>
              <a:off x="4014860" y="4137076"/>
              <a:ext cx="1589166" cy="1589116"/>
            </a:xfrm>
            <a:prstGeom prst="ellipse">
              <a:avLst/>
            </a:prstGeom>
            <a:solidFill>
              <a:srgbClr val="4BACC6"/>
            </a:solidFill>
            <a:ln w="19050">
              <a:noFill/>
              <a:roun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59" name="íṡľíḍè-Oval 62"/>
            <p:cNvSpPr/>
            <p:nvPr/>
          </p:nvSpPr>
          <p:spPr bwMode="auto">
            <a:xfrm>
              <a:off x="6645478" y="1819284"/>
              <a:ext cx="1589165" cy="1589116"/>
            </a:xfrm>
            <a:prstGeom prst="ellipse">
              <a:avLst/>
            </a:prstGeom>
            <a:solidFill>
              <a:srgbClr val="EBEBEB"/>
            </a:solidFill>
            <a:ln w="19050">
              <a:noFill/>
              <a:roun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60" name="íṡľíḍè-Oval 63"/>
            <p:cNvSpPr/>
            <p:nvPr/>
          </p:nvSpPr>
          <p:spPr bwMode="auto">
            <a:xfrm>
              <a:off x="4014860" y="1819284"/>
              <a:ext cx="1589166" cy="1589116"/>
            </a:xfrm>
            <a:prstGeom prst="ellipse">
              <a:avLst/>
            </a:prstGeom>
            <a:solidFill>
              <a:srgbClr val="C0504D"/>
            </a:solidFill>
            <a:ln w="19050">
              <a:noFill/>
              <a:roun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61" name="íṡľíḍè-Oval 64"/>
            <p:cNvSpPr/>
            <p:nvPr/>
          </p:nvSpPr>
          <p:spPr bwMode="auto">
            <a:xfrm>
              <a:off x="4953119" y="2592410"/>
              <a:ext cx="2341678" cy="2340017"/>
            </a:xfrm>
            <a:prstGeom prst="ellipse">
              <a:avLst/>
            </a:prstGeom>
            <a:solidFill>
              <a:srgbClr val="4F81BD"/>
            </a:solidFill>
            <a:ln w="76200">
              <a:solidFill>
                <a:sysClr val="window" lastClr="FFFFFF"/>
              </a:solidFill>
              <a:roun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grpSp>
          <p:nvGrpSpPr>
            <p:cNvPr id="62" name="Group 65"/>
            <p:cNvGrpSpPr/>
            <p:nvPr/>
          </p:nvGrpSpPr>
          <p:grpSpPr>
            <a:xfrm>
              <a:off x="5628553" y="3065475"/>
              <a:ext cx="991105" cy="1393202"/>
              <a:chOff x="1939926" y="1295399"/>
              <a:chExt cx="277813" cy="390525"/>
            </a:xfrm>
            <a:solidFill>
              <a:sysClr val="window" lastClr="FFFFFF"/>
            </a:solidFill>
          </p:grpSpPr>
          <p:sp>
            <p:nvSpPr>
              <p:cNvPr id="105" name="íṡľíḍè-Oval 66"/>
              <p:cNvSpPr/>
              <p:nvPr/>
            </p:nvSpPr>
            <p:spPr bwMode="auto">
              <a:xfrm>
                <a:off x="2027238" y="1295399"/>
                <a:ext cx="100013" cy="101600"/>
              </a:xfrm>
              <a:prstGeom prst="ellipse">
                <a:avLst/>
              </a:prstGeom>
              <a:grpFill/>
              <a:ln w="9525">
                <a:noFill/>
                <a:roun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06" name="íṡľíḍè-Freeform: Shape 67"/>
              <p:cNvSpPr/>
              <p:nvPr/>
            </p:nvSpPr>
            <p:spPr bwMode="auto">
              <a:xfrm>
                <a:off x="1981201" y="1412874"/>
                <a:ext cx="195263" cy="109538"/>
              </a:xfrm>
              <a:custGeom>
                <a:avLst/>
                <a:gdLst/>
                <a:ahLst/>
                <a:cxnLst>
                  <a:cxn ang="0">
                    <a:pos x="51" y="35"/>
                  </a:cxn>
                  <a:cxn ang="0">
                    <a:pos x="44" y="42"/>
                  </a:cxn>
                  <a:cxn ang="0">
                    <a:pos x="41" y="42"/>
                  </a:cxn>
                  <a:cxn ang="0">
                    <a:pos x="34" y="35"/>
                  </a:cxn>
                  <a:cxn ang="0">
                    <a:pos x="33" y="32"/>
                  </a:cxn>
                  <a:cxn ang="0">
                    <a:pos x="37" y="14"/>
                  </a:cxn>
                  <a:cxn ang="0">
                    <a:pos x="37" y="12"/>
                  </a:cxn>
                  <a:cxn ang="0">
                    <a:pos x="37" y="8"/>
                  </a:cxn>
                  <a:cxn ang="0">
                    <a:pos x="38" y="7"/>
                  </a:cxn>
                  <a:cxn ang="0">
                    <a:pos x="47" y="7"/>
                  </a:cxn>
                  <a:cxn ang="0">
                    <a:pos x="48" y="8"/>
                  </a:cxn>
                  <a:cxn ang="0">
                    <a:pos x="48" y="12"/>
                  </a:cxn>
                  <a:cxn ang="0">
                    <a:pos x="48" y="14"/>
                  </a:cxn>
                  <a:cxn ang="0">
                    <a:pos x="52" y="32"/>
                  </a:cxn>
                  <a:cxn ang="0">
                    <a:pos x="51" y="35"/>
                  </a:cxn>
                  <a:cxn ang="0">
                    <a:pos x="84" y="46"/>
                  </a:cxn>
                  <a:cxn ang="0">
                    <a:pos x="70" y="7"/>
                  </a:cxn>
                  <a:cxn ang="0">
                    <a:pos x="60" y="0"/>
                  </a:cxn>
                  <a:cxn ang="0">
                    <a:pos x="26" y="0"/>
                  </a:cxn>
                  <a:cxn ang="0">
                    <a:pos x="24" y="0"/>
                  </a:cxn>
                  <a:cxn ang="0">
                    <a:pos x="15" y="7"/>
                  </a:cxn>
                  <a:cxn ang="0">
                    <a:pos x="0" y="46"/>
                  </a:cxn>
                  <a:cxn ang="0">
                    <a:pos x="2" y="48"/>
                  </a:cxn>
                  <a:cxn ang="0">
                    <a:pos x="13" y="48"/>
                  </a:cxn>
                  <a:cxn ang="0">
                    <a:pos x="16" y="46"/>
                  </a:cxn>
                  <a:cxn ang="0">
                    <a:pos x="23" y="28"/>
                  </a:cxn>
                  <a:cxn ang="0">
                    <a:pos x="23" y="28"/>
                  </a:cxn>
                  <a:cxn ang="0">
                    <a:pos x="24" y="46"/>
                  </a:cxn>
                  <a:cxn ang="0">
                    <a:pos x="26" y="48"/>
                  </a:cxn>
                  <a:cxn ang="0">
                    <a:pos x="61" y="48"/>
                  </a:cxn>
                  <a:cxn ang="0">
                    <a:pos x="63" y="45"/>
                  </a:cxn>
                  <a:cxn ang="0">
                    <a:pos x="63" y="28"/>
                  </a:cxn>
                  <a:cxn ang="0">
                    <a:pos x="64" y="27"/>
                  </a:cxn>
                  <a:cxn ang="0">
                    <a:pos x="71" y="46"/>
                  </a:cxn>
                  <a:cxn ang="0">
                    <a:pos x="73" y="48"/>
                  </a:cxn>
                  <a:cxn ang="0">
                    <a:pos x="82" y="48"/>
                  </a:cxn>
                  <a:cxn ang="0">
                    <a:pos x="84" y="46"/>
                  </a:cxn>
                </a:cxnLst>
                <a:rect l="0" t="0" r="r" b="b"/>
                <a:pathLst>
                  <a:path w="85" h="48">
                    <a:moveTo>
                      <a:pt x="51" y="35"/>
                    </a:moveTo>
                    <a:cubicBezTo>
                      <a:pt x="44" y="42"/>
                      <a:pt x="44" y="42"/>
                      <a:pt x="44" y="42"/>
                    </a:cubicBezTo>
                    <a:cubicBezTo>
                      <a:pt x="43" y="42"/>
                      <a:pt x="42" y="42"/>
                      <a:pt x="41" y="42"/>
                    </a:cubicBezTo>
                    <a:cubicBezTo>
                      <a:pt x="34" y="35"/>
                      <a:pt x="34" y="35"/>
                      <a:pt x="34" y="35"/>
                    </a:cubicBezTo>
                    <a:cubicBezTo>
                      <a:pt x="33" y="34"/>
                      <a:pt x="33" y="33"/>
                      <a:pt x="33" y="32"/>
                    </a:cubicBezTo>
                    <a:cubicBezTo>
                      <a:pt x="37" y="14"/>
                      <a:pt x="37" y="14"/>
                      <a:pt x="37" y="14"/>
                    </a:cubicBezTo>
                    <a:cubicBezTo>
                      <a:pt x="37" y="13"/>
                      <a:pt x="37" y="13"/>
                      <a:pt x="37" y="12"/>
                    </a:cubicBezTo>
                    <a:cubicBezTo>
                      <a:pt x="37" y="11"/>
                      <a:pt x="37" y="8"/>
                      <a:pt x="37" y="8"/>
                    </a:cubicBezTo>
                    <a:cubicBezTo>
                      <a:pt x="37" y="8"/>
                      <a:pt x="37" y="7"/>
                      <a:pt x="38" y="7"/>
                    </a:cubicBezTo>
                    <a:cubicBezTo>
                      <a:pt x="47" y="7"/>
                      <a:pt x="47" y="7"/>
                      <a:pt x="47" y="7"/>
                    </a:cubicBezTo>
                    <a:cubicBezTo>
                      <a:pt x="47" y="7"/>
                      <a:pt x="48" y="8"/>
                      <a:pt x="48" y="8"/>
                    </a:cubicBezTo>
                    <a:cubicBezTo>
                      <a:pt x="48" y="8"/>
                      <a:pt x="48" y="11"/>
                      <a:pt x="48" y="12"/>
                    </a:cubicBezTo>
                    <a:cubicBezTo>
                      <a:pt x="48" y="13"/>
                      <a:pt x="48" y="13"/>
                      <a:pt x="48" y="14"/>
                    </a:cubicBezTo>
                    <a:cubicBezTo>
                      <a:pt x="52" y="32"/>
                      <a:pt x="52" y="32"/>
                      <a:pt x="52" y="32"/>
                    </a:cubicBezTo>
                    <a:cubicBezTo>
                      <a:pt x="52" y="33"/>
                      <a:pt x="52" y="34"/>
                      <a:pt x="51" y="35"/>
                    </a:cubicBezTo>
                    <a:moveTo>
                      <a:pt x="84" y="46"/>
                    </a:moveTo>
                    <a:cubicBezTo>
                      <a:pt x="70" y="7"/>
                      <a:pt x="70" y="7"/>
                      <a:pt x="70" y="7"/>
                    </a:cubicBezTo>
                    <a:cubicBezTo>
                      <a:pt x="69" y="6"/>
                      <a:pt x="66" y="0"/>
                      <a:pt x="60" y="0"/>
                    </a:cubicBezTo>
                    <a:cubicBezTo>
                      <a:pt x="59" y="0"/>
                      <a:pt x="27" y="0"/>
                      <a:pt x="26" y="0"/>
                    </a:cubicBezTo>
                    <a:cubicBezTo>
                      <a:pt x="24" y="0"/>
                      <a:pt x="24" y="0"/>
                      <a:pt x="24" y="0"/>
                    </a:cubicBezTo>
                    <a:cubicBezTo>
                      <a:pt x="18" y="0"/>
                      <a:pt x="15" y="6"/>
                      <a:pt x="15" y="7"/>
                    </a:cubicBezTo>
                    <a:cubicBezTo>
                      <a:pt x="0" y="46"/>
                      <a:pt x="0" y="46"/>
                      <a:pt x="0" y="46"/>
                    </a:cubicBezTo>
                    <a:cubicBezTo>
                      <a:pt x="0" y="47"/>
                      <a:pt x="0" y="48"/>
                      <a:pt x="2" y="48"/>
                    </a:cubicBezTo>
                    <a:cubicBezTo>
                      <a:pt x="13" y="48"/>
                      <a:pt x="13" y="48"/>
                      <a:pt x="13" y="48"/>
                    </a:cubicBezTo>
                    <a:cubicBezTo>
                      <a:pt x="15" y="48"/>
                      <a:pt x="16" y="46"/>
                      <a:pt x="16" y="46"/>
                    </a:cubicBezTo>
                    <a:cubicBezTo>
                      <a:pt x="23" y="28"/>
                      <a:pt x="23" y="28"/>
                      <a:pt x="23" y="28"/>
                    </a:cubicBezTo>
                    <a:cubicBezTo>
                      <a:pt x="23" y="28"/>
                      <a:pt x="23" y="25"/>
                      <a:pt x="23" y="28"/>
                    </a:cubicBezTo>
                    <a:cubicBezTo>
                      <a:pt x="23" y="31"/>
                      <a:pt x="23" y="41"/>
                      <a:pt x="24" y="46"/>
                    </a:cubicBezTo>
                    <a:cubicBezTo>
                      <a:pt x="24" y="47"/>
                      <a:pt x="24" y="48"/>
                      <a:pt x="26" y="48"/>
                    </a:cubicBezTo>
                    <a:cubicBezTo>
                      <a:pt x="61" y="48"/>
                      <a:pt x="61" y="48"/>
                      <a:pt x="61" y="48"/>
                    </a:cubicBezTo>
                    <a:cubicBezTo>
                      <a:pt x="64" y="48"/>
                      <a:pt x="63" y="47"/>
                      <a:pt x="63" y="45"/>
                    </a:cubicBezTo>
                    <a:cubicBezTo>
                      <a:pt x="63" y="40"/>
                      <a:pt x="63" y="31"/>
                      <a:pt x="63" y="28"/>
                    </a:cubicBezTo>
                    <a:cubicBezTo>
                      <a:pt x="63" y="26"/>
                      <a:pt x="64" y="27"/>
                      <a:pt x="64" y="27"/>
                    </a:cubicBezTo>
                    <a:cubicBezTo>
                      <a:pt x="71" y="46"/>
                      <a:pt x="71" y="46"/>
                      <a:pt x="71" y="46"/>
                    </a:cubicBezTo>
                    <a:cubicBezTo>
                      <a:pt x="71" y="46"/>
                      <a:pt x="71" y="48"/>
                      <a:pt x="73" y="48"/>
                    </a:cubicBezTo>
                    <a:cubicBezTo>
                      <a:pt x="82" y="48"/>
                      <a:pt x="82" y="48"/>
                      <a:pt x="82" y="48"/>
                    </a:cubicBezTo>
                    <a:cubicBezTo>
                      <a:pt x="85" y="48"/>
                      <a:pt x="85" y="47"/>
                      <a:pt x="84" y="46"/>
                    </a:cubicBezTo>
                  </a:path>
                </a:pathLst>
              </a:custGeom>
              <a:grpFill/>
              <a:ln w="9525">
                <a:noFill/>
                <a:roun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07" name="íṡľíḍè-Freeform: Shape 68"/>
              <p:cNvSpPr/>
              <p:nvPr/>
            </p:nvSpPr>
            <p:spPr bwMode="auto">
              <a:xfrm>
                <a:off x="1939926" y="1541461"/>
                <a:ext cx="277813" cy="144463"/>
              </a:xfrm>
              <a:custGeom>
                <a:avLst/>
                <a:gdLst/>
                <a:ahLst/>
                <a:cxnLst>
                  <a:cxn ang="0">
                    <a:pos x="119" y="8"/>
                  </a:cxn>
                  <a:cxn ang="0">
                    <a:pos x="114" y="0"/>
                  </a:cxn>
                  <a:cxn ang="0">
                    <a:pos x="7" y="0"/>
                  </a:cxn>
                  <a:cxn ang="0">
                    <a:pos x="2" y="8"/>
                  </a:cxn>
                  <a:cxn ang="0">
                    <a:pos x="5" y="17"/>
                  </a:cxn>
                  <a:cxn ang="0">
                    <a:pos x="12" y="25"/>
                  </a:cxn>
                  <a:cxn ang="0">
                    <a:pos x="17" y="32"/>
                  </a:cxn>
                  <a:cxn ang="0">
                    <a:pos x="22" y="56"/>
                  </a:cxn>
                  <a:cxn ang="0">
                    <a:pos x="31" y="63"/>
                  </a:cxn>
                  <a:cxn ang="0">
                    <a:pos x="90" y="63"/>
                  </a:cxn>
                  <a:cxn ang="0">
                    <a:pos x="99" y="56"/>
                  </a:cxn>
                  <a:cxn ang="0">
                    <a:pos x="104" y="32"/>
                  </a:cxn>
                  <a:cxn ang="0">
                    <a:pos x="109" y="25"/>
                  </a:cxn>
                  <a:cxn ang="0">
                    <a:pos x="115" y="17"/>
                  </a:cxn>
                  <a:cxn ang="0">
                    <a:pos x="119" y="8"/>
                  </a:cxn>
                </a:cxnLst>
                <a:rect l="0" t="0" r="r" b="b"/>
                <a:pathLst>
                  <a:path w="121" h="63">
                    <a:moveTo>
                      <a:pt x="119" y="8"/>
                    </a:moveTo>
                    <a:cubicBezTo>
                      <a:pt x="121" y="4"/>
                      <a:pt x="118" y="0"/>
                      <a:pt x="114" y="0"/>
                    </a:cubicBezTo>
                    <a:cubicBezTo>
                      <a:pt x="7" y="0"/>
                      <a:pt x="7" y="0"/>
                      <a:pt x="7" y="0"/>
                    </a:cubicBezTo>
                    <a:cubicBezTo>
                      <a:pt x="2" y="0"/>
                      <a:pt x="0" y="4"/>
                      <a:pt x="2" y="8"/>
                    </a:cubicBezTo>
                    <a:cubicBezTo>
                      <a:pt x="5" y="17"/>
                      <a:pt x="5" y="17"/>
                      <a:pt x="5" y="17"/>
                    </a:cubicBezTo>
                    <a:cubicBezTo>
                      <a:pt x="7" y="21"/>
                      <a:pt x="10" y="25"/>
                      <a:pt x="12" y="25"/>
                    </a:cubicBezTo>
                    <a:cubicBezTo>
                      <a:pt x="14" y="25"/>
                      <a:pt x="16" y="28"/>
                      <a:pt x="17" y="32"/>
                    </a:cubicBezTo>
                    <a:cubicBezTo>
                      <a:pt x="22" y="56"/>
                      <a:pt x="22" y="56"/>
                      <a:pt x="22" y="56"/>
                    </a:cubicBezTo>
                    <a:cubicBezTo>
                      <a:pt x="22" y="60"/>
                      <a:pt x="26" y="63"/>
                      <a:pt x="31" y="63"/>
                    </a:cubicBezTo>
                    <a:cubicBezTo>
                      <a:pt x="90" y="63"/>
                      <a:pt x="90" y="63"/>
                      <a:pt x="90" y="63"/>
                    </a:cubicBezTo>
                    <a:cubicBezTo>
                      <a:pt x="94" y="63"/>
                      <a:pt x="98" y="60"/>
                      <a:pt x="99" y="56"/>
                    </a:cubicBezTo>
                    <a:cubicBezTo>
                      <a:pt x="104" y="32"/>
                      <a:pt x="104" y="32"/>
                      <a:pt x="104" y="32"/>
                    </a:cubicBezTo>
                    <a:cubicBezTo>
                      <a:pt x="104" y="28"/>
                      <a:pt x="107" y="25"/>
                      <a:pt x="109" y="25"/>
                    </a:cubicBezTo>
                    <a:cubicBezTo>
                      <a:pt x="111" y="25"/>
                      <a:pt x="114" y="21"/>
                      <a:pt x="115" y="17"/>
                    </a:cubicBezTo>
                    <a:lnTo>
                      <a:pt x="119" y="8"/>
                    </a:lnTo>
                    <a:close/>
                  </a:path>
                </a:pathLst>
              </a:custGeom>
              <a:grpFill/>
              <a:ln w="9525">
                <a:noFill/>
                <a:roun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grpSp>
        <p:grpSp>
          <p:nvGrpSpPr>
            <p:cNvPr id="63" name="Group 69"/>
            <p:cNvGrpSpPr/>
            <p:nvPr/>
          </p:nvGrpSpPr>
          <p:grpSpPr>
            <a:xfrm>
              <a:off x="7059605" y="4715135"/>
              <a:ext cx="759666" cy="434095"/>
              <a:chOff x="3654425" y="2386013"/>
              <a:chExt cx="288926" cy="165100"/>
            </a:xfrm>
            <a:solidFill>
              <a:sysClr val="window" lastClr="FFFFFF"/>
            </a:solidFill>
          </p:grpSpPr>
          <p:sp>
            <p:nvSpPr>
              <p:cNvPr id="102" name="íṡľíḍè-Freeform: Shape 70"/>
              <p:cNvSpPr/>
              <p:nvPr/>
            </p:nvSpPr>
            <p:spPr bwMode="auto">
              <a:xfrm>
                <a:off x="3736975" y="2386013"/>
                <a:ext cx="123825" cy="165100"/>
              </a:xfrm>
              <a:custGeom>
                <a:avLst/>
                <a:gdLst>
                  <a:gd name="T0" fmla="*/ 28 w 71"/>
                  <a:gd name="T1" fmla="*/ 45 h 95"/>
                  <a:gd name="T2" fmla="*/ 0 w 71"/>
                  <a:gd name="T3" fmla="*/ 92 h 95"/>
                  <a:gd name="T4" fmla="*/ 0 w 71"/>
                  <a:gd name="T5" fmla="*/ 95 h 95"/>
                  <a:gd name="T6" fmla="*/ 71 w 71"/>
                  <a:gd name="T7" fmla="*/ 95 h 95"/>
                  <a:gd name="T8" fmla="*/ 71 w 71"/>
                  <a:gd name="T9" fmla="*/ 92 h 95"/>
                  <a:gd name="T10" fmla="*/ 43 w 71"/>
                  <a:gd name="T11" fmla="*/ 45 h 95"/>
                  <a:gd name="T12" fmla="*/ 59 w 71"/>
                  <a:gd name="T13" fmla="*/ 23 h 95"/>
                  <a:gd name="T14" fmla="*/ 36 w 71"/>
                  <a:gd name="T15" fmla="*/ 0 h 95"/>
                  <a:gd name="T16" fmla="*/ 12 w 71"/>
                  <a:gd name="T17" fmla="*/ 23 h 95"/>
                  <a:gd name="T18" fmla="*/ 28 w 71"/>
                  <a:gd name="T19" fmla="*/ 4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95">
                    <a:moveTo>
                      <a:pt x="28" y="45"/>
                    </a:moveTo>
                    <a:cubicBezTo>
                      <a:pt x="12" y="49"/>
                      <a:pt x="0" y="69"/>
                      <a:pt x="0" y="92"/>
                    </a:cubicBezTo>
                    <a:cubicBezTo>
                      <a:pt x="0" y="93"/>
                      <a:pt x="0" y="94"/>
                      <a:pt x="0" y="95"/>
                    </a:cubicBezTo>
                    <a:cubicBezTo>
                      <a:pt x="71" y="95"/>
                      <a:pt x="71" y="95"/>
                      <a:pt x="71" y="95"/>
                    </a:cubicBezTo>
                    <a:cubicBezTo>
                      <a:pt x="71" y="94"/>
                      <a:pt x="71" y="93"/>
                      <a:pt x="71" y="92"/>
                    </a:cubicBezTo>
                    <a:cubicBezTo>
                      <a:pt x="71" y="69"/>
                      <a:pt x="59" y="49"/>
                      <a:pt x="43" y="45"/>
                    </a:cubicBezTo>
                    <a:cubicBezTo>
                      <a:pt x="53" y="41"/>
                      <a:pt x="59" y="33"/>
                      <a:pt x="59" y="23"/>
                    </a:cubicBezTo>
                    <a:cubicBezTo>
                      <a:pt x="59" y="10"/>
                      <a:pt x="49" y="0"/>
                      <a:pt x="36" y="0"/>
                    </a:cubicBezTo>
                    <a:cubicBezTo>
                      <a:pt x="23" y="0"/>
                      <a:pt x="12" y="10"/>
                      <a:pt x="12" y="23"/>
                    </a:cubicBezTo>
                    <a:cubicBezTo>
                      <a:pt x="12" y="33"/>
                      <a:pt x="19" y="41"/>
                      <a:pt x="28"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03" name="íṡľíḍè-Freeform: Shape 71"/>
              <p:cNvSpPr/>
              <p:nvPr/>
            </p:nvSpPr>
            <p:spPr bwMode="auto">
              <a:xfrm>
                <a:off x="3654425" y="2398713"/>
                <a:ext cx="92075" cy="138113"/>
              </a:xfrm>
              <a:custGeom>
                <a:avLst/>
                <a:gdLst>
                  <a:gd name="T0" fmla="*/ 24 w 53"/>
                  <a:gd name="T1" fmla="*/ 38 h 80"/>
                  <a:gd name="T2" fmla="*/ 0 w 53"/>
                  <a:gd name="T3" fmla="*/ 78 h 80"/>
                  <a:gd name="T4" fmla="*/ 0 w 53"/>
                  <a:gd name="T5" fmla="*/ 80 h 80"/>
                  <a:gd name="T6" fmla="*/ 43 w 53"/>
                  <a:gd name="T7" fmla="*/ 80 h 80"/>
                  <a:gd name="T8" fmla="*/ 52 w 53"/>
                  <a:gd name="T9" fmla="*/ 52 h 80"/>
                  <a:gd name="T10" fmla="*/ 53 w 53"/>
                  <a:gd name="T11" fmla="*/ 51 h 80"/>
                  <a:gd name="T12" fmla="*/ 37 w 53"/>
                  <a:gd name="T13" fmla="*/ 38 h 80"/>
                  <a:gd name="T14" fmla="*/ 50 w 53"/>
                  <a:gd name="T15" fmla="*/ 20 h 80"/>
                  <a:gd name="T16" fmla="*/ 30 w 53"/>
                  <a:gd name="T17" fmla="*/ 0 h 80"/>
                  <a:gd name="T18" fmla="*/ 11 w 53"/>
                  <a:gd name="T19" fmla="*/ 20 h 80"/>
                  <a:gd name="T20" fmla="*/ 24 w 53"/>
                  <a:gd name="T21" fmla="*/ 3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80">
                    <a:moveTo>
                      <a:pt x="24" y="38"/>
                    </a:moveTo>
                    <a:cubicBezTo>
                      <a:pt x="11" y="42"/>
                      <a:pt x="0" y="58"/>
                      <a:pt x="0" y="78"/>
                    </a:cubicBezTo>
                    <a:cubicBezTo>
                      <a:pt x="0" y="79"/>
                      <a:pt x="0" y="79"/>
                      <a:pt x="0" y="80"/>
                    </a:cubicBezTo>
                    <a:cubicBezTo>
                      <a:pt x="43" y="80"/>
                      <a:pt x="43" y="80"/>
                      <a:pt x="43" y="80"/>
                    </a:cubicBezTo>
                    <a:cubicBezTo>
                      <a:pt x="44" y="70"/>
                      <a:pt x="47" y="60"/>
                      <a:pt x="52" y="52"/>
                    </a:cubicBezTo>
                    <a:cubicBezTo>
                      <a:pt x="52" y="51"/>
                      <a:pt x="53" y="51"/>
                      <a:pt x="53" y="51"/>
                    </a:cubicBezTo>
                    <a:cubicBezTo>
                      <a:pt x="49" y="44"/>
                      <a:pt x="43" y="40"/>
                      <a:pt x="37" y="38"/>
                    </a:cubicBezTo>
                    <a:cubicBezTo>
                      <a:pt x="45" y="35"/>
                      <a:pt x="50" y="28"/>
                      <a:pt x="50" y="20"/>
                    </a:cubicBezTo>
                    <a:cubicBezTo>
                      <a:pt x="50" y="9"/>
                      <a:pt x="41" y="0"/>
                      <a:pt x="30" y="0"/>
                    </a:cubicBezTo>
                    <a:cubicBezTo>
                      <a:pt x="20" y="0"/>
                      <a:pt x="11" y="9"/>
                      <a:pt x="11" y="20"/>
                    </a:cubicBezTo>
                    <a:cubicBezTo>
                      <a:pt x="11" y="28"/>
                      <a:pt x="16" y="35"/>
                      <a:pt x="24"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04" name="íṡľíḍè-Freeform: Shape 72"/>
              <p:cNvSpPr/>
              <p:nvPr/>
            </p:nvSpPr>
            <p:spPr bwMode="auto">
              <a:xfrm>
                <a:off x="3852863" y="2398713"/>
                <a:ext cx="90488" cy="138113"/>
              </a:xfrm>
              <a:custGeom>
                <a:avLst/>
                <a:gdLst>
                  <a:gd name="T0" fmla="*/ 16 w 52"/>
                  <a:gd name="T1" fmla="*/ 38 h 80"/>
                  <a:gd name="T2" fmla="*/ 0 w 52"/>
                  <a:gd name="T3" fmla="*/ 51 h 80"/>
                  <a:gd name="T4" fmla="*/ 0 w 52"/>
                  <a:gd name="T5" fmla="*/ 52 h 80"/>
                  <a:gd name="T6" fmla="*/ 9 w 52"/>
                  <a:gd name="T7" fmla="*/ 80 h 80"/>
                  <a:gd name="T8" fmla="*/ 52 w 52"/>
                  <a:gd name="T9" fmla="*/ 80 h 80"/>
                  <a:gd name="T10" fmla="*/ 52 w 52"/>
                  <a:gd name="T11" fmla="*/ 78 h 80"/>
                  <a:gd name="T12" fmla="*/ 28 w 52"/>
                  <a:gd name="T13" fmla="*/ 38 h 80"/>
                  <a:gd name="T14" fmla="*/ 42 w 52"/>
                  <a:gd name="T15" fmla="*/ 20 h 80"/>
                  <a:gd name="T16" fmla="*/ 22 w 52"/>
                  <a:gd name="T17" fmla="*/ 0 h 80"/>
                  <a:gd name="T18" fmla="*/ 2 w 52"/>
                  <a:gd name="T19" fmla="*/ 20 h 80"/>
                  <a:gd name="T20" fmla="*/ 16 w 52"/>
                  <a:gd name="T21" fmla="*/ 3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80">
                    <a:moveTo>
                      <a:pt x="16" y="38"/>
                    </a:moveTo>
                    <a:cubicBezTo>
                      <a:pt x="9" y="40"/>
                      <a:pt x="4" y="44"/>
                      <a:pt x="0" y="51"/>
                    </a:cubicBezTo>
                    <a:cubicBezTo>
                      <a:pt x="0" y="51"/>
                      <a:pt x="0" y="51"/>
                      <a:pt x="0" y="52"/>
                    </a:cubicBezTo>
                    <a:cubicBezTo>
                      <a:pt x="6" y="60"/>
                      <a:pt x="8" y="70"/>
                      <a:pt x="9" y="80"/>
                    </a:cubicBezTo>
                    <a:cubicBezTo>
                      <a:pt x="52" y="80"/>
                      <a:pt x="52" y="80"/>
                      <a:pt x="52" y="80"/>
                    </a:cubicBezTo>
                    <a:cubicBezTo>
                      <a:pt x="52" y="79"/>
                      <a:pt x="52" y="79"/>
                      <a:pt x="52" y="78"/>
                    </a:cubicBezTo>
                    <a:cubicBezTo>
                      <a:pt x="52" y="58"/>
                      <a:pt x="42" y="42"/>
                      <a:pt x="28" y="38"/>
                    </a:cubicBezTo>
                    <a:cubicBezTo>
                      <a:pt x="36" y="35"/>
                      <a:pt x="42" y="28"/>
                      <a:pt x="42" y="20"/>
                    </a:cubicBezTo>
                    <a:cubicBezTo>
                      <a:pt x="42" y="9"/>
                      <a:pt x="33" y="0"/>
                      <a:pt x="22" y="0"/>
                    </a:cubicBezTo>
                    <a:cubicBezTo>
                      <a:pt x="11" y="0"/>
                      <a:pt x="2" y="9"/>
                      <a:pt x="2" y="20"/>
                    </a:cubicBezTo>
                    <a:cubicBezTo>
                      <a:pt x="2" y="28"/>
                      <a:pt x="8" y="35"/>
                      <a:pt x="16"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grpSp>
        <p:grpSp>
          <p:nvGrpSpPr>
            <p:cNvPr id="64" name="Group 73"/>
            <p:cNvGrpSpPr/>
            <p:nvPr/>
          </p:nvGrpSpPr>
          <p:grpSpPr>
            <a:xfrm>
              <a:off x="4574999" y="4562799"/>
              <a:ext cx="467486" cy="738797"/>
              <a:chOff x="4197350" y="2614613"/>
              <a:chExt cx="177800" cy="280988"/>
            </a:xfrm>
            <a:solidFill>
              <a:sysClr val="window" lastClr="FFFFFF"/>
            </a:solidFill>
          </p:grpSpPr>
          <p:sp>
            <p:nvSpPr>
              <p:cNvPr id="97" name="íṡľíḍè-Freeform: Shape 74"/>
              <p:cNvSpPr/>
              <p:nvPr/>
            </p:nvSpPr>
            <p:spPr bwMode="auto">
              <a:xfrm>
                <a:off x="4227513" y="2614613"/>
                <a:ext cx="117475" cy="68263"/>
              </a:xfrm>
              <a:custGeom>
                <a:avLst/>
                <a:gdLst>
                  <a:gd name="T0" fmla="*/ 14 w 68"/>
                  <a:gd name="T1" fmla="*/ 18 h 40"/>
                  <a:gd name="T2" fmla="*/ 1 w 68"/>
                  <a:gd name="T3" fmla="*/ 23 h 40"/>
                  <a:gd name="T4" fmla="*/ 21 w 68"/>
                  <a:gd name="T5" fmla="*/ 40 h 40"/>
                  <a:gd name="T6" fmla="*/ 46 w 68"/>
                  <a:gd name="T7" fmla="*/ 40 h 40"/>
                  <a:gd name="T8" fmla="*/ 68 w 68"/>
                  <a:gd name="T9" fmla="*/ 25 h 40"/>
                  <a:gd name="T10" fmla="*/ 62 w 68"/>
                  <a:gd name="T11" fmla="*/ 26 h 40"/>
                  <a:gd name="T12" fmla="*/ 56 w 68"/>
                  <a:gd name="T13" fmla="*/ 0 h 40"/>
                  <a:gd name="T14" fmla="*/ 37 w 68"/>
                  <a:gd name="T15" fmla="*/ 16 h 40"/>
                  <a:gd name="T16" fmla="*/ 17 w 68"/>
                  <a:gd name="T17" fmla="*/ 5 h 40"/>
                  <a:gd name="T18" fmla="*/ 14 w 68"/>
                  <a:gd name="T19" fmla="*/ 1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40">
                    <a:moveTo>
                      <a:pt x="14" y="18"/>
                    </a:moveTo>
                    <a:cubicBezTo>
                      <a:pt x="10" y="22"/>
                      <a:pt x="2" y="20"/>
                      <a:pt x="1" y="23"/>
                    </a:cubicBezTo>
                    <a:cubicBezTo>
                      <a:pt x="0" y="29"/>
                      <a:pt x="18" y="38"/>
                      <a:pt x="21" y="40"/>
                    </a:cubicBezTo>
                    <a:cubicBezTo>
                      <a:pt x="30" y="40"/>
                      <a:pt x="38" y="40"/>
                      <a:pt x="46" y="40"/>
                    </a:cubicBezTo>
                    <a:cubicBezTo>
                      <a:pt x="56" y="37"/>
                      <a:pt x="63" y="32"/>
                      <a:pt x="68" y="25"/>
                    </a:cubicBezTo>
                    <a:cubicBezTo>
                      <a:pt x="66" y="26"/>
                      <a:pt x="64" y="26"/>
                      <a:pt x="62" y="26"/>
                    </a:cubicBezTo>
                    <a:cubicBezTo>
                      <a:pt x="43" y="26"/>
                      <a:pt x="63" y="1"/>
                      <a:pt x="56" y="0"/>
                    </a:cubicBezTo>
                    <a:cubicBezTo>
                      <a:pt x="48" y="0"/>
                      <a:pt x="50" y="11"/>
                      <a:pt x="37" y="16"/>
                    </a:cubicBezTo>
                    <a:cubicBezTo>
                      <a:pt x="33" y="18"/>
                      <a:pt x="23" y="5"/>
                      <a:pt x="17" y="5"/>
                    </a:cubicBezTo>
                    <a:cubicBezTo>
                      <a:pt x="12" y="5"/>
                      <a:pt x="17" y="15"/>
                      <a:pt x="14"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98" name="íṡľíḍè-Freeform: Shape 75"/>
              <p:cNvSpPr/>
              <p:nvPr/>
            </p:nvSpPr>
            <p:spPr bwMode="auto">
              <a:xfrm>
                <a:off x="4265613" y="2686050"/>
                <a:ext cx="39688" cy="9525"/>
              </a:xfrm>
              <a:custGeom>
                <a:avLst/>
                <a:gdLst>
                  <a:gd name="T0" fmla="*/ 18 w 23"/>
                  <a:gd name="T1" fmla="*/ 0 h 5"/>
                  <a:gd name="T2" fmla="*/ 4 w 23"/>
                  <a:gd name="T3" fmla="*/ 0 h 5"/>
                  <a:gd name="T4" fmla="*/ 0 w 23"/>
                  <a:gd name="T5" fmla="*/ 2 h 5"/>
                  <a:gd name="T6" fmla="*/ 0 w 23"/>
                  <a:gd name="T7" fmla="*/ 2 h 5"/>
                  <a:gd name="T8" fmla="*/ 0 w 23"/>
                  <a:gd name="T9" fmla="*/ 3 h 5"/>
                  <a:gd name="T10" fmla="*/ 0 w 23"/>
                  <a:gd name="T11" fmla="*/ 4 h 5"/>
                  <a:gd name="T12" fmla="*/ 1 w 23"/>
                  <a:gd name="T13" fmla="*/ 4 h 5"/>
                  <a:gd name="T14" fmla="*/ 3 w 23"/>
                  <a:gd name="T15" fmla="*/ 5 h 5"/>
                  <a:gd name="T16" fmla="*/ 20 w 23"/>
                  <a:gd name="T17" fmla="*/ 5 h 5"/>
                  <a:gd name="T18" fmla="*/ 22 w 23"/>
                  <a:gd name="T19" fmla="*/ 4 h 5"/>
                  <a:gd name="T20" fmla="*/ 23 w 23"/>
                  <a:gd name="T21" fmla="*/ 3 h 5"/>
                  <a:gd name="T22" fmla="*/ 23 w 23"/>
                  <a:gd name="T23" fmla="*/ 2 h 5"/>
                  <a:gd name="T24" fmla="*/ 22 w 23"/>
                  <a:gd name="T25" fmla="*/ 2 h 5"/>
                  <a:gd name="T26" fmla="*/ 22 w 23"/>
                  <a:gd name="T27" fmla="*/ 1 h 5"/>
                  <a:gd name="T28" fmla="*/ 18 w 23"/>
                  <a:gd name="T2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
                    <a:moveTo>
                      <a:pt x="18" y="0"/>
                    </a:moveTo>
                    <a:cubicBezTo>
                      <a:pt x="4" y="0"/>
                      <a:pt x="4" y="0"/>
                      <a:pt x="4" y="0"/>
                    </a:cubicBezTo>
                    <a:cubicBezTo>
                      <a:pt x="2" y="0"/>
                      <a:pt x="0" y="1"/>
                      <a:pt x="0" y="2"/>
                    </a:cubicBezTo>
                    <a:cubicBezTo>
                      <a:pt x="0" y="2"/>
                      <a:pt x="0" y="2"/>
                      <a:pt x="0" y="2"/>
                    </a:cubicBezTo>
                    <a:cubicBezTo>
                      <a:pt x="0" y="3"/>
                      <a:pt x="0" y="3"/>
                      <a:pt x="0" y="3"/>
                    </a:cubicBezTo>
                    <a:cubicBezTo>
                      <a:pt x="0" y="4"/>
                      <a:pt x="0" y="4"/>
                      <a:pt x="0" y="4"/>
                    </a:cubicBezTo>
                    <a:cubicBezTo>
                      <a:pt x="1" y="4"/>
                      <a:pt x="1" y="4"/>
                      <a:pt x="1" y="4"/>
                    </a:cubicBezTo>
                    <a:cubicBezTo>
                      <a:pt x="3" y="5"/>
                      <a:pt x="3" y="5"/>
                      <a:pt x="3" y="5"/>
                    </a:cubicBezTo>
                    <a:cubicBezTo>
                      <a:pt x="20" y="5"/>
                      <a:pt x="20" y="5"/>
                      <a:pt x="20" y="5"/>
                    </a:cubicBezTo>
                    <a:cubicBezTo>
                      <a:pt x="21" y="4"/>
                      <a:pt x="22" y="4"/>
                      <a:pt x="22" y="4"/>
                    </a:cubicBezTo>
                    <a:cubicBezTo>
                      <a:pt x="23" y="3"/>
                      <a:pt x="23" y="3"/>
                      <a:pt x="23" y="3"/>
                    </a:cubicBezTo>
                    <a:cubicBezTo>
                      <a:pt x="23" y="2"/>
                      <a:pt x="23" y="2"/>
                      <a:pt x="23" y="2"/>
                    </a:cubicBezTo>
                    <a:cubicBezTo>
                      <a:pt x="22" y="2"/>
                      <a:pt x="22" y="2"/>
                      <a:pt x="22" y="2"/>
                    </a:cubicBezTo>
                    <a:cubicBezTo>
                      <a:pt x="22" y="1"/>
                      <a:pt x="22" y="1"/>
                      <a:pt x="22" y="1"/>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99" name="íṡľíḍè-Freeform: Shape 76"/>
              <p:cNvSpPr/>
              <p:nvPr/>
            </p:nvSpPr>
            <p:spPr bwMode="auto">
              <a:xfrm>
                <a:off x="4197350" y="2697163"/>
                <a:ext cx="177800" cy="198438"/>
              </a:xfrm>
              <a:custGeom>
                <a:avLst/>
                <a:gdLst>
                  <a:gd name="T0" fmla="*/ 48 w 103"/>
                  <a:gd name="T1" fmla="*/ 24 h 114"/>
                  <a:gd name="T2" fmla="*/ 48 w 103"/>
                  <a:gd name="T3" fmla="*/ 17 h 114"/>
                  <a:gd name="T4" fmla="*/ 57 w 103"/>
                  <a:gd name="T5" fmla="*/ 17 h 114"/>
                  <a:gd name="T6" fmla="*/ 57 w 103"/>
                  <a:gd name="T7" fmla="*/ 24 h 114"/>
                  <a:gd name="T8" fmla="*/ 75 w 103"/>
                  <a:gd name="T9" fmla="*/ 32 h 114"/>
                  <a:gd name="T10" fmla="*/ 65 w 103"/>
                  <a:gd name="T11" fmla="*/ 43 h 114"/>
                  <a:gd name="T12" fmla="*/ 56 w 103"/>
                  <a:gd name="T13" fmla="*/ 38 h 114"/>
                  <a:gd name="T14" fmla="*/ 56 w 103"/>
                  <a:gd name="T15" fmla="*/ 53 h 114"/>
                  <a:gd name="T16" fmla="*/ 77 w 103"/>
                  <a:gd name="T17" fmla="*/ 74 h 114"/>
                  <a:gd name="T18" fmla="*/ 72 w 103"/>
                  <a:gd name="T19" fmla="*/ 87 h 114"/>
                  <a:gd name="T20" fmla="*/ 56 w 103"/>
                  <a:gd name="T21" fmla="*/ 95 h 114"/>
                  <a:gd name="T22" fmla="*/ 56 w 103"/>
                  <a:gd name="T23" fmla="*/ 103 h 114"/>
                  <a:gd name="T24" fmla="*/ 48 w 103"/>
                  <a:gd name="T25" fmla="*/ 103 h 114"/>
                  <a:gd name="T26" fmla="*/ 48 w 103"/>
                  <a:gd name="T27" fmla="*/ 95 h 114"/>
                  <a:gd name="T28" fmla="*/ 46 w 103"/>
                  <a:gd name="T29" fmla="*/ 95 h 114"/>
                  <a:gd name="T30" fmla="*/ 35 w 103"/>
                  <a:gd name="T31" fmla="*/ 92 h 114"/>
                  <a:gd name="T32" fmla="*/ 25 w 103"/>
                  <a:gd name="T33" fmla="*/ 85 h 114"/>
                  <a:gd name="T34" fmla="*/ 34 w 103"/>
                  <a:gd name="T35" fmla="*/ 74 h 114"/>
                  <a:gd name="T36" fmla="*/ 48 w 103"/>
                  <a:gd name="T37" fmla="*/ 82 h 114"/>
                  <a:gd name="T38" fmla="*/ 48 w 103"/>
                  <a:gd name="T39" fmla="*/ 65 h 114"/>
                  <a:gd name="T40" fmla="*/ 33 w 103"/>
                  <a:gd name="T41" fmla="*/ 57 h 114"/>
                  <a:gd name="T42" fmla="*/ 28 w 103"/>
                  <a:gd name="T43" fmla="*/ 44 h 114"/>
                  <a:gd name="T44" fmla="*/ 33 w 103"/>
                  <a:gd name="T45" fmla="*/ 30 h 114"/>
                  <a:gd name="T46" fmla="*/ 48 w 103"/>
                  <a:gd name="T47" fmla="*/ 24 h 114"/>
                  <a:gd name="T48" fmla="*/ 64 w 103"/>
                  <a:gd name="T49" fmla="*/ 0 h 114"/>
                  <a:gd name="T50" fmla="*/ 39 w 103"/>
                  <a:gd name="T51" fmla="*/ 0 h 114"/>
                  <a:gd name="T52" fmla="*/ 0 w 103"/>
                  <a:gd name="T53" fmla="*/ 83 h 114"/>
                  <a:gd name="T54" fmla="*/ 4 w 103"/>
                  <a:gd name="T55" fmla="*/ 101 h 114"/>
                  <a:gd name="T56" fmla="*/ 52 w 103"/>
                  <a:gd name="T57" fmla="*/ 114 h 114"/>
                  <a:gd name="T58" fmla="*/ 99 w 103"/>
                  <a:gd name="T59" fmla="*/ 101 h 114"/>
                  <a:gd name="T60" fmla="*/ 103 w 103"/>
                  <a:gd name="T61" fmla="*/ 83 h 114"/>
                  <a:gd name="T62" fmla="*/ 101 w 103"/>
                  <a:gd name="T63" fmla="*/ 56 h 114"/>
                  <a:gd name="T64" fmla="*/ 64 w 103"/>
                  <a:gd name="T6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114">
                    <a:moveTo>
                      <a:pt x="48" y="24"/>
                    </a:moveTo>
                    <a:cubicBezTo>
                      <a:pt x="48" y="17"/>
                      <a:pt x="48" y="17"/>
                      <a:pt x="48" y="17"/>
                    </a:cubicBezTo>
                    <a:cubicBezTo>
                      <a:pt x="57" y="17"/>
                      <a:pt x="57" y="17"/>
                      <a:pt x="57" y="17"/>
                    </a:cubicBezTo>
                    <a:cubicBezTo>
                      <a:pt x="57" y="24"/>
                      <a:pt x="57" y="24"/>
                      <a:pt x="57" y="24"/>
                    </a:cubicBezTo>
                    <a:cubicBezTo>
                      <a:pt x="64" y="25"/>
                      <a:pt x="70" y="27"/>
                      <a:pt x="75" y="32"/>
                    </a:cubicBezTo>
                    <a:cubicBezTo>
                      <a:pt x="65" y="43"/>
                      <a:pt x="65" y="43"/>
                      <a:pt x="65" y="43"/>
                    </a:cubicBezTo>
                    <a:cubicBezTo>
                      <a:pt x="62" y="41"/>
                      <a:pt x="59" y="39"/>
                      <a:pt x="56" y="38"/>
                    </a:cubicBezTo>
                    <a:cubicBezTo>
                      <a:pt x="56" y="53"/>
                      <a:pt x="56" y="53"/>
                      <a:pt x="56" y="53"/>
                    </a:cubicBezTo>
                    <a:cubicBezTo>
                      <a:pt x="70" y="56"/>
                      <a:pt x="77" y="64"/>
                      <a:pt x="77" y="74"/>
                    </a:cubicBezTo>
                    <a:cubicBezTo>
                      <a:pt x="77" y="79"/>
                      <a:pt x="75" y="84"/>
                      <a:pt x="72" y="87"/>
                    </a:cubicBezTo>
                    <a:cubicBezTo>
                      <a:pt x="68" y="91"/>
                      <a:pt x="63" y="93"/>
                      <a:pt x="56" y="95"/>
                    </a:cubicBezTo>
                    <a:cubicBezTo>
                      <a:pt x="56" y="103"/>
                      <a:pt x="56" y="103"/>
                      <a:pt x="56" y="103"/>
                    </a:cubicBezTo>
                    <a:cubicBezTo>
                      <a:pt x="48" y="103"/>
                      <a:pt x="48" y="103"/>
                      <a:pt x="48" y="103"/>
                    </a:cubicBezTo>
                    <a:cubicBezTo>
                      <a:pt x="48" y="95"/>
                      <a:pt x="48" y="95"/>
                      <a:pt x="48" y="95"/>
                    </a:cubicBezTo>
                    <a:cubicBezTo>
                      <a:pt x="46" y="95"/>
                      <a:pt x="46" y="95"/>
                      <a:pt x="46" y="95"/>
                    </a:cubicBezTo>
                    <a:cubicBezTo>
                      <a:pt x="43" y="95"/>
                      <a:pt x="39" y="94"/>
                      <a:pt x="35" y="92"/>
                    </a:cubicBezTo>
                    <a:cubicBezTo>
                      <a:pt x="30" y="90"/>
                      <a:pt x="27" y="88"/>
                      <a:pt x="25" y="85"/>
                    </a:cubicBezTo>
                    <a:cubicBezTo>
                      <a:pt x="34" y="74"/>
                      <a:pt x="34" y="74"/>
                      <a:pt x="34" y="74"/>
                    </a:cubicBezTo>
                    <a:cubicBezTo>
                      <a:pt x="38" y="78"/>
                      <a:pt x="42" y="81"/>
                      <a:pt x="48" y="82"/>
                    </a:cubicBezTo>
                    <a:cubicBezTo>
                      <a:pt x="48" y="65"/>
                      <a:pt x="48" y="65"/>
                      <a:pt x="48" y="65"/>
                    </a:cubicBezTo>
                    <a:cubicBezTo>
                      <a:pt x="41" y="63"/>
                      <a:pt x="36" y="61"/>
                      <a:pt x="33" y="57"/>
                    </a:cubicBezTo>
                    <a:cubicBezTo>
                      <a:pt x="30" y="53"/>
                      <a:pt x="28" y="49"/>
                      <a:pt x="28" y="44"/>
                    </a:cubicBezTo>
                    <a:cubicBezTo>
                      <a:pt x="28" y="38"/>
                      <a:pt x="29" y="34"/>
                      <a:pt x="33" y="30"/>
                    </a:cubicBezTo>
                    <a:cubicBezTo>
                      <a:pt x="36" y="26"/>
                      <a:pt x="41" y="24"/>
                      <a:pt x="48" y="24"/>
                    </a:cubicBezTo>
                    <a:close/>
                    <a:moveTo>
                      <a:pt x="64" y="0"/>
                    </a:moveTo>
                    <a:cubicBezTo>
                      <a:pt x="39" y="0"/>
                      <a:pt x="39" y="0"/>
                      <a:pt x="39" y="0"/>
                    </a:cubicBezTo>
                    <a:cubicBezTo>
                      <a:pt x="4" y="16"/>
                      <a:pt x="0" y="48"/>
                      <a:pt x="0" y="83"/>
                    </a:cubicBezTo>
                    <a:cubicBezTo>
                      <a:pt x="0" y="91"/>
                      <a:pt x="1" y="99"/>
                      <a:pt x="4" y="101"/>
                    </a:cubicBezTo>
                    <a:cubicBezTo>
                      <a:pt x="12" y="109"/>
                      <a:pt x="32" y="114"/>
                      <a:pt x="52" y="114"/>
                    </a:cubicBezTo>
                    <a:cubicBezTo>
                      <a:pt x="71" y="114"/>
                      <a:pt x="91" y="109"/>
                      <a:pt x="99" y="101"/>
                    </a:cubicBezTo>
                    <a:cubicBezTo>
                      <a:pt x="102" y="99"/>
                      <a:pt x="103" y="91"/>
                      <a:pt x="103" y="83"/>
                    </a:cubicBezTo>
                    <a:cubicBezTo>
                      <a:pt x="103" y="74"/>
                      <a:pt x="102" y="64"/>
                      <a:pt x="101" y="56"/>
                    </a:cubicBezTo>
                    <a:cubicBezTo>
                      <a:pt x="96" y="28"/>
                      <a:pt x="92" y="13"/>
                      <a:pt x="6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00" name="îŝḷîḓé-Freeform: Shape 77"/>
              <p:cNvSpPr/>
              <p:nvPr/>
            </p:nvSpPr>
            <p:spPr bwMode="auto">
              <a:xfrm>
                <a:off x="4271963" y="2762250"/>
                <a:ext cx="7938" cy="22225"/>
              </a:xfrm>
              <a:custGeom>
                <a:avLst/>
                <a:gdLst>
                  <a:gd name="T0" fmla="*/ 5 w 5"/>
                  <a:gd name="T1" fmla="*/ 0 h 12"/>
                  <a:gd name="T2" fmla="*/ 0 w 5"/>
                  <a:gd name="T3" fmla="*/ 6 h 12"/>
                  <a:gd name="T4" fmla="*/ 5 w 5"/>
                  <a:gd name="T5" fmla="*/ 12 h 12"/>
                  <a:gd name="T6" fmla="*/ 5 w 5"/>
                  <a:gd name="T7" fmla="*/ 0 h 12"/>
                </a:gdLst>
                <a:ahLst/>
                <a:cxnLst>
                  <a:cxn ang="0">
                    <a:pos x="T0" y="T1"/>
                  </a:cxn>
                  <a:cxn ang="0">
                    <a:pos x="T2" y="T3"/>
                  </a:cxn>
                  <a:cxn ang="0">
                    <a:pos x="T4" y="T5"/>
                  </a:cxn>
                  <a:cxn ang="0">
                    <a:pos x="T6" y="T7"/>
                  </a:cxn>
                </a:cxnLst>
                <a:rect l="0" t="0" r="r" b="b"/>
                <a:pathLst>
                  <a:path w="5" h="12">
                    <a:moveTo>
                      <a:pt x="5" y="0"/>
                    </a:moveTo>
                    <a:cubicBezTo>
                      <a:pt x="1" y="1"/>
                      <a:pt x="0" y="3"/>
                      <a:pt x="0" y="6"/>
                    </a:cubicBezTo>
                    <a:cubicBezTo>
                      <a:pt x="0" y="9"/>
                      <a:pt x="1" y="11"/>
                      <a:pt x="5" y="12"/>
                    </a:cubicBezTo>
                    <a:lnTo>
                      <a:pt x="5"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101" name="îŝḷîḓé-Freeform: Shape 78"/>
              <p:cNvSpPr/>
              <p:nvPr/>
            </p:nvSpPr>
            <p:spPr bwMode="auto">
              <a:xfrm>
                <a:off x="4294188" y="2814638"/>
                <a:ext cx="9525" cy="22225"/>
              </a:xfrm>
              <a:custGeom>
                <a:avLst/>
                <a:gdLst>
                  <a:gd name="T0" fmla="*/ 0 w 6"/>
                  <a:gd name="T1" fmla="*/ 0 h 13"/>
                  <a:gd name="T2" fmla="*/ 0 w 6"/>
                  <a:gd name="T3" fmla="*/ 13 h 13"/>
                  <a:gd name="T4" fmla="*/ 6 w 6"/>
                  <a:gd name="T5" fmla="*/ 6 h 13"/>
                  <a:gd name="T6" fmla="*/ 0 w 6"/>
                  <a:gd name="T7" fmla="*/ 0 h 13"/>
                </a:gdLst>
                <a:ahLst/>
                <a:cxnLst>
                  <a:cxn ang="0">
                    <a:pos x="T0" y="T1"/>
                  </a:cxn>
                  <a:cxn ang="0">
                    <a:pos x="T2" y="T3"/>
                  </a:cxn>
                  <a:cxn ang="0">
                    <a:pos x="T4" y="T5"/>
                  </a:cxn>
                  <a:cxn ang="0">
                    <a:pos x="T6" y="T7"/>
                  </a:cxn>
                </a:cxnLst>
                <a:rect l="0" t="0" r="r" b="b"/>
                <a:pathLst>
                  <a:path w="6" h="13">
                    <a:moveTo>
                      <a:pt x="0" y="0"/>
                    </a:moveTo>
                    <a:cubicBezTo>
                      <a:pt x="0" y="13"/>
                      <a:pt x="0" y="13"/>
                      <a:pt x="0" y="13"/>
                    </a:cubicBezTo>
                    <a:cubicBezTo>
                      <a:pt x="4" y="12"/>
                      <a:pt x="6" y="10"/>
                      <a:pt x="6" y="6"/>
                    </a:cubicBezTo>
                    <a:cubicBezTo>
                      <a:pt x="6" y="3"/>
                      <a:pt x="4"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grpSp>
        <p:grpSp>
          <p:nvGrpSpPr>
            <p:cNvPr id="65" name="Group 79"/>
            <p:cNvGrpSpPr/>
            <p:nvPr/>
          </p:nvGrpSpPr>
          <p:grpSpPr>
            <a:xfrm>
              <a:off x="4481080" y="2252814"/>
              <a:ext cx="655318" cy="722093"/>
              <a:chOff x="3371850" y="1820863"/>
              <a:chExt cx="249238" cy="274638"/>
            </a:xfrm>
            <a:solidFill>
              <a:sysClr val="window" lastClr="FFFFFF"/>
            </a:solidFill>
          </p:grpSpPr>
          <p:sp>
            <p:nvSpPr>
              <p:cNvPr id="83" name="îŝḷîḓé-Freeform: Shape 80"/>
              <p:cNvSpPr/>
              <p:nvPr/>
            </p:nvSpPr>
            <p:spPr bwMode="auto">
              <a:xfrm>
                <a:off x="3582988" y="1943100"/>
                <a:ext cx="38100" cy="11113"/>
              </a:xfrm>
              <a:custGeom>
                <a:avLst/>
                <a:gdLst>
                  <a:gd name="T0" fmla="*/ 21 w 22"/>
                  <a:gd name="T1" fmla="*/ 1 h 7"/>
                  <a:gd name="T2" fmla="*/ 19 w 22"/>
                  <a:gd name="T3" fmla="*/ 0 h 7"/>
                  <a:gd name="T4" fmla="*/ 4 w 22"/>
                  <a:gd name="T5" fmla="*/ 0 h 7"/>
                  <a:gd name="T6" fmla="*/ 1 w 22"/>
                  <a:gd name="T7" fmla="*/ 1 h 7"/>
                  <a:gd name="T8" fmla="*/ 0 w 22"/>
                  <a:gd name="T9" fmla="*/ 3 h 7"/>
                  <a:gd name="T10" fmla="*/ 1 w 22"/>
                  <a:gd name="T11" fmla="*/ 6 h 7"/>
                  <a:gd name="T12" fmla="*/ 4 w 22"/>
                  <a:gd name="T13" fmla="*/ 7 h 7"/>
                  <a:gd name="T14" fmla="*/ 19 w 22"/>
                  <a:gd name="T15" fmla="*/ 7 h 7"/>
                  <a:gd name="T16" fmla="*/ 21 w 22"/>
                  <a:gd name="T17" fmla="*/ 6 h 7"/>
                  <a:gd name="T18" fmla="*/ 22 w 22"/>
                  <a:gd name="T19" fmla="*/ 3 h 7"/>
                  <a:gd name="T20" fmla="*/ 21 w 22"/>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7">
                    <a:moveTo>
                      <a:pt x="21" y="1"/>
                    </a:moveTo>
                    <a:cubicBezTo>
                      <a:pt x="21" y="0"/>
                      <a:pt x="20" y="0"/>
                      <a:pt x="19" y="0"/>
                    </a:cubicBezTo>
                    <a:cubicBezTo>
                      <a:pt x="4" y="0"/>
                      <a:pt x="4" y="0"/>
                      <a:pt x="4" y="0"/>
                    </a:cubicBezTo>
                    <a:cubicBezTo>
                      <a:pt x="3" y="0"/>
                      <a:pt x="2" y="0"/>
                      <a:pt x="1" y="1"/>
                    </a:cubicBezTo>
                    <a:cubicBezTo>
                      <a:pt x="0" y="1"/>
                      <a:pt x="0" y="2"/>
                      <a:pt x="0" y="3"/>
                    </a:cubicBezTo>
                    <a:cubicBezTo>
                      <a:pt x="0" y="4"/>
                      <a:pt x="1" y="5"/>
                      <a:pt x="1" y="6"/>
                    </a:cubicBezTo>
                    <a:cubicBezTo>
                      <a:pt x="2" y="6"/>
                      <a:pt x="3" y="7"/>
                      <a:pt x="4" y="7"/>
                    </a:cubicBezTo>
                    <a:cubicBezTo>
                      <a:pt x="19" y="7"/>
                      <a:pt x="19" y="7"/>
                      <a:pt x="19" y="7"/>
                    </a:cubicBezTo>
                    <a:cubicBezTo>
                      <a:pt x="20" y="7"/>
                      <a:pt x="21" y="6"/>
                      <a:pt x="21" y="6"/>
                    </a:cubicBezTo>
                    <a:cubicBezTo>
                      <a:pt x="22" y="5"/>
                      <a:pt x="22" y="4"/>
                      <a:pt x="22" y="3"/>
                    </a:cubicBezTo>
                    <a:cubicBezTo>
                      <a:pt x="22" y="2"/>
                      <a:pt x="22" y="1"/>
                      <a:pt x="2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84" name="îŝḷîḓé-Freeform: Shape 81"/>
              <p:cNvSpPr/>
              <p:nvPr/>
            </p:nvSpPr>
            <p:spPr bwMode="auto">
              <a:xfrm>
                <a:off x="3575050" y="1885950"/>
                <a:ext cx="34925" cy="25400"/>
              </a:xfrm>
              <a:custGeom>
                <a:avLst/>
                <a:gdLst>
                  <a:gd name="T0" fmla="*/ 4 w 21"/>
                  <a:gd name="T1" fmla="*/ 15 h 15"/>
                  <a:gd name="T2" fmla="*/ 6 w 21"/>
                  <a:gd name="T3" fmla="*/ 14 h 15"/>
                  <a:gd name="T4" fmla="*/ 19 w 21"/>
                  <a:gd name="T5" fmla="*/ 7 h 15"/>
                  <a:gd name="T6" fmla="*/ 19 w 21"/>
                  <a:gd name="T7" fmla="*/ 6 h 15"/>
                  <a:gd name="T8" fmla="*/ 19 w 21"/>
                  <a:gd name="T9" fmla="*/ 6 h 15"/>
                  <a:gd name="T10" fmla="*/ 20 w 21"/>
                  <a:gd name="T11" fmla="*/ 2 h 15"/>
                  <a:gd name="T12" fmla="*/ 18 w 21"/>
                  <a:gd name="T13" fmla="*/ 0 h 15"/>
                  <a:gd name="T14" fmla="*/ 15 w 21"/>
                  <a:gd name="T15" fmla="*/ 1 h 15"/>
                  <a:gd name="T16" fmla="*/ 2 w 21"/>
                  <a:gd name="T17" fmla="*/ 8 h 15"/>
                  <a:gd name="T18" fmla="*/ 1 w 21"/>
                  <a:gd name="T19" fmla="*/ 9 h 15"/>
                  <a:gd name="T20" fmla="*/ 1 w 21"/>
                  <a:gd name="T21" fmla="*/ 13 h 15"/>
                  <a:gd name="T22" fmla="*/ 4 w 21"/>
                  <a:gd name="T2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5">
                    <a:moveTo>
                      <a:pt x="4" y="15"/>
                    </a:moveTo>
                    <a:cubicBezTo>
                      <a:pt x="4" y="15"/>
                      <a:pt x="5" y="15"/>
                      <a:pt x="6" y="14"/>
                    </a:cubicBezTo>
                    <a:cubicBezTo>
                      <a:pt x="19" y="7"/>
                      <a:pt x="19" y="7"/>
                      <a:pt x="19" y="7"/>
                    </a:cubicBezTo>
                    <a:cubicBezTo>
                      <a:pt x="19" y="6"/>
                      <a:pt x="19" y="6"/>
                      <a:pt x="19" y="6"/>
                    </a:cubicBezTo>
                    <a:cubicBezTo>
                      <a:pt x="19" y="6"/>
                      <a:pt x="19" y="6"/>
                      <a:pt x="19" y="6"/>
                    </a:cubicBezTo>
                    <a:cubicBezTo>
                      <a:pt x="20" y="5"/>
                      <a:pt x="21" y="3"/>
                      <a:pt x="20" y="2"/>
                    </a:cubicBezTo>
                    <a:cubicBezTo>
                      <a:pt x="19" y="1"/>
                      <a:pt x="19" y="0"/>
                      <a:pt x="18" y="0"/>
                    </a:cubicBezTo>
                    <a:cubicBezTo>
                      <a:pt x="17" y="0"/>
                      <a:pt x="16" y="0"/>
                      <a:pt x="15" y="1"/>
                    </a:cubicBezTo>
                    <a:cubicBezTo>
                      <a:pt x="2" y="8"/>
                      <a:pt x="2" y="8"/>
                      <a:pt x="2" y="8"/>
                    </a:cubicBezTo>
                    <a:cubicBezTo>
                      <a:pt x="1" y="9"/>
                      <a:pt x="1" y="9"/>
                      <a:pt x="1" y="9"/>
                    </a:cubicBezTo>
                    <a:cubicBezTo>
                      <a:pt x="0" y="10"/>
                      <a:pt x="0" y="12"/>
                      <a:pt x="1" y="13"/>
                    </a:cubicBezTo>
                    <a:cubicBezTo>
                      <a:pt x="1" y="14"/>
                      <a:pt x="3" y="15"/>
                      <a:pt x="4"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85" name="îŝḷîḓé-Freeform: Shape 82"/>
              <p:cNvSpPr/>
              <p:nvPr/>
            </p:nvSpPr>
            <p:spPr bwMode="auto">
              <a:xfrm>
                <a:off x="3540125" y="1836738"/>
                <a:ext cx="25400" cy="36513"/>
              </a:xfrm>
              <a:custGeom>
                <a:avLst/>
                <a:gdLst>
                  <a:gd name="T0" fmla="*/ 13 w 15"/>
                  <a:gd name="T1" fmla="*/ 1 h 21"/>
                  <a:gd name="T2" fmla="*/ 9 w 15"/>
                  <a:gd name="T3" fmla="*/ 2 h 21"/>
                  <a:gd name="T4" fmla="*/ 8 w 15"/>
                  <a:gd name="T5" fmla="*/ 2 h 21"/>
                  <a:gd name="T6" fmla="*/ 1 w 15"/>
                  <a:gd name="T7" fmla="*/ 15 h 21"/>
                  <a:gd name="T8" fmla="*/ 2 w 15"/>
                  <a:gd name="T9" fmla="*/ 20 h 21"/>
                  <a:gd name="T10" fmla="*/ 4 w 15"/>
                  <a:gd name="T11" fmla="*/ 21 h 21"/>
                  <a:gd name="T12" fmla="*/ 7 w 15"/>
                  <a:gd name="T13" fmla="*/ 20 h 21"/>
                  <a:gd name="T14" fmla="*/ 7 w 15"/>
                  <a:gd name="T15" fmla="*/ 19 h 21"/>
                  <a:gd name="T16" fmla="*/ 15 w 15"/>
                  <a:gd name="T17" fmla="*/ 6 h 21"/>
                  <a:gd name="T18" fmla="*/ 13 w 15"/>
                  <a:gd name="T1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21">
                    <a:moveTo>
                      <a:pt x="13" y="1"/>
                    </a:moveTo>
                    <a:cubicBezTo>
                      <a:pt x="12" y="0"/>
                      <a:pt x="10" y="0"/>
                      <a:pt x="9" y="2"/>
                    </a:cubicBezTo>
                    <a:cubicBezTo>
                      <a:pt x="8" y="2"/>
                      <a:pt x="8" y="2"/>
                      <a:pt x="8" y="2"/>
                    </a:cubicBezTo>
                    <a:cubicBezTo>
                      <a:pt x="1" y="15"/>
                      <a:pt x="1" y="15"/>
                      <a:pt x="1" y="15"/>
                    </a:cubicBezTo>
                    <a:cubicBezTo>
                      <a:pt x="0" y="17"/>
                      <a:pt x="1" y="19"/>
                      <a:pt x="2" y="20"/>
                    </a:cubicBezTo>
                    <a:cubicBezTo>
                      <a:pt x="3" y="21"/>
                      <a:pt x="3" y="21"/>
                      <a:pt x="4" y="21"/>
                    </a:cubicBezTo>
                    <a:cubicBezTo>
                      <a:pt x="5" y="21"/>
                      <a:pt x="6" y="20"/>
                      <a:pt x="7" y="20"/>
                    </a:cubicBezTo>
                    <a:cubicBezTo>
                      <a:pt x="7" y="19"/>
                      <a:pt x="7" y="19"/>
                      <a:pt x="7" y="19"/>
                    </a:cubicBezTo>
                    <a:cubicBezTo>
                      <a:pt x="15" y="6"/>
                      <a:pt x="15" y="6"/>
                      <a:pt x="15" y="6"/>
                    </a:cubicBezTo>
                    <a:cubicBezTo>
                      <a:pt x="15" y="4"/>
                      <a:pt x="15" y="2"/>
                      <a:pt x="1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86" name="îŝḷîḓé-Freeform: Shape 83"/>
              <p:cNvSpPr/>
              <p:nvPr/>
            </p:nvSpPr>
            <p:spPr bwMode="auto">
              <a:xfrm>
                <a:off x="3376613" y="1884363"/>
                <a:ext cx="36513" cy="25400"/>
              </a:xfrm>
              <a:custGeom>
                <a:avLst/>
                <a:gdLst>
                  <a:gd name="T0" fmla="*/ 3 w 21"/>
                  <a:gd name="T1" fmla="*/ 7 h 15"/>
                  <a:gd name="T2" fmla="*/ 16 w 21"/>
                  <a:gd name="T3" fmla="*/ 14 h 15"/>
                  <a:gd name="T4" fmla="*/ 17 w 21"/>
                  <a:gd name="T5" fmla="*/ 15 h 15"/>
                  <a:gd name="T6" fmla="*/ 20 w 21"/>
                  <a:gd name="T7" fmla="*/ 14 h 15"/>
                  <a:gd name="T8" fmla="*/ 20 w 21"/>
                  <a:gd name="T9" fmla="*/ 13 h 15"/>
                  <a:gd name="T10" fmla="*/ 19 w 21"/>
                  <a:gd name="T11" fmla="*/ 8 h 15"/>
                  <a:gd name="T12" fmla="*/ 6 w 21"/>
                  <a:gd name="T13" fmla="*/ 0 h 15"/>
                  <a:gd name="T14" fmla="*/ 2 w 21"/>
                  <a:gd name="T15" fmla="*/ 1 h 15"/>
                  <a:gd name="T16" fmla="*/ 1 w 21"/>
                  <a:gd name="T17" fmla="*/ 2 h 15"/>
                  <a:gd name="T18" fmla="*/ 3 w 21"/>
                  <a:gd name="T19"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5">
                    <a:moveTo>
                      <a:pt x="3" y="7"/>
                    </a:moveTo>
                    <a:cubicBezTo>
                      <a:pt x="16" y="14"/>
                      <a:pt x="16" y="14"/>
                      <a:pt x="16" y="14"/>
                    </a:cubicBezTo>
                    <a:cubicBezTo>
                      <a:pt x="16" y="14"/>
                      <a:pt x="17" y="15"/>
                      <a:pt x="17" y="15"/>
                    </a:cubicBezTo>
                    <a:cubicBezTo>
                      <a:pt x="18" y="15"/>
                      <a:pt x="19" y="14"/>
                      <a:pt x="20" y="14"/>
                    </a:cubicBezTo>
                    <a:cubicBezTo>
                      <a:pt x="20" y="13"/>
                      <a:pt x="20" y="13"/>
                      <a:pt x="20" y="13"/>
                    </a:cubicBezTo>
                    <a:cubicBezTo>
                      <a:pt x="21" y="11"/>
                      <a:pt x="21" y="9"/>
                      <a:pt x="19" y="8"/>
                    </a:cubicBezTo>
                    <a:cubicBezTo>
                      <a:pt x="6" y="0"/>
                      <a:pt x="6" y="0"/>
                      <a:pt x="6" y="0"/>
                    </a:cubicBezTo>
                    <a:cubicBezTo>
                      <a:pt x="5" y="0"/>
                      <a:pt x="3" y="0"/>
                      <a:pt x="2" y="1"/>
                    </a:cubicBezTo>
                    <a:cubicBezTo>
                      <a:pt x="1" y="2"/>
                      <a:pt x="1" y="2"/>
                      <a:pt x="1" y="2"/>
                    </a:cubicBezTo>
                    <a:cubicBezTo>
                      <a:pt x="0" y="3"/>
                      <a:pt x="1" y="6"/>
                      <a:pt x="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87" name="îŝḷîḓé-Freeform: Shape 84"/>
              <p:cNvSpPr/>
              <p:nvPr/>
            </p:nvSpPr>
            <p:spPr bwMode="auto">
              <a:xfrm>
                <a:off x="3575050" y="1982788"/>
                <a:ext cx="34925" cy="25400"/>
              </a:xfrm>
              <a:custGeom>
                <a:avLst/>
                <a:gdLst>
                  <a:gd name="T0" fmla="*/ 19 w 21"/>
                  <a:gd name="T1" fmla="*/ 8 h 15"/>
                  <a:gd name="T2" fmla="*/ 6 w 21"/>
                  <a:gd name="T3" fmla="*/ 1 h 15"/>
                  <a:gd name="T4" fmla="*/ 1 w 21"/>
                  <a:gd name="T5" fmla="*/ 1 h 15"/>
                  <a:gd name="T6" fmla="*/ 1 w 21"/>
                  <a:gd name="T7" fmla="*/ 2 h 15"/>
                  <a:gd name="T8" fmla="*/ 2 w 21"/>
                  <a:gd name="T9" fmla="*/ 7 h 15"/>
                  <a:gd name="T10" fmla="*/ 15 w 21"/>
                  <a:gd name="T11" fmla="*/ 15 h 15"/>
                  <a:gd name="T12" fmla="*/ 17 w 21"/>
                  <a:gd name="T13" fmla="*/ 15 h 15"/>
                  <a:gd name="T14" fmla="*/ 19 w 21"/>
                  <a:gd name="T15" fmla="*/ 14 h 15"/>
                  <a:gd name="T16" fmla="*/ 20 w 21"/>
                  <a:gd name="T17" fmla="*/ 13 h 15"/>
                  <a:gd name="T18" fmla="*/ 19 w 21"/>
                  <a:gd name="T1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5">
                    <a:moveTo>
                      <a:pt x="19" y="8"/>
                    </a:moveTo>
                    <a:cubicBezTo>
                      <a:pt x="6" y="1"/>
                      <a:pt x="6" y="1"/>
                      <a:pt x="6" y="1"/>
                    </a:cubicBezTo>
                    <a:cubicBezTo>
                      <a:pt x="4" y="0"/>
                      <a:pt x="3" y="0"/>
                      <a:pt x="1" y="1"/>
                    </a:cubicBezTo>
                    <a:cubicBezTo>
                      <a:pt x="1" y="2"/>
                      <a:pt x="1" y="2"/>
                      <a:pt x="1" y="2"/>
                    </a:cubicBezTo>
                    <a:cubicBezTo>
                      <a:pt x="0" y="4"/>
                      <a:pt x="0" y="6"/>
                      <a:pt x="2" y="7"/>
                    </a:cubicBezTo>
                    <a:cubicBezTo>
                      <a:pt x="15" y="15"/>
                      <a:pt x="15" y="15"/>
                      <a:pt x="15" y="15"/>
                    </a:cubicBezTo>
                    <a:cubicBezTo>
                      <a:pt x="16" y="15"/>
                      <a:pt x="16" y="15"/>
                      <a:pt x="17" y="15"/>
                    </a:cubicBezTo>
                    <a:cubicBezTo>
                      <a:pt x="18" y="15"/>
                      <a:pt x="19" y="15"/>
                      <a:pt x="19" y="14"/>
                    </a:cubicBezTo>
                    <a:cubicBezTo>
                      <a:pt x="20" y="13"/>
                      <a:pt x="20" y="13"/>
                      <a:pt x="20" y="13"/>
                    </a:cubicBezTo>
                    <a:cubicBezTo>
                      <a:pt x="21" y="12"/>
                      <a:pt x="20" y="9"/>
                      <a:pt x="19"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88" name="îŝḷîḓé-Freeform: Shape 85"/>
              <p:cNvSpPr/>
              <p:nvPr/>
            </p:nvSpPr>
            <p:spPr bwMode="auto">
              <a:xfrm>
                <a:off x="3378200" y="1985963"/>
                <a:ext cx="34925" cy="26988"/>
              </a:xfrm>
              <a:custGeom>
                <a:avLst/>
                <a:gdLst>
                  <a:gd name="T0" fmla="*/ 17 w 20"/>
                  <a:gd name="T1" fmla="*/ 0 h 15"/>
                  <a:gd name="T2" fmla="*/ 15 w 20"/>
                  <a:gd name="T3" fmla="*/ 1 h 15"/>
                  <a:gd name="T4" fmla="*/ 2 w 20"/>
                  <a:gd name="T5" fmla="*/ 8 h 15"/>
                  <a:gd name="T6" fmla="*/ 1 w 20"/>
                  <a:gd name="T7" fmla="*/ 9 h 15"/>
                  <a:gd name="T8" fmla="*/ 0 w 20"/>
                  <a:gd name="T9" fmla="*/ 13 h 15"/>
                  <a:gd name="T10" fmla="*/ 4 w 20"/>
                  <a:gd name="T11" fmla="*/ 15 h 15"/>
                  <a:gd name="T12" fmla="*/ 5 w 20"/>
                  <a:gd name="T13" fmla="*/ 14 h 15"/>
                  <a:gd name="T14" fmla="*/ 18 w 20"/>
                  <a:gd name="T15" fmla="*/ 7 h 15"/>
                  <a:gd name="T16" fmla="*/ 19 w 20"/>
                  <a:gd name="T17" fmla="*/ 6 h 15"/>
                  <a:gd name="T18" fmla="*/ 20 w 20"/>
                  <a:gd name="T19" fmla="*/ 2 h 15"/>
                  <a:gd name="T20" fmla="*/ 17 w 2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5">
                    <a:moveTo>
                      <a:pt x="17" y="0"/>
                    </a:moveTo>
                    <a:cubicBezTo>
                      <a:pt x="17" y="0"/>
                      <a:pt x="16" y="0"/>
                      <a:pt x="15" y="1"/>
                    </a:cubicBezTo>
                    <a:cubicBezTo>
                      <a:pt x="2" y="8"/>
                      <a:pt x="2" y="8"/>
                      <a:pt x="2" y="8"/>
                    </a:cubicBezTo>
                    <a:cubicBezTo>
                      <a:pt x="1" y="9"/>
                      <a:pt x="1" y="9"/>
                      <a:pt x="1" y="9"/>
                    </a:cubicBezTo>
                    <a:cubicBezTo>
                      <a:pt x="0" y="10"/>
                      <a:pt x="0" y="12"/>
                      <a:pt x="0" y="13"/>
                    </a:cubicBezTo>
                    <a:cubicBezTo>
                      <a:pt x="1" y="14"/>
                      <a:pt x="2" y="15"/>
                      <a:pt x="4" y="15"/>
                    </a:cubicBezTo>
                    <a:cubicBezTo>
                      <a:pt x="4" y="15"/>
                      <a:pt x="5" y="15"/>
                      <a:pt x="5" y="14"/>
                    </a:cubicBezTo>
                    <a:cubicBezTo>
                      <a:pt x="18" y="7"/>
                      <a:pt x="18" y="7"/>
                      <a:pt x="18" y="7"/>
                    </a:cubicBezTo>
                    <a:cubicBezTo>
                      <a:pt x="19" y="6"/>
                      <a:pt x="19" y="6"/>
                      <a:pt x="19" y="6"/>
                    </a:cubicBezTo>
                    <a:cubicBezTo>
                      <a:pt x="20" y="5"/>
                      <a:pt x="20" y="3"/>
                      <a:pt x="20" y="2"/>
                    </a:cubicBezTo>
                    <a:cubicBezTo>
                      <a:pt x="19" y="1"/>
                      <a:pt x="18" y="1"/>
                      <a:pt x="1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89" name="îŝḷîḓé-Freeform: Shape 86"/>
              <p:cNvSpPr/>
              <p:nvPr/>
            </p:nvSpPr>
            <p:spPr bwMode="auto">
              <a:xfrm>
                <a:off x="3421063" y="1835150"/>
                <a:ext cx="26988" cy="34925"/>
              </a:xfrm>
              <a:custGeom>
                <a:avLst/>
                <a:gdLst>
                  <a:gd name="T0" fmla="*/ 7 w 15"/>
                  <a:gd name="T1" fmla="*/ 2 h 20"/>
                  <a:gd name="T2" fmla="*/ 4 w 15"/>
                  <a:gd name="T3" fmla="*/ 0 h 20"/>
                  <a:gd name="T4" fmla="*/ 2 w 15"/>
                  <a:gd name="T5" fmla="*/ 1 h 20"/>
                  <a:gd name="T6" fmla="*/ 1 w 15"/>
                  <a:gd name="T7" fmla="*/ 1 h 20"/>
                  <a:gd name="T8" fmla="*/ 0 w 15"/>
                  <a:gd name="T9" fmla="*/ 6 h 20"/>
                  <a:gd name="T10" fmla="*/ 8 w 15"/>
                  <a:gd name="T11" fmla="*/ 19 h 20"/>
                  <a:gd name="T12" fmla="*/ 11 w 15"/>
                  <a:gd name="T13" fmla="*/ 20 h 20"/>
                  <a:gd name="T14" fmla="*/ 13 w 15"/>
                  <a:gd name="T15" fmla="*/ 20 h 20"/>
                  <a:gd name="T16" fmla="*/ 14 w 15"/>
                  <a:gd name="T17" fmla="*/ 19 h 20"/>
                  <a:gd name="T18" fmla="*/ 14 w 15"/>
                  <a:gd name="T19" fmla="*/ 15 h 20"/>
                  <a:gd name="T20" fmla="*/ 7 w 15"/>
                  <a:gd name="T2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20">
                    <a:moveTo>
                      <a:pt x="7" y="2"/>
                    </a:moveTo>
                    <a:cubicBezTo>
                      <a:pt x="6" y="1"/>
                      <a:pt x="5" y="1"/>
                      <a:pt x="4" y="0"/>
                    </a:cubicBezTo>
                    <a:cubicBezTo>
                      <a:pt x="4" y="0"/>
                      <a:pt x="3" y="0"/>
                      <a:pt x="2" y="1"/>
                    </a:cubicBezTo>
                    <a:cubicBezTo>
                      <a:pt x="1" y="1"/>
                      <a:pt x="1" y="1"/>
                      <a:pt x="1" y="1"/>
                    </a:cubicBezTo>
                    <a:cubicBezTo>
                      <a:pt x="0" y="2"/>
                      <a:pt x="0" y="4"/>
                      <a:pt x="0" y="6"/>
                    </a:cubicBezTo>
                    <a:cubicBezTo>
                      <a:pt x="8" y="19"/>
                      <a:pt x="8" y="19"/>
                      <a:pt x="8" y="19"/>
                    </a:cubicBezTo>
                    <a:cubicBezTo>
                      <a:pt x="9" y="20"/>
                      <a:pt x="10" y="20"/>
                      <a:pt x="11" y="20"/>
                    </a:cubicBezTo>
                    <a:cubicBezTo>
                      <a:pt x="12" y="20"/>
                      <a:pt x="12" y="20"/>
                      <a:pt x="13" y="20"/>
                    </a:cubicBezTo>
                    <a:cubicBezTo>
                      <a:pt x="14" y="19"/>
                      <a:pt x="14" y="19"/>
                      <a:pt x="14" y="19"/>
                    </a:cubicBezTo>
                    <a:cubicBezTo>
                      <a:pt x="15" y="18"/>
                      <a:pt x="15" y="16"/>
                      <a:pt x="14" y="15"/>
                    </a:cubicBezTo>
                    <a:lnTo>
                      <a:pt x="7"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90" name="îŝḷîḓé-Freeform: Shape 87"/>
              <p:cNvSpPr/>
              <p:nvPr/>
            </p:nvSpPr>
            <p:spPr bwMode="auto">
              <a:xfrm>
                <a:off x="3489325" y="1820863"/>
                <a:ext cx="12700" cy="38100"/>
              </a:xfrm>
              <a:custGeom>
                <a:avLst/>
                <a:gdLst>
                  <a:gd name="T0" fmla="*/ 3 w 7"/>
                  <a:gd name="T1" fmla="*/ 0 h 22"/>
                  <a:gd name="T2" fmla="*/ 1 w 7"/>
                  <a:gd name="T3" fmla="*/ 1 h 22"/>
                  <a:gd name="T4" fmla="*/ 0 w 7"/>
                  <a:gd name="T5" fmla="*/ 4 h 22"/>
                  <a:gd name="T6" fmla="*/ 0 w 7"/>
                  <a:gd name="T7" fmla="*/ 19 h 22"/>
                  <a:gd name="T8" fmla="*/ 3 w 7"/>
                  <a:gd name="T9" fmla="*/ 22 h 22"/>
                  <a:gd name="T10" fmla="*/ 6 w 7"/>
                  <a:gd name="T11" fmla="*/ 21 h 22"/>
                  <a:gd name="T12" fmla="*/ 7 w 7"/>
                  <a:gd name="T13" fmla="*/ 19 h 22"/>
                  <a:gd name="T14" fmla="*/ 7 w 7"/>
                  <a:gd name="T15" fmla="*/ 3 h 22"/>
                  <a:gd name="T16" fmla="*/ 3 w 7"/>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22">
                    <a:moveTo>
                      <a:pt x="3" y="0"/>
                    </a:moveTo>
                    <a:cubicBezTo>
                      <a:pt x="2" y="0"/>
                      <a:pt x="1" y="0"/>
                      <a:pt x="1" y="1"/>
                    </a:cubicBezTo>
                    <a:cubicBezTo>
                      <a:pt x="0" y="2"/>
                      <a:pt x="0" y="3"/>
                      <a:pt x="0" y="4"/>
                    </a:cubicBezTo>
                    <a:cubicBezTo>
                      <a:pt x="0" y="19"/>
                      <a:pt x="0" y="19"/>
                      <a:pt x="0" y="19"/>
                    </a:cubicBezTo>
                    <a:cubicBezTo>
                      <a:pt x="0" y="21"/>
                      <a:pt x="1" y="22"/>
                      <a:pt x="3" y="22"/>
                    </a:cubicBezTo>
                    <a:cubicBezTo>
                      <a:pt x="4" y="22"/>
                      <a:pt x="5" y="22"/>
                      <a:pt x="6" y="21"/>
                    </a:cubicBezTo>
                    <a:cubicBezTo>
                      <a:pt x="6" y="20"/>
                      <a:pt x="7" y="19"/>
                      <a:pt x="7" y="19"/>
                    </a:cubicBezTo>
                    <a:cubicBezTo>
                      <a:pt x="7" y="3"/>
                      <a:pt x="7" y="3"/>
                      <a:pt x="7" y="3"/>
                    </a:cubicBezTo>
                    <a:cubicBezTo>
                      <a:pt x="7" y="2"/>
                      <a:pt x="5"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91" name="îŝḷîḓé-Freeform: Shape 88"/>
              <p:cNvSpPr/>
              <p:nvPr/>
            </p:nvSpPr>
            <p:spPr bwMode="auto">
              <a:xfrm>
                <a:off x="3371850" y="1943100"/>
                <a:ext cx="38100" cy="11113"/>
              </a:xfrm>
              <a:custGeom>
                <a:avLst/>
                <a:gdLst>
                  <a:gd name="T0" fmla="*/ 21 w 22"/>
                  <a:gd name="T1" fmla="*/ 6 h 7"/>
                  <a:gd name="T2" fmla="*/ 22 w 22"/>
                  <a:gd name="T3" fmla="*/ 4 h 7"/>
                  <a:gd name="T4" fmla="*/ 21 w 22"/>
                  <a:gd name="T5" fmla="*/ 1 h 7"/>
                  <a:gd name="T6" fmla="*/ 19 w 22"/>
                  <a:gd name="T7" fmla="*/ 0 h 7"/>
                  <a:gd name="T8" fmla="*/ 4 w 22"/>
                  <a:gd name="T9" fmla="*/ 0 h 7"/>
                  <a:gd name="T10" fmla="*/ 1 w 22"/>
                  <a:gd name="T11" fmla="*/ 1 h 7"/>
                  <a:gd name="T12" fmla="*/ 0 w 22"/>
                  <a:gd name="T13" fmla="*/ 4 h 7"/>
                  <a:gd name="T14" fmla="*/ 4 w 22"/>
                  <a:gd name="T15" fmla="*/ 7 h 7"/>
                  <a:gd name="T16" fmla="*/ 19 w 22"/>
                  <a:gd name="T17" fmla="*/ 7 h 7"/>
                  <a:gd name="T18" fmla="*/ 21 w 22"/>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7">
                    <a:moveTo>
                      <a:pt x="21" y="6"/>
                    </a:moveTo>
                    <a:cubicBezTo>
                      <a:pt x="22" y="5"/>
                      <a:pt x="22" y="5"/>
                      <a:pt x="22" y="4"/>
                    </a:cubicBezTo>
                    <a:cubicBezTo>
                      <a:pt x="22" y="3"/>
                      <a:pt x="22" y="2"/>
                      <a:pt x="21" y="1"/>
                    </a:cubicBezTo>
                    <a:cubicBezTo>
                      <a:pt x="20" y="0"/>
                      <a:pt x="20" y="0"/>
                      <a:pt x="19" y="0"/>
                    </a:cubicBezTo>
                    <a:cubicBezTo>
                      <a:pt x="4" y="0"/>
                      <a:pt x="4" y="0"/>
                      <a:pt x="4" y="0"/>
                    </a:cubicBezTo>
                    <a:cubicBezTo>
                      <a:pt x="3" y="0"/>
                      <a:pt x="2" y="0"/>
                      <a:pt x="1" y="1"/>
                    </a:cubicBezTo>
                    <a:cubicBezTo>
                      <a:pt x="0" y="2"/>
                      <a:pt x="0" y="3"/>
                      <a:pt x="0" y="4"/>
                    </a:cubicBezTo>
                    <a:cubicBezTo>
                      <a:pt x="0" y="6"/>
                      <a:pt x="2" y="7"/>
                      <a:pt x="4" y="7"/>
                    </a:cubicBezTo>
                    <a:cubicBezTo>
                      <a:pt x="19" y="7"/>
                      <a:pt x="19" y="7"/>
                      <a:pt x="19" y="7"/>
                    </a:cubicBezTo>
                    <a:cubicBezTo>
                      <a:pt x="20" y="7"/>
                      <a:pt x="20" y="7"/>
                      <a:pt x="21"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92" name="îŝḷîḓé-Freeform: Shape 89"/>
              <p:cNvSpPr/>
              <p:nvPr/>
            </p:nvSpPr>
            <p:spPr bwMode="auto">
              <a:xfrm>
                <a:off x="3467100" y="2044700"/>
                <a:ext cx="58738" cy="15875"/>
              </a:xfrm>
              <a:custGeom>
                <a:avLst/>
                <a:gdLst>
                  <a:gd name="T0" fmla="*/ 34 w 34"/>
                  <a:gd name="T1" fmla="*/ 3 h 9"/>
                  <a:gd name="T2" fmla="*/ 30 w 34"/>
                  <a:gd name="T3" fmla="*/ 7 h 9"/>
                  <a:gd name="T4" fmla="*/ 3 w 34"/>
                  <a:gd name="T5" fmla="*/ 7 h 9"/>
                  <a:gd name="T6" fmla="*/ 0 w 34"/>
                  <a:gd name="T7" fmla="*/ 3 h 9"/>
                  <a:gd name="T8" fmla="*/ 5 w 34"/>
                  <a:gd name="T9" fmla="*/ 0 h 9"/>
                  <a:gd name="T10" fmla="*/ 29 w 34"/>
                  <a:gd name="T11" fmla="*/ 0 h 9"/>
                  <a:gd name="T12" fmla="*/ 34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4" y="3"/>
                    </a:moveTo>
                    <a:cubicBezTo>
                      <a:pt x="34" y="5"/>
                      <a:pt x="33" y="7"/>
                      <a:pt x="30" y="7"/>
                    </a:cubicBezTo>
                    <a:cubicBezTo>
                      <a:pt x="22" y="9"/>
                      <a:pt x="12" y="9"/>
                      <a:pt x="3" y="7"/>
                    </a:cubicBezTo>
                    <a:cubicBezTo>
                      <a:pt x="1" y="7"/>
                      <a:pt x="0" y="5"/>
                      <a:pt x="0" y="3"/>
                    </a:cubicBezTo>
                    <a:cubicBezTo>
                      <a:pt x="1" y="1"/>
                      <a:pt x="3" y="0"/>
                      <a:pt x="5" y="0"/>
                    </a:cubicBezTo>
                    <a:cubicBezTo>
                      <a:pt x="13" y="1"/>
                      <a:pt x="21" y="1"/>
                      <a:pt x="29" y="0"/>
                    </a:cubicBezTo>
                    <a:cubicBezTo>
                      <a:pt x="31" y="0"/>
                      <a:pt x="33" y="1"/>
                      <a:pt x="3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93" name="îŝḷîḓé-Freeform: Shape 90"/>
              <p:cNvSpPr/>
              <p:nvPr/>
            </p:nvSpPr>
            <p:spPr bwMode="auto">
              <a:xfrm>
                <a:off x="3465513" y="2058988"/>
                <a:ext cx="58738" cy="15875"/>
              </a:xfrm>
              <a:custGeom>
                <a:avLst/>
                <a:gdLst>
                  <a:gd name="T0" fmla="*/ 34 w 34"/>
                  <a:gd name="T1" fmla="*/ 3 h 9"/>
                  <a:gd name="T2" fmla="*/ 31 w 34"/>
                  <a:gd name="T3" fmla="*/ 7 h 9"/>
                  <a:gd name="T4" fmla="*/ 4 w 34"/>
                  <a:gd name="T5" fmla="*/ 7 h 9"/>
                  <a:gd name="T6" fmla="*/ 1 w 34"/>
                  <a:gd name="T7" fmla="*/ 3 h 9"/>
                  <a:gd name="T8" fmla="*/ 5 w 34"/>
                  <a:gd name="T9" fmla="*/ 0 h 9"/>
                  <a:gd name="T10" fmla="*/ 30 w 34"/>
                  <a:gd name="T11" fmla="*/ 0 h 9"/>
                  <a:gd name="T12" fmla="*/ 34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4" y="3"/>
                    </a:moveTo>
                    <a:cubicBezTo>
                      <a:pt x="34" y="5"/>
                      <a:pt x="33" y="7"/>
                      <a:pt x="31" y="7"/>
                    </a:cubicBezTo>
                    <a:cubicBezTo>
                      <a:pt x="22" y="9"/>
                      <a:pt x="13" y="9"/>
                      <a:pt x="4" y="7"/>
                    </a:cubicBezTo>
                    <a:cubicBezTo>
                      <a:pt x="2" y="7"/>
                      <a:pt x="0" y="5"/>
                      <a:pt x="1" y="3"/>
                    </a:cubicBezTo>
                    <a:cubicBezTo>
                      <a:pt x="1" y="1"/>
                      <a:pt x="3" y="0"/>
                      <a:pt x="5" y="0"/>
                    </a:cubicBezTo>
                    <a:cubicBezTo>
                      <a:pt x="13" y="2"/>
                      <a:pt x="22" y="2"/>
                      <a:pt x="30" y="0"/>
                    </a:cubicBezTo>
                    <a:cubicBezTo>
                      <a:pt x="32" y="0"/>
                      <a:pt x="34" y="1"/>
                      <a:pt x="3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94" name="îŝḷîḓé-Freeform: Shape 91"/>
              <p:cNvSpPr/>
              <p:nvPr/>
            </p:nvSpPr>
            <p:spPr bwMode="auto">
              <a:xfrm>
                <a:off x="3465513" y="2073275"/>
                <a:ext cx="58738" cy="15875"/>
              </a:xfrm>
              <a:custGeom>
                <a:avLst/>
                <a:gdLst>
                  <a:gd name="T0" fmla="*/ 34 w 34"/>
                  <a:gd name="T1" fmla="*/ 3 h 9"/>
                  <a:gd name="T2" fmla="*/ 31 w 34"/>
                  <a:gd name="T3" fmla="*/ 7 h 9"/>
                  <a:gd name="T4" fmla="*/ 4 w 34"/>
                  <a:gd name="T5" fmla="*/ 7 h 9"/>
                  <a:gd name="T6" fmla="*/ 1 w 34"/>
                  <a:gd name="T7" fmla="*/ 3 h 9"/>
                  <a:gd name="T8" fmla="*/ 5 w 34"/>
                  <a:gd name="T9" fmla="*/ 0 h 9"/>
                  <a:gd name="T10" fmla="*/ 30 w 34"/>
                  <a:gd name="T11" fmla="*/ 0 h 9"/>
                  <a:gd name="T12" fmla="*/ 34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4" y="3"/>
                    </a:moveTo>
                    <a:cubicBezTo>
                      <a:pt x="34" y="5"/>
                      <a:pt x="33" y="7"/>
                      <a:pt x="31" y="7"/>
                    </a:cubicBezTo>
                    <a:cubicBezTo>
                      <a:pt x="22" y="9"/>
                      <a:pt x="13" y="9"/>
                      <a:pt x="4" y="7"/>
                    </a:cubicBezTo>
                    <a:cubicBezTo>
                      <a:pt x="2" y="7"/>
                      <a:pt x="0" y="5"/>
                      <a:pt x="1" y="3"/>
                    </a:cubicBezTo>
                    <a:cubicBezTo>
                      <a:pt x="1" y="1"/>
                      <a:pt x="3" y="0"/>
                      <a:pt x="5" y="0"/>
                    </a:cubicBezTo>
                    <a:cubicBezTo>
                      <a:pt x="13" y="2"/>
                      <a:pt x="22" y="2"/>
                      <a:pt x="30" y="0"/>
                    </a:cubicBezTo>
                    <a:cubicBezTo>
                      <a:pt x="32" y="0"/>
                      <a:pt x="34" y="1"/>
                      <a:pt x="3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95" name="îŝḷîḓé-Freeform: Shape 92"/>
              <p:cNvSpPr/>
              <p:nvPr/>
            </p:nvSpPr>
            <p:spPr bwMode="auto">
              <a:xfrm>
                <a:off x="3478213" y="2084388"/>
                <a:ext cx="33338" cy="11113"/>
              </a:xfrm>
              <a:custGeom>
                <a:avLst/>
                <a:gdLst>
                  <a:gd name="T0" fmla="*/ 19 w 19"/>
                  <a:gd name="T1" fmla="*/ 2 h 6"/>
                  <a:gd name="T2" fmla="*/ 17 w 19"/>
                  <a:gd name="T3" fmla="*/ 5 h 6"/>
                  <a:gd name="T4" fmla="*/ 2 w 19"/>
                  <a:gd name="T5" fmla="*/ 5 h 6"/>
                  <a:gd name="T6" fmla="*/ 0 w 19"/>
                  <a:gd name="T7" fmla="*/ 2 h 6"/>
                  <a:gd name="T8" fmla="*/ 2 w 19"/>
                  <a:gd name="T9" fmla="*/ 0 h 6"/>
                  <a:gd name="T10" fmla="*/ 16 w 19"/>
                  <a:gd name="T11" fmla="*/ 0 h 6"/>
                  <a:gd name="T12" fmla="*/ 19 w 19"/>
                  <a:gd name="T13" fmla="*/ 2 h 6"/>
                </a:gdLst>
                <a:ahLst/>
                <a:cxnLst>
                  <a:cxn ang="0">
                    <a:pos x="T0" y="T1"/>
                  </a:cxn>
                  <a:cxn ang="0">
                    <a:pos x="T2" y="T3"/>
                  </a:cxn>
                  <a:cxn ang="0">
                    <a:pos x="T4" y="T5"/>
                  </a:cxn>
                  <a:cxn ang="0">
                    <a:pos x="T6" y="T7"/>
                  </a:cxn>
                  <a:cxn ang="0">
                    <a:pos x="T8" y="T9"/>
                  </a:cxn>
                  <a:cxn ang="0">
                    <a:pos x="T10" y="T11"/>
                  </a:cxn>
                  <a:cxn ang="0">
                    <a:pos x="T12" y="T13"/>
                  </a:cxn>
                </a:cxnLst>
                <a:rect l="0" t="0" r="r" b="b"/>
                <a:pathLst>
                  <a:path w="19" h="6">
                    <a:moveTo>
                      <a:pt x="19" y="2"/>
                    </a:moveTo>
                    <a:cubicBezTo>
                      <a:pt x="19" y="3"/>
                      <a:pt x="18" y="5"/>
                      <a:pt x="17" y="5"/>
                    </a:cubicBezTo>
                    <a:cubicBezTo>
                      <a:pt x="12" y="6"/>
                      <a:pt x="7" y="6"/>
                      <a:pt x="2" y="5"/>
                    </a:cubicBezTo>
                    <a:cubicBezTo>
                      <a:pt x="0" y="5"/>
                      <a:pt x="0" y="3"/>
                      <a:pt x="0" y="2"/>
                    </a:cubicBezTo>
                    <a:cubicBezTo>
                      <a:pt x="0" y="1"/>
                      <a:pt x="1" y="0"/>
                      <a:pt x="2" y="0"/>
                    </a:cubicBezTo>
                    <a:cubicBezTo>
                      <a:pt x="7" y="1"/>
                      <a:pt x="12" y="1"/>
                      <a:pt x="16" y="0"/>
                    </a:cubicBezTo>
                    <a:cubicBezTo>
                      <a:pt x="18" y="0"/>
                      <a:pt x="19" y="1"/>
                      <a:pt x="1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96" name="îŝḷîḓé-Freeform: Shape 93"/>
              <p:cNvSpPr/>
              <p:nvPr/>
            </p:nvSpPr>
            <p:spPr bwMode="auto">
              <a:xfrm>
                <a:off x="3417888" y="1866900"/>
                <a:ext cx="157163" cy="179388"/>
              </a:xfrm>
              <a:custGeom>
                <a:avLst/>
                <a:gdLst>
                  <a:gd name="T0" fmla="*/ 45 w 90"/>
                  <a:gd name="T1" fmla="*/ 0 h 104"/>
                  <a:gd name="T2" fmla="*/ 0 w 90"/>
                  <a:gd name="T3" fmla="*/ 45 h 104"/>
                  <a:gd name="T4" fmla="*/ 27 w 90"/>
                  <a:gd name="T5" fmla="*/ 99 h 104"/>
                  <a:gd name="T6" fmla="*/ 63 w 90"/>
                  <a:gd name="T7" fmla="*/ 99 h 104"/>
                  <a:gd name="T8" fmla="*/ 90 w 90"/>
                  <a:gd name="T9" fmla="*/ 45 h 104"/>
                  <a:gd name="T10" fmla="*/ 45 w 90"/>
                  <a:gd name="T11" fmla="*/ 0 h 104"/>
                  <a:gd name="T12" fmla="*/ 76 w 90"/>
                  <a:gd name="T13" fmla="*/ 40 h 104"/>
                  <a:gd name="T14" fmla="*/ 76 w 90"/>
                  <a:gd name="T15" fmla="*/ 40 h 104"/>
                  <a:gd name="T16" fmla="*/ 63 w 90"/>
                  <a:gd name="T17" fmla="*/ 20 h 104"/>
                  <a:gd name="T18" fmla="*/ 61 w 90"/>
                  <a:gd name="T19" fmla="*/ 15 h 104"/>
                  <a:gd name="T20" fmla="*/ 66 w 90"/>
                  <a:gd name="T21" fmla="*/ 14 h 104"/>
                  <a:gd name="T22" fmla="*/ 83 w 90"/>
                  <a:gd name="T23" fmla="*/ 36 h 104"/>
                  <a:gd name="T24" fmla="*/ 80 w 90"/>
                  <a:gd name="T25" fmla="*/ 42 h 104"/>
                  <a:gd name="T26" fmla="*/ 76 w 90"/>
                  <a:gd name="T27" fmla="*/ 4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04">
                    <a:moveTo>
                      <a:pt x="45" y="0"/>
                    </a:moveTo>
                    <a:cubicBezTo>
                      <a:pt x="20" y="0"/>
                      <a:pt x="0" y="20"/>
                      <a:pt x="0" y="45"/>
                    </a:cubicBezTo>
                    <a:cubicBezTo>
                      <a:pt x="0" y="64"/>
                      <a:pt x="20" y="84"/>
                      <a:pt x="27" y="99"/>
                    </a:cubicBezTo>
                    <a:cubicBezTo>
                      <a:pt x="29" y="103"/>
                      <a:pt x="62" y="104"/>
                      <a:pt x="63" y="99"/>
                    </a:cubicBezTo>
                    <a:cubicBezTo>
                      <a:pt x="68" y="88"/>
                      <a:pt x="90" y="64"/>
                      <a:pt x="90" y="45"/>
                    </a:cubicBezTo>
                    <a:cubicBezTo>
                      <a:pt x="90" y="20"/>
                      <a:pt x="70" y="0"/>
                      <a:pt x="45" y="0"/>
                    </a:cubicBezTo>
                    <a:close/>
                    <a:moveTo>
                      <a:pt x="76" y="40"/>
                    </a:moveTo>
                    <a:cubicBezTo>
                      <a:pt x="76" y="40"/>
                      <a:pt x="76" y="40"/>
                      <a:pt x="76" y="40"/>
                    </a:cubicBezTo>
                    <a:cubicBezTo>
                      <a:pt x="74" y="31"/>
                      <a:pt x="69" y="24"/>
                      <a:pt x="63" y="20"/>
                    </a:cubicBezTo>
                    <a:cubicBezTo>
                      <a:pt x="61" y="19"/>
                      <a:pt x="61" y="17"/>
                      <a:pt x="61" y="15"/>
                    </a:cubicBezTo>
                    <a:cubicBezTo>
                      <a:pt x="62" y="14"/>
                      <a:pt x="64" y="13"/>
                      <a:pt x="66" y="14"/>
                    </a:cubicBezTo>
                    <a:cubicBezTo>
                      <a:pt x="73" y="18"/>
                      <a:pt x="80" y="25"/>
                      <a:pt x="83" y="36"/>
                    </a:cubicBezTo>
                    <a:cubicBezTo>
                      <a:pt x="83" y="38"/>
                      <a:pt x="82" y="41"/>
                      <a:pt x="80" y="42"/>
                    </a:cubicBezTo>
                    <a:cubicBezTo>
                      <a:pt x="79" y="43"/>
                      <a:pt x="77" y="42"/>
                      <a:pt x="76"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grpSp>
        <p:grpSp>
          <p:nvGrpSpPr>
            <p:cNvPr id="66" name="Group 94"/>
            <p:cNvGrpSpPr/>
            <p:nvPr/>
          </p:nvGrpSpPr>
          <p:grpSpPr>
            <a:xfrm>
              <a:off x="7067967" y="2252862"/>
              <a:ext cx="742970" cy="722100"/>
              <a:chOff x="4713288" y="2643188"/>
              <a:chExt cx="282575" cy="274638"/>
            </a:xfrm>
            <a:solidFill>
              <a:sysClr val="window" lastClr="FFFFFF"/>
            </a:solidFill>
          </p:grpSpPr>
          <p:sp>
            <p:nvSpPr>
              <p:cNvPr id="79" name="îŝḷîḓé-Freeform: Shape 95"/>
              <p:cNvSpPr/>
              <p:nvPr/>
            </p:nvSpPr>
            <p:spPr bwMode="auto">
              <a:xfrm>
                <a:off x="4805363" y="2643188"/>
                <a:ext cx="190500" cy="187325"/>
              </a:xfrm>
              <a:custGeom>
                <a:avLst/>
                <a:gdLst>
                  <a:gd name="T0" fmla="*/ 55 w 110"/>
                  <a:gd name="T1" fmla="*/ 16 h 108"/>
                  <a:gd name="T2" fmla="*/ 92 w 110"/>
                  <a:gd name="T3" fmla="*/ 54 h 108"/>
                  <a:gd name="T4" fmla="*/ 55 w 110"/>
                  <a:gd name="T5" fmla="*/ 92 h 108"/>
                  <a:gd name="T6" fmla="*/ 17 w 110"/>
                  <a:gd name="T7" fmla="*/ 54 h 108"/>
                  <a:gd name="T8" fmla="*/ 55 w 110"/>
                  <a:gd name="T9" fmla="*/ 16 h 108"/>
                  <a:gd name="T10" fmla="*/ 90 w 110"/>
                  <a:gd name="T11" fmla="*/ 19 h 108"/>
                  <a:gd name="T12" fmla="*/ 19 w 110"/>
                  <a:gd name="T13" fmla="*/ 19 h 108"/>
                  <a:gd name="T14" fmla="*/ 19 w 110"/>
                  <a:gd name="T15" fmla="*/ 89 h 108"/>
                  <a:gd name="T16" fmla="*/ 90 w 110"/>
                  <a:gd name="T17" fmla="*/ 89 h 108"/>
                  <a:gd name="T18" fmla="*/ 90 w 110"/>
                  <a:gd name="T19" fmla="*/ 1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08">
                    <a:moveTo>
                      <a:pt x="55" y="16"/>
                    </a:moveTo>
                    <a:cubicBezTo>
                      <a:pt x="76" y="16"/>
                      <a:pt x="92" y="33"/>
                      <a:pt x="92" y="54"/>
                    </a:cubicBezTo>
                    <a:cubicBezTo>
                      <a:pt x="92" y="75"/>
                      <a:pt x="76" y="92"/>
                      <a:pt x="55" y="92"/>
                    </a:cubicBezTo>
                    <a:cubicBezTo>
                      <a:pt x="34" y="92"/>
                      <a:pt x="17" y="75"/>
                      <a:pt x="17" y="54"/>
                    </a:cubicBezTo>
                    <a:cubicBezTo>
                      <a:pt x="17" y="33"/>
                      <a:pt x="34" y="16"/>
                      <a:pt x="55" y="16"/>
                    </a:cubicBezTo>
                    <a:close/>
                    <a:moveTo>
                      <a:pt x="90" y="19"/>
                    </a:moveTo>
                    <a:cubicBezTo>
                      <a:pt x="71" y="0"/>
                      <a:pt x="39" y="0"/>
                      <a:pt x="19" y="19"/>
                    </a:cubicBezTo>
                    <a:cubicBezTo>
                      <a:pt x="0" y="38"/>
                      <a:pt x="0" y="70"/>
                      <a:pt x="19" y="89"/>
                    </a:cubicBezTo>
                    <a:cubicBezTo>
                      <a:pt x="39" y="108"/>
                      <a:pt x="71" y="108"/>
                      <a:pt x="90" y="89"/>
                    </a:cubicBezTo>
                    <a:cubicBezTo>
                      <a:pt x="110" y="70"/>
                      <a:pt x="110" y="38"/>
                      <a:pt x="9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80" name="îŝḷîḓé-Freeform: Shape 96"/>
              <p:cNvSpPr/>
              <p:nvPr/>
            </p:nvSpPr>
            <p:spPr bwMode="auto">
              <a:xfrm>
                <a:off x="4803775" y="2790825"/>
                <a:ext cx="39688" cy="39688"/>
              </a:xfrm>
              <a:custGeom>
                <a:avLst/>
                <a:gdLst>
                  <a:gd name="T0" fmla="*/ 12 w 23"/>
                  <a:gd name="T1" fmla="*/ 23 h 23"/>
                  <a:gd name="T2" fmla="*/ 23 w 23"/>
                  <a:gd name="T3" fmla="*/ 12 h 23"/>
                  <a:gd name="T4" fmla="*/ 17 w 23"/>
                  <a:gd name="T5" fmla="*/ 7 h 23"/>
                  <a:gd name="T6" fmla="*/ 11 w 23"/>
                  <a:gd name="T7" fmla="*/ 0 h 23"/>
                  <a:gd name="T8" fmla="*/ 0 w 23"/>
                  <a:gd name="T9" fmla="*/ 11 h 23"/>
                  <a:gd name="T10" fmla="*/ 12 w 23"/>
                  <a:gd name="T11" fmla="*/ 23 h 23"/>
                </a:gdLst>
                <a:ahLst/>
                <a:cxnLst>
                  <a:cxn ang="0">
                    <a:pos x="T0" y="T1"/>
                  </a:cxn>
                  <a:cxn ang="0">
                    <a:pos x="T2" y="T3"/>
                  </a:cxn>
                  <a:cxn ang="0">
                    <a:pos x="T4" y="T5"/>
                  </a:cxn>
                  <a:cxn ang="0">
                    <a:pos x="T6" y="T7"/>
                  </a:cxn>
                  <a:cxn ang="0">
                    <a:pos x="T8" y="T9"/>
                  </a:cxn>
                  <a:cxn ang="0">
                    <a:pos x="T10" y="T11"/>
                  </a:cxn>
                </a:cxnLst>
                <a:rect l="0" t="0" r="r" b="b"/>
                <a:pathLst>
                  <a:path w="23" h="23">
                    <a:moveTo>
                      <a:pt x="12" y="23"/>
                    </a:moveTo>
                    <a:cubicBezTo>
                      <a:pt x="23" y="12"/>
                      <a:pt x="23" y="12"/>
                      <a:pt x="23" y="12"/>
                    </a:cubicBezTo>
                    <a:cubicBezTo>
                      <a:pt x="21" y="11"/>
                      <a:pt x="19" y="9"/>
                      <a:pt x="17" y="7"/>
                    </a:cubicBezTo>
                    <a:cubicBezTo>
                      <a:pt x="15" y="5"/>
                      <a:pt x="13" y="2"/>
                      <a:pt x="11" y="0"/>
                    </a:cubicBezTo>
                    <a:cubicBezTo>
                      <a:pt x="0" y="11"/>
                      <a:pt x="0" y="11"/>
                      <a:pt x="0" y="11"/>
                    </a:cubicBezTo>
                    <a:lnTo>
                      <a:pt x="12" y="2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81" name="îŝḷîḓé-Freeform: Shape 97"/>
              <p:cNvSpPr/>
              <p:nvPr/>
            </p:nvSpPr>
            <p:spPr bwMode="auto">
              <a:xfrm>
                <a:off x="4713288" y="2811463"/>
                <a:ext cx="109538" cy="106363"/>
              </a:xfrm>
              <a:custGeom>
                <a:avLst/>
                <a:gdLst>
                  <a:gd name="T0" fmla="*/ 4 w 63"/>
                  <a:gd name="T1" fmla="*/ 43 h 61"/>
                  <a:gd name="T2" fmla="*/ 4 w 63"/>
                  <a:gd name="T3" fmla="*/ 57 h 61"/>
                  <a:gd name="T4" fmla="*/ 19 w 63"/>
                  <a:gd name="T5" fmla="*/ 57 h 61"/>
                  <a:gd name="T6" fmla="*/ 63 w 63"/>
                  <a:gd name="T7" fmla="*/ 14 h 61"/>
                  <a:gd name="T8" fmla="*/ 48 w 63"/>
                  <a:gd name="T9" fmla="*/ 0 h 61"/>
                  <a:gd name="T10" fmla="*/ 4 w 63"/>
                  <a:gd name="T11" fmla="*/ 43 h 61"/>
                </a:gdLst>
                <a:ahLst/>
                <a:cxnLst>
                  <a:cxn ang="0">
                    <a:pos x="T0" y="T1"/>
                  </a:cxn>
                  <a:cxn ang="0">
                    <a:pos x="T2" y="T3"/>
                  </a:cxn>
                  <a:cxn ang="0">
                    <a:pos x="T4" y="T5"/>
                  </a:cxn>
                  <a:cxn ang="0">
                    <a:pos x="T6" y="T7"/>
                  </a:cxn>
                  <a:cxn ang="0">
                    <a:pos x="T8" y="T9"/>
                  </a:cxn>
                  <a:cxn ang="0">
                    <a:pos x="T10" y="T11"/>
                  </a:cxn>
                </a:cxnLst>
                <a:rect l="0" t="0" r="r" b="b"/>
                <a:pathLst>
                  <a:path w="63" h="61">
                    <a:moveTo>
                      <a:pt x="4" y="43"/>
                    </a:moveTo>
                    <a:cubicBezTo>
                      <a:pt x="0" y="47"/>
                      <a:pt x="0" y="53"/>
                      <a:pt x="4" y="57"/>
                    </a:cubicBezTo>
                    <a:cubicBezTo>
                      <a:pt x="8" y="61"/>
                      <a:pt x="15" y="61"/>
                      <a:pt x="19" y="57"/>
                    </a:cubicBezTo>
                    <a:cubicBezTo>
                      <a:pt x="63" y="14"/>
                      <a:pt x="63" y="14"/>
                      <a:pt x="63" y="14"/>
                    </a:cubicBezTo>
                    <a:cubicBezTo>
                      <a:pt x="48" y="0"/>
                      <a:pt x="48" y="0"/>
                      <a:pt x="48" y="0"/>
                    </a:cubicBezTo>
                    <a:lnTo>
                      <a:pt x="4" y="4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sp>
            <p:nvSpPr>
              <p:cNvPr id="82" name="îŝḷîḓé-Freeform: Shape 110"/>
              <p:cNvSpPr/>
              <p:nvPr/>
            </p:nvSpPr>
            <p:spPr bwMode="auto">
              <a:xfrm>
                <a:off x="4881563" y="2757488"/>
                <a:ext cx="63500" cy="33338"/>
              </a:xfrm>
              <a:custGeom>
                <a:avLst/>
                <a:gdLst>
                  <a:gd name="T0" fmla="*/ 14 w 37"/>
                  <a:gd name="T1" fmla="*/ 19 h 19"/>
                  <a:gd name="T2" fmla="*/ 3 w 37"/>
                  <a:gd name="T3" fmla="*/ 17 h 19"/>
                  <a:gd name="T4" fmla="*/ 3 w 37"/>
                  <a:gd name="T5" fmla="*/ 17 h 19"/>
                  <a:gd name="T6" fmla="*/ 1 w 37"/>
                  <a:gd name="T7" fmla="*/ 12 h 19"/>
                  <a:gd name="T8" fmla="*/ 5 w 37"/>
                  <a:gd name="T9" fmla="*/ 10 h 19"/>
                  <a:gd name="T10" fmla="*/ 14 w 37"/>
                  <a:gd name="T11" fmla="*/ 12 h 19"/>
                  <a:gd name="T12" fmla="*/ 30 w 37"/>
                  <a:gd name="T13" fmla="*/ 2 h 19"/>
                  <a:gd name="T14" fmla="*/ 34 w 37"/>
                  <a:gd name="T15" fmla="*/ 0 h 19"/>
                  <a:gd name="T16" fmla="*/ 36 w 37"/>
                  <a:gd name="T17" fmla="*/ 5 h 19"/>
                  <a:gd name="T18" fmla="*/ 14 w 37"/>
                  <a:gd name="T1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9">
                    <a:moveTo>
                      <a:pt x="14" y="19"/>
                    </a:moveTo>
                    <a:cubicBezTo>
                      <a:pt x="10" y="19"/>
                      <a:pt x="7" y="18"/>
                      <a:pt x="3" y="17"/>
                    </a:cubicBezTo>
                    <a:cubicBezTo>
                      <a:pt x="3" y="17"/>
                      <a:pt x="3" y="17"/>
                      <a:pt x="3" y="17"/>
                    </a:cubicBezTo>
                    <a:cubicBezTo>
                      <a:pt x="1" y="16"/>
                      <a:pt x="0" y="14"/>
                      <a:pt x="1" y="12"/>
                    </a:cubicBezTo>
                    <a:cubicBezTo>
                      <a:pt x="2" y="11"/>
                      <a:pt x="4" y="10"/>
                      <a:pt x="5" y="10"/>
                    </a:cubicBezTo>
                    <a:cubicBezTo>
                      <a:pt x="8" y="12"/>
                      <a:pt x="11" y="12"/>
                      <a:pt x="14" y="12"/>
                    </a:cubicBezTo>
                    <a:cubicBezTo>
                      <a:pt x="21" y="12"/>
                      <a:pt x="28" y="8"/>
                      <a:pt x="30" y="2"/>
                    </a:cubicBezTo>
                    <a:cubicBezTo>
                      <a:pt x="31" y="0"/>
                      <a:pt x="33" y="0"/>
                      <a:pt x="34" y="0"/>
                    </a:cubicBezTo>
                    <a:cubicBezTo>
                      <a:pt x="36" y="1"/>
                      <a:pt x="37" y="3"/>
                      <a:pt x="36" y="5"/>
                    </a:cubicBezTo>
                    <a:cubicBezTo>
                      <a:pt x="33" y="14"/>
                      <a:pt x="24" y="19"/>
                      <a:pt x="14"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cs"/>
                  <a:sym typeface="Arial" panose="020B0604020202020204" pitchFamily="34" charset="0"/>
                </a:endParaRPr>
              </a:p>
            </p:txBody>
          </p:sp>
        </p:grpSp>
        <p:grpSp>
          <p:nvGrpSpPr>
            <p:cNvPr id="81934" name="Group 4"/>
            <p:cNvGrpSpPr/>
            <p:nvPr/>
          </p:nvGrpSpPr>
          <p:grpSpPr>
            <a:xfrm>
              <a:off x="8234082" y="4438060"/>
              <a:ext cx="2445432" cy="1600875"/>
              <a:chOff x="8536589" y="4170845"/>
              <a:chExt cx="2445432" cy="1600875"/>
            </a:xfrm>
          </p:grpSpPr>
          <p:sp>
            <p:nvSpPr>
              <p:cNvPr id="77" name="îŝḷîḓé-TextBox 48"/>
              <p:cNvSpPr txBox="1"/>
              <p:nvPr/>
            </p:nvSpPr>
            <p:spPr bwMode="auto">
              <a:xfrm>
                <a:off x="8537150" y="4171491"/>
                <a:ext cx="1520900" cy="246066"/>
              </a:xfrm>
              <a:prstGeom prst="rect">
                <a:avLst/>
              </a:prstGeom>
              <a:noFill/>
            </p:spPr>
            <p:txBody>
              <a:bodyPr wrap="none" lIns="144000" tIns="0" rIns="144000" bIns="0"/>
              <a:lstStyle/>
              <a:p>
                <a:pPr marR="0" defTabSz="914400" eaLnBrk="1" fontAlgn="auto" hangingPunct="1">
                  <a:spcBef>
                    <a:spcPts val="0"/>
                  </a:spcBef>
                  <a:spcAft>
                    <a:spcPts val="0"/>
                  </a:spcAft>
                  <a:buClrTx/>
                  <a:buSzTx/>
                  <a:buFontTx/>
                  <a:buNone/>
                  <a:defRPr/>
                </a:pPr>
                <a:r>
                  <a:rPr kumimoji="0" lang="zh-CN" altLang="en-US" sz="2400" b="0" kern="0" cap="none" spc="0" normalizeH="0" baseline="0" noProof="0" dirty="0">
                    <a:solidFill>
                      <a:srgbClr val="8064A2"/>
                    </a:solidFill>
                    <a:latin typeface="Arial" panose="020B0604020202020204" pitchFamily="34" charset="0"/>
                    <a:ea typeface="微软雅黑" panose="020B0503020204020204" pitchFamily="34" charset="-122"/>
                    <a:cs typeface="+mn-cs"/>
                    <a:sym typeface="Arial" panose="020B0604020202020204" pitchFamily="34" charset="0"/>
                  </a:rPr>
                  <a:t>线索化</a:t>
                </a:r>
              </a:p>
            </p:txBody>
          </p:sp>
          <p:sp>
            <p:nvSpPr>
              <p:cNvPr id="78" name="îŝḷîḓé-TextBox 49"/>
              <p:cNvSpPr txBox="1"/>
              <p:nvPr/>
            </p:nvSpPr>
            <p:spPr bwMode="auto">
              <a:xfrm>
                <a:off x="8562551" y="4563610"/>
                <a:ext cx="2419470" cy="1208110"/>
              </a:xfrm>
              <a:prstGeom prst="rect">
                <a:avLst/>
              </a:prstGeom>
              <a:noFill/>
            </p:spPr>
            <p:txBody>
              <a:bodyPr lIns="144000" tIns="0" rIns="144000" bIns="0"/>
              <a:lstStyle/>
              <a:p>
                <a:pPr marR="0" defTabSz="914400" eaLnBrk="1" fontAlgn="auto" hangingPunct="1">
                  <a:lnSpc>
                    <a:spcPct val="120000"/>
                  </a:lnSpc>
                  <a:spcBef>
                    <a:spcPts val="0"/>
                  </a:spcBef>
                  <a:spcAft>
                    <a:spcPts val="0"/>
                  </a:spcAft>
                  <a:buClrTx/>
                  <a:buSzTx/>
                  <a:buFontTx/>
                  <a:buNone/>
                  <a:defRPr/>
                </a:pPr>
                <a:r>
                  <a:rPr kumimoji="0" lang="zh-CN" altLang="en-US" sz="2000" b="0" kern="0" cap="none" spc="0" normalizeH="0" baseline="0" noProof="0" dirty="0">
                    <a:solidFill>
                      <a:prstClr val="black"/>
                    </a:solidFill>
                    <a:latin typeface="Arial" panose="020B0604020202020204" pitchFamily="34" charset="0"/>
                    <a:ea typeface="微软雅黑" panose="020B0503020204020204" pitchFamily="34" charset="-122"/>
                    <a:cs typeface="+mn-cs"/>
                    <a:sym typeface="Arial" panose="020B0604020202020204" pitchFamily="34" charset="0"/>
                  </a:rPr>
                  <a:t>对二叉树以某种次序遍历使其变为线索二叉树的过程</a:t>
                </a:r>
              </a:p>
            </p:txBody>
          </p:sp>
        </p:grpSp>
        <p:grpSp>
          <p:nvGrpSpPr>
            <p:cNvPr id="81935" name="Group 3"/>
            <p:cNvGrpSpPr/>
            <p:nvPr/>
          </p:nvGrpSpPr>
          <p:grpSpPr>
            <a:xfrm>
              <a:off x="8234082" y="2077414"/>
              <a:ext cx="2189224" cy="1305463"/>
              <a:chOff x="8536589" y="1962764"/>
              <a:chExt cx="2189224" cy="1305463"/>
            </a:xfrm>
          </p:grpSpPr>
          <p:sp>
            <p:nvSpPr>
              <p:cNvPr id="75" name="îŝḷîḓé-TextBox 50"/>
              <p:cNvSpPr txBox="1"/>
              <p:nvPr/>
            </p:nvSpPr>
            <p:spPr bwMode="auto">
              <a:xfrm>
                <a:off x="8537150" y="1963401"/>
                <a:ext cx="1522488" cy="246068"/>
              </a:xfrm>
              <a:prstGeom prst="rect">
                <a:avLst/>
              </a:prstGeom>
              <a:noFill/>
            </p:spPr>
            <p:txBody>
              <a:bodyPr wrap="none" lIns="144000" tIns="0" rIns="144000" bIns="0"/>
              <a:lstStyle/>
              <a:p>
                <a:pPr marR="0" defTabSz="914400" eaLnBrk="1" fontAlgn="auto" hangingPunct="1">
                  <a:spcBef>
                    <a:spcPts val="0"/>
                  </a:spcBef>
                  <a:spcAft>
                    <a:spcPts val="0"/>
                  </a:spcAft>
                  <a:buClrTx/>
                  <a:buSzTx/>
                  <a:buFontTx/>
                  <a:buNone/>
                  <a:defRPr/>
                </a:pPr>
                <a:r>
                  <a:rPr kumimoji="0" lang="zh-CN" altLang="en-US" sz="2400" b="0" kern="0" cap="none" spc="0" normalizeH="0" baseline="0" noProof="0" dirty="0">
                    <a:solidFill>
                      <a:srgbClr val="9BBB59"/>
                    </a:solidFill>
                    <a:latin typeface="Arial" panose="020B0604020202020204" pitchFamily="34" charset="0"/>
                    <a:ea typeface="微软雅黑" panose="020B0503020204020204" pitchFamily="34" charset="-122"/>
                    <a:cs typeface="+mn-cs"/>
                    <a:sym typeface="Arial" panose="020B0604020202020204" pitchFamily="34" charset="0"/>
                  </a:rPr>
                  <a:t>线索二叉树</a:t>
                </a:r>
              </a:p>
            </p:txBody>
          </p:sp>
          <p:sp>
            <p:nvSpPr>
              <p:cNvPr id="76" name="îŝḷîḓé-TextBox 51"/>
              <p:cNvSpPr txBox="1"/>
              <p:nvPr/>
            </p:nvSpPr>
            <p:spPr bwMode="auto">
              <a:xfrm>
                <a:off x="8568902" y="2361871"/>
                <a:ext cx="2157519" cy="906479"/>
              </a:xfrm>
              <a:prstGeom prst="rect">
                <a:avLst/>
              </a:prstGeom>
              <a:noFill/>
            </p:spPr>
            <p:txBody>
              <a:bodyPr lIns="144000" tIns="0" rIns="144000" bIns="0"/>
              <a:lstStyle/>
              <a:p>
                <a:pPr marR="0" defTabSz="914400" eaLnBrk="1" fontAlgn="auto" hangingPunct="1">
                  <a:lnSpc>
                    <a:spcPct val="120000"/>
                  </a:lnSpc>
                  <a:spcBef>
                    <a:spcPts val="0"/>
                  </a:spcBef>
                  <a:spcAft>
                    <a:spcPts val="0"/>
                  </a:spcAft>
                  <a:buClrTx/>
                  <a:buSzTx/>
                  <a:buFontTx/>
                  <a:buNone/>
                  <a:defRPr/>
                </a:pPr>
                <a:r>
                  <a:rPr kumimoji="0" lang="zh-CN" altLang="en-US" sz="2000" b="0" kern="0" cap="none" spc="0" normalizeH="0" baseline="0" noProof="0" dirty="0">
                    <a:solidFill>
                      <a:prstClr val="black"/>
                    </a:solidFill>
                    <a:latin typeface="Arial" panose="020B0604020202020204" pitchFamily="34" charset="0"/>
                    <a:ea typeface="微软雅黑" panose="020B0503020204020204" pitchFamily="34" charset="-122"/>
                    <a:cs typeface="+mn-cs"/>
                    <a:sym typeface="Arial" panose="020B0604020202020204" pitchFamily="34" charset="0"/>
                  </a:rPr>
                  <a:t>加上线索的二叉树（图形式样）</a:t>
                </a:r>
              </a:p>
            </p:txBody>
          </p:sp>
        </p:grpSp>
        <p:grpSp>
          <p:nvGrpSpPr>
            <p:cNvPr id="81936" name="Group 2"/>
            <p:cNvGrpSpPr/>
            <p:nvPr/>
          </p:nvGrpSpPr>
          <p:grpSpPr>
            <a:xfrm>
              <a:off x="1643018" y="4438060"/>
              <a:ext cx="2371095" cy="839866"/>
              <a:chOff x="1201867" y="4170845"/>
              <a:chExt cx="2371095" cy="839866"/>
            </a:xfrm>
          </p:grpSpPr>
          <p:sp>
            <p:nvSpPr>
              <p:cNvPr id="73" name="îŝḷîḓé-TextBox 52"/>
              <p:cNvSpPr txBox="1"/>
              <p:nvPr/>
            </p:nvSpPr>
            <p:spPr bwMode="auto">
              <a:xfrm>
                <a:off x="2051222" y="4171491"/>
                <a:ext cx="1522487" cy="246066"/>
              </a:xfrm>
              <a:prstGeom prst="rect">
                <a:avLst/>
              </a:prstGeom>
              <a:noFill/>
            </p:spPr>
            <p:txBody>
              <a:bodyPr wrap="none" lIns="144000" tIns="0" rIns="144000" bIns="0"/>
              <a:lstStyle/>
              <a:p>
                <a:pPr marR="0" algn="r" defTabSz="914400" eaLnBrk="1" fontAlgn="auto" hangingPunct="1">
                  <a:spcBef>
                    <a:spcPts val="0"/>
                  </a:spcBef>
                  <a:spcAft>
                    <a:spcPts val="0"/>
                  </a:spcAft>
                  <a:buClrTx/>
                  <a:buSzTx/>
                  <a:buFontTx/>
                  <a:buNone/>
                  <a:defRPr/>
                </a:pPr>
                <a:r>
                  <a:rPr kumimoji="0" lang="zh-CN" altLang="en-US" sz="2400" b="0" kern="0" cap="none" spc="0" normalizeH="0" baseline="0" noProof="0" dirty="0">
                    <a:solidFill>
                      <a:srgbClr val="4BACC6"/>
                    </a:solidFill>
                    <a:latin typeface="Arial" panose="020B0604020202020204" pitchFamily="34" charset="0"/>
                    <a:ea typeface="微软雅黑" panose="020B0503020204020204" pitchFamily="34" charset="-122"/>
                    <a:cs typeface="+mn-cs"/>
                    <a:sym typeface="Arial" panose="020B0604020202020204" pitchFamily="34" charset="0"/>
                  </a:rPr>
                  <a:t>线索链表</a:t>
                </a:r>
              </a:p>
            </p:txBody>
          </p:sp>
          <p:sp>
            <p:nvSpPr>
              <p:cNvPr id="74" name="îŝḷîḓé-TextBox 53"/>
              <p:cNvSpPr txBox="1"/>
              <p:nvPr/>
            </p:nvSpPr>
            <p:spPr bwMode="auto">
              <a:xfrm>
                <a:off x="1201867" y="4595361"/>
                <a:ext cx="2371842" cy="415932"/>
              </a:xfrm>
              <a:prstGeom prst="rect">
                <a:avLst/>
              </a:prstGeom>
              <a:noFill/>
            </p:spPr>
            <p:txBody>
              <a:bodyPr lIns="144000" tIns="0" rIns="144000" bIns="0">
                <a:normAutofit/>
              </a:bodyPr>
              <a:lstStyle/>
              <a:p>
                <a:pPr marR="0" algn="r" defTabSz="914400" eaLnBrk="1" fontAlgn="auto" hangingPunct="1">
                  <a:lnSpc>
                    <a:spcPct val="120000"/>
                  </a:lnSpc>
                  <a:spcBef>
                    <a:spcPts val="0"/>
                  </a:spcBef>
                  <a:spcAft>
                    <a:spcPts val="0"/>
                  </a:spcAft>
                  <a:buClrTx/>
                  <a:buSzTx/>
                  <a:buFontTx/>
                  <a:buNone/>
                  <a:defRPr/>
                </a:pPr>
                <a:r>
                  <a:rPr kumimoji="0" lang="zh-CN" altLang="en-US" sz="2000" b="0" kern="0" cap="none" spc="0" normalizeH="0" baseline="0" noProof="0" dirty="0">
                    <a:solidFill>
                      <a:prstClr val="black"/>
                    </a:solidFill>
                    <a:latin typeface="Arial" panose="020B0604020202020204" pitchFamily="34" charset="0"/>
                    <a:ea typeface="微软雅黑" panose="020B0503020204020204" pitchFamily="34" charset="-122"/>
                    <a:cs typeface="+mn-cs"/>
                    <a:sym typeface="Arial" panose="020B0604020202020204" pitchFamily="34" charset="0"/>
                  </a:rPr>
                  <a:t>加上线索二叉链表</a:t>
                </a:r>
              </a:p>
            </p:txBody>
          </p:sp>
        </p:grpSp>
        <p:grpSp>
          <p:nvGrpSpPr>
            <p:cNvPr id="81937" name="Group 1"/>
            <p:cNvGrpSpPr/>
            <p:nvPr/>
          </p:nvGrpSpPr>
          <p:grpSpPr>
            <a:xfrm>
              <a:off x="1831313" y="2077414"/>
              <a:ext cx="2182800" cy="1305463"/>
              <a:chOff x="1390162" y="1962764"/>
              <a:chExt cx="2182800" cy="1305463"/>
            </a:xfrm>
          </p:grpSpPr>
          <p:sp>
            <p:nvSpPr>
              <p:cNvPr id="71" name="îŝḷîḓé-TextBox 54"/>
              <p:cNvSpPr txBox="1"/>
              <p:nvPr/>
            </p:nvSpPr>
            <p:spPr bwMode="auto">
              <a:xfrm>
                <a:off x="2051222" y="1963401"/>
                <a:ext cx="1522487" cy="246068"/>
              </a:xfrm>
              <a:prstGeom prst="rect">
                <a:avLst/>
              </a:prstGeom>
              <a:noFill/>
            </p:spPr>
            <p:txBody>
              <a:bodyPr wrap="none" lIns="144000" tIns="0" rIns="144000" bIns="0"/>
              <a:lstStyle/>
              <a:p>
                <a:pPr marR="0" algn="r" defTabSz="914400" eaLnBrk="1" fontAlgn="auto" hangingPunct="1">
                  <a:spcBef>
                    <a:spcPts val="0"/>
                  </a:spcBef>
                  <a:spcAft>
                    <a:spcPts val="0"/>
                  </a:spcAft>
                  <a:buClrTx/>
                  <a:buSzTx/>
                  <a:buFontTx/>
                  <a:buNone/>
                  <a:defRPr/>
                </a:pPr>
                <a:r>
                  <a:rPr kumimoji="0" lang="zh-CN" altLang="en-US" sz="2400" b="0" kern="0" cap="none" spc="0" normalizeH="0" baseline="0" noProof="0" dirty="0">
                    <a:solidFill>
                      <a:srgbClr val="C0504D"/>
                    </a:solidFill>
                    <a:latin typeface="Arial" panose="020B0604020202020204" pitchFamily="34" charset="0"/>
                    <a:ea typeface="微软雅黑" panose="020B0503020204020204" pitchFamily="34" charset="-122"/>
                    <a:cs typeface="+mn-cs"/>
                    <a:sym typeface="Arial" panose="020B0604020202020204" pitchFamily="34" charset="0"/>
                  </a:rPr>
                  <a:t>线索</a:t>
                </a:r>
              </a:p>
            </p:txBody>
          </p:sp>
          <p:sp>
            <p:nvSpPr>
              <p:cNvPr id="72" name="îŝḷîḓé-TextBox 55"/>
              <p:cNvSpPr txBox="1"/>
              <p:nvPr/>
            </p:nvSpPr>
            <p:spPr bwMode="auto">
              <a:xfrm>
                <a:off x="1390789" y="2361871"/>
                <a:ext cx="2182920" cy="906479"/>
              </a:xfrm>
              <a:prstGeom prst="rect">
                <a:avLst/>
              </a:prstGeom>
              <a:noFill/>
            </p:spPr>
            <p:txBody>
              <a:bodyPr lIns="144000" tIns="0" rIns="144000" bIns="0"/>
              <a:lstStyle/>
              <a:p>
                <a:pPr marR="0" algn="r" defTabSz="914400" eaLnBrk="1" fontAlgn="auto" hangingPunct="1">
                  <a:lnSpc>
                    <a:spcPct val="120000"/>
                  </a:lnSpc>
                  <a:spcBef>
                    <a:spcPts val="0"/>
                  </a:spcBef>
                  <a:spcAft>
                    <a:spcPts val="0"/>
                  </a:spcAft>
                  <a:buClrTx/>
                  <a:buSzTx/>
                  <a:buFontTx/>
                  <a:buNone/>
                  <a:defRPr/>
                </a:pPr>
                <a:r>
                  <a:rPr kumimoji="0" lang="zh-CN" altLang="en-US" sz="2000" b="0" kern="0" cap="none" spc="0" normalizeH="0" baseline="0" noProof="0" dirty="0">
                    <a:solidFill>
                      <a:prstClr val="black"/>
                    </a:solidFill>
                    <a:latin typeface="Arial" panose="020B0604020202020204" pitchFamily="34" charset="0"/>
                    <a:ea typeface="微软雅黑" panose="020B0503020204020204" pitchFamily="34" charset="-122"/>
                    <a:cs typeface="+mn-cs"/>
                    <a:sym typeface="Arial" panose="020B0604020202020204" pitchFamily="34" charset="0"/>
                  </a:rPr>
                  <a:t>指向结点前驱和后继的指针</a:t>
                </a:r>
              </a:p>
            </p:txBody>
          </p:sp>
        </p:grpSp>
      </p:gr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6"/>
                                        </p:tgtEl>
                                        <p:attrNameLst>
                                          <p:attrName>style.visibility</p:attrName>
                                        </p:attrNameLst>
                                      </p:cBhvr>
                                      <p:to>
                                        <p:strVal val="visible"/>
                                      </p:to>
                                    </p:set>
                                    <p:anim calcmode="lin" valueType="num">
                                      <p:cBhvr>
                                        <p:cTn id="7" dur="500" fill="hold"/>
                                        <p:tgtEl>
                                          <p:spTgt spid="56"/>
                                        </p:tgtEl>
                                        <p:attrNameLst>
                                          <p:attrName>ppt_w</p:attrName>
                                        </p:attrNameLst>
                                      </p:cBhvr>
                                      <p:tavLst>
                                        <p:tav tm="0">
                                          <p:val>
                                            <p:fltVal val="0"/>
                                          </p:val>
                                        </p:tav>
                                        <p:tav tm="100000">
                                          <p:val>
                                            <p:strVal val="#ppt_w"/>
                                          </p:val>
                                        </p:tav>
                                      </p:tavLst>
                                    </p:anim>
                                    <p:anim calcmode="lin" valueType="num">
                                      <p:cBhvr>
                                        <p:cTn id="8" dur="500" fill="hold"/>
                                        <p:tgtEl>
                                          <p:spTgt spid="56"/>
                                        </p:tgtEl>
                                        <p:attrNameLst>
                                          <p:attrName>ppt_h</p:attrName>
                                        </p:attrNameLst>
                                      </p:cBhvr>
                                      <p:tavLst>
                                        <p:tav tm="0">
                                          <p:val>
                                            <p:fltVal val="0"/>
                                          </p:val>
                                        </p:tav>
                                        <p:tav tm="100000">
                                          <p:val>
                                            <p:strVal val="#ppt_h"/>
                                          </p:val>
                                        </p:tav>
                                      </p:tavLst>
                                    </p:anim>
                                    <p:animEffect transition="in" filter="fade">
                                      <p:cBhvr>
                                        <p:cTn id="9"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82946" name="矩形 12"/>
          <p:cNvSpPr/>
          <p:nvPr/>
        </p:nvSpPr>
        <p:spPr>
          <a:xfrm>
            <a:off x="0" y="2349500"/>
            <a:ext cx="9144000" cy="4392613"/>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778323" name="Rectangle 83"/>
          <p:cNvSpPr>
            <a:spLocks noGrp="1" noChangeArrowheads="1"/>
          </p:cNvSpPr>
          <p:nvPr>
            <p:ph type="title"/>
          </p:nvPr>
        </p:nvSpPr>
        <p:spPr>
          <a:xfrm>
            <a:off x="676275" y="1001713"/>
            <a:ext cx="7772400" cy="609600"/>
          </a:xfrm>
          <a:ln w="28575">
            <a:solidFill>
              <a:srgbClr val="FF0000"/>
            </a:solidFill>
          </a:ln>
        </p:spPr>
        <p:txBody>
          <a:bodyPr vert="horz" wrap="square" lIns="91440" tIns="45720" rIns="91440" bIns="45720" numCol="1" anchor="ctr" anchorCtr="0" compatLnSpc="1"/>
          <a:lstStyle/>
          <a:p>
            <a:pPr marL="0" marR="0" lvl="0" indent="0" algn="l" defTabSz="914400" rtl="0" eaLnBrk="0" fontAlgn="base" latinLnBrk="0" hangingPunct="0">
              <a:lnSpc>
                <a:spcPct val="100000"/>
              </a:lnSpc>
              <a:spcBef>
                <a:spcPct val="0"/>
              </a:spcBef>
              <a:spcAft>
                <a:spcPct val="0"/>
              </a:spcAft>
              <a:buClrTx/>
              <a:buSzTx/>
              <a:buFontTx/>
              <a:buNone/>
              <a:defRPr/>
            </a:pPr>
            <a:r>
              <a:rPr kumimoji="1" lang="zh-CN" altLang="en-US" sz="2800" b="0" i="0" u="none" strike="noStrike" kern="0" cap="none" spc="0" normalizeH="0" baseline="0" noProof="0">
                <a:ln>
                  <a:noFill/>
                </a:ln>
                <a:solidFill>
                  <a:schemeClr val="tx1"/>
                </a:solidFill>
                <a:effectLst/>
                <a:uLnTx/>
                <a:uFillTx/>
                <a:latin typeface="+mn-lt"/>
                <a:ea typeface="+mn-ea"/>
                <a:cs typeface="+mn-ea"/>
                <a:sym typeface="+mn-lt"/>
              </a:rPr>
              <a:t>画出以下二叉树对应的中序线索二叉树。</a:t>
            </a:r>
          </a:p>
        </p:txBody>
      </p:sp>
      <p:grpSp>
        <p:nvGrpSpPr>
          <p:cNvPr id="2" name="Group 12"/>
          <p:cNvGrpSpPr/>
          <p:nvPr/>
        </p:nvGrpSpPr>
        <p:grpSpPr>
          <a:xfrm>
            <a:off x="2963863" y="4283075"/>
            <a:ext cx="485775" cy="2058988"/>
            <a:chOff x="1895" y="2426"/>
            <a:chExt cx="306" cy="1297"/>
          </a:xfrm>
        </p:grpSpPr>
        <p:sp>
          <p:nvSpPr>
            <p:cNvPr id="79875" name="Line 13"/>
            <p:cNvSpPr>
              <a:spLocks noChangeShapeType="1"/>
            </p:cNvSpPr>
            <p:nvPr/>
          </p:nvSpPr>
          <p:spPr bwMode="auto">
            <a:xfrm>
              <a:off x="2078" y="3715"/>
              <a:ext cx="123" cy="1"/>
            </a:xfrm>
            <a:prstGeom prst="line">
              <a:avLst/>
            </a:prstGeom>
            <a:noFill/>
            <a:ln w="12700">
              <a:solidFill>
                <a:schemeClr val="hlink"/>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876" name="Line 14"/>
            <p:cNvSpPr>
              <a:spLocks noChangeShapeType="1"/>
            </p:cNvSpPr>
            <p:nvPr/>
          </p:nvSpPr>
          <p:spPr bwMode="auto">
            <a:xfrm>
              <a:off x="1895" y="2426"/>
              <a:ext cx="305" cy="1297"/>
            </a:xfrm>
            <a:prstGeom prst="line">
              <a:avLst/>
            </a:prstGeom>
            <a:noFill/>
            <a:ln w="12700">
              <a:solidFill>
                <a:schemeClr val="hlink"/>
              </a:solidFill>
              <a:prstDash val="sysDot"/>
              <a:round/>
              <a:headEnd type="stealth" w="med" len="lg"/>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3" name="Group 15"/>
          <p:cNvGrpSpPr/>
          <p:nvPr/>
        </p:nvGrpSpPr>
        <p:grpSpPr>
          <a:xfrm>
            <a:off x="3136900" y="4259263"/>
            <a:ext cx="762000" cy="904875"/>
            <a:chOff x="2004" y="2411"/>
            <a:chExt cx="480" cy="570"/>
          </a:xfrm>
        </p:grpSpPr>
        <p:sp>
          <p:nvSpPr>
            <p:cNvPr id="79878" name="Line 16"/>
            <p:cNvSpPr>
              <a:spLocks noChangeShapeType="1"/>
            </p:cNvSpPr>
            <p:nvPr/>
          </p:nvSpPr>
          <p:spPr bwMode="auto">
            <a:xfrm flipH="1">
              <a:off x="2237" y="2973"/>
              <a:ext cx="247" cy="1"/>
            </a:xfrm>
            <a:prstGeom prst="line">
              <a:avLst/>
            </a:prstGeom>
            <a:noFill/>
            <a:ln w="12700">
              <a:solidFill>
                <a:schemeClr val="hlink"/>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879" name="Line 17"/>
            <p:cNvSpPr>
              <a:spLocks noChangeShapeType="1"/>
            </p:cNvSpPr>
            <p:nvPr/>
          </p:nvSpPr>
          <p:spPr bwMode="auto">
            <a:xfrm>
              <a:off x="2004" y="2411"/>
              <a:ext cx="233" cy="570"/>
            </a:xfrm>
            <a:prstGeom prst="line">
              <a:avLst/>
            </a:prstGeom>
            <a:noFill/>
            <a:ln w="12700">
              <a:solidFill>
                <a:schemeClr val="hlink"/>
              </a:solidFill>
              <a:prstDash val="sysDot"/>
              <a:round/>
              <a:headEnd type="stealth" w="med" len="lg"/>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 name="Group 18"/>
          <p:cNvGrpSpPr/>
          <p:nvPr/>
        </p:nvGrpSpPr>
        <p:grpSpPr>
          <a:xfrm>
            <a:off x="2184400" y="5461000"/>
            <a:ext cx="438150" cy="811213"/>
            <a:chOff x="1404" y="3168"/>
            <a:chExt cx="276" cy="511"/>
          </a:xfrm>
        </p:grpSpPr>
        <p:sp>
          <p:nvSpPr>
            <p:cNvPr id="79881" name="Line 19"/>
            <p:cNvSpPr>
              <a:spLocks noChangeShapeType="1"/>
            </p:cNvSpPr>
            <p:nvPr/>
          </p:nvSpPr>
          <p:spPr bwMode="auto">
            <a:xfrm flipH="1">
              <a:off x="1410" y="3678"/>
              <a:ext cx="270" cy="1"/>
            </a:xfrm>
            <a:prstGeom prst="line">
              <a:avLst/>
            </a:prstGeom>
            <a:noFill/>
            <a:ln w="12700">
              <a:solidFill>
                <a:schemeClr val="hlink"/>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882" name="Line 20"/>
            <p:cNvSpPr>
              <a:spLocks noChangeShapeType="1"/>
            </p:cNvSpPr>
            <p:nvPr/>
          </p:nvSpPr>
          <p:spPr bwMode="auto">
            <a:xfrm flipV="1">
              <a:off x="1404" y="3168"/>
              <a:ext cx="1" cy="510"/>
            </a:xfrm>
            <a:prstGeom prst="line">
              <a:avLst/>
            </a:prstGeom>
            <a:noFill/>
            <a:ln w="12700">
              <a:solidFill>
                <a:schemeClr val="hlink"/>
              </a:solidFill>
              <a:prstDash val="sysDot"/>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5" name="Group 21"/>
          <p:cNvGrpSpPr/>
          <p:nvPr/>
        </p:nvGrpSpPr>
        <p:grpSpPr>
          <a:xfrm>
            <a:off x="1544638" y="5484813"/>
            <a:ext cx="392112" cy="835025"/>
            <a:chOff x="1001" y="3183"/>
            <a:chExt cx="247" cy="526"/>
          </a:xfrm>
        </p:grpSpPr>
        <p:sp>
          <p:nvSpPr>
            <p:cNvPr id="79884" name="Line 22"/>
            <p:cNvSpPr>
              <a:spLocks noChangeShapeType="1"/>
            </p:cNvSpPr>
            <p:nvPr/>
          </p:nvSpPr>
          <p:spPr bwMode="auto">
            <a:xfrm>
              <a:off x="1001" y="3708"/>
              <a:ext cx="239" cy="1"/>
            </a:xfrm>
            <a:prstGeom prst="line">
              <a:avLst/>
            </a:prstGeom>
            <a:noFill/>
            <a:ln w="12700">
              <a:solidFill>
                <a:schemeClr val="hlink"/>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885" name="Line 23"/>
            <p:cNvSpPr>
              <a:spLocks noChangeShapeType="1"/>
            </p:cNvSpPr>
            <p:nvPr/>
          </p:nvSpPr>
          <p:spPr bwMode="auto">
            <a:xfrm flipV="1">
              <a:off x="1247" y="3183"/>
              <a:ext cx="1" cy="525"/>
            </a:xfrm>
            <a:prstGeom prst="line">
              <a:avLst/>
            </a:prstGeom>
            <a:noFill/>
            <a:ln w="12700">
              <a:solidFill>
                <a:schemeClr val="hlink"/>
              </a:solidFill>
              <a:prstDash val="sysDot"/>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6" name="Group 24"/>
          <p:cNvGrpSpPr/>
          <p:nvPr/>
        </p:nvGrpSpPr>
        <p:grpSpPr>
          <a:xfrm>
            <a:off x="5224463" y="3222625"/>
            <a:ext cx="679450" cy="1893888"/>
            <a:chOff x="3319" y="1758"/>
            <a:chExt cx="428" cy="1193"/>
          </a:xfrm>
        </p:grpSpPr>
        <p:sp>
          <p:nvSpPr>
            <p:cNvPr id="79887" name="Line 25"/>
            <p:cNvSpPr>
              <a:spLocks noChangeShapeType="1"/>
            </p:cNvSpPr>
            <p:nvPr/>
          </p:nvSpPr>
          <p:spPr bwMode="auto">
            <a:xfrm flipH="1" flipV="1">
              <a:off x="3332" y="2950"/>
              <a:ext cx="415" cy="1"/>
            </a:xfrm>
            <a:prstGeom prst="line">
              <a:avLst/>
            </a:prstGeom>
            <a:noFill/>
            <a:ln w="12700">
              <a:solidFill>
                <a:schemeClr val="hlink"/>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888" name="Line 26"/>
            <p:cNvSpPr>
              <a:spLocks noChangeShapeType="1"/>
            </p:cNvSpPr>
            <p:nvPr/>
          </p:nvSpPr>
          <p:spPr bwMode="auto">
            <a:xfrm flipH="1" flipV="1">
              <a:off x="3319" y="1758"/>
              <a:ext cx="6" cy="1192"/>
            </a:xfrm>
            <a:prstGeom prst="line">
              <a:avLst/>
            </a:prstGeom>
            <a:noFill/>
            <a:ln w="12700">
              <a:solidFill>
                <a:schemeClr val="hlink"/>
              </a:solidFill>
              <a:prstDash val="sysDot"/>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 name="Group 27"/>
          <p:cNvGrpSpPr/>
          <p:nvPr/>
        </p:nvGrpSpPr>
        <p:grpSpPr>
          <a:xfrm>
            <a:off x="7297738" y="4235450"/>
            <a:ext cx="557212" cy="892175"/>
            <a:chOff x="4625" y="2396"/>
            <a:chExt cx="351" cy="562"/>
          </a:xfrm>
        </p:grpSpPr>
        <p:sp>
          <p:nvSpPr>
            <p:cNvPr id="79890" name="Line 28"/>
            <p:cNvSpPr>
              <a:spLocks noChangeShapeType="1"/>
            </p:cNvSpPr>
            <p:nvPr/>
          </p:nvSpPr>
          <p:spPr bwMode="auto">
            <a:xfrm flipH="1" flipV="1">
              <a:off x="4632" y="2957"/>
              <a:ext cx="344" cy="1"/>
            </a:xfrm>
            <a:prstGeom prst="line">
              <a:avLst/>
            </a:prstGeom>
            <a:noFill/>
            <a:ln w="12700">
              <a:solidFill>
                <a:schemeClr val="hlink"/>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891" name="Line 29"/>
            <p:cNvSpPr>
              <a:spLocks noChangeShapeType="1"/>
            </p:cNvSpPr>
            <p:nvPr/>
          </p:nvSpPr>
          <p:spPr bwMode="auto">
            <a:xfrm flipV="1">
              <a:off x="4625" y="2396"/>
              <a:ext cx="2" cy="561"/>
            </a:xfrm>
            <a:prstGeom prst="line">
              <a:avLst/>
            </a:prstGeom>
            <a:noFill/>
            <a:ln w="12700">
              <a:solidFill>
                <a:schemeClr val="hlink"/>
              </a:solidFill>
              <a:prstDash val="sysDot"/>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 name="Group 30"/>
          <p:cNvGrpSpPr/>
          <p:nvPr/>
        </p:nvGrpSpPr>
        <p:grpSpPr>
          <a:xfrm>
            <a:off x="676275" y="5530850"/>
            <a:ext cx="292100" cy="811213"/>
            <a:chOff x="454" y="3212"/>
            <a:chExt cx="184" cy="511"/>
          </a:xfrm>
        </p:grpSpPr>
        <p:sp>
          <p:nvSpPr>
            <p:cNvPr id="79893" name="Line 31"/>
            <p:cNvSpPr>
              <a:spLocks noChangeShapeType="1"/>
            </p:cNvSpPr>
            <p:nvPr/>
          </p:nvSpPr>
          <p:spPr bwMode="auto">
            <a:xfrm flipH="1" flipV="1">
              <a:off x="461" y="3722"/>
              <a:ext cx="177" cy="1"/>
            </a:xfrm>
            <a:prstGeom prst="line">
              <a:avLst/>
            </a:prstGeom>
            <a:noFill/>
            <a:ln w="12700">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894" name="Line 32"/>
            <p:cNvSpPr>
              <a:spLocks noChangeShapeType="1"/>
            </p:cNvSpPr>
            <p:nvPr/>
          </p:nvSpPr>
          <p:spPr bwMode="auto">
            <a:xfrm flipV="1">
              <a:off x="454" y="3212"/>
              <a:ext cx="1" cy="510"/>
            </a:xfrm>
            <a:prstGeom prst="line">
              <a:avLst/>
            </a:prstGeom>
            <a:noFill/>
            <a:ln w="12700">
              <a:solidFill>
                <a:schemeClr val="tx1"/>
              </a:solidFill>
              <a:prstDash val="sysDot"/>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9" name="Group 33"/>
          <p:cNvGrpSpPr/>
          <p:nvPr/>
        </p:nvGrpSpPr>
        <p:grpSpPr>
          <a:xfrm>
            <a:off x="4475163" y="3246438"/>
            <a:ext cx="495300" cy="1881187"/>
            <a:chOff x="2847" y="1773"/>
            <a:chExt cx="312" cy="1185"/>
          </a:xfrm>
        </p:grpSpPr>
        <p:sp>
          <p:nvSpPr>
            <p:cNvPr id="79896" name="Line 34"/>
            <p:cNvSpPr>
              <a:spLocks noChangeShapeType="1"/>
            </p:cNvSpPr>
            <p:nvPr/>
          </p:nvSpPr>
          <p:spPr bwMode="auto">
            <a:xfrm flipV="1">
              <a:off x="2847" y="2949"/>
              <a:ext cx="303" cy="9"/>
            </a:xfrm>
            <a:prstGeom prst="line">
              <a:avLst/>
            </a:prstGeom>
            <a:noFill/>
            <a:ln w="12700">
              <a:solidFill>
                <a:schemeClr val="hlink"/>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897" name="Line 35"/>
            <p:cNvSpPr>
              <a:spLocks noChangeShapeType="1"/>
            </p:cNvSpPr>
            <p:nvPr/>
          </p:nvSpPr>
          <p:spPr bwMode="auto">
            <a:xfrm flipV="1">
              <a:off x="3157" y="1773"/>
              <a:ext cx="2" cy="1176"/>
            </a:xfrm>
            <a:prstGeom prst="line">
              <a:avLst/>
            </a:prstGeom>
            <a:noFill/>
            <a:ln w="12700">
              <a:solidFill>
                <a:schemeClr val="hlink"/>
              </a:solidFill>
              <a:prstDash val="sysDot"/>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0" name="Group 36"/>
          <p:cNvGrpSpPr/>
          <p:nvPr/>
        </p:nvGrpSpPr>
        <p:grpSpPr>
          <a:xfrm>
            <a:off x="6470650" y="4246563"/>
            <a:ext cx="587375" cy="866775"/>
            <a:chOff x="4104" y="2403"/>
            <a:chExt cx="370" cy="546"/>
          </a:xfrm>
        </p:grpSpPr>
        <p:sp>
          <p:nvSpPr>
            <p:cNvPr id="79899" name="Line 37"/>
            <p:cNvSpPr>
              <a:spLocks noChangeShapeType="1"/>
            </p:cNvSpPr>
            <p:nvPr/>
          </p:nvSpPr>
          <p:spPr bwMode="auto">
            <a:xfrm>
              <a:off x="4104" y="2943"/>
              <a:ext cx="362" cy="6"/>
            </a:xfrm>
            <a:prstGeom prst="line">
              <a:avLst/>
            </a:prstGeom>
            <a:noFill/>
            <a:ln w="12700">
              <a:solidFill>
                <a:schemeClr val="hlink"/>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900" name="Line 38"/>
            <p:cNvSpPr>
              <a:spLocks noChangeShapeType="1"/>
            </p:cNvSpPr>
            <p:nvPr/>
          </p:nvSpPr>
          <p:spPr bwMode="auto">
            <a:xfrm flipV="1">
              <a:off x="4472" y="2403"/>
              <a:ext cx="2" cy="546"/>
            </a:xfrm>
            <a:prstGeom prst="line">
              <a:avLst/>
            </a:prstGeom>
            <a:noFill/>
            <a:ln w="12700">
              <a:solidFill>
                <a:schemeClr val="hlink"/>
              </a:solidFill>
              <a:prstDash val="sysDot"/>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1" name="Group 39"/>
          <p:cNvGrpSpPr/>
          <p:nvPr/>
        </p:nvGrpSpPr>
        <p:grpSpPr>
          <a:xfrm>
            <a:off x="8431213" y="3794125"/>
            <a:ext cx="393700" cy="1320800"/>
            <a:chOff x="5339" y="2118"/>
            <a:chExt cx="248" cy="832"/>
          </a:xfrm>
        </p:grpSpPr>
        <p:sp>
          <p:nvSpPr>
            <p:cNvPr id="79902" name="Line 40"/>
            <p:cNvSpPr>
              <a:spLocks noChangeShapeType="1"/>
            </p:cNvSpPr>
            <p:nvPr/>
          </p:nvSpPr>
          <p:spPr bwMode="auto">
            <a:xfrm>
              <a:off x="5339" y="2949"/>
              <a:ext cx="239" cy="1"/>
            </a:xfrm>
            <a:prstGeom prst="line">
              <a:avLst/>
            </a:prstGeom>
            <a:noFill/>
            <a:ln w="12700">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903" name="Line 41"/>
            <p:cNvSpPr>
              <a:spLocks noChangeShapeType="1"/>
            </p:cNvSpPr>
            <p:nvPr/>
          </p:nvSpPr>
          <p:spPr bwMode="auto">
            <a:xfrm flipV="1">
              <a:off x="5585" y="2118"/>
              <a:ext cx="2" cy="831"/>
            </a:xfrm>
            <a:prstGeom prst="line">
              <a:avLst/>
            </a:prstGeom>
            <a:noFill/>
            <a:ln w="12700">
              <a:solidFill>
                <a:schemeClr val="tx1"/>
              </a:solidFill>
              <a:prstDash val="sysDot"/>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2" name="Group 42"/>
          <p:cNvGrpSpPr/>
          <p:nvPr/>
        </p:nvGrpSpPr>
        <p:grpSpPr>
          <a:xfrm>
            <a:off x="974725" y="2492375"/>
            <a:ext cx="7434263" cy="4111625"/>
            <a:chOff x="642" y="1298"/>
            <a:chExt cx="4683" cy="2590"/>
          </a:xfrm>
        </p:grpSpPr>
        <p:grpSp>
          <p:nvGrpSpPr>
            <p:cNvPr id="82964" name="Group 43"/>
            <p:cNvGrpSpPr/>
            <p:nvPr/>
          </p:nvGrpSpPr>
          <p:grpSpPr>
            <a:xfrm>
              <a:off x="3056" y="1321"/>
              <a:ext cx="349" cy="359"/>
              <a:chOff x="3089" y="1206"/>
              <a:chExt cx="360" cy="359"/>
            </a:xfrm>
          </p:grpSpPr>
          <p:sp>
            <p:nvSpPr>
              <p:cNvPr id="79906" name="Oval 44"/>
              <p:cNvSpPr>
                <a:spLocks noChangeArrowheads="1"/>
              </p:cNvSpPr>
              <p:nvPr/>
            </p:nvSpPr>
            <p:spPr bwMode="auto">
              <a:xfrm>
                <a:off x="3089" y="1206"/>
                <a:ext cx="360" cy="359"/>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907" name="Rectangle 45"/>
              <p:cNvSpPr>
                <a:spLocks noChangeArrowheads="1"/>
              </p:cNvSpPr>
              <p:nvPr/>
            </p:nvSpPr>
            <p:spPr bwMode="auto">
              <a:xfrm>
                <a:off x="3158" y="1259"/>
                <a:ext cx="26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0" i="0" u="none" strike="noStrike" kern="1200" cap="none" spc="0" normalizeH="0" baseline="0" noProof="0">
                    <a:ln>
                      <a:noFill/>
                    </a:ln>
                    <a:solidFill>
                      <a:schemeClr val="tx1"/>
                    </a:solidFill>
                    <a:effectLst/>
                    <a:uLnTx/>
                    <a:uFillTx/>
                    <a:latin typeface="+mn-lt"/>
                    <a:ea typeface="+mn-ea"/>
                    <a:cs typeface="+mn-ea"/>
                    <a:sym typeface="+mn-lt"/>
                  </a:rPr>
                  <a:t>A</a:t>
                </a:r>
              </a:p>
            </p:txBody>
          </p:sp>
        </p:grpSp>
        <p:grpSp>
          <p:nvGrpSpPr>
            <p:cNvPr id="82965" name="Group 46"/>
            <p:cNvGrpSpPr/>
            <p:nvPr/>
          </p:nvGrpSpPr>
          <p:grpSpPr>
            <a:xfrm>
              <a:off x="1774" y="2055"/>
              <a:ext cx="349" cy="359"/>
              <a:chOff x="1766" y="1940"/>
              <a:chExt cx="360" cy="359"/>
            </a:xfrm>
          </p:grpSpPr>
          <p:sp>
            <p:nvSpPr>
              <p:cNvPr id="79909" name="Oval 47"/>
              <p:cNvSpPr>
                <a:spLocks noChangeArrowheads="1"/>
              </p:cNvSpPr>
              <p:nvPr/>
            </p:nvSpPr>
            <p:spPr bwMode="auto">
              <a:xfrm>
                <a:off x="1766" y="1940"/>
                <a:ext cx="360" cy="359"/>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910" name="Rectangle 48"/>
              <p:cNvSpPr>
                <a:spLocks noChangeArrowheads="1"/>
              </p:cNvSpPr>
              <p:nvPr/>
            </p:nvSpPr>
            <p:spPr bwMode="auto">
              <a:xfrm>
                <a:off x="1835" y="1993"/>
                <a:ext cx="25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0" i="0" u="none" strike="noStrike" kern="1200" cap="none" spc="0" normalizeH="0" baseline="0" noProof="0">
                    <a:ln>
                      <a:noFill/>
                    </a:ln>
                    <a:solidFill>
                      <a:schemeClr val="tx1"/>
                    </a:solidFill>
                    <a:effectLst/>
                    <a:uLnTx/>
                    <a:uFillTx/>
                    <a:latin typeface="+mn-lt"/>
                    <a:ea typeface="+mn-ea"/>
                    <a:cs typeface="+mn-ea"/>
                    <a:sym typeface="+mn-lt"/>
                  </a:rPr>
                  <a:t>B</a:t>
                </a:r>
              </a:p>
            </p:txBody>
          </p:sp>
        </p:grpSp>
        <p:sp>
          <p:nvSpPr>
            <p:cNvPr id="79911" name="Line 49"/>
            <p:cNvSpPr>
              <a:spLocks noChangeShapeType="1"/>
            </p:cNvSpPr>
            <p:nvPr/>
          </p:nvSpPr>
          <p:spPr bwMode="auto">
            <a:xfrm flipH="1">
              <a:off x="1931" y="1630"/>
              <a:ext cx="1183" cy="41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82967" name="Group 50"/>
            <p:cNvGrpSpPr/>
            <p:nvPr/>
          </p:nvGrpSpPr>
          <p:grpSpPr>
            <a:xfrm>
              <a:off x="4374" y="2031"/>
              <a:ext cx="349" cy="359"/>
              <a:chOff x="4449" y="1916"/>
              <a:chExt cx="360" cy="359"/>
            </a:xfrm>
          </p:grpSpPr>
          <p:sp>
            <p:nvSpPr>
              <p:cNvPr id="79913" name="Oval 51"/>
              <p:cNvSpPr>
                <a:spLocks noChangeArrowheads="1"/>
              </p:cNvSpPr>
              <p:nvPr/>
            </p:nvSpPr>
            <p:spPr bwMode="auto">
              <a:xfrm>
                <a:off x="4449" y="1916"/>
                <a:ext cx="360" cy="359"/>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914" name="Rectangle 52"/>
              <p:cNvSpPr>
                <a:spLocks noChangeArrowheads="1"/>
              </p:cNvSpPr>
              <p:nvPr/>
            </p:nvSpPr>
            <p:spPr bwMode="auto">
              <a:xfrm>
                <a:off x="4518" y="1969"/>
                <a:ext cx="25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0" i="0" u="none" strike="noStrike" kern="1200" cap="none" spc="0" normalizeH="0" baseline="0" noProof="0">
                    <a:ln>
                      <a:noFill/>
                    </a:ln>
                    <a:solidFill>
                      <a:schemeClr val="tx1"/>
                    </a:solidFill>
                    <a:effectLst/>
                    <a:uLnTx/>
                    <a:uFillTx/>
                    <a:latin typeface="+mn-lt"/>
                    <a:ea typeface="+mn-ea"/>
                    <a:cs typeface="+mn-ea"/>
                    <a:sym typeface="+mn-lt"/>
                  </a:rPr>
                  <a:t>C</a:t>
                </a:r>
              </a:p>
            </p:txBody>
          </p:sp>
        </p:grpSp>
        <p:grpSp>
          <p:nvGrpSpPr>
            <p:cNvPr id="82968" name="Group 53"/>
            <p:cNvGrpSpPr/>
            <p:nvPr/>
          </p:nvGrpSpPr>
          <p:grpSpPr>
            <a:xfrm>
              <a:off x="4976" y="2729"/>
              <a:ext cx="349" cy="359"/>
              <a:chOff x="5070" y="2614"/>
              <a:chExt cx="360" cy="359"/>
            </a:xfrm>
          </p:grpSpPr>
          <p:sp>
            <p:nvSpPr>
              <p:cNvPr id="79916" name="Oval 54"/>
              <p:cNvSpPr>
                <a:spLocks noChangeArrowheads="1"/>
              </p:cNvSpPr>
              <p:nvPr/>
            </p:nvSpPr>
            <p:spPr bwMode="auto">
              <a:xfrm>
                <a:off x="5070" y="2614"/>
                <a:ext cx="360" cy="359"/>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917" name="Rectangle 55"/>
              <p:cNvSpPr>
                <a:spLocks noChangeArrowheads="1"/>
              </p:cNvSpPr>
              <p:nvPr/>
            </p:nvSpPr>
            <p:spPr bwMode="auto">
              <a:xfrm>
                <a:off x="5139" y="2667"/>
                <a:ext cx="27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dirty="0">
                    <a:ln>
                      <a:noFill/>
                    </a:ln>
                    <a:solidFill>
                      <a:srgbClr val="FF0000"/>
                    </a:solidFill>
                    <a:effectLst/>
                    <a:uLnTx/>
                    <a:uFillTx/>
                    <a:latin typeface="+mn-lt"/>
                    <a:ea typeface="+mn-ea"/>
                    <a:cs typeface="+mn-ea"/>
                    <a:sym typeface="+mn-lt"/>
                  </a:rPr>
                  <a:t>G</a:t>
                </a:r>
              </a:p>
            </p:txBody>
          </p:sp>
        </p:grpSp>
        <p:sp>
          <p:nvSpPr>
            <p:cNvPr id="79918" name="Line 56"/>
            <p:cNvSpPr>
              <a:spLocks noChangeShapeType="1"/>
            </p:cNvSpPr>
            <p:nvPr/>
          </p:nvSpPr>
          <p:spPr bwMode="auto">
            <a:xfrm>
              <a:off x="4693" y="2353"/>
              <a:ext cx="436" cy="37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82970" name="Group 57"/>
            <p:cNvGrpSpPr/>
            <p:nvPr/>
          </p:nvGrpSpPr>
          <p:grpSpPr>
            <a:xfrm>
              <a:off x="2496" y="2768"/>
              <a:ext cx="349" cy="359"/>
              <a:chOff x="2511" y="2653"/>
              <a:chExt cx="360" cy="359"/>
            </a:xfrm>
          </p:grpSpPr>
          <p:sp>
            <p:nvSpPr>
              <p:cNvPr id="79920" name="Oval 58"/>
              <p:cNvSpPr>
                <a:spLocks noChangeArrowheads="1"/>
              </p:cNvSpPr>
              <p:nvPr/>
            </p:nvSpPr>
            <p:spPr bwMode="auto">
              <a:xfrm>
                <a:off x="2511" y="2653"/>
                <a:ext cx="360" cy="359"/>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921" name="Rectangle 59"/>
              <p:cNvSpPr>
                <a:spLocks noChangeArrowheads="1"/>
              </p:cNvSpPr>
              <p:nvPr/>
            </p:nvSpPr>
            <p:spPr bwMode="auto">
              <a:xfrm>
                <a:off x="2580" y="2706"/>
                <a:ext cx="24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0" i="0" u="none" strike="noStrike" kern="1200" cap="none" spc="0" normalizeH="0" baseline="0" noProof="0">
                    <a:ln>
                      <a:noFill/>
                    </a:ln>
                    <a:solidFill>
                      <a:schemeClr val="tx1"/>
                    </a:solidFill>
                    <a:effectLst/>
                    <a:uLnTx/>
                    <a:uFillTx/>
                    <a:latin typeface="+mn-lt"/>
                    <a:ea typeface="+mn-ea"/>
                    <a:cs typeface="+mn-ea"/>
                    <a:sym typeface="+mn-lt"/>
                  </a:rPr>
                  <a:t>E</a:t>
                </a:r>
              </a:p>
            </p:txBody>
          </p:sp>
        </p:grpSp>
        <p:grpSp>
          <p:nvGrpSpPr>
            <p:cNvPr id="82971" name="Group 60"/>
            <p:cNvGrpSpPr/>
            <p:nvPr/>
          </p:nvGrpSpPr>
          <p:grpSpPr>
            <a:xfrm>
              <a:off x="1708" y="3514"/>
              <a:ext cx="348" cy="359"/>
              <a:chOff x="1697" y="3399"/>
              <a:chExt cx="360" cy="359"/>
            </a:xfrm>
          </p:grpSpPr>
          <p:sp>
            <p:nvSpPr>
              <p:cNvPr id="79923" name="Oval 61"/>
              <p:cNvSpPr>
                <a:spLocks noChangeArrowheads="1"/>
              </p:cNvSpPr>
              <p:nvPr/>
            </p:nvSpPr>
            <p:spPr bwMode="auto">
              <a:xfrm>
                <a:off x="1697" y="3399"/>
                <a:ext cx="360" cy="359"/>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924" name="Rectangle 62"/>
              <p:cNvSpPr>
                <a:spLocks noChangeArrowheads="1"/>
              </p:cNvSpPr>
              <p:nvPr/>
            </p:nvSpPr>
            <p:spPr bwMode="auto">
              <a:xfrm>
                <a:off x="1766" y="3452"/>
                <a:ext cx="18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0" i="0" u="none" strike="noStrike" kern="1200" cap="none" spc="0" normalizeH="0" baseline="0" noProof="0">
                    <a:ln>
                      <a:noFill/>
                    </a:ln>
                    <a:solidFill>
                      <a:schemeClr val="tx1"/>
                    </a:solidFill>
                    <a:effectLst/>
                    <a:uLnTx/>
                    <a:uFillTx/>
                    <a:latin typeface="+mn-lt"/>
                    <a:ea typeface="+mn-ea"/>
                    <a:cs typeface="+mn-ea"/>
                    <a:sym typeface="+mn-lt"/>
                  </a:rPr>
                  <a:t>I</a:t>
                </a:r>
              </a:p>
            </p:txBody>
          </p:sp>
        </p:grpSp>
        <p:sp>
          <p:nvSpPr>
            <p:cNvPr id="79925" name="Line 63"/>
            <p:cNvSpPr>
              <a:spLocks noChangeShapeType="1"/>
            </p:cNvSpPr>
            <p:nvPr/>
          </p:nvSpPr>
          <p:spPr bwMode="auto">
            <a:xfrm>
              <a:off x="1474" y="3103"/>
              <a:ext cx="422" cy="40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82973" name="Group 64"/>
            <p:cNvGrpSpPr/>
            <p:nvPr/>
          </p:nvGrpSpPr>
          <p:grpSpPr>
            <a:xfrm>
              <a:off x="1180" y="2772"/>
              <a:ext cx="349" cy="359"/>
              <a:chOff x="1153" y="2657"/>
              <a:chExt cx="360" cy="359"/>
            </a:xfrm>
          </p:grpSpPr>
          <p:sp>
            <p:nvSpPr>
              <p:cNvPr id="79927" name="Oval 65"/>
              <p:cNvSpPr>
                <a:spLocks noChangeArrowheads="1"/>
              </p:cNvSpPr>
              <p:nvPr/>
            </p:nvSpPr>
            <p:spPr bwMode="auto">
              <a:xfrm>
                <a:off x="1153" y="2657"/>
                <a:ext cx="360" cy="359"/>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928" name="Rectangle 66"/>
              <p:cNvSpPr>
                <a:spLocks noChangeArrowheads="1"/>
              </p:cNvSpPr>
              <p:nvPr/>
            </p:nvSpPr>
            <p:spPr bwMode="auto">
              <a:xfrm>
                <a:off x="1222" y="2710"/>
                <a:ext cx="26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0" i="0" u="none" strike="noStrike" kern="1200" cap="none" spc="0" normalizeH="0" baseline="0" noProof="0">
                    <a:ln>
                      <a:noFill/>
                    </a:ln>
                    <a:solidFill>
                      <a:schemeClr val="tx1"/>
                    </a:solidFill>
                    <a:effectLst/>
                    <a:uLnTx/>
                    <a:uFillTx/>
                    <a:latin typeface="+mn-lt"/>
                    <a:ea typeface="+mn-ea"/>
                    <a:cs typeface="+mn-ea"/>
                    <a:sym typeface="+mn-lt"/>
                  </a:rPr>
                  <a:t>D</a:t>
                </a:r>
              </a:p>
            </p:txBody>
          </p:sp>
        </p:grpSp>
        <p:grpSp>
          <p:nvGrpSpPr>
            <p:cNvPr id="82974" name="Group 67"/>
            <p:cNvGrpSpPr/>
            <p:nvPr/>
          </p:nvGrpSpPr>
          <p:grpSpPr>
            <a:xfrm>
              <a:off x="642" y="3529"/>
              <a:ext cx="349" cy="359"/>
              <a:chOff x="598" y="3414"/>
              <a:chExt cx="360" cy="359"/>
            </a:xfrm>
          </p:grpSpPr>
          <p:sp>
            <p:nvSpPr>
              <p:cNvPr id="79930" name="Oval 68"/>
              <p:cNvSpPr>
                <a:spLocks noChangeArrowheads="1"/>
              </p:cNvSpPr>
              <p:nvPr/>
            </p:nvSpPr>
            <p:spPr bwMode="auto">
              <a:xfrm>
                <a:off x="598" y="3414"/>
                <a:ext cx="360" cy="359"/>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931" name="Rectangle 69"/>
              <p:cNvSpPr>
                <a:spLocks noChangeArrowheads="1"/>
              </p:cNvSpPr>
              <p:nvPr/>
            </p:nvSpPr>
            <p:spPr bwMode="auto">
              <a:xfrm>
                <a:off x="667" y="3467"/>
                <a:ext cx="27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dirty="0">
                    <a:ln>
                      <a:noFill/>
                    </a:ln>
                    <a:solidFill>
                      <a:srgbClr val="FF0000"/>
                    </a:solidFill>
                    <a:effectLst/>
                    <a:uLnTx/>
                    <a:uFillTx/>
                    <a:latin typeface="+mn-lt"/>
                    <a:ea typeface="+mn-ea"/>
                    <a:cs typeface="+mn-ea"/>
                    <a:sym typeface="+mn-lt"/>
                  </a:rPr>
                  <a:t>H</a:t>
                </a:r>
              </a:p>
            </p:txBody>
          </p:sp>
        </p:grpSp>
        <p:grpSp>
          <p:nvGrpSpPr>
            <p:cNvPr id="82975" name="Group 70"/>
            <p:cNvGrpSpPr/>
            <p:nvPr/>
          </p:nvGrpSpPr>
          <p:grpSpPr>
            <a:xfrm>
              <a:off x="3750" y="2736"/>
              <a:ext cx="349" cy="359"/>
              <a:chOff x="3805" y="2621"/>
              <a:chExt cx="360" cy="359"/>
            </a:xfrm>
          </p:grpSpPr>
          <p:sp>
            <p:nvSpPr>
              <p:cNvPr id="79933" name="Oval 71"/>
              <p:cNvSpPr>
                <a:spLocks noChangeArrowheads="1"/>
              </p:cNvSpPr>
              <p:nvPr/>
            </p:nvSpPr>
            <p:spPr bwMode="auto">
              <a:xfrm>
                <a:off x="3805" y="2621"/>
                <a:ext cx="360" cy="359"/>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934" name="Rectangle 72"/>
              <p:cNvSpPr>
                <a:spLocks noChangeArrowheads="1"/>
              </p:cNvSpPr>
              <p:nvPr/>
            </p:nvSpPr>
            <p:spPr bwMode="auto">
              <a:xfrm>
                <a:off x="3874" y="2674"/>
                <a:ext cx="23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0" i="0" u="none" strike="noStrike" kern="1200" cap="none" spc="0" normalizeH="0" baseline="0" noProof="0">
                    <a:ln>
                      <a:noFill/>
                    </a:ln>
                    <a:solidFill>
                      <a:schemeClr val="tx1"/>
                    </a:solidFill>
                    <a:effectLst/>
                    <a:uLnTx/>
                    <a:uFillTx/>
                    <a:latin typeface="+mn-lt"/>
                    <a:ea typeface="+mn-ea"/>
                    <a:cs typeface="+mn-ea"/>
                    <a:sym typeface="+mn-lt"/>
                  </a:rPr>
                  <a:t>F</a:t>
                </a:r>
              </a:p>
            </p:txBody>
          </p:sp>
        </p:grpSp>
        <p:sp>
          <p:nvSpPr>
            <p:cNvPr id="79935" name="Line 73"/>
            <p:cNvSpPr>
              <a:spLocks noChangeShapeType="1"/>
            </p:cNvSpPr>
            <p:nvPr/>
          </p:nvSpPr>
          <p:spPr bwMode="auto">
            <a:xfrm flipH="1">
              <a:off x="3908" y="2344"/>
              <a:ext cx="506" cy="38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936" name="Line 74"/>
            <p:cNvSpPr>
              <a:spLocks noChangeShapeType="1"/>
            </p:cNvSpPr>
            <p:nvPr/>
          </p:nvSpPr>
          <p:spPr bwMode="auto">
            <a:xfrm>
              <a:off x="2088" y="2373"/>
              <a:ext cx="578" cy="39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937" name="Line 75"/>
            <p:cNvSpPr>
              <a:spLocks noChangeShapeType="1"/>
            </p:cNvSpPr>
            <p:nvPr/>
          </p:nvSpPr>
          <p:spPr bwMode="auto">
            <a:xfrm flipH="1">
              <a:off x="1343" y="2369"/>
              <a:ext cx="466" cy="40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938" name="Line 76"/>
            <p:cNvSpPr>
              <a:spLocks noChangeShapeType="1"/>
            </p:cNvSpPr>
            <p:nvPr/>
          </p:nvSpPr>
          <p:spPr bwMode="auto">
            <a:xfrm flipH="1">
              <a:off x="827" y="3106"/>
              <a:ext cx="392" cy="42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939" name="Line 77"/>
            <p:cNvSpPr>
              <a:spLocks noChangeShapeType="1"/>
            </p:cNvSpPr>
            <p:nvPr/>
          </p:nvSpPr>
          <p:spPr bwMode="auto">
            <a:xfrm>
              <a:off x="3342" y="1641"/>
              <a:ext cx="1191" cy="37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940" name="Line 78"/>
            <p:cNvSpPr>
              <a:spLocks noChangeShapeType="1"/>
            </p:cNvSpPr>
            <p:nvPr/>
          </p:nvSpPr>
          <p:spPr bwMode="auto">
            <a:xfrm>
              <a:off x="2019" y="1465"/>
              <a:ext cx="1024" cy="1"/>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79941" name="Rectangle 79"/>
            <p:cNvSpPr>
              <a:spLocks noChangeArrowheads="1"/>
            </p:cNvSpPr>
            <p:nvPr/>
          </p:nvSpPr>
          <p:spPr bwMode="auto">
            <a:xfrm>
              <a:off x="1570" y="1298"/>
              <a:ext cx="429"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0" i="0" u="none" strike="noStrike" kern="1200" cap="none" spc="0" normalizeH="0" baseline="0" noProof="0">
                  <a:ln>
                    <a:noFill/>
                  </a:ln>
                  <a:solidFill>
                    <a:schemeClr val="tx1"/>
                  </a:solidFill>
                  <a:effectLst/>
                  <a:uLnTx/>
                  <a:uFillTx/>
                  <a:latin typeface="+mn-lt"/>
                  <a:ea typeface="+mn-ea"/>
                  <a:cs typeface="+mn-ea"/>
                  <a:sym typeface="+mn-lt"/>
                </a:rPr>
                <a:t>root</a:t>
              </a:r>
            </a:p>
          </p:txBody>
        </p:sp>
      </p:grpSp>
      <p:sp>
        <p:nvSpPr>
          <p:cNvPr id="778320" name="Text Box 80"/>
          <p:cNvSpPr txBox="1">
            <a:spLocks noChangeArrowheads="1"/>
          </p:cNvSpPr>
          <p:nvPr/>
        </p:nvSpPr>
        <p:spPr bwMode="auto">
          <a:xfrm>
            <a:off x="203200" y="4789488"/>
            <a:ext cx="1298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TW" altLang="en-US" sz="2400" b="0" i="0" u="none" strike="noStrike" kern="1200" cap="none" spc="0" normalizeH="0" baseline="0" noProof="0">
                <a:ln>
                  <a:noFill/>
                </a:ln>
                <a:solidFill>
                  <a:srgbClr val="FF3300"/>
                </a:solidFill>
                <a:effectLst/>
                <a:uLnTx/>
                <a:uFillTx/>
                <a:latin typeface="+mn-lt"/>
                <a:ea typeface="+mn-ea"/>
                <a:cs typeface="+mn-ea"/>
                <a:sym typeface="+mn-lt"/>
              </a:rPr>
              <a:t>悬空？</a:t>
            </a:r>
          </a:p>
        </p:txBody>
      </p:sp>
      <p:sp>
        <p:nvSpPr>
          <p:cNvPr id="778321" name="Rectangle 81"/>
          <p:cNvSpPr>
            <a:spLocks noChangeArrowheads="1"/>
          </p:cNvSpPr>
          <p:nvPr/>
        </p:nvSpPr>
        <p:spPr bwMode="auto">
          <a:xfrm>
            <a:off x="7854950" y="3327400"/>
            <a:ext cx="1244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TW" altLang="en-US" sz="2400" b="0" i="0" u="none" strike="noStrike" kern="1200" cap="none" spc="0" normalizeH="0" baseline="0" noProof="0" dirty="0">
                <a:ln>
                  <a:noFill/>
                </a:ln>
                <a:solidFill>
                  <a:srgbClr val="FF3300"/>
                </a:solidFill>
                <a:effectLst/>
                <a:uLnTx/>
                <a:uFillTx/>
                <a:latin typeface="+mn-lt"/>
                <a:ea typeface="+mn-ea"/>
                <a:cs typeface="+mn-ea"/>
                <a:sym typeface="+mn-lt"/>
              </a:rPr>
              <a:t>悬空？</a:t>
            </a:r>
          </a:p>
        </p:txBody>
      </p:sp>
      <p:sp>
        <p:nvSpPr>
          <p:cNvPr id="778322" name="Text Box 82"/>
          <p:cNvSpPr txBox="1">
            <a:spLocks noChangeArrowheads="1"/>
          </p:cNvSpPr>
          <p:nvPr/>
        </p:nvSpPr>
        <p:spPr bwMode="auto">
          <a:xfrm>
            <a:off x="608013" y="1739900"/>
            <a:ext cx="807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该二叉树中序遍历结果为</a:t>
            </a:r>
            <a:r>
              <a:rPr kumimoji="0" lang="zh-TW"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TW" altLang="en-US" sz="2400" b="0" i="0" u="none" strike="noStrike" kern="1200" cap="none" spc="0" normalizeH="0" baseline="0" noProof="0" dirty="0">
                <a:ln>
                  <a:noFill/>
                </a:ln>
                <a:solidFill>
                  <a:srgbClr val="66FF33"/>
                </a:solidFill>
                <a:effectLst/>
                <a:uLnTx/>
                <a:uFillTx/>
                <a:latin typeface="+mn-lt"/>
                <a:ea typeface="+mn-ea"/>
                <a:cs typeface="+mn-ea"/>
                <a:sym typeface="+mn-lt"/>
              </a:rPr>
              <a:t>  </a:t>
            </a:r>
            <a:r>
              <a:rPr kumimoji="0" lang="en-US" altLang="zh-TW" sz="2400" b="0" i="0" u="none" strike="noStrike" kern="1200" cap="none" spc="0" normalizeH="0" baseline="0" noProof="0" dirty="0">
                <a:ln>
                  <a:noFill/>
                </a:ln>
                <a:solidFill>
                  <a:srgbClr val="FF3300"/>
                </a:solidFill>
                <a:effectLst/>
                <a:uLnTx/>
                <a:uFillTx/>
                <a:latin typeface="+mn-lt"/>
                <a:ea typeface="+mn-ea"/>
                <a:cs typeface="+mn-ea"/>
                <a:sym typeface="+mn-lt"/>
              </a:rPr>
              <a:t>H, </a:t>
            </a:r>
            <a:r>
              <a:rPr kumimoji="0" lang="en-US" altLang="zh-TW" sz="2400" b="0" i="0" u="none" strike="noStrike" kern="1200" cap="none" spc="0" normalizeH="0" baseline="0" noProof="0" dirty="0">
                <a:ln>
                  <a:noFill/>
                </a:ln>
                <a:solidFill>
                  <a:schemeClr val="hlink"/>
                </a:solidFill>
                <a:effectLst/>
                <a:uLnTx/>
                <a:uFillTx/>
                <a:latin typeface="+mn-lt"/>
                <a:ea typeface="+mn-ea"/>
                <a:cs typeface="+mn-ea"/>
                <a:sym typeface="+mn-lt"/>
              </a:rPr>
              <a:t>D, I, B, E, A, F, C</a:t>
            </a:r>
            <a:r>
              <a:rPr kumimoji="0" lang="en-US" altLang="zh-TW" sz="2400" b="0" i="0" u="none" strike="noStrike" kern="1200" cap="none" spc="0" normalizeH="0" baseline="0" noProof="0" dirty="0">
                <a:ln>
                  <a:noFill/>
                </a:ln>
                <a:solidFill>
                  <a:srgbClr val="FF3300"/>
                </a:solidFill>
                <a:effectLst/>
                <a:uLnTx/>
                <a:uFillTx/>
                <a:latin typeface="+mn-lt"/>
                <a:ea typeface="+mn-ea"/>
                <a:cs typeface="+mn-ea"/>
                <a:sym typeface="+mn-lt"/>
              </a:rPr>
              <a:t>, G</a:t>
            </a:r>
            <a:endParaRPr kumimoji="0" lang="zh-TW" altLang="en-US" sz="2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778324" name="AutoShape 84"/>
          <p:cNvSpPr>
            <a:spLocks noChangeArrowheads="1"/>
          </p:cNvSpPr>
          <p:nvPr/>
        </p:nvSpPr>
        <p:spPr bwMode="auto">
          <a:xfrm>
            <a:off x="184150" y="3479800"/>
            <a:ext cx="1600200" cy="990600"/>
          </a:xfrm>
          <a:prstGeom prst="wedgeRoundRectCallout">
            <a:avLst>
              <a:gd name="adj1" fmla="val 199"/>
              <a:gd name="adj2" fmla="val 87981"/>
              <a:gd name="adj3" fmla="val 16667"/>
            </a:avLst>
          </a:prstGeom>
          <a:solidFill>
            <a:srgbClr val="EBEBEB"/>
          </a:solidFill>
          <a:ln w="9525">
            <a:solidFill>
              <a:schemeClr val="accent6">
                <a:lumMod val="60000"/>
                <a:lumOff val="40000"/>
              </a:schemeClr>
            </a:solidFill>
            <a:miter lim="800000"/>
          </a:ln>
        </p:spPr>
        <p:txBody>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rgbClr val="FF3300"/>
                </a:solidFill>
                <a:effectLst/>
                <a:uLnTx/>
                <a:uFillTx/>
                <a:latin typeface="+mn-lt"/>
                <a:ea typeface="+mn-ea"/>
                <a:cs typeface="+mn-ea"/>
                <a:sym typeface="+mn-lt"/>
              </a:rPr>
              <a:t>为避免悬空态，应增设一个头结点</a:t>
            </a:r>
          </a:p>
        </p:txBody>
      </p:sp>
      <p:sp>
        <p:nvSpPr>
          <p:cNvPr id="79947" name="Rectangle 86"/>
          <p:cNvSpPr>
            <a:spLocks noChangeArrowheads="1"/>
          </p:cNvSpPr>
          <p:nvPr/>
        </p:nvSpPr>
        <p:spPr bwMode="auto">
          <a:xfrm>
            <a:off x="825500" y="153988"/>
            <a:ext cx="233997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练习</a:t>
            </a:r>
          </a:p>
        </p:txBody>
      </p:sp>
    </p:spTree>
  </p:cSld>
  <p:clrMapOvr>
    <a:masterClrMapping/>
  </p:clrMapOvr>
  <p:transition>
    <p:pull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778322">
                                            <p:txEl>
                                              <p:pRg st="0" end="0"/>
                                            </p:txEl>
                                          </p:spTgt>
                                        </p:tgtEl>
                                        <p:attrNameLst>
                                          <p:attrName>style.visibility</p:attrName>
                                        </p:attrNameLst>
                                      </p:cBhvr>
                                      <p:to>
                                        <p:strVal val="visible"/>
                                      </p:to>
                                    </p:set>
                                    <p:animEffect transition="in" filter="strips(downRight)">
                                      <p:cBhvr>
                                        <p:cTn id="12" dur="500"/>
                                        <p:tgtEl>
                                          <p:spTgt spid="77832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499"/>
                                          </p:stCondLst>
                                        </p:cTn>
                                        <p:tgtEl>
                                          <p:spTgt spid="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499"/>
                                          </p:stCondLst>
                                        </p:cTn>
                                        <p:tgtEl>
                                          <p:spTgt spid="5"/>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499"/>
                                          </p:stCondLst>
                                        </p:cTn>
                                        <p:tgtEl>
                                          <p:spTgt spid="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499"/>
                                          </p:stCondLst>
                                        </p:cTn>
                                        <p:tgtEl>
                                          <p:spTgt spid="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499"/>
                                          </p:stCondLst>
                                        </p:cTn>
                                        <p:tgtEl>
                                          <p:spTgt spid="3"/>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499"/>
                                          </p:stCondLst>
                                        </p:cTn>
                                        <p:tgtEl>
                                          <p:spTgt spid="9"/>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499"/>
                                          </p:stCondLst>
                                        </p:cTn>
                                        <p:tgtEl>
                                          <p:spTgt spid="6"/>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499"/>
                                          </p:stCondLst>
                                        </p:cTn>
                                        <p:tgtEl>
                                          <p:spTgt spid="10"/>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499"/>
                                          </p:stCondLst>
                                        </p:cTn>
                                        <p:tgtEl>
                                          <p:spTgt spid="7"/>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499"/>
                                          </p:stCondLst>
                                        </p:cTn>
                                        <p:tgtEl>
                                          <p:spTgt spid="11"/>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499"/>
                                          </p:stCondLst>
                                        </p:cTn>
                                        <p:tgtEl>
                                          <p:spTgt spid="778320"/>
                                        </p:tgtEl>
                                        <p:attrNameLst>
                                          <p:attrName>style.visibility</p:attrName>
                                        </p:attrNameLst>
                                      </p:cBhvr>
                                      <p:to>
                                        <p:strVal val="visible"/>
                                      </p:to>
                                    </p:set>
                                  </p:childTnLst>
                                </p:cTn>
                              </p:par>
                            </p:childTnLst>
                          </p:cTn>
                        </p:par>
                        <p:par>
                          <p:cTn id="57" fill="hold">
                            <p:stCondLst>
                              <p:cond delay="500"/>
                            </p:stCondLst>
                            <p:childTnLst>
                              <p:par>
                                <p:cTn id="58" presetID="1" presetClass="entr" presetSubtype="0" fill="hold" grpId="0" nodeType="afterEffect">
                                  <p:stCondLst>
                                    <p:cond delay="0"/>
                                  </p:stCondLst>
                                  <p:childTnLst>
                                    <p:set>
                                      <p:cBhvr>
                                        <p:cTn id="59" dur="1" fill="hold">
                                          <p:stCondLst>
                                            <p:cond delay="499"/>
                                          </p:stCondLst>
                                        </p:cTn>
                                        <p:tgtEl>
                                          <p:spTgt spid="778321"/>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22" presetClass="entr" presetSubtype="1" fill="hold" grpId="0" nodeType="clickEffect">
                                  <p:stCondLst>
                                    <p:cond delay="0"/>
                                  </p:stCondLst>
                                  <p:childTnLst>
                                    <p:set>
                                      <p:cBhvr>
                                        <p:cTn id="63" dur="1" fill="hold">
                                          <p:stCondLst>
                                            <p:cond delay="0"/>
                                          </p:stCondLst>
                                        </p:cTn>
                                        <p:tgtEl>
                                          <p:spTgt spid="778324"/>
                                        </p:tgtEl>
                                        <p:attrNameLst>
                                          <p:attrName>style.visibility</p:attrName>
                                        </p:attrNameLst>
                                      </p:cBhvr>
                                      <p:to>
                                        <p:strVal val="visible"/>
                                      </p:to>
                                    </p:set>
                                    <p:animEffect transition="in" filter="wipe(up)">
                                      <p:cBhvr>
                                        <p:cTn id="64" dur="500"/>
                                        <p:tgtEl>
                                          <p:spTgt spid="7783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8320" grpId="0"/>
      <p:bldP spid="778321" grpId="0"/>
      <p:bldP spid="778322" grpId="0" build="p"/>
      <p:bldP spid="778324" grpId="0" animBg="1"/>
    </p:bldLst>
  </p:timing>
</p:sld>
</file>

<file path=ppt/slides/slide7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83970" name="矩形 147"/>
          <p:cNvSpPr/>
          <p:nvPr/>
        </p:nvSpPr>
        <p:spPr>
          <a:xfrm>
            <a:off x="0" y="2093913"/>
            <a:ext cx="9144000" cy="4648200"/>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779267" name="Rectangle 3"/>
          <p:cNvSpPr>
            <a:spLocks noChangeArrowheads="1"/>
          </p:cNvSpPr>
          <p:nvPr/>
        </p:nvSpPr>
        <p:spPr bwMode="auto">
          <a:xfrm>
            <a:off x="547688" y="819150"/>
            <a:ext cx="7162800" cy="609600"/>
          </a:xfrm>
          <a:prstGeom prst="rect">
            <a:avLst/>
          </a:prstGeom>
          <a:noFill/>
          <a:ln w="9525">
            <a:noFill/>
            <a:miter lim="800000"/>
          </a:ln>
          <a:effectLst/>
        </p:spPr>
        <p:txBody>
          <a:bodyPr lIns="92075" tIns="46038" rIns="92075" bIns="46038" anchor="ctr"/>
          <a:lstStyle/>
          <a:p>
            <a:pPr marL="0" marR="0" lvl="0" indent="0" algn="l" defTabSz="914400" rtl="0" eaLnBrk="0" fontAlgn="base" latinLnBrk="0" hangingPunct="0">
              <a:lnSpc>
                <a:spcPct val="100000"/>
              </a:lnSpc>
              <a:spcBef>
                <a:spcPct val="0"/>
              </a:spcBef>
              <a:spcAft>
                <a:spcPct val="0"/>
              </a:spcAft>
              <a:buClrTx/>
              <a:buSzTx/>
              <a:buFontTx/>
              <a:buNone/>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对应的中序线索二叉树存储结构如图所示：</a:t>
            </a:r>
          </a:p>
        </p:txBody>
      </p:sp>
      <p:grpSp>
        <p:nvGrpSpPr>
          <p:cNvPr id="2" name="Group 4"/>
          <p:cNvGrpSpPr/>
          <p:nvPr/>
        </p:nvGrpSpPr>
        <p:grpSpPr>
          <a:xfrm>
            <a:off x="190500" y="2816225"/>
            <a:ext cx="3700463" cy="3667125"/>
            <a:chOff x="115" y="1134"/>
            <a:chExt cx="2331" cy="2310"/>
          </a:xfrm>
        </p:grpSpPr>
        <p:sp>
          <p:nvSpPr>
            <p:cNvPr id="80900" name="Line 5"/>
            <p:cNvSpPr>
              <a:spLocks noChangeShapeType="1"/>
            </p:cNvSpPr>
            <p:nvPr/>
          </p:nvSpPr>
          <p:spPr bwMode="auto">
            <a:xfrm>
              <a:off x="551" y="3200"/>
              <a:ext cx="8" cy="218"/>
            </a:xfrm>
            <a:prstGeom prst="line">
              <a:avLst/>
            </a:prstGeom>
            <a:noFill/>
            <a:ln w="25400">
              <a:solidFill>
                <a:srgbClr val="CC3300"/>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01" name="Line 6"/>
            <p:cNvSpPr>
              <a:spLocks noChangeShapeType="1"/>
            </p:cNvSpPr>
            <p:nvPr/>
          </p:nvSpPr>
          <p:spPr bwMode="auto">
            <a:xfrm>
              <a:off x="115" y="3435"/>
              <a:ext cx="447" cy="0"/>
            </a:xfrm>
            <a:prstGeom prst="line">
              <a:avLst/>
            </a:prstGeom>
            <a:noFill/>
            <a:ln w="25400">
              <a:solidFill>
                <a:srgbClr val="CC3300"/>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02" name="Line 7"/>
            <p:cNvSpPr>
              <a:spLocks noChangeShapeType="1"/>
            </p:cNvSpPr>
            <p:nvPr/>
          </p:nvSpPr>
          <p:spPr bwMode="auto">
            <a:xfrm flipH="1">
              <a:off x="115" y="1788"/>
              <a:ext cx="16" cy="1656"/>
            </a:xfrm>
            <a:prstGeom prst="line">
              <a:avLst/>
            </a:prstGeom>
            <a:noFill/>
            <a:ln w="25400">
              <a:solidFill>
                <a:srgbClr val="CC3300"/>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03" name="Line 8"/>
            <p:cNvSpPr>
              <a:spLocks noChangeShapeType="1"/>
            </p:cNvSpPr>
            <p:nvPr/>
          </p:nvSpPr>
          <p:spPr bwMode="auto">
            <a:xfrm flipV="1">
              <a:off x="133" y="1134"/>
              <a:ext cx="2313" cy="646"/>
            </a:xfrm>
            <a:prstGeom prst="line">
              <a:avLst/>
            </a:prstGeom>
            <a:noFill/>
            <a:ln w="25400">
              <a:solidFill>
                <a:srgbClr val="CC3300"/>
              </a:solidFill>
              <a:prstDash val="sysDot"/>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3" name="Group 9"/>
          <p:cNvGrpSpPr/>
          <p:nvPr/>
        </p:nvGrpSpPr>
        <p:grpSpPr>
          <a:xfrm>
            <a:off x="5951538" y="2520950"/>
            <a:ext cx="2630487" cy="2384425"/>
            <a:chOff x="3744" y="1152"/>
            <a:chExt cx="1657" cy="1502"/>
          </a:xfrm>
        </p:grpSpPr>
        <p:sp>
          <p:nvSpPr>
            <p:cNvPr id="80905" name="Line 10"/>
            <p:cNvSpPr>
              <a:spLocks noChangeShapeType="1"/>
            </p:cNvSpPr>
            <p:nvPr/>
          </p:nvSpPr>
          <p:spPr bwMode="auto">
            <a:xfrm flipV="1">
              <a:off x="3744" y="1152"/>
              <a:ext cx="1632" cy="0"/>
            </a:xfrm>
            <a:prstGeom prst="line">
              <a:avLst/>
            </a:prstGeom>
            <a:noFill/>
            <a:ln w="25400">
              <a:solidFill>
                <a:srgbClr val="CC3300"/>
              </a:solidFill>
              <a:prstDash val="sysDot"/>
              <a:round/>
              <a:headEnd type="stealth" w="med" len="lg"/>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06" name="Line 11"/>
            <p:cNvSpPr>
              <a:spLocks noChangeShapeType="1"/>
            </p:cNvSpPr>
            <p:nvPr/>
          </p:nvSpPr>
          <p:spPr bwMode="auto">
            <a:xfrm flipV="1">
              <a:off x="5401" y="1164"/>
              <a:ext cx="0" cy="1490"/>
            </a:xfrm>
            <a:prstGeom prst="line">
              <a:avLst/>
            </a:prstGeom>
            <a:noFill/>
            <a:ln w="25400">
              <a:solidFill>
                <a:srgbClr val="CC3300"/>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4" name="Group 12"/>
          <p:cNvGrpSpPr/>
          <p:nvPr/>
        </p:nvGrpSpPr>
        <p:grpSpPr>
          <a:xfrm>
            <a:off x="403225" y="3232150"/>
            <a:ext cx="8566150" cy="3054350"/>
            <a:chOff x="249" y="1600"/>
            <a:chExt cx="5396" cy="1924"/>
          </a:xfrm>
        </p:grpSpPr>
        <p:grpSp>
          <p:nvGrpSpPr>
            <p:cNvPr id="84022" name="Group 13"/>
            <p:cNvGrpSpPr/>
            <p:nvPr/>
          </p:nvGrpSpPr>
          <p:grpSpPr>
            <a:xfrm>
              <a:off x="2493" y="1602"/>
              <a:ext cx="1274" cy="274"/>
              <a:chOff x="2530" y="1805"/>
              <a:chExt cx="1274" cy="274"/>
            </a:xfrm>
          </p:grpSpPr>
          <p:sp>
            <p:nvSpPr>
              <p:cNvPr id="80909" name="Rectangle 14"/>
              <p:cNvSpPr>
                <a:spLocks noChangeArrowheads="1"/>
              </p:cNvSpPr>
              <p:nvPr/>
            </p:nvSpPr>
            <p:spPr bwMode="auto">
              <a:xfrm>
                <a:off x="2530" y="1809"/>
                <a:ext cx="1274" cy="270"/>
              </a:xfrm>
              <a:prstGeom prst="rect">
                <a:avLst/>
              </a:prstGeom>
              <a:noFill/>
              <a:ln w="12700">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10" name="Line 15"/>
              <p:cNvSpPr>
                <a:spLocks noChangeShapeType="1"/>
              </p:cNvSpPr>
              <p:nvPr/>
            </p:nvSpPr>
            <p:spPr bwMode="auto">
              <a:xfrm>
                <a:off x="2766" y="1813"/>
                <a:ext cx="0" cy="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11" name="Line 16"/>
              <p:cNvSpPr>
                <a:spLocks noChangeShapeType="1"/>
              </p:cNvSpPr>
              <p:nvPr/>
            </p:nvSpPr>
            <p:spPr bwMode="auto">
              <a:xfrm>
                <a:off x="3576" y="1813"/>
                <a:ext cx="0" cy="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12" name="Line 17"/>
              <p:cNvSpPr>
                <a:spLocks noChangeShapeType="1"/>
              </p:cNvSpPr>
              <p:nvPr/>
            </p:nvSpPr>
            <p:spPr bwMode="auto">
              <a:xfrm>
                <a:off x="2991" y="1805"/>
                <a:ext cx="0" cy="27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13" name="Line 18"/>
              <p:cNvSpPr>
                <a:spLocks noChangeShapeType="1"/>
              </p:cNvSpPr>
              <p:nvPr/>
            </p:nvSpPr>
            <p:spPr bwMode="auto">
              <a:xfrm>
                <a:off x="3358" y="1805"/>
                <a:ext cx="0" cy="26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80914" name="Rectangle 19"/>
            <p:cNvSpPr>
              <a:spLocks noChangeArrowheads="1"/>
            </p:cNvSpPr>
            <p:nvPr/>
          </p:nvSpPr>
          <p:spPr bwMode="auto">
            <a:xfrm>
              <a:off x="2514" y="1622"/>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80915" name="Rectangle 20"/>
            <p:cNvSpPr>
              <a:spLocks noChangeArrowheads="1"/>
            </p:cNvSpPr>
            <p:nvPr/>
          </p:nvSpPr>
          <p:spPr bwMode="auto">
            <a:xfrm>
              <a:off x="3562" y="1628"/>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80916" name="Rectangle 21"/>
            <p:cNvSpPr>
              <a:spLocks noChangeArrowheads="1"/>
            </p:cNvSpPr>
            <p:nvPr/>
          </p:nvSpPr>
          <p:spPr bwMode="auto">
            <a:xfrm>
              <a:off x="3009" y="1600"/>
              <a:ext cx="25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dirty="0">
                  <a:ln>
                    <a:noFill/>
                  </a:ln>
                  <a:solidFill>
                    <a:srgbClr val="FF0000"/>
                  </a:solidFill>
                  <a:effectLst/>
                  <a:uLnTx/>
                  <a:uFillTx/>
                  <a:latin typeface="+mn-lt"/>
                  <a:ea typeface="+mn-ea"/>
                  <a:cs typeface="+mn-ea"/>
                  <a:sym typeface="+mn-lt"/>
                </a:rPr>
                <a:t>A</a:t>
              </a:r>
            </a:p>
          </p:txBody>
        </p:sp>
        <p:grpSp>
          <p:nvGrpSpPr>
            <p:cNvPr id="84026" name="Group 22"/>
            <p:cNvGrpSpPr/>
            <p:nvPr/>
          </p:nvGrpSpPr>
          <p:grpSpPr>
            <a:xfrm>
              <a:off x="3917" y="2098"/>
              <a:ext cx="1274" cy="274"/>
              <a:chOff x="3954" y="2301"/>
              <a:chExt cx="1274" cy="274"/>
            </a:xfrm>
          </p:grpSpPr>
          <p:sp>
            <p:nvSpPr>
              <p:cNvPr id="80918" name="Rectangle 23"/>
              <p:cNvSpPr>
                <a:spLocks noChangeArrowheads="1"/>
              </p:cNvSpPr>
              <p:nvPr/>
            </p:nvSpPr>
            <p:spPr bwMode="auto">
              <a:xfrm>
                <a:off x="3954" y="2305"/>
                <a:ext cx="1274" cy="270"/>
              </a:xfrm>
              <a:prstGeom prst="rect">
                <a:avLst/>
              </a:prstGeom>
              <a:noFill/>
              <a:ln w="12700">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19" name="Line 24"/>
              <p:cNvSpPr>
                <a:spLocks noChangeShapeType="1"/>
              </p:cNvSpPr>
              <p:nvPr/>
            </p:nvSpPr>
            <p:spPr bwMode="auto">
              <a:xfrm>
                <a:off x="4190" y="2309"/>
                <a:ext cx="0" cy="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20" name="Line 25"/>
              <p:cNvSpPr>
                <a:spLocks noChangeShapeType="1"/>
              </p:cNvSpPr>
              <p:nvPr/>
            </p:nvSpPr>
            <p:spPr bwMode="auto">
              <a:xfrm>
                <a:off x="5000" y="2309"/>
                <a:ext cx="0" cy="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21" name="Line 26"/>
              <p:cNvSpPr>
                <a:spLocks noChangeShapeType="1"/>
              </p:cNvSpPr>
              <p:nvPr/>
            </p:nvSpPr>
            <p:spPr bwMode="auto">
              <a:xfrm>
                <a:off x="4415" y="2301"/>
                <a:ext cx="0" cy="27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22" name="Line 27"/>
              <p:cNvSpPr>
                <a:spLocks noChangeShapeType="1"/>
              </p:cNvSpPr>
              <p:nvPr/>
            </p:nvSpPr>
            <p:spPr bwMode="auto">
              <a:xfrm>
                <a:off x="4782" y="2301"/>
                <a:ext cx="0" cy="26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80923" name="Rectangle 28"/>
            <p:cNvSpPr>
              <a:spLocks noChangeArrowheads="1"/>
            </p:cNvSpPr>
            <p:nvPr/>
          </p:nvSpPr>
          <p:spPr bwMode="auto">
            <a:xfrm>
              <a:off x="3938" y="2118"/>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80924" name="Rectangle 29"/>
            <p:cNvSpPr>
              <a:spLocks noChangeArrowheads="1"/>
            </p:cNvSpPr>
            <p:nvPr/>
          </p:nvSpPr>
          <p:spPr bwMode="auto">
            <a:xfrm>
              <a:off x="4986" y="2124"/>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80925" name="Rectangle 30"/>
            <p:cNvSpPr>
              <a:spLocks noChangeArrowheads="1"/>
            </p:cNvSpPr>
            <p:nvPr/>
          </p:nvSpPr>
          <p:spPr bwMode="auto">
            <a:xfrm>
              <a:off x="4433" y="2096"/>
              <a:ext cx="25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dirty="0">
                  <a:ln>
                    <a:noFill/>
                  </a:ln>
                  <a:solidFill>
                    <a:srgbClr val="FF0000"/>
                  </a:solidFill>
                  <a:effectLst/>
                  <a:uLnTx/>
                  <a:uFillTx/>
                  <a:latin typeface="+mn-lt"/>
                  <a:ea typeface="+mn-ea"/>
                  <a:cs typeface="+mn-ea"/>
                  <a:sym typeface="+mn-lt"/>
                </a:rPr>
                <a:t>C</a:t>
              </a:r>
            </a:p>
          </p:txBody>
        </p:sp>
        <p:grpSp>
          <p:nvGrpSpPr>
            <p:cNvPr id="84030" name="Group 31"/>
            <p:cNvGrpSpPr/>
            <p:nvPr/>
          </p:nvGrpSpPr>
          <p:grpSpPr>
            <a:xfrm>
              <a:off x="1015" y="2105"/>
              <a:ext cx="1274" cy="274"/>
              <a:chOff x="1052" y="2308"/>
              <a:chExt cx="1274" cy="274"/>
            </a:xfrm>
          </p:grpSpPr>
          <p:sp>
            <p:nvSpPr>
              <p:cNvPr id="80927" name="Rectangle 32"/>
              <p:cNvSpPr>
                <a:spLocks noChangeArrowheads="1"/>
              </p:cNvSpPr>
              <p:nvPr/>
            </p:nvSpPr>
            <p:spPr bwMode="auto">
              <a:xfrm>
                <a:off x="1052" y="2312"/>
                <a:ext cx="1274" cy="270"/>
              </a:xfrm>
              <a:prstGeom prst="rect">
                <a:avLst/>
              </a:prstGeom>
              <a:noFill/>
              <a:ln w="12700">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28" name="Line 33"/>
              <p:cNvSpPr>
                <a:spLocks noChangeShapeType="1"/>
              </p:cNvSpPr>
              <p:nvPr/>
            </p:nvSpPr>
            <p:spPr bwMode="auto">
              <a:xfrm>
                <a:off x="1288" y="2316"/>
                <a:ext cx="0" cy="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29" name="Line 34"/>
              <p:cNvSpPr>
                <a:spLocks noChangeShapeType="1"/>
              </p:cNvSpPr>
              <p:nvPr/>
            </p:nvSpPr>
            <p:spPr bwMode="auto">
              <a:xfrm>
                <a:off x="2098" y="2316"/>
                <a:ext cx="0" cy="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30" name="Line 35"/>
              <p:cNvSpPr>
                <a:spLocks noChangeShapeType="1"/>
              </p:cNvSpPr>
              <p:nvPr/>
            </p:nvSpPr>
            <p:spPr bwMode="auto">
              <a:xfrm>
                <a:off x="1513" y="2308"/>
                <a:ext cx="0" cy="27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31" name="Line 36"/>
              <p:cNvSpPr>
                <a:spLocks noChangeShapeType="1"/>
              </p:cNvSpPr>
              <p:nvPr/>
            </p:nvSpPr>
            <p:spPr bwMode="auto">
              <a:xfrm>
                <a:off x="1880" y="2308"/>
                <a:ext cx="0" cy="26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80932" name="Rectangle 37"/>
            <p:cNvSpPr>
              <a:spLocks noChangeArrowheads="1"/>
            </p:cNvSpPr>
            <p:nvPr/>
          </p:nvSpPr>
          <p:spPr bwMode="auto">
            <a:xfrm>
              <a:off x="1036" y="2125"/>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80933" name="Rectangle 38"/>
            <p:cNvSpPr>
              <a:spLocks noChangeArrowheads="1"/>
            </p:cNvSpPr>
            <p:nvPr/>
          </p:nvSpPr>
          <p:spPr bwMode="auto">
            <a:xfrm>
              <a:off x="2084" y="2131"/>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80934" name="Rectangle 39"/>
            <p:cNvSpPr>
              <a:spLocks noChangeArrowheads="1"/>
            </p:cNvSpPr>
            <p:nvPr/>
          </p:nvSpPr>
          <p:spPr bwMode="auto">
            <a:xfrm>
              <a:off x="1531" y="2103"/>
              <a:ext cx="24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dirty="0">
                  <a:ln>
                    <a:noFill/>
                  </a:ln>
                  <a:solidFill>
                    <a:srgbClr val="FF0000"/>
                  </a:solidFill>
                  <a:effectLst/>
                  <a:uLnTx/>
                  <a:uFillTx/>
                  <a:latin typeface="+mn-lt"/>
                  <a:ea typeface="+mn-ea"/>
                  <a:cs typeface="+mn-ea"/>
                  <a:sym typeface="+mn-lt"/>
                </a:rPr>
                <a:t>B</a:t>
              </a:r>
            </a:p>
          </p:txBody>
        </p:sp>
        <p:grpSp>
          <p:nvGrpSpPr>
            <p:cNvPr id="84034" name="Group 40"/>
            <p:cNvGrpSpPr/>
            <p:nvPr/>
          </p:nvGrpSpPr>
          <p:grpSpPr>
            <a:xfrm>
              <a:off x="1721" y="2630"/>
              <a:ext cx="1274" cy="274"/>
              <a:chOff x="1758" y="2833"/>
              <a:chExt cx="1274" cy="274"/>
            </a:xfrm>
          </p:grpSpPr>
          <p:sp>
            <p:nvSpPr>
              <p:cNvPr id="80936" name="Rectangle 41"/>
              <p:cNvSpPr>
                <a:spLocks noChangeArrowheads="1"/>
              </p:cNvSpPr>
              <p:nvPr/>
            </p:nvSpPr>
            <p:spPr bwMode="auto">
              <a:xfrm>
                <a:off x="1758" y="2837"/>
                <a:ext cx="1274" cy="270"/>
              </a:xfrm>
              <a:prstGeom prst="rect">
                <a:avLst/>
              </a:prstGeom>
              <a:noFill/>
              <a:ln w="12700">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37" name="Line 42"/>
              <p:cNvSpPr>
                <a:spLocks noChangeShapeType="1"/>
              </p:cNvSpPr>
              <p:nvPr/>
            </p:nvSpPr>
            <p:spPr bwMode="auto">
              <a:xfrm>
                <a:off x="1994" y="2841"/>
                <a:ext cx="0" cy="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38" name="Line 43"/>
              <p:cNvSpPr>
                <a:spLocks noChangeShapeType="1"/>
              </p:cNvSpPr>
              <p:nvPr/>
            </p:nvSpPr>
            <p:spPr bwMode="auto">
              <a:xfrm>
                <a:off x="2804" y="2841"/>
                <a:ext cx="0" cy="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39" name="Line 44"/>
              <p:cNvSpPr>
                <a:spLocks noChangeShapeType="1"/>
              </p:cNvSpPr>
              <p:nvPr/>
            </p:nvSpPr>
            <p:spPr bwMode="auto">
              <a:xfrm>
                <a:off x="2219" y="2833"/>
                <a:ext cx="0" cy="27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40" name="Line 45"/>
              <p:cNvSpPr>
                <a:spLocks noChangeShapeType="1"/>
              </p:cNvSpPr>
              <p:nvPr/>
            </p:nvSpPr>
            <p:spPr bwMode="auto">
              <a:xfrm>
                <a:off x="2586" y="2833"/>
                <a:ext cx="0" cy="26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80941" name="Rectangle 46"/>
            <p:cNvSpPr>
              <a:spLocks noChangeArrowheads="1"/>
            </p:cNvSpPr>
            <p:nvPr/>
          </p:nvSpPr>
          <p:spPr bwMode="auto">
            <a:xfrm>
              <a:off x="1742" y="2650"/>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80942" name="Rectangle 47"/>
            <p:cNvSpPr>
              <a:spLocks noChangeArrowheads="1"/>
            </p:cNvSpPr>
            <p:nvPr/>
          </p:nvSpPr>
          <p:spPr bwMode="auto">
            <a:xfrm>
              <a:off x="2790" y="2656"/>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80943" name="Rectangle 48"/>
            <p:cNvSpPr>
              <a:spLocks noChangeArrowheads="1"/>
            </p:cNvSpPr>
            <p:nvPr/>
          </p:nvSpPr>
          <p:spPr bwMode="auto">
            <a:xfrm>
              <a:off x="2237" y="2628"/>
              <a:ext cx="24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dirty="0">
                  <a:ln>
                    <a:noFill/>
                  </a:ln>
                  <a:solidFill>
                    <a:srgbClr val="FF0000"/>
                  </a:solidFill>
                  <a:effectLst/>
                  <a:uLnTx/>
                  <a:uFillTx/>
                  <a:latin typeface="+mn-lt"/>
                  <a:ea typeface="+mn-ea"/>
                  <a:cs typeface="+mn-ea"/>
                  <a:sym typeface="+mn-lt"/>
                </a:rPr>
                <a:t>E</a:t>
              </a:r>
            </a:p>
          </p:txBody>
        </p:sp>
        <p:grpSp>
          <p:nvGrpSpPr>
            <p:cNvPr id="84038" name="Group 49"/>
            <p:cNvGrpSpPr/>
            <p:nvPr/>
          </p:nvGrpSpPr>
          <p:grpSpPr>
            <a:xfrm>
              <a:off x="3198" y="2623"/>
              <a:ext cx="1274" cy="274"/>
              <a:chOff x="3235" y="2826"/>
              <a:chExt cx="1274" cy="274"/>
            </a:xfrm>
          </p:grpSpPr>
          <p:sp>
            <p:nvSpPr>
              <p:cNvPr id="80945" name="Rectangle 50"/>
              <p:cNvSpPr>
                <a:spLocks noChangeArrowheads="1"/>
              </p:cNvSpPr>
              <p:nvPr/>
            </p:nvSpPr>
            <p:spPr bwMode="auto">
              <a:xfrm>
                <a:off x="3235" y="2830"/>
                <a:ext cx="1274" cy="270"/>
              </a:xfrm>
              <a:prstGeom prst="rect">
                <a:avLst/>
              </a:prstGeom>
              <a:noFill/>
              <a:ln w="12700">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46" name="Line 51"/>
              <p:cNvSpPr>
                <a:spLocks noChangeShapeType="1"/>
              </p:cNvSpPr>
              <p:nvPr/>
            </p:nvSpPr>
            <p:spPr bwMode="auto">
              <a:xfrm>
                <a:off x="3471" y="2834"/>
                <a:ext cx="0" cy="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47" name="Line 52"/>
              <p:cNvSpPr>
                <a:spLocks noChangeShapeType="1"/>
              </p:cNvSpPr>
              <p:nvPr/>
            </p:nvSpPr>
            <p:spPr bwMode="auto">
              <a:xfrm>
                <a:off x="4281" y="2834"/>
                <a:ext cx="0" cy="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48" name="Line 53"/>
              <p:cNvSpPr>
                <a:spLocks noChangeShapeType="1"/>
              </p:cNvSpPr>
              <p:nvPr/>
            </p:nvSpPr>
            <p:spPr bwMode="auto">
              <a:xfrm>
                <a:off x="3696" y="2826"/>
                <a:ext cx="0" cy="27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49" name="Line 54"/>
              <p:cNvSpPr>
                <a:spLocks noChangeShapeType="1"/>
              </p:cNvSpPr>
              <p:nvPr/>
            </p:nvSpPr>
            <p:spPr bwMode="auto">
              <a:xfrm>
                <a:off x="4063" y="2826"/>
                <a:ext cx="0" cy="26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80950" name="Rectangle 55"/>
            <p:cNvSpPr>
              <a:spLocks noChangeArrowheads="1"/>
            </p:cNvSpPr>
            <p:nvPr/>
          </p:nvSpPr>
          <p:spPr bwMode="auto">
            <a:xfrm>
              <a:off x="3219" y="2643"/>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80951" name="Rectangle 56"/>
            <p:cNvSpPr>
              <a:spLocks noChangeArrowheads="1"/>
            </p:cNvSpPr>
            <p:nvPr/>
          </p:nvSpPr>
          <p:spPr bwMode="auto">
            <a:xfrm>
              <a:off x="4267" y="2649"/>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80952" name="Rectangle 57"/>
            <p:cNvSpPr>
              <a:spLocks noChangeArrowheads="1"/>
            </p:cNvSpPr>
            <p:nvPr/>
          </p:nvSpPr>
          <p:spPr bwMode="auto">
            <a:xfrm>
              <a:off x="3714" y="2621"/>
              <a:ext cx="23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dirty="0">
                  <a:ln>
                    <a:noFill/>
                  </a:ln>
                  <a:solidFill>
                    <a:srgbClr val="FF0000"/>
                  </a:solidFill>
                  <a:effectLst/>
                  <a:uLnTx/>
                  <a:uFillTx/>
                  <a:latin typeface="+mn-lt"/>
                  <a:ea typeface="+mn-ea"/>
                  <a:cs typeface="+mn-ea"/>
                  <a:sym typeface="+mn-lt"/>
                </a:rPr>
                <a:t>F</a:t>
              </a:r>
            </a:p>
          </p:txBody>
        </p:sp>
        <p:grpSp>
          <p:nvGrpSpPr>
            <p:cNvPr id="84042" name="Group 58"/>
            <p:cNvGrpSpPr/>
            <p:nvPr/>
          </p:nvGrpSpPr>
          <p:grpSpPr>
            <a:xfrm>
              <a:off x="4653" y="2608"/>
              <a:ext cx="992" cy="274"/>
              <a:chOff x="4690" y="2811"/>
              <a:chExt cx="1274" cy="274"/>
            </a:xfrm>
          </p:grpSpPr>
          <p:sp>
            <p:nvSpPr>
              <p:cNvPr id="80954" name="Rectangle 59"/>
              <p:cNvSpPr>
                <a:spLocks noChangeArrowheads="1"/>
              </p:cNvSpPr>
              <p:nvPr/>
            </p:nvSpPr>
            <p:spPr bwMode="auto">
              <a:xfrm>
                <a:off x="4690" y="2815"/>
                <a:ext cx="1274" cy="270"/>
              </a:xfrm>
              <a:prstGeom prst="rect">
                <a:avLst/>
              </a:prstGeom>
              <a:noFill/>
              <a:ln w="12700">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55" name="Line 60"/>
              <p:cNvSpPr>
                <a:spLocks noChangeShapeType="1"/>
              </p:cNvSpPr>
              <p:nvPr/>
            </p:nvSpPr>
            <p:spPr bwMode="auto">
              <a:xfrm>
                <a:off x="4926" y="2819"/>
                <a:ext cx="0" cy="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56" name="Line 61"/>
              <p:cNvSpPr>
                <a:spLocks noChangeShapeType="1"/>
              </p:cNvSpPr>
              <p:nvPr/>
            </p:nvSpPr>
            <p:spPr bwMode="auto">
              <a:xfrm>
                <a:off x="5735" y="2819"/>
                <a:ext cx="0" cy="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57" name="Line 62"/>
              <p:cNvSpPr>
                <a:spLocks noChangeShapeType="1"/>
              </p:cNvSpPr>
              <p:nvPr/>
            </p:nvSpPr>
            <p:spPr bwMode="auto">
              <a:xfrm>
                <a:off x="5151" y="2811"/>
                <a:ext cx="0" cy="27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58" name="Line 63"/>
              <p:cNvSpPr>
                <a:spLocks noChangeShapeType="1"/>
              </p:cNvSpPr>
              <p:nvPr/>
            </p:nvSpPr>
            <p:spPr bwMode="auto">
              <a:xfrm>
                <a:off x="5518" y="2811"/>
                <a:ext cx="0" cy="26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80959" name="Rectangle 64"/>
            <p:cNvSpPr>
              <a:spLocks noChangeArrowheads="1"/>
            </p:cNvSpPr>
            <p:nvPr/>
          </p:nvSpPr>
          <p:spPr bwMode="auto">
            <a:xfrm>
              <a:off x="4674" y="2628"/>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80960" name="Rectangle 65"/>
            <p:cNvSpPr>
              <a:spLocks noChangeArrowheads="1"/>
            </p:cNvSpPr>
            <p:nvPr/>
          </p:nvSpPr>
          <p:spPr bwMode="auto">
            <a:xfrm>
              <a:off x="5472" y="2605"/>
              <a:ext cx="15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80961" name="Rectangle 66"/>
            <p:cNvSpPr>
              <a:spLocks noChangeArrowheads="1"/>
            </p:cNvSpPr>
            <p:nvPr/>
          </p:nvSpPr>
          <p:spPr bwMode="auto">
            <a:xfrm>
              <a:off x="5034" y="2606"/>
              <a:ext cx="26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dirty="0">
                  <a:ln>
                    <a:noFill/>
                  </a:ln>
                  <a:solidFill>
                    <a:srgbClr val="FF0000"/>
                  </a:solidFill>
                  <a:effectLst/>
                  <a:uLnTx/>
                  <a:uFillTx/>
                  <a:latin typeface="+mn-lt"/>
                  <a:ea typeface="+mn-ea"/>
                  <a:cs typeface="+mn-ea"/>
                  <a:sym typeface="+mn-lt"/>
                </a:rPr>
                <a:t>G</a:t>
              </a:r>
            </a:p>
          </p:txBody>
        </p:sp>
        <p:grpSp>
          <p:nvGrpSpPr>
            <p:cNvPr id="84046" name="Group 67"/>
            <p:cNvGrpSpPr/>
            <p:nvPr/>
          </p:nvGrpSpPr>
          <p:grpSpPr>
            <a:xfrm>
              <a:off x="281" y="2631"/>
              <a:ext cx="1274" cy="274"/>
              <a:chOff x="318" y="2834"/>
              <a:chExt cx="1274" cy="274"/>
            </a:xfrm>
          </p:grpSpPr>
          <p:sp>
            <p:nvSpPr>
              <p:cNvPr id="80963" name="Rectangle 68"/>
              <p:cNvSpPr>
                <a:spLocks noChangeArrowheads="1"/>
              </p:cNvSpPr>
              <p:nvPr/>
            </p:nvSpPr>
            <p:spPr bwMode="auto">
              <a:xfrm>
                <a:off x="318" y="2838"/>
                <a:ext cx="1274" cy="270"/>
              </a:xfrm>
              <a:prstGeom prst="rect">
                <a:avLst/>
              </a:prstGeom>
              <a:noFill/>
              <a:ln w="12700">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64" name="Line 69"/>
              <p:cNvSpPr>
                <a:spLocks noChangeShapeType="1"/>
              </p:cNvSpPr>
              <p:nvPr/>
            </p:nvSpPr>
            <p:spPr bwMode="auto">
              <a:xfrm>
                <a:off x="554" y="2842"/>
                <a:ext cx="0" cy="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65" name="Line 70"/>
              <p:cNvSpPr>
                <a:spLocks noChangeShapeType="1"/>
              </p:cNvSpPr>
              <p:nvPr/>
            </p:nvSpPr>
            <p:spPr bwMode="auto">
              <a:xfrm>
                <a:off x="1364" y="2842"/>
                <a:ext cx="0" cy="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66" name="Line 71"/>
              <p:cNvSpPr>
                <a:spLocks noChangeShapeType="1"/>
              </p:cNvSpPr>
              <p:nvPr/>
            </p:nvSpPr>
            <p:spPr bwMode="auto">
              <a:xfrm>
                <a:off x="779" y="2834"/>
                <a:ext cx="0" cy="27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67" name="Line 72"/>
              <p:cNvSpPr>
                <a:spLocks noChangeShapeType="1"/>
              </p:cNvSpPr>
              <p:nvPr/>
            </p:nvSpPr>
            <p:spPr bwMode="auto">
              <a:xfrm>
                <a:off x="1146" y="2834"/>
                <a:ext cx="0" cy="26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80968" name="Rectangle 73"/>
            <p:cNvSpPr>
              <a:spLocks noChangeArrowheads="1"/>
            </p:cNvSpPr>
            <p:nvPr/>
          </p:nvSpPr>
          <p:spPr bwMode="auto">
            <a:xfrm>
              <a:off x="302" y="2651"/>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80969" name="Rectangle 74"/>
            <p:cNvSpPr>
              <a:spLocks noChangeArrowheads="1"/>
            </p:cNvSpPr>
            <p:nvPr/>
          </p:nvSpPr>
          <p:spPr bwMode="auto">
            <a:xfrm>
              <a:off x="1350" y="2657"/>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80970" name="Rectangle 75"/>
            <p:cNvSpPr>
              <a:spLocks noChangeArrowheads="1"/>
            </p:cNvSpPr>
            <p:nvPr/>
          </p:nvSpPr>
          <p:spPr bwMode="auto">
            <a:xfrm>
              <a:off x="797" y="2629"/>
              <a:ext cx="25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dirty="0">
                  <a:ln>
                    <a:noFill/>
                  </a:ln>
                  <a:solidFill>
                    <a:srgbClr val="FF0000"/>
                  </a:solidFill>
                  <a:effectLst/>
                  <a:uLnTx/>
                  <a:uFillTx/>
                  <a:latin typeface="+mn-lt"/>
                  <a:ea typeface="+mn-ea"/>
                  <a:cs typeface="+mn-ea"/>
                  <a:sym typeface="+mn-lt"/>
                </a:rPr>
                <a:t>D</a:t>
              </a:r>
            </a:p>
          </p:txBody>
        </p:sp>
        <p:grpSp>
          <p:nvGrpSpPr>
            <p:cNvPr id="84050" name="Group 76"/>
            <p:cNvGrpSpPr/>
            <p:nvPr/>
          </p:nvGrpSpPr>
          <p:grpSpPr>
            <a:xfrm>
              <a:off x="1579" y="3207"/>
              <a:ext cx="1274" cy="274"/>
              <a:chOff x="1616" y="3410"/>
              <a:chExt cx="1274" cy="274"/>
            </a:xfrm>
          </p:grpSpPr>
          <p:sp>
            <p:nvSpPr>
              <p:cNvPr id="80972" name="Rectangle 77"/>
              <p:cNvSpPr>
                <a:spLocks noChangeArrowheads="1"/>
              </p:cNvSpPr>
              <p:nvPr/>
            </p:nvSpPr>
            <p:spPr bwMode="auto">
              <a:xfrm>
                <a:off x="1616" y="3414"/>
                <a:ext cx="1274" cy="270"/>
              </a:xfrm>
              <a:prstGeom prst="rect">
                <a:avLst/>
              </a:prstGeom>
              <a:noFill/>
              <a:ln w="12700">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73" name="Line 78"/>
              <p:cNvSpPr>
                <a:spLocks noChangeShapeType="1"/>
              </p:cNvSpPr>
              <p:nvPr/>
            </p:nvSpPr>
            <p:spPr bwMode="auto">
              <a:xfrm>
                <a:off x="1852" y="3418"/>
                <a:ext cx="0" cy="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74" name="Line 79"/>
              <p:cNvSpPr>
                <a:spLocks noChangeShapeType="1"/>
              </p:cNvSpPr>
              <p:nvPr/>
            </p:nvSpPr>
            <p:spPr bwMode="auto">
              <a:xfrm>
                <a:off x="2662" y="3418"/>
                <a:ext cx="0" cy="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75" name="Line 80"/>
              <p:cNvSpPr>
                <a:spLocks noChangeShapeType="1"/>
              </p:cNvSpPr>
              <p:nvPr/>
            </p:nvSpPr>
            <p:spPr bwMode="auto">
              <a:xfrm>
                <a:off x="2077" y="3410"/>
                <a:ext cx="0" cy="27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76" name="Line 81"/>
              <p:cNvSpPr>
                <a:spLocks noChangeShapeType="1"/>
              </p:cNvSpPr>
              <p:nvPr/>
            </p:nvSpPr>
            <p:spPr bwMode="auto">
              <a:xfrm>
                <a:off x="2444" y="3410"/>
                <a:ext cx="0" cy="26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80977" name="Rectangle 82"/>
            <p:cNvSpPr>
              <a:spLocks noChangeArrowheads="1"/>
            </p:cNvSpPr>
            <p:nvPr/>
          </p:nvSpPr>
          <p:spPr bwMode="auto">
            <a:xfrm>
              <a:off x="1600" y="3227"/>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80978" name="Rectangle 83"/>
            <p:cNvSpPr>
              <a:spLocks noChangeArrowheads="1"/>
            </p:cNvSpPr>
            <p:nvPr/>
          </p:nvSpPr>
          <p:spPr bwMode="auto">
            <a:xfrm>
              <a:off x="2648" y="3233"/>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80979" name="Rectangle 84"/>
            <p:cNvSpPr>
              <a:spLocks noChangeArrowheads="1"/>
            </p:cNvSpPr>
            <p:nvPr/>
          </p:nvSpPr>
          <p:spPr bwMode="auto">
            <a:xfrm>
              <a:off x="2148" y="3205"/>
              <a:ext cx="19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dirty="0">
                  <a:ln>
                    <a:noFill/>
                  </a:ln>
                  <a:solidFill>
                    <a:srgbClr val="FF0000"/>
                  </a:solidFill>
                  <a:effectLst/>
                  <a:uLnTx/>
                  <a:uFillTx/>
                  <a:latin typeface="+mn-lt"/>
                  <a:ea typeface="+mn-ea"/>
                  <a:cs typeface="+mn-ea"/>
                  <a:sym typeface="+mn-lt"/>
                </a:rPr>
                <a:t>I</a:t>
              </a:r>
            </a:p>
          </p:txBody>
        </p:sp>
        <p:grpSp>
          <p:nvGrpSpPr>
            <p:cNvPr id="84054" name="Group 85"/>
            <p:cNvGrpSpPr/>
            <p:nvPr/>
          </p:nvGrpSpPr>
          <p:grpSpPr>
            <a:xfrm>
              <a:off x="249" y="3208"/>
              <a:ext cx="1111" cy="274"/>
              <a:chOff x="78" y="3411"/>
              <a:chExt cx="1274" cy="274"/>
            </a:xfrm>
          </p:grpSpPr>
          <p:sp>
            <p:nvSpPr>
              <p:cNvPr id="80981" name="Rectangle 86"/>
              <p:cNvSpPr>
                <a:spLocks noChangeArrowheads="1"/>
              </p:cNvSpPr>
              <p:nvPr/>
            </p:nvSpPr>
            <p:spPr bwMode="auto">
              <a:xfrm>
                <a:off x="78" y="3415"/>
                <a:ext cx="1274" cy="270"/>
              </a:xfrm>
              <a:prstGeom prst="rect">
                <a:avLst/>
              </a:prstGeom>
              <a:noFill/>
              <a:ln w="12700">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82" name="Line 87"/>
              <p:cNvSpPr>
                <a:spLocks noChangeShapeType="1"/>
              </p:cNvSpPr>
              <p:nvPr/>
            </p:nvSpPr>
            <p:spPr bwMode="auto">
              <a:xfrm>
                <a:off x="314" y="3419"/>
                <a:ext cx="0" cy="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83" name="Line 88"/>
              <p:cNvSpPr>
                <a:spLocks noChangeShapeType="1"/>
              </p:cNvSpPr>
              <p:nvPr/>
            </p:nvSpPr>
            <p:spPr bwMode="auto">
              <a:xfrm>
                <a:off x="1124" y="3419"/>
                <a:ext cx="0" cy="2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84" name="Line 89"/>
              <p:cNvSpPr>
                <a:spLocks noChangeShapeType="1"/>
              </p:cNvSpPr>
              <p:nvPr/>
            </p:nvSpPr>
            <p:spPr bwMode="auto">
              <a:xfrm>
                <a:off x="539" y="3411"/>
                <a:ext cx="0" cy="27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85" name="Line 90"/>
              <p:cNvSpPr>
                <a:spLocks noChangeShapeType="1"/>
              </p:cNvSpPr>
              <p:nvPr/>
            </p:nvSpPr>
            <p:spPr bwMode="auto">
              <a:xfrm>
                <a:off x="906" y="3411"/>
                <a:ext cx="0" cy="26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80986" name="Rectangle 91"/>
            <p:cNvSpPr>
              <a:spLocks noChangeArrowheads="1"/>
            </p:cNvSpPr>
            <p:nvPr/>
          </p:nvSpPr>
          <p:spPr bwMode="auto">
            <a:xfrm>
              <a:off x="263" y="3199"/>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80987" name="Rectangle 92"/>
            <p:cNvSpPr>
              <a:spLocks noChangeArrowheads="1"/>
            </p:cNvSpPr>
            <p:nvPr/>
          </p:nvSpPr>
          <p:spPr bwMode="auto">
            <a:xfrm>
              <a:off x="1176" y="3194"/>
              <a:ext cx="21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80988" name="Rectangle 93"/>
            <p:cNvSpPr>
              <a:spLocks noChangeArrowheads="1"/>
            </p:cNvSpPr>
            <p:nvPr/>
          </p:nvSpPr>
          <p:spPr bwMode="auto">
            <a:xfrm>
              <a:off x="672" y="3187"/>
              <a:ext cx="26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dirty="0">
                  <a:ln>
                    <a:noFill/>
                  </a:ln>
                  <a:solidFill>
                    <a:srgbClr val="FF0000"/>
                  </a:solidFill>
                  <a:effectLst/>
                  <a:uLnTx/>
                  <a:uFillTx/>
                  <a:latin typeface="+mn-lt"/>
                  <a:ea typeface="+mn-ea"/>
                  <a:cs typeface="+mn-ea"/>
                  <a:sym typeface="+mn-lt"/>
                </a:rPr>
                <a:t>H</a:t>
              </a:r>
            </a:p>
          </p:txBody>
        </p:sp>
        <p:sp>
          <p:nvSpPr>
            <p:cNvPr id="80989" name="Line 94"/>
            <p:cNvSpPr>
              <a:spLocks noChangeShapeType="1"/>
            </p:cNvSpPr>
            <p:nvPr/>
          </p:nvSpPr>
          <p:spPr bwMode="auto">
            <a:xfrm flipH="1">
              <a:off x="2041" y="1747"/>
              <a:ext cx="787" cy="338"/>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90" name="Line 95"/>
            <p:cNvSpPr>
              <a:spLocks noChangeShapeType="1"/>
            </p:cNvSpPr>
            <p:nvPr/>
          </p:nvSpPr>
          <p:spPr bwMode="auto">
            <a:xfrm>
              <a:off x="3435" y="1754"/>
              <a:ext cx="833" cy="323"/>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91" name="Line 96"/>
            <p:cNvSpPr>
              <a:spLocks noChangeShapeType="1"/>
            </p:cNvSpPr>
            <p:nvPr/>
          </p:nvSpPr>
          <p:spPr bwMode="auto">
            <a:xfrm flipH="1">
              <a:off x="953" y="2272"/>
              <a:ext cx="405" cy="338"/>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92" name="Line 97"/>
            <p:cNvSpPr>
              <a:spLocks noChangeShapeType="1"/>
            </p:cNvSpPr>
            <p:nvPr/>
          </p:nvSpPr>
          <p:spPr bwMode="auto">
            <a:xfrm>
              <a:off x="1951" y="2272"/>
              <a:ext cx="390" cy="345"/>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93" name="Line 98"/>
            <p:cNvSpPr>
              <a:spLocks noChangeShapeType="1"/>
            </p:cNvSpPr>
            <p:nvPr/>
          </p:nvSpPr>
          <p:spPr bwMode="auto">
            <a:xfrm flipH="1">
              <a:off x="3870" y="2265"/>
              <a:ext cx="398" cy="337"/>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94" name="Line 99"/>
            <p:cNvSpPr>
              <a:spLocks noChangeShapeType="1"/>
            </p:cNvSpPr>
            <p:nvPr/>
          </p:nvSpPr>
          <p:spPr bwMode="auto">
            <a:xfrm>
              <a:off x="4860" y="2280"/>
              <a:ext cx="413" cy="315"/>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95" name="Line 100"/>
            <p:cNvSpPr>
              <a:spLocks noChangeShapeType="1"/>
            </p:cNvSpPr>
            <p:nvPr/>
          </p:nvSpPr>
          <p:spPr bwMode="auto">
            <a:xfrm flipH="1">
              <a:off x="524" y="2820"/>
              <a:ext cx="114" cy="408"/>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96" name="Line 101"/>
            <p:cNvSpPr>
              <a:spLocks noChangeShapeType="1"/>
            </p:cNvSpPr>
            <p:nvPr/>
          </p:nvSpPr>
          <p:spPr bwMode="auto">
            <a:xfrm>
              <a:off x="1231" y="2812"/>
              <a:ext cx="652" cy="375"/>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4" name="Group 102"/>
          <p:cNvGrpSpPr/>
          <p:nvPr/>
        </p:nvGrpSpPr>
        <p:grpSpPr>
          <a:xfrm>
            <a:off x="1604963" y="3738563"/>
            <a:ext cx="6242050" cy="2668587"/>
            <a:chOff x="1006" y="1919"/>
            <a:chExt cx="3932" cy="1681"/>
          </a:xfrm>
        </p:grpSpPr>
        <p:sp>
          <p:nvSpPr>
            <p:cNvPr id="80998" name="Line 103"/>
            <p:cNvSpPr>
              <a:spLocks noChangeShapeType="1"/>
            </p:cNvSpPr>
            <p:nvPr/>
          </p:nvSpPr>
          <p:spPr bwMode="auto">
            <a:xfrm>
              <a:off x="1079" y="3356"/>
              <a:ext cx="0" cy="240"/>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0999" name="Line 104"/>
            <p:cNvSpPr>
              <a:spLocks noChangeShapeType="1"/>
            </p:cNvSpPr>
            <p:nvPr/>
          </p:nvSpPr>
          <p:spPr bwMode="auto">
            <a:xfrm>
              <a:off x="1089" y="3599"/>
              <a:ext cx="303" cy="1"/>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00" name="Line 105"/>
            <p:cNvSpPr>
              <a:spLocks noChangeShapeType="1"/>
            </p:cNvSpPr>
            <p:nvPr/>
          </p:nvSpPr>
          <p:spPr bwMode="auto">
            <a:xfrm flipH="1" flipV="1">
              <a:off x="1388" y="3157"/>
              <a:ext cx="1" cy="422"/>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01" name="Line 106"/>
            <p:cNvSpPr>
              <a:spLocks noChangeShapeType="1"/>
            </p:cNvSpPr>
            <p:nvPr/>
          </p:nvSpPr>
          <p:spPr bwMode="auto">
            <a:xfrm>
              <a:off x="1006" y="2940"/>
              <a:ext cx="382" cy="217"/>
            </a:xfrm>
            <a:prstGeom prst="line">
              <a:avLst/>
            </a:prstGeom>
            <a:noFill/>
            <a:ln w="25400">
              <a:solidFill>
                <a:schemeClr val="tx2"/>
              </a:solidFill>
              <a:prstDash val="sysDot"/>
              <a:round/>
              <a:headEnd type="stealth" w="med" len="lg"/>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02" name="Line 107"/>
            <p:cNvSpPr>
              <a:spLocks noChangeShapeType="1"/>
            </p:cNvSpPr>
            <p:nvPr/>
          </p:nvSpPr>
          <p:spPr bwMode="auto">
            <a:xfrm>
              <a:off x="1936" y="3375"/>
              <a:ext cx="0" cy="210"/>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03" name="Line 108"/>
            <p:cNvSpPr>
              <a:spLocks noChangeShapeType="1"/>
            </p:cNvSpPr>
            <p:nvPr/>
          </p:nvSpPr>
          <p:spPr bwMode="auto">
            <a:xfrm>
              <a:off x="1463" y="3592"/>
              <a:ext cx="466" cy="0"/>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04" name="Line 109"/>
            <p:cNvSpPr>
              <a:spLocks noChangeShapeType="1"/>
            </p:cNvSpPr>
            <p:nvPr/>
          </p:nvSpPr>
          <p:spPr bwMode="auto">
            <a:xfrm>
              <a:off x="1463" y="2977"/>
              <a:ext cx="0" cy="615"/>
            </a:xfrm>
            <a:prstGeom prst="line">
              <a:avLst/>
            </a:prstGeom>
            <a:noFill/>
            <a:ln w="25400">
              <a:solidFill>
                <a:schemeClr val="tx2"/>
              </a:solidFill>
              <a:prstDash val="sysDot"/>
              <a:round/>
              <a:headEnd type="stealth" w="med" len="lg"/>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05" name="Line 110"/>
            <p:cNvSpPr>
              <a:spLocks noChangeShapeType="1"/>
            </p:cNvSpPr>
            <p:nvPr/>
          </p:nvSpPr>
          <p:spPr bwMode="auto">
            <a:xfrm>
              <a:off x="1590" y="2430"/>
              <a:ext cx="1" cy="675"/>
            </a:xfrm>
            <a:prstGeom prst="line">
              <a:avLst/>
            </a:prstGeom>
            <a:noFill/>
            <a:ln w="25400">
              <a:solidFill>
                <a:schemeClr val="tx2"/>
              </a:solidFill>
              <a:prstDash val="sysDot"/>
              <a:round/>
              <a:headEnd type="stealth" w="med" len="lg"/>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06" name="Line 111"/>
            <p:cNvSpPr>
              <a:spLocks noChangeShapeType="1"/>
            </p:cNvSpPr>
            <p:nvPr/>
          </p:nvSpPr>
          <p:spPr bwMode="auto">
            <a:xfrm>
              <a:off x="1591" y="3097"/>
              <a:ext cx="1372" cy="0"/>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07" name="Line 112"/>
            <p:cNvSpPr>
              <a:spLocks noChangeShapeType="1"/>
            </p:cNvSpPr>
            <p:nvPr/>
          </p:nvSpPr>
          <p:spPr bwMode="auto">
            <a:xfrm>
              <a:off x="2963" y="3105"/>
              <a:ext cx="0" cy="495"/>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08" name="Line 113"/>
            <p:cNvSpPr>
              <a:spLocks noChangeShapeType="1"/>
            </p:cNvSpPr>
            <p:nvPr/>
          </p:nvSpPr>
          <p:spPr bwMode="auto">
            <a:xfrm>
              <a:off x="2513" y="3600"/>
              <a:ext cx="443" cy="0"/>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09" name="Line 114"/>
            <p:cNvSpPr>
              <a:spLocks noChangeShapeType="1"/>
            </p:cNvSpPr>
            <p:nvPr/>
          </p:nvSpPr>
          <p:spPr bwMode="auto">
            <a:xfrm>
              <a:off x="2513" y="3375"/>
              <a:ext cx="0" cy="210"/>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10" name="Line 115"/>
            <p:cNvSpPr>
              <a:spLocks noChangeShapeType="1"/>
            </p:cNvSpPr>
            <p:nvPr/>
          </p:nvSpPr>
          <p:spPr bwMode="auto">
            <a:xfrm>
              <a:off x="2063" y="2797"/>
              <a:ext cx="8" cy="218"/>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11" name="Line 116"/>
            <p:cNvSpPr>
              <a:spLocks noChangeShapeType="1"/>
            </p:cNvSpPr>
            <p:nvPr/>
          </p:nvSpPr>
          <p:spPr bwMode="auto">
            <a:xfrm>
              <a:off x="1666" y="3022"/>
              <a:ext cx="390" cy="0"/>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12" name="Line 117"/>
            <p:cNvSpPr>
              <a:spLocks noChangeShapeType="1"/>
            </p:cNvSpPr>
            <p:nvPr/>
          </p:nvSpPr>
          <p:spPr bwMode="auto">
            <a:xfrm>
              <a:off x="1666" y="2430"/>
              <a:ext cx="0" cy="592"/>
            </a:xfrm>
            <a:prstGeom prst="line">
              <a:avLst/>
            </a:prstGeom>
            <a:noFill/>
            <a:ln w="25400">
              <a:solidFill>
                <a:schemeClr val="tx2"/>
              </a:solidFill>
              <a:prstDash val="sysDot"/>
              <a:round/>
              <a:headEnd type="stealth" w="med" len="lg"/>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13" name="Line 118"/>
            <p:cNvSpPr>
              <a:spLocks noChangeShapeType="1"/>
            </p:cNvSpPr>
            <p:nvPr/>
          </p:nvSpPr>
          <p:spPr bwMode="auto">
            <a:xfrm>
              <a:off x="3523" y="2765"/>
              <a:ext cx="8" cy="218"/>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14" name="Line 119"/>
            <p:cNvSpPr>
              <a:spLocks noChangeShapeType="1"/>
            </p:cNvSpPr>
            <p:nvPr/>
          </p:nvSpPr>
          <p:spPr bwMode="auto">
            <a:xfrm>
              <a:off x="3126" y="2990"/>
              <a:ext cx="390" cy="0"/>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15" name="Line 120"/>
            <p:cNvSpPr>
              <a:spLocks noChangeShapeType="1"/>
            </p:cNvSpPr>
            <p:nvPr/>
          </p:nvSpPr>
          <p:spPr bwMode="auto">
            <a:xfrm flipH="1">
              <a:off x="3126" y="1919"/>
              <a:ext cx="3" cy="1071"/>
            </a:xfrm>
            <a:prstGeom prst="line">
              <a:avLst/>
            </a:prstGeom>
            <a:noFill/>
            <a:ln w="25400">
              <a:solidFill>
                <a:schemeClr val="tx2"/>
              </a:solidFill>
              <a:prstDash val="sysDot"/>
              <a:round/>
              <a:headEnd type="stealth" w="med" len="lg"/>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16" name="Line 121"/>
            <p:cNvSpPr>
              <a:spLocks noChangeShapeType="1"/>
            </p:cNvSpPr>
            <p:nvPr/>
          </p:nvSpPr>
          <p:spPr bwMode="auto">
            <a:xfrm>
              <a:off x="4929" y="2752"/>
              <a:ext cx="8" cy="218"/>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17" name="Line 122"/>
            <p:cNvSpPr>
              <a:spLocks noChangeShapeType="1"/>
            </p:cNvSpPr>
            <p:nvPr/>
          </p:nvSpPr>
          <p:spPr bwMode="auto">
            <a:xfrm>
              <a:off x="4596" y="2968"/>
              <a:ext cx="342" cy="0"/>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18" name="Line 123"/>
            <p:cNvSpPr>
              <a:spLocks noChangeShapeType="1"/>
            </p:cNvSpPr>
            <p:nvPr/>
          </p:nvSpPr>
          <p:spPr bwMode="auto">
            <a:xfrm flipH="1">
              <a:off x="4589" y="2407"/>
              <a:ext cx="1" cy="561"/>
            </a:xfrm>
            <a:prstGeom prst="line">
              <a:avLst/>
            </a:prstGeom>
            <a:noFill/>
            <a:ln w="25400">
              <a:solidFill>
                <a:schemeClr val="tx2"/>
              </a:solidFill>
              <a:prstDash val="sysDot"/>
              <a:round/>
              <a:headEnd type="stealth" w="med" len="lg"/>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19" name="Line 124"/>
            <p:cNvSpPr>
              <a:spLocks noChangeShapeType="1"/>
            </p:cNvSpPr>
            <p:nvPr/>
          </p:nvSpPr>
          <p:spPr bwMode="auto">
            <a:xfrm>
              <a:off x="3054" y="1927"/>
              <a:ext cx="5" cy="1056"/>
            </a:xfrm>
            <a:prstGeom prst="line">
              <a:avLst/>
            </a:prstGeom>
            <a:noFill/>
            <a:ln w="25400">
              <a:solidFill>
                <a:schemeClr val="tx2"/>
              </a:solidFill>
              <a:prstDash val="sysDot"/>
              <a:round/>
              <a:headEnd type="stealth" w="med" len="lg"/>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20" name="Line 125"/>
            <p:cNvSpPr>
              <a:spLocks noChangeShapeType="1"/>
            </p:cNvSpPr>
            <p:nvPr/>
          </p:nvSpPr>
          <p:spPr bwMode="auto">
            <a:xfrm>
              <a:off x="2661" y="2983"/>
              <a:ext cx="385" cy="2"/>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21" name="Line 126"/>
            <p:cNvSpPr>
              <a:spLocks noChangeShapeType="1"/>
            </p:cNvSpPr>
            <p:nvPr/>
          </p:nvSpPr>
          <p:spPr bwMode="auto">
            <a:xfrm>
              <a:off x="2661" y="2758"/>
              <a:ext cx="0" cy="210"/>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22" name="Line 127"/>
            <p:cNvSpPr>
              <a:spLocks noChangeShapeType="1"/>
            </p:cNvSpPr>
            <p:nvPr/>
          </p:nvSpPr>
          <p:spPr bwMode="auto">
            <a:xfrm flipH="1">
              <a:off x="4529" y="2407"/>
              <a:ext cx="1" cy="568"/>
            </a:xfrm>
            <a:prstGeom prst="line">
              <a:avLst/>
            </a:prstGeom>
            <a:noFill/>
            <a:ln w="25400">
              <a:solidFill>
                <a:schemeClr val="tx2"/>
              </a:solidFill>
              <a:prstDash val="sysDot"/>
              <a:round/>
              <a:headEnd type="stealth" w="med" len="lg"/>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23" name="Line 128"/>
            <p:cNvSpPr>
              <a:spLocks noChangeShapeType="1"/>
            </p:cNvSpPr>
            <p:nvPr/>
          </p:nvSpPr>
          <p:spPr bwMode="auto">
            <a:xfrm>
              <a:off x="4139" y="2975"/>
              <a:ext cx="391" cy="2"/>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24" name="Line 129"/>
            <p:cNvSpPr>
              <a:spLocks noChangeShapeType="1"/>
            </p:cNvSpPr>
            <p:nvPr/>
          </p:nvSpPr>
          <p:spPr bwMode="auto">
            <a:xfrm>
              <a:off x="4139" y="2750"/>
              <a:ext cx="0" cy="210"/>
            </a:xfrm>
            <a:prstGeom prst="line">
              <a:avLst/>
            </a:prstGeom>
            <a:noFill/>
            <a:ln w="25400">
              <a:solidFill>
                <a:schemeClr val="tx2"/>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779394" name="Text Box 130"/>
          <p:cNvSpPr txBox="1">
            <a:spLocks noChangeArrowheads="1"/>
          </p:cNvSpPr>
          <p:nvPr/>
        </p:nvSpPr>
        <p:spPr bwMode="auto">
          <a:xfrm>
            <a:off x="547688" y="1428750"/>
            <a:ext cx="7543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accent2"/>
                </a:solidFill>
                <a:effectLst/>
                <a:uLnTx/>
                <a:uFillTx/>
                <a:latin typeface="+mn-lt"/>
                <a:ea typeface="+mn-ea"/>
                <a:cs typeface="+mn-ea"/>
                <a:sym typeface="+mn-lt"/>
              </a:rPr>
              <a:t>注：此图中序遍历结果为</a:t>
            </a:r>
            <a:r>
              <a:rPr kumimoji="0" lang="zh-TW" altLang="en-US" sz="2400" b="0" i="0" u="none" strike="noStrike" kern="1200" cap="none" spc="0" normalizeH="0" baseline="0" noProof="0">
                <a:ln>
                  <a:noFill/>
                </a:ln>
                <a:solidFill>
                  <a:schemeClr val="accent2"/>
                </a:solidFill>
                <a:effectLst/>
                <a:uLnTx/>
                <a:uFillTx/>
                <a:latin typeface="+mn-lt"/>
                <a:ea typeface="+mn-ea"/>
                <a:cs typeface="+mn-ea"/>
                <a:sym typeface="+mn-lt"/>
              </a:rPr>
              <a:t>:  </a:t>
            </a:r>
            <a:r>
              <a:rPr kumimoji="0" lang="en-US" altLang="zh-TW" sz="2400" b="0" i="0" u="none" strike="noStrike" kern="1200" cap="none" spc="0" normalizeH="0" baseline="0" noProof="0">
                <a:ln>
                  <a:noFill/>
                </a:ln>
                <a:solidFill>
                  <a:srgbClr val="FF3300"/>
                </a:solidFill>
                <a:effectLst/>
                <a:uLnTx/>
                <a:uFillTx/>
                <a:latin typeface="+mn-lt"/>
                <a:ea typeface="+mn-ea"/>
                <a:cs typeface="+mn-ea"/>
                <a:sym typeface="+mn-lt"/>
              </a:rPr>
              <a:t>H</a:t>
            </a:r>
            <a:r>
              <a:rPr kumimoji="0" lang="en-US" altLang="zh-TW" sz="2400" b="0" i="0" u="none" strike="noStrike" kern="1200" cap="none" spc="0" normalizeH="0" baseline="0" noProof="0">
                <a:ln>
                  <a:noFill/>
                </a:ln>
                <a:solidFill>
                  <a:schemeClr val="accent2"/>
                </a:solidFill>
                <a:effectLst/>
                <a:uLnTx/>
                <a:uFillTx/>
                <a:latin typeface="+mn-lt"/>
                <a:ea typeface="+mn-ea"/>
                <a:cs typeface="+mn-ea"/>
                <a:sym typeface="+mn-lt"/>
              </a:rPr>
              <a:t>, D, I, B, E, A, F, C, </a:t>
            </a:r>
            <a:r>
              <a:rPr kumimoji="0" lang="en-US" altLang="zh-TW" sz="2400" b="0" i="0" u="none" strike="noStrike" kern="1200" cap="none" spc="0" normalizeH="0" baseline="0" noProof="0">
                <a:ln>
                  <a:noFill/>
                </a:ln>
                <a:solidFill>
                  <a:srgbClr val="FF3300"/>
                </a:solidFill>
                <a:effectLst/>
                <a:uLnTx/>
                <a:uFillTx/>
                <a:latin typeface="+mn-lt"/>
                <a:ea typeface="+mn-ea"/>
                <a:cs typeface="+mn-ea"/>
                <a:sym typeface="+mn-lt"/>
              </a:rPr>
              <a:t>G</a:t>
            </a:r>
          </a:p>
        </p:txBody>
      </p:sp>
      <p:grpSp>
        <p:nvGrpSpPr>
          <p:cNvPr id="15" name="Group 132"/>
          <p:cNvGrpSpPr/>
          <p:nvPr/>
        </p:nvGrpSpPr>
        <p:grpSpPr>
          <a:xfrm>
            <a:off x="2405063" y="2222500"/>
            <a:ext cx="4003675" cy="981075"/>
            <a:chOff x="1510" y="964"/>
            <a:chExt cx="2522" cy="618"/>
          </a:xfrm>
        </p:grpSpPr>
        <p:grpSp>
          <p:nvGrpSpPr>
            <p:cNvPr id="83979" name="Group 133"/>
            <p:cNvGrpSpPr/>
            <p:nvPr/>
          </p:nvGrpSpPr>
          <p:grpSpPr>
            <a:xfrm>
              <a:off x="2487" y="1042"/>
              <a:ext cx="1274" cy="274"/>
              <a:chOff x="2524" y="1245"/>
              <a:chExt cx="1274" cy="274"/>
            </a:xfrm>
          </p:grpSpPr>
          <p:sp>
            <p:nvSpPr>
              <p:cNvPr id="81028" name="Rectangle 134"/>
              <p:cNvSpPr>
                <a:spLocks noChangeArrowheads="1"/>
              </p:cNvSpPr>
              <p:nvPr/>
            </p:nvSpPr>
            <p:spPr bwMode="auto">
              <a:xfrm>
                <a:off x="2524" y="1249"/>
                <a:ext cx="1274" cy="270"/>
              </a:xfrm>
              <a:prstGeom prst="rect">
                <a:avLst/>
              </a:prstGeom>
              <a:noFill/>
              <a:ln w="12700">
                <a:solidFill>
                  <a:schemeClr val="accent2"/>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29" name="Line 135"/>
              <p:cNvSpPr>
                <a:spLocks noChangeShapeType="1"/>
              </p:cNvSpPr>
              <p:nvPr/>
            </p:nvSpPr>
            <p:spPr bwMode="auto">
              <a:xfrm>
                <a:off x="2760" y="1253"/>
                <a:ext cx="0" cy="262"/>
              </a:xfrm>
              <a:prstGeom prst="line">
                <a:avLst/>
              </a:prstGeom>
              <a:noFill/>
              <a:ln w="12700">
                <a:solidFill>
                  <a:schemeClr val="accent2"/>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30" name="Line 136"/>
              <p:cNvSpPr>
                <a:spLocks noChangeShapeType="1"/>
              </p:cNvSpPr>
              <p:nvPr/>
            </p:nvSpPr>
            <p:spPr bwMode="auto">
              <a:xfrm>
                <a:off x="3570" y="1253"/>
                <a:ext cx="0" cy="262"/>
              </a:xfrm>
              <a:prstGeom prst="line">
                <a:avLst/>
              </a:prstGeom>
              <a:noFill/>
              <a:ln w="12700">
                <a:solidFill>
                  <a:schemeClr val="accent2"/>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31" name="Line 137"/>
              <p:cNvSpPr>
                <a:spLocks noChangeShapeType="1"/>
              </p:cNvSpPr>
              <p:nvPr/>
            </p:nvSpPr>
            <p:spPr bwMode="auto">
              <a:xfrm>
                <a:off x="2985" y="1245"/>
                <a:ext cx="0" cy="270"/>
              </a:xfrm>
              <a:prstGeom prst="line">
                <a:avLst/>
              </a:prstGeom>
              <a:noFill/>
              <a:ln w="12700">
                <a:solidFill>
                  <a:schemeClr val="accent2"/>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32" name="Line 138"/>
              <p:cNvSpPr>
                <a:spLocks noChangeShapeType="1"/>
              </p:cNvSpPr>
              <p:nvPr/>
            </p:nvSpPr>
            <p:spPr bwMode="auto">
              <a:xfrm>
                <a:off x="3352" y="1245"/>
                <a:ext cx="0" cy="263"/>
              </a:xfrm>
              <a:prstGeom prst="line">
                <a:avLst/>
              </a:prstGeom>
              <a:noFill/>
              <a:ln w="12700">
                <a:solidFill>
                  <a:schemeClr val="accent2"/>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81033" name="Rectangle 139"/>
            <p:cNvSpPr>
              <a:spLocks noChangeArrowheads="1"/>
            </p:cNvSpPr>
            <p:nvPr/>
          </p:nvSpPr>
          <p:spPr bwMode="auto">
            <a:xfrm>
              <a:off x="2518" y="1050"/>
              <a:ext cx="17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81034" name="Rectangle 140"/>
            <p:cNvSpPr>
              <a:spLocks noChangeArrowheads="1"/>
            </p:cNvSpPr>
            <p:nvPr/>
          </p:nvSpPr>
          <p:spPr bwMode="auto">
            <a:xfrm>
              <a:off x="2948" y="1024"/>
              <a:ext cx="389" cy="291"/>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TW" altLang="en-US" sz="2400" b="1" i="0" u="none" strike="noStrike" kern="1200" cap="none" spc="0" normalizeH="0" baseline="0" noProof="0">
                  <a:ln>
                    <a:noFill/>
                  </a:ln>
                  <a:solidFill>
                    <a:srgbClr val="66FF33"/>
                  </a:solidFill>
                  <a:effectLst/>
                  <a:uLnTx/>
                  <a:uFillTx/>
                  <a:latin typeface="+mn-lt"/>
                  <a:ea typeface="+mn-ea"/>
                  <a:cs typeface="+mn-ea"/>
                  <a:sym typeface="+mn-lt"/>
                </a:rPr>
                <a:t>--</a:t>
              </a:r>
            </a:p>
          </p:txBody>
        </p:sp>
        <p:sp>
          <p:nvSpPr>
            <p:cNvPr id="81035" name="Line 141"/>
            <p:cNvSpPr>
              <a:spLocks noChangeShapeType="1"/>
            </p:cNvSpPr>
            <p:nvPr/>
          </p:nvSpPr>
          <p:spPr bwMode="auto">
            <a:xfrm flipH="1">
              <a:off x="2626" y="1237"/>
              <a:ext cx="240" cy="345"/>
            </a:xfrm>
            <a:prstGeom prst="line">
              <a:avLst/>
            </a:prstGeom>
            <a:noFill/>
            <a:ln w="12700">
              <a:solidFill>
                <a:schemeClr val="accent2"/>
              </a:solidFill>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36" name="Line 142"/>
            <p:cNvSpPr>
              <a:spLocks noChangeShapeType="1"/>
            </p:cNvSpPr>
            <p:nvPr/>
          </p:nvSpPr>
          <p:spPr bwMode="auto">
            <a:xfrm>
              <a:off x="3456" y="1215"/>
              <a:ext cx="0" cy="225"/>
            </a:xfrm>
            <a:prstGeom prst="line">
              <a:avLst/>
            </a:prstGeom>
            <a:noFill/>
            <a:ln w="12700">
              <a:solidFill>
                <a:schemeClr val="accent2"/>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37" name="Line 143"/>
            <p:cNvSpPr>
              <a:spLocks noChangeShapeType="1"/>
            </p:cNvSpPr>
            <p:nvPr/>
          </p:nvSpPr>
          <p:spPr bwMode="auto">
            <a:xfrm>
              <a:off x="3469" y="1440"/>
              <a:ext cx="563" cy="0"/>
            </a:xfrm>
            <a:prstGeom prst="line">
              <a:avLst/>
            </a:prstGeom>
            <a:noFill/>
            <a:ln w="12700">
              <a:solidFill>
                <a:schemeClr val="accent2"/>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38" name="Line 144"/>
            <p:cNvSpPr>
              <a:spLocks noChangeShapeType="1"/>
            </p:cNvSpPr>
            <p:nvPr/>
          </p:nvSpPr>
          <p:spPr bwMode="auto">
            <a:xfrm>
              <a:off x="4032" y="1248"/>
              <a:ext cx="0" cy="192"/>
            </a:xfrm>
            <a:prstGeom prst="line">
              <a:avLst/>
            </a:prstGeom>
            <a:noFill/>
            <a:ln w="12700">
              <a:solidFill>
                <a:schemeClr val="accent2"/>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39" name="Line 145"/>
            <p:cNvSpPr>
              <a:spLocks noChangeShapeType="1"/>
            </p:cNvSpPr>
            <p:nvPr/>
          </p:nvSpPr>
          <p:spPr bwMode="auto">
            <a:xfrm>
              <a:off x="3744" y="1248"/>
              <a:ext cx="288" cy="0"/>
            </a:xfrm>
            <a:prstGeom prst="line">
              <a:avLst/>
            </a:prstGeom>
            <a:noFill/>
            <a:ln w="12700">
              <a:solidFill>
                <a:schemeClr val="accent2"/>
              </a:solidFill>
              <a:round/>
              <a:headEnd type="stealth" w="med" len="lg"/>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40" name="Line 146"/>
            <p:cNvSpPr>
              <a:spLocks noChangeShapeType="1"/>
            </p:cNvSpPr>
            <p:nvPr/>
          </p:nvSpPr>
          <p:spPr bwMode="auto">
            <a:xfrm>
              <a:off x="1906" y="1169"/>
              <a:ext cx="570" cy="0"/>
            </a:xfrm>
            <a:prstGeom prst="line">
              <a:avLst/>
            </a:prstGeom>
            <a:noFill/>
            <a:ln w="12700">
              <a:solidFill>
                <a:schemeClr val="accent2"/>
              </a:solidFill>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041" name="Rectangle 147"/>
            <p:cNvSpPr>
              <a:spLocks noChangeArrowheads="1"/>
            </p:cNvSpPr>
            <p:nvPr/>
          </p:nvSpPr>
          <p:spPr bwMode="auto">
            <a:xfrm>
              <a:off x="1510" y="964"/>
              <a:ext cx="45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root</a:t>
              </a:r>
            </a:p>
          </p:txBody>
        </p:sp>
        <p:sp>
          <p:nvSpPr>
            <p:cNvPr id="81042" name="Rectangle 148"/>
            <p:cNvSpPr>
              <a:spLocks noChangeArrowheads="1"/>
            </p:cNvSpPr>
            <p:nvPr/>
          </p:nvSpPr>
          <p:spPr bwMode="auto">
            <a:xfrm>
              <a:off x="3552" y="1056"/>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TW" sz="2400" b="1" i="0" u="none" strike="noStrike" kern="1200" cap="none" spc="0" normalizeH="0" baseline="0" noProof="0">
                  <a:ln>
                    <a:noFill/>
                  </a:ln>
                  <a:solidFill>
                    <a:schemeClr val="tx1"/>
                  </a:solidFill>
                  <a:effectLst/>
                  <a:uLnTx/>
                  <a:uFillTx/>
                  <a:latin typeface="+mn-lt"/>
                  <a:ea typeface="+mn-ea"/>
                  <a:cs typeface="+mn-ea"/>
                  <a:sym typeface="+mn-lt"/>
                </a:rPr>
                <a:t>0</a:t>
              </a:r>
              <a:endParaRPr kumimoji="0" lang="en-US"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47" name="Rectangle 86"/>
          <p:cNvSpPr>
            <a:spLocks noChangeArrowheads="1"/>
          </p:cNvSpPr>
          <p:nvPr/>
        </p:nvSpPr>
        <p:spPr bwMode="auto">
          <a:xfrm>
            <a:off x="825500" y="153988"/>
            <a:ext cx="233997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练习</a:t>
            </a:r>
          </a:p>
        </p:txBody>
      </p:sp>
    </p:spTree>
  </p:cSld>
  <p:clrMapOvr>
    <a:masterClrMapping/>
  </p:clrMapOvr>
  <p:transition>
    <p:pull dir="l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8" presetClass="entr" presetSubtype="6" fill="hold" grpId="0" nodeType="clickEffect">
                                  <p:stCondLst>
                                    <p:cond delay="0"/>
                                  </p:stCondLst>
                                  <p:childTnLst>
                                    <p:set>
                                      <p:cBhvr>
                                        <p:cTn id="10" dur="1" fill="hold">
                                          <p:stCondLst>
                                            <p:cond delay="0"/>
                                          </p:stCondLst>
                                        </p:cTn>
                                        <p:tgtEl>
                                          <p:spTgt spid="779394"/>
                                        </p:tgtEl>
                                        <p:attrNameLst>
                                          <p:attrName>style.visibility</p:attrName>
                                        </p:attrNameLst>
                                      </p:cBhvr>
                                      <p:to>
                                        <p:strVal val="visible"/>
                                      </p:to>
                                    </p:set>
                                    <p:animEffect transition="in" filter="strips(downRight)">
                                      <p:cBhvr>
                                        <p:cTn id="11" dur="500"/>
                                        <p:tgtEl>
                                          <p:spTgt spid="779394"/>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dissolve">
                                      <p:cBhvr>
                                        <p:cTn id="16" dur="500"/>
                                        <p:tgtEl>
                                          <p:spTgt spid="15"/>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wipe(down)">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nodeType="click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wipe(down)">
                                      <p:cBhvr>
                                        <p:cTn id="26" dur="500"/>
                                        <p:tgtEl>
                                          <p:spTgt spid="2"/>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wipe(right)">
                                      <p:cBhvr>
                                        <p:cTn id="3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9394" grpId="0"/>
    </p:bldLst>
  </p:timing>
</p:sld>
</file>

<file path=ppt/slides/slide7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0114" name="矩形 2"/>
          <p:cNvSpPr/>
          <p:nvPr/>
        </p:nvSpPr>
        <p:spPr>
          <a:xfrm>
            <a:off x="0" y="2486025"/>
            <a:ext cx="5219700" cy="3463925"/>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90115" name="矩形 54"/>
          <p:cNvSpPr/>
          <p:nvPr/>
        </p:nvSpPr>
        <p:spPr>
          <a:xfrm>
            <a:off x="5499100" y="2486025"/>
            <a:ext cx="3644900" cy="3463925"/>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81922" name="Rectangle 6"/>
          <p:cNvSpPr>
            <a:spLocks noChangeArrowheads="1"/>
          </p:cNvSpPr>
          <p:nvPr/>
        </p:nvSpPr>
        <p:spPr bwMode="auto">
          <a:xfrm>
            <a:off x="-17462" y="1468438"/>
            <a:ext cx="6207125" cy="657225"/>
          </a:xfrm>
          <a:prstGeom prst="roundRect">
            <a:avLst/>
          </a:prstGeom>
          <a:solidFill>
            <a:srgbClr val="A78DC2"/>
          </a:solidFill>
          <a:ln w="38100">
            <a:noFill/>
            <a:miter lim="800000"/>
          </a:ln>
        </p:spPr>
        <p:txBody>
          <a:bodyPr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画出与二叉树对应的中序线索二叉树 </a:t>
            </a:r>
          </a:p>
        </p:txBody>
      </p:sp>
      <p:grpSp>
        <p:nvGrpSpPr>
          <p:cNvPr id="2" name="Group 7"/>
          <p:cNvGrpSpPr/>
          <p:nvPr/>
        </p:nvGrpSpPr>
        <p:grpSpPr>
          <a:xfrm>
            <a:off x="1022350" y="2735263"/>
            <a:ext cx="3429000" cy="2881312"/>
            <a:chOff x="1174" y="864"/>
            <a:chExt cx="2160" cy="1815"/>
          </a:xfrm>
        </p:grpSpPr>
        <p:sp>
          <p:nvSpPr>
            <p:cNvPr id="81924" name="Rectangle 8"/>
            <p:cNvSpPr>
              <a:spLocks noChangeArrowheads="1"/>
            </p:cNvSpPr>
            <p:nvPr/>
          </p:nvSpPr>
          <p:spPr bwMode="auto">
            <a:xfrm>
              <a:off x="2192" y="864"/>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28</a:t>
              </a:r>
            </a:p>
          </p:txBody>
        </p:sp>
        <p:sp>
          <p:nvSpPr>
            <p:cNvPr id="81925" name="Rectangle 9"/>
            <p:cNvSpPr>
              <a:spLocks noChangeArrowheads="1"/>
            </p:cNvSpPr>
            <p:nvPr/>
          </p:nvSpPr>
          <p:spPr bwMode="auto">
            <a:xfrm>
              <a:off x="1798" y="1392"/>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25</a:t>
              </a:r>
            </a:p>
          </p:txBody>
        </p:sp>
        <p:grpSp>
          <p:nvGrpSpPr>
            <p:cNvPr id="85032" name="Group 10"/>
            <p:cNvGrpSpPr/>
            <p:nvPr/>
          </p:nvGrpSpPr>
          <p:grpSpPr>
            <a:xfrm>
              <a:off x="1680" y="1680"/>
              <a:ext cx="480" cy="240"/>
              <a:chOff x="2304" y="2352"/>
              <a:chExt cx="480" cy="240"/>
            </a:xfrm>
          </p:grpSpPr>
          <p:sp>
            <p:nvSpPr>
              <p:cNvPr id="81927" name="Line 11"/>
              <p:cNvSpPr>
                <a:spLocks noChangeShapeType="1"/>
              </p:cNvSpPr>
              <p:nvPr/>
            </p:nvSpPr>
            <p:spPr bwMode="auto">
              <a:xfrm flipH="1">
                <a:off x="2304" y="2352"/>
                <a:ext cx="192" cy="240"/>
              </a:xfrm>
              <a:prstGeom prst="line">
                <a:avLst/>
              </a:prstGeom>
              <a:noFill/>
              <a:ln w="22225">
                <a:solidFill>
                  <a:schemeClr val="tx2"/>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928" name="Line 12"/>
              <p:cNvSpPr>
                <a:spLocks noChangeShapeType="1"/>
              </p:cNvSpPr>
              <p:nvPr/>
            </p:nvSpPr>
            <p:spPr bwMode="auto">
              <a:xfrm>
                <a:off x="2640" y="2352"/>
                <a:ext cx="144" cy="240"/>
              </a:xfrm>
              <a:prstGeom prst="line">
                <a:avLst/>
              </a:prstGeom>
              <a:noFill/>
              <a:ln w="22225">
                <a:solidFill>
                  <a:schemeClr val="tx2"/>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5033" name="Group 13"/>
            <p:cNvGrpSpPr/>
            <p:nvPr/>
          </p:nvGrpSpPr>
          <p:grpSpPr>
            <a:xfrm>
              <a:off x="2112" y="1200"/>
              <a:ext cx="480" cy="240"/>
              <a:chOff x="2304" y="2352"/>
              <a:chExt cx="480" cy="240"/>
            </a:xfrm>
          </p:grpSpPr>
          <p:sp>
            <p:nvSpPr>
              <p:cNvPr id="81930" name="Line 14"/>
              <p:cNvSpPr>
                <a:spLocks noChangeShapeType="1"/>
              </p:cNvSpPr>
              <p:nvPr/>
            </p:nvSpPr>
            <p:spPr bwMode="auto">
              <a:xfrm flipH="1">
                <a:off x="2304" y="2352"/>
                <a:ext cx="192" cy="240"/>
              </a:xfrm>
              <a:prstGeom prst="line">
                <a:avLst/>
              </a:prstGeom>
              <a:noFill/>
              <a:ln w="22225">
                <a:solidFill>
                  <a:schemeClr val="tx2"/>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931" name="Line 15"/>
              <p:cNvSpPr>
                <a:spLocks noChangeShapeType="1"/>
              </p:cNvSpPr>
              <p:nvPr/>
            </p:nvSpPr>
            <p:spPr bwMode="auto">
              <a:xfrm>
                <a:off x="2640" y="2352"/>
                <a:ext cx="144" cy="240"/>
              </a:xfrm>
              <a:prstGeom prst="line">
                <a:avLst/>
              </a:prstGeom>
              <a:noFill/>
              <a:ln w="22225">
                <a:solidFill>
                  <a:schemeClr val="tx2"/>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81932" name="Rectangle 16"/>
            <p:cNvSpPr>
              <a:spLocks noChangeArrowheads="1"/>
            </p:cNvSpPr>
            <p:nvPr/>
          </p:nvSpPr>
          <p:spPr bwMode="auto">
            <a:xfrm>
              <a:off x="1462" y="1872"/>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40</a:t>
              </a:r>
            </a:p>
          </p:txBody>
        </p:sp>
        <p:sp>
          <p:nvSpPr>
            <p:cNvPr id="81933" name="Line 17"/>
            <p:cNvSpPr>
              <a:spLocks noChangeShapeType="1"/>
            </p:cNvSpPr>
            <p:nvPr/>
          </p:nvSpPr>
          <p:spPr bwMode="auto">
            <a:xfrm flipH="1">
              <a:off x="1366" y="2160"/>
              <a:ext cx="192" cy="240"/>
            </a:xfrm>
            <a:prstGeom prst="line">
              <a:avLst/>
            </a:prstGeom>
            <a:noFill/>
            <a:ln w="22225">
              <a:solidFill>
                <a:schemeClr val="tx2"/>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934" name="Rectangle 18"/>
            <p:cNvSpPr>
              <a:spLocks noChangeArrowheads="1"/>
            </p:cNvSpPr>
            <p:nvPr/>
          </p:nvSpPr>
          <p:spPr bwMode="auto">
            <a:xfrm>
              <a:off x="1174" y="2352"/>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55</a:t>
              </a:r>
            </a:p>
          </p:txBody>
        </p:sp>
        <p:sp>
          <p:nvSpPr>
            <p:cNvPr id="81935" name="Rectangle 19"/>
            <p:cNvSpPr>
              <a:spLocks noChangeArrowheads="1"/>
            </p:cNvSpPr>
            <p:nvPr/>
          </p:nvSpPr>
          <p:spPr bwMode="auto">
            <a:xfrm>
              <a:off x="1990" y="1872"/>
              <a:ext cx="374"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60</a:t>
              </a:r>
            </a:p>
          </p:txBody>
        </p:sp>
        <p:sp>
          <p:nvSpPr>
            <p:cNvPr id="81936" name="Rectangle 20"/>
            <p:cNvSpPr>
              <a:spLocks noChangeArrowheads="1"/>
            </p:cNvSpPr>
            <p:nvPr/>
          </p:nvSpPr>
          <p:spPr bwMode="auto">
            <a:xfrm>
              <a:off x="2564" y="1392"/>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33</a:t>
              </a:r>
            </a:p>
          </p:txBody>
        </p:sp>
        <p:grpSp>
          <p:nvGrpSpPr>
            <p:cNvPr id="85039" name="Group 21"/>
            <p:cNvGrpSpPr/>
            <p:nvPr/>
          </p:nvGrpSpPr>
          <p:grpSpPr>
            <a:xfrm>
              <a:off x="2470" y="1680"/>
              <a:ext cx="480" cy="240"/>
              <a:chOff x="2304" y="2352"/>
              <a:chExt cx="480" cy="240"/>
            </a:xfrm>
          </p:grpSpPr>
          <p:sp>
            <p:nvSpPr>
              <p:cNvPr id="81938" name="Line 22"/>
              <p:cNvSpPr>
                <a:spLocks noChangeShapeType="1"/>
              </p:cNvSpPr>
              <p:nvPr/>
            </p:nvSpPr>
            <p:spPr bwMode="auto">
              <a:xfrm flipH="1">
                <a:off x="2304" y="2352"/>
                <a:ext cx="192" cy="240"/>
              </a:xfrm>
              <a:prstGeom prst="line">
                <a:avLst/>
              </a:prstGeom>
              <a:noFill/>
              <a:ln w="22225">
                <a:solidFill>
                  <a:schemeClr val="tx2"/>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939" name="Line 23"/>
              <p:cNvSpPr>
                <a:spLocks noChangeShapeType="1"/>
              </p:cNvSpPr>
              <p:nvPr/>
            </p:nvSpPr>
            <p:spPr bwMode="auto">
              <a:xfrm>
                <a:off x="2640" y="2352"/>
                <a:ext cx="144" cy="240"/>
              </a:xfrm>
              <a:prstGeom prst="line">
                <a:avLst/>
              </a:prstGeom>
              <a:noFill/>
              <a:ln w="22225">
                <a:solidFill>
                  <a:schemeClr val="tx2"/>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81940" name="Rectangle 24"/>
            <p:cNvSpPr>
              <a:spLocks noChangeArrowheads="1"/>
            </p:cNvSpPr>
            <p:nvPr/>
          </p:nvSpPr>
          <p:spPr bwMode="auto">
            <a:xfrm>
              <a:off x="2304" y="1872"/>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08</a:t>
              </a:r>
            </a:p>
          </p:txBody>
        </p:sp>
        <p:sp>
          <p:nvSpPr>
            <p:cNvPr id="81941" name="Rectangle 25"/>
            <p:cNvSpPr>
              <a:spLocks noChangeArrowheads="1"/>
            </p:cNvSpPr>
            <p:nvPr/>
          </p:nvSpPr>
          <p:spPr bwMode="auto">
            <a:xfrm>
              <a:off x="2854" y="1872"/>
              <a:ext cx="48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none" strike="noStrike" kern="1200" cap="none" spc="0" normalizeH="0" baseline="0" noProof="0">
                  <a:ln>
                    <a:noFill/>
                  </a:ln>
                  <a:solidFill>
                    <a:schemeClr val="tx1"/>
                  </a:solidFill>
                  <a:effectLst/>
                  <a:uLnTx/>
                  <a:uFillTx/>
                  <a:latin typeface="+mn-lt"/>
                  <a:ea typeface="+mn-ea"/>
                  <a:cs typeface="+mn-ea"/>
                  <a:sym typeface="+mn-lt"/>
                </a:rPr>
                <a:t>54</a:t>
              </a:r>
            </a:p>
          </p:txBody>
        </p:sp>
      </p:grpSp>
      <p:sp>
        <p:nvSpPr>
          <p:cNvPr id="780314" name="Rectangle 26"/>
          <p:cNvSpPr>
            <a:spLocks noChangeArrowheads="1"/>
          </p:cNvSpPr>
          <p:nvPr/>
        </p:nvSpPr>
        <p:spPr bwMode="auto">
          <a:xfrm>
            <a:off x="5491163" y="2565400"/>
            <a:ext cx="3652838" cy="3324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因为中序遍历序列是：</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55</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40 25 60 </a:t>
            </a:r>
            <a:r>
              <a:rPr kumimoji="0" lang="en-US" altLang="zh-CN" sz="2800" b="0" i="0" u="none" strike="noStrike" kern="1200" cap="none" spc="0" normalizeH="0" baseline="0" noProof="0" dirty="0">
                <a:ln>
                  <a:noFill/>
                </a:ln>
                <a:solidFill>
                  <a:schemeClr val="hlink"/>
                </a:solidFill>
                <a:effectLst/>
                <a:uLnTx/>
                <a:uFillTx/>
                <a:latin typeface="+mn-lt"/>
                <a:ea typeface="+mn-ea"/>
                <a:cs typeface="+mn-ea"/>
                <a:sym typeface="+mn-lt"/>
              </a:rPr>
              <a:t>28</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08 33 </a:t>
            </a:r>
            <a:r>
              <a:rPr kumimoji="0" lang="en-US" altLang="zh-CN" sz="2800" b="0" i="0" u="none" strike="noStrike" kern="1200" cap="none" spc="0" normalizeH="0" baseline="0" noProof="0" dirty="0">
                <a:ln>
                  <a:noFill/>
                </a:ln>
                <a:solidFill>
                  <a:srgbClr val="FF3300"/>
                </a:solidFill>
                <a:effectLst/>
                <a:uLnTx/>
                <a:uFillTx/>
                <a:latin typeface="+mn-lt"/>
                <a:ea typeface="+mn-ea"/>
                <a:cs typeface="+mn-ea"/>
                <a:sym typeface="+mn-lt"/>
              </a:rPr>
              <a:t>54</a:t>
            </a:r>
          </a:p>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对应线索树应当按此规律连线，即</a:t>
            </a:r>
            <a:r>
              <a:rPr kumimoji="0" lang="zh-CN" altLang="en-US" sz="2800" b="0" i="0" u="none" strike="noStrike" kern="1200" cap="none" spc="0" normalizeH="0" baseline="0" noProof="0" dirty="0">
                <a:ln>
                  <a:noFill/>
                </a:ln>
                <a:solidFill>
                  <a:schemeClr val="accent2"/>
                </a:solidFill>
                <a:effectLst/>
                <a:uLnTx/>
                <a:uFillTx/>
                <a:latin typeface="+mn-lt"/>
                <a:ea typeface="+mn-ea"/>
                <a:cs typeface="+mn-ea"/>
                <a:sym typeface="+mn-lt"/>
              </a:rPr>
              <a:t>在原二叉树中添加虚线。</a:t>
            </a:r>
            <a:endPar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endParaRPr>
          </a:p>
        </p:txBody>
      </p:sp>
      <p:grpSp>
        <p:nvGrpSpPr>
          <p:cNvPr id="6" name="Group 27"/>
          <p:cNvGrpSpPr/>
          <p:nvPr/>
        </p:nvGrpSpPr>
        <p:grpSpPr>
          <a:xfrm>
            <a:off x="301625" y="3192463"/>
            <a:ext cx="4578350" cy="2133600"/>
            <a:chOff x="720" y="1200"/>
            <a:chExt cx="2884" cy="1344"/>
          </a:xfrm>
        </p:grpSpPr>
        <p:grpSp>
          <p:nvGrpSpPr>
            <p:cNvPr id="85001" name="Group 28"/>
            <p:cNvGrpSpPr/>
            <p:nvPr/>
          </p:nvGrpSpPr>
          <p:grpSpPr>
            <a:xfrm>
              <a:off x="912" y="1922"/>
              <a:ext cx="247" cy="622"/>
              <a:chOff x="192" y="2208"/>
              <a:chExt cx="247" cy="622"/>
            </a:xfrm>
          </p:grpSpPr>
          <p:sp>
            <p:nvSpPr>
              <p:cNvPr id="81945" name="Line 29"/>
              <p:cNvSpPr>
                <a:spLocks noChangeShapeType="1"/>
              </p:cNvSpPr>
              <p:nvPr/>
            </p:nvSpPr>
            <p:spPr bwMode="auto">
              <a:xfrm flipH="1">
                <a:off x="200" y="2829"/>
                <a:ext cx="239" cy="1"/>
              </a:xfrm>
              <a:prstGeom prst="line">
                <a:avLst/>
              </a:prstGeom>
              <a:noFill/>
              <a:ln w="12700">
                <a:solidFill>
                  <a:schemeClr val="hlink"/>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946" name="Line 30"/>
              <p:cNvSpPr>
                <a:spLocks noChangeShapeType="1"/>
              </p:cNvSpPr>
              <p:nvPr/>
            </p:nvSpPr>
            <p:spPr bwMode="auto">
              <a:xfrm flipH="1" flipV="1">
                <a:off x="192" y="2208"/>
                <a:ext cx="1" cy="621"/>
              </a:xfrm>
              <a:prstGeom prst="line">
                <a:avLst/>
              </a:prstGeom>
              <a:noFill/>
              <a:ln w="12700">
                <a:solidFill>
                  <a:schemeClr val="hlink"/>
                </a:solidFill>
                <a:prstDash val="sysDot"/>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81947" name="Rectangle 31"/>
            <p:cNvSpPr>
              <a:spLocks noChangeArrowheads="1"/>
            </p:cNvSpPr>
            <p:nvPr/>
          </p:nvSpPr>
          <p:spPr bwMode="auto">
            <a:xfrm>
              <a:off x="720" y="1536"/>
              <a:ext cx="46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rgbClr val="FFC000"/>
                  </a:solidFill>
                  <a:effectLst/>
                  <a:uLnTx/>
                  <a:uFillTx/>
                  <a:latin typeface="+mn-lt"/>
                  <a:ea typeface="+mn-ea"/>
                  <a:cs typeface="+mn-ea"/>
                  <a:sym typeface="+mn-lt"/>
                </a:rPr>
                <a:t>NIL</a:t>
              </a:r>
            </a:p>
          </p:txBody>
        </p:sp>
        <p:grpSp>
          <p:nvGrpSpPr>
            <p:cNvPr id="85003" name="Group 32"/>
            <p:cNvGrpSpPr/>
            <p:nvPr/>
          </p:nvGrpSpPr>
          <p:grpSpPr>
            <a:xfrm>
              <a:off x="1462" y="2160"/>
              <a:ext cx="199" cy="384"/>
              <a:chOff x="1001" y="3183"/>
              <a:chExt cx="247" cy="526"/>
            </a:xfrm>
          </p:grpSpPr>
          <p:sp>
            <p:nvSpPr>
              <p:cNvPr id="81949" name="Line 33"/>
              <p:cNvSpPr>
                <a:spLocks noChangeShapeType="1"/>
              </p:cNvSpPr>
              <p:nvPr/>
            </p:nvSpPr>
            <p:spPr bwMode="auto">
              <a:xfrm>
                <a:off x="1001" y="3708"/>
                <a:ext cx="240" cy="1"/>
              </a:xfrm>
              <a:prstGeom prst="line">
                <a:avLst/>
              </a:prstGeom>
              <a:noFill/>
              <a:ln w="12700">
                <a:solidFill>
                  <a:schemeClr val="hlink"/>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950" name="Line 34"/>
              <p:cNvSpPr>
                <a:spLocks noChangeShapeType="1"/>
              </p:cNvSpPr>
              <p:nvPr/>
            </p:nvSpPr>
            <p:spPr bwMode="auto">
              <a:xfrm flipV="1">
                <a:off x="1247" y="3183"/>
                <a:ext cx="1" cy="525"/>
              </a:xfrm>
              <a:prstGeom prst="line">
                <a:avLst/>
              </a:prstGeom>
              <a:noFill/>
              <a:ln w="12700">
                <a:solidFill>
                  <a:schemeClr val="hlink"/>
                </a:solidFill>
                <a:prstDash val="sysDot"/>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5004" name="Group 35"/>
            <p:cNvGrpSpPr/>
            <p:nvPr/>
          </p:nvGrpSpPr>
          <p:grpSpPr>
            <a:xfrm>
              <a:off x="1750" y="1680"/>
              <a:ext cx="96" cy="382"/>
              <a:chOff x="1001" y="3183"/>
              <a:chExt cx="247" cy="526"/>
            </a:xfrm>
          </p:grpSpPr>
          <p:sp>
            <p:nvSpPr>
              <p:cNvPr id="81952" name="Line 36"/>
              <p:cNvSpPr>
                <a:spLocks noChangeShapeType="1"/>
              </p:cNvSpPr>
              <p:nvPr/>
            </p:nvSpPr>
            <p:spPr bwMode="auto">
              <a:xfrm>
                <a:off x="1001" y="3708"/>
                <a:ext cx="239" cy="1"/>
              </a:xfrm>
              <a:prstGeom prst="line">
                <a:avLst/>
              </a:prstGeom>
              <a:noFill/>
              <a:ln w="12700">
                <a:solidFill>
                  <a:schemeClr val="hlink"/>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953" name="Line 37"/>
              <p:cNvSpPr>
                <a:spLocks noChangeShapeType="1"/>
              </p:cNvSpPr>
              <p:nvPr/>
            </p:nvSpPr>
            <p:spPr bwMode="auto">
              <a:xfrm flipV="1">
                <a:off x="1248" y="3183"/>
                <a:ext cx="0" cy="525"/>
              </a:xfrm>
              <a:prstGeom prst="line">
                <a:avLst/>
              </a:prstGeom>
              <a:noFill/>
              <a:ln w="12700">
                <a:solidFill>
                  <a:schemeClr val="hlink"/>
                </a:solidFill>
                <a:prstDash val="sysDot"/>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5005" name="Group 38"/>
            <p:cNvGrpSpPr/>
            <p:nvPr/>
          </p:nvGrpSpPr>
          <p:grpSpPr>
            <a:xfrm>
              <a:off x="2230" y="1200"/>
              <a:ext cx="96" cy="864"/>
              <a:chOff x="1001" y="3183"/>
              <a:chExt cx="247" cy="526"/>
            </a:xfrm>
          </p:grpSpPr>
          <p:sp>
            <p:nvSpPr>
              <p:cNvPr id="81955" name="Line 39"/>
              <p:cNvSpPr>
                <a:spLocks noChangeShapeType="1"/>
              </p:cNvSpPr>
              <p:nvPr/>
            </p:nvSpPr>
            <p:spPr bwMode="auto">
              <a:xfrm>
                <a:off x="1001" y="3708"/>
                <a:ext cx="239" cy="1"/>
              </a:xfrm>
              <a:prstGeom prst="line">
                <a:avLst/>
              </a:prstGeom>
              <a:noFill/>
              <a:ln w="12700">
                <a:solidFill>
                  <a:schemeClr val="hlink"/>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956" name="Line 40"/>
              <p:cNvSpPr>
                <a:spLocks noChangeShapeType="1"/>
              </p:cNvSpPr>
              <p:nvPr/>
            </p:nvSpPr>
            <p:spPr bwMode="auto">
              <a:xfrm flipV="1">
                <a:off x="1248" y="3183"/>
                <a:ext cx="0" cy="525"/>
              </a:xfrm>
              <a:prstGeom prst="line">
                <a:avLst/>
              </a:prstGeom>
              <a:noFill/>
              <a:ln w="12700">
                <a:solidFill>
                  <a:schemeClr val="hlink"/>
                </a:solidFill>
                <a:prstDash val="sysDot"/>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5006" name="Group 41"/>
            <p:cNvGrpSpPr/>
            <p:nvPr/>
          </p:nvGrpSpPr>
          <p:grpSpPr>
            <a:xfrm flipH="1">
              <a:off x="1990" y="1680"/>
              <a:ext cx="48" cy="384"/>
              <a:chOff x="1001" y="3183"/>
              <a:chExt cx="247" cy="526"/>
            </a:xfrm>
          </p:grpSpPr>
          <p:sp>
            <p:nvSpPr>
              <p:cNvPr id="81958" name="Line 42"/>
              <p:cNvSpPr>
                <a:spLocks noChangeShapeType="1"/>
              </p:cNvSpPr>
              <p:nvPr/>
            </p:nvSpPr>
            <p:spPr bwMode="auto">
              <a:xfrm>
                <a:off x="1001" y="3708"/>
                <a:ext cx="237" cy="1"/>
              </a:xfrm>
              <a:prstGeom prst="line">
                <a:avLst/>
              </a:prstGeom>
              <a:noFill/>
              <a:ln w="12700">
                <a:solidFill>
                  <a:schemeClr val="hlink"/>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959" name="Line 43"/>
              <p:cNvSpPr>
                <a:spLocks noChangeShapeType="1"/>
              </p:cNvSpPr>
              <p:nvPr/>
            </p:nvSpPr>
            <p:spPr bwMode="auto">
              <a:xfrm flipV="1">
                <a:off x="1248" y="3183"/>
                <a:ext cx="0" cy="525"/>
              </a:xfrm>
              <a:prstGeom prst="line">
                <a:avLst/>
              </a:prstGeom>
              <a:noFill/>
              <a:ln w="12700">
                <a:solidFill>
                  <a:schemeClr val="hlink"/>
                </a:solidFill>
                <a:prstDash val="sysDot"/>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5007" name="Group 44"/>
            <p:cNvGrpSpPr/>
            <p:nvPr/>
          </p:nvGrpSpPr>
          <p:grpSpPr>
            <a:xfrm flipH="1">
              <a:off x="2806" y="1776"/>
              <a:ext cx="48" cy="384"/>
              <a:chOff x="1001" y="3183"/>
              <a:chExt cx="247" cy="526"/>
            </a:xfrm>
          </p:grpSpPr>
          <p:sp>
            <p:nvSpPr>
              <p:cNvPr id="81961" name="Line 45"/>
              <p:cNvSpPr>
                <a:spLocks noChangeShapeType="1"/>
              </p:cNvSpPr>
              <p:nvPr/>
            </p:nvSpPr>
            <p:spPr bwMode="auto">
              <a:xfrm>
                <a:off x="1001" y="3708"/>
                <a:ext cx="237" cy="1"/>
              </a:xfrm>
              <a:prstGeom prst="line">
                <a:avLst/>
              </a:prstGeom>
              <a:noFill/>
              <a:ln w="12700">
                <a:solidFill>
                  <a:schemeClr val="hlink"/>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962" name="Line 46"/>
              <p:cNvSpPr>
                <a:spLocks noChangeShapeType="1"/>
              </p:cNvSpPr>
              <p:nvPr/>
            </p:nvSpPr>
            <p:spPr bwMode="auto">
              <a:xfrm flipV="1">
                <a:off x="1248" y="3183"/>
                <a:ext cx="0" cy="525"/>
              </a:xfrm>
              <a:prstGeom prst="line">
                <a:avLst/>
              </a:prstGeom>
              <a:noFill/>
              <a:ln w="12700">
                <a:solidFill>
                  <a:schemeClr val="hlink"/>
                </a:solidFill>
                <a:prstDash val="sysDot"/>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5008" name="Group 47"/>
            <p:cNvGrpSpPr/>
            <p:nvPr/>
          </p:nvGrpSpPr>
          <p:grpSpPr>
            <a:xfrm flipH="1">
              <a:off x="2374" y="1200"/>
              <a:ext cx="96" cy="960"/>
              <a:chOff x="1001" y="3183"/>
              <a:chExt cx="247" cy="526"/>
            </a:xfrm>
          </p:grpSpPr>
          <p:sp>
            <p:nvSpPr>
              <p:cNvPr id="81964" name="Line 48"/>
              <p:cNvSpPr>
                <a:spLocks noChangeShapeType="1"/>
              </p:cNvSpPr>
              <p:nvPr/>
            </p:nvSpPr>
            <p:spPr bwMode="auto">
              <a:xfrm>
                <a:off x="1001" y="3708"/>
                <a:ext cx="239" cy="1"/>
              </a:xfrm>
              <a:prstGeom prst="line">
                <a:avLst/>
              </a:prstGeom>
              <a:noFill/>
              <a:ln w="12700">
                <a:solidFill>
                  <a:schemeClr val="hlink"/>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965" name="Line 49"/>
              <p:cNvSpPr>
                <a:spLocks noChangeShapeType="1"/>
              </p:cNvSpPr>
              <p:nvPr/>
            </p:nvSpPr>
            <p:spPr bwMode="auto">
              <a:xfrm flipV="1">
                <a:off x="1248" y="3183"/>
                <a:ext cx="0" cy="525"/>
              </a:xfrm>
              <a:prstGeom prst="line">
                <a:avLst/>
              </a:prstGeom>
              <a:noFill/>
              <a:ln w="12700">
                <a:solidFill>
                  <a:schemeClr val="hlink"/>
                </a:solidFill>
                <a:prstDash val="sysDot"/>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5009" name="Group 50"/>
            <p:cNvGrpSpPr/>
            <p:nvPr/>
          </p:nvGrpSpPr>
          <p:grpSpPr>
            <a:xfrm>
              <a:off x="2614" y="1776"/>
              <a:ext cx="96" cy="382"/>
              <a:chOff x="1001" y="3183"/>
              <a:chExt cx="247" cy="526"/>
            </a:xfrm>
          </p:grpSpPr>
          <p:sp>
            <p:nvSpPr>
              <p:cNvPr id="81967" name="Line 51"/>
              <p:cNvSpPr>
                <a:spLocks noChangeShapeType="1"/>
              </p:cNvSpPr>
              <p:nvPr/>
            </p:nvSpPr>
            <p:spPr bwMode="auto">
              <a:xfrm>
                <a:off x="1001" y="3708"/>
                <a:ext cx="239" cy="1"/>
              </a:xfrm>
              <a:prstGeom prst="line">
                <a:avLst/>
              </a:prstGeom>
              <a:noFill/>
              <a:ln w="12700">
                <a:solidFill>
                  <a:schemeClr val="hlink"/>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968" name="Line 52"/>
              <p:cNvSpPr>
                <a:spLocks noChangeShapeType="1"/>
              </p:cNvSpPr>
              <p:nvPr/>
            </p:nvSpPr>
            <p:spPr bwMode="auto">
              <a:xfrm flipV="1">
                <a:off x="1248" y="3183"/>
                <a:ext cx="0" cy="525"/>
              </a:xfrm>
              <a:prstGeom prst="line">
                <a:avLst/>
              </a:prstGeom>
              <a:noFill/>
              <a:ln w="12700">
                <a:solidFill>
                  <a:schemeClr val="hlink"/>
                </a:solidFill>
                <a:prstDash val="sysDot"/>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85010" name="Group 53"/>
            <p:cNvGrpSpPr/>
            <p:nvPr/>
          </p:nvGrpSpPr>
          <p:grpSpPr>
            <a:xfrm>
              <a:off x="3161" y="1728"/>
              <a:ext cx="199" cy="432"/>
              <a:chOff x="1001" y="3183"/>
              <a:chExt cx="247" cy="526"/>
            </a:xfrm>
          </p:grpSpPr>
          <p:sp>
            <p:nvSpPr>
              <p:cNvPr id="81970" name="Line 54"/>
              <p:cNvSpPr>
                <a:spLocks noChangeShapeType="1"/>
              </p:cNvSpPr>
              <p:nvPr/>
            </p:nvSpPr>
            <p:spPr bwMode="auto">
              <a:xfrm>
                <a:off x="1001" y="3708"/>
                <a:ext cx="240" cy="1"/>
              </a:xfrm>
              <a:prstGeom prst="line">
                <a:avLst/>
              </a:prstGeom>
              <a:noFill/>
              <a:ln w="12700">
                <a:solidFill>
                  <a:schemeClr val="hlink"/>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1971" name="Line 55"/>
              <p:cNvSpPr>
                <a:spLocks noChangeShapeType="1"/>
              </p:cNvSpPr>
              <p:nvPr/>
            </p:nvSpPr>
            <p:spPr bwMode="auto">
              <a:xfrm flipV="1">
                <a:off x="1247" y="3183"/>
                <a:ext cx="1" cy="525"/>
              </a:xfrm>
              <a:prstGeom prst="line">
                <a:avLst/>
              </a:prstGeom>
              <a:noFill/>
              <a:ln w="12700">
                <a:solidFill>
                  <a:schemeClr val="hlink"/>
                </a:solidFill>
                <a:prstDash val="sysDot"/>
                <a:round/>
                <a:headEnd type="none" w="sm" len="sm"/>
                <a:tailEnd type="stealth" w="med" len="lg"/>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81972" name="Rectangle 56"/>
            <p:cNvSpPr>
              <a:spLocks noChangeArrowheads="1"/>
            </p:cNvSpPr>
            <p:nvPr/>
          </p:nvSpPr>
          <p:spPr bwMode="auto">
            <a:xfrm>
              <a:off x="3142" y="1440"/>
              <a:ext cx="46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rgbClr val="FF0000"/>
                  </a:solidFill>
                  <a:effectLst/>
                  <a:uLnTx/>
                  <a:uFillTx/>
                  <a:latin typeface="+mn-lt"/>
                  <a:ea typeface="+mn-ea"/>
                  <a:cs typeface="+mn-ea"/>
                  <a:sym typeface="+mn-lt"/>
                </a:rPr>
                <a:t>NIL</a:t>
              </a:r>
            </a:p>
          </p:txBody>
        </p:sp>
      </p:grpSp>
      <p:sp>
        <p:nvSpPr>
          <p:cNvPr id="81973" name="Rectangle 58"/>
          <p:cNvSpPr>
            <a:spLocks noChangeArrowheads="1"/>
          </p:cNvSpPr>
          <p:nvPr/>
        </p:nvSpPr>
        <p:spPr bwMode="auto">
          <a:xfrm>
            <a:off x="963613" y="152400"/>
            <a:ext cx="233997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a:ln>
                  <a:noFill/>
                </a:ln>
                <a:solidFill>
                  <a:schemeClr val="bg1"/>
                </a:solidFill>
                <a:effectLst/>
                <a:uLnTx/>
                <a:uFillTx/>
                <a:latin typeface="+mj-lt"/>
                <a:ea typeface="微软雅黑" panose="020B0503020204020204" pitchFamily="34" charset="-122"/>
                <a:cs typeface="+mj-cs"/>
                <a:sym typeface="+mn-lt"/>
              </a:rPr>
              <a:t>练习</a:t>
            </a:r>
          </a:p>
        </p:txBody>
      </p:sp>
    </p:spTree>
  </p:cSld>
  <p:clrMapOvr>
    <a:masterClrMapping/>
  </p:clrMapOvr>
  <p:transition>
    <p:pull dir="l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0114"/>
                                        </p:tgtEl>
                                        <p:attrNameLst>
                                          <p:attrName>style.visibility</p:attrName>
                                        </p:attrNameLst>
                                      </p:cBhvr>
                                      <p:to>
                                        <p:strVal val="visible"/>
                                      </p:to>
                                    </p:set>
                                    <p:anim calcmode="lin" valueType="num">
                                      <p:cBhvr additive="base">
                                        <p:cTn id="7" dur="500" fill="hold"/>
                                        <p:tgtEl>
                                          <p:spTgt spid="90114"/>
                                        </p:tgtEl>
                                        <p:attrNameLst>
                                          <p:attrName>ppt_x</p:attrName>
                                        </p:attrNameLst>
                                      </p:cBhvr>
                                      <p:tavLst>
                                        <p:tav tm="0">
                                          <p:val>
                                            <p:strVal val="#ppt_x"/>
                                          </p:val>
                                        </p:tav>
                                        <p:tav tm="100000">
                                          <p:val>
                                            <p:strVal val="#ppt_x"/>
                                          </p:val>
                                        </p:tav>
                                      </p:tavLst>
                                    </p:anim>
                                    <p:anim calcmode="lin" valueType="num">
                                      <p:cBhvr additive="base">
                                        <p:cTn id="8" dur="500" fill="hold"/>
                                        <p:tgtEl>
                                          <p:spTgt spid="9011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499"/>
                                          </p:stCondLst>
                                        </p:cTn>
                                        <p:tgtEl>
                                          <p:spTgt spid="2"/>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down)">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grpId="0" nodeType="clickEffect">
                                  <p:stCondLst>
                                    <p:cond delay="0"/>
                                  </p:stCondLst>
                                  <p:childTnLst>
                                    <p:set>
                                      <p:cBhvr>
                                        <p:cTn id="21" dur="1" fill="hold">
                                          <p:stCondLst>
                                            <p:cond delay="0"/>
                                          </p:stCondLst>
                                        </p:cTn>
                                        <p:tgtEl>
                                          <p:spTgt spid="90115"/>
                                        </p:tgtEl>
                                        <p:attrNameLst>
                                          <p:attrName>style.visibility</p:attrName>
                                        </p:attrNameLst>
                                      </p:cBhvr>
                                      <p:to>
                                        <p:strVal val="visible"/>
                                      </p:to>
                                    </p:set>
                                    <p:animEffect transition="in" filter="wipe(down)">
                                      <p:cBhvr>
                                        <p:cTn id="22" dur="500"/>
                                        <p:tgtEl>
                                          <p:spTgt spid="90115"/>
                                        </p:tgtEl>
                                      </p:cBhvr>
                                    </p:animEffect>
                                  </p:childTnLst>
                                </p:cTn>
                              </p:par>
                            </p:childTnLst>
                          </p:cTn>
                        </p:par>
                      </p:childTnLst>
                    </p:cTn>
                  </p:par>
                  <p:par>
                    <p:cTn id="23" fill="hold">
                      <p:stCondLst>
                        <p:cond delay="indefinite"/>
                      </p:stCondLst>
                      <p:childTnLst>
                        <p:par>
                          <p:cTn id="24" fill="hold">
                            <p:stCondLst>
                              <p:cond delay="0"/>
                            </p:stCondLst>
                            <p:childTnLst>
                              <p:par>
                                <p:cTn id="25" presetID="18" presetClass="entr" presetSubtype="6" fill="hold" grpId="0" nodeType="clickEffect">
                                  <p:stCondLst>
                                    <p:cond delay="0"/>
                                  </p:stCondLst>
                                  <p:childTnLst>
                                    <p:set>
                                      <p:cBhvr>
                                        <p:cTn id="26" dur="1" fill="hold">
                                          <p:stCondLst>
                                            <p:cond delay="0"/>
                                          </p:stCondLst>
                                        </p:cTn>
                                        <p:tgtEl>
                                          <p:spTgt spid="780314">
                                            <p:txEl>
                                              <p:pRg st="0" end="0"/>
                                            </p:txEl>
                                          </p:spTgt>
                                        </p:tgtEl>
                                        <p:attrNameLst>
                                          <p:attrName>style.visibility</p:attrName>
                                        </p:attrNameLst>
                                      </p:cBhvr>
                                      <p:to>
                                        <p:strVal val="visible"/>
                                      </p:to>
                                    </p:set>
                                    <p:animEffect transition="in" filter="strips(downRight)">
                                      <p:cBhvr>
                                        <p:cTn id="27" dur="500"/>
                                        <p:tgtEl>
                                          <p:spTgt spid="780314">
                                            <p:txEl>
                                              <p:pRg st="0" end="0"/>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8" presetClass="entr" presetSubtype="6" fill="hold" grpId="0" nodeType="clickEffect">
                                  <p:stCondLst>
                                    <p:cond delay="0"/>
                                  </p:stCondLst>
                                  <p:childTnLst>
                                    <p:set>
                                      <p:cBhvr>
                                        <p:cTn id="31" dur="1" fill="hold">
                                          <p:stCondLst>
                                            <p:cond delay="0"/>
                                          </p:stCondLst>
                                        </p:cTn>
                                        <p:tgtEl>
                                          <p:spTgt spid="780314">
                                            <p:txEl>
                                              <p:pRg st="1" end="1"/>
                                            </p:txEl>
                                          </p:spTgt>
                                        </p:tgtEl>
                                        <p:attrNameLst>
                                          <p:attrName>style.visibility</p:attrName>
                                        </p:attrNameLst>
                                      </p:cBhvr>
                                      <p:to>
                                        <p:strVal val="visible"/>
                                      </p:to>
                                    </p:set>
                                    <p:animEffect transition="in" filter="strips(downRight)">
                                      <p:cBhvr>
                                        <p:cTn id="32" dur="500"/>
                                        <p:tgtEl>
                                          <p:spTgt spid="78031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114" grpId="0" animBg="1"/>
      <p:bldP spid="90115" grpId="0" animBg="1"/>
      <p:bldP spid="780314" grpId="0" build="p"/>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grpSp>
        <p:nvGrpSpPr>
          <p:cNvPr id="4" name="组合 3"/>
          <p:cNvGrpSpPr/>
          <p:nvPr/>
        </p:nvGrpSpPr>
        <p:grpSpPr>
          <a:xfrm>
            <a:off x="1500505" y="1774825"/>
            <a:ext cx="6143625" cy="5023485"/>
            <a:chOff x="2363" y="3247"/>
            <a:chExt cx="9675" cy="7911"/>
          </a:xfrm>
        </p:grpSpPr>
        <p:sp>
          <p:nvSpPr>
            <p:cNvPr id="3" name="矩形: 圆角 16"/>
            <p:cNvSpPr>
              <a:spLocks noChangeArrowheads="1"/>
            </p:cNvSpPr>
            <p:nvPr/>
          </p:nvSpPr>
          <p:spPr bwMode="auto">
            <a:xfrm>
              <a:off x="3850" y="7315"/>
              <a:ext cx="8188" cy="795"/>
            </a:xfrm>
            <a:prstGeom prst="roundRect">
              <a:avLst>
                <a:gd name="adj" fmla="val 16667"/>
              </a:avLst>
            </a:prstGeom>
            <a:solidFill>
              <a:srgbClr val="9476B6"/>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2363" y="7315"/>
              <a:ext cx="1323" cy="795"/>
            </a:xfrm>
            <a:prstGeom prst="roundRect">
              <a:avLst>
                <a:gd name="adj" fmla="val 16667"/>
              </a:avLst>
            </a:pr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4" name="文本框 13"/>
            <p:cNvSpPr txBox="1"/>
            <p:nvPr/>
          </p:nvSpPr>
          <p:spPr>
            <a:xfrm>
              <a:off x="2550" y="3247"/>
              <a:ext cx="1135" cy="7892"/>
            </a:xfrm>
            <a:prstGeom prst="rect">
              <a:avLst/>
            </a:prstGeom>
            <a:noFill/>
          </p:spPr>
          <p:txBody>
            <a:bodyPr>
              <a:noAutofit/>
            </a:bodyPr>
            <a:lstStyle/>
            <a:p>
              <a:pPr marR="0" defTabSz="914400">
                <a:lnSpc>
                  <a:spcPct val="150000"/>
                </a:lnSpc>
                <a:buClrTx/>
                <a:buSzTx/>
                <a:buFontTx/>
                <a:buNone/>
                <a:defRPr/>
              </a:pPr>
              <a:r>
                <a:rPr kumimoji="0" lang="en-US" altLang="zh-CN" sz="2200" b="0" kern="1200" cap="none" spc="0" normalizeH="0" baseline="0" noProof="0" dirty="0">
                  <a:solidFill>
                    <a:schemeClr val="tx1"/>
                  </a:solidFill>
                  <a:latin typeface="+mn-lt"/>
                  <a:ea typeface="+mn-ea"/>
                  <a:cs typeface="+mn-ea"/>
                  <a:sym typeface="+mn-lt"/>
                </a:rPr>
                <a:t>5.1</a:t>
              </a:r>
              <a:endParaRPr kumimoji="0" lang="zh-CN" altLang="en-US" sz="2200" b="0" kern="1200" cap="none" spc="0" normalizeH="0" baseline="0" noProof="0" dirty="0">
                <a:solidFill>
                  <a:schemeClr val="tx1"/>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5.2</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5.3</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5.4</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5.5</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chemeClr val="bg1"/>
                  </a:solidFill>
                  <a:latin typeface="+mn-lt"/>
                  <a:ea typeface="+mn-ea"/>
                  <a:cs typeface="+mn-ea"/>
                  <a:sym typeface="+mn-lt"/>
                </a:rPr>
                <a:t>5.6</a:t>
              </a: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5.7</a:t>
              </a:r>
            </a:p>
            <a:p>
              <a:pPr marR="0" defTabSz="914400">
                <a:lnSpc>
                  <a:spcPct val="150000"/>
                </a:lnSpc>
                <a:buClrTx/>
                <a:buSzTx/>
                <a:buFontTx/>
                <a:buNone/>
                <a:defRPr/>
              </a:pPr>
              <a:r>
                <a:rPr kumimoji="0" lang="en-US" altLang="zh-CN" sz="2200" b="0" kern="1200" cap="none" spc="0" normalizeH="0" baseline="0" noProof="0" dirty="0" smtClean="0">
                  <a:solidFill>
                    <a:srgbClr val="000000">
                      <a:lumMod val="95000"/>
                      <a:lumOff val="5000"/>
                    </a:srgbClr>
                  </a:solidFill>
                  <a:latin typeface="+mn-lt"/>
                  <a:ea typeface="+mn-ea"/>
                  <a:cs typeface="+mn-ea"/>
                  <a:sym typeface="+mn-lt"/>
                </a:rPr>
                <a:t>5.8</a:t>
              </a:r>
              <a:endParaRPr kumimoji="0" lang="en-US" altLang="zh-CN" sz="2200" b="0" kern="1200" cap="none" spc="0" normalizeH="0" baseline="0" noProof="0" dirty="0">
                <a:solidFill>
                  <a:srgbClr val="000000">
                    <a:lumMod val="95000"/>
                    <a:lumOff val="5000"/>
                  </a:srgbClr>
                </a:solidFill>
                <a:latin typeface="+mn-lt"/>
                <a:ea typeface="+mn-ea"/>
                <a:cs typeface="+mn-ea"/>
                <a:sym typeface="+mn-lt"/>
              </a:endParaRPr>
            </a:p>
          </p:txBody>
        </p:sp>
        <p:sp>
          <p:nvSpPr>
            <p:cNvPr id="15" name="文本框 14"/>
            <p:cNvSpPr txBox="1"/>
            <p:nvPr/>
          </p:nvSpPr>
          <p:spPr>
            <a:xfrm>
              <a:off x="3870" y="3247"/>
              <a:ext cx="7265" cy="7911"/>
            </a:xfrm>
            <a:prstGeom prst="rect">
              <a:avLst/>
            </a:prstGeom>
            <a:noFill/>
          </p:spPr>
          <p:txBody>
            <a:bodyPr wrap="square">
              <a:noAutofit/>
            </a:bodyPr>
            <a:lstStyle/>
            <a:p>
              <a:pPr marR="0" defTabSz="914400">
                <a:lnSpc>
                  <a:spcPct val="150000"/>
                </a:lnSpc>
                <a:buClrTx/>
                <a:buSzTx/>
                <a:buFont typeface="Arial" panose="020B0604020202020204" pitchFamily="34" charset="0"/>
                <a:buNone/>
                <a:defRPr/>
              </a:pPr>
              <a:r>
                <a:rPr kumimoji="0" lang="zh-CN" altLang="en-US" sz="2200" b="0" kern="1200" cap="none" spc="0" normalizeH="0" baseline="0" noProof="0" dirty="0">
                  <a:solidFill>
                    <a:schemeClr val="tx1"/>
                  </a:solidFill>
                  <a:latin typeface="+mn-lt"/>
                  <a:ea typeface="+mn-ea"/>
                  <a:cs typeface="+mn-ea"/>
                  <a:sym typeface="+mn-lt"/>
                </a:rPr>
                <a:t>树和二叉树的定义</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案例引入</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树和二叉树的抽象数据类型定义</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二叉树的性质和存储结构</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遍历</a:t>
              </a:r>
              <a:r>
                <a:rPr kumimoji="0" lang="zh-CN" altLang="en-US" sz="2200" b="0" kern="1200" cap="none" spc="0" normalizeH="0" baseline="0" noProof="0" dirty="0" smtClean="0">
                  <a:solidFill>
                    <a:srgbClr val="000000">
                      <a:lumMod val="95000"/>
                      <a:lumOff val="5000"/>
                    </a:srgbClr>
                  </a:solidFill>
                  <a:latin typeface="+mn-lt"/>
                  <a:ea typeface="+mn-ea"/>
                  <a:cs typeface="+mn-ea"/>
                  <a:sym typeface="+mn-lt"/>
                </a:rPr>
                <a:t>二叉树与应用</a:t>
              </a:r>
            </a:p>
            <a:p>
              <a:pPr marR="0" defTabSz="914400">
                <a:lnSpc>
                  <a:spcPct val="150000"/>
                </a:lnSpc>
                <a:buClrTx/>
                <a:buSzTx/>
                <a:buFontTx/>
                <a:buNone/>
                <a:defRPr/>
              </a:pPr>
              <a:r>
                <a:rPr kumimoji="0" lang="zh-CN" altLang="en-US" sz="2200" b="0" kern="1200" cap="none" spc="0" normalizeH="0" baseline="0" noProof="0" dirty="0" smtClean="0">
                  <a:solidFill>
                    <a:schemeClr val="bg1"/>
                  </a:solidFill>
                  <a:latin typeface="+mn-lt"/>
                  <a:ea typeface="+mn-ea"/>
                  <a:cs typeface="+mn-ea"/>
                  <a:sym typeface="+mn-lt"/>
                </a:rPr>
                <a:t>树和森林</a:t>
              </a:r>
            </a:p>
            <a:p>
              <a:pPr>
                <a:lnSpc>
                  <a:spcPct val="150000"/>
                </a:lnSpc>
                <a:defRPr/>
              </a:pPr>
              <a:r>
                <a:rPr lang="zh-CN" altLang="en-US" sz="2200" b="0" dirty="0">
                  <a:solidFill>
                    <a:srgbClr val="000000">
                      <a:lumMod val="95000"/>
                      <a:lumOff val="5000"/>
                    </a:srgbClr>
                  </a:solidFill>
                  <a:latin typeface="+mn-lt"/>
                  <a:ea typeface="+mn-ea"/>
                  <a:cs typeface="+mn-ea"/>
                  <a:sym typeface="+mn-lt"/>
                </a:rPr>
                <a:t>二叉搜索树（二叉排序树）</a:t>
              </a:r>
            </a:p>
            <a:p>
              <a:pPr>
                <a:lnSpc>
                  <a:spcPct val="150000"/>
                </a:lnSpc>
                <a:defRPr/>
              </a:pPr>
              <a:r>
                <a:rPr lang="zh-CN" altLang="en-US" sz="2200" b="0" dirty="0">
                  <a:solidFill>
                    <a:srgbClr val="000000">
                      <a:lumMod val="95000"/>
                      <a:lumOff val="5000"/>
                    </a:srgbClr>
                  </a:solidFill>
                  <a:latin typeface="+mn-lt"/>
                  <a:ea typeface="+mn-ea"/>
                  <a:cs typeface="+mn-ea"/>
                  <a:sym typeface="+mn-lt"/>
                </a:rPr>
                <a:t>堆</a:t>
              </a:r>
              <a:endParaRPr lang="zh-CN" altLang="en-US" sz="2200" b="0" noProof="0" dirty="0">
                <a:solidFill>
                  <a:srgbClr val="000000">
                    <a:lumMod val="95000"/>
                    <a:lumOff val="5000"/>
                  </a:srgbClr>
                </a:solidFill>
                <a:latin typeface="+mn-lt"/>
                <a:ea typeface="+mn-ea"/>
                <a:cs typeface="+mn-ea"/>
                <a:sym typeface="+mn-lt"/>
              </a:endParaRPr>
            </a:p>
          </p:txBody>
        </p:sp>
      </p:gr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2"/>
          <p:cNvSpPr>
            <a:spLocks noGrp="1" noChangeArrowheads="1"/>
          </p:cNvSpPr>
          <p:nvPr>
            <p:ph type="title"/>
          </p:nvPr>
        </p:nvSpPr>
        <p:spPr>
          <a:xfrm>
            <a:off x="971600" y="116569"/>
            <a:ext cx="6053138" cy="842962"/>
          </a:xfrm>
          <a:noFill/>
        </p:spPr>
        <p:txBody>
          <a:bodyPr/>
          <a:lstStyle/>
          <a:p>
            <a:pPr eaLnBrk="1" hangingPunct="1"/>
            <a:r>
              <a:rPr lang="zh-CN" altLang="en-US" b="1" dirty="0">
                <a:solidFill>
                  <a:srgbClr val="FFFF00"/>
                </a:solidFill>
                <a:ea typeface="楷体_GB2312" pitchFamily="49" charset="-122"/>
              </a:rPr>
              <a:t>树的存储结构</a:t>
            </a:r>
            <a:endParaRPr lang="zh-CN" altLang="en-US" b="1" dirty="0" smtClean="0">
              <a:solidFill>
                <a:srgbClr val="FFFF00"/>
              </a:solidFill>
              <a:ea typeface="楷体_GB2312" pitchFamily="49" charset="-122"/>
            </a:endParaRPr>
          </a:p>
        </p:txBody>
      </p:sp>
      <p:sp>
        <p:nvSpPr>
          <p:cNvPr id="4099" name="Rectangle 3"/>
          <p:cNvSpPr>
            <a:spLocks noChangeArrowheads="1"/>
          </p:cNvSpPr>
          <p:nvPr/>
        </p:nvSpPr>
        <p:spPr bwMode="auto">
          <a:xfrm>
            <a:off x="152400" y="1196975"/>
            <a:ext cx="8812213" cy="566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ct val="110000"/>
              </a:lnSpc>
              <a:spcBef>
                <a:spcPct val="20000"/>
              </a:spcBef>
              <a:buClr>
                <a:schemeClr val="accent2"/>
              </a:buClr>
              <a:buSzPct val="80000"/>
              <a:buFont typeface="Wingdings" pitchFamily="2" charset="2"/>
              <a:buNone/>
            </a:pPr>
            <a:r>
              <a:rPr kumimoji="1" lang="zh-CN" altLang="en-US" sz="2400" dirty="0"/>
              <a:t>        </a:t>
            </a:r>
            <a:r>
              <a:rPr kumimoji="1" lang="zh-CN" altLang="en-US" sz="2400" b="1" dirty="0"/>
              <a:t>树的存储结构根据应用的不同而不同</a:t>
            </a:r>
            <a:r>
              <a:rPr kumimoji="1" lang="zh-CN" altLang="en-US" sz="2400" b="1" dirty="0">
                <a:latin typeface="宋体" pitchFamily="2" charset="-122"/>
              </a:rPr>
              <a:t>。</a:t>
            </a:r>
            <a:endParaRPr kumimoji="1" lang="zh-CN" altLang="en-US" sz="2400" b="1" dirty="0"/>
          </a:p>
          <a:p>
            <a:pPr>
              <a:lnSpc>
                <a:spcPct val="110000"/>
              </a:lnSpc>
              <a:spcBef>
                <a:spcPct val="20000"/>
              </a:spcBef>
              <a:buClr>
                <a:schemeClr val="accent2"/>
              </a:buClr>
              <a:buSzPct val="80000"/>
              <a:buFont typeface="Wingdings" pitchFamily="2" charset="2"/>
              <a:buNone/>
            </a:pPr>
            <a:r>
              <a:rPr kumimoji="1" lang="en-US" altLang="zh-CN" sz="2400" b="1" dirty="0">
                <a:solidFill>
                  <a:schemeClr val="tx2"/>
                </a:solidFill>
              </a:rPr>
              <a:t>1  </a:t>
            </a:r>
            <a:r>
              <a:rPr kumimoji="1" lang="zh-CN" altLang="en-US" sz="2400" b="1" dirty="0">
                <a:solidFill>
                  <a:schemeClr val="tx2"/>
                </a:solidFill>
                <a:ea typeface="楷体_GB2312" pitchFamily="49" charset="-122"/>
              </a:rPr>
              <a:t>双亲表示法</a:t>
            </a:r>
            <a:r>
              <a:rPr kumimoji="1" lang="en-US" altLang="zh-CN" sz="2400" b="1" dirty="0">
                <a:ea typeface="楷体_GB2312" pitchFamily="49" charset="-122"/>
              </a:rPr>
              <a:t>(</a:t>
            </a:r>
            <a:r>
              <a:rPr kumimoji="1" lang="zh-CN" altLang="en-US" sz="2400" b="1" dirty="0">
                <a:solidFill>
                  <a:schemeClr val="folHlink"/>
                </a:solidFill>
                <a:latin typeface="楷体_GB2312" pitchFamily="49" charset="-122"/>
                <a:ea typeface="楷体_GB2312" pitchFamily="49" charset="-122"/>
              </a:rPr>
              <a:t>顺序存储结构</a:t>
            </a:r>
            <a:r>
              <a:rPr kumimoji="1" lang="en-US" altLang="zh-CN" sz="2400" b="1" dirty="0">
                <a:ea typeface="楷体_GB2312" pitchFamily="49" charset="-122"/>
              </a:rPr>
              <a:t>)</a:t>
            </a:r>
          </a:p>
          <a:p>
            <a:pPr>
              <a:lnSpc>
                <a:spcPct val="110000"/>
              </a:lnSpc>
              <a:spcBef>
                <a:spcPct val="20000"/>
              </a:spcBef>
              <a:buClr>
                <a:schemeClr val="accent2"/>
              </a:buClr>
              <a:buSzPct val="80000"/>
              <a:buFont typeface="Wingdings" pitchFamily="2" charset="2"/>
              <a:buNone/>
            </a:pPr>
            <a:r>
              <a:rPr kumimoji="1" lang="en-US" altLang="zh-CN" sz="2400" dirty="0"/>
              <a:t>          </a:t>
            </a:r>
            <a:r>
              <a:rPr kumimoji="1" lang="zh-CN" altLang="en-US" sz="2400" b="1" dirty="0"/>
              <a:t>用一组连续的存储空间来存储树的结点</a:t>
            </a:r>
            <a:r>
              <a:rPr kumimoji="1" lang="zh-CN" altLang="en-US" sz="2400" b="1" dirty="0">
                <a:latin typeface="宋体" pitchFamily="2" charset="-122"/>
              </a:rPr>
              <a:t>，</a:t>
            </a:r>
            <a:r>
              <a:rPr kumimoji="1" lang="zh-CN" altLang="en-US" sz="2400" b="1" dirty="0"/>
              <a:t>同时在每个结点中附加一个</a:t>
            </a:r>
            <a:r>
              <a:rPr kumimoji="1" lang="zh-CN" altLang="en-US" sz="2400" b="1" dirty="0">
                <a:solidFill>
                  <a:schemeClr val="folHlink"/>
                </a:solidFill>
              </a:rPr>
              <a:t>指示器</a:t>
            </a:r>
            <a:r>
              <a:rPr kumimoji="1" lang="en-US" altLang="zh-CN" sz="2400" b="1" dirty="0">
                <a:solidFill>
                  <a:schemeClr val="folHlink"/>
                </a:solidFill>
              </a:rPr>
              <a:t>(</a:t>
            </a:r>
            <a:r>
              <a:rPr kumimoji="1" lang="zh-CN" altLang="en-US" sz="2400" b="1" dirty="0">
                <a:solidFill>
                  <a:schemeClr val="folHlink"/>
                </a:solidFill>
              </a:rPr>
              <a:t>整数域</a:t>
            </a:r>
            <a:r>
              <a:rPr kumimoji="1" lang="en-US" altLang="zh-CN" sz="2400" b="1" dirty="0">
                <a:solidFill>
                  <a:schemeClr val="folHlink"/>
                </a:solidFill>
              </a:rPr>
              <a:t>)</a:t>
            </a:r>
            <a:r>
              <a:rPr kumimoji="1" lang="en-US" altLang="zh-CN" sz="2400" b="1" dirty="0"/>
              <a:t> </a:t>
            </a:r>
            <a:r>
              <a:rPr kumimoji="1" lang="zh-CN" altLang="en-US" sz="2400" b="1" dirty="0">
                <a:latin typeface="宋体" pitchFamily="2" charset="-122"/>
              </a:rPr>
              <a:t>，</a:t>
            </a:r>
            <a:r>
              <a:rPr kumimoji="1" lang="zh-CN" altLang="en-US" sz="2400" b="1" dirty="0"/>
              <a:t>用以指示双亲结点的位置</a:t>
            </a:r>
            <a:r>
              <a:rPr kumimoji="1" lang="en-US" altLang="zh-CN" sz="2400" b="1" dirty="0"/>
              <a:t>(</a:t>
            </a:r>
            <a:r>
              <a:rPr kumimoji="1" lang="zh-CN" altLang="en-US" sz="2400" b="1" dirty="0"/>
              <a:t>下标值</a:t>
            </a:r>
            <a:r>
              <a:rPr kumimoji="1" lang="en-US" altLang="zh-CN" sz="2400" b="1" dirty="0"/>
              <a:t>) </a:t>
            </a:r>
            <a:r>
              <a:rPr kumimoji="1" lang="zh-CN" altLang="en-US" sz="2400" b="1" dirty="0">
                <a:latin typeface="宋体" pitchFamily="2" charset="-122"/>
              </a:rPr>
              <a:t>。数组元素及数组的类型定义如下</a:t>
            </a:r>
            <a:r>
              <a:rPr kumimoji="1" lang="zh-CN" altLang="en-US" sz="2400" b="1" dirty="0"/>
              <a:t>：</a:t>
            </a:r>
          </a:p>
          <a:p>
            <a:pPr>
              <a:lnSpc>
                <a:spcPct val="110000"/>
              </a:lnSpc>
              <a:spcBef>
                <a:spcPct val="20000"/>
              </a:spcBef>
            </a:pPr>
            <a:r>
              <a:rPr kumimoji="1" lang="en-US" altLang="zh-CN" sz="2400" b="1" dirty="0"/>
              <a:t>#define MAX_SIZE  100</a:t>
            </a:r>
          </a:p>
          <a:p>
            <a:pPr>
              <a:lnSpc>
                <a:spcPct val="110000"/>
              </a:lnSpc>
              <a:spcBef>
                <a:spcPct val="20000"/>
              </a:spcBef>
            </a:pPr>
            <a:r>
              <a:rPr kumimoji="1" lang="en-US" altLang="zh-CN" sz="2400" b="1" dirty="0" err="1"/>
              <a:t>typedef</a:t>
            </a:r>
            <a:r>
              <a:rPr kumimoji="1" lang="en-US" altLang="zh-CN" sz="2400" b="1" dirty="0"/>
              <a:t>  </a:t>
            </a:r>
            <a:r>
              <a:rPr kumimoji="1" lang="en-US" altLang="zh-CN" sz="2400" b="1" dirty="0" err="1"/>
              <a:t>struct</a:t>
            </a:r>
            <a:r>
              <a:rPr kumimoji="1" lang="en-US" altLang="zh-CN" sz="2400" b="1" dirty="0"/>
              <a:t> </a:t>
            </a:r>
            <a:r>
              <a:rPr kumimoji="1" lang="en-US" altLang="zh-CN" sz="2400" b="1" dirty="0" err="1"/>
              <a:t>PTNode</a:t>
            </a:r>
            <a:endParaRPr kumimoji="1" lang="en-US" altLang="zh-CN" sz="2400" b="1" dirty="0"/>
          </a:p>
          <a:p>
            <a:pPr marL="354013" lvl="1">
              <a:lnSpc>
                <a:spcPct val="110000"/>
              </a:lnSpc>
              <a:spcBef>
                <a:spcPct val="20000"/>
              </a:spcBef>
            </a:pPr>
            <a:r>
              <a:rPr kumimoji="1" lang="en-US" altLang="zh-CN" sz="2400" b="1" dirty="0"/>
              <a:t>{  </a:t>
            </a:r>
            <a:r>
              <a:rPr kumimoji="1" lang="en-US" altLang="zh-CN" sz="2400" b="1" dirty="0" err="1"/>
              <a:t>TElemType</a:t>
            </a:r>
            <a:r>
              <a:rPr kumimoji="1" lang="en-US" altLang="zh-CN" sz="2400" b="1" dirty="0"/>
              <a:t>  data ;</a:t>
            </a:r>
          </a:p>
          <a:p>
            <a:pPr marL="723900" lvl="2">
              <a:lnSpc>
                <a:spcPct val="110000"/>
              </a:lnSpc>
              <a:spcBef>
                <a:spcPct val="20000"/>
              </a:spcBef>
            </a:pPr>
            <a:r>
              <a:rPr kumimoji="1" lang="en-US" altLang="zh-CN" sz="2400" b="1" dirty="0" err="1"/>
              <a:t>int</a:t>
            </a:r>
            <a:r>
              <a:rPr kumimoji="1" lang="en-US" altLang="zh-CN" sz="2400" b="1" dirty="0"/>
              <a:t>  parent ;</a:t>
            </a:r>
          </a:p>
          <a:p>
            <a:pPr marL="354013" lvl="1">
              <a:lnSpc>
                <a:spcPct val="110000"/>
              </a:lnSpc>
              <a:spcBef>
                <a:spcPct val="20000"/>
              </a:spcBef>
            </a:pPr>
            <a:r>
              <a:rPr kumimoji="1" lang="en-US" altLang="zh-CN" sz="2400" b="1" dirty="0"/>
              <a:t>}</a:t>
            </a:r>
            <a:r>
              <a:rPr kumimoji="1" lang="en-US" altLang="zh-CN" sz="2400" b="1" dirty="0" err="1"/>
              <a:t>PTNode</a:t>
            </a:r>
            <a:r>
              <a:rPr kumimoji="1" lang="en-US" altLang="zh-CN" sz="2400" b="1" dirty="0"/>
              <a:t> ;</a:t>
            </a:r>
          </a:p>
        </p:txBody>
      </p:sp>
    </p:spTree>
    <p:extLst>
      <p:ext uri="{BB962C8B-B14F-4D97-AF65-F5344CB8AC3E}">
        <p14:creationId xmlns:p14="http://schemas.microsoft.com/office/powerpoint/2010/main" val="2330445854"/>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Text Box 2"/>
          <p:cNvSpPr txBox="1">
            <a:spLocks noChangeArrowheads="1"/>
          </p:cNvSpPr>
          <p:nvPr/>
        </p:nvSpPr>
        <p:spPr bwMode="auto">
          <a:xfrm>
            <a:off x="76200" y="918364"/>
            <a:ext cx="5791200" cy="4524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Calibri" pitchFamily="34" charset="0"/>
                <a:ea typeface="宋体" pitchFamily="2" charset="-122"/>
              </a:defRPr>
            </a:lvl1pPr>
            <a:lvl2pPr marL="355600" eaLnBrk="0" hangingPunct="0">
              <a:defRPr>
                <a:solidFill>
                  <a:schemeClr val="tx1"/>
                </a:solidFill>
                <a:latin typeface="Calibri" pitchFamily="34" charset="0"/>
                <a:ea typeface="宋体" pitchFamily="2" charset="-122"/>
              </a:defRPr>
            </a:lvl2pPr>
            <a:lvl3pPr marL="723900" eaLnBrk="0" hangingPunct="0">
              <a:defRPr>
                <a:solidFill>
                  <a:schemeClr val="tx1"/>
                </a:solidFill>
                <a:latin typeface="Calibri" pitchFamily="34" charset="0"/>
                <a:ea typeface="宋体" pitchFamily="2" charset="-122"/>
              </a:defRPr>
            </a:lvl3pPr>
            <a:lvl4pPr marL="1600200" indent="-228600" eaLnBrk="0" hangingPunct="0">
              <a:defRPr>
                <a:solidFill>
                  <a:schemeClr val="tx1"/>
                </a:solidFill>
                <a:latin typeface="Calibri" pitchFamily="34" charset="0"/>
                <a:ea typeface="宋体" pitchFamily="2" charset="-122"/>
              </a:defRPr>
            </a:lvl4pPr>
            <a:lvl5pPr marL="2057400" indent="-228600" eaLnBrk="0" hangingPunct="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lnSpc>
                <a:spcPct val="110000"/>
              </a:lnSpc>
              <a:spcBef>
                <a:spcPct val="20000"/>
              </a:spcBef>
            </a:pPr>
            <a:r>
              <a:rPr kumimoji="1" lang="en-US" altLang="zh-CN" sz="2400" b="1" dirty="0" err="1">
                <a:latin typeface="Times New Roman" pitchFamily="18" charset="0"/>
              </a:rPr>
              <a:t>typedef</a:t>
            </a:r>
            <a:r>
              <a:rPr kumimoji="1" lang="en-US" altLang="zh-CN" sz="2400" b="1" dirty="0">
                <a:latin typeface="Times New Roman" pitchFamily="18" charset="0"/>
              </a:rPr>
              <a:t>  </a:t>
            </a:r>
            <a:r>
              <a:rPr kumimoji="1" lang="en-US" altLang="zh-CN" sz="2400" b="1" dirty="0" err="1">
                <a:latin typeface="Times New Roman" pitchFamily="18" charset="0"/>
              </a:rPr>
              <a:t>struct</a:t>
            </a:r>
            <a:endParaRPr kumimoji="1" lang="en-US" altLang="zh-CN" sz="2400" b="1" dirty="0">
              <a:latin typeface="Times New Roman" pitchFamily="18" charset="0"/>
            </a:endParaRPr>
          </a:p>
          <a:p>
            <a:pPr lvl="1" eaLnBrk="1" hangingPunct="1">
              <a:lnSpc>
                <a:spcPct val="110000"/>
              </a:lnSpc>
              <a:spcBef>
                <a:spcPct val="20000"/>
              </a:spcBef>
            </a:pPr>
            <a:r>
              <a:rPr kumimoji="1" lang="en-US" altLang="zh-CN" sz="2400" b="1" dirty="0">
                <a:latin typeface="Times New Roman" pitchFamily="18" charset="0"/>
              </a:rPr>
              <a:t>{  </a:t>
            </a:r>
            <a:r>
              <a:rPr kumimoji="1" lang="en-US" altLang="zh-CN" sz="2400" b="1" dirty="0" err="1">
                <a:latin typeface="Times New Roman" pitchFamily="18" charset="0"/>
              </a:rPr>
              <a:t>PTNode</a:t>
            </a:r>
            <a:r>
              <a:rPr kumimoji="1" lang="en-US" altLang="zh-CN" sz="2400" b="1" dirty="0">
                <a:latin typeface="Times New Roman" pitchFamily="18" charset="0"/>
              </a:rPr>
              <a:t>  Nodes[MAX_SIZE] ;</a:t>
            </a:r>
          </a:p>
          <a:p>
            <a:pPr lvl="2" eaLnBrk="1" hangingPunct="1">
              <a:lnSpc>
                <a:spcPct val="110000"/>
              </a:lnSpc>
              <a:spcBef>
                <a:spcPct val="20000"/>
              </a:spcBef>
            </a:pPr>
            <a:r>
              <a:rPr kumimoji="1" lang="en-US" altLang="zh-CN" sz="2400" b="1" dirty="0" err="1">
                <a:latin typeface="Times New Roman" pitchFamily="18" charset="0"/>
              </a:rPr>
              <a:t>int</a:t>
            </a:r>
            <a:r>
              <a:rPr kumimoji="1" lang="en-US" altLang="zh-CN" sz="2400" b="1" dirty="0">
                <a:latin typeface="Times New Roman" pitchFamily="18" charset="0"/>
              </a:rPr>
              <a:t>  root;    /*  </a:t>
            </a:r>
            <a:r>
              <a:rPr kumimoji="1" lang="zh-CN" altLang="en-US" sz="2400" b="1" dirty="0">
                <a:latin typeface="Times New Roman" pitchFamily="18" charset="0"/>
              </a:rPr>
              <a:t>根结点位置  *</a:t>
            </a:r>
            <a:r>
              <a:rPr kumimoji="1" lang="en-US" altLang="zh-CN" sz="2400" b="1" dirty="0">
                <a:latin typeface="Times New Roman" pitchFamily="18" charset="0"/>
              </a:rPr>
              <a:t>/</a:t>
            </a:r>
          </a:p>
          <a:p>
            <a:pPr lvl="2" eaLnBrk="1" hangingPunct="1">
              <a:lnSpc>
                <a:spcPct val="110000"/>
              </a:lnSpc>
              <a:spcBef>
                <a:spcPct val="20000"/>
              </a:spcBef>
            </a:pPr>
            <a:r>
              <a:rPr kumimoji="1" lang="en-US" altLang="zh-CN" sz="2400" b="1" dirty="0" err="1">
                <a:latin typeface="Times New Roman" pitchFamily="18" charset="0"/>
              </a:rPr>
              <a:t>int</a:t>
            </a:r>
            <a:r>
              <a:rPr kumimoji="1" lang="en-US" altLang="zh-CN" sz="2400" b="1" dirty="0">
                <a:latin typeface="Times New Roman" pitchFamily="18" charset="0"/>
              </a:rPr>
              <a:t>  </a:t>
            </a:r>
            <a:r>
              <a:rPr kumimoji="1" lang="en-US" altLang="zh-CN" sz="2400" b="1" dirty="0" err="1">
                <a:latin typeface="Times New Roman" pitchFamily="18" charset="0"/>
              </a:rPr>
              <a:t>num</a:t>
            </a:r>
            <a:r>
              <a:rPr kumimoji="1" lang="en-US" altLang="zh-CN" sz="2400" b="1" dirty="0">
                <a:latin typeface="Times New Roman" pitchFamily="18" charset="0"/>
              </a:rPr>
              <a:t> ;   /*  </a:t>
            </a:r>
            <a:r>
              <a:rPr kumimoji="1" lang="zh-CN" altLang="en-US" sz="2400" b="1" dirty="0">
                <a:latin typeface="Times New Roman" pitchFamily="18" charset="0"/>
              </a:rPr>
              <a:t>结点数   *</a:t>
            </a:r>
            <a:r>
              <a:rPr kumimoji="1" lang="en-US" altLang="zh-CN" sz="2400" b="1" dirty="0">
                <a:latin typeface="Times New Roman" pitchFamily="18" charset="0"/>
              </a:rPr>
              <a:t>/ </a:t>
            </a:r>
          </a:p>
          <a:p>
            <a:pPr lvl="1" eaLnBrk="1" hangingPunct="1">
              <a:lnSpc>
                <a:spcPct val="110000"/>
              </a:lnSpc>
              <a:spcBef>
                <a:spcPct val="20000"/>
              </a:spcBef>
            </a:pPr>
            <a:r>
              <a:rPr kumimoji="1" lang="en-US" altLang="zh-CN" sz="2400" b="1" dirty="0">
                <a:latin typeface="Times New Roman" pitchFamily="18" charset="0"/>
              </a:rPr>
              <a:t>}</a:t>
            </a:r>
            <a:r>
              <a:rPr kumimoji="1" lang="en-US" altLang="zh-CN" sz="2400" b="1" dirty="0" err="1">
                <a:latin typeface="Times New Roman" pitchFamily="18" charset="0"/>
              </a:rPr>
              <a:t>Ptree</a:t>
            </a:r>
            <a:r>
              <a:rPr kumimoji="1" lang="en-US" altLang="zh-CN" sz="2400" b="1" dirty="0">
                <a:latin typeface="Times New Roman" pitchFamily="18" charset="0"/>
              </a:rPr>
              <a:t> ;</a:t>
            </a:r>
          </a:p>
          <a:p>
            <a:pPr eaLnBrk="1" hangingPunct="1">
              <a:lnSpc>
                <a:spcPct val="110000"/>
              </a:lnSpc>
              <a:spcBef>
                <a:spcPct val="20000"/>
              </a:spcBef>
            </a:pPr>
            <a:r>
              <a:rPr kumimoji="1" lang="zh-CN" altLang="en-US" sz="2400" b="1" dirty="0">
                <a:latin typeface="宋体" pitchFamily="2" charset="-122"/>
              </a:rPr>
              <a:t>右图</a:t>
            </a:r>
            <a:r>
              <a:rPr kumimoji="1" lang="zh-CN" altLang="en-US" sz="2400" b="1" dirty="0">
                <a:latin typeface="Times New Roman" pitchFamily="18" charset="0"/>
              </a:rPr>
              <a:t>所示是一棵树及其双亲表示的存储结构</a:t>
            </a:r>
            <a:r>
              <a:rPr kumimoji="1" lang="zh-CN" altLang="en-US" sz="2400" b="1" dirty="0">
                <a:latin typeface="宋体" pitchFamily="2" charset="-122"/>
              </a:rPr>
              <a:t>。</a:t>
            </a:r>
            <a:r>
              <a:rPr kumimoji="1" lang="zh-CN" altLang="en-US" sz="2400" b="1" dirty="0">
                <a:latin typeface="Times New Roman" pitchFamily="18" charset="0"/>
              </a:rPr>
              <a:t>这种存储结构利用了任一结点的父结点唯一的性质</a:t>
            </a:r>
            <a:r>
              <a:rPr kumimoji="1" lang="zh-CN" altLang="en-US" sz="2400" b="1" dirty="0">
                <a:latin typeface="宋体" pitchFamily="2" charset="-122"/>
              </a:rPr>
              <a:t>。可以方便地直接找到</a:t>
            </a:r>
            <a:r>
              <a:rPr kumimoji="1" lang="zh-CN" altLang="en-US" sz="2400" b="1" dirty="0">
                <a:latin typeface="Times New Roman" pitchFamily="18" charset="0"/>
              </a:rPr>
              <a:t>任一结点的父结点</a:t>
            </a:r>
            <a:r>
              <a:rPr kumimoji="1" lang="zh-CN" altLang="en-US" sz="2400" b="1" dirty="0">
                <a:latin typeface="宋体" pitchFamily="2" charset="-122"/>
              </a:rPr>
              <a:t>，</a:t>
            </a:r>
            <a:r>
              <a:rPr kumimoji="1" lang="zh-CN" altLang="en-US" sz="2400" b="1" dirty="0">
                <a:latin typeface="Times New Roman" pitchFamily="18" charset="0"/>
              </a:rPr>
              <a:t>但求结点的子结点时需要扫描整个数组</a:t>
            </a:r>
            <a:r>
              <a:rPr kumimoji="1" lang="zh-CN" altLang="en-US" sz="2400" b="1" dirty="0">
                <a:latin typeface="宋体" pitchFamily="2" charset="-122"/>
              </a:rPr>
              <a:t>。</a:t>
            </a:r>
          </a:p>
        </p:txBody>
      </p:sp>
      <p:grpSp>
        <p:nvGrpSpPr>
          <p:cNvPr id="5124" name="群組 1"/>
          <p:cNvGrpSpPr>
            <a:grpSpLocks/>
          </p:cNvGrpSpPr>
          <p:nvPr/>
        </p:nvGrpSpPr>
        <p:grpSpPr bwMode="auto">
          <a:xfrm>
            <a:off x="6143039" y="897633"/>
            <a:ext cx="2735262" cy="5764212"/>
            <a:chOff x="6116638" y="179388"/>
            <a:chExt cx="2735263" cy="5764213"/>
          </a:xfrm>
        </p:grpSpPr>
        <p:grpSp>
          <p:nvGrpSpPr>
            <p:cNvPr id="5125" name="Group 4"/>
            <p:cNvGrpSpPr>
              <a:grpSpLocks/>
            </p:cNvGrpSpPr>
            <p:nvPr/>
          </p:nvGrpSpPr>
          <p:grpSpPr bwMode="auto">
            <a:xfrm>
              <a:off x="6116638" y="179388"/>
              <a:ext cx="2735263" cy="2411413"/>
              <a:chOff x="2703" y="2304"/>
              <a:chExt cx="1849" cy="1712"/>
            </a:xfrm>
          </p:grpSpPr>
          <p:sp>
            <p:nvSpPr>
              <p:cNvPr id="5159" name="Oval 5"/>
              <p:cNvSpPr>
                <a:spLocks noChangeArrowheads="1"/>
              </p:cNvSpPr>
              <p:nvPr/>
            </p:nvSpPr>
            <p:spPr bwMode="auto">
              <a:xfrm>
                <a:off x="3983" y="3279"/>
                <a:ext cx="249" cy="249"/>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F</a:t>
                </a:r>
              </a:p>
            </p:txBody>
          </p:sp>
          <p:sp>
            <p:nvSpPr>
              <p:cNvPr id="5160" name="Oval 6"/>
              <p:cNvSpPr>
                <a:spLocks noChangeArrowheads="1"/>
              </p:cNvSpPr>
              <p:nvPr/>
            </p:nvSpPr>
            <p:spPr bwMode="auto">
              <a:xfrm>
                <a:off x="3631" y="3759"/>
                <a:ext cx="249" cy="249"/>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G</a:t>
                </a:r>
              </a:p>
            </p:txBody>
          </p:sp>
          <p:sp>
            <p:nvSpPr>
              <p:cNvPr id="5161" name="Oval 7"/>
              <p:cNvSpPr>
                <a:spLocks noChangeArrowheads="1"/>
              </p:cNvSpPr>
              <p:nvPr/>
            </p:nvSpPr>
            <p:spPr bwMode="auto">
              <a:xfrm>
                <a:off x="3959" y="3759"/>
                <a:ext cx="249" cy="249"/>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H</a:t>
                </a:r>
              </a:p>
            </p:txBody>
          </p:sp>
          <p:sp>
            <p:nvSpPr>
              <p:cNvPr id="5162" name="Oval 8"/>
              <p:cNvSpPr>
                <a:spLocks noChangeArrowheads="1"/>
              </p:cNvSpPr>
              <p:nvPr/>
            </p:nvSpPr>
            <p:spPr bwMode="auto">
              <a:xfrm>
                <a:off x="4303" y="3767"/>
                <a:ext cx="249" cy="249"/>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I</a:t>
                </a:r>
              </a:p>
            </p:txBody>
          </p:sp>
          <p:sp>
            <p:nvSpPr>
              <p:cNvPr id="5163" name="Line 9"/>
              <p:cNvSpPr>
                <a:spLocks noChangeShapeType="1"/>
              </p:cNvSpPr>
              <p:nvPr/>
            </p:nvSpPr>
            <p:spPr bwMode="auto">
              <a:xfrm flipH="1">
                <a:off x="3775" y="3479"/>
                <a:ext cx="227"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5164" name="Line 10"/>
              <p:cNvSpPr>
                <a:spLocks noChangeShapeType="1"/>
              </p:cNvSpPr>
              <p:nvPr/>
            </p:nvSpPr>
            <p:spPr bwMode="auto">
              <a:xfrm>
                <a:off x="4095" y="3519"/>
                <a:ext cx="0" cy="24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5165" name="Line 11"/>
              <p:cNvSpPr>
                <a:spLocks noChangeShapeType="1"/>
              </p:cNvSpPr>
              <p:nvPr/>
            </p:nvSpPr>
            <p:spPr bwMode="auto">
              <a:xfrm>
                <a:off x="4199" y="3503"/>
                <a:ext cx="227"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5166" name="Oval 12"/>
              <p:cNvSpPr>
                <a:spLocks noChangeArrowheads="1"/>
              </p:cNvSpPr>
              <p:nvPr/>
            </p:nvSpPr>
            <p:spPr bwMode="auto">
              <a:xfrm>
                <a:off x="3319" y="2304"/>
                <a:ext cx="249" cy="249"/>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R</a:t>
                </a:r>
              </a:p>
            </p:txBody>
          </p:sp>
          <p:sp>
            <p:nvSpPr>
              <p:cNvPr id="5167" name="Oval 13"/>
              <p:cNvSpPr>
                <a:spLocks noChangeArrowheads="1"/>
              </p:cNvSpPr>
              <p:nvPr/>
            </p:nvSpPr>
            <p:spPr bwMode="auto">
              <a:xfrm>
                <a:off x="2967" y="2784"/>
                <a:ext cx="249" cy="249"/>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A</a:t>
                </a:r>
              </a:p>
            </p:txBody>
          </p:sp>
          <p:sp>
            <p:nvSpPr>
              <p:cNvPr id="5168" name="Oval 14"/>
              <p:cNvSpPr>
                <a:spLocks noChangeArrowheads="1"/>
              </p:cNvSpPr>
              <p:nvPr/>
            </p:nvSpPr>
            <p:spPr bwMode="auto">
              <a:xfrm>
                <a:off x="3295" y="2784"/>
                <a:ext cx="249" cy="249"/>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B</a:t>
                </a:r>
              </a:p>
            </p:txBody>
          </p:sp>
          <p:sp>
            <p:nvSpPr>
              <p:cNvPr id="5169" name="Oval 15"/>
              <p:cNvSpPr>
                <a:spLocks noChangeArrowheads="1"/>
              </p:cNvSpPr>
              <p:nvPr/>
            </p:nvSpPr>
            <p:spPr bwMode="auto">
              <a:xfrm>
                <a:off x="3647" y="2792"/>
                <a:ext cx="249" cy="249"/>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C</a:t>
                </a:r>
              </a:p>
            </p:txBody>
          </p:sp>
          <p:sp>
            <p:nvSpPr>
              <p:cNvPr id="5170" name="Line 16"/>
              <p:cNvSpPr>
                <a:spLocks noChangeShapeType="1"/>
              </p:cNvSpPr>
              <p:nvPr/>
            </p:nvSpPr>
            <p:spPr bwMode="auto">
              <a:xfrm flipH="1">
                <a:off x="3111" y="2504"/>
                <a:ext cx="227"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5171" name="Line 17"/>
              <p:cNvSpPr>
                <a:spLocks noChangeShapeType="1"/>
              </p:cNvSpPr>
              <p:nvPr/>
            </p:nvSpPr>
            <p:spPr bwMode="auto">
              <a:xfrm>
                <a:off x="3431" y="2544"/>
                <a:ext cx="0" cy="24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5172" name="Line 18"/>
              <p:cNvSpPr>
                <a:spLocks noChangeShapeType="1"/>
              </p:cNvSpPr>
              <p:nvPr/>
            </p:nvSpPr>
            <p:spPr bwMode="auto">
              <a:xfrm>
                <a:off x="3535" y="2528"/>
                <a:ext cx="227"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5173" name="Oval 19"/>
              <p:cNvSpPr>
                <a:spLocks noChangeArrowheads="1"/>
              </p:cNvSpPr>
              <p:nvPr/>
            </p:nvSpPr>
            <p:spPr bwMode="auto">
              <a:xfrm>
                <a:off x="2703" y="3272"/>
                <a:ext cx="249" cy="249"/>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D</a:t>
                </a:r>
              </a:p>
            </p:txBody>
          </p:sp>
          <p:sp>
            <p:nvSpPr>
              <p:cNvPr id="5174" name="Oval 20"/>
              <p:cNvSpPr>
                <a:spLocks noChangeArrowheads="1"/>
              </p:cNvSpPr>
              <p:nvPr/>
            </p:nvSpPr>
            <p:spPr bwMode="auto">
              <a:xfrm>
                <a:off x="3216" y="3288"/>
                <a:ext cx="249" cy="249"/>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dirty="0"/>
                  <a:t>E</a:t>
                </a:r>
              </a:p>
            </p:txBody>
          </p:sp>
          <p:sp>
            <p:nvSpPr>
              <p:cNvPr id="5175" name="Line 21"/>
              <p:cNvSpPr>
                <a:spLocks noChangeShapeType="1"/>
              </p:cNvSpPr>
              <p:nvPr/>
            </p:nvSpPr>
            <p:spPr bwMode="auto">
              <a:xfrm flipH="1">
                <a:off x="2833" y="2992"/>
                <a:ext cx="159"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5176" name="Line 22"/>
              <p:cNvSpPr>
                <a:spLocks noChangeShapeType="1"/>
              </p:cNvSpPr>
              <p:nvPr/>
            </p:nvSpPr>
            <p:spPr bwMode="auto">
              <a:xfrm>
                <a:off x="3168" y="3008"/>
                <a:ext cx="159"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5177" name="Line 23"/>
              <p:cNvSpPr>
                <a:spLocks noChangeShapeType="1"/>
              </p:cNvSpPr>
              <p:nvPr/>
            </p:nvSpPr>
            <p:spPr bwMode="auto">
              <a:xfrm>
                <a:off x="3853" y="3008"/>
                <a:ext cx="227"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5126" name="Group 25"/>
            <p:cNvGrpSpPr>
              <a:grpSpLocks/>
            </p:cNvGrpSpPr>
            <p:nvPr/>
          </p:nvGrpSpPr>
          <p:grpSpPr bwMode="auto">
            <a:xfrm>
              <a:off x="6588125" y="2813051"/>
              <a:ext cx="1258888" cy="3130550"/>
              <a:chOff x="3121" y="1960"/>
              <a:chExt cx="816" cy="2048"/>
            </a:xfrm>
          </p:grpSpPr>
          <p:grpSp>
            <p:nvGrpSpPr>
              <p:cNvPr id="5127" name="Group 26"/>
              <p:cNvGrpSpPr>
                <a:grpSpLocks/>
              </p:cNvGrpSpPr>
              <p:nvPr/>
            </p:nvGrpSpPr>
            <p:grpSpPr bwMode="auto">
              <a:xfrm>
                <a:off x="3121" y="1960"/>
                <a:ext cx="816" cy="2040"/>
                <a:chOff x="3121" y="1960"/>
                <a:chExt cx="826" cy="2048"/>
              </a:xfrm>
            </p:grpSpPr>
            <p:grpSp>
              <p:nvGrpSpPr>
                <p:cNvPr id="5129" name="Group 27"/>
                <p:cNvGrpSpPr>
                  <a:grpSpLocks/>
                </p:cNvGrpSpPr>
                <p:nvPr/>
              </p:nvGrpSpPr>
              <p:grpSpPr bwMode="auto">
                <a:xfrm>
                  <a:off x="3128" y="1960"/>
                  <a:ext cx="819" cy="212"/>
                  <a:chOff x="1789" y="2924"/>
                  <a:chExt cx="819" cy="212"/>
                </a:xfrm>
              </p:grpSpPr>
              <p:sp>
                <p:nvSpPr>
                  <p:cNvPr id="5157" name="Rectangle 28"/>
                  <p:cNvSpPr>
                    <a:spLocks noChangeArrowheads="1"/>
                  </p:cNvSpPr>
                  <p:nvPr/>
                </p:nvSpPr>
                <p:spPr bwMode="auto">
                  <a:xfrm>
                    <a:off x="2064" y="2932"/>
                    <a:ext cx="544" cy="204"/>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R   -1</a:t>
                    </a:r>
                  </a:p>
                </p:txBody>
              </p:sp>
              <p:sp>
                <p:nvSpPr>
                  <p:cNvPr id="5158" name="Rectangle 29"/>
                  <p:cNvSpPr>
                    <a:spLocks noChangeArrowheads="1"/>
                  </p:cNvSpPr>
                  <p:nvPr/>
                </p:nvSpPr>
                <p:spPr bwMode="auto">
                  <a:xfrm>
                    <a:off x="1789" y="2924"/>
                    <a:ext cx="227" cy="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0</a:t>
                    </a:r>
                  </a:p>
                </p:txBody>
              </p:sp>
            </p:grpSp>
            <p:grpSp>
              <p:nvGrpSpPr>
                <p:cNvPr id="5130" name="Group 30"/>
                <p:cNvGrpSpPr>
                  <a:grpSpLocks/>
                </p:cNvGrpSpPr>
                <p:nvPr/>
              </p:nvGrpSpPr>
              <p:grpSpPr bwMode="auto">
                <a:xfrm>
                  <a:off x="3123" y="2168"/>
                  <a:ext cx="819" cy="208"/>
                  <a:chOff x="1789" y="2924"/>
                  <a:chExt cx="819" cy="208"/>
                </a:xfrm>
              </p:grpSpPr>
              <p:sp>
                <p:nvSpPr>
                  <p:cNvPr id="5155" name="Rectangle 31"/>
                  <p:cNvSpPr>
                    <a:spLocks noChangeArrowheads="1"/>
                  </p:cNvSpPr>
                  <p:nvPr/>
                </p:nvSpPr>
                <p:spPr bwMode="auto">
                  <a:xfrm>
                    <a:off x="2064" y="2928"/>
                    <a:ext cx="544" cy="204"/>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A    0</a:t>
                    </a:r>
                  </a:p>
                </p:txBody>
              </p:sp>
              <p:sp>
                <p:nvSpPr>
                  <p:cNvPr id="5156" name="Rectangle 32"/>
                  <p:cNvSpPr>
                    <a:spLocks noChangeArrowheads="1"/>
                  </p:cNvSpPr>
                  <p:nvPr/>
                </p:nvSpPr>
                <p:spPr bwMode="auto">
                  <a:xfrm>
                    <a:off x="1789" y="2924"/>
                    <a:ext cx="227" cy="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1</a:t>
                    </a:r>
                  </a:p>
                </p:txBody>
              </p:sp>
            </p:grpSp>
            <p:grpSp>
              <p:nvGrpSpPr>
                <p:cNvPr id="5131" name="Group 33"/>
                <p:cNvGrpSpPr>
                  <a:grpSpLocks/>
                </p:cNvGrpSpPr>
                <p:nvPr/>
              </p:nvGrpSpPr>
              <p:grpSpPr bwMode="auto">
                <a:xfrm>
                  <a:off x="3123" y="2372"/>
                  <a:ext cx="819" cy="208"/>
                  <a:chOff x="1789" y="2924"/>
                  <a:chExt cx="819" cy="208"/>
                </a:xfrm>
              </p:grpSpPr>
              <p:sp>
                <p:nvSpPr>
                  <p:cNvPr id="5153" name="Rectangle 34"/>
                  <p:cNvSpPr>
                    <a:spLocks noChangeArrowheads="1"/>
                  </p:cNvSpPr>
                  <p:nvPr/>
                </p:nvSpPr>
                <p:spPr bwMode="auto">
                  <a:xfrm>
                    <a:off x="2064" y="2928"/>
                    <a:ext cx="544" cy="204"/>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B    0</a:t>
                    </a:r>
                  </a:p>
                </p:txBody>
              </p:sp>
              <p:sp>
                <p:nvSpPr>
                  <p:cNvPr id="5154" name="Rectangle 35"/>
                  <p:cNvSpPr>
                    <a:spLocks noChangeArrowheads="1"/>
                  </p:cNvSpPr>
                  <p:nvPr/>
                </p:nvSpPr>
                <p:spPr bwMode="auto">
                  <a:xfrm>
                    <a:off x="1789" y="2924"/>
                    <a:ext cx="227" cy="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2</a:t>
                    </a:r>
                  </a:p>
                </p:txBody>
              </p:sp>
            </p:grpSp>
            <p:grpSp>
              <p:nvGrpSpPr>
                <p:cNvPr id="5132" name="Group 36"/>
                <p:cNvGrpSpPr>
                  <a:grpSpLocks/>
                </p:cNvGrpSpPr>
                <p:nvPr/>
              </p:nvGrpSpPr>
              <p:grpSpPr bwMode="auto">
                <a:xfrm>
                  <a:off x="3123" y="2580"/>
                  <a:ext cx="819" cy="208"/>
                  <a:chOff x="1789" y="2924"/>
                  <a:chExt cx="819" cy="208"/>
                </a:xfrm>
              </p:grpSpPr>
              <p:sp>
                <p:nvSpPr>
                  <p:cNvPr id="5151" name="Rectangle 37"/>
                  <p:cNvSpPr>
                    <a:spLocks noChangeArrowheads="1"/>
                  </p:cNvSpPr>
                  <p:nvPr/>
                </p:nvSpPr>
                <p:spPr bwMode="auto">
                  <a:xfrm>
                    <a:off x="2064" y="2928"/>
                    <a:ext cx="544" cy="204"/>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C    0</a:t>
                    </a:r>
                  </a:p>
                </p:txBody>
              </p:sp>
              <p:sp>
                <p:nvSpPr>
                  <p:cNvPr id="5152" name="Rectangle 38"/>
                  <p:cNvSpPr>
                    <a:spLocks noChangeArrowheads="1"/>
                  </p:cNvSpPr>
                  <p:nvPr/>
                </p:nvSpPr>
                <p:spPr bwMode="auto">
                  <a:xfrm>
                    <a:off x="1789" y="2924"/>
                    <a:ext cx="227" cy="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3</a:t>
                    </a:r>
                  </a:p>
                </p:txBody>
              </p:sp>
            </p:grpSp>
            <p:grpSp>
              <p:nvGrpSpPr>
                <p:cNvPr id="5133" name="Group 39"/>
                <p:cNvGrpSpPr>
                  <a:grpSpLocks/>
                </p:cNvGrpSpPr>
                <p:nvPr/>
              </p:nvGrpSpPr>
              <p:grpSpPr bwMode="auto">
                <a:xfrm>
                  <a:off x="3123" y="2780"/>
                  <a:ext cx="819" cy="212"/>
                  <a:chOff x="1789" y="2924"/>
                  <a:chExt cx="819" cy="212"/>
                </a:xfrm>
              </p:grpSpPr>
              <p:sp>
                <p:nvSpPr>
                  <p:cNvPr id="5149" name="Rectangle 40"/>
                  <p:cNvSpPr>
                    <a:spLocks noChangeArrowheads="1"/>
                  </p:cNvSpPr>
                  <p:nvPr/>
                </p:nvSpPr>
                <p:spPr bwMode="auto">
                  <a:xfrm>
                    <a:off x="2064" y="2932"/>
                    <a:ext cx="544" cy="204"/>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D    1</a:t>
                    </a:r>
                  </a:p>
                </p:txBody>
              </p:sp>
              <p:sp>
                <p:nvSpPr>
                  <p:cNvPr id="5150" name="Rectangle 41"/>
                  <p:cNvSpPr>
                    <a:spLocks noChangeArrowheads="1"/>
                  </p:cNvSpPr>
                  <p:nvPr/>
                </p:nvSpPr>
                <p:spPr bwMode="auto">
                  <a:xfrm>
                    <a:off x="1789" y="2924"/>
                    <a:ext cx="227" cy="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4</a:t>
                    </a:r>
                  </a:p>
                </p:txBody>
              </p:sp>
            </p:grpSp>
            <p:grpSp>
              <p:nvGrpSpPr>
                <p:cNvPr id="5134" name="Group 42"/>
                <p:cNvGrpSpPr>
                  <a:grpSpLocks/>
                </p:cNvGrpSpPr>
                <p:nvPr/>
              </p:nvGrpSpPr>
              <p:grpSpPr bwMode="auto">
                <a:xfrm>
                  <a:off x="3126" y="2988"/>
                  <a:ext cx="819" cy="208"/>
                  <a:chOff x="1789" y="2924"/>
                  <a:chExt cx="819" cy="208"/>
                </a:xfrm>
              </p:grpSpPr>
              <p:sp>
                <p:nvSpPr>
                  <p:cNvPr id="5147" name="Rectangle 43"/>
                  <p:cNvSpPr>
                    <a:spLocks noChangeArrowheads="1"/>
                  </p:cNvSpPr>
                  <p:nvPr/>
                </p:nvSpPr>
                <p:spPr bwMode="auto">
                  <a:xfrm>
                    <a:off x="2064" y="2928"/>
                    <a:ext cx="544" cy="204"/>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E    1</a:t>
                    </a:r>
                  </a:p>
                </p:txBody>
              </p:sp>
              <p:sp>
                <p:nvSpPr>
                  <p:cNvPr id="5148" name="Rectangle 44"/>
                  <p:cNvSpPr>
                    <a:spLocks noChangeArrowheads="1"/>
                  </p:cNvSpPr>
                  <p:nvPr/>
                </p:nvSpPr>
                <p:spPr bwMode="auto">
                  <a:xfrm>
                    <a:off x="1789" y="2924"/>
                    <a:ext cx="227" cy="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5</a:t>
                    </a:r>
                  </a:p>
                </p:txBody>
              </p:sp>
            </p:grpSp>
            <p:grpSp>
              <p:nvGrpSpPr>
                <p:cNvPr id="5135" name="Group 45"/>
                <p:cNvGrpSpPr>
                  <a:grpSpLocks/>
                </p:cNvGrpSpPr>
                <p:nvPr/>
              </p:nvGrpSpPr>
              <p:grpSpPr bwMode="auto">
                <a:xfrm>
                  <a:off x="3126" y="3192"/>
                  <a:ext cx="819" cy="208"/>
                  <a:chOff x="1789" y="2924"/>
                  <a:chExt cx="819" cy="208"/>
                </a:xfrm>
              </p:grpSpPr>
              <p:sp>
                <p:nvSpPr>
                  <p:cNvPr id="5145" name="Rectangle 46"/>
                  <p:cNvSpPr>
                    <a:spLocks noChangeArrowheads="1"/>
                  </p:cNvSpPr>
                  <p:nvPr/>
                </p:nvSpPr>
                <p:spPr bwMode="auto">
                  <a:xfrm>
                    <a:off x="2064" y="2928"/>
                    <a:ext cx="544" cy="204"/>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dirty="0"/>
                      <a:t>F    3</a:t>
                    </a:r>
                  </a:p>
                </p:txBody>
              </p:sp>
              <p:sp>
                <p:nvSpPr>
                  <p:cNvPr id="5146" name="Rectangle 47"/>
                  <p:cNvSpPr>
                    <a:spLocks noChangeArrowheads="1"/>
                  </p:cNvSpPr>
                  <p:nvPr/>
                </p:nvSpPr>
                <p:spPr bwMode="auto">
                  <a:xfrm>
                    <a:off x="1789" y="2924"/>
                    <a:ext cx="227" cy="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6</a:t>
                    </a:r>
                  </a:p>
                </p:txBody>
              </p:sp>
            </p:grpSp>
            <p:grpSp>
              <p:nvGrpSpPr>
                <p:cNvPr id="5136" name="Group 48"/>
                <p:cNvGrpSpPr>
                  <a:grpSpLocks/>
                </p:cNvGrpSpPr>
                <p:nvPr/>
              </p:nvGrpSpPr>
              <p:grpSpPr bwMode="auto">
                <a:xfrm>
                  <a:off x="3126" y="3392"/>
                  <a:ext cx="819" cy="208"/>
                  <a:chOff x="1789" y="2924"/>
                  <a:chExt cx="819" cy="208"/>
                </a:xfrm>
              </p:grpSpPr>
              <p:sp>
                <p:nvSpPr>
                  <p:cNvPr id="5143" name="Rectangle 49"/>
                  <p:cNvSpPr>
                    <a:spLocks noChangeArrowheads="1"/>
                  </p:cNvSpPr>
                  <p:nvPr/>
                </p:nvSpPr>
                <p:spPr bwMode="auto">
                  <a:xfrm>
                    <a:off x="2064" y="2928"/>
                    <a:ext cx="544" cy="204"/>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G    6</a:t>
                    </a:r>
                  </a:p>
                </p:txBody>
              </p:sp>
              <p:sp>
                <p:nvSpPr>
                  <p:cNvPr id="5144" name="Rectangle 50"/>
                  <p:cNvSpPr>
                    <a:spLocks noChangeArrowheads="1"/>
                  </p:cNvSpPr>
                  <p:nvPr/>
                </p:nvSpPr>
                <p:spPr bwMode="auto">
                  <a:xfrm>
                    <a:off x="1789" y="2924"/>
                    <a:ext cx="227" cy="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7</a:t>
                    </a:r>
                  </a:p>
                </p:txBody>
              </p:sp>
            </p:grpSp>
            <p:grpSp>
              <p:nvGrpSpPr>
                <p:cNvPr id="5137" name="Group 51"/>
                <p:cNvGrpSpPr>
                  <a:grpSpLocks/>
                </p:cNvGrpSpPr>
                <p:nvPr/>
              </p:nvGrpSpPr>
              <p:grpSpPr bwMode="auto">
                <a:xfrm>
                  <a:off x="3126" y="3592"/>
                  <a:ext cx="819" cy="212"/>
                  <a:chOff x="1789" y="2924"/>
                  <a:chExt cx="819" cy="212"/>
                </a:xfrm>
              </p:grpSpPr>
              <p:sp>
                <p:nvSpPr>
                  <p:cNvPr id="5141" name="Rectangle 52"/>
                  <p:cNvSpPr>
                    <a:spLocks noChangeArrowheads="1"/>
                  </p:cNvSpPr>
                  <p:nvPr/>
                </p:nvSpPr>
                <p:spPr bwMode="auto">
                  <a:xfrm>
                    <a:off x="2064" y="2932"/>
                    <a:ext cx="544" cy="204"/>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H    6</a:t>
                    </a:r>
                  </a:p>
                </p:txBody>
              </p:sp>
              <p:sp>
                <p:nvSpPr>
                  <p:cNvPr id="5142" name="Rectangle 53"/>
                  <p:cNvSpPr>
                    <a:spLocks noChangeArrowheads="1"/>
                  </p:cNvSpPr>
                  <p:nvPr/>
                </p:nvSpPr>
                <p:spPr bwMode="auto">
                  <a:xfrm>
                    <a:off x="1789" y="2924"/>
                    <a:ext cx="227" cy="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8</a:t>
                    </a:r>
                  </a:p>
                </p:txBody>
              </p:sp>
            </p:grpSp>
            <p:grpSp>
              <p:nvGrpSpPr>
                <p:cNvPr id="5138" name="Group 54"/>
                <p:cNvGrpSpPr>
                  <a:grpSpLocks/>
                </p:cNvGrpSpPr>
                <p:nvPr/>
              </p:nvGrpSpPr>
              <p:grpSpPr bwMode="auto">
                <a:xfrm>
                  <a:off x="3121" y="3800"/>
                  <a:ext cx="819" cy="208"/>
                  <a:chOff x="1789" y="2924"/>
                  <a:chExt cx="819" cy="208"/>
                </a:xfrm>
              </p:grpSpPr>
              <p:sp>
                <p:nvSpPr>
                  <p:cNvPr id="5139" name="Rectangle 55"/>
                  <p:cNvSpPr>
                    <a:spLocks noChangeArrowheads="1"/>
                  </p:cNvSpPr>
                  <p:nvPr/>
                </p:nvSpPr>
                <p:spPr bwMode="auto">
                  <a:xfrm>
                    <a:off x="2064" y="2928"/>
                    <a:ext cx="544" cy="204"/>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I     6</a:t>
                    </a:r>
                  </a:p>
                </p:txBody>
              </p:sp>
              <p:sp>
                <p:nvSpPr>
                  <p:cNvPr id="5140" name="Rectangle 56"/>
                  <p:cNvSpPr>
                    <a:spLocks noChangeArrowheads="1"/>
                  </p:cNvSpPr>
                  <p:nvPr/>
                </p:nvSpPr>
                <p:spPr bwMode="auto">
                  <a:xfrm>
                    <a:off x="1789" y="2924"/>
                    <a:ext cx="227" cy="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9</a:t>
                    </a:r>
                  </a:p>
                </p:txBody>
              </p:sp>
            </p:grpSp>
          </p:grpSp>
          <p:sp>
            <p:nvSpPr>
              <p:cNvPr id="5128" name="Line 57"/>
              <p:cNvSpPr>
                <a:spLocks noChangeShapeType="1"/>
              </p:cNvSpPr>
              <p:nvPr/>
            </p:nvSpPr>
            <p:spPr bwMode="auto">
              <a:xfrm>
                <a:off x="3688" y="1968"/>
                <a:ext cx="0" cy="204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sp>
        <p:nvSpPr>
          <p:cNvPr id="2" name="矩形 1"/>
          <p:cNvSpPr/>
          <p:nvPr/>
        </p:nvSpPr>
        <p:spPr>
          <a:xfrm>
            <a:off x="1049070" y="188640"/>
            <a:ext cx="2347117" cy="523220"/>
          </a:xfrm>
          <a:prstGeom prst="rect">
            <a:avLst/>
          </a:prstGeom>
        </p:spPr>
        <p:txBody>
          <a:bodyPr wrap="none">
            <a:spAutoFit/>
          </a:bodyPr>
          <a:lstStyle/>
          <a:p>
            <a:r>
              <a:rPr lang="en-US" altLang="zh-CN" dirty="0">
                <a:solidFill>
                  <a:srgbClr val="FFFF00"/>
                </a:solidFill>
              </a:rPr>
              <a:t>1  </a:t>
            </a:r>
            <a:r>
              <a:rPr lang="zh-CN" altLang="en-US" dirty="0">
                <a:solidFill>
                  <a:srgbClr val="FFFF00"/>
                </a:solidFill>
              </a:rPr>
              <a:t>双亲表示法</a:t>
            </a:r>
          </a:p>
        </p:txBody>
      </p:sp>
    </p:spTree>
    <p:extLst>
      <p:ext uri="{BB962C8B-B14F-4D97-AF65-F5344CB8AC3E}">
        <p14:creationId xmlns:p14="http://schemas.microsoft.com/office/powerpoint/2010/main" val="3799232537"/>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2"/>
          <p:cNvSpPr>
            <a:spLocks noChangeArrowheads="1"/>
          </p:cNvSpPr>
          <p:nvPr/>
        </p:nvSpPr>
        <p:spPr bwMode="auto">
          <a:xfrm>
            <a:off x="152399" y="188913"/>
            <a:ext cx="8991601" cy="61204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ct val="110000"/>
              </a:lnSpc>
              <a:spcBef>
                <a:spcPct val="20000"/>
              </a:spcBef>
              <a:buClr>
                <a:schemeClr val="accent2"/>
              </a:buClr>
              <a:buSzPct val="80000"/>
              <a:buFont typeface="Wingdings" pitchFamily="2" charset="2"/>
              <a:buNone/>
            </a:pPr>
            <a:r>
              <a:rPr kumimoji="1" lang="en-US" altLang="zh-CN" b="1" dirty="0" smtClean="0">
                <a:solidFill>
                  <a:srgbClr val="FFFF00"/>
                </a:solidFill>
                <a:latin typeface="Times New Roman" pitchFamily="18" charset="0"/>
              </a:rPr>
              <a:t>          2  </a:t>
            </a:r>
            <a:r>
              <a:rPr kumimoji="1" lang="zh-CN" altLang="en-US" b="1" dirty="0">
                <a:solidFill>
                  <a:srgbClr val="FFFF00"/>
                </a:solidFill>
                <a:latin typeface="Times New Roman" pitchFamily="18" charset="0"/>
                <a:ea typeface="楷体_GB2312" pitchFamily="49" charset="-122"/>
              </a:rPr>
              <a:t>孩子表示法</a:t>
            </a:r>
          </a:p>
          <a:p>
            <a:pPr>
              <a:lnSpc>
                <a:spcPct val="110000"/>
              </a:lnSpc>
              <a:spcBef>
                <a:spcPct val="20000"/>
              </a:spcBef>
              <a:buClr>
                <a:schemeClr val="accent2"/>
              </a:buClr>
              <a:buSzPct val="80000"/>
              <a:buFont typeface="Wingdings" pitchFamily="2" charset="2"/>
              <a:buNone/>
            </a:pPr>
            <a:r>
              <a:rPr kumimoji="1" lang="zh-CN" altLang="en-US" sz="2400" dirty="0"/>
              <a:t>       </a:t>
            </a:r>
            <a:endParaRPr kumimoji="1" lang="en-US" altLang="zh-CN" sz="2400" dirty="0" smtClean="0"/>
          </a:p>
          <a:p>
            <a:pPr>
              <a:lnSpc>
                <a:spcPct val="110000"/>
              </a:lnSpc>
              <a:spcBef>
                <a:spcPct val="20000"/>
              </a:spcBef>
              <a:buClr>
                <a:schemeClr val="accent2"/>
              </a:buClr>
              <a:buSzPct val="80000"/>
              <a:buFont typeface="Wingdings" pitchFamily="2" charset="2"/>
              <a:buNone/>
            </a:pPr>
            <a:r>
              <a:rPr kumimoji="1" lang="en-US" altLang="zh-CN" sz="2400" b="1" dirty="0"/>
              <a:t> </a:t>
            </a:r>
            <a:r>
              <a:rPr kumimoji="1" lang="en-US" altLang="zh-CN" sz="2400" b="1" dirty="0" smtClean="0"/>
              <a:t>   </a:t>
            </a:r>
            <a:r>
              <a:rPr kumimoji="1" lang="zh-CN" altLang="en-US" sz="2400" b="1" dirty="0" smtClean="0"/>
              <a:t>树</a:t>
            </a:r>
            <a:r>
              <a:rPr kumimoji="1" lang="zh-CN" altLang="en-US" sz="2400" b="1" dirty="0"/>
              <a:t>中每个结点有多个指针域，每个指针指向其一棵子树的根结点</a:t>
            </a:r>
            <a:r>
              <a:rPr kumimoji="1" lang="zh-CN" altLang="en-US" sz="2400" b="1" dirty="0">
                <a:latin typeface="宋体" pitchFamily="2" charset="-122"/>
              </a:rPr>
              <a:t>。有</a:t>
            </a:r>
            <a:r>
              <a:rPr kumimoji="1" lang="zh-CN" altLang="en-US" sz="2400" b="1" dirty="0"/>
              <a:t>两种结点结构</a:t>
            </a:r>
            <a:r>
              <a:rPr kumimoji="1" lang="zh-CN" altLang="en-US" sz="2400" b="1" dirty="0">
                <a:latin typeface="宋体" pitchFamily="2" charset="-122"/>
              </a:rPr>
              <a:t>。</a:t>
            </a:r>
            <a:endParaRPr kumimoji="1" lang="zh-CN" altLang="en-US" sz="2400" b="1" dirty="0"/>
          </a:p>
          <a:p>
            <a:pPr>
              <a:lnSpc>
                <a:spcPct val="110000"/>
              </a:lnSpc>
              <a:spcBef>
                <a:spcPct val="20000"/>
              </a:spcBef>
              <a:buClr>
                <a:schemeClr val="accent2"/>
              </a:buClr>
              <a:buSzPct val="80000"/>
              <a:buFont typeface="Wingdings" pitchFamily="2" charset="2"/>
              <a:buNone/>
            </a:pPr>
            <a:r>
              <a:rPr kumimoji="1" lang="zh-CN" altLang="en-US" sz="2400" b="1" dirty="0">
                <a:solidFill>
                  <a:schemeClr val="folHlink"/>
                </a:solidFill>
              </a:rPr>
              <a:t>⑴  </a:t>
            </a:r>
            <a:r>
              <a:rPr kumimoji="1" lang="zh-CN" altLang="en-US" sz="2400" b="1" dirty="0">
                <a:solidFill>
                  <a:schemeClr val="folHlink"/>
                </a:solidFill>
                <a:ea typeface="楷体_GB2312" pitchFamily="49" charset="-122"/>
              </a:rPr>
              <a:t>定长结点结构</a:t>
            </a:r>
          </a:p>
          <a:p>
            <a:pPr>
              <a:lnSpc>
                <a:spcPct val="110000"/>
              </a:lnSpc>
              <a:spcBef>
                <a:spcPct val="20000"/>
              </a:spcBef>
              <a:buClr>
                <a:schemeClr val="accent2"/>
              </a:buClr>
              <a:buSzPct val="80000"/>
              <a:buFont typeface="Wingdings" pitchFamily="2" charset="2"/>
              <a:buNone/>
            </a:pPr>
            <a:r>
              <a:rPr kumimoji="1" lang="zh-CN" altLang="en-US" sz="2400" dirty="0"/>
              <a:t>        </a:t>
            </a:r>
            <a:r>
              <a:rPr kumimoji="1" lang="zh-CN" altLang="en-US" sz="2400" b="1" dirty="0"/>
              <a:t>指针域的数目就是树的度</a:t>
            </a:r>
            <a:r>
              <a:rPr kumimoji="1" lang="zh-CN" altLang="en-US" sz="2400" b="1" dirty="0">
                <a:latin typeface="宋体" pitchFamily="2" charset="-122"/>
              </a:rPr>
              <a:t>。</a:t>
            </a:r>
          </a:p>
          <a:p>
            <a:pPr>
              <a:lnSpc>
                <a:spcPct val="110000"/>
              </a:lnSpc>
              <a:spcBef>
                <a:spcPct val="20000"/>
              </a:spcBef>
              <a:buClr>
                <a:schemeClr val="accent2"/>
              </a:buClr>
              <a:buSzPct val="80000"/>
              <a:buFont typeface="Wingdings" pitchFamily="2" charset="2"/>
              <a:buNone/>
            </a:pPr>
            <a:r>
              <a:rPr kumimoji="1" lang="zh-CN" altLang="en-US" sz="2400" b="1" dirty="0">
                <a:latin typeface="宋体" pitchFamily="2" charset="-122"/>
              </a:rPr>
              <a:t>    其特点是</a:t>
            </a:r>
            <a:r>
              <a:rPr kumimoji="1" lang="zh-CN" altLang="en-US" sz="2400" b="1" dirty="0"/>
              <a:t>：链表结构简单，但指针域的浪费明显</a:t>
            </a:r>
            <a:r>
              <a:rPr kumimoji="1" lang="zh-CN" altLang="en-US" sz="2400" b="1" dirty="0">
                <a:latin typeface="宋体" pitchFamily="2" charset="-122"/>
              </a:rPr>
              <a:t>。结点结构如图</a:t>
            </a:r>
            <a:r>
              <a:rPr kumimoji="1" lang="en-US" altLang="zh-CN" sz="2400" b="1" dirty="0">
                <a:latin typeface="宋体" pitchFamily="2" charset="-122"/>
              </a:rPr>
              <a:t> </a:t>
            </a:r>
            <a:r>
              <a:rPr kumimoji="1" lang="en-US" altLang="zh-CN" sz="2400" b="1" dirty="0"/>
              <a:t>(a) </a:t>
            </a:r>
            <a:r>
              <a:rPr kumimoji="1" lang="zh-CN" altLang="en-US" sz="2400" b="1" dirty="0"/>
              <a:t>所示</a:t>
            </a:r>
            <a:r>
              <a:rPr kumimoji="1" lang="zh-CN" altLang="en-US" sz="2400" b="1" dirty="0">
                <a:latin typeface="宋体" pitchFamily="2" charset="-122"/>
              </a:rPr>
              <a:t>。</a:t>
            </a:r>
            <a:r>
              <a:rPr kumimoji="1" lang="zh-CN" altLang="en-US" sz="2400" b="1" dirty="0"/>
              <a:t>在一棵有</a:t>
            </a:r>
            <a:r>
              <a:rPr kumimoji="1" lang="en-US" altLang="zh-CN" sz="2400" b="1" dirty="0"/>
              <a:t>n</a:t>
            </a:r>
            <a:r>
              <a:rPr kumimoji="1" lang="zh-CN" altLang="en-US" sz="2400" b="1" dirty="0"/>
              <a:t>个结点，度为</a:t>
            </a:r>
            <a:r>
              <a:rPr kumimoji="1" lang="en-US" altLang="zh-CN" sz="2400" b="1" dirty="0"/>
              <a:t>k</a:t>
            </a:r>
            <a:r>
              <a:rPr kumimoji="1" lang="zh-CN" altLang="en-US" sz="2400" b="1" dirty="0"/>
              <a:t>的树中必有</a:t>
            </a:r>
            <a:r>
              <a:rPr kumimoji="1" lang="en-US" altLang="zh-CN" sz="2400" b="1" dirty="0"/>
              <a:t>n(k-1)+1</a:t>
            </a:r>
            <a:r>
              <a:rPr kumimoji="1" lang="zh-CN" altLang="en-US" sz="2400" b="1" dirty="0"/>
              <a:t>空指针域</a:t>
            </a:r>
            <a:r>
              <a:rPr kumimoji="1" lang="zh-CN" altLang="en-US" sz="2400" b="1" dirty="0">
                <a:latin typeface="宋体" pitchFamily="2" charset="-122"/>
              </a:rPr>
              <a:t>。</a:t>
            </a:r>
          </a:p>
          <a:p>
            <a:pPr>
              <a:lnSpc>
                <a:spcPct val="110000"/>
              </a:lnSpc>
              <a:spcBef>
                <a:spcPct val="20000"/>
              </a:spcBef>
            </a:pPr>
            <a:r>
              <a:rPr kumimoji="1" lang="zh-CN" altLang="en-US" sz="2400" b="1" dirty="0">
                <a:solidFill>
                  <a:schemeClr val="folHlink"/>
                </a:solidFill>
              </a:rPr>
              <a:t>⑵  </a:t>
            </a:r>
            <a:r>
              <a:rPr kumimoji="1" lang="zh-CN" altLang="en-US" sz="2400" b="1" dirty="0">
                <a:solidFill>
                  <a:schemeClr val="folHlink"/>
                </a:solidFill>
                <a:ea typeface="楷体_GB2312" pitchFamily="49" charset="-122"/>
              </a:rPr>
              <a:t>不定长结点结构</a:t>
            </a:r>
          </a:p>
          <a:p>
            <a:pPr>
              <a:lnSpc>
                <a:spcPct val="110000"/>
              </a:lnSpc>
              <a:spcBef>
                <a:spcPct val="20000"/>
              </a:spcBef>
            </a:pPr>
            <a:r>
              <a:rPr kumimoji="1" lang="zh-CN" altLang="en-US" sz="2400" dirty="0"/>
              <a:t>         </a:t>
            </a:r>
            <a:r>
              <a:rPr kumimoji="1" lang="zh-CN" altLang="en-US" sz="2400" b="1" dirty="0"/>
              <a:t>树中每个结点的指针域数量不同，是该结点的度，如图</a:t>
            </a:r>
            <a:r>
              <a:rPr kumimoji="1" lang="en-US" altLang="zh-CN" sz="2400" b="1" dirty="0"/>
              <a:t> (b) </a:t>
            </a:r>
            <a:r>
              <a:rPr kumimoji="1" lang="zh-CN" altLang="en-US" sz="2400" b="1" dirty="0"/>
              <a:t>所示。没有多余的指针域，但操作不便。</a:t>
            </a:r>
          </a:p>
        </p:txBody>
      </p:sp>
    </p:spTree>
    <p:extLst>
      <p:ext uri="{BB962C8B-B14F-4D97-AF65-F5344CB8AC3E}">
        <p14:creationId xmlns:p14="http://schemas.microsoft.com/office/powerpoint/2010/main" val="2203286961"/>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170" name="Group 2"/>
          <p:cNvGrpSpPr>
            <a:grpSpLocks/>
          </p:cNvGrpSpPr>
          <p:nvPr/>
        </p:nvGrpSpPr>
        <p:grpSpPr bwMode="auto">
          <a:xfrm>
            <a:off x="166001" y="1196007"/>
            <a:ext cx="8785225" cy="1296988"/>
            <a:chOff x="113" y="164"/>
            <a:chExt cx="5534" cy="817"/>
          </a:xfrm>
        </p:grpSpPr>
        <p:sp>
          <p:nvSpPr>
            <p:cNvPr id="7184" name="Rectangle 3"/>
            <p:cNvSpPr>
              <a:spLocks noChangeArrowheads="1"/>
            </p:cNvSpPr>
            <p:nvPr/>
          </p:nvSpPr>
          <p:spPr bwMode="auto">
            <a:xfrm>
              <a:off x="1429" y="754"/>
              <a:ext cx="2448"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nchor="ctr"/>
            <a:lstStyle/>
            <a:p>
              <a:pPr algn="ctr" eaLnBrk="0" hangingPunct="0"/>
              <a:r>
                <a:rPr lang="zh-CN" altLang="en-US" sz="2000" b="1" dirty="0" smtClean="0">
                  <a:latin typeface="宋体" pitchFamily="2" charset="-122"/>
                </a:rPr>
                <a:t>孩子</a:t>
              </a:r>
              <a:r>
                <a:rPr lang="zh-CN" altLang="en-US" sz="2000" b="1" dirty="0">
                  <a:latin typeface="宋体" pitchFamily="2" charset="-122"/>
                </a:rPr>
                <a:t>表示法的结点结构</a:t>
              </a:r>
              <a:endParaRPr lang="zh-CN" altLang="en-US" sz="2000" b="1" dirty="0"/>
            </a:p>
          </p:txBody>
        </p:sp>
        <p:grpSp>
          <p:nvGrpSpPr>
            <p:cNvPr id="7185" name="Group 4"/>
            <p:cNvGrpSpPr>
              <a:grpSpLocks/>
            </p:cNvGrpSpPr>
            <p:nvPr/>
          </p:nvGrpSpPr>
          <p:grpSpPr bwMode="auto">
            <a:xfrm>
              <a:off x="113" y="164"/>
              <a:ext cx="2494" cy="526"/>
              <a:chOff x="2976" y="2797"/>
              <a:chExt cx="2494" cy="526"/>
            </a:xfrm>
          </p:grpSpPr>
          <p:grpSp>
            <p:nvGrpSpPr>
              <p:cNvPr id="7195" name="Group 5"/>
              <p:cNvGrpSpPr>
                <a:grpSpLocks/>
              </p:cNvGrpSpPr>
              <p:nvPr/>
            </p:nvGrpSpPr>
            <p:grpSpPr bwMode="auto">
              <a:xfrm>
                <a:off x="2976" y="2797"/>
                <a:ext cx="2494" cy="248"/>
                <a:chOff x="480" y="3264"/>
                <a:chExt cx="2494" cy="249"/>
              </a:xfrm>
            </p:grpSpPr>
            <p:sp>
              <p:nvSpPr>
                <p:cNvPr id="7197" name="Rectangle 6"/>
                <p:cNvSpPr>
                  <a:spLocks noChangeArrowheads="1"/>
                </p:cNvSpPr>
                <p:nvPr/>
              </p:nvSpPr>
              <p:spPr bwMode="auto">
                <a:xfrm>
                  <a:off x="480" y="3264"/>
                  <a:ext cx="2494" cy="24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dirty="0"/>
                    <a:t>data     </a:t>
                  </a:r>
                  <a:r>
                    <a:rPr lang="en-US" altLang="zh-CN" sz="2000" dirty="0" smtClean="0"/>
                    <a:t> </a:t>
                  </a:r>
                  <a:r>
                    <a:rPr lang="en-US" altLang="zh-CN" sz="2000" dirty="0"/>
                    <a:t>child</a:t>
                  </a:r>
                  <a:r>
                    <a:rPr lang="en-US" altLang="zh-CN" sz="2000" baseline="-18000" dirty="0"/>
                    <a:t>1    </a:t>
                  </a:r>
                  <a:r>
                    <a:rPr lang="en-US" altLang="zh-CN" sz="2000" dirty="0" smtClean="0"/>
                    <a:t> </a:t>
                  </a:r>
                  <a:r>
                    <a:rPr lang="en-US" altLang="zh-CN" sz="2000" dirty="0"/>
                    <a:t>child</a:t>
                  </a:r>
                  <a:r>
                    <a:rPr lang="en-US" altLang="zh-CN" sz="2000" baseline="-18000" dirty="0"/>
                    <a:t>2</a:t>
                  </a:r>
                  <a:r>
                    <a:rPr lang="en-US" altLang="zh-CN" sz="2000" dirty="0"/>
                    <a:t>    </a:t>
                  </a:r>
                  <a:r>
                    <a:rPr lang="en-US" altLang="zh-CN" sz="2000" dirty="0" smtClean="0"/>
                    <a:t> </a:t>
                  </a:r>
                  <a:r>
                    <a:rPr lang="en-US" altLang="zh-CN" sz="2000" dirty="0">
                      <a:ea typeface="Arial Unicode MS" pitchFamily="34" charset="-122"/>
                      <a:cs typeface="Arial Unicode MS" pitchFamily="34" charset="-122"/>
                    </a:rPr>
                    <a:t>⋯     </a:t>
                  </a:r>
                  <a:r>
                    <a:rPr lang="en-US" altLang="zh-CN" sz="2000" dirty="0" err="1"/>
                    <a:t>child</a:t>
                  </a:r>
                  <a:r>
                    <a:rPr lang="en-US" altLang="zh-CN" sz="2000" baseline="-18000" dirty="0" err="1"/>
                    <a:t>n</a:t>
                  </a:r>
                  <a:endParaRPr lang="en-US" altLang="zh-CN" sz="2000" baseline="-18000" dirty="0"/>
                </a:p>
              </p:txBody>
            </p:sp>
            <p:sp>
              <p:nvSpPr>
                <p:cNvPr id="7198" name="Line 7"/>
                <p:cNvSpPr>
                  <a:spLocks noChangeShapeType="1"/>
                </p:cNvSpPr>
                <p:nvPr/>
              </p:nvSpPr>
              <p:spPr bwMode="auto">
                <a:xfrm>
                  <a:off x="960" y="3264"/>
                  <a:ext cx="0" cy="24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a:p>
              </p:txBody>
            </p:sp>
            <p:sp>
              <p:nvSpPr>
                <p:cNvPr id="7199" name="Line 8"/>
                <p:cNvSpPr>
                  <a:spLocks noChangeShapeType="1"/>
                </p:cNvSpPr>
                <p:nvPr/>
              </p:nvSpPr>
              <p:spPr bwMode="auto">
                <a:xfrm>
                  <a:off x="1520" y="3264"/>
                  <a:ext cx="0" cy="24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a:p>
              </p:txBody>
            </p:sp>
            <p:sp>
              <p:nvSpPr>
                <p:cNvPr id="7200" name="Line 9"/>
                <p:cNvSpPr>
                  <a:spLocks noChangeShapeType="1"/>
                </p:cNvSpPr>
                <p:nvPr/>
              </p:nvSpPr>
              <p:spPr bwMode="auto">
                <a:xfrm>
                  <a:off x="2096" y="3264"/>
                  <a:ext cx="0" cy="24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a:p>
              </p:txBody>
            </p:sp>
            <p:sp>
              <p:nvSpPr>
                <p:cNvPr id="7201" name="Line 10"/>
                <p:cNvSpPr>
                  <a:spLocks noChangeShapeType="1"/>
                </p:cNvSpPr>
                <p:nvPr/>
              </p:nvSpPr>
              <p:spPr bwMode="auto">
                <a:xfrm>
                  <a:off x="2432" y="3264"/>
                  <a:ext cx="0" cy="24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a:p>
              </p:txBody>
            </p:sp>
          </p:grpSp>
          <p:sp>
            <p:nvSpPr>
              <p:cNvPr id="7196" name="Rectangle 11"/>
              <p:cNvSpPr>
                <a:spLocks noChangeArrowheads="1"/>
              </p:cNvSpPr>
              <p:nvPr/>
            </p:nvSpPr>
            <p:spPr bwMode="auto">
              <a:xfrm>
                <a:off x="3504" y="3097"/>
                <a:ext cx="1440"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nchor="ctr"/>
              <a:lstStyle/>
              <a:p>
                <a:pPr algn="ctr" eaLnBrk="0" hangingPunct="0"/>
                <a:r>
                  <a:rPr lang="en-US" altLang="zh-CN" sz="2000" b="1"/>
                  <a:t>(a)   </a:t>
                </a:r>
                <a:r>
                  <a:rPr lang="zh-CN" altLang="en-US" sz="2000" b="1">
                    <a:latin typeface="宋体" pitchFamily="2" charset="-122"/>
                  </a:rPr>
                  <a:t>定长结点结构</a:t>
                </a:r>
                <a:endParaRPr lang="zh-CN" altLang="en-US" sz="2000" b="1"/>
              </a:p>
            </p:txBody>
          </p:sp>
        </p:grpSp>
        <p:grpSp>
          <p:nvGrpSpPr>
            <p:cNvPr id="7186" name="Group 12"/>
            <p:cNvGrpSpPr>
              <a:grpSpLocks/>
            </p:cNvGrpSpPr>
            <p:nvPr/>
          </p:nvGrpSpPr>
          <p:grpSpPr bwMode="auto">
            <a:xfrm>
              <a:off x="2881" y="164"/>
              <a:ext cx="2766" cy="524"/>
              <a:chOff x="2784" y="3383"/>
              <a:chExt cx="2766" cy="524"/>
            </a:xfrm>
          </p:grpSpPr>
          <p:sp>
            <p:nvSpPr>
              <p:cNvPr id="7187" name="Rectangle 13"/>
              <p:cNvSpPr>
                <a:spLocks noChangeArrowheads="1"/>
              </p:cNvSpPr>
              <p:nvPr/>
            </p:nvSpPr>
            <p:spPr bwMode="auto">
              <a:xfrm>
                <a:off x="3216" y="3681"/>
                <a:ext cx="1632"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nchor="ctr"/>
              <a:lstStyle/>
              <a:p>
                <a:pPr algn="ctr" eaLnBrk="0" hangingPunct="0"/>
                <a:r>
                  <a:rPr lang="en-US" altLang="zh-CN" sz="2000" b="1"/>
                  <a:t>(b)   </a:t>
                </a:r>
                <a:r>
                  <a:rPr lang="zh-CN" altLang="en-US" sz="2000" b="1"/>
                  <a:t>不</a:t>
                </a:r>
                <a:r>
                  <a:rPr lang="zh-CN" altLang="en-US" sz="2000" b="1">
                    <a:latin typeface="宋体" pitchFamily="2" charset="-122"/>
                  </a:rPr>
                  <a:t>定长结点结构</a:t>
                </a:r>
                <a:endParaRPr lang="zh-CN" altLang="en-US" sz="2000" b="1"/>
              </a:p>
            </p:txBody>
          </p:sp>
          <p:grpSp>
            <p:nvGrpSpPr>
              <p:cNvPr id="7188" name="Group 14"/>
              <p:cNvGrpSpPr>
                <a:grpSpLocks/>
              </p:cNvGrpSpPr>
              <p:nvPr/>
            </p:nvGrpSpPr>
            <p:grpSpPr bwMode="auto">
              <a:xfrm>
                <a:off x="2784" y="3383"/>
                <a:ext cx="2766" cy="251"/>
                <a:chOff x="2784" y="3277"/>
                <a:chExt cx="2766" cy="252"/>
              </a:xfrm>
            </p:grpSpPr>
            <p:sp>
              <p:nvSpPr>
                <p:cNvPr id="7189" name="Rectangle 15"/>
                <p:cNvSpPr>
                  <a:spLocks noChangeArrowheads="1"/>
                </p:cNvSpPr>
                <p:nvPr/>
              </p:nvSpPr>
              <p:spPr bwMode="auto">
                <a:xfrm>
                  <a:off x="2784" y="3277"/>
                  <a:ext cx="2766" cy="24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dirty="0"/>
                    <a:t>  </a:t>
                  </a:r>
                  <a:r>
                    <a:rPr lang="en-US" altLang="zh-CN" sz="2000" dirty="0" smtClean="0"/>
                    <a:t>data   </a:t>
                  </a:r>
                  <a:r>
                    <a:rPr lang="en-US" altLang="zh-CN" sz="2000" dirty="0"/>
                    <a:t>k    </a:t>
                  </a:r>
                  <a:r>
                    <a:rPr lang="en-US" altLang="zh-CN" sz="2000" dirty="0" smtClean="0"/>
                    <a:t>child</a:t>
                  </a:r>
                  <a:r>
                    <a:rPr lang="en-US" altLang="zh-CN" sz="2000" baseline="-18000" dirty="0" smtClean="0"/>
                    <a:t>1 </a:t>
                  </a:r>
                  <a:r>
                    <a:rPr lang="en-US" altLang="zh-CN" sz="2000" dirty="0" smtClean="0"/>
                    <a:t>    child</a:t>
                  </a:r>
                  <a:r>
                    <a:rPr lang="en-US" altLang="zh-CN" sz="2000" baseline="-18000" dirty="0" smtClean="0"/>
                    <a:t>2</a:t>
                  </a:r>
                  <a:r>
                    <a:rPr lang="en-US" altLang="zh-CN" sz="2000" dirty="0" smtClean="0"/>
                    <a:t>     </a:t>
                  </a:r>
                  <a:r>
                    <a:rPr lang="en-US" altLang="zh-CN" sz="2000" dirty="0" smtClean="0">
                      <a:ea typeface="Arial Unicode MS" pitchFamily="34" charset="-122"/>
                      <a:cs typeface="Arial Unicode MS" pitchFamily="34" charset="-122"/>
                    </a:rPr>
                    <a:t>⋯     </a:t>
                  </a:r>
                  <a:r>
                    <a:rPr lang="en-US" altLang="zh-CN" sz="2000" dirty="0" err="1" smtClean="0"/>
                    <a:t>child</a:t>
                  </a:r>
                  <a:r>
                    <a:rPr lang="en-US" altLang="zh-CN" sz="2000" baseline="-18000" dirty="0" err="1" smtClean="0"/>
                    <a:t>k</a:t>
                  </a:r>
                  <a:endParaRPr lang="en-US" altLang="zh-CN" sz="2000" baseline="-18000" dirty="0"/>
                </a:p>
              </p:txBody>
            </p:sp>
            <p:sp>
              <p:nvSpPr>
                <p:cNvPr id="7190" name="Line 16"/>
                <p:cNvSpPr>
                  <a:spLocks noChangeShapeType="1"/>
                </p:cNvSpPr>
                <p:nvPr/>
              </p:nvSpPr>
              <p:spPr bwMode="auto">
                <a:xfrm>
                  <a:off x="3264" y="3277"/>
                  <a:ext cx="0" cy="24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a:p>
              </p:txBody>
            </p:sp>
            <p:sp>
              <p:nvSpPr>
                <p:cNvPr id="7191" name="Line 17"/>
                <p:cNvSpPr>
                  <a:spLocks noChangeShapeType="1"/>
                </p:cNvSpPr>
                <p:nvPr/>
              </p:nvSpPr>
              <p:spPr bwMode="auto">
                <a:xfrm>
                  <a:off x="4080" y="3277"/>
                  <a:ext cx="0" cy="24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a:p>
              </p:txBody>
            </p:sp>
            <p:sp>
              <p:nvSpPr>
                <p:cNvPr id="7192" name="Line 18"/>
                <p:cNvSpPr>
                  <a:spLocks noChangeShapeType="1"/>
                </p:cNvSpPr>
                <p:nvPr/>
              </p:nvSpPr>
              <p:spPr bwMode="auto">
                <a:xfrm>
                  <a:off x="4656" y="3277"/>
                  <a:ext cx="0" cy="24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a:p>
              </p:txBody>
            </p:sp>
            <p:sp>
              <p:nvSpPr>
                <p:cNvPr id="7193" name="Line 19"/>
                <p:cNvSpPr>
                  <a:spLocks noChangeShapeType="1"/>
                </p:cNvSpPr>
                <p:nvPr/>
              </p:nvSpPr>
              <p:spPr bwMode="auto">
                <a:xfrm>
                  <a:off x="5032" y="3277"/>
                  <a:ext cx="0" cy="24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a:p>
              </p:txBody>
            </p:sp>
            <p:sp>
              <p:nvSpPr>
                <p:cNvPr id="7194" name="Line 20"/>
                <p:cNvSpPr>
                  <a:spLocks noChangeShapeType="1"/>
                </p:cNvSpPr>
                <p:nvPr/>
              </p:nvSpPr>
              <p:spPr bwMode="auto">
                <a:xfrm>
                  <a:off x="3520" y="3280"/>
                  <a:ext cx="0" cy="24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a:p>
              </p:txBody>
            </p:sp>
          </p:grpSp>
        </p:grpSp>
      </p:grpSp>
      <p:sp>
        <p:nvSpPr>
          <p:cNvPr id="479253" name="Rectangle 21"/>
          <p:cNvSpPr>
            <a:spLocks noChangeArrowheads="1"/>
          </p:cNvSpPr>
          <p:nvPr/>
        </p:nvSpPr>
        <p:spPr bwMode="auto">
          <a:xfrm>
            <a:off x="200529" y="2773521"/>
            <a:ext cx="8812213" cy="26366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tabLst>
                <a:tab pos="101600" algn="l"/>
              </a:tabLst>
              <a:defRPr kumimoji="1" sz="2400">
                <a:solidFill>
                  <a:schemeClr val="tx1"/>
                </a:solidFill>
                <a:latin typeface="Times New Roman" pitchFamily="18" charset="0"/>
                <a:ea typeface="宋体" pitchFamily="2" charset="-122"/>
              </a:defRPr>
            </a:lvl1pPr>
            <a:lvl2pPr marL="1028700" indent="-457200" eaLnBrk="0" hangingPunct="0">
              <a:tabLst>
                <a:tab pos="101600" algn="l"/>
              </a:tabLst>
              <a:defRPr kumimoji="1" sz="2400">
                <a:solidFill>
                  <a:schemeClr val="tx1"/>
                </a:solidFill>
                <a:latin typeface="Times New Roman" pitchFamily="18" charset="0"/>
                <a:ea typeface="宋体" pitchFamily="2" charset="-122"/>
              </a:defRPr>
            </a:lvl2pPr>
            <a:lvl3pPr marL="1676400" indent="-457200" eaLnBrk="0" hangingPunct="0">
              <a:tabLst>
                <a:tab pos="101600" algn="l"/>
              </a:tabLst>
              <a:defRPr kumimoji="1" sz="2400">
                <a:solidFill>
                  <a:schemeClr val="tx1"/>
                </a:solidFill>
                <a:latin typeface="Times New Roman" pitchFamily="18" charset="0"/>
                <a:ea typeface="宋体" pitchFamily="2" charset="-122"/>
              </a:defRPr>
            </a:lvl3pPr>
            <a:lvl4pPr marL="2324100" indent="-457200" eaLnBrk="0" hangingPunct="0">
              <a:tabLst>
                <a:tab pos="101600" algn="l"/>
              </a:tabLst>
              <a:defRPr kumimoji="1" sz="2400">
                <a:solidFill>
                  <a:schemeClr val="tx1"/>
                </a:solidFill>
                <a:latin typeface="Times New Roman" pitchFamily="18" charset="0"/>
                <a:ea typeface="宋体" pitchFamily="2" charset="-122"/>
              </a:defRPr>
            </a:lvl4pPr>
            <a:lvl5pPr marL="2971800" indent="-457200" eaLnBrk="0" hangingPunct="0">
              <a:tabLst>
                <a:tab pos="101600" algn="l"/>
              </a:tabLst>
              <a:defRPr kumimoji="1" sz="2400">
                <a:solidFill>
                  <a:schemeClr val="tx1"/>
                </a:solidFill>
                <a:latin typeface="Times New Roman" pitchFamily="18" charset="0"/>
                <a:ea typeface="宋体" pitchFamily="2" charset="-122"/>
              </a:defRPr>
            </a:lvl5pPr>
            <a:lvl6pPr marL="3429000" indent="-457200" eaLnBrk="0" fontAlgn="base" hangingPunct="0">
              <a:spcBef>
                <a:spcPct val="0"/>
              </a:spcBef>
              <a:spcAft>
                <a:spcPct val="0"/>
              </a:spcAft>
              <a:tabLst>
                <a:tab pos="101600" algn="l"/>
              </a:tabLst>
              <a:defRPr kumimoji="1" sz="2400">
                <a:solidFill>
                  <a:schemeClr val="tx1"/>
                </a:solidFill>
                <a:latin typeface="Times New Roman" pitchFamily="18" charset="0"/>
                <a:ea typeface="宋体" pitchFamily="2" charset="-122"/>
              </a:defRPr>
            </a:lvl6pPr>
            <a:lvl7pPr marL="3886200" indent="-457200" eaLnBrk="0" fontAlgn="base" hangingPunct="0">
              <a:spcBef>
                <a:spcPct val="0"/>
              </a:spcBef>
              <a:spcAft>
                <a:spcPct val="0"/>
              </a:spcAft>
              <a:tabLst>
                <a:tab pos="101600" algn="l"/>
              </a:tabLst>
              <a:defRPr kumimoji="1" sz="2400">
                <a:solidFill>
                  <a:schemeClr val="tx1"/>
                </a:solidFill>
                <a:latin typeface="Times New Roman" pitchFamily="18" charset="0"/>
                <a:ea typeface="宋体" pitchFamily="2" charset="-122"/>
              </a:defRPr>
            </a:lvl7pPr>
            <a:lvl8pPr marL="4343400" indent="-457200" eaLnBrk="0" fontAlgn="base" hangingPunct="0">
              <a:spcBef>
                <a:spcPct val="0"/>
              </a:spcBef>
              <a:spcAft>
                <a:spcPct val="0"/>
              </a:spcAft>
              <a:tabLst>
                <a:tab pos="101600" algn="l"/>
              </a:tabLst>
              <a:defRPr kumimoji="1" sz="2400">
                <a:solidFill>
                  <a:schemeClr val="tx1"/>
                </a:solidFill>
                <a:latin typeface="Times New Roman" pitchFamily="18" charset="0"/>
                <a:ea typeface="宋体" pitchFamily="2" charset="-122"/>
              </a:defRPr>
            </a:lvl8pPr>
            <a:lvl9pPr marL="4800600" indent="-457200" eaLnBrk="0" fontAlgn="base" hangingPunct="0">
              <a:spcBef>
                <a:spcPct val="0"/>
              </a:spcBef>
              <a:spcAft>
                <a:spcPct val="0"/>
              </a:spcAft>
              <a:tabLst>
                <a:tab pos="101600" algn="l"/>
              </a:tabLst>
              <a:defRPr kumimoji="1" sz="2400">
                <a:solidFill>
                  <a:schemeClr val="tx1"/>
                </a:solidFill>
                <a:latin typeface="Times New Roman" pitchFamily="18" charset="0"/>
                <a:ea typeface="宋体" pitchFamily="2" charset="-122"/>
              </a:defRPr>
            </a:lvl9pPr>
          </a:lstStyle>
          <a:p>
            <a:pPr eaLnBrk="1" fontAlgn="auto" hangingPunct="1">
              <a:lnSpc>
                <a:spcPct val="110000"/>
              </a:lnSpc>
              <a:spcBef>
                <a:spcPct val="20000"/>
              </a:spcBef>
              <a:spcAft>
                <a:spcPts val="0"/>
              </a:spcAft>
              <a:buClr>
                <a:schemeClr val="accent2"/>
              </a:buClr>
              <a:buSzPct val="80000"/>
              <a:buFont typeface="Wingdings" pitchFamily="2" charset="2"/>
              <a:buNone/>
              <a:defRPr/>
            </a:pPr>
            <a:r>
              <a:rPr lang="zh-CN" altLang="en-US" sz="2800" b="1" dirty="0">
                <a:solidFill>
                  <a:schemeClr val="folHlink"/>
                </a:solidFill>
              </a:rPr>
              <a:t>⑶  </a:t>
            </a:r>
            <a:r>
              <a:rPr lang="zh-CN" altLang="en-US" sz="2800" b="1" dirty="0">
                <a:solidFill>
                  <a:schemeClr val="folHlink"/>
                </a:solidFill>
                <a:ea typeface="楷体_GB2312" pitchFamily="49" charset="-122"/>
              </a:rPr>
              <a:t>复合链表结构</a:t>
            </a:r>
          </a:p>
          <a:p>
            <a:pPr eaLnBrk="1" fontAlgn="auto" hangingPunct="1">
              <a:lnSpc>
                <a:spcPct val="110000"/>
              </a:lnSpc>
              <a:spcBef>
                <a:spcPct val="20000"/>
              </a:spcBef>
              <a:spcAft>
                <a:spcPts val="0"/>
              </a:spcAft>
              <a:buClr>
                <a:schemeClr val="accent2"/>
              </a:buClr>
              <a:buSzPct val="80000"/>
              <a:buFont typeface="Wingdings" pitchFamily="2" charset="2"/>
              <a:buNone/>
              <a:defRPr/>
            </a:pPr>
            <a:r>
              <a:rPr lang="zh-CN" altLang="en-US" sz="2800" dirty="0"/>
              <a:t>         </a:t>
            </a:r>
            <a:r>
              <a:rPr lang="zh-CN" altLang="en-US" b="1" dirty="0"/>
              <a:t>对于树中的每个结点，其孩子结点用带头结点的单链表表示，表结点和头结点的结构</a:t>
            </a:r>
            <a:r>
              <a:rPr lang="zh-CN" altLang="en-US" b="1" dirty="0" smtClean="0"/>
              <a:t>如下图所示</a:t>
            </a:r>
            <a:r>
              <a:rPr lang="zh-CN" altLang="en-US" b="1" dirty="0">
                <a:latin typeface="宋体" pitchFamily="2" charset="-122"/>
              </a:rPr>
              <a:t>。</a:t>
            </a:r>
          </a:p>
          <a:p>
            <a:pPr eaLnBrk="1" fontAlgn="auto" hangingPunct="1">
              <a:lnSpc>
                <a:spcPct val="110000"/>
              </a:lnSpc>
              <a:spcBef>
                <a:spcPct val="20000"/>
              </a:spcBef>
              <a:spcAft>
                <a:spcPts val="0"/>
              </a:spcAft>
              <a:buClr>
                <a:schemeClr val="accent2"/>
              </a:buClr>
              <a:buSzPct val="80000"/>
              <a:buFont typeface="Wingdings" pitchFamily="2" charset="2"/>
              <a:buNone/>
              <a:defRPr/>
            </a:pPr>
            <a:r>
              <a:rPr lang="zh-CN" altLang="en-US" b="1" dirty="0"/>
              <a:t>        </a:t>
            </a:r>
            <a:r>
              <a:rPr lang="en-US" altLang="zh-CN" b="1" dirty="0"/>
              <a:t>n</a:t>
            </a:r>
            <a:r>
              <a:rPr lang="zh-CN" altLang="en-US" b="1" dirty="0"/>
              <a:t>个结点的树有</a:t>
            </a:r>
            <a:r>
              <a:rPr lang="en-US" altLang="zh-CN" b="1" dirty="0"/>
              <a:t>n</a:t>
            </a:r>
            <a:r>
              <a:rPr lang="zh-CN" altLang="en-US" b="1" dirty="0"/>
              <a:t>个</a:t>
            </a:r>
            <a:r>
              <a:rPr lang="en-US" altLang="zh-CN" b="1" dirty="0"/>
              <a:t>(</a:t>
            </a:r>
            <a:r>
              <a:rPr lang="zh-CN" altLang="en-US" b="1" dirty="0"/>
              <a:t>孩子</a:t>
            </a:r>
            <a:r>
              <a:rPr lang="en-US" altLang="zh-CN" b="1" dirty="0"/>
              <a:t>)</a:t>
            </a:r>
            <a:r>
              <a:rPr lang="zh-CN" altLang="en-US" b="1" dirty="0"/>
              <a:t>单链表</a:t>
            </a:r>
            <a:r>
              <a:rPr lang="en-US" altLang="zh-CN" b="1" dirty="0"/>
              <a:t>(</a:t>
            </a:r>
            <a:r>
              <a:rPr lang="zh-CN" altLang="en-US" b="1" dirty="0"/>
              <a:t>叶子结点的孩子链表为空</a:t>
            </a:r>
            <a:r>
              <a:rPr lang="en-US" altLang="zh-CN" b="1" dirty="0"/>
              <a:t>)</a:t>
            </a:r>
            <a:r>
              <a:rPr lang="zh-CN" altLang="en-US" b="1" dirty="0"/>
              <a:t>，而</a:t>
            </a:r>
            <a:r>
              <a:rPr lang="en-US" altLang="zh-CN" b="1" dirty="0"/>
              <a:t>n</a:t>
            </a:r>
            <a:r>
              <a:rPr lang="zh-CN" altLang="en-US" b="1" dirty="0"/>
              <a:t>个头结点又组成一个线性表且以顺序存储结构表示</a:t>
            </a:r>
            <a:r>
              <a:rPr lang="zh-CN" altLang="en-US" b="1" dirty="0">
                <a:latin typeface="宋体" pitchFamily="2" charset="-122"/>
              </a:rPr>
              <a:t>。</a:t>
            </a:r>
            <a:endParaRPr lang="zh-CN" altLang="en-US" b="1" dirty="0">
              <a:solidFill>
                <a:schemeClr val="tx2"/>
              </a:solidFill>
              <a:effectLst>
                <a:outerShdw blurRad="38100" dist="38100" dir="2700000" algn="tl">
                  <a:srgbClr val="000000"/>
                </a:outerShdw>
              </a:effectLst>
            </a:endParaRPr>
          </a:p>
        </p:txBody>
      </p:sp>
      <p:grpSp>
        <p:nvGrpSpPr>
          <p:cNvPr id="7172" name="Group 22"/>
          <p:cNvGrpSpPr>
            <a:grpSpLocks/>
          </p:cNvGrpSpPr>
          <p:nvPr/>
        </p:nvGrpSpPr>
        <p:grpSpPr bwMode="auto">
          <a:xfrm>
            <a:off x="2982007" y="5408613"/>
            <a:ext cx="5113338" cy="1368425"/>
            <a:chOff x="748" y="3203"/>
            <a:chExt cx="3221" cy="862"/>
          </a:xfrm>
        </p:grpSpPr>
        <p:grpSp>
          <p:nvGrpSpPr>
            <p:cNvPr id="7173" name="Group 23"/>
            <p:cNvGrpSpPr>
              <a:grpSpLocks/>
            </p:cNvGrpSpPr>
            <p:nvPr/>
          </p:nvGrpSpPr>
          <p:grpSpPr bwMode="auto">
            <a:xfrm>
              <a:off x="748" y="3203"/>
              <a:ext cx="1452" cy="589"/>
              <a:chOff x="748" y="3203"/>
              <a:chExt cx="1452" cy="589"/>
            </a:xfrm>
          </p:grpSpPr>
          <p:grpSp>
            <p:nvGrpSpPr>
              <p:cNvPr id="7180" name="Group 24"/>
              <p:cNvGrpSpPr>
                <a:grpSpLocks/>
              </p:cNvGrpSpPr>
              <p:nvPr/>
            </p:nvGrpSpPr>
            <p:grpSpPr bwMode="auto">
              <a:xfrm>
                <a:off x="748" y="3203"/>
                <a:ext cx="1452" cy="272"/>
                <a:chOff x="748" y="3203"/>
                <a:chExt cx="1452" cy="272"/>
              </a:xfrm>
            </p:grpSpPr>
            <p:sp>
              <p:nvSpPr>
                <p:cNvPr id="7182" name="Rectangle 25"/>
                <p:cNvSpPr>
                  <a:spLocks noChangeArrowheads="1"/>
                </p:cNvSpPr>
                <p:nvPr/>
              </p:nvSpPr>
              <p:spPr bwMode="auto">
                <a:xfrm>
                  <a:off x="748" y="3203"/>
                  <a:ext cx="1452" cy="272"/>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sz="2400" b="1" dirty="0"/>
                    <a:t>data     </a:t>
                  </a:r>
                  <a:r>
                    <a:rPr lang="en-US" altLang="zh-CN" sz="2400" b="1" dirty="0" err="1"/>
                    <a:t>firstchild</a:t>
                  </a:r>
                  <a:endParaRPr lang="en-US" altLang="zh-CN" sz="2400" b="1" dirty="0"/>
                </a:p>
              </p:txBody>
            </p:sp>
            <p:sp>
              <p:nvSpPr>
                <p:cNvPr id="7183" name="Line 26"/>
                <p:cNvSpPr>
                  <a:spLocks noChangeShapeType="1"/>
                </p:cNvSpPr>
                <p:nvPr/>
              </p:nvSpPr>
              <p:spPr bwMode="auto">
                <a:xfrm>
                  <a:off x="1292" y="3203"/>
                  <a:ext cx="0"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a:p>
              </p:txBody>
            </p:sp>
          </p:grpSp>
          <p:sp>
            <p:nvSpPr>
              <p:cNvPr id="7181" name="Rectangle 27"/>
              <p:cNvSpPr>
                <a:spLocks noChangeArrowheads="1"/>
              </p:cNvSpPr>
              <p:nvPr/>
            </p:nvSpPr>
            <p:spPr bwMode="auto">
              <a:xfrm>
                <a:off x="1021" y="3566"/>
                <a:ext cx="86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sz="2000" b="1"/>
                  <a:t>(a)  </a:t>
                </a:r>
                <a:r>
                  <a:rPr lang="zh-CN" altLang="en-US" sz="2000" b="1"/>
                  <a:t>头结点</a:t>
                </a:r>
              </a:p>
            </p:txBody>
          </p:sp>
        </p:grpSp>
        <p:grpSp>
          <p:nvGrpSpPr>
            <p:cNvPr id="7174" name="Group 28"/>
            <p:cNvGrpSpPr>
              <a:grpSpLocks/>
            </p:cNvGrpSpPr>
            <p:nvPr/>
          </p:nvGrpSpPr>
          <p:grpSpPr bwMode="auto">
            <a:xfrm>
              <a:off x="2698" y="3204"/>
              <a:ext cx="1271" cy="589"/>
              <a:chOff x="1700" y="3295"/>
              <a:chExt cx="1271" cy="589"/>
            </a:xfrm>
          </p:grpSpPr>
          <p:grpSp>
            <p:nvGrpSpPr>
              <p:cNvPr id="7176" name="Group 29"/>
              <p:cNvGrpSpPr>
                <a:grpSpLocks/>
              </p:cNvGrpSpPr>
              <p:nvPr/>
            </p:nvGrpSpPr>
            <p:grpSpPr bwMode="auto">
              <a:xfrm>
                <a:off x="1700" y="3295"/>
                <a:ext cx="1271" cy="272"/>
                <a:chOff x="1700" y="3295"/>
                <a:chExt cx="1271" cy="272"/>
              </a:xfrm>
            </p:grpSpPr>
            <p:sp>
              <p:nvSpPr>
                <p:cNvPr id="7178" name="Rectangle 30"/>
                <p:cNvSpPr>
                  <a:spLocks noChangeArrowheads="1"/>
                </p:cNvSpPr>
                <p:nvPr/>
              </p:nvSpPr>
              <p:spPr bwMode="auto">
                <a:xfrm>
                  <a:off x="1700" y="3295"/>
                  <a:ext cx="1271" cy="272"/>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sz="2400" b="1" dirty="0" err="1"/>
                    <a:t>childno</a:t>
                  </a:r>
                  <a:r>
                    <a:rPr lang="en-US" altLang="zh-CN" sz="2400" b="1" dirty="0"/>
                    <a:t>     next</a:t>
                  </a:r>
                </a:p>
              </p:txBody>
            </p:sp>
            <p:sp>
              <p:nvSpPr>
                <p:cNvPr id="7179" name="Line 31"/>
                <p:cNvSpPr>
                  <a:spLocks noChangeShapeType="1"/>
                </p:cNvSpPr>
                <p:nvPr/>
              </p:nvSpPr>
              <p:spPr bwMode="auto">
                <a:xfrm>
                  <a:off x="2426" y="3295"/>
                  <a:ext cx="0"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a:p>
              </p:txBody>
            </p:sp>
          </p:grpSp>
          <p:sp>
            <p:nvSpPr>
              <p:cNvPr id="7177" name="Rectangle 32"/>
              <p:cNvSpPr>
                <a:spLocks noChangeArrowheads="1"/>
              </p:cNvSpPr>
              <p:nvPr/>
            </p:nvSpPr>
            <p:spPr bwMode="auto">
              <a:xfrm>
                <a:off x="1791" y="3658"/>
                <a:ext cx="86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sz="2000" b="1"/>
                  <a:t>(b)  </a:t>
                </a:r>
                <a:r>
                  <a:rPr lang="zh-CN" altLang="en-US" sz="2000" b="1"/>
                  <a:t>表结点</a:t>
                </a:r>
              </a:p>
            </p:txBody>
          </p:sp>
        </p:grpSp>
        <p:sp>
          <p:nvSpPr>
            <p:cNvPr id="7175" name="Rectangle 33"/>
            <p:cNvSpPr>
              <a:spLocks noChangeArrowheads="1"/>
            </p:cNvSpPr>
            <p:nvPr/>
          </p:nvSpPr>
          <p:spPr bwMode="auto">
            <a:xfrm>
              <a:off x="1383" y="3838"/>
              <a:ext cx="1950"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2000" b="1" dirty="0"/>
                <a:t>孩子链表结点结构</a:t>
              </a:r>
            </a:p>
          </p:txBody>
        </p:sp>
      </p:grpSp>
    </p:spTree>
    <p:extLst>
      <p:ext uri="{BB962C8B-B14F-4D97-AF65-F5344CB8AC3E}">
        <p14:creationId xmlns:p14="http://schemas.microsoft.com/office/powerpoint/2010/main" val="3572293865"/>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2"/>
          <p:cNvSpPr>
            <a:spLocks noChangeArrowheads="1"/>
          </p:cNvSpPr>
          <p:nvPr/>
        </p:nvSpPr>
        <p:spPr bwMode="auto">
          <a:xfrm>
            <a:off x="3205163" y="331788"/>
            <a:ext cx="863600" cy="358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b="1"/>
              <a:t>nodes</a:t>
            </a:r>
          </a:p>
        </p:txBody>
      </p:sp>
      <p:grpSp>
        <p:nvGrpSpPr>
          <p:cNvPr id="8195" name="Group 3"/>
          <p:cNvGrpSpPr>
            <a:grpSpLocks/>
          </p:cNvGrpSpPr>
          <p:nvPr/>
        </p:nvGrpSpPr>
        <p:grpSpPr bwMode="auto">
          <a:xfrm>
            <a:off x="1305719" y="1032783"/>
            <a:ext cx="6626225" cy="5643563"/>
            <a:chOff x="839" y="510"/>
            <a:chExt cx="4174" cy="3555"/>
          </a:xfrm>
        </p:grpSpPr>
        <p:grpSp>
          <p:nvGrpSpPr>
            <p:cNvPr id="8196" name="Group 4"/>
            <p:cNvGrpSpPr>
              <a:grpSpLocks/>
            </p:cNvGrpSpPr>
            <p:nvPr/>
          </p:nvGrpSpPr>
          <p:grpSpPr bwMode="auto">
            <a:xfrm>
              <a:off x="839" y="510"/>
              <a:ext cx="4174" cy="3175"/>
              <a:chOff x="839" y="510"/>
              <a:chExt cx="4174" cy="3175"/>
            </a:xfrm>
          </p:grpSpPr>
          <p:grpSp>
            <p:nvGrpSpPr>
              <p:cNvPr id="8198" name="Group 5"/>
              <p:cNvGrpSpPr>
                <a:grpSpLocks/>
              </p:cNvGrpSpPr>
              <p:nvPr/>
            </p:nvGrpSpPr>
            <p:grpSpPr bwMode="auto">
              <a:xfrm>
                <a:off x="2427" y="1870"/>
                <a:ext cx="2586" cy="234"/>
                <a:chOff x="2610" y="2832"/>
                <a:chExt cx="2586" cy="234"/>
              </a:xfrm>
            </p:grpSpPr>
            <p:grpSp>
              <p:nvGrpSpPr>
                <p:cNvPr id="8269" name="Group 6"/>
                <p:cNvGrpSpPr>
                  <a:grpSpLocks/>
                </p:cNvGrpSpPr>
                <p:nvPr/>
              </p:nvGrpSpPr>
              <p:grpSpPr bwMode="auto">
                <a:xfrm>
                  <a:off x="3016" y="2840"/>
                  <a:ext cx="544" cy="226"/>
                  <a:chOff x="476" y="2750"/>
                  <a:chExt cx="544" cy="226"/>
                </a:xfrm>
              </p:grpSpPr>
              <p:sp>
                <p:nvSpPr>
                  <p:cNvPr id="8279" name="Rectangle 7"/>
                  <p:cNvSpPr>
                    <a:spLocks noChangeArrowheads="1"/>
                  </p:cNvSpPr>
                  <p:nvPr/>
                </p:nvSpPr>
                <p:spPr bwMode="auto">
                  <a:xfrm>
                    <a:off x="476"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7</a:t>
                    </a:r>
                  </a:p>
                </p:txBody>
              </p:sp>
              <p:sp>
                <p:nvSpPr>
                  <p:cNvPr id="8280" name="Line 8"/>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270" name="Group 9"/>
                <p:cNvGrpSpPr>
                  <a:grpSpLocks/>
                </p:cNvGrpSpPr>
                <p:nvPr/>
              </p:nvGrpSpPr>
              <p:grpSpPr bwMode="auto">
                <a:xfrm>
                  <a:off x="3833" y="2832"/>
                  <a:ext cx="544" cy="226"/>
                  <a:chOff x="476" y="2750"/>
                  <a:chExt cx="544" cy="226"/>
                </a:xfrm>
              </p:grpSpPr>
              <p:sp>
                <p:nvSpPr>
                  <p:cNvPr id="8277" name="Rectangle 10"/>
                  <p:cNvSpPr>
                    <a:spLocks noChangeArrowheads="1"/>
                  </p:cNvSpPr>
                  <p:nvPr/>
                </p:nvSpPr>
                <p:spPr bwMode="auto">
                  <a:xfrm>
                    <a:off x="476"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8</a:t>
                    </a:r>
                  </a:p>
                </p:txBody>
              </p:sp>
              <p:sp>
                <p:nvSpPr>
                  <p:cNvPr id="8278" name="Line 11"/>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271" name="Group 12"/>
                <p:cNvGrpSpPr>
                  <a:grpSpLocks/>
                </p:cNvGrpSpPr>
                <p:nvPr/>
              </p:nvGrpSpPr>
              <p:grpSpPr bwMode="auto">
                <a:xfrm>
                  <a:off x="4652" y="2840"/>
                  <a:ext cx="544" cy="226"/>
                  <a:chOff x="476" y="2750"/>
                  <a:chExt cx="544" cy="226"/>
                </a:xfrm>
              </p:grpSpPr>
              <p:sp>
                <p:nvSpPr>
                  <p:cNvPr id="8275" name="Rectangle 13"/>
                  <p:cNvSpPr>
                    <a:spLocks noChangeArrowheads="1"/>
                  </p:cNvSpPr>
                  <p:nvPr/>
                </p:nvSpPr>
                <p:spPr bwMode="auto">
                  <a:xfrm>
                    <a:off x="476"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9      </a:t>
                    </a:r>
                    <a:r>
                      <a:rPr lang="en-US" altLang="zh-CN" sz="2000"/>
                      <a:t>⋀</a:t>
                    </a:r>
                    <a:r>
                      <a:rPr lang="en-US" altLang="zh-CN" sz="2000" b="1"/>
                      <a:t> </a:t>
                    </a:r>
                  </a:p>
                </p:txBody>
              </p:sp>
              <p:sp>
                <p:nvSpPr>
                  <p:cNvPr id="8276" name="Line 14"/>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sp>
              <p:nvSpPr>
                <p:cNvPr id="8272" name="Line 15"/>
                <p:cNvSpPr>
                  <a:spLocks noChangeShapeType="1"/>
                </p:cNvSpPr>
                <p:nvPr/>
              </p:nvSpPr>
              <p:spPr bwMode="auto">
                <a:xfrm>
                  <a:off x="2610" y="2947"/>
                  <a:ext cx="409" cy="0"/>
                </a:xfrm>
                <a:prstGeom prst="line">
                  <a:avLst/>
                </a:prstGeom>
                <a:noFill/>
                <a:ln w="19050">
                  <a:solidFill>
                    <a:schemeClr val="tx1"/>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8273" name="Line 16"/>
                <p:cNvSpPr>
                  <a:spLocks noChangeShapeType="1"/>
                </p:cNvSpPr>
                <p:nvPr/>
              </p:nvSpPr>
              <p:spPr bwMode="auto">
                <a:xfrm>
                  <a:off x="3424" y="2947"/>
                  <a:ext cx="409" cy="0"/>
                </a:xfrm>
                <a:prstGeom prst="line">
                  <a:avLst/>
                </a:prstGeom>
                <a:noFill/>
                <a:ln w="19050">
                  <a:solidFill>
                    <a:schemeClr val="tx1"/>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8274" name="Line 17"/>
                <p:cNvSpPr>
                  <a:spLocks noChangeShapeType="1"/>
                </p:cNvSpPr>
                <p:nvPr/>
              </p:nvSpPr>
              <p:spPr bwMode="auto">
                <a:xfrm>
                  <a:off x="4240" y="2947"/>
                  <a:ext cx="409" cy="0"/>
                </a:xfrm>
                <a:prstGeom prst="line">
                  <a:avLst/>
                </a:prstGeom>
                <a:noFill/>
                <a:ln w="19050">
                  <a:solidFill>
                    <a:schemeClr val="tx1"/>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199" name="Group 18"/>
              <p:cNvGrpSpPr>
                <a:grpSpLocks/>
              </p:cNvGrpSpPr>
              <p:nvPr/>
            </p:nvGrpSpPr>
            <p:grpSpPr bwMode="auto">
              <a:xfrm>
                <a:off x="2427" y="510"/>
                <a:ext cx="1772" cy="234"/>
                <a:chOff x="3560" y="3332"/>
                <a:chExt cx="1772" cy="234"/>
              </a:xfrm>
            </p:grpSpPr>
            <p:grpSp>
              <p:nvGrpSpPr>
                <p:cNvPr id="8261" name="Group 19"/>
                <p:cNvGrpSpPr>
                  <a:grpSpLocks/>
                </p:cNvGrpSpPr>
                <p:nvPr/>
              </p:nvGrpSpPr>
              <p:grpSpPr bwMode="auto">
                <a:xfrm>
                  <a:off x="3969" y="3332"/>
                  <a:ext cx="544" cy="226"/>
                  <a:chOff x="476" y="2750"/>
                  <a:chExt cx="544" cy="226"/>
                </a:xfrm>
              </p:grpSpPr>
              <p:sp>
                <p:nvSpPr>
                  <p:cNvPr id="8267" name="Rectangle 20"/>
                  <p:cNvSpPr>
                    <a:spLocks noChangeArrowheads="1"/>
                  </p:cNvSpPr>
                  <p:nvPr/>
                </p:nvSpPr>
                <p:spPr bwMode="auto">
                  <a:xfrm>
                    <a:off x="476"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3</a:t>
                    </a:r>
                  </a:p>
                </p:txBody>
              </p:sp>
              <p:sp>
                <p:nvSpPr>
                  <p:cNvPr id="8268" name="Line 21"/>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262" name="Group 22"/>
                <p:cNvGrpSpPr>
                  <a:grpSpLocks/>
                </p:cNvGrpSpPr>
                <p:nvPr/>
              </p:nvGrpSpPr>
              <p:grpSpPr bwMode="auto">
                <a:xfrm>
                  <a:off x="4788" y="3340"/>
                  <a:ext cx="544" cy="226"/>
                  <a:chOff x="476" y="2750"/>
                  <a:chExt cx="544" cy="226"/>
                </a:xfrm>
              </p:grpSpPr>
              <p:sp>
                <p:nvSpPr>
                  <p:cNvPr id="8265" name="Rectangle 23"/>
                  <p:cNvSpPr>
                    <a:spLocks noChangeArrowheads="1"/>
                  </p:cNvSpPr>
                  <p:nvPr/>
                </p:nvSpPr>
                <p:spPr bwMode="auto">
                  <a:xfrm>
                    <a:off x="476"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5       </a:t>
                    </a:r>
                    <a:r>
                      <a:rPr lang="en-US" altLang="zh-CN" sz="2000"/>
                      <a:t>⋀</a:t>
                    </a:r>
                    <a:r>
                      <a:rPr lang="en-US" altLang="zh-CN" sz="2000" b="1"/>
                      <a:t> </a:t>
                    </a:r>
                  </a:p>
                </p:txBody>
              </p:sp>
              <p:sp>
                <p:nvSpPr>
                  <p:cNvPr id="8266" name="Line 24"/>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sp>
              <p:nvSpPr>
                <p:cNvPr id="8263" name="Line 25"/>
                <p:cNvSpPr>
                  <a:spLocks noChangeShapeType="1"/>
                </p:cNvSpPr>
                <p:nvPr/>
              </p:nvSpPr>
              <p:spPr bwMode="auto">
                <a:xfrm>
                  <a:off x="3560" y="3447"/>
                  <a:ext cx="409" cy="0"/>
                </a:xfrm>
                <a:prstGeom prst="line">
                  <a:avLst/>
                </a:prstGeom>
                <a:noFill/>
                <a:ln w="19050">
                  <a:solidFill>
                    <a:schemeClr val="tx1"/>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8264" name="Line 26"/>
                <p:cNvSpPr>
                  <a:spLocks noChangeShapeType="1"/>
                </p:cNvSpPr>
                <p:nvPr/>
              </p:nvSpPr>
              <p:spPr bwMode="auto">
                <a:xfrm>
                  <a:off x="4376" y="3447"/>
                  <a:ext cx="409" cy="0"/>
                </a:xfrm>
                <a:prstGeom prst="line">
                  <a:avLst/>
                </a:prstGeom>
                <a:noFill/>
                <a:ln w="19050">
                  <a:solidFill>
                    <a:schemeClr val="tx1"/>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200" name="Group 27"/>
              <p:cNvGrpSpPr>
                <a:grpSpLocks/>
              </p:cNvGrpSpPr>
              <p:nvPr/>
            </p:nvGrpSpPr>
            <p:grpSpPr bwMode="auto">
              <a:xfrm>
                <a:off x="2427" y="1417"/>
                <a:ext cx="2586" cy="234"/>
                <a:chOff x="2610" y="2832"/>
                <a:chExt cx="2586" cy="234"/>
              </a:xfrm>
            </p:grpSpPr>
            <p:grpSp>
              <p:nvGrpSpPr>
                <p:cNvPr id="8249" name="Group 28"/>
                <p:cNvGrpSpPr>
                  <a:grpSpLocks/>
                </p:cNvGrpSpPr>
                <p:nvPr/>
              </p:nvGrpSpPr>
              <p:grpSpPr bwMode="auto">
                <a:xfrm>
                  <a:off x="3016" y="2840"/>
                  <a:ext cx="544" cy="226"/>
                  <a:chOff x="476" y="2750"/>
                  <a:chExt cx="544" cy="226"/>
                </a:xfrm>
              </p:grpSpPr>
              <p:sp>
                <p:nvSpPr>
                  <p:cNvPr id="8259" name="Rectangle 29"/>
                  <p:cNvSpPr>
                    <a:spLocks noChangeArrowheads="1"/>
                  </p:cNvSpPr>
                  <p:nvPr/>
                </p:nvSpPr>
                <p:spPr bwMode="auto">
                  <a:xfrm>
                    <a:off x="476"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0</a:t>
                    </a:r>
                  </a:p>
                </p:txBody>
              </p:sp>
              <p:sp>
                <p:nvSpPr>
                  <p:cNvPr id="8260" name="Line 30"/>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250" name="Group 31"/>
                <p:cNvGrpSpPr>
                  <a:grpSpLocks/>
                </p:cNvGrpSpPr>
                <p:nvPr/>
              </p:nvGrpSpPr>
              <p:grpSpPr bwMode="auto">
                <a:xfrm>
                  <a:off x="3833" y="2832"/>
                  <a:ext cx="544" cy="226"/>
                  <a:chOff x="476" y="2750"/>
                  <a:chExt cx="544" cy="226"/>
                </a:xfrm>
              </p:grpSpPr>
              <p:sp>
                <p:nvSpPr>
                  <p:cNvPr id="8257" name="Rectangle 32"/>
                  <p:cNvSpPr>
                    <a:spLocks noChangeArrowheads="1"/>
                  </p:cNvSpPr>
                  <p:nvPr/>
                </p:nvSpPr>
                <p:spPr bwMode="auto">
                  <a:xfrm>
                    <a:off x="476"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1</a:t>
                    </a:r>
                  </a:p>
                </p:txBody>
              </p:sp>
              <p:sp>
                <p:nvSpPr>
                  <p:cNvPr id="8258" name="Line 33"/>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251" name="Group 34"/>
                <p:cNvGrpSpPr>
                  <a:grpSpLocks/>
                </p:cNvGrpSpPr>
                <p:nvPr/>
              </p:nvGrpSpPr>
              <p:grpSpPr bwMode="auto">
                <a:xfrm>
                  <a:off x="4652" y="2840"/>
                  <a:ext cx="544" cy="226"/>
                  <a:chOff x="476" y="2750"/>
                  <a:chExt cx="544" cy="226"/>
                </a:xfrm>
              </p:grpSpPr>
              <p:sp>
                <p:nvSpPr>
                  <p:cNvPr id="8255" name="Rectangle 35"/>
                  <p:cNvSpPr>
                    <a:spLocks noChangeArrowheads="1"/>
                  </p:cNvSpPr>
                  <p:nvPr/>
                </p:nvSpPr>
                <p:spPr bwMode="auto">
                  <a:xfrm>
                    <a:off x="476"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2      </a:t>
                    </a:r>
                    <a:r>
                      <a:rPr lang="en-US" altLang="zh-CN" sz="2000"/>
                      <a:t>⋀</a:t>
                    </a:r>
                    <a:r>
                      <a:rPr lang="en-US" altLang="zh-CN" sz="2000" b="1"/>
                      <a:t> </a:t>
                    </a:r>
                  </a:p>
                </p:txBody>
              </p:sp>
              <p:sp>
                <p:nvSpPr>
                  <p:cNvPr id="8256" name="Line 36"/>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sp>
              <p:nvSpPr>
                <p:cNvPr id="8252" name="Line 37"/>
                <p:cNvSpPr>
                  <a:spLocks noChangeShapeType="1"/>
                </p:cNvSpPr>
                <p:nvPr/>
              </p:nvSpPr>
              <p:spPr bwMode="auto">
                <a:xfrm>
                  <a:off x="2610" y="2947"/>
                  <a:ext cx="409" cy="0"/>
                </a:xfrm>
                <a:prstGeom prst="line">
                  <a:avLst/>
                </a:prstGeom>
                <a:noFill/>
                <a:ln w="19050">
                  <a:solidFill>
                    <a:schemeClr val="tx1"/>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8253" name="Line 38"/>
                <p:cNvSpPr>
                  <a:spLocks noChangeShapeType="1"/>
                </p:cNvSpPr>
                <p:nvPr/>
              </p:nvSpPr>
              <p:spPr bwMode="auto">
                <a:xfrm>
                  <a:off x="3424" y="2947"/>
                  <a:ext cx="409" cy="0"/>
                </a:xfrm>
                <a:prstGeom prst="line">
                  <a:avLst/>
                </a:prstGeom>
                <a:noFill/>
                <a:ln w="19050">
                  <a:solidFill>
                    <a:schemeClr val="tx1"/>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8254" name="Line 39"/>
                <p:cNvSpPr>
                  <a:spLocks noChangeShapeType="1"/>
                </p:cNvSpPr>
                <p:nvPr/>
              </p:nvSpPr>
              <p:spPr bwMode="auto">
                <a:xfrm>
                  <a:off x="4240" y="2947"/>
                  <a:ext cx="409" cy="0"/>
                </a:xfrm>
                <a:prstGeom prst="line">
                  <a:avLst/>
                </a:prstGeom>
                <a:noFill/>
                <a:ln w="19050">
                  <a:solidFill>
                    <a:schemeClr val="tx1"/>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201" name="Group 40"/>
              <p:cNvGrpSpPr>
                <a:grpSpLocks/>
              </p:cNvGrpSpPr>
              <p:nvPr/>
            </p:nvGrpSpPr>
            <p:grpSpPr bwMode="auto">
              <a:xfrm>
                <a:off x="2427" y="963"/>
                <a:ext cx="956" cy="226"/>
                <a:chOff x="2925" y="3522"/>
                <a:chExt cx="956" cy="226"/>
              </a:xfrm>
            </p:grpSpPr>
            <p:grpSp>
              <p:nvGrpSpPr>
                <p:cNvPr id="8245" name="Group 41"/>
                <p:cNvGrpSpPr>
                  <a:grpSpLocks/>
                </p:cNvGrpSpPr>
                <p:nvPr/>
              </p:nvGrpSpPr>
              <p:grpSpPr bwMode="auto">
                <a:xfrm>
                  <a:off x="3337" y="3522"/>
                  <a:ext cx="544" cy="226"/>
                  <a:chOff x="476" y="2750"/>
                  <a:chExt cx="544" cy="226"/>
                </a:xfrm>
              </p:grpSpPr>
              <p:sp>
                <p:nvSpPr>
                  <p:cNvPr id="8247" name="Rectangle 42"/>
                  <p:cNvSpPr>
                    <a:spLocks noChangeArrowheads="1"/>
                  </p:cNvSpPr>
                  <p:nvPr/>
                </p:nvSpPr>
                <p:spPr bwMode="auto">
                  <a:xfrm>
                    <a:off x="476"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   6    </a:t>
                    </a:r>
                    <a:r>
                      <a:rPr lang="en-US" altLang="zh-CN" sz="2000"/>
                      <a:t>⋀</a:t>
                    </a:r>
                    <a:r>
                      <a:rPr lang="en-US" altLang="zh-CN" sz="2000" b="1"/>
                      <a:t> </a:t>
                    </a:r>
                  </a:p>
                </p:txBody>
              </p:sp>
              <p:sp>
                <p:nvSpPr>
                  <p:cNvPr id="8248" name="Line 43"/>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sp>
              <p:nvSpPr>
                <p:cNvPr id="8246" name="Line 44"/>
                <p:cNvSpPr>
                  <a:spLocks noChangeShapeType="1"/>
                </p:cNvSpPr>
                <p:nvPr/>
              </p:nvSpPr>
              <p:spPr bwMode="auto">
                <a:xfrm>
                  <a:off x="2925" y="3629"/>
                  <a:ext cx="409" cy="0"/>
                </a:xfrm>
                <a:prstGeom prst="line">
                  <a:avLst/>
                </a:prstGeom>
                <a:noFill/>
                <a:ln w="19050">
                  <a:solidFill>
                    <a:schemeClr val="tx1"/>
                  </a:solidFill>
                  <a:miter lim="800000"/>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sp>
            <p:nvSpPr>
              <p:cNvPr id="8202" name="Rectangle 45"/>
              <p:cNvSpPr>
                <a:spLocks noChangeArrowheads="1"/>
              </p:cNvSpPr>
              <p:nvPr/>
            </p:nvSpPr>
            <p:spPr bwMode="auto">
              <a:xfrm>
                <a:off x="1812" y="518"/>
                <a:ext cx="226" cy="22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nSpc>
                    <a:spcPts val="2800"/>
                  </a:lnSpc>
                </a:pPr>
                <a:r>
                  <a:rPr lang="en-US" altLang="zh-CN" sz="2000" b="1" dirty="0"/>
                  <a:t>0</a:t>
                </a:r>
              </a:p>
              <a:p>
                <a:pPr>
                  <a:lnSpc>
                    <a:spcPts val="2800"/>
                  </a:lnSpc>
                </a:pPr>
                <a:r>
                  <a:rPr lang="en-US" altLang="zh-CN" sz="2000" b="1" dirty="0"/>
                  <a:t>1</a:t>
                </a:r>
              </a:p>
              <a:p>
                <a:pPr>
                  <a:lnSpc>
                    <a:spcPts val="2800"/>
                  </a:lnSpc>
                </a:pPr>
                <a:r>
                  <a:rPr lang="en-US" altLang="zh-CN" sz="2000" b="1" dirty="0"/>
                  <a:t>2</a:t>
                </a:r>
              </a:p>
              <a:p>
                <a:pPr>
                  <a:lnSpc>
                    <a:spcPts val="2800"/>
                  </a:lnSpc>
                </a:pPr>
                <a:r>
                  <a:rPr lang="en-US" altLang="zh-CN" sz="2000" b="1" dirty="0"/>
                  <a:t>3</a:t>
                </a:r>
              </a:p>
              <a:p>
                <a:pPr>
                  <a:lnSpc>
                    <a:spcPts val="2800"/>
                  </a:lnSpc>
                </a:pPr>
                <a:r>
                  <a:rPr lang="en-US" altLang="zh-CN" sz="2000" b="1" dirty="0"/>
                  <a:t>4</a:t>
                </a:r>
              </a:p>
              <a:p>
                <a:pPr>
                  <a:lnSpc>
                    <a:spcPts val="2800"/>
                  </a:lnSpc>
                </a:pPr>
                <a:r>
                  <a:rPr lang="en-US" altLang="zh-CN" sz="2000" b="1" dirty="0"/>
                  <a:t>5</a:t>
                </a:r>
              </a:p>
              <a:p>
                <a:pPr>
                  <a:lnSpc>
                    <a:spcPts val="2800"/>
                  </a:lnSpc>
                </a:pPr>
                <a:r>
                  <a:rPr lang="en-US" altLang="zh-CN" sz="2000" b="1" dirty="0"/>
                  <a:t>6</a:t>
                </a:r>
              </a:p>
              <a:p>
                <a:pPr>
                  <a:lnSpc>
                    <a:spcPts val="2800"/>
                  </a:lnSpc>
                </a:pPr>
                <a:r>
                  <a:rPr lang="en-US" altLang="zh-CN" sz="2000" b="1" dirty="0"/>
                  <a:t>7</a:t>
                </a:r>
              </a:p>
              <a:p>
                <a:pPr>
                  <a:lnSpc>
                    <a:spcPts val="2800"/>
                  </a:lnSpc>
                </a:pPr>
                <a:r>
                  <a:rPr lang="en-US" altLang="zh-CN" sz="2000" b="1" dirty="0"/>
                  <a:t>8</a:t>
                </a:r>
              </a:p>
              <a:p>
                <a:pPr>
                  <a:lnSpc>
                    <a:spcPts val="2800"/>
                  </a:lnSpc>
                </a:pPr>
                <a:r>
                  <a:rPr lang="en-US" altLang="zh-CN" sz="2000" b="1" dirty="0"/>
                  <a:t>9</a:t>
                </a:r>
              </a:p>
            </p:txBody>
          </p:sp>
          <p:sp>
            <p:nvSpPr>
              <p:cNvPr id="8203" name="Rectangle 46"/>
              <p:cNvSpPr>
                <a:spLocks noChangeArrowheads="1"/>
              </p:cNvSpPr>
              <p:nvPr/>
            </p:nvSpPr>
            <p:spPr bwMode="auto">
              <a:xfrm>
                <a:off x="839" y="3005"/>
                <a:ext cx="1134"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MAX_NODE-1</a:t>
                </a:r>
              </a:p>
            </p:txBody>
          </p:sp>
          <p:sp>
            <p:nvSpPr>
              <p:cNvPr id="8204" name="Rectangle 47"/>
              <p:cNvSpPr>
                <a:spLocks noChangeArrowheads="1"/>
              </p:cNvSpPr>
              <p:nvPr/>
            </p:nvSpPr>
            <p:spPr bwMode="auto">
              <a:xfrm>
                <a:off x="2654" y="3246"/>
                <a:ext cx="453"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sz="2000" b="1"/>
                  <a:t>root</a:t>
                </a:r>
              </a:p>
            </p:txBody>
          </p:sp>
          <p:sp>
            <p:nvSpPr>
              <p:cNvPr id="8205" name="Rectangle 48"/>
              <p:cNvSpPr>
                <a:spLocks noChangeArrowheads="1"/>
              </p:cNvSpPr>
              <p:nvPr/>
            </p:nvSpPr>
            <p:spPr bwMode="auto">
              <a:xfrm>
                <a:off x="2683" y="3459"/>
                <a:ext cx="453"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sz="2000" b="1"/>
                  <a:t>num</a:t>
                </a:r>
              </a:p>
            </p:txBody>
          </p:sp>
          <p:grpSp>
            <p:nvGrpSpPr>
              <p:cNvPr id="8206" name="Group 49"/>
              <p:cNvGrpSpPr>
                <a:grpSpLocks/>
              </p:cNvGrpSpPr>
              <p:nvPr/>
            </p:nvGrpSpPr>
            <p:grpSpPr bwMode="auto">
              <a:xfrm>
                <a:off x="2019" y="518"/>
                <a:ext cx="553" cy="3159"/>
                <a:chOff x="1565" y="671"/>
                <a:chExt cx="553" cy="3159"/>
              </a:xfrm>
            </p:grpSpPr>
            <p:grpSp>
              <p:nvGrpSpPr>
                <p:cNvPr id="8207" name="Group 50"/>
                <p:cNvGrpSpPr>
                  <a:grpSpLocks/>
                </p:cNvGrpSpPr>
                <p:nvPr/>
              </p:nvGrpSpPr>
              <p:grpSpPr bwMode="auto">
                <a:xfrm>
                  <a:off x="1565" y="671"/>
                  <a:ext cx="544" cy="226"/>
                  <a:chOff x="476" y="2750"/>
                  <a:chExt cx="544" cy="226"/>
                </a:xfrm>
              </p:grpSpPr>
              <p:sp>
                <p:nvSpPr>
                  <p:cNvPr id="8243" name="Rectangle 51"/>
                  <p:cNvSpPr>
                    <a:spLocks noChangeArrowheads="1"/>
                  </p:cNvSpPr>
                  <p:nvPr/>
                </p:nvSpPr>
                <p:spPr bwMode="auto">
                  <a:xfrm>
                    <a:off x="476"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A       </a:t>
                    </a:r>
                  </a:p>
                </p:txBody>
              </p:sp>
              <p:sp>
                <p:nvSpPr>
                  <p:cNvPr id="8244" name="Line 52"/>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208" name="Group 53"/>
                <p:cNvGrpSpPr>
                  <a:grpSpLocks/>
                </p:cNvGrpSpPr>
                <p:nvPr/>
              </p:nvGrpSpPr>
              <p:grpSpPr bwMode="auto">
                <a:xfrm>
                  <a:off x="1565" y="898"/>
                  <a:ext cx="544" cy="226"/>
                  <a:chOff x="476" y="2750"/>
                  <a:chExt cx="544" cy="226"/>
                </a:xfrm>
              </p:grpSpPr>
              <p:sp>
                <p:nvSpPr>
                  <p:cNvPr id="8241" name="Rectangle 54"/>
                  <p:cNvSpPr>
                    <a:spLocks noChangeArrowheads="1"/>
                  </p:cNvSpPr>
                  <p:nvPr/>
                </p:nvSpPr>
                <p:spPr bwMode="auto">
                  <a:xfrm>
                    <a:off x="476"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B      </a:t>
                    </a:r>
                    <a:r>
                      <a:rPr lang="en-US" altLang="zh-CN" sz="2000"/>
                      <a:t>⋀</a:t>
                    </a:r>
                    <a:r>
                      <a:rPr lang="en-US" altLang="zh-CN" sz="2000" b="1"/>
                      <a:t> </a:t>
                    </a:r>
                  </a:p>
                </p:txBody>
              </p:sp>
              <p:sp>
                <p:nvSpPr>
                  <p:cNvPr id="8242" name="Line 55"/>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209" name="Group 56"/>
                <p:cNvGrpSpPr>
                  <a:grpSpLocks/>
                </p:cNvGrpSpPr>
                <p:nvPr/>
              </p:nvGrpSpPr>
              <p:grpSpPr bwMode="auto">
                <a:xfrm>
                  <a:off x="1565" y="1125"/>
                  <a:ext cx="544" cy="226"/>
                  <a:chOff x="476" y="2750"/>
                  <a:chExt cx="544" cy="226"/>
                </a:xfrm>
              </p:grpSpPr>
              <p:sp>
                <p:nvSpPr>
                  <p:cNvPr id="8239" name="Rectangle 57"/>
                  <p:cNvSpPr>
                    <a:spLocks noChangeArrowheads="1"/>
                  </p:cNvSpPr>
                  <p:nvPr/>
                </p:nvSpPr>
                <p:spPr bwMode="auto">
                  <a:xfrm>
                    <a:off x="476"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C       </a:t>
                    </a:r>
                  </a:p>
                </p:txBody>
              </p:sp>
              <p:sp>
                <p:nvSpPr>
                  <p:cNvPr id="8240" name="Line 58"/>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210" name="Group 59"/>
                <p:cNvGrpSpPr>
                  <a:grpSpLocks/>
                </p:cNvGrpSpPr>
                <p:nvPr/>
              </p:nvGrpSpPr>
              <p:grpSpPr bwMode="auto">
                <a:xfrm>
                  <a:off x="1565" y="1344"/>
                  <a:ext cx="544" cy="226"/>
                  <a:chOff x="476" y="2750"/>
                  <a:chExt cx="544" cy="226"/>
                </a:xfrm>
              </p:grpSpPr>
              <p:sp>
                <p:nvSpPr>
                  <p:cNvPr id="8237" name="Rectangle 60"/>
                  <p:cNvSpPr>
                    <a:spLocks noChangeArrowheads="1"/>
                  </p:cNvSpPr>
                  <p:nvPr/>
                </p:nvSpPr>
                <p:spPr bwMode="auto">
                  <a:xfrm>
                    <a:off x="476"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D      </a:t>
                    </a:r>
                    <a:r>
                      <a:rPr lang="en-US" altLang="zh-CN" sz="2000"/>
                      <a:t>⋀</a:t>
                    </a:r>
                    <a:r>
                      <a:rPr lang="en-US" altLang="zh-CN" sz="2000" b="1"/>
                      <a:t> </a:t>
                    </a:r>
                  </a:p>
                </p:txBody>
              </p:sp>
              <p:sp>
                <p:nvSpPr>
                  <p:cNvPr id="8238" name="Line 61"/>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211" name="Group 62"/>
                <p:cNvGrpSpPr>
                  <a:grpSpLocks/>
                </p:cNvGrpSpPr>
                <p:nvPr/>
              </p:nvGrpSpPr>
              <p:grpSpPr bwMode="auto">
                <a:xfrm>
                  <a:off x="1565" y="1797"/>
                  <a:ext cx="544" cy="226"/>
                  <a:chOff x="476" y="2750"/>
                  <a:chExt cx="544" cy="226"/>
                </a:xfrm>
              </p:grpSpPr>
              <p:sp>
                <p:nvSpPr>
                  <p:cNvPr id="8235" name="Rectangle 63"/>
                  <p:cNvSpPr>
                    <a:spLocks noChangeArrowheads="1"/>
                  </p:cNvSpPr>
                  <p:nvPr/>
                </p:nvSpPr>
                <p:spPr bwMode="auto">
                  <a:xfrm>
                    <a:off x="476"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E       </a:t>
                    </a:r>
                    <a:r>
                      <a:rPr lang="en-US" altLang="zh-CN" sz="2000"/>
                      <a:t>⋀</a:t>
                    </a:r>
                  </a:p>
                </p:txBody>
              </p:sp>
              <p:sp>
                <p:nvSpPr>
                  <p:cNvPr id="8236" name="Line 64"/>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212" name="Group 65"/>
                <p:cNvGrpSpPr>
                  <a:grpSpLocks/>
                </p:cNvGrpSpPr>
                <p:nvPr/>
              </p:nvGrpSpPr>
              <p:grpSpPr bwMode="auto">
                <a:xfrm>
                  <a:off x="1565" y="2016"/>
                  <a:ext cx="544" cy="226"/>
                  <a:chOff x="476" y="2750"/>
                  <a:chExt cx="544" cy="226"/>
                </a:xfrm>
              </p:grpSpPr>
              <p:sp>
                <p:nvSpPr>
                  <p:cNvPr id="8233" name="Rectangle 66"/>
                  <p:cNvSpPr>
                    <a:spLocks noChangeArrowheads="1"/>
                  </p:cNvSpPr>
                  <p:nvPr/>
                </p:nvSpPr>
                <p:spPr bwMode="auto">
                  <a:xfrm>
                    <a:off x="476"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F       </a:t>
                    </a:r>
                  </a:p>
                </p:txBody>
              </p:sp>
              <p:sp>
                <p:nvSpPr>
                  <p:cNvPr id="8234" name="Line 67"/>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213" name="Group 68"/>
                <p:cNvGrpSpPr>
                  <a:grpSpLocks/>
                </p:cNvGrpSpPr>
                <p:nvPr/>
              </p:nvGrpSpPr>
              <p:grpSpPr bwMode="auto">
                <a:xfrm>
                  <a:off x="1565" y="2243"/>
                  <a:ext cx="544" cy="226"/>
                  <a:chOff x="476" y="2750"/>
                  <a:chExt cx="544" cy="226"/>
                </a:xfrm>
              </p:grpSpPr>
              <p:sp>
                <p:nvSpPr>
                  <p:cNvPr id="8231" name="Rectangle 69"/>
                  <p:cNvSpPr>
                    <a:spLocks noChangeArrowheads="1"/>
                  </p:cNvSpPr>
                  <p:nvPr/>
                </p:nvSpPr>
                <p:spPr bwMode="auto">
                  <a:xfrm>
                    <a:off x="476"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G      </a:t>
                    </a:r>
                    <a:r>
                      <a:rPr lang="en-US" altLang="zh-CN" sz="2000"/>
                      <a:t>⋀</a:t>
                    </a:r>
                  </a:p>
                </p:txBody>
              </p:sp>
              <p:sp>
                <p:nvSpPr>
                  <p:cNvPr id="8232" name="Line 70"/>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214" name="Group 71"/>
                <p:cNvGrpSpPr>
                  <a:grpSpLocks/>
                </p:cNvGrpSpPr>
                <p:nvPr/>
              </p:nvGrpSpPr>
              <p:grpSpPr bwMode="auto">
                <a:xfrm>
                  <a:off x="1574" y="2470"/>
                  <a:ext cx="544" cy="226"/>
                  <a:chOff x="485" y="2750"/>
                  <a:chExt cx="544" cy="226"/>
                </a:xfrm>
              </p:grpSpPr>
              <p:sp>
                <p:nvSpPr>
                  <p:cNvPr id="8229" name="Rectangle 72"/>
                  <p:cNvSpPr>
                    <a:spLocks noChangeArrowheads="1"/>
                  </p:cNvSpPr>
                  <p:nvPr/>
                </p:nvSpPr>
                <p:spPr bwMode="auto">
                  <a:xfrm>
                    <a:off x="485"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dirty="0"/>
                      <a:t>H      </a:t>
                    </a:r>
                    <a:r>
                      <a:rPr lang="en-US" altLang="zh-CN" sz="2000" dirty="0"/>
                      <a:t>⋀</a:t>
                    </a:r>
                  </a:p>
                </p:txBody>
              </p:sp>
              <p:sp>
                <p:nvSpPr>
                  <p:cNvPr id="8230" name="Line 73"/>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215" name="Group 74"/>
                <p:cNvGrpSpPr>
                  <a:grpSpLocks/>
                </p:cNvGrpSpPr>
                <p:nvPr/>
              </p:nvGrpSpPr>
              <p:grpSpPr bwMode="auto">
                <a:xfrm>
                  <a:off x="1572" y="2697"/>
                  <a:ext cx="544" cy="229"/>
                  <a:chOff x="483" y="2750"/>
                  <a:chExt cx="544" cy="229"/>
                </a:xfrm>
              </p:grpSpPr>
              <p:sp>
                <p:nvSpPr>
                  <p:cNvPr id="8227" name="Rectangle 75"/>
                  <p:cNvSpPr>
                    <a:spLocks noChangeArrowheads="1"/>
                  </p:cNvSpPr>
                  <p:nvPr/>
                </p:nvSpPr>
                <p:spPr bwMode="auto">
                  <a:xfrm>
                    <a:off x="483" y="2753"/>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zh-CN" altLang="en-US" sz="2000" b="1" dirty="0"/>
                      <a:t> </a:t>
                    </a:r>
                    <a:r>
                      <a:rPr lang="en-US" altLang="zh-CN" sz="2000" b="1" dirty="0"/>
                      <a:t>I       </a:t>
                    </a:r>
                    <a:r>
                      <a:rPr lang="en-US" altLang="zh-CN" sz="2000" dirty="0"/>
                      <a:t>⋀</a:t>
                    </a:r>
                  </a:p>
                </p:txBody>
              </p:sp>
              <p:sp>
                <p:nvSpPr>
                  <p:cNvPr id="8228" name="Line 76"/>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216" name="Group 77"/>
                <p:cNvGrpSpPr>
                  <a:grpSpLocks/>
                </p:cNvGrpSpPr>
                <p:nvPr/>
              </p:nvGrpSpPr>
              <p:grpSpPr bwMode="auto">
                <a:xfrm>
                  <a:off x="1565" y="2903"/>
                  <a:ext cx="544" cy="247"/>
                  <a:chOff x="476" y="2729"/>
                  <a:chExt cx="544" cy="247"/>
                </a:xfrm>
              </p:grpSpPr>
              <p:sp>
                <p:nvSpPr>
                  <p:cNvPr id="8225" name="Rectangle 78"/>
                  <p:cNvSpPr>
                    <a:spLocks noChangeArrowheads="1"/>
                  </p:cNvSpPr>
                  <p:nvPr/>
                </p:nvSpPr>
                <p:spPr bwMode="auto">
                  <a:xfrm>
                    <a:off x="476"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zh-CN" altLang="en-US" sz="2000" b="1">
                        <a:latin typeface="宋体" pitchFamily="2" charset="-122"/>
                      </a:rPr>
                      <a:t>┇ </a:t>
                    </a:r>
                    <a:r>
                      <a:rPr lang="zh-CN" altLang="en-US" sz="2000" b="1"/>
                      <a:t> ┇ </a:t>
                    </a:r>
                  </a:p>
                </p:txBody>
              </p:sp>
              <p:sp>
                <p:nvSpPr>
                  <p:cNvPr id="8226" name="Line 79"/>
                  <p:cNvSpPr>
                    <a:spLocks noChangeShapeType="1"/>
                  </p:cNvSpPr>
                  <p:nvPr/>
                </p:nvSpPr>
                <p:spPr bwMode="auto">
                  <a:xfrm>
                    <a:off x="769" y="2729"/>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217" name="Group 80"/>
                <p:cNvGrpSpPr>
                  <a:grpSpLocks/>
                </p:cNvGrpSpPr>
                <p:nvPr/>
              </p:nvGrpSpPr>
              <p:grpSpPr bwMode="auto">
                <a:xfrm>
                  <a:off x="1565" y="3150"/>
                  <a:ext cx="544" cy="226"/>
                  <a:chOff x="1565" y="3884"/>
                  <a:chExt cx="544" cy="226"/>
                </a:xfrm>
              </p:grpSpPr>
              <p:sp>
                <p:nvSpPr>
                  <p:cNvPr id="8223" name="Rectangle 81"/>
                  <p:cNvSpPr>
                    <a:spLocks noChangeArrowheads="1"/>
                  </p:cNvSpPr>
                  <p:nvPr/>
                </p:nvSpPr>
                <p:spPr bwMode="auto">
                  <a:xfrm>
                    <a:off x="1565" y="3884"/>
                    <a:ext cx="544" cy="226"/>
                  </a:xfrm>
                  <a:prstGeom prst="rect">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p>
                </p:txBody>
              </p:sp>
              <p:sp>
                <p:nvSpPr>
                  <p:cNvPr id="8224" name="Line 82"/>
                  <p:cNvSpPr>
                    <a:spLocks noChangeShapeType="1"/>
                  </p:cNvSpPr>
                  <p:nvPr/>
                </p:nvSpPr>
                <p:spPr bwMode="auto">
                  <a:xfrm>
                    <a:off x="1858" y="3884"/>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8218" name="Group 83"/>
                <p:cNvGrpSpPr>
                  <a:grpSpLocks/>
                </p:cNvGrpSpPr>
                <p:nvPr/>
              </p:nvGrpSpPr>
              <p:grpSpPr bwMode="auto">
                <a:xfrm>
                  <a:off x="1565" y="1571"/>
                  <a:ext cx="544" cy="226"/>
                  <a:chOff x="476" y="2750"/>
                  <a:chExt cx="544" cy="226"/>
                </a:xfrm>
              </p:grpSpPr>
              <p:sp>
                <p:nvSpPr>
                  <p:cNvPr id="8221" name="Rectangle 84"/>
                  <p:cNvSpPr>
                    <a:spLocks noChangeArrowheads="1"/>
                  </p:cNvSpPr>
                  <p:nvPr/>
                </p:nvSpPr>
                <p:spPr bwMode="auto">
                  <a:xfrm>
                    <a:off x="476" y="2750"/>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R       </a:t>
                    </a:r>
                  </a:p>
                </p:txBody>
              </p:sp>
              <p:sp>
                <p:nvSpPr>
                  <p:cNvPr id="8222" name="Line 85"/>
                  <p:cNvSpPr>
                    <a:spLocks noChangeShapeType="1"/>
                  </p:cNvSpPr>
                  <p:nvPr/>
                </p:nvSpPr>
                <p:spPr bwMode="auto">
                  <a:xfrm>
                    <a:off x="769" y="2750"/>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sp>
              <p:nvSpPr>
                <p:cNvPr id="8219" name="Rectangle 86"/>
                <p:cNvSpPr>
                  <a:spLocks noChangeArrowheads="1"/>
                </p:cNvSpPr>
                <p:nvPr/>
              </p:nvSpPr>
              <p:spPr bwMode="auto">
                <a:xfrm>
                  <a:off x="1566" y="3377"/>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sz="2000" b="1"/>
                    <a:t>4</a:t>
                  </a:r>
                </a:p>
              </p:txBody>
            </p:sp>
            <p:sp>
              <p:nvSpPr>
                <p:cNvPr id="8220" name="Rectangle 87"/>
                <p:cNvSpPr>
                  <a:spLocks noChangeArrowheads="1"/>
                </p:cNvSpPr>
                <p:nvPr/>
              </p:nvSpPr>
              <p:spPr bwMode="auto">
                <a:xfrm>
                  <a:off x="1565" y="3604"/>
                  <a:ext cx="544" cy="226"/>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sz="2000" b="1" dirty="0" smtClean="0"/>
                    <a:t>10</a:t>
                  </a:r>
                  <a:endParaRPr lang="en-US" altLang="zh-CN" sz="2000" b="1" dirty="0"/>
                </a:p>
              </p:txBody>
            </p:sp>
          </p:grpSp>
        </p:grpSp>
        <p:sp>
          <p:nvSpPr>
            <p:cNvPr id="8197" name="Rectangle 88"/>
            <p:cNvSpPr>
              <a:spLocks noChangeArrowheads="1"/>
            </p:cNvSpPr>
            <p:nvPr/>
          </p:nvSpPr>
          <p:spPr bwMode="auto">
            <a:xfrm>
              <a:off x="1313" y="3838"/>
              <a:ext cx="3039"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2000" b="1" dirty="0" smtClean="0"/>
                <a:t>树</a:t>
              </a:r>
              <a:r>
                <a:rPr lang="en-US" altLang="zh-CN" sz="2000" b="1" dirty="0"/>
                <a:t>T</a:t>
              </a:r>
              <a:r>
                <a:rPr lang="zh-CN" altLang="en-US" sz="2000" b="1" dirty="0"/>
                <a:t>的孩子链表存储结构</a:t>
              </a:r>
            </a:p>
          </p:txBody>
        </p:sp>
      </p:grpSp>
    </p:spTree>
    <p:extLst>
      <p:ext uri="{BB962C8B-B14F-4D97-AF65-F5344CB8AC3E}">
        <p14:creationId xmlns:p14="http://schemas.microsoft.com/office/powerpoint/2010/main" val="3141103784"/>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9" name="Rectangle 7"/>
          <p:cNvSpPr>
            <a:spLocks noChangeArrowheads="1"/>
          </p:cNvSpPr>
          <p:nvPr/>
        </p:nvSpPr>
        <p:spPr bwMode="auto">
          <a:xfrm>
            <a:off x="827088" y="260350"/>
            <a:ext cx="849744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FFF00"/>
                </a:solidFill>
                <a:effectLst/>
                <a:uLnTx/>
                <a:uFillTx/>
                <a:latin typeface="+mj-lt"/>
                <a:ea typeface="微软雅黑" panose="020B0503020204020204" pitchFamily="34" charset="-122"/>
                <a:cs typeface="+mj-cs"/>
                <a:sym typeface="+mn-lt"/>
              </a:rPr>
              <a:t>树的存储结构</a:t>
            </a:r>
            <a:r>
              <a:rPr kumimoji="0" lang="zh-CN" altLang="en-US" sz="2800" b="0" i="0" u="none" strike="noStrike" kern="1200" cap="none" spc="0" normalizeH="0" baseline="0" noProof="0" dirty="0" smtClean="0">
                <a:ln>
                  <a:noFill/>
                </a:ln>
                <a:solidFill>
                  <a:srgbClr val="FFFF00"/>
                </a:solidFill>
                <a:effectLst/>
                <a:uLnTx/>
                <a:uFillTx/>
                <a:latin typeface="+mj-lt"/>
                <a:ea typeface="微软雅黑" panose="020B0503020204020204" pitchFamily="34" charset="-122"/>
                <a:cs typeface="+mj-cs"/>
                <a:sym typeface="+mn-lt"/>
              </a:rPr>
              <a:t>－孩子兄弟表示法－</a:t>
            </a:r>
            <a:r>
              <a:rPr kumimoji="0" lang="zh-CN" altLang="en-US" sz="2800" b="0" i="0" u="none" strike="noStrike" kern="1200" cap="none" spc="0" normalizeH="0" baseline="0" noProof="0" dirty="0">
                <a:ln>
                  <a:noFill/>
                </a:ln>
                <a:solidFill>
                  <a:srgbClr val="FFFF00"/>
                </a:solidFill>
                <a:effectLst/>
                <a:uLnTx/>
                <a:uFillTx/>
                <a:latin typeface="+mj-lt"/>
                <a:ea typeface="微软雅黑" panose="020B0503020204020204" pitchFamily="34" charset="-122"/>
                <a:cs typeface="+mj-cs"/>
                <a:sym typeface="+mn-lt"/>
              </a:rPr>
              <a:t>二叉链表表示法</a:t>
            </a:r>
          </a:p>
        </p:txBody>
      </p:sp>
      <p:sp>
        <p:nvSpPr>
          <p:cNvPr id="82950" name="Rectangle 8"/>
          <p:cNvSpPr>
            <a:spLocks noChangeArrowheads="1"/>
          </p:cNvSpPr>
          <p:nvPr/>
        </p:nvSpPr>
        <p:spPr bwMode="auto">
          <a:xfrm>
            <a:off x="796234" y="3212976"/>
            <a:ext cx="3887788" cy="2438400"/>
          </a:xfrm>
          <a:prstGeom prst="rect">
            <a:avLst/>
          </a:prstGeom>
          <a:solidFill>
            <a:srgbClr val="EBEBEB"/>
          </a:solidFill>
          <a:ln>
            <a:noFill/>
          </a:ln>
        </p:spPr>
        <p:txBody>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2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typedef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struct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CSNode</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p>
          <a:p>
            <a:pPr marL="342900" marR="0" lvl="0" indent="-342900" algn="l" defTabSz="914400" rtl="0" eaLnBrk="0" fontAlgn="base" latinLnBrk="0" hangingPunct="0">
              <a:lnSpc>
                <a:spcPct val="12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ElemType</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data;</a:t>
            </a:r>
          </a:p>
          <a:p>
            <a:pPr marL="342900" marR="0" lvl="0" indent="-342900" algn="l" defTabSz="914400" rtl="0" eaLnBrk="0" fontAlgn="base" latinLnBrk="0" hangingPunct="0">
              <a:lnSpc>
                <a:spcPct val="12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struct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CSNode</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firstchild</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rgbClr val="FF3300"/>
                </a:solidFill>
                <a:effectLst/>
                <a:uLnTx/>
                <a:uFillTx/>
                <a:latin typeface="+mn-lt"/>
                <a:ea typeface="+mn-ea"/>
                <a:cs typeface="+mn-ea"/>
                <a:sym typeface="+mn-lt"/>
              </a:rPr>
              <a:t>nextsibling</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a:t>
            </a:r>
          </a:p>
          <a:p>
            <a:pPr marL="342900" marR="0" lvl="0" indent="-342900" algn="l" defTabSz="914400" rtl="0" eaLnBrk="0" fontAlgn="base" latinLnBrk="0" hangingPunct="0">
              <a:lnSpc>
                <a:spcPct val="120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CSNode</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CSTree</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p>
        </p:txBody>
      </p:sp>
      <p:sp>
        <p:nvSpPr>
          <p:cNvPr id="2" name="矩形 1"/>
          <p:cNvSpPr/>
          <p:nvPr/>
        </p:nvSpPr>
        <p:spPr>
          <a:xfrm>
            <a:off x="483096" y="1052736"/>
            <a:ext cx="8660904" cy="1815882"/>
          </a:xfrm>
          <a:prstGeom prst="rect">
            <a:avLst/>
          </a:prstGeom>
        </p:spPr>
        <p:txBody>
          <a:bodyPr wrap="square">
            <a:spAutoFit/>
          </a:bodyPr>
          <a:lstStyle/>
          <a:p>
            <a:r>
              <a:rPr lang="zh-CN" altLang="en-US" dirty="0"/>
              <a:t>以二叉链表作为树的存储结构，其结点形式如图 </a:t>
            </a:r>
            <a:r>
              <a:rPr lang="en-US" altLang="zh-CN" dirty="0"/>
              <a:t>(a)</a:t>
            </a:r>
            <a:r>
              <a:rPr lang="zh-CN" altLang="en-US" dirty="0"/>
              <a:t>所示。</a:t>
            </a:r>
          </a:p>
          <a:p>
            <a:r>
              <a:rPr lang="zh-CN" altLang="en-US" dirty="0"/>
              <a:t>        两个指针域：分别指向结点的第一个子结点和下一个兄弟结点。结点类型定义如下：</a:t>
            </a:r>
          </a:p>
        </p:txBody>
      </p:sp>
      <p:pic>
        <p:nvPicPr>
          <p:cNvPr id="13344" name="Picture 3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73969" y="3590801"/>
            <a:ext cx="3603625" cy="1682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pull dir="ru"/>
  </p:transition>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844550" y="260350"/>
            <a:ext cx="8299450" cy="457200"/>
          </a:xfrm>
        </p:spPr>
        <p:txBody>
          <a:bodyPr/>
          <a:lstStyle/>
          <a:p>
            <a:pPr lvl="0"/>
            <a:r>
              <a:rPr lang="zh-CN" altLang="en-US" kern="1200" dirty="0">
                <a:solidFill>
                  <a:srgbClr val="FFFF00"/>
                </a:solidFill>
                <a:sym typeface="+mn-lt"/>
              </a:rPr>
              <a:t>树的存储结构－孩子兄弟表示法－二叉链表表示</a:t>
            </a:r>
            <a:r>
              <a:rPr lang="zh-CN" altLang="en-US" kern="1200" dirty="0" smtClean="0">
                <a:solidFill>
                  <a:srgbClr val="FFFF00"/>
                </a:solidFill>
                <a:sym typeface="+mn-lt"/>
              </a:rPr>
              <a:t>法</a:t>
            </a:r>
            <a:endParaRPr lang="zh-CN" altLang="en-US" dirty="0"/>
          </a:p>
        </p:txBody>
      </p:sp>
      <p:sp>
        <p:nvSpPr>
          <p:cNvPr id="3" name="Rectangle 7"/>
          <p:cNvSpPr>
            <a:spLocks noChangeArrowheads="1"/>
          </p:cNvSpPr>
          <p:nvPr/>
        </p:nvSpPr>
        <p:spPr bwMode="auto">
          <a:xfrm>
            <a:off x="844550" y="789895"/>
            <a:ext cx="849744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CN" altLang="en-US" sz="2800" b="0" i="0" u="none" strike="noStrike" kern="1200" cap="none" spc="0" normalizeH="0" baseline="0" noProof="0" dirty="0">
              <a:ln>
                <a:noFill/>
              </a:ln>
              <a:solidFill>
                <a:srgbClr val="FFFF00"/>
              </a:solidFill>
              <a:effectLst/>
              <a:uLnTx/>
              <a:uFillTx/>
              <a:latin typeface="+mj-lt"/>
              <a:ea typeface="微软雅黑" panose="020B0503020204020204" pitchFamily="34" charset="-122"/>
              <a:cs typeface="+mj-cs"/>
              <a:sym typeface="+mn-lt"/>
            </a:endParaRPr>
          </a:p>
        </p:txBody>
      </p:sp>
      <p:pic>
        <p:nvPicPr>
          <p:cNvPr id="2253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5800" y="1844824"/>
            <a:ext cx="3886200" cy="2867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4" name="对象 3"/>
          <p:cNvGraphicFramePr>
            <a:graphicFrameLocks noChangeAspect="1"/>
          </p:cNvGraphicFramePr>
          <p:nvPr/>
        </p:nvGraphicFramePr>
        <p:xfrm>
          <a:off x="5076825" y="1098550"/>
          <a:ext cx="3513138" cy="5308600"/>
        </p:xfrm>
        <a:graphic>
          <a:graphicData uri="http://schemas.openxmlformats.org/presentationml/2006/ole">
            <mc:AlternateContent xmlns:mc="http://schemas.openxmlformats.org/markup-compatibility/2006">
              <mc:Choice xmlns:v="urn:schemas-microsoft-com:vml" Requires="v">
                <p:oleObj spid="_x0000_s22543" r:id="rId4" imgW="3816096" imgH="5763768" progId="Visio.Drawing.5">
                  <p:embed/>
                </p:oleObj>
              </mc:Choice>
              <mc:Fallback>
                <p:oleObj r:id="rId4" imgW="3816096" imgH="5763768" progId="Visio.Drawing.5">
                  <p:embed/>
                  <p:pic>
                    <p:nvPicPr>
                      <p:cNvPr id="0"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76825" y="1098550"/>
                        <a:ext cx="3513138" cy="5308600"/>
                      </a:xfrm>
                      <a:prstGeom prst="rect">
                        <a:avLst/>
                      </a:prstGeom>
                      <a:solidFill>
                        <a:srgbClr val="E2D9EB"/>
                      </a:solidFill>
                      <a:ln>
                        <a:noFill/>
                      </a:ln>
                      <a:extLs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3463729383"/>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5378" name="Rectangle 2"/>
          <p:cNvSpPr>
            <a:spLocks noGrp="1" noChangeArrowheads="1"/>
          </p:cNvSpPr>
          <p:nvPr>
            <p:ph type="title"/>
          </p:nvPr>
        </p:nvSpPr>
        <p:spPr>
          <a:xfrm>
            <a:off x="873968" y="116632"/>
            <a:ext cx="7010400" cy="685800"/>
          </a:xfrm>
          <a:noFill/>
        </p:spPr>
        <p:txBody>
          <a:bodyPr rtlCol="0">
            <a:normAutofit/>
          </a:bodyPr>
          <a:lstStyle/>
          <a:p>
            <a:pPr eaLnBrk="1" fontAlgn="auto" hangingPunct="1">
              <a:spcAft>
                <a:spcPts val="0"/>
              </a:spcAft>
              <a:defRPr/>
            </a:pPr>
            <a:r>
              <a:rPr lang="zh-CN" altLang="en-US" b="1" dirty="0" smtClean="0">
                <a:ea typeface="楷体_GB2312" pitchFamily="49" charset="-122"/>
              </a:rPr>
              <a:t>森林</a:t>
            </a:r>
            <a:r>
              <a:rPr lang="zh-CN" altLang="en-US" b="1" dirty="0">
                <a:ea typeface="楷体_GB2312" pitchFamily="49" charset="-122"/>
              </a:rPr>
              <a:t>与二叉树的转换</a:t>
            </a:r>
          </a:p>
        </p:txBody>
      </p:sp>
      <p:sp>
        <p:nvSpPr>
          <p:cNvPr id="11267" name="Rectangle 3"/>
          <p:cNvSpPr>
            <a:spLocks noGrp="1" noChangeArrowheads="1"/>
          </p:cNvSpPr>
          <p:nvPr>
            <p:ph type="body" idx="1"/>
          </p:nvPr>
        </p:nvSpPr>
        <p:spPr>
          <a:xfrm>
            <a:off x="76200" y="1066800"/>
            <a:ext cx="8888413" cy="4090988"/>
          </a:xfrm>
        </p:spPr>
        <p:txBody>
          <a:bodyPr/>
          <a:lstStyle/>
          <a:p>
            <a:pPr marL="0" indent="0" eaLnBrk="1" hangingPunct="1">
              <a:lnSpc>
                <a:spcPct val="110000"/>
              </a:lnSpc>
              <a:buFont typeface="Wingdings" pitchFamily="2" charset="2"/>
              <a:buNone/>
            </a:pPr>
            <a:r>
              <a:rPr lang="zh-CN" altLang="en-US" sz="2800" dirty="0" smtClean="0">
                <a:ea typeface="宋体" pitchFamily="2" charset="-122"/>
              </a:rPr>
              <a:t>         </a:t>
            </a:r>
            <a:r>
              <a:rPr lang="zh-CN" altLang="en-US" dirty="0" smtClean="0">
                <a:ea typeface="宋体" pitchFamily="2" charset="-122"/>
              </a:rPr>
              <a:t>由于二叉树和树都可用二叉链表作为存储结构，对比各自的结点结构可以看出，以二叉链表作为媒介可以导出树和二叉树之间的一个对应关系。</a:t>
            </a:r>
          </a:p>
          <a:p>
            <a:pPr marL="533400" lvl="1" indent="0" eaLnBrk="1" hangingPunct="1">
              <a:lnSpc>
                <a:spcPct val="110000"/>
              </a:lnSpc>
              <a:buFontTx/>
              <a:buNone/>
            </a:pPr>
            <a:r>
              <a:rPr lang="zh-CN" altLang="en-US" sz="2400" dirty="0" smtClean="0">
                <a:solidFill>
                  <a:schemeClr val="folHlink"/>
                </a:solidFill>
                <a:latin typeface="宋体" pitchFamily="2" charset="-122"/>
                <a:ea typeface="宋体" pitchFamily="2" charset="-122"/>
              </a:rPr>
              <a:t>◆</a:t>
            </a:r>
            <a:r>
              <a:rPr lang="zh-CN" altLang="en-US" sz="2400" dirty="0" smtClean="0">
                <a:latin typeface="宋体" pitchFamily="2" charset="-122"/>
                <a:ea typeface="宋体" pitchFamily="2" charset="-122"/>
              </a:rPr>
              <a:t> </a:t>
            </a:r>
            <a:r>
              <a:rPr lang="zh-CN" altLang="en-US" sz="2400" dirty="0" smtClean="0">
                <a:ea typeface="宋体" pitchFamily="2" charset="-122"/>
              </a:rPr>
              <a:t>从物理结构来看，树和二叉树的二叉链表是相同的，只是对指针的逻辑解释不同而已。</a:t>
            </a:r>
            <a:br>
              <a:rPr lang="zh-CN" altLang="en-US" sz="2400" dirty="0" smtClean="0">
                <a:ea typeface="宋体" pitchFamily="2" charset="-122"/>
              </a:rPr>
            </a:br>
            <a:r>
              <a:rPr lang="zh-CN" altLang="en-US" sz="2400" dirty="0" smtClean="0">
                <a:ea typeface="宋体" pitchFamily="2" charset="-122"/>
              </a:rPr>
              <a:t> </a:t>
            </a:r>
            <a:r>
              <a:rPr lang="zh-CN" altLang="en-US" sz="2400" dirty="0" smtClean="0">
                <a:solidFill>
                  <a:schemeClr val="folHlink"/>
                </a:solidFill>
                <a:latin typeface="宋体" pitchFamily="2" charset="-122"/>
                <a:ea typeface="宋体" pitchFamily="2" charset="-122"/>
              </a:rPr>
              <a:t>◆</a:t>
            </a:r>
            <a:r>
              <a:rPr lang="zh-CN" altLang="en-US" sz="2400" dirty="0" smtClean="0">
                <a:latin typeface="宋体" pitchFamily="2" charset="-122"/>
                <a:ea typeface="宋体" pitchFamily="2" charset="-122"/>
              </a:rPr>
              <a:t> </a:t>
            </a:r>
            <a:r>
              <a:rPr lang="zh-CN" altLang="en-US" sz="2400" dirty="0" smtClean="0">
                <a:ea typeface="宋体" pitchFamily="2" charset="-122"/>
              </a:rPr>
              <a:t>从树的二叉链表表示的定义可知，任何一棵和树对应的二叉树，其右子树一定为空。</a:t>
            </a:r>
          </a:p>
          <a:p>
            <a:pPr marL="0" indent="0" eaLnBrk="1" hangingPunct="1">
              <a:lnSpc>
                <a:spcPct val="110000"/>
              </a:lnSpc>
              <a:buFont typeface="Wingdings" pitchFamily="2" charset="2"/>
              <a:buNone/>
            </a:pPr>
            <a:r>
              <a:rPr lang="zh-CN" altLang="en-US" dirty="0" smtClean="0">
                <a:ea typeface="宋体" pitchFamily="2" charset="-122"/>
              </a:rPr>
              <a:t>       下图直观地展示了树和二叉树之间的对应关系。</a:t>
            </a:r>
          </a:p>
        </p:txBody>
      </p:sp>
    </p:spTree>
    <p:extLst>
      <p:ext uri="{BB962C8B-B14F-4D97-AF65-F5344CB8AC3E}">
        <p14:creationId xmlns:p14="http://schemas.microsoft.com/office/powerpoint/2010/main" val="1790442231"/>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2"/>
          <p:cNvSpPr>
            <a:spLocks noGrp="1" noChangeArrowheads="1"/>
          </p:cNvSpPr>
          <p:nvPr>
            <p:ph type="body" idx="1"/>
          </p:nvPr>
        </p:nvSpPr>
        <p:spPr>
          <a:xfrm>
            <a:off x="147638" y="188913"/>
            <a:ext cx="8816975" cy="5832475"/>
          </a:xfrm>
        </p:spPr>
        <p:txBody>
          <a:bodyPr/>
          <a:lstStyle/>
          <a:p>
            <a:pPr marL="0" indent="0" eaLnBrk="1" hangingPunct="1">
              <a:lnSpc>
                <a:spcPct val="110000"/>
              </a:lnSpc>
              <a:buFont typeface="Wingdings" pitchFamily="2" charset="2"/>
              <a:buNone/>
            </a:pPr>
            <a:r>
              <a:rPr lang="en-US" altLang="zh-CN" sz="2800" b="1" dirty="0" smtClean="0">
                <a:solidFill>
                  <a:schemeClr val="bg1"/>
                </a:solidFill>
                <a:ea typeface="宋体" pitchFamily="2" charset="-122"/>
              </a:rPr>
              <a:t>          1  </a:t>
            </a:r>
            <a:r>
              <a:rPr lang="zh-CN" altLang="en-US" sz="2800" b="1" dirty="0" smtClean="0">
                <a:solidFill>
                  <a:schemeClr val="bg1"/>
                </a:solidFill>
                <a:ea typeface="楷体_GB2312" pitchFamily="49" charset="-122"/>
              </a:rPr>
              <a:t>树转换成二叉树</a:t>
            </a:r>
            <a:endParaRPr lang="en-US" altLang="zh-CN" sz="2800" b="1" dirty="0" smtClean="0">
              <a:solidFill>
                <a:schemeClr val="bg1"/>
              </a:solidFill>
              <a:ea typeface="楷体_GB2312" pitchFamily="49" charset="-122"/>
            </a:endParaRPr>
          </a:p>
          <a:p>
            <a:pPr marL="0" indent="0" eaLnBrk="1" hangingPunct="1">
              <a:lnSpc>
                <a:spcPct val="110000"/>
              </a:lnSpc>
              <a:buFont typeface="Wingdings" pitchFamily="2" charset="2"/>
              <a:buNone/>
            </a:pPr>
            <a:endParaRPr lang="zh-CN" altLang="en-US" sz="2800" b="1" dirty="0" smtClean="0">
              <a:solidFill>
                <a:schemeClr val="bg1"/>
              </a:solidFill>
              <a:ea typeface="楷体_GB2312" pitchFamily="49" charset="-122"/>
            </a:endParaRPr>
          </a:p>
          <a:p>
            <a:pPr marL="0" indent="0" eaLnBrk="1" hangingPunct="1">
              <a:lnSpc>
                <a:spcPct val="110000"/>
              </a:lnSpc>
              <a:buFont typeface="Wingdings" pitchFamily="2" charset="2"/>
              <a:buNone/>
            </a:pPr>
            <a:r>
              <a:rPr lang="zh-CN" altLang="en-US" sz="2800" dirty="0" smtClean="0">
                <a:ea typeface="宋体" pitchFamily="2" charset="-122"/>
              </a:rPr>
              <a:t>        </a:t>
            </a:r>
            <a:r>
              <a:rPr lang="zh-CN" altLang="en-US" dirty="0" smtClean="0">
                <a:ea typeface="宋体" pitchFamily="2" charset="-122"/>
              </a:rPr>
              <a:t>对于一般的树，可以方便地转换成一棵唯一的二叉树与之对应。将树转换成二叉树在“孩子兄弟表示法”中已给出，其详细步骤是：</a:t>
            </a:r>
          </a:p>
          <a:p>
            <a:pPr marL="533400" lvl="1" indent="0" eaLnBrk="1" hangingPunct="1">
              <a:lnSpc>
                <a:spcPct val="110000"/>
              </a:lnSpc>
              <a:buFontTx/>
              <a:buNone/>
            </a:pPr>
            <a:r>
              <a:rPr lang="zh-CN" altLang="en-US" sz="2400" dirty="0" smtClean="0">
                <a:ea typeface="宋体" pitchFamily="2" charset="-122"/>
              </a:rPr>
              <a:t>⑴  </a:t>
            </a:r>
            <a:r>
              <a:rPr lang="zh-CN" altLang="en-US" sz="2400" dirty="0" smtClean="0">
                <a:solidFill>
                  <a:schemeClr val="folHlink"/>
                </a:solidFill>
                <a:ea typeface="宋体" pitchFamily="2" charset="-122"/>
              </a:rPr>
              <a:t>加虚线</a:t>
            </a:r>
            <a:r>
              <a:rPr lang="zh-CN" altLang="en-US" sz="2400" dirty="0" smtClean="0">
                <a:ea typeface="宋体" pitchFamily="2" charset="-122"/>
              </a:rPr>
              <a:t>。在树的每层按从“左至右”的顺序在兄弟结点之间加虚线相连。</a:t>
            </a:r>
          </a:p>
          <a:p>
            <a:pPr marL="533400" lvl="1" indent="0" eaLnBrk="1" hangingPunct="1">
              <a:lnSpc>
                <a:spcPct val="110000"/>
              </a:lnSpc>
              <a:buFontTx/>
              <a:buNone/>
            </a:pPr>
            <a:r>
              <a:rPr lang="zh-CN" altLang="en-US" sz="2400" dirty="0" smtClean="0">
                <a:ea typeface="宋体" pitchFamily="2" charset="-122"/>
              </a:rPr>
              <a:t>⑵ </a:t>
            </a:r>
            <a:r>
              <a:rPr lang="zh-CN" altLang="en-US" sz="2400" dirty="0" smtClean="0">
                <a:solidFill>
                  <a:schemeClr val="folHlink"/>
                </a:solidFill>
                <a:ea typeface="宋体" pitchFamily="2" charset="-122"/>
              </a:rPr>
              <a:t>去连线</a:t>
            </a:r>
            <a:r>
              <a:rPr lang="zh-CN" altLang="en-US" sz="2400" dirty="0" smtClean="0">
                <a:ea typeface="宋体" pitchFamily="2" charset="-122"/>
              </a:rPr>
              <a:t>。除最左的第一个子结点外，父结点与所有其它子结点的连线都去掉。</a:t>
            </a:r>
          </a:p>
          <a:p>
            <a:pPr marL="533400" lvl="1" indent="0" eaLnBrk="1" hangingPunct="1">
              <a:lnSpc>
                <a:spcPct val="110000"/>
              </a:lnSpc>
              <a:buFontTx/>
              <a:buNone/>
            </a:pPr>
            <a:r>
              <a:rPr lang="zh-CN" altLang="en-US" sz="2400" dirty="0" smtClean="0">
                <a:ea typeface="宋体" pitchFamily="2" charset="-122"/>
              </a:rPr>
              <a:t>⑶  </a:t>
            </a:r>
            <a:r>
              <a:rPr lang="zh-CN" altLang="en-US" sz="2400" dirty="0" smtClean="0">
                <a:solidFill>
                  <a:schemeClr val="folHlink"/>
                </a:solidFill>
                <a:ea typeface="宋体" pitchFamily="2" charset="-122"/>
              </a:rPr>
              <a:t>旋转</a:t>
            </a:r>
            <a:r>
              <a:rPr lang="zh-CN" altLang="en-US" sz="2400" dirty="0" smtClean="0">
                <a:ea typeface="宋体" pitchFamily="2" charset="-122"/>
              </a:rPr>
              <a:t>。将树顺时针旋转</a:t>
            </a:r>
            <a:r>
              <a:rPr lang="en-US" altLang="zh-CN" sz="2400" dirty="0" smtClean="0">
                <a:ea typeface="宋体" pitchFamily="2" charset="-122"/>
              </a:rPr>
              <a:t>45</a:t>
            </a:r>
            <a:r>
              <a:rPr lang="en-US" altLang="zh-CN" sz="2400" baseline="34000" dirty="0" smtClean="0">
                <a:ea typeface="宋体" pitchFamily="2" charset="-122"/>
              </a:rPr>
              <a:t>0</a:t>
            </a:r>
            <a:r>
              <a:rPr lang="zh-CN" altLang="en-US" sz="2400" dirty="0" smtClean="0">
                <a:ea typeface="宋体" pitchFamily="2" charset="-122"/>
              </a:rPr>
              <a:t>，原有的实线左斜。</a:t>
            </a:r>
          </a:p>
          <a:p>
            <a:pPr marL="533400" lvl="1" indent="0" eaLnBrk="1" hangingPunct="1">
              <a:lnSpc>
                <a:spcPct val="110000"/>
              </a:lnSpc>
              <a:buFontTx/>
              <a:buNone/>
            </a:pPr>
            <a:r>
              <a:rPr lang="zh-CN" altLang="en-US" sz="2400" dirty="0" smtClean="0">
                <a:ea typeface="宋体" pitchFamily="2" charset="-122"/>
              </a:rPr>
              <a:t>⑷ </a:t>
            </a:r>
            <a:r>
              <a:rPr lang="zh-CN" altLang="en-US" sz="2400" dirty="0" smtClean="0">
                <a:solidFill>
                  <a:schemeClr val="folHlink"/>
                </a:solidFill>
                <a:ea typeface="宋体" pitchFamily="2" charset="-122"/>
              </a:rPr>
              <a:t>整型</a:t>
            </a:r>
            <a:r>
              <a:rPr lang="zh-CN" altLang="en-US" sz="2400" dirty="0" smtClean="0">
                <a:ea typeface="宋体" pitchFamily="2" charset="-122"/>
              </a:rPr>
              <a:t>。将旋转后树中的所有虚线改为实线，并向右斜。该转换过程如图所示。</a:t>
            </a:r>
          </a:p>
        </p:txBody>
      </p:sp>
    </p:spTree>
    <p:extLst>
      <p:ext uri="{BB962C8B-B14F-4D97-AF65-F5344CB8AC3E}">
        <p14:creationId xmlns:p14="http://schemas.microsoft.com/office/powerpoint/2010/main" val="2171613687"/>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Text Box 2"/>
          <p:cNvSpPr txBox="1">
            <a:spLocks noChangeArrowheads="1"/>
          </p:cNvSpPr>
          <p:nvPr/>
        </p:nvSpPr>
        <p:spPr bwMode="auto">
          <a:xfrm>
            <a:off x="166688" y="922678"/>
            <a:ext cx="7273925" cy="22713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Calibri" pitchFamily="34" charset="0"/>
                <a:ea typeface="宋体" pitchFamily="2" charset="-122"/>
              </a:defRPr>
            </a:lvl1pPr>
            <a:lvl2pPr marL="533400" eaLnBrk="0" hangingPunct="0">
              <a:defRPr>
                <a:solidFill>
                  <a:schemeClr val="tx1"/>
                </a:solidFill>
                <a:latin typeface="Calibri" pitchFamily="34" charset="0"/>
                <a:ea typeface="宋体" pitchFamily="2" charset="-122"/>
              </a:defRPr>
            </a:lvl2pPr>
            <a:lvl3pPr marL="1143000" indent="-228600" eaLnBrk="0" hangingPunct="0">
              <a:defRPr>
                <a:solidFill>
                  <a:schemeClr val="tx1"/>
                </a:solidFill>
                <a:latin typeface="Calibri" pitchFamily="34" charset="0"/>
                <a:ea typeface="宋体" pitchFamily="2" charset="-122"/>
              </a:defRPr>
            </a:lvl3pPr>
            <a:lvl4pPr marL="1600200" indent="-228600" eaLnBrk="0" hangingPunct="0">
              <a:defRPr>
                <a:solidFill>
                  <a:schemeClr val="tx1"/>
                </a:solidFill>
                <a:latin typeface="Calibri" pitchFamily="34" charset="0"/>
                <a:ea typeface="宋体" pitchFamily="2" charset="-122"/>
              </a:defRPr>
            </a:lvl4pPr>
            <a:lvl5pPr marL="2057400" indent="-228600" eaLnBrk="0" hangingPunct="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lnSpc>
                <a:spcPct val="110000"/>
              </a:lnSpc>
              <a:spcBef>
                <a:spcPct val="20000"/>
              </a:spcBef>
            </a:pPr>
            <a:r>
              <a:rPr kumimoji="1" lang="zh-CN" altLang="en-US" sz="2400" dirty="0">
                <a:latin typeface="宋体" pitchFamily="2" charset="-122"/>
              </a:rPr>
              <a:t>     </a:t>
            </a:r>
            <a:r>
              <a:rPr kumimoji="1" lang="zh-CN" altLang="en-US" sz="2400" b="1" dirty="0">
                <a:latin typeface="宋体" pitchFamily="2" charset="-122"/>
              </a:rPr>
              <a:t>这样转换后的二叉树的特点是</a:t>
            </a:r>
            <a:r>
              <a:rPr kumimoji="1" lang="zh-CN" altLang="en-US" sz="2400" b="1" dirty="0">
                <a:latin typeface="Times New Roman" pitchFamily="18" charset="0"/>
              </a:rPr>
              <a:t>：</a:t>
            </a:r>
          </a:p>
          <a:p>
            <a:pPr lvl="1" eaLnBrk="1" hangingPunct="1">
              <a:lnSpc>
                <a:spcPct val="110000"/>
              </a:lnSpc>
              <a:spcBef>
                <a:spcPct val="20000"/>
              </a:spcBef>
            </a:pPr>
            <a:r>
              <a:rPr kumimoji="1" lang="zh-CN" altLang="en-US" sz="2400" b="1" dirty="0">
                <a:latin typeface="宋体" pitchFamily="2" charset="-122"/>
              </a:rPr>
              <a:t> </a:t>
            </a:r>
            <a:r>
              <a:rPr kumimoji="1" lang="zh-CN" altLang="en-US" sz="2400" b="1" dirty="0">
                <a:solidFill>
                  <a:schemeClr val="folHlink"/>
                </a:solidFill>
                <a:latin typeface="宋体" pitchFamily="2" charset="-122"/>
              </a:rPr>
              <a:t>◆</a:t>
            </a:r>
            <a:r>
              <a:rPr kumimoji="1" lang="zh-CN" altLang="en-US" sz="2400" b="1" dirty="0">
                <a:latin typeface="宋体" pitchFamily="2" charset="-122"/>
              </a:rPr>
              <a:t> 二叉树的</a:t>
            </a:r>
            <a:r>
              <a:rPr kumimoji="1" lang="zh-CN" altLang="en-US" sz="2400" b="1" dirty="0">
                <a:solidFill>
                  <a:schemeClr val="folHlink"/>
                </a:solidFill>
                <a:latin typeface="宋体" pitchFamily="2" charset="-122"/>
              </a:rPr>
              <a:t>根结点没有右子树</a:t>
            </a:r>
            <a:r>
              <a:rPr kumimoji="1" lang="zh-CN" altLang="en-US" sz="2400" b="1" dirty="0">
                <a:latin typeface="宋体" pitchFamily="2" charset="-122"/>
              </a:rPr>
              <a:t>，只有左子树；</a:t>
            </a:r>
          </a:p>
          <a:p>
            <a:pPr lvl="1" eaLnBrk="1" hangingPunct="1">
              <a:lnSpc>
                <a:spcPct val="110000"/>
              </a:lnSpc>
              <a:spcBef>
                <a:spcPct val="20000"/>
              </a:spcBef>
            </a:pPr>
            <a:r>
              <a:rPr kumimoji="1" lang="zh-CN" altLang="en-US" sz="2400" b="1" dirty="0">
                <a:latin typeface="宋体" pitchFamily="2" charset="-122"/>
              </a:rPr>
              <a:t> </a:t>
            </a:r>
            <a:r>
              <a:rPr kumimoji="1" lang="zh-CN" altLang="en-US" sz="2400" b="1" dirty="0">
                <a:solidFill>
                  <a:schemeClr val="folHlink"/>
                </a:solidFill>
                <a:latin typeface="Times New Roman" pitchFamily="18" charset="0"/>
              </a:rPr>
              <a:t>◆</a:t>
            </a:r>
            <a:r>
              <a:rPr kumimoji="1" lang="zh-CN" altLang="en-US" sz="2400" b="1" dirty="0">
                <a:latin typeface="宋体" pitchFamily="2" charset="-122"/>
              </a:rPr>
              <a:t> 左子结点仍然是原来树中相应结点的左子结点，而所有沿右链往下的右子结点均是原来树中该结点的兄弟结点。</a:t>
            </a:r>
          </a:p>
        </p:txBody>
      </p:sp>
      <p:grpSp>
        <p:nvGrpSpPr>
          <p:cNvPr id="14339" name="Group 3"/>
          <p:cNvGrpSpPr>
            <a:grpSpLocks/>
          </p:cNvGrpSpPr>
          <p:nvPr/>
        </p:nvGrpSpPr>
        <p:grpSpPr bwMode="auto">
          <a:xfrm>
            <a:off x="827088" y="2127250"/>
            <a:ext cx="8115300" cy="4254500"/>
            <a:chOff x="521" y="1340"/>
            <a:chExt cx="5112" cy="2680"/>
          </a:xfrm>
        </p:grpSpPr>
        <p:sp>
          <p:nvSpPr>
            <p:cNvPr id="14340" name="Rectangle 4"/>
            <p:cNvSpPr>
              <a:spLocks noChangeArrowheads="1"/>
            </p:cNvSpPr>
            <p:nvPr/>
          </p:nvSpPr>
          <p:spPr bwMode="auto">
            <a:xfrm>
              <a:off x="2109" y="3793"/>
              <a:ext cx="2267"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zh-CN" altLang="en-US" sz="2000" b="1" dirty="0"/>
                <a:t>图</a:t>
              </a:r>
              <a:r>
                <a:rPr lang="en-US" altLang="zh-CN" sz="2000" b="1" dirty="0"/>
                <a:t> </a:t>
              </a:r>
              <a:r>
                <a:rPr lang="zh-CN" altLang="en-US" sz="2000" b="1" dirty="0"/>
                <a:t>树向二叉树的转换过程</a:t>
              </a:r>
            </a:p>
          </p:txBody>
        </p:sp>
        <p:grpSp>
          <p:nvGrpSpPr>
            <p:cNvPr id="14341" name="Group 5"/>
            <p:cNvGrpSpPr>
              <a:grpSpLocks/>
            </p:cNvGrpSpPr>
            <p:nvPr/>
          </p:nvGrpSpPr>
          <p:grpSpPr bwMode="auto">
            <a:xfrm>
              <a:off x="521" y="2220"/>
              <a:ext cx="1441" cy="1392"/>
              <a:chOff x="521" y="2069"/>
              <a:chExt cx="1441" cy="1392"/>
            </a:xfrm>
          </p:grpSpPr>
          <p:sp>
            <p:nvSpPr>
              <p:cNvPr id="14378" name="Rectangle 6"/>
              <p:cNvSpPr>
                <a:spLocks noChangeArrowheads="1"/>
              </p:cNvSpPr>
              <p:nvPr/>
            </p:nvSpPr>
            <p:spPr bwMode="auto">
              <a:xfrm>
                <a:off x="713" y="3257"/>
                <a:ext cx="1033" cy="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(a)  </a:t>
                </a:r>
                <a:r>
                  <a:rPr lang="zh-CN" altLang="en-US" sz="2000" b="1"/>
                  <a:t>一般的树</a:t>
                </a:r>
                <a:r>
                  <a:rPr lang="zh-CN" altLang="en-US" sz="2000"/>
                  <a:t> </a:t>
                </a:r>
              </a:p>
            </p:txBody>
          </p:sp>
          <p:grpSp>
            <p:nvGrpSpPr>
              <p:cNvPr id="14379" name="Group 7"/>
              <p:cNvGrpSpPr>
                <a:grpSpLocks/>
              </p:cNvGrpSpPr>
              <p:nvPr/>
            </p:nvGrpSpPr>
            <p:grpSpPr bwMode="auto">
              <a:xfrm>
                <a:off x="521" y="2069"/>
                <a:ext cx="1441" cy="1102"/>
                <a:chOff x="3869" y="113"/>
                <a:chExt cx="1441" cy="1102"/>
              </a:xfrm>
            </p:grpSpPr>
            <p:sp>
              <p:nvSpPr>
                <p:cNvPr id="14380" name="Oval 8"/>
                <p:cNvSpPr>
                  <a:spLocks noChangeArrowheads="1"/>
                </p:cNvSpPr>
                <p:nvPr/>
              </p:nvSpPr>
              <p:spPr bwMode="auto">
                <a:xfrm>
                  <a:off x="5078" y="970"/>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F</a:t>
                  </a:r>
                </a:p>
              </p:txBody>
            </p:sp>
            <p:sp>
              <p:nvSpPr>
                <p:cNvPr id="14381" name="Oval 9"/>
                <p:cNvSpPr>
                  <a:spLocks noChangeArrowheads="1"/>
                </p:cNvSpPr>
                <p:nvPr/>
              </p:nvSpPr>
              <p:spPr bwMode="auto">
                <a:xfrm>
                  <a:off x="4640" y="984"/>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dirty="0"/>
                    <a:t>G</a:t>
                  </a:r>
                </a:p>
              </p:txBody>
            </p:sp>
            <p:sp>
              <p:nvSpPr>
                <p:cNvPr id="14382" name="Oval 10"/>
                <p:cNvSpPr>
                  <a:spLocks noChangeArrowheads="1"/>
                </p:cNvSpPr>
                <p:nvPr/>
              </p:nvSpPr>
              <p:spPr bwMode="auto">
                <a:xfrm>
                  <a:off x="4427" y="113"/>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R</a:t>
                  </a:r>
                </a:p>
              </p:txBody>
            </p:sp>
            <p:sp>
              <p:nvSpPr>
                <p:cNvPr id="14383" name="Oval 11"/>
                <p:cNvSpPr>
                  <a:spLocks noChangeArrowheads="1"/>
                </p:cNvSpPr>
                <p:nvPr/>
              </p:nvSpPr>
              <p:spPr bwMode="auto">
                <a:xfrm>
                  <a:off x="4099" y="539"/>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A</a:t>
                  </a:r>
                </a:p>
              </p:txBody>
            </p:sp>
            <p:sp>
              <p:nvSpPr>
                <p:cNvPr id="14384" name="Oval 12"/>
                <p:cNvSpPr>
                  <a:spLocks noChangeArrowheads="1"/>
                </p:cNvSpPr>
                <p:nvPr/>
              </p:nvSpPr>
              <p:spPr bwMode="auto">
                <a:xfrm>
                  <a:off x="4405" y="539"/>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B</a:t>
                  </a:r>
                </a:p>
              </p:txBody>
            </p:sp>
            <p:sp>
              <p:nvSpPr>
                <p:cNvPr id="14385" name="Oval 13"/>
                <p:cNvSpPr>
                  <a:spLocks noChangeArrowheads="1"/>
                </p:cNvSpPr>
                <p:nvPr/>
              </p:nvSpPr>
              <p:spPr bwMode="auto">
                <a:xfrm>
                  <a:off x="4757" y="546"/>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C</a:t>
                  </a:r>
                </a:p>
              </p:txBody>
            </p:sp>
            <p:sp>
              <p:nvSpPr>
                <p:cNvPr id="14386" name="Line 14"/>
                <p:cNvSpPr>
                  <a:spLocks noChangeShapeType="1"/>
                </p:cNvSpPr>
                <p:nvPr/>
              </p:nvSpPr>
              <p:spPr bwMode="auto">
                <a:xfrm flipH="1">
                  <a:off x="4233" y="290"/>
                  <a:ext cx="212" cy="24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4387" name="Line 15"/>
                <p:cNvSpPr>
                  <a:spLocks noChangeShapeType="1"/>
                </p:cNvSpPr>
                <p:nvPr/>
              </p:nvSpPr>
              <p:spPr bwMode="auto">
                <a:xfrm>
                  <a:off x="4531" y="326"/>
                  <a:ext cx="0" cy="213"/>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4388" name="Line 16"/>
                <p:cNvSpPr>
                  <a:spLocks noChangeShapeType="1"/>
                </p:cNvSpPr>
                <p:nvPr/>
              </p:nvSpPr>
              <p:spPr bwMode="auto">
                <a:xfrm>
                  <a:off x="4628" y="312"/>
                  <a:ext cx="212" cy="24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4389" name="Oval 17"/>
                <p:cNvSpPr>
                  <a:spLocks noChangeArrowheads="1"/>
                </p:cNvSpPr>
                <p:nvPr/>
              </p:nvSpPr>
              <p:spPr bwMode="auto">
                <a:xfrm>
                  <a:off x="3869" y="988"/>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D</a:t>
                  </a:r>
                </a:p>
              </p:txBody>
            </p:sp>
            <p:sp>
              <p:nvSpPr>
                <p:cNvPr id="14390" name="Oval 18"/>
                <p:cNvSpPr>
                  <a:spLocks noChangeArrowheads="1"/>
                </p:cNvSpPr>
                <p:nvPr/>
              </p:nvSpPr>
              <p:spPr bwMode="auto">
                <a:xfrm>
                  <a:off x="4275" y="994"/>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E</a:t>
                  </a:r>
                </a:p>
              </p:txBody>
            </p:sp>
            <p:sp>
              <p:nvSpPr>
                <p:cNvPr id="14391" name="Line 19"/>
                <p:cNvSpPr>
                  <a:spLocks noChangeShapeType="1"/>
                </p:cNvSpPr>
                <p:nvPr/>
              </p:nvSpPr>
              <p:spPr bwMode="auto">
                <a:xfrm flipH="1">
                  <a:off x="3998" y="739"/>
                  <a:ext cx="148" cy="24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4392" name="Line 20"/>
                <p:cNvSpPr>
                  <a:spLocks noChangeShapeType="1"/>
                </p:cNvSpPr>
                <p:nvPr/>
              </p:nvSpPr>
              <p:spPr bwMode="auto">
                <a:xfrm>
                  <a:off x="4262" y="754"/>
                  <a:ext cx="113"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4393" name="Line 21"/>
                <p:cNvSpPr>
                  <a:spLocks noChangeShapeType="1"/>
                </p:cNvSpPr>
                <p:nvPr/>
              </p:nvSpPr>
              <p:spPr bwMode="auto">
                <a:xfrm>
                  <a:off x="4957" y="730"/>
                  <a:ext cx="211" cy="24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4394" name="Line 22"/>
                <p:cNvSpPr>
                  <a:spLocks noChangeShapeType="1"/>
                </p:cNvSpPr>
                <p:nvPr/>
              </p:nvSpPr>
              <p:spPr bwMode="auto">
                <a:xfrm flipH="1">
                  <a:off x="4752" y="768"/>
                  <a:ext cx="96"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grpSp>
          <p:nvGrpSpPr>
            <p:cNvPr id="14342" name="Group 23"/>
            <p:cNvGrpSpPr>
              <a:grpSpLocks/>
            </p:cNvGrpSpPr>
            <p:nvPr/>
          </p:nvGrpSpPr>
          <p:grpSpPr bwMode="auto">
            <a:xfrm>
              <a:off x="2329" y="2253"/>
              <a:ext cx="1685" cy="1404"/>
              <a:chOff x="2329" y="2115"/>
              <a:chExt cx="1685" cy="1404"/>
            </a:xfrm>
          </p:grpSpPr>
          <p:grpSp>
            <p:nvGrpSpPr>
              <p:cNvPr id="14361" name="Group 24"/>
              <p:cNvGrpSpPr>
                <a:grpSpLocks/>
              </p:cNvGrpSpPr>
              <p:nvPr/>
            </p:nvGrpSpPr>
            <p:grpSpPr bwMode="auto">
              <a:xfrm>
                <a:off x="2345" y="2115"/>
                <a:ext cx="1529" cy="1104"/>
                <a:chOff x="3765" y="1538"/>
                <a:chExt cx="1529" cy="1104"/>
              </a:xfrm>
            </p:grpSpPr>
            <p:sp>
              <p:nvSpPr>
                <p:cNvPr id="14363" name="Oval 25"/>
                <p:cNvSpPr>
                  <a:spLocks noChangeArrowheads="1"/>
                </p:cNvSpPr>
                <p:nvPr/>
              </p:nvSpPr>
              <p:spPr bwMode="auto">
                <a:xfrm>
                  <a:off x="5062" y="2387"/>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F</a:t>
                  </a:r>
                </a:p>
              </p:txBody>
            </p:sp>
            <p:sp>
              <p:nvSpPr>
                <p:cNvPr id="14364" name="Oval 26"/>
                <p:cNvSpPr>
                  <a:spLocks noChangeArrowheads="1"/>
                </p:cNvSpPr>
                <p:nvPr/>
              </p:nvSpPr>
              <p:spPr bwMode="auto">
                <a:xfrm>
                  <a:off x="4584" y="2409"/>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G</a:t>
                  </a:r>
                </a:p>
              </p:txBody>
            </p:sp>
            <p:sp>
              <p:nvSpPr>
                <p:cNvPr id="14365" name="Oval 27"/>
                <p:cNvSpPr>
                  <a:spLocks noChangeArrowheads="1"/>
                </p:cNvSpPr>
                <p:nvPr/>
              </p:nvSpPr>
              <p:spPr bwMode="auto">
                <a:xfrm>
                  <a:off x="4371" y="1538"/>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R</a:t>
                  </a:r>
                </a:p>
              </p:txBody>
            </p:sp>
            <p:sp>
              <p:nvSpPr>
                <p:cNvPr id="14366" name="Oval 28"/>
                <p:cNvSpPr>
                  <a:spLocks noChangeArrowheads="1"/>
                </p:cNvSpPr>
                <p:nvPr/>
              </p:nvSpPr>
              <p:spPr bwMode="auto">
                <a:xfrm>
                  <a:off x="4011" y="1972"/>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A</a:t>
                  </a:r>
                </a:p>
              </p:txBody>
            </p:sp>
            <p:sp>
              <p:nvSpPr>
                <p:cNvPr id="14367" name="Oval 29"/>
                <p:cNvSpPr>
                  <a:spLocks noChangeArrowheads="1"/>
                </p:cNvSpPr>
                <p:nvPr/>
              </p:nvSpPr>
              <p:spPr bwMode="auto">
                <a:xfrm>
                  <a:off x="4373" y="1972"/>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B</a:t>
                  </a:r>
                </a:p>
              </p:txBody>
            </p:sp>
            <p:sp>
              <p:nvSpPr>
                <p:cNvPr id="14368" name="Oval 30"/>
                <p:cNvSpPr>
                  <a:spLocks noChangeArrowheads="1"/>
                </p:cNvSpPr>
                <p:nvPr/>
              </p:nvSpPr>
              <p:spPr bwMode="auto">
                <a:xfrm>
                  <a:off x="4741" y="1963"/>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C</a:t>
                  </a:r>
                </a:p>
              </p:txBody>
            </p:sp>
            <p:sp>
              <p:nvSpPr>
                <p:cNvPr id="14369" name="Line 31"/>
                <p:cNvSpPr>
                  <a:spLocks noChangeShapeType="1"/>
                </p:cNvSpPr>
                <p:nvPr/>
              </p:nvSpPr>
              <p:spPr bwMode="auto">
                <a:xfrm flipH="1">
                  <a:off x="4160" y="1712"/>
                  <a:ext cx="227"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4370" name="Oval 32"/>
                <p:cNvSpPr>
                  <a:spLocks noChangeArrowheads="1"/>
                </p:cNvSpPr>
                <p:nvPr/>
              </p:nvSpPr>
              <p:spPr bwMode="auto">
                <a:xfrm>
                  <a:off x="3765" y="2421"/>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D</a:t>
                  </a:r>
                </a:p>
              </p:txBody>
            </p:sp>
            <p:sp>
              <p:nvSpPr>
                <p:cNvPr id="14371" name="Oval 33"/>
                <p:cNvSpPr>
                  <a:spLocks noChangeArrowheads="1"/>
                </p:cNvSpPr>
                <p:nvPr/>
              </p:nvSpPr>
              <p:spPr bwMode="auto">
                <a:xfrm>
                  <a:off x="4187" y="2419"/>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E</a:t>
                  </a:r>
                </a:p>
              </p:txBody>
            </p:sp>
            <p:sp>
              <p:nvSpPr>
                <p:cNvPr id="14372" name="Line 34"/>
                <p:cNvSpPr>
                  <a:spLocks noChangeShapeType="1"/>
                </p:cNvSpPr>
                <p:nvPr/>
              </p:nvSpPr>
              <p:spPr bwMode="auto">
                <a:xfrm flipH="1">
                  <a:off x="3894" y="2172"/>
                  <a:ext cx="148" cy="24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4373" name="Line 35"/>
                <p:cNvSpPr>
                  <a:spLocks noChangeShapeType="1"/>
                </p:cNvSpPr>
                <p:nvPr/>
              </p:nvSpPr>
              <p:spPr bwMode="auto">
                <a:xfrm flipH="1">
                  <a:off x="4704" y="2185"/>
                  <a:ext cx="136"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4374" name="Line 36"/>
                <p:cNvSpPr>
                  <a:spLocks noChangeShapeType="1"/>
                </p:cNvSpPr>
                <p:nvPr/>
              </p:nvSpPr>
              <p:spPr bwMode="auto">
                <a:xfrm>
                  <a:off x="4232" y="2096"/>
                  <a:ext cx="144" cy="0"/>
                </a:xfrm>
                <a:prstGeom prst="line">
                  <a:avLst/>
                </a:prstGeom>
                <a:noFill/>
                <a:ln w="19050">
                  <a:solidFill>
                    <a:schemeClr val="tx1"/>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4375" name="Line 37"/>
                <p:cNvSpPr>
                  <a:spLocks noChangeShapeType="1"/>
                </p:cNvSpPr>
                <p:nvPr/>
              </p:nvSpPr>
              <p:spPr bwMode="auto">
                <a:xfrm>
                  <a:off x="4616" y="2096"/>
                  <a:ext cx="127" cy="0"/>
                </a:xfrm>
                <a:prstGeom prst="line">
                  <a:avLst/>
                </a:prstGeom>
                <a:noFill/>
                <a:ln w="19050">
                  <a:solidFill>
                    <a:schemeClr val="tx1"/>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4376" name="Line 38"/>
                <p:cNvSpPr>
                  <a:spLocks noChangeShapeType="1"/>
                </p:cNvSpPr>
                <p:nvPr/>
              </p:nvSpPr>
              <p:spPr bwMode="auto">
                <a:xfrm>
                  <a:off x="3992" y="2536"/>
                  <a:ext cx="192" cy="0"/>
                </a:xfrm>
                <a:prstGeom prst="line">
                  <a:avLst/>
                </a:prstGeom>
                <a:noFill/>
                <a:ln w="19050">
                  <a:solidFill>
                    <a:schemeClr val="tx1"/>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4377" name="Line 39"/>
                <p:cNvSpPr>
                  <a:spLocks noChangeShapeType="1"/>
                </p:cNvSpPr>
                <p:nvPr/>
              </p:nvSpPr>
              <p:spPr bwMode="auto">
                <a:xfrm>
                  <a:off x="4816" y="2496"/>
                  <a:ext cx="240" cy="0"/>
                </a:xfrm>
                <a:prstGeom prst="line">
                  <a:avLst/>
                </a:prstGeom>
                <a:noFill/>
                <a:ln w="19050">
                  <a:solidFill>
                    <a:schemeClr val="tx1"/>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sp>
            <p:nvSpPr>
              <p:cNvPr id="14362" name="Rectangle 40"/>
              <p:cNvSpPr>
                <a:spLocks noChangeArrowheads="1"/>
              </p:cNvSpPr>
              <p:nvPr/>
            </p:nvSpPr>
            <p:spPr bwMode="auto">
              <a:xfrm>
                <a:off x="2329" y="3315"/>
                <a:ext cx="1685" cy="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(b)  </a:t>
                </a:r>
                <a:r>
                  <a:rPr lang="zh-CN" altLang="en-US" sz="2000" b="1"/>
                  <a:t>加虚线</a:t>
                </a:r>
                <a:r>
                  <a:rPr lang="zh-CN" altLang="en-US" sz="2000" b="1">
                    <a:latin typeface="宋体" pitchFamily="2" charset="-122"/>
                  </a:rPr>
                  <a:t>，</a:t>
                </a:r>
                <a:r>
                  <a:rPr lang="zh-CN" altLang="en-US" sz="2000" b="1"/>
                  <a:t>去连线后</a:t>
                </a:r>
                <a:r>
                  <a:rPr lang="zh-CN" altLang="en-US" sz="2000"/>
                  <a:t> </a:t>
                </a:r>
              </a:p>
            </p:txBody>
          </p:sp>
        </p:grpSp>
        <p:grpSp>
          <p:nvGrpSpPr>
            <p:cNvPr id="14343" name="Group 41"/>
            <p:cNvGrpSpPr>
              <a:grpSpLocks/>
            </p:cNvGrpSpPr>
            <p:nvPr/>
          </p:nvGrpSpPr>
          <p:grpSpPr bwMode="auto">
            <a:xfrm>
              <a:off x="4105" y="1340"/>
              <a:ext cx="1528" cy="2408"/>
              <a:chOff x="4105" y="1340"/>
              <a:chExt cx="1528" cy="2408"/>
            </a:xfrm>
          </p:grpSpPr>
          <p:sp>
            <p:nvSpPr>
              <p:cNvPr id="14344" name="Rectangle 42"/>
              <p:cNvSpPr>
                <a:spLocks noChangeArrowheads="1"/>
              </p:cNvSpPr>
              <p:nvPr/>
            </p:nvSpPr>
            <p:spPr bwMode="auto">
              <a:xfrm>
                <a:off x="4105" y="3521"/>
                <a:ext cx="1528"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(C)   </a:t>
                </a:r>
                <a:r>
                  <a:rPr lang="zh-CN" altLang="en-US" sz="2000" b="1"/>
                  <a:t>转换后的二叉树</a:t>
                </a:r>
              </a:p>
            </p:txBody>
          </p:sp>
          <p:grpSp>
            <p:nvGrpSpPr>
              <p:cNvPr id="14345" name="Group 43"/>
              <p:cNvGrpSpPr>
                <a:grpSpLocks/>
              </p:cNvGrpSpPr>
              <p:nvPr/>
            </p:nvGrpSpPr>
            <p:grpSpPr bwMode="auto">
              <a:xfrm>
                <a:off x="4497" y="1340"/>
                <a:ext cx="1105" cy="2159"/>
                <a:chOff x="4288" y="1340"/>
                <a:chExt cx="1105" cy="2159"/>
              </a:xfrm>
            </p:grpSpPr>
            <p:sp>
              <p:nvSpPr>
                <p:cNvPr id="14346" name="Oval 44"/>
                <p:cNvSpPr>
                  <a:spLocks noChangeArrowheads="1"/>
                </p:cNvSpPr>
                <p:nvPr/>
              </p:nvSpPr>
              <p:spPr bwMode="auto">
                <a:xfrm>
                  <a:off x="5161" y="3278"/>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F</a:t>
                  </a:r>
                </a:p>
              </p:txBody>
            </p:sp>
            <p:sp>
              <p:nvSpPr>
                <p:cNvPr id="14347" name="Oval 45"/>
                <p:cNvSpPr>
                  <a:spLocks noChangeArrowheads="1"/>
                </p:cNvSpPr>
                <p:nvPr/>
              </p:nvSpPr>
              <p:spPr bwMode="auto">
                <a:xfrm>
                  <a:off x="4913" y="2894"/>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G</a:t>
                  </a:r>
                </a:p>
              </p:txBody>
            </p:sp>
            <p:sp>
              <p:nvSpPr>
                <p:cNvPr id="14348" name="Oval 46"/>
                <p:cNvSpPr>
                  <a:spLocks noChangeArrowheads="1"/>
                </p:cNvSpPr>
                <p:nvPr/>
              </p:nvSpPr>
              <p:spPr bwMode="auto">
                <a:xfrm>
                  <a:off x="4774" y="1340"/>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R</a:t>
                  </a:r>
                </a:p>
              </p:txBody>
            </p:sp>
            <p:sp>
              <p:nvSpPr>
                <p:cNvPr id="14349" name="Oval 47"/>
                <p:cNvSpPr>
                  <a:spLocks noChangeArrowheads="1"/>
                </p:cNvSpPr>
                <p:nvPr/>
              </p:nvSpPr>
              <p:spPr bwMode="auto">
                <a:xfrm>
                  <a:off x="4518" y="1702"/>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A</a:t>
                  </a:r>
                </a:p>
              </p:txBody>
            </p:sp>
            <p:sp>
              <p:nvSpPr>
                <p:cNvPr id="14350" name="Oval 48"/>
                <p:cNvSpPr>
                  <a:spLocks noChangeArrowheads="1"/>
                </p:cNvSpPr>
                <p:nvPr/>
              </p:nvSpPr>
              <p:spPr bwMode="auto">
                <a:xfrm>
                  <a:off x="5041" y="2456"/>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C</a:t>
                  </a:r>
                </a:p>
              </p:txBody>
            </p:sp>
            <p:sp>
              <p:nvSpPr>
                <p:cNvPr id="14351" name="Line 49"/>
                <p:cNvSpPr>
                  <a:spLocks noChangeShapeType="1"/>
                </p:cNvSpPr>
                <p:nvPr/>
              </p:nvSpPr>
              <p:spPr bwMode="auto">
                <a:xfrm flipH="1">
                  <a:off x="4678" y="1533"/>
                  <a:ext cx="141" cy="16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4352" name="Oval 50"/>
                <p:cNvSpPr>
                  <a:spLocks noChangeArrowheads="1"/>
                </p:cNvSpPr>
                <p:nvPr/>
              </p:nvSpPr>
              <p:spPr bwMode="auto">
                <a:xfrm>
                  <a:off x="4288" y="2087"/>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D</a:t>
                  </a:r>
                </a:p>
              </p:txBody>
            </p:sp>
            <p:sp>
              <p:nvSpPr>
                <p:cNvPr id="14353" name="Oval 51"/>
                <p:cNvSpPr>
                  <a:spLocks noChangeArrowheads="1"/>
                </p:cNvSpPr>
                <p:nvPr/>
              </p:nvSpPr>
              <p:spPr bwMode="auto">
                <a:xfrm>
                  <a:off x="4790" y="2075"/>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B</a:t>
                  </a:r>
                </a:p>
              </p:txBody>
            </p:sp>
            <p:sp>
              <p:nvSpPr>
                <p:cNvPr id="14354" name="Line 52"/>
                <p:cNvSpPr>
                  <a:spLocks noChangeShapeType="1"/>
                </p:cNvSpPr>
                <p:nvPr/>
              </p:nvSpPr>
              <p:spPr bwMode="auto">
                <a:xfrm flipH="1">
                  <a:off x="4454" y="1910"/>
                  <a:ext cx="122" cy="183"/>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4355" name="Line 53"/>
                <p:cNvSpPr>
                  <a:spLocks noChangeShapeType="1"/>
                </p:cNvSpPr>
                <p:nvPr/>
              </p:nvSpPr>
              <p:spPr bwMode="auto">
                <a:xfrm flipH="1">
                  <a:off x="5025" y="2672"/>
                  <a:ext cx="91"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4356" name="Oval 54"/>
                <p:cNvSpPr>
                  <a:spLocks noChangeArrowheads="1"/>
                </p:cNvSpPr>
                <p:nvPr/>
              </p:nvSpPr>
              <p:spPr bwMode="auto">
                <a:xfrm>
                  <a:off x="4529" y="2466"/>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E</a:t>
                  </a:r>
                </a:p>
              </p:txBody>
            </p:sp>
            <p:sp>
              <p:nvSpPr>
                <p:cNvPr id="14357" name="Line 55"/>
                <p:cNvSpPr>
                  <a:spLocks noChangeShapeType="1"/>
                </p:cNvSpPr>
                <p:nvPr/>
              </p:nvSpPr>
              <p:spPr bwMode="auto">
                <a:xfrm>
                  <a:off x="4478" y="2283"/>
                  <a:ext cx="136" cy="18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4358" name="Line 56"/>
                <p:cNvSpPr>
                  <a:spLocks noChangeShapeType="1"/>
                </p:cNvSpPr>
                <p:nvPr/>
              </p:nvSpPr>
              <p:spPr bwMode="auto">
                <a:xfrm>
                  <a:off x="4694" y="1920"/>
                  <a:ext cx="136" cy="18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4359" name="Line 57"/>
                <p:cNvSpPr>
                  <a:spLocks noChangeShapeType="1"/>
                </p:cNvSpPr>
                <p:nvPr/>
              </p:nvSpPr>
              <p:spPr bwMode="auto">
                <a:xfrm>
                  <a:off x="4967" y="2280"/>
                  <a:ext cx="136" cy="18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4360" name="Line 58"/>
                <p:cNvSpPr>
                  <a:spLocks noChangeShapeType="1"/>
                </p:cNvSpPr>
                <p:nvPr/>
              </p:nvSpPr>
              <p:spPr bwMode="auto">
                <a:xfrm>
                  <a:off x="5089" y="3105"/>
                  <a:ext cx="136" cy="18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grpSp>
    </p:spTree>
    <p:extLst>
      <p:ext uri="{BB962C8B-B14F-4D97-AF65-F5344CB8AC3E}">
        <p14:creationId xmlns:p14="http://schemas.microsoft.com/office/powerpoint/2010/main" val="34070036"/>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p:cNvSpPr>
            <a:spLocks noGrp="1" noChangeArrowheads="1"/>
          </p:cNvSpPr>
          <p:nvPr>
            <p:ph type="body" idx="1"/>
          </p:nvPr>
        </p:nvSpPr>
        <p:spPr>
          <a:xfrm>
            <a:off x="0" y="260648"/>
            <a:ext cx="8839200" cy="5856287"/>
          </a:xfrm>
        </p:spPr>
        <p:txBody>
          <a:bodyPr/>
          <a:lstStyle/>
          <a:p>
            <a:pPr marL="0" indent="0" eaLnBrk="1" hangingPunct="1">
              <a:lnSpc>
                <a:spcPct val="110000"/>
              </a:lnSpc>
              <a:buFont typeface="Wingdings" pitchFamily="2" charset="2"/>
              <a:buNone/>
            </a:pPr>
            <a:r>
              <a:rPr lang="en-US" altLang="zh-CN" sz="2800" b="1" dirty="0" smtClean="0">
                <a:solidFill>
                  <a:schemeClr val="bg1"/>
                </a:solidFill>
                <a:ea typeface="宋体" pitchFamily="2" charset="-122"/>
              </a:rPr>
              <a:t>           2  </a:t>
            </a:r>
            <a:r>
              <a:rPr lang="zh-CN" altLang="en-US" sz="2800" b="1" dirty="0" smtClean="0">
                <a:solidFill>
                  <a:schemeClr val="bg1"/>
                </a:solidFill>
                <a:ea typeface="楷体_GB2312" pitchFamily="49" charset="-122"/>
              </a:rPr>
              <a:t>二叉树转换成树</a:t>
            </a:r>
          </a:p>
          <a:p>
            <a:pPr marL="0" indent="0" eaLnBrk="1" hangingPunct="1">
              <a:lnSpc>
                <a:spcPct val="110000"/>
              </a:lnSpc>
              <a:buFont typeface="Wingdings" pitchFamily="2" charset="2"/>
              <a:buNone/>
            </a:pPr>
            <a:r>
              <a:rPr lang="zh-CN" altLang="en-US" sz="2800" dirty="0" smtClean="0">
                <a:ea typeface="宋体" pitchFamily="2" charset="-122"/>
              </a:rPr>
              <a:t>        </a:t>
            </a:r>
            <a:endParaRPr lang="en-US" altLang="zh-CN" sz="2800" dirty="0" smtClean="0">
              <a:ea typeface="宋体" pitchFamily="2" charset="-122"/>
            </a:endParaRPr>
          </a:p>
          <a:p>
            <a:pPr marL="0" indent="0" eaLnBrk="1" hangingPunct="1">
              <a:lnSpc>
                <a:spcPct val="110000"/>
              </a:lnSpc>
              <a:buFont typeface="Wingdings" pitchFamily="2" charset="2"/>
              <a:buNone/>
            </a:pPr>
            <a:r>
              <a:rPr lang="en-US" altLang="zh-CN" sz="2800" b="1" dirty="0">
                <a:ea typeface="宋体" pitchFamily="2" charset="-122"/>
              </a:rPr>
              <a:t> </a:t>
            </a:r>
            <a:r>
              <a:rPr lang="en-US" altLang="zh-CN" sz="2800" b="1" dirty="0" smtClean="0">
                <a:ea typeface="宋体" pitchFamily="2" charset="-122"/>
              </a:rPr>
              <a:t>     </a:t>
            </a:r>
            <a:r>
              <a:rPr lang="zh-CN" altLang="en-US" b="1" dirty="0" smtClean="0">
                <a:ea typeface="宋体" pitchFamily="2" charset="-122"/>
              </a:rPr>
              <a:t>对于一棵转换后的二叉树，如何还原成原来的树</a:t>
            </a:r>
            <a:r>
              <a:rPr lang="en-US" altLang="zh-CN" b="1" dirty="0" smtClean="0">
                <a:ea typeface="宋体" pitchFamily="2" charset="-122"/>
              </a:rPr>
              <a:t>? </a:t>
            </a:r>
            <a:r>
              <a:rPr lang="zh-CN" altLang="en-US" b="1" dirty="0" smtClean="0">
                <a:ea typeface="宋体" pitchFamily="2" charset="-122"/>
              </a:rPr>
              <a:t>其步骤是：</a:t>
            </a:r>
          </a:p>
          <a:p>
            <a:pPr marL="533400" lvl="1" indent="0" eaLnBrk="1" hangingPunct="1">
              <a:lnSpc>
                <a:spcPct val="110000"/>
              </a:lnSpc>
              <a:buFontTx/>
              <a:buNone/>
            </a:pPr>
            <a:r>
              <a:rPr lang="zh-CN" altLang="en-US" sz="2400" b="1" dirty="0" smtClean="0">
                <a:ea typeface="宋体" pitchFamily="2" charset="-122"/>
              </a:rPr>
              <a:t>⑴  </a:t>
            </a:r>
            <a:r>
              <a:rPr lang="zh-CN" altLang="en-US" sz="2400" b="1" dirty="0" smtClean="0">
                <a:solidFill>
                  <a:schemeClr val="folHlink"/>
                </a:solidFill>
                <a:ea typeface="宋体" pitchFamily="2" charset="-122"/>
              </a:rPr>
              <a:t>加虚线</a:t>
            </a:r>
            <a:r>
              <a:rPr lang="zh-CN" altLang="en-US" sz="2400" b="1" dirty="0" smtClean="0">
                <a:ea typeface="宋体" pitchFamily="2" charset="-122"/>
              </a:rPr>
              <a:t>。若某结点</a:t>
            </a:r>
            <a:r>
              <a:rPr lang="en-US" altLang="zh-CN" sz="2400" b="1" dirty="0" smtClean="0">
                <a:ea typeface="宋体" pitchFamily="2" charset="-122"/>
              </a:rPr>
              <a:t>i</a:t>
            </a:r>
            <a:r>
              <a:rPr lang="zh-CN" altLang="en-US" sz="2400" b="1" dirty="0" smtClean="0">
                <a:ea typeface="宋体" pitchFamily="2" charset="-122"/>
              </a:rPr>
              <a:t>是其父结点的左子树的根结点，则将该结点</a:t>
            </a:r>
            <a:r>
              <a:rPr lang="en-US" altLang="zh-CN" sz="2400" b="1" dirty="0" smtClean="0">
                <a:ea typeface="宋体" pitchFamily="2" charset="-122"/>
              </a:rPr>
              <a:t>i</a:t>
            </a:r>
            <a:r>
              <a:rPr lang="zh-CN" altLang="en-US" sz="2400" b="1" dirty="0" smtClean="0">
                <a:ea typeface="宋体" pitchFamily="2" charset="-122"/>
              </a:rPr>
              <a:t>的右子结点以及沿右子链不断地搜索所有的右子结点，将所有这些右子结点与</a:t>
            </a:r>
            <a:r>
              <a:rPr lang="en-US" altLang="zh-CN" sz="2400" b="1" dirty="0" smtClean="0">
                <a:ea typeface="宋体" pitchFamily="2" charset="-122"/>
              </a:rPr>
              <a:t>i</a:t>
            </a:r>
            <a:r>
              <a:rPr lang="zh-CN" altLang="en-US" sz="2400" b="1" dirty="0" smtClean="0">
                <a:ea typeface="宋体" pitchFamily="2" charset="-122"/>
              </a:rPr>
              <a:t>结点的父结点之间加虚线相连，</a:t>
            </a:r>
            <a:r>
              <a:rPr lang="zh-CN" altLang="en-US" sz="2400" b="1" dirty="0" smtClean="0">
                <a:latin typeface="宋体" pitchFamily="2" charset="-122"/>
                <a:ea typeface="宋体" pitchFamily="2" charset="-122"/>
              </a:rPr>
              <a:t>如图</a:t>
            </a:r>
            <a:r>
              <a:rPr lang="en-US" altLang="zh-CN" sz="2400" b="1" dirty="0" smtClean="0">
                <a:ea typeface="宋体" pitchFamily="2" charset="-122"/>
              </a:rPr>
              <a:t> (a)</a:t>
            </a:r>
            <a:r>
              <a:rPr lang="zh-CN" altLang="en-US" sz="2400" b="1" dirty="0" smtClean="0">
                <a:ea typeface="宋体" pitchFamily="2" charset="-122"/>
              </a:rPr>
              <a:t>所示</a:t>
            </a:r>
            <a:r>
              <a:rPr lang="zh-CN" altLang="en-US" sz="2400" b="1" dirty="0" smtClean="0">
                <a:latin typeface="宋体" pitchFamily="2" charset="-122"/>
                <a:ea typeface="宋体" pitchFamily="2" charset="-122"/>
              </a:rPr>
              <a:t>。</a:t>
            </a:r>
          </a:p>
          <a:p>
            <a:pPr marL="533400" lvl="1" indent="0" eaLnBrk="1" hangingPunct="1">
              <a:lnSpc>
                <a:spcPct val="110000"/>
              </a:lnSpc>
              <a:buFontTx/>
              <a:buNone/>
            </a:pPr>
            <a:r>
              <a:rPr lang="zh-CN" altLang="en-US" sz="2400" b="1" dirty="0" smtClean="0">
                <a:ea typeface="宋体" pitchFamily="2" charset="-122"/>
              </a:rPr>
              <a:t>⑵  </a:t>
            </a:r>
            <a:r>
              <a:rPr lang="zh-CN" altLang="en-US" sz="2400" b="1" dirty="0" smtClean="0">
                <a:solidFill>
                  <a:schemeClr val="folHlink"/>
                </a:solidFill>
                <a:ea typeface="宋体" pitchFamily="2" charset="-122"/>
              </a:rPr>
              <a:t>去连线</a:t>
            </a:r>
            <a:r>
              <a:rPr lang="zh-CN" altLang="en-US" sz="2400" b="1" dirty="0" smtClean="0">
                <a:ea typeface="宋体" pitchFamily="2" charset="-122"/>
              </a:rPr>
              <a:t>。去掉二叉树中所有父结点与其右子结点之间的连线，</a:t>
            </a:r>
            <a:r>
              <a:rPr lang="zh-CN" altLang="en-US" sz="2400" b="1" dirty="0" smtClean="0">
                <a:latin typeface="宋体" pitchFamily="2" charset="-122"/>
                <a:ea typeface="宋体" pitchFamily="2" charset="-122"/>
              </a:rPr>
              <a:t>如图</a:t>
            </a:r>
            <a:r>
              <a:rPr lang="en-US" altLang="zh-CN" sz="2400" b="1" dirty="0" smtClean="0">
                <a:ea typeface="宋体" pitchFamily="2" charset="-122"/>
              </a:rPr>
              <a:t> (b)</a:t>
            </a:r>
            <a:r>
              <a:rPr lang="zh-CN" altLang="en-US" sz="2400" b="1" dirty="0" smtClean="0">
                <a:ea typeface="宋体" pitchFamily="2" charset="-122"/>
              </a:rPr>
              <a:t>所示</a:t>
            </a:r>
            <a:r>
              <a:rPr lang="zh-CN" altLang="en-US" sz="2400" b="1" dirty="0" smtClean="0">
                <a:latin typeface="宋体" pitchFamily="2" charset="-122"/>
                <a:ea typeface="宋体" pitchFamily="2" charset="-122"/>
              </a:rPr>
              <a:t>。</a:t>
            </a:r>
            <a:endParaRPr lang="zh-CN" altLang="en-US" sz="2400" b="1" dirty="0" smtClean="0">
              <a:ea typeface="宋体" pitchFamily="2" charset="-122"/>
            </a:endParaRPr>
          </a:p>
          <a:p>
            <a:pPr marL="533400" lvl="1" indent="0" eaLnBrk="1" hangingPunct="1">
              <a:lnSpc>
                <a:spcPct val="110000"/>
              </a:lnSpc>
              <a:buFontTx/>
              <a:buNone/>
            </a:pPr>
            <a:r>
              <a:rPr lang="zh-CN" altLang="en-US" sz="2400" b="1" dirty="0" smtClean="0">
                <a:ea typeface="宋体" pitchFamily="2" charset="-122"/>
              </a:rPr>
              <a:t>⑶  </a:t>
            </a:r>
            <a:r>
              <a:rPr lang="zh-CN" altLang="en-US" sz="2400" b="1" dirty="0" smtClean="0">
                <a:solidFill>
                  <a:schemeClr val="folHlink"/>
                </a:solidFill>
                <a:ea typeface="宋体" pitchFamily="2" charset="-122"/>
              </a:rPr>
              <a:t>规整化</a:t>
            </a:r>
            <a:r>
              <a:rPr lang="zh-CN" altLang="en-US" sz="2400" b="1" dirty="0" smtClean="0">
                <a:ea typeface="宋体" pitchFamily="2" charset="-122"/>
              </a:rPr>
              <a:t>。将图中各结点按层次排列且将所有的虚线变成实线，</a:t>
            </a:r>
            <a:r>
              <a:rPr lang="zh-CN" altLang="en-US" sz="2400" b="1" dirty="0" smtClean="0">
                <a:latin typeface="宋体" pitchFamily="2" charset="-122"/>
                <a:ea typeface="宋体" pitchFamily="2" charset="-122"/>
              </a:rPr>
              <a:t>如图</a:t>
            </a:r>
            <a:r>
              <a:rPr lang="en-US" altLang="zh-CN" sz="2400" b="1" dirty="0" smtClean="0">
                <a:ea typeface="宋体" pitchFamily="2" charset="-122"/>
              </a:rPr>
              <a:t> (c)</a:t>
            </a:r>
            <a:r>
              <a:rPr lang="zh-CN" altLang="en-US" sz="2400" b="1" dirty="0" smtClean="0">
                <a:ea typeface="宋体" pitchFamily="2" charset="-122"/>
              </a:rPr>
              <a:t>所示。</a:t>
            </a:r>
          </a:p>
        </p:txBody>
      </p:sp>
    </p:spTree>
    <p:extLst>
      <p:ext uri="{BB962C8B-B14F-4D97-AF65-F5344CB8AC3E}">
        <p14:creationId xmlns:p14="http://schemas.microsoft.com/office/powerpoint/2010/main" val="2610772538"/>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386" name="Group 2"/>
          <p:cNvGrpSpPr>
            <a:grpSpLocks/>
          </p:cNvGrpSpPr>
          <p:nvPr/>
        </p:nvGrpSpPr>
        <p:grpSpPr bwMode="auto">
          <a:xfrm>
            <a:off x="914400" y="1664494"/>
            <a:ext cx="7467600" cy="4551362"/>
            <a:chOff x="144" y="1200"/>
            <a:chExt cx="4704" cy="2867"/>
          </a:xfrm>
        </p:grpSpPr>
        <p:sp>
          <p:nvSpPr>
            <p:cNvPr id="16387" name="Rectangle 3"/>
            <p:cNvSpPr>
              <a:spLocks noChangeArrowheads="1"/>
            </p:cNvSpPr>
            <p:nvPr/>
          </p:nvSpPr>
          <p:spPr bwMode="auto">
            <a:xfrm>
              <a:off x="1632" y="3840"/>
              <a:ext cx="2267"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zh-CN" altLang="en-US" sz="2000" b="1" dirty="0"/>
                <a:t>图</a:t>
              </a:r>
              <a:r>
                <a:rPr lang="en-US" altLang="zh-CN" sz="2000" b="1" dirty="0"/>
                <a:t>  </a:t>
              </a:r>
              <a:r>
                <a:rPr lang="zh-CN" altLang="en-US" sz="2000" b="1" dirty="0"/>
                <a:t>二叉树向树的转换过程</a:t>
              </a:r>
            </a:p>
          </p:txBody>
        </p:sp>
        <p:sp>
          <p:nvSpPr>
            <p:cNvPr id="16388" name="Rectangle 4"/>
            <p:cNvSpPr>
              <a:spLocks noChangeArrowheads="1"/>
            </p:cNvSpPr>
            <p:nvPr/>
          </p:nvSpPr>
          <p:spPr bwMode="auto">
            <a:xfrm>
              <a:off x="3600" y="2736"/>
              <a:ext cx="1247"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(C)   </a:t>
              </a:r>
              <a:r>
                <a:rPr lang="zh-CN" altLang="en-US" sz="2000" b="1"/>
                <a:t>还原后的树</a:t>
              </a:r>
            </a:p>
          </p:txBody>
        </p:sp>
        <p:grpSp>
          <p:nvGrpSpPr>
            <p:cNvPr id="16389" name="Group 5"/>
            <p:cNvGrpSpPr>
              <a:grpSpLocks/>
            </p:cNvGrpSpPr>
            <p:nvPr/>
          </p:nvGrpSpPr>
          <p:grpSpPr bwMode="auto">
            <a:xfrm>
              <a:off x="3407" y="1538"/>
              <a:ext cx="1441" cy="1102"/>
              <a:chOff x="3869" y="113"/>
              <a:chExt cx="1441" cy="1102"/>
            </a:xfrm>
          </p:grpSpPr>
          <p:sp>
            <p:nvSpPr>
              <p:cNvPr id="16430" name="Oval 6"/>
              <p:cNvSpPr>
                <a:spLocks noChangeArrowheads="1"/>
              </p:cNvSpPr>
              <p:nvPr/>
            </p:nvSpPr>
            <p:spPr bwMode="auto">
              <a:xfrm>
                <a:off x="5078" y="970"/>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F</a:t>
                </a:r>
              </a:p>
            </p:txBody>
          </p:sp>
          <p:sp>
            <p:nvSpPr>
              <p:cNvPr id="16431" name="Oval 7"/>
              <p:cNvSpPr>
                <a:spLocks noChangeArrowheads="1"/>
              </p:cNvSpPr>
              <p:nvPr/>
            </p:nvSpPr>
            <p:spPr bwMode="auto">
              <a:xfrm>
                <a:off x="4640" y="984"/>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G</a:t>
                </a:r>
              </a:p>
            </p:txBody>
          </p:sp>
          <p:sp>
            <p:nvSpPr>
              <p:cNvPr id="16432" name="Oval 8"/>
              <p:cNvSpPr>
                <a:spLocks noChangeArrowheads="1"/>
              </p:cNvSpPr>
              <p:nvPr/>
            </p:nvSpPr>
            <p:spPr bwMode="auto">
              <a:xfrm>
                <a:off x="4427" y="113"/>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R</a:t>
                </a:r>
              </a:p>
            </p:txBody>
          </p:sp>
          <p:sp>
            <p:nvSpPr>
              <p:cNvPr id="16433" name="Oval 9"/>
              <p:cNvSpPr>
                <a:spLocks noChangeArrowheads="1"/>
              </p:cNvSpPr>
              <p:nvPr/>
            </p:nvSpPr>
            <p:spPr bwMode="auto">
              <a:xfrm>
                <a:off x="4099" y="539"/>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A</a:t>
                </a:r>
              </a:p>
            </p:txBody>
          </p:sp>
          <p:sp>
            <p:nvSpPr>
              <p:cNvPr id="16434" name="Oval 10"/>
              <p:cNvSpPr>
                <a:spLocks noChangeArrowheads="1"/>
              </p:cNvSpPr>
              <p:nvPr/>
            </p:nvSpPr>
            <p:spPr bwMode="auto">
              <a:xfrm>
                <a:off x="4405" y="539"/>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B</a:t>
                </a:r>
              </a:p>
            </p:txBody>
          </p:sp>
          <p:sp>
            <p:nvSpPr>
              <p:cNvPr id="16435" name="Oval 11"/>
              <p:cNvSpPr>
                <a:spLocks noChangeArrowheads="1"/>
              </p:cNvSpPr>
              <p:nvPr/>
            </p:nvSpPr>
            <p:spPr bwMode="auto">
              <a:xfrm>
                <a:off x="4757" y="546"/>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C</a:t>
                </a:r>
              </a:p>
            </p:txBody>
          </p:sp>
          <p:sp>
            <p:nvSpPr>
              <p:cNvPr id="16436" name="Line 12"/>
              <p:cNvSpPr>
                <a:spLocks noChangeShapeType="1"/>
              </p:cNvSpPr>
              <p:nvPr/>
            </p:nvSpPr>
            <p:spPr bwMode="auto">
              <a:xfrm flipH="1">
                <a:off x="4233" y="290"/>
                <a:ext cx="212" cy="24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37" name="Line 13"/>
              <p:cNvSpPr>
                <a:spLocks noChangeShapeType="1"/>
              </p:cNvSpPr>
              <p:nvPr/>
            </p:nvSpPr>
            <p:spPr bwMode="auto">
              <a:xfrm>
                <a:off x="4531" y="326"/>
                <a:ext cx="0" cy="213"/>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38" name="Line 14"/>
              <p:cNvSpPr>
                <a:spLocks noChangeShapeType="1"/>
              </p:cNvSpPr>
              <p:nvPr/>
            </p:nvSpPr>
            <p:spPr bwMode="auto">
              <a:xfrm>
                <a:off x="4628" y="312"/>
                <a:ext cx="212" cy="24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39" name="Oval 15"/>
              <p:cNvSpPr>
                <a:spLocks noChangeArrowheads="1"/>
              </p:cNvSpPr>
              <p:nvPr/>
            </p:nvSpPr>
            <p:spPr bwMode="auto">
              <a:xfrm>
                <a:off x="3869" y="988"/>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D</a:t>
                </a:r>
              </a:p>
            </p:txBody>
          </p:sp>
          <p:sp>
            <p:nvSpPr>
              <p:cNvPr id="16440" name="Oval 16"/>
              <p:cNvSpPr>
                <a:spLocks noChangeArrowheads="1"/>
              </p:cNvSpPr>
              <p:nvPr/>
            </p:nvSpPr>
            <p:spPr bwMode="auto">
              <a:xfrm>
                <a:off x="4275" y="994"/>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E</a:t>
                </a:r>
              </a:p>
            </p:txBody>
          </p:sp>
          <p:sp>
            <p:nvSpPr>
              <p:cNvPr id="16441" name="Line 17"/>
              <p:cNvSpPr>
                <a:spLocks noChangeShapeType="1"/>
              </p:cNvSpPr>
              <p:nvPr/>
            </p:nvSpPr>
            <p:spPr bwMode="auto">
              <a:xfrm flipH="1">
                <a:off x="3998" y="739"/>
                <a:ext cx="148" cy="24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42" name="Line 18"/>
              <p:cNvSpPr>
                <a:spLocks noChangeShapeType="1"/>
              </p:cNvSpPr>
              <p:nvPr/>
            </p:nvSpPr>
            <p:spPr bwMode="auto">
              <a:xfrm>
                <a:off x="4262" y="754"/>
                <a:ext cx="113"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43" name="Line 19"/>
              <p:cNvSpPr>
                <a:spLocks noChangeShapeType="1"/>
              </p:cNvSpPr>
              <p:nvPr/>
            </p:nvSpPr>
            <p:spPr bwMode="auto">
              <a:xfrm>
                <a:off x="4957" y="730"/>
                <a:ext cx="211" cy="24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44" name="Line 20"/>
              <p:cNvSpPr>
                <a:spLocks noChangeShapeType="1"/>
              </p:cNvSpPr>
              <p:nvPr/>
            </p:nvSpPr>
            <p:spPr bwMode="auto">
              <a:xfrm flipH="1">
                <a:off x="4752" y="768"/>
                <a:ext cx="96"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sp>
          <p:nvSpPr>
            <p:cNvPr id="16390" name="Rectangle 21"/>
            <p:cNvSpPr>
              <a:spLocks noChangeArrowheads="1"/>
            </p:cNvSpPr>
            <p:nvPr/>
          </p:nvSpPr>
          <p:spPr bwMode="auto">
            <a:xfrm>
              <a:off x="2016" y="3552"/>
              <a:ext cx="1127" cy="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(b)   </a:t>
              </a:r>
              <a:r>
                <a:rPr lang="zh-CN" altLang="en-US" sz="2000" b="1"/>
                <a:t>去连线后 </a:t>
              </a:r>
            </a:p>
          </p:txBody>
        </p:sp>
        <p:sp>
          <p:nvSpPr>
            <p:cNvPr id="16391" name="Rectangle 22"/>
            <p:cNvSpPr>
              <a:spLocks noChangeArrowheads="1"/>
            </p:cNvSpPr>
            <p:nvPr/>
          </p:nvSpPr>
          <p:spPr bwMode="auto">
            <a:xfrm>
              <a:off x="192" y="3552"/>
              <a:ext cx="1008" cy="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(a)  </a:t>
              </a:r>
              <a:r>
                <a:rPr lang="zh-CN" altLang="en-US" sz="2000" b="1"/>
                <a:t>加虚线后 </a:t>
              </a:r>
            </a:p>
          </p:txBody>
        </p:sp>
        <p:grpSp>
          <p:nvGrpSpPr>
            <p:cNvPr id="16392" name="Group 23"/>
            <p:cNvGrpSpPr>
              <a:grpSpLocks/>
            </p:cNvGrpSpPr>
            <p:nvPr/>
          </p:nvGrpSpPr>
          <p:grpSpPr bwMode="auto">
            <a:xfrm>
              <a:off x="144" y="1200"/>
              <a:ext cx="1089" cy="2312"/>
              <a:chOff x="144" y="1200"/>
              <a:chExt cx="1089" cy="2312"/>
            </a:xfrm>
          </p:grpSpPr>
          <p:grpSp>
            <p:nvGrpSpPr>
              <p:cNvPr id="16410" name="Group 24"/>
              <p:cNvGrpSpPr>
                <a:grpSpLocks/>
              </p:cNvGrpSpPr>
              <p:nvPr/>
            </p:nvGrpSpPr>
            <p:grpSpPr bwMode="auto">
              <a:xfrm>
                <a:off x="144" y="1200"/>
                <a:ext cx="1089" cy="2312"/>
                <a:chOff x="3535" y="1512"/>
                <a:chExt cx="1089" cy="2312"/>
              </a:xfrm>
            </p:grpSpPr>
            <p:sp>
              <p:nvSpPr>
                <p:cNvPr id="16415" name="Oval 25"/>
                <p:cNvSpPr>
                  <a:spLocks noChangeArrowheads="1"/>
                </p:cNvSpPr>
                <p:nvPr/>
              </p:nvSpPr>
              <p:spPr bwMode="auto">
                <a:xfrm>
                  <a:off x="4392" y="3603"/>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F</a:t>
                  </a:r>
                </a:p>
              </p:txBody>
            </p:sp>
            <p:sp>
              <p:nvSpPr>
                <p:cNvPr id="16416" name="Oval 26"/>
                <p:cNvSpPr>
                  <a:spLocks noChangeArrowheads="1"/>
                </p:cNvSpPr>
                <p:nvPr/>
              </p:nvSpPr>
              <p:spPr bwMode="auto">
                <a:xfrm>
                  <a:off x="4176" y="3195"/>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G</a:t>
                  </a:r>
                </a:p>
              </p:txBody>
            </p:sp>
            <p:sp>
              <p:nvSpPr>
                <p:cNvPr id="16417" name="Oval 27"/>
                <p:cNvSpPr>
                  <a:spLocks noChangeArrowheads="1"/>
                </p:cNvSpPr>
                <p:nvPr/>
              </p:nvSpPr>
              <p:spPr bwMode="auto">
                <a:xfrm>
                  <a:off x="4053" y="1512"/>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R</a:t>
                  </a:r>
                </a:p>
              </p:txBody>
            </p:sp>
            <p:sp>
              <p:nvSpPr>
                <p:cNvPr id="16418" name="Oval 28"/>
                <p:cNvSpPr>
                  <a:spLocks noChangeArrowheads="1"/>
                </p:cNvSpPr>
                <p:nvPr/>
              </p:nvSpPr>
              <p:spPr bwMode="auto">
                <a:xfrm>
                  <a:off x="3781" y="1914"/>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A</a:t>
                  </a:r>
                </a:p>
              </p:txBody>
            </p:sp>
            <p:sp>
              <p:nvSpPr>
                <p:cNvPr id="16419" name="Oval 29"/>
                <p:cNvSpPr>
                  <a:spLocks noChangeArrowheads="1"/>
                </p:cNvSpPr>
                <p:nvPr/>
              </p:nvSpPr>
              <p:spPr bwMode="auto">
                <a:xfrm>
                  <a:off x="4304" y="2755"/>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C</a:t>
                  </a:r>
                </a:p>
              </p:txBody>
            </p:sp>
            <p:sp>
              <p:nvSpPr>
                <p:cNvPr id="16420" name="Line 30"/>
                <p:cNvSpPr>
                  <a:spLocks noChangeShapeType="1"/>
                </p:cNvSpPr>
                <p:nvPr/>
              </p:nvSpPr>
              <p:spPr bwMode="auto">
                <a:xfrm flipH="1">
                  <a:off x="3939" y="1705"/>
                  <a:ext cx="159" cy="20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21" name="Oval 31"/>
                <p:cNvSpPr>
                  <a:spLocks noChangeArrowheads="1"/>
                </p:cNvSpPr>
                <p:nvPr/>
              </p:nvSpPr>
              <p:spPr bwMode="auto">
                <a:xfrm>
                  <a:off x="3535" y="2331"/>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D</a:t>
                  </a:r>
                </a:p>
              </p:txBody>
            </p:sp>
            <p:sp>
              <p:nvSpPr>
                <p:cNvPr id="16422" name="Oval 32"/>
                <p:cNvSpPr>
                  <a:spLocks noChangeArrowheads="1"/>
                </p:cNvSpPr>
                <p:nvPr/>
              </p:nvSpPr>
              <p:spPr bwMode="auto">
                <a:xfrm>
                  <a:off x="4053" y="2337"/>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B</a:t>
                  </a:r>
                </a:p>
              </p:txBody>
            </p:sp>
            <p:sp>
              <p:nvSpPr>
                <p:cNvPr id="16423" name="Line 33"/>
                <p:cNvSpPr>
                  <a:spLocks noChangeShapeType="1"/>
                </p:cNvSpPr>
                <p:nvPr/>
              </p:nvSpPr>
              <p:spPr bwMode="auto">
                <a:xfrm flipH="1">
                  <a:off x="3648" y="2098"/>
                  <a:ext cx="159"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24" name="Line 34"/>
                <p:cNvSpPr>
                  <a:spLocks noChangeShapeType="1"/>
                </p:cNvSpPr>
                <p:nvPr/>
              </p:nvSpPr>
              <p:spPr bwMode="auto">
                <a:xfrm>
                  <a:off x="3984" y="2113"/>
                  <a:ext cx="159"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25" name="Line 35"/>
                <p:cNvSpPr>
                  <a:spLocks noChangeShapeType="1"/>
                </p:cNvSpPr>
                <p:nvPr/>
              </p:nvSpPr>
              <p:spPr bwMode="auto">
                <a:xfrm>
                  <a:off x="4376" y="3376"/>
                  <a:ext cx="136"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26" name="Line 36"/>
                <p:cNvSpPr>
                  <a:spLocks noChangeShapeType="1"/>
                </p:cNvSpPr>
                <p:nvPr/>
              </p:nvSpPr>
              <p:spPr bwMode="auto">
                <a:xfrm flipH="1">
                  <a:off x="4288" y="2971"/>
                  <a:ext cx="91"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27" name="Line 37"/>
                <p:cNvSpPr>
                  <a:spLocks noChangeShapeType="1"/>
                </p:cNvSpPr>
                <p:nvPr/>
              </p:nvSpPr>
              <p:spPr bwMode="auto">
                <a:xfrm>
                  <a:off x="4248" y="2517"/>
                  <a:ext cx="159"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28" name="Oval 38"/>
                <p:cNvSpPr>
                  <a:spLocks noChangeArrowheads="1"/>
                </p:cNvSpPr>
                <p:nvPr/>
              </p:nvSpPr>
              <p:spPr bwMode="auto">
                <a:xfrm>
                  <a:off x="3776" y="2766"/>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E</a:t>
                  </a:r>
                </a:p>
              </p:txBody>
            </p:sp>
            <p:sp>
              <p:nvSpPr>
                <p:cNvPr id="16429" name="Line 39"/>
                <p:cNvSpPr>
                  <a:spLocks noChangeShapeType="1"/>
                </p:cNvSpPr>
                <p:nvPr/>
              </p:nvSpPr>
              <p:spPr bwMode="auto">
                <a:xfrm>
                  <a:off x="3720" y="2536"/>
                  <a:ext cx="159"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sp>
            <p:nvSpPr>
              <p:cNvPr id="16411" name="Line 40"/>
              <p:cNvSpPr>
                <a:spLocks noChangeShapeType="1"/>
              </p:cNvSpPr>
              <p:nvPr/>
            </p:nvSpPr>
            <p:spPr bwMode="auto">
              <a:xfrm flipH="1" flipV="1">
                <a:off x="768" y="1440"/>
                <a:ext cx="48" cy="576"/>
              </a:xfrm>
              <a:prstGeom prst="line">
                <a:avLst/>
              </a:prstGeom>
              <a:noFill/>
              <a:ln w="19050">
                <a:solidFill>
                  <a:schemeClr val="tx1"/>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12" name="Line 41"/>
              <p:cNvSpPr>
                <a:spLocks noChangeShapeType="1"/>
              </p:cNvSpPr>
              <p:nvPr/>
            </p:nvSpPr>
            <p:spPr bwMode="auto">
              <a:xfrm flipH="1" flipV="1">
                <a:off x="856" y="1408"/>
                <a:ext cx="240" cy="1056"/>
              </a:xfrm>
              <a:prstGeom prst="line">
                <a:avLst/>
              </a:prstGeom>
              <a:noFill/>
              <a:ln w="19050">
                <a:solidFill>
                  <a:schemeClr val="tx1"/>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13" name="Line 42"/>
              <p:cNvSpPr>
                <a:spLocks noChangeShapeType="1"/>
              </p:cNvSpPr>
              <p:nvPr/>
            </p:nvSpPr>
            <p:spPr bwMode="auto">
              <a:xfrm flipV="1">
                <a:off x="528" y="1824"/>
                <a:ext cx="0" cy="624"/>
              </a:xfrm>
              <a:prstGeom prst="line">
                <a:avLst/>
              </a:prstGeom>
              <a:noFill/>
              <a:ln w="19050">
                <a:solidFill>
                  <a:schemeClr val="tx1"/>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14" name="Line 43"/>
              <p:cNvSpPr>
                <a:spLocks noChangeShapeType="1"/>
              </p:cNvSpPr>
              <p:nvPr/>
            </p:nvSpPr>
            <p:spPr bwMode="auto">
              <a:xfrm flipH="1" flipV="1">
                <a:off x="1064" y="2656"/>
                <a:ext cx="144" cy="672"/>
              </a:xfrm>
              <a:prstGeom prst="line">
                <a:avLst/>
              </a:prstGeom>
              <a:noFill/>
              <a:ln w="19050">
                <a:solidFill>
                  <a:schemeClr val="tx1"/>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16393" name="Group 44"/>
            <p:cNvGrpSpPr>
              <a:grpSpLocks/>
            </p:cNvGrpSpPr>
            <p:nvPr/>
          </p:nvGrpSpPr>
          <p:grpSpPr bwMode="auto">
            <a:xfrm>
              <a:off x="1695" y="1200"/>
              <a:ext cx="1089" cy="2312"/>
              <a:chOff x="1695" y="1200"/>
              <a:chExt cx="1089" cy="2312"/>
            </a:xfrm>
          </p:grpSpPr>
          <p:sp>
            <p:nvSpPr>
              <p:cNvPr id="16394" name="Oval 45"/>
              <p:cNvSpPr>
                <a:spLocks noChangeArrowheads="1"/>
              </p:cNvSpPr>
              <p:nvPr/>
            </p:nvSpPr>
            <p:spPr bwMode="auto">
              <a:xfrm>
                <a:off x="2464" y="2443"/>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dirty="0"/>
                  <a:t>C</a:t>
                </a:r>
              </a:p>
            </p:txBody>
          </p:sp>
          <p:grpSp>
            <p:nvGrpSpPr>
              <p:cNvPr id="16395" name="Group 46"/>
              <p:cNvGrpSpPr>
                <a:grpSpLocks/>
              </p:cNvGrpSpPr>
              <p:nvPr/>
            </p:nvGrpSpPr>
            <p:grpSpPr bwMode="auto">
              <a:xfrm>
                <a:off x="1695" y="1200"/>
                <a:ext cx="1089" cy="2312"/>
                <a:chOff x="1695" y="1200"/>
                <a:chExt cx="1089" cy="2312"/>
              </a:xfrm>
            </p:grpSpPr>
            <p:sp>
              <p:nvSpPr>
                <p:cNvPr id="16396" name="Oval 47"/>
                <p:cNvSpPr>
                  <a:spLocks noChangeArrowheads="1"/>
                </p:cNvSpPr>
                <p:nvPr/>
              </p:nvSpPr>
              <p:spPr bwMode="auto">
                <a:xfrm>
                  <a:off x="2552" y="3291"/>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F</a:t>
                  </a:r>
                </a:p>
              </p:txBody>
            </p:sp>
            <p:sp>
              <p:nvSpPr>
                <p:cNvPr id="16397" name="Oval 48"/>
                <p:cNvSpPr>
                  <a:spLocks noChangeArrowheads="1"/>
                </p:cNvSpPr>
                <p:nvPr/>
              </p:nvSpPr>
              <p:spPr bwMode="auto">
                <a:xfrm>
                  <a:off x="2336" y="2883"/>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G</a:t>
                  </a:r>
                </a:p>
              </p:txBody>
            </p:sp>
            <p:sp>
              <p:nvSpPr>
                <p:cNvPr id="16398" name="Oval 49"/>
                <p:cNvSpPr>
                  <a:spLocks noChangeArrowheads="1"/>
                </p:cNvSpPr>
                <p:nvPr/>
              </p:nvSpPr>
              <p:spPr bwMode="auto">
                <a:xfrm>
                  <a:off x="2213" y="1200"/>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R</a:t>
                  </a:r>
                </a:p>
              </p:txBody>
            </p:sp>
            <p:sp>
              <p:nvSpPr>
                <p:cNvPr id="16399" name="Oval 50"/>
                <p:cNvSpPr>
                  <a:spLocks noChangeArrowheads="1"/>
                </p:cNvSpPr>
                <p:nvPr/>
              </p:nvSpPr>
              <p:spPr bwMode="auto">
                <a:xfrm>
                  <a:off x="1941" y="1602"/>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A</a:t>
                  </a:r>
                </a:p>
              </p:txBody>
            </p:sp>
            <p:sp>
              <p:nvSpPr>
                <p:cNvPr id="16400" name="Line 51"/>
                <p:cNvSpPr>
                  <a:spLocks noChangeShapeType="1"/>
                </p:cNvSpPr>
                <p:nvPr/>
              </p:nvSpPr>
              <p:spPr bwMode="auto">
                <a:xfrm flipH="1">
                  <a:off x="2099" y="1393"/>
                  <a:ext cx="159" cy="20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01" name="Oval 52"/>
                <p:cNvSpPr>
                  <a:spLocks noChangeArrowheads="1"/>
                </p:cNvSpPr>
                <p:nvPr/>
              </p:nvSpPr>
              <p:spPr bwMode="auto">
                <a:xfrm>
                  <a:off x="1695" y="2019"/>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D</a:t>
                  </a:r>
                </a:p>
              </p:txBody>
            </p:sp>
            <p:sp>
              <p:nvSpPr>
                <p:cNvPr id="16402" name="Oval 53"/>
                <p:cNvSpPr>
                  <a:spLocks noChangeArrowheads="1"/>
                </p:cNvSpPr>
                <p:nvPr/>
              </p:nvSpPr>
              <p:spPr bwMode="auto">
                <a:xfrm>
                  <a:off x="2213" y="2017"/>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B</a:t>
                  </a:r>
                </a:p>
              </p:txBody>
            </p:sp>
            <p:sp>
              <p:nvSpPr>
                <p:cNvPr id="16403" name="Line 54"/>
                <p:cNvSpPr>
                  <a:spLocks noChangeShapeType="1"/>
                </p:cNvSpPr>
                <p:nvPr/>
              </p:nvSpPr>
              <p:spPr bwMode="auto">
                <a:xfrm flipH="1">
                  <a:off x="1808" y="1786"/>
                  <a:ext cx="159"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04" name="Line 55"/>
                <p:cNvSpPr>
                  <a:spLocks noChangeShapeType="1"/>
                </p:cNvSpPr>
                <p:nvPr/>
              </p:nvSpPr>
              <p:spPr bwMode="auto">
                <a:xfrm flipH="1">
                  <a:off x="2448" y="2659"/>
                  <a:ext cx="91"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05" name="Oval 56"/>
                <p:cNvSpPr>
                  <a:spLocks noChangeArrowheads="1"/>
                </p:cNvSpPr>
                <p:nvPr/>
              </p:nvSpPr>
              <p:spPr bwMode="auto">
                <a:xfrm>
                  <a:off x="1936" y="2446"/>
                  <a:ext cx="232" cy="221"/>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E</a:t>
                  </a:r>
                </a:p>
              </p:txBody>
            </p:sp>
            <p:sp>
              <p:nvSpPr>
                <p:cNvPr id="16406" name="Line 57"/>
                <p:cNvSpPr>
                  <a:spLocks noChangeShapeType="1"/>
                </p:cNvSpPr>
                <p:nvPr/>
              </p:nvSpPr>
              <p:spPr bwMode="auto">
                <a:xfrm flipH="1" flipV="1">
                  <a:off x="2319" y="1440"/>
                  <a:ext cx="48" cy="576"/>
                </a:xfrm>
                <a:prstGeom prst="line">
                  <a:avLst/>
                </a:prstGeom>
                <a:noFill/>
                <a:ln w="19050">
                  <a:solidFill>
                    <a:schemeClr val="tx1"/>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07" name="Line 58"/>
                <p:cNvSpPr>
                  <a:spLocks noChangeShapeType="1"/>
                </p:cNvSpPr>
                <p:nvPr/>
              </p:nvSpPr>
              <p:spPr bwMode="auto">
                <a:xfrm flipH="1" flipV="1">
                  <a:off x="2407" y="1408"/>
                  <a:ext cx="240" cy="1056"/>
                </a:xfrm>
                <a:prstGeom prst="line">
                  <a:avLst/>
                </a:prstGeom>
                <a:noFill/>
                <a:ln w="19050">
                  <a:solidFill>
                    <a:schemeClr val="tx1"/>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08" name="Line 59"/>
                <p:cNvSpPr>
                  <a:spLocks noChangeShapeType="1"/>
                </p:cNvSpPr>
                <p:nvPr/>
              </p:nvSpPr>
              <p:spPr bwMode="auto">
                <a:xfrm flipV="1">
                  <a:off x="2079" y="1824"/>
                  <a:ext cx="0" cy="624"/>
                </a:xfrm>
                <a:prstGeom prst="line">
                  <a:avLst/>
                </a:prstGeom>
                <a:noFill/>
                <a:ln w="19050">
                  <a:solidFill>
                    <a:schemeClr val="tx1"/>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6409" name="Line 60"/>
                <p:cNvSpPr>
                  <a:spLocks noChangeShapeType="1"/>
                </p:cNvSpPr>
                <p:nvPr/>
              </p:nvSpPr>
              <p:spPr bwMode="auto">
                <a:xfrm flipH="1" flipV="1">
                  <a:off x="2615" y="2656"/>
                  <a:ext cx="144" cy="672"/>
                </a:xfrm>
                <a:prstGeom prst="line">
                  <a:avLst/>
                </a:prstGeom>
                <a:noFill/>
                <a:ln w="19050">
                  <a:solidFill>
                    <a:schemeClr val="tx1"/>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grpSp>
    </p:spTree>
    <p:extLst>
      <p:ext uri="{BB962C8B-B14F-4D97-AF65-F5344CB8AC3E}">
        <p14:creationId xmlns:p14="http://schemas.microsoft.com/office/powerpoint/2010/main" val="3084225281"/>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2"/>
          <p:cNvSpPr>
            <a:spLocks noChangeArrowheads="1"/>
          </p:cNvSpPr>
          <p:nvPr/>
        </p:nvSpPr>
        <p:spPr bwMode="auto">
          <a:xfrm>
            <a:off x="152400" y="152400"/>
            <a:ext cx="8839200" cy="6229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ct val="90000"/>
              </a:lnSpc>
              <a:spcBef>
                <a:spcPct val="20000"/>
              </a:spcBef>
              <a:buClr>
                <a:schemeClr val="accent2"/>
              </a:buClr>
              <a:buSzPct val="80000"/>
              <a:buFont typeface="Wingdings" pitchFamily="2" charset="2"/>
              <a:buNone/>
            </a:pPr>
            <a:r>
              <a:rPr kumimoji="1" lang="en-US" altLang="zh-CN" b="1" dirty="0" smtClean="0">
                <a:solidFill>
                  <a:schemeClr val="bg1"/>
                </a:solidFill>
                <a:latin typeface="Times New Roman" pitchFamily="18" charset="0"/>
              </a:rPr>
              <a:t>      3  </a:t>
            </a:r>
            <a:r>
              <a:rPr kumimoji="1" lang="zh-CN" altLang="en-US" b="1" dirty="0">
                <a:solidFill>
                  <a:schemeClr val="bg1"/>
                </a:solidFill>
                <a:latin typeface="Times New Roman" pitchFamily="18" charset="0"/>
                <a:ea typeface="楷体_GB2312" pitchFamily="49" charset="-122"/>
              </a:rPr>
              <a:t>森林转换成</a:t>
            </a:r>
            <a:r>
              <a:rPr kumimoji="1" lang="zh-CN" altLang="en-US" b="1" dirty="0" smtClean="0">
                <a:solidFill>
                  <a:schemeClr val="bg1"/>
                </a:solidFill>
                <a:latin typeface="Times New Roman" pitchFamily="18" charset="0"/>
                <a:ea typeface="楷体_GB2312" pitchFamily="49" charset="-122"/>
              </a:rPr>
              <a:t>二叉树</a:t>
            </a:r>
            <a:endParaRPr kumimoji="1" lang="en-US" altLang="zh-CN" b="1" dirty="0" smtClean="0">
              <a:solidFill>
                <a:schemeClr val="bg1"/>
              </a:solidFill>
              <a:latin typeface="Times New Roman" pitchFamily="18" charset="0"/>
              <a:ea typeface="楷体_GB2312" pitchFamily="49" charset="-122"/>
            </a:endParaRPr>
          </a:p>
          <a:p>
            <a:pPr>
              <a:lnSpc>
                <a:spcPct val="90000"/>
              </a:lnSpc>
              <a:spcBef>
                <a:spcPct val="20000"/>
              </a:spcBef>
              <a:buClr>
                <a:schemeClr val="accent2"/>
              </a:buClr>
              <a:buSzPct val="80000"/>
              <a:buFont typeface="Wingdings" pitchFamily="2" charset="2"/>
              <a:buNone/>
            </a:pPr>
            <a:endParaRPr kumimoji="1" lang="zh-CN" altLang="en-US" b="1" dirty="0">
              <a:solidFill>
                <a:schemeClr val="bg1"/>
              </a:solidFill>
              <a:latin typeface="Times New Roman" pitchFamily="18" charset="0"/>
              <a:ea typeface="楷体_GB2312" pitchFamily="49" charset="-122"/>
            </a:endParaRPr>
          </a:p>
          <a:p>
            <a:pPr>
              <a:lnSpc>
                <a:spcPct val="110000"/>
              </a:lnSpc>
              <a:spcBef>
                <a:spcPct val="20000"/>
              </a:spcBef>
              <a:buClr>
                <a:schemeClr val="accent2"/>
              </a:buClr>
              <a:buSzPct val="80000"/>
              <a:buFont typeface="Wingdings" pitchFamily="2" charset="2"/>
              <a:buNone/>
            </a:pPr>
            <a:r>
              <a:rPr kumimoji="1" lang="zh-CN" altLang="en-US" sz="2800" dirty="0">
                <a:latin typeface="Times New Roman" pitchFamily="18" charset="0"/>
              </a:rPr>
              <a:t>         </a:t>
            </a:r>
            <a:r>
              <a:rPr kumimoji="1" lang="zh-CN" altLang="en-US" sz="2400" b="1" dirty="0"/>
              <a:t>当一般的树转换成二叉树后，二叉树的右子树必为空</a:t>
            </a:r>
            <a:r>
              <a:rPr kumimoji="1" lang="zh-CN" altLang="en-US" sz="2400" b="1" dirty="0">
                <a:latin typeface="宋体" pitchFamily="2" charset="-122"/>
              </a:rPr>
              <a:t>。若把森林中的第二棵树</a:t>
            </a:r>
            <a:r>
              <a:rPr kumimoji="1" lang="en-US" altLang="zh-CN" sz="2400" b="1" dirty="0">
                <a:latin typeface="宋体" pitchFamily="2" charset="-122"/>
              </a:rPr>
              <a:t>(</a:t>
            </a:r>
            <a:r>
              <a:rPr kumimoji="1" lang="zh-CN" altLang="en-US" sz="2400" b="1" dirty="0"/>
              <a:t>转换成二叉树后</a:t>
            </a:r>
            <a:r>
              <a:rPr kumimoji="1" lang="en-US" altLang="zh-CN" sz="2400" b="1" dirty="0">
                <a:latin typeface="宋体" pitchFamily="2" charset="-122"/>
              </a:rPr>
              <a:t>)</a:t>
            </a:r>
            <a:r>
              <a:rPr kumimoji="1" lang="zh-CN" altLang="en-US" sz="2400" b="1" dirty="0"/>
              <a:t>的根结点作为第一棵树</a:t>
            </a:r>
            <a:r>
              <a:rPr kumimoji="1" lang="en-US" altLang="zh-CN" sz="2400" b="1" dirty="0"/>
              <a:t>(</a:t>
            </a:r>
            <a:r>
              <a:rPr kumimoji="1" lang="zh-CN" altLang="en-US" sz="2400" b="1" dirty="0"/>
              <a:t>二叉树</a:t>
            </a:r>
            <a:r>
              <a:rPr kumimoji="1" lang="en-US" altLang="zh-CN" sz="2400" b="1" dirty="0"/>
              <a:t>)</a:t>
            </a:r>
            <a:r>
              <a:rPr kumimoji="1" lang="zh-CN" altLang="en-US" sz="2400" b="1" dirty="0"/>
              <a:t>的根结点的兄弟结点，则可导出森林转换成二叉树的转换算法如下：</a:t>
            </a:r>
          </a:p>
          <a:p>
            <a:pPr>
              <a:lnSpc>
                <a:spcPct val="110000"/>
              </a:lnSpc>
              <a:spcBef>
                <a:spcPct val="20000"/>
              </a:spcBef>
              <a:buClr>
                <a:schemeClr val="accent2"/>
              </a:buClr>
              <a:buSzPct val="80000"/>
              <a:buFont typeface="Wingdings" pitchFamily="2" charset="2"/>
              <a:buNone/>
            </a:pPr>
            <a:r>
              <a:rPr kumimoji="1" lang="zh-CN" altLang="en-US" sz="2400" b="1" dirty="0"/>
              <a:t>         设</a:t>
            </a:r>
            <a:r>
              <a:rPr kumimoji="1" lang="en-US" altLang="zh-CN" sz="2400" b="1" dirty="0"/>
              <a:t>F={T</a:t>
            </a:r>
            <a:r>
              <a:rPr kumimoji="1" lang="en-US" altLang="zh-CN" sz="2400" b="1" baseline="-18000" dirty="0"/>
              <a:t>1</a:t>
            </a:r>
            <a:r>
              <a:rPr kumimoji="1" lang="en-US" altLang="zh-CN" sz="2400" b="1" dirty="0"/>
              <a:t>, T</a:t>
            </a:r>
            <a:r>
              <a:rPr kumimoji="1" lang="en-US" altLang="zh-CN" sz="2400" b="1" baseline="-18000" dirty="0"/>
              <a:t>2</a:t>
            </a:r>
            <a:r>
              <a:rPr kumimoji="1" lang="en-US" altLang="zh-CN" sz="2400" b="1" dirty="0"/>
              <a:t>,</a:t>
            </a:r>
            <a:r>
              <a:rPr kumimoji="1" lang="en-US" altLang="zh-CN" sz="2400" b="1" dirty="0">
                <a:ea typeface="Arial Unicode MS" pitchFamily="34" charset="-122"/>
                <a:cs typeface="Arial Unicode MS" pitchFamily="34" charset="-122"/>
              </a:rPr>
              <a:t>⋯,T</a:t>
            </a:r>
            <a:r>
              <a:rPr kumimoji="1" lang="en-US" altLang="zh-CN" sz="2400" b="1" baseline="-18000" dirty="0"/>
              <a:t>n</a:t>
            </a:r>
            <a:r>
              <a:rPr kumimoji="1" lang="en-US" altLang="zh-CN" sz="2400" b="1" dirty="0"/>
              <a:t>}</a:t>
            </a:r>
            <a:r>
              <a:rPr kumimoji="1" lang="zh-CN" altLang="en-US" sz="2400" b="1" dirty="0"/>
              <a:t>是森林，则按以下规则可转换成一棵二叉树</a:t>
            </a:r>
            <a:r>
              <a:rPr kumimoji="1" lang="en-US" altLang="zh-CN" sz="2400" b="1" dirty="0"/>
              <a:t>B=(root</a:t>
            </a:r>
            <a:r>
              <a:rPr kumimoji="1" lang="zh-CN" altLang="en-US" sz="2400" b="1" dirty="0"/>
              <a:t>，</a:t>
            </a:r>
            <a:r>
              <a:rPr kumimoji="1" lang="en-US" altLang="zh-CN" sz="2400" b="1" dirty="0"/>
              <a:t>LB</a:t>
            </a:r>
            <a:r>
              <a:rPr kumimoji="1" lang="zh-CN" altLang="en-US" sz="2400" b="1" dirty="0"/>
              <a:t>，</a:t>
            </a:r>
            <a:r>
              <a:rPr kumimoji="1" lang="en-US" altLang="zh-CN" sz="2400" b="1" dirty="0"/>
              <a:t>RB)</a:t>
            </a:r>
          </a:p>
          <a:p>
            <a:pPr marL="533400" lvl="1">
              <a:lnSpc>
                <a:spcPct val="110000"/>
              </a:lnSpc>
              <a:spcBef>
                <a:spcPct val="20000"/>
              </a:spcBef>
              <a:buClr>
                <a:schemeClr val="accent2"/>
              </a:buClr>
              <a:buSzPct val="80000"/>
              <a:buFont typeface="Wingdings" pitchFamily="2" charset="2"/>
              <a:buNone/>
            </a:pPr>
            <a:r>
              <a:rPr kumimoji="1" lang="en-US" altLang="zh-CN" sz="2400" b="1" dirty="0"/>
              <a:t>①  </a:t>
            </a:r>
            <a:r>
              <a:rPr kumimoji="1" lang="zh-CN" altLang="en-US" sz="2400" b="1" dirty="0"/>
              <a:t>若</a:t>
            </a:r>
            <a:r>
              <a:rPr kumimoji="1" lang="en-US" altLang="zh-CN" sz="2400" b="1" dirty="0"/>
              <a:t>n=0</a:t>
            </a:r>
            <a:r>
              <a:rPr kumimoji="1" lang="zh-CN" altLang="en-US" sz="2400" b="1" dirty="0"/>
              <a:t>，则</a:t>
            </a:r>
            <a:r>
              <a:rPr kumimoji="1" lang="en-US" altLang="zh-CN" sz="2400" b="1" dirty="0"/>
              <a:t>B</a:t>
            </a:r>
            <a:r>
              <a:rPr kumimoji="1" lang="zh-CN" altLang="en-US" sz="2400" b="1" dirty="0"/>
              <a:t>是空树</a:t>
            </a:r>
            <a:r>
              <a:rPr kumimoji="1" lang="zh-CN" altLang="en-US" sz="2400" b="1" dirty="0">
                <a:latin typeface="宋体" pitchFamily="2" charset="-122"/>
              </a:rPr>
              <a:t>。</a:t>
            </a:r>
            <a:endParaRPr kumimoji="1" lang="zh-CN" altLang="en-US" sz="2400" b="1" dirty="0"/>
          </a:p>
          <a:p>
            <a:pPr marL="533400" lvl="1">
              <a:lnSpc>
                <a:spcPct val="110000"/>
              </a:lnSpc>
              <a:spcBef>
                <a:spcPct val="20000"/>
              </a:spcBef>
              <a:buClr>
                <a:schemeClr val="accent2"/>
              </a:buClr>
              <a:buSzPct val="80000"/>
              <a:buFont typeface="Wingdings" pitchFamily="2" charset="2"/>
              <a:buNone/>
            </a:pPr>
            <a:r>
              <a:rPr kumimoji="1" lang="zh-CN" altLang="en-US" sz="2400" b="1" dirty="0"/>
              <a:t>②  若</a:t>
            </a:r>
            <a:r>
              <a:rPr kumimoji="1" lang="en-US" altLang="zh-CN" sz="2400" b="1" dirty="0"/>
              <a:t>n&gt;0</a:t>
            </a:r>
            <a:r>
              <a:rPr kumimoji="1" lang="zh-CN" altLang="en-US" sz="2400" b="1" dirty="0"/>
              <a:t>，则二叉树</a:t>
            </a:r>
            <a:r>
              <a:rPr kumimoji="1" lang="en-US" altLang="zh-CN" sz="2400" b="1" dirty="0"/>
              <a:t>B</a:t>
            </a:r>
            <a:r>
              <a:rPr kumimoji="1" lang="zh-CN" altLang="en-US" sz="2400" b="1" dirty="0"/>
              <a:t>的根是森林</a:t>
            </a:r>
            <a:r>
              <a:rPr kumimoji="1" lang="en-US" altLang="zh-CN" sz="2400" b="1" dirty="0"/>
              <a:t>T</a:t>
            </a:r>
            <a:r>
              <a:rPr kumimoji="1" lang="en-US" altLang="zh-CN" sz="2400" b="1" baseline="-18000" dirty="0"/>
              <a:t>1</a:t>
            </a:r>
            <a:r>
              <a:rPr kumimoji="1" lang="zh-CN" altLang="en-US" sz="2400" b="1" dirty="0"/>
              <a:t>的根</a:t>
            </a:r>
            <a:r>
              <a:rPr kumimoji="1" lang="en-US" altLang="zh-CN" sz="2400" b="1" dirty="0"/>
              <a:t>root(T</a:t>
            </a:r>
            <a:r>
              <a:rPr kumimoji="1" lang="en-US" altLang="zh-CN" sz="2400" b="1" baseline="-18000" dirty="0"/>
              <a:t>1</a:t>
            </a:r>
            <a:r>
              <a:rPr kumimoji="1" lang="en-US" altLang="zh-CN" sz="2400" b="1" dirty="0"/>
              <a:t>)</a:t>
            </a:r>
            <a:r>
              <a:rPr kumimoji="1" lang="zh-CN" altLang="en-US" sz="2400" b="1" dirty="0"/>
              <a:t>，</a:t>
            </a:r>
            <a:r>
              <a:rPr kumimoji="1" lang="en-US" altLang="zh-CN" sz="2400" b="1" dirty="0"/>
              <a:t>B</a:t>
            </a:r>
            <a:r>
              <a:rPr kumimoji="1" lang="zh-CN" altLang="en-US" sz="2400" b="1" dirty="0"/>
              <a:t>的左子树</a:t>
            </a:r>
            <a:r>
              <a:rPr kumimoji="1" lang="en-US" altLang="zh-CN" sz="2400" b="1" dirty="0"/>
              <a:t>LB</a:t>
            </a:r>
            <a:r>
              <a:rPr kumimoji="1" lang="zh-CN" altLang="en-US" sz="2400" b="1" dirty="0"/>
              <a:t>是</a:t>
            </a:r>
            <a:r>
              <a:rPr kumimoji="1" lang="en-US" altLang="zh-CN" sz="2400" b="1" dirty="0"/>
              <a:t>B(T</a:t>
            </a:r>
            <a:r>
              <a:rPr kumimoji="1" lang="en-US" altLang="zh-CN" sz="2400" b="1" baseline="-18000" dirty="0"/>
              <a:t>11</a:t>
            </a:r>
            <a:r>
              <a:rPr kumimoji="1" lang="en-US" altLang="zh-CN" sz="2400" b="1" dirty="0"/>
              <a:t>,T</a:t>
            </a:r>
            <a:r>
              <a:rPr kumimoji="1" lang="en-US" altLang="zh-CN" sz="2400" b="1" baseline="-18000" dirty="0"/>
              <a:t>12</a:t>
            </a:r>
            <a:r>
              <a:rPr kumimoji="1" lang="en-US" altLang="zh-CN" sz="2400" b="1" dirty="0"/>
              <a:t>, </a:t>
            </a:r>
            <a:r>
              <a:rPr kumimoji="1" lang="en-US" altLang="zh-CN" sz="2400" b="1" dirty="0">
                <a:ea typeface="Arial Unicode MS" pitchFamily="34" charset="-122"/>
                <a:cs typeface="Arial Unicode MS" pitchFamily="34" charset="-122"/>
              </a:rPr>
              <a:t>⋯</a:t>
            </a:r>
            <a:r>
              <a:rPr kumimoji="1" lang="en-US" altLang="zh-CN" sz="2400" b="1" dirty="0"/>
              <a:t>,T</a:t>
            </a:r>
            <a:r>
              <a:rPr kumimoji="1" lang="en-US" altLang="zh-CN" sz="2400" b="1" baseline="-18000" dirty="0"/>
              <a:t>1m</a:t>
            </a:r>
            <a:r>
              <a:rPr kumimoji="1" lang="en-US" altLang="zh-CN" sz="2400" b="1" dirty="0"/>
              <a:t>) </a:t>
            </a:r>
            <a:r>
              <a:rPr kumimoji="1" lang="zh-CN" altLang="en-US" sz="2400" b="1" dirty="0"/>
              <a:t>，其中</a:t>
            </a:r>
            <a:r>
              <a:rPr kumimoji="1" lang="en-US" altLang="zh-CN" sz="2400" b="1" dirty="0"/>
              <a:t>T</a:t>
            </a:r>
            <a:r>
              <a:rPr kumimoji="1" lang="en-US" altLang="zh-CN" sz="2400" b="1" baseline="-18000" dirty="0"/>
              <a:t>11</a:t>
            </a:r>
            <a:r>
              <a:rPr kumimoji="1" lang="en-US" altLang="zh-CN" sz="2400" b="1" dirty="0"/>
              <a:t>,T</a:t>
            </a:r>
            <a:r>
              <a:rPr kumimoji="1" lang="en-US" altLang="zh-CN" sz="2400" b="1" baseline="-18000" dirty="0"/>
              <a:t>12</a:t>
            </a:r>
            <a:r>
              <a:rPr kumimoji="1" lang="en-US" altLang="zh-CN" sz="2400" b="1" dirty="0"/>
              <a:t>, </a:t>
            </a:r>
            <a:r>
              <a:rPr kumimoji="1" lang="en-US" altLang="zh-CN" sz="2400" b="1" dirty="0">
                <a:ea typeface="Arial Unicode MS" pitchFamily="34" charset="-122"/>
                <a:cs typeface="Arial Unicode MS" pitchFamily="34" charset="-122"/>
              </a:rPr>
              <a:t>⋯</a:t>
            </a:r>
            <a:r>
              <a:rPr kumimoji="1" lang="en-US" altLang="zh-CN" sz="2400" b="1" dirty="0"/>
              <a:t>,T</a:t>
            </a:r>
            <a:r>
              <a:rPr kumimoji="1" lang="en-US" altLang="zh-CN" sz="2400" b="1" baseline="-18000" dirty="0"/>
              <a:t>1m</a:t>
            </a:r>
            <a:r>
              <a:rPr kumimoji="1" lang="zh-CN" altLang="en-US" sz="2400" b="1" dirty="0"/>
              <a:t>是</a:t>
            </a:r>
            <a:r>
              <a:rPr kumimoji="1" lang="en-US" altLang="zh-CN" sz="2400" b="1" dirty="0"/>
              <a:t>T</a:t>
            </a:r>
            <a:r>
              <a:rPr kumimoji="1" lang="en-US" altLang="zh-CN" sz="2400" b="1" baseline="-18000" dirty="0"/>
              <a:t>1</a:t>
            </a:r>
            <a:r>
              <a:rPr kumimoji="1" lang="zh-CN" altLang="en-US" sz="2400" b="1" dirty="0"/>
              <a:t>的子树</a:t>
            </a:r>
            <a:r>
              <a:rPr kumimoji="1" lang="en-US" altLang="zh-CN" sz="2400" b="1" dirty="0"/>
              <a:t>(</a:t>
            </a:r>
            <a:r>
              <a:rPr kumimoji="1" lang="zh-CN" altLang="en-US" sz="2400" b="1" dirty="0"/>
              <a:t>转换后</a:t>
            </a:r>
            <a:r>
              <a:rPr kumimoji="1" lang="en-US" altLang="zh-CN" sz="2400" b="1" dirty="0"/>
              <a:t>)</a:t>
            </a:r>
            <a:r>
              <a:rPr kumimoji="1" lang="zh-CN" altLang="en-US" sz="2400" b="1" dirty="0"/>
              <a:t>，而其右子树</a:t>
            </a:r>
            <a:r>
              <a:rPr kumimoji="1" lang="en-US" altLang="zh-CN" sz="2400" b="1" dirty="0"/>
              <a:t>RB</a:t>
            </a:r>
            <a:r>
              <a:rPr kumimoji="1" lang="zh-CN" altLang="en-US" sz="2400" b="1" dirty="0"/>
              <a:t>是从森林</a:t>
            </a:r>
            <a:r>
              <a:rPr kumimoji="1" lang="en-US" altLang="zh-CN" sz="2400" b="1" dirty="0"/>
              <a:t>F’={T</a:t>
            </a:r>
            <a:r>
              <a:rPr kumimoji="1" lang="en-US" altLang="zh-CN" sz="2400" b="1" baseline="-18000" dirty="0"/>
              <a:t>2</a:t>
            </a:r>
            <a:r>
              <a:rPr kumimoji="1" lang="en-US" altLang="zh-CN" sz="2400" b="1" dirty="0"/>
              <a:t>, T</a:t>
            </a:r>
            <a:r>
              <a:rPr kumimoji="1" lang="en-US" altLang="zh-CN" sz="2400" b="1" baseline="-18000" dirty="0"/>
              <a:t>3</a:t>
            </a:r>
            <a:r>
              <a:rPr kumimoji="1" lang="en-US" altLang="zh-CN" sz="2400" b="1" dirty="0"/>
              <a:t>,</a:t>
            </a:r>
            <a:r>
              <a:rPr kumimoji="1" lang="en-US" altLang="zh-CN" sz="2400" b="1" dirty="0">
                <a:ea typeface="Arial Unicode MS" pitchFamily="34" charset="-122"/>
                <a:cs typeface="Arial Unicode MS" pitchFamily="34" charset="-122"/>
              </a:rPr>
              <a:t>⋯,T</a:t>
            </a:r>
            <a:r>
              <a:rPr kumimoji="1" lang="en-US" altLang="zh-CN" sz="2400" b="1" baseline="-18000" dirty="0"/>
              <a:t>n</a:t>
            </a:r>
            <a:r>
              <a:rPr kumimoji="1" lang="en-US" altLang="zh-CN" sz="2400" b="1" dirty="0"/>
              <a:t>}</a:t>
            </a:r>
            <a:r>
              <a:rPr kumimoji="1" lang="zh-CN" altLang="en-US" sz="2400" b="1" dirty="0"/>
              <a:t>转换而成的二叉树</a:t>
            </a:r>
            <a:r>
              <a:rPr kumimoji="1" lang="zh-CN" altLang="en-US" sz="2400" b="1" dirty="0">
                <a:latin typeface="宋体" pitchFamily="2" charset="-122"/>
              </a:rPr>
              <a:t>。</a:t>
            </a:r>
          </a:p>
        </p:txBody>
      </p:sp>
    </p:spTree>
    <p:extLst>
      <p:ext uri="{BB962C8B-B14F-4D97-AF65-F5344CB8AC3E}">
        <p14:creationId xmlns:p14="http://schemas.microsoft.com/office/powerpoint/2010/main" val="3751400088"/>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2"/>
          <p:cNvSpPr>
            <a:spLocks noChangeArrowheads="1"/>
          </p:cNvSpPr>
          <p:nvPr/>
        </p:nvSpPr>
        <p:spPr bwMode="auto">
          <a:xfrm>
            <a:off x="152400" y="152400"/>
            <a:ext cx="8839200" cy="3132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ct val="110000"/>
              </a:lnSpc>
              <a:spcBef>
                <a:spcPct val="20000"/>
              </a:spcBef>
              <a:buClr>
                <a:schemeClr val="accent2"/>
              </a:buClr>
              <a:buSzPct val="80000"/>
              <a:buFont typeface="Wingdings" pitchFamily="2" charset="2"/>
              <a:buNone/>
            </a:pPr>
            <a:r>
              <a:rPr kumimoji="1" lang="zh-CN" altLang="en-US" sz="3200" b="1" dirty="0" smtClean="0">
                <a:solidFill>
                  <a:schemeClr val="bg1"/>
                </a:solidFill>
                <a:latin typeface="Times New Roman" pitchFamily="18" charset="0"/>
              </a:rPr>
              <a:t>        转换</a:t>
            </a:r>
            <a:r>
              <a:rPr kumimoji="1" lang="zh-CN" altLang="en-US" sz="3200" b="1" dirty="0">
                <a:solidFill>
                  <a:schemeClr val="bg1"/>
                </a:solidFill>
                <a:latin typeface="Times New Roman" pitchFamily="18" charset="0"/>
              </a:rPr>
              <a:t>步骤</a:t>
            </a:r>
            <a:r>
              <a:rPr kumimoji="1" lang="zh-CN" altLang="en-US" sz="3200" dirty="0">
                <a:solidFill>
                  <a:schemeClr val="bg1"/>
                </a:solidFill>
                <a:latin typeface="Times New Roman" pitchFamily="18" charset="0"/>
              </a:rPr>
              <a:t>：</a:t>
            </a:r>
            <a:r>
              <a:rPr kumimoji="1" lang="zh-CN" altLang="en-US" sz="2800" dirty="0">
                <a:solidFill>
                  <a:schemeClr val="bg1"/>
                </a:solidFill>
                <a:latin typeface="Times New Roman" pitchFamily="18" charset="0"/>
              </a:rPr>
              <a:t> </a:t>
            </a:r>
          </a:p>
          <a:p>
            <a:pPr marL="533400" lvl="1">
              <a:lnSpc>
                <a:spcPct val="110000"/>
              </a:lnSpc>
              <a:spcBef>
                <a:spcPct val="20000"/>
              </a:spcBef>
              <a:buClr>
                <a:schemeClr val="accent2"/>
              </a:buClr>
              <a:buSzPct val="80000"/>
              <a:buFont typeface="Wingdings" pitchFamily="2" charset="2"/>
              <a:buNone/>
            </a:pPr>
            <a:r>
              <a:rPr kumimoji="1" lang="zh-CN" altLang="en-US" sz="2400" b="1" dirty="0"/>
              <a:t>①   将</a:t>
            </a:r>
            <a:r>
              <a:rPr kumimoji="1" lang="en-US" altLang="zh-CN" sz="2400" b="1" dirty="0"/>
              <a:t>F={T</a:t>
            </a:r>
            <a:r>
              <a:rPr kumimoji="1" lang="en-US" altLang="zh-CN" sz="2400" b="1" baseline="-18000" dirty="0"/>
              <a:t>1</a:t>
            </a:r>
            <a:r>
              <a:rPr kumimoji="1" lang="en-US" altLang="zh-CN" sz="2400" b="1" dirty="0"/>
              <a:t>, T</a:t>
            </a:r>
            <a:r>
              <a:rPr kumimoji="1" lang="en-US" altLang="zh-CN" sz="2400" b="1" baseline="-18000" dirty="0"/>
              <a:t>2</a:t>
            </a:r>
            <a:r>
              <a:rPr kumimoji="1" lang="en-US" altLang="zh-CN" sz="2400" b="1" dirty="0"/>
              <a:t>,</a:t>
            </a:r>
            <a:r>
              <a:rPr kumimoji="1" lang="en-US" altLang="zh-CN" sz="2400" b="1" dirty="0">
                <a:ea typeface="Arial Unicode MS" pitchFamily="34" charset="-122"/>
                <a:cs typeface="Arial Unicode MS" pitchFamily="34" charset="-122"/>
              </a:rPr>
              <a:t>⋯,T</a:t>
            </a:r>
            <a:r>
              <a:rPr kumimoji="1" lang="en-US" altLang="zh-CN" sz="2400" b="1" baseline="-18000" dirty="0"/>
              <a:t>n</a:t>
            </a:r>
            <a:r>
              <a:rPr kumimoji="1" lang="en-US" altLang="zh-CN" sz="2400" b="1" dirty="0"/>
              <a:t>} </a:t>
            </a:r>
            <a:r>
              <a:rPr kumimoji="1" lang="zh-CN" altLang="en-US" sz="2400" b="1" dirty="0"/>
              <a:t>中的每棵树转换成二叉树</a:t>
            </a:r>
            <a:r>
              <a:rPr kumimoji="1" lang="zh-CN" altLang="en-US" sz="2400" b="1" dirty="0">
                <a:latin typeface="宋体" pitchFamily="2" charset="-122"/>
              </a:rPr>
              <a:t>。</a:t>
            </a:r>
            <a:endParaRPr kumimoji="1" lang="zh-CN" altLang="en-US" sz="2400" b="1" dirty="0"/>
          </a:p>
          <a:p>
            <a:pPr marL="533400" lvl="1">
              <a:lnSpc>
                <a:spcPct val="110000"/>
              </a:lnSpc>
              <a:spcBef>
                <a:spcPct val="20000"/>
              </a:spcBef>
              <a:buClr>
                <a:schemeClr val="accent2"/>
              </a:buClr>
              <a:buSzPct val="80000"/>
              <a:buFont typeface="Wingdings" pitchFamily="2" charset="2"/>
              <a:buNone/>
            </a:pPr>
            <a:r>
              <a:rPr kumimoji="1" lang="zh-CN" altLang="en-US" sz="2400" b="1" dirty="0"/>
              <a:t>②  按给出的森林中树的次序，从最后一棵二叉树开始，每棵二叉树作为前一棵二叉树的根结点的右子树，依次类推，则第一棵树的根结点就是转换后生成的二叉树的根结点，</a:t>
            </a:r>
            <a:r>
              <a:rPr kumimoji="1" lang="zh-CN" altLang="en-US" sz="2400" b="1" dirty="0">
                <a:latin typeface="宋体" pitchFamily="2" charset="-122"/>
              </a:rPr>
              <a:t>如图</a:t>
            </a:r>
            <a:r>
              <a:rPr kumimoji="1" lang="zh-CN" altLang="en-US" sz="2400" b="1" dirty="0"/>
              <a:t>所示</a:t>
            </a:r>
            <a:r>
              <a:rPr kumimoji="1" lang="zh-CN" altLang="en-US" sz="2400" b="1" dirty="0">
                <a:latin typeface="宋体" pitchFamily="2" charset="-122"/>
              </a:rPr>
              <a:t>。</a:t>
            </a:r>
          </a:p>
        </p:txBody>
      </p:sp>
      <p:grpSp>
        <p:nvGrpSpPr>
          <p:cNvPr id="18435" name="Group 3"/>
          <p:cNvGrpSpPr>
            <a:grpSpLocks/>
          </p:cNvGrpSpPr>
          <p:nvPr/>
        </p:nvGrpSpPr>
        <p:grpSpPr bwMode="auto">
          <a:xfrm>
            <a:off x="304800" y="3200400"/>
            <a:ext cx="8515350" cy="3468688"/>
            <a:chOff x="192" y="2016"/>
            <a:chExt cx="5364" cy="2185"/>
          </a:xfrm>
        </p:grpSpPr>
        <p:grpSp>
          <p:nvGrpSpPr>
            <p:cNvPr id="18436" name="Group 4"/>
            <p:cNvGrpSpPr>
              <a:grpSpLocks/>
            </p:cNvGrpSpPr>
            <p:nvPr/>
          </p:nvGrpSpPr>
          <p:grpSpPr bwMode="auto">
            <a:xfrm>
              <a:off x="192" y="2432"/>
              <a:ext cx="1681" cy="1469"/>
              <a:chOff x="192" y="2432"/>
              <a:chExt cx="1681" cy="1469"/>
            </a:xfrm>
          </p:grpSpPr>
          <p:grpSp>
            <p:nvGrpSpPr>
              <p:cNvPr id="18480" name="Group 5"/>
              <p:cNvGrpSpPr>
                <a:grpSpLocks/>
              </p:cNvGrpSpPr>
              <p:nvPr/>
            </p:nvGrpSpPr>
            <p:grpSpPr bwMode="auto">
              <a:xfrm>
                <a:off x="192" y="2432"/>
                <a:ext cx="665" cy="1115"/>
                <a:chOff x="455" y="1584"/>
                <a:chExt cx="665" cy="1115"/>
              </a:xfrm>
            </p:grpSpPr>
            <p:sp>
              <p:nvSpPr>
                <p:cNvPr id="18492" name="Oval 6"/>
                <p:cNvSpPr>
                  <a:spLocks noChangeArrowheads="1"/>
                </p:cNvSpPr>
                <p:nvPr/>
              </p:nvSpPr>
              <p:spPr bwMode="auto">
                <a:xfrm>
                  <a:off x="696" y="1584"/>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A</a:t>
                  </a:r>
                </a:p>
              </p:txBody>
            </p:sp>
            <p:sp>
              <p:nvSpPr>
                <p:cNvPr id="18493" name="Oval 7"/>
                <p:cNvSpPr>
                  <a:spLocks noChangeArrowheads="1"/>
                </p:cNvSpPr>
                <p:nvPr/>
              </p:nvSpPr>
              <p:spPr bwMode="auto">
                <a:xfrm>
                  <a:off x="871" y="2024"/>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C</a:t>
                  </a:r>
                </a:p>
              </p:txBody>
            </p:sp>
            <p:sp>
              <p:nvSpPr>
                <p:cNvPr id="18494" name="Oval 8"/>
                <p:cNvSpPr>
                  <a:spLocks noChangeArrowheads="1"/>
                </p:cNvSpPr>
                <p:nvPr/>
              </p:nvSpPr>
              <p:spPr bwMode="auto">
                <a:xfrm>
                  <a:off x="455" y="2024"/>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B</a:t>
                  </a:r>
                </a:p>
              </p:txBody>
            </p:sp>
            <p:sp>
              <p:nvSpPr>
                <p:cNvPr id="18495" name="Oval 9"/>
                <p:cNvSpPr>
                  <a:spLocks noChangeArrowheads="1"/>
                </p:cNvSpPr>
                <p:nvPr/>
              </p:nvSpPr>
              <p:spPr bwMode="auto">
                <a:xfrm>
                  <a:off x="864" y="2472"/>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D</a:t>
                  </a:r>
                </a:p>
              </p:txBody>
            </p:sp>
            <p:sp>
              <p:nvSpPr>
                <p:cNvPr id="18496" name="Line 10"/>
                <p:cNvSpPr>
                  <a:spLocks noChangeShapeType="1"/>
                </p:cNvSpPr>
                <p:nvPr/>
              </p:nvSpPr>
              <p:spPr bwMode="auto">
                <a:xfrm flipH="1">
                  <a:off x="584" y="1792"/>
                  <a:ext cx="159"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8497" name="Line 11"/>
                <p:cNvSpPr>
                  <a:spLocks noChangeShapeType="1"/>
                </p:cNvSpPr>
                <p:nvPr/>
              </p:nvSpPr>
              <p:spPr bwMode="auto">
                <a:xfrm>
                  <a:off x="872" y="1792"/>
                  <a:ext cx="136"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8498" name="Line 12"/>
                <p:cNvSpPr>
                  <a:spLocks noChangeShapeType="1"/>
                </p:cNvSpPr>
                <p:nvPr/>
              </p:nvSpPr>
              <p:spPr bwMode="auto">
                <a:xfrm>
                  <a:off x="992" y="2248"/>
                  <a:ext cx="0"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18481" name="Group 13"/>
              <p:cNvGrpSpPr>
                <a:grpSpLocks/>
              </p:cNvGrpSpPr>
              <p:nvPr/>
            </p:nvGrpSpPr>
            <p:grpSpPr bwMode="auto">
              <a:xfrm>
                <a:off x="985" y="2469"/>
                <a:ext cx="888" cy="1115"/>
                <a:chOff x="1376" y="1525"/>
                <a:chExt cx="888" cy="1115"/>
              </a:xfrm>
            </p:grpSpPr>
            <p:sp>
              <p:nvSpPr>
                <p:cNvPr id="18483" name="Oval 14"/>
                <p:cNvSpPr>
                  <a:spLocks noChangeArrowheads="1"/>
                </p:cNvSpPr>
                <p:nvPr/>
              </p:nvSpPr>
              <p:spPr bwMode="auto">
                <a:xfrm>
                  <a:off x="1729" y="1525"/>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G</a:t>
                  </a:r>
                </a:p>
              </p:txBody>
            </p:sp>
            <p:sp>
              <p:nvSpPr>
                <p:cNvPr id="18484" name="Oval 15"/>
                <p:cNvSpPr>
                  <a:spLocks noChangeArrowheads="1"/>
                </p:cNvSpPr>
                <p:nvPr/>
              </p:nvSpPr>
              <p:spPr bwMode="auto">
                <a:xfrm>
                  <a:off x="2015" y="1981"/>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M</a:t>
                  </a:r>
                </a:p>
              </p:txBody>
            </p:sp>
            <p:sp>
              <p:nvSpPr>
                <p:cNvPr id="18485" name="Oval 16"/>
                <p:cNvSpPr>
                  <a:spLocks noChangeArrowheads="1"/>
                </p:cNvSpPr>
                <p:nvPr/>
              </p:nvSpPr>
              <p:spPr bwMode="auto">
                <a:xfrm>
                  <a:off x="1392" y="1965"/>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L</a:t>
                  </a:r>
                </a:p>
              </p:txBody>
            </p:sp>
            <p:sp>
              <p:nvSpPr>
                <p:cNvPr id="18486" name="Oval 17"/>
                <p:cNvSpPr>
                  <a:spLocks noChangeArrowheads="1"/>
                </p:cNvSpPr>
                <p:nvPr/>
              </p:nvSpPr>
              <p:spPr bwMode="auto">
                <a:xfrm>
                  <a:off x="1376" y="2413"/>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H</a:t>
                  </a:r>
                </a:p>
              </p:txBody>
            </p:sp>
            <p:sp>
              <p:nvSpPr>
                <p:cNvPr id="18487" name="Line 18"/>
                <p:cNvSpPr>
                  <a:spLocks noChangeShapeType="1"/>
                </p:cNvSpPr>
                <p:nvPr/>
              </p:nvSpPr>
              <p:spPr bwMode="auto">
                <a:xfrm flipH="1">
                  <a:off x="1545" y="1725"/>
                  <a:ext cx="227" cy="24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8488" name="Line 19"/>
                <p:cNvSpPr>
                  <a:spLocks noChangeShapeType="1"/>
                </p:cNvSpPr>
                <p:nvPr/>
              </p:nvSpPr>
              <p:spPr bwMode="auto">
                <a:xfrm>
                  <a:off x="1921" y="1725"/>
                  <a:ext cx="227" cy="24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8489" name="Line 20"/>
                <p:cNvSpPr>
                  <a:spLocks noChangeShapeType="1"/>
                </p:cNvSpPr>
                <p:nvPr/>
              </p:nvSpPr>
              <p:spPr bwMode="auto">
                <a:xfrm>
                  <a:off x="1504" y="2189"/>
                  <a:ext cx="0"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8490" name="Oval 21"/>
                <p:cNvSpPr>
                  <a:spLocks noChangeArrowheads="1"/>
                </p:cNvSpPr>
                <p:nvPr/>
              </p:nvSpPr>
              <p:spPr bwMode="auto">
                <a:xfrm>
                  <a:off x="1704" y="1973"/>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K</a:t>
                  </a:r>
                </a:p>
              </p:txBody>
            </p:sp>
            <p:sp>
              <p:nvSpPr>
                <p:cNvPr id="18491" name="Line 22"/>
                <p:cNvSpPr>
                  <a:spLocks noChangeShapeType="1"/>
                </p:cNvSpPr>
                <p:nvPr/>
              </p:nvSpPr>
              <p:spPr bwMode="auto">
                <a:xfrm>
                  <a:off x="1840" y="1752"/>
                  <a:ext cx="0"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sp>
            <p:nvSpPr>
              <p:cNvPr id="18482" name="Rectangle 23"/>
              <p:cNvSpPr>
                <a:spLocks noChangeArrowheads="1"/>
              </p:cNvSpPr>
              <p:nvPr/>
            </p:nvSpPr>
            <p:spPr bwMode="auto">
              <a:xfrm>
                <a:off x="553" y="3674"/>
                <a:ext cx="680"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(a)  </a:t>
                </a:r>
                <a:r>
                  <a:rPr lang="zh-CN" altLang="en-US" sz="2000" b="1"/>
                  <a:t>森林</a:t>
                </a:r>
              </a:p>
            </p:txBody>
          </p:sp>
        </p:grpSp>
        <p:sp>
          <p:nvSpPr>
            <p:cNvPr id="18437" name="Rectangle 24"/>
            <p:cNvSpPr>
              <a:spLocks noChangeArrowheads="1"/>
            </p:cNvSpPr>
            <p:nvPr/>
          </p:nvSpPr>
          <p:spPr bwMode="auto">
            <a:xfrm>
              <a:off x="1776" y="3974"/>
              <a:ext cx="2419"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zh-CN" altLang="en-US" sz="2000" b="1"/>
                <a:t>图</a:t>
              </a:r>
              <a:r>
                <a:rPr lang="en-US" altLang="zh-CN" sz="2000" b="1"/>
                <a:t>  </a:t>
              </a:r>
              <a:r>
                <a:rPr lang="zh-CN" altLang="en-US" sz="2000" b="1"/>
                <a:t>森林转换成二叉树的过程</a:t>
              </a:r>
            </a:p>
          </p:txBody>
        </p:sp>
        <p:grpSp>
          <p:nvGrpSpPr>
            <p:cNvPr id="18438" name="Group 25"/>
            <p:cNvGrpSpPr>
              <a:grpSpLocks/>
            </p:cNvGrpSpPr>
            <p:nvPr/>
          </p:nvGrpSpPr>
          <p:grpSpPr bwMode="auto">
            <a:xfrm>
              <a:off x="2063" y="2166"/>
              <a:ext cx="1673" cy="1767"/>
              <a:chOff x="2063" y="2166"/>
              <a:chExt cx="1673" cy="1767"/>
            </a:xfrm>
          </p:grpSpPr>
          <p:sp>
            <p:nvSpPr>
              <p:cNvPr id="18460" name="Rectangle 26"/>
              <p:cNvSpPr>
                <a:spLocks noChangeArrowheads="1"/>
              </p:cNvSpPr>
              <p:nvPr/>
            </p:nvSpPr>
            <p:spPr bwMode="auto">
              <a:xfrm>
                <a:off x="2240" y="3525"/>
                <a:ext cx="1360" cy="4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457200" indent="-457200"/>
                <a:r>
                  <a:rPr kumimoji="1" lang="en-US" altLang="zh-CN" sz="2000" b="1">
                    <a:latin typeface="Times New Roman" pitchFamily="18" charset="0"/>
                  </a:rPr>
                  <a:t>(b)  </a:t>
                </a:r>
                <a:r>
                  <a:rPr kumimoji="1" lang="zh-CN" altLang="en-US" sz="2000" b="1">
                    <a:latin typeface="Times New Roman" pitchFamily="18" charset="0"/>
                  </a:rPr>
                  <a:t>森林中每棵树</a:t>
                </a:r>
              </a:p>
              <a:p>
                <a:pPr marL="457200" indent="-457200"/>
                <a:r>
                  <a:rPr kumimoji="1" lang="zh-CN" altLang="en-US" sz="2000" b="1">
                    <a:latin typeface="Times New Roman" pitchFamily="18" charset="0"/>
                  </a:rPr>
                  <a:t>       对应的二叉树</a:t>
                </a:r>
              </a:p>
            </p:txBody>
          </p:sp>
          <p:grpSp>
            <p:nvGrpSpPr>
              <p:cNvPr id="18461" name="Group 27"/>
              <p:cNvGrpSpPr>
                <a:grpSpLocks/>
              </p:cNvGrpSpPr>
              <p:nvPr/>
            </p:nvGrpSpPr>
            <p:grpSpPr bwMode="auto">
              <a:xfrm>
                <a:off x="2063" y="2166"/>
                <a:ext cx="1673" cy="1309"/>
                <a:chOff x="2063" y="2166"/>
                <a:chExt cx="1673" cy="1309"/>
              </a:xfrm>
            </p:grpSpPr>
            <p:grpSp>
              <p:nvGrpSpPr>
                <p:cNvPr id="18462" name="Group 28"/>
                <p:cNvGrpSpPr>
                  <a:grpSpLocks/>
                </p:cNvGrpSpPr>
                <p:nvPr/>
              </p:nvGrpSpPr>
              <p:grpSpPr bwMode="auto">
                <a:xfrm>
                  <a:off x="2063" y="2166"/>
                  <a:ext cx="537" cy="1264"/>
                  <a:chOff x="2063" y="2144"/>
                  <a:chExt cx="537" cy="1264"/>
                </a:xfrm>
              </p:grpSpPr>
              <p:sp>
                <p:nvSpPr>
                  <p:cNvPr id="18473" name="Oval 29"/>
                  <p:cNvSpPr>
                    <a:spLocks noChangeArrowheads="1"/>
                  </p:cNvSpPr>
                  <p:nvPr/>
                </p:nvSpPr>
                <p:spPr bwMode="auto">
                  <a:xfrm>
                    <a:off x="2311" y="2144"/>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A</a:t>
                    </a:r>
                  </a:p>
                </p:txBody>
              </p:sp>
              <p:sp>
                <p:nvSpPr>
                  <p:cNvPr id="18474" name="Oval 30"/>
                  <p:cNvSpPr>
                    <a:spLocks noChangeArrowheads="1"/>
                  </p:cNvSpPr>
                  <p:nvPr/>
                </p:nvSpPr>
                <p:spPr bwMode="auto">
                  <a:xfrm>
                    <a:off x="2063" y="2488"/>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B</a:t>
                    </a:r>
                  </a:p>
                </p:txBody>
              </p:sp>
              <p:sp>
                <p:nvSpPr>
                  <p:cNvPr id="18475" name="Oval 31"/>
                  <p:cNvSpPr>
                    <a:spLocks noChangeArrowheads="1"/>
                  </p:cNvSpPr>
                  <p:nvPr/>
                </p:nvSpPr>
                <p:spPr bwMode="auto">
                  <a:xfrm>
                    <a:off x="2351" y="2821"/>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C</a:t>
                    </a:r>
                  </a:p>
                </p:txBody>
              </p:sp>
              <p:sp>
                <p:nvSpPr>
                  <p:cNvPr id="18476" name="Line 32"/>
                  <p:cNvSpPr>
                    <a:spLocks noChangeShapeType="1"/>
                  </p:cNvSpPr>
                  <p:nvPr/>
                </p:nvSpPr>
                <p:spPr bwMode="auto">
                  <a:xfrm flipH="1">
                    <a:off x="2221" y="2336"/>
                    <a:ext cx="127" cy="15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8477" name="Line 33"/>
                  <p:cNvSpPr>
                    <a:spLocks noChangeShapeType="1"/>
                  </p:cNvSpPr>
                  <p:nvPr/>
                </p:nvSpPr>
                <p:spPr bwMode="auto">
                  <a:xfrm>
                    <a:off x="2287" y="2680"/>
                    <a:ext cx="139" cy="13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8478" name="Oval 34"/>
                  <p:cNvSpPr>
                    <a:spLocks noChangeArrowheads="1"/>
                  </p:cNvSpPr>
                  <p:nvPr/>
                </p:nvSpPr>
                <p:spPr bwMode="auto">
                  <a:xfrm>
                    <a:off x="2095" y="3181"/>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D</a:t>
                    </a:r>
                  </a:p>
                </p:txBody>
              </p:sp>
              <p:sp>
                <p:nvSpPr>
                  <p:cNvPr id="18479" name="Line 35"/>
                  <p:cNvSpPr>
                    <a:spLocks noChangeShapeType="1"/>
                  </p:cNvSpPr>
                  <p:nvPr/>
                </p:nvSpPr>
                <p:spPr bwMode="auto">
                  <a:xfrm flipH="1">
                    <a:off x="2245" y="3021"/>
                    <a:ext cx="159" cy="15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nvGrpSpPr>
                <p:cNvPr id="18463" name="Group 36"/>
                <p:cNvGrpSpPr>
                  <a:grpSpLocks/>
                </p:cNvGrpSpPr>
                <p:nvPr/>
              </p:nvGrpSpPr>
              <p:grpSpPr bwMode="auto">
                <a:xfrm>
                  <a:off x="2720" y="2205"/>
                  <a:ext cx="1016" cy="1270"/>
                  <a:chOff x="2720" y="2136"/>
                  <a:chExt cx="1016" cy="1270"/>
                </a:xfrm>
              </p:grpSpPr>
              <p:sp>
                <p:nvSpPr>
                  <p:cNvPr id="18464" name="Oval 37"/>
                  <p:cNvSpPr>
                    <a:spLocks noChangeArrowheads="1"/>
                  </p:cNvSpPr>
                  <p:nvPr/>
                </p:nvSpPr>
                <p:spPr bwMode="auto">
                  <a:xfrm>
                    <a:off x="3223" y="2136"/>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G</a:t>
                    </a:r>
                  </a:p>
                </p:txBody>
              </p:sp>
              <p:sp>
                <p:nvSpPr>
                  <p:cNvPr id="18465" name="Oval 38"/>
                  <p:cNvSpPr>
                    <a:spLocks noChangeArrowheads="1"/>
                  </p:cNvSpPr>
                  <p:nvPr/>
                </p:nvSpPr>
                <p:spPr bwMode="auto">
                  <a:xfrm>
                    <a:off x="2975" y="2480"/>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L</a:t>
                    </a:r>
                  </a:p>
                </p:txBody>
              </p:sp>
              <p:sp>
                <p:nvSpPr>
                  <p:cNvPr id="18466" name="Oval 39"/>
                  <p:cNvSpPr>
                    <a:spLocks noChangeArrowheads="1"/>
                  </p:cNvSpPr>
                  <p:nvPr/>
                </p:nvSpPr>
                <p:spPr bwMode="auto">
                  <a:xfrm>
                    <a:off x="3239" y="2829"/>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K</a:t>
                    </a:r>
                  </a:p>
                </p:txBody>
              </p:sp>
              <p:sp>
                <p:nvSpPr>
                  <p:cNvPr id="18467" name="Line 40"/>
                  <p:cNvSpPr>
                    <a:spLocks noChangeShapeType="1"/>
                  </p:cNvSpPr>
                  <p:nvPr/>
                </p:nvSpPr>
                <p:spPr bwMode="auto">
                  <a:xfrm>
                    <a:off x="3152" y="2688"/>
                    <a:ext cx="150" cy="15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8468" name="Oval 41"/>
                  <p:cNvSpPr>
                    <a:spLocks noChangeArrowheads="1"/>
                  </p:cNvSpPr>
                  <p:nvPr/>
                </p:nvSpPr>
                <p:spPr bwMode="auto">
                  <a:xfrm>
                    <a:off x="2720" y="2840"/>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H</a:t>
                    </a:r>
                  </a:p>
                </p:txBody>
              </p:sp>
              <p:sp>
                <p:nvSpPr>
                  <p:cNvPr id="18469" name="Line 42"/>
                  <p:cNvSpPr>
                    <a:spLocks noChangeShapeType="1"/>
                  </p:cNvSpPr>
                  <p:nvPr/>
                </p:nvSpPr>
                <p:spPr bwMode="auto">
                  <a:xfrm flipH="1">
                    <a:off x="2880" y="2688"/>
                    <a:ext cx="141" cy="15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8470" name="Oval 43"/>
                  <p:cNvSpPr>
                    <a:spLocks noChangeArrowheads="1"/>
                  </p:cNvSpPr>
                  <p:nvPr/>
                </p:nvSpPr>
                <p:spPr bwMode="auto">
                  <a:xfrm>
                    <a:off x="3487" y="3179"/>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M</a:t>
                    </a:r>
                  </a:p>
                </p:txBody>
              </p:sp>
              <p:sp>
                <p:nvSpPr>
                  <p:cNvPr id="18471" name="Line 44"/>
                  <p:cNvSpPr>
                    <a:spLocks noChangeShapeType="1"/>
                  </p:cNvSpPr>
                  <p:nvPr/>
                </p:nvSpPr>
                <p:spPr bwMode="auto">
                  <a:xfrm>
                    <a:off x="3432" y="3033"/>
                    <a:ext cx="150" cy="15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8472" name="Line 45"/>
                  <p:cNvSpPr>
                    <a:spLocks noChangeShapeType="1"/>
                  </p:cNvSpPr>
                  <p:nvPr/>
                </p:nvSpPr>
                <p:spPr bwMode="auto">
                  <a:xfrm flipH="1">
                    <a:off x="3134" y="2333"/>
                    <a:ext cx="141" cy="15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grpSp>
        <p:grpSp>
          <p:nvGrpSpPr>
            <p:cNvPr id="18439" name="Group 46"/>
            <p:cNvGrpSpPr>
              <a:grpSpLocks/>
            </p:cNvGrpSpPr>
            <p:nvPr/>
          </p:nvGrpSpPr>
          <p:grpSpPr bwMode="auto">
            <a:xfrm>
              <a:off x="3883" y="2016"/>
              <a:ext cx="1673" cy="1920"/>
              <a:chOff x="3883" y="2016"/>
              <a:chExt cx="1673" cy="1920"/>
            </a:xfrm>
          </p:grpSpPr>
          <p:sp>
            <p:nvSpPr>
              <p:cNvPr id="18440" name="Rectangle 47"/>
              <p:cNvSpPr>
                <a:spLocks noChangeArrowheads="1"/>
              </p:cNvSpPr>
              <p:nvPr/>
            </p:nvSpPr>
            <p:spPr bwMode="auto">
              <a:xfrm>
                <a:off x="3936" y="3709"/>
                <a:ext cx="1587"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457200" indent="-457200"/>
                <a:r>
                  <a:rPr kumimoji="1" lang="en-US" altLang="zh-CN" sz="2000" b="1">
                    <a:latin typeface="Times New Roman" pitchFamily="18" charset="0"/>
                  </a:rPr>
                  <a:t>(c)  </a:t>
                </a:r>
                <a:r>
                  <a:rPr kumimoji="1" lang="zh-CN" altLang="en-US" sz="2000" b="1">
                    <a:latin typeface="Times New Roman" pitchFamily="18" charset="0"/>
                  </a:rPr>
                  <a:t>森林对应的二叉树</a:t>
                </a:r>
              </a:p>
            </p:txBody>
          </p:sp>
          <p:grpSp>
            <p:nvGrpSpPr>
              <p:cNvPr id="18441" name="Group 48"/>
              <p:cNvGrpSpPr>
                <a:grpSpLocks/>
              </p:cNvGrpSpPr>
              <p:nvPr/>
            </p:nvGrpSpPr>
            <p:grpSpPr bwMode="auto">
              <a:xfrm>
                <a:off x="3883" y="2016"/>
                <a:ext cx="1673" cy="1641"/>
                <a:chOff x="3883" y="2016"/>
                <a:chExt cx="1673" cy="1641"/>
              </a:xfrm>
            </p:grpSpPr>
            <p:sp>
              <p:nvSpPr>
                <p:cNvPr id="18442" name="Oval 49"/>
                <p:cNvSpPr>
                  <a:spLocks noChangeArrowheads="1"/>
                </p:cNvSpPr>
                <p:nvPr/>
              </p:nvSpPr>
              <p:spPr bwMode="auto">
                <a:xfrm>
                  <a:off x="4436" y="2016"/>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A</a:t>
                  </a:r>
                </a:p>
              </p:txBody>
            </p:sp>
            <p:sp>
              <p:nvSpPr>
                <p:cNvPr id="18443" name="Oval 50"/>
                <p:cNvSpPr>
                  <a:spLocks noChangeArrowheads="1"/>
                </p:cNvSpPr>
                <p:nvPr/>
              </p:nvSpPr>
              <p:spPr bwMode="auto">
                <a:xfrm>
                  <a:off x="3883" y="2432"/>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B</a:t>
                  </a:r>
                </a:p>
              </p:txBody>
            </p:sp>
            <p:sp>
              <p:nvSpPr>
                <p:cNvPr id="18444" name="Oval 51"/>
                <p:cNvSpPr>
                  <a:spLocks noChangeArrowheads="1"/>
                </p:cNvSpPr>
                <p:nvPr/>
              </p:nvSpPr>
              <p:spPr bwMode="auto">
                <a:xfrm>
                  <a:off x="4171" y="2765"/>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C</a:t>
                  </a:r>
                </a:p>
              </p:txBody>
            </p:sp>
            <p:sp>
              <p:nvSpPr>
                <p:cNvPr id="18445" name="Line 52"/>
                <p:cNvSpPr>
                  <a:spLocks noChangeShapeType="1"/>
                </p:cNvSpPr>
                <p:nvPr/>
              </p:nvSpPr>
              <p:spPr bwMode="auto">
                <a:xfrm>
                  <a:off x="4107" y="2624"/>
                  <a:ext cx="139" cy="13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8446" name="Oval 53"/>
                <p:cNvSpPr>
                  <a:spLocks noChangeArrowheads="1"/>
                </p:cNvSpPr>
                <p:nvPr/>
              </p:nvSpPr>
              <p:spPr bwMode="auto">
                <a:xfrm>
                  <a:off x="3915" y="3125"/>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D</a:t>
                  </a:r>
                </a:p>
              </p:txBody>
            </p:sp>
            <p:sp>
              <p:nvSpPr>
                <p:cNvPr id="18447" name="Line 54"/>
                <p:cNvSpPr>
                  <a:spLocks noChangeShapeType="1"/>
                </p:cNvSpPr>
                <p:nvPr/>
              </p:nvSpPr>
              <p:spPr bwMode="auto">
                <a:xfrm flipH="1">
                  <a:off x="4065" y="2965"/>
                  <a:ext cx="159" cy="15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nvGrpSpPr>
                <p:cNvPr id="18448" name="Group 55"/>
                <p:cNvGrpSpPr>
                  <a:grpSpLocks/>
                </p:cNvGrpSpPr>
                <p:nvPr/>
              </p:nvGrpSpPr>
              <p:grpSpPr bwMode="auto">
                <a:xfrm>
                  <a:off x="4540" y="2387"/>
                  <a:ext cx="1016" cy="1270"/>
                  <a:chOff x="2720" y="2136"/>
                  <a:chExt cx="1016" cy="1270"/>
                </a:xfrm>
              </p:grpSpPr>
              <p:sp>
                <p:nvSpPr>
                  <p:cNvPr id="18451" name="Oval 56"/>
                  <p:cNvSpPr>
                    <a:spLocks noChangeArrowheads="1"/>
                  </p:cNvSpPr>
                  <p:nvPr/>
                </p:nvSpPr>
                <p:spPr bwMode="auto">
                  <a:xfrm>
                    <a:off x="3223" y="2136"/>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G</a:t>
                    </a:r>
                  </a:p>
                </p:txBody>
              </p:sp>
              <p:sp>
                <p:nvSpPr>
                  <p:cNvPr id="18452" name="Oval 57"/>
                  <p:cNvSpPr>
                    <a:spLocks noChangeArrowheads="1"/>
                  </p:cNvSpPr>
                  <p:nvPr/>
                </p:nvSpPr>
                <p:spPr bwMode="auto">
                  <a:xfrm>
                    <a:off x="2975" y="2480"/>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L</a:t>
                    </a:r>
                  </a:p>
                </p:txBody>
              </p:sp>
              <p:sp>
                <p:nvSpPr>
                  <p:cNvPr id="18453" name="Oval 58"/>
                  <p:cNvSpPr>
                    <a:spLocks noChangeArrowheads="1"/>
                  </p:cNvSpPr>
                  <p:nvPr/>
                </p:nvSpPr>
                <p:spPr bwMode="auto">
                  <a:xfrm>
                    <a:off x="3239" y="2829"/>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K</a:t>
                    </a:r>
                  </a:p>
                </p:txBody>
              </p:sp>
              <p:sp>
                <p:nvSpPr>
                  <p:cNvPr id="18454" name="Line 59"/>
                  <p:cNvSpPr>
                    <a:spLocks noChangeShapeType="1"/>
                  </p:cNvSpPr>
                  <p:nvPr/>
                </p:nvSpPr>
                <p:spPr bwMode="auto">
                  <a:xfrm>
                    <a:off x="3152" y="2688"/>
                    <a:ext cx="150" cy="15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8455" name="Oval 60"/>
                  <p:cNvSpPr>
                    <a:spLocks noChangeArrowheads="1"/>
                  </p:cNvSpPr>
                  <p:nvPr/>
                </p:nvSpPr>
                <p:spPr bwMode="auto">
                  <a:xfrm>
                    <a:off x="2720" y="2840"/>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H</a:t>
                    </a:r>
                  </a:p>
                </p:txBody>
              </p:sp>
              <p:sp>
                <p:nvSpPr>
                  <p:cNvPr id="18456" name="Line 61"/>
                  <p:cNvSpPr>
                    <a:spLocks noChangeShapeType="1"/>
                  </p:cNvSpPr>
                  <p:nvPr/>
                </p:nvSpPr>
                <p:spPr bwMode="auto">
                  <a:xfrm flipH="1">
                    <a:off x="2880" y="2688"/>
                    <a:ext cx="141" cy="15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8457" name="Oval 62"/>
                  <p:cNvSpPr>
                    <a:spLocks noChangeArrowheads="1"/>
                  </p:cNvSpPr>
                  <p:nvPr/>
                </p:nvSpPr>
                <p:spPr bwMode="auto">
                  <a:xfrm>
                    <a:off x="3487" y="3179"/>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M</a:t>
                    </a:r>
                  </a:p>
                </p:txBody>
              </p:sp>
              <p:sp>
                <p:nvSpPr>
                  <p:cNvPr id="18458" name="Line 63"/>
                  <p:cNvSpPr>
                    <a:spLocks noChangeShapeType="1"/>
                  </p:cNvSpPr>
                  <p:nvPr/>
                </p:nvSpPr>
                <p:spPr bwMode="auto">
                  <a:xfrm>
                    <a:off x="3432" y="3033"/>
                    <a:ext cx="150" cy="15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8459" name="Line 64"/>
                  <p:cNvSpPr>
                    <a:spLocks noChangeShapeType="1"/>
                  </p:cNvSpPr>
                  <p:nvPr/>
                </p:nvSpPr>
                <p:spPr bwMode="auto">
                  <a:xfrm flipH="1">
                    <a:off x="3134" y="2333"/>
                    <a:ext cx="141" cy="15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sp>
              <p:nvSpPr>
                <p:cNvPr id="18449" name="Line 65"/>
                <p:cNvSpPr>
                  <a:spLocks noChangeShapeType="1"/>
                </p:cNvSpPr>
                <p:nvPr/>
              </p:nvSpPr>
              <p:spPr bwMode="auto">
                <a:xfrm flipH="1">
                  <a:off x="4105" y="2205"/>
                  <a:ext cx="363" cy="273"/>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18450" name="Line 66"/>
                <p:cNvSpPr>
                  <a:spLocks noChangeShapeType="1"/>
                </p:cNvSpPr>
                <p:nvPr/>
              </p:nvSpPr>
              <p:spPr bwMode="auto">
                <a:xfrm>
                  <a:off x="4657" y="2213"/>
                  <a:ext cx="454" cy="18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grpSp>
    </p:spTree>
    <p:extLst>
      <p:ext uri="{BB962C8B-B14F-4D97-AF65-F5344CB8AC3E}">
        <p14:creationId xmlns:p14="http://schemas.microsoft.com/office/powerpoint/2010/main" val="118163133"/>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ChangeArrowheads="1"/>
          </p:cNvSpPr>
          <p:nvPr/>
        </p:nvSpPr>
        <p:spPr bwMode="auto">
          <a:xfrm>
            <a:off x="152400" y="228600"/>
            <a:ext cx="8839200" cy="6296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ct val="90000"/>
              </a:lnSpc>
              <a:spcBef>
                <a:spcPct val="20000"/>
              </a:spcBef>
              <a:buClr>
                <a:schemeClr val="accent2"/>
              </a:buClr>
              <a:buSzPct val="80000"/>
              <a:buFont typeface="Wingdings" pitchFamily="2" charset="2"/>
              <a:buNone/>
            </a:pPr>
            <a:r>
              <a:rPr kumimoji="1" lang="en-US" altLang="zh-CN" b="1" dirty="0" smtClean="0">
                <a:solidFill>
                  <a:schemeClr val="bg1"/>
                </a:solidFill>
                <a:latin typeface="Times New Roman" pitchFamily="18" charset="0"/>
              </a:rPr>
              <a:t>       4  </a:t>
            </a:r>
            <a:r>
              <a:rPr kumimoji="1" lang="zh-CN" altLang="en-US" b="1" dirty="0">
                <a:solidFill>
                  <a:schemeClr val="bg1"/>
                </a:solidFill>
                <a:latin typeface="Times New Roman" pitchFamily="18" charset="0"/>
                <a:ea typeface="楷体_GB2312" pitchFamily="49" charset="-122"/>
              </a:rPr>
              <a:t>二叉树转换成</a:t>
            </a:r>
            <a:r>
              <a:rPr kumimoji="1" lang="zh-CN" altLang="en-US" b="1" dirty="0" smtClean="0">
                <a:solidFill>
                  <a:schemeClr val="bg1"/>
                </a:solidFill>
                <a:latin typeface="Times New Roman" pitchFamily="18" charset="0"/>
                <a:ea typeface="楷体_GB2312" pitchFamily="49" charset="-122"/>
              </a:rPr>
              <a:t>森林 </a:t>
            </a:r>
            <a:endParaRPr kumimoji="1" lang="en-US" altLang="zh-CN" b="1" dirty="0" smtClean="0">
              <a:solidFill>
                <a:schemeClr val="bg1"/>
              </a:solidFill>
              <a:latin typeface="Times New Roman" pitchFamily="18" charset="0"/>
              <a:ea typeface="楷体_GB2312" pitchFamily="49" charset="-122"/>
            </a:endParaRPr>
          </a:p>
          <a:p>
            <a:pPr>
              <a:lnSpc>
                <a:spcPct val="90000"/>
              </a:lnSpc>
              <a:spcBef>
                <a:spcPct val="20000"/>
              </a:spcBef>
              <a:buClr>
                <a:schemeClr val="accent2"/>
              </a:buClr>
              <a:buSzPct val="80000"/>
              <a:buFont typeface="Wingdings" pitchFamily="2" charset="2"/>
              <a:buNone/>
            </a:pPr>
            <a:endParaRPr kumimoji="1" lang="zh-CN" altLang="en-US" b="1" dirty="0">
              <a:solidFill>
                <a:schemeClr val="bg1"/>
              </a:solidFill>
              <a:latin typeface="Times New Roman" pitchFamily="18" charset="0"/>
              <a:ea typeface="楷体_GB2312" pitchFamily="49" charset="-122"/>
            </a:endParaRPr>
          </a:p>
          <a:p>
            <a:pPr>
              <a:lnSpc>
                <a:spcPct val="110000"/>
              </a:lnSpc>
              <a:spcBef>
                <a:spcPct val="20000"/>
              </a:spcBef>
              <a:buClr>
                <a:schemeClr val="accent2"/>
              </a:buClr>
              <a:buSzPct val="80000"/>
              <a:buFont typeface="Wingdings" pitchFamily="2" charset="2"/>
              <a:buNone/>
            </a:pPr>
            <a:r>
              <a:rPr kumimoji="1" lang="zh-CN" altLang="en-US" sz="2800" dirty="0">
                <a:latin typeface="Times New Roman" pitchFamily="18" charset="0"/>
              </a:rPr>
              <a:t>        </a:t>
            </a:r>
            <a:r>
              <a:rPr kumimoji="1" lang="zh-CN" altLang="en-US" sz="2400" b="1" dirty="0"/>
              <a:t>若</a:t>
            </a:r>
            <a:r>
              <a:rPr kumimoji="1" lang="en-US" altLang="zh-CN" sz="2400" b="1" dirty="0"/>
              <a:t>B=(root</a:t>
            </a:r>
            <a:r>
              <a:rPr kumimoji="1" lang="zh-CN" altLang="en-US" sz="2400" b="1" dirty="0"/>
              <a:t>，</a:t>
            </a:r>
            <a:r>
              <a:rPr kumimoji="1" lang="en-US" altLang="zh-CN" sz="2400" b="1" dirty="0"/>
              <a:t>LB</a:t>
            </a:r>
            <a:r>
              <a:rPr kumimoji="1" lang="zh-CN" altLang="en-US" sz="2400" b="1" dirty="0"/>
              <a:t>，</a:t>
            </a:r>
            <a:r>
              <a:rPr kumimoji="1" lang="en-US" altLang="zh-CN" sz="2400" b="1" dirty="0"/>
              <a:t>RB)</a:t>
            </a:r>
            <a:r>
              <a:rPr kumimoji="1" lang="zh-CN" altLang="en-US" sz="2400" b="1" dirty="0"/>
              <a:t>是一棵二叉树，则可以将其转换成由若干棵树构成的森林：</a:t>
            </a:r>
            <a:r>
              <a:rPr kumimoji="1" lang="en-US" altLang="zh-CN" sz="2400" b="1" dirty="0"/>
              <a:t>F={T</a:t>
            </a:r>
            <a:r>
              <a:rPr kumimoji="1" lang="en-US" altLang="zh-CN" sz="2400" b="1" baseline="-18000" dirty="0"/>
              <a:t>1</a:t>
            </a:r>
            <a:r>
              <a:rPr kumimoji="1" lang="en-US" altLang="zh-CN" sz="2400" b="1" dirty="0"/>
              <a:t>, T</a:t>
            </a:r>
            <a:r>
              <a:rPr kumimoji="1" lang="en-US" altLang="zh-CN" sz="2400" b="1" baseline="-18000" dirty="0"/>
              <a:t>2</a:t>
            </a:r>
            <a:r>
              <a:rPr kumimoji="1" lang="en-US" altLang="zh-CN" sz="2400" b="1" dirty="0"/>
              <a:t>,</a:t>
            </a:r>
            <a:r>
              <a:rPr kumimoji="1" lang="en-US" altLang="zh-CN" sz="2400" b="1" dirty="0">
                <a:ea typeface="Arial Unicode MS" pitchFamily="34" charset="-122"/>
                <a:cs typeface="Arial Unicode MS" pitchFamily="34" charset="-122"/>
              </a:rPr>
              <a:t>⋯,T</a:t>
            </a:r>
            <a:r>
              <a:rPr kumimoji="1" lang="en-US" altLang="zh-CN" sz="2400" b="1" baseline="-18000" dirty="0"/>
              <a:t>n</a:t>
            </a:r>
            <a:r>
              <a:rPr kumimoji="1" lang="en-US" altLang="zh-CN" sz="2400" b="1" dirty="0"/>
              <a:t>} </a:t>
            </a:r>
            <a:r>
              <a:rPr kumimoji="1" lang="zh-CN" altLang="en-US" sz="2400" b="1" dirty="0">
                <a:latin typeface="宋体" pitchFamily="2" charset="-122"/>
              </a:rPr>
              <a:t>。</a:t>
            </a:r>
          </a:p>
          <a:p>
            <a:pPr>
              <a:lnSpc>
                <a:spcPct val="110000"/>
              </a:lnSpc>
              <a:spcBef>
                <a:spcPct val="20000"/>
              </a:spcBef>
              <a:buClr>
                <a:schemeClr val="accent2"/>
              </a:buClr>
              <a:buSzPct val="80000"/>
              <a:buFont typeface="Wingdings" pitchFamily="2" charset="2"/>
              <a:buNone/>
            </a:pPr>
            <a:r>
              <a:rPr kumimoji="1" lang="zh-CN" altLang="en-US" sz="2400" b="1" dirty="0">
                <a:solidFill>
                  <a:schemeClr val="folHlink"/>
                </a:solidFill>
              </a:rPr>
              <a:t>转换算法</a:t>
            </a:r>
            <a:r>
              <a:rPr kumimoji="1" lang="zh-CN" altLang="en-US" sz="2400" b="1" dirty="0"/>
              <a:t>：</a:t>
            </a:r>
          </a:p>
          <a:p>
            <a:pPr marL="533400" lvl="1">
              <a:lnSpc>
                <a:spcPct val="110000"/>
              </a:lnSpc>
              <a:spcBef>
                <a:spcPct val="20000"/>
              </a:spcBef>
              <a:buClr>
                <a:schemeClr val="accent2"/>
              </a:buClr>
              <a:buSzPct val="80000"/>
              <a:buFont typeface="Wingdings" pitchFamily="2" charset="2"/>
              <a:buNone/>
            </a:pPr>
            <a:r>
              <a:rPr kumimoji="1" lang="zh-CN" altLang="en-US" sz="2400" b="1" dirty="0"/>
              <a:t>①  若</a:t>
            </a:r>
            <a:r>
              <a:rPr kumimoji="1" lang="en-US" altLang="zh-CN" sz="2400" b="1" dirty="0"/>
              <a:t>B</a:t>
            </a:r>
            <a:r>
              <a:rPr kumimoji="1" lang="zh-CN" altLang="en-US" sz="2400" b="1" dirty="0"/>
              <a:t>是空树，则</a:t>
            </a:r>
            <a:r>
              <a:rPr kumimoji="1" lang="en-US" altLang="zh-CN" sz="2400" b="1" dirty="0"/>
              <a:t>F</a:t>
            </a:r>
            <a:r>
              <a:rPr kumimoji="1" lang="zh-CN" altLang="en-US" sz="2400" b="1" dirty="0"/>
              <a:t>为空</a:t>
            </a:r>
            <a:r>
              <a:rPr kumimoji="1" lang="zh-CN" altLang="en-US" sz="2400" b="1" dirty="0">
                <a:latin typeface="宋体" pitchFamily="2" charset="-122"/>
              </a:rPr>
              <a:t>。</a:t>
            </a:r>
            <a:endParaRPr kumimoji="1" lang="zh-CN" altLang="en-US" sz="2400" b="1" dirty="0"/>
          </a:p>
          <a:p>
            <a:pPr marL="533400" lvl="1">
              <a:lnSpc>
                <a:spcPct val="110000"/>
              </a:lnSpc>
              <a:spcBef>
                <a:spcPct val="20000"/>
              </a:spcBef>
              <a:buClr>
                <a:schemeClr val="accent2"/>
              </a:buClr>
              <a:buSzPct val="80000"/>
              <a:buFont typeface="Wingdings" pitchFamily="2" charset="2"/>
              <a:buNone/>
            </a:pPr>
            <a:r>
              <a:rPr kumimoji="1" lang="zh-CN" altLang="en-US" sz="2400" b="1" dirty="0"/>
              <a:t>②  若</a:t>
            </a:r>
            <a:r>
              <a:rPr kumimoji="1" lang="en-US" altLang="zh-CN" sz="2400" b="1" dirty="0"/>
              <a:t>B</a:t>
            </a:r>
            <a:r>
              <a:rPr kumimoji="1" lang="zh-CN" altLang="en-US" sz="2400" b="1" dirty="0"/>
              <a:t>非空，则</a:t>
            </a:r>
            <a:r>
              <a:rPr kumimoji="1" lang="en-US" altLang="zh-CN" sz="2400" b="1" dirty="0"/>
              <a:t>F</a:t>
            </a:r>
            <a:r>
              <a:rPr kumimoji="1" lang="zh-CN" altLang="en-US" sz="2400" b="1" dirty="0"/>
              <a:t>中第一棵树</a:t>
            </a:r>
            <a:r>
              <a:rPr kumimoji="1" lang="en-US" altLang="zh-CN" sz="2400" b="1" dirty="0"/>
              <a:t>T</a:t>
            </a:r>
            <a:r>
              <a:rPr kumimoji="1" lang="en-US" altLang="zh-CN" sz="2400" b="1" baseline="-18000" dirty="0"/>
              <a:t>1</a:t>
            </a:r>
            <a:r>
              <a:rPr kumimoji="1" lang="zh-CN" altLang="en-US" sz="2400" b="1" dirty="0"/>
              <a:t>的根</a:t>
            </a:r>
            <a:r>
              <a:rPr kumimoji="1" lang="en-US" altLang="zh-CN" sz="2400" b="1" dirty="0"/>
              <a:t>root(T</a:t>
            </a:r>
            <a:r>
              <a:rPr kumimoji="1" lang="en-US" altLang="zh-CN" sz="2400" b="1" baseline="-18000" dirty="0"/>
              <a:t>1</a:t>
            </a:r>
            <a:r>
              <a:rPr kumimoji="1" lang="en-US" altLang="zh-CN" sz="2400" b="1" dirty="0"/>
              <a:t>)</a:t>
            </a:r>
            <a:r>
              <a:rPr kumimoji="1" lang="zh-CN" altLang="en-US" sz="2400" b="1" dirty="0"/>
              <a:t>就是二叉树的根</a:t>
            </a:r>
            <a:r>
              <a:rPr kumimoji="1" lang="en-US" altLang="zh-CN" sz="2400" b="1" dirty="0"/>
              <a:t>root</a:t>
            </a:r>
            <a:r>
              <a:rPr kumimoji="1" lang="zh-CN" altLang="en-US" sz="2400" b="1" dirty="0"/>
              <a:t>， </a:t>
            </a:r>
            <a:r>
              <a:rPr kumimoji="1" lang="en-US" altLang="zh-CN" sz="2400" b="1" dirty="0"/>
              <a:t>T</a:t>
            </a:r>
            <a:r>
              <a:rPr kumimoji="1" lang="en-US" altLang="zh-CN" sz="2400" b="1" baseline="-18000" dirty="0"/>
              <a:t>1</a:t>
            </a:r>
            <a:r>
              <a:rPr kumimoji="1" lang="zh-CN" altLang="en-US" sz="2400" b="1" dirty="0"/>
              <a:t>中根结点的子森林</a:t>
            </a:r>
            <a:r>
              <a:rPr kumimoji="1" lang="en-US" altLang="zh-CN" sz="2400" b="1" dirty="0"/>
              <a:t>F</a:t>
            </a:r>
            <a:r>
              <a:rPr kumimoji="1" lang="en-US" altLang="zh-CN" sz="2400" b="1" baseline="-18000" dirty="0"/>
              <a:t>1</a:t>
            </a:r>
            <a:r>
              <a:rPr kumimoji="1" lang="zh-CN" altLang="en-US" sz="2400" b="1" dirty="0"/>
              <a:t>是由树</a:t>
            </a:r>
            <a:r>
              <a:rPr kumimoji="1" lang="en-US" altLang="zh-CN" sz="2400" b="1" dirty="0"/>
              <a:t>B</a:t>
            </a:r>
            <a:r>
              <a:rPr kumimoji="1" lang="zh-CN" altLang="en-US" sz="2400" b="1" dirty="0"/>
              <a:t>的左子树</a:t>
            </a:r>
            <a:r>
              <a:rPr kumimoji="1" lang="en-US" altLang="zh-CN" sz="2400" b="1" dirty="0"/>
              <a:t>LB</a:t>
            </a:r>
            <a:r>
              <a:rPr kumimoji="1" lang="zh-CN" altLang="en-US" sz="2400" b="1" dirty="0"/>
              <a:t>转换而成的森林</a:t>
            </a:r>
            <a:r>
              <a:rPr kumimoji="1" lang="zh-CN" altLang="en-US" sz="2400" b="1" dirty="0">
                <a:latin typeface="宋体" pitchFamily="2" charset="-122"/>
              </a:rPr>
              <a:t>；</a:t>
            </a:r>
            <a:r>
              <a:rPr kumimoji="1" lang="en-US" altLang="zh-CN" sz="2400" b="1" dirty="0"/>
              <a:t>F</a:t>
            </a:r>
            <a:r>
              <a:rPr kumimoji="1" lang="zh-CN" altLang="en-US" sz="2400" b="1" dirty="0"/>
              <a:t>中除</a:t>
            </a:r>
            <a:r>
              <a:rPr kumimoji="1" lang="en-US" altLang="zh-CN" sz="2400" b="1" dirty="0"/>
              <a:t>T</a:t>
            </a:r>
            <a:r>
              <a:rPr kumimoji="1" lang="en-US" altLang="zh-CN" sz="2400" b="1" baseline="-18000" dirty="0"/>
              <a:t>1</a:t>
            </a:r>
            <a:r>
              <a:rPr kumimoji="1" lang="zh-CN" altLang="en-US" sz="2400" b="1" dirty="0"/>
              <a:t>外其余树组成的的森林</a:t>
            </a:r>
            <a:r>
              <a:rPr kumimoji="1" lang="en-US" altLang="zh-CN" sz="2400" b="1" dirty="0"/>
              <a:t>F’={T</a:t>
            </a:r>
            <a:r>
              <a:rPr kumimoji="1" lang="en-US" altLang="zh-CN" sz="2400" b="1" baseline="-18000" dirty="0"/>
              <a:t>2</a:t>
            </a:r>
            <a:r>
              <a:rPr kumimoji="1" lang="en-US" altLang="zh-CN" sz="2400" b="1" dirty="0"/>
              <a:t>, T</a:t>
            </a:r>
            <a:r>
              <a:rPr kumimoji="1" lang="en-US" altLang="zh-CN" sz="2400" b="1" baseline="-18000" dirty="0"/>
              <a:t>3</a:t>
            </a:r>
            <a:r>
              <a:rPr kumimoji="1" lang="en-US" altLang="zh-CN" sz="2400" b="1" dirty="0"/>
              <a:t>,</a:t>
            </a:r>
            <a:r>
              <a:rPr kumimoji="1" lang="en-US" altLang="zh-CN" sz="2400" b="1" dirty="0">
                <a:ea typeface="Arial Unicode MS" pitchFamily="34" charset="-122"/>
                <a:cs typeface="Arial Unicode MS" pitchFamily="34" charset="-122"/>
              </a:rPr>
              <a:t>⋯,T</a:t>
            </a:r>
            <a:r>
              <a:rPr kumimoji="1" lang="en-US" altLang="zh-CN" sz="2400" b="1" baseline="-18000" dirty="0"/>
              <a:t>n</a:t>
            </a:r>
            <a:r>
              <a:rPr kumimoji="1" lang="en-US" altLang="zh-CN" sz="2400" b="1" dirty="0"/>
              <a:t>} </a:t>
            </a:r>
            <a:r>
              <a:rPr kumimoji="1" lang="zh-CN" altLang="en-US" sz="2400" b="1" dirty="0"/>
              <a:t>是由</a:t>
            </a:r>
            <a:r>
              <a:rPr kumimoji="1" lang="en-US" altLang="zh-CN" sz="2400" b="1" dirty="0"/>
              <a:t>B</a:t>
            </a:r>
            <a:r>
              <a:rPr kumimoji="1" lang="zh-CN" altLang="en-US" sz="2400" b="1" dirty="0"/>
              <a:t>右子树</a:t>
            </a:r>
            <a:r>
              <a:rPr kumimoji="1" lang="en-US" altLang="zh-CN" sz="2400" b="1" dirty="0"/>
              <a:t>RB</a:t>
            </a:r>
            <a:r>
              <a:rPr kumimoji="1" lang="zh-CN" altLang="en-US" sz="2400" b="1" dirty="0"/>
              <a:t>转换得到的森林</a:t>
            </a:r>
            <a:r>
              <a:rPr kumimoji="1" lang="zh-CN" altLang="en-US" sz="2400" b="1" dirty="0">
                <a:latin typeface="宋体" pitchFamily="2" charset="-122"/>
              </a:rPr>
              <a:t>。</a:t>
            </a:r>
          </a:p>
          <a:p>
            <a:pPr>
              <a:lnSpc>
                <a:spcPct val="110000"/>
              </a:lnSpc>
              <a:spcBef>
                <a:spcPct val="20000"/>
              </a:spcBef>
              <a:buClr>
                <a:schemeClr val="accent2"/>
              </a:buClr>
              <a:buSzPct val="80000"/>
              <a:buFont typeface="Wingdings" pitchFamily="2" charset="2"/>
              <a:buNone/>
            </a:pPr>
            <a:r>
              <a:rPr kumimoji="1" lang="zh-CN" altLang="en-US" sz="2400" b="1" dirty="0">
                <a:latin typeface="宋体" pitchFamily="2" charset="-122"/>
              </a:rPr>
              <a:t>    上述转换规则是递归的</a:t>
            </a:r>
            <a:r>
              <a:rPr kumimoji="1" lang="zh-CN" altLang="en-US" sz="2400" b="1" dirty="0"/>
              <a:t>，</a:t>
            </a:r>
            <a:r>
              <a:rPr kumimoji="1" lang="zh-CN" altLang="en-US" sz="2400" b="1" dirty="0">
                <a:latin typeface="宋体" pitchFamily="2" charset="-122"/>
              </a:rPr>
              <a:t>可以写出其递归算法。以下给出具体的还原步骤。</a:t>
            </a:r>
          </a:p>
        </p:txBody>
      </p:sp>
    </p:spTree>
    <p:extLst>
      <p:ext uri="{BB962C8B-B14F-4D97-AF65-F5344CB8AC3E}">
        <p14:creationId xmlns:p14="http://schemas.microsoft.com/office/powerpoint/2010/main" val="104314056"/>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2"/>
          <p:cNvSpPr>
            <a:spLocks noChangeArrowheads="1"/>
          </p:cNvSpPr>
          <p:nvPr/>
        </p:nvSpPr>
        <p:spPr bwMode="auto">
          <a:xfrm>
            <a:off x="152400" y="762227"/>
            <a:ext cx="8839200" cy="3060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533400" lvl="1">
              <a:lnSpc>
                <a:spcPct val="110000"/>
              </a:lnSpc>
              <a:spcBef>
                <a:spcPct val="20000"/>
              </a:spcBef>
              <a:buClr>
                <a:schemeClr val="accent2"/>
              </a:buClr>
              <a:buSzPct val="80000"/>
              <a:buFont typeface="Wingdings" pitchFamily="2" charset="2"/>
              <a:buNone/>
            </a:pPr>
            <a:r>
              <a:rPr kumimoji="1" lang="zh-CN" altLang="en-US" sz="2400" b="1" dirty="0"/>
              <a:t>①  </a:t>
            </a:r>
            <a:r>
              <a:rPr kumimoji="1" lang="zh-CN" altLang="en-US" sz="2400" b="1" dirty="0">
                <a:solidFill>
                  <a:schemeClr val="folHlink"/>
                </a:solidFill>
              </a:rPr>
              <a:t>去连线</a:t>
            </a:r>
            <a:r>
              <a:rPr kumimoji="1" lang="zh-CN" altLang="en-US" sz="2400" b="1" dirty="0"/>
              <a:t>。将二叉树</a:t>
            </a:r>
            <a:r>
              <a:rPr kumimoji="1" lang="en-US" altLang="zh-CN" sz="2400" b="1" dirty="0"/>
              <a:t>B</a:t>
            </a:r>
            <a:r>
              <a:rPr kumimoji="1" lang="zh-CN" altLang="en-US" sz="2400" b="1" dirty="0"/>
              <a:t>的根结点与其右子结点以及沿右子结点链方向的所有右子结点的连线全部去掉，得到若干棵孤立的二叉树，每一棵就是原来森林</a:t>
            </a:r>
            <a:r>
              <a:rPr kumimoji="1" lang="en-US" altLang="zh-CN" sz="2400" b="1" dirty="0"/>
              <a:t>F</a:t>
            </a:r>
            <a:r>
              <a:rPr kumimoji="1" lang="zh-CN" altLang="en-US" sz="2400" b="1" dirty="0"/>
              <a:t>中的树依次对应的二叉树，</a:t>
            </a:r>
            <a:r>
              <a:rPr kumimoji="1" lang="zh-CN" altLang="en-US" sz="2400" b="1" dirty="0">
                <a:latin typeface="宋体" pitchFamily="2" charset="-122"/>
              </a:rPr>
              <a:t>如图</a:t>
            </a:r>
            <a:r>
              <a:rPr kumimoji="1" lang="en-US" altLang="zh-CN" sz="2400" b="1" dirty="0"/>
              <a:t> (b)</a:t>
            </a:r>
            <a:r>
              <a:rPr kumimoji="1" lang="zh-CN" altLang="en-US" sz="2400" b="1" dirty="0"/>
              <a:t>所示</a:t>
            </a:r>
            <a:r>
              <a:rPr kumimoji="1" lang="zh-CN" altLang="en-US" sz="2400" b="1" dirty="0">
                <a:latin typeface="宋体" pitchFamily="2" charset="-122"/>
              </a:rPr>
              <a:t>。</a:t>
            </a:r>
            <a:endParaRPr kumimoji="1" lang="zh-CN" altLang="en-US" sz="2400" b="1" dirty="0"/>
          </a:p>
          <a:p>
            <a:pPr marL="533400" lvl="1">
              <a:lnSpc>
                <a:spcPct val="110000"/>
              </a:lnSpc>
              <a:spcBef>
                <a:spcPct val="20000"/>
              </a:spcBef>
              <a:buClr>
                <a:schemeClr val="accent2"/>
              </a:buClr>
              <a:buSzPct val="80000"/>
              <a:buFont typeface="Wingdings" pitchFamily="2" charset="2"/>
              <a:buNone/>
            </a:pPr>
            <a:r>
              <a:rPr kumimoji="1" lang="zh-CN" altLang="en-US" sz="2400" b="1" dirty="0"/>
              <a:t>②  </a:t>
            </a:r>
            <a:r>
              <a:rPr kumimoji="1" lang="zh-CN" altLang="en-US" sz="2400" b="1" dirty="0">
                <a:solidFill>
                  <a:schemeClr val="folHlink"/>
                </a:solidFill>
              </a:rPr>
              <a:t>二叉树的还原</a:t>
            </a:r>
            <a:r>
              <a:rPr kumimoji="1" lang="zh-CN" altLang="en-US" sz="2400" b="1" dirty="0"/>
              <a:t>。将各棵孤立的二叉树按二叉树还原为树的方法还原成一般的树，</a:t>
            </a:r>
            <a:r>
              <a:rPr kumimoji="1" lang="zh-CN" altLang="en-US" sz="2400" b="1" dirty="0">
                <a:latin typeface="宋体" pitchFamily="2" charset="-122"/>
              </a:rPr>
              <a:t>如图</a:t>
            </a:r>
            <a:r>
              <a:rPr kumimoji="1" lang="en-US" altLang="zh-CN" sz="2400" b="1" dirty="0"/>
              <a:t> (c)</a:t>
            </a:r>
            <a:r>
              <a:rPr kumimoji="1" lang="zh-CN" altLang="en-US" sz="2400" b="1" dirty="0"/>
              <a:t>所示</a:t>
            </a:r>
            <a:r>
              <a:rPr kumimoji="1" lang="zh-CN" altLang="en-US" sz="2400" b="1" dirty="0">
                <a:latin typeface="宋体" pitchFamily="2" charset="-122"/>
              </a:rPr>
              <a:t>。</a:t>
            </a:r>
          </a:p>
        </p:txBody>
      </p:sp>
      <p:grpSp>
        <p:nvGrpSpPr>
          <p:cNvPr id="20483" name="Group 3"/>
          <p:cNvGrpSpPr>
            <a:grpSpLocks/>
          </p:cNvGrpSpPr>
          <p:nvPr/>
        </p:nvGrpSpPr>
        <p:grpSpPr bwMode="auto">
          <a:xfrm>
            <a:off x="250825" y="3284538"/>
            <a:ext cx="8648700" cy="3095625"/>
            <a:chOff x="168" y="2115"/>
            <a:chExt cx="5448" cy="1950"/>
          </a:xfrm>
        </p:grpSpPr>
        <p:sp>
          <p:nvSpPr>
            <p:cNvPr id="20484" name="Rectangle 4"/>
            <p:cNvSpPr>
              <a:spLocks noChangeArrowheads="1"/>
            </p:cNvSpPr>
            <p:nvPr/>
          </p:nvSpPr>
          <p:spPr bwMode="auto">
            <a:xfrm>
              <a:off x="1655" y="3838"/>
              <a:ext cx="2374"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zh-CN" altLang="en-US" sz="2000" b="1"/>
                <a:t>图</a:t>
              </a:r>
              <a:r>
                <a:rPr lang="en-US" altLang="zh-CN" sz="2000" b="1"/>
                <a:t> </a:t>
              </a:r>
              <a:r>
                <a:rPr lang="zh-CN" altLang="en-US" sz="2000" b="1"/>
                <a:t>二叉树还原成森林的过程</a:t>
              </a:r>
            </a:p>
          </p:txBody>
        </p:sp>
        <p:grpSp>
          <p:nvGrpSpPr>
            <p:cNvPr id="20485" name="Group 5"/>
            <p:cNvGrpSpPr>
              <a:grpSpLocks/>
            </p:cNvGrpSpPr>
            <p:nvPr/>
          </p:nvGrpSpPr>
          <p:grpSpPr bwMode="auto">
            <a:xfrm>
              <a:off x="3696" y="2259"/>
              <a:ext cx="1920" cy="1390"/>
              <a:chOff x="3696" y="2341"/>
              <a:chExt cx="1920" cy="1390"/>
            </a:xfrm>
          </p:grpSpPr>
          <p:grpSp>
            <p:nvGrpSpPr>
              <p:cNvPr id="20526" name="Group 6"/>
              <p:cNvGrpSpPr>
                <a:grpSpLocks/>
              </p:cNvGrpSpPr>
              <p:nvPr/>
            </p:nvGrpSpPr>
            <p:grpSpPr bwMode="auto">
              <a:xfrm>
                <a:off x="3696" y="2352"/>
                <a:ext cx="665" cy="1115"/>
                <a:chOff x="455" y="1584"/>
                <a:chExt cx="665" cy="1115"/>
              </a:xfrm>
            </p:grpSpPr>
            <p:sp>
              <p:nvSpPr>
                <p:cNvPr id="20537" name="Oval 7"/>
                <p:cNvSpPr>
                  <a:spLocks noChangeArrowheads="1"/>
                </p:cNvSpPr>
                <p:nvPr/>
              </p:nvSpPr>
              <p:spPr bwMode="auto">
                <a:xfrm>
                  <a:off x="696" y="1584"/>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A</a:t>
                  </a:r>
                </a:p>
              </p:txBody>
            </p:sp>
            <p:sp>
              <p:nvSpPr>
                <p:cNvPr id="20538" name="Oval 8"/>
                <p:cNvSpPr>
                  <a:spLocks noChangeArrowheads="1"/>
                </p:cNvSpPr>
                <p:nvPr/>
              </p:nvSpPr>
              <p:spPr bwMode="auto">
                <a:xfrm>
                  <a:off x="871" y="2024"/>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C</a:t>
                  </a:r>
                </a:p>
              </p:txBody>
            </p:sp>
            <p:sp>
              <p:nvSpPr>
                <p:cNvPr id="20539" name="Oval 9"/>
                <p:cNvSpPr>
                  <a:spLocks noChangeArrowheads="1"/>
                </p:cNvSpPr>
                <p:nvPr/>
              </p:nvSpPr>
              <p:spPr bwMode="auto">
                <a:xfrm>
                  <a:off x="455" y="2024"/>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B</a:t>
                  </a:r>
                </a:p>
              </p:txBody>
            </p:sp>
            <p:sp>
              <p:nvSpPr>
                <p:cNvPr id="20540" name="Oval 10"/>
                <p:cNvSpPr>
                  <a:spLocks noChangeArrowheads="1"/>
                </p:cNvSpPr>
                <p:nvPr/>
              </p:nvSpPr>
              <p:spPr bwMode="auto">
                <a:xfrm>
                  <a:off x="864" y="2472"/>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D</a:t>
                  </a:r>
                </a:p>
              </p:txBody>
            </p:sp>
            <p:sp>
              <p:nvSpPr>
                <p:cNvPr id="20541" name="Line 11"/>
                <p:cNvSpPr>
                  <a:spLocks noChangeShapeType="1"/>
                </p:cNvSpPr>
                <p:nvPr/>
              </p:nvSpPr>
              <p:spPr bwMode="auto">
                <a:xfrm flipH="1">
                  <a:off x="584" y="1792"/>
                  <a:ext cx="159"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0542" name="Line 12"/>
                <p:cNvSpPr>
                  <a:spLocks noChangeShapeType="1"/>
                </p:cNvSpPr>
                <p:nvPr/>
              </p:nvSpPr>
              <p:spPr bwMode="auto">
                <a:xfrm>
                  <a:off x="872" y="1792"/>
                  <a:ext cx="136"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0543" name="Line 13"/>
                <p:cNvSpPr>
                  <a:spLocks noChangeShapeType="1"/>
                </p:cNvSpPr>
                <p:nvPr/>
              </p:nvSpPr>
              <p:spPr bwMode="auto">
                <a:xfrm>
                  <a:off x="992" y="2248"/>
                  <a:ext cx="0"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sp>
            <p:nvSpPr>
              <p:cNvPr id="20527" name="Oval 14"/>
              <p:cNvSpPr>
                <a:spLocks noChangeArrowheads="1"/>
              </p:cNvSpPr>
              <p:nvPr/>
            </p:nvSpPr>
            <p:spPr bwMode="auto">
              <a:xfrm>
                <a:off x="5367" y="2352"/>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M</a:t>
                </a:r>
              </a:p>
            </p:txBody>
          </p:sp>
          <p:grpSp>
            <p:nvGrpSpPr>
              <p:cNvPr id="20528" name="Group 15"/>
              <p:cNvGrpSpPr>
                <a:grpSpLocks/>
              </p:cNvGrpSpPr>
              <p:nvPr/>
            </p:nvGrpSpPr>
            <p:grpSpPr bwMode="auto">
              <a:xfrm>
                <a:off x="4512" y="2341"/>
                <a:ext cx="807" cy="1115"/>
                <a:chOff x="4512" y="2341"/>
                <a:chExt cx="807" cy="1115"/>
              </a:xfrm>
            </p:grpSpPr>
            <p:sp>
              <p:nvSpPr>
                <p:cNvPr id="20530" name="Oval 16"/>
                <p:cNvSpPr>
                  <a:spLocks noChangeArrowheads="1"/>
                </p:cNvSpPr>
                <p:nvPr/>
              </p:nvSpPr>
              <p:spPr bwMode="auto">
                <a:xfrm>
                  <a:off x="4808" y="2341"/>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G</a:t>
                  </a:r>
                </a:p>
              </p:txBody>
            </p:sp>
            <p:sp>
              <p:nvSpPr>
                <p:cNvPr id="20531" name="Oval 17"/>
                <p:cNvSpPr>
                  <a:spLocks noChangeArrowheads="1"/>
                </p:cNvSpPr>
                <p:nvPr/>
              </p:nvSpPr>
              <p:spPr bwMode="auto">
                <a:xfrm>
                  <a:off x="4528" y="2781"/>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L</a:t>
                  </a:r>
                </a:p>
              </p:txBody>
            </p:sp>
            <p:sp>
              <p:nvSpPr>
                <p:cNvPr id="20532" name="Oval 18"/>
                <p:cNvSpPr>
                  <a:spLocks noChangeArrowheads="1"/>
                </p:cNvSpPr>
                <p:nvPr/>
              </p:nvSpPr>
              <p:spPr bwMode="auto">
                <a:xfrm>
                  <a:off x="4512" y="3229"/>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H</a:t>
                  </a:r>
                </a:p>
              </p:txBody>
            </p:sp>
            <p:sp>
              <p:nvSpPr>
                <p:cNvPr id="20533" name="Line 19"/>
                <p:cNvSpPr>
                  <a:spLocks noChangeShapeType="1"/>
                </p:cNvSpPr>
                <p:nvPr/>
              </p:nvSpPr>
              <p:spPr bwMode="auto">
                <a:xfrm flipH="1">
                  <a:off x="4673" y="2549"/>
                  <a:ext cx="181"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0534" name="Line 20"/>
                <p:cNvSpPr>
                  <a:spLocks noChangeShapeType="1"/>
                </p:cNvSpPr>
                <p:nvPr/>
              </p:nvSpPr>
              <p:spPr bwMode="auto">
                <a:xfrm>
                  <a:off x="4992" y="2549"/>
                  <a:ext cx="181"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0535" name="Line 21"/>
                <p:cNvSpPr>
                  <a:spLocks noChangeShapeType="1"/>
                </p:cNvSpPr>
                <p:nvPr/>
              </p:nvSpPr>
              <p:spPr bwMode="auto">
                <a:xfrm>
                  <a:off x="4640" y="3005"/>
                  <a:ext cx="0"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0536" name="Oval 22"/>
                <p:cNvSpPr>
                  <a:spLocks noChangeArrowheads="1"/>
                </p:cNvSpPr>
                <p:nvPr/>
              </p:nvSpPr>
              <p:spPr bwMode="auto">
                <a:xfrm>
                  <a:off x="5070" y="2781"/>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K</a:t>
                  </a:r>
                </a:p>
              </p:txBody>
            </p:sp>
          </p:grpSp>
          <p:sp>
            <p:nvSpPr>
              <p:cNvPr id="20529" name="Rectangle 23"/>
              <p:cNvSpPr>
                <a:spLocks noChangeArrowheads="1"/>
              </p:cNvSpPr>
              <p:nvPr/>
            </p:nvSpPr>
            <p:spPr bwMode="auto">
              <a:xfrm>
                <a:off x="4021" y="3504"/>
                <a:ext cx="121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b="1"/>
                  <a:t>(c)   </a:t>
                </a:r>
                <a:r>
                  <a:rPr lang="zh-CN" altLang="en-US" sz="2000" b="1"/>
                  <a:t>还原成森林</a:t>
                </a:r>
              </a:p>
            </p:txBody>
          </p:sp>
        </p:grpSp>
        <p:grpSp>
          <p:nvGrpSpPr>
            <p:cNvPr id="20486" name="Group 24"/>
            <p:cNvGrpSpPr>
              <a:grpSpLocks/>
            </p:cNvGrpSpPr>
            <p:nvPr/>
          </p:nvGrpSpPr>
          <p:grpSpPr bwMode="auto">
            <a:xfrm>
              <a:off x="168" y="2115"/>
              <a:ext cx="1430" cy="1626"/>
              <a:chOff x="168" y="2227"/>
              <a:chExt cx="1430" cy="1626"/>
            </a:xfrm>
          </p:grpSpPr>
          <p:sp>
            <p:nvSpPr>
              <p:cNvPr id="20507" name="Rectangle 25"/>
              <p:cNvSpPr>
                <a:spLocks noChangeArrowheads="1"/>
              </p:cNvSpPr>
              <p:nvPr/>
            </p:nvSpPr>
            <p:spPr bwMode="auto">
              <a:xfrm>
                <a:off x="462" y="3626"/>
                <a:ext cx="816"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457200" indent="-457200"/>
                <a:r>
                  <a:rPr kumimoji="1" lang="en-US" altLang="zh-CN" sz="2000" b="1" dirty="0">
                    <a:latin typeface="Times New Roman" pitchFamily="18" charset="0"/>
                  </a:rPr>
                  <a:t>(a)  </a:t>
                </a:r>
                <a:r>
                  <a:rPr kumimoji="1" lang="zh-CN" altLang="en-US" sz="2000" b="1" dirty="0">
                    <a:latin typeface="Times New Roman" pitchFamily="18" charset="0"/>
                  </a:rPr>
                  <a:t>二叉树</a:t>
                </a:r>
              </a:p>
            </p:txBody>
          </p:sp>
          <p:grpSp>
            <p:nvGrpSpPr>
              <p:cNvPr id="20508" name="Group 26"/>
              <p:cNvGrpSpPr>
                <a:grpSpLocks/>
              </p:cNvGrpSpPr>
              <p:nvPr/>
            </p:nvGrpSpPr>
            <p:grpSpPr bwMode="auto">
              <a:xfrm>
                <a:off x="168" y="2227"/>
                <a:ext cx="1430" cy="1322"/>
                <a:chOff x="168" y="2227"/>
                <a:chExt cx="1430" cy="1322"/>
              </a:xfrm>
            </p:grpSpPr>
            <p:sp>
              <p:nvSpPr>
                <p:cNvPr id="20509" name="Oval 27"/>
                <p:cNvSpPr>
                  <a:spLocks noChangeArrowheads="1"/>
                </p:cNvSpPr>
                <p:nvPr/>
              </p:nvSpPr>
              <p:spPr bwMode="auto">
                <a:xfrm>
                  <a:off x="657" y="2227"/>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A</a:t>
                  </a:r>
                </a:p>
              </p:txBody>
            </p:sp>
            <p:sp>
              <p:nvSpPr>
                <p:cNvPr id="20510" name="Oval 28"/>
                <p:cNvSpPr>
                  <a:spLocks noChangeArrowheads="1"/>
                </p:cNvSpPr>
                <p:nvPr/>
              </p:nvSpPr>
              <p:spPr bwMode="auto">
                <a:xfrm>
                  <a:off x="168" y="2581"/>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B</a:t>
                  </a:r>
                </a:p>
              </p:txBody>
            </p:sp>
            <p:sp>
              <p:nvSpPr>
                <p:cNvPr id="20511" name="Oval 29"/>
                <p:cNvSpPr>
                  <a:spLocks noChangeArrowheads="1"/>
                </p:cNvSpPr>
                <p:nvPr/>
              </p:nvSpPr>
              <p:spPr bwMode="auto">
                <a:xfrm>
                  <a:off x="448" y="2946"/>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C</a:t>
                  </a:r>
                </a:p>
              </p:txBody>
            </p:sp>
            <p:sp>
              <p:nvSpPr>
                <p:cNvPr id="20512" name="Line 30"/>
                <p:cNvSpPr>
                  <a:spLocks noChangeShapeType="1"/>
                </p:cNvSpPr>
                <p:nvPr/>
              </p:nvSpPr>
              <p:spPr bwMode="auto">
                <a:xfrm flipH="1">
                  <a:off x="385" y="2405"/>
                  <a:ext cx="296" cy="20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0513" name="Line 31"/>
                <p:cNvSpPr>
                  <a:spLocks noChangeShapeType="1"/>
                </p:cNvSpPr>
                <p:nvPr/>
              </p:nvSpPr>
              <p:spPr bwMode="auto">
                <a:xfrm>
                  <a:off x="368" y="2789"/>
                  <a:ext cx="153" cy="15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0514" name="Oval 32"/>
                <p:cNvSpPr>
                  <a:spLocks noChangeArrowheads="1"/>
                </p:cNvSpPr>
                <p:nvPr/>
              </p:nvSpPr>
              <p:spPr bwMode="auto">
                <a:xfrm>
                  <a:off x="184" y="3322"/>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D</a:t>
                  </a:r>
                </a:p>
              </p:txBody>
            </p:sp>
            <p:sp>
              <p:nvSpPr>
                <p:cNvPr id="20515" name="Line 33"/>
                <p:cNvSpPr>
                  <a:spLocks noChangeShapeType="1"/>
                </p:cNvSpPr>
                <p:nvPr/>
              </p:nvSpPr>
              <p:spPr bwMode="auto">
                <a:xfrm flipH="1">
                  <a:off x="356" y="3154"/>
                  <a:ext cx="137" cy="16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0516" name="Oval 34"/>
                <p:cNvSpPr>
                  <a:spLocks noChangeArrowheads="1"/>
                </p:cNvSpPr>
                <p:nvPr/>
              </p:nvSpPr>
              <p:spPr bwMode="auto">
                <a:xfrm>
                  <a:off x="1104" y="2581"/>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G</a:t>
                  </a:r>
                </a:p>
              </p:txBody>
            </p:sp>
            <p:sp>
              <p:nvSpPr>
                <p:cNvPr id="20517" name="Oval 35"/>
                <p:cNvSpPr>
                  <a:spLocks noChangeArrowheads="1"/>
                </p:cNvSpPr>
                <p:nvPr/>
              </p:nvSpPr>
              <p:spPr bwMode="auto">
                <a:xfrm>
                  <a:off x="832" y="2957"/>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L</a:t>
                  </a:r>
                </a:p>
              </p:txBody>
            </p:sp>
            <p:sp>
              <p:nvSpPr>
                <p:cNvPr id="20518" name="Oval 36"/>
                <p:cNvSpPr>
                  <a:spLocks noChangeArrowheads="1"/>
                </p:cNvSpPr>
                <p:nvPr/>
              </p:nvSpPr>
              <p:spPr bwMode="auto">
                <a:xfrm>
                  <a:off x="1120" y="3322"/>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K</a:t>
                  </a:r>
                </a:p>
              </p:txBody>
            </p:sp>
            <p:sp>
              <p:nvSpPr>
                <p:cNvPr id="20519" name="Oval 37"/>
                <p:cNvSpPr>
                  <a:spLocks noChangeArrowheads="1"/>
                </p:cNvSpPr>
                <p:nvPr/>
              </p:nvSpPr>
              <p:spPr bwMode="auto">
                <a:xfrm>
                  <a:off x="553" y="3317"/>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H</a:t>
                  </a:r>
                </a:p>
              </p:txBody>
            </p:sp>
            <p:sp>
              <p:nvSpPr>
                <p:cNvPr id="20520" name="Oval 38"/>
                <p:cNvSpPr>
                  <a:spLocks noChangeArrowheads="1"/>
                </p:cNvSpPr>
                <p:nvPr/>
              </p:nvSpPr>
              <p:spPr bwMode="auto">
                <a:xfrm>
                  <a:off x="1349" y="2949"/>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M</a:t>
                  </a:r>
                </a:p>
              </p:txBody>
            </p:sp>
            <p:sp>
              <p:nvSpPr>
                <p:cNvPr id="20521" name="Line 39"/>
                <p:cNvSpPr>
                  <a:spLocks noChangeShapeType="1"/>
                </p:cNvSpPr>
                <p:nvPr/>
              </p:nvSpPr>
              <p:spPr bwMode="auto">
                <a:xfrm>
                  <a:off x="887" y="2411"/>
                  <a:ext cx="272" cy="18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0522" name="Line 40"/>
                <p:cNvSpPr>
                  <a:spLocks noChangeShapeType="1"/>
                </p:cNvSpPr>
                <p:nvPr/>
              </p:nvSpPr>
              <p:spPr bwMode="auto">
                <a:xfrm>
                  <a:off x="1284" y="2795"/>
                  <a:ext cx="153" cy="15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0523" name="Line 41"/>
                <p:cNvSpPr>
                  <a:spLocks noChangeShapeType="1"/>
                </p:cNvSpPr>
                <p:nvPr/>
              </p:nvSpPr>
              <p:spPr bwMode="auto">
                <a:xfrm>
                  <a:off x="1020" y="3171"/>
                  <a:ext cx="153" cy="15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0524" name="Line 42"/>
                <p:cNvSpPr>
                  <a:spLocks noChangeShapeType="1"/>
                </p:cNvSpPr>
                <p:nvPr/>
              </p:nvSpPr>
              <p:spPr bwMode="auto">
                <a:xfrm flipH="1">
                  <a:off x="743" y="3166"/>
                  <a:ext cx="137" cy="16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0525" name="Line 43"/>
                <p:cNvSpPr>
                  <a:spLocks noChangeShapeType="1"/>
                </p:cNvSpPr>
                <p:nvPr/>
              </p:nvSpPr>
              <p:spPr bwMode="auto">
                <a:xfrm flipH="1">
                  <a:off x="1019" y="2795"/>
                  <a:ext cx="137" cy="16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grpSp>
          <p:nvGrpSpPr>
            <p:cNvPr id="20487" name="Group 44"/>
            <p:cNvGrpSpPr>
              <a:grpSpLocks/>
            </p:cNvGrpSpPr>
            <p:nvPr/>
          </p:nvGrpSpPr>
          <p:grpSpPr bwMode="auto">
            <a:xfrm>
              <a:off x="1949" y="2146"/>
              <a:ext cx="1430" cy="1587"/>
              <a:chOff x="1949" y="2258"/>
              <a:chExt cx="1430" cy="1587"/>
            </a:xfrm>
          </p:grpSpPr>
          <p:sp>
            <p:nvSpPr>
              <p:cNvPr id="20488" name="Rectangle 45"/>
              <p:cNvSpPr>
                <a:spLocks noChangeArrowheads="1"/>
              </p:cNvSpPr>
              <p:nvPr/>
            </p:nvSpPr>
            <p:spPr bwMode="auto">
              <a:xfrm>
                <a:off x="2136" y="3618"/>
                <a:ext cx="997"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457200" indent="-457200"/>
                <a:r>
                  <a:rPr kumimoji="1" lang="en-US" altLang="zh-CN" sz="2000" b="1">
                    <a:latin typeface="Times New Roman" pitchFamily="18" charset="0"/>
                  </a:rPr>
                  <a:t>(b)  </a:t>
                </a:r>
                <a:r>
                  <a:rPr kumimoji="1" lang="zh-CN" altLang="en-US" sz="2000" b="1">
                    <a:latin typeface="Times New Roman" pitchFamily="18" charset="0"/>
                  </a:rPr>
                  <a:t>去连线后</a:t>
                </a:r>
              </a:p>
            </p:txBody>
          </p:sp>
          <p:grpSp>
            <p:nvGrpSpPr>
              <p:cNvPr id="20489" name="Group 46"/>
              <p:cNvGrpSpPr>
                <a:grpSpLocks/>
              </p:cNvGrpSpPr>
              <p:nvPr/>
            </p:nvGrpSpPr>
            <p:grpSpPr bwMode="auto">
              <a:xfrm>
                <a:off x="1949" y="2258"/>
                <a:ext cx="1430" cy="1322"/>
                <a:chOff x="1858" y="2258"/>
                <a:chExt cx="1430" cy="1322"/>
              </a:xfrm>
            </p:grpSpPr>
            <p:grpSp>
              <p:nvGrpSpPr>
                <p:cNvPr id="20490" name="Group 47"/>
                <p:cNvGrpSpPr>
                  <a:grpSpLocks/>
                </p:cNvGrpSpPr>
                <p:nvPr/>
              </p:nvGrpSpPr>
              <p:grpSpPr bwMode="auto">
                <a:xfrm>
                  <a:off x="1858" y="2258"/>
                  <a:ext cx="738" cy="1322"/>
                  <a:chOff x="1858" y="2258"/>
                  <a:chExt cx="738" cy="1322"/>
                </a:xfrm>
              </p:grpSpPr>
              <p:sp>
                <p:nvSpPr>
                  <p:cNvPr id="20500" name="Oval 48"/>
                  <p:cNvSpPr>
                    <a:spLocks noChangeArrowheads="1"/>
                  </p:cNvSpPr>
                  <p:nvPr/>
                </p:nvSpPr>
                <p:spPr bwMode="auto">
                  <a:xfrm>
                    <a:off x="2347" y="2258"/>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A</a:t>
                    </a:r>
                  </a:p>
                </p:txBody>
              </p:sp>
              <p:sp>
                <p:nvSpPr>
                  <p:cNvPr id="20501" name="Oval 49"/>
                  <p:cNvSpPr>
                    <a:spLocks noChangeArrowheads="1"/>
                  </p:cNvSpPr>
                  <p:nvPr/>
                </p:nvSpPr>
                <p:spPr bwMode="auto">
                  <a:xfrm>
                    <a:off x="1858" y="2612"/>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B</a:t>
                    </a:r>
                  </a:p>
                </p:txBody>
              </p:sp>
              <p:sp>
                <p:nvSpPr>
                  <p:cNvPr id="20502" name="Oval 50"/>
                  <p:cNvSpPr>
                    <a:spLocks noChangeArrowheads="1"/>
                  </p:cNvSpPr>
                  <p:nvPr/>
                </p:nvSpPr>
                <p:spPr bwMode="auto">
                  <a:xfrm>
                    <a:off x="2138" y="2977"/>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C</a:t>
                    </a:r>
                  </a:p>
                </p:txBody>
              </p:sp>
              <p:sp>
                <p:nvSpPr>
                  <p:cNvPr id="20503" name="Line 51"/>
                  <p:cNvSpPr>
                    <a:spLocks noChangeShapeType="1"/>
                  </p:cNvSpPr>
                  <p:nvPr/>
                </p:nvSpPr>
                <p:spPr bwMode="auto">
                  <a:xfrm flipH="1">
                    <a:off x="2075" y="2436"/>
                    <a:ext cx="296" cy="20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0504" name="Line 52"/>
                  <p:cNvSpPr>
                    <a:spLocks noChangeShapeType="1"/>
                  </p:cNvSpPr>
                  <p:nvPr/>
                </p:nvSpPr>
                <p:spPr bwMode="auto">
                  <a:xfrm>
                    <a:off x="2058" y="2820"/>
                    <a:ext cx="153" cy="15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0505" name="Oval 53"/>
                  <p:cNvSpPr>
                    <a:spLocks noChangeArrowheads="1"/>
                  </p:cNvSpPr>
                  <p:nvPr/>
                </p:nvSpPr>
                <p:spPr bwMode="auto">
                  <a:xfrm>
                    <a:off x="1874" y="3353"/>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D</a:t>
                    </a:r>
                  </a:p>
                </p:txBody>
              </p:sp>
              <p:sp>
                <p:nvSpPr>
                  <p:cNvPr id="20506" name="Line 54"/>
                  <p:cNvSpPr>
                    <a:spLocks noChangeShapeType="1"/>
                  </p:cNvSpPr>
                  <p:nvPr/>
                </p:nvSpPr>
                <p:spPr bwMode="auto">
                  <a:xfrm flipH="1">
                    <a:off x="2046" y="3185"/>
                    <a:ext cx="137" cy="16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sp>
              <p:nvSpPr>
                <p:cNvPr id="20491" name="Oval 55"/>
                <p:cNvSpPr>
                  <a:spLocks noChangeArrowheads="1"/>
                </p:cNvSpPr>
                <p:nvPr/>
              </p:nvSpPr>
              <p:spPr bwMode="auto">
                <a:xfrm>
                  <a:off x="3039" y="2980"/>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M</a:t>
                  </a:r>
                </a:p>
              </p:txBody>
            </p:sp>
            <p:grpSp>
              <p:nvGrpSpPr>
                <p:cNvPr id="20492" name="Group 56"/>
                <p:cNvGrpSpPr>
                  <a:grpSpLocks/>
                </p:cNvGrpSpPr>
                <p:nvPr/>
              </p:nvGrpSpPr>
              <p:grpSpPr bwMode="auto">
                <a:xfrm>
                  <a:off x="2243" y="2612"/>
                  <a:ext cx="800" cy="968"/>
                  <a:chOff x="2243" y="2612"/>
                  <a:chExt cx="800" cy="968"/>
                </a:xfrm>
              </p:grpSpPr>
              <p:sp>
                <p:nvSpPr>
                  <p:cNvPr id="20493" name="Oval 57"/>
                  <p:cNvSpPr>
                    <a:spLocks noChangeArrowheads="1"/>
                  </p:cNvSpPr>
                  <p:nvPr/>
                </p:nvSpPr>
                <p:spPr bwMode="auto">
                  <a:xfrm>
                    <a:off x="2794" y="2612"/>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G</a:t>
                    </a:r>
                  </a:p>
                </p:txBody>
              </p:sp>
              <p:sp>
                <p:nvSpPr>
                  <p:cNvPr id="20494" name="Oval 58"/>
                  <p:cNvSpPr>
                    <a:spLocks noChangeArrowheads="1"/>
                  </p:cNvSpPr>
                  <p:nvPr/>
                </p:nvSpPr>
                <p:spPr bwMode="auto">
                  <a:xfrm>
                    <a:off x="2522" y="2988"/>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L</a:t>
                    </a:r>
                  </a:p>
                </p:txBody>
              </p:sp>
              <p:sp>
                <p:nvSpPr>
                  <p:cNvPr id="20495" name="Oval 59"/>
                  <p:cNvSpPr>
                    <a:spLocks noChangeArrowheads="1"/>
                  </p:cNvSpPr>
                  <p:nvPr/>
                </p:nvSpPr>
                <p:spPr bwMode="auto">
                  <a:xfrm>
                    <a:off x="2794" y="3353"/>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K</a:t>
                    </a:r>
                  </a:p>
                </p:txBody>
              </p:sp>
              <p:sp>
                <p:nvSpPr>
                  <p:cNvPr id="20496" name="Oval 60"/>
                  <p:cNvSpPr>
                    <a:spLocks noChangeArrowheads="1"/>
                  </p:cNvSpPr>
                  <p:nvPr/>
                </p:nvSpPr>
                <p:spPr bwMode="auto">
                  <a:xfrm>
                    <a:off x="2243" y="3348"/>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H</a:t>
                    </a:r>
                  </a:p>
                </p:txBody>
              </p:sp>
              <p:sp>
                <p:nvSpPr>
                  <p:cNvPr id="20497" name="Line 61"/>
                  <p:cNvSpPr>
                    <a:spLocks noChangeShapeType="1"/>
                  </p:cNvSpPr>
                  <p:nvPr/>
                </p:nvSpPr>
                <p:spPr bwMode="auto">
                  <a:xfrm>
                    <a:off x="2710" y="3202"/>
                    <a:ext cx="153" cy="15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0498" name="Line 62"/>
                  <p:cNvSpPr>
                    <a:spLocks noChangeShapeType="1"/>
                  </p:cNvSpPr>
                  <p:nvPr/>
                </p:nvSpPr>
                <p:spPr bwMode="auto">
                  <a:xfrm flipH="1">
                    <a:off x="2433" y="3197"/>
                    <a:ext cx="137" cy="16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0499" name="Line 63"/>
                  <p:cNvSpPr>
                    <a:spLocks noChangeShapeType="1"/>
                  </p:cNvSpPr>
                  <p:nvPr/>
                </p:nvSpPr>
                <p:spPr bwMode="auto">
                  <a:xfrm flipH="1">
                    <a:off x="2709" y="2826"/>
                    <a:ext cx="137" cy="16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grpSp>
        </p:grpSp>
      </p:grpSp>
    </p:spTree>
    <p:extLst>
      <p:ext uri="{BB962C8B-B14F-4D97-AF65-F5344CB8AC3E}">
        <p14:creationId xmlns:p14="http://schemas.microsoft.com/office/powerpoint/2010/main" val="2408814417"/>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618" name="Rectangle 2"/>
          <p:cNvSpPr>
            <a:spLocks noGrp="1" noChangeArrowheads="1"/>
          </p:cNvSpPr>
          <p:nvPr>
            <p:ph type="title"/>
          </p:nvPr>
        </p:nvSpPr>
        <p:spPr>
          <a:xfrm>
            <a:off x="762000" y="188913"/>
            <a:ext cx="6324600" cy="685800"/>
          </a:xfrm>
        </p:spPr>
        <p:txBody>
          <a:bodyPr rtlCol="0">
            <a:normAutofit/>
          </a:bodyPr>
          <a:lstStyle/>
          <a:p>
            <a:pPr eaLnBrk="1" fontAlgn="auto" hangingPunct="1">
              <a:spcAft>
                <a:spcPts val="0"/>
              </a:spcAft>
              <a:defRPr/>
            </a:pPr>
            <a:r>
              <a:rPr lang="zh-CN" altLang="en-US" b="1" dirty="0" smtClean="0">
                <a:ea typeface="楷体_GB2312" pitchFamily="49" charset="-122"/>
              </a:rPr>
              <a:t>树</a:t>
            </a:r>
            <a:r>
              <a:rPr lang="zh-CN" altLang="en-US" b="1" dirty="0">
                <a:ea typeface="楷体_GB2312" pitchFamily="49" charset="-122"/>
              </a:rPr>
              <a:t>和森林的遍历</a:t>
            </a:r>
          </a:p>
        </p:txBody>
      </p:sp>
      <p:sp>
        <p:nvSpPr>
          <p:cNvPr id="21507" name="Rectangle 3"/>
          <p:cNvSpPr>
            <a:spLocks noGrp="1" noChangeArrowheads="1"/>
          </p:cNvSpPr>
          <p:nvPr>
            <p:ph type="body" idx="1"/>
          </p:nvPr>
        </p:nvSpPr>
        <p:spPr>
          <a:xfrm>
            <a:off x="179388" y="1052513"/>
            <a:ext cx="8785225" cy="4608512"/>
          </a:xfrm>
        </p:spPr>
        <p:txBody>
          <a:bodyPr/>
          <a:lstStyle/>
          <a:p>
            <a:pPr marL="0" indent="0" eaLnBrk="1" hangingPunct="1">
              <a:lnSpc>
                <a:spcPct val="110000"/>
              </a:lnSpc>
              <a:buFont typeface="Wingdings" pitchFamily="2" charset="2"/>
              <a:buNone/>
            </a:pPr>
            <a:r>
              <a:rPr lang="en-US" altLang="zh-CN" b="1" dirty="0" smtClean="0">
                <a:solidFill>
                  <a:schemeClr val="tx2"/>
                </a:solidFill>
                <a:ea typeface="宋体" pitchFamily="2" charset="-122"/>
              </a:rPr>
              <a:t>1  </a:t>
            </a:r>
            <a:r>
              <a:rPr lang="zh-CN" altLang="en-US" b="1" dirty="0" smtClean="0">
                <a:solidFill>
                  <a:schemeClr val="tx2"/>
                </a:solidFill>
                <a:ea typeface="楷体_GB2312" pitchFamily="49" charset="-122"/>
              </a:rPr>
              <a:t>树的遍历</a:t>
            </a:r>
          </a:p>
          <a:p>
            <a:pPr marL="0" indent="0" eaLnBrk="1" hangingPunct="1">
              <a:lnSpc>
                <a:spcPct val="110000"/>
              </a:lnSpc>
              <a:buFont typeface="Wingdings" pitchFamily="2" charset="2"/>
              <a:buNone/>
            </a:pPr>
            <a:r>
              <a:rPr lang="zh-CN" altLang="en-US" dirty="0" smtClean="0">
                <a:ea typeface="宋体" pitchFamily="2" charset="-122"/>
              </a:rPr>
              <a:t>        </a:t>
            </a:r>
            <a:r>
              <a:rPr lang="zh-CN" altLang="en-US" b="1" dirty="0" smtClean="0">
                <a:ea typeface="宋体" pitchFamily="2" charset="-122"/>
              </a:rPr>
              <a:t>由树结构的定义可知，树的遍历有二种方法。</a:t>
            </a:r>
          </a:p>
          <a:p>
            <a:pPr marL="533400" lvl="1" indent="0" eaLnBrk="1" hangingPunct="1">
              <a:lnSpc>
                <a:spcPct val="110000"/>
              </a:lnSpc>
              <a:buFontTx/>
              <a:buNone/>
            </a:pPr>
            <a:r>
              <a:rPr lang="zh-CN" altLang="en-US" sz="2400" b="1" dirty="0" smtClean="0">
                <a:solidFill>
                  <a:schemeClr val="folHlink"/>
                </a:solidFill>
                <a:ea typeface="宋体" pitchFamily="2" charset="-122"/>
              </a:rPr>
              <a:t>⑴</a:t>
            </a:r>
            <a:r>
              <a:rPr lang="zh-CN" altLang="en-US" sz="2400" dirty="0" smtClean="0">
                <a:solidFill>
                  <a:schemeClr val="folHlink"/>
                </a:solidFill>
                <a:ea typeface="宋体" pitchFamily="2" charset="-122"/>
              </a:rPr>
              <a:t>   </a:t>
            </a:r>
            <a:r>
              <a:rPr lang="zh-CN" altLang="en-US" sz="2400" b="1" dirty="0" smtClean="0">
                <a:solidFill>
                  <a:schemeClr val="folHlink"/>
                </a:solidFill>
                <a:ea typeface="宋体" pitchFamily="2" charset="-122"/>
              </a:rPr>
              <a:t>先序遍历</a:t>
            </a:r>
            <a:r>
              <a:rPr lang="zh-CN" altLang="en-US" sz="2400" b="1" dirty="0" smtClean="0">
                <a:ea typeface="宋体" pitchFamily="2" charset="-122"/>
              </a:rPr>
              <a:t>：先访问根结点，然后</a:t>
            </a:r>
            <a:r>
              <a:rPr lang="zh-CN" altLang="en-US" sz="2400" b="1" dirty="0" smtClean="0">
                <a:solidFill>
                  <a:schemeClr val="folHlink"/>
                </a:solidFill>
                <a:ea typeface="宋体" pitchFamily="2" charset="-122"/>
              </a:rPr>
              <a:t>依次先序遍历完</a:t>
            </a:r>
            <a:r>
              <a:rPr lang="zh-CN" altLang="en-US" sz="2400" b="1" dirty="0" smtClean="0">
                <a:ea typeface="宋体" pitchFamily="2" charset="-122"/>
              </a:rPr>
              <a:t>每棵子树。</a:t>
            </a:r>
            <a:r>
              <a:rPr lang="zh-CN" altLang="en-US" sz="2400" b="1" dirty="0" smtClean="0">
                <a:latin typeface="宋体" pitchFamily="2" charset="-122"/>
                <a:ea typeface="宋体" pitchFamily="2" charset="-122"/>
              </a:rPr>
              <a:t>如图</a:t>
            </a:r>
            <a:r>
              <a:rPr lang="zh-CN" altLang="en-US" sz="2400" b="1" dirty="0" smtClean="0">
                <a:ea typeface="宋体" pitchFamily="2" charset="-122"/>
              </a:rPr>
              <a:t>的树，先序遍历的次序是：</a:t>
            </a:r>
          </a:p>
          <a:p>
            <a:pPr marL="1079500" lvl="2" indent="0" eaLnBrk="1" hangingPunct="1">
              <a:lnSpc>
                <a:spcPct val="110000"/>
              </a:lnSpc>
              <a:buFont typeface="Wingdings" pitchFamily="2" charset="2"/>
              <a:buNone/>
            </a:pPr>
            <a:r>
              <a:rPr lang="en-US" altLang="zh-CN" b="1" dirty="0" smtClean="0">
                <a:ea typeface="宋体" pitchFamily="2" charset="-122"/>
              </a:rPr>
              <a:t>A</a:t>
            </a:r>
            <a:r>
              <a:rPr lang="en-US" altLang="zh-CN" b="1" u="sng" dirty="0" smtClean="0">
                <a:solidFill>
                  <a:schemeClr val="tx2"/>
                </a:solidFill>
                <a:ea typeface="宋体" pitchFamily="2" charset="-122"/>
              </a:rPr>
              <a:t>BCD</a:t>
            </a:r>
            <a:r>
              <a:rPr lang="en-US" altLang="zh-CN" b="1" u="sng" dirty="0" smtClean="0">
                <a:solidFill>
                  <a:schemeClr val="accent1"/>
                </a:solidFill>
                <a:ea typeface="宋体" pitchFamily="2" charset="-122"/>
              </a:rPr>
              <a:t>EF</a:t>
            </a:r>
            <a:r>
              <a:rPr lang="en-US" altLang="zh-CN" b="1" u="sng" dirty="0" smtClean="0">
                <a:solidFill>
                  <a:schemeClr val="hlink"/>
                </a:solidFill>
                <a:ea typeface="宋体" pitchFamily="2" charset="-122"/>
              </a:rPr>
              <a:t>GIJ</a:t>
            </a:r>
            <a:r>
              <a:rPr lang="en-US" altLang="zh-CN" b="1" u="sng" dirty="0" smtClean="0">
                <a:solidFill>
                  <a:schemeClr val="accent1"/>
                </a:solidFill>
                <a:ea typeface="宋体" pitchFamily="2" charset="-122"/>
              </a:rPr>
              <a:t>H</a:t>
            </a:r>
            <a:r>
              <a:rPr lang="en-US" altLang="zh-CN" b="1" dirty="0" smtClean="0">
                <a:ea typeface="宋体" pitchFamily="2" charset="-122"/>
              </a:rPr>
              <a:t>K</a:t>
            </a:r>
          </a:p>
          <a:p>
            <a:pPr marL="533400" lvl="1" indent="0" eaLnBrk="1" hangingPunct="1">
              <a:lnSpc>
                <a:spcPct val="110000"/>
              </a:lnSpc>
              <a:buFontTx/>
              <a:buNone/>
            </a:pPr>
            <a:r>
              <a:rPr lang="en-US" altLang="zh-CN" sz="2400" b="1" dirty="0" smtClean="0">
                <a:solidFill>
                  <a:schemeClr val="folHlink"/>
                </a:solidFill>
                <a:ea typeface="宋体" pitchFamily="2" charset="-122"/>
              </a:rPr>
              <a:t>⑵</a:t>
            </a:r>
            <a:r>
              <a:rPr lang="en-US" altLang="zh-CN" sz="2400" dirty="0" smtClean="0">
                <a:solidFill>
                  <a:schemeClr val="folHlink"/>
                </a:solidFill>
                <a:ea typeface="宋体" pitchFamily="2" charset="-122"/>
              </a:rPr>
              <a:t>  </a:t>
            </a:r>
            <a:r>
              <a:rPr lang="zh-CN" altLang="en-US" sz="2400" b="1" dirty="0" smtClean="0">
                <a:solidFill>
                  <a:schemeClr val="folHlink"/>
                </a:solidFill>
                <a:ea typeface="宋体" pitchFamily="2" charset="-122"/>
              </a:rPr>
              <a:t>后序遍历</a:t>
            </a:r>
            <a:r>
              <a:rPr lang="zh-CN" altLang="en-US" sz="2400" b="1" dirty="0" smtClean="0">
                <a:ea typeface="宋体" pitchFamily="2" charset="-122"/>
              </a:rPr>
              <a:t>：先</a:t>
            </a:r>
            <a:r>
              <a:rPr lang="zh-CN" altLang="en-US" sz="2400" b="1" dirty="0" smtClean="0">
                <a:solidFill>
                  <a:schemeClr val="folHlink"/>
                </a:solidFill>
                <a:ea typeface="宋体" pitchFamily="2" charset="-122"/>
              </a:rPr>
              <a:t>依次后序遍历完</a:t>
            </a:r>
            <a:r>
              <a:rPr lang="zh-CN" altLang="en-US" sz="2400" b="1" dirty="0" smtClean="0">
                <a:ea typeface="宋体" pitchFamily="2" charset="-122"/>
              </a:rPr>
              <a:t>每棵子树，然后访问根结点。</a:t>
            </a:r>
            <a:r>
              <a:rPr lang="zh-CN" altLang="en-US" sz="2400" b="1" dirty="0" smtClean="0">
                <a:latin typeface="宋体" pitchFamily="2" charset="-122"/>
                <a:ea typeface="宋体" pitchFamily="2" charset="-122"/>
              </a:rPr>
              <a:t>如图</a:t>
            </a:r>
            <a:r>
              <a:rPr lang="zh-CN" altLang="en-US" sz="2400" b="1" dirty="0" smtClean="0">
                <a:ea typeface="宋体" pitchFamily="2" charset="-122"/>
              </a:rPr>
              <a:t>的树，后序遍历的次序是：</a:t>
            </a:r>
          </a:p>
          <a:p>
            <a:pPr marL="1079500" lvl="2" indent="0" eaLnBrk="1" hangingPunct="1">
              <a:lnSpc>
                <a:spcPct val="110000"/>
              </a:lnSpc>
              <a:buFont typeface="Wingdings" pitchFamily="2" charset="2"/>
              <a:buNone/>
            </a:pPr>
            <a:r>
              <a:rPr lang="en-US" altLang="zh-CN" b="1" u="sng" dirty="0" smtClean="0">
                <a:solidFill>
                  <a:schemeClr val="tx2"/>
                </a:solidFill>
                <a:ea typeface="宋体" pitchFamily="2" charset="-122"/>
              </a:rPr>
              <a:t>CDB</a:t>
            </a:r>
            <a:r>
              <a:rPr lang="en-US" altLang="zh-CN" b="1" u="sng" dirty="0" smtClean="0">
                <a:solidFill>
                  <a:schemeClr val="accent1"/>
                </a:solidFill>
                <a:ea typeface="宋体" pitchFamily="2" charset="-122"/>
              </a:rPr>
              <a:t>F</a:t>
            </a:r>
            <a:r>
              <a:rPr lang="en-US" altLang="zh-CN" b="1" u="sng" dirty="0" smtClean="0">
                <a:solidFill>
                  <a:schemeClr val="hlink"/>
                </a:solidFill>
                <a:ea typeface="宋体" pitchFamily="2" charset="-122"/>
              </a:rPr>
              <a:t>IJG</a:t>
            </a:r>
            <a:r>
              <a:rPr lang="en-US" altLang="zh-CN" b="1" u="sng" dirty="0" smtClean="0">
                <a:solidFill>
                  <a:schemeClr val="accent1"/>
                </a:solidFill>
                <a:ea typeface="宋体" pitchFamily="2" charset="-122"/>
              </a:rPr>
              <a:t>HE</a:t>
            </a:r>
            <a:r>
              <a:rPr lang="en-US" altLang="zh-CN" b="1" dirty="0" smtClean="0">
                <a:ea typeface="宋体" pitchFamily="2" charset="-122"/>
              </a:rPr>
              <a:t>KA</a:t>
            </a:r>
          </a:p>
        </p:txBody>
      </p:sp>
    </p:spTree>
    <p:extLst>
      <p:ext uri="{BB962C8B-B14F-4D97-AF65-F5344CB8AC3E}">
        <p14:creationId xmlns:p14="http://schemas.microsoft.com/office/powerpoint/2010/main" val="3137320294"/>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p:cNvSpPr>
            <a:spLocks noGrp="1" noChangeArrowheads="1"/>
          </p:cNvSpPr>
          <p:nvPr>
            <p:ph type="body" idx="1"/>
          </p:nvPr>
        </p:nvSpPr>
        <p:spPr>
          <a:xfrm>
            <a:off x="218280" y="4005064"/>
            <a:ext cx="8839200" cy="3101975"/>
          </a:xfrm>
        </p:spPr>
        <p:txBody>
          <a:bodyPr/>
          <a:lstStyle/>
          <a:p>
            <a:pPr marL="0" indent="0" eaLnBrk="1" hangingPunct="1">
              <a:lnSpc>
                <a:spcPct val="110000"/>
              </a:lnSpc>
              <a:buFont typeface="Wingdings" pitchFamily="2" charset="2"/>
              <a:buNone/>
            </a:pPr>
            <a:r>
              <a:rPr lang="zh-CN" altLang="en-US" b="1" dirty="0" smtClean="0">
                <a:solidFill>
                  <a:schemeClr val="tx2"/>
                </a:solidFill>
                <a:latin typeface="楷体_GB2312" pitchFamily="49" charset="-122"/>
                <a:ea typeface="楷体_GB2312" pitchFamily="49" charset="-122"/>
              </a:rPr>
              <a:t>说明</a:t>
            </a:r>
            <a:r>
              <a:rPr lang="zh-CN" altLang="en-US" dirty="0" smtClean="0">
                <a:latin typeface="楷体_GB2312" pitchFamily="49" charset="-122"/>
                <a:ea typeface="楷体_GB2312" pitchFamily="49" charset="-122"/>
              </a:rPr>
              <a:t>：</a:t>
            </a:r>
          </a:p>
          <a:p>
            <a:pPr marL="533400" lvl="1" indent="0" eaLnBrk="1" hangingPunct="1">
              <a:lnSpc>
                <a:spcPct val="110000"/>
              </a:lnSpc>
              <a:buFontTx/>
              <a:buNone/>
            </a:pPr>
            <a:r>
              <a:rPr lang="zh-CN" altLang="en-US" sz="2400" b="1" dirty="0" smtClean="0">
                <a:solidFill>
                  <a:schemeClr val="folHlink"/>
                </a:solidFill>
                <a:latin typeface="宋体" pitchFamily="2" charset="-122"/>
                <a:ea typeface="宋体" pitchFamily="2" charset="-122"/>
              </a:rPr>
              <a:t>◆</a:t>
            </a:r>
            <a:r>
              <a:rPr lang="zh-CN" altLang="en-US" sz="2400" b="1" dirty="0" smtClean="0">
                <a:latin typeface="楷体_GB2312" pitchFamily="49" charset="-122"/>
                <a:ea typeface="楷体_GB2312" pitchFamily="49" charset="-122"/>
              </a:rPr>
              <a:t> 树的</a:t>
            </a:r>
            <a:r>
              <a:rPr lang="zh-CN" altLang="en-US" sz="2400" b="1" dirty="0" smtClean="0">
                <a:solidFill>
                  <a:schemeClr val="folHlink"/>
                </a:solidFill>
                <a:latin typeface="楷体_GB2312" pitchFamily="49" charset="-122"/>
                <a:ea typeface="楷体_GB2312" pitchFamily="49" charset="-122"/>
              </a:rPr>
              <a:t>先序遍历</a:t>
            </a:r>
            <a:r>
              <a:rPr lang="zh-CN" altLang="en-US" sz="2400" b="1" dirty="0" smtClean="0">
                <a:latin typeface="楷体_GB2312" pitchFamily="49" charset="-122"/>
                <a:ea typeface="楷体_GB2312" pitchFamily="49" charset="-122"/>
              </a:rPr>
              <a:t>实质上与将树转换成二叉树后对二叉树的</a:t>
            </a:r>
            <a:r>
              <a:rPr lang="zh-CN" altLang="en-US" sz="2400" b="1" dirty="0" smtClean="0">
                <a:solidFill>
                  <a:schemeClr val="folHlink"/>
                </a:solidFill>
                <a:latin typeface="楷体_GB2312" pitchFamily="49" charset="-122"/>
                <a:ea typeface="楷体_GB2312" pitchFamily="49" charset="-122"/>
              </a:rPr>
              <a:t>先序遍历</a:t>
            </a:r>
            <a:r>
              <a:rPr lang="zh-CN" altLang="en-US" sz="2400" b="1" dirty="0" smtClean="0">
                <a:latin typeface="楷体_GB2312" pitchFamily="49" charset="-122"/>
                <a:ea typeface="楷体_GB2312" pitchFamily="49" charset="-122"/>
              </a:rPr>
              <a:t>相同。</a:t>
            </a:r>
          </a:p>
          <a:p>
            <a:pPr marL="533400" lvl="1" indent="0" eaLnBrk="1" hangingPunct="1">
              <a:lnSpc>
                <a:spcPct val="110000"/>
              </a:lnSpc>
              <a:buFontTx/>
              <a:buNone/>
            </a:pPr>
            <a:r>
              <a:rPr lang="zh-CN" altLang="en-US" sz="2400" b="1" dirty="0" smtClean="0">
                <a:solidFill>
                  <a:schemeClr val="folHlink"/>
                </a:solidFill>
                <a:latin typeface="宋体" pitchFamily="2" charset="-122"/>
                <a:ea typeface="宋体" pitchFamily="2" charset="-122"/>
              </a:rPr>
              <a:t>◆</a:t>
            </a:r>
            <a:r>
              <a:rPr lang="zh-CN" altLang="en-US" sz="2400" b="1" dirty="0" smtClean="0">
                <a:latin typeface="楷体_GB2312" pitchFamily="49" charset="-122"/>
                <a:ea typeface="楷体_GB2312" pitchFamily="49" charset="-122"/>
              </a:rPr>
              <a:t> 树的</a:t>
            </a:r>
            <a:r>
              <a:rPr lang="zh-CN" altLang="en-US" sz="2400" b="1" dirty="0" smtClean="0">
                <a:solidFill>
                  <a:schemeClr val="folHlink"/>
                </a:solidFill>
                <a:latin typeface="楷体_GB2312" pitchFamily="49" charset="-122"/>
                <a:ea typeface="楷体_GB2312" pitchFamily="49" charset="-122"/>
              </a:rPr>
              <a:t>后序遍历</a:t>
            </a:r>
            <a:r>
              <a:rPr lang="zh-CN" altLang="en-US" sz="2400" b="1" dirty="0" smtClean="0">
                <a:latin typeface="楷体_GB2312" pitchFamily="49" charset="-122"/>
                <a:ea typeface="楷体_GB2312" pitchFamily="49" charset="-122"/>
              </a:rPr>
              <a:t>实质上与将树转换成二叉树后对二叉树的</a:t>
            </a:r>
            <a:r>
              <a:rPr lang="zh-CN" altLang="en-US" sz="2400" b="1" dirty="0" smtClean="0">
                <a:solidFill>
                  <a:schemeClr val="folHlink"/>
                </a:solidFill>
                <a:latin typeface="楷体_GB2312" pitchFamily="49" charset="-122"/>
                <a:ea typeface="楷体_GB2312" pitchFamily="49" charset="-122"/>
              </a:rPr>
              <a:t>中序遍历</a:t>
            </a:r>
            <a:r>
              <a:rPr lang="zh-CN" altLang="en-US" sz="2400" b="1" dirty="0" smtClean="0">
                <a:latin typeface="楷体_GB2312" pitchFamily="49" charset="-122"/>
                <a:ea typeface="楷体_GB2312" pitchFamily="49" charset="-122"/>
              </a:rPr>
              <a:t>相同。</a:t>
            </a:r>
          </a:p>
        </p:txBody>
      </p:sp>
      <p:grpSp>
        <p:nvGrpSpPr>
          <p:cNvPr id="22531" name="Group 3"/>
          <p:cNvGrpSpPr>
            <a:grpSpLocks/>
          </p:cNvGrpSpPr>
          <p:nvPr/>
        </p:nvGrpSpPr>
        <p:grpSpPr bwMode="auto">
          <a:xfrm>
            <a:off x="2963068" y="786607"/>
            <a:ext cx="3290887" cy="3019425"/>
            <a:chOff x="3447" y="1877"/>
            <a:chExt cx="2073" cy="1902"/>
          </a:xfrm>
        </p:grpSpPr>
        <p:grpSp>
          <p:nvGrpSpPr>
            <p:cNvPr id="22532" name="Group 4"/>
            <p:cNvGrpSpPr>
              <a:grpSpLocks/>
            </p:cNvGrpSpPr>
            <p:nvPr/>
          </p:nvGrpSpPr>
          <p:grpSpPr bwMode="auto">
            <a:xfrm>
              <a:off x="3447" y="1877"/>
              <a:ext cx="2073" cy="1579"/>
              <a:chOff x="472" y="2109"/>
              <a:chExt cx="2073" cy="1579"/>
            </a:xfrm>
          </p:grpSpPr>
          <p:sp>
            <p:nvSpPr>
              <p:cNvPr id="22534" name="Oval 5"/>
              <p:cNvSpPr>
                <a:spLocks noChangeArrowheads="1"/>
              </p:cNvSpPr>
              <p:nvPr/>
            </p:nvSpPr>
            <p:spPr bwMode="auto">
              <a:xfrm>
                <a:off x="1511" y="2109"/>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A</a:t>
                </a:r>
              </a:p>
            </p:txBody>
          </p:sp>
          <p:grpSp>
            <p:nvGrpSpPr>
              <p:cNvPr id="22535" name="Group 6"/>
              <p:cNvGrpSpPr>
                <a:grpSpLocks/>
              </p:cNvGrpSpPr>
              <p:nvPr/>
            </p:nvGrpSpPr>
            <p:grpSpPr bwMode="auto">
              <a:xfrm>
                <a:off x="472" y="2568"/>
                <a:ext cx="672" cy="667"/>
                <a:chOff x="400" y="2592"/>
                <a:chExt cx="672" cy="667"/>
              </a:xfrm>
            </p:grpSpPr>
            <p:sp>
              <p:nvSpPr>
                <p:cNvPr id="22552" name="Oval 7"/>
                <p:cNvSpPr>
                  <a:spLocks noChangeArrowheads="1"/>
                </p:cNvSpPr>
                <p:nvPr/>
              </p:nvSpPr>
              <p:spPr bwMode="auto">
                <a:xfrm>
                  <a:off x="624" y="2592"/>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B</a:t>
                  </a:r>
                </a:p>
              </p:txBody>
            </p:sp>
            <p:sp>
              <p:nvSpPr>
                <p:cNvPr id="22553" name="Oval 8"/>
                <p:cNvSpPr>
                  <a:spLocks noChangeArrowheads="1"/>
                </p:cNvSpPr>
                <p:nvPr/>
              </p:nvSpPr>
              <p:spPr bwMode="auto">
                <a:xfrm>
                  <a:off x="823" y="3024"/>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D</a:t>
                  </a:r>
                </a:p>
              </p:txBody>
            </p:sp>
            <p:sp>
              <p:nvSpPr>
                <p:cNvPr id="22554" name="Oval 9"/>
                <p:cNvSpPr>
                  <a:spLocks noChangeArrowheads="1"/>
                </p:cNvSpPr>
                <p:nvPr/>
              </p:nvSpPr>
              <p:spPr bwMode="auto">
                <a:xfrm>
                  <a:off x="400" y="3032"/>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C</a:t>
                  </a:r>
                </a:p>
              </p:txBody>
            </p:sp>
            <p:sp>
              <p:nvSpPr>
                <p:cNvPr id="22555" name="Line 10"/>
                <p:cNvSpPr>
                  <a:spLocks noChangeShapeType="1"/>
                </p:cNvSpPr>
                <p:nvPr/>
              </p:nvSpPr>
              <p:spPr bwMode="auto">
                <a:xfrm flipH="1">
                  <a:off x="528" y="2800"/>
                  <a:ext cx="159"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2556" name="Line 11"/>
                <p:cNvSpPr>
                  <a:spLocks noChangeShapeType="1"/>
                </p:cNvSpPr>
                <p:nvPr/>
              </p:nvSpPr>
              <p:spPr bwMode="auto">
                <a:xfrm>
                  <a:off x="800" y="2800"/>
                  <a:ext cx="159"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sp>
            <p:nvSpPr>
              <p:cNvPr id="22536" name="Oval 12"/>
              <p:cNvSpPr>
                <a:spLocks noChangeArrowheads="1"/>
              </p:cNvSpPr>
              <p:nvPr/>
            </p:nvSpPr>
            <p:spPr bwMode="auto">
              <a:xfrm>
                <a:off x="2296" y="2568"/>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K</a:t>
                </a:r>
              </a:p>
            </p:txBody>
          </p:sp>
          <p:grpSp>
            <p:nvGrpSpPr>
              <p:cNvPr id="22537" name="Group 13"/>
              <p:cNvGrpSpPr>
                <a:grpSpLocks/>
              </p:cNvGrpSpPr>
              <p:nvPr/>
            </p:nvGrpSpPr>
            <p:grpSpPr bwMode="auto">
              <a:xfrm>
                <a:off x="1200" y="2568"/>
                <a:ext cx="897" cy="1120"/>
                <a:chOff x="1431" y="2568"/>
                <a:chExt cx="897" cy="1120"/>
              </a:xfrm>
            </p:grpSpPr>
            <p:sp>
              <p:nvSpPr>
                <p:cNvPr id="22541" name="Oval 14"/>
                <p:cNvSpPr>
                  <a:spLocks noChangeArrowheads="1"/>
                </p:cNvSpPr>
                <p:nvPr/>
              </p:nvSpPr>
              <p:spPr bwMode="auto">
                <a:xfrm>
                  <a:off x="1752" y="3021"/>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G</a:t>
                  </a:r>
                </a:p>
              </p:txBody>
            </p:sp>
            <p:sp>
              <p:nvSpPr>
                <p:cNvPr id="22542" name="Oval 15"/>
                <p:cNvSpPr>
                  <a:spLocks noChangeArrowheads="1"/>
                </p:cNvSpPr>
                <p:nvPr/>
              </p:nvSpPr>
              <p:spPr bwMode="auto">
                <a:xfrm>
                  <a:off x="1943" y="3453"/>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J</a:t>
                  </a:r>
                </a:p>
              </p:txBody>
            </p:sp>
            <p:sp>
              <p:nvSpPr>
                <p:cNvPr id="22543" name="Oval 16"/>
                <p:cNvSpPr>
                  <a:spLocks noChangeArrowheads="1"/>
                </p:cNvSpPr>
                <p:nvPr/>
              </p:nvSpPr>
              <p:spPr bwMode="auto">
                <a:xfrm>
                  <a:off x="1520" y="3461"/>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I</a:t>
                  </a:r>
                </a:p>
              </p:txBody>
            </p:sp>
            <p:sp>
              <p:nvSpPr>
                <p:cNvPr id="22544" name="Line 17"/>
                <p:cNvSpPr>
                  <a:spLocks noChangeShapeType="1"/>
                </p:cNvSpPr>
                <p:nvPr/>
              </p:nvSpPr>
              <p:spPr bwMode="auto">
                <a:xfrm flipH="1">
                  <a:off x="1656" y="3229"/>
                  <a:ext cx="159"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2545" name="Line 18"/>
                <p:cNvSpPr>
                  <a:spLocks noChangeShapeType="1"/>
                </p:cNvSpPr>
                <p:nvPr/>
              </p:nvSpPr>
              <p:spPr bwMode="auto">
                <a:xfrm>
                  <a:off x="1928" y="3229"/>
                  <a:ext cx="159"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2546" name="Oval 19"/>
                <p:cNvSpPr>
                  <a:spLocks noChangeArrowheads="1"/>
                </p:cNvSpPr>
                <p:nvPr/>
              </p:nvSpPr>
              <p:spPr bwMode="auto">
                <a:xfrm>
                  <a:off x="1431" y="3016"/>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F</a:t>
                  </a:r>
                </a:p>
              </p:txBody>
            </p:sp>
            <p:sp>
              <p:nvSpPr>
                <p:cNvPr id="22547" name="Oval 20"/>
                <p:cNvSpPr>
                  <a:spLocks noChangeArrowheads="1"/>
                </p:cNvSpPr>
                <p:nvPr/>
              </p:nvSpPr>
              <p:spPr bwMode="auto">
                <a:xfrm>
                  <a:off x="2079" y="3016"/>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H</a:t>
                  </a:r>
                </a:p>
              </p:txBody>
            </p:sp>
            <p:sp>
              <p:nvSpPr>
                <p:cNvPr id="22548" name="Oval 21"/>
                <p:cNvSpPr>
                  <a:spLocks noChangeArrowheads="1"/>
                </p:cNvSpPr>
                <p:nvPr/>
              </p:nvSpPr>
              <p:spPr bwMode="auto">
                <a:xfrm>
                  <a:off x="1752" y="2568"/>
                  <a:ext cx="249" cy="227"/>
                </a:xfrm>
                <a:prstGeom prst="ellipse">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zh-CN" sz="2000"/>
                    <a:t>E</a:t>
                  </a:r>
                </a:p>
              </p:txBody>
            </p:sp>
            <p:sp>
              <p:nvSpPr>
                <p:cNvPr id="22549" name="Line 22"/>
                <p:cNvSpPr>
                  <a:spLocks noChangeShapeType="1"/>
                </p:cNvSpPr>
                <p:nvPr/>
              </p:nvSpPr>
              <p:spPr bwMode="auto">
                <a:xfrm>
                  <a:off x="1880" y="2800"/>
                  <a:ext cx="0"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2550" name="Line 23"/>
                <p:cNvSpPr>
                  <a:spLocks noChangeShapeType="1"/>
                </p:cNvSpPr>
                <p:nvPr/>
              </p:nvSpPr>
              <p:spPr bwMode="auto">
                <a:xfrm flipH="1">
                  <a:off x="1549" y="2760"/>
                  <a:ext cx="249" cy="24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2551" name="Line 24"/>
                <p:cNvSpPr>
                  <a:spLocks noChangeShapeType="1"/>
                </p:cNvSpPr>
                <p:nvPr/>
              </p:nvSpPr>
              <p:spPr bwMode="auto">
                <a:xfrm>
                  <a:off x="1960" y="2760"/>
                  <a:ext cx="249" cy="24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sp>
            <p:nvSpPr>
              <p:cNvPr id="22538" name="Line 25"/>
              <p:cNvSpPr>
                <a:spLocks noChangeShapeType="1"/>
              </p:cNvSpPr>
              <p:nvPr/>
            </p:nvSpPr>
            <p:spPr bwMode="auto">
              <a:xfrm>
                <a:off x="1640" y="2341"/>
                <a:ext cx="0"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2539" name="Line 26"/>
              <p:cNvSpPr>
                <a:spLocks noChangeShapeType="1"/>
              </p:cNvSpPr>
              <p:nvPr/>
            </p:nvSpPr>
            <p:spPr bwMode="auto">
              <a:xfrm flipH="1">
                <a:off x="824" y="2296"/>
                <a:ext cx="703"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sp>
            <p:nvSpPr>
              <p:cNvPr id="22540" name="Line 27"/>
              <p:cNvSpPr>
                <a:spLocks noChangeShapeType="1"/>
              </p:cNvSpPr>
              <p:nvPr/>
            </p:nvSpPr>
            <p:spPr bwMode="auto">
              <a:xfrm>
                <a:off x="1720" y="2296"/>
                <a:ext cx="703"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000"/>
              </a:p>
            </p:txBody>
          </p:sp>
        </p:grpSp>
        <p:sp>
          <p:nvSpPr>
            <p:cNvPr id="22533" name="Rectangle 28"/>
            <p:cNvSpPr>
              <a:spLocks noChangeArrowheads="1"/>
            </p:cNvSpPr>
            <p:nvPr/>
          </p:nvSpPr>
          <p:spPr bwMode="auto">
            <a:xfrm>
              <a:off x="4272" y="3552"/>
              <a:ext cx="771" cy="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zh-CN" altLang="en-US" sz="2000" b="1"/>
                <a:t>图</a:t>
              </a:r>
              <a:r>
                <a:rPr lang="en-US" altLang="zh-CN" sz="2000" b="1"/>
                <a:t> </a:t>
              </a:r>
              <a:r>
                <a:rPr lang="zh-CN" altLang="en-US" sz="2000" b="1"/>
                <a:t>树</a:t>
              </a:r>
            </a:p>
          </p:txBody>
        </p:sp>
      </p:grpSp>
    </p:spTree>
    <p:extLst>
      <p:ext uri="{BB962C8B-B14F-4D97-AF65-F5344CB8AC3E}">
        <p14:creationId xmlns:p14="http://schemas.microsoft.com/office/powerpoint/2010/main" val="3553020846"/>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152400" y="188913"/>
            <a:ext cx="8812213" cy="345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ct val="110000"/>
              </a:lnSpc>
              <a:spcBef>
                <a:spcPct val="20000"/>
              </a:spcBef>
              <a:buClr>
                <a:schemeClr val="accent2"/>
              </a:buClr>
              <a:buSzPct val="80000"/>
              <a:buFont typeface="Wingdings" pitchFamily="2" charset="2"/>
              <a:buNone/>
            </a:pPr>
            <a:r>
              <a:rPr kumimoji="1" lang="en-US" altLang="zh-CN" b="1" dirty="0" smtClean="0">
                <a:solidFill>
                  <a:schemeClr val="bg1"/>
                </a:solidFill>
                <a:latin typeface="Times New Roman" pitchFamily="18" charset="0"/>
              </a:rPr>
              <a:t>      2  </a:t>
            </a:r>
            <a:r>
              <a:rPr kumimoji="1" lang="zh-CN" altLang="en-US" b="1" dirty="0">
                <a:solidFill>
                  <a:schemeClr val="bg1"/>
                </a:solidFill>
                <a:latin typeface="Times New Roman" pitchFamily="18" charset="0"/>
                <a:ea typeface="楷体_GB2312" pitchFamily="49" charset="-122"/>
              </a:rPr>
              <a:t>森林的遍历</a:t>
            </a:r>
          </a:p>
          <a:p>
            <a:pPr>
              <a:lnSpc>
                <a:spcPct val="110000"/>
              </a:lnSpc>
              <a:spcBef>
                <a:spcPct val="20000"/>
              </a:spcBef>
              <a:buClr>
                <a:schemeClr val="accent2"/>
              </a:buClr>
              <a:buSzPct val="80000"/>
              <a:buFont typeface="Wingdings" pitchFamily="2" charset="2"/>
              <a:buNone/>
            </a:pPr>
            <a:r>
              <a:rPr kumimoji="1" lang="zh-CN" altLang="en-US" sz="2400" dirty="0">
                <a:latin typeface="Times New Roman" pitchFamily="18" charset="0"/>
              </a:rPr>
              <a:t>      </a:t>
            </a:r>
            <a:r>
              <a:rPr kumimoji="1" lang="zh-CN" altLang="en-US" sz="2400" b="1" dirty="0">
                <a:latin typeface="Times New Roman" pitchFamily="18" charset="0"/>
              </a:rPr>
              <a:t>设</a:t>
            </a:r>
            <a:r>
              <a:rPr kumimoji="1" lang="en-US" altLang="zh-CN" sz="2400" b="1" dirty="0">
                <a:latin typeface="Times New Roman" pitchFamily="18" charset="0"/>
              </a:rPr>
              <a:t>F={T</a:t>
            </a:r>
            <a:r>
              <a:rPr kumimoji="1" lang="en-US" altLang="zh-CN" sz="2400" b="1" baseline="-18000" dirty="0">
                <a:latin typeface="Times New Roman" pitchFamily="18" charset="0"/>
              </a:rPr>
              <a:t>1</a:t>
            </a:r>
            <a:r>
              <a:rPr kumimoji="1" lang="en-US" altLang="zh-CN" sz="2400" b="1" dirty="0">
                <a:latin typeface="Times New Roman" pitchFamily="18" charset="0"/>
              </a:rPr>
              <a:t>, T</a:t>
            </a:r>
            <a:r>
              <a:rPr kumimoji="1" lang="en-US" altLang="zh-CN" sz="2400" b="1" baseline="-18000" dirty="0">
                <a:latin typeface="Times New Roman" pitchFamily="18" charset="0"/>
              </a:rPr>
              <a:t>2</a:t>
            </a:r>
            <a:r>
              <a:rPr kumimoji="1" lang="en-US" altLang="zh-CN" sz="2400" b="1" dirty="0">
                <a:latin typeface="Times New Roman" pitchFamily="18" charset="0"/>
              </a:rPr>
              <a:t>,</a:t>
            </a:r>
            <a:r>
              <a:rPr kumimoji="1" lang="en-US" altLang="zh-CN" sz="2400" b="1" dirty="0">
                <a:latin typeface="Times New Roman" pitchFamily="18" charset="0"/>
                <a:ea typeface="Arial Unicode MS" pitchFamily="34" charset="-122"/>
                <a:cs typeface="Arial Unicode MS" pitchFamily="34" charset="-122"/>
              </a:rPr>
              <a:t>⋯,T</a:t>
            </a:r>
            <a:r>
              <a:rPr kumimoji="1" lang="en-US" altLang="zh-CN" sz="2400" b="1" baseline="-18000" dirty="0">
                <a:latin typeface="Times New Roman" pitchFamily="18" charset="0"/>
              </a:rPr>
              <a:t>n</a:t>
            </a:r>
            <a:r>
              <a:rPr kumimoji="1" lang="en-US" altLang="zh-CN" sz="2400" b="1" dirty="0">
                <a:latin typeface="Times New Roman" pitchFamily="18" charset="0"/>
              </a:rPr>
              <a:t>}</a:t>
            </a:r>
            <a:r>
              <a:rPr kumimoji="1" lang="zh-CN" altLang="en-US" sz="2400" b="1" dirty="0">
                <a:latin typeface="Times New Roman" pitchFamily="18" charset="0"/>
              </a:rPr>
              <a:t>是森林，对</a:t>
            </a:r>
            <a:r>
              <a:rPr kumimoji="1" lang="en-US" altLang="zh-CN" sz="2400" b="1" dirty="0">
                <a:latin typeface="Times New Roman" pitchFamily="18" charset="0"/>
              </a:rPr>
              <a:t>F</a:t>
            </a:r>
            <a:r>
              <a:rPr kumimoji="1" lang="zh-CN" altLang="en-US" sz="2400" b="1" dirty="0">
                <a:latin typeface="Times New Roman" pitchFamily="18" charset="0"/>
              </a:rPr>
              <a:t>的遍历有二种方法。</a:t>
            </a:r>
          </a:p>
          <a:p>
            <a:pPr marL="533400" lvl="1">
              <a:lnSpc>
                <a:spcPct val="110000"/>
              </a:lnSpc>
              <a:spcBef>
                <a:spcPct val="20000"/>
              </a:spcBef>
              <a:buClr>
                <a:schemeClr val="accent2"/>
              </a:buClr>
              <a:buSzPct val="80000"/>
              <a:buFont typeface="Wingdings" pitchFamily="2" charset="2"/>
              <a:buNone/>
            </a:pPr>
            <a:r>
              <a:rPr kumimoji="1" lang="zh-CN" altLang="en-US" sz="2400" b="1" dirty="0">
                <a:latin typeface="Times New Roman" pitchFamily="18" charset="0"/>
              </a:rPr>
              <a:t>⑴   </a:t>
            </a:r>
            <a:r>
              <a:rPr kumimoji="1" lang="zh-CN" altLang="en-US" sz="2400" b="1" dirty="0">
                <a:solidFill>
                  <a:schemeClr val="folHlink"/>
                </a:solidFill>
                <a:latin typeface="Times New Roman" pitchFamily="18" charset="0"/>
              </a:rPr>
              <a:t>先序遍历</a:t>
            </a:r>
            <a:r>
              <a:rPr kumimoji="1" lang="zh-CN" altLang="en-US" sz="2400" b="1" dirty="0">
                <a:latin typeface="Times New Roman" pitchFamily="18" charset="0"/>
              </a:rPr>
              <a:t>：按</a:t>
            </a:r>
            <a:r>
              <a:rPr kumimoji="1" lang="zh-CN" altLang="en-US" sz="2400" b="1" dirty="0">
                <a:solidFill>
                  <a:schemeClr val="folHlink"/>
                </a:solidFill>
                <a:latin typeface="Times New Roman" pitchFamily="18" charset="0"/>
              </a:rPr>
              <a:t>先序遍历</a:t>
            </a:r>
            <a:r>
              <a:rPr kumimoji="1" lang="zh-CN" altLang="en-US" sz="2400" b="1" dirty="0">
                <a:latin typeface="Times New Roman" pitchFamily="18" charset="0"/>
              </a:rPr>
              <a:t>树的方式</a:t>
            </a:r>
            <a:r>
              <a:rPr kumimoji="1" lang="zh-CN" altLang="en-US" sz="2400" b="1" dirty="0">
                <a:solidFill>
                  <a:schemeClr val="folHlink"/>
                </a:solidFill>
                <a:latin typeface="Times New Roman" pitchFamily="18" charset="0"/>
              </a:rPr>
              <a:t>依次</a:t>
            </a:r>
            <a:r>
              <a:rPr kumimoji="1" lang="zh-CN" altLang="en-US" sz="2400" b="1" dirty="0">
                <a:latin typeface="Times New Roman" pitchFamily="18" charset="0"/>
              </a:rPr>
              <a:t>遍历</a:t>
            </a:r>
            <a:r>
              <a:rPr kumimoji="1" lang="en-US" altLang="zh-CN" sz="2400" b="1" dirty="0">
                <a:latin typeface="Times New Roman" pitchFamily="18" charset="0"/>
              </a:rPr>
              <a:t>F</a:t>
            </a:r>
            <a:r>
              <a:rPr kumimoji="1" lang="zh-CN" altLang="en-US" sz="2400" b="1" dirty="0">
                <a:latin typeface="Times New Roman" pitchFamily="18" charset="0"/>
              </a:rPr>
              <a:t>中的每棵树。</a:t>
            </a:r>
          </a:p>
          <a:p>
            <a:pPr marL="533400" lvl="1">
              <a:lnSpc>
                <a:spcPct val="110000"/>
              </a:lnSpc>
              <a:spcBef>
                <a:spcPct val="20000"/>
              </a:spcBef>
              <a:buClr>
                <a:schemeClr val="accent2"/>
              </a:buClr>
              <a:buSzPct val="80000"/>
              <a:buFont typeface="Wingdings" pitchFamily="2" charset="2"/>
              <a:buNone/>
            </a:pPr>
            <a:r>
              <a:rPr kumimoji="1" lang="zh-CN" altLang="en-US" sz="2400" b="1" dirty="0">
                <a:latin typeface="Times New Roman" pitchFamily="18" charset="0"/>
              </a:rPr>
              <a:t>⑵  </a:t>
            </a:r>
            <a:r>
              <a:rPr kumimoji="1" lang="zh-CN" altLang="en-US" sz="2400" b="1" dirty="0">
                <a:solidFill>
                  <a:schemeClr val="folHlink"/>
                </a:solidFill>
                <a:latin typeface="Times New Roman" pitchFamily="18" charset="0"/>
              </a:rPr>
              <a:t>中序遍历</a:t>
            </a:r>
            <a:r>
              <a:rPr kumimoji="1" lang="zh-CN" altLang="en-US" sz="2400" b="1" dirty="0">
                <a:latin typeface="Times New Roman" pitchFamily="18" charset="0"/>
              </a:rPr>
              <a:t>：按</a:t>
            </a:r>
            <a:r>
              <a:rPr kumimoji="1" lang="zh-CN" altLang="en-US" sz="2400" b="1" dirty="0">
                <a:solidFill>
                  <a:schemeClr val="folHlink"/>
                </a:solidFill>
                <a:latin typeface="Times New Roman" pitchFamily="18" charset="0"/>
              </a:rPr>
              <a:t>后序遍历</a:t>
            </a:r>
            <a:r>
              <a:rPr kumimoji="1" lang="zh-CN" altLang="en-US" sz="2400" b="1" dirty="0">
                <a:latin typeface="Times New Roman" pitchFamily="18" charset="0"/>
              </a:rPr>
              <a:t>树的方式</a:t>
            </a:r>
            <a:r>
              <a:rPr kumimoji="1" lang="zh-CN" altLang="en-US" sz="2400" b="1" dirty="0">
                <a:solidFill>
                  <a:schemeClr val="folHlink"/>
                </a:solidFill>
                <a:latin typeface="Times New Roman" pitchFamily="18" charset="0"/>
              </a:rPr>
              <a:t>依次</a:t>
            </a:r>
            <a:r>
              <a:rPr kumimoji="1" lang="zh-CN" altLang="en-US" sz="2400" b="1" dirty="0">
                <a:latin typeface="Times New Roman" pitchFamily="18" charset="0"/>
              </a:rPr>
              <a:t>遍历</a:t>
            </a:r>
            <a:r>
              <a:rPr kumimoji="1" lang="en-US" altLang="zh-CN" sz="2400" b="1" dirty="0">
                <a:latin typeface="Times New Roman" pitchFamily="18" charset="0"/>
              </a:rPr>
              <a:t>F</a:t>
            </a:r>
            <a:r>
              <a:rPr kumimoji="1" lang="zh-CN" altLang="en-US" sz="2400" b="1" dirty="0">
                <a:latin typeface="Times New Roman" pitchFamily="18" charset="0"/>
              </a:rPr>
              <a:t>中的每棵树。</a:t>
            </a:r>
          </a:p>
        </p:txBody>
      </p:sp>
    </p:spTree>
    <p:extLst>
      <p:ext uri="{BB962C8B-B14F-4D97-AF65-F5344CB8AC3E}">
        <p14:creationId xmlns:p14="http://schemas.microsoft.com/office/powerpoint/2010/main" val="2813301487"/>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Rectangle 7"/>
          <p:cNvSpPr>
            <a:spLocks noChangeArrowheads="1"/>
          </p:cNvSpPr>
          <p:nvPr/>
        </p:nvSpPr>
        <p:spPr bwMode="auto">
          <a:xfrm>
            <a:off x="827088" y="260350"/>
            <a:ext cx="683895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树与二叉树的转换</a:t>
            </a:r>
          </a:p>
        </p:txBody>
      </p:sp>
      <p:pic>
        <p:nvPicPr>
          <p:cNvPr id="91139" name="图片 2"/>
          <p:cNvPicPr>
            <a:picLocks noChangeAspect="1"/>
          </p:cNvPicPr>
          <p:nvPr>
            <p:custDataLst>
              <p:tags r:id="rId1"/>
            </p:custDataLst>
          </p:nvPr>
        </p:nvPicPr>
        <p:blipFill>
          <a:blip r:embed="rId5"/>
          <a:stretch>
            <a:fillRect/>
          </a:stretch>
        </p:blipFill>
        <p:spPr>
          <a:xfrm>
            <a:off x="323850" y="878523"/>
            <a:ext cx="8243888" cy="2447925"/>
          </a:xfrm>
          <a:prstGeom prst="rect">
            <a:avLst/>
          </a:prstGeom>
          <a:noFill/>
          <a:ln w="9525">
            <a:noFill/>
          </a:ln>
        </p:spPr>
      </p:pic>
      <p:pic>
        <p:nvPicPr>
          <p:cNvPr id="91140" name="图片 4"/>
          <p:cNvPicPr>
            <a:picLocks noChangeAspect="1"/>
          </p:cNvPicPr>
          <p:nvPr>
            <p:custDataLst>
              <p:tags r:id="rId2"/>
            </p:custDataLst>
          </p:nvPr>
        </p:nvPicPr>
        <p:blipFill>
          <a:blip r:embed="rId6"/>
          <a:stretch>
            <a:fillRect/>
          </a:stretch>
        </p:blipFill>
        <p:spPr>
          <a:xfrm>
            <a:off x="179388" y="3429000"/>
            <a:ext cx="5976937" cy="2736850"/>
          </a:xfrm>
          <a:prstGeom prst="rect">
            <a:avLst/>
          </a:prstGeom>
          <a:noFill/>
          <a:ln w="9525">
            <a:noFill/>
          </a:ln>
        </p:spPr>
      </p:pic>
      <p:grpSp>
        <p:nvGrpSpPr>
          <p:cNvPr id="10" name="组合 9"/>
          <p:cNvGrpSpPr/>
          <p:nvPr/>
        </p:nvGrpSpPr>
        <p:grpSpPr>
          <a:xfrm>
            <a:off x="6300788" y="3500438"/>
            <a:ext cx="2663825" cy="2881312"/>
            <a:chOff x="6156176" y="3427986"/>
            <a:chExt cx="2987824" cy="2800741"/>
          </a:xfrm>
        </p:grpSpPr>
        <p:pic>
          <p:nvPicPr>
            <p:cNvPr id="91142" name="图片 7"/>
            <p:cNvPicPr>
              <a:picLocks noChangeAspect="1"/>
            </p:cNvPicPr>
            <p:nvPr>
              <p:custDataLst>
                <p:tags r:id="rId3"/>
              </p:custDataLst>
            </p:nvPr>
          </p:nvPicPr>
          <p:blipFill>
            <a:blip r:embed="rId7"/>
            <a:stretch>
              <a:fillRect/>
            </a:stretch>
          </p:blipFill>
          <p:spPr>
            <a:xfrm>
              <a:off x="6619523" y="3427986"/>
              <a:ext cx="2524477" cy="2800741"/>
            </a:xfrm>
            <a:prstGeom prst="rect">
              <a:avLst/>
            </a:prstGeom>
            <a:noFill/>
            <a:ln w="9525">
              <a:noFill/>
            </a:ln>
          </p:spPr>
        </p:pic>
        <p:sp>
          <p:nvSpPr>
            <p:cNvPr id="91143" name="箭头: 右 8"/>
            <p:cNvSpPr/>
            <p:nvPr/>
          </p:nvSpPr>
          <p:spPr>
            <a:xfrm>
              <a:off x="6156176" y="3933056"/>
              <a:ext cx="463347" cy="288032"/>
            </a:xfrm>
            <a:prstGeom prst="rightArrow">
              <a:avLst>
                <a:gd name="adj1" fmla="val 50000"/>
                <a:gd name="adj2" fmla="val 50002"/>
              </a:avLst>
            </a:prstGeom>
            <a:solidFill>
              <a:schemeClr val="accent1"/>
            </a:solidFill>
            <a:ln w="9525">
              <a:noFill/>
            </a:ln>
          </p:spPr>
          <p:txBody>
            <a:bodyPr/>
            <a:lstStyle/>
            <a:p>
              <a:pPr marL="342900" indent="-342900">
                <a:spcBef>
                  <a:spcPct val="20000"/>
                </a:spcBef>
                <a:buNone/>
              </a:pPr>
              <a:endParaRPr lang="zh-CN" altLang="en-US" dirty="0">
                <a:latin typeface="Times New Roman" panose="02020603050405020304" pitchFamily="18" charset="0"/>
              </a:endParaRPr>
            </a:p>
          </p:txBody>
        </p:sp>
      </p:grpSp>
      <p:sp>
        <p:nvSpPr>
          <p:cNvPr id="3" name="Rectangle 7"/>
          <p:cNvSpPr>
            <a:spLocks noChangeArrowheads="1"/>
          </p:cNvSpPr>
          <p:nvPr/>
        </p:nvSpPr>
        <p:spPr bwMode="auto">
          <a:xfrm>
            <a:off x="4355306" y="1006251"/>
            <a:ext cx="275653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j-lt"/>
                <a:ea typeface="微软雅黑" panose="020B0503020204020204" pitchFamily="34" charset="-122"/>
                <a:cs typeface="+mj-cs"/>
                <a:sym typeface="+mn-lt"/>
              </a:rPr>
              <a:t>（长子长兄）</a:t>
            </a:r>
          </a:p>
        </p:txBody>
      </p:sp>
    </p:spTree>
  </p:cSld>
  <p:clrMapOvr>
    <a:masterClrMapping/>
  </p:clrMapOvr>
  <p:transition>
    <p:pull dir="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Rectangle 7"/>
          <p:cNvSpPr>
            <a:spLocks noChangeArrowheads="1"/>
          </p:cNvSpPr>
          <p:nvPr/>
        </p:nvSpPr>
        <p:spPr bwMode="auto">
          <a:xfrm>
            <a:off x="827088" y="260350"/>
            <a:ext cx="683895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树与二叉树的转换</a:t>
            </a:r>
          </a:p>
        </p:txBody>
      </p:sp>
      <p:pic>
        <p:nvPicPr>
          <p:cNvPr id="92163" name="图片 3"/>
          <p:cNvPicPr>
            <a:picLocks noChangeAspect="1"/>
          </p:cNvPicPr>
          <p:nvPr/>
        </p:nvPicPr>
        <p:blipFill>
          <a:blip r:embed="rId2"/>
          <a:stretch>
            <a:fillRect/>
          </a:stretch>
        </p:blipFill>
        <p:spPr>
          <a:xfrm>
            <a:off x="179388" y="836295"/>
            <a:ext cx="8351837" cy="2649538"/>
          </a:xfrm>
          <a:prstGeom prst="rect">
            <a:avLst/>
          </a:prstGeom>
          <a:noFill/>
          <a:ln w="9525">
            <a:noFill/>
          </a:ln>
        </p:spPr>
      </p:pic>
      <p:pic>
        <p:nvPicPr>
          <p:cNvPr id="92164" name="图片 10"/>
          <p:cNvPicPr>
            <a:picLocks noChangeAspect="1"/>
          </p:cNvPicPr>
          <p:nvPr/>
        </p:nvPicPr>
        <p:blipFill>
          <a:blip r:embed="rId3"/>
          <a:stretch>
            <a:fillRect/>
          </a:stretch>
        </p:blipFill>
        <p:spPr>
          <a:xfrm>
            <a:off x="0" y="3660458"/>
            <a:ext cx="9036050" cy="3008312"/>
          </a:xfrm>
          <a:prstGeom prst="rect">
            <a:avLst/>
          </a:prstGeom>
          <a:noFill/>
          <a:ln w="9525">
            <a:noFill/>
          </a:ln>
        </p:spPr>
      </p:pic>
      <p:cxnSp>
        <p:nvCxnSpPr>
          <p:cNvPr id="4" name="直接连接符 3"/>
          <p:cNvCxnSpPr/>
          <p:nvPr/>
        </p:nvCxnSpPr>
        <p:spPr bwMode="auto">
          <a:xfrm flipH="1">
            <a:off x="2627784" y="4660558"/>
            <a:ext cx="216024" cy="1432738"/>
          </a:xfrm>
          <a:prstGeom prst="line">
            <a:avLst/>
          </a:prstGeom>
          <a:ln w="34925">
            <a:solidFill>
              <a:srgbClr val="FF0000"/>
            </a:solidFill>
            <a:headEnd type="none" w="med" len="med"/>
            <a:tailEnd type="none" w="med" len="med"/>
          </a:ln>
        </p:spPr>
        <p:style>
          <a:lnRef idx="1">
            <a:schemeClr val="dk1"/>
          </a:lnRef>
          <a:fillRef idx="0">
            <a:schemeClr val="dk1"/>
          </a:fillRef>
          <a:effectRef idx="0">
            <a:schemeClr val="dk1"/>
          </a:effectRef>
          <a:fontRef idx="minor">
            <a:schemeClr val="tx1"/>
          </a:fontRef>
        </p:style>
      </p:cxnSp>
      <p:cxnSp>
        <p:nvCxnSpPr>
          <p:cNvPr id="7" name="直接连接符 6"/>
          <p:cNvCxnSpPr/>
          <p:nvPr/>
        </p:nvCxnSpPr>
        <p:spPr bwMode="auto">
          <a:xfrm flipH="1">
            <a:off x="3211597" y="4077072"/>
            <a:ext cx="288032" cy="1152128"/>
          </a:xfrm>
          <a:prstGeom prst="line">
            <a:avLst/>
          </a:prstGeom>
          <a:ln w="34925">
            <a:solidFill>
              <a:srgbClr val="FF0000"/>
            </a:solidFill>
            <a:headEnd type="none" w="med" len="med"/>
            <a:tailEnd type="none" w="med" len="med"/>
          </a:ln>
        </p:spPr>
        <p:style>
          <a:lnRef idx="1">
            <a:schemeClr val="dk1"/>
          </a:lnRef>
          <a:fillRef idx="0">
            <a:schemeClr val="dk1"/>
          </a:fillRef>
          <a:effectRef idx="0">
            <a:schemeClr val="dk1"/>
          </a:effectRef>
          <a:fontRef idx="minor">
            <a:schemeClr val="tx1"/>
          </a:fontRef>
        </p:style>
      </p:cxnSp>
      <p:cxnSp>
        <p:nvCxnSpPr>
          <p:cNvPr id="10" name="直接连接符 9"/>
          <p:cNvCxnSpPr/>
          <p:nvPr/>
        </p:nvCxnSpPr>
        <p:spPr bwMode="auto">
          <a:xfrm flipH="1">
            <a:off x="3419872" y="4055564"/>
            <a:ext cx="151765" cy="1966141"/>
          </a:xfrm>
          <a:prstGeom prst="line">
            <a:avLst/>
          </a:prstGeom>
          <a:ln w="34925">
            <a:solidFill>
              <a:srgbClr val="FF0000"/>
            </a:solidFill>
            <a:headEnd type="none" w="med" len="med"/>
            <a:tailEnd type="none" w="med" len="med"/>
          </a:ln>
        </p:spPr>
        <p:style>
          <a:lnRef idx="1">
            <a:schemeClr val="dk1"/>
          </a:lnRef>
          <a:fillRef idx="0">
            <a:schemeClr val="dk1"/>
          </a:fillRef>
          <a:effectRef idx="0">
            <a:schemeClr val="dk1"/>
          </a:effectRef>
          <a:fontRef idx="minor">
            <a:schemeClr val="tx1"/>
          </a:fontRef>
        </p:style>
      </p:cxnSp>
      <p:cxnSp>
        <p:nvCxnSpPr>
          <p:cNvPr id="13" name="直接连接符 12"/>
          <p:cNvCxnSpPr/>
          <p:nvPr/>
        </p:nvCxnSpPr>
        <p:spPr bwMode="auto">
          <a:xfrm flipH="1">
            <a:off x="4955287" y="4797152"/>
            <a:ext cx="216024" cy="1303893"/>
          </a:xfrm>
          <a:prstGeom prst="line">
            <a:avLst/>
          </a:prstGeom>
          <a:ln w="34925">
            <a:solidFill>
              <a:srgbClr val="FF0000"/>
            </a:solidFill>
            <a:headEnd type="none" w="med" len="med"/>
            <a:tailEnd type="none" w="med" len="med"/>
          </a:ln>
        </p:spPr>
        <p:style>
          <a:lnRef idx="1">
            <a:schemeClr val="dk1"/>
          </a:lnRef>
          <a:fillRef idx="0">
            <a:schemeClr val="dk1"/>
          </a:fillRef>
          <a:effectRef idx="0">
            <a:schemeClr val="dk1"/>
          </a:effectRef>
          <a:fontRef idx="minor">
            <a:schemeClr val="tx1"/>
          </a:fontRef>
        </p:style>
      </p:cxnSp>
      <p:cxnSp>
        <p:nvCxnSpPr>
          <p:cNvPr id="15" name="直接连接符 14"/>
          <p:cNvCxnSpPr/>
          <p:nvPr/>
        </p:nvCxnSpPr>
        <p:spPr bwMode="auto">
          <a:xfrm flipH="1">
            <a:off x="5533620" y="4149080"/>
            <a:ext cx="229779" cy="1152128"/>
          </a:xfrm>
          <a:prstGeom prst="line">
            <a:avLst/>
          </a:prstGeom>
          <a:ln w="34925">
            <a:solidFill>
              <a:srgbClr val="FF0000"/>
            </a:solidFill>
            <a:headEnd type="none" w="med" len="med"/>
            <a:tailEnd type="none" w="med" len="med"/>
          </a:ln>
        </p:spPr>
        <p:style>
          <a:lnRef idx="1">
            <a:schemeClr val="dk1"/>
          </a:lnRef>
          <a:fillRef idx="0">
            <a:schemeClr val="dk1"/>
          </a:fillRef>
          <a:effectRef idx="0">
            <a:schemeClr val="dk1"/>
          </a:effectRef>
          <a:fontRef idx="minor">
            <a:schemeClr val="tx1"/>
          </a:fontRef>
        </p:style>
      </p:cxnSp>
      <p:cxnSp>
        <p:nvCxnSpPr>
          <p:cNvPr id="17" name="直接连接符 16"/>
          <p:cNvCxnSpPr/>
          <p:nvPr/>
        </p:nvCxnSpPr>
        <p:spPr bwMode="auto">
          <a:xfrm flipH="1">
            <a:off x="5683116" y="4191504"/>
            <a:ext cx="170794" cy="1909541"/>
          </a:xfrm>
          <a:prstGeom prst="line">
            <a:avLst/>
          </a:prstGeom>
          <a:ln w="34925">
            <a:solidFill>
              <a:srgbClr val="FF0000"/>
            </a:solidFill>
            <a:headEnd type="none" w="med" len="med"/>
            <a:tailEnd type="none" w="med" len="med"/>
          </a:ln>
        </p:spPr>
        <p:style>
          <a:lnRef idx="1">
            <a:schemeClr val="dk1"/>
          </a:lnRef>
          <a:fillRef idx="0">
            <a:schemeClr val="dk1"/>
          </a:fillRef>
          <a:effectRef idx="0">
            <a:schemeClr val="dk1"/>
          </a:effectRef>
          <a:fontRef idx="minor">
            <a:schemeClr val="tx1"/>
          </a:fontRef>
        </p:style>
      </p:cxnSp>
      <p:sp>
        <p:nvSpPr>
          <p:cNvPr id="24" name="Rectangle 7"/>
          <p:cNvSpPr>
            <a:spLocks noChangeArrowheads="1"/>
          </p:cNvSpPr>
          <p:nvPr/>
        </p:nvSpPr>
        <p:spPr bwMode="auto">
          <a:xfrm>
            <a:off x="4355306" y="871372"/>
            <a:ext cx="275653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0000"/>
                </a:solidFill>
                <a:effectLst/>
                <a:uLnTx/>
                <a:uFillTx/>
                <a:latin typeface="+mj-lt"/>
                <a:ea typeface="微软雅黑" panose="020B0503020204020204" pitchFamily="34" charset="-122"/>
                <a:cs typeface="+mj-cs"/>
                <a:sym typeface="+mn-lt"/>
              </a:rPr>
              <a:t>（右孩子变兄弟）</a:t>
            </a:r>
          </a:p>
        </p:txBody>
      </p:sp>
    </p:spTree>
  </p:cSld>
  <p:clrMapOvr>
    <a:masterClrMapping/>
  </p:clrMapOvr>
  <p:transition>
    <p:pull dir="ru"/>
  </p:transition>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Rectangle 7"/>
          <p:cNvSpPr>
            <a:spLocks noChangeArrowheads="1"/>
          </p:cNvSpPr>
          <p:nvPr/>
        </p:nvSpPr>
        <p:spPr bwMode="auto">
          <a:xfrm>
            <a:off x="827088" y="260350"/>
            <a:ext cx="683895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森林与二叉树的转换</a:t>
            </a:r>
          </a:p>
        </p:txBody>
      </p:sp>
      <p:pic>
        <p:nvPicPr>
          <p:cNvPr id="93187" name="图片 6"/>
          <p:cNvPicPr>
            <a:picLocks noChangeAspect="1"/>
          </p:cNvPicPr>
          <p:nvPr/>
        </p:nvPicPr>
        <p:blipFill>
          <a:blip r:embed="rId2"/>
          <a:stretch>
            <a:fillRect/>
          </a:stretch>
        </p:blipFill>
        <p:spPr>
          <a:xfrm>
            <a:off x="323850" y="2276475"/>
            <a:ext cx="7993063" cy="4149725"/>
          </a:xfrm>
          <a:prstGeom prst="rect">
            <a:avLst/>
          </a:prstGeom>
          <a:noFill/>
          <a:ln w="9525">
            <a:noFill/>
          </a:ln>
        </p:spPr>
      </p:pic>
      <p:sp>
        <p:nvSpPr>
          <p:cNvPr id="9" name="文本框 8"/>
          <p:cNvSpPr txBox="1"/>
          <p:nvPr/>
        </p:nvSpPr>
        <p:spPr>
          <a:xfrm>
            <a:off x="250825" y="817563"/>
            <a:ext cx="8497888" cy="1445260"/>
          </a:xfrm>
          <a:prstGeom prst="rect">
            <a:avLst/>
          </a:prstGeom>
          <a:noFill/>
        </p:spPr>
        <p:txBody>
          <a:bodyPr wrap="square">
            <a:spAutoFit/>
          </a:bodyPr>
          <a:lstStyle/>
          <a:p>
            <a:pPr marR="0" defTabSz="914400">
              <a:buClrTx/>
              <a:buSzTx/>
              <a:buFontTx/>
              <a:buNone/>
              <a:defRPr/>
            </a:pPr>
            <a:r>
              <a:rPr kumimoji="1" lang="zh-CN" altLang="en-US" kern="1200" cap="none" spc="0" normalizeH="0" baseline="0" noProof="0" dirty="0">
                <a:solidFill>
                  <a:schemeClr val="accent6"/>
                </a:solidFill>
                <a:latin typeface="宋体" panose="02010600030101010101" pitchFamily="2" charset="-122"/>
                <a:ea typeface="宋体" panose="02010600030101010101" pitchFamily="2" charset="-122"/>
                <a:cs typeface="宋体" panose="02010600030101010101" pitchFamily="2" charset="-122"/>
              </a:rPr>
              <a:t>（</a:t>
            </a:r>
            <a:r>
              <a:rPr kumimoji="1" lang="en-US" altLang="zh-CN" kern="1200" cap="none" spc="0" normalizeH="0" baseline="0" noProof="0" dirty="0">
                <a:solidFill>
                  <a:schemeClr val="accent6"/>
                </a:solidFill>
                <a:latin typeface="宋体" panose="02010600030101010101" pitchFamily="2" charset="-122"/>
                <a:ea typeface="宋体" panose="02010600030101010101" pitchFamily="2" charset="-122"/>
                <a:cs typeface="宋体" panose="02010600030101010101" pitchFamily="2" charset="-122"/>
              </a:rPr>
              <a:t>1</a:t>
            </a:r>
            <a:r>
              <a:rPr kumimoji="1" lang="zh-CN" altLang="en-US" kern="1200" cap="none" spc="0" normalizeH="0" baseline="0" noProof="0" dirty="0">
                <a:solidFill>
                  <a:schemeClr val="accent6"/>
                </a:solidFill>
                <a:latin typeface="宋体" panose="02010600030101010101" pitchFamily="2" charset="-122"/>
                <a:ea typeface="宋体" panose="02010600030101010101" pitchFamily="2" charset="-122"/>
                <a:cs typeface="宋体" panose="02010600030101010101" pitchFamily="2" charset="-122"/>
              </a:rPr>
              <a:t>）森林转换成二叉树</a:t>
            </a:r>
            <a:r>
              <a:rPr kumimoji="1" lang="zh-CN" altLang="en-US" dirty="0">
                <a:solidFill>
                  <a:schemeClr val="accent6"/>
                </a:solidFill>
                <a:latin typeface="宋体" panose="02010600030101010101" pitchFamily="2" charset="-122"/>
                <a:ea typeface="宋体" panose="02010600030101010101" pitchFamily="2" charset="-122"/>
                <a:cs typeface="宋体" panose="02010600030101010101" pitchFamily="2" charset="-122"/>
              </a:rPr>
              <a:t>方法</a:t>
            </a:r>
            <a:endParaRPr kumimoji="1" lang="en-US" altLang="zh-CN" kern="1200" cap="none" spc="0" normalizeH="0" baseline="0" noProof="0" dirty="0">
              <a:solidFill>
                <a:schemeClr val="accent6"/>
              </a:solidFill>
              <a:latin typeface="宋体" panose="02010600030101010101" pitchFamily="2" charset="-122"/>
              <a:ea typeface="宋体" panose="02010600030101010101" pitchFamily="2" charset="-122"/>
              <a:cs typeface="宋体" panose="02010600030101010101" pitchFamily="2" charset="-122"/>
            </a:endParaRPr>
          </a:p>
          <a:p>
            <a:pPr lvl="1">
              <a:defRPr/>
            </a:pPr>
            <a:r>
              <a:rPr kumimoji="1" lang="en-US" altLang="zh-CN" sz="2000" b="0" kern="1200" cap="none" spc="0" normalizeH="0" baseline="0" noProof="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kumimoji="1" lang="zh-CN" altLang="en-US" sz="2000" b="0" kern="1200" cap="none" spc="0" normalizeH="0" baseline="0" noProof="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把每棵树转换为二叉树；</a:t>
            </a:r>
          </a:p>
          <a:p>
            <a:pPr lvl="1">
              <a:defRPr/>
            </a:pPr>
            <a:r>
              <a:rPr kumimoji="1" lang="en-US" altLang="zh-CN" sz="2000" b="0" kern="1200" cap="none" spc="0" normalizeH="0" baseline="0" noProof="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kumimoji="1" lang="zh-CN" altLang="en-US" sz="2000" b="0" kern="1200" cap="none" spc="0" normalizeH="0" baseline="0" noProof="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第一棵二叉树不动，从第二棵树开始，把后一棵树的根结点作为前一棵树的根结点的右孩子，用线连接起来。</a:t>
            </a:r>
          </a:p>
        </p:txBody>
      </p:sp>
    </p:spTree>
  </p:cSld>
  <p:clrMapOvr>
    <a:masterClrMapping/>
  </p:clrMapOvr>
  <p:transition>
    <p:pull dir="ru"/>
  </p:transition>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Rectangle 7"/>
          <p:cNvSpPr>
            <a:spLocks noChangeArrowheads="1"/>
          </p:cNvSpPr>
          <p:nvPr/>
        </p:nvSpPr>
        <p:spPr bwMode="auto">
          <a:xfrm>
            <a:off x="827088" y="260350"/>
            <a:ext cx="683895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森林与二叉树的转换</a:t>
            </a:r>
          </a:p>
        </p:txBody>
      </p:sp>
      <p:pic>
        <p:nvPicPr>
          <p:cNvPr id="95235" name="图片 3"/>
          <p:cNvPicPr>
            <a:picLocks noChangeAspect="1"/>
          </p:cNvPicPr>
          <p:nvPr/>
        </p:nvPicPr>
        <p:blipFill>
          <a:blip r:embed="rId2"/>
          <a:stretch>
            <a:fillRect/>
          </a:stretch>
        </p:blipFill>
        <p:spPr>
          <a:xfrm>
            <a:off x="250825" y="836613"/>
            <a:ext cx="8461375" cy="2295525"/>
          </a:xfrm>
          <a:prstGeom prst="rect">
            <a:avLst/>
          </a:prstGeom>
          <a:noFill/>
          <a:ln w="9525">
            <a:noFill/>
          </a:ln>
        </p:spPr>
      </p:pic>
      <p:pic>
        <p:nvPicPr>
          <p:cNvPr id="95236" name="图片 7"/>
          <p:cNvPicPr>
            <a:picLocks noChangeAspect="1"/>
          </p:cNvPicPr>
          <p:nvPr/>
        </p:nvPicPr>
        <p:blipFill>
          <a:blip r:embed="rId3"/>
          <a:stretch>
            <a:fillRect/>
          </a:stretch>
        </p:blipFill>
        <p:spPr>
          <a:xfrm>
            <a:off x="0" y="3878263"/>
            <a:ext cx="6840538" cy="2143125"/>
          </a:xfrm>
          <a:prstGeom prst="rect">
            <a:avLst/>
          </a:prstGeom>
          <a:noFill/>
          <a:ln w="9525">
            <a:noFill/>
          </a:ln>
        </p:spPr>
      </p:pic>
      <p:pic>
        <p:nvPicPr>
          <p:cNvPr id="95237" name="图片 9"/>
          <p:cNvPicPr>
            <a:picLocks noChangeAspect="1"/>
          </p:cNvPicPr>
          <p:nvPr/>
        </p:nvPicPr>
        <p:blipFill>
          <a:blip r:embed="rId4"/>
          <a:stretch>
            <a:fillRect/>
          </a:stretch>
        </p:blipFill>
        <p:spPr>
          <a:xfrm>
            <a:off x="6845300" y="2305050"/>
            <a:ext cx="1993900" cy="2297113"/>
          </a:xfrm>
          <a:prstGeom prst="rect">
            <a:avLst/>
          </a:prstGeom>
          <a:noFill/>
          <a:ln w="9525">
            <a:noFill/>
          </a:ln>
        </p:spPr>
      </p:pic>
    </p:spTree>
  </p:cSld>
  <p:clrMapOvr>
    <a:masterClrMapping/>
  </p:clrMapOvr>
  <p:transition>
    <p:pull dir="ru"/>
  </p:transition>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783394" name="Object 34"/>
          <p:cNvGraphicFramePr/>
          <p:nvPr/>
        </p:nvGraphicFramePr>
        <p:xfrm>
          <a:off x="4127500" y="2730500"/>
          <a:ext cx="1171575" cy="2613025"/>
        </p:xfrm>
        <a:graphic>
          <a:graphicData uri="http://schemas.openxmlformats.org/presentationml/2006/ole">
            <mc:AlternateContent xmlns:mc="http://schemas.openxmlformats.org/markup-compatibility/2006">
              <mc:Choice xmlns:v="urn:schemas-microsoft-com:vml" Requires="v">
                <p:oleObj spid="_x0000_s14462" r:id="rId3" imgW="1569720" imgH="3424555" progId="Visio.Drawing.5">
                  <p:embed/>
                </p:oleObj>
              </mc:Choice>
              <mc:Fallback>
                <p:oleObj r:id="rId3" imgW="1569720" imgH="3424555" progId="Visio.Drawing.5">
                  <p:embed/>
                  <p:pic>
                    <p:nvPicPr>
                      <p:cNvPr id="0" name="图片 3093"/>
                      <p:cNvPicPr/>
                      <p:nvPr/>
                    </p:nvPicPr>
                    <p:blipFill>
                      <a:blip r:embed="rId4"/>
                      <a:stretch>
                        <a:fillRect/>
                      </a:stretch>
                    </p:blipFill>
                    <p:spPr>
                      <a:xfrm>
                        <a:off x="4127500" y="2730500"/>
                        <a:ext cx="1171575" cy="2613025"/>
                      </a:xfrm>
                      <a:prstGeom prst="rect">
                        <a:avLst/>
                      </a:prstGeom>
                      <a:solidFill>
                        <a:srgbClr val="EAEAEA"/>
                      </a:solidFill>
                      <a:ln w="38100">
                        <a:noFill/>
                        <a:miter/>
                      </a:ln>
                    </p:spPr>
                  </p:pic>
                </p:oleObj>
              </mc:Fallback>
            </mc:AlternateContent>
          </a:graphicData>
        </a:graphic>
      </p:graphicFrame>
      <p:graphicFrame>
        <p:nvGraphicFramePr>
          <p:cNvPr id="783395" name="Object 35"/>
          <p:cNvGraphicFramePr/>
          <p:nvPr/>
        </p:nvGraphicFramePr>
        <p:xfrm>
          <a:off x="255588" y="5094288"/>
          <a:ext cx="3475037" cy="1504950"/>
        </p:xfrm>
        <a:graphic>
          <a:graphicData uri="http://schemas.openxmlformats.org/presentationml/2006/ole">
            <mc:AlternateContent xmlns:mc="http://schemas.openxmlformats.org/markup-compatibility/2006">
              <mc:Choice xmlns:v="urn:schemas-microsoft-com:vml" Requires="v">
                <p:oleObj spid="_x0000_s14463" r:id="rId5" imgW="3996055" imgH="1873250" progId="Visio.Drawing.5">
                  <p:embed/>
                </p:oleObj>
              </mc:Choice>
              <mc:Fallback>
                <p:oleObj r:id="rId5" imgW="3996055" imgH="1873250" progId="Visio.Drawing.5">
                  <p:embed/>
                  <p:pic>
                    <p:nvPicPr>
                      <p:cNvPr id="0" name="图片 3095"/>
                      <p:cNvPicPr/>
                      <p:nvPr/>
                    </p:nvPicPr>
                    <p:blipFill>
                      <a:blip r:embed="rId6"/>
                      <a:stretch>
                        <a:fillRect/>
                      </a:stretch>
                    </p:blipFill>
                    <p:spPr>
                      <a:xfrm>
                        <a:off x="255588" y="5094288"/>
                        <a:ext cx="3475037" cy="1504950"/>
                      </a:xfrm>
                      <a:prstGeom prst="rect">
                        <a:avLst/>
                      </a:prstGeom>
                      <a:noFill/>
                      <a:ln w="38100">
                        <a:noFill/>
                        <a:miter/>
                      </a:ln>
                    </p:spPr>
                  </p:pic>
                </p:oleObj>
              </mc:Fallback>
            </mc:AlternateContent>
          </a:graphicData>
        </a:graphic>
      </p:graphicFrame>
      <p:graphicFrame>
        <p:nvGraphicFramePr>
          <p:cNvPr id="783396" name="Object 36"/>
          <p:cNvGraphicFramePr/>
          <p:nvPr/>
        </p:nvGraphicFramePr>
        <p:xfrm>
          <a:off x="6611938" y="4314825"/>
          <a:ext cx="2284412" cy="2354263"/>
        </p:xfrm>
        <a:graphic>
          <a:graphicData uri="http://schemas.openxmlformats.org/presentationml/2006/ole">
            <mc:AlternateContent xmlns:mc="http://schemas.openxmlformats.org/markup-compatibility/2006">
              <mc:Choice xmlns:v="urn:schemas-microsoft-com:vml" Requires="v">
                <p:oleObj spid="_x0000_s14464" r:id="rId7" imgW="2917190" imgH="3096895" progId="Visio.Drawing.5">
                  <p:embed/>
                </p:oleObj>
              </mc:Choice>
              <mc:Fallback>
                <p:oleObj r:id="rId7" imgW="2917190" imgH="3096895" progId="Visio.Drawing.5">
                  <p:embed/>
                  <p:pic>
                    <p:nvPicPr>
                      <p:cNvPr id="0" name="图片 3094"/>
                      <p:cNvPicPr/>
                      <p:nvPr/>
                    </p:nvPicPr>
                    <p:blipFill>
                      <a:blip r:embed="rId8"/>
                      <a:stretch>
                        <a:fillRect/>
                      </a:stretch>
                    </p:blipFill>
                    <p:spPr>
                      <a:xfrm>
                        <a:off x="6611938" y="4314825"/>
                        <a:ext cx="2284412" cy="2354263"/>
                      </a:xfrm>
                      <a:prstGeom prst="rect">
                        <a:avLst/>
                      </a:prstGeom>
                      <a:noFill/>
                      <a:ln w="38100">
                        <a:noFill/>
                        <a:miter/>
                      </a:ln>
                    </p:spPr>
                  </p:pic>
                </p:oleObj>
              </mc:Fallback>
            </mc:AlternateContent>
          </a:graphicData>
        </a:graphic>
      </p:graphicFrame>
      <p:grpSp>
        <p:nvGrpSpPr>
          <p:cNvPr id="88069" name="Group 37"/>
          <p:cNvGrpSpPr/>
          <p:nvPr/>
        </p:nvGrpSpPr>
        <p:grpSpPr>
          <a:xfrm>
            <a:off x="600075" y="958850"/>
            <a:ext cx="1800225" cy="2017713"/>
            <a:chOff x="378" y="171"/>
            <a:chExt cx="1134" cy="1271"/>
          </a:xfrm>
        </p:grpSpPr>
        <p:graphicFrame>
          <p:nvGraphicFramePr>
            <p:cNvPr id="88090" name="Object 38"/>
            <p:cNvGraphicFramePr/>
            <p:nvPr/>
          </p:nvGraphicFramePr>
          <p:xfrm>
            <a:off x="378" y="522"/>
            <a:ext cx="1134" cy="920"/>
          </p:xfrm>
          <a:graphic>
            <a:graphicData uri="http://schemas.openxmlformats.org/presentationml/2006/ole">
              <mc:AlternateContent xmlns:mc="http://schemas.openxmlformats.org/markup-compatibility/2006">
                <mc:Choice xmlns:v="urn:schemas-microsoft-com:vml" Requires="v">
                  <p:oleObj spid="_x0000_s14465" r:id="rId9" imgW="2538730" imgH="2195830" progId="Visio.Drawing.5">
                    <p:embed/>
                  </p:oleObj>
                </mc:Choice>
                <mc:Fallback>
                  <p:oleObj r:id="rId9" imgW="2538730" imgH="2195830" progId="Visio.Drawing.5">
                    <p:embed/>
                    <p:pic>
                      <p:nvPicPr>
                        <p:cNvPr id="0" name="图片 3096"/>
                        <p:cNvPicPr/>
                        <p:nvPr/>
                      </p:nvPicPr>
                      <p:blipFill>
                        <a:blip r:embed="rId10"/>
                        <a:stretch>
                          <a:fillRect/>
                        </a:stretch>
                      </p:blipFill>
                      <p:spPr>
                        <a:xfrm>
                          <a:off x="378" y="522"/>
                          <a:ext cx="1134" cy="920"/>
                        </a:xfrm>
                        <a:prstGeom prst="rect">
                          <a:avLst/>
                        </a:prstGeom>
                        <a:noFill/>
                        <a:ln w="38100">
                          <a:noFill/>
                          <a:miter/>
                        </a:ln>
                      </p:spPr>
                    </p:pic>
                  </p:oleObj>
                </mc:Fallback>
              </mc:AlternateContent>
            </a:graphicData>
          </a:graphic>
        </p:graphicFrame>
        <p:sp>
          <p:nvSpPr>
            <p:cNvPr id="85001" name="Text Box 39"/>
            <p:cNvSpPr txBox="1">
              <a:spLocks noChangeArrowheads="1"/>
            </p:cNvSpPr>
            <p:nvPr/>
          </p:nvSpPr>
          <p:spPr bwMode="auto">
            <a:xfrm>
              <a:off x="781" y="171"/>
              <a:ext cx="410" cy="33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zh-CN" altLang="zh-CN" sz="2800" b="0" i="0" u="none" strike="noStrike" kern="1200" cap="none" spc="0" normalizeH="0" baseline="0" noProof="0" dirty="0">
                  <a:ln>
                    <a:noFill/>
                  </a:ln>
                  <a:solidFill>
                    <a:schemeClr val="hlink"/>
                  </a:solidFill>
                  <a:effectLst/>
                  <a:uLnTx/>
                  <a:uFillTx/>
                  <a:latin typeface="+mn-lt"/>
                  <a:ea typeface="+mn-ea"/>
                  <a:cs typeface="+mn-ea"/>
                  <a:sym typeface="+mn-lt"/>
                </a:rPr>
                <a:t>树</a:t>
              </a:r>
              <a:endPar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endParaRPr>
            </a:p>
          </p:txBody>
        </p:sp>
      </p:grpSp>
      <p:grpSp>
        <p:nvGrpSpPr>
          <p:cNvPr id="6" name="Group 40"/>
          <p:cNvGrpSpPr/>
          <p:nvPr/>
        </p:nvGrpSpPr>
        <p:grpSpPr>
          <a:xfrm>
            <a:off x="7327900" y="958850"/>
            <a:ext cx="1196975" cy="2392363"/>
            <a:chOff x="4616" y="123"/>
            <a:chExt cx="754" cy="1507"/>
          </a:xfrm>
        </p:grpSpPr>
        <p:graphicFrame>
          <p:nvGraphicFramePr>
            <p:cNvPr id="88088" name="Object 41"/>
            <p:cNvGraphicFramePr/>
            <p:nvPr/>
          </p:nvGraphicFramePr>
          <p:xfrm>
            <a:off x="4616" y="414"/>
            <a:ext cx="749" cy="1216"/>
          </p:xfrm>
          <a:graphic>
            <a:graphicData uri="http://schemas.openxmlformats.org/presentationml/2006/ole">
              <mc:AlternateContent xmlns:mc="http://schemas.openxmlformats.org/markup-compatibility/2006">
                <mc:Choice xmlns:v="urn:schemas-microsoft-com:vml" Requires="v">
                  <p:oleObj spid="_x0000_s14466" r:id="rId11" imgW="1791970" imgH="2845435" progId="Visio.Drawing.5">
                    <p:embed/>
                  </p:oleObj>
                </mc:Choice>
                <mc:Fallback>
                  <p:oleObj r:id="rId11" imgW="1791970" imgH="2845435" progId="Visio.Drawing.5">
                    <p:embed/>
                    <p:pic>
                      <p:nvPicPr>
                        <p:cNvPr id="0" name="图片 3097"/>
                        <p:cNvPicPr/>
                        <p:nvPr/>
                      </p:nvPicPr>
                      <p:blipFill>
                        <a:blip r:embed="rId12"/>
                        <a:stretch>
                          <a:fillRect/>
                        </a:stretch>
                      </p:blipFill>
                      <p:spPr>
                        <a:xfrm>
                          <a:off x="4616" y="414"/>
                          <a:ext cx="749" cy="1216"/>
                        </a:xfrm>
                        <a:prstGeom prst="rect">
                          <a:avLst/>
                        </a:prstGeom>
                        <a:solidFill>
                          <a:schemeClr val="bg1"/>
                        </a:solidFill>
                        <a:ln w="38100">
                          <a:noFill/>
                          <a:miter/>
                        </a:ln>
                      </p:spPr>
                    </p:pic>
                  </p:oleObj>
                </mc:Fallback>
              </mc:AlternateContent>
            </a:graphicData>
          </a:graphic>
        </p:graphicFrame>
        <p:sp>
          <p:nvSpPr>
            <p:cNvPr id="85004" name="Text Box 42"/>
            <p:cNvSpPr txBox="1">
              <a:spLocks noChangeArrowheads="1"/>
            </p:cNvSpPr>
            <p:nvPr/>
          </p:nvSpPr>
          <p:spPr bwMode="auto">
            <a:xfrm>
              <a:off x="4624" y="123"/>
              <a:ext cx="746" cy="29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二叉</a:t>
              </a:r>
              <a:r>
                <a:rPr kumimoji="0" lang="zh-CN" altLang="zh-CN" sz="2400" b="0" i="0" u="none" strike="noStrike" kern="1200" cap="none" spc="0" normalizeH="0" baseline="0" noProof="0" dirty="0">
                  <a:ln>
                    <a:noFill/>
                  </a:ln>
                  <a:solidFill>
                    <a:schemeClr val="hlink"/>
                  </a:solidFill>
                  <a:effectLst/>
                  <a:uLnTx/>
                  <a:uFillTx/>
                  <a:latin typeface="+mn-lt"/>
                  <a:ea typeface="+mn-ea"/>
                  <a:cs typeface="+mn-ea"/>
                  <a:sym typeface="+mn-lt"/>
                </a:rPr>
                <a:t>树</a:t>
              </a:r>
              <a:endPar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endParaRPr>
            </a:p>
          </p:txBody>
        </p:sp>
      </p:grpSp>
      <p:grpSp>
        <p:nvGrpSpPr>
          <p:cNvPr id="8" name="Group 43"/>
          <p:cNvGrpSpPr/>
          <p:nvPr/>
        </p:nvGrpSpPr>
        <p:grpSpPr>
          <a:xfrm>
            <a:off x="3938588" y="1293813"/>
            <a:ext cx="1600200" cy="795337"/>
            <a:chOff x="2640" y="507"/>
            <a:chExt cx="1008" cy="501"/>
          </a:xfrm>
        </p:grpSpPr>
        <p:sp>
          <p:nvSpPr>
            <p:cNvPr id="85006" name="AutoShape 44"/>
            <p:cNvSpPr>
              <a:spLocks noChangeArrowheads="1"/>
            </p:cNvSpPr>
            <p:nvPr/>
          </p:nvSpPr>
          <p:spPr bwMode="auto">
            <a:xfrm>
              <a:off x="2640" y="864"/>
              <a:ext cx="1008" cy="144"/>
            </a:xfrm>
            <a:prstGeom prst="leftRightArrow">
              <a:avLst>
                <a:gd name="adj1" fmla="val 50000"/>
                <a:gd name="adj2" fmla="val 140000"/>
              </a:avLst>
            </a:prstGeom>
            <a:solidFill>
              <a:srgbClr val="FF0066"/>
            </a:solid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5007" name="Text Box 45"/>
            <p:cNvSpPr txBox="1">
              <a:spLocks noChangeArrowheads="1"/>
            </p:cNvSpPr>
            <p:nvPr/>
          </p:nvSpPr>
          <p:spPr bwMode="auto">
            <a:xfrm>
              <a:off x="2838" y="507"/>
              <a:ext cx="55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zh-CN" altLang="zh-CN" sz="2400" b="0" i="0" u="none" strike="noStrike" kern="1200" cap="none" spc="0" normalizeH="0" baseline="0" noProof="0" dirty="0">
                  <a:ln>
                    <a:noFill/>
                  </a:ln>
                  <a:solidFill>
                    <a:schemeClr val="hlink"/>
                  </a:solidFill>
                  <a:effectLst/>
                  <a:uLnTx/>
                  <a:uFillTx/>
                  <a:latin typeface="+mn-lt"/>
                  <a:ea typeface="+mn-ea"/>
                  <a:cs typeface="+mn-ea"/>
                  <a:sym typeface="+mn-lt"/>
                </a:rPr>
                <a:t>对应</a:t>
              </a:r>
              <a:endPar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endParaRPr>
            </a:p>
          </p:txBody>
        </p:sp>
      </p:grpSp>
      <p:grpSp>
        <p:nvGrpSpPr>
          <p:cNvPr id="9" name="Group 46"/>
          <p:cNvGrpSpPr/>
          <p:nvPr/>
        </p:nvGrpSpPr>
        <p:grpSpPr>
          <a:xfrm>
            <a:off x="2871788" y="2360613"/>
            <a:ext cx="1066800" cy="952500"/>
            <a:chOff x="1920" y="1131"/>
            <a:chExt cx="672" cy="600"/>
          </a:xfrm>
        </p:grpSpPr>
        <p:sp>
          <p:nvSpPr>
            <p:cNvPr id="85009" name="AutoShape 47"/>
            <p:cNvSpPr>
              <a:spLocks noChangeArrowheads="1"/>
            </p:cNvSpPr>
            <p:nvPr/>
          </p:nvSpPr>
          <p:spPr bwMode="auto">
            <a:xfrm rot="2146450">
              <a:off x="1920" y="1584"/>
              <a:ext cx="672" cy="147"/>
            </a:xfrm>
            <a:prstGeom prst="rightArrow">
              <a:avLst>
                <a:gd name="adj1" fmla="val 50000"/>
                <a:gd name="adj2" fmla="val 114243"/>
              </a:avLst>
            </a:prstGeom>
            <a:solidFill>
              <a:srgbClr val="7030A0"/>
            </a:solidFill>
            <a:ln w="9525">
              <a:no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5010" name="Text Box 48"/>
            <p:cNvSpPr txBox="1">
              <a:spLocks noChangeArrowheads="1"/>
            </p:cNvSpPr>
            <p:nvPr/>
          </p:nvSpPr>
          <p:spPr bwMode="auto">
            <a:xfrm>
              <a:off x="1968" y="1131"/>
              <a:ext cx="55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zh-CN" altLang="zh-CN" sz="2400" b="0" i="0" u="none" strike="noStrike" kern="1200" cap="none" spc="0" normalizeH="0" baseline="0" noProof="0" dirty="0">
                  <a:ln>
                    <a:noFill/>
                  </a:ln>
                  <a:solidFill>
                    <a:schemeClr val="hlink"/>
                  </a:solidFill>
                  <a:effectLst/>
                  <a:uLnTx/>
                  <a:uFillTx/>
                  <a:latin typeface="+mn-lt"/>
                  <a:ea typeface="+mn-ea"/>
                  <a:cs typeface="+mn-ea"/>
                  <a:sym typeface="+mn-lt"/>
                </a:rPr>
                <a:t>存储</a:t>
              </a:r>
              <a:endPar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endParaRPr>
            </a:p>
          </p:txBody>
        </p:sp>
      </p:grpSp>
      <p:grpSp>
        <p:nvGrpSpPr>
          <p:cNvPr id="10" name="Group 49"/>
          <p:cNvGrpSpPr/>
          <p:nvPr/>
        </p:nvGrpSpPr>
        <p:grpSpPr>
          <a:xfrm>
            <a:off x="5386388" y="2436813"/>
            <a:ext cx="1219200" cy="947737"/>
            <a:chOff x="3504" y="1179"/>
            <a:chExt cx="768" cy="597"/>
          </a:xfrm>
        </p:grpSpPr>
        <p:sp>
          <p:nvSpPr>
            <p:cNvPr id="85012" name="AutoShape 50"/>
            <p:cNvSpPr>
              <a:spLocks noChangeArrowheads="1"/>
            </p:cNvSpPr>
            <p:nvPr/>
          </p:nvSpPr>
          <p:spPr bwMode="auto">
            <a:xfrm rot="8277140">
              <a:off x="3600" y="1632"/>
              <a:ext cx="672" cy="144"/>
            </a:xfrm>
            <a:prstGeom prst="rightArrow">
              <a:avLst>
                <a:gd name="adj1" fmla="val 50000"/>
                <a:gd name="adj2" fmla="val 116623"/>
              </a:avLst>
            </a:prstGeom>
            <a:solidFill>
              <a:srgbClr val="7030A0"/>
            </a:solidFill>
            <a:ln w="9525">
              <a:no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5013" name="Text Box 51"/>
            <p:cNvSpPr txBox="1">
              <a:spLocks noChangeArrowheads="1"/>
            </p:cNvSpPr>
            <p:nvPr/>
          </p:nvSpPr>
          <p:spPr bwMode="auto">
            <a:xfrm>
              <a:off x="3504" y="1179"/>
              <a:ext cx="55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zh-CN" altLang="zh-CN" sz="2400" b="0" i="0" u="none" strike="noStrike" kern="1200" cap="none" spc="0" normalizeH="0" baseline="0" noProof="0" dirty="0">
                  <a:ln>
                    <a:noFill/>
                  </a:ln>
                  <a:solidFill>
                    <a:schemeClr val="hlink"/>
                  </a:solidFill>
                  <a:effectLst/>
                  <a:uLnTx/>
                  <a:uFillTx/>
                  <a:latin typeface="+mn-lt"/>
                  <a:ea typeface="+mn-ea"/>
                  <a:cs typeface="+mn-ea"/>
                  <a:sym typeface="+mn-lt"/>
                </a:rPr>
                <a:t>存储</a:t>
              </a:r>
              <a:endPar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endParaRPr>
            </a:p>
          </p:txBody>
        </p:sp>
      </p:grpSp>
      <p:grpSp>
        <p:nvGrpSpPr>
          <p:cNvPr id="11" name="Group 52"/>
          <p:cNvGrpSpPr/>
          <p:nvPr/>
        </p:nvGrpSpPr>
        <p:grpSpPr>
          <a:xfrm>
            <a:off x="2414588" y="3960813"/>
            <a:ext cx="1585912" cy="706437"/>
            <a:chOff x="1632" y="2139"/>
            <a:chExt cx="999" cy="445"/>
          </a:xfrm>
        </p:grpSpPr>
        <p:sp>
          <p:nvSpPr>
            <p:cNvPr id="88080" name="AutoShape 53"/>
            <p:cNvSpPr/>
            <p:nvPr/>
          </p:nvSpPr>
          <p:spPr>
            <a:xfrm rot="8292122">
              <a:off x="1948" y="2429"/>
              <a:ext cx="683" cy="155"/>
            </a:xfrm>
            <a:prstGeom prst="rightArrow">
              <a:avLst>
                <a:gd name="adj1" fmla="val 50000"/>
                <a:gd name="adj2" fmla="val 110120"/>
              </a:avLst>
            </a:prstGeom>
            <a:solidFill>
              <a:srgbClr val="7030A0"/>
            </a:solidFill>
            <a:ln w="9525">
              <a:noFill/>
            </a:ln>
          </p:spPr>
          <p:txBody>
            <a:bodyPr rot="10800000" wrap="none" anchor="ctr" anchorCtr="0"/>
            <a:lstStyle/>
            <a:p>
              <a:pPr algn="ctr" eaLnBrk="1" hangingPunct="1">
                <a:buNone/>
              </a:pPr>
              <a:endParaRPr lang="zh-CN" altLang="zh-CN" dirty="0">
                <a:solidFill>
                  <a:schemeClr val="hlink"/>
                </a:solidFill>
                <a:latin typeface="Times New Roman" panose="02020603050405020304" pitchFamily="18" charset="0"/>
                <a:ea typeface="微软雅黑" panose="020B0503020204020204" pitchFamily="34" charset="-122"/>
                <a:sym typeface="+mn-lt"/>
              </a:endParaRPr>
            </a:p>
          </p:txBody>
        </p:sp>
        <p:sp>
          <p:nvSpPr>
            <p:cNvPr id="85016" name="Text Box 54"/>
            <p:cNvSpPr txBox="1">
              <a:spLocks noChangeArrowheads="1"/>
            </p:cNvSpPr>
            <p:nvPr/>
          </p:nvSpPr>
          <p:spPr bwMode="auto">
            <a:xfrm>
              <a:off x="1632" y="2139"/>
              <a:ext cx="55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zh-CN" altLang="zh-CN" sz="2400" b="0" i="0" u="none" strike="noStrike" kern="1200" cap="none" spc="0" normalizeH="0" baseline="0" noProof="0" dirty="0">
                  <a:ln>
                    <a:noFill/>
                  </a:ln>
                  <a:solidFill>
                    <a:schemeClr val="hlink"/>
                  </a:solidFill>
                  <a:effectLst/>
                  <a:uLnTx/>
                  <a:uFillTx/>
                  <a:latin typeface="+mn-lt"/>
                  <a:ea typeface="+mn-ea"/>
                  <a:cs typeface="+mn-ea"/>
                  <a:sym typeface="+mn-lt"/>
                </a:rPr>
                <a:t>解释</a:t>
              </a:r>
              <a:endPar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endParaRPr>
            </a:p>
          </p:txBody>
        </p:sp>
      </p:grpSp>
      <p:grpSp>
        <p:nvGrpSpPr>
          <p:cNvPr id="12" name="Group 55"/>
          <p:cNvGrpSpPr/>
          <p:nvPr/>
        </p:nvGrpSpPr>
        <p:grpSpPr>
          <a:xfrm>
            <a:off x="5538788" y="3851275"/>
            <a:ext cx="1249362" cy="622300"/>
            <a:chOff x="3600" y="1905"/>
            <a:chExt cx="905" cy="451"/>
          </a:xfrm>
        </p:grpSpPr>
        <p:sp>
          <p:nvSpPr>
            <p:cNvPr id="85018" name="AutoShape 56"/>
            <p:cNvSpPr>
              <a:spLocks noChangeArrowheads="1"/>
            </p:cNvSpPr>
            <p:nvPr/>
          </p:nvSpPr>
          <p:spPr bwMode="auto">
            <a:xfrm rot="2146450">
              <a:off x="3600" y="2208"/>
              <a:ext cx="624" cy="148"/>
            </a:xfrm>
            <a:prstGeom prst="rightArrow">
              <a:avLst>
                <a:gd name="adj1" fmla="val 50000"/>
                <a:gd name="adj2" fmla="val 105366"/>
              </a:avLst>
            </a:prstGeom>
            <a:solidFill>
              <a:srgbClr val="7030A0"/>
            </a:solidFill>
            <a:ln w="9525">
              <a:no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5019" name="Text Box 57"/>
            <p:cNvSpPr txBox="1">
              <a:spLocks noChangeArrowheads="1"/>
            </p:cNvSpPr>
            <p:nvPr/>
          </p:nvSpPr>
          <p:spPr bwMode="auto">
            <a:xfrm>
              <a:off x="3870" y="1905"/>
              <a:ext cx="635" cy="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 </a:t>
              </a:r>
              <a:r>
                <a:rPr kumimoji="0" lang="zh-CN" altLang="zh-CN" sz="2400" b="0" i="0" u="none" strike="noStrike" kern="1200" cap="none" spc="0" normalizeH="0" baseline="0" noProof="0" dirty="0">
                  <a:ln>
                    <a:noFill/>
                  </a:ln>
                  <a:solidFill>
                    <a:schemeClr val="hlink"/>
                  </a:solidFill>
                  <a:effectLst/>
                  <a:uLnTx/>
                  <a:uFillTx/>
                  <a:latin typeface="+mn-lt"/>
                  <a:ea typeface="+mn-ea"/>
                  <a:cs typeface="+mn-ea"/>
                  <a:sym typeface="+mn-lt"/>
                </a:rPr>
                <a:t>解释</a:t>
              </a:r>
              <a:endPar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endParaRPr>
            </a:p>
          </p:txBody>
        </p:sp>
      </p:grpSp>
      <p:sp>
        <p:nvSpPr>
          <p:cNvPr id="32" name="AutoShape 44"/>
          <p:cNvSpPr>
            <a:spLocks noChangeArrowheads="1"/>
          </p:cNvSpPr>
          <p:nvPr/>
        </p:nvSpPr>
        <p:spPr bwMode="auto">
          <a:xfrm>
            <a:off x="3951288" y="1860550"/>
            <a:ext cx="1600200" cy="228600"/>
          </a:xfrm>
          <a:prstGeom prst="leftRightArrow">
            <a:avLst>
              <a:gd name="adj1" fmla="val 50000"/>
              <a:gd name="adj2" fmla="val 140000"/>
            </a:avLst>
          </a:prstGeom>
          <a:solidFill>
            <a:srgbClr val="7030A0"/>
          </a:solidFill>
          <a:ln w="9525">
            <a:no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6" name="Rectangle 7"/>
          <p:cNvSpPr>
            <a:spLocks noChangeArrowheads="1"/>
          </p:cNvSpPr>
          <p:nvPr/>
        </p:nvSpPr>
        <p:spPr bwMode="auto">
          <a:xfrm>
            <a:off x="836613" y="234950"/>
            <a:ext cx="683895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树的存储结构－－二叉链表表示法</a:t>
            </a:r>
          </a:p>
        </p:txBody>
      </p:sp>
    </p:spTree>
  </p:cSld>
  <p:clrMapOvr>
    <a:masterClrMapping/>
  </p:clrMapOvr>
  <p:transition>
    <p:wipe di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78339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78339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499"/>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499"/>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499"/>
                                          </p:stCondLst>
                                        </p:cTn>
                                        <p:tgtEl>
                                          <p:spTgt spid="78339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grpSp>
        <p:nvGrpSpPr>
          <p:cNvPr id="4" name="组合 3"/>
          <p:cNvGrpSpPr/>
          <p:nvPr/>
        </p:nvGrpSpPr>
        <p:grpSpPr>
          <a:xfrm>
            <a:off x="1500505" y="1774825"/>
            <a:ext cx="6143625" cy="4318635"/>
            <a:chOff x="2363" y="3247"/>
            <a:chExt cx="9675" cy="6801"/>
          </a:xfrm>
        </p:grpSpPr>
        <p:sp>
          <p:nvSpPr>
            <p:cNvPr id="3" name="矩形: 圆角 16"/>
            <p:cNvSpPr>
              <a:spLocks noChangeArrowheads="1"/>
            </p:cNvSpPr>
            <p:nvPr/>
          </p:nvSpPr>
          <p:spPr bwMode="auto">
            <a:xfrm>
              <a:off x="3850" y="8106"/>
              <a:ext cx="8188" cy="795"/>
            </a:xfrm>
            <a:prstGeom prst="roundRect">
              <a:avLst>
                <a:gd name="adj" fmla="val 16667"/>
              </a:avLst>
            </a:prstGeom>
            <a:solidFill>
              <a:srgbClr val="9476B6"/>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2363" y="8106"/>
              <a:ext cx="1323" cy="795"/>
            </a:xfrm>
            <a:prstGeom prst="roundRect">
              <a:avLst>
                <a:gd name="adj" fmla="val 16667"/>
              </a:avLst>
            </a:pr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4" name="文本框 13"/>
            <p:cNvSpPr txBox="1"/>
            <p:nvPr/>
          </p:nvSpPr>
          <p:spPr>
            <a:xfrm>
              <a:off x="2550" y="3247"/>
              <a:ext cx="1135" cy="6801"/>
            </a:xfrm>
            <a:prstGeom prst="rect">
              <a:avLst/>
            </a:prstGeom>
            <a:noFill/>
          </p:spPr>
          <p:txBody>
            <a:bodyPr>
              <a:noAutofit/>
            </a:bodyPr>
            <a:lstStyle/>
            <a:p>
              <a:pPr marR="0" defTabSz="914400">
                <a:lnSpc>
                  <a:spcPct val="150000"/>
                </a:lnSpc>
                <a:buClrTx/>
                <a:buSzTx/>
                <a:buFontTx/>
                <a:buNone/>
                <a:defRPr/>
              </a:pPr>
              <a:r>
                <a:rPr kumimoji="0" lang="en-US" altLang="zh-CN" sz="2200" b="0" kern="1200" cap="none" spc="0" normalizeH="0" baseline="0" noProof="0" dirty="0">
                  <a:solidFill>
                    <a:schemeClr val="tx1"/>
                  </a:solidFill>
                  <a:latin typeface="+mn-lt"/>
                  <a:ea typeface="+mn-ea"/>
                  <a:cs typeface="+mn-ea"/>
                  <a:sym typeface="+mn-lt"/>
                </a:rPr>
                <a:t>5.1</a:t>
              </a:r>
              <a:endParaRPr kumimoji="0" lang="zh-CN" altLang="en-US" sz="2200" b="0" kern="1200" cap="none" spc="0" normalizeH="0" baseline="0" noProof="0" dirty="0">
                <a:solidFill>
                  <a:schemeClr val="tx1"/>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5.2</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5.3</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5.4</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5.5</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5.6</a:t>
              </a:r>
            </a:p>
            <a:p>
              <a:pPr marR="0" defTabSz="914400">
                <a:lnSpc>
                  <a:spcPct val="150000"/>
                </a:lnSpc>
                <a:buClrTx/>
                <a:buSzTx/>
                <a:buFontTx/>
                <a:buNone/>
                <a:defRPr/>
              </a:pPr>
              <a:r>
                <a:rPr kumimoji="0" lang="en-US" altLang="zh-CN" sz="2200" b="0" kern="1200" cap="none" spc="0" normalizeH="0" baseline="0" noProof="0" dirty="0">
                  <a:solidFill>
                    <a:schemeClr val="bg1"/>
                  </a:solidFill>
                  <a:latin typeface="+mn-lt"/>
                  <a:ea typeface="+mn-ea"/>
                  <a:cs typeface="+mn-ea"/>
                  <a:sym typeface="+mn-lt"/>
                </a:rPr>
                <a:t>5.7</a:t>
              </a:r>
            </a:p>
            <a:p>
              <a:pPr marR="0" defTabSz="914400">
                <a:lnSpc>
                  <a:spcPct val="150000"/>
                </a:lnSpc>
                <a:buClrTx/>
                <a:buSzTx/>
                <a:buFontTx/>
                <a:buNone/>
                <a:defRPr/>
              </a:pPr>
              <a:r>
                <a:rPr kumimoji="0" lang="en-US" altLang="zh-CN" sz="2200" b="0" kern="1200" cap="none" spc="0" normalizeH="0" baseline="0" noProof="0" dirty="0" smtClean="0">
                  <a:solidFill>
                    <a:srgbClr val="000000">
                      <a:lumMod val="95000"/>
                      <a:lumOff val="5000"/>
                    </a:srgbClr>
                  </a:solidFill>
                  <a:latin typeface="+mn-lt"/>
                  <a:ea typeface="+mn-ea"/>
                  <a:cs typeface="+mn-ea"/>
                  <a:sym typeface="+mn-lt"/>
                </a:rPr>
                <a:t>5.8</a:t>
              </a:r>
              <a:endParaRPr kumimoji="0" lang="en-US" altLang="zh-CN" sz="2200" b="0" kern="1200" cap="none" spc="0" normalizeH="0" baseline="0" noProof="0" dirty="0">
                <a:solidFill>
                  <a:srgbClr val="000000">
                    <a:lumMod val="95000"/>
                    <a:lumOff val="5000"/>
                  </a:srgbClr>
                </a:solidFill>
                <a:latin typeface="+mn-lt"/>
                <a:ea typeface="+mn-ea"/>
                <a:cs typeface="+mn-ea"/>
                <a:sym typeface="+mn-lt"/>
              </a:endParaRPr>
            </a:p>
          </p:txBody>
        </p:sp>
        <p:sp>
          <p:nvSpPr>
            <p:cNvPr id="15" name="文本框 14"/>
            <p:cNvSpPr txBox="1"/>
            <p:nvPr/>
          </p:nvSpPr>
          <p:spPr>
            <a:xfrm>
              <a:off x="3870" y="3247"/>
              <a:ext cx="7265" cy="6461"/>
            </a:xfrm>
            <a:prstGeom prst="rect">
              <a:avLst/>
            </a:prstGeom>
            <a:noFill/>
          </p:spPr>
          <p:txBody>
            <a:bodyPr wrap="square">
              <a:noAutofit/>
            </a:bodyPr>
            <a:lstStyle/>
            <a:p>
              <a:pPr>
                <a:lnSpc>
                  <a:spcPct val="150000"/>
                </a:lnSpc>
                <a:defRPr/>
              </a:pPr>
              <a:r>
                <a:rPr lang="zh-CN" altLang="en-US" sz="2200" b="0" dirty="0">
                  <a:solidFill>
                    <a:srgbClr val="000000">
                      <a:lumMod val="95000"/>
                      <a:lumOff val="5000"/>
                    </a:srgbClr>
                  </a:solidFill>
                  <a:latin typeface="+mn-lt"/>
                  <a:ea typeface="+mn-ea"/>
                  <a:cs typeface="+mn-ea"/>
                  <a:sym typeface="+mn-lt"/>
                </a:rPr>
                <a:t>案例引入</a:t>
              </a:r>
            </a:p>
            <a:p>
              <a:pPr marR="0" defTabSz="914400">
                <a:lnSpc>
                  <a:spcPct val="150000"/>
                </a:lnSpc>
                <a:buClrTx/>
                <a:buSzTx/>
                <a:buFont typeface="Arial" panose="020B0604020202020204" pitchFamily="34" charset="0"/>
                <a:buNone/>
                <a:defRPr/>
              </a:pPr>
              <a:r>
                <a:rPr kumimoji="0" lang="zh-CN" altLang="en-US" sz="2200" b="0" kern="1200" cap="none" spc="0" normalizeH="0" baseline="0" noProof="0" dirty="0" smtClean="0">
                  <a:solidFill>
                    <a:schemeClr val="tx1"/>
                  </a:solidFill>
                  <a:latin typeface="+mn-lt"/>
                  <a:ea typeface="+mn-ea"/>
                  <a:cs typeface="+mn-ea"/>
                  <a:sym typeface="+mn-lt"/>
                </a:rPr>
                <a:t>树</a:t>
              </a:r>
              <a:r>
                <a:rPr kumimoji="0" lang="zh-CN" altLang="en-US" sz="2200" b="0" kern="1200" cap="none" spc="0" normalizeH="0" baseline="0" noProof="0" dirty="0">
                  <a:solidFill>
                    <a:schemeClr val="tx1"/>
                  </a:solidFill>
                  <a:latin typeface="+mn-lt"/>
                  <a:ea typeface="+mn-ea"/>
                  <a:cs typeface="+mn-ea"/>
                  <a:sym typeface="+mn-lt"/>
                </a:rPr>
                <a:t>和二叉树的定义</a:t>
              </a:r>
            </a:p>
            <a:p>
              <a:pPr marR="0" defTabSz="914400">
                <a:lnSpc>
                  <a:spcPct val="150000"/>
                </a:lnSpc>
                <a:buClrTx/>
                <a:buSzTx/>
                <a:buFontTx/>
                <a:buNone/>
                <a:defRPr/>
              </a:pPr>
              <a:r>
                <a:rPr kumimoji="0" lang="zh-CN" altLang="en-US" sz="2200" b="0" kern="1200" cap="none" spc="0" normalizeH="0" baseline="0" noProof="0" dirty="0" smtClean="0">
                  <a:solidFill>
                    <a:srgbClr val="000000">
                      <a:lumMod val="95000"/>
                      <a:lumOff val="5000"/>
                    </a:srgbClr>
                  </a:solidFill>
                  <a:latin typeface="+mn-lt"/>
                  <a:ea typeface="+mn-ea"/>
                  <a:cs typeface="+mn-ea"/>
                  <a:sym typeface="+mn-lt"/>
                </a:rPr>
                <a:t>树</a:t>
              </a:r>
              <a:r>
                <a:rPr kumimoji="0" lang="zh-CN" altLang="en-US" sz="2200" b="0" kern="1200" cap="none" spc="0" normalizeH="0" baseline="0" noProof="0" dirty="0">
                  <a:solidFill>
                    <a:srgbClr val="000000">
                      <a:lumMod val="95000"/>
                      <a:lumOff val="5000"/>
                    </a:srgbClr>
                  </a:solidFill>
                  <a:latin typeface="+mn-lt"/>
                  <a:ea typeface="+mn-ea"/>
                  <a:cs typeface="+mn-ea"/>
                  <a:sym typeface="+mn-lt"/>
                </a:rPr>
                <a:t>和二叉树的抽象数据类型定义</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二叉树的性质和存储结构</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遍历二叉树</a:t>
              </a:r>
              <a:r>
                <a:rPr kumimoji="0" lang="zh-CN" altLang="en-US" sz="2200" b="0" kern="1200" cap="none" spc="0" normalizeH="0" baseline="0" noProof="0" dirty="0" smtClean="0">
                  <a:solidFill>
                    <a:srgbClr val="000000">
                      <a:lumMod val="95000"/>
                      <a:lumOff val="5000"/>
                    </a:srgbClr>
                  </a:solidFill>
                  <a:latin typeface="+mn-lt"/>
                  <a:ea typeface="+mn-ea"/>
                  <a:cs typeface="+mn-ea"/>
                  <a:sym typeface="+mn-lt"/>
                </a:rPr>
                <a:t>和应用</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树和森林</a:t>
              </a:r>
            </a:p>
            <a:p>
              <a:pPr marR="0" defTabSz="914400">
                <a:lnSpc>
                  <a:spcPct val="150000"/>
                </a:lnSpc>
                <a:buClrTx/>
                <a:buSzTx/>
                <a:buFontTx/>
                <a:buNone/>
                <a:defRPr/>
              </a:pPr>
              <a:r>
                <a:rPr lang="zh-CN" altLang="en-US" sz="2200" b="0" noProof="0" dirty="0" smtClean="0">
                  <a:solidFill>
                    <a:schemeClr val="bg1"/>
                  </a:solidFill>
                  <a:latin typeface="+mn-lt"/>
                  <a:ea typeface="+mn-ea"/>
                  <a:cs typeface="+mn-ea"/>
                  <a:sym typeface="+mn-lt"/>
                </a:rPr>
                <a:t>二叉搜索树（二叉排序树）</a:t>
              </a:r>
              <a:endParaRPr lang="zh-CN" altLang="en-US" sz="2200" b="0" noProof="0" dirty="0">
                <a:solidFill>
                  <a:schemeClr val="bg1"/>
                </a:solidFill>
                <a:latin typeface="+mn-lt"/>
                <a:ea typeface="+mn-ea"/>
                <a:cs typeface="+mn-ea"/>
                <a:sym typeface="+mn-lt"/>
              </a:endParaRPr>
            </a:p>
            <a:p>
              <a:pPr marR="0" defTabSz="914400">
                <a:lnSpc>
                  <a:spcPct val="150000"/>
                </a:lnSpc>
                <a:buClrTx/>
                <a:buSzTx/>
                <a:buFontTx/>
                <a:buNone/>
                <a:defRPr/>
              </a:pPr>
              <a:r>
                <a:rPr kumimoji="0" lang="zh-CN" altLang="en-US" sz="2200" b="0" kern="1200" cap="none" spc="0" normalizeH="0" baseline="0" noProof="0" dirty="0" smtClean="0">
                  <a:solidFill>
                    <a:srgbClr val="000000">
                      <a:lumMod val="95000"/>
                      <a:lumOff val="5000"/>
                    </a:srgbClr>
                  </a:solidFill>
                  <a:latin typeface="+mn-lt"/>
                  <a:ea typeface="+mn-ea"/>
                  <a:cs typeface="+mn-ea"/>
                  <a:sym typeface="+mn-lt"/>
                </a:rPr>
                <a:t>堆</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p:txBody>
        </p:sp>
      </p:gr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1986" name="Rectangle 20"/>
          <p:cNvSpPr>
            <a:spLocks noChangeArrowheads="1"/>
          </p:cNvSpPr>
          <p:nvPr/>
        </p:nvSpPr>
        <p:spPr bwMode="auto">
          <a:xfrm>
            <a:off x="508000" y="1484313"/>
            <a:ext cx="8424863" cy="792163"/>
          </a:xfrm>
          <a:prstGeom prst="rect">
            <a:avLst/>
          </a:prstGeom>
          <a:noFill/>
          <a:ln>
            <a:noFill/>
          </a:ln>
        </p:spPr>
        <p:txBody>
          <a:bodyPr/>
          <a:lstStyle>
            <a:lvl1pPr marL="342900" indent="-342900">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342900" marR="0" lvl="0" indent="-34290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二叉排序树或是空树，或是满足如下性质的二叉树：</a:t>
            </a:r>
          </a:p>
        </p:txBody>
      </p:sp>
      <p:sp>
        <p:nvSpPr>
          <p:cNvPr id="41987" name="Rectangle 21"/>
          <p:cNvSpPr>
            <a:spLocks noChangeArrowheads="1"/>
          </p:cNvSpPr>
          <p:nvPr/>
        </p:nvSpPr>
        <p:spPr bwMode="auto">
          <a:xfrm>
            <a:off x="900113" y="176213"/>
            <a:ext cx="4100513" cy="515938"/>
          </a:xfrm>
          <a:prstGeom prst="rect">
            <a:avLst/>
          </a:prstGeom>
          <a:noFill/>
          <a:ln>
            <a:noFill/>
          </a:ln>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二叉排序树</a:t>
            </a:r>
          </a:p>
        </p:txBody>
      </p:sp>
      <p:sp>
        <p:nvSpPr>
          <p:cNvPr id="5" name="Rectangle 20"/>
          <p:cNvSpPr>
            <a:spLocks noChangeArrowheads="1"/>
          </p:cNvSpPr>
          <p:nvPr/>
        </p:nvSpPr>
        <p:spPr bwMode="auto">
          <a:xfrm>
            <a:off x="1358900" y="2147888"/>
            <a:ext cx="7573963" cy="3101975"/>
          </a:xfrm>
          <a:prstGeom prst="rect">
            <a:avLst/>
          </a:prstGeom>
          <a:noFill/>
          <a:ln>
            <a:noFill/>
          </a:ln>
        </p:spPr>
        <p:txBody>
          <a:bodyPr/>
          <a:lstStyle>
            <a:lvl1pPr marL="342900" indent="-342900">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342900" marR="0" lvl="0" indent="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若其左子树非空，则</a:t>
            </a: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左子树</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上所有结点的值均</a:t>
            </a: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小</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于根结点的值；</a:t>
            </a:r>
          </a:p>
          <a:p>
            <a:pPr marL="342900" marR="0" lvl="0" indent="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若其右子树非空，则</a:t>
            </a: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右子树</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上所有结点的值均</a:t>
            </a: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大</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于等于根结点的值；</a:t>
            </a:r>
          </a:p>
          <a:p>
            <a:pPr marL="342900" marR="0" lvl="0" indent="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其左右子树本身又各是一棵二叉排序树</a:t>
            </a:r>
          </a:p>
        </p:txBody>
      </p:sp>
      <p:grpSp>
        <p:nvGrpSpPr>
          <p:cNvPr id="58372" name="组合 16"/>
          <p:cNvGrpSpPr/>
          <p:nvPr/>
        </p:nvGrpSpPr>
        <p:grpSpPr>
          <a:xfrm>
            <a:off x="633413" y="2276475"/>
            <a:ext cx="657225" cy="663575"/>
            <a:chOff x="4929188" y="1303338"/>
            <a:chExt cx="501650" cy="506412"/>
          </a:xfrm>
        </p:grpSpPr>
        <p:sp>
          <p:nvSpPr>
            <p:cNvPr id="7" name="Freeform 6"/>
            <p:cNvSpPr/>
            <p:nvPr/>
          </p:nvSpPr>
          <p:spPr bwMode="auto">
            <a:xfrm>
              <a:off x="4929188" y="1303338"/>
              <a:ext cx="501650" cy="506412"/>
            </a:xfrm>
            <a:custGeom>
              <a:avLst/>
              <a:gdLst>
                <a:gd name="T0" fmla="*/ 134 w 134"/>
                <a:gd name="T1" fmla="*/ 36 h 135"/>
                <a:gd name="T2" fmla="*/ 134 w 134"/>
                <a:gd name="T3" fmla="*/ 98 h 135"/>
                <a:gd name="T4" fmla="*/ 98 w 134"/>
                <a:gd name="T5" fmla="*/ 135 h 135"/>
                <a:gd name="T6" fmla="*/ 36 w 134"/>
                <a:gd name="T7" fmla="*/ 135 h 135"/>
                <a:gd name="T8" fmla="*/ 0 w 134"/>
                <a:gd name="T9" fmla="*/ 98 h 135"/>
                <a:gd name="T10" fmla="*/ 0 w 134"/>
                <a:gd name="T11" fmla="*/ 36 h 135"/>
                <a:gd name="T12" fmla="*/ 36 w 134"/>
                <a:gd name="T13" fmla="*/ 0 h 135"/>
                <a:gd name="T14" fmla="*/ 134 w 134"/>
                <a:gd name="T15" fmla="*/ 0 h 135"/>
                <a:gd name="T16" fmla="*/ 134 w 134"/>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5">
                  <a:moveTo>
                    <a:pt x="134" y="36"/>
                  </a:moveTo>
                  <a:cubicBezTo>
                    <a:pt x="134" y="98"/>
                    <a:pt x="134" y="98"/>
                    <a:pt x="134" y="98"/>
                  </a:cubicBezTo>
                  <a:cubicBezTo>
                    <a:pt x="134" y="118"/>
                    <a:pt x="118" y="135"/>
                    <a:pt x="98" y="135"/>
                  </a:cubicBezTo>
                  <a:cubicBezTo>
                    <a:pt x="36" y="135"/>
                    <a:pt x="36" y="135"/>
                    <a:pt x="36" y="135"/>
                  </a:cubicBezTo>
                  <a:cubicBezTo>
                    <a:pt x="16" y="135"/>
                    <a:pt x="0" y="118"/>
                    <a:pt x="0" y="98"/>
                  </a:cubicBezTo>
                  <a:cubicBezTo>
                    <a:pt x="0" y="36"/>
                    <a:pt x="0" y="36"/>
                    <a:pt x="0" y="36"/>
                  </a:cubicBezTo>
                  <a:cubicBezTo>
                    <a:pt x="0" y="16"/>
                    <a:pt x="16" y="0"/>
                    <a:pt x="36" y="0"/>
                  </a:cubicBezTo>
                  <a:cubicBezTo>
                    <a:pt x="134" y="0"/>
                    <a:pt x="134" y="0"/>
                    <a:pt x="134" y="0"/>
                  </a:cubicBezTo>
                  <a:lnTo>
                    <a:pt x="134" y="36"/>
                  </a:lnTo>
                  <a:close/>
                </a:path>
              </a:pathLst>
            </a:custGeom>
            <a:solidFill>
              <a:srgbClr val="65A5D9"/>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sp>
          <p:nvSpPr>
            <p:cNvPr id="8" name="Freeform 7"/>
            <p:cNvSpPr/>
            <p:nvPr/>
          </p:nvSpPr>
          <p:spPr bwMode="auto">
            <a:xfrm>
              <a:off x="4995832" y="1359068"/>
              <a:ext cx="371997" cy="205957"/>
            </a:xfrm>
            <a:custGeom>
              <a:avLst/>
              <a:gdLst>
                <a:gd name="T0" fmla="*/ 97 w 99"/>
                <a:gd name="T1" fmla="*/ 44 h 55"/>
                <a:gd name="T2" fmla="*/ 50 w 99"/>
                <a:gd name="T3" fmla="*/ 0 h 55"/>
                <a:gd name="T4" fmla="*/ 3 w 99"/>
                <a:gd name="T5" fmla="*/ 44 h 55"/>
                <a:gd name="T6" fmla="*/ 3 w 99"/>
                <a:gd name="T7" fmla="*/ 53 h 55"/>
                <a:gd name="T8" fmla="*/ 8 w 99"/>
                <a:gd name="T9" fmla="*/ 55 h 55"/>
                <a:gd name="T10" fmla="*/ 12 w 99"/>
                <a:gd name="T11" fmla="*/ 53 h 55"/>
                <a:gd name="T12" fmla="*/ 50 w 99"/>
                <a:gd name="T13" fmla="*/ 18 h 55"/>
                <a:gd name="T14" fmla="*/ 87 w 99"/>
                <a:gd name="T15" fmla="*/ 53 h 55"/>
                <a:gd name="T16" fmla="*/ 92 w 99"/>
                <a:gd name="T17" fmla="*/ 55 h 55"/>
                <a:gd name="T18" fmla="*/ 97 w 99"/>
                <a:gd name="T19" fmla="*/ 53 h 55"/>
                <a:gd name="T20" fmla="*/ 97 w 99"/>
                <a:gd name="T21" fmla="*/ 4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55">
                  <a:moveTo>
                    <a:pt x="97" y="44"/>
                  </a:moveTo>
                  <a:cubicBezTo>
                    <a:pt x="50" y="0"/>
                    <a:pt x="50" y="0"/>
                    <a:pt x="50" y="0"/>
                  </a:cubicBezTo>
                  <a:cubicBezTo>
                    <a:pt x="3" y="44"/>
                    <a:pt x="3" y="44"/>
                    <a:pt x="3" y="44"/>
                  </a:cubicBezTo>
                  <a:cubicBezTo>
                    <a:pt x="1" y="46"/>
                    <a:pt x="0" y="50"/>
                    <a:pt x="3" y="53"/>
                  </a:cubicBezTo>
                  <a:cubicBezTo>
                    <a:pt x="4" y="54"/>
                    <a:pt x="6" y="55"/>
                    <a:pt x="8" y="55"/>
                  </a:cubicBezTo>
                  <a:cubicBezTo>
                    <a:pt x="9" y="55"/>
                    <a:pt x="11" y="54"/>
                    <a:pt x="12" y="53"/>
                  </a:cubicBezTo>
                  <a:cubicBezTo>
                    <a:pt x="50" y="18"/>
                    <a:pt x="50" y="18"/>
                    <a:pt x="50" y="18"/>
                  </a:cubicBezTo>
                  <a:cubicBezTo>
                    <a:pt x="87" y="53"/>
                    <a:pt x="87" y="53"/>
                    <a:pt x="87" y="53"/>
                  </a:cubicBezTo>
                  <a:cubicBezTo>
                    <a:pt x="89" y="54"/>
                    <a:pt x="90" y="55"/>
                    <a:pt x="92" y="55"/>
                  </a:cubicBezTo>
                  <a:cubicBezTo>
                    <a:pt x="94" y="55"/>
                    <a:pt x="96" y="54"/>
                    <a:pt x="97" y="53"/>
                  </a:cubicBezTo>
                  <a:cubicBezTo>
                    <a:pt x="99" y="50"/>
                    <a:pt x="99" y="46"/>
                    <a:pt x="97" y="44"/>
                  </a:cubicBez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sp>
          <p:nvSpPr>
            <p:cNvPr id="9" name="Freeform 8"/>
            <p:cNvSpPr/>
            <p:nvPr/>
          </p:nvSpPr>
          <p:spPr bwMode="auto">
            <a:xfrm>
              <a:off x="5056418" y="1446296"/>
              <a:ext cx="255672" cy="265322"/>
            </a:xfrm>
            <a:custGeom>
              <a:avLst/>
              <a:gdLst>
                <a:gd name="T0" fmla="*/ 0 w 68"/>
                <a:gd name="T1" fmla="*/ 32 h 71"/>
                <a:gd name="T2" fmla="*/ 0 w 68"/>
                <a:gd name="T3" fmla="*/ 68 h 71"/>
                <a:gd name="T4" fmla="*/ 5 w 68"/>
                <a:gd name="T5" fmla="*/ 71 h 71"/>
                <a:gd name="T6" fmla="*/ 22 w 68"/>
                <a:gd name="T7" fmla="*/ 71 h 71"/>
                <a:gd name="T8" fmla="*/ 22 w 68"/>
                <a:gd name="T9" fmla="*/ 44 h 71"/>
                <a:gd name="T10" fmla="*/ 46 w 68"/>
                <a:gd name="T11" fmla="*/ 44 h 71"/>
                <a:gd name="T12" fmla="*/ 46 w 68"/>
                <a:gd name="T13" fmla="*/ 71 h 71"/>
                <a:gd name="T14" fmla="*/ 63 w 68"/>
                <a:gd name="T15" fmla="*/ 71 h 71"/>
                <a:gd name="T16" fmla="*/ 68 w 68"/>
                <a:gd name="T17" fmla="*/ 68 h 71"/>
                <a:gd name="T18" fmla="*/ 68 w 68"/>
                <a:gd name="T19" fmla="*/ 32 h 71"/>
                <a:gd name="T20" fmla="*/ 34 w 68"/>
                <a:gd name="T21" fmla="*/ 0 h 71"/>
                <a:gd name="T22" fmla="*/ 0 w 68"/>
                <a:gd name="T23"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71">
                  <a:moveTo>
                    <a:pt x="0" y="32"/>
                  </a:moveTo>
                  <a:cubicBezTo>
                    <a:pt x="0" y="68"/>
                    <a:pt x="0" y="68"/>
                    <a:pt x="0" y="68"/>
                  </a:cubicBezTo>
                  <a:cubicBezTo>
                    <a:pt x="0" y="70"/>
                    <a:pt x="2" y="71"/>
                    <a:pt x="5" y="71"/>
                  </a:cubicBezTo>
                  <a:cubicBezTo>
                    <a:pt x="22" y="71"/>
                    <a:pt x="22" y="71"/>
                    <a:pt x="22" y="71"/>
                  </a:cubicBezTo>
                  <a:cubicBezTo>
                    <a:pt x="22" y="44"/>
                    <a:pt x="22" y="44"/>
                    <a:pt x="22" y="44"/>
                  </a:cubicBezTo>
                  <a:cubicBezTo>
                    <a:pt x="46" y="44"/>
                    <a:pt x="46" y="44"/>
                    <a:pt x="46" y="44"/>
                  </a:cubicBezTo>
                  <a:cubicBezTo>
                    <a:pt x="46" y="71"/>
                    <a:pt x="46" y="71"/>
                    <a:pt x="46" y="71"/>
                  </a:cubicBezTo>
                  <a:cubicBezTo>
                    <a:pt x="63" y="71"/>
                    <a:pt x="63" y="71"/>
                    <a:pt x="63" y="71"/>
                  </a:cubicBezTo>
                  <a:cubicBezTo>
                    <a:pt x="66" y="71"/>
                    <a:pt x="68" y="70"/>
                    <a:pt x="68" y="68"/>
                  </a:cubicBezTo>
                  <a:cubicBezTo>
                    <a:pt x="68" y="32"/>
                    <a:pt x="68" y="32"/>
                    <a:pt x="68" y="32"/>
                  </a:cubicBezTo>
                  <a:cubicBezTo>
                    <a:pt x="34" y="0"/>
                    <a:pt x="34" y="0"/>
                    <a:pt x="34" y="0"/>
                  </a:cubicBezTo>
                  <a:lnTo>
                    <a:pt x="0" y="32"/>
                  </a:ln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grpSp>
      <p:grpSp>
        <p:nvGrpSpPr>
          <p:cNvPr id="58376" name="组合 20"/>
          <p:cNvGrpSpPr/>
          <p:nvPr/>
        </p:nvGrpSpPr>
        <p:grpSpPr>
          <a:xfrm>
            <a:off x="627063" y="3414713"/>
            <a:ext cx="663575" cy="661987"/>
            <a:chOff x="1339850" y="2163763"/>
            <a:chExt cx="506413" cy="506412"/>
          </a:xfrm>
        </p:grpSpPr>
        <p:sp>
          <p:nvSpPr>
            <p:cNvPr id="11" name="Freeform 13"/>
            <p:cNvSpPr/>
            <p:nvPr/>
          </p:nvSpPr>
          <p:spPr bwMode="auto">
            <a:xfrm>
              <a:off x="1339850" y="2163763"/>
              <a:ext cx="506413" cy="506412"/>
            </a:xfrm>
            <a:custGeom>
              <a:avLst/>
              <a:gdLst>
                <a:gd name="T0" fmla="*/ 135 w 135"/>
                <a:gd name="T1" fmla="*/ 36 h 135"/>
                <a:gd name="T2" fmla="*/ 135 w 135"/>
                <a:gd name="T3" fmla="*/ 98 h 135"/>
                <a:gd name="T4" fmla="*/ 98 w 135"/>
                <a:gd name="T5" fmla="*/ 135 h 135"/>
                <a:gd name="T6" fmla="*/ 37 w 135"/>
                <a:gd name="T7" fmla="*/ 135 h 135"/>
                <a:gd name="T8" fmla="*/ 0 w 135"/>
                <a:gd name="T9" fmla="*/ 98 h 135"/>
                <a:gd name="T10" fmla="*/ 0 w 135"/>
                <a:gd name="T11" fmla="*/ 36 h 135"/>
                <a:gd name="T12" fmla="*/ 37 w 135"/>
                <a:gd name="T13" fmla="*/ 0 h 135"/>
                <a:gd name="T14" fmla="*/ 135 w 135"/>
                <a:gd name="T15" fmla="*/ 0 h 135"/>
                <a:gd name="T16" fmla="*/ 135 w 135"/>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5">
                  <a:moveTo>
                    <a:pt x="135" y="36"/>
                  </a:moveTo>
                  <a:cubicBezTo>
                    <a:pt x="135" y="98"/>
                    <a:pt x="135" y="98"/>
                    <a:pt x="135" y="98"/>
                  </a:cubicBezTo>
                  <a:cubicBezTo>
                    <a:pt x="135" y="118"/>
                    <a:pt x="118" y="135"/>
                    <a:pt x="98" y="135"/>
                  </a:cubicBezTo>
                  <a:cubicBezTo>
                    <a:pt x="37" y="135"/>
                    <a:pt x="37" y="135"/>
                    <a:pt x="37" y="135"/>
                  </a:cubicBezTo>
                  <a:cubicBezTo>
                    <a:pt x="16" y="135"/>
                    <a:pt x="0" y="118"/>
                    <a:pt x="0" y="98"/>
                  </a:cubicBezTo>
                  <a:cubicBezTo>
                    <a:pt x="0" y="36"/>
                    <a:pt x="0" y="36"/>
                    <a:pt x="0" y="36"/>
                  </a:cubicBezTo>
                  <a:cubicBezTo>
                    <a:pt x="0" y="16"/>
                    <a:pt x="16" y="0"/>
                    <a:pt x="37" y="0"/>
                  </a:cubicBezTo>
                  <a:cubicBezTo>
                    <a:pt x="135" y="0"/>
                    <a:pt x="135" y="0"/>
                    <a:pt x="135" y="0"/>
                  </a:cubicBezTo>
                  <a:lnTo>
                    <a:pt x="135" y="36"/>
                  </a:lnTo>
                  <a:close/>
                </a:path>
              </a:pathLst>
            </a:custGeom>
            <a:solidFill>
              <a:schemeClr val="tx1">
                <a:lumMod val="50000"/>
                <a:lumOff val="50000"/>
              </a:schemeClr>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sp>
          <p:nvSpPr>
            <p:cNvPr id="12" name="Freeform 14"/>
            <p:cNvSpPr/>
            <p:nvPr/>
          </p:nvSpPr>
          <p:spPr bwMode="auto">
            <a:xfrm>
              <a:off x="1499770" y="2276704"/>
              <a:ext cx="176881" cy="104440"/>
            </a:xfrm>
            <a:custGeom>
              <a:avLst/>
              <a:gdLst>
                <a:gd name="T0" fmla="*/ 111 w 111"/>
                <a:gd name="T1" fmla="*/ 0 h 66"/>
                <a:gd name="T2" fmla="*/ 55 w 111"/>
                <a:gd name="T3" fmla="*/ 0 h 66"/>
                <a:gd name="T4" fmla="*/ 55 w 111"/>
                <a:gd name="T5" fmla="*/ 54 h 66"/>
                <a:gd name="T6" fmla="*/ 14 w 111"/>
                <a:gd name="T7" fmla="*/ 54 h 66"/>
                <a:gd name="T8" fmla="*/ 14 w 111"/>
                <a:gd name="T9" fmla="*/ 0 h 66"/>
                <a:gd name="T10" fmla="*/ 0 w 111"/>
                <a:gd name="T11" fmla="*/ 0 h 66"/>
                <a:gd name="T12" fmla="*/ 0 w 111"/>
                <a:gd name="T13" fmla="*/ 66 h 66"/>
                <a:gd name="T14" fmla="*/ 111 w 111"/>
                <a:gd name="T15" fmla="*/ 66 h 66"/>
                <a:gd name="T16" fmla="*/ 111 w 111"/>
                <a:gd name="T1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6">
                  <a:moveTo>
                    <a:pt x="111" y="0"/>
                  </a:moveTo>
                  <a:lnTo>
                    <a:pt x="55" y="0"/>
                  </a:lnTo>
                  <a:lnTo>
                    <a:pt x="55" y="54"/>
                  </a:lnTo>
                  <a:lnTo>
                    <a:pt x="14" y="54"/>
                  </a:lnTo>
                  <a:lnTo>
                    <a:pt x="14" y="0"/>
                  </a:lnTo>
                  <a:lnTo>
                    <a:pt x="0" y="0"/>
                  </a:lnTo>
                  <a:lnTo>
                    <a:pt x="0" y="66"/>
                  </a:lnTo>
                  <a:lnTo>
                    <a:pt x="111" y="66"/>
                  </a:lnTo>
                  <a:lnTo>
                    <a:pt x="111" y="0"/>
                  </a:ln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sp>
          <p:nvSpPr>
            <p:cNvPr id="13" name="Freeform 15"/>
            <p:cNvSpPr>
              <a:spLocks noEditPoints="1"/>
            </p:cNvSpPr>
            <p:nvPr/>
          </p:nvSpPr>
          <p:spPr bwMode="auto">
            <a:xfrm>
              <a:off x="1447674" y="2276704"/>
              <a:ext cx="289552" cy="278102"/>
            </a:xfrm>
            <a:custGeom>
              <a:avLst/>
              <a:gdLst>
                <a:gd name="T0" fmla="*/ 72 w 77"/>
                <a:gd name="T1" fmla="*/ 0 h 74"/>
                <a:gd name="T2" fmla="*/ 64 w 77"/>
                <a:gd name="T3" fmla="*/ 0 h 74"/>
                <a:gd name="T4" fmla="*/ 64 w 77"/>
                <a:gd name="T5" fmla="*/ 31 h 74"/>
                <a:gd name="T6" fmla="*/ 10 w 77"/>
                <a:gd name="T7" fmla="*/ 31 h 74"/>
                <a:gd name="T8" fmla="*/ 10 w 77"/>
                <a:gd name="T9" fmla="*/ 0 h 74"/>
                <a:gd name="T10" fmla="*/ 5 w 77"/>
                <a:gd name="T11" fmla="*/ 0 h 74"/>
                <a:gd name="T12" fmla="*/ 0 w 77"/>
                <a:gd name="T13" fmla="*/ 6 h 74"/>
                <a:gd name="T14" fmla="*/ 0 w 77"/>
                <a:gd name="T15" fmla="*/ 68 h 74"/>
                <a:gd name="T16" fmla="*/ 5 w 77"/>
                <a:gd name="T17" fmla="*/ 74 h 74"/>
                <a:gd name="T18" fmla="*/ 72 w 77"/>
                <a:gd name="T19" fmla="*/ 74 h 74"/>
                <a:gd name="T20" fmla="*/ 77 w 77"/>
                <a:gd name="T21" fmla="*/ 68 h 74"/>
                <a:gd name="T22" fmla="*/ 77 w 77"/>
                <a:gd name="T23" fmla="*/ 6 h 74"/>
                <a:gd name="T24" fmla="*/ 72 w 77"/>
                <a:gd name="T25" fmla="*/ 0 h 74"/>
                <a:gd name="T26" fmla="*/ 38 w 77"/>
                <a:gd name="T27" fmla="*/ 65 h 74"/>
                <a:gd name="T28" fmla="*/ 22 w 77"/>
                <a:gd name="T29" fmla="*/ 49 h 74"/>
                <a:gd name="T30" fmla="*/ 38 w 77"/>
                <a:gd name="T31" fmla="*/ 33 h 74"/>
                <a:gd name="T32" fmla="*/ 54 w 77"/>
                <a:gd name="T33" fmla="*/ 49 h 74"/>
                <a:gd name="T34" fmla="*/ 38 w 77"/>
                <a:gd name="T35" fmla="*/ 6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4">
                  <a:moveTo>
                    <a:pt x="72" y="0"/>
                  </a:moveTo>
                  <a:cubicBezTo>
                    <a:pt x="64" y="0"/>
                    <a:pt x="64" y="0"/>
                    <a:pt x="64" y="0"/>
                  </a:cubicBezTo>
                  <a:cubicBezTo>
                    <a:pt x="64" y="31"/>
                    <a:pt x="64" y="31"/>
                    <a:pt x="64" y="31"/>
                  </a:cubicBezTo>
                  <a:cubicBezTo>
                    <a:pt x="10" y="31"/>
                    <a:pt x="10" y="31"/>
                    <a:pt x="10" y="31"/>
                  </a:cubicBezTo>
                  <a:cubicBezTo>
                    <a:pt x="10" y="0"/>
                    <a:pt x="10" y="0"/>
                    <a:pt x="10" y="0"/>
                  </a:cubicBezTo>
                  <a:cubicBezTo>
                    <a:pt x="5" y="0"/>
                    <a:pt x="5" y="0"/>
                    <a:pt x="5" y="0"/>
                  </a:cubicBezTo>
                  <a:cubicBezTo>
                    <a:pt x="2" y="0"/>
                    <a:pt x="0" y="3"/>
                    <a:pt x="0" y="6"/>
                  </a:cubicBezTo>
                  <a:cubicBezTo>
                    <a:pt x="0" y="68"/>
                    <a:pt x="0" y="68"/>
                    <a:pt x="0" y="68"/>
                  </a:cubicBezTo>
                  <a:cubicBezTo>
                    <a:pt x="0" y="72"/>
                    <a:pt x="2" y="74"/>
                    <a:pt x="5" y="74"/>
                  </a:cubicBezTo>
                  <a:cubicBezTo>
                    <a:pt x="72" y="74"/>
                    <a:pt x="72" y="74"/>
                    <a:pt x="72" y="74"/>
                  </a:cubicBezTo>
                  <a:cubicBezTo>
                    <a:pt x="75" y="74"/>
                    <a:pt x="77" y="72"/>
                    <a:pt x="77" y="68"/>
                  </a:cubicBezTo>
                  <a:cubicBezTo>
                    <a:pt x="77" y="6"/>
                    <a:pt x="77" y="6"/>
                    <a:pt x="77" y="6"/>
                  </a:cubicBezTo>
                  <a:cubicBezTo>
                    <a:pt x="77" y="3"/>
                    <a:pt x="75" y="0"/>
                    <a:pt x="72" y="0"/>
                  </a:cubicBezTo>
                  <a:close/>
                  <a:moveTo>
                    <a:pt x="38" y="65"/>
                  </a:moveTo>
                  <a:cubicBezTo>
                    <a:pt x="29" y="65"/>
                    <a:pt x="22" y="58"/>
                    <a:pt x="22" y="49"/>
                  </a:cubicBezTo>
                  <a:cubicBezTo>
                    <a:pt x="22" y="40"/>
                    <a:pt x="29" y="33"/>
                    <a:pt x="38" y="33"/>
                  </a:cubicBezTo>
                  <a:cubicBezTo>
                    <a:pt x="46" y="33"/>
                    <a:pt x="54" y="40"/>
                    <a:pt x="54" y="49"/>
                  </a:cubicBezTo>
                  <a:cubicBezTo>
                    <a:pt x="54" y="58"/>
                    <a:pt x="46" y="65"/>
                    <a:pt x="38" y="65"/>
                  </a:cubicBez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sp>
          <p:nvSpPr>
            <p:cNvPr id="14" name="Oval 16"/>
            <p:cNvSpPr>
              <a:spLocks noChangeArrowheads="1"/>
            </p:cNvSpPr>
            <p:nvPr/>
          </p:nvSpPr>
          <p:spPr bwMode="auto">
            <a:xfrm>
              <a:off x="1549442" y="2418791"/>
              <a:ext cx="82383" cy="82580"/>
            </a:xfrm>
            <a:prstGeom prst="ellipse">
              <a:avLst/>
            </a:prstGeom>
            <a:solidFill>
              <a:srgbClr val="ECECEB"/>
            </a:solidFill>
            <a:ln>
              <a:noFill/>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1" fontAlgn="base" latinLnBrk="0" hangingPunct="1">
                <a:lnSpc>
                  <a:spcPct val="100000"/>
                </a:lnSpc>
                <a:spcBef>
                  <a:spcPct val="20000"/>
                </a:spcBef>
                <a:spcAft>
                  <a:spcPct val="0"/>
                </a:spcAft>
                <a:buClrTx/>
                <a:buSzTx/>
                <a:buFontTx/>
                <a:buNone/>
                <a:defRPr/>
              </a:pPr>
              <a:endParaRPr kumimoji="0" lang="zh-CN" altLang="en-US" sz="1800" b="1" i="0" u="none" strike="noStrike" kern="1200" cap="none" spc="0" normalizeH="0" baseline="0" noProof="0">
                <a:ln>
                  <a:noFill/>
                </a:ln>
                <a:solidFill>
                  <a:srgbClr val="000000"/>
                </a:solidFill>
                <a:effectLst/>
                <a:uLnTx/>
                <a:uFillTx/>
                <a:latin typeface="+mn-lt"/>
                <a:ea typeface="+mn-ea"/>
                <a:cs typeface="+mn-ea"/>
                <a:sym typeface="+mn-lt"/>
              </a:endParaRPr>
            </a:p>
          </p:txBody>
        </p:sp>
      </p:grpSp>
      <p:grpSp>
        <p:nvGrpSpPr>
          <p:cNvPr id="58381" name="组合 25"/>
          <p:cNvGrpSpPr/>
          <p:nvPr/>
        </p:nvGrpSpPr>
        <p:grpSpPr>
          <a:xfrm>
            <a:off x="633413" y="4494213"/>
            <a:ext cx="657225" cy="663575"/>
            <a:chOff x="5093055" y="2766720"/>
            <a:chExt cx="501650" cy="506413"/>
          </a:xfrm>
        </p:grpSpPr>
        <p:sp>
          <p:nvSpPr>
            <p:cNvPr id="16" name="Freeform 21"/>
            <p:cNvSpPr/>
            <p:nvPr/>
          </p:nvSpPr>
          <p:spPr bwMode="auto">
            <a:xfrm>
              <a:off x="5093055" y="2766720"/>
              <a:ext cx="501650" cy="506413"/>
            </a:xfrm>
            <a:custGeom>
              <a:avLst/>
              <a:gdLst>
                <a:gd name="T0" fmla="*/ 134 w 134"/>
                <a:gd name="T1" fmla="*/ 37 h 135"/>
                <a:gd name="T2" fmla="*/ 134 w 134"/>
                <a:gd name="T3" fmla="*/ 98 h 135"/>
                <a:gd name="T4" fmla="*/ 98 w 134"/>
                <a:gd name="T5" fmla="*/ 135 h 135"/>
                <a:gd name="T6" fmla="*/ 36 w 134"/>
                <a:gd name="T7" fmla="*/ 135 h 135"/>
                <a:gd name="T8" fmla="*/ 0 w 134"/>
                <a:gd name="T9" fmla="*/ 98 h 135"/>
                <a:gd name="T10" fmla="*/ 0 w 134"/>
                <a:gd name="T11" fmla="*/ 37 h 135"/>
                <a:gd name="T12" fmla="*/ 36 w 134"/>
                <a:gd name="T13" fmla="*/ 0 h 135"/>
                <a:gd name="T14" fmla="*/ 134 w 134"/>
                <a:gd name="T15" fmla="*/ 0 h 135"/>
                <a:gd name="T16" fmla="*/ 134 w 134"/>
                <a:gd name="T17" fmla="*/ 3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5">
                  <a:moveTo>
                    <a:pt x="134" y="37"/>
                  </a:moveTo>
                  <a:cubicBezTo>
                    <a:pt x="134" y="98"/>
                    <a:pt x="134" y="98"/>
                    <a:pt x="134" y="98"/>
                  </a:cubicBezTo>
                  <a:cubicBezTo>
                    <a:pt x="134" y="118"/>
                    <a:pt x="118" y="135"/>
                    <a:pt x="98" y="135"/>
                  </a:cubicBezTo>
                  <a:cubicBezTo>
                    <a:pt x="36" y="135"/>
                    <a:pt x="36" y="135"/>
                    <a:pt x="36" y="135"/>
                  </a:cubicBezTo>
                  <a:cubicBezTo>
                    <a:pt x="16" y="135"/>
                    <a:pt x="0" y="118"/>
                    <a:pt x="0" y="98"/>
                  </a:cubicBezTo>
                  <a:cubicBezTo>
                    <a:pt x="0" y="37"/>
                    <a:pt x="0" y="37"/>
                    <a:pt x="0" y="37"/>
                  </a:cubicBezTo>
                  <a:cubicBezTo>
                    <a:pt x="0" y="16"/>
                    <a:pt x="16" y="0"/>
                    <a:pt x="36" y="0"/>
                  </a:cubicBezTo>
                  <a:cubicBezTo>
                    <a:pt x="134" y="0"/>
                    <a:pt x="134" y="0"/>
                    <a:pt x="134" y="0"/>
                  </a:cubicBezTo>
                  <a:lnTo>
                    <a:pt x="134" y="37"/>
                  </a:lnTo>
                  <a:close/>
                </a:path>
              </a:pathLst>
            </a:custGeom>
            <a:solidFill>
              <a:srgbClr val="9476B6"/>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dirty="0">
                <a:ln>
                  <a:noFill/>
                </a:ln>
                <a:solidFill>
                  <a:sysClr val="windowText" lastClr="000000"/>
                </a:solidFill>
                <a:effectLst/>
                <a:uLnTx/>
                <a:uFillTx/>
                <a:latin typeface="+mn-lt"/>
                <a:ea typeface="+mn-ea"/>
                <a:cs typeface="+mn-ea"/>
                <a:sym typeface="+mn-lt"/>
              </a:endParaRPr>
            </a:p>
          </p:txBody>
        </p:sp>
        <p:sp>
          <p:nvSpPr>
            <p:cNvPr id="17" name="Oval 22"/>
            <p:cNvSpPr>
              <a:spLocks noChangeArrowheads="1"/>
            </p:cNvSpPr>
            <p:nvPr/>
          </p:nvSpPr>
          <p:spPr bwMode="auto">
            <a:xfrm>
              <a:off x="5200897" y="3069599"/>
              <a:ext cx="98149" cy="99344"/>
            </a:xfrm>
            <a:prstGeom prst="ellipse">
              <a:avLst/>
            </a:prstGeom>
            <a:solidFill>
              <a:srgbClr val="ECECEB"/>
            </a:solidFill>
            <a:ln>
              <a:noFill/>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1" fontAlgn="base" latinLnBrk="0" hangingPunct="1">
                <a:lnSpc>
                  <a:spcPct val="100000"/>
                </a:lnSpc>
                <a:spcBef>
                  <a:spcPct val="20000"/>
                </a:spcBef>
                <a:spcAft>
                  <a:spcPct val="0"/>
                </a:spcAft>
                <a:buClrTx/>
                <a:buSzTx/>
                <a:buFontTx/>
                <a:buNone/>
                <a:defRPr/>
              </a:pPr>
              <a:endParaRPr kumimoji="0" lang="zh-CN" altLang="en-US" sz="1800" b="1"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8" name="Freeform 23"/>
            <p:cNvSpPr/>
            <p:nvPr/>
          </p:nvSpPr>
          <p:spPr bwMode="auto">
            <a:xfrm>
              <a:off x="5211803" y="2970254"/>
              <a:ext cx="181757" cy="179304"/>
            </a:xfrm>
            <a:custGeom>
              <a:avLst/>
              <a:gdLst>
                <a:gd name="T0" fmla="*/ 6 w 48"/>
                <a:gd name="T1" fmla="*/ 0 h 48"/>
                <a:gd name="T2" fmla="*/ 0 w 48"/>
                <a:gd name="T3" fmla="*/ 7 h 48"/>
                <a:gd name="T4" fmla="*/ 6 w 48"/>
                <a:gd name="T5" fmla="*/ 13 h 48"/>
                <a:gd name="T6" fmla="*/ 35 w 48"/>
                <a:gd name="T7" fmla="*/ 42 h 48"/>
                <a:gd name="T8" fmla="*/ 42 w 48"/>
                <a:gd name="T9" fmla="*/ 48 h 48"/>
                <a:gd name="T10" fmla="*/ 48 w 48"/>
                <a:gd name="T11" fmla="*/ 42 h 48"/>
                <a:gd name="T12" fmla="*/ 6 w 48"/>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48" h="48">
                  <a:moveTo>
                    <a:pt x="6" y="0"/>
                  </a:moveTo>
                  <a:cubicBezTo>
                    <a:pt x="3" y="0"/>
                    <a:pt x="0" y="3"/>
                    <a:pt x="0" y="7"/>
                  </a:cubicBezTo>
                  <a:cubicBezTo>
                    <a:pt x="0" y="10"/>
                    <a:pt x="3" y="13"/>
                    <a:pt x="6" y="13"/>
                  </a:cubicBezTo>
                  <a:cubicBezTo>
                    <a:pt x="22" y="13"/>
                    <a:pt x="35" y="26"/>
                    <a:pt x="35" y="42"/>
                  </a:cubicBezTo>
                  <a:cubicBezTo>
                    <a:pt x="35" y="45"/>
                    <a:pt x="38" y="48"/>
                    <a:pt x="42" y="48"/>
                  </a:cubicBezTo>
                  <a:cubicBezTo>
                    <a:pt x="45" y="48"/>
                    <a:pt x="48" y="45"/>
                    <a:pt x="48" y="42"/>
                  </a:cubicBezTo>
                  <a:cubicBezTo>
                    <a:pt x="48" y="19"/>
                    <a:pt x="29" y="0"/>
                    <a:pt x="6" y="0"/>
                  </a:cubicBez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sp>
          <p:nvSpPr>
            <p:cNvPr id="19" name="Freeform 24"/>
            <p:cNvSpPr/>
            <p:nvPr/>
          </p:nvSpPr>
          <p:spPr bwMode="auto">
            <a:xfrm>
              <a:off x="5211803" y="2870910"/>
              <a:ext cx="278694" cy="278648"/>
            </a:xfrm>
            <a:custGeom>
              <a:avLst/>
              <a:gdLst>
                <a:gd name="T0" fmla="*/ 6 w 74"/>
                <a:gd name="T1" fmla="*/ 0 h 74"/>
                <a:gd name="T2" fmla="*/ 0 w 74"/>
                <a:gd name="T3" fmla="*/ 7 h 74"/>
                <a:gd name="T4" fmla="*/ 6 w 74"/>
                <a:gd name="T5" fmla="*/ 13 h 74"/>
                <a:gd name="T6" fmla="*/ 61 w 74"/>
                <a:gd name="T7" fmla="*/ 68 h 74"/>
                <a:gd name="T8" fmla="*/ 68 w 74"/>
                <a:gd name="T9" fmla="*/ 74 h 74"/>
                <a:gd name="T10" fmla="*/ 74 w 74"/>
                <a:gd name="T11" fmla="*/ 68 h 74"/>
                <a:gd name="T12" fmla="*/ 6 w 74"/>
                <a:gd name="T13" fmla="*/ 0 h 74"/>
              </a:gdLst>
              <a:ahLst/>
              <a:cxnLst>
                <a:cxn ang="0">
                  <a:pos x="T0" y="T1"/>
                </a:cxn>
                <a:cxn ang="0">
                  <a:pos x="T2" y="T3"/>
                </a:cxn>
                <a:cxn ang="0">
                  <a:pos x="T4" y="T5"/>
                </a:cxn>
                <a:cxn ang="0">
                  <a:pos x="T6" y="T7"/>
                </a:cxn>
                <a:cxn ang="0">
                  <a:pos x="T8" y="T9"/>
                </a:cxn>
                <a:cxn ang="0">
                  <a:pos x="T10" y="T11"/>
                </a:cxn>
                <a:cxn ang="0">
                  <a:pos x="T12" y="T13"/>
                </a:cxn>
              </a:cxnLst>
              <a:rect l="0" t="0" r="r" b="b"/>
              <a:pathLst>
                <a:path w="74" h="74">
                  <a:moveTo>
                    <a:pt x="6" y="0"/>
                  </a:moveTo>
                  <a:cubicBezTo>
                    <a:pt x="3" y="0"/>
                    <a:pt x="0" y="3"/>
                    <a:pt x="0" y="7"/>
                  </a:cubicBezTo>
                  <a:cubicBezTo>
                    <a:pt x="0" y="10"/>
                    <a:pt x="3" y="13"/>
                    <a:pt x="6" y="13"/>
                  </a:cubicBezTo>
                  <a:cubicBezTo>
                    <a:pt x="37" y="13"/>
                    <a:pt x="61" y="38"/>
                    <a:pt x="61" y="68"/>
                  </a:cubicBezTo>
                  <a:cubicBezTo>
                    <a:pt x="61" y="71"/>
                    <a:pt x="64" y="74"/>
                    <a:pt x="68" y="74"/>
                  </a:cubicBezTo>
                  <a:cubicBezTo>
                    <a:pt x="71" y="74"/>
                    <a:pt x="74" y="71"/>
                    <a:pt x="74" y="68"/>
                  </a:cubicBezTo>
                  <a:cubicBezTo>
                    <a:pt x="74" y="30"/>
                    <a:pt x="44" y="0"/>
                    <a:pt x="6" y="0"/>
                  </a:cubicBez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grpSp>
    </p:spTree>
    <p:extLst>
      <p:ext uri="{BB962C8B-B14F-4D97-AF65-F5344CB8AC3E}">
        <p14:creationId xmlns:p14="http://schemas.microsoft.com/office/powerpoint/2010/main" val="429341723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矩形 5"/>
          <p:cNvSpPr/>
          <p:nvPr/>
        </p:nvSpPr>
        <p:spPr bwMode="auto">
          <a:xfrm>
            <a:off x="0" y="2276475"/>
            <a:ext cx="9144000" cy="3673475"/>
          </a:xfrm>
          <a:prstGeom prst="rect">
            <a:avLst/>
          </a:prstGeom>
          <a:solidFill>
            <a:srgbClr val="CCCCFF"/>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2" name="Group 6"/>
          <p:cNvGrpSpPr/>
          <p:nvPr/>
        </p:nvGrpSpPr>
        <p:grpSpPr>
          <a:xfrm>
            <a:off x="430213" y="2460625"/>
            <a:ext cx="8243887" cy="3262313"/>
            <a:chOff x="0" y="624"/>
            <a:chExt cx="5760" cy="2592"/>
          </a:xfrm>
        </p:grpSpPr>
        <p:graphicFrame>
          <p:nvGraphicFramePr>
            <p:cNvPr id="59395" name="Object 7"/>
            <p:cNvGraphicFramePr/>
            <p:nvPr/>
          </p:nvGraphicFramePr>
          <p:xfrm>
            <a:off x="2784" y="624"/>
            <a:ext cx="2976" cy="2589"/>
          </p:xfrm>
          <a:graphic>
            <a:graphicData uri="http://schemas.openxmlformats.org/presentationml/2006/ole">
              <mc:AlternateContent xmlns:mc="http://schemas.openxmlformats.org/markup-compatibility/2006">
                <mc:Choice xmlns:v="urn:schemas-microsoft-com:vml" Requires="v">
                  <p:oleObj spid="_x0000_s18480" r:id="rId3" imgW="2819400" imgH="1905000" progId="Photoshop.Image.5">
                    <p:embed/>
                  </p:oleObj>
                </mc:Choice>
                <mc:Fallback>
                  <p:oleObj r:id="rId3" imgW="2819400" imgH="1905000" progId="Photoshop.Image.5">
                    <p:embed/>
                    <p:pic>
                      <p:nvPicPr>
                        <p:cNvPr id="0" name=""/>
                        <p:cNvPicPr/>
                        <p:nvPr/>
                      </p:nvPicPr>
                      <p:blipFill>
                        <a:blip r:embed="rId4"/>
                        <a:stretch>
                          <a:fillRect/>
                        </a:stretch>
                      </p:blipFill>
                      <p:spPr>
                        <a:xfrm>
                          <a:off x="2784" y="624"/>
                          <a:ext cx="2976" cy="2589"/>
                        </a:xfrm>
                        <a:prstGeom prst="rect">
                          <a:avLst/>
                        </a:prstGeom>
                        <a:noFill/>
                        <a:ln w="38100">
                          <a:noFill/>
                          <a:miter/>
                        </a:ln>
                      </p:spPr>
                    </p:pic>
                  </p:oleObj>
                </mc:Fallback>
              </mc:AlternateContent>
            </a:graphicData>
          </a:graphic>
        </p:graphicFrame>
        <p:graphicFrame>
          <p:nvGraphicFramePr>
            <p:cNvPr id="59396" name="Object 8"/>
            <p:cNvGraphicFramePr/>
            <p:nvPr/>
          </p:nvGraphicFramePr>
          <p:xfrm>
            <a:off x="0" y="624"/>
            <a:ext cx="2784" cy="2592"/>
          </p:xfrm>
          <a:graphic>
            <a:graphicData uri="http://schemas.openxmlformats.org/presentationml/2006/ole">
              <mc:AlternateContent xmlns:mc="http://schemas.openxmlformats.org/markup-compatibility/2006">
                <mc:Choice xmlns:v="urn:schemas-microsoft-com:vml" Requires="v">
                  <p:oleObj spid="_x0000_s18481" r:id="rId5" imgW="2438400" imgH="2349500" progId="Photoshop.Image.5">
                    <p:embed/>
                  </p:oleObj>
                </mc:Choice>
                <mc:Fallback>
                  <p:oleObj r:id="rId5" imgW="2438400" imgH="2349500" progId="Photoshop.Image.5">
                    <p:embed/>
                    <p:pic>
                      <p:nvPicPr>
                        <p:cNvPr id="0" name=""/>
                        <p:cNvPicPr/>
                        <p:nvPr/>
                      </p:nvPicPr>
                      <p:blipFill>
                        <a:blip r:embed="rId6"/>
                        <a:stretch>
                          <a:fillRect/>
                        </a:stretch>
                      </p:blipFill>
                      <p:spPr>
                        <a:xfrm>
                          <a:off x="0" y="624"/>
                          <a:ext cx="2784" cy="2592"/>
                        </a:xfrm>
                        <a:prstGeom prst="rect">
                          <a:avLst/>
                        </a:prstGeom>
                        <a:noFill/>
                        <a:ln w="38100">
                          <a:noFill/>
                          <a:miter/>
                        </a:ln>
                      </p:spPr>
                    </p:pic>
                  </p:oleObj>
                </mc:Fallback>
              </mc:AlternateContent>
            </a:graphicData>
          </a:graphic>
        </p:graphicFrame>
      </p:grpSp>
      <p:sp>
        <p:nvSpPr>
          <p:cNvPr id="43013" name="Rectangle 9"/>
          <p:cNvSpPr>
            <a:spLocks noChangeArrowheads="1"/>
          </p:cNvSpPr>
          <p:nvPr/>
        </p:nvSpPr>
        <p:spPr bwMode="auto">
          <a:xfrm>
            <a:off x="827088" y="115888"/>
            <a:ext cx="2339975" cy="685800"/>
          </a:xfrm>
          <a:prstGeom prst="rect">
            <a:avLst/>
          </a:prstGeom>
          <a:noFill/>
          <a:ln>
            <a:noFill/>
          </a:ln>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练习</a:t>
            </a:r>
          </a:p>
        </p:txBody>
      </p:sp>
      <p:sp>
        <p:nvSpPr>
          <p:cNvPr id="43014" name="Rectangle 10"/>
          <p:cNvSpPr>
            <a:spLocks noChangeArrowheads="1"/>
          </p:cNvSpPr>
          <p:nvPr/>
        </p:nvSpPr>
        <p:spPr bwMode="auto">
          <a:xfrm>
            <a:off x="430213" y="1049338"/>
            <a:ext cx="7670800" cy="727075"/>
          </a:xfrm>
          <a:prstGeom prst="rect">
            <a:avLst/>
          </a:prstGeom>
          <a:noFill/>
          <a:ln w="57150">
            <a:noFill/>
            <a:miter lim="800000"/>
          </a:ln>
        </p:spPr>
        <p:txBody>
          <a:bodyPr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3200" b="0" i="0" u="none" strike="noStrike" kern="1200" cap="none" spc="0" normalizeH="0" baseline="0" noProof="0" dirty="0">
                <a:ln>
                  <a:noFill/>
                </a:ln>
                <a:solidFill>
                  <a:schemeClr val="tx1"/>
                </a:solidFill>
                <a:effectLst/>
                <a:uLnTx/>
                <a:uFillTx/>
                <a:latin typeface="+mn-lt"/>
                <a:ea typeface="+mn-ea"/>
                <a:cs typeface="+mn-ea"/>
                <a:sym typeface="+mn-lt"/>
              </a:rPr>
              <a:t>下列图形中，哪个不是二叉排序树 ？</a:t>
            </a:r>
          </a:p>
        </p:txBody>
      </p:sp>
      <p:sp>
        <p:nvSpPr>
          <p:cNvPr id="946187" name="Oval 11"/>
          <p:cNvSpPr>
            <a:spLocks noChangeArrowheads="1"/>
          </p:cNvSpPr>
          <p:nvPr/>
        </p:nvSpPr>
        <p:spPr bwMode="auto">
          <a:xfrm>
            <a:off x="6234113" y="3905250"/>
            <a:ext cx="457200" cy="457200"/>
          </a:xfrm>
          <a:prstGeom prst="ellipse">
            <a:avLst/>
          </a:prstGeom>
          <a:noFill/>
          <a:ln w="57150">
            <a:solidFill>
              <a:srgbClr val="FF0000"/>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Tree>
    <p:extLst>
      <p:ext uri="{BB962C8B-B14F-4D97-AF65-F5344CB8AC3E}">
        <p14:creationId xmlns:p14="http://schemas.microsoft.com/office/powerpoint/2010/main" val="406757304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2" fill="hold" grpId="0" nodeType="clickEffect">
                                  <p:stCondLst>
                                    <p:cond delay="0"/>
                                  </p:stCondLst>
                                  <p:childTnLst>
                                    <p:set>
                                      <p:cBhvr>
                                        <p:cTn id="11" dur="1" fill="hold">
                                          <p:stCondLst>
                                            <p:cond delay="0"/>
                                          </p:stCondLst>
                                        </p:cTn>
                                        <p:tgtEl>
                                          <p:spTgt spid="946187"/>
                                        </p:tgtEl>
                                        <p:attrNameLst>
                                          <p:attrName>style.visibility</p:attrName>
                                        </p:attrNameLst>
                                      </p:cBhvr>
                                      <p:to>
                                        <p:strVal val="visible"/>
                                      </p:to>
                                    </p:set>
                                    <p:anim calcmode="lin" valueType="num">
                                      <p:cBhvr additive="base">
                                        <p:cTn id="12" dur="500" fill="hold"/>
                                        <p:tgtEl>
                                          <p:spTgt spid="946187"/>
                                        </p:tgtEl>
                                        <p:attrNameLst>
                                          <p:attrName>ppt_x</p:attrName>
                                        </p:attrNameLst>
                                      </p:cBhvr>
                                      <p:tavLst>
                                        <p:tav tm="0">
                                          <p:val>
                                            <p:strVal val="1+#ppt_w/2"/>
                                          </p:val>
                                        </p:tav>
                                        <p:tav tm="100000">
                                          <p:val>
                                            <p:strVal val="#ppt_x"/>
                                          </p:val>
                                        </p:tav>
                                      </p:tavLst>
                                    </p:anim>
                                    <p:anim calcmode="lin" valueType="num">
                                      <p:cBhvr additive="base">
                                        <p:cTn id="13" dur="500" fill="hold"/>
                                        <p:tgtEl>
                                          <p:spTgt spid="94618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6187"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714375" y="2357438"/>
            <a:ext cx="7715250" cy="1631950"/>
          </a:xfrm>
          <a:prstGeom prst="rect">
            <a:avLst/>
          </a:prstGeom>
        </p:spPr>
        <p:txBody>
          <a:bodyPr>
            <a:spAutoFit/>
          </a:bodyPr>
          <a:lstStyle/>
          <a:p>
            <a:pPr eaLnBrk="1" fontAlgn="auto" hangingPunct="1">
              <a:spcBef>
                <a:spcPts val="0"/>
              </a:spcBef>
              <a:spcAft>
                <a:spcPts val="0"/>
              </a:spcAft>
              <a:defRPr/>
            </a:pPr>
            <a:r>
              <a:rPr lang="en-US" altLang="zh-CN" sz="2000" b="1" dirty="0">
                <a:solidFill>
                  <a:srgbClr val="0000CC"/>
                </a:solidFill>
                <a:latin typeface="+mn-lt"/>
                <a:ea typeface="+mn-ea"/>
              </a:rPr>
              <a:t>【</a:t>
            </a:r>
            <a:r>
              <a:rPr lang="zh-CN" altLang="en-US" sz="2000" b="1" dirty="0">
                <a:solidFill>
                  <a:srgbClr val="0000CC"/>
                </a:solidFill>
                <a:latin typeface="+mn-lt"/>
                <a:ea typeface="+mn-ea"/>
              </a:rPr>
              <a:t>定义</a:t>
            </a:r>
            <a:r>
              <a:rPr lang="en-US" altLang="zh-CN" sz="2000" b="1" dirty="0">
                <a:solidFill>
                  <a:srgbClr val="0000CC"/>
                </a:solidFill>
                <a:latin typeface="+mn-lt"/>
                <a:ea typeface="+mn-ea"/>
              </a:rPr>
              <a:t>】</a:t>
            </a:r>
            <a:r>
              <a:rPr lang="zh-CN" altLang="en-US" sz="2000" b="1" dirty="0">
                <a:latin typeface="+mn-lt"/>
                <a:ea typeface="+mn-ea"/>
              </a:rPr>
              <a:t>一个二叉搜索树是一棵二叉树，它可以为空。如果不为空，它将满足以下性质：</a:t>
            </a:r>
          </a:p>
          <a:p>
            <a:pPr marL="342900" indent="-342900" eaLnBrk="1" fontAlgn="auto" hangingPunct="1">
              <a:spcBef>
                <a:spcPts val="0"/>
              </a:spcBef>
              <a:spcAft>
                <a:spcPts val="0"/>
              </a:spcAft>
              <a:buFont typeface="+mj-lt"/>
              <a:buAutoNum type="arabicPeriod"/>
              <a:defRPr/>
            </a:pPr>
            <a:r>
              <a:rPr lang="zh-CN" altLang="en-US" sz="2000" b="1" dirty="0">
                <a:latin typeface="+mn-lt"/>
                <a:ea typeface="+mn-ea"/>
              </a:rPr>
              <a:t>非空</a:t>
            </a:r>
            <a:r>
              <a:rPr lang="zh-CN" altLang="en-US" sz="2000" b="1" dirty="0">
                <a:solidFill>
                  <a:srgbClr val="0000CC"/>
                </a:solidFill>
                <a:latin typeface="+mn-lt"/>
                <a:ea typeface="+mn-ea"/>
              </a:rPr>
              <a:t>左子树</a:t>
            </a:r>
            <a:r>
              <a:rPr lang="zh-CN" altLang="en-US" sz="2000" b="1" dirty="0">
                <a:latin typeface="+mn-lt"/>
                <a:ea typeface="+mn-ea"/>
              </a:rPr>
              <a:t>的所有</a:t>
            </a:r>
            <a:r>
              <a:rPr lang="zh-CN" altLang="en-US" sz="2000" b="1" dirty="0">
                <a:solidFill>
                  <a:srgbClr val="0000CC"/>
                </a:solidFill>
                <a:latin typeface="+mn-lt"/>
                <a:ea typeface="+mn-ea"/>
              </a:rPr>
              <a:t>键值小于其根结点</a:t>
            </a:r>
            <a:r>
              <a:rPr lang="zh-CN" altLang="en-US" sz="2000" b="1" dirty="0">
                <a:latin typeface="+mn-lt"/>
                <a:ea typeface="+mn-ea"/>
              </a:rPr>
              <a:t>的键值。</a:t>
            </a:r>
            <a:endParaRPr lang="en-US" altLang="zh-CN" sz="2000" b="1" dirty="0">
              <a:latin typeface="+mn-lt"/>
              <a:ea typeface="+mn-ea"/>
            </a:endParaRPr>
          </a:p>
          <a:p>
            <a:pPr marL="342900" indent="-342900" eaLnBrk="1" fontAlgn="auto" hangingPunct="1">
              <a:spcBef>
                <a:spcPts val="0"/>
              </a:spcBef>
              <a:spcAft>
                <a:spcPts val="0"/>
              </a:spcAft>
              <a:buFont typeface="+mj-lt"/>
              <a:buAutoNum type="arabicPeriod"/>
              <a:defRPr/>
            </a:pPr>
            <a:r>
              <a:rPr lang="zh-CN" altLang="en-US" sz="2000" b="1" dirty="0">
                <a:latin typeface="+mn-lt"/>
                <a:ea typeface="+mn-ea"/>
              </a:rPr>
              <a:t>非空</a:t>
            </a:r>
            <a:r>
              <a:rPr lang="zh-CN" altLang="en-US" sz="2000" b="1" dirty="0">
                <a:solidFill>
                  <a:srgbClr val="0000CC"/>
                </a:solidFill>
                <a:latin typeface="+mn-lt"/>
                <a:ea typeface="+mn-ea"/>
              </a:rPr>
              <a:t>右子树</a:t>
            </a:r>
            <a:r>
              <a:rPr lang="zh-CN" altLang="en-US" sz="2000" b="1" dirty="0">
                <a:latin typeface="+mn-lt"/>
                <a:ea typeface="+mn-ea"/>
              </a:rPr>
              <a:t>的所有</a:t>
            </a:r>
            <a:r>
              <a:rPr lang="zh-CN" altLang="en-US" sz="2000" b="1" dirty="0">
                <a:solidFill>
                  <a:srgbClr val="0000CC"/>
                </a:solidFill>
                <a:latin typeface="+mn-lt"/>
                <a:ea typeface="+mn-ea"/>
              </a:rPr>
              <a:t>键值大于其根结点</a:t>
            </a:r>
            <a:r>
              <a:rPr lang="zh-CN" altLang="en-US" sz="2000" b="1" dirty="0">
                <a:latin typeface="+mn-lt"/>
                <a:ea typeface="+mn-ea"/>
              </a:rPr>
              <a:t>的键值。</a:t>
            </a:r>
            <a:endParaRPr lang="en-US" altLang="zh-CN" sz="2000" b="1" dirty="0">
              <a:latin typeface="+mn-lt"/>
              <a:ea typeface="+mn-ea"/>
            </a:endParaRPr>
          </a:p>
          <a:p>
            <a:pPr marL="342900" indent="-342900" eaLnBrk="1" fontAlgn="auto" hangingPunct="1">
              <a:spcBef>
                <a:spcPts val="0"/>
              </a:spcBef>
              <a:spcAft>
                <a:spcPts val="0"/>
              </a:spcAft>
              <a:buFont typeface="+mj-lt"/>
              <a:buAutoNum type="arabicPeriod"/>
              <a:defRPr/>
            </a:pPr>
            <a:r>
              <a:rPr lang="zh-CN" altLang="en-US" sz="2000" b="1" dirty="0">
                <a:solidFill>
                  <a:srgbClr val="0000CC"/>
                </a:solidFill>
                <a:latin typeface="+mn-lt"/>
                <a:ea typeface="+mn-ea"/>
              </a:rPr>
              <a:t>左、右子树都是二叉搜索树</a:t>
            </a:r>
            <a:r>
              <a:rPr lang="zh-CN" altLang="en-US" sz="2000" b="1" dirty="0">
                <a:latin typeface="+mn-lt"/>
                <a:ea typeface="+mn-ea"/>
              </a:rPr>
              <a:t>。</a:t>
            </a:r>
          </a:p>
        </p:txBody>
      </p:sp>
      <p:sp>
        <p:nvSpPr>
          <p:cNvPr id="14342" name="矩形 3"/>
          <p:cNvSpPr>
            <a:spLocks noChangeArrowheads="1"/>
          </p:cNvSpPr>
          <p:nvPr/>
        </p:nvSpPr>
        <p:spPr bwMode="auto">
          <a:xfrm>
            <a:off x="799128" y="269082"/>
            <a:ext cx="20050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400" b="1" dirty="0">
                <a:solidFill>
                  <a:schemeClr val="hlink"/>
                </a:solidFill>
                <a:latin typeface="Times New Roman" pitchFamily="18" charset="0"/>
                <a:sym typeface="Wingdings" pitchFamily="2" charset="2"/>
              </a:rPr>
              <a:t></a:t>
            </a:r>
            <a:r>
              <a:rPr lang="zh-CN" altLang="zh-CN" sz="2400" b="1" dirty="0">
                <a:latin typeface="Times New Roman" pitchFamily="18" charset="0"/>
              </a:rPr>
              <a:t>二叉搜索树</a:t>
            </a:r>
          </a:p>
        </p:txBody>
      </p:sp>
      <p:sp>
        <p:nvSpPr>
          <p:cNvPr id="14343" name="Rectangle 33"/>
          <p:cNvSpPr>
            <a:spLocks noChangeArrowheads="1"/>
          </p:cNvSpPr>
          <p:nvPr/>
        </p:nvSpPr>
        <p:spPr bwMode="auto">
          <a:xfrm>
            <a:off x="0" y="0"/>
            <a:ext cx="9144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eaLnBrk="1" hangingPunct="1"/>
            <a:endParaRPr lang="zh-CN" altLang="en-US">
              <a:latin typeface="Times New Roman" pitchFamily="18" charset="0"/>
            </a:endParaRPr>
          </a:p>
        </p:txBody>
      </p:sp>
      <p:sp>
        <p:nvSpPr>
          <p:cNvPr id="14344" name="Rectangle 45"/>
          <p:cNvSpPr>
            <a:spLocks noChangeArrowheads="1"/>
          </p:cNvSpPr>
          <p:nvPr/>
        </p:nvSpPr>
        <p:spPr bwMode="auto">
          <a:xfrm>
            <a:off x="0" y="4572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indent="266700" eaLnBrk="1" hangingPunct="1"/>
            <a:endParaRPr lang="zh-CN" altLang="zh-CN">
              <a:latin typeface="Arial" pitchFamily="34" charset="0"/>
            </a:endParaRPr>
          </a:p>
        </p:txBody>
      </p:sp>
      <p:sp>
        <p:nvSpPr>
          <p:cNvPr id="45" name="AutoShape 88" descr="再生纸"/>
          <p:cNvSpPr>
            <a:spLocks noChangeArrowheads="1"/>
          </p:cNvSpPr>
          <p:nvPr/>
        </p:nvSpPr>
        <p:spPr bwMode="auto">
          <a:xfrm>
            <a:off x="785813" y="1143000"/>
            <a:ext cx="7572375" cy="1000125"/>
          </a:xfrm>
          <a:prstGeom prst="roundRect">
            <a:avLst>
              <a:gd name="adj" fmla="val 10903"/>
            </a:avLst>
          </a:prstGeom>
          <a:blipFill dpi="0" rotWithShape="0">
            <a:blip r:embed="rId5"/>
            <a:srcRect/>
            <a:tile tx="0" ty="0" sx="100000" sy="100000" flip="none" algn="tl"/>
          </a:blipFill>
          <a:ln>
            <a:noFill/>
          </a:ln>
          <a:effectLst>
            <a:outerShdw dist="107763" dir="2700000" algn="ctr" rotWithShape="0">
              <a:schemeClr val="bg2"/>
            </a:outerShdw>
          </a:effectLst>
          <a:extLst>
            <a:ext uri="{91240B29-F687-4F45-9708-019B960494DF}">
              <a14:hiddenLine xmlns:a14="http://schemas.microsoft.com/office/drawing/2010/main" w="25400">
                <a:solidFill>
                  <a:srgbClr val="000000"/>
                </a:solidFill>
                <a:round/>
                <a:headEnd/>
                <a:tailEnd/>
              </a14:hiddenLine>
            </a:ext>
          </a:extLst>
        </p:spPr>
        <p:txBody>
          <a:bodyPr anchor="ctr"/>
          <a:lstStyle/>
          <a:p>
            <a:pPr eaLnBrk="1" hangingPunct="1"/>
            <a:r>
              <a:rPr lang="zh-CN" altLang="en-US" sz="2000" b="1" dirty="0">
                <a:latin typeface="Times New Roman" pitchFamily="18" charset="0"/>
              </a:rPr>
              <a:t>“</a:t>
            </a:r>
            <a:r>
              <a:rPr lang="zh-CN" altLang="en-US" sz="2000" b="1" dirty="0">
                <a:solidFill>
                  <a:srgbClr val="0000CC"/>
                </a:solidFill>
                <a:latin typeface="Times New Roman" pitchFamily="18" charset="0"/>
              </a:rPr>
              <a:t>二叉搜索树</a:t>
            </a:r>
            <a:r>
              <a:rPr lang="zh-CN" altLang="en-US" sz="2000" b="1" dirty="0">
                <a:latin typeface="Times New Roman" pitchFamily="18" charset="0"/>
              </a:rPr>
              <a:t>（</a:t>
            </a:r>
            <a:r>
              <a:rPr lang="en-US" altLang="zh-CN" sz="2000" b="1" dirty="0">
                <a:latin typeface="Times New Roman" pitchFamily="18" charset="0"/>
              </a:rPr>
              <a:t>BST</a:t>
            </a:r>
            <a:r>
              <a:rPr lang="zh-CN" altLang="en-US" sz="2000" b="1" dirty="0">
                <a:latin typeface="Times New Roman" pitchFamily="18" charset="0"/>
              </a:rPr>
              <a:t>，</a:t>
            </a:r>
            <a:r>
              <a:rPr lang="en-US" altLang="zh-CN" sz="2000" b="1" dirty="0">
                <a:latin typeface="Times New Roman" pitchFamily="18" charset="0"/>
              </a:rPr>
              <a:t>Binary Search Tree</a:t>
            </a:r>
            <a:r>
              <a:rPr lang="zh-CN" altLang="en-US" sz="2000" b="1" dirty="0">
                <a:latin typeface="Times New Roman" pitchFamily="18" charset="0"/>
              </a:rPr>
              <a:t>）”也称</a:t>
            </a:r>
            <a:r>
              <a:rPr lang="zh-CN" altLang="en-US" sz="2000" b="1" dirty="0">
                <a:solidFill>
                  <a:srgbClr val="0000CC"/>
                </a:solidFill>
                <a:latin typeface="Times New Roman" pitchFamily="18" charset="0"/>
              </a:rPr>
              <a:t>二叉排序树或二叉查找树</a:t>
            </a:r>
            <a:r>
              <a:rPr lang="zh-CN" altLang="en-US" sz="2000" b="1" dirty="0">
                <a:latin typeface="Times New Roman" pitchFamily="18" charset="0"/>
              </a:rPr>
              <a:t>，它是一种对排序和查找都很有用的特殊二叉树。</a:t>
            </a:r>
          </a:p>
        </p:txBody>
      </p:sp>
      <p:grpSp>
        <p:nvGrpSpPr>
          <p:cNvPr id="84" name="组合 83"/>
          <p:cNvGrpSpPr>
            <a:grpSpLocks/>
          </p:cNvGrpSpPr>
          <p:nvPr/>
        </p:nvGrpSpPr>
        <p:grpSpPr bwMode="auto">
          <a:xfrm>
            <a:off x="1428750" y="4214813"/>
            <a:ext cx="2517775" cy="1544637"/>
            <a:chOff x="1428728" y="4214818"/>
            <a:chExt cx="2517567" cy="1545073"/>
          </a:xfrm>
        </p:grpSpPr>
        <p:sp>
          <p:nvSpPr>
            <p:cNvPr id="14403" name="Oval 13"/>
            <p:cNvSpPr>
              <a:spLocks noChangeArrowheads="1"/>
            </p:cNvSpPr>
            <p:nvPr/>
          </p:nvSpPr>
          <p:spPr bwMode="auto">
            <a:xfrm>
              <a:off x="2334724" y="4214818"/>
              <a:ext cx="434831" cy="39622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14404" name="Text Box 14"/>
            <p:cNvSpPr txBox="1">
              <a:spLocks noChangeArrowheads="1"/>
            </p:cNvSpPr>
            <p:nvPr/>
          </p:nvSpPr>
          <p:spPr bwMode="auto">
            <a:xfrm>
              <a:off x="2427316" y="4259089"/>
              <a:ext cx="239099" cy="23131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18</a:t>
              </a:r>
              <a:endParaRPr lang="zh-CN" altLang="zh-CN" sz="1600" b="1">
                <a:latin typeface="Arial" pitchFamily="34" charset="0"/>
              </a:endParaRPr>
            </a:p>
          </p:txBody>
        </p:sp>
        <p:sp>
          <p:nvSpPr>
            <p:cNvPr id="14405" name="Oval 15"/>
            <p:cNvSpPr>
              <a:spLocks noChangeArrowheads="1"/>
            </p:cNvSpPr>
            <p:nvPr/>
          </p:nvSpPr>
          <p:spPr bwMode="auto">
            <a:xfrm>
              <a:off x="1824882" y="4767104"/>
              <a:ext cx="434831" cy="39622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14406" name="Text Box 16"/>
            <p:cNvSpPr txBox="1">
              <a:spLocks noChangeArrowheads="1"/>
            </p:cNvSpPr>
            <p:nvPr/>
          </p:nvSpPr>
          <p:spPr bwMode="auto">
            <a:xfrm>
              <a:off x="1935054" y="4827977"/>
              <a:ext cx="239099" cy="23131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10</a:t>
              </a:r>
              <a:endParaRPr lang="zh-CN" altLang="zh-CN" sz="1600" b="1">
                <a:latin typeface="Arial" pitchFamily="34" charset="0"/>
              </a:endParaRPr>
            </a:p>
          </p:txBody>
        </p:sp>
        <p:sp>
          <p:nvSpPr>
            <p:cNvPr id="14407" name="Oval 17"/>
            <p:cNvSpPr>
              <a:spLocks noChangeArrowheads="1"/>
            </p:cNvSpPr>
            <p:nvPr/>
          </p:nvSpPr>
          <p:spPr bwMode="auto">
            <a:xfrm>
              <a:off x="2307767" y="5330458"/>
              <a:ext cx="434831" cy="39622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14408" name="Text Box 18"/>
            <p:cNvSpPr txBox="1">
              <a:spLocks noChangeArrowheads="1"/>
            </p:cNvSpPr>
            <p:nvPr/>
          </p:nvSpPr>
          <p:spPr bwMode="auto">
            <a:xfrm>
              <a:off x="2417940" y="5391331"/>
              <a:ext cx="239099" cy="23131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5</a:t>
              </a:r>
              <a:endParaRPr lang="zh-CN" altLang="zh-CN" sz="1600" b="1">
                <a:latin typeface="Arial" pitchFamily="34" charset="0"/>
              </a:endParaRPr>
            </a:p>
          </p:txBody>
        </p:sp>
        <p:sp>
          <p:nvSpPr>
            <p:cNvPr id="14409" name="Oval 19"/>
            <p:cNvSpPr>
              <a:spLocks noChangeArrowheads="1"/>
            </p:cNvSpPr>
            <p:nvPr/>
          </p:nvSpPr>
          <p:spPr bwMode="auto">
            <a:xfrm>
              <a:off x="2958256" y="4772638"/>
              <a:ext cx="434831" cy="39622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14410" name="Text Box 20"/>
            <p:cNvSpPr txBox="1">
              <a:spLocks noChangeArrowheads="1"/>
            </p:cNvSpPr>
            <p:nvPr/>
          </p:nvSpPr>
          <p:spPr bwMode="auto">
            <a:xfrm>
              <a:off x="3068429" y="4833511"/>
              <a:ext cx="239099" cy="23131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dirty="0">
                  <a:latin typeface="Arial" pitchFamily="34" charset="0"/>
                </a:rPr>
                <a:t>20</a:t>
              </a:r>
              <a:endParaRPr lang="zh-CN" altLang="zh-CN" sz="1600" b="1" dirty="0">
                <a:latin typeface="Arial" pitchFamily="34" charset="0"/>
              </a:endParaRPr>
            </a:p>
          </p:txBody>
        </p:sp>
        <p:sp>
          <p:nvSpPr>
            <p:cNvPr id="14411" name="Oval 21"/>
            <p:cNvSpPr>
              <a:spLocks noChangeArrowheads="1"/>
            </p:cNvSpPr>
            <p:nvPr/>
          </p:nvSpPr>
          <p:spPr bwMode="auto">
            <a:xfrm>
              <a:off x="1428728" y="5363662"/>
              <a:ext cx="434831" cy="39622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14412" name="Text Box 22"/>
            <p:cNvSpPr txBox="1">
              <a:spLocks noChangeArrowheads="1"/>
            </p:cNvSpPr>
            <p:nvPr/>
          </p:nvSpPr>
          <p:spPr bwMode="auto">
            <a:xfrm>
              <a:off x="1538901" y="5424535"/>
              <a:ext cx="239099" cy="23131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7</a:t>
              </a:r>
              <a:endParaRPr lang="zh-CN" altLang="zh-CN" sz="1600" b="1">
                <a:latin typeface="Arial" pitchFamily="34" charset="0"/>
              </a:endParaRPr>
            </a:p>
          </p:txBody>
        </p:sp>
        <p:sp>
          <p:nvSpPr>
            <p:cNvPr id="14413" name="Line 23"/>
            <p:cNvSpPr>
              <a:spLocks noChangeShapeType="1"/>
            </p:cNvSpPr>
            <p:nvPr/>
          </p:nvSpPr>
          <p:spPr bwMode="auto">
            <a:xfrm flipH="1">
              <a:off x="2136647" y="4561242"/>
              <a:ext cx="263712" cy="2224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4" name="Line 26"/>
            <p:cNvSpPr>
              <a:spLocks noChangeShapeType="1"/>
            </p:cNvSpPr>
            <p:nvPr/>
          </p:nvSpPr>
          <p:spPr bwMode="auto">
            <a:xfrm flipH="1">
              <a:off x="1626805" y="5129023"/>
              <a:ext cx="263712" cy="2224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5" name="Line 27"/>
            <p:cNvSpPr>
              <a:spLocks noChangeShapeType="1"/>
            </p:cNvSpPr>
            <p:nvPr/>
          </p:nvSpPr>
          <p:spPr bwMode="auto">
            <a:xfrm>
              <a:off x="2206971" y="5112421"/>
              <a:ext cx="263712" cy="2224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6" name="Line 28"/>
            <p:cNvSpPr>
              <a:spLocks noChangeShapeType="1"/>
            </p:cNvSpPr>
            <p:nvPr/>
          </p:nvSpPr>
          <p:spPr bwMode="auto">
            <a:xfrm>
              <a:off x="2716813" y="4547961"/>
              <a:ext cx="331691" cy="25124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7" name="Line 29"/>
            <p:cNvSpPr>
              <a:spLocks noChangeShapeType="1"/>
            </p:cNvSpPr>
            <p:nvPr/>
          </p:nvSpPr>
          <p:spPr bwMode="auto">
            <a:xfrm>
              <a:off x="3340345" y="5095820"/>
              <a:ext cx="263712" cy="2224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8" name="Oval 30"/>
            <p:cNvSpPr>
              <a:spLocks noChangeArrowheads="1"/>
            </p:cNvSpPr>
            <p:nvPr/>
          </p:nvSpPr>
          <p:spPr bwMode="auto">
            <a:xfrm>
              <a:off x="3511464" y="5224207"/>
              <a:ext cx="434831" cy="39622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14419" name="Text Box 31"/>
            <p:cNvSpPr txBox="1">
              <a:spLocks noChangeArrowheads="1"/>
            </p:cNvSpPr>
            <p:nvPr/>
          </p:nvSpPr>
          <p:spPr bwMode="auto">
            <a:xfrm>
              <a:off x="3604057" y="5334885"/>
              <a:ext cx="239099" cy="23131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72000"/>
                </a:lnSpc>
              </a:pPr>
              <a:r>
                <a:rPr lang="en-US" altLang="zh-CN" sz="1600" b="1">
                  <a:latin typeface="Arial" pitchFamily="34" charset="0"/>
                </a:rPr>
                <a:t>22</a:t>
              </a:r>
              <a:endParaRPr lang="zh-CN" altLang="zh-CN" sz="1600" b="1">
                <a:latin typeface="Arial" pitchFamily="34" charset="0"/>
              </a:endParaRPr>
            </a:p>
          </p:txBody>
        </p:sp>
      </p:grpSp>
      <p:grpSp>
        <p:nvGrpSpPr>
          <p:cNvPr id="85" name="组合 84"/>
          <p:cNvGrpSpPr>
            <a:grpSpLocks/>
          </p:cNvGrpSpPr>
          <p:nvPr/>
        </p:nvGrpSpPr>
        <p:grpSpPr bwMode="auto">
          <a:xfrm>
            <a:off x="5059363" y="4246563"/>
            <a:ext cx="2227262" cy="1539875"/>
            <a:chOff x="5058573" y="4245808"/>
            <a:chExt cx="2228071" cy="1540646"/>
          </a:xfrm>
        </p:grpSpPr>
        <p:sp>
          <p:nvSpPr>
            <p:cNvPr id="14389" name="Oval 2"/>
            <p:cNvSpPr>
              <a:spLocks noChangeArrowheads="1"/>
            </p:cNvSpPr>
            <p:nvPr/>
          </p:nvSpPr>
          <p:spPr bwMode="auto">
            <a:xfrm>
              <a:off x="5567244" y="4245808"/>
              <a:ext cx="434831" cy="39622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14390" name="Text Box 3"/>
            <p:cNvSpPr txBox="1">
              <a:spLocks noChangeArrowheads="1"/>
            </p:cNvSpPr>
            <p:nvPr/>
          </p:nvSpPr>
          <p:spPr bwMode="auto">
            <a:xfrm>
              <a:off x="5677417" y="4306681"/>
              <a:ext cx="239099" cy="23131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30</a:t>
              </a:r>
              <a:endParaRPr lang="zh-CN" altLang="zh-CN" sz="1600" b="1">
                <a:latin typeface="Arial" pitchFamily="34" charset="0"/>
              </a:endParaRPr>
            </a:p>
          </p:txBody>
        </p:sp>
        <p:sp>
          <p:nvSpPr>
            <p:cNvPr id="14391" name="Line 4"/>
            <p:cNvSpPr>
              <a:spLocks noChangeShapeType="1"/>
            </p:cNvSpPr>
            <p:nvPr/>
          </p:nvSpPr>
          <p:spPr bwMode="auto">
            <a:xfrm>
              <a:off x="5932924" y="4576737"/>
              <a:ext cx="421939" cy="25124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600"/>
            </a:p>
          </p:txBody>
        </p:sp>
        <p:sp>
          <p:nvSpPr>
            <p:cNvPr id="14392" name="Oval 5"/>
            <p:cNvSpPr>
              <a:spLocks noChangeArrowheads="1"/>
            </p:cNvSpPr>
            <p:nvPr/>
          </p:nvSpPr>
          <p:spPr bwMode="auto">
            <a:xfrm>
              <a:off x="5058573" y="4799201"/>
              <a:ext cx="434831" cy="39622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14393" name="Text Box 6"/>
            <p:cNvSpPr txBox="1">
              <a:spLocks noChangeArrowheads="1"/>
            </p:cNvSpPr>
            <p:nvPr/>
          </p:nvSpPr>
          <p:spPr bwMode="auto">
            <a:xfrm>
              <a:off x="5168746" y="4860074"/>
              <a:ext cx="239099" cy="23131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15</a:t>
              </a:r>
              <a:endParaRPr lang="zh-CN" altLang="zh-CN" sz="1600" b="1">
                <a:latin typeface="Arial" pitchFamily="34" charset="0"/>
              </a:endParaRPr>
            </a:p>
          </p:txBody>
        </p:sp>
        <p:sp>
          <p:nvSpPr>
            <p:cNvPr id="14394" name="Oval 7"/>
            <p:cNvSpPr>
              <a:spLocks noChangeArrowheads="1"/>
            </p:cNvSpPr>
            <p:nvPr/>
          </p:nvSpPr>
          <p:spPr bwMode="auto">
            <a:xfrm>
              <a:off x="6266959" y="4788133"/>
              <a:ext cx="434831" cy="39622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14395" name="Text Box 8"/>
            <p:cNvSpPr txBox="1">
              <a:spLocks noChangeArrowheads="1"/>
            </p:cNvSpPr>
            <p:nvPr/>
          </p:nvSpPr>
          <p:spPr bwMode="auto">
            <a:xfrm>
              <a:off x="6377132" y="4849006"/>
              <a:ext cx="239099" cy="23131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41</a:t>
              </a:r>
              <a:endParaRPr lang="zh-CN" altLang="zh-CN" sz="1600" b="1">
                <a:latin typeface="Arial" pitchFamily="34" charset="0"/>
              </a:endParaRPr>
            </a:p>
          </p:txBody>
        </p:sp>
        <p:sp>
          <p:nvSpPr>
            <p:cNvPr id="14396" name="Oval 9"/>
            <p:cNvSpPr>
              <a:spLocks noChangeArrowheads="1"/>
            </p:cNvSpPr>
            <p:nvPr/>
          </p:nvSpPr>
          <p:spPr bwMode="auto">
            <a:xfrm>
              <a:off x="5796966" y="5390225"/>
              <a:ext cx="434831" cy="39622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14397" name="Text Box 10"/>
            <p:cNvSpPr txBox="1">
              <a:spLocks noChangeArrowheads="1"/>
            </p:cNvSpPr>
            <p:nvPr/>
          </p:nvSpPr>
          <p:spPr bwMode="auto">
            <a:xfrm>
              <a:off x="5907139" y="5451098"/>
              <a:ext cx="239099" cy="23131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33</a:t>
              </a:r>
              <a:endParaRPr lang="zh-CN" altLang="zh-CN" sz="1600" b="1">
                <a:latin typeface="Arial" pitchFamily="34" charset="0"/>
              </a:endParaRPr>
            </a:p>
          </p:txBody>
        </p:sp>
        <p:sp>
          <p:nvSpPr>
            <p:cNvPr id="14398" name="Oval 11"/>
            <p:cNvSpPr>
              <a:spLocks noChangeArrowheads="1"/>
            </p:cNvSpPr>
            <p:nvPr/>
          </p:nvSpPr>
          <p:spPr bwMode="auto">
            <a:xfrm>
              <a:off x="6851813" y="5307216"/>
              <a:ext cx="434831" cy="39622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14399" name="Text Box 12"/>
            <p:cNvSpPr txBox="1">
              <a:spLocks noChangeArrowheads="1"/>
            </p:cNvSpPr>
            <p:nvPr/>
          </p:nvSpPr>
          <p:spPr bwMode="auto">
            <a:xfrm>
              <a:off x="6961986" y="5368089"/>
              <a:ext cx="239099" cy="23131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50</a:t>
              </a:r>
              <a:endParaRPr lang="zh-CN" altLang="zh-CN" sz="1600" b="1">
                <a:latin typeface="Arial" pitchFamily="34" charset="0"/>
              </a:endParaRPr>
            </a:p>
          </p:txBody>
        </p:sp>
        <p:sp>
          <p:nvSpPr>
            <p:cNvPr id="14400" name="Line 24"/>
            <p:cNvSpPr>
              <a:spLocks noChangeShapeType="1"/>
            </p:cNvSpPr>
            <p:nvPr/>
          </p:nvSpPr>
          <p:spPr bwMode="auto">
            <a:xfrm flipH="1">
              <a:off x="6108732" y="5167761"/>
              <a:ext cx="263712" cy="2224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600"/>
            </a:p>
          </p:txBody>
        </p:sp>
        <p:sp>
          <p:nvSpPr>
            <p:cNvPr id="14401" name="Line 25"/>
            <p:cNvSpPr>
              <a:spLocks noChangeShapeType="1"/>
            </p:cNvSpPr>
            <p:nvPr/>
          </p:nvSpPr>
          <p:spPr bwMode="auto">
            <a:xfrm>
              <a:off x="6653736" y="5117955"/>
              <a:ext cx="263712" cy="2224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600"/>
            </a:p>
          </p:txBody>
        </p:sp>
        <p:sp>
          <p:nvSpPr>
            <p:cNvPr id="14402" name="Line 32"/>
            <p:cNvSpPr>
              <a:spLocks noChangeShapeType="1"/>
            </p:cNvSpPr>
            <p:nvPr/>
          </p:nvSpPr>
          <p:spPr bwMode="auto">
            <a:xfrm flipH="1">
              <a:off x="5387920" y="4593339"/>
              <a:ext cx="263712" cy="2224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600"/>
            </a:p>
          </p:txBody>
        </p:sp>
      </p:grpSp>
      <p:graphicFrame>
        <p:nvGraphicFramePr>
          <p:cNvPr id="78" name="Object 33"/>
          <p:cNvGraphicFramePr>
            <a:graphicFrameLocks noChangeAspect="1"/>
          </p:cNvGraphicFramePr>
          <p:nvPr>
            <p:extLst>
              <p:ext uri="{D42A27DB-BD31-4B8C-83A1-F6EECF244321}">
                <p14:modId xmlns:p14="http://schemas.microsoft.com/office/powerpoint/2010/main" val="1306228578"/>
              </p:ext>
            </p:extLst>
          </p:nvPr>
        </p:nvGraphicFramePr>
        <p:xfrm>
          <a:off x="6500813" y="4000500"/>
          <a:ext cx="414337" cy="609600"/>
        </p:xfrm>
        <a:graphic>
          <a:graphicData uri="http://schemas.openxmlformats.org/presentationml/2006/ole">
            <mc:AlternateContent xmlns:mc="http://schemas.openxmlformats.org/markup-compatibility/2006">
              <mc:Choice xmlns:v="urn:schemas-microsoft-com:vml" Requires="v">
                <p:oleObj spid="_x0000_s23559" name="剪辑" r:id="rId6" imgW="1554370" imgH="2286549" progId="">
                  <p:embed/>
                </p:oleObj>
              </mc:Choice>
              <mc:Fallback>
                <p:oleObj name="剪辑" r:id="rId6" imgW="1554370" imgH="2286549" progId="">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500813" y="4000500"/>
                        <a:ext cx="41433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79" name="Group 35"/>
          <p:cNvGrpSpPr>
            <a:grpSpLocks/>
          </p:cNvGrpSpPr>
          <p:nvPr/>
        </p:nvGrpSpPr>
        <p:grpSpPr bwMode="auto">
          <a:xfrm>
            <a:off x="2286000" y="5591175"/>
            <a:ext cx="457200" cy="409575"/>
            <a:chOff x="1680" y="3744"/>
            <a:chExt cx="288" cy="258"/>
          </a:xfrm>
        </p:grpSpPr>
        <p:sp>
          <p:nvSpPr>
            <p:cNvPr id="14385" name="AutoShape 36"/>
            <p:cNvSpPr>
              <a:spLocks noChangeArrowheads="1"/>
            </p:cNvSpPr>
            <p:nvPr/>
          </p:nvSpPr>
          <p:spPr bwMode="auto">
            <a:xfrm>
              <a:off x="1731" y="3768"/>
              <a:ext cx="226" cy="234"/>
            </a:xfrm>
            <a:prstGeom prst="roundRect">
              <a:avLst>
                <a:gd name="adj" fmla="val 12102"/>
              </a:avLst>
            </a:prstGeom>
            <a:noFill/>
            <a:ln w="952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eaLnBrk="1" hangingPunct="1"/>
              <a:endParaRPr lang="zh-CN" altLang="en-US">
                <a:latin typeface="Times New Roman" pitchFamily="18" charset="0"/>
              </a:endParaRPr>
            </a:p>
          </p:txBody>
        </p:sp>
        <p:grpSp>
          <p:nvGrpSpPr>
            <p:cNvPr id="14386" name="Group 37"/>
            <p:cNvGrpSpPr>
              <a:grpSpLocks/>
            </p:cNvGrpSpPr>
            <p:nvPr/>
          </p:nvGrpSpPr>
          <p:grpSpPr bwMode="auto">
            <a:xfrm rot="16200000" flipH="1">
              <a:off x="1704" y="3720"/>
              <a:ext cx="240" cy="288"/>
              <a:chOff x="1728" y="3696"/>
              <a:chExt cx="288" cy="288"/>
            </a:xfrm>
          </p:grpSpPr>
          <p:sp>
            <p:nvSpPr>
              <p:cNvPr id="14387" name="Line 38"/>
              <p:cNvSpPr>
                <a:spLocks noChangeShapeType="1"/>
              </p:cNvSpPr>
              <p:nvPr/>
            </p:nvSpPr>
            <p:spPr bwMode="auto">
              <a:xfrm>
                <a:off x="1728" y="3744"/>
                <a:ext cx="192" cy="240"/>
              </a:xfrm>
              <a:prstGeom prst="line">
                <a:avLst/>
              </a:prstGeom>
              <a:noFill/>
              <a:ln w="1016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388" name="Line 39"/>
              <p:cNvSpPr>
                <a:spLocks noChangeShapeType="1"/>
              </p:cNvSpPr>
              <p:nvPr/>
            </p:nvSpPr>
            <p:spPr bwMode="auto">
              <a:xfrm flipH="1">
                <a:off x="1728" y="3696"/>
                <a:ext cx="288" cy="240"/>
              </a:xfrm>
              <a:prstGeom prst="line">
                <a:avLst/>
              </a:prstGeom>
              <a:noFill/>
              <a:ln w="1016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48" name="Group 42"/>
          <p:cNvGrpSpPr>
            <a:grpSpLocks/>
          </p:cNvGrpSpPr>
          <p:nvPr/>
        </p:nvGrpSpPr>
        <p:grpSpPr bwMode="auto">
          <a:xfrm>
            <a:off x="5357813" y="3416300"/>
            <a:ext cx="2958593" cy="2870200"/>
            <a:chOff x="816" y="1424"/>
            <a:chExt cx="2573" cy="2706"/>
          </a:xfrm>
        </p:grpSpPr>
        <p:sp>
          <p:nvSpPr>
            <p:cNvPr id="14351" name="Oval 5"/>
            <p:cNvSpPr>
              <a:spLocks noChangeArrowheads="1"/>
            </p:cNvSpPr>
            <p:nvPr/>
          </p:nvSpPr>
          <p:spPr bwMode="auto">
            <a:xfrm>
              <a:off x="1152" y="1968"/>
              <a:ext cx="336"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sp>
          <p:nvSpPr>
            <p:cNvPr id="14352" name="Oval 6"/>
            <p:cNvSpPr>
              <a:spLocks noChangeArrowheads="1"/>
            </p:cNvSpPr>
            <p:nvPr/>
          </p:nvSpPr>
          <p:spPr bwMode="auto">
            <a:xfrm>
              <a:off x="2352" y="1969"/>
              <a:ext cx="336"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sp>
          <p:nvSpPr>
            <p:cNvPr id="14353" name="Oval 7"/>
            <p:cNvSpPr>
              <a:spLocks noChangeArrowheads="1"/>
            </p:cNvSpPr>
            <p:nvPr/>
          </p:nvSpPr>
          <p:spPr bwMode="auto">
            <a:xfrm>
              <a:off x="1440" y="2592"/>
              <a:ext cx="336"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sp>
          <p:nvSpPr>
            <p:cNvPr id="14354" name="Oval 8"/>
            <p:cNvSpPr>
              <a:spLocks noChangeArrowheads="1"/>
            </p:cNvSpPr>
            <p:nvPr/>
          </p:nvSpPr>
          <p:spPr bwMode="auto">
            <a:xfrm>
              <a:off x="816" y="2592"/>
              <a:ext cx="336"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sp>
          <p:nvSpPr>
            <p:cNvPr id="14355" name="Oval 9"/>
            <p:cNvSpPr>
              <a:spLocks noChangeArrowheads="1"/>
            </p:cNvSpPr>
            <p:nvPr/>
          </p:nvSpPr>
          <p:spPr bwMode="auto">
            <a:xfrm>
              <a:off x="2016" y="2592"/>
              <a:ext cx="336"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sp>
          <p:nvSpPr>
            <p:cNvPr id="14356" name="Oval 10"/>
            <p:cNvSpPr>
              <a:spLocks noChangeArrowheads="1"/>
            </p:cNvSpPr>
            <p:nvPr/>
          </p:nvSpPr>
          <p:spPr bwMode="auto">
            <a:xfrm>
              <a:off x="1728" y="3264"/>
              <a:ext cx="336"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cxnSp>
          <p:nvCxnSpPr>
            <p:cNvPr id="14357" name="AutoShape 11"/>
            <p:cNvCxnSpPr>
              <a:cxnSpLocks noChangeShapeType="1"/>
              <a:stCxn id="14383" idx="3"/>
              <a:endCxn id="14351" idx="7"/>
            </p:cNvCxnSpPr>
            <p:nvPr/>
          </p:nvCxnSpPr>
          <p:spPr bwMode="auto">
            <a:xfrm flipH="1">
              <a:off x="1439" y="1711"/>
              <a:ext cx="386" cy="306"/>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358" name="AutoShape 12"/>
            <p:cNvCxnSpPr>
              <a:cxnSpLocks noChangeShapeType="1"/>
              <a:stCxn id="14351" idx="3"/>
              <a:endCxn id="14354" idx="0"/>
            </p:cNvCxnSpPr>
            <p:nvPr/>
          </p:nvCxnSpPr>
          <p:spPr bwMode="auto">
            <a:xfrm flipH="1">
              <a:off x="984" y="2255"/>
              <a:ext cx="217" cy="337"/>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359" name="AutoShape 13"/>
            <p:cNvCxnSpPr>
              <a:cxnSpLocks noChangeShapeType="1"/>
              <a:stCxn id="14351" idx="5"/>
              <a:endCxn id="14353" idx="0"/>
            </p:cNvCxnSpPr>
            <p:nvPr/>
          </p:nvCxnSpPr>
          <p:spPr bwMode="auto">
            <a:xfrm>
              <a:off x="1439" y="2255"/>
              <a:ext cx="169" cy="337"/>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360" name="AutoShape 14"/>
            <p:cNvCxnSpPr>
              <a:cxnSpLocks noChangeShapeType="1"/>
              <a:stCxn id="14383" idx="5"/>
              <a:endCxn id="14352" idx="1"/>
            </p:cNvCxnSpPr>
            <p:nvPr/>
          </p:nvCxnSpPr>
          <p:spPr bwMode="auto">
            <a:xfrm>
              <a:off x="2063" y="1711"/>
              <a:ext cx="338" cy="307"/>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361" name="AutoShape 15"/>
            <p:cNvCxnSpPr>
              <a:cxnSpLocks noChangeShapeType="1"/>
              <a:stCxn id="14353" idx="5"/>
              <a:endCxn id="14356" idx="0"/>
            </p:cNvCxnSpPr>
            <p:nvPr/>
          </p:nvCxnSpPr>
          <p:spPr bwMode="auto">
            <a:xfrm>
              <a:off x="1727" y="2879"/>
              <a:ext cx="169" cy="385"/>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4362" name="AutoShape 16"/>
            <p:cNvCxnSpPr>
              <a:cxnSpLocks noChangeShapeType="1"/>
              <a:stCxn id="14352" idx="3"/>
              <a:endCxn id="14355" idx="0"/>
            </p:cNvCxnSpPr>
            <p:nvPr/>
          </p:nvCxnSpPr>
          <p:spPr bwMode="auto">
            <a:xfrm flipH="1">
              <a:off x="2184" y="2256"/>
              <a:ext cx="217" cy="336"/>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grpSp>
          <p:nvGrpSpPr>
            <p:cNvPr id="14363" name="Group 17"/>
            <p:cNvGrpSpPr>
              <a:grpSpLocks/>
            </p:cNvGrpSpPr>
            <p:nvPr/>
          </p:nvGrpSpPr>
          <p:grpSpPr bwMode="auto">
            <a:xfrm>
              <a:off x="1776" y="1424"/>
              <a:ext cx="336" cy="379"/>
              <a:chOff x="1819" y="1344"/>
              <a:chExt cx="336" cy="379"/>
            </a:xfrm>
          </p:grpSpPr>
          <p:sp>
            <p:nvSpPr>
              <p:cNvPr id="14383" name="Oval 18"/>
              <p:cNvSpPr>
                <a:spLocks noChangeArrowheads="1"/>
              </p:cNvSpPr>
              <p:nvPr/>
            </p:nvSpPr>
            <p:spPr bwMode="auto">
              <a:xfrm>
                <a:off x="1819" y="1344"/>
                <a:ext cx="336"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sp>
            <p:nvSpPr>
              <p:cNvPr id="14384" name="Text Box 19"/>
              <p:cNvSpPr txBox="1">
                <a:spLocks noChangeArrowheads="1"/>
              </p:cNvSpPr>
              <p:nvPr/>
            </p:nvSpPr>
            <p:spPr bwMode="auto">
              <a:xfrm>
                <a:off x="1877" y="1375"/>
                <a:ext cx="261"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6</a:t>
                </a:r>
              </a:p>
            </p:txBody>
          </p:sp>
        </p:grpSp>
        <p:sp>
          <p:nvSpPr>
            <p:cNvPr id="14364" name="Text Box 20"/>
            <p:cNvSpPr txBox="1">
              <a:spLocks noChangeArrowheads="1"/>
            </p:cNvSpPr>
            <p:nvPr/>
          </p:nvSpPr>
          <p:spPr bwMode="auto">
            <a:xfrm>
              <a:off x="1221" y="2014"/>
              <a:ext cx="261"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3</a:t>
              </a:r>
            </a:p>
          </p:txBody>
        </p:sp>
        <p:sp>
          <p:nvSpPr>
            <p:cNvPr id="14365" name="Text Box 21"/>
            <p:cNvSpPr txBox="1">
              <a:spLocks noChangeArrowheads="1"/>
            </p:cNvSpPr>
            <p:nvPr/>
          </p:nvSpPr>
          <p:spPr bwMode="auto">
            <a:xfrm>
              <a:off x="897" y="2644"/>
              <a:ext cx="261"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1</a:t>
              </a:r>
            </a:p>
          </p:txBody>
        </p:sp>
        <p:sp>
          <p:nvSpPr>
            <p:cNvPr id="14366" name="Text Box 22"/>
            <p:cNvSpPr txBox="1">
              <a:spLocks noChangeArrowheads="1"/>
            </p:cNvSpPr>
            <p:nvPr/>
          </p:nvSpPr>
          <p:spPr bwMode="auto">
            <a:xfrm>
              <a:off x="1516" y="2640"/>
              <a:ext cx="261"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4</a:t>
              </a:r>
            </a:p>
          </p:txBody>
        </p:sp>
        <p:sp>
          <p:nvSpPr>
            <p:cNvPr id="14367" name="Text Box 23"/>
            <p:cNvSpPr txBox="1">
              <a:spLocks noChangeArrowheads="1"/>
            </p:cNvSpPr>
            <p:nvPr/>
          </p:nvSpPr>
          <p:spPr bwMode="auto">
            <a:xfrm>
              <a:off x="2112" y="2644"/>
              <a:ext cx="261"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7</a:t>
              </a:r>
            </a:p>
          </p:txBody>
        </p:sp>
        <p:sp>
          <p:nvSpPr>
            <p:cNvPr id="14368" name="Text Box 24"/>
            <p:cNvSpPr txBox="1">
              <a:spLocks noChangeArrowheads="1"/>
            </p:cNvSpPr>
            <p:nvPr/>
          </p:nvSpPr>
          <p:spPr bwMode="auto">
            <a:xfrm>
              <a:off x="2448" y="2016"/>
              <a:ext cx="261"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9</a:t>
              </a:r>
            </a:p>
          </p:txBody>
        </p:sp>
        <p:sp>
          <p:nvSpPr>
            <p:cNvPr id="14369" name="Text Box 25"/>
            <p:cNvSpPr txBox="1">
              <a:spLocks noChangeArrowheads="1"/>
            </p:cNvSpPr>
            <p:nvPr/>
          </p:nvSpPr>
          <p:spPr bwMode="auto">
            <a:xfrm>
              <a:off x="1789" y="3327"/>
              <a:ext cx="261"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5</a:t>
              </a:r>
            </a:p>
          </p:txBody>
        </p:sp>
        <p:sp>
          <p:nvSpPr>
            <p:cNvPr id="14370" name="Oval 26"/>
            <p:cNvSpPr>
              <a:spLocks noChangeArrowheads="1"/>
            </p:cNvSpPr>
            <p:nvPr/>
          </p:nvSpPr>
          <p:spPr bwMode="auto">
            <a:xfrm>
              <a:off x="2639" y="2592"/>
              <a:ext cx="336"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cxnSp>
          <p:nvCxnSpPr>
            <p:cNvPr id="14371" name="AutoShape 27"/>
            <p:cNvCxnSpPr>
              <a:cxnSpLocks noChangeShapeType="1"/>
              <a:stCxn id="14352" idx="5"/>
              <a:endCxn id="14370" idx="0"/>
            </p:cNvCxnSpPr>
            <p:nvPr/>
          </p:nvCxnSpPr>
          <p:spPr bwMode="auto">
            <a:xfrm>
              <a:off x="2639" y="2256"/>
              <a:ext cx="168" cy="336"/>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4372" name="Text Box 28"/>
            <p:cNvSpPr txBox="1">
              <a:spLocks noChangeArrowheads="1"/>
            </p:cNvSpPr>
            <p:nvPr/>
          </p:nvSpPr>
          <p:spPr bwMode="auto">
            <a:xfrm>
              <a:off x="2661" y="2644"/>
              <a:ext cx="361"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10</a:t>
              </a:r>
            </a:p>
          </p:txBody>
        </p:sp>
        <p:sp>
          <p:nvSpPr>
            <p:cNvPr id="14373" name="Oval 29"/>
            <p:cNvSpPr>
              <a:spLocks noChangeArrowheads="1"/>
            </p:cNvSpPr>
            <p:nvPr/>
          </p:nvSpPr>
          <p:spPr bwMode="auto">
            <a:xfrm>
              <a:off x="1103" y="3264"/>
              <a:ext cx="336"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cxnSp>
          <p:nvCxnSpPr>
            <p:cNvPr id="14374" name="AutoShape 30"/>
            <p:cNvCxnSpPr>
              <a:cxnSpLocks noChangeShapeType="1"/>
              <a:stCxn id="14354" idx="5"/>
              <a:endCxn id="14373" idx="0"/>
            </p:cNvCxnSpPr>
            <p:nvPr/>
          </p:nvCxnSpPr>
          <p:spPr bwMode="auto">
            <a:xfrm>
              <a:off x="1103" y="2879"/>
              <a:ext cx="168" cy="385"/>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4375" name="Text Box 31"/>
            <p:cNvSpPr txBox="1">
              <a:spLocks noChangeArrowheads="1"/>
            </p:cNvSpPr>
            <p:nvPr/>
          </p:nvSpPr>
          <p:spPr bwMode="auto">
            <a:xfrm>
              <a:off x="1180" y="3319"/>
              <a:ext cx="261"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2</a:t>
              </a:r>
            </a:p>
          </p:txBody>
        </p:sp>
        <p:sp>
          <p:nvSpPr>
            <p:cNvPr id="14376" name="Oval 32"/>
            <p:cNvSpPr>
              <a:spLocks noChangeArrowheads="1"/>
            </p:cNvSpPr>
            <p:nvPr/>
          </p:nvSpPr>
          <p:spPr bwMode="auto">
            <a:xfrm>
              <a:off x="2976" y="3264"/>
              <a:ext cx="336"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cxnSp>
          <p:nvCxnSpPr>
            <p:cNvPr id="14377" name="AutoShape 33"/>
            <p:cNvCxnSpPr>
              <a:cxnSpLocks noChangeShapeType="1"/>
              <a:stCxn id="14370" idx="5"/>
              <a:endCxn id="14376" idx="0"/>
            </p:cNvCxnSpPr>
            <p:nvPr/>
          </p:nvCxnSpPr>
          <p:spPr bwMode="auto">
            <a:xfrm>
              <a:off x="2926" y="2879"/>
              <a:ext cx="218" cy="385"/>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4378" name="Text Box 34"/>
            <p:cNvSpPr txBox="1">
              <a:spLocks noChangeArrowheads="1"/>
            </p:cNvSpPr>
            <p:nvPr/>
          </p:nvSpPr>
          <p:spPr bwMode="auto">
            <a:xfrm>
              <a:off x="3021" y="3319"/>
              <a:ext cx="350"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11</a:t>
              </a:r>
            </a:p>
          </p:txBody>
        </p:sp>
        <p:sp>
          <p:nvSpPr>
            <p:cNvPr id="14379" name="Oval 35"/>
            <p:cNvSpPr>
              <a:spLocks noChangeArrowheads="1"/>
            </p:cNvSpPr>
            <p:nvPr/>
          </p:nvSpPr>
          <p:spPr bwMode="auto">
            <a:xfrm>
              <a:off x="2352" y="3264"/>
              <a:ext cx="336"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cxnSp>
          <p:nvCxnSpPr>
            <p:cNvPr id="14380" name="AutoShape 36"/>
            <p:cNvCxnSpPr>
              <a:cxnSpLocks noChangeShapeType="1"/>
              <a:stCxn id="14355" idx="5"/>
              <a:endCxn id="14379" idx="0"/>
            </p:cNvCxnSpPr>
            <p:nvPr/>
          </p:nvCxnSpPr>
          <p:spPr bwMode="auto">
            <a:xfrm>
              <a:off x="2303" y="2879"/>
              <a:ext cx="217" cy="385"/>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4381" name="Text Box 37"/>
            <p:cNvSpPr txBox="1">
              <a:spLocks noChangeArrowheads="1"/>
            </p:cNvSpPr>
            <p:nvPr/>
          </p:nvSpPr>
          <p:spPr bwMode="auto">
            <a:xfrm>
              <a:off x="2427" y="3319"/>
              <a:ext cx="261"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8</a:t>
              </a:r>
            </a:p>
          </p:txBody>
        </p:sp>
        <p:sp>
          <p:nvSpPr>
            <p:cNvPr id="14382" name="Text Box 38"/>
            <p:cNvSpPr txBox="1">
              <a:spLocks noChangeArrowheads="1"/>
            </p:cNvSpPr>
            <p:nvPr/>
          </p:nvSpPr>
          <p:spPr bwMode="auto">
            <a:xfrm>
              <a:off x="816" y="3782"/>
              <a:ext cx="2573"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dirty="0">
                  <a:latin typeface="Times New Roman" pitchFamily="18" charset="0"/>
                </a:rPr>
                <a:t>11</a:t>
              </a:r>
              <a:r>
                <a:rPr lang="zh-CN" altLang="en-US" sz="1800" b="1" dirty="0">
                  <a:latin typeface="Times New Roman" pitchFamily="18" charset="0"/>
                </a:rPr>
                <a:t>个元素</a:t>
              </a:r>
              <a:r>
                <a:rPr lang="zh-CN" altLang="en-US" sz="1800" b="1" dirty="0">
                  <a:solidFill>
                    <a:srgbClr val="0000FF"/>
                  </a:solidFill>
                  <a:latin typeface="Times New Roman" pitchFamily="18" charset="0"/>
                </a:rPr>
                <a:t>二分查找</a:t>
              </a:r>
              <a:r>
                <a:rPr lang="zh-CN" altLang="en-US" sz="1800" b="1" dirty="0">
                  <a:latin typeface="Times New Roman" pitchFamily="18" charset="0"/>
                </a:rPr>
                <a:t>的判定树</a:t>
              </a:r>
            </a:p>
          </p:txBody>
        </p:sp>
      </p:grpSp>
    </p:spTree>
    <p:extLst>
      <p:ext uri="{BB962C8B-B14F-4D97-AF65-F5344CB8AC3E}">
        <p14:creationId xmlns:p14="http://schemas.microsoft.com/office/powerpoint/2010/main" val="274044755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box(in)">
                                      <p:cBhvr>
                                        <p:cTn id="7" dur="500"/>
                                        <p:tgtEl>
                                          <p:spTgt spid="4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strips(downRight)">
                                      <p:cBhvr>
                                        <p:cTn id="12" dur="500"/>
                                        <p:tgtEl>
                                          <p:spTgt spid="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84"/>
                                        </p:tgtEl>
                                        <p:attrNameLst>
                                          <p:attrName>style.visibility</p:attrName>
                                        </p:attrNameLst>
                                      </p:cBhvr>
                                      <p:to>
                                        <p:strVal val="visible"/>
                                      </p:to>
                                    </p:set>
                                    <p:animEffect transition="in" filter="wipe(up)">
                                      <p:cBhvr>
                                        <p:cTn id="17" dur="500"/>
                                        <p:tgtEl>
                                          <p:spTgt spid="8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85"/>
                                        </p:tgtEl>
                                        <p:attrNameLst>
                                          <p:attrName>style.visibility</p:attrName>
                                        </p:attrNameLst>
                                      </p:cBhvr>
                                      <p:to>
                                        <p:strVal val="visible"/>
                                      </p:to>
                                    </p:set>
                                    <p:animEffect transition="in" filter="wipe(up)">
                                      <p:cBhvr>
                                        <p:cTn id="22" dur="500"/>
                                        <p:tgtEl>
                                          <p:spTgt spid="8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499"/>
                                          </p:stCondLst>
                                        </p:cTn>
                                        <p:tgtEl>
                                          <p:spTgt spid="79"/>
                                        </p:tgtEl>
                                        <p:attrNameLst>
                                          <p:attrName>style.visibility</p:attrName>
                                        </p:attrNameLst>
                                      </p:cBhvr>
                                      <p:to>
                                        <p:strVal val="visible"/>
                                      </p:to>
                                    </p:set>
                                  </p:childTnLst>
                                  <p:subTnLst>
                                    <p:audio>
                                      <p:cMediaNode>
                                        <p:cTn display="0" masterRel="sameClick">
                                          <p:stCondLst>
                                            <p:cond evt="begin" delay="0">
                                              <p:tn val="25"/>
                                            </p:cond>
                                          </p:stCondLst>
                                          <p:endCondLst>
                                            <p:cond evt="onStopAudio" delay="0">
                                              <p:tgtEl>
                                                <p:sldTgt/>
                                              </p:tgtEl>
                                            </p:cond>
                                          </p:endCondLst>
                                        </p:cTn>
                                        <p:tgtEl>
                                          <p:sndTgt r:embed="rId3" name="GUNSHOT.WAV"/>
                                        </p:tgtEl>
                                      </p:cMediaNode>
                                    </p:audio>
                                  </p:sub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4" fill="hold" nodeType="clickEffect">
                                  <p:stCondLst>
                                    <p:cond delay="0"/>
                                  </p:stCondLst>
                                  <p:childTnLst>
                                    <p:set>
                                      <p:cBhvr>
                                        <p:cTn id="30" dur="1" fill="hold">
                                          <p:stCondLst>
                                            <p:cond delay="0"/>
                                          </p:stCondLst>
                                        </p:cTn>
                                        <p:tgtEl>
                                          <p:spTgt spid="78"/>
                                        </p:tgtEl>
                                        <p:attrNameLst>
                                          <p:attrName>style.visibility</p:attrName>
                                        </p:attrNameLst>
                                      </p:cBhvr>
                                      <p:to>
                                        <p:strVal val="visible"/>
                                      </p:to>
                                    </p:set>
                                    <p:animEffect transition="in" filter="wipe(down)">
                                      <p:cBhvr>
                                        <p:cTn id="31" dur="500"/>
                                        <p:tgtEl>
                                          <p:spTgt spid="78"/>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WAV"/>
                                        </p:tgtEl>
                                      </p:cMediaNode>
                                    </p:audio>
                                  </p:subTnLst>
                                </p:cTn>
                              </p:par>
                            </p:childTnLst>
                          </p:cTn>
                        </p:par>
                      </p:childTnLst>
                    </p:cTn>
                  </p:par>
                  <p:par>
                    <p:cTn id="32" fill="hold" nodeType="clickPar">
                      <p:stCondLst>
                        <p:cond delay="indefinite"/>
                      </p:stCondLst>
                      <p:childTnLst>
                        <p:par>
                          <p:cTn id="33" fill="hold" nodeType="withGroup">
                            <p:stCondLst>
                              <p:cond delay="0"/>
                            </p:stCondLst>
                            <p:childTnLst>
                              <p:par>
                                <p:cTn id="34" presetID="9" presetClass="exit" presetSubtype="0" fill="hold" nodeType="clickEffect">
                                  <p:stCondLst>
                                    <p:cond delay="0"/>
                                  </p:stCondLst>
                                  <p:childTnLst>
                                    <p:animEffect transition="out" filter="dissolve">
                                      <p:cBhvr>
                                        <p:cTn id="35" dur="500"/>
                                        <p:tgtEl>
                                          <p:spTgt spid="78"/>
                                        </p:tgtEl>
                                      </p:cBhvr>
                                    </p:animEffect>
                                    <p:set>
                                      <p:cBhvr>
                                        <p:cTn id="36" dur="1" fill="hold">
                                          <p:stCondLst>
                                            <p:cond delay="499"/>
                                          </p:stCondLst>
                                        </p:cTn>
                                        <p:tgtEl>
                                          <p:spTgt spid="78"/>
                                        </p:tgtEl>
                                        <p:attrNameLst>
                                          <p:attrName>style.visibility</p:attrName>
                                        </p:attrNameLst>
                                      </p:cBhvr>
                                      <p:to>
                                        <p:strVal val="hidden"/>
                                      </p:to>
                                    </p:set>
                                  </p:childTnLst>
                                </p:cTn>
                              </p:par>
                              <p:par>
                                <p:cTn id="37" presetID="9" presetClass="exit" presetSubtype="0" fill="hold" nodeType="withEffect">
                                  <p:stCondLst>
                                    <p:cond delay="0"/>
                                  </p:stCondLst>
                                  <p:childTnLst>
                                    <p:animEffect transition="out" filter="dissolve">
                                      <p:cBhvr>
                                        <p:cTn id="38" dur="500"/>
                                        <p:tgtEl>
                                          <p:spTgt spid="85"/>
                                        </p:tgtEl>
                                      </p:cBhvr>
                                    </p:animEffect>
                                    <p:set>
                                      <p:cBhvr>
                                        <p:cTn id="39" dur="1" fill="hold">
                                          <p:stCondLst>
                                            <p:cond delay="499"/>
                                          </p:stCondLst>
                                        </p:cTn>
                                        <p:tgtEl>
                                          <p:spTgt spid="85"/>
                                        </p:tgtEl>
                                        <p:attrNameLst>
                                          <p:attrName>style.visibility</p:attrName>
                                        </p:attrNameLst>
                                      </p:cBhvr>
                                      <p:to>
                                        <p:strVal val="hidden"/>
                                      </p:to>
                                    </p:set>
                                  </p:childTnLst>
                                </p:cTn>
                              </p:par>
                            </p:childTnLst>
                          </p:cTn>
                        </p:par>
                        <p:par>
                          <p:cTn id="40" fill="hold" nodeType="afterGroup">
                            <p:stCondLst>
                              <p:cond delay="500"/>
                            </p:stCondLst>
                            <p:childTnLst>
                              <p:par>
                                <p:cTn id="41" presetID="22" presetClass="entr" presetSubtype="1" fill="hold" nodeType="afterEffect">
                                  <p:stCondLst>
                                    <p:cond delay="0"/>
                                  </p:stCondLst>
                                  <p:childTnLst>
                                    <p:set>
                                      <p:cBhvr>
                                        <p:cTn id="42" dur="1" fill="hold">
                                          <p:stCondLst>
                                            <p:cond delay="0"/>
                                          </p:stCondLst>
                                        </p:cTn>
                                        <p:tgtEl>
                                          <p:spTgt spid="48"/>
                                        </p:tgtEl>
                                        <p:attrNameLst>
                                          <p:attrName>style.visibility</p:attrName>
                                        </p:attrNameLst>
                                      </p:cBhvr>
                                      <p:to>
                                        <p:strVal val="visible"/>
                                      </p:to>
                                    </p:set>
                                    <p:animEffect transition="in" filter="wipe(up)">
                                      <p:cBhvr>
                                        <p:cTn id="43" dur="500"/>
                                        <p:tgtEl>
                                          <p:spTgt spid="48"/>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8" fill="hold" nodeType="clickEffect">
                                  <p:stCondLst>
                                    <p:cond delay="0"/>
                                  </p:stCondLst>
                                  <p:childTnLst>
                                    <p:set>
                                      <p:cBhvr>
                                        <p:cTn id="47" dur="1" fill="hold">
                                          <p:stCondLst>
                                            <p:cond delay="0"/>
                                          </p:stCondLst>
                                        </p:cTn>
                                        <p:tgtEl>
                                          <p:spTgt spid="78"/>
                                        </p:tgtEl>
                                        <p:attrNameLst>
                                          <p:attrName>style.visibility</p:attrName>
                                        </p:attrNameLst>
                                      </p:cBhvr>
                                      <p:to>
                                        <p:strVal val="visible"/>
                                      </p:to>
                                    </p:set>
                                    <p:animEffect transition="in" filter="wipe(left)">
                                      <p:cBhvr>
                                        <p:cTn id="48"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5" grpId="0" animBg="1" autoUpdateAnimBg="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3" name="矩形 1"/>
          <p:cNvSpPr>
            <a:spLocks noChangeArrowheads="1"/>
          </p:cNvSpPr>
          <p:nvPr/>
        </p:nvSpPr>
        <p:spPr bwMode="auto">
          <a:xfrm>
            <a:off x="862068" y="242888"/>
            <a:ext cx="36295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400" b="1" dirty="0">
                <a:solidFill>
                  <a:schemeClr val="hlink"/>
                </a:solidFill>
                <a:latin typeface="Times New Roman" pitchFamily="18" charset="0"/>
                <a:sym typeface="Wingdings" pitchFamily="2" charset="2"/>
              </a:rPr>
              <a:t> </a:t>
            </a:r>
            <a:r>
              <a:rPr lang="zh-CN" altLang="en-US" sz="2400" b="1" dirty="0">
                <a:latin typeface="Times New Roman" pitchFamily="18" charset="0"/>
              </a:rPr>
              <a:t>二叉搜索树的动态查找</a:t>
            </a:r>
          </a:p>
        </p:txBody>
      </p:sp>
      <p:sp>
        <p:nvSpPr>
          <p:cNvPr id="3" name="矩形 2"/>
          <p:cNvSpPr>
            <a:spLocks noChangeArrowheads="1"/>
          </p:cNvSpPr>
          <p:nvPr/>
        </p:nvSpPr>
        <p:spPr bwMode="auto">
          <a:xfrm>
            <a:off x="500063" y="1143000"/>
            <a:ext cx="8018462"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r>
              <a:rPr lang="en-US" altLang="zh-CN" sz="2000" b="1">
                <a:solidFill>
                  <a:srgbClr val="0000FF"/>
                </a:solidFill>
                <a:latin typeface="Times New Roman" pitchFamily="18" charset="0"/>
                <a:sym typeface="Wingdings" pitchFamily="2" charset="2"/>
              </a:rPr>
              <a:t> </a:t>
            </a:r>
            <a:r>
              <a:rPr lang="zh-CN" altLang="en-US" sz="2000" b="1">
                <a:latin typeface="Times New Roman" pitchFamily="18" charset="0"/>
              </a:rPr>
              <a:t>二叉搜索树作为抽象数据结构的定义与普通二叉树相同，但操作集中多了下列几个特别的函数：</a:t>
            </a:r>
          </a:p>
        </p:txBody>
      </p:sp>
      <p:sp>
        <p:nvSpPr>
          <p:cNvPr id="4" name="矩形 3"/>
          <p:cNvSpPr>
            <a:spLocks noChangeArrowheads="1"/>
          </p:cNvSpPr>
          <p:nvPr/>
        </p:nvSpPr>
        <p:spPr bwMode="auto">
          <a:xfrm>
            <a:off x="571500" y="2000250"/>
            <a:ext cx="778668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indent="-342900" eaLnBrk="1" hangingPunct="1"/>
            <a:r>
              <a:rPr lang="en-US" altLang="zh-CN" sz="2000" b="1" dirty="0">
                <a:sym typeface="Wingdings" pitchFamily="2" charset="2"/>
              </a:rPr>
              <a:t> </a:t>
            </a:r>
            <a:r>
              <a:rPr lang="en-US" altLang="zh-CN" sz="2000" b="1" dirty="0">
                <a:solidFill>
                  <a:srgbClr val="0000CC"/>
                </a:solidFill>
                <a:latin typeface="Arial" pitchFamily="34" charset="0"/>
                <a:sym typeface="Wingdings" pitchFamily="2" charset="2"/>
              </a:rPr>
              <a:t> </a:t>
            </a:r>
            <a:r>
              <a:rPr lang="en-US" altLang="zh-CN" sz="2000" b="1" dirty="0">
                <a:solidFill>
                  <a:srgbClr val="0000CC"/>
                </a:solidFill>
                <a:latin typeface="Arial" pitchFamily="34" charset="0"/>
              </a:rPr>
              <a:t>Position Find( </a:t>
            </a:r>
            <a:r>
              <a:rPr lang="en-US" altLang="zh-CN" sz="2000" b="1" dirty="0" err="1">
                <a:solidFill>
                  <a:srgbClr val="0000CC"/>
                </a:solidFill>
                <a:latin typeface="Arial" pitchFamily="34" charset="0"/>
              </a:rPr>
              <a:t>ElementType</a:t>
            </a:r>
            <a:r>
              <a:rPr lang="en-US" altLang="zh-CN" sz="2000" b="1" dirty="0">
                <a:solidFill>
                  <a:srgbClr val="0000CC"/>
                </a:solidFill>
                <a:latin typeface="Arial" pitchFamily="34" charset="0"/>
              </a:rPr>
              <a:t> X, </a:t>
            </a:r>
            <a:r>
              <a:rPr lang="en-US" altLang="zh-CN" sz="2000" b="1" dirty="0" err="1">
                <a:solidFill>
                  <a:srgbClr val="0000CC"/>
                </a:solidFill>
                <a:latin typeface="Arial" pitchFamily="34" charset="0"/>
              </a:rPr>
              <a:t>BinTree</a:t>
            </a:r>
            <a:r>
              <a:rPr lang="en-US" altLang="zh-CN" sz="2000" b="1" dirty="0">
                <a:solidFill>
                  <a:srgbClr val="0000CC"/>
                </a:solidFill>
                <a:latin typeface="Arial" pitchFamily="34" charset="0"/>
              </a:rPr>
              <a:t> BST )</a:t>
            </a:r>
            <a:r>
              <a:rPr lang="zh-CN" altLang="en-US" sz="2000" b="1" dirty="0"/>
              <a:t>：从二叉搜索树</a:t>
            </a:r>
            <a:r>
              <a:rPr lang="en-US" altLang="zh-CN" sz="2000" b="1" dirty="0"/>
              <a:t>BST</a:t>
            </a:r>
            <a:r>
              <a:rPr lang="zh-CN" altLang="en-US" sz="2000" b="1" dirty="0"/>
              <a:t>中查找元素</a:t>
            </a:r>
            <a:r>
              <a:rPr lang="en-US" altLang="zh-CN" sz="2000" b="1" dirty="0"/>
              <a:t>X</a:t>
            </a:r>
            <a:r>
              <a:rPr lang="zh-CN" altLang="en-US" sz="2000" b="1" dirty="0"/>
              <a:t>，返回其所在结点的地址</a:t>
            </a:r>
            <a:endParaRPr lang="en-US" altLang="zh-CN" sz="2000" b="1" dirty="0"/>
          </a:p>
          <a:p>
            <a:pPr marL="342900" indent="-342900" eaLnBrk="1" hangingPunct="1"/>
            <a:r>
              <a:rPr lang="en-US" altLang="zh-CN" sz="2000" b="1" dirty="0">
                <a:sym typeface="Wingdings" pitchFamily="2" charset="2"/>
              </a:rPr>
              <a:t></a:t>
            </a:r>
            <a:r>
              <a:rPr lang="en-US" altLang="zh-CN" sz="2000" b="1" dirty="0">
                <a:solidFill>
                  <a:srgbClr val="0000CC"/>
                </a:solidFill>
                <a:sym typeface="Wingdings" pitchFamily="2" charset="2"/>
              </a:rPr>
              <a:t> </a:t>
            </a:r>
            <a:r>
              <a:rPr lang="en-US" altLang="zh-CN" sz="2000" b="1" dirty="0">
                <a:solidFill>
                  <a:srgbClr val="0000CC"/>
                </a:solidFill>
                <a:latin typeface="Arial" pitchFamily="34" charset="0"/>
              </a:rPr>
              <a:t>Position </a:t>
            </a:r>
            <a:r>
              <a:rPr lang="en-US" altLang="zh-CN" sz="2000" b="1" dirty="0" err="1">
                <a:solidFill>
                  <a:srgbClr val="0000CC"/>
                </a:solidFill>
                <a:latin typeface="Arial" pitchFamily="34" charset="0"/>
              </a:rPr>
              <a:t>FindMin</a:t>
            </a:r>
            <a:r>
              <a:rPr lang="en-US" altLang="zh-CN" sz="2000" b="1" dirty="0">
                <a:solidFill>
                  <a:srgbClr val="0000CC"/>
                </a:solidFill>
                <a:latin typeface="Arial" pitchFamily="34" charset="0"/>
              </a:rPr>
              <a:t>( </a:t>
            </a:r>
            <a:r>
              <a:rPr lang="en-US" altLang="zh-CN" sz="2000" b="1" dirty="0" err="1">
                <a:solidFill>
                  <a:srgbClr val="0000CC"/>
                </a:solidFill>
                <a:latin typeface="Arial" pitchFamily="34" charset="0"/>
              </a:rPr>
              <a:t>BinTree</a:t>
            </a:r>
            <a:r>
              <a:rPr lang="en-US" altLang="zh-CN" sz="2000" b="1" dirty="0">
                <a:solidFill>
                  <a:srgbClr val="0000CC"/>
                </a:solidFill>
                <a:latin typeface="Arial" pitchFamily="34" charset="0"/>
              </a:rPr>
              <a:t> BST )</a:t>
            </a:r>
            <a:r>
              <a:rPr lang="zh-CN" altLang="en-US" sz="2000" b="1" dirty="0"/>
              <a:t>：从二叉搜索树</a:t>
            </a:r>
            <a:r>
              <a:rPr lang="en-US" altLang="zh-CN" sz="2000" b="1" dirty="0"/>
              <a:t>BST</a:t>
            </a:r>
            <a:r>
              <a:rPr lang="zh-CN" altLang="en-US" sz="2000" b="1" dirty="0"/>
              <a:t>中查找并返回最小元素所在结点的地址</a:t>
            </a:r>
            <a:endParaRPr lang="en-US" altLang="zh-CN" sz="2000" b="1" dirty="0"/>
          </a:p>
          <a:p>
            <a:pPr marL="342900" indent="-342900" eaLnBrk="1" hangingPunct="1"/>
            <a:r>
              <a:rPr lang="en-US" altLang="zh-CN" sz="2000" b="1" dirty="0">
                <a:sym typeface="Wingdings" pitchFamily="2" charset="2"/>
              </a:rPr>
              <a:t> </a:t>
            </a:r>
            <a:r>
              <a:rPr lang="en-US" altLang="zh-CN" sz="2000" b="1" dirty="0">
                <a:solidFill>
                  <a:srgbClr val="0000CC"/>
                </a:solidFill>
                <a:latin typeface="Arial" pitchFamily="34" charset="0"/>
              </a:rPr>
              <a:t>Position </a:t>
            </a:r>
            <a:r>
              <a:rPr lang="en-US" altLang="zh-CN" sz="2000" b="1" dirty="0" err="1">
                <a:solidFill>
                  <a:srgbClr val="0000CC"/>
                </a:solidFill>
                <a:latin typeface="Arial" pitchFamily="34" charset="0"/>
              </a:rPr>
              <a:t>FindMax</a:t>
            </a:r>
            <a:r>
              <a:rPr lang="en-US" altLang="zh-CN" sz="2000" b="1" dirty="0">
                <a:solidFill>
                  <a:srgbClr val="0000CC"/>
                </a:solidFill>
                <a:latin typeface="Arial" pitchFamily="34" charset="0"/>
              </a:rPr>
              <a:t>( </a:t>
            </a:r>
            <a:r>
              <a:rPr lang="en-US" altLang="zh-CN" sz="2000" b="1" dirty="0" err="1">
                <a:solidFill>
                  <a:srgbClr val="0000CC"/>
                </a:solidFill>
                <a:latin typeface="Arial" pitchFamily="34" charset="0"/>
              </a:rPr>
              <a:t>BinTree</a:t>
            </a:r>
            <a:r>
              <a:rPr lang="en-US" altLang="zh-CN" sz="2000" b="1" dirty="0">
                <a:solidFill>
                  <a:srgbClr val="0000CC"/>
                </a:solidFill>
                <a:latin typeface="Arial" pitchFamily="34" charset="0"/>
              </a:rPr>
              <a:t> BST ) </a:t>
            </a:r>
            <a:r>
              <a:rPr lang="zh-CN" altLang="en-US" sz="2000" b="1" dirty="0"/>
              <a:t>：从二叉搜索树</a:t>
            </a:r>
            <a:r>
              <a:rPr lang="en-US" altLang="zh-CN" sz="2000" b="1" dirty="0"/>
              <a:t>BST</a:t>
            </a:r>
            <a:r>
              <a:rPr lang="zh-CN" altLang="en-US" sz="2000" b="1" dirty="0"/>
              <a:t>中查找并返回最大元素所在结点的地址</a:t>
            </a:r>
          </a:p>
        </p:txBody>
      </p:sp>
      <p:sp>
        <p:nvSpPr>
          <p:cNvPr id="7" name="矩形 6"/>
          <p:cNvSpPr>
            <a:spLocks noChangeArrowheads="1"/>
          </p:cNvSpPr>
          <p:nvPr/>
        </p:nvSpPr>
        <p:spPr bwMode="auto">
          <a:xfrm>
            <a:off x="571500" y="4500563"/>
            <a:ext cx="7643813"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fontAlgn="ctr" hangingPunct="1">
              <a:spcAft>
                <a:spcPct val="20000"/>
              </a:spcAft>
            </a:pPr>
            <a:r>
              <a:rPr lang="en-US" altLang="zh-CN" sz="2000" b="1" dirty="0">
                <a:sym typeface="Wingdings" pitchFamily="2" charset="2"/>
              </a:rPr>
              <a:t> </a:t>
            </a:r>
            <a:r>
              <a:rPr lang="en-US" altLang="zh-CN" sz="2000" b="1" dirty="0" err="1">
                <a:solidFill>
                  <a:srgbClr val="0000CC"/>
                </a:solidFill>
                <a:latin typeface="Arial" pitchFamily="34" charset="0"/>
              </a:rPr>
              <a:t>BinTree</a:t>
            </a:r>
            <a:r>
              <a:rPr lang="en-US" altLang="zh-CN" sz="2000" b="1" dirty="0">
                <a:solidFill>
                  <a:srgbClr val="0000CC"/>
                </a:solidFill>
                <a:latin typeface="Arial" pitchFamily="34" charset="0"/>
              </a:rPr>
              <a:t>  Insert( </a:t>
            </a:r>
            <a:r>
              <a:rPr lang="en-US" altLang="zh-CN" sz="2000" b="1" dirty="0" err="1">
                <a:solidFill>
                  <a:srgbClr val="0000CC"/>
                </a:solidFill>
                <a:latin typeface="Arial" pitchFamily="34" charset="0"/>
              </a:rPr>
              <a:t>ElementType</a:t>
            </a:r>
            <a:r>
              <a:rPr lang="en-US" altLang="zh-CN" sz="2000" b="1" dirty="0">
                <a:solidFill>
                  <a:srgbClr val="0000CC"/>
                </a:solidFill>
                <a:latin typeface="Arial" pitchFamily="34" charset="0"/>
              </a:rPr>
              <a:t> X, </a:t>
            </a:r>
            <a:r>
              <a:rPr lang="en-US" altLang="zh-CN" sz="2000" b="1" dirty="0" err="1">
                <a:solidFill>
                  <a:srgbClr val="0000CC"/>
                </a:solidFill>
                <a:latin typeface="Arial" pitchFamily="34" charset="0"/>
              </a:rPr>
              <a:t>BinTree</a:t>
            </a:r>
            <a:r>
              <a:rPr lang="en-US" altLang="zh-CN" sz="2000" b="1" dirty="0">
                <a:solidFill>
                  <a:srgbClr val="0000CC"/>
                </a:solidFill>
                <a:latin typeface="Arial" pitchFamily="34" charset="0"/>
              </a:rPr>
              <a:t> BST ) </a:t>
            </a:r>
          </a:p>
          <a:p>
            <a:pPr eaLnBrk="1" fontAlgn="ctr" hangingPunct="1">
              <a:spcAft>
                <a:spcPct val="20000"/>
              </a:spcAft>
            </a:pPr>
            <a:r>
              <a:rPr lang="en-US" altLang="zh-CN" sz="2000" b="1" dirty="0">
                <a:sym typeface="Wingdings" pitchFamily="2" charset="2"/>
              </a:rPr>
              <a:t> </a:t>
            </a:r>
            <a:r>
              <a:rPr lang="en-US" altLang="zh-CN" sz="2000" b="1" dirty="0" err="1">
                <a:solidFill>
                  <a:srgbClr val="0000CC"/>
                </a:solidFill>
                <a:latin typeface="Arial" pitchFamily="34" charset="0"/>
              </a:rPr>
              <a:t>BinTree</a:t>
            </a:r>
            <a:r>
              <a:rPr lang="en-US" altLang="zh-CN" sz="2000" b="1" dirty="0">
                <a:solidFill>
                  <a:srgbClr val="0000CC"/>
                </a:solidFill>
                <a:latin typeface="Arial" pitchFamily="34" charset="0"/>
              </a:rPr>
              <a:t>  Delete( </a:t>
            </a:r>
            <a:r>
              <a:rPr lang="en-US" altLang="zh-CN" sz="2000" b="1" dirty="0" err="1">
                <a:solidFill>
                  <a:srgbClr val="0000CC"/>
                </a:solidFill>
                <a:latin typeface="Arial" pitchFamily="34" charset="0"/>
              </a:rPr>
              <a:t>ElementType</a:t>
            </a:r>
            <a:r>
              <a:rPr lang="en-US" altLang="zh-CN" sz="2000" b="1" dirty="0">
                <a:solidFill>
                  <a:srgbClr val="0000CC"/>
                </a:solidFill>
                <a:latin typeface="Arial" pitchFamily="34" charset="0"/>
              </a:rPr>
              <a:t> X, </a:t>
            </a:r>
            <a:r>
              <a:rPr lang="en-US" altLang="zh-CN" sz="2000" b="1" dirty="0" err="1">
                <a:solidFill>
                  <a:srgbClr val="0000CC"/>
                </a:solidFill>
                <a:latin typeface="Arial" pitchFamily="34" charset="0"/>
              </a:rPr>
              <a:t>BinTree</a:t>
            </a:r>
            <a:r>
              <a:rPr lang="en-US" altLang="zh-CN" sz="2000" b="1" dirty="0">
                <a:solidFill>
                  <a:srgbClr val="0000CC"/>
                </a:solidFill>
                <a:latin typeface="Arial" pitchFamily="34" charset="0"/>
              </a:rPr>
              <a:t> BST ) </a:t>
            </a:r>
          </a:p>
        </p:txBody>
      </p:sp>
    </p:spTree>
    <p:extLst>
      <p:ext uri="{BB962C8B-B14F-4D97-AF65-F5344CB8AC3E}">
        <p14:creationId xmlns:p14="http://schemas.microsoft.com/office/powerpoint/2010/main" val="97350708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8" presetClass="entr" presetSubtype="6"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trips(downRight)">
                                      <p:cBhvr>
                                        <p:cTn id="7" dur="500"/>
                                        <p:tgtEl>
                                          <p:spTgt spid="3"/>
                                        </p:tgtEl>
                                      </p:cBhvr>
                                    </p:animEffect>
                                  </p:childTnLst>
                                </p:cTn>
                              </p:par>
                            </p:childTnLst>
                          </p:cTn>
                        </p:par>
                        <p:par>
                          <p:cTn id="8" fill="hold" nodeType="afterGroup">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strips(downRight)">
                                      <p:cBhvr>
                                        <p:cTn id="11" dur="500"/>
                                        <p:tgtEl>
                                          <p:spTgt spid="4"/>
                                        </p:tgtEl>
                                      </p:cBhvr>
                                    </p:animEffect>
                                  </p:childTnLst>
                                </p:cTn>
                              </p:par>
                            </p:childTnLst>
                          </p:cTn>
                        </p:par>
                        <p:par>
                          <p:cTn id="12" fill="hold" nodeType="afterGroup">
                            <p:stCondLst>
                              <p:cond delay="1000"/>
                            </p:stCondLst>
                            <p:childTnLst>
                              <p:par>
                                <p:cTn id="13" presetID="18" presetClass="entr" presetSubtype="6"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strips(downRight)">
                                      <p:cBhvr>
                                        <p:cTn id="1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7"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矩形 1"/>
          <p:cNvSpPr>
            <a:spLocks noChangeArrowheads="1"/>
          </p:cNvSpPr>
          <p:nvPr/>
        </p:nvSpPr>
        <p:spPr bwMode="auto">
          <a:xfrm>
            <a:off x="755576" y="272434"/>
            <a:ext cx="42449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400" b="1" dirty="0">
                <a:solidFill>
                  <a:schemeClr val="hlink"/>
                </a:solidFill>
                <a:latin typeface="Times New Roman" pitchFamily="18" charset="0"/>
                <a:sym typeface="Wingdings" pitchFamily="2" charset="2"/>
              </a:rPr>
              <a:t> </a:t>
            </a:r>
            <a:r>
              <a:rPr lang="zh-CN" altLang="en-US" sz="2400" b="1" dirty="0">
                <a:latin typeface="Times New Roman" pitchFamily="18" charset="0"/>
              </a:rPr>
              <a:t>二叉搜索树的</a:t>
            </a:r>
            <a:r>
              <a:rPr lang="zh-CN" altLang="en-US" sz="2400" b="1" dirty="0">
                <a:solidFill>
                  <a:srgbClr val="0000CC"/>
                </a:solidFill>
                <a:latin typeface="Times New Roman" pitchFamily="18" charset="0"/>
              </a:rPr>
              <a:t>查找操作</a:t>
            </a:r>
            <a:r>
              <a:rPr lang="en-US" altLang="zh-CN" sz="2400" b="1" dirty="0">
                <a:solidFill>
                  <a:srgbClr val="0000CC"/>
                </a:solidFill>
                <a:latin typeface="Times New Roman" pitchFamily="18" charset="0"/>
              </a:rPr>
              <a:t>Find</a:t>
            </a:r>
            <a:endParaRPr lang="zh-CN" altLang="en-US" sz="2400" b="1" dirty="0">
              <a:solidFill>
                <a:srgbClr val="0000CC"/>
              </a:solidFill>
              <a:latin typeface="Times New Roman" pitchFamily="18" charset="0"/>
            </a:endParaRPr>
          </a:p>
        </p:txBody>
      </p:sp>
      <p:sp>
        <p:nvSpPr>
          <p:cNvPr id="6" name="矩形 5"/>
          <p:cNvSpPr/>
          <p:nvPr/>
        </p:nvSpPr>
        <p:spPr>
          <a:xfrm>
            <a:off x="539552" y="979587"/>
            <a:ext cx="7678738" cy="3170099"/>
          </a:xfrm>
          <a:prstGeom prst="rect">
            <a:avLst/>
          </a:prstGeom>
        </p:spPr>
        <p:txBody>
          <a:bodyPr>
            <a:spAutoFit/>
          </a:bodyPr>
          <a:lstStyle/>
          <a:p>
            <a:pPr marL="342900" indent="-342900" eaLnBrk="1" fontAlgn="auto" hangingPunct="1">
              <a:spcBef>
                <a:spcPts val="0"/>
              </a:spcBef>
              <a:spcAft>
                <a:spcPts val="0"/>
              </a:spcAft>
              <a:buFont typeface="Wingdings" pitchFamily="2" charset="2"/>
              <a:buChar char="Ø"/>
              <a:defRPr/>
            </a:pPr>
            <a:r>
              <a:rPr lang="zh-CN" altLang="zh-CN" sz="2000" b="1" dirty="0">
                <a:latin typeface="+mn-lt"/>
                <a:ea typeface="+mn-ea"/>
              </a:rPr>
              <a:t>查找从根结点开始，如</a:t>
            </a:r>
            <a:r>
              <a:rPr lang="zh-CN" altLang="zh-CN" sz="2000" b="1" dirty="0">
                <a:solidFill>
                  <a:srgbClr val="0000CC"/>
                </a:solidFill>
                <a:latin typeface="+mn-lt"/>
                <a:ea typeface="+mn-ea"/>
              </a:rPr>
              <a:t>果树为空，返回</a:t>
            </a:r>
            <a:r>
              <a:rPr lang="en-US" altLang="zh-CN" sz="2000" b="1" dirty="0">
                <a:solidFill>
                  <a:srgbClr val="0000CC"/>
                </a:solidFill>
                <a:latin typeface="+mn-lt"/>
                <a:ea typeface="+mn-ea"/>
              </a:rPr>
              <a:t>NULL</a:t>
            </a:r>
            <a:r>
              <a:rPr lang="zh-CN" altLang="zh-CN" sz="2000" b="1" dirty="0">
                <a:latin typeface="+mn-lt"/>
                <a:ea typeface="+mn-ea"/>
              </a:rPr>
              <a:t>，表示未找到关键字为</a:t>
            </a:r>
            <a:r>
              <a:rPr lang="en-US" altLang="zh-CN" sz="2000" b="1" dirty="0">
                <a:latin typeface="+mn-lt"/>
                <a:ea typeface="+mn-ea"/>
              </a:rPr>
              <a:t>X</a:t>
            </a:r>
            <a:r>
              <a:rPr lang="zh-CN" altLang="zh-CN" sz="2000" b="1" dirty="0">
                <a:latin typeface="+mn-lt"/>
                <a:ea typeface="+mn-ea"/>
              </a:rPr>
              <a:t>的结点。</a:t>
            </a:r>
            <a:endParaRPr lang="en-US" altLang="zh-CN" sz="2000" b="1" dirty="0">
              <a:latin typeface="+mn-lt"/>
              <a:ea typeface="+mn-ea"/>
            </a:endParaRPr>
          </a:p>
          <a:p>
            <a:pPr marL="342900" indent="-342900" eaLnBrk="1" fontAlgn="auto" hangingPunct="1">
              <a:spcBef>
                <a:spcPts val="0"/>
              </a:spcBef>
              <a:spcAft>
                <a:spcPts val="0"/>
              </a:spcAft>
              <a:buFont typeface="Wingdings" pitchFamily="2" charset="2"/>
              <a:buChar char="Ø"/>
              <a:defRPr/>
            </a:pPr>
            <a:endParaRPr lang="en-US" altLang="zh-CN" sz="2000" b="1" dirty="0">
              <a:latin typeface="+mn-lt"/>
              <a:ea typeface="+mn-ea"/>
            </a:endParaRPr>
          </a:p>
          <a:p>
            <a:pPr marL="342900" indent="-342900" eaLnBrk="1" fontAlgn="auto" hangingPunct="1">
              <a:spcBef>
                <a:spcPts val="0"/>
              </a:spcBef>
              <a:spcAft>
                <a:spcPts val="0"/>
              </a:spcAft>
              <a:buFont typeface="Wingdings" pitchFamily="2" charset="2"/>
              <a:buChar char="Ø"/>
              <a:defRPr/>
            </a:pPr>
            <a:r>
              <a:rPr lang="zh-CN" altLang="en-US" sz="2000" b="1" dirty="0">
                <a:latin typeface="+mn-lt"/>
                <a:ea typeface="+mn-ea"/>
                <a:sym typeface="Wingdings" pitchFamily="2" charset="2"/>
              </a:rPr>
              <a:t>若</a:t>
            </a:r>
            <a:r>
              <a:rPr lang="zh-CN" altLang="zh-CN" sz="2000" b="1" dirty="0">
                <a:latin typeface="+mn-lt"/>
                <a:ea typeface="+mn-ea"/>
              </a:rPr>
              <a:t>搜索树非空，则根结点</a:t>
            </a:r>
            <a:r>
              <a:rPr lang="zh-CN" altLang="zh-CN" sz="2000" b="1" dirty="0">
                <a:solidFill>
                  <a:srgbClr val="0000CC"/>
                </a:solidFill>
                <a:latin typeface="+mn-lt"/>
                <a:ea typeface="+mn-ea"/>
              </a:rPr>
              <a:t>关键字和</a:t>
            </a:r>
            <a:r>
              <a:rPr lang="en-US" altLang="zh-CN" sz="2000" b="1" dirty="0">
                <a:solidFill>
                  <a:srgbClr val="0000CC"/>
                </a:solidFill>
                <a:latin typeface="+mn-lt"/>
                <a:ea typeface="+mn-ea"/>
              </a:rPr>
              <a:t>X</a:t>
            </a:r>
            <a:r>
              <a:rPr lang="zh-CN" altLang="zh-CN" sz="2000" b="1" dirty="0">
                <a:solidFill>
                  <a:srgbClr val="0000CC"/>
                </a:solidFill>
                <a:latin typeface="+mn-lt"/>
                <a:ea typeface="+mn-ea"/>
              </a:rPr>
              <a:t>进行比较</a:t>
            </a:r>
            <a:r>
              <a:rPr lang="zh-CN" altLang="zh-CN" sz="2000" b="1" dirty="0">
                <a:latin typeface="+mn-lt"/>
                <a:ea typeface="+mn-ea"/>
              </a:rPr>
              <a:t>，依据比较结果，需要进行不同的处理：</a:t>
            </a:r>
            <a:endParaRPr lang="en-US" altLang="zh-CN" sz="2000" b="1" dirty="0">
              <a:latin typeface="+mn-lt"/>
              <a:ea typeface="+mn-ea"/>
            </a:endParaRPr>
          </a:p>
          <a:p>
            <a:pPr marL="342900" indent="-342900" eaLnBrk="1" fontAlgn="auto" hangingPunct="1">
              <a:spcBef>
                <a:spcPts val="0"/>
              </a:spcBef>
              <a:spcAft>
                <a:spcPts val="0"/>
              </a:spcAft>
              <a:defRPr/>
            </a:pPr>
            <a:endParaRPr lang="zh-CN" altLang="zh-CN" sz="2000" b="1" dirty="0">
              <a:latin typeface="+mn-lt"/>
              <a:ea typeface="+mn-ea"/>
            </a:endParaRPr>
          </a:p>
          <a:p>
            <a:pPr eaLnBrk="1" fontAlgn="auto" hangingPunct="1">
              <a:spcBef>
                <a:spcPts val="0"/>
              </a:spcBef>
              <a:spcAft>
                <a:spcPts val="0"/>
              </a:spcAft>
              <a:defRPr/>
            </a:pPr>
            <a:r>
              <a:rPr lang="en-US" altLang="zh-CN" sz="2000" b="1" dirty="0">
                <a:latin typeface="+mn-lt"/>
                <a:ea typeface="+mn-ea"/>
                <a:sym typeface="Wingdings"/>
              </a:rPr>
              <a:t></a:t>
            </a:r>
            <a:r>
              <a:rPr lang="en-US" altLang="zh-CN" sz="2000" b="1" dirty="0">
                <a:latin typeface="+mn-lt"/>
                <a:ea typeface="+mn-ea"/>
              </a:rPr>
              <a:t> </a:t>
            </a:r>
            <a:r>
              <a:rPr lang="zh-CN" altLang="zh-CN" sz="2000" b="1" dirty="0">
                <a:latin typeface="+mn-lt"/>
                <a:ea typeface="+mn-ea"/>
              </a:rPr>
              <a:t>若</a:t>
            </a:r>
            <a:r>
              <a:rPr lang="zh-CN" altLang="zh-CN" sz="2000" b="1" dirty="0">
                <a:solidFill>
                  <a:srgbClr val="0000CC"/>
                </a:solidFill>
                <a:latin typeface="+mn-lt"/>
                <a:ea typeface="+mn-ea"/>
              </a:rPr>
              <a:t>根结点键</a:t>
            </a:r>
            <a:r>
              <a:rPr lang="zh-CN" altLang="en-US" sz="2000" b="1" dirty="0">
                <a:solidFill>
                  <a:srgbClr val="0000CC"/>
                </a:solidFill>
                <a:latin typeface="+mn-lt"/>
                <a:ea typeface="+mn-ea"/>
              </a:rPr>
              <a:t>值</a:t>
            </a:r>
            <a:r>
              <a:rPr lang="zh-CN" altLang="zh-CN" sz="2000" b="1" dirty="0">
                <a:solidFill>
                  <a:srgbClr val="0000CC"/>
                </a:solidFill>
                <a:latin typeface="+mn-lt"/>
                <a:ea typeface="+mn-ea"/>
              </a:rPr>
              <a:t>小于</a:t>
            </a:r>
            <a:r>
              <a:rPr lang="en-US" altLang="zh-CN" sz="2000" b="1" dirty="0">
                <a:solidFill>
                  <a:srgbClr val="0000CC"/>
                </a:solidFill>
                <a:latin typeface="+mn-lt"/>
                <a:ea typeface="+mn-ea"/>
              </a:rPr>
              <a:t>X</a:t>
            </a:r>
            <a:r>
              <a:rPr lang="zh-CN" altLang="zh-CN" sz="2000" b="1" dirty="0">
                <a:latin typeface="+mn-lt"/>
                <a:ea typeface="+mn-ea"/>
              </a:rPr>
              <a:t>，满足条件的结点将不会出现在它的左子树，接下来的搜索只需</a:t>
            </a:r>
            <a:r>
              <a:rPr lang="zh-CN" altLang="en-US" sz="2000" b="1" dirty="0">
                <a:latin typeface="+mn-lt"/>
                <a:ea typeface="+mn-ea"/>
              </a:rPr>
              <a:t>在</a:t>
            </a:r>
            <a:r>
              <a:rPr lang="zh-CN" altLang="zh-CN" sz="2000" b="1" dirty="0">
                <a:solidFill>
                  <a:srgbClr val="0000CC"/>
                </a:solidFill>
                <a:latin typeface="+mn-lt"/>
                <a:ea typeface="+mn-ea"/>
              </a:rPr>
              <a:t>右子树</a:t>
            </a:r>
            <a:r>
              <a:rPr lang="zh-CN" altLang="zh-CN" sz="2000" b="1" dirty="0">
                <a:latin typeface="+mn-lt"/>
                <a:ea typeface="+mn-ea"/>
              </a:rPr>
              <a:t>中进行；</a:t>
            </a:r>
          </a:p>
          <a:p>
            <a:pPr eaLnBrk="1" fontAlgn="auto" hangingPunct="1">
              <a:spcBef>
                <a:spcPts val="0"/>
              </a:spcBef>
              <a:spcAft>
                <a:spcPts val="0"/>
              </a:spcAft>
              <a:defRPr/>
            </a:pPr>
            <a:r>
              <a:rPr lang="en-US" altLang="zh-CN" sz="2000" b="1" dirty="0">
                <a:latin typeface="+mn-lt"/>
                <a:ea typeface="+mn-ea"/>
                <a:sym typeface="Wingdings"/>
              </a:rPr>
              <a:t></a:t>
            </a:r>
            <a:r>
              <a:rPr lang="en-US" altLang="zh-CN" sz="2000" b="1" dirty="0">
                <a:latin typeface="+mn-lt"/>
                <a:ea typeface="+mn-ea"/>
              </a:rPr>
              <a:t> </a:t>
            </a:r>
            <a:r>
              <a:rPr lang="zh-CN" altLang="zh-CN" sz="2000" b="1" dirty="0">
                <a:latin typeface="+mn-lt"/>
                <a:ea typeface="+mn-ea"/>
              </a:rPr>
              <a:t>如果</a:t>
            </a:r>
            <a:r>
              <a:rPr lang="zh-CN" altLang="zh-CN" sz="2000" b="1" dirty="0">
                <a:solidFill>
                  <a:srgbClr val="0000CC"/>
                </a:solidFill>
                <a:latin typeface="+mn-lt"/>
                <a:ea typeface="+mn-ea"/>
              </a:rPr>
              <a:t>根结点的键</a:t>
            </a:r>
            <a:r>
              <a:rPr lang="zh-CN" altLang="en-US" sz="2000" b="1" dirty="0">
                <a:solidFill>
                  <a:srgbClr val="0000CC"/>
                </a:solidFill>
                <a:latin typeface="+mn-lt"/>
                <a:ea typeface="+mn-ea"/>
              </a:rPr>
              <a:t>值</a:t>
            </a:r>
            <a:r>
              <a:rPr lang="zh-CN" altLang="zh-CN" sz="2000" b="1" dirty="0">
                <a:solidFill>
                  <a:srgbClr val="0000CC"/>
                </a:solidFill>
                <a:latin typeface="+mn-lt"/>
                <a:ea typeface="+mn-ea"/>
              </a:rPr>
              <a:t>大于</a:t>
            </a:r>
            <a:r>
              <a:rPr lang="en-US" altLang="zh-CN" sz="2000" b="1" dirty="0">
                <a:solidFill>
                  <a:srgbClr val="0000CC"/>
                </a:solidFill>
                <a:latin typeface="+mn-lt"/>
                <a:ea typeface="+mn-ea"/>
              </a:rPr>
              <a:t>X</a:t>
            </a:r>
            <a:r>
              <a:rPr lang="zh-CN" altLang="zh-CN" sz="2000" b="1" dirty="0">
                <a:latin typeface="+mn-lt"/>
                <a:ea typeface="+mn-ea"/>
              </a:rPr>
              <a:t>，接下来的搜索将</a:t>
            </a:r>
            <a:r>
              <a:rPr lang="zh-CN" altLang="en-US" sz="2000" b="1" dirty="0">
                <a:latin typeface="+mn-lt"/>
                <a:ea typeface="+mn-ea"/>
              </a:rPr>
              <a:t>在</a:t>
            </a:r>
            <a:r>
              <a:rPr lang="zh-CN" altLang="zh-CN" sz="2000" b="1" dirty="0">
                <a:latin typeface="+mn-lt"/>
                <a:ea typeface="+mn-ea"/>
              </a:rPr>
              <a:t>左子树中进行；</a:t>
            </a:r>
          </a:p>
          <a:p>
            <a:pPr eaLnBrk="1" fontAlgn="auto" hangingPunct="1">
              <a:spcBef>
                <a:spcPts val="0"/>
              </a:spcBef>
              <a:spcAft>
                <a:spcPts val="0"/>
              </a:spcAft>
              <a:defRPr/>
            </a:pPr>
            <a:r>
              <a:rPr lang="en-US" altLang="zh-CN" sz="2000" b="1" dirty="0">
                <a:latin typeface="+mn-lt"/>
                <a:ea typeface="+mn-ea"/>
                <a:sym typeface="Wingdings"/>
              </a:rPr>
              <a:t></a:t>
            </a:r>
            <a:r>
              <a:rPr lang="en-US" altLang="zh-CN" sz="2000" b="1" dirty="0">
                <a:latin typeface="+mn-lt"/>
                <a:ea typeface="+mn-ea"/>
              </a:rPr>
              <a:t> </a:t>
            </a:r>
            <a:r>
              <a:rPr lang="zh-CN" altLang="zh-CN" sz="2000" b="1" dirty="0">
                <a:latin typeface="+mn-lt"/>
                <a:ea typeface="+mn-ea"/>
              </a:rPr>
              <a:t>若两者比较结果是</a:t>
            </a:r>
            <a:r>
              <a:rPr lang="zh-CN" altLang="zh-CN" sz="2000" b="1" dirty="0">
                <a:solidFill>
                  <a:srgbClr val="0000CC"/>
                </a:solidFill>
                <a:latin typeface="+mn-lt"/>
                <a:ea typeface="+mn-ea"/>
              </a:rPr>
              <a:t>相等</a:t>
            </a:r>
            <a:r>
              <a:rPr lang="zh-CN" altLang="zh-CN" sz="2000" b="1" dirty="0">
                <a:latin typeface="+mn-lt"/>
                <a:ea typeface="+mn-ea"/>
              </a:rPr>
              <a:t>，搜索完成，返回指向此结点的指针。</a:t>
            </a:r>
          </a:p>
        </p:txBody>
      </p:sp>
      <p:sp>
        <p:nvSpPr>
          <p:cNvPr id="8" name="Text Box 2"/>
          <p:cNvSpPr txBox="1">
            <a:spLocks noChangeArrowheads="1"/>
          </p:cNvSpPr>
          <p:nvPr/>
        </p:nvSpPr>
        <p:spPr bwMode="auto">
          <a:xfrm>
            <a:off x="539552" y="1193900"/>
            <a:ext cx="8001000" cy="559274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Calibri" pitchFamily="34" charset="0"/>
                <a:ea typeface="宋体" pitchFamily="2" charset="-122"/>
              </a:defRPr>
            </a:lvl1pPr>
            <a:lvl2pPr>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lnSpc>
                <a:spcPct val="150000"/>
              </a:lnSpc>
            </a:pPr>
            <a:r>
              <a:rPr lang="en-US" altLang="zh-CN" sz="2000" b="1" dirty="0">
                <a:solidFill>
                  <a:srgbClr val="000000"/>
                </a:solidFill>
                <a:latin typeface="Courier New" pitchFamily="49" charset="0"/>
              </a:rPr>
              <a:t>Position </a:t>
            </a:r>
            <a:r>
              <a:rPr lang="en-US" altLang="zh-CN" sz="2000" b="1" dirty="0">
                <a:latin typeface="Courier New" pitchFamily="49" charset="0"/>
              </a:rPr>
              <a:t>Find</a:t>
            </a:r>
            <a:r>
              <a:rPr lang="en-US" altLang="zh-CN" sz="2000" b="1" dirty="0">
                <a:solidFill>
                  <a:srgbClr val="000000"/>
                </a:solidFill>
                <a:latin typeface="Courier New" pitchFamily="49" charset="0"/>
              </a:rPr>
              <a:t>( </a:t>
            </a:r>
            <a:r>
              <a:rPr lang="en-US" altLang="zh-CN" sz="2000" b="1" dirty="0" err="1">
                <a:solidFill>
                  <a:srgbClr val="000000"/>
                </a:solidFill>
                <a:latin typeface="Courier New" pitchFamily="49" charset="0"/>
              </a:rPr>
              <a:t>ElementType</a:t>
            </a:r>
            <a:r>
              <a:rPr lang="en-US" altLang="zh-CN" sz="2000" b="1" dirty="0">
                <a:solidFill>
                  <a:srgbClr val="000000"/>
                </a:solidFill>
                <a:latin typeface="Courier New" pitchFamily="49" charset="0"/>
              </a:rPr>
              <a:t> X, </a:t>
            </a:r>
            <a:r>
              <a:rPr lang="en-US" altLang="zh-CN" sz="2000" b="1" dirty="0" err="1">
                <a:solidFill>
                  <a:srgbClr val="000000"/>
                </a:solidFill>
                <a:latin typeface="Courier New" pitchFamily="49" charset="0"/>
              </a:rPr>
              <a:t>BinTree</a:t>
            </a:r>
            <a:r>
              <a:rPr lang="en-US" altLang="zh-CN" sz="2000" b="1" dirty="0">
                <a:solidFill>
                  <a:srgbClr val="000000"/>
                </a:solidFill>
                <a:latin typeface="Courier New" pitchFamily="49" charset="0"/>
              </a:rPr>
              <a:t> BST )</a:t>
            </a:r>
          </a:p>
          <a:p>
            <a:pPr algn="just" eaLnBrk="1" hangingPunct="1">
              <a:lnSpc>
                <a:spcPct val="150000"/>
              </a:lnSpc>
            </a:pPr>
            <a:r>
              <a:rPr lang="en-US" altLang="zh-CN" sz="2000" b="1" dirty="0">
                <a:latin typeface="Courier New" pitchFamily="49" charset="0"/>
              </a:rPr>
              <a:t>{</a:t>
            </a:r>
          </a:p>
          <a:p>
            <a:pPr lvl="1" algn="just" eaLnBrk="1" hangingPunct="1">
              <a:lnSpc>
                <a:spcPct val="150000"/>
              </a:lnSpc>
            </a:pPr>
            <a:r>
              <a:rPr lang="en-US" altLang="zh-CN" sz="2000" b="1" dirty="0">
                <a:solidFill>
                  <a:srgbClr val="0000CC"/>
                </a:solidFill>
                <a:latin typeface="Courier New" pitchFamily="49" charset="0"/>
              </a:rPr>
              <a:t>if</a:t>
            </a:r>
            <a:r>
              <a:rPr lang="en-US" altLang="zh-CN" sz="2000" b="1" dirty="0">
                <a:latin typeface="Courier New" pitchFamily="49" charset="0"/>
              </a:rPr>
              <a:t>( !</a:t>
            </a:r>
            <a:r>
              <a:rPr lang="en-US" altLang="zh-CN" sz="2000" b="1" dirty="0">
                <a:solidFill>
                  <a:srgbClr val="000000"/>
                </a:solidFill>
                <a:latin typeface="Courier New" pitchFamily="49" charset="0"/>
              </a:rPr>
              <a:t>BST</a:t>
            </a:r>
            <a:r>
              <a:rPr lang="en-US" altLang="zh-CN" sz="2000" b="1" dirty="0">
                <a:latin typeface="Courier New" pitchFamily="49" charset="0"/>
              </a:rPr>
              <a:t> ) </a:t>
            </a:r>
            <a:r>
              <a:rPr lang="en-US" altLang="zh-CN" sz="2000" b="1" dirty="0">
                <a:solidFill>
                  <a:srgbClr val="0000CC"/>
                </a:solidFill>
                <a:latin typeface="Courier New" pitchFamily="49" charset="0"/>
              </a:rPr>
              <a:t>return</a:t>
            </a:r>
            <a:r>
              <a:rPr lang="en-US" altLang="zh-CN" sz="2000" b="1" dirty="0">
                <a:latin typeface="Courier New" pitchFamily="49" charset="0"/>
              </a:rPr>
              <a:t> NULL; </a:t>
            </a:r>
            <a:r>
              <a:rPr lang="en-US" altLang="zh-CN" sz="2000" b="1" dirty="0">
                <a:solidFill>
                  <a:srgbClr val="B8B870"/>
                </a:solidFill>
                <a:latin typeface="Courier New" pitchFamily="49" charset="0"/>
              </a:rPr>
              <a:t>/*</a:t>
            </a:r>
            <a:r>
              <a:rPr lang="zh-CN" altLang="en-US" sz="2000" b="1" dirty="0">
                <a:solidFill>
                  <a:srgbClr val="B8B870"/>
                </a:solidFill>
                <a:latin typeface="Courier New" pitchFamily="49" charset="0"/>
              </a:rPr>
              <a:t>查找失败*</a:t>
            </a:r>
            <a:r>
              <a:rPr lang="en-US" altLang="zh-CN" sz="2000" b="1" dirty="0">
                <a:solidFill>
                  <a:srgbClr val="B8B870"/>
                </a:solidFill>
                <a:latin typeface="Courier New" pitchFamily="49" charset="0"/>
              </a:rPr>
              <a:t>/</a:t>
            </a:r>
          </a:p>
          <a:p>
            <a:pPr lvl="1" algn="just" eaLnBrk="1" hangingPunct="1">
              <a:lnSpc>
                <a:spcPct val="150000"/>
              </a:lnSpc>
            </a:pPr>
            <a:r>
              <a:rPr lang="en-US" altLang="zh-CN" sz="2000" b="1" dirty="0">
                <a:solidFill>
                  <a:srgbClr val="0000CC"/>
                </a:solidFill>
                <a:latin typeface="Courier New" pitchFamily="49" charset="0"/>
              </a:rPr>
              <a:t>if</a:t>
            </a:r>
            <a:r>
              <a:rPr lang="en-US" altLang="zh-CN" sz="2000" b="1" dirty="0">
                <a:latin typeface="Courier New" pitchFamily="49" charset="0"/>
              </a:rPr>
              <a:t>( X &gt; </a:t>
            </a:r>
            <a:r>
              <a:rPr lang="en-US" altLang="zh-CN" sz="2000" b="1" dirty="0">
                <a:solidFill>
                  <a:srgbClr val="000000"/>
                </a:solidFill>
                <a:latin typeface="Courier New" pitchFamily="49" charset="0"/>
              </a:rPr>
              <a:t>BST</a:t>
            </a:r>
            <a:r>
              <a:rPr lang="en-US" altLang="zh-CN" sz="2000" b="1" dirty="0">
                <a:latin typeface="Courier New" pitchFamily="49" charset="0"/>
              </a:rPr>
              <a:t>-&gt;Data ) </a:t>
            </a:r>
          </a:p>
          <a:p>
            <a:pPr lvl="1" algn="just" eaLnBrk="1" hangingPunct="1">
              <a:lnSpc>
                <a:spcPct val="150000"/>
              </a:lnSpc>
            </a:pPr>
            <a:r>
              <a:rPr lang="en-US" altLang="zh-CN" sz="2000" b="1" dirty="0">
                <a:latin typeface="Courier New" pitchFamily="49" charset="0"/>
              </a:rPr>
              <a:t>    </a:t>
            </a:r>
            <a:r>
              <a:rPr lang="en-US" altLang="zh-CN" sz="2000" b="1" dirty="0">
                <a:solidFill>
                  <a:srgbClr val="0000CC"/>
                </a:solidFill>
                <a:latin typeface="Courier New" pitchFamily="49" charset="0"/>
              </a:rPr>
              <a:t>return</a:t>
            </a:r>
            <a:r>
              <a:rPr lang="en-US" altLang="zh-CN" sz="2000" b="1" dirty="0">
                <a:latin typeface="Courier New" pitchFamily="49" charset="0"/>
              </a:rPr>
              <a:t> Find( X, </a:t>
            </a:r>
            <a:r>
              <a:rPr lang="en-US" altLang="zh-CN" sz="2000" b="1" dirty="0">
                <a:solidFill>
                  <a:srgbClr val="000000"/>
                </a:solidFill>
                <a:latin typeface="Courier New" pitchFamily="49" charset="0"/>
              </a:rPr>
              <a:t>BST</a:t>
            </a:r>
            <a:r>
              <a:rPr lang="en-US" altLang="zh-CN" sz="2000" b="1" dirty="0">
                <a:latin typeface="Courier New" pitchFamily="49" charset="0"/>
              </a:rPr>
              <a:t>-&gt;Right ); </a:t>
            </a:r>
            <a:r>
              <a:rPr lang="en-US" altLang="zh-CN" sz="2000" b="1" dirty="0">
                <a:solidFill>
                  <a:srgbClr val="B8B870"/>
                </a:solidFill>
                <a:latin typeface="Courier New" pitchFamily="49" charset="0"/>
              </a:rPr>
              <a:t>/*</a:t>
            </a:r>
            <a:r>
              <a:rPr lang="zh-CN" altLang="en-US" sz="2000" b="1" dirty="0">
                <a:solidFill>
                  <a:srgbClr val="B8B870"/>
                </a:solidFill>
                <a:latin typeface="Courier New" pitchFamily="49" charset="0"/>
              </a:rPr>
              <a:t>在右子树中继续查找*</a:t>
            </a:r>
            <a:r>
              <a:rPr lang="en-US" altLang="zh-CN" sz="2000" b="1" dirty="0">
                <a:solidFill>
                  <a:srgbClr val="B8B870"/>
                </a:solidFill>
                <a:latin typeface="Courier New" pitchFamily="49" charset="0"/>
              </a:rPr>
              <a:t>/</a:t>
            </a:r>
          </a:p>
          <a:p>
            <a:pPr lvl="1" algn="just" eaLnBrk="1" hangingPunct="1">
              <a:lnSpc>
                <a:spcPct val="150000"/>
              </a:lnSpc>
            </a:pPr>
            <a:r>
              <a:rPr lang="en-US" altLang="zh-CN" sz="2000" b="1" dirty="0">
                <a:solidFill>
                  <a:srgbClr val="0000CC"/>
                </a:solidFill>
                <a:latin typeface="Courier New" pitchFamily="49" charset="0"/>
              </a:rPr>
              <a:t>Else if</a:t>
            </a:r>
            <a:r>
              <a:rPr lang="en-US" altLang="zh-CN" sz="2000" b="1" dirty="0">
                <a:latin typeface="Courier New" pitchFamily="49" charset="0"/>
              </a:rPr>
              <a:t>( X &lt; </a:t>
            </a:r>
            <a:r>
              <a:rPr lang="en-US" altLang="zh-CN" sz="2000" b="1" dirty="0">
                <a:solidFill>
                  <a:srgbClr val="000000"/>
                </a:solidFill>
                <a:latin typeface="Courier New" pitchFamily="49" charset="0"/>
              </a:rPr>
              <a:t>BST</a:t>
            </a:r>
            <a:r>
              <a:rPr lang="en-US" altLang="zh-CN" sz="2000" b="1" dirty="0">
                <a:latin typeface="Courier New" pitchFamily="49" charset="0"/>
              </a:rPr>
              <a:t>-&gt;Data ) </a:t>
            </a:r>
          </a:p>
          <a:p>
            <a:pPr lvl="1" algn="just" eaLnBrk="1" hangingPunct="1">
              <a:lnSpc>
                <a:spcPct val="150000"/>
              </a:lnSpc>
            </a:pPr>
            <a:r>
              <a:rPr lang="en-US" altLang="zh-CN" sz="2000" b="1" dirty="0">
                <a:latin typeface="Courier New" pitchFamily="49" charset="0"/>
              </a:rPr>
              <a:t>    </a:t>
            </a:r>
            <a:r>
              <a:rPr lang="en-US" altLang="zh-CN" sz="2000" b="1" dirty="0">
                <a:solidFill>
                  <a:srgbClr val="0000CC"/>
                </a:solidFill>
                <a:latin typeface="Courier New" pitchFamily="49" charset="0"/>
              </a:rPr>
              <a:t>return</a:t>
            </a:r>
            <a:r>
              <a:rPr lang="en-US" altLang="zh-CN" sz="2000" b="1" dirty="0">
                <a:latin typeface="Courier New" pitchFamily="49" charset="0"/>
              </a:rPr>
              <a:t> Find( X, </a:t>
            </a:r>
            <a:r>
              <a:rPr lang="en-US" altLang="zh-CN" sz="2000" b="1" dirty="0">
                <a:solidFill>
                  <a:srgbClr val="000000"/>
                </a:solidFill>
                <a:latin typeface="Courier New" pitchFamily="49" charset="0"/>
              </a:rPr>
              <a:t>BST</a:t>
            </a:r>
            <a:r>
              <a:rPr lang="en-US" altLang="zh-CN" sz="2000" b="1" dirty="0">
                <a:latin typeface="Courier New" pitchFamily="49" charset="0"/>
              </a:rPr>
              <a:t>-&gt;Left ); </a:t>
            </a:r>
            <a:r>
              <a:rPr lang="en-US" altLang="zh-CN" sz="2000" b="1" dirty="0">
                <a:solidFill>
                  <a:srgbClr val="B8B870"/>
                </a:solidFill>
                <a:latin typeface="Courier New" pitchFamily="49" charset="0"/>
              </a:rPr>
              <a:t>/*</a:t>
            </a:r>
            <a:r>
              <a:rPr lang="zh-CN" altLang="en-US" sz="2000" b="1" dirty="0">
                <a:solidFill>
                  <a:srgbClr val="B8B870"/>
                </a:solidFill>
                <a:latin typeface="Courier New" pitchFamily="49" charset="0"/>
              </a:rPr>
              <a:t>在左子树中继续查找*</a:t>
            </a:r>
            <a:r>
              <a:rPr lang="en-US" altLang="zh-CN" sz="2000" b="1" dirty="0">
                <a:solidFill>
                  <a:srgbClr val="B8B870"/>
                </a:solidFill>
                <a:latin typeface="Courier New" pitchFamily="49" charset="0"/>
              </a:rPr>
              <a:t>/</a:t>
            </a:r>
          </a:p>
          <a:p>
            <a:pPr lvl="1" algn="just" eaLnBrk="1" hangingPunct="1">
              <a:lnSpc>
                <a:spcPct val="150000"/>
              </a:lnSpc>
            </a:pPr>
            <a:r>
              <a:rPr lang="en-US" altLang="zh-CN" sz="2000" b="1" dirty="0">
                <a:solidFill>
                  <a:srgbClr val="0000CC"/>
                </a:solidFill>
                <a:latin typeface="Courier New" pitchFamily="49" charset="0"/>
              </a:rPr>
              <a:t>else</a:t>
            </a:r>
            <a:r>
              <a:rPr lang="en-US" altLang="zh-CN" sz="2000" b="1" dirty="0">
                <a:latin typeface="Courier New" pitchFamily="49" charset="0"/>
              </a:rPr>
              <a:t> </a:t>
            </a:r>
            <a:r>
              <a:rPr lang="en-US" altLang="zh-CN" sz="2000" b="1" dirty="0">
                <a:solidFill>
                  <a:srgbClr val="B8B870"/>
                </a:solidFill>
                <a:latin typeface="Courier New" pitchFamily="49" charset="0"/>
              </a:rPr>
              <a:t>/* X == BST-&gt;Data */</a:t>
            </a:r>
          </a:p>
          <a:p>
            <a:pPr lvl="1" algn="just" eaLnBrk="1" hangingPunct="1">
              <a:lnSpc>
                <a:spcPct val="150000"/>
              </a:lnSpc>
            </a:pPr>
            <a:r>
              <a:rPr lang="en-US" altLang="zh-CN" sz="2000" b="1" dirty="0">
                <a:solidFill>
                  <a:srgbClr val="0000CC"/>
                </a:solidFill>
                <a:latin typeface="Courier New" pitchFamily="49" charset="0"/>
              </a:rPr>
              <a:t>    return</a:t>
            </a:r>
            <a:r>
              <a:rPr lang="en-US" altLang="zh-CN" sz="2000" b="1" dirty="0">
                <a:latin typeface="Courier New" pitchFamily="49" charset="0"/>
              </a:rPr>
              <a:t> BST; </a:t>
            </a:r>
            <a:r>
              <a:rPr lang="en-US" altLang="zh-CN" sz="2000" b="1" dirty="0">
                <a:solidFill>
                  <a:srgbClr val="B8B870"/>
                </a:solidFill>
                <a:latin typeface="Courier New" pitchFamily="49" charset="0"/>
              </a:rPr>
              <a:t>/*</a:t>
            </a:r>
            <a:r>
              <a:rPr lang="zh-CN" altLang="en-US" sz="2000" b="1" dirty="0">
                <a:solidFill>
                  <a:srgbClr val="B8B870"/>
                </a:solidFill>
                <a:latin typeface="Courier New" pitchFamily="49" charset="0"/>
              </a:rPr>
              <a:t>查找成功，返回找到的结点的地址*</a:t>
            </a:r>
            <a:r>
              <a:rPr lang="en-US" altLang="zh-CN" sz="2000" b="1" dirty="0">
                <a:solidFill>
                  <a:srgbClr val="B8B870"/>
                </a:solidFill>
                <a:latin typeface="Courier New" pitchFamily="49" charset="0"/>
              </a:rPr>
              <a:t>/</a:t>
            </a:r>
          </a:p>
          <a:p>
            <a:pPr algn="just" eaLnBrk="1" hangingPunct="1">
              <a:lnSpc>
                <a:spcPct val="150000"/>
              </a:lnSpc>
            </a:pPr>
            <a:r>
              <a:rPr lang="en-US" altLang="zh-CN" sz="2000" b="1" dirty="0">
                <a:latin typeface="Courier New" pitchFamily="49" charset="0"/>
              </a:rPr>
              <a:t>}</a:t>
            </a:r>
            <a:endParaRPr lang="zh-CN" altLang="zh-CN" sz="2000" b="1" dirty="0">
              <a:latin typeface="Arial" pitchFamily="34" charset="0"/>
            </a:endParaRPr>
          </a:p>
        </p:txBody>
      </p:sp>
      <p:sp>
        <p:nvSpPr>
          <p:cNvPr id="9" name="AutoShape 8"/>
          <p:cNvSpPr>
            <a:spLocks noChangeArrowheads="1"/>
          </p:cNvSpPr>
          <p:nvPr/>
        </p:nvSpPr>
        <p:spPr bwMode="auto">
          <a:xfrm>
            <a:off x="4159052" y="836712"/>
            <a:ext cx="2895600" cy="1176338"/>
          </a:xfrm>
          <a:prstGeom prst="wedgeEllipseCallout">
            <a:avLst>
              <a:gd name="adj1" fmla="val -120380"/>
              <a:gd name="adj2" fmla="val 61736"/>
            </a:avLst>
          </a:prstGeom>
          <a:gradFill rotWithShape="0">
            <a:gsLst>
              <a:gs pos="0">
                <a:srgbClr val="C0C0C0"/>
              </a:gs>
              <a:gs pos="100000">
                <a:srgbClr val="FFFFFF"/>
              </a:gs>
            </a:gsLst>
            <a:lin ang="18900000" scaled="1"/>
          </a:gradFill>
          <a:ln w="12700">
            <a:solidFill>
              <a:schemeClr val="tx1"/>
            </a:solidFill>
            <a:miter lim="800000"/>
            <a:headEnd/>
            <a:tailEnd/>
          </a:ln>
        </p:spPr>
        <p:txBody>
          <a:bodyPr wrap="none" lIns="36000" tIns="46800" rIns="36000" bIns="46800" anchor="ctr"/>
          <a:lstStyle/>
          <a:p>
            <a:pPr algn="ctr" eaLnBrk="1" hangingPunct="1"/>
            <a:r>
              <a:rPr lang="zh-CN" altLang="en-US" sz="2000">
                <a:latin typeface="Times New Roman" pitchFamily="18" charset="0"/>
              </a:rPr>
              <a:t>是否应当先考察空树？</a:t>
            </a:r>
            <a:endParaRPr lang="en-US" altLang="zh-CN" sz="2000">
              <a:latin typeface="Times New Roman" pitchFamily="18" charset="0"/>
            </a:endParaRPr>
          </a:p>
        </p:txBody>
      </p:sp>
      <p:grpSp>
        <p:nvGrpSpPr>
          <p:cNvPr id="10" name="组合 9"/>
          <p:cNvGrpSpPr>
            <a:grpSpLocks/>
          </p:cNvGrpSpPr>
          <p:nvPr/>
        </p:nvGrpSpPr>
        <p:grpSpPr bwMode="auto">
          <a:xfrm>
            <a:off x="2955727" y="1622525"/>
            <a:ext cx="4384675" cy="1651000"/>
            <a:chOff x="2987337" y="1285860"/>
            <a:chExt cx="4385007" cy="1650883"/>
          </a:xfrm>
        </p:grpSpPr>
        <p:sp>
          <p:nvSpPr>
            <p:cNvPr id="16394" name="AutoShape 10"/>
            <p:cNvSpPr>
              <a:spLocks noChangeArrowheads="1"/>
            </p:cNvSpPr>
            <p:nvPr/>
          </p:nvSpPr>
          <p:spPr bwMode="auto">
            <a:xfrm rot="-7525033">
              <a:off x="4051139" y="1665327"/>
              <a:ext cx="207614" cy="2335217"/>
            </a:xfrm>
            <a:prstGeom prst="triangle">
              <a:avLst>
                <a:gd name="adj" fmla="val 50000"/>
              </a:avLst>
            </a:prstGeom>
            <a:solidFill>
              <a:srgbClr val="DDDDDD"/>
            </a:solidFill>
            <a:ln w="12700">
              <a:solidFill>
                <a:schemeClr val="tx1"/>
              </a:solidFill>
              <a:miter lim="800000"/>
              <a:headEnd/>
              <a:tailEnd/>
            </a:ln>
          </p:spPr>
          <p:txBody>
            <a:bodyPr wrap="none" anchor="ctr"/>
            <a:lstStyle/>
            <a:p>
              <a:pPr eaLnBrk="1" hangingPunct="1"/>
              <a:endParaRPr lang="zh-CN" altLang="en-US" sz="2000">
                <a:latin typeface="Times New Roman" pitchFamily="18" charset="0"/>
              </a:endParaRPr>
            </a:p>
          </p:txBody>
        </p:sp>
        <p:sp>
          <p:nvSpPr>
            <p:cNvPr id="16395" name="AutoShape 9"/>
            <p:cNvSpPr>
              <a:spLocks noChangeArrowheads="1"/>
            </p:cNvSpPr>
            <p:nvPr/>
          </p:nvSpPr>
          <p:spPr bwMode="auto">
            <a:xfrm>
              <a:off x="4685165" y="1285860"/>
              <a:ext cx="2687179" cy="1317194"/>
            </a:xfrm>
            <a:prstGeom prst="wedgeEllipseCallout">
              <a:avLst>
                <a:gd name="adj1" fmla="val -107144"/>
                <a:gd name="adj2" fmla="val 53889"/>
              </a:avLst>
            </a:prstGeom>
            <a:gradFill rotWithShape="0">
              <a:gsLst>
                <a:gs pos="0">
                  <a:srgbClr val="C0C0C0"/>
                </a:gs>
                <a:gs pos="100000">
                  <a:srgbClr val="FFFFFF"/>
                </a:gs>
              </a:gsLst>
              <a:lin ang="18900000" scaled="1"/>
            </a:gradFill>
            <a:ln w="12700">
              <a:solidFill>
                <a:schemeClr val="tx1"/>
              </a:solidFill>
              <a:miter lim="800000"/>
              <a:headEnd/>
              <a:tailEnd/>
            </a:ln>
          </p:spPr>
          <p:txBody>
            <a:bodyPr wrap="none" lIns="36000" tIns="46800" rIns="36000" bIns="46800" anchor="ctr"/>
            <a:lstStyle/>
            <a:p>
              <a:pPr algn="ctr" eaLnBrk="1" hangingPunct="1"/>
              <a:r>
                <a:rPr lang="zh-CN" altLang="en-US" sz="2000">
                  <a:latin typeface="Times New Roman" pitchFamily="18" charset="0"/>
                  <a:sym typeface="Wingdings" pitchFamily="2" charset="2"/>
                </a:rPr>
                <a:t>都是“尾递归”</a:t>
              </a:r>
              <a:endParaRPr lang="en-US" altLang="zh-CN" sz="2000">
                <a:latin typeface="Times New Roman" pitchFamily="18" charset="0"/>
              </a:endParaRPr>
            </a:p>
          </p:txBody>
        </p:sp>
      </p:grpSp>
    </p:spTree>
    <p:extLst>
      <p:ext uri="{BB962C8B-B14F-4D97-AF65-F5344CB8AC3E}">
        <p14:creationId xmlns:p14="http://schemas.microsoft.com/office/powerpoint/2010/main" val="38105651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strips(downRight)">
                                      <p:cBhvr>
                                        <p:cTn id="7" dur="500"/>
                                        <p:tgtEl>
                                          <p:spTgt spid="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xit" presetSubtype="0" fill="hold" grpId="1" nodeType="clickEffect">
                                  <p:stCondLst>
                                    <p:cond delay="0"/>
                                  </p:stCondLst>
                                  <p:childTnLst>
                                    <p:animEffect transition="out" filter="dissolve">
                                      <p:cBhvr>
                                        <p:cTn id="11" dur="500"/>
                                        <p:tgtEl>
                                          <p:spTgt spid="6"/>
                                        </p:tgtEl>
                                      </p:cBhvr>
                                    </p:animEffect>
                                    <p:set>
                                      <p:cBhvr>
                                        <p:cTn id="12" dur="1" fill="hold">
                                          <p:stCondLst>
                                            <p:cond delay="499"/>
                                          </p:stCondLst>
                                        </p:cTn>
                                        <p:tgtEl>
                                          <p:spTgt spid="6"/>
                                        </p:tgtEl>
                                        <p:attrNameLst>
                                          <p:attrName>style.visibility</p:attrName>
                                        </p:attrNameLst>
                                      </p:cBhvr>
                                      <p:to>
                                        <p:strVal val="hidden"/>
                                      </p:to>
                                    </p:set>
                                  </p:childTnLst>
                                </p:cTn>
                              </p:par>
                            </p:childTnLst>
                          </p:cTn>
                        </p:par>
                        <p:par>
                          <p:cTn id="13" fill="hold" nodeType="afterGroup">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wipe(up)">
                                      <p:cBhvr>
                                        <p:cTn id="16" dur="500"/>
                                        <p:tgtEl>
                                          <p:spTgt spid="8"/>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8" presetClass="entr" presetSubtype="3"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strips(upRight)">
                                      <p:cBhvr>
                                        <p:cTn id="21" dur="500"/>
                                        <p:tgtEl>
                                          <p:spTgt spid="9"/>
                                        </p:tgtEl>
                                      </p:cBhvr>
                                    </p:animEffect>
                                  </p:childTnLst>
                                  <p:subTnLst>
                                    <p:set>
                                      <p:cBhvr override="childStyle">
                                        <p:cTn dur="1" fill="hold" display="0" masterRel="nextClick" afterEffect="1"/>
                                        <p:tgtEl>
                                          <p:spTgt spid="9"/>
                                        </p:tgtEl>
                                        <p:attrNameLst>
                                          <p:attrName>style.visibility</p:attrName>
                                        </p:attrNameLst>
                                      </p:cBhvr>
                                      <p:to>
                                        <p:strVal val="hidden"/>
                                      </p:to>
                                    </p:set>
                                  </p:sub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wipe(left)">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6" grpId="1"/>
      <p:bldP spid="8" grpId="0" animBg="1"/>
      <p:bldP spid="9" grpId="0" animBg="1" autoUpdateAnimBg="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2"/>
          <p:cNvSpPr txBox="1">
            <a:spLocks noChangeArrowheads="1"/>
          </p:cNvSpPr>
          <p:nvPr/>
        </p:nvSpPr>
        <p:spPr bwMode="auto">
          <a:xfrm>
            <a:off x="500062" y="2748984"/>
            <a:ext cx="8143875" cy="341632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just" eaLnBrk="1" hangingPunct="1"/>
            <a:r>
              <a:rPr lang="en-US" altLang="zh-CN" sz="1800" b="1" dirty="0">
                <a:latin typeface="Courier New" pitchFamily="49" charset="0"/>
              </a:rPr>
              <a:t>Position </a:t>
            </a:r>
            <a:r>
              <a:rPr lang="en-US" altLang="zh-CN" sz="1800" b="1" dirty="0" err="1">
                <a:latin typeface="Courier New" pitchFamily="49" charset="0"/>
              </a:rPr>
              <a:t>IterFind</a:t>
            </a:r>
            <a:r>
              <a:rPr lang="en-US" altLang="zh-CN" sz="1800" b="1" dirty="0">
                <a:latin typeface="Courier New" pitchFamily="49" charset="0"/>
              </a:rPr>
              <a:t>( </a:t>
            </a:r>
            <a:r>
              <a:rPr lang="en-US" altLang="zh-CN" sz="1800" b="1" dirty="0" err="1">
                <a:latin typeface="Courier New" pitchFamily="49" charset="0"/>
              </a:rPr>
              <a:t>ElementType</a:t>
            </a:r>
            <a:r>
              <a:rPr lang="en-US" altLang="zh-CN" sz="1800" b="1" dirty="0">
                <a:latin typeface="Courier New" pitchFamily="49" charset="0"/>
              </a:rPr>
              <a:t> X, </a:t>
            </a:r>
            <a:r>
              <a:rPr lang="en-US" altLang="zh-CN" sz="1800" b="1" dirty="0" err="1">
                <a:latin typeface="Courier New" pitchFamily="49" charset="0"/>
              </a:rPr>
              <a:t>BinTree</a:t>
            </a:r>
            <a:r>
              <a:rPr lang="en-US" altLang="zh-CN" sz="1800" b="1" dirty="0">
                <a:latin typeface="Courier New" pitchFamily="49" charset="0"/>
              </a:rPr>
              <a:t> BST )</a:t>
            </a:r>
          </a:p>
          <a:p>
            <a:pPr algn="just" eaLnBrk="1" hangingPunct="1"/>
            <a:r>
              <a:rPr lang="en-US" altLang="zh-CN" sz="1800" b="1" dirty="0">
                <a:latin typeface="Courier New" pitchFamily="49" charset="0"/>
              </a:rPr>
              <a:t>{</a:t>
            </a:r>
          </a:p>
          <a:p>
            <a:pPr algn="just" eaLnBrk="1" hangingPunct="1"/>
            <a:r>
              <a:rPr lang="en-US" altLang="zh-CN" sz="1800" b="1" dirty="0">
                <a:latin typeface="Courier New" pitchFamily="49" charset="0"/>
              </a:rPr>
              <a:t>    </a:t>
            </a:r>
            <a:r>
              <a:rPr lang="en-US" altLang="zh-CN" sz="1800" b="1" dirty="0">
                <a:solidFill>
                  <a:srgbClr val="0000CC"/>
                </a:solidFill>
                <a:latin typeface="Courier New" pitchFamily="49" charset="0"/>
              </a:rPr>
              <a:t>while</a:t>
            </a:r>
            <a:r>
              <a:rPr lang="en-US" altLang="zh-CN" sz="1800" b="1" dirty="0">
                <a:latin typeface="Courier New" pitchFamily="49" charset="0"/>
              </a:rPr>
              <a:t>( BST ) {</a:t>
            </a:r>
          </a:p>
          <a:p>
            <a:pPr algn="just" eaLnBrk="1" hangingPunct="1"/>
            <a:r>
              <a:rPr lang="en-US" altLang="zh-CN" sz="1800" b="1" dirty="0">
                <a:latin typeface="Courier New" pitchFamily="49" charset="0"/>
              </a:rPr>
              <a:t>        </a:t>
            </a:r>
            <a:r>
              <a:rPr lang="en-US" altLang="zh-CN" sz="1800" b="1" dirty="0">
                <a:solidFill>
                  <a:srgbClr val="0000CC"/>
                </a:solidFill>
                <a:latin typeface="Courier New" pitchFamily="49" charset="0"/>
              </a:rPr>
              <a:t>if</a:t>
            </a:r>
            <a:r>
              <a:rPr lang="en-US" altLang="zh-CN" sz="1800" b="1" dirty="0">
                <a:latin typeface="Courier New" pitchFamily="49" charset="0"/>
              </a:rPr>
              <a:t>( X &gt; BST-&gt;Data )</a:t>
            </a:r>
          </a:p>
          <a:p>
            <a:pPr algn="just" eaLnBrk="1" hangingPunct="1"/>
            <a:r>
              <a:rPr lang="en-US" altLang="zh-CN" sz="1800" b="1" dirty="0">
                <a:latin typeface="Courier New" pitchFamily="49" charset="0"/>
              </a:rPr>
              <a:t>	     BST = BST-&gt;Right; </a:t>
            </a:r>
            <a:r>
              <a:rPr lang="en-US" altLang="zh-CN" sz="1800" b="1" dirty="0">
                <a:solidFill>
                  <a:srgbClr val="B8B870"/>
                </a:solidFill>
                <a:latin typeface="Courier New" pitchFamily="49" charset="0"/>
              </a:rPr>
              <a:t>/*</a:t>
            </a:r>
            <a:r>
              <a:rPr lang="zh-CN" altLang="en-US" sz="1800" b="1" dirty="0">
                <a:solidFill>
                  <a:srgbClr val="B8B870"/>
                </a:solidFill>
                <a:latin typeface="Courier New" pitchFamily="49" charset="0"/>
              </a:rPr>
              <a:t>向右子树中移动，继续查找*</a:t>
            </a:r>
            <a:r>
              <a:rPr lang="en-US" altLang="zh-CN" sz="1800" b="1" dirty="0">
                <a:solidFill>
                  <a:srgbClr val="B8B870"/>
                </a:solidFill>
                <a:latin typeface="Courier New" pitchFamily="49" charset="0"/>
              </a:rPr>
              <a:t>/</a:t>
            </a:r>
          </a:p>
          <a:p>
            <a:pPr algn="just" eaLnBrk="1" hangingPunct="1"/>
            <a:r>
              <a:rPr lang="en-US" altLang="zh-CN" sz="1800" b="1" dirty="0">
                <a:latin typeface="Courier New" pitchFamily="49" charset="0"/>
              </a:rPr>
              <a:t>        </a:t>
            </a:r>
            <a:r>
              <a:rPr lang="en-US" altLang="zh-CN" sz="1800" b="1" dirty="0">
                <a:solidFill>
                  <a:srgbClr val="0000CC"/>
                </a:solidFill>
                <a:latin typeface="Courier New" pitchFamily="49" charset="0"/>
              </a:rPr>
              <a:t>else if</a:t>
            </a:r>
            <a:r>
              <a:rPr lang="en-US" altLang="zh-CN" sz="1800" b="1" dirty="0">
                <a:latin typeface="Courier New" pitchFamily="49" charset="0"/>
              </a:rPr>
              <a:t>( X &lt; BST-&gt;Data )</a:t>
            </a:r>
          </a:p>
          <a:p>
            <a:pPr algn="just" eaLnBrk="1" hangingPunct="1"/>
            <a:r>
              <a:rPr lang="en-US" altLang="zh-CN" sz="1800" b="1" dirty="0">
                <a:latin typeface="Courier New" pitchFamily="49" charset="0"/>
              </a:rPr>
              <a:t>	     BST = BST-&gt;Left;  </a:t>
            </a:r>
            <a:r>
              <a:rPr lang="en-US" altLang="zh-CN" sz="1800" b="1" dirty="0">
                <a:solidFill>
                  <a:srgbClr val="B8B870"/>
                </a:solidFill>
                <a:latin typeface="Courier New" pitchFamily="49" charset="0"/>
              </a:rPr>
              <a:t>/*</a:t>
            </a:r>
            <a:r>
              <a:rPr lang="zh-CN" altLang="en-US" sz="1800" b="1" dirty="0">
                <a:solidFill>
                  <a:srgbClr val="B8B870"/>
                </a:solidFill>
                <a:latin typeface="Courier New" pitchFamily="49" charset="0"/>
              </a:rPr>
              <a:t>向左子树中移动，继续查找*</a:t>
            </a:r>
            <a:r>
              <a:rPr lang="en-US" altLang="zh-CN" sz="1800" b="1" dirty="0">
                <a:solidFill>
                  <a:srgbClr val="B8B870"/>
                </a:solidFill>
                <a:latin typeface="Courier New" pitchFamily="49" charset="0"/>
              </a:rPr>
              <a:t>/</a:t>
            </a:r>
          </a:p>
          <a:p>
            <a:pPr algn="just" eaLnBrk="1" hangingPunct="1"/>
            <a:r>
              <a:rPr lang="en-US" altLang="zh-CN" sz="1800" b="1" dirty="0">
                <a:latin typeface="Courier New" pitchFamily="49" charset="0"/>
              </a:rPr>
              <a:t>        </a:t>
            </a:r>
            <a:r>
              <a:rPr lang="en-US" altLang="zh-CN" sz="1800" b="1" dirty="0">
                <a:solidFill>
                  <a:srgbClr val="0000CC"/>
                </a:solidFill>
                <a:latin typeface="Courier New" pitchFamily="49" charset="0"/>
              </a:rPr>
              <a:t>else</a:t>
            </a:r>
            <a:r>
              <a:rPr lang="en-US" altLang="zh-CN" sz="1800" b="1" dirty="0">
                <a:latin typeface="Courier New" pitchFamily="49" charset="0"/>
              </a:rPr>
              <a:t> </a:t>
            </a:r>
            <a:r>
              <a:rPr lang="en-US" altLang="zh-CN" sz="1800" b="1" dirty="0">
                <a:solidFill>
                  <a:srgbClr val="B8B870"/>
                </a:solidFill>
                <a:latin typeface="Courier New" pitchFamily="49" charset="0"/>
              </a:rPr>
              <a:t>/* X == BST-&gt;Data */</a:t>
            </a:r>
          </a:p>
          <a:p>
            <a:pPr algn="just" eaLnBrk="1" hangingPunct="1"/>
            <a:r>
              <a:rPr lang="en-US" altLang="zh-CN" sz="1800" b="1" dirty="0">
                <a:latin typeface="Courier New" pitchFamily="49" charset="0"/>
              </a:rPr>
              <a:t>            </a:t>
            </a:r>
            <a:r>
              <a:rPr lang="en-US" altLang="zh-CN" sz="1800" b="1" dirty="0">
                <a:solidFill>
                  <a:srgbClr val="0000CC"/>
                </a:solidFill>
                <a:latin typeface="Courier New" pitchFamily="49" charset="0"/>
              </a:rPr>
              <a:t>return</a:t>
            </a:r>
            <a:r>
              <a:rPr lang="en-US" altLang="zh-CN" sz="1800" b="1" dirty="0">
                <a:latin typeface="Courier New" pitchFamily="49" charset="0"/>
              </a:rPr>
              <a:t> BST; </a:t>
            </a:r>
            <a:r>
              <a:rPr lang="en-US" altLang="zh-CN" sz="1800" b="1" dirty="0">
                <a:solidFill>
                  <a:srgbClr val="B8B870"/>
                </a:solidFill>
                <a:latin typeface="Courier New" pitchFamily="49" charset="0"/>
              </a:rPr>
              <a:t>/*</a:t>
            </a:r>
            <a:r>
              <a:rPr lang="zh-CN" altLang="en-US" sz="1800" b="1" dirty="0">
                <a:solidFill>
                  <a:srgbClr val="B8B870"/>
                </a:solidFill>
                <a:latin typeface="Courier New" pitchFamily="49" charset="0"/>
              </a:rPr>
              <a:t>查找成功，返回找到的结点的地址*</a:t>
            </a:r>
            <a:r>
              <a:rPr lang="en-US" altLang="zh-CN" sz="1800" b="1" dirty="0">
                <a:solidFill>
                  <a:srgbClr val="B8B870"/>
                </a:solidFill>
                <a:latin typeface="Courier New" pitchFamily="49" charset="0"/>
              </a:rPr>
              <a:t>/</a:t>
            </a:r>
          </a:p>
          <a:p>
            <a:pPr algn="just" eaLnBrk="1" hangingPunct="1"/>
            <a:r>
              <a:rPr lang="en-US" altLang="zh-CN" sz="1800" b="1" dirty="0">
                <a:latin typeface="Courier New" pitchFamily="49" charset="0"/>
              </a:rPr>
              <a:t>    }</a:t>
            </a:r>
          </a:p>
          <a:p>
            <a:pPr algn="just" eaLnBrk="1" hangingPunct="1"/>
            <a:r>
              <a:rPr lang="en-US" altLang="zh-CN" sz="1800" b="1" dirty="0">
                <a:latin typeface="Courier New" pitchFamily="49" charset="0"/>
              </a:rPr>
              <a:t>    </a:t>
            </a:r>
            <a:r>
              <a:rPr lang="en-US" altLang="zh-CN" sz="1800" b="1" dirty="0">
                <a:solidFill>
                  <a:srgbClr val="0000CC"/>
                </a:solidFill>
                <a:latin typeface="Courier New" pitchFamily="49" charset="0"/>
              </a:rPr>
              <a:t>return</a:t>
            </a:r>
            <a:r>
              <a:rPr lang="en-US" altLang="zh-CN" sz="1800" b="1" dirty="0">
                <a:latin typeface="Courier New" pitchFamily="49" charset="0"/>
              </a:rPr>
              <a:t> NULL; </a:t>
            </a:r>
            <a:r>
              <a:rPr lang="en-US" altLang="zh-CN" sz="1800" b="1" dirty="0">
                <a:solidFill>
                  <a:srgbClr val="B8B870"/>
                </a:solidFill>
                <a:latin typeface="Courier New" pitchFamily="49" charset="0"/>
              </a:rPr>
              <a:t>/*</a:t>
            </a:r>
            <a:r>
              <a:rPr lang="zh-CN" altLang="en-US" sz="1800" b="1" dirty="0">
                <a:solidFill>
                  <a:srgbClr val="B8B870"/>
                </a:solidFill>
                <a:latin typeface="Courier New" pitchFamily="49" charset="0"/>
              </a:rPr>
              <a:t>查找失败*</a:t>
            </a:r>
            <a:r>
              <a:rPr lang="en-US" altLang="zh-CN" sz="1800" b="1" dirty="0">
                <a:solidFill>
                  <a:srgbClr val="B8B870"/>
                </a:solidFill>
                <a:latin typeface="Courier New" pitchFamily="49" charset="0"/>
              </a:rPr>
              <a:t>/</a:t>
            </a:r>
          </a:p>
          <a:p>
            <a:pPr algn="just" eaLnBrk="1" hangingPunct="1"/>
            <a:r>
              <a:rPr lang="en-US" altLang="zh-CN" sz="1800" b="1" dirty="0">
                <a:latin typeface="Courier New" pitchFamily="49" charset="0"/>
              </a:rPr>
              <a:t>}</a:t>
            </a:r>
            <a:endParaRPr lang="zh-CN" altLang="zh-CN" sz="1800" b="1" dirty="0">
              <a:latin typeface="Courier New" pitchFamily="49" charset="0"/>
            </a:endParaRPr>
          </a:p>
        </p:txBody>
      </p:sp>
      <p:sp>
        <p:nvSpPr>
          <p:cNvPr id="17412" name="矩形 2"/>
          <p:cNvSpPr>
            <a:spLocks noChangeArrowheads="1"/>
          </p:cNvSpPr>
          <p:nvPr/>
        </p:nvSpPr>
        <p:spPr bwMode="auto">
          <a:xfrm>
            <a:off x="492298" y="1093788"/>
            <a:ext cx="8035925" cy="1226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200000"/>
              </a:lnSpc>
            </a:pPr>
            <a:r>
              <a:rPr lang="en-US" altLang="zh-CN" sz="2000" b="1" dirty="0">
                <a:solidFill>
                  <a:srgbClr val="0000FF"/>
                </a:solidFill>
                <a:latin typeface="Times New Roman" pitchFamily="18" charset="0"/>
                <a:sym typeface="Wingdings" pitchFamily="2" charset="2"/>
              </a:rPr>
              <a:t> </a:t>
            </a:r>
            <a:r>
              <a:rPr lang="zh-CN" altLang="en-US" sz="2000" b="1" dirty="0">
                <a:latin typeface="Times New Roman" pitchFamily="18" charset="0"/>
              </a:rPr>
              <a:t>由于</a:t>
            </a:r>
            <a:r>
              <a:rPr lang="zh-CN" altLang="en-US" sz="2000" b="1" dirty="0">
                <a:solidFill>
                  <a:srgbClr val="0000CC"/>
                </a:solidFill>
                <a:latin typeface="Times New Roman" pitchFamily="18" charset="0"/>
              </a:rPr>
              <a:t>非递归函数</a:t>
            </a:r>
            <a:r>
              <a:rPr lang="zh-CN" altLang="en-US" sz="2000" b="1" dirty="0">
                <a:latin typeface="Times New Roman" pitchFamily="18" charset="0"/>
              </a:rPr>
              <a:t>的执行</a:t>
            </a:r>
            <a:r>
              <a:rPr lang="zh-CN" altLang="en-US" sz="2000" b="1" dirty="0">
                <a:solidFill>
                  <a:srgbClr val="0000CC"/>
                </a:solidFill>
                <a:latin typeface="Times New Roman" pitchFamily="18" charset="0"/>
              </a:rPr>
              <a:t>效率高</a:t>
            </a:r>
            <a:r>
              <a:rPr lang="zh-CN" altLang="en-US" sz="2000" b="1" dirty="0">
                <a:latin typeface="Times New Roman" pitchFamily="18" charset="0"/>
              </a:rPr>
              <a:t>，一般采用非递归的迭代来实现查找。</a:t>
            </a:r>
            <a:endParaRPr lang="en-US" altLang="zh-CN" sz="2000" b="1" dirty="0">
              <a:latin typeface="Times New Roman" pitchFamily="18" charset="0"/>
            </a:endParaRPr>
          </a:p>
          <a:p>
            <a:pPr eaLnBrk="1" hangingPunct="1">
              <a:lnSpc>
                <a:spcPct val="200000"/>
              </a:lnSpc>
            </a:pPr>
            <a:r>
              <a:rPr lang="en-US" altLang="zh-CN" sz="2000" b="1" dirty="0">
                <a:solidFill>
                  <a:srgbClr val="0000FF"/>
                </a:solidFill>
                <a:latin typeface="Times New Roman" pitchFamily="18" charset="0"/>
                <a:sym typeface="Wingdings" pitchFamily="2" charset="2"/>
              </a:rPr>
              <a:t> </a:t>
            </a:r>
            <a:r>
              <a:rPr lang="zh-CN" altLang="en-US" sz="2000" b="1" dirty="0">
                <a:latin typeface="Times New Roman" pitchFamily="18" charset="0"/>
              </a:rPr>
              <a:t>很容易将</a:t>
            </a:r>
            <a:r>
              <a:rPr lang="zh-CN" altLang="en-US" sz="2000" b="1" dirty="0">
                <a:solidFill>
                  <a:srgbClr val="0000CC"/>
                </a:solidFill>
                <a:latin typeface="Times New Roman" pitchFamily="18" charset="0"/>
                <a:sym typeface="Wingdings" pitchFamily="2" charset="2"/>
              </a:rPr>
              <a:t>“尾递归”</a:t>
            </a:r>
            <a:r>
              <a:rPr lang="zh-CN" altLang="en-US" sz="2000" b="1" dirty="0">
                <a:latin typeface="Times New Roman" pitchFamily="18" charset="0"/>
              </a:rPr>
              <a:t>函数改为</a:t>
            </a:r>
            <a:r>
              <a:rPr lang="zh-CN" altLang="en-US" sz="2000" b="1" dirty="0">
                <a:solidFill>
                  <a:srgbClr val="0000CC"/>
                </a:solidFill>
                <a:latin typeface="Times New Roman" pitchFamily="18" charset="0"/>
              </a:rPr>
              <a:t>迭代</a:t>
            </a:r>
            <a:r>
              <a:rPr lang="zh-CN" altLang="en-US" sz="2000" b="1" dirty="0">
                <a:latin typeface="Times New Roman" pitchFamily="18" charset="0"/>
              </a:rPr>
              <a:t>函数</a:t>
            </a:r>
          </a:p>
        </p:txBody>
      </p:sp>
      <p:sp>
        <p:nvSpPr>
          <p:cNvPr id="7" name="矩形 1"/>
          <p:cNvSpPr>
            <a:spLocks noChangeArrowheads="1"/>
          </p:cNvSpPr>
          <p:nvPr/>
        </p:nvSpPr>
        <p:spPr bwMode="auto">
          <a:xfrm>
            <a:off x="755576" y="272434"/>
            <a:ext cx="537839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400" b="1" dirty="0">
                <a:solidFill>
                  <a:schemeClr val="hlink"/>
                </a:solidFill>
                <a:latin typeface="Times New Roman" pitchFamily="18" charset="0"/>
                <a:sym typeface="Wingdings" pitchFamily="2" charset="2"/>
              </a:rPr>
              <a:t> </a:t>
            </a:r>
            <a:r>
              <a:rPr lang="zh-CN" altLang="en-US" sz="2400" b="1" dirty="0">
                <a:latin typeface="Times New Roman" pitchFamily="18" charset="0"/>
              </a:rPr>
              <a:t>二叉搜索树的</a:t>
            </a:r>
            <a:r>
              <a:rPr lang="zh-CN" altLang="en-US" sz="2400" b="1" dirty="0">
                <a:solidFill>
                  <a:srgbClr val="0000CC"/>
                </a:solidFill>
                <a:latin typeface="Times New Roman" pitchFamily="18" charset="0"/>
              </a:rPr>
              <a:t>查找操作</a:t>
            </a:r>
            <a:r>
              <a:rPr lang="en-US" altLang="zh-CN" sz="2400" b="1" dirty="0" smtClean="0">
                <a:solidFill>
                  <a:srgbClr val="0000CC"/>
                </a:solidFill>
                <a:latin typeface="Times New Roman" pitchFamily="18" charset="0"/>
              </a:rPr>
              <a:t>Find(</a:t>
            </a:r>
            <a:r>
              <a:rPr lang="zh-CN" altLang="en-US" sz="2400" b="1" dirty="0" smtClean="0">
                <a:solidFill>
                  <a:srgbClr val="0000CC"/>
                </a:solidFill>
                <a:latin typeface="Times New Roman" pitchFamily="18" charset="0"/>
              </a:rPr>
              <a:t>非递归</a:t>
            </a:r>
            <a:r>
              <a:rPr lang="en-US" altLang="zh-CN" sz="2400" b="1" dirty="0" smtClean="0">
                <a:solidFill>
                  <a:srgbClr val="0000CC"/>
                </a:solidFill>
                <a:latin typeface="Times New Roman" pitchFamily="18" charset="0"/>
              </a:rPr>
              <a:t>)</a:t>
            </a:r>
            <a:endParaRPr lang="zh-CN" altLang="en-US" sz="2400" b="1" dirty="0">
              <a:solidFill>
                <a:srgbClr val="0000CC"/>
              </a:solidFill>
              <a:latin typeface="Times New Roman" pitchFamily="18" charset="0"/>
            </a:endParaRPr>
          </a:p>
        </p:txBody>
      </p:sp>
    </p:spTree>
    <p:extLst>
      <p:ext uri="{BB962C8B-B14F-4D97-AF65-F5344CB8AC3E}">
        <p14:creationId xmlns:p14="http://schemas.microsoft.com/office/powerpoint/2010/main" val="235579894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trips(downRight)">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5" name="矩形 1"/>
          <p:cNvSpPr>
            <a:spLocks noChangeArrowheads="1"/>
          </p:cNvSpPr>
          <p:nvPr/>
        </p:nvSpPr>
        <p:spPr bwMode="auto">
          <a:xfrm>
            <a:off x="890925" y="228600"/>
            <a:ext cx="33194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400" b="1" dirty="0">
                <a:solidFill>
                  <a:schemeClr val="hlink"/>
                </a:solidFill>
                <a:latin typeface="Times New Roman" pitchFamily="18" charset="0"/>
                <a:sym typeface="Wingdings" pitchFamily="2" charset="2"/>
              </a:rPr>
              <a:t> </a:t>
            </a:r>
            <a:r>
              <a:rPr lang="zh-CN" altLang="en-US" sz="2400" b="1" dirty="0">
                <a:latin typeface="Times New Roman" pitchFamily="18" charset="0"/>
              </a:rPr>
              <a:t>查找最大和最小元素</a:t>
            </a:r>
          </a:p>
        </p:txBody>
      </p:sp>
      <p:sp>
        <p:nvSpPr>
          <p:cNvPr id="18437" name="矩形 7"/>
          <p:cNvSpPr>
            <a:spLocks noChangeArrowheads="1"/>
          </p:cNvSpPr>
          <p:nvPr/>
        </p:nvSpPr>
        <p:spPr bwMode="auto">
          <a:xfrm>
            <a:off x="785813" y="1143000"/>
            <a:ext cx="5355953" cy="1226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lnSpc>
                <a:spcPct val="200000"/>
              </a:lnSpc>
            </a:pPr>
            <a:r>
              <a:rPr lang="en-US" altLang="zh-CN" sz="2000" b="1" dirty="0">
                <a:solidFill>
                  <a:srgbClr val="0000FF"/>
                </a:solidFill>
                <a:latin typeface="Times New Roman" pitchFamily="18" charset="0"/>
                <a:sym typeface="Wingdings" pitchFamily="2" charset="2"/>
              </a:rPr>
              <a:t> </a:t>
            </a:r>
            <a:r>
              <a:rPr lang="zh-CN" altLang="zh-CN" sz="2000" b="1" dirty="0">
                <a:solidFill>
                  <a:srgbClr val="0000CC"/>
                </a:solidFill>
                <a:latin typeface="Times New Roman" pitchFamily="18" charset="0"/>
              </a:rPr>
              <a:t>最大元素</a:t>
            </a:r>
            <a:r>
              <a:rPr lang="zh-CN" altLang="zh-CN" sz="2000" b="1" dirty="0">
                <a:latin typeface="Times New Roman" pitchFamily="18" charset="0"/>
              </a:rPr>
              <a:t>一定是在</a:t>
            </a:r>
            <a:r>
              <a:rPr lang="zh-CN" altLang="en-US" sz="2000" b="1" dirty="0">
                <a:latin typeface="Times New Roman" pitchFamily="18" charset="0"/>
              </a:rPr>
              <a:t>树的</a:t>
            </a:r>
            <a:r>
              <a:rPr lang="zh-CN" altLang="zh-CN" sz="2000" b="1" dirty="0">
                <a:solidFill>
                  <a:srgbClr val="0000CC"/>
                </a:solidFill>
                <a:latin typeface="Times New Roman" pitchFamily="18" charset="0"/>
              </a:rPr>
              <a:t>最右分枝的端结点</a:t>
            </a:r>
            <a:r>
              <a:rPr lang="zh-CN" altLang="zh-CN" sz="2000" b="1" dirty="0">
                <a:latin typeface="Times New Roman" pitchFamily="18" charset="0"/>
              </a:rPr>
              <a:t>上</a:t>
            </a:r>
            <a:endParaRPr lang="en-US" altLang="zh-CN" sz="2000" b="1" dirty="0">
              <a:latin typeface="Times New Roman" pitchFamily="18" charset="0"/>
            </a:endParaRPr>
          </a:p>
          <a:p>
            <a:pPr eaLnBrk="1" hangingPunct="1">
              <a:lnSpc>
                <a:spcPct val="200000"/>
              </a:lnSpc>
            </a:pPr>
            <a:r>
              <a:rPr lang="en-US" altLang="zh-CN" sz="2000" b="1" dirty="0">
                <a:solidFill>
                  <a:srgbClr val="0000FF"/>
                </a:solidFill>
                <a:latin typeface="Times New Roman" pitchFamily="18" charset="0"/>
                <a:sym typeface="Wingdings" pitchFamily="2" charset="2"/>
              </a:rPr>
              <a:t> </a:t>
            </a:r>
            <a:r>
              <a:rPr lang="zh-CN" altLang="en-US" sz="2000" b="1" dirty="0">
                <a:solidFill>
                  <a:srgbClr val="0000CC"/>
                </a:solidFill>
                <a:latin typeface="Times New Roman" pitchFamily="18" charset="0"/>
              </a:rPr>
              <a:t>最小元素</a:t>
            </a:r>
            <a:r>
              <a:rPr lang="zh-CN" altLang="en-US" sz="2000" b="1" dirty="0">
                <a:latin typeface="Times New Roman" pitchFamily="18" charset="0"/>
              </a:rPr>
              <a:t>一定是在树的</a:t>
            </a:r>
            <a:r>
              <a:rPr lang="zh-CN" altLang="en-US" sz="2000" b="1" dirty="0">
                <a:solidFill>
                  <a:srgbClr val="0000CC"/>
                </a:solidFill>
                <a:latin typeface="Times New Roman" pitchFamily="18" charset="0"/>
              </a:rPr>
              <a:t>最左分枝的端结点</a:t>
            </a:r>
            <a:r>
              <a:rPr lang="zh-CN" altLang="en-US" sz="2000" b="1" dirty="0">
                <a:latin typeface="Times New Roman" pitchFamily="18" charset="0"/>
              </a:rPr>
              <a:t>上</a:t>
            </a:r>
          </a:p>
        </p:txBody>
      </p:sp>
      <p:sp>
        <p:nvSpPr>
          <p:cNvPr id="18438" name="Rectangle 26"/>
          <p:cNvSpPr>
            <a:spLocks noChangeArrowheads="1"/>
          </p:cNvSpPr>
          <p:nvPr/>
        </p:nvSpPr>
        <p:spPr bwMode="auto">
          <a:xfrm>
            <a:off x="0" y="0"/>
            <a:ext cx="9144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eaLnBrk="1" hangingPunct="1"/>
            <a:endParaRPr lang="zh-CN" altLang="en-US">
              <a:latin typeface="Times New Roman" pitchFamily="18" charset="0"/>
            </a:endParaRPr>
          </a:p>
        </p:txBody>
      </p:sp>
      <p:grpSp>
        <p:nvGrpSpPr>
          <p:cNvPr id="18439" name="Group 1"/>
          <p:cNvGrpSpPr>
            <a:grpSpLocks/>
          </p:cNvGrpSpPr>
          <p:nvPr/>
        </p:nvGrpSpPr>
        <p:grpSpPr bwMode="auto">
          <a:xfrm>
            <a:off x="1000125" y="3185451"/>
            <a:ext cx="7000875" cy="2873375"/>
            <a:chOff x="3291" y="5512"/>
            <a:chExt cx="4958" cy="1951"/>
          </a:xfrm>
        </p:grpSpPr>
        <p:sp>
          <p:nvSpPr>
            <p:cNvPr id="18442" name="Oval 25"/>
            <p:cNvSpPr>
              <a:spLocks noChangeArrowheads="1"/>
            </p:cNvSpPr>
            <p:nvPr/>
          </p:nvSpPr>
          <p:spPr bwMode="auto">
            <a:xfrm>
              <a:off x="5379" y="5512"/>
              <a:ext cx="371" cy="358"/>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18443" name="Text Box 24"/>
            <p:cNvSpPr txBox="1">
              <a:spLocks noChangeArrowheads="1"/>
            </p:cNvSpPr>
            <p:nvPr/>
          </p:nvSpPr>
          <p:spPr bwMode="auto">
            <a:xfrm>
              <a:off x="5458" y="5552"/>
              <a:ext cx="204" cy="20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800" b="1">
                  <a:latin typeface="Arial" pitchFamily="34" charset="0"/>
                  <a:cs typeface="Arial" pitchFamily="34" charset="0"/>
                </a:rPr>
                <a:t>18</a:t>
              </a:r>
              <a:endParaRPr lang="en-US" altLang="zh-CN" sz="1800" b="1">
                <a:latin typeface="Arial" pitchFamily="34" charset="0"/>
              </a:endParaRPr>
            </a:p>
          </p:txBody>
        </p:sp>
        <p:sp>
          <p:nvSpPr>
            <p:cNvPr id="18444" name="Oval 23"/>
            <p:cNvSpPr>
              <a:spLocks noChangeArrowheads="1"/>
            </p:cNvSpPr>
            <p:nvPr/>
          </p:nvSpPr>
          <p:spPr bwMode="auto">
            <a:xfrm>
              <a:off x="4944" y="6011"/>
              <a:ext cx="371" cy="358"/>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18445" name="Text Box 22"/>
            <p:cNvSpPr txBox="1">
              <a:spLocks noChangeArrowheads="1"/>
            </p:cNvSpPr>
            <p:nvPr/>
          </p:nvSpPr>
          <p:spPr bwMode="auto">
            <a:xfrm>
              <a:off x="5038" y="6066"/>
              <a:ext cx="204" cy="20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800" b="1" dirty="0">
                  <a:latin typeface="Arial" pitchFamily="34" charset="0"/>
                  <a:cs typeface="Arial" pitchFamily="34" charset="0"/>
                </a:rPr>
                <a:t>10</a:t>
              </a:r>
              <a:endParaRPr lang="en-US" altLang="zh-CN" sz="1800" b="1" dirty="0">
                <a:latin typeface="Arial" pitchFamily="34" charset="0"/>
              </a:endParaRPr>
            </a:p>
          </p:txBody>
        </p:sp>
        <p:sp>
          <p:nvSpPr>
            <p:cNvPr id="18446" name="Oval 21"/>
            <p:cNvSpPr>
              <a:spLocks noChangeArrowheads="1"/>
            </p:cNvSpPr>
            <p:nvPr/>
          </p:nvSpPr>
          <p:spPr bwMode="auto">
            <a:xfrm>
              <a:off x="5356" y="6520"/>
              <a:ext cx="371" cy="358"/>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18447" name="Text Box 20"/>
            <p:cNvSpPr txBox="1">
              <a:spLocks noChangeArrowheads="1"/>
            </p:cNvSpPr>
            <p:nvPr/>
          </p:nvSpPr>
          <p:spPr bwMode="auto">
            <a:xfrm>
              <a:off x="5450" y="6575"/>
              <a:ext cx="204" cy="20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800" b="1">
                  <a:latin typeface="Arial" pitchFamily="34" charset="0"/>
                  <a:cs typeface="Arial" pitchFamily="34" charset="0"/>
                </a:rPr>
                <a:t>15</a:t>
              </a:r>
              <a:endParaRPr lang="en-US" altLang="zh-CN" sz="1800" b="1">
                <a:latin typeface="Arial" pitchFamily="34" charset="0"/>
              </a:endParaRPr>
            </a:p>
          </p:txBody>
        </p:sp>
        <p:sp>
          <p:nvSpPr>
            <p:cNvPr id="18448" name="Oval 19"/>
            <p:cNvSpPr>
              <a:spLocks noChangeArrowheads="1"/>
            </p:cNvSpPr>
            <p:nvPr/>
          </p:nvSpPr>
          <p:spPr bwMode="auto">
            <a:xfrm>
              <a:off x="5911" y="6016"/>
              <a:ext cx="371" cy="358"/>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18449" name="Text Box 18"/>
            <p:cNvSpPr txBox="1">
              <a:spLocks noChangeArrowheads="1"/>
            </p:cNvSpPr>
            <p:nvPr/>
          </p:nvSpPr>
          <p:spPr bwMode="auto">
            <a:xfrm>
              <a:off x="6005" y="6071"/>
              <a:ext cx="204" cy="20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800" b="1">
                  <a:latin typeface="Arial" pitchFamily="34" charset="0"/>
                  <a:cs typeface="Arial" pitchFamily="34" charset="0"/>
                </a:rPr>
                <a:t>20</a:t>
              </a:r>
              <a:endParaRPr lang="en-US" altLang="zh-CN" sz="1800" b="1">
                <a:latin typeface="Arial" pitchFamily="34" charset="0"/>
              </a:endParaRPr>
            </a:p>
          </p:txBody>
        </p:sp>
        <p:sp>
          <p:nvSpPr>
            <p:cNvPr id="18450" name="Oval 17"/>
            <p:cNvSpPr>
              <a:spLocks noChangeArrowheads="1"/>
            </p:cNvSpPr>
            <p:nvPr/>
          </p:nvSpPr>
          <p:spPr bwMode="auto">
            <a:xfrm>
              <a:off x="4606" y="6550"/>
              <a:ext cx="371" cy="358"/>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18451" name="Text Box 16"/>
            <p:cNvSpPr txBox="1">
              <a:spLocks noChangeArrowheads="1"/>
            </p:cNvSpPr>
            <p:nvPr/>
          </p:nvSpPr>
          <p:spPr bwMode="auto">
            <a:xfrm>
              <a:off x="4700" y="6605"/>
              <a:ext cx="204" cy="20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800" b="1">
                  <a:latin typeface="Arial" pitchFamily="34" charset="0"/>
                  <a:cs typeface="Arial" pitchFamily="34" charset="0"/>
                </a:rPr>
                <a:t>7</a:t>
              </a:r>
              <a:endParaRPr lang="en-US" altLang="zh-CN" sz="1800" b="1">
                <a:latin typeface="Arial" pitchFamily="34" charset="0"/>
              </a:endParaRPr>
            </a:p>
          </p:txBody>
        </p:sp>
        <p:sp>
          <p:nvSpPr>
            <p:cNvPr id="18452" name="Line 15"/>
            <p:cNvSpPr>
              <a:spLocks noChangeShapeType="1"/>
            </p:cNvSpPr>
            <p:nvPr/>
          </p:nvSpPr>
          <p:spPr bwMode="auto">
            <a:xfrm flipH="1">
              <a:off x="5210" y="5825"/>
              <a:ext cx="225" cy="2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18453" name="Line 14"/>
            <p:cNvSpPr>
              <a:spLocks noChangeShapeType="1"/>
            </p:cNvSpPr>
            <p:nvPr/>
          </p:nvSpPr>
          <p:spPr bwMode="auto">
            <a:xfrm flipH="1">
              <a:off x="4775" y="6338"/>
              <a:ext cx="225" cy="2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18454" name="Line 13"/>
            <p:cNvSpPr>
              <a:spLocks noChangeShapeType="1"/>
            </p:cNvSpPr>
            <p:nvPr/>
          </p:nvSpPr>
          <p:spPr bwMode="auto">
            <a:xfrm>
              <a:off x="5270" y="6323"/>
              <a:ext cx="225" cy="2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18455" name="Line 12"/>
            <p:cNvSpPr>
              <a:spLocks noChangeShapeType="1"/>
            </p:cNvSpPr>
            <p:nvPr/>
          </p:nvSpPr>
          <p:spPr bwMode="auto">
            <a:xfrm>
              <a:off x="5705" y="5813"/>
              <a:ext cx="283" cy="2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18456" name="Line 11"/>
            <p:cNvSpPr>
              <a:spLocks noChangeShapeType="1"/>
            </p:cNvSpPr>
            <p:nvPr/>
          </p:nvSpPr>
          <p:spPr bwMode="auto">
            <a:xfrm>
              <a:off x="6237" y="6308"/>
              <a:ext cx="225" cy="2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18457" name="Oval 10"/>
            <p:cNvSpPr>
              <a:spLocks noChangeArrowheads="1"/>
            </p:cNvSpPr>
            <p:nvPr/>
          </p:nvSpPr>
          <p:spPr bwMode="auto">
            <a:xfrm>
              <a:off x="6383" y="6424"/>
              <a:ext cx="371" cy="358"/>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18458" name="Text Box 9"/>
            <p:cNvSpPr txBox="1">
              <a:spLocks noChangeArrowheads="1"/>
            </p:cNvSpPr>
            <p:nvPr/>
          </p:nvSpPr>
          <p:spPr bwMode="auto">
            <a:xfrm>
              <a:off x="6462" y="6524"/>
              <a:ext cx="204" cy="20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800" b="1">
                  <a:latin typeface="Arial" pitchFamily="34" charset="0"/>
                  <a:cs typeface="Arial" pitchFamily="34" charset="0"/>
                </a:rPr>
                <a:t>22</a:t>
              </a:r>
              <a:endParaRPr lang="en-US" altLang="zh-CN" sz="1800" b="1">
                <a:latin typeface="Arial" pitchFamily="34" charset="0"/>
              </a:endParaRPr>
            </a:p>
          </p:txBody>
        </p:sp>
        <p:sp>
          <p:nvSpPr>
            <p:cNvPr id="18459" name="Oval 8"/>
            <p:cNvSpPr>
              <a:spLocks noChangeArrowheads="1"/>
            </p:cNvSpPr>
            <p:nvPr/>
          </p:nvSpPr>
          <p:spPr bwMode="auto">
            <a:xfrm>
              <a:off x="4944" y="7105"/>
              <a:ext cx="371" cy="358"/>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18460" name="Text Box 7"/>
            <p:cNvSpPr txBox="1">
              <a:spLocks noChangeArrowheads="1"/>
            </p:cNvSpPr>
            <p:nvPr/>
          </p:nvSpPr>
          <p:spPr bwMode="auto">
            <a:xfrm>
              <a:off x="5038" y="7160"/>
              <a:ext cx="204" cy="20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800" b="1">
                  <a:latin typeface="Arial" pitchFamily="34" charset="0"/>
                  <a:cs typeface="Arial" pitchFamily="34" charset="0"/>
                </a:rPr>
                <a:t>9</a:t>
              </a:r>
              <a:endParaRPr lang="en-US" altLang="zh-CN" sz="1800" b="1">
                <a:latin typeface="Arial" pitchFamily="34" charset="0"/>
              </a:endParaRPr>
            </a:p>
          </p:txBody>
        </p:sp>
        <p:sp>
          <p:nvSpPr>
            <p:cNvPr id="18461" name="Line 6"/>
            <p:cNvSpPr>
              <a:spLocks noChangeShapeType="1"/>
            </p:cNvSpPr>
            <p:nvPr/>
          </p:nvSpPr>
          <p:spPr bwMode="auto">
            <a:xfrm>
              <a:off x="4858" y="6908"/>
              <a:ext cx="225" cy="2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18462" name="Text Box 5"/>
            <p:cNvSpPr txBox="1">
              <a:spLocks noChangeArrowheads="1"/>
            </p:cNvSpPr>
            <p:nvPr/>
          </p:nvSpPr>
          <p:spPr bwMode="auto">
            <a:xfrm>
              <a:off x="3291" y="6518"/>
              <a:ext cx="923" cy="41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zh-CN" altLang="en-US" sz="1800" b="1" dirty="0">
                  <a:ea typeface="仿宋" pitchFamily="49" charset="-122"/>
                  <a:cs typeface="Calibri" pitchFamily="34" charset="0"/>
                </a:rPr>
                <a:t>最左端点</a:t>
              </a:r>
              <a:endParaRPr lang="zh-CN" altLang="en-US" sz="1800" b="1" dirty="0">
                <a:latin typeface="Arial" pitchFamily="34" charset="0"/>
                <a:ea typeface="仿宋" pitchFamily="49" charset="-122"/>
                <a:cs typeface="Calibri" pitchFamily="34" charset="0"/>
              </a:endParaRPr>
            </a:p>
          </p:txBody>
        </p:sp>
        <p:cxnSp>
          <p:nvCxnSpPr>
            <p:cNvPr id="18463" name="AutoShape 4"/>
            <p:cNvCxnSpPr>
              <a:cxnSpLocks noChangeShapeType="1"/>
            </p:cNvCxnSpPr>
            <p:nvPr/>
          </p:nvCxnSpPr>
          <p:spPr bwMode="auto">
            <a:xfrm>
              <a:off x="4214" y="6733"/>
              <a:ext cx="286" cy="0"/>
            </a:xfrm>
            <a:prstGeom prst="straightConnector1">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cxnSp>
        <p:sp>
          <p:nvSpPr>
            <p:cNvPr id="18464" name="Text Box 3"/>
            <p:cNvSpPr txBox="1">
              <a:spLocks noChangeArrowheads="1"/>
            </p:cNvSpPr>
            <p:nvPr/>
          </p:nvSpPr>
          <p:spPr bwMode="auto">
            <a:xfrm>
              <a:off x="7326" y="6408"/>
              <a:ext cx="923" cy="41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zh-CN" altLang="en-US" sz="1800" b="1">
                  <a:ea typeface="仿宋" pitchFamily="49" charset="-122"/>
                  <a:cs typeface="Calibri" pitchFamily="34" charset="0"/>
                </a:rPr>
                <a:t>最右端点</a:t>
              </a:r>
              <a:endParaRPr lang="zh-CN" altLang="en-US" sz="1800" b="1">
                <a:latin typeface="Arial" pitchFamily="34" charset="0"/>
                <a:ea typeface="仿宋" pitchFamily="49" charset="-122"/>
                <a:cs typeface="Calibri" pitchFamily="34" charset="0"/>
              </a:endParaRPr>
            </a:p>
          </p:txBody>
        </p:sp>
        <p:cxnSp>
          <p:nvCxnSpPr>
            <p:cNvPr id="18465" name="AutoShape 2"/>
            <p:cNvCxnSpPr>
              <a:cxnSpLocks noChangeShapeType="1"/>
            </p:cNvCxnSpPr>
            <p:nvPr/>
          </p:nvCxnSpPr>
          <p:spPr bwMode="auto">
            <a:xfrm flipH="1">
              <a:off x="6914" y="6623"/>
              <a:ext cx="286" cy="0"/>
            </a:xfrm>
            <a:prstGeom prst="straightConnector1">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cxnSp>
      </p:grpSp>
      <p:sp>
        <p:nvSpPr>
          <p:cNvPr id="18440" name="Rectangle 36"/>
          <p:cNvSpPr>
            <a:spLocks noChangeArrowheads="1"/>
          </p:cNvSpPr>
          <p:nvPr/>
        </p:nvSpPr>
        <p:spPr bwMode="auto">
          <a:xfrm>
            <a:off x="0" y="4572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indent="266700" eaLnBrk="1" hangingPunct="1"/>
            <a:endParaRPr lang="zh-CN" altLang="zh-CN">
              <a:latin typeface="Arial" pitchFamily="34" charset="0"/>
            </a:endParaRPr>
          </a:p>
        </p:txBody>
      </p:sp>
    </p:spTree>
    <p:extLst>
      <p:ext uri="{BB962C8B-B14F-4D97-AF65-F5344CB8AC3E}">
        <p14:creationId xmlns:p14="http://schemas.microsoft.com/office/powerpoint/2010/main" val="2832380250"/>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3"/>
          <p:cNvSpPr txBox="1">
            <a:spLocks noChangeArrowheads="1"/>
          </p:cNvSpPr>
          <p:nvPr/>
        </p:nvSpPr>
        <p:spPr bwMode="auto">
          <a:xfrm>
            <a:off x="500062" y="4293096"/>
            <a:ext cx="8358187" cy="1824037"/>
          </a:xfrm>
          <a:prstGeom prst="rect">
            <a:avLst/>
          </a:prstGeom>
          <a:solidFill>
            <a:srgbClr val="FFFFFF"/>
          </a:solidFill>
          <a:ln w="9525">
            <a:solidFill>
              <a:srgbClr val="000000"/>
            </a:solidFill>
            <a:miter lim="800000"/>
            <a:headEnd/>
            <a:tailEnd/>
          </a:ln>
        </p:spPr>
        <p:txBody>
          <a:bodyPr>
            <a:spAutoFit/>
          </a:bodyPr>
          <a:lstStyle/>
          <a:p>
            <a:pPr eaLnBrk="1" hangingPunct="1">
              <a:lnSpc>
                <a:spcPts val="1500"/>
              </a:lnSpc>
              <a:defRPr/>
            </a:pPr>
            <a:r>
              <a:rPr lang="en-US" altLang="zh-CN" sz="1800" b="1" dirty="0">
                <a:solidFill>
                  <a:srgbClr val="000000"/>
                </a:solidFill>
                <a:latin typeface="Courier New" pitchFamily="49" charset="0"/>
              </a:rPr>
              <a:t>Position </a:t>
            </a:r>
            <a:r>
              <a:rPr lang="en-US" altLang="zh-CN" sz="1800" b="1" dirty="0" err="1">
                <a:solidFill>
                  <a:srgbClr val="000000"/>
                </a:solidFill>
                <a:latin typeface="Courier New" pitchFamily="49" charset="0"/>
              </a:rPr>
              <a:t>FindMax</a:t>
            </a:r>
            <a:r>
              <a:rPr lang="en-US" altLang="zh-CN" sz="1800" b="1" dirty="0">
                <a:solidFill>
                  <a:srgbClr val="000000"/>
                </a:solidFill>
                <a:latin typeface="Courier New" pitchFamily="49" charset="0"/>
              </a:rPr>
              <a:t>( </a:t>
            </a:r>
            <a:r>
              <a:rPr lang="en-US" altLang="zh-CN" sz="1800" b="1" dirty="0" err="1">
                <a:solidFill>
                  <a:srgbClr val="000000"/>
                </a:solidFill>
                <a:latin typeface="Courier New" pitchFamily="49" charset="0"/>
              </a:rPr>
              <a:t>BinTree</a:t>
            </a:r>
            <a:r>
              <a:rPr lang="en-US" altLang="zh-CN" sz="1800" b="1" dirty="0">
                <a:solidFill>
                  <a:srgbClr val="000000"/>
                </a:solidFill>
                <a:latin typeface="Courier New" pitchFamily="49" charset="0"/>
              </a:rPr>
              <a:t> </a:t>
            </a:r>
            <a:r>
              <a:rPr lang="en-US" altLang="zh-CN" sz="1800" b="1" dirty="0" err="1">
                <a:solidFill>
                  <a:srgbClr val="000000"/>
                </a:solidFill>
                <a:latin typeface="Courier New" pitchFamily="49" charset="0"/>
              </a:rPr>
              <a:t>BST</a:t>
            </a:r>
            <a:r>
              <a:rPr lang="en-US" altLang="zh-CN" sz="1800" b="1" dirty="0">
                <a:solidFill>
                  <a:srgbClr val="000000"/>
                </a:solidFill>
                <a:latin typeface="Courier New" pitchFamily="49" charset="0"/>
              </a:rPr>
              <a:t> )</a:t>
            </a:r>
          </a:p>
          <a:p>
            <a:pPr eaLnBrk="1" hangingPunct="1">
              <a:lnSpc>
                <a:spcPts val="1500"/>
              </a:lnSpc>
              <a:defRPr/>
            </a:pPr>
            <a:r>
              <a:rPr lang="en-US" altLang="zh-CN" sz="1800" b="1" dirty="0">
                <a:latin typeface="Courier New" pitchFamily="49" charset="0"/>
              </a:rPr>
              <a:t>{</a:t>
            </a:r>
          </a:p>
          <a:p>
            <a:pPr eaLnBrk="1" hangingPunct="1">
              <a:lnSpc>
                <a:spcPts val="1500"/>
              </a:lnSpc>
              <a:defRPr/>
            </a:pPr>
            <a:r>
              <a:rPr lang="en-US" altLang="zh-CN" sz="1800" b="1" dirty="0">
                <a:latin typeface="Courier New" pitchFamily="49" charset="0"/>
              </a:rPr>
              <a:t>    </a:t>
            </a:r>
            <a:r>
              <a:rPr lang="en-US" altLang="zh-CN" sz="1800" b="1" dirty="0">
                <a:solidFill>
                  <a:srgbClr val="0000CC"/>
                </a:solidFill>
                <a:latin typeface="Courier New" pitchFamily="49" charset="0"/>
              </a:rPr>
              <a:t>if</a:t>
            </a:r>
            <a:r>
              <a:rPr lang="en-US" altLang="zh-CN" sz="1800" b="1" dirty="0">
                <a:latin typeface="Courier New" pitchFamily="49" charset="0"/>
              </a:rPr>
              <a:t>( !</a:t>
            </a:r>
            <a:r>
              <a:rPr lang="en-US" altLang="zh-CN" sz="1800" b="1" dirty="0" err="1">
                <a:latin typeface="Courier New" pitchFamily="49" charset="0"/>
              </a:rPr>
              <a:t>BST</a:t>
            </a:r>
            <a:r>
              <a:rPr lang="en-US" altLang="zh-CN" sz="1800" b="1" dirty="0">
                <a:latin typeface="Courier New" pitchFamily="49" charset="0"/>
              </a:rPr>
              <a:t> ) </a:t>
            </a:r>
          </a:p>
          <a:p>
            <a:pPr eaLnBrk="1" hangingPunct="1">
              <a:lnSpc>
                <a:spcPts val="1500"/>
              </a:lnSpc>
              <a:defRPr/>
            </a:pPr>
            <a:r>
              <a:rPr lang="en-US" altLang="zh-CN" sz="1800" b="1" dirty="0">
                <a:latin typeface="Courier New" pitchFamily="49" charset="0"/>
              </a:rPr>
              <a:t>        while( BST-&gt;Right )  BST = BST-&gt;Right;</a:t>
            </a:r>
          </a:p>
          <a:p>
            <a:pPr eaLnBrk="1" hangingPunct="1">
              <a:lnSpc>
                <a:spcPts val="1500"/>
              </a:lnSpc>
              <a:defRPr/>
            </a:pPr>
            <a:r>
              <a:rPr lang="en-US" altLang="zh-CN" sz="1800" b="1" dirty="0">
                <a:latin typeface="Courier New" pitchFamily="49" charset="0"/>
              </a:rPr>
              <a:t> </a:t>
            </a:r>
          </a:p>
          <a:p>
            <a:pPr eaLnBrk="1" hangingPunct="1">
              <a:lnSpc>
                <a:spcPts val="1500"/>
              </a:lnSpc>
              <a:defRPr/>
            </a:pPr>
            <a:r>
              <a:rPr lang="en-US" altLang="zh-CN" sz="1800" b="1" dirty="0">
                <a:latin typeface="Courier New" pitchFamily="49" charset="0"/>
              </a:rPr>
              <a:t>             </a:t>
            </a:r>
            <a:r>
              <a:rPr lang="en-US" altLang="zh-CN" sz="1800" b="1" dirty="0">
                <a:solidFill>
                  <a:schemeClr val="bg2">
                    <a:lumMod val="60000"/>
                    <a:lumOff val="40000"/>
                  </a:schemeClr>
                </a:solidFill>
                <a:latin typeface="Courier New" pitchFamily="49" charset="0"/>
              </a:rPr>
              <a:t>/*</a:t>
            </a:r>
            <a:r>
              <a:rPr lang="zh-CN" altLang="en-US" sz="1800" b="1" dirty="0">
                <a:solidFill>
                  <a:schemeClr val="bg2">
                    <a:lumMod val="60000"/>
                    <a:lumOff val="40000"/>
                  </a:schemeClr>
                </a:solidFill>
                <a:latin typeface="Courier New" pitchFamily="49" charset="0"/>
              </a:rPr>
              <a:t>沿右分支继续查找，直到最右叶结点*</a:t>
            </a:r>
            <a:r>
              <a:rPr lang="en-US" altLang="zh-CN" sz="1800" b="1" dirty="0">
                <a:solidFill>
                  <a:schemeClr val="bg2">
                    <a:lumMod val="60000"/>
                    <a:lumOff val="40000"/>
                  </a:schemeClr>
                </a:solidFill>
                <a:latin typeface="Courier New" pitchFamily="49" charset="0"/>
              </a:rPr>
              <a:t>/</a:t>
            </a:r>
          </a:p>
          <a:p>
            <a:pPr eaLnBrk="1" hangingPunct="1">
              <a:lnSpc>
                <a:spcPts val="1500"/>
              </a:lnSpc>
              <a:defRPr/>
            </a:pPr>
            <a:endParaRPr lang="en-US" altLang="zh-CN" sz="1800" b="1" dirty="0">
              <a:latin typeface="Courier New" pitchFamily="49" charset="0"/>
            </a:endParaRPr>
          </a:p>
          <a:p>
            <a:pPr eaLnBrk="1" hangingPunct="1">
              <a:lnSpc>
                <a:spcPts val="1500"/>
              </a:lnSpc>
              <a:defRPr/>
            </a:pPr>
            <a:r>
              <a:rPr lang="en-US" altLang="zh-CN" sz="1800" b="1" dirty="0">
                <a:latin typeface="Courier New" pitchFamily="49" charset="0"/>
              </a:rPr>
              <a:t>    </a:t>
            </a:r>
            <a:r>
              <a:rPr lang="en-US" altLang="zh-CN" sz="1800" b="1" dirty="0">
                <a:solidFill>
                  <a:srgbClr val="0000CC"/>
                </a:solidFill>
                <a:latin typeface="Courier New" pitchFamily="49" charset="0"/>
              </a:rPr>
              <a:t>return</a:t>
            </a:r>
            <a:r>
              <a:rPr lang="en-US" altLang="zh-CN" sz="1800" b="1" dirty="0">
                <a:latin typeface="Courier New" pitchFamily="49" charset="0"/>
              </a:rPr>
              <a:t> </a:t>
            </a:r>
            <a:r>
              <a:rPr lang="en-US" altLang="zh-CN" sz="1800" b="1" dirty="0" err="1">
                <a:latin typeface="Courier New" pitchFamily="49" charset="0"/>
              </a:rPr>
              <a:t>BST</a:t>
            </a:r>
            <a:r>
              <a:rPr lang="en-US" altLang="zh-CN" sz="1800" b="1" dirty="0">
                <a:latin typeface="Courier New" pitchFamily="49" charset="0"/>
              </a:rPr>
              <a:t>;</a:t>
            </a:r>
          </a:p>
          <a:p>
            <a:pPr eaLnBrk="1" hangingPunct="1">
              <a:lnSpc>
                <a:spcPts val="1500"/>
              </a:lnSpc>
              <a:defRPr/>
            </a:pPr>
            <a:r>
              <a:rPr lang="en-US" altLang="zh-CN" sz="1800" b="1" dirty="0">
                <a:latin typeface="Courier New" pitchFamily="49" charset="0"/>
              </a:rPr>
              <a:t>}   </a:t>
            </a:r>
            <a:endParaRPr lang="zh-CN" altLang="zh-CN" sz="1800" b="1" dirty="0">
              <a:latin typeface="Arial" pitchFamily="34" charset="0"/>
            </a:endParaRPr>
          </a:p>
        </p:txBody>
      </p:sp>
      <p:sp>
        <p:nvSpPr>
          <p:cNvPr id="5" name="Text Box 2"/>
          <p:cNvSpPr txBox="1">
            <a:spLocks noChangeArrowheads="1"/>
          </p:cNvSpPr>
          <p:nvPr/>
        </p:nvSpPr>
        <p:spPr bwMode="auto">
          <a:xfrm>
            <a:off x="427824" y="1340768"/>
            <a:ext cx="8501062" cy="2016125"/>
          </a:xfrm>
          <a:prstGeom prst="rect">
            <a:avLst/>
          </a:prstGeom>
          <a:solidFill>
            <a:srgbClr val="FFFFFF"/>
          </a:solidFill>
          <a:ln w="9525">
            <a:solidFill>
              <a:srgbClr val="000000"/>
            </a:solidFill>
            <a:miter lim="800000"/>
            <a:headEnd/>
            <a:tailEnd/>
          </a:ln>
        </p:spPr>
        <p:txBody>
          <a:bodyPr>
            <a:spAutoFit/>
          </a:bodyPr>
          <a:lstStyle/>
          <a:p>
            <a:pPr eaLnBrk="1" hangingPunct="1">
              <a:lnSpc>
                <a:spcPts val="1500"/>
              </a:lnSpc>
              <a:defRPr/>
            </a:pPr>
            <a:r>
              <a:rPr lang="en-US" altLang="zh-CN" sz="1800" b="1" dirty="0">
                <a:latin typeface="Courier New" pitchFamily="49" charset="0"/>
              </a:rPr>
              <a:t>Position </a:t>
            </a:r>
            <a:r>
              <a:rPr lang="en-US" altLang="zh-CN" sz="1800" b="1" dirty="0" err="1">
                <a:latin typeface="Courier New" pitchFamily="49" charset="0"/>
              </a:rPr>
              <a:t>FindMin</a:t>
            </a:r>
            <a:r>
              <a:rPr lang="en-US" altLang="zh-CN" sz="1800" b="1" dirty="0">
                <a:latin typeface="Courier New" pitchFamily="49" charset="0"/>
              </a:rPr>
              <a:t>( </a:t>
            </a:r>
            <a:r>
              <a:rPr lang="en-US" altLang="zh-CN" sz="1800" b="1" dirty="0" err="1">
                <a:latin typeface="Courier New" pitchFamily="49" charset="0"/>
              </a:rPr>
              <a:t>BinTree</a:t>
            </a:r>
            <a:r>
              <a:rPr lang="en-US" altLang="zh-CN" sz="1800" b="1" dirty="0">
                <a:latin typeface="Courier New" pitchFamily="49" charset="0"/>
              </a:rPr>
              <a:t> </a:t>
            </a:r>
            <a:r>
              <a:rPr lang="en-US" altLang="zh-CN" sz="1800" b="1" dirty="0" err="1">
                <a:latin typeface="Courier New" pitchFamily="49" charset="0"/>
              </a:rPr>
              <a:t>BST</a:t>
            </a:r>
            <a:r>
              <a:rPr lang="en-US" altLang="zh-CN" sz="1800" b="1" dirty="0">
                <a:latin typeface="Courier New" pitchFamily="49" charset="0"/>
              </a:rPr>
              <a:t> )</a:t>
            </a:r>
          </a:p>
          <a:p>
            <a:pPr eaLnBrk="1" hangingPunct="1">
              <a:lnSpc>
                <a:spcPts val="1500"/>
              </a:lnSpc>
              <a:defRPr/>
            </a:pPr>
            <a:r>
              <a:rPr lang="en-US" altLang="zh-CN" sz="1800" b="1" dirty="0">
                <a:latin typeface="Courier New" pitchFamily="49" charset="0"/>
              </a:rPr>
              <a:t>{</a:t>
            </a:r>
          </a:p>
          <a:p>
            <a:pPr eaLnBrk="1" hangingPunct="1">
              <a:lnSpc>
                <a:spcPts val="1500"/>
              </a:lnSpc>
              <a:defRPr/>
            </a:pPr>
            <a:r>
              <a:rPr lang="en-US" altLang="zh-CN" sz="1800" b="1" dirty="0">
                <a:latin typeface="Courier New" pitchFamily="49" charset="0"/>
              </a:rPr>
              <a:t>    </a:t>
            </a:r>
            <a:r>
              <a:rPr lang="en-US" altLang="zh-CN" sz="1800" b="1" dirty="0">
                <a:solidFill>
                  <a:srgbClr val="0000CC"/>
                </a:solidFill>
                <a:latin typeface="Courier New" pitchFamily="49" charset="0"/>
              </a:rPr>
              <a:t>if</a:t>
            </a:r>
            <a:r>
              <a:rPr lang="en-US" altLang="zh-CN" sz="1800" b="1" dirty="0">
                <a:latin typeface="Courier New" pitchFamily="49" charset="0"/>
              </a:rPr>
              <a:t>( !</a:t>
            </a:r>
            <a:r>
              <a:rPr lang="en-US" altLang="zh-CN" sz="1800" b="1" dirty="0" err="1">
                <a:latin typeface="Courier New" pitchFamily="49" charset="0"/>
              </a:rPr>
              <a:t>BST</a:t>
            </a:r>
            <a:r>
              <a:rPr lang="en-US" altLang="zh-CN" sz="1800" b="1" dirty="0">
                <a:latin typeface="Courier New" pitchFamily="49" charset="0"/>
              </a:rPr>
              <a:t> ) return NULL; </a:t>
            </a:r>
            <a:r>
              <a:rPr lang="en-US" altLang="zh-CN" sz="1800" b="1" dirty="0">
                <a:solidFill>
                  <a:schemeClr val="bg2">
                    <a:lumMod val="60000"/>
                    <a:lumOff val="40000"/>
                  </a:schemeClr>
                </a:solidFill>
                <a:latin typeface="Courier New" pitchFamily="49" charset="0"/>
              </a:rPr>
              <a:t>/*</a:t>
            </a:r>
            <a:r>
              <a:rPr lang="zh-CN" altLang="en-US" sz="1800" b="1" dirty="0">
                <a:solidFill>
                  <a:schemeClr val="bg2">
                    <a:lumMod val="60000"/>
                    <a:lumOff val="40000"/>
                  </a:schemeClr>
                </a:solidFill>
                <a:latin typeface="Courier New" pitchFamily="49" charset="0"/>
              </a:rPr>
              <a:t>空的二叉搜索树，返回</a:t>
            </a:r>
            <a:r>
              <a:rPr lang="en-US" altLang="zh-CN" sz="1800" b="1" dirty="0">
                <a:solidFill>
                  <a:schemeClr val="bg2">
                    <a:lumMod val="60000"/>
                    <a:lumOff val="40000"/>
                  </a:schemeClr>
                </a:solidFill>
                <a:latin typeface="Courier New" pitchFamily="49" charset="0"/>
              </a:rPr>
              <a:t>NULL*/</a:t>
            </a:r>
          </a:p>
          <a:p>
            <a:pPr eaLnBrk="1" hangingPunct="1">
              <a:lnSpc>
                <a:spcPts val="1500"/>
              </a:lnSpc>
              <a:defRPr/>
            </a:pPr>
            <a:endParaRPr lang="en-US" altLang="zh-CN" sz="1800" b="1" dirty="0">
              <a:latin typeface="Courier New" pitchFamily="49" charset="0"/>
            </a:endParaRPr>
          </a:p>
          <a:p>
            <a:pPr eaLnBrk="1" hangingPunct="1">
              <a:lnSpc>
                <a:spcPts val="1500"/>
              </a:lnSpc>
              <a:defRPr/>
            </a:pPr>
            <a:r>
              <a:rPr lang="en-US" altLang="zh-CN" sz="1800" b="1" dirty="0">
                <a:latin typeface="Courier New" pitchFamily="49" charset="0"/>
              </a:rPr>
              <a:t>    </a:t>
            </a:r>
            <a:r>
              <a:rPr lang="en-US" altLang="zh-CN" sz="1800" b="1" dirty="0">
                <a:solidFill>
                  <a:srgbClr val="0000CC"/>
                </a:solidFill>
                <a:latin typeface="Courier New" pitchFamily="49" charset="0"/>
              </a:rPr>
              <a:t>else</a:t>
            </a:r>
            <a:r>
              <a:rPr lang="en-US" altLang="zh-CN" sz="1800" b="1" dirty="0">
                <a:latin typeface="Courier New" pitchFamily="49" charset="0"/>
              </a:rPr>
              <a:t> </a:t>
            </a:r>
            <a:r>
              <a:rPr lang="en-US" altLang="zh-CN" sz="1800" b="1" dirty="0">
                <a:solidFill>
                  <a:srgbClr val="0000CC"/>
                </a:solidFill>
                <a:latin typeface="Courier New" pitchFamily="49" charset="0"/>
              </a:rPr>
              <a:t>if</a:t>
            </a:r>
            <a:r>
              <a:rPr lang="en-US" altLang="zh-CN" sz="1800" b="1" dirty="0">
                <a:latin typeface="Courier New" pitchFamily="49" charset="0"/>
              </a:rPr>
              <a:t>( !BST-&gt;Left )</a:t>
            </a:r>
          </a:p>
          <a:p>
            <a:pPr eaLnBrk="1" hangingPunct="1">
              <a:lnSpc>
                <a:spcPts val="1500"/>
              </a:lnSpc>
              <a:defRPr/>
            </a:pPr>
            <a:endParaRPr lang="en-US" altLang="zh-CN" sz="1800" b="1" dirty="0">
              <a:solidFill>
                <a:schemeClr val="bg2">
                  <a:lumMod val="60000"/>
                  <a:lumOff val="40000"/>
                </a:schemeClr>
              </a:solidFill>
              <a:latin typeface="Courier New" pitchFamily="49" charset="0"/>
            </a:endParaRPr>
          </a:p>
          <a:p>
            <a:pPr eaLnBrk="1" hangingPunct="1">
              <a:lnSpc>
                <a:spcPts val="1500"/>
              </a:lnSpc>
              <a:defRPr/>
            </a:pPr>
            <a:r>
              <a:rPr lang="en-US" altLang="zh-CN" sz="1800" b="1" dirty="0">
                <a:solidFill>
                  <a:schemeClr val="bg2">
                    <a:lumMod val="60000"/>
                    <a:lumOff val="40000"/>
                  </a:schemeClr>
                </a:solidFill>
                <a:latin typeface="Courier New" pitchFamily="49" charset="0"/>
              </a:rPr>
              <a:t>        </a:t>
            </a:r>
            <a:r>
              <a:rPr lang="en-US" altLang="zh-CN" sz="1800" b="1" dirty="0">
                <a:solidFill>
                  <a:srgbClr val="0000CC"/>
                </a:solidFill>
                <a:latin typeface="Courier New" pitchFamily="49" charset="0"/>
              </a:rPr>
              <a:t>return</a:t>
            </a:r>
            <a:r>
              <a:rPr lang="en-US" altLang="zh-CN" sz="1800" b="1" dirty="0">
                <a:latin typeface="Courier New" pitchFamily="49" charset="0"/>
              </a:rPr>
              <a:t> BST; </a:t>
            </a:r>
            <a:r>
              <a:rPr lang="en-US" altLang="zh-CN" sz="1800" b="1" dirty="0">
                <a:solidFill>
                  <a:schemeClr val="bg2">
                    <a:lumMod val="60000"/>
                    <a:lumOff val="40000"/>
                  </a:schemeClr>
                </a:solidFill>
                <a:latin typeface="Courier New" pitchFamily="49" charset="0"/>
              </a:rPr>
              <a:t> /*</a:t>
            </a:r>
            <a:r>
              <a:rPr lang="zh-CN" altLang="en-US" sz="1800" b="1" dirty="0">
                <a:solidFill>
                  <a:schemeClr val="bg2">
                    <a:lumMod val="60000"/>
                    <a:lumOff val="40000"/>
                  </a:schemeClr>
                </a:solidFill>
                <a:latin typeface="Courier New" pitchFamily="49" charset="0"/>
              </a:rPr>
              <a:t>找到最左叶结点并返回*</a:t>
            </a:r>
            <a:r>
              <a:rPr lang="en-US" altLang="zh-CN" sz="1800" b="1" dirty="0">
                <a:solidFill>
                  <a:schemeClr val="bg2">
                    <a:lumMod val="60000"/>
                    <a:lumOff val="40000"/>
                  </a:schemeClr>
                </a:solidFill>
                <a:latin typeface="Courier New" pitchFamily="49" charset="0"/>
              </a:rPr>
              <a:t>/</a:t>
            </a:r>
          </a:p>
          <a:p>
            <a:pPr eaLnBrk="1" hangingPunct="1">
              <a:lnSpc>
                <a:spcPts val="1500"/>
              </a:lnSpc>
              <a:defRPr/>
            </a:pPr>
            <a:r>
              <a:rPr lang="en-US" altLang="zh-CN" sz="1800" b="1" dirty="0">
                <a:latin typeface="Courier New" pitchFamily="49" charset="0"/>
              </a:rPr>
              <a:t>    </a:t>
            </a:r>
            <a:r>
              <a:rPr lang="en-US" altLang="zh-CN" sz="1800" b="1" dirty="0">
                <a:solidFill>
                  <a:srgbClr val="0000CC"/>
                </a:solidFill>
                <a:latin typeface="Courier New" pitchFamily="49" charset="0"/>
              </a:rPr>
              <a:t>else</a:t>
            </a:r>
          </a:p>
          <a:p>
            <a:pPr eaLnBrk="1" hangingPunct="1">
              <a:lnSpc>
                <a:spcPts val="1500"/>
              </a:lnSpc>
              <a:defRPr/>
            </a:pPr>
            <a:r>
              <a:rPr lang="en-US" altLang="zh-CN" sz="1800" b="1" dirty="0">
                <a:latin typeface="Courier New" pitchFamily="49" charset="0"/>
              </a:rPr>
              <a:t>        </a:t>
            </a:r>
            <a:r>
              <a:rPr lang="en-US" altLang="zh-CN" sz="1800" b="1" dirty="0">
                <a:solidFill>
                  <a:srgbClr val="0000CC"/>
                </a:solidFill>
                <a:latin typeface="Courier New" pitchFamily="49" charset="0"/>
              </a:rPr>
              <a:t>return</a:t>
            </a:r>
            <a:r>
              <a:rPr lang="en-US" altLang="zh-CN" sz="1800" b="1" dirty="0">
                <a:latin typeface="Courier New" pitchFamily="49" charset="0"/>
              </a:rPr>
              <a:t> </a:t>
            </a:r>
            <a:r>
              <a:rPr lang="en-US" altLang="zh-CN" sz="1800" b="1" dirty="0" err="1">
                <a:latin typeface="Courier New" pitchFamily="49" charset="0"/>
              </a:rPr>
              <a:t>FindMin</a:t>
            </a:r>
            <a:r>
              <a:rPr lang="en-US" altLang="zh-CN" sz="1800" b="1" dirty="0">
                <a:latin typeface="Courier New" pitchFamily="49" charset="0"/>
              </a:rPr>
              <a:t>( BST-&gt;Left );</a:t>
            </a:r>
            <a:r>
              <a:rPr lang="en-US" altLang="zh-CN" sz="1800" b="1" dirty="0">
                <a:solidFill>
                  <a:schemeClr val="bg2">
                    <a:lumMod val="60000"/>
                    <a:lumOff val="40000"/>
                  </a:schemeClr>
                </a:solidFill>
                <a:latin typeface="Courier New" pitchFamily="49" charset="0"/>
              </a:rPr>
              <a:t> /*</a:t>
            </a:r>
            <a:r>
              <a:rPr lang="zh-CN" altLang="en-US" sz="1800" b="1" dirty="0">
                <a:solidFill>
                  <a:schemeClr val="bg2">
                    <a:lumMod val="60000"/>
                    <a:lumOff val="40000"/>
                  </a:schemeClr>
                </a:solidFill>
                <a:latin typeface="Courier New" pitchFamily="49" charset="0"/>
              </a:rPr>
              <a:t>沿左分支继续查找*</a:t>
            </a:r>
            <a:r>
              <a:rPr lang="en-US" altLang="zh-CN" sz="1800" b="1" dirty="0">
                <a:solidFill>
                  <a:schemeClr val="bg2">
                    <a:lumMod val="60000"/>
                    <a:lumOff val="40000"/>
                  </a:schemeClr>
                </a:solidFill>
                <a:latin typeface="Courier New" pitchFamily="49" charset="0"/>
              </a:rPr>
              <a:t>/</a:t>
            </a:r>
          </a:p>
          <a:p>
            <a:pPr eaLnBrk="1" hangingPunct="1">
              <a:lnSpc>
                <a:spcPts val="1500"/>
              </a:lnSpc>
              <a:defRPr/>
            </a:pPr>
            <a:r>
              <a:rPr lang="en-US" altLang="zh-CN" sz="1800" b="1" dirty="0">
                <a:latin typeface="Courier New" pitchFamily="49" charset="0"/>
              </a:rPr>
              <a:t>}</a:t>
            </a:r>
            <a:endParaRPr lang="zh-CN" altLang="zh-CN" sz="1800" b="1" dirty="0">
              <a:latin typeface="Courier New" pitchFamily="49" charset="0"/>
            </a:endParaRPr>
          </a:p>
        </p:txBody>
      </p:sp>
      <p:sp>
        <p:nvSpPr>
          <p:cNvPr id="19463" name="矩形 5"/>
          <p:cNvSpPr>
            <a:spLocks noChangeArrowheads="1"/>
          </p:cNvSpPr>
          <p:nvPr/>
        </p:nvSpPr>
        <p:spPr bwMode="auto">
          <a:xfrm>
            <a:off x="2643188" y="3501008"/>
            <a:ext cx="30235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zh-CN" altLang="zh-CN" sz="2000" b="1" dirty="0" smtClean="0">
                <a:latin typeface="Times New Roman" pitchFamily="18" charset="0"/>
              </a:rPr>
              <a:t>查找</a:t>
            </a:r>
            <a:r>
              <a:rPr lang="zh-CN" altLang="zh-CN" sz="2000" b="1" dirty="0">
                <a:latin typeface="Times New Roman" pitchFamily="18" charset="0"/>
              </a:rPr>
              <a:t>最小元素的</a:t>
            </a:r>
            <a:r>
              <a:rPr lang="zh-CN" altLang="zh-CN" sz="2000" b="1" dirty="0">
                <a:solidFill>
                  <a:srgbClr val="0000CC"/>
                </a:solidFill>
                <a:latin typeface="Times New Roman" pitchFamily="18" charset="0"/>
              </a:rPr>
              <a:t>递归</a:t>
            </a:r>
            <a:r>
              <a:rPr lang="zh-CN" altLang="zh-CN" sz="2000" b="1" dirty="0">
                <a:latin typeface="Times New Roman" pitchFamily="18" charset="0"/>
              </a:rPr>
              <a:t>函</a:t>
            </a:r>
            <a:r>
              <a:rPr lang="zh-CN" altLang="en-US" sz="2000" b="1" dirty="0">
                <a:latin typeface="Times New Roman" pitchFamily="18" charset="0"/>
              </a:rPr>
              <a:t>数</a:t>
            </a:r>
          </a:p>
        </p:txBody>
      </p:sp>
      <p:sp>
        <p:nvSpPr>
          <p:cNvPr id="19464" name="矩形 6"/>
          <p:cNvSpPr>
            <a:spLocks noChangeArrowheads="1"/>
          </p:cNvSpPr>
          <p:nvPr/>
        </p:nvSpPr>
        <p:spPr bwMode="auto">
          <a:xfrm>
            <a:off x="2643188" y="6237312"/>
            <a:ext cx="30235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zh-CN" altLang="zh-CN" sz="2000" b="1" dirty="0" smtClean="0">
                <a:latin typeface="Times New Roman" pitchFamily="18" charset="0"/>
              </a:rPr>
              <a:t>查找</a:t>
            </a:r>
            <a:r>
              <a:rPr lang="zh-CN" altLang="zh-CN" sz="2000" b="1" dirty="0">
                <a:latin typeface="Times New Roman" pitchFamily="18" charset="0"/>
              </a:rPr>
              <a:t>最大元素的</a:t>
            </a:r>
            <a:r>
              <a:rPr lang="zh-CN" altLang="zh-CN" sz="2000" b="1" dirty="0">
                <a:solidFill>
                  <a:srgbClr val="0000CC"/>
                </a:solidFill>
                <a:latin typeface="Times New Roman" pitchFamily="18" charset="0"/>
              </a:rPr>
              <a:t>迭代</a:t>
            </a:r>
            <a:r>
              <a:rPr lang="zh-CN" altLang="zh-CN" sz="2000" b="1" dirty="0">
                <a:latin typeface="Times New Roman" pitchFamily="18" charset="0"/>
              </a:rPr>
              <a:t>函数</a:t>
            </a:r>
          </a:p>
        </p:txBody>
      </p:sp>
      <p:sp>
        <p:nvSpPr>
          <p:cNvPr id="9" name="矩形 1"/>
          <p:cNvSpPr>
            <a:spLocks noChangeArrowheads="1"/>
          </p:cNvSpPr>
          <p:nvPr/>
        </p:nvSpPr>
        <p:spPr bwMode="auto">
          <a:xfrm>
            <a:off x="755576" y="272434"/>
            <a:ext cx="36295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400" b="1" dirty="0">
                <a:solidFill>
                  <a:schemeClr val="hlink"/>
                </a:solidFill>
                <a:latin typeface="Times New Roman" pitchFamily="18" charset="0"/>
                <a:sym typeface="Wingdings" pitchFamily="2" charset="2"/>
              </a:rPr>
              <a:t> </a:t>
            </a:r>
            <a:r>
              <a:rPr lang="zh-CN" altLang="en-US" sz="2400" b="1" dirty="0">
                <a:latin typeface="Times New Roman" pitchFamily="18" charset="0"/>
              </a:rPr>
              <a:t>二叉搜索树的</a:t>
            </a:r>
            <a:r>
              <a:rPr lang="zh-CN" altLang="en-US" sz="2400" b="1" dirty="0" smtClean="0">
                <a:solidFill>
                  <a:srgbClr val="0000CC"/>
                </a:solidFill>
                <a:latin typeface="Times New Roman" pitchFamily="18" charset="0"/>
              </a:rPr>
              <a:t>查找</a:t>
            </a:r>
            <a:r>
              <a:rPr lang="zh-CN" altLang="en-US" sz="2400" dirty="0">
                <a:solidFill>
                  <a:srgbClr val="0000CC"/>
                </a:solidFill>
              </a:rPr>
              <a:t>最值</a:t>
            </a:r>
            <a:endParaRPr lang="zh-CN" altLang="en-US" sz="2400" b="1" dirty="0">
              <a:solidFill>
                <a:srgbClr val="0000CC"/>
              </a:solidFill>
              <a:latin typeface="Times New Roman" pitchFamily="18" charset="0"/>
            </a:endParaRPr>
          </a:p>
        </p:txBody>
      </p:sp>
    </p:spTree>
    <p:extLst>
      <p:ext uri="{BB962C8B-B14F-4D97-AF65-F5344CB8AC3E}">
        <p14:creationId xmlns:p14="http://schemas.microsoft.com/office/powerpoint/2010/main" val="417947956"/>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灯片编号占位符 1"/>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fld id="{2572FFDF-E5B3-4DD0-9EE9-EC4EA04E9714}" type="slidenum">
              <a:rPr lang="en-US" altLang="zh-CN" smtClean="0">
                <a:solidFill>
                  <a:srgbClr val="000000"/>
                </a:solidFill>
                <a:latin typeface="Times New Roman" pitchFamily="18" charset="0"/>
              </a:rPr>
              <a:pPr/>
              <a:t>112</a:t>
            </a:fld>
            <a:endParaRPr lang="en-US" altLang="zh-CN" smtClean="0">
              <a:solidFill>
                <a:srgbClr val="000000"/>
              </a:solidFill>
              <a:latin typeface="Times New Roman" pitchFamily="18" charset="0"/>
            </a:endParaRPr>
          </a:p>
        </p:txBody>
      </p:sp>
      <p:sp>
        <p:nvSpPr>
          <p:cNvPr id="20483" name="TextBox 3"/>
          <p:cNvSpPr txBox="1">
            <a:spLocks noChangeArrowheads="1"/>
          </p:cNvSpPr>
          <p:nvPr>
            <p:custDataLst>
              <p:tags r:id="rId2"/>
            </p:custDataLst>
          </p:nvPr>
        </p:nvSpPr>
        <p:spPr bwMode="auto">
          <a:xfrm>
            <a:off x="914400" y="635000"/>
            <a:ext cx="7315200" cy="214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400" dirty="0"/>
              <a:t>已知二叉排序树如下图所示，元素之间应满足的大小关系是：</a:t>
            </a:r>
            <a:endParaRPr lang="zh-CN" altLang="en-US" sz="2400" dirty="0">
              <a:solidFill>
                <a:srgbClr val="000000"/>
              </a:solidFill>
              <a:latin typeface="Microsoft Yahei" pitchFamily="34" charset="-122"/>
              <a:ea typeface="Microsoft Yahei" pitchFamily="34" charset="-122"/>
              <a:sym typeface="Microsoft Yahei" pitchFamily="34" charset="-122"/>
            </a:endParaRPr>
          </a:p>
        </p:txBody>
      </p:sp>
      <p:sp>
        <p:nvSpPr>
          <p:cNvPr id="20484" name="TextBox 4"/>
          <p:cNvSpPr txBox="1">
            <a:spLocks noChangeArrowheads="1"/>
          </p:cNvSpPr>
          <p:nvPr>
            <p:custDataLst>
              <p:tags r:id="rId3"/>
            </p:custDataLst>
          </p:nvPr>
        </p:nvSpPr>
        <p:spPr bwMode="auto">
          <a:xfrm>
            <a:off x="1828800" y="278606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800"/>
              <a:t>x1​&lt;x2​&lt;x5​</a:t>
            </a:r>
          </a:p>
        </p:txBody>
      </p:sp>
      <p:sp>
        <p:nvSpPr>
          <p:cNvPr id="20485" name="TextBox 5"/>
          <p:cNvSpPr txBox="1">
            <a:spLocks noChangeArrowheads="1"/>
          </p:cNvSpPr>
          <p:nvPr>
            <p:custDataLst>
              <p:tags r:id="rId4"/>
            </p:custDataLst>
          </p:nvPr>
        </p:nvSpPr>
        <p:spPr bwMode="auto">
          <a:xfrm>
            <a:off x="1828800" y="364331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800"/>
              <a:t>x1​&lt;x4​&lt;x5​</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20486" name="TextBox 6"/>
          <p:cNvSpPr txBox="1">
            <a:spLocks noChangeArrowheads="1"/>
          </p:cNvSpPr>
          <p:nvPr>
            <p:custDataLst>
              <p:tags r:id="rId5"/>
            </p:custDataLst>
          </p:nvPr>
        </p:nvSpPr>
        <p:spPr bwMode="auto">
          <a:xfrm>
            <a:off x="1828800" y="450056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800"/>
              <a:t>x3​&lt;x5​&lt;x4​</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20487" name="TextBox 7"/>
          <p:cNvSpPr txBox="1">
            <a:spLocks noChangeArrowheads="1"/>
          </p:cNvSpPr>
          <p:nvPr>
            <p:custDataLst>
              <p:tags r:id="rId6"/>
            </p:custDataLst>
          </p:nvPr>
        </p:nvSpPr>
        <p:spPr bwMode="auto">
          <a:xfrm>
            <a:off x="1828800" y="535781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600">
                <a:solidFill>
                  <a:srgbClr val="000000"/>
                </a:solidFill>
                <a:latin typeface="Microsoft Yahei" pitchFamily="34" charset="-122"/>
                <a:ea typeface="Microsoft Yahei" pitchFamily="34" charset="-122"/>
                <a:sym typeface="Microsoft Yahei" pitchFamily="34" charset="-122"/>
              </a:rPr>
              <a:t>x4​&lt;x3​&lt;x5​</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20488" name="椭圆 8"/>
          <p:cNvSpPr>
            <a:spLocks noChangeAspect="1"/>
          </p:cNvSpPr>
          <p:nvPr>
            <p:custDataLst>
              <p:tags r:id="rId7"/>
            </p:custDataLst>
          </p:nvPr>
        </p:nvSpPr>
        <p:spPr bwMode="auto">
          <a:xfrm>
            <a:off x="1114425" y="284956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A</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20489" name="椭圆 9"/>
          <p:cNvSpPr>
            <a:spLocks noChangeAspect="1"/>
          </p:cNvSpPr>
          <p:nvPr>
            <p:custDataLst>
              <p:tags r:id="rId8"/>
            </p:custDataLst>
          </p:nvPr>
        </p:nvSpPr>
        <p:spPr bwMode="auto">
          <a:xfrm>
            <a:off x="1114425" y="370681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B</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20490" name="椭圆 10"/>
          <p:cNvSpPr>
            <a:spLocks noChangeAspect="1"/>
          </p:cNvSpPr>
          <p:nvPr>
            <p:custDataLst>
              <p:tags r:id="rId9"/>
            </p:custDataLst>
          </p:nvPr>
        </p:nvSpPr>
        <p:spPr bwMode="auto">
          <a:xfrm>
            <a:off x="1114425" y="4564063"/>
            <a:ext cx="514350" cy="514350"/>
          </a:xfrm>
          <a:prstGeom prst="ellipse">
            <a:avLst/>
          </a:prstGeom>
          <a:solidFill>
            <a:srgbClr val="00FF00"/>
          </a:solidFill>
          <a:ln w="254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C</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20491" name="椭圆 11"/>
          <p:cNvSpPr>
            <a:spLocks noChangeAspect="1"/>
          </p:cNvSpPr>
          <p:nvPr>
            <p:custDataLst>
              <p:tags r:id="rId10"/>
            </p:custDataLst>
          </p:nvPr>
        </p:nvSpPr>
        <p:spPr bwMode="auto">
          <a:xfrm>
            <a:off x="1114425" y="542131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D</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20492" name="圆角矩形 12"/>
          <p:cNvSpPr>
            <a:spLocks noChangeArrowheads="1"/>
          </p:cNvSpPr>
          <p:nvPr>
            <p:custDataLst>
              <p:tags r:id="rId11"/>
            </p:custDataLst>
          </p:nvPr>
        </p:nvSpPr>
        <p:spPr bwMode="auto">
          <a:xfrm>
            <a:off x="6172200" y="6215063"/>
            <a:ext cx="1543050" cy="411162"/>
          </a:xfrm>
          <a:prstGeom prst="roundRect">
            <a:avLst>
              <a:gd name="adj" fmla="val 16667"/>
            </a:avLst>
          </a:prstGeom>
          <a:solidFill>
            <a:srgbClr val="808080"/>
          </a:solidFill>
          <a:ln w="38100" algn="ctr">
            <a:solidFill>
              <a:srgbClr val="000000"/>
            </a:solidFill>
            <a:round/>
            <a:headEnd/>
            <a:tailEnd/>
          </a:ln>
        </p:spPr>
        <p:txBody>
          <a:bodyPr anchor="ctr" anchorCtr="1"/>
          <a:lstStyle/>
          <a:p>
            <a:pPr eaLnBrk="1" hangingPunct="1"/>
            <a:r>
              <a:rPr kumimoji="1" lang="zh-CN" altLang="en-US" sz="1600">
                <a:solidFill>
                  <a:srgbClr val="FFFFFF"/>
                </a:solidFill>
                <a:latin typeface="Microsoft Yahei" pitchFamily="34" charset="-122"/>
                <a:ea typeface="Microsoft Yahei" pitchFamily="34" charset="-122"/>
                <a:sym typeface="Microsoft Yahei" pitchFamily="34" charset="-122"/>
              </a:rPr>
              <a:t>提交</a:t>
            </a:r>
          </a:p>
        </p:txBody>
      </p:sp>
      <p:pic>
        <p:nvPicPr>
          <p:cNvPr id="20493" name="Picture 2" descr="fGRE17-6.JPG"/>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6516688" y="1989138"/>
            <a:ext cx="1543050" cy="248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94" name="组合 17"/>
          <p:cNvGrpSpPr>
            <a:grpSpLocks/>
          </p:cNvGrpSpPr>
          <p:nvPr>
            <p:custDataLst>
              <p:tags r:id="rId12"/>
            </p:custDataLst>
          </p:nvPr>
        </p:nvGrpSpPr>
        <p:grpSpPr bwMode="auto">
          <a:xfrm>
            <a:off x="0" y="0"/>
            <a:ext cx="9144000" cy="635000"/>
            <a:chOff x="0" y="0"/>
            <a:chExt cx="9144000" cy="635000"/>
          </a:xfrm>
        </p:grpSpPr>
        <p:sp>
          <p:nvSpPr>
            <p:cNvPr id="20496" name="TitleBackground"/>
            <p:cNvSpPr>
              <a:spLocks noChangeArrowheads="1"/>
            </p:cNvSpPr>
            <p:nvPr>
              <p:custDataLst>
                <p:tags r:id="rId14"/>
              </p:custDataLst>
            </p:nvPr>
          </p:nvSpPr>
          <p:spPr bwMode="auto">
            <a:xfrm>
              <a:off x="0" y="0"/>
              <a:ext cx="9144000" cy="635000"/>
            </a:xfrm>
            <a:prstGeom prst="rect">
              <a:avLst/>
            </a:prstGeom>
            <a:solidFill>
              <a:srgbClr val="F6F7F8"/>
            </a:solidFill>
            <a:ln>
              <a:noFill/>
            </a:ln>
            <a:extLst>
              <a:ext uri="{91240B29-F687-4F45-9708-019B960494DF}">
                <a14:hiddenLine xmlns:a14="http://schemas.microsoft.com/office/drawing/2010/main" w="9525" algn="ctr">
                  <a:solidFill>
                    <a:schemeClr val="tx1"/>
                  </a:solidFill>
                  <a:round/>
                  <a:headEnd/>
                  <a:tailEnd/>
                </a14:hiddenLine>
              </a:ext>
            </a:extLst>
          </p:spPr>
          <p:txBody>
            <a:bodyPr/>
            <a:lstStyle/>
            <a:p>
              <a:pPr eaLnBrk="1" hangingPunct="1"/>
              <a:endParaRPr kumimoji="1" lang="zh-CN" altLang="en-US" sz="2400">
                <a:latin typeface="Times New Roman" pitchFamily="18" charset="0"/>
              </a:endParaRPr>
            </a:p>
          </p:txBody>
        </p:sp>
        <p:sp>
          <p:nvSpPr>
            <p:cNvPr id="20497" name="ColorBlock"/>
            <p:cNvSpPr>
              <a:spLocks noChangeArrowheads="1"/>
            </p:cNvSpPr>
            <p:nvPr>
              <p:custDataLst>
                <p:tags r:id="rId15"/>
              </p:custDataLst>
            </p:nvPr>
          </p:nvSpPr>
          <p:spPr bwMode="auto">
            <a:xfrm>
              <a:off x="0" y="0"/>
              <a:ext cx="190500" cy="635000"/>
            </a:xfrm>
            <a:prstGeom prst="rect">
              <a:avLst/>
            </a:prstGeom>
            <a:solidFill>
              <a:srgbClr val="639EF4"/>
            </a:solidFill>
            <a:ln>
              <a:noFill/>
            </a:ln>
            <a:extLst>
              <a:ext uri="{91240B29-F687-4F45-9708-019B960494DF}">
                <a14:hiddenLine xmlns:a14="http://schemas.microsoft.com/office/drawing/2010/main" w="9525" algn="ctr">
                  <a:solidFill>
                    <a:schemeClr val="tx1"/>
                  </a:solidFill>
                  <a:round/>
                  <a:headEnd/>
                  <a:tailEnd/>
                </a14:hiddenLine>
              </a:ext>
            </a:extLst>
          </p:spPr>
          <p:txBody>
            <a:bodyPr/>
            <a:lstStyle/>
            <a:p>
              <a:pPr eaLnBrk="1" hangingPunct="1"/>
              <a:endParaRPr kumimoji="1" lang="zh-CN" altLang="en-US" sz="2400">
                <a:latin typeface="Times New Roman" pitchFamily="18" charset="0"/>
              </a:endParaRPr>
            </a:p>
          </p:txBody>
        </p:sp>
        <p:sp>
          <p:nvSpPr>
            <p:cNvPr id="20498" name="TypeText"/>
            <p:cNvSpPr txBox="1">
              <a:spLocks noChangeArrowheads="1"/>
            </p:cNvSpPr>
            <p:nvPr>
              <p:custDataLst>
                <p:tags r:id="rId16"/>
              </p:custDataLst>
            </p:nvPr>
          </p:nvSpPr>
          <p:spPr bwMode="auto">
            <a:xfrm>
              <a:off x="254000" y="0"/>
              <a:ext cx="190500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600">
                  <a:solidFill>
                    <a:srgbClr val="000000"/>
                  </a:solidFill>
                  <a:latin typeface="Microsoft Yahei" pitchFamily="34" charset="-122"/>
                  <a:ea typeface="Microsoft Yahei" pitchFamily="34" charset="-122"/>
                  <a:sym typeface="Microsoft Yahei" pitchFamily="34" charset="-122"/>
                </a:rPr>
                <a:t>单选题</a:t>
              </a:r>
            </a:p>
          </p:txBody>
        </p:sp>
        <p:sp>
          <p:nvSpPr>
            <p:cNvPr id="20499" name="TipText"/>
            <p:cNvSpPr txBox="1">
              <a:spLocks noChangeArrowheads="1"/>
            </p:cNvSpPr>
            <p:nvPr>
              <p:custDataLst>
                <p:tags r:id="rId17"/>
              </p:custDataLst>
            </p:nvPr>
          </p:nvSpPr>
          <p:spPr bwMode="auto">
            <a:xfrm>
              <a:off x="1525905" y="109220"/>
              <a:ext cx="22860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000">
                  <a:solidFill>
                    <a:srgbClr val="808080"/>
                  </a:solidFill>
                  <a:latin typeface="Microsoft Yahei" pitchFamily="34" charset="-122"/>
                  <a:ea typeface="Microsoft Yahei" pitchFamily="34" charset="-122"/>
                  <a:sym typeface="Microsoft Yahei" pitchFamily="34" charset="-122"/>
                </a:rPr>
                <a:t>1</a:t>
              </a:r>
              <a:r>
                <a:rPr lang="zh-CN" altLang="en-US" sz="2000">
                  <a:solidFill>
                    <a:srgbClr val="808080"/>
                  </a:solidFill>
                  <a:latin typeface="Microsoft Yahei" pitchFamily="34" charset="-122"/>
                  <a:ea typeface="Microsoft Yahei" pitchFamily="34" charset="-122"/>
                  <a:sym typeface="Microsoft Yahei" pitchFamily="34" charset="-122"/>
                </a:rPr>
                <a:t>分</a:t>
              </a:r>
            </a:p>
          </p:txBody>
        </p:sp>
      </p:grpSp>
      <p:pic>
        <p:nvPicPr>
          <p:cNvPr id="20495" name="图片 2"/>
          <p:cNvPicPr>
            <a:picLocks/>
          </p:cNvPicPr>
          <p:nvPr>
            <p:custDataLst>
              <p:tags r:id="rId13"/>
            </p:custDataLst>
          </p:nvPr>
        </p:nvPicPr>
        <p:blipFill>
          <a:blip r:embed="rId20">
            <a:extLst>
              <a:ext uri="{28A0092B-C50C-407E-A947-70E740481C1C}">
                <a14:useLocalDpi xmlns:a14="http://schemas.microsoft.com/office/drawing/2010/main" val="0"/>
              </a:ext>
            </a:extLst>
          </a:blip>
          <a:srcRect/>
          <a:stretch>
            <a:fillRect/>
          </a:stretch>
        </p:blipFill>
        <p:spPr bwMode="auto">
          <a:xfrm>
            <a:off x="7594600" y="63500"/>
            <a:ext cx="14224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1009107992"/>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7" name="矩形 1"/>
          <p:cNvSpPr>
            <a:spLocks noChangeArrowheads="1"/>
          </p:cNvSpPr>
          <p:nvPr/>
        </p:nvSpPr>
        <p:spPr bwMode="auto">
          <a:xfrm>
            <a:off x="741863" y="269082"/>
            <a:ext cx="301148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400" b="1" dirty="0">
                <a:solidFill>
                  <a:schemeClr val="hlink"/>
                </a:solidFill>
                <a:latin typeface="Times New Roman" pitchFamily="18" charset="0"/>
                <a:sym typeface="Wingdings" pitchFamily="2" charset="2"/>
              </a:rPr>
              <a:t> </a:t>
            </a:r>
            <a:r>
              <a:rPr lang="zh-CN" altLang="en-US" sz="2400" b="1" dirty="0">
                <a:latin typeface="Times New Roman" pitchFamily="18" charset="0"/>
              </a:rPr>
              <a:t>二叉搜索树的插入</a:t>
            </a:r>
          </a:p>
        </p:txBody>
      </p:sp>
      <p:sp>
        <p:nvSpPr>
          <p:cNvPr id="6" name="矩形 5"/>
          <p:cNvSpPr>
            <a:spLocks noChangeArrowheads="1"/>
          </p:cNvSpPr>
          <p:nvPr/>
        </p:nvSpPr>
        <p:spPr bwMode="auto">
          <a:xfrm>
            <a:off x="642938" y="1071563"/>
            <a:ext cx="7607300" cy="131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r>
              <a:rPr lang="en-US" altLang="zh-CN" sz="2000" b="1" dirty="0">
                <a:latin typeface="Times New Roman" pitchFamily="18" charset="0"/>
              </a:rPr>
              <a:t>〖</a:t>
            </a:r>
            <a:r>
              <a:rPr lang="zh-CN" altLang="en-US" sz="2000" b="1" dirty="0">
                <a:latin typeface="Times New Roman" pitchFamily="18" charset="0"/>
              </a:rPr>
              <a:t>分析</a:t>
            </a:r>
            <a:r>
              <a:rPr lang="en-US" altLang="zh-CN" sz="2000" b="1" dirty="0">
                <a:latin typeface="Times New Roman" pitchFamily="18" charset="0"/>
              </a:rPr>
              <a:t>〗</a:t>
            </a:r>
            <a:r>
              <a:rPr lang="zh-CN" altLang="en-US" sz="2000" b="1" dirty="0">
                <a:latin typeface="Times New Roman" pitchFamily="18" charset="0"/>
              </a:rPr>
              <a:t>将元素</a:t>
            </a:r>
            <a:r>
              <a:rPr lang="en-US" altLang="zh-CN" sz="2000" b="1" dirty="0">
                <a:latin typeface="Times New Roman" pitchFamily="18" charset="0"/>
              </a:rPr>
              <a:t>X</a:t>
            </a:r>
            <a:r>
              <a:rPr lang="zh-CN" altLang="en-US" sz="2000" b="1" dirty="0">
                <a:latin typeface="Times New Roman" pitchFamily="18" charset="0"/>
              </a:rPr>
              <a:t>插入二叉搜索树</a:t>
            </a:r>
            <a:r>
              <a:rPr lang="en-US" altLang="zh-CN" sz="2000" b="1" dirty="0">
                <a:latin typeface="Times New Roman" pitchFamily="18" charset="0"/>
              </a:rPr>
              <a:t>BST</a:t>
            </a:r>
            <a:r>
              <a:rPr lang="zh-CN" altLang="en-US" sz="2000" b="1" dirty="0">
                <a:latin typeface="Times New Roman" pitchFamily="18" charset="0"/>
              </a:rPr>
              <a:t>中，关键是要找到元素应该插入的</a:t>
            </a:r>
            <a:r>
              <a:rPr lang="zh-CN" altLang="en-US" sz="2000" b="1" dirty="0">
                <a:solidFill>
                  <a:srgbClr val="0000FF"/>
                </a:solidFill>
                <a:latin typeface="Times New Roman" pitchFamily="18" charset="0"/>
              </a:rPr>
              <a:t>位置</a:t>
            </a:r>
            <a:r>
              <a:rPr lang="zh-CN" altLang="en-US" sz="2000" b="1" dirty="0">
                <a:latin typeface="Times New Roman" pitchFamily="18" charset="0"/>
              </a:rPr>
              <a:t>。位置的确定可以利用与查找函数</a:t>
            </a:r>
            <a:r>
              <a:rPr lang="en-US" altLang="zh-CN" sz="2000" b="1" dirty="0">
                <a:solidFill>
                  <a:srgbClr val="0000CC"/>
                </a:solidFill>
                <a:latin typeface="Times New Roman" pitchFamily="18" charset="0"/>
              </a:rPr>
              <a:t>Find</a:t>
            </a:r>
            <a:r>
              <a:rPr lang="zh-CN" altLang="en-US" sz="2000" b="1" dirty="0">
                <a:latin typeface="Times New Roman" pitchFamily="18" charset="0"/>
              </a:rPr>
              <a:t>类似的方法，如果在树</a:t>
            </a:r>
            <a:r>
              <a:rPr lang="en-US" altLang="zh-CN" sz="2000" b="1" dirty="0">
                <a:solidFill>
                  <a:srgbClr val="0000FF"/>
                </a:solidFill>
                <a:latin typeface="Times New Roman" pitchFamily="18" charset="0"/>
              </a:rPr>
              <a:t>BST</a:t>
            </a:r>
            <a:r>
              <a:rPr lang="zh-CN" altLang="en-US" sz="2000" b="1" dirty="0">
                <a:solidFill>
                  <a:srgbClr val="0000FF"/>
                </a:solidFill>
                <a:latin typeface="Times New Roman" pitchFamily="18" charset="0"/>
              </a:rPr>
              <a:t>中找到</a:t>
            </a:r>
            <a:r>
              <a:rPr lang="en-US" altLang="zh-CN" sz="2000" b="1" dirty="0">
                <a:solidFill>
                  <a:srgbClr val="0000FF"/>
                </a:solidFill>
                <a:latin typeface="Times New Roman" pitchFamily="18" charset="0"/>
              </a:rPr>
              <a:t>X</a:t>
            </a:r>
            <a:r>
              <a:rPr lang="zh-CN" altLang="en-US" sz="2000" b="1" dirty="0">
                <a:latin typeface="Times New Roman" pitchFamily="18" charset="0"/>
              </a:rPr>
              <a:t>，说明要插入的元素已存在，可放弃插入操作。如果</a:t>
            </a:r>
            <a:r>
              <a:rPr lang="zh-CN" altLang="en-US" sz="2000" b="1" dirty="0">
                <a:solidFill>
                  <a:srgbClr val="0000FF"/>
                </a:solidFill>
                <a:latin typeface="Times New Roman" pitchFamily="18" charset="0"/>
              </a:rPr>
              <a:t>没找到</a:t>
            </a:r>
            <a:r>
              <a:rPr lang="en-US" altLang="zh-CN" sz="2000" b="1" dirty="0">
                <a:solidFill>
                  <a:srgbClr val="0000FF"/>
                </a:solidFill>
                <a:latin typeface="Times New Roman" pitchFamily="18" charset="0"/>
              </a:rPr>
              <a:t>X</a:t>
            </a:r>
            <a:r>
              <a:rPr lang="zh-CN" altLang="en-US" sz="2000" b="1" dirty="0">
                <a:latin typeface="Times New Roman" pitchFamily="18" charset="0"/>
              </a:rPr>
              <a:t>，查找终止的位置就是</a:t>
            </a:r>
            <a:r>
              <a:rPr lang="en-US" altLang="zh-CN" sz="2000" b="1" dirty="0">
                <a:latin typeface="Times New Roman" pitchFamily="18" charset="0"/>
              </a:rPr>
              <a:t>X</a:t>
            </a:r>
            <a:r>
              <a:rPr lang="zh-CN" altLang="en-US" sz="2000" b="1" dirty="0">
                <a:latin typeface="Times New Roman" pitchFamily="18" charset="0"/>
              </a:rPr>
              <a:t>应插入的位置。</a:t>
            </a:r>
          </a:p>
        </p:txBody>
      </p:sp>
      <p:grpSp>
        <p:nvGrpSpPr>
          <p:cNvPr id="48" name="组合 47"/>
          <p:cNvGrpSpPr>
            <a:grpSpLocks/>
          </p:cNvGrpSpPr>
          <p:nvPr/>
        </p:nvGrpSpPr>
        <p:grpSpPr bwMode="auto">
          <a:xfrm>
            <a:off x="5603875" y="2951163"/>
            <a:ext cx="2254250" cy="2327275"/>
            <a:chOff x="5604476" y="2951059"/>
            <a:chExt cx="2253672" cy="2327844"/>
          </a:xfrm>
        </p:grpSpPr>
        <p:sp>
          <p:nvSpPr>
            <p:cNvPr id="21533" name="Oval 21"/>
            <p:cNvSpPr>
              <a:spLocks noChangeArrowheads="1"/>
            </p:cNvSpPr>
            <p:nvPr/>
          </p:nvSpPr>
          <p:spPr bwMode="auto">
            <a:xfrm>
              <a:off x="6118991" y="2951059"/>
              <a:ext cx="439828" cy="446607"/>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1534" name="Text Box 20"/>
            <p:cNvSpPr txBox="1">
              <a:spLocks noChangeArrowheads="1"/>
            </p:cNvSpPr>
            <p:nvPr/>
          </p:nvSpPr>
          <p:spPr bwMode="auto">
            <a:xfrm>
              <a:off x="6230430" y="3019672"/>
              <a:ext cx="241846" cy="26072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600" b="1">
                  <a:latin typeface="Arial" pitchFamily="34" charset="0"/>
                  <a:cs typeface="Arial" pitchFamily="34" charset="0"/>
                </a:rPr>
                <a:t>30</a:t>
              </a:r>
              <a:endParaRPr lang="en-US" altLang="zh-CN" sz="1600" b="1">
                <a:latin typeface="Arial" pitchFamily="34" charset="0"/>
              </a:endParaRPr>
            </a:p>
          </p:txBody>
        </p:sp>
        <p:sp>
          <p:nvSpPr>
            <p:cNvPr id="21535" name="Line 19"/>
            <p:cNvSpPr>
              <a:spLocks noChangeShapeType="1"/>
            </p:cNvSpPr>
            <p:nvPr/>
          </p:nvSpPr>
          <p:spPr bwMode="auto">
            <a:xfrm>
              <a:off x="6488873" y="3324063"/>
              <a:ext cx="426787" cy="2831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36" name="Oval 18"/>
            <p:cNvSpPr>
              <a:spLocks noChangeArrowheads="1"/>
            </p:cNvSpPr>
            <p:nvPr/>
          </p:nvSpPr>
          <p:spPr bwMode="auto">
            <a:xfrm>
              <a:off x="5604476" y="3574811"/>
              <a:ext cx="439828" cy="446607"/>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1537" name="Text Box 17"/>
            <p:cNvSpPr txBox="1">
              <a:spLocks noChangeArrowheads="1"/>
            </p:cNvSpPr>
            <p:nvPr/>
          </p:nvSpPr>
          <p:spPr bwMode="auto">
            <a:xfrm>
              <a:off x="5715915" y="3643424"/>
              <a:ext cx="241846" cy="26072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600" b="1">
                  <a:latin typeface="Arial" pitchFamily="34" charset="0"/>
                  <a:cs typeface="Arial" pitchFamily="34" charset="0"/>
                </a:rPr>
                <a:t>15</a:t>
              </a:r>
              <a:endParaRPr lang="en-US" altLang="zh-CN" sz="1600" b="1">
                <a:latin typeface="Arial" pitchFamily="34" charset="0"/>
              </a:endParaRPr>
            </a:p>
          </p:txBody>
        </p:sp>
        <p:sp>
          <p:nvSpPr>
            <p:cNvPr id="21538" name="Oval 16"/>
            <p:cNvSpPr>
              <a:spLocks noChangeArrowheads="1"/>
            </p:cNvSpPr>
            <p:nvPr/>
          </p:nvSpPr>
          <p:spPr bwMode="auto">
            <a:xfrm>
              <a:off x="6826746" y="3562336"/>
              <a:ext cx="439828" cy="446607"/>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1539" name="Text Box 15"/>
            <p:cNvSpPr txBox="1">
              <a:spLocks noChangeArrowheads="1"/>
            </p:cNvSpPr>
            <p:nvPr/>
          </p:nvSpPr>
          <p:spPr bwMode="auto">
            <a:xfrm>
              <a:off x="6938185" y="3630949"/>
              <a:ext cx="241846" cy="26072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600" b="1">
                  <a:latin typeface="Arial" pitchFamily="34" charset="0"/>
                  <a:cs typeface="Arial" pitchFamily="34" charset="0"/>
                </a:rPr>
                <a:t>41</a:t>
              </a:r>
              <a:endParaRPr lang="en-US" altLang="zh-CN" sz="1600" b="1">
                <a:latin typeface="Arial" pitchFamily="34" charset="0"/>
              </a:endParaRPr>
            </a:p>
          </p:txBody>
        </p:sp>
        <p:sp>
          <p:nvSpPr>
            <p:cNvPr id="21540" name="Oval 14"/>
            <p:cNvSpPr>
              <a:spLocks noChangeArrowheads="1"/>
            </p:cNvSpPr>
            <p:nvPr/>
          </p:nvSpPr>
          <p:spPr bwMode="auto">
            <a:xfrm>
              <a:off x="6351353" y="4240979"/>
              <a:ext cx="439828" cy="446607"/>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1541" name="Text Box 13"/>
            <p:cNvSpPr txBox="1">
              <a:spLocks noChangeArrowheads="1"/>
            </p:cNvSpPr>
            <p:nvPr/>
          </p:nvSpPr>
          <p:spPr bwMode="auto">
            <a:xfrm>
              <a:off x="6462792" y="4309592"/>
              <a:ext cx="241846" cy="26072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600" b="1">
                  <a:latin typeface="Arial" pitchFamily="34" charset="0"/>
                  <a:cs typeface="Arial" pitchFamily="34" charset="0"/>
                </a:rPr>
                <a:t>33</a:t>
              </a:r>
              <a:endParaRPr lang="en-US" altLang="zh-CN" sz="1600" b="1">
                <a:latin typeface="Arial" pitchFamily="34" charset="0"/>
              </a:endParaRPr>
            </a:p>
          </p:txBody>
        </p:sp>
        <p:sp>
          <p:nvSpPr>
            <p:cNvPr id="21542" name="Oval 12"/>
            <p:cNvSpPr>
              <a:spLocks noChangeArrowheads="1"/>
            </p:cNvSpPr>
            <p:nvPr/>
          </p:nvSpPr>
          <p:spPr bwMode="auto">
            <a:xfrm>
              <a:off x="7418320" y="4147416"/>
              <a:ext cx="439828" cy="446607"/>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1543" name="Text Box 11"/>
            <p:cNvSpPr txBox="1">
              <a:spLocks noChangeArrowheads="1"/>
            </p:cNvSpPr>
            <p:nvPr/>
          </p:nvSpPr>
          <p:spPr bwMode="auto">
            <a:xfrm>
              <a:off x="7529759" y="4216029"/>
              <a:ext cx="241846" cy="26072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600" b="1">
                  <a:latin typeface="Arial" pitchFamily="34" charset="0"/>
                  <a:cs typeface="Arial" pitchFamily="34" charset="0"/>
                </a:rPr>
                <a:t>50</a:t>
              </a:r>
              <a:endParaRPr lang="en-US" altLang="zh-CN" sz="1600" b="1">
                <a:latin typeface="Arial" pitchFamily="34" charset="0"/>
              </a:endParaRPr>
            </a:p>
          </p:txBody>
        </p:sp>
        <p:sp>
          <p:nvSpPr>
            <p:cNvPr id="21544" name="Line 10"/>
            <p:cNvSpPr>
              <a:spLocks noChangeShapeType="1"/>
            </p:cNvSpPr>
            <p:nvPr/>
          </p:nvSpPr>
          <p:spPr bwMode="auto">
            <a:xfrm flipH="1">
              <a:off x="6631135" y="3990230"/>
              <a:ext cx="266742" cy="2507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45" name="Line 9"/>
            <p:cNvSpPr>
              <a:spLocks noChangeShapeType="1"/>
            </p:cNvSpPr>
            <p:nvPr/>
          </p:nvSpPr>
          <p:spPr bwMode="auto">
            <a:xfrm>
              <a:off x="7217968" y="3934093"/>
              <a:ext cx="266742" cy="2507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46" name="Line 8"/>
            <p:cNvSpPr>
              <a:spLocks noChangeShapeType="1"/>
            </p:cNvSpPr>
            <p:nvPr/>
          </p:nvSpPr>
          <p:spPr bwMode="auto">
            <a:xfrm flipH="1">
              <a:off x="5937607" y="3342775"/>
              <a:ext cx="266742" cy="2507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 name="Oval 7"/>
            <p:cNvSpPr>
              <a:spLocks noChangeArrowheads="1"/>
            </p:cNvSpPr>
            <p:nvPr/>
          </p:nvSpPr>
          <p:spPr bwMode="auto">
            <a:xfrm>
              <a:off x="6937634" y="4832706"/>
              <a:ext cx="439625" cy="446197"/>
            </a:xfrm>
            <a:prstGeom prst="ellipse">
              <a:avLst/>
            </a:prstGeom>
            <a:solidFill>
              <a:schemeClr val="bg2">
                <a:lumMod val="40000"/>
                <a:lumOff val="60000"/>
              </a:schemeClr>
            </a:solidFill>
            <a:ln w="9525">
              <a:solidFill>
                <a:srgbClr val="000000"/>
              </a:solidFill>
              <a:round/>
              <a:headEnd/>
              <a:tailEnd/>
            </a:ln>
          </p:spPr>
          <p:txBody>
            <a:bodyPr/>
            <a:lstStyle/>
            <a:p>
              <a:pPr eaLnBrk="1" fontAlgn="auto" hangingPunct="1">
                <a:spcBef>
                  <a:spcPts val="0"/>
                </a:spcBef>
                <a:spcAft>
                  <a:spcPts val="0"/>
                </a:spcAft>
                <a:defRPr/>
              </a:pPr>
              <a:endParaRPr lang="zh-CN" altLang="en-US" sz="1600" b="1">
                <a:latin typeface="+mn-lt"/>
                <a:ea typeface="+mn-ea"/>
              </a:endParaRPr>
            </a:p>
          </p:txBody>
        </p:sp>
        <p:sp>
          <p:nvSpPr>
            <p:cNvPr id="39" name="Text Box 6"/>
            <p:cNvSpPr txBox="1">
              <a:spLocks noChangeArrowheads="1"/>
            </p:cNvSpPr>
            <p:nvPr/>
          </p:nvSpPr>
          <p:spPr bwMode="auto">
            <a:xfrm>
              <a:off x="7050318" y="4900986"/>
              <a:ext cx="241238" cy="260414"/>
            </a:xfrm>
            <a:prstGeom prst="rect">
              <a:avLst/>
            </a:prstGeom>
            <a:solidFill>
              <a:schemeClr val="bg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p>
              <a:pPr algn="ctr" eaLnBrk="1" hangingPunct="1">
                <a:defRPr/>
              </a:pPr>
              <a:r>
                <a:rPr lang="en-US" altLang="zh-CN" sz="1600" b="1" dirty="0">
                  <a:latin typeface="Arial" pitchFamily="34" charset="0"/>
                  <a:cs typeface="Arial" pitchFamily="34" charset="0"/>
                </a:rPr>
                <a:t>35</a:t>
              </a:r>
              <a:endParaRPr lang="en-US" altLang="zh-CN" sz="1600" b="1" dirty="0">
                <a:latin typeface="Arial" pitchFamily="34" charset="0"/>
              </a:endParaRPr>
            </a:p>
          </p:txBody>
        </p:sp>
        <p:sp>
          <p:nvSpPr>
            <p:cNvPr id="21549" name="Line 5"/>
            <p:cNvSpPr>
              <a:spLocks noChangeShapeType="1"/>
            </p:cNvSpPr>
            <p:nvPr/>
          </p:nvSpPr>
          <p:spPr bwMode="auto">
            <a:xfrm>
              <a:off x="6737832" y="4618973"/>
              <a:ext cx="266742" cy="2507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9" name="组合 48"/>
          <p:cNvGrpSpPr>
            <a:grpSpLocks/>
          </p:cNvGrpSpPr>
          <p:nvPr/>
        </p:nvGrpSpPr>
        <p:grpSpPr bwMode="auto">
          <a:xfrm>
            <a:off x="1785938" y="3071813"/>
            <a:ext cx="2324100" cy="2428875"/>
            <a:chOff x="1785918" y="3071810"/>
            <a:chExt cx="2324804" cy="2428892"/>
          </a:xfrm>
        </p:grpSpPr>
        <p:sp>
          <p:nvSpPr>
            <p:cNvPr id="21516" name="Oval 35"/>
            <p:cNvSpPr>
              <a:spLocks noChangeArrowheads="1"/>
            </p:cNvSpPr>
            <p:nvPr/>
          </p:nvSpPr>
          <p:spPr bwMode="auto">
            <a:xfrm>
              <a:off x="2371565" y="3764175"/>
              <a:ext cx="439828" cy="446607"/>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1517" name="Text Box 34"/>
            <p:cNvSpPr txBox="1">
              <a:spLocks noChangeArrowheads="1"/>
            </p:cNvSpPr>
            <p:nvPr/>
          </p:nvSpPr>
          <p:spPr bwMode="auto">
            <a:xfrm>
              <a:off x="2483003" y="3832788"/>
              <a:ext cx="241846" cy="26072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600" b="1">
                  <a:latin typeface="Arial" pitchFamily="34" charset="0"/>
                  <a:cs typeface="Arial" pitchFamily="34" charset="0"/>
                </a:rPr>
                <a:t>30</a:t>
              </a:r>
              <a:endParaRPr lang="en-US" altLang="zh-CN" sz="1600" b="1">
                <a:latin typeface="Arial" pitchFamily="34" charset="0"/>
              </a:endParaRPr>
            </a:p>
          </p:txBody>
        </p:sp>
        <p:sp>
          <p:nvSpPr>
            <p:cNvPr id="21518" name="Line 33"/>
            <p:cNvSpPr>
              <a:spLocks noChangeShapeType="1"/>
            </p:cNvSpPr>
            <p:nvPr/>
          </p:nvSpPr>
          <p:spPr bwMode="auto">
            <a:xfrm>
              <a:off x="2741447" y="4137179"/>
              <a:ext cx="426787" cy="2831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19" name="Oval 32"/>
            <p:cNvSpPr>
              <a:spLocks noChangeArrowheads="1"/>
            </p:cNvSpPr>
            <p:nvPr/>
          </p:nvSpPr>
          <p:spPr bwMode="auto">
            <a:xfrm>
              <a:off x="1857049" y="4387928"/>
              <a:ext cx="439828" cy="446607"/>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1520" name="Text Box 31"/>
            <p:cNvSpPr txBox="1">
              <a:spLocks noChangeArrowheads="1"/>
            </p:cNvSpPr>
            <p:nvPr/>
          </p:nvSpPr>
          <p:spPr bwMode="auto">
            <a:xfrm>
              <a:off x="1968488" y="4456540"/>
              <a:ext cx="241846" cy="26072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600" b="1">
                  <a:latin typeface="Arial" pitchFamily="34" charset="0"/>
                  <a:cs typeface="Arial" pitchFamily="34" charset="0"/>
                </a:rPr>
                <a:t>15</a:t>
              </a:r>
              <a:endParaRPr lang="en-US" altLang="zh-CN" sz="1600" b="1">
                <a:latin typeface="Arial" pitchFamily="34" charset="0"/>
              </a:endParaRPr>
            </a:p>
          </p:txBody>
        </p:sp>
        <p:sp>
          <p:nvSpPr>
            <p:cNvPr id="21521" name="Oval 30"/>
            <p:cNvSpPr>
              <a:spLocks noChangeArrowheads="1"/>
            </p:cNvSpPr>
            <p:nvPr/>
          </p:nvSpPr>
          <p:spPr bwMode="auto">
            <a:xfrm>
              <a:off x="3079320" y="4375453"/>
              <a:ext cx="439828" cy="446607"/>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1522" name="Text Box 29"/>
            <p:cNvSpPr txBox="1">
              <a:spLocks noChangeArrowheads="1"/>
            </p:cNvSpPr>
            <p:nvPr/>
          </p:nvSpPr>
          <p:spPr bwMode="auto">
            <a:xfrm>
              <a:off x="3190758" y="4444065"/>
              <a:ext cx="241846" cy="26072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600" b="1">
                  <a:latin typeface="Arial" pitchFamily="34" charset="0"/>
                  <a:cs typeface="Arial" pitchFamily="34" charset="0"/>
                </a:rPr>
                <a:t>41</a:t>
              </a:r>
              <a:endParaRPr lang="en-US" altLang="zh-CN" sz="1600" b="1">
                <a:latin typeface="Arial" pitchFamily="34" charset="0"/>
              </a:endParaRPr>
            </a:p>
          </p:txBody>
        </p:sp>
        <p:sp>
          <p:nvSpPr>
            <p:cNvPr id="21523" name="Oval 28"/>
            <p:cNvSpPr>
              <a:spLocks noChangeArrowheads="1"/>
            </p:cNvSpPr>
            <p:nvPr/>
          </p:nvSpPr>
          <p:spPr bwMode="auto">
            <a:xfrm>
              <a:off x="2603926" y="5054095"/>
              <a:ext cx="439828" cy="446607"/>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1524" name="Text Box 27"/>
            <p:cNvSpPr txBox="1">
              <a:spLocks noChangeArrowheads="1"/>
            </p:cNvSpPr>
            <p:nvPr/>
          </p:nvSpPr>
          <p:spPr bwMode="auto">
            <a:xfrm>
              <a:off x="2715365" y="5122708"/>
              <a:ext cx="241846" cy="26072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600" b="1">
                  <a:latin typeface="Arial" pitchFamily="34" charset="0"/>
                  <a:cs typeface="Arial" pitchFamily="34" charset="0"/>
                </a:rPr>
                <a:t>33</a:t>
              </a:r>
              <a:endParaRPr lang="en-US" altLang="zh-CN" sz="1600" b="1">
                <a:latin typeface="Arial" pitchFamily="34" charset="0"/>
              </a:endParaRPr>
            </a:p>
          </p:txBody>
        </p:sp>
        <p:sp>
          <p:nvSpPr>
            <p:cNvPr id="21525" name="Oval 26"/>
            <p:cNvSpPr>
              <a:spLocks noChangeArrowheads="1"/>
            </p:cNvSpPr>
            <p:nvPr/>
          </p:nvSpPr>
          <p:spPr bwMode="auto">
            <a:xfrm>
              <a:off x="3670894" y="4960532"/>
              <a:ext cx="439828" cy="446607"/>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1526" name="Text Box 25"/>
            <p:cNvSpPr txBox="1">
              <a:spLocks noChangeArrowheads="1"/>
            </p:cNvSpPr>
            <p:nvPr/>
          </p:nvSpPr>
          <p:spPr bwMode="auto">
            <a:xfrm>
              <a:off x="3782333" y="5029145"/>
              <a:ext cx="241846" cy="26072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en-US" altLang="zh-CN" sz="1600" b="1">
                  <a:latin typeface="Arial" pitchFamily="34" charset="0"/>
                  <a:cs typeface="Arial" pitchFamily="34" charset="0"/>
                </a:rPr>
                <a:t>50</a:t>
              </a:r>
              <a:endParaRPr lang="en-US" altLang="zh-CN" sz="1600" b="1">
                <a:latin typeface="Arial" pitchFamily="34" charset="0"/>
              </a:endParaRPr>
            </a:p>
          </p:txBody>
        </p:sp>
        <p:sp>
          <p:nvSpPr>
            <p:cNvPr id="21527" name="Line 24"/>
            <p:cNvSpPr>
              <a:spLocks noChangeShapeType="1"/>
            </p:cNvSpPr>
            <p:nvPr/>
          </p:nvSpPr>
          <p:spPr bwMode="auto">
            <a:xfrm flipH="1">
              <a:off x="2883709" y="4803347"/>
              <a:ext cx="266742" cy="2507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28" name="Line 23"/>
            <p:cNvSpPr>
              <a:spLocks noChangeShapeType="1"/>
            </p:cNvSpPr>
            <p:nvPr/>
          </p:nvSpPr>
          <p:spPr bwMode="auto">
            <a:xfrm>
              <a:off x="3470541" y="4747209"/>
              <a:ext cx="266742" cy="2507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29" name="Line 22"/>
            <p:cNvSpPr>
              <a:spLocks noChangeShapeType="1"/>
            </p:cNvSpPr>
            <p:nvPr/>
          </p:nvSpPr>
          <p:spPr bwMode="auto">
            <a:xfrm flipH="1">
              <a:off x="2190180" y="4155892"/>
              <a:ext cx="266742" cy="2507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 name="Oval 4"/>
            <p:cNvSpPr>
              <a:spLocks noChangeArrowheads="1"/>
            </p:cNvSpPr>
            <p:nvPr/>
          </p:nvSpPr>
          <p:spPr bwMode="auto">
            <a:xfrm>
              <a:off x="1785918" y="3071810"/>
              <a:ext cx="439870" cy="446090"/>
            </a:xfrm>
            <a:prstGeom prst="ellipse">
              <a:avLst/>
            </a:prstGeom>
            <a:solidFill>
              <a:schemeClr val="bg2">
                <a:lumMod val="40000"/>
                <a:lumOff val="60000"/>
              </a:schemeClr>
            </a:solidFill>
            <a:ln w="9525">
              <a:solidFill>
                <a:srgbClr val="000000"/>
              </a:solidFill>
              <a:round/>
              <a:headEnd/>
              <a:tailEnd/>
            </a:ln>
          </p:spPr>
          <p:txBody>
            <a:bodyPr/>
            <a:lstStyle/>
            <a:p>
              <a:pPr eaLnBrk="1" fontAlgn="auto" hangingPunct="1">
                <a:spcBef>
                  <a:spcPts val="0"/>
                </a:spcBef>
                <a:spcAft>
                  <a:spcPts val="0"/>
                </a:spcAft>
                <a:defRPr/>
              </a:pPr>
              <a:endParaRPr lang="zh-CN" altLang="en-US" sz="1600" b="1">
                <a:latin typeface="+mn-lt"/>
                <a:ea typeface="+mn-ea"/>
              </a:endParaRPr>
            </a:p>
          </p:txBody>
        </p:sp>
        <p:sp>
          <p:nvSpPr>
            <p:cNvPr id="42" name="Text Box 3"/>
            <p:cNvSpPr txBox="1">
              <a:spLocks noChangeArrowheads="1"/>
            </p:cNvSpPr>
            <p:nvPr/>
          </p:nvSpPr>
          <p:spPr bwMode="auto">
            <a:xfrm>
              <a:off x="1897077" y="3140072"/>
              <a:ext cx="241373" cy="260352"/>
            </a:xfrm>
            <a:prstGeom prst="rect">
              <a:avLst/>
            </a:prstGeom>
            <a:solidFill>
              <a:schemeClr val="bg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p>
              <a:pPr algn="ctr" eaLnBrk="1" hangingPunct="1">
                <a:defRPr/>
              </a:pPr>
              <a:r>
                <a:rPr lang="en-US" altLang="zh-CN" sz="1600" b="1" dirty="0">
                  <a:latin typeface="Arial" pitchFamily="34" charset="0"/>
                  <a:cs typeface="Arial" pitchFamily="34" charset="0"/>
                </a:rPr>
                <a:t>35</a:t>
              </a:r>
              <a:endParaRPr lang="en-US" altLang="zh-CN" sz="1600" b="1" dirty="0">
                <a:latin typeface="Arial" pitchFamily="34" charset="0"/>
              </a:endParaRPr>
            </a:p>
          </p:txBody>
        </p:sp>
        <p:sp>
          <p:nvSpPr>
            <p:cNvPr id="21532" name="AutoShape 2"/>
            <p:cNvSpPr>
              <a:spLocks noChangeArrowheads="1"/>
            </p:cNvSpPr>
            <p:nvPr/>
          </p:nvSpPr>
          <p:spPr bwMode="auto">
            <a:xfrm rot="3011177">
              <a:off x="2036063" y="3617977"/>
              <a:ext cx="381736" cy="133964"/>
            </a:xfrm>
            <a:prstGeom prst="notchedRightArrow">
              <a:avLst>
                <a:gd name="adj1" fmla="val 50000"/>
                <a:gd name="adj2" fmla="val 67703"/>
              </a:avLst>
            </a:prstGeom>
            <a:solidFill>
              <a:srgbClr val="FFFFFF"/>
            </a:solidFill>
            <a:ln w="9525">
              <a:solidFill>
                <a:srgbClr val="000000"/>
              </a:solidFill>
              <a:miter lim="800000"/>
              <a:headEnd/>
              <a:tailEnd/>
            </a:ln>
          </p:spPr>
          <p:txBody>
            <a:bodyPr/>
            <a:lstStyle/>
            <a:p>
              <a:pPr eaLnBrk="1" hangingPunct="1"/>
              <a:endParaRPr lang="zh-CN" altLang="en-US" sz="1600" b="1">
                <a:latin typeface="Times New Roman" pitchFamily="18" charset="0"/>
              </a:endParaRPr>
            </a:p>
          </p:txBody>
        </p:sp>
      </p:grpSp>
      <p:sp>
        <p:nvSpPr>
          <p:cNvPr id="50" name="AutoShape 2"/>
          <p:cNvSpPr>
            <a:spLocks noChangeArrowheads="1"/>
          </p:cNvSpPr>
          <p:nvPr/>
        </p:nvSpPr>
        <p:spPr bwMode="auto">
          <a:xfrm rot="5400000">
            <a:off x="2376488" y="3529013"/>
            <a:ext cx="381000" cy="133350"/>
          </a:xfrm>
          <a:prstGeom prst="notchedRightArrow">
            <a:avLst>
              <a:gd name="adj1" fmla="val 50000"/>
              <a:gd name="adj2" fmla="val 67699"/>
            </a:avLst>
          </a:prstGeom>
          <a:solidFill>
            <a:schemeClr val="bg2">
              <a:lumMod val="40000"/>
              <a:lumOff val="60000"/>
            </a:schemeClr>
          </a:solidFill>
          <a:ln w="9525">
            <a:solidFill>
              <a:srgbClr val="000000"/>
            </a:solidFill>
            <a:miter lim="800000"/>
            <a:headEnd/>
            <a:tailEnd/>
          </a:ln>
        </p:spPr>
        <p:txBody>
          <a:bodyPr/>
          <a:lstStyle/>
          <a:p>
            <a:pPr eaLnBrk="1" fontAlgn="auto" hangingPunct="1">
              <a:spcBef>
                <a:spcPts val="0"/>
              </a:spcBef>
              <a:spcAft>
                <a:spcPts val="0"/>
              </a:spcAft>
              <a:defRPr/>
            </a:pPr>
            <a:endParaRPr lang="zh-CN" altLang="en-US" sz="1600" b="1">
              <a:latin typeface="+mn-lt"/>
              <a:ea typeface="+mn-ea"/>
            </a:endParaRPr>
          </a:p>
        </p:txBody>
      </p:sp>
      <p:sp>
        <p:nvSpPr>
          <p:cNvPr id="51" name="AutoShape 2"/>
          <p:cNvSpPr>
            <a:spLocks noChangeArrowheads="1"/>
          </p:cNvSpPr>
          <p:nvPr/>
        </p:nvSpPr>
        <p:spPr bwMode="auto">
          <a:xfrm rot="5400000">
            <a:off x="3162300" y="4100513"/>
            <a:ext cx="381000" cy="133350"/>
          </a:xfrm>
          <a:prstGeom prst="notchedRightArrow">
            <a:avLst>
              <a:gd name="adj1" fmla="val 50000"/>
              <a:gd name="adj2" fmla="val 67699"/>
            </a:avLst>
          </a:prstGeom>
          <a:solidFill>
            <a:schemeClr val="bg2">
              <a:lumMod val="40000"/>
              <a:lumOff val="60000"/>
            </a:schemeClr>
          </a:solidFill>
          <a:ln w="9525">
            <a:solidFill>
              <a:srgbClr val="000000"/>
            </a:solidFill>
            <a:miter lim="800000"/>
            <a:headEnd/>
            <a:tailEnd/>
          </a:ln>
        </p:spPr>
        <p:txBody>
          <a:bodyPr/>
          <a:lstStyle/>
          <a:p>
            <a:pPr eaLnBrk="1" fontAlgn="auto" hangingPunct="1">
              <a:spcBef>
                <a:spcPts val="0"/>
              </a:spcBef>
              <a:spcAft>
                <a:spcPts val="0"/>
              </a:spcAft>
              <a:defRPr/>
            </a:pPr>
            <a:endParaRPr lang="zh-CN" altLang="en-US" sz="1600" b="1">
              <a:latin typeface="+mn-lt"/>
              <a:ea typeface="+mn-ea"/>
            </a:endParaRPr>
          </a:p>
        </p:txBody>
      </p:sp>
      <p:sp>
        <p:nvSpPr>
          <p:cNvPr id="52" name="AutoShape 2"/>
          <p:cNvSpPr>
            <a:spLocks noChangeArrowheads="1"/>
          </p:cNvSpPr>
          <p:nvPr/>
        </p:nvSpPr>
        <p:spPr bwMode="auto">
          <a:xfrm rot="5400000">
            <a:off x="2519363" y="4814888"/>
            <a:ext cx="381000" cy="133350"/>
          </a:xfrm>
          <a:prstGeom prst="notchedRightArrow">
            <a:avLst>
              <a:gd name="adj1" fmla="val 50000"/>
              <a:gd name="adj2" fmla="val 67699"/>
            </a:avLst>
          </a:prstGeom>
          <a:solidFill>
            <a:schemeClr val="bg2">
              <a:lumMod val="40000"/>
              <a:lumOff val="60000"/>
            </a:schemeClr>
          </a:solidFill>
          <a:ln w="9525">
            <a:solidFill>
              <a:srgbClr val="000000"/>
            </a:solidFill>
            <a:miter lim="800000"/>
            <a:headEnd/>
            <a:tailEnd/>
          </a:ln>
        </p:spPr>
        <p:txBody>
          <a:bodyPr/>
          <a:lstStyle/>
          <a:p>
            <a:pPr eaLnBrk="1" fontAlgn="auto" hangingPunct="1">
              <a:spcBef>
                <a:spcPts val="0"/>
              </a:spcBef>
              <a:spcAft>
                <a:spcPts val="0"/>
              </a:spcAft>
              <a:defRPr/>
            </a:pPr>
            <a:endParaRPr lang="zh-CN" altLang="en-US" sz="1600" b="1">
              <a:latin typeface="+mn-lt"/>
              <a:ea typeface="+mn-ea"/>
            </a:endParaRPr>
          </a:p>
        </p:txBody>
      </p:sp>
    </p:spTree>
    <p:extLst>
      <p:ext uri="{BB962C8B-B14F-4D97-AF65-F5344CB8AC3E}">
        <p14:creationId xmlns:p14="http://schemas.microsoft.com/office/powerpoint/2010/main" val="27834898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wipe(up)">
                                      <p:cBhvr>
                                        <p:cTn id="12" dur="500"/>
                                        <p:tgtEl>
                                          <p:spTgt spid="49"/>
                                        </p:tgtEl>
                                      </p:cBhvr>
                                    </p:animEffect>
                                  </p:childTnLst>
                                </p:cTn>
                              </p:par>
                            </p:childTnLst>
                          </p:cTn>
                        </p:par>
                        <p:par>
                          <p:cTn id="13" fill="hold" nodeType="afterGroup">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50"/>
                                        </p:tgtEl>
                                        <p:attrNameLst>
                                          <p:attrName>style.visibility</p:attrName>
                                        </p:attrNameLst>
                                      </p:cBhvr>
                                      <p:to>
                                        <p:strVal val="visible"/>
                                      </p:to>
                                    </p:set>
                                    <p:animEffect transition="in" filter="wipe(down)">
                                      <p:cBhvr>
                                        <p:cTn id="16" dur="500"/>
                                        <p:tgtEl>
                                          <p:spTgt spid="50"/>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xit" presetSubtype="4" fill="hold" grpId="1" nodeType="clickEffect">
                                  <p:stCondLst>
                                    <p:cond delay="0"/>
                                  </p:stCondLst>
                                  <p:childTnLst>
                                    <p:animEffect transition="out" filter="wipe(down)">
                                      <p:cBhvr>
                                        <p:cTn id="20" dur="500"/>
                                        <p:tgtEl>
                                          <p:spTgt spid="50"/>
                                        </p:tgtEl>
                                      </p:cBhvr>
                                    </p:animEffect>
                                    <p:set>
                                      <p:cBhvr>
                                        <p:cTn id="21" dur="1" fill="hold">
                                          <p:stCondLst>
                                            <p:cond delay="499"/>
                                          </p:stCondLst>
                                        </p:cTn>
                                        <p:tgtEl>
                                          <p:spTgt spid="50"/>
                                        </p:tgtEl>
                                        <p:attrNameLst>
                                          <p:attrName>style.visibility</p:attrName>
                                        </p:attrNameLst>
                                      </p:cBhvr>
                                      <p:to>
                                        <p:strVal val="hidden"/>
                                      </p:to>
                                    </p:set>
                                  </p:childTnLst>
                                </p:cTn>
                              </p:par>
                            </p:childTnLst>
                          </p:cTn>
                        </p:par>
                        <p:par>
                          <p:cTn id="22" fill="hold" nodeType="afterGroup">
                            <p:stCondLst>
                              <p:cond delay="500"/>
                            </p:stCondLst>
                            <p:childTnLst>
                              <p:par>
                                <p:cTn id="23" presetID="22" presetClass="entr" presetSubtype="4" fill="hold" grpId="0" nodeType="afterEffect">
                                  <p:stCondLst>
                                    <p:cond delay="0"/>
                                  </p:stCondLst>
                                  <p:childTnLst>
                                    <p:set>
                                      <p:cBhvr>
                                        <p:cTn id="24" dur="1" fill="hold">
                                          <p:stCondLst>
                                            <p:cond delay="0"/>
                                          </p:stCondLst>
                                        </p:cTn>
                                        <p:tgtEl>
                                          <p:spTgt spid="51"/>
                                        </p:tgtEl>
                                        <p:attrNameLst>
                                          <p:attrName>style.visibility</p:attrName>
                                        </p:attrNameLst>
                                      </p:cBhvr>
                                      <p:to>
                                        <p:strVal val="visible"/>
                                      </p:to>
                                    </p:set>
                                    <p:animEffect transition="in" filter="wipe(down)">
                                      <p:cBhvr>
                                        <p:cTn id="25" dur="500"/>
                                        <p:tgtEl>
                                          <p:spTgt spid="51"/>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xit" presetSubtype="4" fill="hold" grpId="1" nodeType="clickEffect">
                                  <p:stCondLst>
                                    <p:cond delay="0"/>
                                  </p:stCondLst>
                                  <p:childTnLst>
                                    <p:animEffect transition="out" filter="wipe(down)">
                                      <p:cBhvr>
                                        <p:cTn id="29" dur="500"/>
                                        <p:tgtEl>
                                          <p:spTgt spid="51"/>
                                        </p:tgtEl>
                                      </p:cBhvr>
                                    </p:animEffect>
                                    <p:set>
                                      <p:cBhvr>
                                        <p:cTn id="30" dur="1" fill="hold">
                                          <p:stCondLst>
                                            <p:cond delay="499"/>
                                          </p:stCondLst>
                                        </p:cTn>
                                        <p:tgtEl>
                                          <p:spTgt spid="51"/>
                                        </p:tgtEl>
                                        <p:attrNameLst>
                                          <p:attrName>style.visibility</p:attrName>
                                        </p:attrNameLst>
                                      </p:cBhvr>
                                      <p:to>
                                        <p:strVal val="hidden"/>
                                      </p:to>
                                    </p:set>
                                  </p:childTnLst>
                                </p:cTn>
                              </p:par>
                            </p:childTnLst>
                          </p:cTn>
                        </p:par>
                        <p:par>
                          <p:cTn id="31" fill="hold" nodeType="afterGroup">
                            <p:stCondLst>
                              <p:cond delay="500"/>
                            </p:stCondLst>
                            <p:childTnLst>
                              <p:par>
                                <p:cTn id="32" presetID="22" presetClass="entr" presetSubtype="4" fill="hold" grpId="0" nodeType="afterEffect">
                                  <p:stCondLst>
                                    <p:cond delay="0"/>
                                  </p:stCondLst>
                                  <p:childTnLst>
                                    <p:set>
                                      <p:cBhvr>
                                        <p:cTn id="33" dur="1" fill="hold">
                                          <p:stCondLst>
                                            <p:cond delay="0"/>
                                          </p:stCondLst>
                                        </p:cTn>
                                        <p:tgtEl>
                                          <p:spTgt spid="52"/>
                                        </p:tgtEl>
                                        <p:attrNameLst>
                                          <p:attrName>style.visibility</p:attrName>
                                        </p:attrNameLst>
                                      </p:cBhvr>
                                      <p:to>
                                        <p:strVal val="visible"/>
                                      </p:to>
                                    </p:set>
                                    <p:animEffect transition="in" filter="wipe(down)">
                                      <p:cBhvr>
                                        <p:cTn id="34" dur="500"/>
                                        <p:tgtEl>
                                          <p:spTgt spid="52"/>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2" presetClass="exit" presetSubtype="4" fill="hold" grpId="1" nodeType="clickEffect">
                                  <p:stCondLst>
                                    <p:cond delay="0"/>
                                  </p:stCondLst>
                                  <p:childTnLst>
                                    <p:animEffect transition="out" filter="wipe(down)">
                                      <p:cBhvr>
                                        <p:cTn id="38" dur="500"/>
                                        <p:tgtEl>
                                          <p:spTgt spid="52"/>
                                        </p:tgtEl>
                                      </p:cBhvr>
                                    </p:animEffect>
                                    <p:set>
                                      <p:cBhvr>
                                        <p:cTn id="39" dur="1" fill="hold">
                                          <p:stCondLst>
                                            <p:cond delay="499"/>
                                          </p:stCondLst>
                                        </p:cTn>
                                        <p:tgtEl>
                                          <p:spTgt spid="52"/>
                                        </p:tgtEl>
                                        <p:attrNameLst>
                                          <p:attrName>style.visibility</p:attrName>
                                        </p:attrNameLst>
                                      </p:cBhvr>
                                      <p:to>
                                        <p:strVal val="hidden"/>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22" presetClass="entr" presetSubtype="1" fill="hold" nodeType="clickEffect">
                                  <p:stCondLst>
                                    <p:cond delay="0"/>
                                  </p:stCondLst>
                                  <p:childTnLst>
                                    <p:set>
                                      <p:cBhvr>
                                        <p:cTn id="43" dur="1" fill="hold">
                                          <p:stCondLst>
                                            <p:cond delay="0"/>
                                          </p:stCondLst>
                                        </p:cTn>
                                        <p:tgtEl>
                                          <p:spTgt spid="48"/>
                                        </p:tgtEl>
                                        <p:attrNameLst>
                                          <p:attrName>style.visibility</p:attrName>
                                        </p:attrNameLst>
                                      </p:cBhvr>
                                      <p:to>
                                        <p:strVal val="visible"/>
                                      </p:to>
                                    </p:set>
                                    <p:animEffect transition="in" filter="wipe(up)">
                                      <p:cBhvr>
                                        <p:cTn id="44"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50" grpId="0" animBg="1"/>
      <p:bldP spid="50" grpId="1" animBg="1"/>
      <p:bldP spid="51" grpId="0" animBg="1"/>
      <p:bldP spid="51" grpId="1" animBg="1"/>
      <p:bldP spid="52" grpId="0" animBg="1"/>
      <p:bldP spid="52" grpId="1"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2"/>
          <p:cNvSpPr txBox="1">
            <a:spLocks noChangeArrowheads="1"/>
          </p:cNvSpPr>
          <p:nvPr/>
        </p:nvSpPr>
        <p:spPr bwMode="auto">
          <a:xfrm>
            <a:off x="785813" y="1000125"/>
            <a:ext cx="7572375" cy="4546600"/>
          </a:xfrm>
          <a:prstGeom prst="rect">
            <a:avLst/>
          </a:prstGeom>
          <a:solidFill>
            <a:srgbClr val="FFFFFF"/>
          </a:solidFill>
          <a:ln w="9525">
            <a:solidFill>
              <a:srgbClr val="000000"/>
            </a:solidFill>
            <a:miter lim="800000"/>
            <a:headEnd/>
            <a:tailEnd/>
          </a:ln>
        </p:spPr>
        <p:txBody>
          <a:bodyPr>
            <a:spAutoFit/>
          </a:bodyPr>
          <a:lstStyle/>
          <a:p>
            <a:pPr algn="just" eaLnBrk="1" hangingPunct="1">
              <a:lnSpc>
                <a:spcPts val="1500"/>
              </a:lnSpc>
              <a:defRPr/>
            </a:pPr>
            <a:r>
              <a:rPr lang="en-US" altLang="zh-CN" sz="1800" b="1" dirty="0" err="1">
                <a:latin typeface="Courier New" pitchFamily="49" charset="0"/>
              </a:rPr>
              <a:t>BinTree Insert( ElementType X, BinTree BST )</a:t>
            </a:r>
          </a:p>
          <a:p>
            <a:pPr algn="just" eaLnBrk="1" hangingPunct="1">
              <a:lnSpc>
                <a:spcPts val="1500"/>
              </a:lnSpc>
              <a:defRPr/>
            </a:pPr>
            <a:r>
              <a:rPr lang="en-US" altLang="zh-CN" sz="1800" b="1" dirty="0" err="1">
                <a:latin typeface="Courier New" pitchFamily="49" charset="0"/>
              </a:rPr>
              <a:t>{</a:t>
            </a:r>
          </a:p>
          <a:p>
            <a:pPr algn="just" eaLnBrk="1" hangingPunct="1">
              <a:defRPr/>
            </a:pPr>
            <a:r>
              <a:rPr lang="en-US" altLang="zh-CN" sz="1800" b="1" dirty="0">
                <a:latin typeface="Courier New" pitchFamily="49" charset="0"/>
              </a:rPr>
              <a:t>    </a:t>
            </a:r>
            <a:r>
              <a:rPr lang="en-US" altLang="zh-CN" sz="1800" b="1" dirty="0">
                <a:solidFill>
                  <a:srgbClr val="0000FF"/>
                </a:solidFill>
                <a:latin typeface="Courier New" pitchFamily="49" charset="0"/>
              </a:rPr>
              <a:t>if</a:t>
            </a:r>
            <a:r>
              <a:rPr lang="en-US" altLang="zh-CN" sz="1800" b="1" dirty="0">
                <a:latin typeface="Courier New" pitchFamily="49" charset="0"/>
              </a:rPr>
              <a:t>( !BST ){ </a:t>
            </a:r>
          </a:p>
          <a:p>
            <a:pPr algn="just" eaLnBrk="1" hangingPunct="1">
              <a:defRPr/>
            </a:pPr>
            <a:r>
              <a:rPr lang="en-US" altLang="zh-CN" sz="1800" b="1" dirty="0" err="1">
                <a:latin typeface="Courier New" pitchFamily="49" charset="0"/>
              </a:rPr>
              <a:t>            </a:t>
            </a:r>
            <a:r>
              <a:rPr lang="en-US" altLang="zh-CN" sz="1800" b="1" dirty="0">
                <a:solidFill>
                  <a:schemeClr val="bg2">
                    <a:lumMod val="60000"/>
                    <a:lumOff val="40000"/>
                  </a:schemeClr>
                </a:solidFill>
                <a:latin typeface="Courier New" pitchFamily="49" charset="0"/>
              </a:rPr>
              <a:t>/*</a:t>
            </a:r>
            <a:r>
              <a:rPr lang="zh-CN" altLang="en-US" sz="1800" b="1" dirty="0">
                <a:solidFill>
                  <a:schemeClr val="bg2">
                    <a:lumMod val="60000"/>
                    <a:lumOff val="40000"/>
                  </a:schemeClr>
                </a:solidFill>
                <a:latin typeface="Courier New" pitchFamily="49" charset="0"/>
              </a:rPr>
              <a:t>若原树为空，生成并返回一个结点的二叉搜索树*</a:t>
            </a:r>
            <a:r>
              <a:rPr lang="en-US" altLang="zh-CN" sz="1800" b="1" dirty="0">
                <a:solidFill>
                  <a:schemeClr val="bg2">
                    <a:lumMod val="60000"/>
                    <a:lumOff val="40000"/>
                  </a:schemeClr>
                </a:solidFill>
                <a:latin typeface="Courier New" pitchFamily="49" charset="0"/>
              </a:rPr>
              <a:t>/</a:t>
            </a:r>
          </a:p>
          <a:p>
            <a:pPr algn="just" eaLnBrk="1" hangingPunct="1">
              <a:defRPr/>
            </a:pPr>
            <a:r>
              <a:rPr lang="en-US" altLang="zh-CN" sz="1800" b="1" dirty="0">
                <a:latin typeface="Courier New" pitchFamily="49" charset="0"/>
              </a:rPr>
              <a:t>        </a:t>
            </a:r>
            <a:r>
              <a:rPr lang="en-US" altLang="zh-CN" sz="1800" b="1" dirty="0" err="1">
                <a:latin typeface="Courier New" pitchFamily="49" charset="0"/>
              </a:rPr>
              <a:t>BST</a:t>
            </a:r>
            <a:r>
              <a:rPr lang="en-US" altLang="zh-CN" sz="1800" b="1" dirty="0">
                <a:latin typeface="Courier New" pitchFamily="49" charset="0"/>
              </a:rPr>
              <a:t> = </a:t>
            </a:r>
            <a:r>
              <a:rPr lang="en-US" altLang="zh-CN" sz="1800" b="1" dirty="0" err="1">
                <a:latin typeface="Courier New" pitchFamily="49" charset="0"/>
              </a:rPr>
              <a:t>malloc</a:t>
            </a:r>
            <a:r>
              <a:rPr lang="en-US" altLang="zh-CN" sz="1800" b="1" dirty="0">
                <a:solidFill>
                  <a:srgbClr val="0000FF"/>
                </a:solidFill>
                <a:latin typeface="Courier New" pitchFamily="49" charset="0"/>
              </a:rPr>
              <a:t>(</a:t>
            </a:r>
            <a:r>
              <a:rPr lang="en-US" altLang="zh-CN" sz="1800" b="1" dirty="0" err="1">
                <a:solidFill>
                  <a:srgbClr val="0000FF"/>
                </a:solidFill>
                <a:latin typeface="Courier New" pitchFamily="49" charset="0"/>
              </a:rPr>
              <a:t>sizeof</a:t>
            </a:r>
            <a:r>
              <a:rPr lang="en-US" altLang="zh-CN" sz="1800" b="1" dirty="0">
                <a:solidFill>
                  <a:srgbClr val="0000FF"/>
                </a:solidFill>
                <a:latin typeface="Courier New" pitchFamily="49" charset="0"/>
              </a:rPr>
              <a:t>(</a:t>
            </a:r>
            <a:r>
              <a:rPr lang="en-US" altLang="zh-CN" sz="1800" b="1" dirty="0" err="1">
                <a:solidFill>
                  <a:srgbClr val="0000FF"/>
                </a:solidFill>
                <a:latin typeface="Courier New" pitchFamily="49" charset="0"/>
              </a:rPr>
              <a:t>struct</a:t>
            </a:r>
            <a:r>
              <a:rPr lang="en-US" altLang="zh-CN" sz="1800" b="1" dirty="0">
                <a:latin typeface="Courier New" pitchFamily="49" charset="0"/>
              </a:rPr>
              <a:t> </a:t>
            </a:r>
            <a:r>
              <a:rPr lang="en-US" altLang="zh-CN" sz="1800" b="1" dirty="0" err="1">
                <a:latin typeface="Courier New" pitchFamily="49" charset="0"/>
              </a:rPr>
              <a:t>TreeNode</a:t>
            </a:r>
            <a:r>
              <a:rPr lang="en-US" altLang="zh-CN" sz="1800" b="1" dirty="0">
                <a:latin typeface="Courier New" pitchFamily="49" charset="0"/>
              </a:rPr>
              <a:t>));</a:t>
            </a:r>
          </a:p>
          <a:p>
            <a:pPr algn="just" eaLnBrk="1" hangingPunct="1">
              <a:defRPr/>
            </a:pPr>
            <a:r>
              <a:rPr lang="en-US" altLang="zh-CN" sz="1800" b="1" dirty="0">
                <a:latin typeface="Courier New" pitchFamily="49" charset="0"/>
              </a:rPr>
              <a:t>        </a:t>
            </a:r>
            <a:r>
              <a:rPr lang="en-US" altLang="zh-CN" sz="1800" b="1" dirty="0" err="1">
                <a:latin typeface="Courier New" pitchFamily="49" charset="0"/>
              </a:rPr>
              <a:t>BST</a:t>
            </a:r>
            <a:r>
              <a:rPr lang="en-US" altLang="zh-CN" sz="1800" b="1" dirty="0">
                <a:latin typeface="Courier New" pitchFamily="49" charset="0"/>
              </a:rPr>
              <a:t>-&gt;Data = X;</a:t>
            </a:r>
          </a:p>
          <a:p>
            <a:pPr algn="just" eaLnBrk="1" hangingPunct="1">
              <a:defRPr/>
            </a:pPr>
            <a:r>
              <a:rPr lang="en-US" altLang="zh-CN" sz="1800" b="1" dirty="0">
                <a:latin typeface="Courier New" pitchFamily="49" charset="0"/>
              </a:rPr>
              <a:t>        </a:t>
            </a:r>
            <a:r>
              <a:rPr lang="en-US" altLang="zh-CN" sz="1800" b="1" dirty="0" err="1">
                <a:latin typeface="Courier New" pitchFamily="49" charset="0"/>
              </a:rPr>
              <a:t>BST</a:t>
            </a:r>
            <a:r>
              <a:rPr lang="en-US" altLang="zh-CN" sz="1800" b="1" dirty="0">
                <a:latin typeface="Courier New" pitchFamily="49" charset="0"/>
              </a:rPr>
              <a:t>-&gt;Left = </a:t>
            </a:r>
            <a:r>
              <a:rPr lang="en-US" altLang="zh-CN" sz="1800" b="1" dirty="0" err="1">
                <a:latin typeface="Courier New" pitchFamily="49" charset="0"/>
              </a:rPr>
              <a:t>BST</a:t>
            </a:r>
            <a:r>
              <a:rPr lang="en-US" altLang="zh-CN" sz="1800" b="1" dirty="0">
                <a:latin typeface="Courier New" pitchFamily="49" charset="0"/>
              </a:rPr>
              <a:t>-&gt;Right = </a:t>
            </a:r>
            <a:r>
              <a:rPr lang="en-US" altLang="zh-CN" sz="1800" b="1" dirty="0">
                <a:solidFill>
                  <a:srgbClr val="0000FF"/>
                </a:solidFill>
                <a:latin typeface="Courier New" pitchFamily="49" charset="0"/>
              </a:rPr>
              <a:t>NULL</a:t>
            </a:r>
            <a:r>
              <a:rPr lang="en-US" altLang="zh-CN" sz="1800" b="1" dirty="0">
                <a:latin typeface="Courier New" pitchFamily="49" charset="0"/>
              </a:rPr>
              <a:t>;</a:t>
            </a:r>
          </a:p>
          <a:p>
            <a:pPr algn="just" eaLnBrk="1" hangingPunct="1">
              <a:defRPr/>
            </a:pPr>
            <a:r>
              <a:rPr lang="en-US" altLang="zh-CN" sz="1800" b="1" dirty="0">
                <a:latin typeface="Courier New" pitchFamily="49" charset="0"/>
              </a:rPr>
              <a:t>    }</a:t>
            </a:r>
            <a:r>
              <a:rPr lang="en-US" altLang="zh-CN" sz="1800" b="1" dirty="0">
                <a:solidFill>
                  <a:srgbClr val="0000FF"/>
                </a:solidFill>
                <a:latin typeface="Courier New" pitchFamily="49" charset="0"/>
              </a:rPr>
              <a:t>else</a:t>
            </a:r>
            <a:r>
              <a:rPr lang="en-US" altLang="zh-CN" sz="1800" b="1" dirty="0">
                <a:latin typeface="Courier New" pitchFamily="49" charset="0"/>
              </a:rPr>
              <a:t>  </a:t>
            </a:r>
            <a:r>
              <a:rPr lang="en-US" altLang="zh-CN" sz="1800" b="1" dirty="0">
                <a:solidFill>
                  <a:schemeClr val="bg2">
                    <a:lumMod val="60000"/>
                    <a:lumOff val="40000"/>
                  </a:schemeClr>
                </a:solidFill>
                <a:latin typeface="Courier New" pitchFamily="49" charset="0"/>
              </a:rPr>
              <a:t>/*</a:t>
            </a:r>
            <a:r>
              <a:rPr lang="zh-CN" altLang="en-US" sz="1800" b="1" dirty="0">
                <a:solidFill>
                  <a:schemeClr val="bg2">
                    <a:lumMod val="60000"/>
                    <a:lumOff val="40000"/>
                  </a:schemeClr>
                </a:solidFill>
                <a:latin typeface="Courier New" pitchFamily="49" charset="0"/>
              </a:rPr>
              <a:t>开始找要插入元素的位置*</a:t>
            </a:r>
            <a:r>
              <a:rPr lang="en-US" altLang="zh-CN" sz="1800" b="1" dirty="0">
                <a:solidFill>
                  <a:schemeClr val="bg2">
                    <a:lumMod val="60000"/>
                    <a:lumOff val="40000"/>
                  </a:schemeClr>
                </a:solidFill>
                <a:latin typeface="Courier New" pitchFamily="49" charset="0"/>
              </a:rPr>
              <a:t>/</a:t>
            </a:r>
          </a:p>
          <a:p>
            <a:pPr algn="just" eaLnBrk="1" hangingPunct="1">
              <a:defRPr/>
            </a:pPr>
            <a:r>
              <a:rPr lang="en-US" altLang="zh-CN" sz="1800" b="1" dirty="0">
                <a:latin typeface="Courier New" pitchFamily="49" charset="0"/>
              </a:rPr>
              <a:t>        </a:t>
            </a:r>
            <a:r>
              <a:rPr lang="en-US" altLang="zh-CN" sz="1800" b="1" dirty="0">
                <a:solidFill>
                  <a:srgbClr val="0000FF"/>
                </a:solidFill>
                <a:latin typeface="Courier New" pitchFamily="49" charset="0"/>
              </a:rPr>
              <a:t>if</a:t>
            </a:r>
            <a:r>
              <a:rPr lang="en-US" altLang="zh-CN" sz="1800" b="1" dirty="0">
                <a:latin typeface="Courier New" pitchFamily="49" charset="0"/>
              </a:rPr>
              <a:t>( X &lt; </a:t>
            </a:r>
            <a:r>
              <a:rPr lang="en-US" altLang="zh-CN" sz="1800" b="1" dirty="0" err="1">
                <a:latin typeface="Courier New" pitchFamily="49" charset="0"/>
              </a:rPr>
              <a:t>BST</a:t>
            </a:r>
            <a:r>
              <a:rPr lang="en-US" altLang="zh-CN" sz="1800" b="1" dirty="0">
                <a:latin typeface="Courier New" pitchFamily="49" charset="0"/>
              </a:rPr>
              <a:t>-&gt;Data )</a:t>
            </a:r>
          </a:p>
          <a:p>
            <a:pPr algn="just" eaLnBrk="1" hangingPunct="1">
              <a:defRPr/>
            </a:pPr>
            <a:r>
              <a:rPr lang="en-US" altLang="zh-CN" sz="1800" b="1" dirty="0">
                <a:latin typeface="Courier New" pitchFamily="49" charset="0"/>
              </a:rPr>
              <a:t>            BST-&gt;Left = Insert( X, BST-&gt;Left); </a:t>
            </a:r>
          </a:p>
          <a:p>
            <a:pPr algn="just" eaLnBrk="1" hangingPunct="1">
              <a:defRPr/>
            </a:pPr>
            <a:r>
              <a:rPr lang="en-US" altLang="zh-CN" sz="1800" b="1" dirty="0">
                <a:latin typeface="Courier New" pitchFamily="49" charset="0"/>
              </a:rPr>
              <a:t>                        </a:t>
            </a:r>
            <a:r>
              <a:rPr lang="en-US" altLang="zh-CN" sz="1800" b="1" dirty="0">
                <a:solidFill>
                  <a:schemeClr val="bg2">
                    <a:lumMod val="60000"/>
                    <a:lumOff val="40000"/>
                  </a:schemeClr>
                </a:solidFill>
                <a:latin typeface="Courier New" pitchFamily="49" charset="0"/>
              </a:rPr>
              <a:t>/*</a:t>
            </a:r>
            <a:r>
              <a:rPr lang="zh-CN" altLang="en-US" sz="1800" b="1" dirty="0">
                <a:solidFill>
                  <a:schemeClr val="bg2">
                    <a:lumMod val="60000"/>
                    <a:lumOff val="40000"/>
                  </a:schemeClr>
                </a:solidFill>
                <a:latin typeface="Courier New" pitchFamily="49" charset="0"/>
              </a:rPr>
              <a:t>递归插入左子树*</a:t>
            </a:r>
            <a:r>
              <a:rPr lang="en-US" altLang="zh-CN" sz="1800" b="1" dirty="0">
                <a:solidFill>
                  <a:schemeClr val="bg2">
                    <a:lumMod val="60000"/>
                    <a:lumOff val="40000"/>
                  </a:schemeClr>
                </a:solidFill>
                <a:latin typeface="Courier New" pitchFamily="49" charset="0"/>
              </a:rPr>
              <a:t>/</a:t>
            </a:r>
          </a:p>
          <a:p>
            <a:pPr algn="just" eaLnBrk="1" hangingPunct="1">
              <a:defRPr/>
            </a:pPr>
            <a:r>
              <a:rPr lang="en-US" altLang="zh-CN" sz="1800" b="1" dirty="0">
                <a:latin typeface="Courier New" pitchFamily="49" charset="0"/>
              </a:rPr>
              <a:t>        </a:t>
            </a:r>
            <a:r>
              <a:rPr lang="en-US" altLang="zh-CN" sz="1800" b="1" dirty="0">
                <a:solidFill>
                  <a:srgbClr val="0000FF"/>
                </a:solidFill>
                <a:latin typeface="Courier New" pitchFamily="49" charset="0"/>
              </a:rPr>
              <a:t>else</a:t>
            </a:r>
            <a:r>
              <a:rPr lang="en-US" altLang="zh-CN" sz="1800" b="1" dirty="0">
                <a:latin typeface="Courier New" pitchFamily="49" charset="0"/>
              </a:rPr>
              <a:t>  </a:t>
            </a:r>
            <a:r>
              <a:rPr lang="en-US" altLang="zh-CN" sz="1800" b="1" dirty="0">
                <a:solidFill>
                  <a:srgbClr val="0000FF"/>
                </a:solidFill>
                <a:latin typeface="Courier New" pitchFamily="49" charset="0"/>
              </a:rPr>
              <a:t>if</a:t>
            </a:r>
            <a:r>
              <a:rPr lang="en-US" altLang="zh-CN" sz="1800" b="1" dirty="0">
                <a:latin typeface="Courier New" pitchFamily="49" charset="0"/>
              </a:rPr>
              <a:t>( X &gt; BST-&gt;Data )</a:t>
            </a:r>
          </a:p>
          <a:p>
            <a:pPr algn="just" eaLnBrk="1" hangingPunct="1">
              <a:defRPr/>
            </a:pPr>
            <a:r>
              <a:rPr lang="en-US" altLang="zh-CN" sz="1800" b="1" dirty="0">
                <a:latin typeface="Courier New" pitchFamily="49" charset="0"/>
              </a:rPr>
              <a:t>            BST-&gt;Right = Insert( X, BST-&gt;Right);</a:t>
            </a:r>
          </a:p>
          <a:p>
            <a:pPr algn="just" eaLnBrk="1" hangingPunct="1">
              <a:defRPr/>
            </a:pPr>
            <a:r>
              <a:rPr lang="en-US" altLang="zh-CN" sz="1800" b="1" dirty="0">
                <a:latin typeface="Courier New" pitchFamily="49" charset="0"/>
              </a:rPr>
              <a:t>                         </a:t>
            </a:r>
            <a:r>
              <a:rPr lang="en-US" altLang="zh-CN" sz="1800" b="1" dirty="0">
                <a:solidFill>
                  <a:schemeClr val="bg2">
                    <a:lumMod val="60000"/>
                    <a:lumOff val="40000"/>
                  </a:schemeClr>
                </a:solidFill>
                <a:latin typeface="Courier New" pitchFamily="49" charset="0"/>
              </a:rPr>
              <a:t>/*</a:t>
            </a:r>
            <a:r>
              <a:rPr lang="zh-CN" altLang="en-US" sz="1800" b="1" dirty="0">
                <a:solidFill>
                  <a:schemeClr val="bg2">
                    <a:lumMod val="60000"/>
                    <a:lumOff val="40000"/>
                  </a:schemeClr>
                </a:solidFill>
                <a:latin typeface="Courier New" pitchFamily="49" charset="0"/>
              </a:rPr>
              <a:t>递归插入右子树*</a:t>
            </a:r>
            <a:r>
              <a:rPr lang="en-US" altLang="zh-CN" sz="1800" b="1" dirty="0">
                <a:solidFill>
                  <a:schemeClr val="bg2">
                    <a:lumMod val="60000"/>
                    <a:lumOff val="40000"/>
                  </a:schemeClr>
                </a:solidFill>
                <a:latin typeface="Courier New" pitchFamily="49" charset="0"/>
              </a:rPr>
              <a:t>/</a:t>
            </a:r>
          </a:p>
          <a:p>
            <a:pPr algn="just" eaLnBrk="1" hangingPunct="1">
              <a:defRPr/>
            </a:pPr>
            <a:r>
              <a:rPr lang="en-US" altLang="zh-CN" sz="1800" b="1" dirty="0">
                <a:latin typeface="Courier New" pitchFamily="49" charset="0"/>
              </a:rPr>
              <a:t>        </a:t>
            </a:r>
            <a:r>
              <a:rPr lang="en-US" altLang="zh-CN" sz="1800" b="1" dirty="0">
                <a:solidFill>
                  <a:schemeClr val="bg2">
                    <a:lumMod val="60000"/>
                    <a:lumOff val="40000"/>
                  </a:schemeClr>
                </a:solidFill>
                <a:latin typeface="Courier New" pitchFamily="49" charset="0"/>
              </a:rPr>
              <a:t>/* else X</a:t>
            </a:r>
            <a:r>
              <a:rPr lang="zh-CN" altLang="en-US" sz="1800" b="1" dirty="0">
                <a:solidFill>
                  <a:schemeClr val="bg2">
                    <a:lumMod val="60000"/>
                    <a:lumOff val="40000"/>
                  </a:schemeClr>
                </a:solidFill>
                <a:latin typeface="Courier New" pitchFamily="49" charset="0"/>
              </a:rPr>
              <a:t>已经存在，什么都不做 *</a:t>
            </a:r>
            <a:r>
              <a:rPr lang="en-US" altLang="zh-CN" sz="1800" b="1" dirty="0">
                <a:solidFill>
                  <a:schemeClr val="bg2">
                    <a:lumMod val="60000"/>
                    <a:lumOff val="40000"/>
                  </a:schemeClr>
                </a:solidFill>
                <a:latin typeface="Courier New" pitchFamily="49" charset="0"/>
              </a:rPr>
              <a:t>/</a:t>
            </a:r>
          </a:p>
          <a:p>
            <a:pPr algn="just" eaLnBrk="1" hangingPunct="1">
              <a:defRPr/>
            </a:pPr>
            <a:r>
              <a:rPr lang="en-US" altLang="zh-CN" sz="1800" b="1" dirty="0">
                <a:latin typeface="Courier New" pitchFamily="49" charset="0"/>
              </a:rPr>
              <a:t>    </a:t>
            </a:r>
            <a:r>
              <a:rPr lang="en-US" altLang="zh-CN" sz="1800" b="1" dirty="0">
                <a:solidFill>
                  <a:srgbClr val="0000FF"/>
                </a:solidFill>
                <a:latin typeface="Courier New" pitchFamily="49" charset="0"/>
              </a:rPr>
              <a:t>return</a:t>
            </a:r>
            <a:r>
              <a:rPr lang="en-US" altLang="zh-CN" sz="1800" b="1" dirty="0">
                <a:latin typeface="Courier New" pitchFamily="49" charset="0"/>
              </a:rPr>
              <a:t> </a:t>
            </a:r>
            <a:r>
              <a:rPr lang="en-US" altLang="zh-CN" sz="1800" b="1" dirty="0" err="1">
                <a:latin typeface="Courier New" pitchFamily="49" charset="0"/>
              </a:rPr>
              <a:t>BST</a:t>
            </a:r>
            <a:r>
              <a:rPr lang="en-US" altLang="zh-CN" sz="1800" b="1" dirty="0">
                <a:latin typeface="Courier New" pitchFamily="49" charset="0"/>
              </a:rPr>
              <a:t>;</a:t>
            </a:r>
          </a:p>
          <a:p>
            <a:pPr eaLnBrk="1" hangingPunct="1">
              <a:lnSpc>
                <a:spcPts val="1500"/>
              </a:lnSpc>
              <a:defRPr/>
            </a:pPr>
            <a:r>
              <a:rPr lang="en-US" altLang="zh-CN" sz="1800" b="1" dirty="0">
                <a:latin typeface="Courier New" pitchFamily="49" charset="0"/>
              </a:rPr>
              <a:t>}</a:t>
            </a:r>
            <a:endParaRPr lang="zh-CN" altLang="zh-CN" sz="1800" b="1" dirty="0">
              <a:latin typeface="Courier New" pitchFamily="49" charset="0"/>
            </a:endParaRPr>
          </a:p>
        </p:txBody>
      </p:sp>
      <p:sp>
        <p:nvSpPr>
          <p:cNvPr id="22534" name="矩形 4"/>
          <p:cNvSpPr>
            <a:spLocks noChangeArrowheads="1"/>
          </p:cNvSpPr>
          <p:nvPr/>
        </p:nvSpPr>
        <p:spPr bwMode="auto">
          <a:xfrm>
            <a:off x="2814611" y="5733999"/>
            <a:ext cx="27655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zh-CN" altLang="zh-CN" sz="2000" b="1" dirty="0" smtClean="0">
                <a:latin typeface="Times New Roman" pitchFamily="18" charset="0"/>
              </a:rPr>
              <a:t>二</a:t>
            </a:r>
            <a:r>
              <a:rPr lang="zh-CN" altLang="zh-CN" sz="2000" b="1" dirty="0">
                <a:latin typeface="Times New Roman" pitchFamily="18" charset="0"/>
              </a:rPr>
              <a:t>叉搜索树的插入算法</a:t>
            </a:r>
          </a:p>
        </p:txBody>
      </p:sp>
      <p:sp>
        <p:nvSpPr>
          <p:cNvPr id="7" name="矩形 1"/>
          <p:cNvSpPr>
            <a:spLocks noChangeArrowheads="1"/>
          </p:cNvSpPr>
          <p:nvPr/>
        </p:nvSpPr>
        <p:spPr bwMode="auto">
          <a:xfrm>
            <a:off x="741863" y="269082"/>
            <a:ext cx="36295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400" b="1" dirty="0">
                <a:solidFill>
                  <a:schemeClr val="hlink"/>
                </a:solidFill>
                <a:latin typeface="Times New Roman" pitchFamily="18" charset="0"/>
                <a:sym typeface="Wingdings" pitchFamily="2" charset="2"/>
              </a:rPr>
              <a:t> </a:t>
            </a:r>
            <a:r>
              <a:rPr lang="zh-CN" altLang="en-US" sz="2400" b="1" dirty="0">
                <a:latin typeface="Times New Roman" pitchFamily="18" charset="0"/>
              </a:rPr>
              <a:t>二叉搜索树的</a:t>
            </a:r>
            <a:r>
              <a:rPr lang="zh-CN" altLang="en-US" sz="2400" b="1" dirty="0" smtClean="0">
                <a:latin typeface="Times New Roman" pitchFamily="18" charset="0"/>
              </a:rPr>
              <a:t>插入算法</a:t>
            </a:r>
            <a:endParaRPr lang="zh-CN" altLang="en-US" sz="2400" b="1" dirty="0">
              <a:latin typeface="Times New Roman" pitchFamily="18" charset="0"/>
            </a:endParaRPr>
          </a:p>
        </p:txBody>
      </p:sp>
    </p:spTree>
    <p:extLst>
      <p:ext uri="{BB962C8B-B14F-4D97-AF65-F5344CB8AC3E}">
        <p14:creationId xmlns:p14="http://schemas.microsoft.com/office/powerpoint/2010/main" val="373643045"/>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5" name="矩形 1"/>
          <p:cNvSpPr>
            <a:spLocks noChangeArrowheads="1"/>
          </p:cNvSpPr>
          <p:nvPr/>
        </p:nvSpPr>
        <p:spPr bwMode="auto">
          <a:xfrm>
            <a:off x="451821" y="1109133"/>
            <a:ext cx="803592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r>
              <a:rPr lang="en-US" altLang="zh-CN" sz="2000" b="1" dirty="0" smtClean="0">
                <a:latin typeface="Times New Roman" pitchFamily="18" charset="0"/>
              </a:rPr>
              <a:t>【</a:t>
            </a:r>
            <a:r>
              <a:rPr lang="zh-CN" altLang="en-US" sz="2000" b="1" dirty="0" smtClean="0">
                <a:latin typeface="Times New Roman" pitchFamily="18" charset="0"/>
              </a:rPr>
              <a:t>例</a:t>
            </a:r>
            <a:r>
              <a:rPr lang="en-US" altLang="zh-CN" sz="2000" b="1" dirty="0" smtClean="0">
                <a:latin typeface="Times New Roman" pitchFamily="18" charset="0"/>
              </a:rPr>
              <a:t>】</a:t>
            </a:r>
            <a:r>
              <a:rPr lang="zh-CN" altLang="en-US" sz="2000" b="1" dirty="0">
                <a:latin typeface="Times New Roman" pitchFamily="18" charset="0"/>
              </a:rPr>
              <a:t>以一年十二个月的英文缩写为键值，按从一月到十二月顺序输入它们，即输入序列为</a:t>
            </a:r>
            <a:r>
              <a:rPr lang="zh-CN" altLang="en-US" sz="2000" b="1" dirty="0">
                <a:solidFill>
                  <a:srgbClr val="0000FF"/>
                </a:solidFill>
                <a:latin typeface="Times New Roman" pitchFamily="18" charset="0"/>
              </a:rPr>
              <a:t>（</a:t>
            </a:r>
            <a:r>
              <a:rPr lang="en-US" altLang="zh-CN" sz="2000" b="1" dirty="0">
                <a:solidFill>
                  <a:srgbClr val="0000FF"/>
                </a:solidFill>
                <a:latin typeface="Times New Roman" pitchFamily="18" charset="0"/>
              </a:rPr>
              <a:t>Jan, Feb, Mar, Apr, May, Jun, July, Aug, Sep, Oct, Nov, Dec</a:t>
            </a:r>
            <a:r>
              <a:rPr lang="zh-CN" altLang="en-US" sz="2000" b="1" dirty="0">
                <a:solidFill>
                  <a:srgbClr val="0000FF"/>
                </a:solidFill>
                <a:latin typeface="Times New Roman" pitchFamily="18" charset="0"/>
              </a:rPr>
              <a:t>）</a:t>
            </a:r>
            <a:r>
              <a:rPr lang="zh-CN" altLang="en-US" sz="2000" b="1" dirty="0">
                <a:latin typeface="Times New Roman" pitchFamily="18" charset="0"/>
              </a:rPr>
              <a:t>，将产生什么样的二叉搜索树？</a:t>
            </a:r>
          </a:p>
        </p:txBody>
      </p:sp>
      <p:grpSp>
        <p:nvGrpSpPr>
          <p:cNvPr id="2" name="组合 1"/>
          <p:cNvGrpSpPr/>
          <p:nvPr/>
        </p:nvGrpSpPr>
        <p:grpSpPr>
          <a:xfrm>
            <a:off x="3364884" y="2390775"/>
            <a:ext cx="4191000" cy="4357688"/>
            <a:chOff x="3881438" y="1714500"/>
            <a:chExt cx="4191000" cy="4357688"/>
          </a:xfrm>
        </p:grpSpPr>
        <p:grpSp>
          <p:nvGrpSpPr>
            <p:cNvPr id="8" name="Group 47"/>
            <p:cNvGrpSpPr>
              <a:grpSpLocks/>
            </p:cNvGrpSpPr>
            <p:nvPr/>
          </p:nvGrpSpPr>
          <p:grpSpPr bwMode="auto">
            <a:xfrm>
              <a:off x="5551488" y="1714500"/>
              <a:ext cx="692150" cy="533400"/>
              <a:chOff x="1772" y="1335"/>
              <a:chExt cx="436" cy="336"/>
            </a:xfrm>
          </p:grpSpPr>
          <p:sp>
            <p:nvSpPr>
              <p:cNvPr id="23603" name="Oval 15"/>
              <p:cNvSpPr>
                <a:spLocks noChangeArrowheads="1"/>
              </p:cNvSpPr>
              <p:nvPr/>
            </p:nvSpPr>
            <p:spPr bwMode="auto">
              <a:xfrm>
                <a:off x="1772" y="1335"/>
                <a:ext cx="436"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sp>
            <p:nvSpPr>
              <p:cNvPr id="23604" name="Text Box 16"/>
              <p:cNvSpPr txBox="1">
                <a:spLocks noChangeArrowheads="1"/>
              </p:cNvSpPr>
              <p:nvPr/>
            </p:nvSpPr>
            <p:spPr bwMode="auto">
              <a:xfrm>
                <a:off x="1814" y="1356"/>
                <a:ext cx="34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Jan</a:t>
                </a:r>
              </a:p>
            </p:txBody>
          </p:sp>
        </p:grpSp>
        <p:grpSp>
          <p:nvGrpSpPr>
            <p:cNvPr id="11" name="Group 48"/>
            <p:cNvGrpSpPr>
              <a:grpSpLocks/>
            </p:cNvGrpSpPr>
            <p:nvPr/>
          </p:nvGrpSpPr>
          <p:grpSpPr bwMode="auto">
            <a:xfrm>
              <a:off x="4643438" y="2143125"/>
              <a:ext cx="1000125" cy="714375"/>
              <a:chOff x="1200" y="1605"/>
              <a:chExt cx="630" cy="450"/>
            </a:xfrm>
          </p:grpSpPr>
          <p:sp>
            <p:nvSpPr>
              <p:cNvPr id="23600" name="Oval 5"/>
              <p:cNvSpPr>
                <a:spLocks noChangeArrowheads="1"/>
              </p:cNvSpPr>
              <p:nvPr/>
            </p:nvSpPr>
            <p:spPr bwMode="auto">
              <a:xfrm>
                <a:off x="1200" y="1719"/>
                <a:ext cx="432"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cxnSp>
            <p:nvCxnSpPr>
              <p:cNvPr id="23601" name="AutoShape 10"/>
              <p:cNvCxnSpPr>
                <a:cxnSpLocks noChangeShapeType="1"/>
                <a:endCxn id="23600" idx="7"/>
              </p:cNvCxnSpPr>
              <p:nvPr/>
            </p:nvCxnSpPr>
            <p:spPr bwMode="auto">
              <a:xfrm rot="10800000" flipV="1">
                <a:off x="1569" y="1605"/>
                <a:ext cx="261" cy="163"/>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3602" name="Text Box 17"/>
              <p:cNvSpPr txBox="1">
                <a:spLocks noChangeArrowheads="1"/>
              </p:cNvSpPr>
              <p:nvPr/>
            </p:nvSpPr>
            <p:spPr bwMode="auto">
              <a:xfrm>
                <a:off x="1228" y="1761"/>
                <a:ext cx="35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Feb</a:t>
                </a:r>
              </a:p>
            </p:txBody>
          </p:sp>
        </p:grpSp>
        <p:grpSp>
          <p:nvGrpSpPr>
            <p:cNvPr id="15" name="Group 50"/>
            <p:cNvGrpSpPr>
              <a:grpSpLocks/>
            </p:cNvGrpSpPr>
            <p:nvPr/>
          </p:nvGrpSpPr>
          <p:grpSpPr bwMode="auto">
            <a:xfrm>
              <a:off x="3881438" y="2786063"/>
              <a:ext cx="833437" cy="833437"/>
              <a:chOff x="720" y="2010"/>
              <a:chExt cx="525" cy="525"/>
            </a:xfrm>
          </p:grpSpPr>
          <p:sp>
            <p:nvSpPr>
              <p:cNvPr id="23597" name="Oval 8"/>
              <p:cNvSpPr>
                <a:spLocks noChangeArrowheads="1"/>
              </p:cNvSpPr>
              <p:nvPr/>
            </p:nvSpPr>
            <p:spPr bwMode="auto">
              <a:xfrm>
                <a:off x="720" y="2199"/>
                <a:ext cx="480"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cxnSp>
            <p:nvCxnSpPr>
              <p:cNvPr id="23598" name="AutoShape 11"/>
              <p:cNvCxnSpPr>
                <a:cxnSpLocks noChangeShapeType="1"/>
                <a:endCxn id="23597" idx="0"/>
              </p:cNvCxnSpPr>
              <p:nvPr/>
            </p:nvCxnSpPr>
            <p:spPr bwMode="auto">
              <a:xfrm rot="10800000" flipV="1">
                <a:off x="960" y="2010"/>
                <a:ext cx="285" cy="189"/>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3599" name="Text Box 18"/>
              <p:cNvSpPr txBox="1">
                <a:spLocks noChangeArrowheads="1"/>
              </p:cNvSpPr>
              <p:nvPr/>
            </p:nvSpPr>
            <p:spPr bwMode="auto">
              <a:xfrm>
                <a:off x="768" y="2211"/>
                <a:ext cx="36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Apr</a:t>
                </a:r>
              </a:p>
            </p:txBody>
          </p:sp>
        </p:grpSp>
        <p:grpSp>
          <p:nvGrpSpPr>
            <p:cNvPr id="19" name="Group 49"/>
            <p:cNvGrpSpPr>
              <a:grpSpLocks/>
            </p:cNvGrpSpPr>
            <p:nvPr/>
          </p:nvGrpSpPr>
          <p:grpSpPr bwMode="auto">
            <a:xfrm>
              <a:off x="6215065" y="2143125"/>
              <a:ext cx="942975" cy="728663"/>
              <a:chOff x="2190" y="1605"/>
              <a:chExt cx="594" cy="459"/>
            </a:xfrm>
          </p:grpSpPr>
          <p:sp>
            <p:nvSpPr>
              <p:cNvPr id="23594" name="Oval 6"/>
              <p:cNvSpPr>
                <a:spLocks noChangeArrowheads="1"/>
              </p:cNvSpPr>
              <p:nvPr/>
            </p:nvSpPr>
            <p:spPr bwMode="auto">
              <a:xfrm>
                <a:off x="2352" y="1728"/>
                <a:ext cx="432"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cxnSp>
            <p:nvCxnSpPr>
              <p:cNvPr id="23595" name="AutoShape 13"/>
              <p:cNvCxnSpPr>
                <a:cxnSpLocks noChangeShapeType="1"/>
                <a:endCxn id="23594" idx="1"/>
              </p:cNvCxnSpPr>
              <p:nvPr/>
            </p:nvCxnSpPr>
            <p:spPr bwMode="auto">
              <a:xfrm>
                <a:off x="2190" y="1605"/>
                <a:ext cx="225" cy="172"/>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3596" name="Text Box 20"/>
              <p:cNvSpPr txBox="1">
                <a:spLocks noChangeArrowheads="1"/>
              </p:cNvSpPr>
              <p:nvPr/>
            </p:nvSpPr>
            <p:spPr bwMode="auto">
              <a:xfrm>
                <a:off x="2380" y="1761"/>
                <a:ext cx="39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Mar</a:t>
                </a:r>
              </a:p>
            </p:txBody>
          </p:sp>
        </p:grpSp>
        <p:grpSp>
          <p:nvGrpSpPr>
            <p:cNvPr id="23" name="Group 52"/>
            <p:cNvGrpSpPr>
              <a:grpSpLocks/>
            </p:cNvGrpSpPr>
            <p:nvPr/>
          </p:nvGrpSpPr>
          <p:grpSpPr bwMode="auto">
            <a:xfrm>
              <a:off x="5942013" y="2865438"/>
              <a:ext cx="762000" cy="830262"/>
              <a:chOff x="2018" y="2060"/>
              <a:chExt cx="480" cy="523"/>
            </a:xfrm>
          </p:grpSpPr>
          <p:sp>
            <p:nvSpPr>
              <p:cNvPr id="23591" name="Oval 9"/>
              <p:cNvSpPr>
                <a:spLocks noChangeArrowheads="1"/>
              </p:cNvSpPr>
              <p:nvPr/>
            </p:nvSpPr>
            <p:spPr bwMode="auto">
              <a:xfrm>
                <a:off x="2018" y="2247"/>
                <a:ext cx="480"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cxnSp>
            <p:nvCxnSpPr>
              <p:cNvPr id="23592" name="AutoShape 14"/>
              <p:cNvCxnSpPr>
                <a:cxnSpLocks noChangeShapeType="1"/>
                <a:stCxn id="23594" idx="3"/>
                <a:endCxn id="23591" idx="0"/>
              </p:cNvCxnSpPr>
              <p:nvPr/>
            </p:nvCxnSpPr>
            <p:spPr bwMode="auto">
              <a:xfrm rot="5400000">
                <a:off x="2243" y="2075"/>
                <a:ext cx="187" cy="157"/>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3593" name="Text Box 21"/>
              <p:cNvSpPr txBox="1">
                <a:spLocks noChangeArrowheads="1"/>
              </p:cNvSpPr>
              <p:nvPr/>
            </p:nvSpPr>
            <p:spPr bwMode="auto">
              <a:xfrm>
                <a:off x="2048" y="2301"/>
                <a:ext cx="35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Jun</a:t>
                </a:r>
              </a:p>
            </p:txBody>
          </p:sp>
        </p:grpSp>
        <p:grpSp>
          <p:nvGrpSpPr>
            <p:cNvPr id="27" name="Group 51"/>
            <p:cNvGrpSpPr>
              <a:grpSpLocks/>
            </p:cNvGrpSpPr>
            <p:nvPr/>
          </p:nvGrpSpPr>
          <p:grpSpPr bwMode="auto">
            <a:xfrm>
              <a:off x="6929438" y="2792413"/>
              <a:ext cx="685800" cy="900112"/>
              <a:chOff x="2652" y="2016"/>
              <a:chExt cx="432" cy="567"/>
            </a:xfrm>
          </p:grpSpPr>
          <p:sp>
            <p:nvSpPr>
              <p:cNvPr id="23588" name="Oval 22"/>
              <p:cNvSpPr>
                <a:spLocks noChangeArrowheads="1"/>
              </p:cNvSpPr>
              <p:nvPr/>
            </p:nvSpPr>
            <p:spPr bwMode="auto">
              <a:xfrm>
                <a:off x="2652" y="2247"/>
                <a:ext cx="432"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cxnSp>
            <p:nvCxnSpPr>
              <p:cNvPr id="23589" name="AutoShape 23"/>
              <p:cNvCxnSpPr>
                <a:cxnSpLocks noChangeShapeType="1"/>
                <a:endCxn id="23588" idx="0"/>
              </p:cNvCxnSpPr>
              <p:nvPr/>
            </p:nvCxnSpPr>
            <p:spPr bwMode="auto">
              <a:xfrm rot="16200000" flipH="1">
                <a:off x="2667" y="2046"/>
                <a:ext cx="232" cy="171"/>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3590" name="Text Box 24"/>
              <p:cNvSpPr txBox="1">
                <a:spLocks noChangeArrowheads="1"/>
              </p:cNvSpPr>
              <p:nvPr/>
            </p:nvSpPr>
            <p:spPr bwMode="auto">
              <a:xfrm>
                <a:off x="2652" y="2303"/>
                <a:ext cx="39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May</a:t>
                </a:r>
              </a:p>
            </p:txBody>
          </p:sp>
        </p:grpSp>
        <p:grpSp>
          <p:nvGrpSpPr>
            <p:cNvPr id="31" name="Group 58"/>
            <p:cNvGrpSpPr>
              <a:grpSpLocks/>
            </p:cNvGrpSpPr>
            <p:nvPr/>
          </p:nvGrpSpPr>
          <p:grpSpPr bwMode="auto">
            <a:xfrm>
              <a:off x="5100638" y="4340225"/>
              <a:ext cx="685800" cy="1031875"/>
              <a:chOff x="1488" y="2989"/>
              <a:chExt cx="432" cy="650"/>
            </a:xfrm>
          </p:grpSpPr>
          <p:sp>
            <p:nvSpPr>
              <p:cNvPr id="23585" name="Oval 25"/>
              <p:cNvSpPr>
                <a:spLocks noChangeArrowheads="1"/>
              </p:cNvSpPr>
              <p:nvPr/>
            </p:nvSpPr>
            <p:spPr bwMode="auto">
              <a:xfrm>
                <a:off x="1488" y="3303"/>
                <a:ext cx="432"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cxnSp>
            <p:nvCxnSpPr>
              <p:cNvPr id="23586" name="AutoShape 26"/>
              <p:cNvCxnSpPr>
                <a:cxnSpLocks noChangeShapeType="1"/>
                <a:stCxn id="23573" idx="5"/>
                <a:endCxn id="23585" idx="0"/>
              </p:cNvCxnSpPr>
              <p:nvPr/>
            </p:nvCxnSpPr>
            <p:spPr bwMode="auto">
              <a:xfrm rot="16200000" flipH="1">
                <a:off x="1452" y="3051"/>
                <a:ext cx="313" cy="19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3587" name="Text Box 27"/>
              <p:cNvSpPr txBox="1">
                <a:spLocks noChangeArrowheads="1"/>
              </p:cNvSpPr>
              <p:nvPr/>
            </p:nvSpPr>
            <p:spPr bwMode="auto">
              <a:xfrm>
                <a:off x="1498" y="3363"/>
                <a:ext cx="35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Dec</a:t>
                </a:r>
              </a:p>
            </p:txBody>
          </p:sp>
        </p:grpSp>
        <p:grpSp>
          <p:nvGrpSpPr>
            <p:cNvPr id="35" name="Group 56"/>
            <p:cNvGrpSpPr>
              <a:grpSpLocks/>
            </p:cNvGrpSpPr>
            <p:nvPr/>
          </p:nvGrpSpPr>
          <p:grpSpPr bwMode="auto">
            <a:xfrm>
              <a:off x="6624638" y="4378325"/>
              <a:ext cx="798512" cy="841375"/>
              <a:chOff x="2448" y="3013"/>
              <a:chExt cx="503" cy="530"/>
            </a:xfrm>
          </p:grpSpPr>
          <p:sp>
            <p:nvSpPr>
              <p:cNvPr id="23582" name="Oval 28"/>
              <p:cNvSpPr>
                <a:spLocks noChangeArrowheads="1"/>
              </p:cNvSpPr>
              <p:nvPr/>
            </p:nvSpPr>
            <p:spPr bwMode="auto">
              <a:xfrm>
                <a:off x="2448" y="3207"/>
                <a:ext cx="432"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cxnSp>
            <p:nvCxnSpPr>
              <p:cNvPr id="23583" name="AutoShape 29"/>
              <p:cNvCxnSpPr>
                <a:cxnSpLocks noChangeShapeType="1"/>
                <a:stCxn id="23579" idx="3"/>
                <a:endCxn id="23582" idx="0"/>
              </p:cNvCxnSpPr>
              <p:nvPr/>
            </p:nvCxnSpPr>
            <p:spPr bwMode="auto">
              <a:xfrm rot="5400000">
                <a:off x="2711" y="2967"/>
                <a:ext cx="193" cy="286"/>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3584" name="Text Box 30"/>
              <p:cNvSpPr txBox="1">
                <a:spLocks noChangeArrowheads="1"/>
              </p:cNvSpPr>
              <p:nvPr/>
            </p:nvSpPr>
            <p:spPr bwMode="auto">
              <a:xfrm>
                <a:off x="2470" y="3246"/>
                <a:ext cx="34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Oct</a:t>
                </a:r>
              </a:p>
            </p:txBody>
          </p:sp>
        </p:grpSp>
        <p:grpSp>
          <p:nvGrpSpPr>
            <p:cNvPr id="39" name="Group 55"/>
            <p:cNvGrpSpPr>
              <a:grpSpLocks/>
            </p:cNvGrpSpPr>
            <p:nvPr/>
          </p:nvGrpSpPr>
          <p:grpSpPr bwMode="auto">
            <a:xfrm>
              <a:off x="7310438" y="3643313"/>
              <a:ext cx="762000" cy="814387"/>
              <a:chOff x="2880" y="2550"/>
              <a:chExt cx="480" cy="513"/>
            </a:xfrm>
          </p:grpSpPr>
          <p:sp>
            <p:nvSpPr>
              <p:cNvPr id="23579" name="Oval 31"/>
              <p:cNvSpPr>
                <a:spLocks noChangeArrowheads="1"/>
              </p:cNvSpPr>
              <p:nvPr/>
            </p:nvSpPr>
            <p:spPr bwMode="auto">
              <a:xfrm>
                <a:off x="2880" y="2727"/>
                <a:ext cx="480"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cxnSp>
            <p:nvCxnSpPr>
              <p:cNvPr id="23580" name="AutoShape 32"/>
              <p:cNvCxnSpPr>
                <a:cxnSpLocks noChangeShapeType="1"/>
                <a:endCxn id="23579" idx="0"/>
              </p:cNvCxnSpPr>
              <p:nvPr/>
            </p:nvCxnSpPr>
            <p:spPr bwMode="auto">
              <a:xfrm rot="16200000" flipH="1">
                <a:off x="2949" y="2556"/>
                <a:ext cx="177" cy="165"/>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3581" name="Text Box 33"/>
              <p:cNvSpPr txBox="1">
                <a:spLocks noChangeArrowheads="1"/>
              </p:cNvSpPr>
              <p:nvPr/>
            </p:nvSpPr>
            <p:spPr bwMode="auto">
              <a:xfrm>
                <a:off x="2910" y="2796"/>
                <a:ext cx="39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Sept</a:t>
                </a:r>
              </a:p>
            </p:txBody>
          </p:sp>
        </p:grpSp>
        <p:grpSp>
          <p:nvGrpSpPr>
            <p:cNvPr id="44" name="Group 53"/>
            <p:cNvGrpSpPr>
              <a:grpSpLocks/>
            </p:cNvGrpSpPr>
            <p:nvPr/>
          </p:nvGrpSpPr>
          <p:grpSpPr bwMode="auto">
            <a:xfrm>
              <a:off x="5481638" y="3643313"/>
              <a:ext cx="762000" cy="850900"/>
              <a:chOff x="1728" y="2550"/>
              <a:chExt cx="480" cy="536"/>
            </a:xfrm>
          </p:grpSpPr>
          <p:sp>
            <p:nvSpPr>
              <p:cNvPr id="23576" name="Oval 35"/>
              <p:cNvSpPr>
                <a:spLocks noChangeArrowheads="1"/>
              </p:cNvSpPr>
              <p:nvPr/>
            </p:nvSpPr>
            <p:spPr bwMode="auto">
              <a:xfrm>
                <a:off x="1728" y="2750"/>
                <a:ext cx="480"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cxnSp>
            <p:nvCxnSpPr>
              <p:cNvPr id="23577" name="AutoShape 36"/>
              <p:cNvCxnSpPr>
                <a:cxnSpLocks noChangeShapeType="1"/>
                <a:endCxn id="23576" idx="0"/>
              </p:cNvCxnSpPr>
              <p:nvPr/>
            </p:nvCxnSpPr>
            <p:spPr bwMode="auto">
              <a:xfrm rot="5400000">
                <a:off x="1934" y="2584"/>
                <a:ext cx="200" cy="132"/>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3578" name="Text Box 37"/>
              <p:cNvSpPr txBox="1">
                <a:spLocks noChangeArrowheads="1"/>
              </p:cNvSpPr>
              <p:nvPr/>
            </p:nvSpPr>
            <p:spPr bwMode="auto">
              <a:xfrm>
                <a:off x="1785" y="2796"/>
                <a:ext cx="38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July</a:t>
                </a:r>
              </a:p>
            </p:txBody>
          </p:sp>
        </p:grpSp>
        <p:grpSp>
          <p:nvGrpSpPr>
            <p:cNvPr id="48" name="Group 54"/>
            <p:cNvGrpSpPr>
              <a:grpSpLocks/>
            </p:cNvGrpSpPr>
            <p:nvPr/>
          </p:nvGrpSpPr>
          <p:grpSpPr bwMode="auto">
            <a:xfrm>
              <a:off x="4491038" y="3500438"/>
              <a:ext cx="762000" cy="919162"/>
              <a:chOff x="1104" y="2450"/>
              <a:chExt cx="480" cy="579"/>
            </a:xfrm>
          </p:grpSpPr>
          <p:sp>
            <p:nvSpPr>
              <p:cNvPr id="23573" name="Oval 38"/>
              <p:cNvSpPr>
                <a:spLocks noChangeArrowheads="1"/>
              </p:cNvSpPr>
              <p:nvPr/>
            </p:nvSpPr>
            <p:spPr bwMode="auto">
              <a:xfrm>
                <a:off x="1104" y="2693"/>
                <a:ext cx="480"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cxnSp>
            <p:nvCxnSpPr>
              <p:cNvPr id="23574" name="AutoShape 39"/>
              <p:cNvCxnSpPr>
                <a:cxnSpLocks noChangeShapeType="1"/>
              </p:cNvCxnSpPr>
              <p:nvPr/>
            </p:nvCxnSpPr>
            <p:spPr bwMode="auto">
              <a:xfrm rot="16200000" flipH="1">
                <a:off x="1065" y="2495"/>
                <a:ext cx="270" cy="180"/>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3575" name="Text Box 40"/>
              <p:cNvSpPr txBox="1">
                <a:spLocks noChangeArrowheads="1"/>
              </p:cNvSpPr>
              <p:nvPr/>
            </p:nvSpPr>
            <p:spPr bwMode="auto">
              <a:xfrm>
                <a:off x="1120" y="2741"/>
                <a:ext cx="3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Aug</a:t>
                </a:r>
              </a:p>
            </p:txBody>
          </p:sp>
        </p:grpSp>
        <p:grpSp>
          <p:nvGrpSpPr>
            <p:cNvPr id="52" name="Group 57"/>
            <p:cNvGrpSpPr>
              <a:grpSpLocks/>
            </p:cNvGrpSpPr>
            <p:nvPr/>
          </p:nvGrpSpPr>
          <p:grpSpPr bwMode="auto">
            <a:xfrm>
              <a:off x="5827713" y="5143500"/>
              <a:ext cx="887412" cy="928688"/>
              <a:chOff x="1946" y="3495"/>
              <a:chExt cx="559" cy="585"/>
            </a:xfrm>
          </p:grpSpPr>
          <p:sp>
            <p:nvSpPr>
              <p:cNvPr id="23570" name="Oval 41"/>
              <p:cNvSpPr>
                <a:spLocks noChangeArrowheads="1"/>
              </p:cNvSpPr>
              <p:nvPr/>
            </p:nvSpPr>
            <p:spPr bwMode="auto">
              <a:xfrm>
                <a:off x="1946" y="3744"/>
                <a:ext cx="480" cy="336"/>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1" hangingPunct="1"/>
                <a:endParaRPr lang="zh-CN" altLang="en-US" sz="1800" b="1">
                  <a:latin typeface="Times New Roman" pitchFamily="18" charset="0"/>
                </a:endParaRPr>
              </a:p>
            </p:txBody>
          </p:sp>
          <p:cxnSp>
            <p:nvCxnSpPr>
              <p:cNvPr id="23571" name="AutoShape 42"/>
              <p:cNvCxnSpPr>
                <a:cxnSpLocks noChangeShapeType="1"/>
                <a:endCxn id="23570" idx="0"/>
              </p:cNvCxnSpPr>
              <p:nvPr/>
            </p:nvCxnSpPr>
            <p:spPr bwMode="auto">
              <a:xfrm rot="10800000" flipV="1">
                <a:off x="2186" y="3495"/>
                <a:ext cx="319" cy="249"/>
              </a:xfrm>
              <a:prstGeom prst="straightConnector1">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23572" name="Text Box 43"/>
              <p:cNvSpPr txBox="1">
                <a:spLocks noChangeArrowheads="1"/>
              </p:cNvSpPr>
              <p:nvPr/>
            </p:nvSpPr>
            <p:spPr bwMode="auto">
              <a:xfrm>
                <a:off x="2020" y="3786"/>
                <a:ext cx="36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1800" b="1">
                    <a:latin typeface="Times New Roman" pitchFamily="18" charset="0"/>
                  </a:rPr>
                  <a:t>Nov</a:t>
                </a:r>
              </a:p>
            </p:txBody>
          </p:sp>
        </p:grpSp>
      </p:grpSp>
      <p:sp>
        <p:nvSpPr>
          <p:cNvPr id="54" name="矩形 1"/>
          <p:cNvSpPr>
            <a:spLocks noChangeArrowheads="1"/>
          </p:cNvSpPr>
          <p:nvPr/>
        </p:nvSpPr>
        <p:spPr bwMode="auto">
          <a:xfrm>
            <a:off x="741863" y="269082"/>
            <a:ext cx="36295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400" b="1" dirty="0">
                <a:solidFill>
                  <a:schemeClr val="hlink"/>
                </a:solidFill>
                <a:latin typeface="Times New Roman" pitchFamily="18" charset="0"/>
                <a:sym typeface="Wingdings" pitchFamily="2" charset="2"/>
              </a:rPr>
              <a:t> </a:t>
            </a:r>
            <a:r>
              <a:rPr lang="zh-CN" altLang="en-US" sz="2400" b="1" dirty="0">
                <a:latin typeface="Times New Roman" pitchFamily="18" charset="0"/>
              </a:rPr>
              <a:t>二叉搜索树的</a:t>
            </a:r>
            <a:r>
              <a:rPr lang="zh-CN" altLang="en-US" sz="2400" b="1" dirty="0" smtClean="0">
                <a:latin typeface="Times New Roman" pitchFamily="18" charset="0"/>
              </a:rPr>
              <a:t>插入范例</a:t>
            </a:r>
            <a:endParaRPr lang="zh-CN" altLang="en-US" sz="2400" b="1" dirty="0">
              <a:latin typeface="Times New Roman" pitchFamily="18" charset="0"/>
            </a:endParaRPr>
          </a:p>
        </p:txBody>
      </p:sp>
    </p:spTree>
    <p:extLst>
      <p:ext uri="{BB962C8B-B14F-4D97-AF65-F5344CB8AC3E}">
        <p14:creationId xmlns:p14="http://schemas.microsoft.com/office/powerpoint/2010/main" val="3303462326"/>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灯片编号占位符 1"/>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fld id="{782C324E-BB07-4FF0-AFB4-DA7AE9C22FA9}" type="slidenum">
              <a:rPr lang="en-US" altLang="zh-CN" smtClean="0">
                <a:solidFill>
                  <a:srgbClr val="000000"/>
                </a:solidFill>
                <a:latin typeface="Times New Roman" pitchFamily="18" charset="0"/>
              </a:rPr>
              <a:pPr/>
              <a:t>116</a:t>
            </a:fld>
            <a:endParaRPr lang="en-US" altLang="zh-CN" smtClean="0">
              <a:solidFill>
                <a:srgbClr val="000000"/>
              </a:solidFill>
              <a:latin typeface="Times New Roman" pitchFamily="18" charset="0"/>
            </a:endParaRPr>
          </a:p>
        </p:txBody>
      </p:sp>
      <p:sp>
        <p:nvSpPr>
          <p:cNvPr id="24579" name="TextBox 3"/>
          <p:cNvSpPr txBox="1">
            <a:spLocks noChangeArrowheads="1"/>
          </p:cNvSpPr>
          <p:nvPr>
            <p:custDataLst>
              <p:tags r:id="rId2"/>
            </p:custDataLst>
          </p:nvPr>
        </p:nvSpPr>
        <p:spPr bwMode="auto">
          <a:xfrm>
            <a:off x="914400" y="635000"/>
            <a:ext cx="7315200" cy="214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400" dirty="0"/>
              <a:t>将</a:t>
            </a:r>
            <a:r>
              <a:rPr lang="en-US" altLang="zh-CN" sz="2400" dirty="0"/>
              <a:t>{5, 2, 7, 3, 4, 1, 6}</a:t>
            </a:r>
            <a:r>
              <a:rPr lang="zh-CN" altLang="en-US" sz="2400" dirty="0"/>
              <a:t>依次插入初始为空的二叉搜索树。则该树的后序遍历结果是：</a:t>
            </a:r>
            <a:endParaRPr lang="zh-CN" altLang="en-US" sz="2400" dirty="0">
              <a:solidFill>
                <a:srgbClr val="000000"/>
              </a:solidFill>
              <a:latin typeface="Microsoft Yahei" pitchFamily="34" charset="-122"/>
              <a:ea typeface="Microsoft Yahei" pitchFamily="34" charset="-122"/>
              <a:sym typeface="Microsoft Yahei" pitchFamily="34" charset="-122"/>
            </a:endParaRPr>
          </a:p>
        </p:txBody>
      </p:sp>
      <p:sp>
        <p:nvSpPr>
          <p:cNvPr id="24580" name="TextBox 4"/>
          <p:cNvSpPr txBox="1">
            <a:spLocks noChangeArrowheads="1"/>
          </p:cNvSpPr>
          <p:nvPr>
            <p:custDataLst>
              <p:tags r:id="rId3"/>
            </p:custDataLst>
          </p:nvPr>
        </p:nvSpPr>
        <p:spPr bwMode="auto">
          <a:xfrm>
            <a:off x="1828800" y="278606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600">
                <a:solidFill>
                  <a:srgbClr val="000000"/>
                </a:solidFill>
                <a:latin typeface="Microsoft Yahei" pitchFamily="34" charset="-122"/>
                <a:ea typeface="Microsoft Yahei" pitchFamily="34" charset="-122"/>
                <a:sym typeface="Microsoft Yahei" pitchFamily="34" charset="-122"/>
              </a:rPr>
              <a:t>1, 2, 3, 4, 6, 7, 5</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24581" name="TextBox 5"/>
          <p:cNvSpPr txBox="1">
            <a:spLocks noChangeArrowheads="1"/>
          </p:cNvSpPr>
          <p:nvPr>
            <p:custDataLst>
              <p:tags r:id="rId4"/>
            </p:custDataLst>
          </p:nvPr>
        </p:nvSpPr>
        <p:spPr bwMode="auto">
          <a:xfrm>
            <a:off x="1828800" y="364331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600">
                <a:solidFill>
                  <a:srgbClr val="000000"/>
                </a:solidFill>
                <a:latin typeface="Microsoft Yahei" pitchFamily="34" charset="-122"/>
                <a:ea typeface="Microsoft Yahei" pitchFamily="34" charset="-122"/>
                <a:sym typeface="Microsoft Yahei" pitchFamily="34" charset="-122"/>
              </a:rPr>
              <a:t>1, 4, 2, 6, 3, 7, 5</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24582" name="TextBox 6"/>
          <p:cNvSpPr txBox="1">
            <a:spLocks noChangeArrowheads="1"/>
          </p:cNvSpPr>
          <p:nvPr>
            <p:custDataLst>
              <p:tags r:id="rId5"/>
            </p:custDataLst>
          </p:nvPr>
        </p:nvSpPr>
        <p:spPr bwMode="auto">
          <a:xfrm>
            <a:off x="1828800" y="450056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600">
                <a:solidFill>
                  <a:srgbClr val="000000"/>
                </a:solidFill>
                <a:latin typeface="Microsoft Yahei" pitchFamily="34" charset="-122"/>
                <a:ea typeface="Microsoft Yahei" pitchFamily="34" charset="-122"/>
                <a:sym typeface="Microsoft Yahei" pitchFamily="34" charset="-122"/>
              </a:rPr>
              <a:t>1, 4, 3, 2, 6, 7, 5</a:t>
            </a:r>
          </a:p>
        </p:txBody>
      </p:sp>
      <p:sp>
        <p:nvSpPr>
          <p:cNvPr id="24583" name="TextBox 7"/>
          <p:cNvSpPr txBox="1">
            <a:spLocks noChangeArrowheads="1"/>
          </p:cNvSpPr>
          <p:nvPr>
            <p:custDataLst>
              <p:tags r:id="rId6"/>
            </p:custDataLst>
          </p:nvPr>
        </p:nvSpPr>
        <p:spPr bwMode="auto">
          <a:xfrm>
            <a:off x="1828800" y="535781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600">
                <a:solidFill>
                  <a:srgbClr val="000000"/>
                </a:solidFill>
                <a:latin typeface="Microsoft Yahei" pitchFamily="34" charset="-122"/>
                <a:ea typeface="Microsoft Yahei" pitchFamily="34" charset="-122"/>
                <a:sym typeface="Microsoft Yahei" pitchFamily="34" charset="-122"/>
              </a:rPr>
              <a:t>5, 4, 3, 7, 6, 2, 1</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24584" name="椭圆 8"/>
          <p:cNvSpPr>
            <a:spLocks noChangeAspect="1"/>
          </p:cNvSpPr>
          <p:nvPr>
            <p:custDataLst>
              <p:tags r:id="rId7"/>
            </p:custDataLst>
          </p:nvPr>
        </p:nvSpPr>
        <p:spPr bwMode="auto">
          <a:xfrm>
            <a:off x="1114425" y="284956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A</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24585" name="椭圆 9"/>
          <p:cNvSpPr>
            <a:spLocks noChangeAspect="1"/>
          </p:cNvSpPr>
          <p:nvPr>
            <p:custDataLst>
              <p:tags r:id="rId8"/>
            </p:custDataLst>
          </p:nvPr>
        </p:nvSpPr>
        <p:spPr bwMode="auto">
          <a:xfrm>
            <a:off x="1114425" y="370681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B</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24586" name="椭圆 10"/>
          <p:cNvSpPr>
            <a:spLocks noChangeAspect="1"/>
          </p:cNvSpPr>
          <p:nvPr>
            <p:custDataLst>
              <p:tags r:id="rId9"/>
            </p:custDataLst>
          </p:nvPr>
        </p:nvSpPr>
        <p:spPr bwMode="auto">
          <a:xfrm>
            <a:off x="1114425" y="4564063"/>
            <a:ext cx="514350" cy="514350"/>
          </a:xfrm>
          <a:prstGeom prst="ellipse">
            <a:avLst/>
          </a:prstGeom>
          <a:solidFill>
            <a:srgbClr val="00FF00"/>
          </a:solidFill>
          <a:ln w="254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C</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24587" name="椭圆 11"/>
          <p:cNvSpPr>
            <a:spLocks noChangeAspect="1"/>
          </p:cNvSpPr>
          <p:nvPr>
            <p:custDataLst>
              <p:tags r:id="rId10"/>
            </p:custDataLst>
          </p:nvPr>
        </p:nvSpPr>
        <p:spPr bwMode="auto">
          <a:xfrm>
            <a:off x="1114425" y="542131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D</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24588" name="圆角矩形 12"/>
          <p:cNvSpPr>
            <a:spLocks noChangeArrowheads="1"/>
          </p:cNvSpPr>
          <p:nvPr>
            <p:custDataLst>
              <p:tags r:id="rId11"/>
            </p:custDataLst>
          </p:nvPr>
        </p:nvSpPr>
        <p:spPr bwMode="auto">
          <a:xfrm>
            <a:off x="6172200" y="6215063"/>
            <a:ext cx="1543050" cy="411162"/>
          </a:xfrm>
          <a:prstGeom prst="roundRect">
            <a:avLst>
              <a:gd name="adj" fmla="val 16667"/>
            </a:avLst>
          </a:prstGeom>
          <a:solidFill>
            <a:srgbClr val="808080"/>
          </a:solidFill>
          <a:ln w="38100" algn="ctr">
            <a:solidFill>
              <a:srgbClr val="000000"/>
            </a:solidFill>
            <a:round/>
            <a:headEnd/>
            <a:tailEnd/>
          </a:ln>
        </p:spPr>
        <p:txBody>
          <a:bodyPr anchor="ctr" anchorCtr="1"/>
          <a:lstStyle/>
          <a:p>
            <a:pPr eaLnBrk="1" hangingPunct="1"/>
            <a:r>
              <a:rPr kumimoji="1" lang="zh-CN" altLang="en-US" sz="1600">
                <a:solidFill>
                  <a:srgbClr val="FFFFFF"/>
                </a:solidFill>
                <a:latin typeface="Microsoft Yahei" pitchFamily="34" charset="-122"/>
                <a:ea typeface="Microsoft Yahei" pitchFamily="34" charset="-122"/>
                <a:sym typeface="Microsoft Yahei" pitchFamily="34" charset="-122"/>
              </a:rPr>
              <a:t>提交</a:t>
            </a:r>
          </a:p>
        </p:txBody>
      </p:sp>
      <p:grpSp>
        <p:nvGrpSpPr>
          <p:cNvPr id="24589" name="组合 17"/>
          <p:cNvGrpSpPr>
            <a:grpSpLocks/>
          </p:cNvGrpSpPr>
          <p:nvPr>
            <p:custDataLst>
              <p:tags r:id="rId12"/>
            </p:custDataLst>
          </p:nvPr>
        </p:nvGrpSpPr>
        <p:grpSpPr bwMode="auto">
          <a:xfrm>
            <a:off x="0" y="0"/>
            <a:ext cx="9144000" cy="635000"/>
            <a:chOff x="0" y="0"/>
            <a:chExt cx="9144000" cy="635000"/>
          </a:xfrm>
        </p:grpSpPr>
        <p:sp>
          <p:nvSpPr>
            <p:cNvPr id="24591" name="TitleBackground"/>
            <p:cNvSpPr>
              <a:spLocks noChangeArrowheads="1"/>
            </p:cNvSpPr>
            <p:nvPr>
              <p:custDataLst>
                <p:tags r:id="rId14"/>
              </p:custDataLst>
            </p:nvPr>
          </p:nvSpPr>
          <p:spPr bwMode="auto">
            <a:xfrm>
              <a:off x="0" y="0"/>
              <a:ext cx="9144000" cy="635000"/>
            </a:xfrm>
            <a:prstGeom prst="rect">
              <a:avLst/>
            </a:prstGeom>
            <a:solidFill>
              <a:srgbClr val="F6F7F8"/>
            </a:solidFill>
            <a:ln>
              <a:noFill/>
            </a:ln>
            <a:extLst>
              <a:ext uri="{91240B29-F687-4F45-9708-019B960494DF}">
                <a14:hiddenLine xmlns:a14="http://schemas.microsoft.com/office/drawing/2010/main" w="9525" algn="ctr">
                  <a:solidFill>
                    <a:schemeClr val="tx1"/>
                  </a:solidFill>
                  <a:round/>
                  <a:headEnd/>
                  <a:tailEnd/>
                </a14:hiddenLine>
              </a:ext>
            </a:extLst>
          </p:spPr>
          <p:txBody>
            <a:bodyPr/>
            <a:lstStyle/>
            <a:p>
              <a:pPr eaLnBrk="1" hangingPunct="1"/>
              <a:endParaRPr kumimoji="1" lang="zh-CN" altLang="en-US" sz="2400">
                <a:latin typeface="Times New Roman" pitchFamily="18" charset="0"/>
              </a:endParaRPr>
            </a:p>
          </p:txBody>
        </p:sp>
        <p:sp>
          <p:nvSpPr>
            <p:cNvPr id="24592" name="ColorBlock"/>
            <p:cNvSpPr>
              <a:spLocks noChangeArrowheads="1"/>
            </p:cNvSpPr>
            <p:nvPr>
              <p:custDataLst>
                <p:tags r:id="rId15"/>
              </p:custDataLst>
            </p:nvPr>
          </p:nvSpPr>
          <p:spPr bwMode="auto">
            <a:xfrm>
              <a:off x="0" y="0"/>
              <a:ext cx="190500" cy="635000"/>
            </a:xfrm>
            <a:prstGeom prst="rect">
              <a:avLst/>
            </a:prstGeom>
            <a:solidFill>
              <a:srgbClr val="639EF4"/>
            </a:solidFill>
            <a:ln>
              <a:noFill/>
            </a:ln>
            <a:extLst>
              <a:ext uri="{91240B29-F687-4F45-9708-019B960494DF}">
                <a14:hiddenLine xmlns:a14="http://schemas.microsoft.com/office/drawing/2010/main" w="9525" algn="ctr">
                  <a:solidFill>
                    <a:schemeClr val="tx1"/>
                  </a:solidFill>
                  <a:round/>
                  <a:headEnd/>
                  <a:tailEnd/>
                </a14:hiddenLine>
              </a:ext>
            </a:extLst>
          </p:spPr>
          <p:txBody>
            <a:bodyPr/>
            <a:lstStyle/>
            <a:p>
              <a:pPr eaLnBrk="1" hangingPunct="1"/>
              <a:endParaRPr kumimoji="1" lang="zh-CN" altLang="en-US" sz="2400">
                <a:latin typeface="Times New Roman" pitchFamily="18" charset="0"/>
              </a:endParaRPr>
            </a:p>
          </p:txBody>
        </p:sp>
        <p:sp>
          <p:nvSpPr>
            <p:cNvPr id="24593" name="TypeText"/>
            <p:cNvSpPr txBox="1">
              <a:spLocks noChangeArrowheads="1"/>
            </p:cNvSpPr>
            <p:nvPr>
              <p:custDataLst>
                <p:tags r:id="rId16"/>
              </p:custDataLst>
            </p:nvPr>
          </p:nvSpPr>
          <p:spPr bwMode="auto">
            <a:xfrm>
              <a:off x="254000" y="0"/>
              <a:ext cx="190500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600">
                  <a:solidFill>
                    <a:srgbClr val="000000"/>
                  </a:solidFill>
                  <a:latin typeface="Microsoft Yahei" pitchFamily="34" charset="-122"/>
                  <a:ea typeface="Microsoft Yahei" pitchFamily="34" charset="-122"/>
                  <a:sym typeface="Microsoft Yahei" pitchFamily="34" charset="-122"/>
                </a:rPr>
                <a:t>单选题</a:t>
              </a:r>
            </a:p>
          </p:txBody>
        </p:sp>
        <p:sp>
          <p:nvSpPr>
            <p:cNvPr id="24594" name="TipText"/>
            <p:cNvSpPr txBox="1">
              <a:spLocks noChangeArrowheads="1"/>
            </p:cNvSpPr>
            <p:nvPr>
              <p:custDataLst>
                <p:tags r:id="rId17"/>
              </p:custDataLst>
            </p:nvPr>
          </p:nvSpPr>
          <p:spPr bwMode="auto">
            <a:xfrm>
              <a:off x="1525905" y="109220"/>
              <a:ext cx="22860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000">
                  <a:solidFill>
                    <a:srgbClr val="808080"/>
                  </a:solidFill>
                  <a:latin typeface="Microsoft Yahei" pitchFamily="34" charset="-122"/>
                  <a:ea typeface="Microsoft Yahei" pitchFamily="34" charset="-122"/>
                  <a:sym typeface="Microsoft Yahei" pitchFamily="34" charset="-122"/>
                </a:rPr>
                <a:t>1</a:t>
              </a:r>
              <a:r>
                <a:rPr lang="zh-CN" altLang="en-US" sz="2000">
                  <a:solidFill>
                    <a:srgbClr val="808080"/>
                  </a:solidFill>
                  <a:latin typeface="Microsoft Yahei" pitchFamily="34" charset="-122"/>
                  <a:ea typeface="Microsoft Yahei" pitchFamily="34" charset="-122"/>
                  <a:sym typeface="Microsoft Yahei" pitchFamily="34" charset="-122"/>
                </a:rPr>
                <a:t>分</a:t>
              </a:r>
            </a:p>
          </p:txBody>
        </p:sp>
      </p:grpSp>
      <p:pic>
        <p:nvPicPr>
          <p:cNvPr id="24590" name="图片 2"/>
          <p:cNvPicPr>
            <a:picLocks/>
          </p:cNvPicPr>
          <p:nvPr>
            <p:custDataLst>
              <p:tags r:id="rId13"/>
            </p:custDataLst>
          </p:nvPr>
        </p:nvPicPr>
        <p:blipFill>
          <a:blip r:embed="rId19">
            <a:extLst>
              <a:ext uri="{28A0092B-C50C-407E-A947-70E740481C1C}">
                <a14:useLocalDpi xmlns:a14="http://schemas.microsoft.com/office/drawing/2010/main" val="0"/>
              </a:ext>
            </a:extLst>
          </a:blip>
          <a:srcRect/>
          <a:stretch>
            <a:fillRect/>
          </a:stretch>
        </p:blipFill>
        <p:spPr bwMode="auto">
          <a:xfrm>
            <a:off x="7594600" y="63500"/>
            <a:ext cx="14224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2489386298"/>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灯片编号占位符 1"/>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fld id="{014575B3-7A87-4B0B-A1B0-6CB696340FB6}" type="slidenum">
              <a:rPr lang="en-US" altLang="zh-CN" smtClean="0">
                <a:solidFill>
                  <a:srgbClr val="000000"/>
                </a:solidFill>
                <a:latin typeface="Times New Roman" pitchFamily="18" charset="0"/>
              </a:rPr>
              <a:pPr/>
              <a:t>117</a:t>
            </a:fld>
            <a:endParaRPr lang="en-US" altLang="zh-CN" smtClean="0">
              <a:solidFill>
                <a:srgbClr val="000000"/>
              </a:solidFill>
              <a:latin typeface="Times New Roman" pitchFamily="18" charset="0"/>
            </a:endParaRPr>
          </a:p>
        </p:txBody>
      </p:sp>
      <p:sp>
        <p:nvSpPr>
          <p:cNvPr id="25603" name="TextBox 3"/>
          <p:cNvSpPr txBox="1">
            <a:spLocks noChangeArrowheads="1"/>
          </p:cNvSpPr>
          <p:nvPr>
            <p:custDataLst>
              <p:tags r:id="rId2"/>
            </p:custDataLst>
          </p:nvPr>
        </p:nvSpPr>
        <p:spPr bwMode="auto">
          <a:xfrm>
            <a:off x="914400" y="635000"/>
            <a:ext cx="7315200" cy="214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400" dirty="0"/>
              <a:t>有数据</a:t>
            </a:r>
            <a:r>
              <a:rPr lang="en-US" altLang="zh-CN" sz="2400" dirty="0"/>
              <a:t>{53</a:t>
            </a:r>
            <a:r>
              <a:rPr lang="zh-CN" altLang="en-US" sz="2400" dirty="0"/>
              <a:t>，</a:t>
            </a:r>
            <a:r>
              <a:rPr lang="en-US" altLang="zh-CN" sz="2400" dirty="0"/>
              <a:t>30</a:t>
            </a:r>
            <a:r>
              <a:rPr lang="zh-CN" altLang="en-US" sz="2400" dirty="0"/>
              <a:t>，</a:t>
            </a:r>
            <a:r>
              <a:rPr lang="en-US" altLang="zh-CN" sz="2400" dirty="0"/>
              <a:t>37</a:t>
            </a:r>
            <a:r>
              <a:rPr lang="zh-CN" altLang="en-US" sz="2400" dirty="0"/>
              <a:t>，</a:t>
            </a:r>
            <a:r>
              <a:rPr lang="en-US" altLang="zh-CN" sz="2400" dirty="0"/>
              <a:t>12</a:t>
            </a:r>
            <a:r>
              <a:rPr lang="zh-CN" altLang="en-US" sz="2400" dirty="0"/>
              <a:t>，</a:t>
            </a:r>
            <a:r>
              <a:rPr lang="en-US" altLang="zh-CN" sz="2400" dirty="0"/>
              <a:t>45</a:t>
            </a:r>
            <a:r>
              <a:rPr lang="zh-CN" altLang="en-US" sz="2400" dirty="0"/>
              <a:t>，</a:t>
            </a:r>
            <a:r>
              <a:rPr lang="en-US" altLang="zh-CN" sz="2400" dirty="0"/>
              <a:t>24</a:t>
            </a:r>
            <a:r>
              <a:rPr lang="zh-CN" altLang="en-US" sz="2400" dirty="0"/>
              <a:t>，</a:t>
            </a:r>
            <a:r>
              <a:rPr lang="en-US" altLang="zh-CN" sz="2400" dirty="0"/>
              <a:t>96}</a:t>
            </a:r>
            <a:r>
              <a:rPr lang="zh-CN" altLang="en-US" sz="2400" dirty="0"/>
              <a:t>，从空二叉树开始逐步插入数据形成二叉搜索树，若希望高度最小，应选择下列（）的序列输入。</a:t>
            </a:r>
            <a:endParaRPr lang="zh-CN" altLang="en-US" sz="2400" dirty="0">
              <a:solidFill>
                <a:srgbClr val="000000"/>
              </a:solidFill>
              <a:latin typeface="Microsoft Yahei" pitchFamily="34" charset="-122"/>
              <a:ea typeface="Microsoft Yahei" pitchFamily="34" charset="-122"/>
              <a:sym typeface="Microsoft Yahei" pitchFamily="34" charset="-122"/>
            </a:endParaRPr>
          </a:p>
        </p:txBody>
      </p:sp>
      <p:sp>
        <p:nvSpPr>
          <p:cNvPr id="25604" name="TextBox 4"/>
          <p:cNvSpPr txBox="1">
            <a:spLocks noChangeArrowheads="1"/>
          </p:cNvSpPr>
          <p:nvPr>
            <p:custDataLst>
              <p:tags r:id="rId3"/>
            </p:custDataLst>
          </p:nvPr>
        </p:nvSpPr>
        <p:spPr bwMode="auto">
          <a:xfrm>
            <a:off x="1828800" y="278606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800"/>
              <a:t>37</a:t>
            </a:r>
            <a:r>
              <a:rPr lang="zh-CN" altLang="en-US" sz="2800"/>
              <a:t>，</a:t>
            </a:r>
            <a:r>
              <a:rPr lang="en-US" altLang="zh-CN" sz="2800"/>
              <a:t>24</a:t>
            </a:r>
            <a:r>
              <a:rPr lang="zh-CN" altLang="en-US" sz="2800"/>
              <a:t>，</a:t>
            </a:r>
            <a:r>
              <a:rPr lang="en-US" altLang="zh-CN" sz="2800"/>
              <a:t>12</a:t>
            </a:r>
            <a:r>
              <a:rPr lang="zh-CN" altLang="en-US" sz="2800"/>
              <a:t>，</a:t>
            </a:r>
            <a:r>
              <a:rPr lang="en-US" altLang="zh-CN" sz="2800"/>
              <a:t>30</a:t>
            </a:r>
            <a:r>
              <a:rPr lang="zh-CN" altLang="en-US" sz="2800"/>
              <a:t>，</a:t>
            </a:r>
            <a:r>
              <a:rPr lang="en-US" altLang="zh-CN" sz="2800"/>
              <a:t>53</a:t>
            </a:r>
            <a:r>
              <a:rPr lang="zh-CN" altLang="en-US" sz="2800"/>
              <a:t>，</a:t>
            </a:r>
            <a:r>
              <a:rPr lang="en-US" altLang="zh-CN" sz="2800"/>
              <a:t>45</a:t>
            </a:r>
            <a:r>
              <a:rPr lang="zh-CN" altLang="en-US" sz="2800"/>
              <a:t>，</a:t>
            </a:r>
            <a:r>
              <a:rPr lang="en-US" altLang="zh-CN" sz="2800"/>
              <a:t>96</a:t>
            </a:r>
          </a:p>
        </p:txBody>
      </p:sp>
      <p:sp>
        <p:nvSpPr>
          <p:cNvPr id="25605" name="TextBox 5"/>
          <p:cNvSpPr txBox="1">
            <a:spLocks noChangeArrowheads="1"/>
          </p:cNvSpPr>
          <p:nvPr>
            <p:custDataLst>
              <p:tags r:id="rId4"/>
            </p:custDataLst>
          </p:nvPr>
        </p:nvSpPr>
        <p:spPr bwMode="auto">
          <a:xfrm>
            <a:off x="1828800" y="364331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600">
                <a:solidFill>
                  <a:srgbClr val="000000"/>
                </a:solidFill>
                <a:latin typeface="Microsoft Yahei" pitchFamily="34" charset="-122"/>
                <a:ea typeface="Microsoft Yahei" pitchFamily="34" charset="-122"/>
                <a:sym typeface="Microsoft Yahei" pitchFamily="34" charset="-122"/>
              </a:rPr>
              <a:t>45</a:t>
            </a:r>
            <a:r>
              <a:rPr lang="zh-CN" altLang="en-US" sz="2600">
                <a:solidFill>
                  <a:srgbClr val="000000"/>
                </a:solidFill>
                <a:latin typeface="Microsoft Yahei" pitchFamily="34" charset="-122"/>
                <a:ea typeface="Microsoft Yahei" pitchFamily="34" charset="-122"/>
                <a:sym typeface="Microsoft Yahei" pitchFamily="34" charset="-122"/>
              </a:rPr>
              <a:t>，</a:t>
            </a:r>
            <a:r>
              <a:rPr lang="en-US" altLang="zh-CN" sz="2600">
                <a:solidFill>
                  <a:srgbClr val="000000"/>
                </a:solidFill>
                <a:latin typeface="Microsoft Yahei" pitchFamily="34" charset="-122"/>
                <a:ea typeface="Microsoft Yahei" pitchFamily="34" charset="-122"/>
                <a:sym typeface="Microsoft Yahei" pitchFamily="34" charset="-122"/>
              </a:rPr>
              <a:t>24</a:t>
            </a:r>
            <a:r>
              <a:rPr lang="zh-CN" altLang="en-US" sz="2600">
                <a:solidFill>
                  <a:srgbClr val="000000"/>
                </a:solidFill>
                <a:latin typeface="Microsoft Yahei" pitchFamily="34" charset="-122"/>
                <a:ea typeface="Microsoft Yahei" pitchFamily="34" charset="-122"/>
                <a:sym typeface="Microsoft Yahei" pitchFamily="34" charset="-122"/>
              </a:rPr>
              <a:t>，</a:t>
            </a:r>
            <a:r>
              <a:rPr lang="en-US" altLang="zh-CN" sz="2600">
                <a:solidFill>
                  <a:srgbClr val="000000"/>
                </a:solidFill>
                <a:latin typeface="Microsoft Yahei" pitchFamily="34" charset="-122"/>
                <a:ea typeface="Microsoft Yahei" pitchFamily="34" charset="-122"/>
                <a:sym typeface="Microsoft Yahei" pitchFamily="34" charset="-122"/>
              </a:rPr>
              <a:t>53</a:t>
            </a:r>
            <a:r>
              <a:rPr lang="zh-CN" altLang="en-US" sz="2600">
                <a:solidFill>
                  <a:srgbClr val="000000"/>
                </a:solidFill>
                <a:latin typeface="Microsoft Yahei" pitchFamily="34" charset="-122"/>
                <a:ea typeface="Microsoft Yahei" pitchFamily="34" charset="-122"/>
                <a:sym typeface="Microsoft Yahei" pitchFamily="34" charset="-122"/>
              </a:rPr>
              <a:t>，</a:t>
            </a:r>
            <a:r>
              <a:rPr lang="en-US" altLang="zh-CN" sz="2600">
                <a:solidFill>
                  <a:srgbClr val="000000"/>
                </a:solidFill>
                <a:latin typeface="Microsoft Yahei" pitchFamily="34" charset="-122"/>
                <a:ea typeface="Microsoft Yahei" pitchFamily="34" charset="-122"/>
                <a:sym typeface="Microsoft Yahei" pitchFamily="34" charset="-122"/>
              </a:rPr>
              <a:t>12</a:t>
            </a:r>
            <a:r>
              <a:rPr lang="zh-CN" altLang="en-US" sz="2600">
                <a:solidFill>
                  <a:srgbClr val="000000"/>
                </a:solidFill>
                <a:latin typeface="Microsoft Yahei" pitchFamily="34" charset="-122"/>
                <a:ea typeface="Microsoft Yahei" pitchFamily="34" charset="-122"/>
                <a:sym typeface="Microsoft Yahei" pitchFamily="34" charset="-122"/>
              </a:rPr>
              <a:t>，</a:t>
            </a:r>
            <a:r>
              <a:rPr lang="en-US" altLang="zh-CN" sz="2600">
                <a:solidFill>
                  <a:srgbClr val="000000"/>
                </a:solidFill>
                <a:latin typeface="Microsoft Yahei" pitchFamily="34" charset="-122"/>
                <a:ea typeface="Microsoft Yahei" pitchFamily="34" charset="-122"/>
                <a:sym typeface="Microsoft Yahei" pitchFamily="34" charset="-122"/>
              </a:rPr>
              <a:t>37</a:t>
            </a:r>
            <a:r>
              <a:rPr lang="zh-CN" altLang="en-US" sz="2600">
                <a:solidFill>
                  <a:srgbClr val="000000"/>
                </a:solidFill>
                <a:latin typeface="Microsoft Yahei" pitchFamily="34" charset="-122"/>
                <a:ea typeface="Microsoft Yahei" pitchFamily="34" charset="-122"/>
                <a:sym typeface="Microsoft Yahei" pitchFamily="34" charset="-122"/>
              </a:rPr>
              <a:t>，</a:t>
            </a:r>
            <a:r>
              <a:rPr lang="en-US" altLang="zh-CN" sz="2600">
                <a:solidFill>
                  <a:srgbClr val="000000"/>
                </a:solidFill>
                <a:latin typeface="Microsoft Yahei" pitchFamily="34" charset="-122"/>
                <a:ea typeface="Microsoft Yahei" pitchFamily="34" charset="-122"/>
                <a:sym typeface="Microsoft Yahei" pitchFamily="34" charset="-122"/>
              </a:rPr>
              <a:t>96</a:t>
            </a:r>
            <a:r>
              <a:rPr lang="zh-CN" altLang="en-US" sz="2600">
                <a:solidFill>
                  <a:srgbClr val="000000"/>
                </a:solidFill>
                <a:latin typeface="Microsoft Yahei" pitchFamily="34" charset="-122"/>
                <a:ea typeface="Microsoft Yahei" pitchFamily="34" charset="-122"/>
                <a:sym typeface="Microsoft Yahei" pitchFamily="34" charset="-122"/>
              </a:rPr>
              <a:t>，</a:t>
            </a:r>
            <a:r>
              <a:rPr lang="en-US" altLang="zh-CN" sz="2600">
                <a:solidFill>
                  <a:srgbClr val="000000"/>
                </a:solidFill>
                <a:latin typeface="Microsoft Yahei" pitchFamily="34" charset="-122"/>
                <a:ea typeface="Microsoft Yahei" pitchFamily="34" charset="-122"/>
                <a:sym typeface="Microsoft Yahei" pitchFamily="34" charset="-122"/>
              </a:rPr>
              <a:t>30</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25606" name="TextBox 6"/>
          <p:cNvSpPr txBox="1">
            <a:spLocks noChangeArrowheads="1"/>
          </p:cNvSpPr>
          <p:nvPr>
            <p:custDataLst>
              <p:tags r:id="rId5"/>
            </p:custDataLst>
          </p:nvPr>
        </p:nvSpPr>
        <p:spPr bwMode="auto">
          <a:xfrm>
            <a:off x="1828800" y="450056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800"/>
              <a:t>30</a:t>
            </a:r>
            <a:r>
              <a:rPr lang="zh-CN" altLang="en-US" sz="2800"/>
              <a:t>，</a:t>
            </a:r>
            <a:r>
              <a:rPr lang="en-US" altLang="zh-CN" sz="2800"/>
              <a:t>24</a:t>
            </a:r>
            <a:r>
              <a:rPr lang="zh-CN" altLang="en-US" sz="2800"/>
              <a:t>，</a:t>
            </a:r>
            <a:r>
              <a:rPr lang="en-US" altLang="zh-CN" sz="2800"/>
              <a:t>12</a:t>
            </a:r>
            <a:r>
              <a:rPr lang="zh-CN" altLang="en-US" sz="2800"/>
              <a:t>，</a:t>
            </a:r>
            <a:r>
              <a:rPr lang="en-US" altLang="zh-CN" sz="2800"/>
              <a:t>37</a:t>
            </a:r>
            <a:r>
              <a:rPr lang="zh-CN" altLang="en-US" sz="2800"/>
              <a:t>，</a:t>
            </a:r>
            <a:r>
              <a:rPr lang="en-US" altLang="zh-CN" sz="2800"/>
              <a:t>45</a:t>
            </a:r>
            <a:r>
              <a:rPr lang="zh-CN" altLang="en-US" sz="2800"/>
              <a:t>，</a:t>
            </a:r>
            <a:r>
              <a:rPr lang="en-US" altLang="zh-CN" sz="2800"/>
              <a:t>96</a:t>
            </a:r>
            <a:r>
              <a:rPr lang="zh-CN" altLang="en-US" sz="2800"/>
              <a:t>，</a:t>
            </a:r>
            <a:r>
              <a:rPr lang="en-US" altLang="zh-CN" sz="2800"/>
              <a:t>53</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25607" name="TextBox 7"/>
          <p:cNvSpPr txBox="1">
            <a:spLocks noChangeArrowheads="1"/>
          </p:cNvSpPr>
          <p:nvPr>
            <p:custDataLst>
              <p:tags r:id="rId6"/>
            </p:custDataLst>
          </p:nvPr>
        </p:nvSpPr>
        <p:spPr bwMode="auto">
          <a:xfrm>
            <a:off x="1828800" y="535781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800"/>
              <a:t>12</a:t>
            </a:r>
            <a:r>
              <a:rPr lang="zh-CN" altLang="en-US" sz="2800"/>
              <a:t>，</a:t>
            </a:r>
            <a:r>
              <a:rPr lang="en-US" altLang="zh-CN" sz="2800"/>
              <a:t>24</a:t>
            </a:r>
            <a:r>
              <a:rPr lang="zh-CN" altLang="en-US" sz="2800"/>
              <a:t>，</a:t>
            </a:r>
            <a:r>
              <a:rPr lang="en-US" altLang="zh-CN" sz="2800"/>
              <a:t>30</a:t>
            </a:r>
            <a:r>
              <a:rPr lang="zh-CN" altLang="en-US" sz="2800"/>
              <a:t>，</a:t>
            </a:r>
            <a:r>
              <a:rPr lang="en-US" altLang="zh-CN" sz="2800"/>
              <a:t>37</a:t>
            </a:r>
            <a:r>
              <a:rPr lang="zh-CN" altLang="en-US" sz="2800"/>
              <a:t>，</a:t>
            </a:r>
            <a:r>
              <a:rPr lang="en-US" altLang="zh-CN" sz="2800"/>
              <a:t>45</a:t>
            </a:r>
            <a:r>
              <a:rPr lang="zh-CN" altLang="en-US" sz="2800"/>
              <a:t>，</a:t>
            </a:r>
            <a:r>
              <a:rPr lang="en-US" altLang="zh-CN" sz="2800"/>
              <a:t>53</a:t>
            </a:r>
            <a:r>
              <a:rPr lang="zh-CN" altLang="en-US" sz="2800"/>
              <a:t>，</a:t>
            </a:r>
            <a:r>
              <a:rPr lang="en-US" altLang="zh-CN" sz="2800"/>
              <a:t>96</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25608" name="椭圆 8"/>
          <p:cNvSpPr>
            <a:spLocks noChangeAspect="1"/>
          </p:cNvSpPr>
          <p:nvPr>
            <p:custDataLst>
              <p:tags r:id="rId7"/>
            </p:custDataLst>
          </p:nvPr>
        </p:nvSpPr>
        <p:spPr bwMode="auto">
          <a:xfrm>
            <a:off x="1114425" y="2849563"/>
            <a:ext cx="514350" cy="514350"/>
          </a:xfrm>
          <a:prstGeom prst="ellipse">
            <a:avLst/>
          </a:prstGeom>
          <a:solidFill>
            <a:srgbClr val="00FF00"/>
          </a:solidFill>
          <a:ln w="254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A</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25609" name="椭圆 9"/>
          <p:cNvSpPr>
            <a:spLocks noChangeAspect="1"/>
          </p:cNvSpPr>
          <p:nvPr>
            <p:custDataLst>
              <p:tags r:id="rId8"/>
            </p:custDataLst>
          </p:nvPr>
        </p:nvSpPr>
        <p:spPr bwMode="auto">
          <a:xfrm>
            <a:off x="1114425" y="370681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B</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25610" name="椭圆 10"/>
          <p:cNvSpPr>
            <a:spLocks noChangeAspect="1"/>
          </p:cNvSpPr>
          <p:nvPr>
            <p:custDataLst>
              <p:tags r:id="rId9"/>
            </p:custDataLst>
          </p:nvPr>
        </p:nvSpPr>
        <p:spPr bwMode="auto">
          <a:xfrm>
            <a:off x="1114425" y="456406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C</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25611" name="椭圆 11"/>
          <p:cNvSpPr>
            <a:spLocks noChangeAspect="1"/>
          </p:cNvSpPr>
          <p:nvPr>
            <p:custDataLst>
              <p:tags r:id="rId10"/>
            </p:custDataLst>
          </p:nvPr>
        </p:nvSpPr>
        <p:spPr bwMode="auto">
          <a:xfrm>
            <a:off x="1114425" y="542131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D</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25612" name="圆角矩形 12"/>
          <p:cNvSpPr>
            <a:spLocks noChangeArrowheads="1"/>
          </p:cNvSpPr>
          <p:nvPr>
            <p:custDataLst>
              <p:tags r:id="rId11"/>
            </p:custDataLst>
          </p:nvPr>
        </p:nvSpPr>
        <p:spPr bwMode="auto">
          <a:xfrm>
            <a:off x="6172200" y="6215063"/>
            <a:ext cx="1543050" cy="411162"/>
          </a:xfrm>
          <a:prstGeom prst="roundRect">
            <a:avLst>
              <a:gd name="adj" fmla="val 16667"/>
            </a:avLst>
          </a:prstGeom>
          <a:solidFill>
            <a:srgbClr val="808080"/>
          </a:solidFill>
          <a:ln w="38100" algn="ctr">
            <a:solidFill>
              <a:srgbClr val="000000"/>
            </a:solidFill>
            <a:round/>
            <a:headEnd/>
            <a:tailEnd/>
          </a:ln>
        </p:spPr>
        <p:txBody>
          <a:bodyPr anchor="ctr" anchorCtr="1"/>
          <a:lstStyle/>
          <a:p>
            <a:pPr eaLnBrk="1" hangingPunct="1"/>
            <a:r>
              <a:rPr kumimoji="1" lang="zh-CN" altLang="en-US" sz="1600">
                <a:solidFill>
                  <a:srgbClr val="FFFFFF"/>
                </a:solidFill>
                <a:latin typeface="Microsoft Yahei" pitchFamily="34" charset="-122"/>
                <a:ea typeface="Microsoft Yahei" pitchFamily="34" charset="-122"/>
                <a:sym typeface="Microsoft Yahei" pitchFamily="34" charset="-122"/>
              </a:rPr>
              <a:t>提交</a:t>
            </a:r>
          </a:p>
        </p:txBody>
      </p:sp>
      <p:grpSp>
        <p:nvGrpSpPr>
          <p:cNvPr id="25613" name="组合 17"/>
          <p:cNvGrpSpPr>
            <a:grpSpLocks/>
          </p:cNvGrpSpPr>
          <p:nvPr>
            <p:custDataLst>
              <p:tags r:id="rId12"/>
            </p:custDataLst>
          </p:nvPr>
        </p:nvGrpSpPr>
        <p:grpSpPr bwMode="auto">
          <a:xfrm>
            <a:off x="0" y="0"/>
            <a:ext cx="9144000" cy="635000"/>
            <a:chOff x="0" y="0"/>
            <a:chExt cx="9144000" cy="635000"/>
          </a:xfrm>
        </p:grpSpPr>
        <p:sp>
          <p:nvSpPr>
            <p:cNvPr id="25615" name="TitleBackground"/>
            <p:cNvSpPr>
              <a:spLocks noChangeArrowheads="1"/>
            </p:cNvSpPr>
            <p:nvPr>
              <p:custDataLst>
                <p:tags r:id="rId14"/>
              </p:custDataLst>
            </p:nvPr>
          </p:nvSpPr>
          <p:spPr bwMode="auto">
            <a:xfrm>
              <a:off x="0" y="0"/>
              <a:ext cx="9144000" cy="635000"/>
            </a:xfrm>
            <a:prstGeom prst="rect">
              <a:avLst/>
            </a:prstGeom>
            <a:solidFill>
              <a:srgbClr val="F6F7F8"/>
            </a:solidFill>
            <a:ln>
              <a:noFill/>
            </a:ln>
            <a:extLst>
              <a:ext uri="{91240B29-F687-4F45-9708-019B960494DF}">
                <a14:hiddenLine xmlns:a14="http://schemas.microsoft.com/office/drawing/2010/main" w="9525" algn="ctr">
                  <a:solidFill>
                    <a:schemeClr val="tx1"/>
                  </a:solidFill>
                  <a:round/>
                  <a:headEnd/>
                  <a:tailEnd/>
                </a14:hiddenLine>
              </a:ext>
            </a:extLst>
          </p:spPr>
          <p:txBody>
            <a:bodyPr/>
            <a:lstStyle/>
            <a:p>
              <a:pPr eaLnBrk="1" hangingPunct="1"/>
              <a:endParaRPr kumimoji="1" lang="zh-CN" altLang="en-US" sz="2400">
                <a:latin typeface="Times New Roman" pitchFamily="18" charset="0"/>
              </a:endParaRPr>
            </a:p>
          </p:txBody>
        </p:sp>
        <p:sp>
          <p:nvSpPr>
            <p:cNvPr id="25616" name="ColorBlock"/>
            <p:cNvSpPr>
              <a:spLocks noChangeArrowheads="1"/>
            </p:cNvSpPr>
            <p:nvPr>
              <p:custDataLst>
                <p:tags r:id="rId15"/>
              </p:custDataLst>
            </p:nvPr>
          </p:nvSpPr>
          <p:spPr bwMode="auto">
            <a:xfrm>
              <a:off x="0" y="0"/>
              <a:ext cx="190500" cy="635000"/>
            </a:xfrm>
            <a:prstGeom prst="rect">
              <a:avLst/>
            </a:prstGeom>
            <a:solidFill>
              <a:srgbClr val="639EF4"/>
            </a:solidFill>
            <a:ln>
              <a:noFill/>
            </a:ln>
            <a:extLst>
              <a:ext uri="{91240B29-F687-4F45-9708-019B960494DF}">
                <a14:hiddenLine xmlns:a14="http://schemas.microsoft.com/office/drawing/2010/main" w="9525" algn="ctr">
                  <a:solidFill>
                    <a:schemeClr val="tx1"/>
                  </a:solidFill>
                  <a:round/>
                  <a:headEnd/>
                  <a:tailEnd/>
                </a14:hiddenLine>
              </a:ext>
            </a:extLst>
          </p:spPr>
          <p:txBody>
            <a:bodyPr/>
            <a:lstStyle/>
            <a:p>
              <a:pPr eaLnBrk="1" hangingPunct="1"/>
              <a:endParaRPr kumimoji="1" lang="zh-CN" altLang="en-US" sz="2400">
                <a:latin typeface="Times New Roman" pitchFamily="18" charset="0"/>
              </a:endParaRPr>
            </a:p>
          </p:txBody>
        </p:sp>
        <p:sp>
          <p:nvSpPr>
            <p:cNvPr id="25617" name="TypeText"/>
            <p:cNvSpPr txBox="1">
              <a:spLocks noChangeArrowheads="1"/>
            </p:cNvSpPr>
            <p:nvPr>
              <p:custDataLst>
                <p:tags r:id="rId16"/>
              </p:custDataLst>
            </p:nvPr>
          </p:nvSpPr>
          <p:spPr bwMode="auto">
            <a:xfrm>
              <a:off x="254000" y="0"/>
              <a:ext cx="190500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600">
                  <a:solidFill>
                    <a:srgbClr val="000000"/>
                  </a:solidFill>
                  <a:latin typeface="Microsoft Yahei" pitchFamily="34" charset="-122"/>
                  <a:ea typeface="Microsoft Yahei" pitchFamily="34" charset="-122"/>
                  <a:sym typeface="Microsoft Yahei" pitchFamily="34" charset="-122"/>
                </a:rPr>
                <a:t>单选题</a:t>
              </a:r>
            </a:p>
          </p:txBody>
        </p:sp>
        <p:sp>
          <p:nvSpPr>
            <p:cNvPr id="25618" name="TipText"/>
            <p:cNvSpPr txBox="1">
              <a:spLocks noChangeArrowheads="1"/>
            </p:cNvSpPr>
            <p:nvPr>
              <p:custDataLst>
                <p:tags r:id="rId17"/>
              </p:custDataLst>
            </p:nvPr>
          </p:nvSpPr>
          <p:spPr bwMode="auto">
            <a:xfrm>
              <a:off x="1525905" y="109220"/>
              <a:ext cx="22860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000">
                  <a:solidFill>
                    <a:srgbClr val="808080"/>
                  </a:solidFill>
                  <a:latin typeface="Microsoft Yahei" pitchFamily="34" charset="-122"/>
                  <a:ea typeface="Microsoft Yahei" pitchFamily="34" charset="-122"/>
                  <a:sym typeface="Microsoft Yahei" pitchFamily="34" charset="-122"/>
                </a:rPr>
                <a:t>1</a:t>
              </a:r>
              <a:r>
                <a:rPr lang="zh-CN" altLang="en-US" sz="2000">
                  <a:solidFill>
                    <a:srgbClr val="808080"/>
                  </a:solidFill>
                  <a:latin typeface="Microsoft Yahei" pitchFamily="34" charset="-122"/>
                  <a:ea typeface="Microsoft Yahei" pitchFamily="34" charset="-122"/>
                  <a:sym typeface="Microsoft Yahei" pitchFamily="34" charset="-122"/>
                </a:rPr>
                <a:t>分</a:t>
              </a:r>
            </a:p>
          </p:txBody>
        </p:sp>
      </p:grpSp>
      <p:pic>
        <p:nvPicPr>
          <p:cNvPr id="25614" name="图片 2"/>
          <p:cNvPicPr>
            <a:picLocks/>
          </p:cNvPicPr>
          <p:nvPr>
            <p:custDataLst>
              <p:tags r:id="rId13"/>
            </p:custDataLst>
          </p:nvPr>
        </p:nvPicPr>
        <p:blipFill>
          <a:blip r:embed="rId19">
            <a:extLst>
              <a:ext uri="{28A0092B-C50C-407E-A947-70E740481C1C}">
                <a14:useLocalDpi xmlns:a14="http://schemas.microsoft.com/office/drawing/2010/main" val="0"/>
              </a:ext>
            </a:extLst>
          </a:blip>
          <a:srcRect/>
          <a:stretch>
            <a:fillRect/>
          </a:stretch>
        </p:blipFill>
        <p:spPr bwMode="auto">
          <a:xfrm>
            <a:off x="7594600" y="63500"/>
            <a:ext cx="14224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3863637326"/>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矩形 1"/>
          <p:cNvSpPr>
            <a:spLocks noChangeArrowheads="1"/>
          </p:cNvSpPr>
          <p:nvPr/>
        </p:nvSpPr>
        <p:spPr bwMode="auto">
          <a:xfrm>
            <a:off x="774701" y="327818"/>
            <a:ext cx="301148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400" b="1" dirty="0">
                <a:solidFill>
                  <a:schemeClr val="hlink"/>
                </a:solidFill>
                <a:latin typeface="Times New Roman" pitchFamily="18" charset="0"/>
                <a:sym typeface="Wingdings" pitchFamily="2" charset="2"/>
              </a:rPr>
              <a:t> </a:t>
            </a:r>
            <a:r>
              <a:rPr lang="zh-CN" altLang="en-US" sz="2400" b="1" dirty="0">
                <a:latin typeface="Times New Roman" pitchFamily="18" charset="0"/>
              </a:rPr>
              <a:t>二叉搜索树的</a:t>
            </a:r>
            <a:r>
              <a:rPr lang="zh-CN" altLang="en-US" sz="2400" b="1" dirty="0">
                <a:solidFill>
                  <a:srgbClr val="0000FF"/>
                </a:solidFill>
                <a:latin typeface="Times New Roman" pitchFamily="18" charset="0"/>
              </a:rPr>
              <a:t>删除</a:t>
            </a:r>
          </a:p>
        </p:txBody>
      </p:sp>
      <p:sp>
        <p:nvSpPr>
          <p:cNvPr id="5" name="矩形 4"/>
          <p:cNvSpPr>
            <a:spLocks noChangeArrowheads="1"/>
          </p:cNvSpPr>
          <p:nvPr/>
        </p:nvSpPr>
        <p:spPr bwMode="auto">
          <a:xfrm>
            <a:off x="571500" y="1143000"/>
            <a:ext cx="7874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r>
              <a:rPr lang="en-US" altLang="zh-CN" sz="2000" b="1">
                <a:solidFill>
                  <a:srgbClr val="0000FF"/>
                </a:solidFill>
                <a:latin typeface="Times New Roman" pitchFamily="18" charset="0"/>
                <a:sym typeface="Wingdings" pitchFamily="2" charset="2"/>
              </a:rPr>
              <a:t> </a:t>
            </a:r>
            <a:r>
              <a:rPr lang="zh-CN" altLang="zh-CN" sz="2000" b="1">
                <a:latin typeface="Times New Roman" pitchFamily="18" charset="0"/>
              </a:rPr>
              <a:t>二叉搜索树的删除操作比其它操作更为复杂，有</a:t>
            </a:r>
            <a:r>
              <a:rPr lang="zh-CN" altLang="zh-CN" sz="2000" b="1">
                <a:solidFill>
                  <a:srgbClr val="0000CC"/>
                </a:solidFill>
                <a:latin typeface="Times New Roman" pitchFamily="18" charset="0"/>
              </a:rPr>
              <a:t>三种情况</a:t>
            </a:r>
            <a:r>
              <a:rPr lang="zh-CN" altLang="zh-CN" sz="2000" b="1">
                <a:latin typeface="Times New Roman" pitchFamily="18" charset="0"/>
              </a:rPr>
              <a:t>需要考虑：</a:t>
            </a:r>
          </a:p>
        </p:txBody>
      </p:sp>
      <p:sp>
        <p:nvSpPr>
          <p:cNvPr id="7" name="矩形 6"/>
          <p:cNvSpPr>
            <a:spLocks noChangeArrowheads="1"/>
          </p:cNvSpPr>
          <p:nvPr/>
        </p:nvSpPr>
        <p:spPr bwMode="auto">
          <a:xfrm>
            <a:off x="571500" y="1571625"/>
            <a:ext cx="81438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indent="-342900" eaLnBrk="1" hangingPunct="1"/>
            <a:r>
              <a:rPr lang="en-US" altLang="zh-CN" sz="2800" b="1">
                <a:solidFill>
                  <a:srgbClr val="0000FF"/>
                </a:solidFill>
                <a:latin typeface="Times New Roman" pitchFamily="18" charset="0"/>
                <a:sym typeface="Wingdings" pitchFamily="2" charset="2"/>
              </a:rPr>
              <a:t> </a:t>
            </a:r>
            <a:r>
              <a:rPr lang="zh-CN" altLang="zh-CN" sz="2000" b="1">
                <a:latin typeface="Times New Roman" pitchFamily="18" charset="0"/>
              </a:rPr>
              <a:t>要删除的是</a:t>
            </a:r>
            <a:r>
              <a:rPr lang="zh-CN" altLang="zh-CN" sz="2000" b="1">
                <a:solidFill>
                  <a:srgbClr val="0000FF"/>
                </a:solidFill>
                <a:latin typeface="Times New Roman" pitchFamily="18" charset="0"/>
              </a:rPr>
              <a:t>叶结点</a:t>
            </a:r>
            <a:r>
              <a:rPr lang="zh-CN" altLang="zh-CN" sz="2000" b="1">
                <a:latin typeface="Times New Roman" pitchFamily="18" charset="0"/>
              </a:rPr>
              <a:t>——可以直接删除，然后再修改其父结点的指针。</a:t>
            </a:r>
          </a:p>
        </p:txBody>
      </p:sp>
      <p:sp>
        <p:nvSpPr>
          <p:cNvPr id="26632" name="矩形 7"/>
          <p:cNvSpPr>
            <a:spLocks noChangeArrowheads="1"/>
          </p:cNvSpPr>
          <p:nvPr/>
        </p:nvSpPr>
        <p:spPr bwMode="auto">
          <a:xfrm>
            <a:off x="2771775" y="5589588"/>
            <a:ext cx="30235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zh-CN" altLang="zh-CN" sz="2000" b="1" dirty="0" smtClean="0">
                <a:latin typeface="Times New Roman" pitchFamily="18" charset="0"/>
              </a:rPr>
              <a:t>二</a:t>
            </a:r>
            <a:r>
              <a:rPr lang="zh-CN" altLang="zh-CN" sz="2000" b="1" dirty="0">
                <a:latin typeface="Times New Roman" pitchFamily="18" charset="0"/>
              </a:rPr>
              <a:t>叉搜索树叶结点的</a:t>
            </a:r>
            <a:r>
              <a:rPr lang="zh-CN" altLang="zh-CN" sz="2000" b="1" dirty="0">
                <a:solidFill>
                  <a:srgbClr val="0000FF"/>
                </a:solidFill>
                <a:latin typeface="Times New Roman" pitchFamily="18" charset="0"/>
              </a:rPr>
              <a:t>删除</a:t>
            </a:r>
          </a:p>
        </p:txBody>
      </p:sp>
      <p:sp>
        <p:nvSpPr>
          <p:cNvPr id="33" name="矩形 32"/>
          <p:cNvSpPr>
            <a:spLocks noChangeArrowheads="1"/>
          </p:cNvSpPr>
          <p:nvPr/>
        </p:nvSpPr>
        <p:spPr bwMode="auto">
          <a:xfrm>
            <a:off x="642938" y="2143125"/>
            <a:ext cx="2054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a:latin typeface="Times New Roman" pitchFamily="18" charset="0"/>
              </a:rPr>
              <a:t>〖</a:t>
            </a:r>
            <a:r>
              <a:rPr lang="zh-CN" altLang="en-US" sz="2000" b="1">
                <a:latin typeface="Times New Roman" pitchFamily="18" charset="0"/>
              </a:rPr>
              <a:t>例</a:t>
            </a:r>
            <a:r>
              <a:rPr lang="en-US" altLang="zh-CN" sz="2000" b="1">
                <a:latin typeface="Times New Roman" pitchFamily="18" charset="0"/>
              </a:rPr>
              <a:t>〗</a:t>
            </a:r>
            <a:r>
              <a:rPr lang="zh-CN" altLang="en-US" sz="2000" b="1">
                <a:latin typeface="Times New Roman" pitchFamily="18" charset="0"/>
              </a:rPr>
              <a:t>：删除 </a:t>
            </a:r>
            <a:r>
              <a:rPr lang="en-US" altLang="zh-CN" sz="2000" b="1">
                <a:latin typeface="Times New Roman" pitchFamily="18" charset="0"/>
              </a:rPr>
              <a:t>35</a:t>
            </a:r>
            <a:endParaRPr lang="zh-CN" altLang="en-US" sz="2000">
              <a:latin typeface="Times New Roman" pitchFamily="18" charset="0"/>
            </a:endParaRPr>
          </a:p>
        </p:txBody>
      </p:sp>
      <p:grpSp>
        <p:nvGrpSpPr>
          <p:cNvPr id="2" name="组合 1"/>
          <p:cNvGrpSpPr/>
          <p:nvPr/>
        </p:nvGrpSpPr>
        <p:grpSpPr>
          <a:xfrm>
            <a:off x="2810007" y="2469347"/>
            <a:ext cx="3714750" cy="2714625"/>
            <a:chOff x="3786188" y="2428875"/>
            <a:chExt cx="3714750" cy="2714625"/>
          </a:xfrm>
        </p:grpSpPr>
        <p:grpSp>
          <p:nvGrpSpPr>
            <p:cNvPr id="29" name="组合 28"/>
            <p:cNvGrpSpPr>
              <a:grpSpLocks/>
            </p:cNvGrpSpPr>
            <p:nvPr/>
          </p:nvGrpSpPr>
          <p:grpSpPr bwMode="auto">
            <a:xfrm>
              <a:off x="4922838" y="2786063"/>
              <a:ext cx="2578100" cy="1708151"/>
              <a:chOff x="2065202" y="2428868"/>
              <a:chExt cx="2578236" cy="1707377"/>
            </a:xfrm>
          </p:grpSpPr>
          <p:sp>
            <p:nvSpPr>
              <p:cNvPr id="26646" name="Oval 2"/>
              <p:cNvSpPr>
                <a:spLocks noChangeArrowheads="1"/>
              </p:cNvSpPr>
              <p:nvPr/>
            </p:nvSpPr>
            <p:spPr bwMode="auto">
              <a:xfrm>
                <a:off x="2653815" y="2428868"/>
                <a:ext cx="503170" cy="439110"/>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26647" name="Text Box 3"/>
              <p:cNvSpPr txBox="1">
                <a:spLocks noChangeArrowheads="1"/>
              </p:cNvSpPr>
              <p:nvPr/>
            </p:nvSpPr>
            <p:spPr bwMode="auto">
              <a:xfrm>
                <a:off x="2781303" y="2496329"/>
                <a:ext cx="276676" cy="25635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30</a:t>
                </a:r>
                <a:endParaRPr lang="zh-CN" altLang="zh-CN" sz="1800" b="1">
                  <a:latin typeface="Arial" pitchFamily="34" charset="0"/>
                </a:endParaRPr>
              </a:p>
            </p:txBody>
          </p:sp>
          <p:sp>
            <p:nvSpPr>
              <p:cNvPr id="26648" name="Line 4"/>
              <p:cNvSpPr>
                <a:spLocks noChangeShapeType="1"/>
              </p:cNvSpPr>
              <p:nvPr/>
            </p:nvSpPr>
            <p:spPr bwMode="auto">
              <a:xfrm>
                <a:off x="3076966" y="2795610"/>
                <a:ext cx="488251" cy="2784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26649" name="Oval 5"/>
              <p:cNvSpPr>
                <a:spLocks noChangeArrowheads="1"/>
              </p:cNvSpPr>
              <p:nvPr/>
            </p:nvSpPr>
            <p:spPr bwMode="auto">
              <a:xfrm>
                <a:off x="2065202" y="3042149"/>
                <a:ext cx="503170" cy="439110"/>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26650" name="Text Box 6"/>
              <p:cNvSpPr txBox="1">
                <a:spLocks noChangeArrowheads="1"/>
              </p:cNvSpPr>
              <p:nvPr/>
            </p:nvSpPr>
            <p:spPr bwMode="auto">
              <a:xfrm>
                <a:off x="2192689" y="3109610"/>
                <a:ext cx="276676" cy="25635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15</a:t>
                </a:r>
                <a:endParaRPr lang="zh-CN" altLang="zh-CN" sz="1800" b="1">
                  <a:latin typeface="Arial" pitchFamily="34" charset="0"/>
                </a:endParaRPr>
              </a:p>
            </p:txBody>
          </p:sp>
          <p:sp>
            <p:nvSpPr>
              <p:cNvPr id="26651" name="Oval 7"/>
              <p:cNvSpPr>
                <a:spLocks noChangeArrowheads="1"/>
              </p:cNvSpPr>
              <p:nvPr/>
            </p:nvSpPr>
            <p:spPr bwMode="auto">
              <a:xfrm>
                <a:off x="3463498" y="3029884"/>
                <a:ext cx="503170" cy="439110"/>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26652" name="Text Box 8"/>
              <p:cNvSpPr txBox="1">
                <a:spLocks noChangeArrowheads="1"/>
              </p:cNvSpPr>
              <p:nvPr/>
            </p:nvSpPr>
            <p:spPr bwMode="auto">
              <a:xfrm>
                <a:off x="3590986" y="3097345"/>
                <a:ext cx="276676" cy="25635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41</a:t>
                </a:r>
                <a:endParaRPr lang="zh-CN" altLang="zh-CN" sz="1800" b="1">
                  <a:latin typeface="Arial" pitchFamily="34" charset="0"/>
                </a:endParaRPr>
              </a:p>
            </p:txBody>
          </p:sp>
          <p:sp>
            <p:nvSpPr>
              <p:cNvPr id="26653" name="Oval 9"/>
              <p:cNvSpPr>
                <a:spLocks noChangeArrowheads="1"/>
              </p:cNvSpPr>
              <p:nvPr/>
            </p:nvSpPr>
            <p:spPr bwMode="auto">
              <a:xfrm>
                <a:off x="2919641" y="3697135"/>
                <a:ext cx="503170" cy="439110"/>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26654" name="Text Box 10"/>
              <p:cNvSpPr txBox="1">
                <a:spLocks noChangeArrowheads="1"/>
              </p:cNvSpPr>
              <p:nvPr/>
            </p:nvSpPr>
            <p:spPr bwMode="auto">
              <a:xfrm>
                <a:off x="3047129" y="3764595"/>
                <a:ext cx="276676" cy="25635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33</a:t>
                </a:r>
                <a:endParaRPr lang="zh-CN" altLang="zh-CN" sz="1800" b="1">
                  <a:latin typeface="Arial" pitchFamily="34" charset="0"/>
                </a:endParaRPr>
              </a:p>
            </p:txBody>
          </p:sp>
          <p:sp>
            <p:nvSpPr>
              <p:cNvPr id="26655" name="Oval 11"/>
              <p:cNvSpPr>
                <a:spLocks noChangeArrowheads="1"/>
              </p:cNvSpPr>
              <p:nvPr/>
            </p:nvSpPr>
            <p:spPr bwMode="auto">
              <a:xfrm>
                <a:off x="4140268" y="3605142"/>
                <a:ext cx="503170" cy="439110"/>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26656" name="Text Box 12"/>
              <p:cNvSpPr txBox="1">
                <a:spLocks noChangeArrowheads="1"/>
              </p:cNvSpPr>
              <p:nvPr/>
            </p:nvSpPr>
            <p:spPr bwMode="auto">
              <a:xfrm>
                <a:off x="4267756" y="3672603"/>
                <a:ext cx="276676" cy="25635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50</a:t>
                </a:r>
                <a:endParaRPr lang="zh-CN" altLang="zh-CN" sz="1800" b="1">
                  <a:latin typeface="Arial" pitchFamily="34" charset="0"/>
                </a:endParaRPr>
              </a:p>
            </p:txBody>
          </p:sp>
          <p:sp>
            <p:nvSpPr>
              <p:cNvPr id="26657" name="Line 13"/>
              <p:cNvSpPr>
                <a:spLocks noChangeShapeType="1"/>
              </p:cNvSpPr>
              <p:nvPr/>
            </p:nvSpPr>
            <p:spPr bwMode="auto">
              <a:xfrm flipH="1">
                <a:off x="3280404" y="3450595"/>
                <a:ext cx="305157" cy="2465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26658" name="Line 14"/>
              <p:cNvSpPr>
                <a:spLocks noChangeShapeType="1"/>
              </p:cNvSpPr>
              <p:nvPr/>
            </p:nvSpPr>
            <p:spPr bwMode="auto">
              <a:xfrm>
                <a:off x="3911062" y="3395400"/>
                <a:ext cx="305157" cy="2465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26659" name="Line 15"/>
              <p:cNvSpPr>
                <a:spLocks noChangeShapeType="1"/>
              </p:cNvSpPr>
              <p:nvPr/>
            </p:nvSpPr>
            <p:spPr bwMode="auto">
              <a:xfrm flipH="1">
                <a:off x="2446309" y="2814009"/>
                <a:ext cx="305157" cy="2465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grpSp>
        <p:grpSp>
          <p:nvGrpSpPr>
            <p:cNvPr id="30" name="组合 29"/>
            <p:cNvGrpSpPr>
              <a:grpSpLocks/>
            </p:cNvGrpSpPr>
            <p:nvPr/>
          </p:nvGrpSpPr>
          <p:grpSpPr bwMode="auto">
            <a:xfrm>
              <a:off x="6219825" y="4425950"/>
              <a:ext cx="731838" cy="649288"/>
              <a:chOff x="3361779" y="4068783"/>
              <a:chExt cx="732377" cy="648852"/>
            </a:xfrm>
          </p:grpSpPr>
          <p:sp>
            <p:nvSpPr>
              <p:cNvPr id="26643" name="Oval 16"/>
              <p:cNvSpPr>
                <a:spLocks noChangeArrowheads="1"/>
              </p:cNvSpPr>
              <p:nvPr/>
            </p:nvSpPr>
            <p:spPr bwMode="auto">
              <a:xfrm>
                <a:off x="3590986" y="4278525"/>
                <a:ext cx="503170" cy="43911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eaLnBrk="1" hangingPunct="1"/>
                <a:endParaRPr lang="zh-CN" altLang="en-US" sz="1800" b="1">
                  <a:latin typeface="Times New Roman" pitchFamily="18" charset="0"/>
                </a:endParaRPr>
              </a:p>
            </p:txBody>
          </p:sp>
          <p:sp>
            <p:nvSpPr>
              <p:cNvPr id="26644" name="Text Box 17"/>
              <p:cNvSpPr txBox="1">
                <a:spLocks noChangeArrowheads="1"/>
              </p:cNvSpPr>
              <p:nvPr/>
            </p:nvSpPr>
            <p:spPr bwMode="auto">
              <a:xfrm>
                <a:off x="3722542" y="4368064"/>
                <a:ext cx="276676" cy="256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35</a:t>
                </a:r>
                <a:endParaRPr lang="zh-CN" altLang="zh-CN" sz="1800" b="1">
                  <a:latin typeface="Arial" pitchFamily="34" charset="0"/>
                </a:endParaRPr>
              </a:p>
            </p:txBody>
          </p:sp>
          <p:sp>
            <p:nvSpPr>
              <p:cNvPr id="26645" name="Line 18"/>
              <p:cNvSpPr>
                <a:spLocks noChangeShapeType="1"/>
              </p:cNvSpPr>
              <p:nvPr/>
            </p:nvSpPr>
            <p:spPr bwMode="auto">
              <a:xfrm>
                <a:off x="3361779" y="4068783"/>
                <a:ext cx="305157" cy="2465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grpSp>
        <p:grpSp>
          <p:nvGrpSpPr>
            <p:cNvPr id="31" name="组合 30"/>
            <p:cNvGrpSpPr>
              <a:grpSpLocks/>
            </p:cNvGrpSpPr>
            <p:nvPr/>
          </p:nvGrpSpPr>
          <p:grpSpPr bwMode="auto">
            <a:xfrm>
              <a:off x="3786188" y="4654550"/>
              <a:ext cx="2555875" cy="488950"/>
              <a:chOff x="928662" y="4296923"/>
              <a:chExt cx="2555180" cy="489399"/>
            </a:xfrm>
          </p:grpSpPr>
          <p:sp>
            <p:nvSpPr>
              <p:cNvPr id="26641" name="Text Box 19"/>
              <p:cNvSpPr txBox="1">
                <a:spLocks noChangeArrowheads="1"/>
              </p:cNvSpPr>
              <p:nvPr/>
            </p:nvSpPr>
            <p:spPr bwMode="auto">
              <a:xfrm>
                <a:off x="928662" y="4296923"/>
                <a:ext cx="1700741" cy="489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2000" b="1" dirty="0">
                    <a:latin typeface="仿宋" pitchFamily="49" charset="-122"/>
                    <a:ea typeface="仿宋" pitchFamily="49" charset="-122"/>
                  </a:rPr>
                  <a:t>要删除结点</a:t>
                </a:r>
                <a:endParaRPr lang="zh-CN" altLang="en-US" sz="2000" b="1" dirty="0">
                  <a:latin typeface="Arial" pitchFamily="34" charset="0"/>
                </a:endParaRPr>
              </a:p>
            </p:txBody>
          </p:sp>
          <p:cxnSp>
            <p:nvCxnSpPr>
              <p:cNvPr id="26642" name="AutoShape 20"/>
              <p:cNvCxnSpPr>
                <a:cxnSpLocks noChangeShapeType="1"/>
              </p:cNvCxnSpPr>
              <p:nvPr/>
            </p:nvCxnSpPr>
            <p:spPr bwMode="auto">
              <a:xfrm>
                <a:off x="2653815" y="4514025"/>
                <a:ext cx="830027" cy="0"/>
              </a:xfrm>
              <a:prstGeom prst="straightConnector1">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cxnSp>
        </p:grpSp>
        <p:sp>
          <p:nvSpPr>
            <p:cNvPr id="38" name="AutoShape 2"/>
            <p:cNvSpPr>
              <a:spLocks noChangeArrowheads="1"/>
            </p:cNvSpPr>
            <p:nvPr/>
          </p:nvSpPr>
          <p:spPr bwMode="auto">
            <a:xfrm rot="5400000">
              <a:off x="5591175" y="2552700"/>
              <a:ext cx="381000" cy="133350"/>
            </a:xfrm>
            <a:prstGeom prst="notchedRightArrow">
              <a:avLst>
                <a:gd name="adj1" fmla="val 50000"/>
                <a:gd name="adj2" fmla="val 67699"/>
              </a:avLst>
            </a:prstGeom>
            <a:solidFill>
              <a:schemeClr val="bg2">
                <a:lumMod val="40000"/>
                <a:lumOff val="60000"/>
              </a:schemeClr>
            </a:solidFill>
            <a:ln w="9525">
              <a:solidFill>
                <a:srgbClr val="000000"/>
              </a:solidFill>
              <a:miter lim="800000"/>
              <a:headEnd/>
              <a:tailEnd/>
            </a:ln>
          </p:spPr>
          <p:txBody>
            <a:bodyPr/>
            <a:lstStyle/>
            <a:p>
              <a:pPr eaLnBrk="1" fontAlgn="auto" hangingPunct="1">
                <a:spcBef>
                  <a:spcPts val="0"/>
                </a:spcBef>
                <a:spcAft>
                  <a:spcPts val="0"/>
                </a:spcAft>
                <a:defRPr/>
              </a:pPr>
              <a:endParaRPr lang="zh-CN" altLang="en-US" sz="1600" b="1">
                <a:latin typeface="+mn-lt"/>
                <a:ea typeface="+mn-ea"/>
              </a:endParaRPr>
            </a:p>
          </p:txBody>
        </p:sp>
        <p:sp>
          <p:nvSpPr>
            <p:cNvPr id="39" name="AutoShape 2"/>
            <p:cNvSpPr>
              <a:spLocks noChangeArrowheads="1"/>
            </p:cNvSpPr>
            <p:nvPr/>
          </p:nvSpPr>
          <p:spPr bwMode="auto">
            <a:xfrm rot="5400000">
              <a:off x="6448425" y="3124200"/>
              <a:ext cx="381000" cy="133350"/>
            </a:xfrm>
            <a:prstGeom prst="notchedRightArrow">
              <a:avLst>
                <a:gd name="adj1" fmla="val 50000"/>
                <a:gd name="adj2" fmla="val 67699"/>
              </a:avLst>
            </a:prstGeom>
            <a:solidFill>
              <a:schemeClr val="bg2">
                <a:lumMod val="40000"/>
                <a:lumOff val="60000"/>
              </a:schemeClr>
            </a:solidFill>
            <a:ln w="9525">
              <a:solidFill>
                <a:srgbClr val="000000"/>
              </a:solidFill>
              <a:miter lim="800000"/>
              <a:headEnd/>
              <a:tailEnd/>
            </a:ln>
          </p:spPr>
          <p:txBody>
            <a:bodyPr/>
            <a:lstStyle/>
            <a:p>
              <a:pPr eaLnBrk="1" fontAlgn="auto" hangingPunct="1">
                <a:spcBef>
                  <a:spcPts val="0"/>
                </a:spcBef>
                <a:spcAft>
                  <a:spcPts val="0"/>
                </a:spcAft>
                <a:defRPr/>
              </a:pPr>
              <a:endParaRPr lang="zh-CN" altLang="en-US" sz="1600" b="1">
                <a:latin typeface="+mn-lt"/>
                <a:ea typeface="+mn-ea"/>
              </a:endParaRPr>
            </a:p>
          </p:txBody>
        </p:sp>
        <p:sp>
          <p:nvSpPr>
            <p:cNvPr id="40" name="AutoShape 2"/>
            <p:cNvSpPr>
              <a:spLocks noChangeArrowheads="1"/>
            </p:cNvSpPr>
            <p:nvPr/>
          </p:nvSpPr>
          <p:spPr bwMode="auto">
            <a:xfrm rot="5400000">
              <a:off x="5734050" y="3838575"/>
              <a:ext cx="381000" cy="133350"/>
            </a:xfrm>
            <a:prstGeom prst="notchedRightArrow">
              <a:avLst>
                <a:gd name="adj1" fmla="val 50000"/>
                <a:gd name="adj2" fmla="val 67699"/>
              </a:avLst>
            </a:prstGeom>
            <a:solidFill>
              <a:schemeClr val="bg2">
                <a:lumMod val="40000"/>
                <a:lumOff val="60000"/>
              </a:schemeClr>
            </a:solidFill>
            <a:ln w="9525">
              <a:solidFill>
                <a:srgbClr val="000000"/>
              </a:solidFill>
              <a:miter lim="800000"/>
              <a:headEnd/>
              <a:tailEnd/>
            </a:ln>
          </p:spPr>
          <p:txBody>
            <a:bodyPr/>
            <a:lstStyle/>
            <a:p>
              <a:pPr eaLnBrk="1" fontAlgn="auto" hangingPunct="1">
                <a:spcBef>
                  <a:spcPts val="0"/>
                </a:spcBef>
                <a:spcAft>
                  <a:spcPts val="0"/>
                </a:spcAft>
                <a:defRPr/>
              </a:pPr>
              <a:endParaRPr lang="zh-CN" altLang="en-US" sz="1600" b="1">
                <a:latin typeface="+mn-lt"/>
                <a:ea typeface="+mn-ea"/>
              </a:endParaRPr>
            </a:p>
          </p:txBody>
        </p:sp>
        <p:sp>
          <p:nvSpPr>
            <p:cNvPr id="41" name="AutoShape 2"/>
            <p:cNvSpPr>
              <a:spLocks noChangeArrowheads="1"/>
            </p:cNvSpPr>
            <p:nvPr/>
          </p:nvSpPr>
          <p:spPr bwMode="auto">
            <a:xfrm rot="5400000">
              <a:off x="6519863" y="4410075"/>
              <a:ext cx="381000" cy="133350"/>
            </a:xfrm>
            <a:prstGeom prst="notchedRightArrow">
              <a:avLst>
                <a:gd name="adj1" fmla="val 50000"/>
                <a:gd name="adj2" fmla="val 67699"/>
              </a:avLst>
            </a:prstGeom>
            <a:solidFill>
              <a:schemeClr val="bg2">
                <a:lumMod val="40000"/>
                <a:lumOff val="60000"/>
              </a:schemeClr>
            </a:solidFill>
            <a:ln w="9525">
              <a:solidFill>
                <a:srgbClr val="000000"/>
              </a:solidFill>
              <a:miter lim="800000"/>
              <a:headEnd/>
              <a:tailEnd/>
            </a:ln>
          </p:spPr>
          <p:txBody>
            <a:bodyPr/>
            <a:lstStyle/>
            <a:p>
              <a:pPr eaLnBrk="1" fontAlgn="auto" hangingPunct="1">
                <a:spcBef>
                  <a:spcPts val="0"/>
                </a:spcBef>
                <a:spcAft>
                  <a:spcPts val="0"/>
                </a:spcAft>
                <a:defRPr/>
              </a:pPr>
              <a:endParaRPr lang="zh-CN" altLang="en-US" sz="1600" b="1">
                <a:latin typeface="+mn-lt"/>
                <a:ea typeface="+mn-ea"/>
              </a:endParaRPr>
            </a:p>
          </p:txBody>
        </p:sp>
      </p:grpSp>
    </p:spTree>
    <p:extLst>
      <p:ext uri="{BB962C8B-B14F-4D97-AF65-F5344CB8AC3E}">
        <p14:creationId xmlns:p14="http://schemas.microsoft.com/office/powerpoint/2010/main" val="262018976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down)">
                                      <p:cBhvr>
                                        <p:cTn id="12" dur="500"/>
                                        <p:tgtEl>
                                          <p:spTgt spid="7"/>
                                        </p:tgtEl>
                                      </p:cBhvr>
                                    </p:animEffect>
                                  </p:childTnLst>
                                </p:cTn>
                              </p:par>
                            </p:childTnLst>
                          </p:cTn>
                        </p:par>
                        <p:par>
                          <p:cTn id="13" fill="hold" nodeType="afterGroup">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33"/>
                                        </p:tgtEl>
                                        <p:attrNameLst>
                                          <p:attrName>style.visibility</p:attrName>
                                        </p:attrNameLst>
                                      </p:cBhvr>
                                      <p:to>
                                        <p:strVal val="visible"/>
                                      </p:to>
                                    </p:set>
                                    <p:animEffect transition="in" filter="wipe(up)">
                                      <p:cBhvr>
                                        <p:cTn id="16"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33"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矩形 5"/>
          <p:cNvSpPr>
            <a:spLocks noChangeArrowheads="1"/>
          </p:cNvSpPr>
          <p:nvPr/>
        </p:nvSpPr>
        <p:spPr bwMode="auto">
          <a:xfrm>
            <a:off x="2928938" y="5643563"/>
            <a:ext cx="30235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zh-CN" altLang="zh-CN" sz="2000" b="1" dirty="0" smtClean="0">
                <a:latin typeface="Times New Roman" pitchFamily="18" charset="0"/>
              </a:rPr>
              <a:t>具有</a:t>
            </a:r>
            <a:r>
              <a:rPr lang="zh-CN" altLang="zh-CN" sz="2000" b="1" dirty="0">
                <a:latin typeface="Times New Roman" pitchFamily="18" charset="0"/>
              </a:rPr>
              <a:t>一个子树的结点删除</a:t>
            </a:r>
          </a:p>
        </p:txBody>
      </p:sp>
      <p:sp>
        <p:nvSpPr>
          <p:cNvPr id="27654" name="矩形 7"/>
          <p:cNvSpPr>
            <a:spLocks noChangeArrowheads="1"/>
          </p:cNvSpPr>
          <p:nvPr/>
        </p:nvSpPr>
        <p:spPr bwMode="auto">
          <a:xfrm>
            <a:off x="500063" y="942553"/>
            <a:ext cx="8143875"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indent="-342900" eaLnBrk="1" hangingPunct="1"/>
            <a:r>
              <a:rPr lang="en-US" altLang="zh-CN" sz="2800" b="1" dirty="0">
                <a:solidFill>
                  <a:srgbClr val="0000FF"/>
                </a:solidFill>
                <a:latin typeface="Times New Roman" pitchFamily="18" charset="0"/>
                <a:sym typeface="Wingdings" pitchFamily="2" charset="2"/>
              </a:rPr>
              <a:t> </a:t>
            </a:r>
            <a:r>
              <a:rPr lang="zh-CN" altLang="zh-CN" sz="2000" b="1" dirty="0">
                <a:latin typeface="Times New Roman" pitchFamily="18" charset="0"/>
              </a:rPr>
              <a:t>要删除的结点</a:t>
            </a:r>
            <a:r>
              <a:rPr lang="zh-CN" altLang="en-US" sz="2000" b="1" dirty="0">
                <a:solidFill>
                  <a:srgbClr val="0000FF"/>
                </a:solidFill>
                <a:latin typeface="Times New Roman" pitchFamily="18" charset="0"/>
              </a:rPr>
              <a:t>只有一个孩子</a:t>
            </a:r>
            <a:r>
              <a:rPr lang="zh-CN" altLang="en-US" sz="2000" b="1" dirty="0">
                <a:latin typeface="Times New Roman" pitchFamily="18" charset="0"/>
              </a:rPr>
              <a:t>结点</a:t>
            </a:r>
            <a:r>
              <a:rPr lang="zh-CN" altLang="zh-CN" sz="2000" b="1" dirty="0">
                <a:latin typeface="Times New Roman" pitchFamily="18" charset="0"/>
              </a:rPr>
              <a:t>——</a:t>
            </a:r>
            <a:r>
              <a:rPr lang="zh-CN" altLang="en-US" sz="2000" b="1" dirty="0">
                <a:latin typeface="Times New Roman" pitchFamily="18" charset="0"/>
              </a:rPr>
              <a:t>删除之前需要改变其</a:t>
            </a:r>
            <a:r>
              <a:rPr lang="zh-CN" altLang="en-US" sz="2000" b="1" dirty="0">
                <a:solidFill>
                  <a:srgbClr val="0000FF"/>
                </a:solidFill>
                <a:latin typeface="Times New Roman" pitchFamily="18" charset="0"/>
              </a:rPr>
              <a:t>父结点</a:t>
            </a:r>
            <a:r>
              <a:rPr lang="zh-CN" altLang="en-US" sz="2000" b="1" dirty="0">
                <a:latin typeface="Times New Roman" pitchFamily="18" charset="0"/>
              </a:rPr>
              <a:t>的指针，</a:t>
            </a:r>
            <a:r>
              <a:rPr lang="zh-CN" altLang="en-US" sz="2000" b="1" dirty="0">
                <a:solidFill>
                  <a:srgbClr val="0000FF"/>
                </a:solidFill>
                <a:latin typeface="Times New Roman" pitchFamily="18" charset="0"/>
              </a:rPr>
              <a:t>指向</a:t>
            </a:r>
            <a:r>
              <a:rPr lang="zh-CN" altLang="en-US" sz="2000" b="1" dirty="0">
                <a:latin typeface="Times New Roman" pitchFamily="18" charset="0"/>
              </a:rPr>
              <a:t>要删除结点的</a:t>
            </a:r>
            <a:r>
              <a:rPr lang="zh-CN" altLang="en-US" sz="2000" b="1" dirty="0">
                <a:solidFill>
                  <a:srgbClr val="0000FF"/>
                </a:solidFill>
                <a:latin typeface="Times New Roman" pitchFamily="18" charset="0"/>
              </a:rPr>
              <a:t>孩子结点</a:t>
            </a:r>
            <a:r>
              <a:rPr lang="zh-CN" altLang="zh-CN" sz="2000" b="1" dirty="0">
                <a:latin typeface="Times New Roman" pitchFamily="18" charset="0"/>
              </a:rPr>
              <a:t>。</a:t>
            </a:r>
          </a:p>
        </p:txBody>
      </p:sp>
      <p:grpSp>
        <p:nvGrpSpPr>
          <p:cNvPr id="62" name="组合 61"/>
          <p:cNvGrpSpPr>
            <a:grpSpLocks/>
          </p:cNvGrpSpPr>
          <p:nvPr/>
        </p:nvGrpSpPr>
        <p:grpSpPr bwMode="auto">
          <a:xfrm>
            <a:off x="1000125" y="4355406"/>
            <a:ext cx="2160588" cy="438150"/>
            <a:chOff x="-285752" y="3364156"/>
            <a:chExt cx="2160431" cy="438519"/>
          </a:xfrm>
        </p:grpSpPr>
        <p:sp>
          <p:nvSpPr>
            <p:cNvPr id="27692" name="Text Box 2"/>
            <p:cNvSpPr txBox="1">
              <a:spLocks noChangeArrowheads="1"/>
            </p:cNvSpPr>
            <p:nvPr/>
          </p:nvSpPr>
          <p:spPr bwMode="auto">
            <a:xfrm>
              <a:off x="-285752" y="3364156"/>
              <a:ext cx="1694289" cy="4385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r>
                <a:rPr lang="zh-CN" altLang="en-US" sz="1600" b="1">
                  <a:latin typeface="仿宋" pitchFamily="49" charset="-122"/>
                  <a:ea typeface="仿宋" pitchFamily="49" charset="-122"/>
                </a:rPr>
                <a:t>要删除结点</a:t>
              </a:r>
              <a:endParaRPr lang="en-US" altLang="zh-CN" sz="1600" b="1">
                <a:latin typeface="仿宋" pitchFamily="49" charset="-122"/>
                <a:ea typeface="仿宋" pitchFamily="49" charset="-122"/>
              </a:endParaRPr>
            </a:p>
            <a:p>
              <a:pPr algn="ctr" eaLnBrk="1" hangingPunct="1"/>
              <a:r>
                <a:rPr lang="zh-CN" altLang="en-US" sz="1600" b="1">
                  <a:latin typeface="Arial" pitchFamily="34" charset="0"/>
                  <a:ea typeface="仿宋" pitchFamily="49" charset="-122"/>
                </a:rPr>
                <a:t>（只有一个孩子）</a:t>
              </a:r>
              <a:endParaRPr lang="zh-CN" altLang="en-US" sz="1600" b="1">
                <a:latin typeface="Arial" pitchFamily="34" charset="0"/>
              </a:endParaRPr>
            </a:p>
          </p:txBody>
        </p:sp>
        <p:cxnSp>
          <p:nvCxnSpPr>
            <p:cNvPr id="27693" name="AutoShape 3"/>
            <p:cNvCxnSpPr>
              <a:cxnSpLocks noChangeShapeType="1"/>
            </p:cNvCxnSpPr>
            <p:nvPr/>
          </p:nvCxnSpPr>
          <p:spPr bwMode="auto">
            <a:xfrm>
              <a:off x="1428755" y="3525716"/>
              <a:ext cx="445924" cy="0"/>
            </a:xfrm>
            <a:prstGeom prst="straightConnector1">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cxnSp>
      </p:grpSp>
      <p:grpSp>
        <p:nvGrpSpPr>
          <p:cNvPr id="63" name="组合 62"/>
          <p:cNvGrpSpPr>
            <a:grpSpLocks/>
          </p:cNvGrpSpPr>
          <p:nvPr/>
        </p:nvGrpSpPr>
        <p:grpSpPr bwMode="auto">
          <a:xfrm>
            <a:off x="2579688" y="3161606"/>
            <a:ext cx="2135187" cy="1447800"/>
            <a:chOff x="1210847" y="2163998"/>
            <a:chExt cx="2135270" cy="1447444"/>
          </a:xfrm>
        </p:grpSpPr>
        <p:sp>
          <p:nvSpPr>
            <p:cNvPr id="27681" name="Oval 4"/>
            <p:cNvSpPr>
              <a:spLocks noChangeArrowheads="1"/>
            </p:cNvSpPr>
            <p:nvPr/>
          </p:nvSpPr>
          <p:spPr bwMode="auto">
            <a:xfrm>
              <a:off x="1698331" y="2163998"/>
              <a:ext cx="416720" cy="39345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7682" name="Text Box 5"/>
            <p:cNvSpPr txBox="1">
              <a:spLocks noChangeArrowheads="1"/>
            </p:cNvSpPr>
            <p:nvPr/>
          </p:nvSpPr>
          <p:spPr bwMode="auto">
            <a:xfrm>
              <a:off x="1803915" y="2224445"/>
              <a:ext cx="229140" cy="22970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30</a:t>
              </a:r>
              <a:endParaRPr lang="zh-CN" altLang="zh-CN" sz="1600" b="1">
                <a:latin typeface="Arial" pitchFamily="34" charset="0"/>
              </a:endParaRPr>
            </a:p>
          </p:txBody>
        </p:sp>
        <p:sp>
          <p:nvSpPr>
            <p:cNvPr id="27683" name="Line 6"/>
            <p:cNvSpPr>
              <a:spLocks noChangeShapeType="1"/>
            </p:cNvSpPr>
            <p:nvPr/>
          </p:nvSpPr>
          <p:spPr bwMode="auto">
            <a:xfrm>
              <a:off x="2048781" y="2492613"/>
              <a:ext cx="404365" cy="2494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84" name="Oval 7"/>
            <p:cNvSpPr>
              <a:spLocks noChangeArrowheads="1"/>
            </p:cNvSpPr>
            <p:nvPr/>
          </p:nvSpPr>
          <p:spPr bwMode="auto">
            <a:xfrm>
              <a:off x="1210847" y="2713521"/>
              <a:ext cx="416720" cy="39345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7685" name="Text Box 8"/>
            <p:cNvSpPr txBox="1">
              <a:spLocks noChangeArrowheads="1"/>
            </p:cNvSpPr>
            <p:nvPr/>
          </p:nvSpPr>
          <p:spPr bwMode="auto">
            <a:xfrm>
              <a:off x="1316431" y="2773968"/>
              <a:ext cx="229140" cy="22970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15</a:t>
              </a:r>
              <a:endParaRPr lang="zh-CN" altLang="zh-CN" sz="1600" b="1">
                <a:latin typeface="Arial" pitchFamily="34" charset="0"/>
              </a:endParaRPr>
            </a:p>
          </p:txBody>
        </p:sp>
        <p:sp>
          <p:nvSpPr>
            <p:cNvPr id="27686" name="Oval 9"/>
            <p:cNvSpPr>
              <a:spLocks noChangeArrowheads="1"/>
            </p:cNvSpPr>
            <p:nvPr/>
          </p:nvSpPr>
          <p:spPr bwMode="auto">
            <a:xfrm>
              <a:off x="2368903" y="2702530"/>
              <a:ext cx="416720" cy="39345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7687" name="Text Box 10"/>
            <p:cNvSpPr txBox="1">
              <a:spLocks noChangeArrowheads="1"/>
            </p:cNvSpPr>
            <p:nvPr/>
          </p:nvSpPr>
          <p:spPr bwMode="auto">
            <a:xfrm>
              <a:off x="2474487" y="2762978"/>
              <a:ext cx="229140" cy="22970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41</a:t>
              </a:r>
              <a:endParaRPr lang="zh-CN" altLang="zh-CN" sz="1600" b="1">
                <a:latin typeface="Arial" pitchFamily="34" charset="0"/>
              </a:endParaRPr>
            </a:p>
          </p:txBody>
        </p:sp>
        <p:sp>
          <p:nvSpPr>
            <p:cNvPr id="27688" name="Oval 13"/>
            <p:cNvSpPr>
              <a:spLocks noChangeArrowheads="1"/>
            </p:cNvSpPr>
            <p:nvPr/>
          </p:nvSpPr>
          <p:spPr bwMode="auto">
            <a:xfrm>
              <a:off x="2929397" y="3217983"/>
              <a:ext cx="416720" cy="39345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7689" name="Text Box 14"/>
            <p:cNvSpPr txBox="1">
              <a:spLocks noChangeArrowheads="1"/>
            </p:cNvSpPr>
            <p:nvPr/>
          </p:nvSpPr>
          <p:spPr bwMode="auto">
            <a:xfrm>
              <a:off x="3034981" y="3278431"/>
              <a:ext cx="229140" cy="22970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50</a:t>
              </a:r>
              <a:endParaRPr lang="zh-CN" altLang="zh-CN" sz="1600" b="1">
                <a:latin typeface="Arial" pitchFamily="34" charset="0"/>
              </a:endParaRPr>
            </a:p>
          </p:txBody>
        </p:sp>
        <p:sp>
          <p:nvSpPr>
            <p:cNvPr id="27690" name="Line 16"/>
            <p:cNvSpPr>
              <a:spLocks noChangeShapeType="1"/>
            </p:cNvSpPr>
            <p:nvPr/>
          </p:nvSpPr>
          <p:spPr bwMode="auto">
            <a:xfrm>
              <a:off x="2739570" y="3030046"/>
              <a:ext cx="252728" cy="2209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91" name="Line 17"/>
            <p:cNvSpPr>
              <a:spLocks noChangeShapeType="1"/>
            </p:cNvSpPr>
            <p:nvPr/>
          </p:nvSpPr>
          <p:spPr bwMode="auto">
            <a:xfrm flipH="1">
              <a:off x="1526476" y="2509098"/>
              <a:ext cx="252728" cy="2209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7426" name="Oval 18"/>
          <p:cNvSpPr>
            <a:spLocks noChangeArrowheads="1"/>
          </p:cNvSpPr>
          <p:nvPr/>
        </p:nvSpPr>
        <p:spPr bwMode="auto">
          <a:xfrm>
            <a:off x="3843338" y="4818956"/>
            <a:ext cx="415925" cy="39370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eaLnBrk="1" hangingPunct="1"/>
            <a:endParaRPr lang="zh-CN" altLang="en-US" sz="1600" b="1">
              <a:latin typeface="Times New Roman" pitchFamily="18" charset="0"/>
            </a:endParaRPr>
          </a:p>
        </p:txBody>
      </p:sp>
      <p:sp>
        <p:nvSpPr>
          <p:cNvPr id="17427" name="Text Box 19"/>
          <p:cNvSpPr txBox="1">
            <a:spLocks noChangeArrowheads="1"/>
          </p:cNvSpPr>
          <p:nvPr/>
        </p:nvSpPr>
        <p:spPr bwMode="auto">
          <a:xfrm>
            <a:off x="3952875" y="4879281"/>
            <a:ext cx="228600" cy="230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35</a:t>
            </a:r>
            <a:endParaRPr lang="zh-CN" altLang="zh-CN" sz="1600" b="1">
              <a:latin typeface="Arial" pitchFamily="34" charset="0"/>
            </a:endParaRPr>
          </a:p>
        </p:txBody>
      </p:sp>
      <p:grpSp>
        <p:nvGrpSpPr>
          <p:cNvPr id="64" name="组合 63"/>
          <p:cNvGrpSpPr>
            <a:grpSpLocks/>
          </p:cNvGrpSpPr>
          <p:nvPr/>
        </p:nvGrpSpPr>
        <p:grpSpPr bwMode="auto">
          <a:xfrm>
            <a:off x="3287713" y="4077593"/>
            <a:ext cx="619125" cy="774700"/>
            <a:chOff x="1918485" y="3079503"/>
            <a:chExt cx="618903" cy="774828"/>
          </a:xfrm>
        </p:grpSpPr>
        <p:sp>
          <p:nvSpPr>
            <p:cNvPr id="27677" name="Oval 11"/>
            <p:cNvSpPr>
              <a:spLocks noChangeArrowheads="1"/>
            </p:cNvSpPr>
            <p:nvPr/>
          </p:nvSpPr>
          <p:spPr bwMode="auto">
            <a:xfrm>
              <a:off x="1918485" y="3300412"/>
              <a:ext cx="416720" cy="39345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7678" name="Text Box 12"/>
            <p:cNvSpPr txBox="1">
              <a:spLocks noChangeArrowheads="1"/>
            </p:cNvSpPr>
            <p:nvPr/>
          </p:nvSpPr>
          <p:spPr bwMode="auto">
            <a:xfrm>
              <a:off x="2024069" y="3360859"/>
              <a:ext cx="229140" cy="22970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33</a:t>
              </a:r>
              <a:endParaRPr lang="zh-CN" altLang="zh-CN" sz="1600" b="1">
                <a:latin typeface="Arial" pitchFamily="34" charset="0"/>
              </a:endParaRPr>
            </a:p>
          </p:txBody>
        </p:sp>
        <p:sp>
          <p:nvSpPr>
            <p:cNvPr id="27679" name="Line 15"/>
            <p:cNvSpPr>
              <a:spLocks noChangeShapeType="1"/>
            </p:cNvSpPr>
            <p:nvPr/>
          </p:nvSpPr>
          <p:spPr bwMode="auto">
            <a:xfrm flipH="1">
              <a:off x="2217266" y="3079503"/>
              <a:ext cx="252728" cy="2209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80" name="Line 20"/>
            <p:cNvSpPr>
              <a:spLocks noChangeShapeType="1"/>
            </p:cNvSpPr>
            <p:nvPr/>
          </p:nvSpPr>
          <p:spPr bwMode="auto">
            <a:xfrm>
              <a:off x="2284660" y="3633423"/>
              <a:ext cx="252728" cy="2209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7445" name="Line 37"/>
          <p:cNvSpPr>
            <a:spLocks noChangeShapeType="1"/>
          </p:cNvSpPr>
          <p:nvPr/>
        </p:nvSpPr>
        <p:spPr bwMode="auto">
          <a:xfrm>
            <a:off x="3940175" y="4069656"/>
            <a:ext cx="68263" cy="735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1" name="组合 60"/>
          <p:cNvGrpSpPr>
            <a:grpSpLocks/>
          </p:cNvGrpSpPr>
          <p:nvPr/>
        </p:nvGrpSpPr>
        <p:grpSpPr bwMode="auto">
          <a:xfrm>
            <a:off x="5857875" y="3140968"/>
            <a:ext cx="2135188" cy="1530350"/>
            <a:chOff x="6794448" y="2071678"/>
            <a:chExt cx="2135270" cy="1529873"/>
          </a:xfrm>
        </p:grpSpPr>
        <p:sp>
          <p:nvSpPr>
            <p:cNvPr id="27663" name="Oval 39"/>
            <p:cNvSpPr>
              <a:spLocks noChangeArrowheads="1"/>
            </p:cNvSpPr>
            <p:nvPr/>
          </p:nvSpPr>
          <p:spPr bwMode="auto">
            <a:xfrm>
              <a:off x="7281932" y="2071678"/>
              <a:ext cx="416720" cy="39345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7664" name="Text Box 40"/>
            <p:cNvSpPr txBox="1">
              <a:spLocks noChangeArrowheads="1"/>
            </p:cNvSpPr>
            <p:nvPr/>
          </p:nvSpPr>
          <p:spPr bwMode="auto">
            <a:xfrm>
              <a:off x="7387516" y="2132126"/>
              <a:ext cx="229140" cy="22970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30</a:t>
              </a:r>
              <a:endParaRPr lang="zh-CN" altLang="zh-CN" sz="1600" b="1">
                <a:latin typeface="Arial" pitchFamily="34" charset="0"/>
              </a:endParaRPr>
            </a:p>
          </p:txBody>
        </p:sp>
        <p:sp>
          <p:nvSpPr>
            <p:cNvPr id="27665" name="Line 41"/>
            <p:cNvSpPr>
              <a:spLocks noChangeShapeType="1"/>
            </p:cNvSpPr>
            <p:nvPr/>
          </p:nvSpPr>
          <p:spPr bwMode="auto">
            <a:xfrm>
              <a:off x="7632382" y="2400293"/>
              <a:ext cx="404365" cy="2494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66" name="Oval 42"/>
            <p:cNvSpPr>
              <a:spLocks noChangeArrowheads="1"/>
            </p:cNvSpPr>
            <p:nvPr/>
          </p:nvSpPr>
          <p:spPr bwMode="auto">
            <a:xfrm>
              <a:off x="6794448" y="2621201"/>
              <a:ext cx="416720" cy="39345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7667" name="Text Box 43"/>
            <p:cNvSpPr txBox="1">
              <a:spLocks noChangeArrowheads="1"/>
            </p:cNvSpPr>
            <p:nvPr/>
          </p:nvSpPr>
          <p:spPr bwMode="auto">
            <a:xfrm>
              <a:off x="6900032" y="2681649"/>
              <a:ext cx="229140" cy="22970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15</a:t>
              </a:r>
              <a:endParaRPr lang="zh-CN" altLang="zh-CN" sz="1600" b="1">
                <a:latin typeface="Arial" pitchFamily="34" charset="0"/>
              </a:endParaRPr>
            </a:p>
          </p:txBody>
        </p:sp>
        <p:sp>
          <p:nvSpPr>
            <p:cNvPr id="27668" name="Oval 44"/>
            <p:cNvSpPr>
              <a:spLocks noChangeArrowheads="1"/>
            </p:cNvSpPr>
            <p:nvPr/>
          </p:nvSpPr>
          <p:spPr bwMode="auto">
            <a:xfrm>
              <a:off x="7952504" y="2610211"/>
              <a:ext cx="416720" cy="39345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7669" name="Text Box 45"/>
            <p:cNvSpPr txBox="1">
              <a:spLocks noChangeArrowheads="1"/>
            </p:cNvSpPr>
            <p:nvPr/>
          </p:nvSpPr>
          <p:spPr bwMode="auto">
            <a:xfrm>
              <a:off x="8058088" y="2670658"/>
              <a:ext cx="229140" cy="22970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41</a:t>
              </a:r>
              <a:endParaRPr lang="zh-CN" altLang="zh-CN" sz="1600" b="1">
                <a:latin typeface="Arial" pitchFamily="34" charset="0"/>
              </a:endParaRPr>
            </a:p>
          </p:txBody>
        </p:sp>
        <p:sp>
          <p:nvSpPr>
            <p:cNvPr id="27670" name="Oval 46"/>
            <p:cNvSpPr>
              <a:spLocks noChangeArrowheads="1"/>
            </p:cNvSpPr>
            <p:nvPr/>
          </p:nvSpPr>
          <p:spPr bwMode="auto">
            <a:xfrm>
              <a:off x="7502086" y="3208092"/>
              <a:ext cx="416720" cy="39345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eaLnBrk="1" hangingPunct="1"/>
              <a:endParaRPr lang="zh-CN" altLang="en-US" sz="1600" b="1">
                <a:latin typeface="Times New Roman" pitchFamily="18" charset="0"/>
              </a:endParaRPr>
            </a:p>
          </p:txBody>
        </p:sp>
        <p:sp>
          <p:nvSpPr>
            <p:cNvPr id="27671" name="Oval 47"/>
            <p:cNvSpPr>
              <a:spLocks noChangeArrowheads="1"/>
            </p:cNvSpPr>
            <p:nvPr/>
          </p:nvSpPr>
          <p:spPr bwMode="auto">
            <a:xfrm>
              <a:off x="8512998" y="3125663"/>
              <a:ext cx="416720" cy="393459"/>
            </a:xfrm>
            <a:prstGeom prst="ellipse">
              <a:avLst/>
            </a:prstGeom>
            <a:solidFill>
              <a:srgbClr val="FFFFFF"/>
            </a:solidFill>
            <a:ln w="9525">
              <a:solidFill>
                <a:srgbClr val="000000"/>
              </a:solidFill>
              <a:round/>
              <a:headEnd/>
              <a:tailEnd/>
            </a:ln>
          </p:spPr>
          <p:txBody>
            <a:bodyPr/>
            <a:lstStyle/>
            <a:p>
              <a:pPr eaLnBrk="1" hangingPunct="1"/>
              <a:endParaRPr lang="zh-CN" altLang="en-US" sz="1600" b="1">
                <a:latin typeface="Times New Roman" pitchFamily="18" charset="0"/>
              </a:endParaRPr>
            </a:p>
          </p:txBody>
        </p:sp>
        <p:sp>
          <p:nvSpPr>
            <p:cNvPr id="27672" name="Text Box 48"/>
            <p:cNvSpPr txBox="1">
              <a:spLocks noChangeArrowheads="1"/>
            </p:cNvSpPr>
            <p:nvPr/>
          </p:nvSpPr>
          <p:spPr bwMode="auto">
            <a:xfrm>
              <a:off x="8618582" y="3186111"/>
              <a:ext cx="229140" cy="22970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50</a:t>
              </a:r>
              <a:endParaRPr lang="zh-CN" altLang="zh-CN" sz="1600" b="1">
                <a:latin typeface="Arial" pitchFamily="34" charset="0"/>
              </a:endParaRPr>
            </a:p>
          </p:txBody>
        </p:sp>
        <p:sp>
          <p:nvSpPr>
            <p:cNvPr id="27673" name="Line 49"/>
            <p:cNvSpPr>
              <a:spLocks noChangeShapeType="1"/>
            </p:cNvSpPr>
            <p:nvPr/>
          </p:nvSpPr>
          <p:spPr bwMode="auto">
            <a:xfrm>
              <a:off x="8323171" y="2937726"/>
              <a:ext cx="252728" cy="2209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74" name="Line 50"/>
            <p:cNvSpPr>
              <a:spLocks noChangeShapeType="1"/>
            </p:cNvSpPr>
            <p:nvPr/>
          </p:nvSpPr>
          <p:spPr bwMode="auto">
            <a:xfrm flipH="1">
              <a:off x="7110077" y="2416778"/>
              <a:ext cx="252728" cy="2209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75" name="Line 51"/>
            <p:cNvSpPr>
              <a:spLocks noChangeShapeType="1"/>
            </p:cNvSpPr>
            <p:nvPr/>
          </p:nvSpPr>
          <p:spPr bwMode="auto">
            <a:xfrm flipH="1">
              <a:off x="7834564" y="3011362"/>
              <a:ext cx="252728" cy="2209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76" name="Text Box 52"/>
            <p:cNvSpPr txBox="1">
              <a:spLocks noChangeArrowheads="1"/>
            </p:cNvSpPr>
            <p:nvPr/>
          </p:nvSpPr>
          <p:spPr bwMode="auto">
            <a:xfrm>
              <a:off x="7611040" y="3261945"/>
              <a:ext cx="229140" cy="2297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35</a:t>
              </a:r>
              <a:endParaRPr lang="zh-CN" altLang="zh-CN" sz="1600" b="1">
                <a:latin typeface="Arial" pitchFamily="34" charset="0"/>
              </a:endParaRPr>
            </a:p>
          </p:txBody>
        </p:sp>
      </p:grpSp>
      <p:sp>
        <p:nvSpPr>
          <p:cNvPr id="65" name="矩形 64"/>
          <p:cNvSpPr>
            <a:spLocks noChangeArrowheads="1"/>
          </p:cNvSpPr>
          <p:nvPr/>
        </p:nvSpPr>
        <p:spPr bwMode="auto">
          <a:xfrm>
            <a:off x="525463" y="2108200"/>
            <a:ext cx="2054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dirty="0">
                <a:latin typeface="Times New Roman" pitchFamily="18" charset="0"/>
              </a:rPr>
              <a:t>〖</a:t>
            </a:r>
            <a:r>
              <a:rPr lang="zh-CN" altLang="en-US" sz="2000" b="1" dirty="0">
                <a:latin typeface="Times New Roman" pitchFamily="18" charset="0"/>
              </a:rPr>
              <a:t>例</a:t>
            </a:r>
            <a:r>
              <a:rPr lang="en-US" altLang="zh-CN" sz="2000" b="1" dirty="0">
                <a:latin typeface="Times New Roman" pitchFamily="18" charset="0"/>
              </a:rPr>
              <a:t>〗</a:t>
            </a:r>
            <a:r>
              <a:rPr lang="zh-CN" altLang="en-US" sz="2000" b="1" dirty="0">
                <a:latin typeface="Times New Roman" pitchFamily="18" charset="0"/>
              </a:rPr>
              <a:t>：删除 </a:t>
            </a:r>
            <a:r>
              <a:rPr lang="en-US" altLang="zh-CN" sz="2000" b="1" dirty="0">
                <a:latin typeface="Times New Roman" pitchFamily="18" charset="0"/>
              </a:rPr>
              <a:t>33</a:t>
            </a:r>
            <a:endParaRPr lang="zh-CN" altLang="en-US" sz="2000" dirty="0">
              <a:latin typeface="Times New Roman" pitchFamily="18" charset="0"/>
            </a:endParaRPr>
          </a:p>
        </p:txBody>
      </p:sp>
      <p:sp>
        <p:nvSpPr>
          <p:cNvPr id="46" name="矩形 1"/>
          <p:cNvSpPr>
            <a:spLocks noChangeArrowheads="1"/>
          </p:cNvSpPr>
          <p:nvPr/>
        </p:nvSpPr>
        <p:spPr bwMode="auto">
          <a:xfrm>
            <a:off x="774701" y="327818"/>
            <a:ext cx="301148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400" b="1" dirty="0">
                <a:solidFill>
                  <a:schemeClr val="hlink"/>
                </a:solidFill>
                <a:latin typeface="Times New Roman" pitchFamily="18" charset="0"/>
                <a:sym typeface="Wingdings" pitchFamily="2" charset="2"/>
              </a:rPr>
              <a:t> </a:t>
            </a:r>
            <a:r>
              <a:rPr lang="zh-CN" altLang="en-US" sz="2400" b="1" dirty="0">
                <a:latin typeface="Times New Roman" pitchFamily="18" charset="0"/>
              </a:rPr>
              <a:t>二叉搜索树的</a:t>
            </a:r>
            <a:r>
              <a:rPr lang="zh-CN" altLang="en-US" sz="2400" b="1" dirty="0">
                <a:solidFill>
                  <a:srgbClr val="0000FF"/>
                </a:solidFill>
                <a:latin typeface="Times New Roman" pitchFamily="18" charset="0"/>
              </a:rPr>
              <a:t>删除</a:t>
            </a:r>
          </a:p>
        </p:txBody>
      </p:sp>
    </p:spTree>
    <p:extLst>
      <p:ext uri="{BB962C8B-B14F-4D97-AF65-F5344CB8AC3E}">
        <p14:creationId xmlns:p14="http://schemas.microsoft.com/office/powerpoint/2010/main" val="121396602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dissolve">
                                      <p:cBhvr>
                                        <p:cTn id="7" dur="500"/>
                                        <p:tgtEl>
                                          <p:spTgt spid="6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7426"/>
                                        </p:tgtEl>
                                        <p:attrNameLst>
                                          <p:attrName>style.visibility</p:attrName>
                                        </p:attrNameLst>
                                      </p:cBhvr>
                                      <p:to>
                                        <p:strVal val="visible"/>
                                      </p:to>
                                    </p:set>
                                    <p:animEffect transition="in" filter="dissolve">
                                      <p:cBhvr>
                                        <p:cTn id="10" dur="500"/>
                                        <p:tgtEl>
                                          <p:spTgt spid="17426"/>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7427"/>
                                        </p:tgtEl>
                                        <p:attrNameLst>
                                          <p:attrName>style.visibility</p:attrName>
                                        </p:attrNameLst>
                                      </p:cBhvr>
                                      <p:to>
                                        <p:strVal val="visible"/>
                                      </p:to>
                                    </p:set>
                                    <p:animEffect transition="in" filter="dissolve">
                                      <p:cBhvr>
                                        <p:cTn id="13" dur="500"/>
                                        <p:tgtEl>
                                          <p:spTgt spid="17427"/>
                                        </p:tgtEl>
                                      </p:cBhvr>
                                    </p:animEffect>
                                  </p:childTnLst>
                                </p:cTn>
                              </p:par>
                              <p:par>
                                <p:cTn id="14" presetID="9" presetClass="entr" presetSubtype="0" fill="hold" nodeType="withEffect">
                                  <p:stCondLst>
                                    <p:cond delay="0"/>
                                  </p:stCondLst>
                                  <p:childTnLst>
                                    <p:set>
                                      <p:cBhvr>
                                        <p:cTn id="15" dur="1" fill="hold">
                                          <p:stCondLst>
                                            <p:cond delay="0"/>
                                          </p:stCondLst>
                                        </p:cTn>
                                        <p:tgtEl>
                                          <p:spTgt spid="64"/>
                                        </p:tgtEl>
                                        <p:attrNameLst>
                                          <p:attrName>style.visibility</p:attrName>
                                        </p:attrNameLst>
                                      </p:cBhvr>
                                      <p:to>
                                        <p:strVal val="visible"/>
                                      </p:to>
                                    </p:set>
                                    <p:animEffect transition="in" filter="dissolve">
                                      <p:cBhvr>
                                        <p:cTn id="16" dur="500"/>
                                        <p:tgtEl>
                                          <p:spTgt spid="64"/>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65"/>
                                        </p:tgtEl>
                                        <p:attrNameLst>
                                          <p:attrName>style.visibility</p:attrName>
                                        </p:attrNameLst>
                                      </p:cBhvr>
                                      <p:to>
                                        <p:strVal val="visible"/>
                                      </p:to>
                                    </p:set>
                                    <p:animEffect transition="in" filter="wipe(up)">
                                      <p:cBhvr>
                                        <p:cTn id="21" dur="500"/>
                                        <p:tgtEl>
                                          <p:spTgt spid="65"/>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nodeType="clickEffect">
                                  <p:stCondLst>
                                    <p:cond delay="0"/>
                                  </p:stCondLst>
                                  <p:childTnLst>
                                    <p:set>
                                      <p:cBhvr>
                                        <p:cTn id="25" dur="1" fill="hold">
                                          <p:stCondLst>
                                            <p:cond delay="0"/>
                                          </p:stCondLst>
                                        </p:cTn>
                                        <p:tgtEl>
                                          <p:spTgt spid="62"/>
                                        </p:tgtEl>
                                        <p:attrNameLst>
                                          <p:attrName>style.visibility</p:attrName>
                                        </p:attrNameLst>
                                      </p:cBhvr>
                                      <p:to>
                                        <p:strVal val="visible"/>
                                      </p:to>
                                    </p:set>
                                    <p:animEffect transition="in" filter="wipe(left)">
                                      <p:cBhvr>
                                        <p:cTn id="26" dur="500"/>
                                        <p:tgtEl>
                                          <p:spTgt spid="62"/>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6" presetClass="emph" presetSubtype="0" fill="hold" nodeType="clickEffect">
                                  <p:stCondLst>
                                    <p:cond delay="0"/>
                                  </p:stCondLst>
                                  <p:childTnLst>
                                    <p:animScale>
                                      <p:cBhvr>
                                        <p:cTn id="30" dur="2000" fill="hold"/>
                                        <p:tgtEl>
                                          <p:spTgt spid="62"/>
                                        </p:tgtEl>
                                      </p:cBhvr>
                                      <p:by x="120000" y="120000"/>
                                    </p:animScale>
                                  </p:childTnLst>
                                </p:cTn>
                              </p:par>
                            </p:childTnLst>
                          </p:cTn>
                        </p:par>
                      </p:childTnLst>
                    </p:cTn>
                  </p:par>
                  <p:par>
                    <p:cTn id="31" fill="hold" nodeType="clickPar">
                      <p:stCondLst>
                        <p:cond delay="indefinite"/>
                      </p:stCondLst>
                      <p:childTnLst>
                        <p:par>
                          <p:cTn id="32" fill="hold" nodeType="withGroup">
                            <p:stCondLst>
                              <p:cond delay="0"/>
                            </p:stCondLst>
                            <p:childTnLst>
                              <p:par>
                                <p:cTn id="33" presetID="22" presetClass="entr" presetSubtype="1" fill="hold" grpId="0" nodeType="clickEffect">
                                  <p:stCondLst>
                                    <p:cond delay="0"/>
                                  </p:stCondLst>
                                  <p:childTnLst>
                                    <p:set>
                                      <p:cBhvr>
                                        <p:cTn id="34" dur="1" fill="hold">
                                          <p:stCondLst>
                                            <p:cond delay="0"/>
                                          </p:stCondLst>
                                        </p:cTn>
                                        <p:tgtEl>
                                          <p:spTgt spid="17445"/>
                                        </p:tgtEl>
                                        <p:attrNameLst>
                                          <p:attrName>style.visibility</p:attrName>
                                        </p:attrNameLst>
                                      </p:cBhvr>
                                      <p:to>
                                        <p:strVal val="visible"/>
                                      </p:to>
                                    </p:set>
                                    <p:animEffect transition="in" filter="wipe(up)">
                                      <p:cBhvr>
                                        <p:cTn id="35" dur="500"/>
                                        <p:tgtEl>
                                          <p:spTgt spid="17445"/>
                                        </p:tgtEl>
                                      </p:cBhvr>
                                    </p:animEffect>
                                  </p:childTnLst>
                                </p:cTn>
                              </p:par>
                            </p:childTnLst>
                          </p:cTn>
                        </p:par>
                        <p:par>
                          <p:cTn id="36" fill="hold" nodeType="afterGroup">
                            <p:stCondLst>
                              <p:cond delay="500"/>
                            </p:stCondLst>
                            <p:childTnLst>
                              <p:par>
                                <p:cTn id="37" presetID="9" presetClass="exit" presetSubtype="0" fill="hold" nodeType="afterEffect">
                                  <p:stCondLst>
                                    <p:cond delay="0"/>
                                  </p:stCondLst>
                                  <p:childTnLst>
                                    <p:animEffect transition="out" filter="dissolve">
                                      <p:cBhvr>
                                        <p:cTn id="38" dur="500"/>
                                        <p:tgtEl>
                                          <p:spTgt spid="64"/>
                                        </p:tgtEl>
                                      </p:cBhvr>
                                    </p:animEffect>
                                    <p:set>
                                      <p:cBhvr>
                                        <p:cTn id="39" dur="1" fill="hold">
                                          <p:stCondLst>
                                            <p:cond delay="499"/>
                                          </p:stCondLst>
                                        </p:cTn>
                                        <p:tgtEl>
                                          <p:spTgt spid="64"/>
                                        </p:tgtEl>
                                        <p:attrNameLst>
                                          <p:attrName>style.visibility</p:attrName>
                                        </p:attrNameLst>
                                      </p:cBhvr>
                                      <p:to>
                                        <p:strVal val="hidden"/>
                                      </p:to>
                                    </p:set>
                                  </p:childTnLst>
                                </p:cTn>
                              </p:par>
                              <p:par>
                                <p:cTn id="40" presetID="9" presetClass="exit" presetSubtype="0" fill="hold" nodeType="withEffect">
                                  <p:stCondLst>
                                    <p:cond delay="0"/>
                                  </p:stCondLst>
                                  <p:childTnLst>
                                    <p:animEffect transition="out" filter="dissolve">
                                      <p:cBhvr>
                                        <p:cTn id="41" dur="500"/>
                                        <p:tgtEl>
                                          <p:spTgt spid="62"/>
                                        </p:tgtEl>
                                      </p:cBhvr>
                                    </p:animEffect>
                                    <p:set>
                                      <p:cBhvr>
                                        <p:cTn id="42" dur="1" fill="hold">
                                          <p:stCondLst>
                                            <p:cond delay="499"/>
                                          </p:stCondLst>
                                        </p:cTn>
                                        <p:tgtEl>
                                          <p:spTgt spid="62"/>
                                        </p:tgtEl>
                                        <p:attrNameLst>
                                          <p:attrName>style.visibility</p:attrName>
                                        </p:attrNameLst>
                                      </p:cBhvr>
                                      <p:to>
                                        <p:strVal val="hidden"/>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nodeType="clickEffect">
                                  <p:stCondLst>
                                    <p:cond delay="0"/>
                                  </p:stCondLst>
                                  <p:childTnLst>
                                    <p:set>
                                      <p:cBhvr>
                                        <p:cTn id="46" dur="1" fill="hold">
                                          <p:stCondLst>
                                            <p:cond delay="0"/>
                                          </p:stCondLst>
                                        </p:cTn>
                                        <p:tgtEl>
                                          <p:spTgt spid="61"/>
                                        </p:tgtEl>
                                        <p:attrNameLst>
                                          <p:attrName>style.visibility</p:attrName>
                                        </p:attrNameLst>
                                      </p:cBhvr>
                                      <p:to>
                                        <p:strVal val="visible"/>
                                      </p:to>
                                    </p:set>
                                    <p:animEffect transition="in" filter="wipe(up)">
                                      <p:cBhvr>
                                        <p:cTn id="47"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26" grpId="0" animBg="1"/>
      <p:bldP spid="17427" grpId="0"/>
      <p:bldP spid="17445" grpId="0" animBg="1"/>
      <p:bldP spid="65"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7" name="矩形 5"/>
          <p:cNvSpPr>
            <a:spLocks noChangeArrowheads="1"/>
          </p:cNvSpPr>
          <p:nvPr/>
        </p:nvSpPr>
        <p:spPr bwMode="auto">
          <a:xfrm>
            <a:off x="2771775" y="6155457"/>
            <a:ext cx="27414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zh-CN" altLang="zh-CN" sz="1800" b="1" dirty="0" smtClean="0">
                <a:latin typeface="Times New Roman" pitchFamily="18" charset="0"/>
              </a:rPr>
              <a:t>具有</a:t>
            </a:r>
            <a:r>
              <a:rPr lang="zh-CN" altLang="zh-CN" sz="1800" b="1" dirty="0">
                <a:latin typeface="Times New Roman" pitchFamily="18" charset="0"/>
              </a:rPr>
              <a:t>两个子树的结点删除</a:t>
            </a:r>
          </a:p>
        </p:txBody>
      </p:sp>
      <p:sp>
        <p:nvSpPr>
          <p:cNvPr id="28678" name="矩形 7"/>
          <p:cNvSpPr>
            <a:spLocks noChangeArrowheads="1"/>
          </p:cNvSpPr>
          <p:nvPr/>
        </p:nvSpPr>
        <p:spPr bwMode="auto">
          <a:xfrm>
            <a:off x="357188" y="922611"/>
            <a:ext cx="8286750" cy="1138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indent="-342900" eaLnBrk="1" hangingPunct="1"/>
            <a:r>
              <a:rPr lang="en-US" altLang="zh-CN" sz="2800" b="1" dirty="0">
                <a:solidFill>
                  <a:srgbClr val="0000FF"/>
                </a:solidFill>
                <a:latin typeface="Times New Roman" pitchFamily="18" charset="0"/>
                <a:sym typeface="Wingdings" pitchFamily="2" charset="2"/>
              </a:rPr>
              <a:t> </a:t>
            </a:r>
            <a:r>
              <a:rPr lang="zh-CN" altLang="zh-CN" sz="2000" b="1" dirty="0">
                <a:latin typeface="Times New Roman" pitchFamily="18" charset="0"/>
              </a:rPr>
              <a:t>要删除的结点</a:t>
            </a:r>
            <a:r>
              <a:rPr lang="zh-CN" altLang="en-US" sz="2000" b="1" dirty="0">
                <a:solidFill>
                  <a:srgbClr val="0000FF"/>
                </a:solidFill>
                <a:latin typeface="Times New Roman" pitchFamily="18" charset="0"/>
              </a:rPr>
              <a:t>有左、右两棵子树</a:t>
            </a:r>
            <a:r>
              <a:rPr lang="zh-CN" altLang="zh-CN" sz="2000" b="1" dirty="0">
                <a:latin typeface="Times New Roman" pitchFamily="18" charset="0"/>
              </a:rPr>
              <a:t>——</a:t>
            </a:r>
            <a:r>
              <a:rPr lang="zh-CN" altLang="en-US" sz="2000" b="1" dirty="0">
                <a:latin typeface="Times New Roman" pitchFamily="18" charset="0"/>
              </a:rPr>
              <a:t>为了保持二叉搜索树的有序性，替代被删除的元素的位置可以有两种选择：一种是取其</a:t>
            </a:r>
            <a:r>
              <a:rPr lang="zh-CN" altLang="en-US" sz="2000" b="1" dirty="0">
                <a:solidFill>
                  <a:srgbClr val="0000FF"/>
                </a:solidFill>
                <a:latin typeface="Times New Roman" pitchFamily="18" charset="0"/>
              </a:rPr>
              <a:t>右子树中的最小元素</a:t>
            </a:r>
            <a:r>
              <a:rPr lang="zh-CN" altLang="en-US" sz="2000" b="1" dirty="0">
                <a:latin typeface="Times New Roman" pitchFamily="18" charset="0"/>
              </a:rPr>
              <a:t>；另一个是取其</a:t>
            </a:r>
            <a:r>
              <a:rPr lang="zh-CN" altLang="en-US" sz="2000" b="1" dirty="0">
                <a:solidFill>
                  <a:srgbClr val="0000FF"/>
                </a:solidFill>
                <a:latin typeface="Times New Roman" pitchFamily="18" charset="0"/>
              </a:rPr>
              <a:t>左子树中的最大元素</a:t>
            </a:r>
            <a:r>
              <a:rPr lang="zh-CN" altLang="en-US" sz="2000" b="1" dirty="0">
                <a:latin typeface="Times New Roman" pitchFamily="18" charset="0"/>
              </a:rPr>
              <a:t>。</a:t>
            </a:r>
            <a:endParaRPr lang="zh-CN" altLang="zh-CN" sz="2000" b="1" dirty="0">
              <a:latin typeface="Times New Roman" pitchFamily="18" charset="0"/>
            </a:endParaRPr>
          </a:p>
        </p:txBody>
      </p:sp>
      <p:sp>
        <p:nvSpPr>
          <p:cNvPr id="16391" name="Oval 7"/>
          <p:cNvSpPr>
            <a:spLocks noChangeArrowheads="1"/>
          </p:cNvSpPr>
          <p:nvPr/>
        </p:nvSpPr>
        <p:spPr bwMode="auto">
          <a:xfrm>
            <a:off x="3038475" y="3260611"/>
            <a:ext cx="501650" cy="392112"/>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16392" name="Text Box 8"/>
          <p:cNvSpPr txBox="1">
            <a:spLocks noChangeArrowheads="1"/>
          </p:cNvSpPr>
          <p:nvPr/>
        </p:nvSpPr>
        <p:spPr bwMode="auto">
          <a:xfrm>
            <a:off x="3165475" y="3320936"/>
            <a:ext cx="276225" cy="228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41</a:t>
            </a:r>
            <a:endParaRPr lang="zh-CN" altLang="zh-CN" sz="1800" b="1">
              <a:latin typeface="Arial" pitchFamily="34" charset="0"/>
            </a:endParaRPr>
          </a:p>
        </p:txBody>
      </p:sp>
      <p:grpSp>
        <p:nvGrpSpPr>
          <p:cNvPr id="39" name="组合 38"/>
          <p:cNvGrpSpPr>
            <a:grpSpLocks/>
          </p:cNvGrpSpPr>
          <p:nvPr/>
        </p:nvGrpSpPr>
        <p:grpSpPr bwMode="auto">
          <a:xfrm>
            <a:off x="3713163" y="3774961"/>
            <a:ext cx="501650" cy="392112"/>
            <a:chOff x="3712903" y="3481103"/>
            <a:chExt cx="501907" cy="392805"/>
          </a:xfrm>
        </p:grpSpPr>
        <p:sp>
          <p:nvSpPr>
            <p:cNvPr id="28737" name="Oval 11"/>
            <p:cNvSpPr>
              <a:spLocks noChangeArrowheads="1"/>
            </p:cNvSpPr>
            <p:nvPr/>
          </p:nvSpPr>
          <p:spPr bwMode="auto">
            <a:xfrm>
              <a:off x="3712903" y="3481103"/>
              <a:ext cx="501907" cy="392805"/>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28738" name="Text Box 12"/>
            <p:cNvSpPr txBox="1">
              <a:spLocks noChangeArrowheads="1"/>
            </p:cNvSpPr>
            <p:nvPr/>
          </p:nvSpPr>
          <p:spPr bwMode="auto">
            <a:xfrm>
              <a:off x="3840071" y="3541450"/>
              <a:ext cx="275981" cy="2293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50</a:t>
              </a:r>
              <a:endParaRPr lang="zh-CN" altLang="zh-CN" sz="1800" b="1">
                <a:latin typeface="Arial" pitchFamily="34" charset="0"/>
              </a:endParaRPr>
            </a:p>
          </p:txBody>
        </p:sp>
      </p:grpSp>
      <p:sp>
        <p:nvSpPr>
          <p:cNvPr id="16398" name="Line 14"/>
          <p:cNvSpPr>
            <a:spLocks noChangeShapeType="1"/>
          </p:cNvSpPr>
          <p:nvPr/>
        </p:nvSpPr>
        <p:spPr bwMode="auto">
          <a:xfrm>
            <a:off x="3484563" y="3587636"/>
            <a:ext cx="304800" cy="2206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grpSp>
        <p:nvGrpSpPr>
          <p:cNvPr id="32" name="组合 31"/>
          <p:cNvGrpSpPr>
            <a:grpSpLocks/>
          </p:cNvGrpSpPr>
          <p:nvPr/>
        </p:nvGrpSpPr>
        <p:grpSpPr bwMode="auto">
          <a:xfrm>
            <a:off x="1643063" y="2722448"/>
            <a:ext cx="2024062" cy="2643188"/>
            <a:chOff x="1643042" y="2428868"/>
            <a:chExt cx="2023863" cy="2643206"/>
          </a:xfrm>
        </p:grpSpPr>
        <p:sp>
          <p:nvSpPr>
            <p:cNvPr id="28722" name="Oval 2"/>
            <p:cNvSpPr>
              <a:spLocks noChangeArrowheads="1"/>
            </p:cNvSpPr>
            <p:nvPr/>
          </p:nvSpPr>
          <p:spPr bwMode="auto">
            <a:xfrm>
              <a:off x="2230179" y="2428868"/>
              <a:ext cx="501907" cy="392805"/>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28723" name="Text Box 3"/>
            <p:cNvSpPr txBox="1">
              <a:spLocks noChangeArrowheads="1"/>
            </p:cNvSpPr>
            <p:nvPr/>
          </p:nvSpPr>
          <p:spPr bwMode="auto">
            <a:xfrm>
              <a:off x="2357347" y="2489215"/>
              <a:ext cx="275981" cy="2293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30</a:t>
              </a:r>
              <a:endParaRPr lang="zh-CN" altLang="zh-CN" sz="1800" b="1">
                <a:latin typeface="Arial" pitchFamily="34" charset="0"/>
              </a:endParaRPr>
            </a:p>
          </p:txBody>
        </p:sp>
        <p:sp>
          <p:nvSpPr>
            <p:cNvPr id="28724" name="Line 4"/>
            <p:cNvSpPr>
              <a:spLocks noChangeShapeType="1"/>
            </p:cNvSpPr>
            <p:nvPr/>
          </p:nvSpPr>
          <p:spPr bwMode="auto">
            <a:xfrm>
              <a:off x="2652268" y="2756937"/>
              <a:ext cx="487026" cy="24906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28725" name="Oval 5"/>
            <p:cNvSpPr>
              <a:spLocks noChangeArrowheads="1"/>
            </p:cNvSpPr>
            <p:nvPr/>
          </p:nvSpPr>
          <p:spPr bwMode="auto">
            <a:xfrm>
              <a:off x="1643042" y="2977479"/>
              <a:ext cx="501907" cy="392805"/>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28726" name="Text Box 6"/>
            <p:cNvSpPr txBox="1">
              <a:spLocks noChangeArrowheads="1"/>
            </p:cNvSpPr>
            <p:nvPr/>
          </p:nvSpPr>
          <p:spPr bwMode="auto">
            <a:xfrm>
              <a:off x="1770210" y="3037826"/>
              <a:ext cx="275981" cy="2293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15</a:t>
              </a:r>
              <a:endParaRPr lang="zh-CN" altLang="zh-CN" sz="1800" b="1">
                <a:latin typeface="Arial" pitchFamily="34" charset="0"/>
              </a:endParaRPr>
            </a:p>
          </p:txBody>
        </p:sp>
        <p:sp>
          <p:nvSpPr>
            <p:cNvPr id="28727" name="Oval 9"/>
            <p:cNvSpPr>
              <a:spLocks noChangeArrowheads="1"/>
            </p:cNvSpPr>
            <p:nvPr/>
          </p:nvSpPr>
          <p:spPr bwMode="auto">
            <a:xfrm>
              <a:off x="2495338" y="3563395"/>
              <a:ext cx="501907" cy="392805"/>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28728" name="Text Box 10"/>
            <p:cNvSpPr txBox="1">
              <a:spLocks noChangeArrowheads="1"/>
            </p:cNvSpPr>
            <p:nvPr/>
          </p:nvSpPr>
          <p:spPr bwMode="auto">
            <a:xfrm>
              <a:off x="2622505" y="3623742"/>
              <a:ext cx="275981" cy="2293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33</a:t>
              </a:r>
              <a:endParaRPr lang="zh-CN" altLang="zh-CN" sz="1800" b="1">
                <a:latin typeface="Arial" pitchFamily="34" charset="0"/>
              </a:endParaRPr>
            </a:p>
          </p:txBody>
        </p:sp>
        <p:sp>
          <p:nvSpPr>
            <p:cNvPr id="28729" name="Line 13"/>
            <p:cNvSpPr>
              <a:spLocks noChangeShapeType="1"/>
            </p:cNvSpPr>
            <p:nvPr/>
          </p:nvSpPr>
          <p:spPr bwMode="auto">
            <a:xfrm flipH="1">
              <a:off x="2814610" y="3342853"/>
              <a:ext cx="304391" cy="22054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28730" name="Line 15"/>
            <p:cNvSpPr>
              <a:spLocks noChangeShapeType="1"/>
            </p:cNvSpPr>
            <p:nvPr/>
          </p:nvSpPr>
          <p:spPr bwMode="auto">
            <a:xfrm flipH="1">
              <a:off x="2023193" y="2773395"/>
              <a:ext cx="304391" cy="22054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28731" name="Oval 16"/>
            <p:cNvSpPr>
              <a:spLocks noChangeArrowheads="1"/>
            </p:cNvSpPr>
            <p:nvPr/>
          </p:nvSpPr>
          <p:spPr bwMode="auto">
            <a:xfrm>
              <a:off x="3164998" y="4083478"/>
              <a:ext cx="501907" cy="39280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eaLnBrk="1" hangingPunct="1"/>
              <a:endParaRPr lang="zh-CN" altLang="en-US" sz="1800" b="1">
                <a:latin typeface="Times New Roman" pitchFamily="18" charset="0"/>
              </a:endParaRPr>
            </a:p>
          </p:txBody>
        </p:sp>
        <p:sp>
          <p:nvSpPr>
            <p:cNvPr id="28732" name="Text Box 17"/>
            <p:cNvSpPr txBox="1">
              <a:spLocks noChangeArrowheads="1"/>
            </p:cNvSpPr>
            <p:nvPr/>
          </p:nvSpPr>
          <p:spPr bwMode="auto">
            <a:xfrm>
              <a:off x="3296225" y="4143825"/>
              <a:ext cx="275981" cy="229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35</a:t>
              </a:r>
              <a:endParaRPr lang="zh-CN" altLang="zh-CN" sz="1800" b="1">
                <a:latin typeface="Arial" pitchFamily="34" charset="0"/>
              </a:endParaRPr>
            </a:p>
          </p:txBody>
        </p:sp>
        <p:sp>
          <p:nvSpPr>
            <p:cNvPr id="28733" name="Line 18"/>
            <p:cNvSpPr>
              <a:spLocks noChangeShapeType="1"/>
            </p:cNvSpPr>
            <p:nvPr/>
          </p:nvSpPr>
          <p:spPr bwMode="auto">
            <a:xfrm>
              <a:off x="2936367" y="3895853"/>
              <a:ext cx="304391" cy="22054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28734" name="Oval 19"/>
            <p:cNvSpPr>
              <a:spLocks noChangeArrowheads="1"/>
            </p:cNvSpPr>
            <p:nvPr/>
          </p:nvSpPr>
          <p:spPr bwMode="auto">
            <a:xfrm>
              <a:off x="2702324" y="4679269"/>
              <a:ext cx="501907" cy="392805"/>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28735" name="Text Box 20"/>
            <p:cNvSpPr txBox="1">
              <a:spLocks noChangeArrowheads="1"/>
            </p:cNvSpPr>
            <p:nvPr/>
          </p:nvSpPr>
          <p:spPr bwMode="auto">
            <a:xfrm>
              <a:off x="2829492" y="4739616"/>
              <a:ext cx="275981" cy="2293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34</a:t>
              </a:r>
              <a:endParaRPr lang="zh-CN" altLang="zh-CN" sz="1800" b="1">
                <a:latin typeface="Arial" pitchFamily="34" charset="0"/>
              </a:endParaRPr>
            </a:p>
          </p:txBody>
        </p:sp>
        <p:sp>
          <p:nvSpPr>
            <p:cNvPr id="28736" name="Line 21"/>
            <p:cNvSpPr>
              <a:spLocks noChangeShapeType="1"/>
            </p:cNvSpPr>
            <p:nvPr/>
          </p:nvSpPr>
          <p:spPr bwMode="auto">
            <a:xfrm flipH="1">
              <a:off x="3021596" y="4458727"/>
              <a:ext cx="304391" cy="22054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grpSp>
      <p:sp>
        <p:nvSpPr>
          <p:cNvPr id="31" name="矩形 30"/>
          <p:cNvSpPr>
            <a:spLocks noChangeArrowheads="1"/>
          </p:cNvSpPr>
          <p:nvPr/>
        </p:nvSpPr>
        <p:spPr bwMode="auto">
          <a:xfrm>
            <a:off x="571500" y="2164854"/>
            <a:ext cx="2054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000" b="1" dirty="0">
                <a:latin typeface="Times New Roman" pitchFamily="18" charset="0"/>
              </a:rPr>
              <a:t>〖</a:t>
            </a:r>
            <a:r>
              <a:rPr lang="zh-CN" altLang="en-US" sz="2000" b="1" dirty="0">
                <a:latin typeface="Times New Roman" pitchFamily="18" charset="0"/>
              </a:rPr>
              <a:t>例</a:t>
            </a:r>
            <a:r>
              <a:rPr lang="en-US" altLang="zh-CN" sz="2000" b="1" dirty="0">
                <a:latin typeface="Times New Roman" pitchFamily="18" charset="0"/>
              </a:rPr>
              <a:t>〗</a:t>
            </a:r>
            <a:r>
              <a:rPr lang="zh-CN" altLang="en-US" sz="2000" b="1" dirty="0">
                <a:latin typeface="Times New Roman" pitchFamily="18" charset="0"/>
              </a:rPr>
              <a:t>：删除 </a:t>
            </a:r>
            <a:r>
              <a:rPr lang="en-US" altLang="zh-CN" sz="2000" b="1" dirty="0">
                <a:latin typeface="Times New Roman" pitchFamily="18" charset="0"/>
              </a:rPr>
              <a:t>41</a:t>
            </a:r>
            <a:endParaRPr lang="zh-CN" altLang="en-US" sz="2000" dirty="0">
              <a:latin typeface="Times New Roman" pitchFamily="18" charset="0"/>
            </a:endParaRPr>
          </a:p>
        </p:txBody>
      </p:sp>
      <p:grpSp>
        <p:nvGrpSpPr>
          <p:cNvPr id="33" name="Group 35"/>
          <p:cNvGrpSpPr>
            <a:grpSpLocks/>
          </p:cNvGrpSpPr>
          <p:nvPr/>
        </p:nvGrpSpPr>
        <p:grpSpPr bwMode="auto">
          <a:xfrm>
            <a:off x="3071813" y="3079636"/>
            <a:ext cx="457200" cy="409575"/>
            <a:chOff x="1680" y="3744"/>
            <a:chExt cx="288" cy="258"/>
          </a:xfrm>
        </p:grpSpPr>
        <p:sp>
          <p:nvSpPr>
            <p:cNvPr id="28718" name="AutoShape 36"/>
            <p:cNvSpPr>
              <a:spLocks noChangeArrowheads="1"/>
            </p:cNvSpPr>
            <p:nvPr/>
          </p:nvSpPr>
          <p:spPr bwMode="auto">
            <a:xfrm>
              <a:off x="1731" y="3768"/>
              <a:ext cx="226" cy="234"/>
            </a:xfrm>
            <a:prstGeom prst="roundRect">
              <a:avLst>
                <a:gd name="adj" fmla="val 12102"/>
              </a:avLst>
            </a:prstGeom>
            <a:noFill/>
            <a:ln w="952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eaLnBrk="1" hangingPunct="1"/>
              <a:endParaRPr lang="zh-CN" altLang="en-US" sz="1800">
                <a:latin typeface="Times New Roman" pitchFamily="18" charset="0"/>
              </a:endParaRPr>
            </a:p>
          </p:txBody>
        </p:sp>
        <p:grpSp>
          <p:nvGrpSpPr>
            <p:cNvPr id="28719" name="Group 37"/>
            <p:cNvGrpSpPr>
              <a:grpSpLocks/>
            </p:cNvGrpSpPr>
            <p:nvPr/>
          </p:nvGrpSpPr>
          <p:grpSpPr bwMode="auto">
            <a:xfrm rot="16200000" flipH="1">
              <a:off x="1704" y="3720"/>
              <a:ext cx="240" cy="288"/>
              <a:chOff x="1728" y="3696"/>
              <a:chExt cx="288" cy="288"/>
            </a:xfrm>
          </p:grpSpPr>
          <p:sp>
            <p:nvSpPr>
              <p:cNvPr id="28720" name="Line 38"/>
              <p:cNvSpPr>
                <a:spLocks noChangeShapeType="1"/>
              </p:cNvSpPr>
              <p:nvPr/>
            </p:nvSpPr>
            <p:spPr bwMode="auto">
              <a:xfrm>
                <a:off x="1728" y="3744"/>
                <a:ext cx="192" cy="240"/>
              </a:xfrm>
              <a:prstGeom prst="line">
                <a:avLst/>
              </a:prstGeom>
              <a:noFill/>
              <a:ln w="1016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800"/>
              </a:p>
            </p:txBody>
          </p:sp>
          <p:sp>
            <p:nvSpPr>
              <p:cNvPr id="28721" name="Line 39"/>
              <p:cNvSpPr>
                <a:spLocks noChangeShapeType="1"/>
              </p:cNvSpPr>
              <p:nvPr/>
            </p:nvSpPr>
            <p:spPr bwMode="auto">
              <a:xfrm flipH="1">
                <a:off x="1728" y="3696"/>
                <a:ext cx="288" cy="240"/>
              </a:xfrm>
              <a:prstGeom prst="line">
                <a:avLst/>
              </a:prstGeom>
              <a:noFill/>
              <a:ln w="1016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800"/>
              </a:p>
            </p:txBody>
          </p:sp>
        </p:grpSp>
      </p:grpSp>
      <p:sp>
        <p:nvSpPr>
          <p:cNvPr id="38" name="矩形 37"/>
          <p:cNvSpPr>
            <a:spLocks noChangeArrowheads="1"/>
          </p:cNvSpPr>
          <p:nvPr/>
        </p:nvSpPr>
        <p:spPr bwMode="auto">
          <a:xfrm>
            <a:off x="1214438" y="5579948"/>
            <a:ext cx="33009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1800" b="1">
                <a:latin typeface="Times New Roman" pitchFamily="18" charset="0"/>
              </a:rPr>
              <a:t>(a) </a:t>
            </a:r>
            <a:r>
              <a:rPr lang="zh-CN" altLang="en-US" sz="1800" b="1">
                <a:latin typeface="Times New Roman" pitchFamily="18" charset="0"/>
              </a:rPr>
              <a:t>取</a:t>
            </a:r>
            <a:r>
              <a:rPr lang="zh-CN" altLang="en-US" sz="1800" b="1">
                <a:solidFill>
                  <a:srgbClr val="0000FF"/>
                </a:solidFill>
                <a:latin typeface="Times New Roman" pitchFamily="18" charset="0"/>
              </a:rPr>
              <a:t>右子树</a:t>
            </a:r>
            <a:r>
              <a:rPr lang="zh-CN" altLang="en-US" sz="1800" b="1">
                <a:latin typeface="Times New Roman" pitchFamily="18" charset="0"/>
              </a:rPr>
              <a:t>中的</a:t>
            </a:r>
            <a:r>
              <a:rPr lang="zh-CN" altLang="en-US" sz="1800" b="1">
                <a:solidFill>
                  <a:srgbClr val="0000FF"/>
                </a:solidFill>
                <a:latin typeface="Times New Roman" pitchFamily="18" charset="0"/>
              </a:rPr>
              <a:t>最小</a:t>
            </a:r>
            <a:r>
              <a:rPr lang="zh-CN" altLang="en-US" sz="1800" b="1">
                <a:latin typeface="Times New Roman" pitchFamily="18" charset="0"/>
              </a:rPr>
              <a:t>元素替代</a:t>
            </a:r>
            <a:endParaRPr lang="zh-CN" altLang="en-US" sz="1800">
              <a:latin typeface="Times New Roman" pitchFamily="18" charset="0"/>
            </a:endParaRPr>
          </a:p>
        </p:txBody>
      </p:sp>
      <p:grpSp>
        <p:nvGrpSpPr>
          <p:cNvPr id="91" name="组合 90"/>
          <p:cNvGrpSpPr>
            <a:grpSpLocks/>
          </p:cNvGrpSpPr>
          <p:nvPr/>
        </p:nvGrpSpPr>
        <p:grpSpPr bwMode="auto">
          <a:xfrm>
            <a:off x="6645275" y="3176473"/>
            <a:ext cx="501650" cy="392113"/>
            <a:chOff x="6645573" y="2882926"/>
            <a:chExt cx="501907" cy="392805"/>
          </a:xfrm>
        </p:grpSpPr>
        <p:sp>
          <p:nvSpPr>
            <p:cNvPr id="28716" name="Oval 7"/>
            <p:cNvSpPr>
              <a:spLocks noChangeArrowheads="1"/>
            </p:cNvSpPr>
            <p:nvPr/>
          </p:nvSpPr>
          <p:spPr bwMode="auto">
            <a:xfrm>
              <a:off x="6645573" y="2882926"/>
              <a:ext cx="501907" cy="392805"/>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28717" name="Text Box 8"/>
            <p:cNvSpPr txBox="1">
              <a:spLocks noChangeArrowheads="1"/>
            </p:cNvSpPr>
            <p:nvPr/>
          </p:nvSpPr>
          <p:spPr bwMode="auto">
            <a:xfrm>
              <a:off x="6772741" y="2943274"/>
              <a:ext cx="275981" cy="2293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41</a:t>
              </a:r>
              <a:endParaRPr lang="zh-CN" altLang="zh-CN" sz="1800" b="1">
                <a:latin typeface="Arial" pitchFamily="34" charset="0"/>
              </a:endParaRPr>
            </a:p>
          </p:txBody>
        </p:sp>
      </p:grpSp>
      <p:grpSp>
        <p:nvGrpSpPr>
          <p:cNvPr id="92" name="组合 91"/>
          <p:cNvGrpSpPr>
            <a:grpSpLocks/>
          </p:cNvGrpSpPr>
          <p:nvPr/>
        </p:nvGrpSpPr>
        <p:grpSpPr bwMode="auto">
          <a:xfrm>
            <a:off x="6772275" y="4294073"/>
            <a:ext cx="501650" cy="392113"/>
            <a:chOff x="6772741" y="3999898"/>
            <a:chExt cx="501907" cy="392805"/>
          </a:xfrm>
        </p:grpSpPr>
        <p:sp>
          <p:nvSpPr>
            <p:cNvPr id="28714" name="Oval 16"/>
            <p:cNvSpPr>
              <a:spLocks noChangeArrowheads="1"/>
            </p:cNvSpPr>
            <p:nvPr/>
          </p:nvSpPr>
          <p:spPr bwMode="auto">
            <a:xfrm>
              <a:off x="6772741" y="3999898"/>
              <a:ext cx="501907" cy="39280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eaLnBrk="1" hangingPunct="1"/>
              <a:endParaRPr lang="zh-CN" altLang="en-US" sz="1800" b="1">
                <a:latin typeface="Times New Roman" pitchFamily="18" charset="0"/>
              </a:endParaRPr>
            </a:p>
          </p:txBody>
        </p:sp>
        <p:sp>
          <p:nvSpPr>
            <p:cNvPr id="28715" name="Text Box 17"/>
            <p:cNvSpPr txBox="1">
              <a:spLocks noChangeArrowheads="1"/>
            </p:cNvSpPr>
            <p:nvPr/>
          </p:nvSpPr>
          <p:spPr bwMode="auto">
            <a:xfrm>
              <a:off x="6903968" y="4060245"/>
              <a:ext cx="275981" cy="229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35</a:t>
              </a:r>
              <a:endParaRPr lang="zh-CN" altLang="zh-CN" sz="1800" b="1">
                <a:latin typeface="Arial" pitchFamily="34" charset="0"/>
              </a:endParaRPr>
            </a:p>
          </p:txBody>
        </p:sp>
      </p:grpSp>
      <p:grpSp>
        <p:nvGrpSpPr>
          <p:cNvPr id="93" name="组合 92"/>
          <p:cNvGrpSpPr>
            <a:grpSpLocks/>
          </p:cNvGrpSpPr>
          <p:nvPr/>
        </p:nvGrpSpPr>
        <p:grpSpPr bwMode="auto">
          <a:xfrm>
            <a:off x="6310313" y="4889386"/>
            <a:ext cx="501650" cy="392112"/>
            <a:chOff x="6310067" y="4595689"/>
            <a:chExt cx="501907" cy="392805"/>
          </a:xfrm>
        </p:grpSpPr>
        <p:sp>
          <p:nvSpPr>
            <p:cNvPr id="28712" name="Oval 19"/>
            <p:cNvSpPr>
              <a:spLocks noChangeArrowheads="1"/>
            </p:cNvSpPr>
            <p:nvPr/>
          </p:nvSpPr>
          <p:spPr bwMode="auto">
            <a:xfrm>
              <a:off x="6310067" y="4595689"/>
              <a:ext cx="501907" cy="392805"/>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28713" name="Text Box 20"/>
            <p:cNvSpPr txBox="1">
              <a:spLocks noChangeArrowheads="1"/>
            </p:cNvSpPr>
            <p:nvPr/>
          </p:nvSpPr>
          <p:spPr bwMode="auto">
            <a:xfrm>
              <a:off x="6437235" y="4656036"/>
              <a:ext cx="275981" cy="2293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34</a:t>
              </a:r>
              <a:endParaRPr lang="zh-CN" altLang="zh-CN" sz="1800" b="1">
                <a:latin typeface="Arial" pitchFamily="34" charset="0"/>
              </a:endParaRPr>
            </a:p>
          </p:txBody>
        </p:sp>
      </p:grpSp>
      <p:grpSp>
        <p:nvGrpSpPr>
          <p:cNvPr id="96" name="组合 95"/>
          <p:cNvGrpSpPr>
            <a:grpSpLocks/>
          </p:cNvGrpSpPr>
          <p:nvPr/>
        </p:nvGrpSpPr>
        <p:grpSpPr bwMode="auto">
          <a:xfrm>
            <a:off x="5251450" y="2638311"/>
            <a:ext cx="2571750" cy="1687512"/>
            <a:chOff x="5250785" y="2345288"/>
            <a:chExt cx="2571768" cy="1687526"/>
          </a:xfrm>
        </p:grpSpPr>
        <p:grpSp>
          <p:nvGrpSpPr>
            <p:cNvPr id="28698" name="组合 63"/>
            <p:cNvGrpSpPr>
              <a:grpSpLocks/>
            </p:cNvGrpSpPr>
            <p:nvPr/>
          </p:nvGrpSpPr>
          <p:grpSpPr bwMode="auto">
            <a:xfrm>
              <a:off x="7320646" y="3397523"/>
              <a:ext cx="501907" cy="392805"/>
              <a:chOff x="3712903" y="3481103"/>
              <a:chExt cx="501907" cy="392805"/>
            </a:xfrm>
          </p:grpSpPr>
          <p:sp>
            <p:nvSpPr>
              <p:cNvPr id="28710" name="Oval 11"/>
              <p:cNvSpPr>
                <a:spLocks noChangeArrowheads="1"/>
              </p:cNvSpPr>
              <p:nvPr/>
            </p:nvSpPr>
            <p:spPr bwMode="auto">
              <a:xfrm>
                <a:off x="3712903" y="3481103"/>
                <a:ext cx="501907" cy="392805"/>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28711" name="Text Box 12"/>
              <p:cNvSpPr txBox="1">
                <a:spLocks noChangeArrowheads="1"/>
              </p:cNvSpPr>
              <p:nvPr/>
            </p:nvSpPr>
            <p:spPr bwMode="auto">
              <a:xfrm>
                <a:off x="3840071" y="3541450"/>
                <a:ext cx="275981" cy="2293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50</a:t>
                </a:r>
                <a:endParaRPr lang="zh-CN" altLang="zh-CN" sz="1800" b="1">
                  <a:latin typeface="Arial" pitchFamily="34" charset="0"/>
                </a:endParaRPr>
              </a:p>
            </p:txBody>
          </p:sp>
        </p:grpSp>
        <p:sp>
          <p:nvSpPr>
            <p:cNvPr id="28699" name="Line 14"/>
            <p:cNvSpPr>
              <a:spLocks noChangeShapeType="1"/>
            </p:cNvSpPr>
            <p:nvPr/>
          </p:nvSpPr>
          <p:spPr bwMode="auto">
            <a:xfrm>
              <a:off x="7092014" y="3209898"/>
              <a:ext cx="304391" cy="22054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28700" name="Oval 2"/>
            <p:cNvSpPr>
              <a:spLocks noChangeArrowheads="1"/>
            </p:cNvSpPr>
            <p:nvPr/>
          </p:nvSpPr>
          <p:spPr bwMode="auto">
            <a:xfrm>
              <a:off x="5837922" y="2345288"/>
              <a:ext cx="501907" cy="392805"/>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28701" name="Text Box 3"/>
            <p:cNvSpPr txBox="1">
              <a:spLocks noChangeArrowheads="1"/>
            </p:cNvSpPr>
            <p:nvPr/>
          </p:nvSpPr>
          <p:spPr bwMode="auto">
            <a:xfrm>
              <a:off x="5965090" y="2405635"/>
              <a:ext cx="275981" cy="2293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30</a:t>
              </a:r>
              <a:endParaRPr lang="zh-CN" altLang="zh-CN" sz="1800" b="1">
                <a:latin typeface="Arial" pitchFamily="34" charset="0"/>
              </a:endParaRPr>
            </a:p>
          </p:txBody>
        </p:sp>
        <p:sp>
          <p:nvSpPr>
            <p:cNvPr id="28702" name="Line 4"/>
            <p:cNvSpPr>
              <a:spLocks noChangeShapeType="1"/>
            </p:cNvSpPr>
            <p:nvPr/>
          </p:nvSpPr>
          <p:spPr bwMode="auto">
            <a:xfrm>
              <a:off x="6260011" y="2673357"/>
              <a:ext cx="487026" cy="24906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28703" name="Oval 5"/>
            <p:cNvSpPr>
              <a:spLocks noChangeArrowheads="1"/>
            </p:cNvSpPr>
            <p:nvPr/>
          </p:nvSpPr>
          <p:spPr bwMode="auto">
            <a:xfrm>
              <a:off x="5250785" y="2893899"/>
              <a:ext cx="501907" cy="392805"/>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28704" name="Text Box 6"/>
            <p:cNvSpPr txBox="1">
              <a:spLocks noChangeArrowheads="1"/>
            </p:cNvSpPr>
            <p:nvPr/>
          </p:nvSpPr>
          <p:spPr bwMode="auto">
            <a:xfrm>
              <a:off x="5377953" y="2954246"/>
              <a:ext cx="275981" cy="2293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15</a:t>
              </a:r>
              <a:endParaRPr lang="zh-CN" altLang="zh-CN" sz="1800" b="1">
                <a:latin typeface="Arial" pitchFamily="34" charset="0"/>
              </a:endParaRPr>
            </a:p>
          </p:txBody>
        </p:sp>
        <p:sp>
          <p:nvSpPr>
            <p:cNvPr id="28705" name="Oval 9"/>
            <p:cNvSpPr>
              <a:spLocks noChangeArrowheads="1"/>
            </p:cNvSpPr>
            <p:nvPr/>
          </p:nvSpPr>
          <p:spPr bwMode="auto">
            <a:xfrm>
              <a:off x="6103081" y="3479815"/>
              <a:ext cx="501907" cy="392805"/>
            </a:xfrm>
            <a:prstGeom prst="ellipse">
              <a:avLst/>
            </a:prstGeom>
            <a:solidFill>
              <a:srgbClr val="FFFFFF"/>
            </a:solidFill>
            <a:ln w="9525">
              <a:solidFill>
                <a:srgbClr val="000000"/>
              </a:solidFill>
              <a:round/>
              <a:headEnd/>
              <a:tailEnd/>
            </a:ln>
          </p:spPr>
          <p:txBody>
            <a:bodyPr/>
            <a:lstStyle/>
            <a:p>
              <a:pPr eaLnBrk="1" hangingPunct="1"/>
              <a:endParaRPr lang="zh-CN" altLang="en-US" sz="1800" b="1">
                <a:latin typeface="Times New Roman" pitchFamily="18" charset="0"/>
              </a:endParaRPr>
            </a:p>
          </p:txBody>
        </p:sp>
        <p:sp>
          <p:nvSpPr>
            <p:cNvPr id="28706" name="Text Box 10"/>
            <p:cNvSpPr txBox="1">
              <a:spLocks noChangeArrowheads="1"/>
            </p:cNvSpPr>
            <p:nvPr/>
          </p:nvSpPr>
          <p:spPr bwMode="auto">
            <a:xfrm>
              <a:off x="6230248" y="3540162"/>
              <a:ext cx="275981" cy="2293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33</a:t>
              </a:r>
              <a:endParaRPr lang="zh-CN" altLang="zh-CN" sz="1800" b="1">
                <a:latin typeface="Arial" pitchFamily="34" charset="0"/>
              </a:endParaRPr>
            </a:p>
          </p:txBody>
        </p:sp>
        <p:sp>
          <p:nvSpPr>
            <p:cNvPr id="28707" name="Line 13"/>
            <p:cNvSpPr>
              <a:spLocks noChangeShapeType="1"/>
            </p:cNvSpPr>
            <p:nvPr/>
          </p:nvSpPr>
          <p:spPr bwMode="auto">
            <a:xfrm flipH="1">
              <a:off x="6422353" y="3259273"/>
              <a:ext cx="304391" cy="22054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28708" name="Line 15"/>
            <p:cNvSpPr>
              <a:spLocks noChangeShapeType="1"/>
            </p:cNvSpPr>
            <p:nvPr/>
          </p:nvSpPr>
          <p:spPr bwMode="auto">
            <a:xfrm flipH="1">
              <a:off x="5630936" y="2689815"/>
              <a:ext cx="304391" cy="22054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28709" name="Line 18"/>
            <p:cNvSpPr>
              <a:spLocks noChangeShapeType="1"/>
            </p:cNvSpPr>
            <p:nvPr/>
          </p:nvSpPr>
          <p:spPr bwMode="auto">
            <a:xfrm>
              <a:off x="6544110" y="3812273"/>
              <a:ext cx="304391" cy="22054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grpSp>
      <p:sp>
        <p:nvSpPr>
          <p:cNvPr id="83" name="Line 21"/>
          <p:cNvSpPr>
            <a:spLocks noChangeShapeType="1"/>
          </p:cNvSpPr>
          <p:nvPr/>
        </p:nvSpPr>
        <p:spPr bwMode="auto">
          <a:xfrm flipH="1">
            <a:off x="6629400" y="4668723"/>
            <a:ext cx="304800" cy="2206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grpSp>
        <p:nvGrpSpPr>
          <p:cNvPr id="84" name="Group 35"/>
          <p:cNvGrpSpPr>
            <a:grpSpLocks/>
          </p:cNvGrpSpPr>
          <p:nvPr/>
        </p:nvGrpSpPr>
        <p:grpSpPr bwMode="auto">
          <a:xfrm>
            <a:off x="6643688" y="2955811"/>
            <a:ext cx="457200" cy="409575"/>
            <a:chOff x="1680" y="3744"/>
            <a:chExt cx="288" cy="258"/>
          </a:xfrm>
        </p:grpSpPr>
        <p:sp>
          <p:nvSpPr>
            <p:cNvPr id="28694" name="AutoShape 36"/>
            <p:cNvSpPr>
              <a:spLocks noChangeArrowheads="1"/>
            </p:cNvSpPr>
            <p:nvPr/>
          </p:nvSpPr>
          <p:spPr bwMode="auto">
            <a:xfrm>
              <a:off x="1731" y="3768"/>
              <a:ext cx="226" cy="234"/>
            </a:xfrm>
            <a:prstGeom prst="roundRect">
              <a:avLst>
                <a:gd name="adj" fmla="val 12102"/>
              </a:avLst>
            </a:prstGeom>
            <a:noFill/>
            <a:ln w="952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eaLnBrk="1" hangingPunct="1"/>
              <a:endParaRPr lang="zh-CN" altLang="en-US" sz="1800">
                <a:latin typeface="Times New Roman" pitchFamily="18" charset="0"/>
              </a:endParaRPr>
            </a:p>
          </p:txBody>
        </p:sp>
        <p:grpSp>
          <p:nvGrpSpPr>
            <p:cNvPr id="28695" name="Group 37"/>
            <p:cNvGrpSpPr>
              <a:grpSpLocks/>
            </p:cNvGrpSpPr>
            <p:nvPr/>
          </p:nvGrpSpPr>
          <p:grpSpPr bwMode="auto">
            <a:xfrm rot="16200000" flipH="1">
              <a:off x="1704" y="3720"/>
              <a:ext cx="240" cy="288"/>
              <a:chOff x="1728" y="3696"/>
              <a:chExt cx="288" cy="288"/>
            </a:xfrm>
          </p:grpSpPr>
          <p:sp>
            <p:nvSpPr>
              <p:cNvPr id="28696" name="Line 38"/>
              <p:cNvSpPr>
                <a:spLocks noChangeShapeType="1"/>
              </p:cNvSpPr>
              <p:nvPr/>
            </p:nvSpPr>
            <p:spPr bwMode="auto">
              <a:xfrm>
                <a:off x="1728" y="3744"/>
                <a:ext cx="192" cy="240"/>
              </a:xfrm>
              <a:prstGeom prst="line">
                <a:avLst/>
              </a:prstGeom>
              <a:noFill/>
              <a:ln w="1016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800"/>
              </a:p>
            </p:txBody>
          </p:sp>
          <p:sp>
            <p:nvSpPr>
              <p:cNvPr id="28697" name="Line 39"/>
              <p:cNvSpPr>
                <a:spLocks noChangeShapeType="1"/>
              </p:cNvSpPr>
              <p:nvPr/>
            </p:nvSpPr>
            <p:spPr bwMode="auto">
              <a:xfrm flipH="1">
                <a:off x="1728" y="3696"/>
                <a:ext cx="288" cy="240"/>
              </a:xfrm>
              <a:prstGeom prst="line">
                <a:avLst/>
              </a:prstGeom>
              <a:noFill/>
              <a:ln w="1016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800"/>
              </a:p>
            </p:txBody>
          </p:sp>
        </p:grpSp>
      </p:grpSp>
      <p:sp>
        <p:nvSpPr>
          <p:cNvPr id="89" name="矩形 88"/>
          <p:cNvSpPr>
            <a:spLocks noChangeArrowheads="1"/>
          </p:cNvSpPr>
          <p:nvPr/>
        </p:nvSpPr>
        <p:spPr bwMode="auto">
          <a:xfrm>
            <a:off x="4894263" y="5579948"/>
            <a:ext cx="33137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1800" b="1">
                <a:latin typeface="Times New Roman" pitchFamily="18" charset="0"/>
              </a:rPr>
              <a:t>(b) </a:t>
            </a:r>
            <a:r>
              <a:rPr lang="zh-CN" altLang="en-US" sz="1800" b="1">
                <a:latin typeface="Times New Roman" pitchFamily="18" charset="0"/>
              </a:rPr>
              <a:t>取</a:t>
            </a:r>
            <a:r>
              <a:rPr lang="zh-CN" altLang="en-US" sz="1800" b="1">
                <a:solidFill>
                  <a:srgbClr val="0000FF"/>
                </a:solidFill>
                <a:latin typeface="Times New Roman" pitchFamily="18" charset="0"/>
              </a:rPr>
              <a:t>左子树</a:t>
            </a:r>
            <a:r>
              <a:rPr lang="zh-CN" altLang="en-US" sz="1800" b="1">
                <a:latin typeface="Times New Roman" pitchFamily="18" charset="0"/>
              </a:rPr>
              <a:t>中的</a:t>
            </a:r>
            <a:r>
              <a:rPr lang="zh-CN" altLang="en-US" sz="1800" b="1">
                <a:solidFill>
                  <a:srgbClr val="0000FF"/>
                </a:solidFill>
                <a:latin typeface="Times New Roman" pitchFamily="18" charset="0"/>
              </a:rPr>
              <a:t>最大</a:t>
            </a:r>
            <a:r>
              <a:rPr lang="zh-CN" altLang="en-US" sz="1800" b="1">
                <a:latin typeface="Times New Roman" pitchFamily="18" charset="0"/>
              </a:rPr>
              <a:t>元素替代</a:t>
            </a:r>
            <a:endParaRPr lang="zh-CN" altLang="en-US" sz="1800">
              <a:latin typeface="Times New Roman" pitchFamily="18" charset="0"/>
            </a:endParaRPr>
          </a:p>
        </p:txBody>
      </p:sp>
      <p:sp>
        <p:nvSpPr>
          <p:cNvPr id="67" name="矩形 1"/>
          <p:cNvSpPr>
            <a:spLocks noChangeArrowheads="1"/>
          </p:cNvSpPr>
          <p:nvPr/>
        </p:nvSpPr>
        <p:spPr bwMode="auto">
          <a:xfrm>
            <a:off x="774701" y="327818"/>
            <a:ext cx="301148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400" b="1" dirty="0">
                <a:solidFill>
                  <a:schemeClr val="hlink"/>
                </a:solidFill>
                <a:latin typeface="Times New Roman" pitchFamily="18" charset="0"/>
                <a:sym typeface="Wingdings" pitchFamily="2" charset="2"/>
              </a:rPr>
              <a:t> </a:t>
            </a:r>
            <a:r>
              <a:rPr lang="zh-CN" altLang="en-US" sz="2400" b="1" dirty="0">
                <a:latin typeface="Times New Roman" pitchFamily="18" charset="0"/>
              </a:rPr>
              <a:t>二叉搜索树的</a:t>
            </a:r>
            <a:r>
              <a:rPr lang="zh-CN" altLang="en-US" sz="2400" b="1" dirty="0">
                <a:solidFill>
                  <a:srgbClr val="0000FF"/>
                </a:solidFill>
                <a:latin typeface="Times New Roman" pitchFamily="18" charset="0"/>
              </a:rPr>
              <a:t>删除</a:t>
            </a:r>
          </a:p>
        </p:txBody>
      </p:sp>
    </p:spTree>
    <p:extLst>
      <p:ext uri="{BB962C8B-B14F-4D97-AF65-F5344CB8AC3E}">
        <p14:creationId xmlns:p14="http://schemas.microsoft.com/office/powerpoint/2010/main" val="188964650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up)">
                                      <p:cBhvr>
                                        <p:cTn id="7" dur="500"/>
                                        <p:tgtEl>
                                          <p:spTgt spid="3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16391"/>
                                        </p:tgtEl>
                                        <p:attrNameLst>
                                          <p:attrName>style.visibility</p:attrName>
                                        </p:attrNameLst>
                                      </p:cBhvr>
                                      <p:to>
                                        <p:strVal val="visible"/>
                                      </p:to>
                                    </p:set>
                                    <p:animEffect transition="in" filter="box(in)">
                                      <p:cBhvr>
                                        <p:cTn id="12" dur="500"/>
                                        <p:tgtEl>
                                          <p:spTgt spid="16391"/>
                                        </p:tgtEl>
                                      </p:cBhvr>
                                    </p:animEffect>
                                  </p:childTnLst>
                                </p:cTn>
                              </p:par>
                              <p:par>
                                <p:cTn id="13" presetID="4" presetClass="entr" presetSubtype="16" fill="hold" grpId="0" nodeType="withEffect">
                                  <p:stCondLst>
                                    <p:cond delay="0"/>
                                  </p:stCondLst>
                                  <p:childTnLst>
                                    <p:set>
                                      <p:cBhvr>
                                        <p:cTn id="14" dur="1" fill="hold">
                                          <p:stCondLst>
                                            <p:cond delay="0"/>
                                          </p:stCondLst>
                                        </p:cTn>
                                        <p:tgtEl>
                                          <p:spTgt spid="16392"/>
                                        </p:tgtEl>
                                        <p:attrNameLst>
                                          <p:attrName>style.visibility</p:attrName>
                                        </p:attrNameLst>
                                      </p:cBhvr>
                                      <p:to>
                                        <p:strVal val="visible"/>
                                      </p:to>
                                    </p:set>
                                    <p:animEffect transition="in" filter="box(in)">
                                      <p:cBhvr>
                                        <p:cTn id="15" dur="500"/>
                                        <p:tgtEl>
                                          <p:spTgt spid="16392"/>
                                        </p:tgtEl>
                                      </p:cBhvr>
                                    </p:animEffect>
                                  </p:childTnLst>
                                </p:cTn>
                              </p:par>
                              <p:par>
                                <p:cTn id="16" presetID="4" presetClass="entr" presetSubtype="16" fill="hold" grpId="0" nodeType="withEffect">
                                  <p:stCondLst>
                                    <p:cond delay="0"/>
                                  </p:stCondLst>
                                  <p:childTnLst>
                                    <p:set>
                                      <p:cBhvr>
                                        <p:cTn id="17" dur="1" fill="hold">
                                          <p:stCondLst>
                                            <p:cond delay="0"/>
                                          </p:stCondLst>
                                        </p:cTn>
                                        <p:tgtEl>
                                          <p:spTgt spid="16398"/>
                                        </p:tgtEl>
                                        <p:attrNameLst>
                                          <p:attrName>style.visibility</p:attrName>
                                        </p:attrNameLst>
                                      </p:cBhvr>
                                      <p:to>
                                        <p:strVal val="visible"/>
                                      </p:to>
                                    </p:set>
                                    <p:animEffect transition="in" filter="box(in)">
                                      <p:cBhvr>
                                        <p:cTn id="18" dur="500"/>
                                        <p:tgtEl>
                                          <p:spTgt spid="16398"/>
                                        </p:tgtEl>
                                      </p:cBhvr>
                                    </p:animEffect>
                                  </p:childTnLst>
                                </p:cTn>
                              </p:par>
                              <p:par>
                                <p:cTn id="19" presetID="9" presetClass="entr" presetSubtype="0" fill="hold" nodeType="withEffect">
                                  <p:stCondLst>
                                    <p:cond delay="0"/>
                                  </p:stCondLst>
                                  <p:childTnLst>
                                    <p:set>
                                      <p:cBhvr>
                                        <p:cTn id="20" dur="1" fill="hold">
                                          <p:stCondLst>
                                            <p:cond delay="0"/>
                                          </p:stCondLst>
                                        </p:cTn>
                                        <p:tgtEl>
                                          <p:spTgt spid="39"/>
                                        </p:tgtEl>
                                        <p:attrNameLst>
                                          <p:attrName>style.visibility</p:attrName>
                                        </p:attrNameLst>
                                      </p:cBhvr>
                                      <p:to>
                                        <p:strVal val="visible"/>
                                      </p:to>
                                    </p:set>
                                    <p:animEffect transition="in" filter="dissolve">
                                      <p:cBhvr>
                                        <p:cTn id="21" dur="500"/>
                                        <p:tgtEl>
                                          <p:spTgt spid="39"/>
                                        </p:tgtEl>
                                      </p:cBhvr>
                                    </p:animEffect>
                                  </p:childTnLst>
                                </p:cTn>
                              </p:par>
                              <p:par>
                                <p:cTn id="22" presetID="4" presetClass="entr" presetSubtype="16" fill="hold" nodeType="withEffect">
                                  <p:stCondLst>
                                    <p:cond delay="0"/>
                                  </p:stCondLst>
                                  <p:childTnLst>
                                    <p:set>
                                      <p:cBhvr>
                                        <p:cTn id="23" dur="1" fill="hold">
                                          <p:stCondLst>
                                            <p:cond delay="0"/>
                                          </p:stCondLst>
                                        </p:cTn>
                                        <p:tgtEl>
                                          <p:spTgt spid="32"/>
                                        </p:tgtEl>
                                        <p:attrNameLst>
                                          <p:attrName>style.visibility</p:attrName>
                                        </p:attrNameLst>
                                      </p:cBhvr>
                                      <p:to>
                                        <p:strVal val="visible"/>
                                      </p:to>
                                    </p:set>
                                    <p:animEffect transition="in" filter="box(in)">
                                      <p:cBhvr>
                                        <p:cTn id="24" dur="500"/>
                                        <p:tgtEl>
                                          <p:spTgt spid="32"/>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499"/>
                                          </p:stCondLst>
                                        </p:cTn>
                                        <p:tgtEl>
                                          <p:spTgt spid="33"/>
                                        </p:tgtEl>
                                        <p:attrNameLst>
                                          <p:attrName>style.visibility</p:attrName>
                                        </p:attrNameLst>
                                      </p:cBhvr>
                                      <p:to>
                                        <p:strVal val="visible"/>
                                      </p:to>
                                    </p:set>
                                  </p:childTnLst>
                                  <p:subTnLst>
                                    <p:audio>
                                      <p:cMediaNode>
                                        <p:cTn display="0" masterRel="sameClick">
                                          <p:stCondLst>
                                            <p:cond evt="begin" delay="0">
                                              <p:tn val="27"/>
                                            </p:cond>
                                          </p:stCondLst>
                                          <p:endCondLst>
                                            <p:cond evt="onStopAudio" delay="0">
                                              <p:tgtEl>
                                                <p:sldTgt/>
                                              </p:tgtEl>
                                            </p:cond>
                                          </p:endCondLst>
                                        </p:cTn>
                                        <p:tgtEl>
                                          <p:sndTgt r:embed="rId2" name="GUNSHOT.WAV"/>
                                        </p:tgtEl>
                                      </p:cMediaNode>
                                    </p:audio>
                                  </p:subTnLst>
                                </p:cTn>
                              </p:par>
                            </p:childTnLst>
                          </p:cTn>
                        </p:par>
                      </p:childTnLst>
                    </p:cTn>
                  </p:par>
                  <p:par>
                    <p:cTn id="29" fill="hold" nodeType="clickPar">
                      <p:stCondLst>
                        <p:cond delay="indefinite"/>
                      </p:stCondLst>
                      <p:childTnLst>
                        <p:par>
                          <p:cTn id="30" fill="hold" nodeType="withGroup">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38"/>
                                        </p:tgtEl>
                                        <p:attrNameLst>
                                          <p:attrName>style.visibility</p:attrName>
                                        </p:attrNameLst>
                                      </p:cBhvr>
                                      <p:to>
                                        <p:strVal val="visible"/>
                                      </p:to>
                                    </p:set>
                                    <p:animEffect transition="in" filter="dissolve">
                                      <p:cBhvr>
                                        <p:cTn id="33" dur="500"/>
                                        <p:tgtEl>
                                          <p:spTgt spid="38"/>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9" presetClass="exit" presetSubtype="0" fill="hold" nodeType="clickEffect">
                                  <p:stCondLst>
                                    <p:cond delay="0"/>
                                  </p:stCondLst>
                                  <p:childTnLst>
                                    <p:animEffect transition="out" filter="dissolve">
                                      <p:cBhvr>
                                        <p:cTn id="37" dur="500"/>
                                        <p:tgtEl>
                                          <p:spTgt spid="33"/>
                                        </p:tgtEl>
                                      </p:cBhvr>
                                    </p:animEffect>
                                    <p:set>
                                      <p:cBhvr>
                                        <p:cTn id="38" dur="1" fill="hold">
                                          <p:stCondLst>
                                            <p:cond delay="499"/>
                                          </p:stCondLst>
                                        </p:cTn>
                                        <p:tgtEl>
                                          <p:spTgt spid="33"/>
                                        </p:tgtEl>
                                        <p:attrNameLst>
                                          <p:attrName>style.visibility</p:attrName>
                                        </p:attrNameLst>
                                      </p:cBhvr>
                                      <p:to>
                                        <p:strVal val="hidden"/>
                                      </p:to>
                                    </p:set>
                                  </p:childTnLst>
                                </p:cTn>
                              </p:par>
                              <p:par>
                                <p:cTn id="39" presetID="9" presetClass="exit" presetSubtype="0" fill="hold" grpId="1" nodeType="withEffect">
                                  <p:stCondLst>
                                    <p:cond delay="0"/>
                                  </p:stCondLst>
                                  <p:childTnLst>
                                    <p:animEffect transition="out" filter="dissolve">
                                      <p:cBhvr>
                                        <p:cTn id="40" dur="500"/>
                                        <p:tgtEl>
                                          <p:spTgt spid="16391"/>
                                        </p:tgtEl>
                                      </p:cBhvr>
                                    </p:animEffect>
                                    <p:set>
                                      <p:cBhvr>
                                        <p:cTn id="41" dur="1" fill="hold">
                                          <p:stCondLst>
                                            <p:cond delay="499"/>
                                          </p:stCondLst>
                                        </p:cTn>
                                        <p:tgtEl>
                                          <p:spTgt spid="16391"/>
                                        </p:tgtEl>
                                        <p:attrNameLst>
                                          <p:attrName>style.visibility</p:attrName>
                                        </p:attrNameLst>
                                      </p:cBhvr>
                                      <p:to>
                                        <p:strVal val="hidden"/>
                                      </p:to>
                                    </p:set>
                                  </p:childTnLst>
                                </p:cTn>
                              </p:par>
                              <p:par>
                                <p:cTn id="42" presetID="9" presetClass="exit" presetSubtype="0" fill="hold" grpId="1" nodeType="withEffect">
                                  <p:stCondLst>
                                    <p:cond delay="0"/>
                                  </p:stCondLst>
                                  <p:childTnLst>
                                    <p:animEffect transition="out" filter="dissolve">
                                      <p:cBhvr>
                                        <p:cTn id="43" dur="500"/>
                                        <p:tgtEl>
                                          <p:spTgt spid="16392"/>
                                        </p:tgtEl>
                                      </p:cBhvr>
                                    </p:animEffect>
                                    <p:set>
                                      <p:cBhvr>
                                        <p:cTn id="44" dur="1" fill="hold">
                                          <p:stCondLst>
                                            <p:cond delay="499"/>
                                          </p:stCondLst>
                                        </p:cTn>
                                        <p:tgtEl>
                                          <p:spTgt spid="16392"/>
                                        </p:tgtEl>
                                        <p:attrNameLst>
                                          <p:attrName>style.visibility</p:attrName>
                                        </p:attrNameLst>
                                      </p:cBhvr>
                                      <p:to>
                                        <p:strVal val="hidden"/>
                                      </p:to>
                                    </p:set>
                                  </p:childTnLst>
                                </p:cTn>
                              </p:par>
                              <p:par>
                                <p:cTn id="45" presetID="9" presetClass="exit" presetSubtype="0" fill="hold" grpId="1" nodeType="withEffect">
                                  <p:stCondLst>
                                    <p:cond delay="0"/>
                                  </p:stCondLst>
                                  <p:childTnLst>
                                    <p:animEffect transition="out" filter="dissolve">
                                      <p:cBhvr>
                                        <p:cTn id="46" dur="500"/>
                                        <p:tgtEl>
                                          <p:spTgt spid="16398"/>
                                        </p:tgtEl>
                                      </p:cBhvr>
                                    </p:animEffect>
                                    <p:set>
                                      <p:cBhvr>
                                        <p:cTn id="47" dur="1" fill="hold">
                                          <p:stCondLst>
                                            <p:cond delay="499"/>
                                          </p:stCondLst>
                                        </p:cTn>
                                        <p:tgtEl>
                                          <p:spTgt spid="16398"/>
                                        </p:tgtEl>
                                        <p:attrNameLst>
                                          <p:attrName>style.visibility</p:attrName>
                                        </p:attrNameLst>
                                      </p:cBhvr>
                                      <p:to>
                                        <p:strVal val="hidden"/>
                                      </p:to>
                                    </p:set>
                                  </p:childTnLst>
                                </p:cTn>
                              </p:par>
                              <p:par>
                                <p:cTn id="48" presetID="56" presetClass="path" presetSubtype="0" accel="50000" decel="50000" fill="hold" nodeType="withEffect">
                                  <p:stCondLst>
                                    <p:cond delay="0"/>
                                  </p:stCondLst>
                                  <p:childTnLst>
                                    <p:animMotion origin="layout" path="M 3.05556E-6 -1.11111E-6 L -0.07518 -0.06759 " pathEditMode="relative" rAng="0" ptsTypes="AA">
                                      <p:cBhvr>
                                        <p:cTn id="49" dur="1000" fill="hold"/>
                                        <p:tgtEl>
                                          <p:spTgt spid="39"/>
                                        </p:tgtEl>
                                        <p:attrNameLst>
                                          <p:attrName>ppt_x</p:attrName>
                                          <p:attrName>ppt_y</p:attrName>
                                        </p:attrNameLst>
                                      </p:cBhvr>
                                      <p:rCtr x="-3800" y="-3400"/>
                                    </p:animMotion>
                                  </p:childTnLst>
                                </p:cTn>
                              </p:par>
                            </p:childTnLst>
                          </p:cTn>
                        </p:par>
                      </p:childTnLst>
                    </p:cTn>
                  </p:par>
                  <p:par>
                    <p:cTn id="50" fill="hold" nodeType="clickPar">
                      <p:stCondLst>
                        <p:cond delay="indefinite"/>
                      </p:stCondLst>
                      <p:childTnLst>
                        <p:par>
                          <p:cTn id="51" fill="hold" nodeType="withGroup">
                            <p:stCondLst>
                              <p:cond delay="0"/>
                            </p:stCondLst>
                            <p:childTnLst>
                              <p:par>
                                <p:cTn id="52" presetID="9" presetClass="entr" presetSubtype="0" fill="hold" grpId="0" nodeType="clickEffect">
                                  <p:stCondLst>
                                    <p:cond delay="0"/>
                                  </p:stCondLst>
                                  <p:childTnLst>
                                    <p:set>
                                      <p:cBhvr>
                                        <p:cTn id="53" dur="1" fill="hold">
                                          <p:stCondLst>
                                            <p:cond delay="0"/>
                                          </p:stCondLst>
                                        </p:cTn>
                                        <p:tgtEl>
                                          <p:spTgt spid="89"/>
                                        </p:tgtEl>
                                        <p:attrNameLst>
                                          <p:attrName>style.visibility</p:attrName>
                                        </p:attrNameLst>
                                      </p:cBhvr>
                                      <p:to>
                                        <p:strVal val="visible"/>
                                      </p:to>
                                    </p:set>
                                    <p:animEffect transition="in" filter="dissolve">
                                      <p:cBhvr>
                                        <p:cTn id="54" dur="500"/>
                                        <p:tgtEl>
                                          <p:spTgt spid="89"/>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4" presetClass="entr" presetSubtype="16" fill="hold" nodeType="clickEffect">
                                  <p:stCondLst>
                                    <p:cond delay="0"/>
                                  </p:stCondLst>
                                  <p:childTnLst>
                                    <p:set>
                                      <p:cBhvr>
                                        <p:cTn id="58" dur="1" fill="hold">
                                          <p:stCondLst>
                                            <p:cond delay="0"/>
                                          </p:stCondLst>
                                        </p:cTn>
                                        <p:tgtEl>
                                          <p:spTgt spid="91"/>
                                        </p:tgtEl>
                                        <p:attrNameLst>
                                          <p:attrName>style.visibility</p:attrName>
                                        </p:attrNameLst>
                                      </p:cBhvr>
                                      <p:to>
                                        <p:strVal val="visible"/>
                                      </p:to>
                                    </p:set>
                                    <p:animEffect transition="in" filter="box(in)">
                                      <p:cBhvr>
                                        <p:cTn id="59" dur="500"/>
                                        <p:tgtEl>
                                          <p:spTgt spid="91"/>
                                        </p:tgtEl>
                                      </p:cBhvr>
                                    </p:animEffect>
                                  </p:childTnLst>
                                </p:cTn>
                              </p:par>
                              <p:par>
                                <p:cTn id="60" presetID="4" presetClass="entr" presetSubtype="16" fill="hold" nodeType="withEffect">
                                  <p:stCondLst>
                                    <p:cond delay="0"/>
                                  </p:stCondLst>
                                  <p:childTnLst>
                                    <p:set>
                                      <p:cBhvr>
                                        <p:cTn id="61" dur="1" fill="hold">
                                          <p:stCondLst>
                                            <p:cond delay="0"/>
                                          </p:stCondLst>
                                        </p:cTn>
                                        <p:tgtEl>
                                          <p:spTgt spid="92"/>
                                        </p:tgtEl>
                                        <p:attrNameLst>
                                          <p:attrName>style.visibility</p:attrName>
                                        </p:attrNameLst>
                                      </p:cBhvr>
                                      <p:to>
                                        <p:strVal val="visible"/>
                                      </p:to>
                                    </p:set>
                                    <p:animEffect transition="in" filter="box(in)">
                                      <p:cBhvr>
                                        <p:cTn id="62" dur="500"/>
                                        <p:tgtEl>
                                          <p:spTgt spid="92"/>
                                        </p:tgtEl>
                                      </p:cBhvr>
                                    </p:animEffect>
                                  </p:childTnLst>
                                </p:cTn>
                              </p:par>
                              <p:par>
                                <p:cTn id="63" presetID="4" presetClass="entr" presetSubtype="16" fill="hold" nodeType="withEffect">
                                  <p:stCondLst>
                                    <p:cond delay="0"/>
                                  </p:stCondLst>
                                  <p:childTnLst>
                                    <p:set>
                                      <p:cBhvr>
                                        <p:cTn id="64" dur="1" fill="hold">
                                          <p:stCondLst>
                                            <p:cond delay="0"/>
                                          </p:stCondLst>
                                        </p:cTn>
                                        <p:tgtEl>
                                          <p:spTgt spid="93"/>
                                        </p:tgtEl>
                                        <p:attrNameLst>
                                          <p:attrName>style.visibility</p:attrName>
                                        </p:attrNameLst>
                                      </p:cBhvr>
                                      <p:to>
                                        <p:strVal val="visible"/>
                                      </p:to>
                                    </p:set>
                                    <p:animEffect transition="in" filter="box(in)">
                                      <p:cBhvr>
                                        <p:cTn id="65" dur="500"/>
                                        <p:tgtEl>
                                          <p:spTgt spid="93"/>
                                        </p:tgtEl>
                                      </p:cBhvr>
                                    </p:animEffect>
                                  </p:childTnLst>
                                </p:cTn>
                              </p:par>
                              <p:par>
                                <p:cTn id="66" presetID="4" presetClass="entr" presetSubtype="16" fill="hold" nodeType="withEffect">
                                  <p:stCondLst>
                                    <p:cond delay="0"/>
                                  </p:stCondLst>
                                  <p:childTnLst>
                                    <p:set>
                                      <p:cBhvr>
                                        <p:cTn id="67" dur="1" fill="hold">
                                          <p:stCondLst>
                                            <p:cond delay="0"/>
                                          </p:stCondLst>
                                        </p:cTn>
                                        <p:tgtEl>
                                          <p:spTgt spid="96"/>
                                        </p:tgtEl>
                                        <p:attrNameLst>
                                          <p:attrName>style.visibility</p:attrName>
                                        </p:attrNameLst>
                                      </p:cBhvr>
                                      <p:to>
                                        <p:strVal val="visible"/>
                                      </p:to>
                                    </p:set>
                                    <p:animEffect transition="in" filter="box(in)">
                                      <p:cBhvr>
                                        <p:cTn id="68" dur="500"/>
                                        <p:tgtEl>
                                          <p:spTgt spid="96"/>
                                        </p:tgtEl>
                                      </p:cBhvr>
                                    </p:animEffect>
                                  </p:childTnLst>
                                </p:cTn>
                              </p:par>
                              <p:par>
                                <p:cTn id="69" presetID="4" presetClass="entr" presetSubtype="16" fill="hold" grpId="0" nodeType="withEffect">
                                  <p:stCondLst>
                                    <p:cond delay="0"/>
                                  </p:stCondLst>
                                  <p:childTnLst>
                                    <p:set>
                                      <p:cBhvr>
                                        <p:cTn id="70" dur="1" fill="hold">
                                          <p:stCondLst>
                                            <p:cond delay="0"/>
                                          </p:stCondLst>
                                        </p:cTn>
                                        <p:tgtEl>
                                          <p:spTgt spid="83"/>
                                        </p:tgtEl>
                                        <p:attrNameLst>
                                          <p:attrName>style.visibility</p:attrName>
                                        </p:attrNameLst>
                                      </p:cBhvr>
                                      <p:to>
                                        <p:strVal val="visible"/>
                                      </p:to>
                                    </p:set>
                                    <p:animEffect transition="in" filter="box(in)">
                                      <p:cBhvr>
                                        <p:cTn id="71" dur="500"/>
                                        <p:tgtEl>
                                          <p:spTgt spid="83"/>
                                        </p:tgtEl>
                                      </p:cBhvr>
                                    </p:animEffect>
                                  </p:childTnLst>
                                </p:cTn>
                              </p:par>
                              <p:par>
                                <p:cTn id="72" presetID="4" presetClass="entr" presetSubtype="16" fill="hold" nodeType="withEffect">
                                  <p:stCondLst>
                                    <p:cond delay="0"/>
                                  </p:stCondLst>
                                  <p:childTnLst>
                                    <p:set>
                                      <p:cBhvr>
                                        <p:cTn id="73" dur="1" fill="hold">
                                          <p:stCondLst>
                                            <p:cond delay="0"/>
                                          </p:stCondLst>
                                        </p:cTn>
                                        <p:tgtEl>
                                          <p:spTgt spid="84"/>
                                        </p:tgtEl>
                                        <p:attrNameLst>
                                          <p:attrName>style.visibility</p:attrName>
                                        </p:attrNameLst>
                                      </p:cBhvr>
                                      <p:to>
                                        <p:strVal val="visible"/>
                                      </p:to>
                                    </p:set>
                                    <p:animEffect transition="in" filter="box(in)">
                                      <p:cBhvr>
                                        <p:cTn id="74" dur="500"/>
                                        <p:tgtEl>
                                          <p:spTgt spid="84"/>
                                        </p:tgtEl>
                                      </p:cBhvr>
                                    </p:animEffect>
                                  </p:childTnLst>
                                </p:cTn>
                              </p:par>
                            </p:childTnLst>
                          </p:cTn>
                        </p:par>
                      </p:childTnLst>
                    </p:cTn>
                  </p:par>
                  <p:par>
                    <p:cTn id="75" fill="hold" nodeType="clickPar">
                      <p:stCondLst>
                        <p:cond delay="indefinite"/>
                      </p:stCondLst>
                      <p:childTnLst>
                        <p:par>
                          <p:cTn id="76" fill="hold" nodeType="withGroup">
                            <p:stCondLst>
                              <p:cond delay="0"/>
                            </p:stCondLst>
                            <p:childTnLst>
                              <p:par>
                                <p:cTn id="77" presetID="9" presetClass="exit" presetSubtype="0" fill="hold" nodeType="clickEffect">
                                  <p:stCondLst>
                                    <p:cond delay="0"/>
                                  </p:stCondLst>
                                  <p:childTnLst>
                                    <p:animEffect transition="out" filter="dissolve">
                                      <p:cBhvr>
                                        <p:cTn id="78" dur="500"/>
                                        <p:tgtEl>
                                          <p:spTgt spid="84"/>
                                        </p:tgtEl>
                                      </p:cBhvr>
                                    </p:animEffect>
                                    <p:set>
                                      <p:cBhvr>
                                        <p:cTn id="79" dur="1" fill="hold">
                                          <p:stCondLst>
                                            <p:cond delay="499"/>
                                          </p:stCondLst>
                                        </p:cTn>
                                        <p:tgtEl>
                                          <p:spTgt spid="84"/>
                                        </p:tgtEl>
                                        <p:attrNameLst>
                                          <p:attrName>style.visibility</p:attrName>
                                        </p:attrNameLst>
                                      </p:cBhvr>
                                      <p:to>
                                        <p:strVal val="hidden"/>
                                      </p:to>
                                    </p:set>
                                  </p:childTnLst>
                                </p:cTn>
                              </p:par>
                              <p:par>
                                <p:cTn id="80" presetID="9" presetClass="exit" presetSubtype="0" fill="hold" nodeType="withEffect">
                                  <p:stCondLst>
                                    <p:cond delay="0"/>
                                  </p:stCondLst>
                                  <p:childTnLst>
                                    <p:animEffect transition="out" filter="dissolve">
                                      <p:cBhvr>
                                        <p:cTn id="81" dur="500"/>
                                        <p:tgtEl>
                                          <p:spTgt spid="91"/>
                                        </p:tgtEl>
                                      </p:cBhvr>
                                    </p:animEffect>
                                    <p:set>
                                      <p:cBhvr>
                                        <p:cTn id="82" dur="1" fill="hold">
                                          <p:stCondLst>
                                            <p:cond delay="499"/>
                                          </p:stCondLst>
                                        </p:cTn>
                                        <p:tgtEl>
                                          <p:spTgt spid="91"/>
                                        </p:tgtEl>
                                        <p:attrNameLst>
                                          <p:attrName>style.visibility</p:attrName>
                                        </p:attrNameLst>
                                      </p:cBhvr>
                                      <p:to>
                                        <p:strVal val="hidden"/>
                                      </p:to>
                                    </p:set>
                                  </p:childTnLst>
                                </p:cTn>
                              </p:par>
                            </p:childTnLst>
                          </p:cTn>
                        </p:par>
                      </p:childTnLst>
                    </p:cTn>
                  </p:par>
                  <p:par>
                    <p:cTn id="83" fill="hold" nodeType="clickPar">
                      <p:stCondLst>
                        <p:cond delay="indefinite"/>
                      </p:stCondLst>
                      <p:childTnLst>
                        <p:par>
                          <p:cTn id="84" fill="hold" nodeType="withGroup">
                            <p:stCondLst>
                              <p:cond delay="0"/>
                            </p:stCondLst>
                            <p:childTnLst>
                              <p:par>
                                <p:cTn id="85" presetID="64" presetClass="path" presetSubtype="0" accel="50000" decel="50000" fill="hold" nodeType="clickEffect">
                                  <p:stCondLst>
                                    <p:cond delay="0"/>
                                  </p:stCondLst>
                                  <p:childTnLst>
                                    <p:animMotion origin="layout" path="M 4.44444E-6 4.44444E-6 L -0.01598 -0.16436 " pathEditMode="relative" rAng="0" ptsTypes="AA">
                                      <p:cBhvr>
                                        <p:cTn id="86" dur="1000" fill="hold"/>
                                        <p:tgtEl>
                                          <p:spTgt spid="92"/>
                                        </p:tgtEl>
                                        <p:attrNameLst>
                                          <p:attrName>ppt_x</p:attrName>
                                          <p:attrName>ppt_y</p:attrName>
                                        </p:attrNameLst>
                                      </p:cBhvr>
                                      <p:rCtr x="-800" y="-8200"/>
                                    </p:animMotion>
                                  </p:childTnLst>
                                </p:cTn>
                              </p:par>
                            </p:childTnLst>
                          </p:cTn>
                        </p:par>
                      </p:childTnLst>
                    </p:cTn>
                  </p:par>
                  <p:par>
                    <p:cTn id="87" fill="hold" nodeType="clickPar">
                      <p:stCondLst>
                        <p:cond delay="indefinite"/>
                      </p:stCondLst>
                      <p:childTnLst>
                        <p:par>
                          <p:cTn id="88" fill="hold" nodeType="withGroup">
                            <p:stCondLst>
                              <p:cond delay="0"/>
                            </p:stCondLst>
                            <p:childTnLst>
                              <p:par>
                                <p:cTn id="89" presetID="22" presetClass="exit" presetSubtype="4" fill="hold" grpId="1" nodeType="clickEffect">
                                  <p:stCondLst>
                                    <p:cond delay="0"/>
                                  </p:stCondLst>
                                  <p:childTnLst>
                                    <p:animEffect transition="out" filter="wipe(down)">
                                      <p:cBhvr>
                                        <p:cTn id="90" dur="500"/>
                                        <p:tgtEl>
                                          <p:spTgt spid="83"/>
                                        </p:tgtEl>
                                      </p:cBhvr>
                                    </p:animEffect>
                                    <p:set>
                                      <p:cBhvr>
                                        <p:cTn id="91" dur="1" fill="hold">
                                          <p:stCondLst>
                                            <p:cond delay="499"/>
                                          </p:stCondLst>
                                        </p:cTn>
                                        <p:tgtEl>
                                          <p:spTgt spid="83"/>
                                        </p:tgtEl>
                                        <p:attrNameLst>
                                          <p:attrName>style.visibility</p:attrName>
                                        </p:attrNameLst>
                                      </p:cBhvr>
                                      <p:to>
                                        <p:strVal val="hidden"/>
                                      </p:to>
                                    </p:set>
                                  </p:childTnLst>
                                </p:cTn>
                              </p:par>
                            </p:childTnLst>
                          </p:cTn>
                        </p:par>
                        <p:par>
                          <p:cTn id="92" fill="hold" nodeType="afterGroup">
                            <p:stCondLst>
                              <p:cond delay="500"/>
                            </p:stCondLst>
                            <p:childTnLst>
                              <p:par>
                                <p:cTn id="93" presetID="56" presetClass="path" presetSubtype="0" accel="50000" decel="50000" fill="hold" nodeType="afterEffect">
                                  <p:stCondLst>
                                    <p:cond delay="0"/>
                                  </p:stCondLst>
                                  <p:childTnLst>
                                    <p:animMotion origin="layout" path="M 0.00034 -0.0037 L 0.05052 -0.0868 " pathEditMode="relative" rAng="0" ptsTypes="AA">
                                      <p:cBhvr>
                                        <p:cTn id="94" dur="1000" fill="hold"/>
                                        <p:tgtEl>
                                          <p:spTgt spid="93"/>
                                        </p:tgtEl>
                                        <p:attrNameLst>
                                          <p:attrName>ppt_x</p:attrName>
                                          <p:attrName>ppt_y</p:attrName>
                                        </p:attrNameLst>
                                      </p:cBhvr>
                                      <p:rCtr x="2500" y="-420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91" grpId="0" animBg="1"/>
      <p:bldP spid="16391" grpId="1" animBg="1"/>
      <p:bldP spid="16392" grpId="0" animBg="1"/>
      <p:bldP spid="16392" grpId="1" animBg="1"/>
      <p:bldP spid="16398" grpId="0" animBg="1"/>
      <p:bldP spid="16398" grpId="1" animBg="1"/>
      <p:bldP spid="31" grpId="0"/>
      <p:bldP spid="38" grpId="0"/>
      <p:bldP spid="83" grpId="0" animBg="1"/>
      <p:bldP spid="83" grpId="1" animBg="1"/>
      <p:bldP spid="89"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格 5"/>
          <p:cNvGraphicFramePr>
            <a:graphicFrameLocks noGrp="1"/>
          </p:cNvGraphicFramePr>
          <p:nvPr>
            <p:extLst>
              <p:ext uri="{D42A27DB-BD31-4B8C-83A1-F6EECF244321}">
                <p14:modId xmlns:p14="http://schemas.microsoft.com/office/powerpoint/2010/main" val="3878037650"/>
              </p:ext>
            </p:extLst>
          </p:nvPr>
        </p:nvGraphicFramePr>
        <p:xfrm>
          <a:off x="179512" y="889208"/>
          <a:ext cx="8572500" cy="5852160"/>
        </p:xfrm>
        <a:graphic>
          <a:graphicData uri="http://schemas.openxmlformats.org/drawingml/2006/table">
            <a:tbl>
              <a:tblPr/>
              <a:tblGrid>
                <a:gridCol w="8572500"/>
              </a:tblGrid>
              <a:tr h="5851525">
                <a:tc>
                  <a:txBody>
                    <a:bodyPr/>
                    <a:lstStyle/>
                    <a:p>
                      <a:pPr algn="l">
                        <a:spcAft>
                          <a:spcPts val="0"/>
                        </a:spcAft>
                      </a:pPr>
                      <a:r>
                        <a:rPr lang="en-US" sz="1600" b="1" kern="100" dirty="0" err="1">
                          <a:latin typeface="Courier New"/>
                          <a:ea typeface="宋体"/>
                          <a:cs typeface="Times New Roman"/>
                        </a:rPr>
                        <a:t>BinTree</a:t>
                      </a:r>
                      <a:r>
                        <a:rPr lang="en-US" sz="1600" b="1" kern="100" dirty="0">
                          <a:latin typeface="Courier New"/>
                          <a:ea typeface="宋体"/>
                          <a:cs typeface="Times New Roman"/>
                        </a:rPr>
                        <a:t> Delete( </a:t>
                      </a:r>
                      <a:r>
                        <a:rPr lang="en-US" sz="1600" b="1" kern="100" dirty="0" err="1">
                          <a:latin typeface="Courier New"/>
                          <a:ea typeface="宋体"/>
                          <a:cs typeface="Times New Roman"/>
                        </a:rPr>
                        <a:t>ElementType</a:t>
                      </a:r>
                      <a:r>
                        <a:rPr lang="en-US" sz="1600" b="1" kern="100" dirty="0">
                          <a:latin typeface="Courier New"/>
                          <a:ea typeface="宋体"/>
                          <a:cs typeface="Times New Roman"/>
                        </a:rPr>
                        <a:t> X, </a:t>
                      </a:r>
                      <a:r>
                        <a:rPr lang="en-US" sz="1600" b="1" kern="100" dirty="0" err="1">
                          <a:latin typeface="Courier New"/>
                          <a:ea typeface="宋体"/>
                          <a:cs typeface="Times New Roman"/>
                        </a:rPr>
                        <a:t>BinTree</a:t>
                      </a:r>
                      <a:r>
                        <a:rPr lang="en-US" sz="1600" b="1" kern="100" dirty="0">
                          <a:latin typeface="Courier New"/>
                          <a:ea typeface="宋体"/>
                          <a:cs typeface="Times New Roman"/>
                        </a:rPr>
                        <a:t> BST ) </a:t>
                      </a:r>
                      <a:endParaRPr lang="zh-CN" sz="1600" b="1" kern="100" dirty="0">
                        <a:latin typeface="Calibri"/>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smtClean="0">
                          <a:latin typeface="Courier New"/>
                          <a:ea typeface="宋体"/>
                          <a:cs typeface="Times New Roman"/>
                        </a:rPr>
                        <a:t>  </a:t>
                      </a:r>
                      <a:r>
                        <a:rPr lang="en-US" sz="1600" b="1" kern="100" dirty="0">
                          <a:latin typeface="Courier New"/>
                          <a:ea typeface="宋体"/>
                          <a:cs typeface="Times New Roman"/>
                        </a:rPr>
                        <a:t>Position </a:t>
                      </a:r>
                      <a:r>
                        <a:rPr lang="en-US" sz="1600" b="1" kern="100" dirty="0" err="1">
                          <a:latin typeface="Courier New"/>
                          <a:ea typeface="宋体"/>
                          <a:cs typeface="Times New Roman"/>
                        </a:rPr>
                        <a:t>Tmp</a:t>
                      </a:r>
                      <a:r>
                        <a:rPr lang="en-US" sz="1600" b="1" kern="100" dirty="0">
                          <a:latin typeface="Courier New"/>
                          <a:ea typeface="宋体"/>
                          <a:cs typeface="Times New Roman"/>
                        </a:rPr>
                        <a:t>; </a:t>
                      </a:r>
                      <a:endParaRPr lang="zh-CN" sz="1600" b="1" kern="100" dirty="0">
                        <a:latin typeface="Calibri"/>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a:solidFill>
                            <a:srgbClr val="0000FF"/>
                          </a:solidFill>
                          <a:latin typeface="Courier New"/>
                          <a:ea typeface="宋体"/>
                          <a:cs typeface="Times New Roman"/>
                        </a:rPr>
                        <a:t>if</a:t>
                      </a:r>
                      <a:r>
                        <a:rPr lang="en-US" sz="1600" b="1" kern="100" dirty="0">
                          <a:latin typeface="Courier New"/>
                          <a:ea typeface="宋体"/>
                          <a:cs typeface="Times New Roman"/>
                        </a:rPr>
                        <a:t>( !BST ) </a:t>
                      </a:r>
                      <a:r>
                        <a:rPr lang="en-US" sz="1600" b="1" kern="100" dirty="0" err="1" smtClean="0">
                          <a:latin typeface="Courier New"/>
                          <a:ea typeface="宋体"/>
                          <a:cs typeface="Times New Roman"/>
                        </a:rPr>
                        <a:t>printf</a:t>
                      </a:r>
                      <a:r>
                        <a:rPr lang="en-US" sz="1600" b="1" kern="100" dirty="0">
                          <a:latin typeface="Courier New"/>
                          <a:ea typeface="宋体"/>
                          <a:cs typeface="Times New Roman"/>
                        </a:rPr>
                        <a:t>("</a:t>
                      </a:r>
                      <a:r>
                        <a:rPr lang="zh-CN" sz="1600" b="1" kern="100" dirty="0">
                          <a:latin typeface="Courier New"/>
                          <a:ea typeface="宋体"/>
                          <a:cs typeface="Courier New"/>
                        </a:rPr>
                        <a:t>要删除的元素未找到</a:t>
                      </a:r>
                      <a:r>
                        <a:rPr lang="en-US" sz="1600" b="1" kern="100" dirty="0">
                          <a:latin typeface="Courier New"/>
                          <a:ea typeface="宋体"/>
                          <a:cs typeface="Times New Roman"/>
                        </a:rPr>
                        <a:t>"); </a:t>
                      </a:r>
                      <a:endParaRPr lang="zh-CN" sz="1600" b="1" kern="100" dirty="0">
                        <a:latin typeface="Calibri"/>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a:solidFill>
                            <a:srgbClr val="0000FF"/>
                          </a:solidFill>
                          <a:latin typeface="Courier New"/>
                          <a:ea typeface="宋体"/>
                          <a:cs typeface="Times New Roman"/>
                        </a:rPr>
                        <a:t>else</a:t>
                      </a:r>
                      <a:r>
                        <a:rPr lang="en-US" sz="1600" b="1" kern="100" dirty="0">
                          <a:latin typeface="Courier New"/>
                          <a:ea typeface="宋体"/>
                          <a:cs typeface="Times New Roman"/>
                        </a:rPr>
                        <a:t> </a:t>
                      </a:r>
                      <a:r>
                        <a:rPr lang="en-US" sz="1600" b="1" kern="100" dirty="0" smtClean="0">
                          <a:solidFill>
                            <a:srgbClr val="0000FF"/>
                          </a:solidFill>
                          <a:latin typeface="Courier New"/>
                          <a:ea typeface="宋体"/>
                          <a:cs typeface="Times New Roman"/>
                        </a:rPr>
                        <a:t>if</a:t>
                      </a:r>
                      <a:r>
                        <a:rPr lang="en-US" sz="1600" b="1" kern="100" dirty="0">
                          <a:latin typeface="Courier New"/>
                          <a:ea typeface="宋体"/>
                          <a:cs typeface="Times New Roman"/>
                        </a:rPr>
                        <a:t>( X &lt; BST-&gt;Data ) </a:t>
                      </a:r>
                      <a:endParaRPr lang="zh-CN" sz="1600" b="1" kern="100" dirty="0">
                        <a:latin typeface="Calibri"/>
                        <a:ea typeface="宋体"/>
                        <a:cs typeface="Times New Roman"/>
                      </a:endParaRPr>
                    </a:p>
                    <a:p>
                      <a:pPr algn="l">
                        <a:spcAft>
                          <a:spcPts val="0"/>
                        </a:spcAft>
                      </a:pPr>
                      <a:r>
                        <a:rPr lang="en-US" sz="1600" b="1" kern="100" dirty="0">
                          <a:latin typeface="Courier New"/>
                          <a:ea typeface="宋体"/>
                          <a:cs typeface="Times New Roman"/>
                        </a:rPr>
                        <a:t>            BST-&gt;</a:t>
                      </a:r>
                      <a:r>
                        <a:rPr lang="en-US" sz="1600" b="1" kern="100" dirty="0" smtClean="0">
                          <a:latin typeface="Courier New"/>
                          <a:ea typeface="宋体"/>
                          <a:cs typeface="Times New Roman"/>
                        </a:rPr>
                        <a:t>Left = Delete</a:t>
                      </a:r>
                      <a:r>
                        <a:rPr lang="en-US" sz="1600" b="1" kern="100" dirty="0">
                          <a:latin typeface="Courier New"/>
                          <a:ea typeface="宋体"/>
                          <a:cs typeface="Times New Roman"/>
                        </a:rPr>
                        <a:t>( X, BST-&gt;Left); </a:t>
                      </a:r>
                      <a:r>
                        <a:rPr lang="en-US" sz="1600" b="1" kern="100" dirty="0">
                          <a:solidFill>
                            <a:schemeClr val="bg2">
                              <a:lumMod val="60000"/>
                              <a:lumOff val="40000"/>
                            </a:schemeClr>
                          </a:solidFill>
                          <a:latin typeface="Courier New"/>
                          <a:ea typeface="宋体"/>
                          <a:cs typeface="Times New Roman"/>
                        </a:rPr>
                        <a:t>/* </a:t>
                      </a:r>
                      <a:r>
                        <a:rPr lang="zh-CN" sz="1600" b="1" kern="100" dirty="0">
                          <a:solidFill>
                            <a:schemeClr val="bg2">
                              <a:lumMod val="60000"/>
                              <a:lumOff val="40000"/>
                            </a:schemeClr>
                          </a:solidFill>
                          <a:latin typeface="Courier New"/>
                          <a:ea typeface="宋体"/>
                          <a:cs typeface="Courier New"/>
                        </a:rPr>
                        <a:t>左子树递归删除</a:t>
                      </a:r>
                      <a:r>
                        <a:rPr lang="en-US" sz="1600" b="1" kern="100" dirty="0">
                          <a:solidFill>
                            <a:schemeClr val="bg2">
                              <a:lumMod val="60000"/>
                              <a:lumOff val="40000"/>
                            </a:schemeClr>
                          </a:solidFill>
                          <a:latin typeface="Courier New"/>
                          <a:ea typeface="宋体"/>
                          <a:cs typeface="Times New Roman"/>
                        </a:rPr>
                        <a:t> */</a:t>
                      </a:r>
                      <a:endParaRPr lang="zh-CN" sz="1600" b="1" kern="100" dirty="0">
                        <a:solidFill>
                          <a:schemeClr val="bg2">
                            <a:lumMod val="60000"/>
                            <a:lumOff val="40000"/>
                          </a:schemeClr>
                        </a:solidFill>
                        <a:latin typeface="Calibri"/>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smtClean="0">
                          <a:solidFill>
                            <a:srgbClr val="0000FF"/>
                          </a:solidFill>
                          <a:latin typeface="Courier New"/>
                          <a:ea typeface="宋体"/>
                          <a:cs typeface="Times New Roman"/>
                        </a:rPr>
                        <a:t>else</a:t>
                      </a:r>
                      <a:r>
                        <a:rPr lang="en-US" sz="1600" b="1" kern="100" dirty="0" smtClean="0">
                          <a:latin typeface="Courier New"/>
                          <a:ea typeface="宋体"/>
                          <a:cs typeface="Times New Roman"/>
                        </a:rPr>
                        <a:t> </a:t>
                      </a:r>
                      <a:r>
                        <a:rPr lang="en-US" sz="1600" b="1" kern="100" dirty="0" smtClean="0">
                          <a:solidFill>
                            <a:srgbClr val="0000FF"/>
                          </a:solidFill>
                          <a:latin typeface="Courier New"/>
                          <a:ea typeface="宋体"/>
                          <a:cs typeface="Times New Roman"/>
                        </a:rPr>
                        <a:t>if</a:t>
                      </a:r>
                      <a:r>
                        <a:rPr lang="en-US" sz="1600" b="1" kern="100" dirty="0">
                          <a:latin typeface="Courier New"/>
                          <a:ea typeface="宋体"/>
                          <a:cs typeface="Times New Roman"/>
                        </a:rPr>
                        <a:t>( X &gt; BST-&gt;Data ) </a:t>
                      </a:r>
                      <a:endParaRPr lang="zh-CN" sz="1600" b="1" kern="100" dirty="0">
                        <a:latin typeface="Calibri"/>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smtClean="0">
                          <a:latin typeface="Courier New"/>
                          <a:ea typeface="宋体"/>
                          <a:cs typeface="Times New Roman"/>
                        </a:rPr>
                        <a:t>BST-</a:t>
                      </a:r>
                      <a:r>
                        <a:rPr lang="en-US" sz="1600" b="1" kern="100" dirty="0">
                          <a:latin typeface="Courier New"/>
                          <a:ea typeface="宋体"/>
                          <a:cs typeface="Times New Roman"/>
                        </a:rPr>
                        <a:t>&gt;</a:t>
                      </a:r>
                      <a:r>
                        <a:rPr lang="en-US" sz="1600" b="1" kern="100" dirty="0" smtClean="0">
                          <a:latin typeface="Courier New"/>
                          <a:ea typeface="宋体"/>
                          <a:cs typeface="Times New Roman"/>
                        </a:rPr>
                        <a:t>Right = Delete</a:t>
                      </a:r>
                      <a:r>
                        <a:rPr lang="en-US" sz="1600" b="1" kern="100" dirty="0">
                          <a:latin typeface="Courier New"/>
                          <a:ea typeface="宋体"/>
                          <a:cs typeface="Times New Roman"/>
                        </a:rPr>
                        <a:t>( X, BST-&gt;Right); </a:t>
                      </a:r>
                      <a:r>
                        <a:rPr lang="en-US" sz="1600" b="1" kern="100" dirty="0">
                          <a:solidFill>
                            <a:schemeClr val="bg2">
                              <a:lumMod val="60000"/>
                              <a:lumOff val="40000"/>
                            </a:schemeClr>
                          </a:solidFill>
                          <a:latin typeface="Courier New"/>
                          <a:ea typeface="宋体"/>
                          <a:cs typeface="Times New Roman"/>
                        </a:rPr>
                        <a:t>/* </a:t>
                      </a:r>
                      <a:r>
                        <a:rPr lang="zh-CN" sz="1600" b="1" kern="100" dirty="0">
                          <a:solidFill>
                            <a:schemeClr val="bg2">
                              <a:lumMod val="60000"/>
                              <a:lumOff val="40000"/>
                            </a:schemeClr>
                          </a:solidFill>
                          <a:latin typeface="Courier New"/>
                          <a:ea typeface="宋体"/>
                          <a:cs typeface="Times New Roman"/>
                        </a:rPr>
                        <a:t>右子树递归删除</a:t>
                      </a:r>
                      <a:r>
                        <a:rPr lang="en-US" sz="1600" b="1" kern="100" dirty="0">
                          <a:solidFill>
                            <a:schemeClr val="bg2">
                              <a:lumMod val="60000"/>
                              <a:lumOff val="40000"/>
                            </a:schemeClr>
                          </a:solidFill>
                          <a:latin typeface="Courier New"/>
                          <a:ea typeface="宋体"/>
                          <a:cs typeface="Times New Roman"/>
                        </a:rPr>
                        <a:t> */</a:t>
                      </a:r>
                      <a:endParaRPr lang="zh-CN" sz="1600" b="1" kern="100" dirty="0">
                        <a:solidFill>
                          <a:schemeClr val="bg2">
                            <a:lumMod val="60000"/>
                            <a:lumOff val="40000"/>
                          </a:schemeClr>
                        </a:solidFill>
                        <a:latin typeface="Courier New"/>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smtClean="0">
                          <a:solidFill>
                            <a:srgbClr val="0000FF"/>
                          </a:solidFill>
                          <a:latin typeface="Courier New"/>
                          <a:ea typeface="宋体"/>
                          <a:cs typeface="Times New Roman"/>
                        </a:rPr>
                        <a:t>else</a:t>
                      </a:r>
                      <a:r>
                        <a:rPr lang="en-US" sz="1600" b="1" kern="100" dirty="0" smtClean="0">
                          <a:latin typeface="Courier New"/>
                          <a:ea typeface="宋体"/>
                          <a:cs typeface="Times New Roman"/>
                        </a:rPr>
                        <a:t> </a:t>
                      </a:r>
                      <a:r>
                        <a:rPr lang="en-US" sz="1600" b="1" kern="100" dirty="0">
                          <a:solidFill>
                            <a:schemeClr val="bg2">
                              <a:lumMod val="60000"/>
                              <a:lumOff val="40000"/>
                            </a:schemeClr>
                          </a:solidFill>
                          <a:latin typeface="Courier New"/>
                          <a:ea typeface="宋体"/>
                          <a:cs typeface="Times New Roman"/>
                        </a:rPr>
                        <a:t>/*</a:t>
                      </a:r>
                      <a:r>
                        <a:rPr lang="zh-CN" sz="1600" b="1" kern="100" dirty="0">
                          <a:solidFill>
                            <a:schemeClr val="bg2">
                              <a:lumMod val="60000"/>
                              <a:lumOff val="40000"/>
                            </a:schemeClr>
                          </a:solidFill>
                          <a:latin typeface="Courier New"/>
                          <a:ea typeface="宋体"/>
                          <a:cs typeface="Times New Roman"/>
                        </a:rPr>
                        <a:t>找到要删除的结点</a:t>
                      </a:r>
                      <a:r>
                        <a:rPr lang="en-US" sz="1600" b="1" kern="100" dirty="0">
                          <a:solidFill>
                            <a:schemeClr val="bg2">
                              <a:lumMod val="60000"/>
                              <a:lumOff val="40000"/>
                            </a:schemeClr>
                          </a:solidFill>
                          <a:latin typeface="Courier New"/>
                          <a:ea typeface="宋体"/>
                          <a:cs typeface="Times New Roman"/>
                        </a:rPr>
                        <a:t> */ </a:t>
                      </a:r>
                      <a:endParaRPr lang="zh-CN" sz="1600" b="1" kern="100" dirty="0">
                        <a:solidFill>
                          <a:schemeClr val="bg2">
                            <a:lumMod val="60000"/>
                            <a:lumOff val="40000"/>
                          </a:schemeClr>
                        </a:solidFill>
                        <a:latin typeface="Courier New"/>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smtClean="0">
                          <a:solidFill>
                            <a:srgbClr val="0000FF"/>
                          </a:solidFill>
                          <a:latin typeface="Courier New"/>
                          <a:ea typeface="宋体"/>
                          <a:cs typeface="Times New Roman"/>
                        </a:rPr>
                        <a:t>if</a:t>
                      </a:r>
                      <a:r>
                        <a:rPr lang="en-US" sz="1600" b="1" kern="100" dirty="0">
                          <a:latin typeface="Courier New"/>
                          <a:ea typeface="宋体"/>
                          <a:cs typeface="Times New Roman"/>
                        </a:rPr>
                        <a:t>( BST-&gt;Left &amp;&amp; BST-&gt;Right ) </a:t>
                      </a:r>
                      <a:r>
                        <a:rPr lang="en-US" sz="1600" b="1" kern="100" dirty="0" smtClean="0">
                          <a:latin typeface="Courier New"/>
                          <a:ea typeface="宋体"/>
                          <a:cs typeface="Times New Roman"/>
                        </a:rPr>
                        <a:t>{ </a:t>
                      </a:r>
                      <a:r>
                        <a:rPr lang="en-US" sz="1600" b="1" kern="100" dirty="0" smtClean="0">
                          <a:solidFill>
                            <a:schemeClr val="bg2">
                              <a:lumMod val="60000"/>
                              <a:lumOff val="40000"/>
                            </a:schemeClr>
                          </a:solidFill>
                          <a:latin typeface="Courier New"/>
                          <a:ea typeface="宋体"/>
                          <a:cs typeface="Times New Roman"/>
                        </a:rPr>
                        <a:t>/*</a:t>
                      </a:r>
                      <a:r>
                        <a:rPr lang="zh-CN" sz="1600" b="1" kern="100" dirty="0">
                          <a:solidFill>
                            <a:schemeClr val="bg2">
                              <a:lumMod val="60000"/>
                              <a:lumOff val="40000"/>
                            </a:schemeClr>
                          </a:solidFill>
                          <a:latin typeface="Courier New"/>
                          <a:ea typeface="宋体"/>
                          <a:cs typeface="Times New Roman"/>
                        </a:rPr>
                        <a:t>被删除结点有左右两个子结点</a:t>
                      </a:r>
                      <a:r>
                        <a:rPr lang="en-US" sz="1600" b="1" kern="100" dirty="0">
                          <a:solidFill>
                            <a:schemeClr val="bg2">
                              <a:lumMod val="60000"/>
                              <a:lumOff val="40000"/>
                            </a:schemeClr>
                          </a:solidFill>
                          <a:latin typeface="Courier New"/>
                          <a:ea typeface="宋体"/>
                          <a:cs typeface="Times New Roman"/>
                        </a:rPr>
                        <a:t> */ </a:t>
                      </a:r>
                      <a:endParaRPr lang="zh-CN" sz="1600" b="1" kern="100" dirty="0">
                        <a:solidFill>
                          <a:schemeClr val="bg2">
                            <a:lumMod val="60000"/>
                            <a:lumOff val="40000"/>
                          </a:schemeClr>
                        </a:solidFill>
                        <a:latin typeface="Courier New"/>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err="1" smtClean="0">
                          <a:latin typeface="Courier New"/>
                          <a:ea typeface="宋体"/>
                          <a:cs typeface="Times New Roman"/>
                        </a:rPr>
                        <a:t>Tmp</a:t>
                      </a:r>
                      <a:r>
                        <a:rPr lang="en-US" sz="1600" b="1" kern="100" dirty="0" smtClean="0">
                          <a:latin typeface="Courier New"/>
                          <a:ea typeface="宋体"/>
                          <a:cs typeface="Times New Roman"/>
                        </a:rPr>
                        <a:t> </a:t>
                      </a:r>
                      <a:r>
                        <a:rPr lang="en-US" sz="1600" b="1" kern="100" dirty="0">
                          <a:latin typeface="Courier New"/>
                          <a:ea typeface="宋体"/>
                          <a:cs typeface="Times New Roman"/>
                        </a:rPr>
                        <a:t>= </a:t>
                      </a:r>
                      <a:r>
                        <a:rPr lang="en-US" sz="1600" b="1" kern="100" dirty="0" err="1">
                          <a:latin typeface="Courier New"/>
                          <a:ea typeface="宋体"/>
                          <a:cs typeface="Times New Roman"/>
                        </a:rPr>
                        <a:t>FindMin</a:t>
                      </a:r>
                      <a:r>
                        <a:rPr lang="en-US" sz="1600" b="1" kern="100" dirty="0">
                          <a:latin typeface="Courier New"/>
                          <a:ea typeface="宋体"/>
                          <a:cs typeface="Times New Roman"/>
                        </a:rPr>
                        <a:t>( BST-&gt;Right ); </a:t>
                      </a:r>
                      <a:endParaRPr lang="zh-CN" sz="1600" b="1" kern="100" dirty="0">
                        <a:latin typeface="Calibri"/>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a:solidFill>
                            <a:schemeClr val="bg2">
                              <a:lumMod val="60000"/>
                              <a:lumOff val="40000"/>
                            </a:schemeClr>
                          </a:solidFill>
                          <a:latin typeface="Courier New"/>
                          <a:ea typeface="宋体"/>
                          <a:cs typeface="Times New Roman"/>
                        </a:rPr>
                        <a:t>/*</a:t>
                      </a:r>
                      <a:r>
                        <a:rPr lang="zh-CN" sz="1600" b="1" kern="100" dirty="0">
                          <a:solidFill>
                            <a:schemeClr val="bg2">
                              <a:lumMod val="60000"/>
                              <a:lumOff val="40000"/>
                            </a:schemeClr>
                          </a:solidFill>
                          <a:latin typeface="Courier New"/>
                          <a:ea typeface="宋体"/>
                          <a:cs typeface="Times New Roman"/>
                        </a:rPr>
                        <a:t>在右子树中找最小的元素填充删除结点</a:t>
                      </a:r>
                      <a:r>
                        <a:rPr lang="en-US" sz="1600" b="1" kern="100" dirty="0">
                          <a:solidFill>
                            <a:schemeClr val="bg2">
                              <a:lumMod val="60000"/>
                              <a:lumOff val="40000"/>
                            </a:schemeClr>
                          </a:solidFill>
                          <a:latin typeface="Courier New"/>
                          <a:ea typeface="宋体"/>
                          <a:cs typeface="Times New Roman"/>
                        </a:rPr>
                        <a:t>*/</a:t>
                      </a:r>
                      <a:endParaRPr lang="zh-CN" sz="1600" b="1" kern="100" dirty="0">
                        <a:solidFill>
                          <a:schemeClr val="bg2">
                            <a:lumMod val="60000"/>
                            <a:lumOff val="40000"/>
                          </a:schemeClr>
                        </a:solidFill>
                        <a:latin typeface="Courier New"/>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smtClean="0">
                          <a:latin typeface="Courier New"/>
                          <a:ea typeface="宋体"/>
                          <a:cs typeface="Times New Roman"/>
                        </a:rPr>
                        <a:t>BST-</a:t>
                      </a:r>
                      <a:r>
                        <a:rPr lang="en-US" sz="1600" b="1" kern="100" dirty="0">
                          <a:latin typeface="Courier New"/>
                          <a:ea typeface="宋体"/>
                          <a:cs typeface="Times New Roman"/>
                        </a:rPr>
                        <a:t>&gt;Data = </a:t>
                      </a:r>
                      <a:r>
                        <a:rPr lang="en-US" sz="1600" b="1" kern="100" dirty="0" err="1">
                          <a:latin typeface="Courier New"/>
                          <a:ea typeface="宋体"/>
                          <a:cs typeface="Times New Roman"/>
                        </a:rPr>
                        <a:t>Tmp</a:t>
                      </a:r>
                      <a:r>
                        <a:rPr lang="en-US" sz="1600" b="1" kern="100" dirty="0">
                          <a:latin typeface="Courier New"/>
                          <a:ea typeface="宋体"/>
                          <a:cs typeface="Times New Roman"/>
                        </a:rPr>
                        <a:t>-&gt;Data; </a:t>
                      </a:r>
                      <a:endParaRPr lang="zh-CN" sz="1600" b="1" kern="100" dirty="0">
                        <a:latin typeface="Calibri"/>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smtClean="0">
                          <a:latin typeface="Courier New"/>
                          <a:ea typeface="宋体"/>
                          <a:cs typeface="Times New Roman"/>
                        </a:rPr>
                        <a:t>BST-</a:t>
                      </a:r>
                      <a:r>
                        <a:rPr lang="en-US" sz="1600" b="1" kern="100" dirty="0">
                          <a:latin typeface="Courier New"/>
                          <a:ea typeface="宋体"/>
                          <a:cs typeface="Times New Roman"/>
                        </a:rPr>
                        <a:t>&gt;Right = Delete( BST-&gt;Data, BST-&gt;Right);</a:t>
                      </a:r>
                      <a:endParaRPr lang="zh-CN" sz="1600" b="1" kern="100" dirty="0">
                        <a:latin typeface="Calibri"/>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a:solidFill>
                            <a:schemeClr val="bg2">
                              <a:lumMod val="60000"/>
                              <a:lumOff val="40000"/>
                            </a:schemeClr>
                          </a:solidFill>
                          <a:latin typeface="Courier New"/>
                          <a:ea typeface="宋体"/>
                          <a:cs typeface="Times New Roman"/>
                        </a:rPr>
                        <a:t>/*</a:t>
                      </a:r>
                      <a:r>
                        <a:rPr lang="zh-CN" sz="1600" b="1" kern="100" dirty="0">
                          <a:solidFill>
                            <a:schemeClr val="bg2">
                              <a:lumMod val="60000"/>
                              <a:lumOff val="40000"/>
                            </a:schemeClr>
                          </a:solidFill>
                          <a:latin typeface="Courier New"/>
                          <a:ea typeface="宋体"/>
                          <a:cs typeface="Times New Roman"/>
                        </a:rPr>
                        <a:t>在删除结点的右子树中删除最小元素</a:t>
                      </a:r>
                      <a:r>
                        <a:rPr lang="en-US" sz="1600" b="1" kern="100" dirty="0">
                          <a:solidFill>
                            <a:schemeClr val="bg2">
                              <a:lumMod val="60000"/>
                              <a:lumOff val="40000"/>
                            </a:schemeClr>
                          </a:solidFill>
                          <a:latin typeface="Courier New"/>
                          <a:ea typeface="宋体"/>
                          <a:cs typeface="Times New Roman"/>
                        </a:rPr>
                        <a:t>*/</a:t>
                      </a:r>
                      <a:endParaRPr lang="zh-CN" sz="1600" b="1" kern="100" dirty="0">
                        <a:solidFill>
                          <a:schemeClr val="bg2">
                            <a:lumMod val="60000"/>
                            <a:lumOff val="40000"/>
                          </a:schemeClr>
                        </a:solidFill>
                        <a:latin typeface="Courier New"/>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smtClean="0">
                          <a:latin typeface="Courier New"/>
                          <a:ea typeface="宋体"/>
                          <a:cs typeface="Times New Roman"/>
                        </a:rPr>
                        <a:t>} </a:t>
                      </a:r>
                      <a:r>
                        <a:rPr lang="en-US" sz="1600" b="1" kern="100" dirty="0" smtClean="0">
                          <a:solidFill>
                            <a:srgbClr val="0000FF"/>
                          </a:solidFill>
                          <a:latin typeface="Courier New"/>
                          <a:ea typeface="宋体"/>
                          <a:cs typeface="Times New Roman"/>
                        </a:rPr>
                        <a:t>else</a:t>
                      </a:r>
                      <a:r>
                        <a:rPr lang="en-US" sz="1600" b="1" kern="100" dirty="0" smtClean="0">
                          <a:latin typeface="Courier New"/>
                          <a:ea typeface="宋体"/>
                          <a:cs typeface="Times New Roman"/>
                        </a:rPr>
                        <a:t> </a:t>
                      </a:r>
                      <a:r>
                        <a:rPr lang="en-US" sz="1600" b="1" kern="100" dirty="0">
                          <a:latin typeface="Courier New"/>
                          <a:ea typeface="宋体"/>
                          <a:cs typeface="Times New Roman"/>
                        </a:rPr>
                        <a:t>{ </a:t>
                      </a:r>
                      <a:r>
                        <a:rPr lang="en-US" sz="1600" b="1" kern="100" dirty="0">
                          <a:solidFill>
                            <a:schemeClr val="bg2">
                              <a:lumMod val="60000"/>
                              <a:lumOff val="40000"/>
                            </a:schemeClr>
                          </a:solidFill>
                          <a:latin typeface="Courier New"/>
                          <a:ea typeface="宋体"/>
                          <a:cs typeface="Times New Roman"/>
                        </a:rPr>
                        <a:t>/*</a:t>
                      </a:r>
                      <a:r>
                        <a:rPr lang="zh-CN" sz="1600" b="1" kern="100" dirty="0">
                          <a:solidFill>
                            <a:schemeClr val="bg2">
                              <a:lumMod val="60000"/>
                              <a:lumOff val="40000"/>
                            </a:schemeClr>
                          </a:solidFill>
                          <a:latin typeface="Courier New"/>
                          <a:ea typeface="宋体"/>
                          <a:cs typeface="Times New Roman"/>
                        </a:rPr>
                        <a:t>被删除结点有一个或无子结点</a:t>
                      </a:r>
                      <a:r>
                        <a:rPr lang="en-US" sz="1600" b="1" kern="100" dirty="0">
                          <a:solidFill>
                            <a:schemeClr val="bg2">
                              <a:lumMod val="60000"/>
                              <a:lumOff val="40000"/>
                            </a:schemeClr>
                          </a:solidFill>
                          <a:latin typeface="Courier New"/>
                          <a:ea typeface="宋体"/>
                          <a:cs typeface="Times New Roman"/>
                        </a:rPr>
                        <a:t>*/</a:t>
                      </a:r>
                      <a:endParaRPr lang="zh-CN" sz="1600" b="1" kern="100" dirty="0">
                        <a:solidFill>
                          <a:schemeClr val="bg2">
                            <a:lumMod val="60000"/>
                            <a:lumOff val="40000"/>
                          </a:schemeClr>
                        </a:solidFill>
                        <a:latin typeface="Courier New"/>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err="1" smtClean="0">
                          <a:latin typeface="Courier New"/>
                          <a:ea typeface="宋体"/>
                          <a:cs typeface="Times New Roman"/>
                        </a:rPr>
                        <a:t>Tmp</a:t>
                      </a:r>
                      <a:r>
                        <a:rPr lang="en-US" sz="1600" b="1" kern="100" dirty="0" smtClean="0">
                          <a:latin typeface="Courier New"/>
                          <a:ea typeface="宋体"/>
                          <a:cs typeface="Times New Roman"/>
                        </a:rPr>
                        <a:t> </a:t>
                      </a:r>
                      <a:r>
                        <a:rPr lang="en-US" sz="1600" b="1" kern="100" dirty="0">
                          <a:latin typeface="Courier New"/>
                          <a:ea typeface="宋体"/>
                          <a:cs typeface="Times New Roman"/>
                        </a:rPr>
                        <a:t>= BST; </a:t>
                      </a:r>
                      <a:endParaRPr lang="zh-CN" sz="1600" b="1" kern="100" dirty="0">
                        <a:latin typeface="Calibri"/>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smtClean="0">
                          <a:solidFill>
                            <a:srgbClr val="0000FF"/>
                          </a:solidFill>
                          <a:latin typeface="Courier New"/>
                          <a:ea typeface="宋体"/>
                          <a:cs typeface="Times New Roman"/>
                        </a:rPr>
                        <a:t>if</a:t>
                      </a:r>
                      <a:r>
                        <a:rPr lang="en-US" sz="1600" b="1" kern="100" dirty="0">
                          <a:latin typeface="Courier New"/>
                          <a:ea typeface="宋体"/>
                          <a:cs typeface="Times New Roman"/>
                        </a:rPr>
                        <a:t>( !BST-&gt;Left ) </a:t>
                      </a:r>
                      <a:r>
                        <a:rPr lang="en-US" sz="1600" b="1" kern="100" dirty="0">
                          <a:solidFill>
                            <a:schemeClr val="bg2">
                              <a:lumMod val="60000"/>
                              <a:lumOff val="40000"/>
                            </a:schemeClr>
                          </a:solidFill>
                          <a:latin typeface="Courier New"/>
                          <a:ea typeface="宋体"/>
                          <a:cs typeface="Times New Roman"/>
                        </a:rPr>
                        <a:t>/* </a:t>
                      </a:r>
                      <a:r>
                        <a:rPr lang="zh-CN" sz="1600" b="1" kern="100" dirty="0">
                          <a:solidFill>
                            <a:schemeClr val="bg2">
                              <a:lumMod val="60000"/>
                              <a:lumOff val="40000"/>
                            </a:schemeClr>
                          </a:solidFill>
                          <a:latin typeface="Courier New"/>
                          <a:ea typeface="宋体"/>
                          <a:cs typeface="Times New Roman"/>
                        </a:rPr>
                        <a:t>有右孩子或无子结点</a:t>
                      </a:r>
                      <a:r>
                        <a:rPr lang="en-US" sz="1600" b="1" kern="100" dirty="0">
                          <a:solidFill>
                            <a:schemeClr val="bg2">
                              <a:lumMod val="60000"/>
                              <a:lumOff val="40000"/>
                            </a:schemeClr>
                          </a:solidFill>
                          <a:latin typeface="Courier New"/>
                          <a:ea typeface="宋体"/>
                          <a:cs typeface="Times New Roman"/>
                        </a:rPr>
                        <a:t>*/</a:t>
                      </a:r>
                      <a:endParaRPr lang="zh-CN" sz="1600" b="1" kern="100" dirty="0">
                        <a:solidFill>
                          <a:schemeClr val="bg2">
                            <a:lumMod val="60000"/>
                            <a:lumOff val="40000"/>
                          </a:schemeClr>
                        </a:solidFill>
                        <a:latin typeface="Courier New"/>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smtClean="0">
                          <a:latin typeface="Courier New"/>
                          <a:ea typeface="宋体"/>
                          <a:cs typeface="Times New Roman"/>
                        </a:rPr>
                        <a:t>BST </a:t>
                      </a:r>
                      <a:r>
                        <a:rPr lang="en-US" sz="1600" b="1" kern="100" dirty="0">
                          <a:latin typeface="Courier New"/>
                          <a:ea typeface="宋体"/>
                          <a:cs typeface="Times New Roman"/>
                        </a:rPr>
                        <a:t>= BST-&gt;Right; </a:t>
                      </a:r>
                      <a:endParaRPr lang="zh-CN" sz="1600" b="1" kern="100" dirty="0">
                        <a:latin typeface="Calibri"/>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smtClean="0">
                          <a:solidFill>
                            <a:srgbClr val="0000FF"/>
                          </a:solidFill>
                          <a:latin typeface="Courier New"/>
                          <a:ea typeface="宋体"/>
                          <a:cs typeface="Times New Roman"/>
                        </a:rPr>
                        <a:t>else</a:t>
                      </a:r>
                      <a:r>
                        <a:rPr lang="en-US" sz="1600" b="1" kern="100" dirty="0" smtClean="0">
                          <a:latin typeface="Courier New"/>
                          <a:ea typeface="宋体"/>
                          <a:cs typeface="Times New Roman"/>
                        </a:rPr>
                        <a:t> </a:t>
                      </a:r>
                      <a:r>
                        <a:rPr lang="en-US" sz="1600" b="1" kern="100" dirty="0">
                          <a:solidFill>
                            <a:srgbClr val="0000FF"/>
                          </a:solidFill>
                          <a:latin typeface="Courier New"/>
                          <a:ea typeface="宋体"/>
                          <a:cs typeface="Times New Roman"/>
                        </a:rPr>
                        <a:t>if</a:t>
                      </a:r>
                      <a:r>
                        <a:rPr lang="en-US" sz="1600" b="1" kern="100" dirty="0">
                          <a:latin typeface="Courier New"/>
                          <a:ea typeface="宋体"/>
                          <a:cs typeface="Times New Roman"/>
                        </a:rPr>
                        <a:t>( !BST-&gt;Right ) </a:t>
                      </a:r>
                      <a:r>
                        <a:rPr lang="en-US" sz="1600" b="1" kern="100" dirty="0">
                          <a:solidFill>
                            <a:schemeClr val="bg2">
                              <a:lumMod val="60000"/>
                              <a:lumOff val="40000"/>
                            </a:schemeClr>
                          </a:solidFill>
                          <a:latin typeface="Courier New"/>
                          <a:ea typeface="宋体"/>
                          <a:cs typeface="Times New Roman"/>
                        </a:rPr>
                        <a:t>/*</a:t>
                      </a:r>
                      <a:r>
                        <a:rPr lang="zh-CN" sz="1600" b="1" kern="100" dirty="0">
                          <a:solidFill>
                            <a:schemeClr val="bg2">
                              <a:lumMod val="60000"/>
                              <a:lumOff val="40000"/>
                            </a:schemeClr>
                          </a:solidFill>
                          <a:latin typeface="Courier New"/>
                          <a:ea typeface="宋体"/>
                          <a:cs typeface="Times New Roman"/>
                        </a:rPr>
                        <a:t>有左孩子或无子结点</a:t>
                      </a:r>
                      <a:r>
                        <a:rPr lang="en-US" sz="1600" b="1" kern="100" dirty="0">
                          <a:solidFill>
                            <a:schemeClr val="bg2">
                              <a:lumMod val="60000"/>
                              <a:lumOff val="40000"/>
                            </a:schemeClr>
                          </a:solidFill>
                          <a:latin typeface="Courier New"/>
                          <a:ea typeface="宋体"/>
                          <a:cs typeface="Times New Roman"/>
                        </a:rPr>
                        <a:t>*/</a:t>
                      </a:r>
                      <a:endParaRPr lang="zh-CN" sz="1600" b="1" kern="100" dirty="0">
                        <a:solidFill>
                          <a:schemeClr val="bg2">
                            <a:lumMod val="60000"/>
                            <a:lumOff val="40000"/>
                          </a:schemeClr>
                        </a:solidFill>
                        <a:latin typeface="Courier New"/>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smtClean="0">
                          <a:latin typeface="Courier New"/>
                          <a:ea typeface="宋体"/>
                          <a:cs typeface="Times New Roman"/>
                        </a:rPr>
                        <a:t>BST </a:t>
                      </a:r>
                      <a:r>
                        <a:rPr lang="en-US" sz="1600" b="1" kern="100" dirty="0">
                          <a:latin typeface="Courier New"/>
                          <a:ea typeface="宋体"/>
                          <a:cs typeface="Times New Roman"/>
                        </a:rPr>
                        <a:t>= BST-&gt;Left;</a:t>
                      </a:r>
                      <a:endParaRPr lang="zh-CN" sz="1600" b="1" kern="100" dirty="0">
                        <a:latin typeface="Calibri"/>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smtClean="0">
                          <a:latin typeface="Courier New"/>
                          <a:ea typeface="宋体"/>
                          <a:cs typeface="Times New Roman"/>
                        </a:rPr>
                        <a:t>free</a:t>
                      </a:r>
                      <a:r>
                        <a:rPr lang="en-US" sz="1600" b="1" kern="100" dirty="0">
                          <a:latin typeface="Courier New"/>
                          <a:ea typeface="宋体"/>
                          <a:cs typeface="Times New Roman"/>
                        </a:rPr>
                        <a:t>( </a:t>
                      </a:r>
                      <a:r>
                        <a:rPr lang="en-US" sz="1600" b="1" kern="100" dirty="0" err="1">
                          <a:latin typeface="Courier New"/>
                          <a:ea typeface="宋体"/>
                          <a:cs typeface="Times New Roman"/>
                        </a:rPr>
                        <a:t>Tmp</a:t>
                      </a:r>
                      <a:r>
                        <a:rPr lang="en-US" sz="1600" b="1" kern="100" dirty="0">
                          <a:latin typeface="Courier New"/>
                          <a:ea typeface="宋体"/>
                          <a:cs typeface="Times New Roman"/>
                        </a:rPr>
                        <a:t> );</a:t>
                      </a:r>
                      <a:endParaRPr lang="zh-CN" sz="1600" b="1" kern="100" dirty="0">
                        <a:latin typeface="Calibri"/>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smtClean="0">
                          <a:latin typeface="Courier New"/>
                          <a:ea typeface="宋体"/>
                          <a:cs typeface="Times New Roman"/>
                        </a:rPr>
                        <a:t>}</a:t>
                      </a:r>
                      <a:endParaRPr lang="zh-CN" sz="1600" b="1" kern="100" dirty="0">
                        <a:latin typeface="Calibri"/>
                        <a:ea typeface="宋体"/>
                        <a:cs typeface="Times New Roman"/>
                      </a:endParaRPr>
                    </a:p>
                    <a:p>
                      <a:pPr algn="l">
                        <a:spcAft>
                          <a:spcPts val="0"/>
                        </a:spcAft>
                      </a:pPr>
                      <a:r>
                        <a:rPr lang="en-US" sz="1600" b="1" kern="100" dirty="0">
                          <a:latin typeface="Courier New"/>
                          <a:ea typeface="宋体"/>
                          <a:cs typeface="Times New Roman"/>
                        </a:rPr>
                        <a:t>    </a:t>
                      </a:r>
                      <a:r>
                        <a:rPr lang="en-US" sz="1600" b="1" kern="100" dirty="0">
                          <a:solidFill>
                            <a:srgbClr val="0000FF"/>
                          </a:solidFill>
                          <a:latin typeface="Courier New"/>
                          <a:ea typeface="宋体"/>
                          <a:cs typeface="Times New Roman"/>
                        </a:rPr>
                        <a:t>return</a:t>
                      </a:r>
                      <a:r>
                        <a:rPr lang="en-US" sz="1600" b="1" kern="100" dirty="0">
                          <a:latin typeface="Courier New"/>
                          <a:ea typeface="宋体"/>
                          <a:cs typeface="Times New Roman"/>
                        </a:rPr>
                        <a:t> BST;</a:t>
                      </a:r>
                      <a:endParaRPr lang="zh-CN" sz="1600" b="1" kern="100" dirty="0">
                        <a:latin typeface="Calibri"/>
                        <a:ea typeface="宋体"/>
                        <a:cs typeface="Times New Roman"/>
                      </a:endParaRPr>
                    </a:p>
                    <a:p>
                      <a:pPr algn="l">
                        <a:spcAft>
                          <a:spcPts val="0"/>
                        </a:spcAft>
                      </a:pPr>
                      <a:r>
                        <a:rPr lang="en-US" sz="1600" b="1" kern="100" dirty="0">
                          <a:latin typeface="Courier New"/>
                          <a:ea typeface="宋体"/>
                          <a:cs typeface="Times New Roman"/>
                        </a:rPr>
                        <a:t>}</a:t>
                      </a:r>
                      <a:endParaRPr lang="zh-CN" sz="1600" b="1" kern="100" dirty="0">
                        <a:latin typeface="Calibri"/>
                        <a:ea typeface="宋体"/>
                        <a:cs typeface="Times New Roman"/>
                      </a:endParaRPr>
                    </a:p>
                  </a:txBody>
                  <a:tcPr marL="54429" marR="5442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4" name="矩形 1"/>
          <p:cNvSpPr>
            <a:spLocks noChangeArrowheads="1"/>
          </p:cNvSpPr>
          <p:nvPr/>
        </p:nvSpPr>
        <p:spPr bwMode="auto">
          <a:xfrm>
            <a:off x="774701" y="260648"/>
            <a:ext cx="36295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en-US" altLang="zh-CN" sz="2400" b="1" dirty="0">
                <a:solidFill>
                  <a:schemeClr val="hlink"/>
                </a:solidFill>
                <a:latin typeface="Times New Roman" pitchFamily="18" charset="0"/>
                <a:sym typeface="Wingdings" pitchFamily="2" charset="2"/>
              </a:rPr>
              <a:t> </a:t>
            </a:r>
            <a:r>
              <a:rPr lang="zh-CN" altLang="en-US" sz="2400" b="1" dirty="0">
                <a:latin typeface="Times New Roman" pitchFamily="18" charset="0"/>
              </a:rPr>
              <a:t>二叉搜索树的</a:t>
            </a:r>
            <a:r>
              <a:rPr lang="zh-CN" altLang="en-US" sz="2400" b="1" dirty="0" smtClean="0">
                <a:solidFill>
                  <a:srgbClr val="0000FF"/>
                </a:solidFill>
                <a:latin typeface="Times New Roman" pitchFamily="18" charset="0"/>
              </a:rPr>
              <a:t>删除算法</a:t>
            </a:r>
            <a:endParaRPr lang="zh-CN" altLang="en-US" sz="2400" b="1" dirty="0">
              <a:solidFill>
                <a:srgbClr val="0000FF"/>
              </a:solidFill>
              <a:latin typeface="Times New Roman" pitchFamily="18" charset="0"/>
            </a:endParaRPr>
          </a:p>
        </p:txBody>
      </p:sp>
    </p:spTree>
    <p:extLst>
      <p:ext uri="{BB962C8B-B14F-4D97-AF65-F5344CB8AC3E}">
        <p14:creationId xmlns:p14="http://schemas.microsoft.com/office/powerpoint/2010/main" val="2821332942"/>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灯片编号占位符 1"/>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fld id="{CBC4174A-D742-4259-BE5B-DCE25978860C}" type="slidenum">
              <a:rPr lang="en-US" altLang="zh-CN" smtClean="0">
                <a:solidFill>
                  <a:srgbClr val="000000"/>
                </a:solidFill>
                <a:latin typeface="Times New Roman" pitchFamily="18" charset="0"/>
              </a:rPr>
              <a:pPr/>
              <a:t>122</a:t>
            </a:fld>
            <a:endParaRPr lang="en-US" altLang="zh-CN" smtClean="0">
              <a:solidFill>
                <a:srgbClr val="000000"/>
              </a:solidFill>
              <a:latin typeface="Times New Roman" pitchFamily="18" charset="0"/>
            </a:endParaRPr>
          </a:p>
        </p:txBody>
      </p:sp>
      <p:sp>
        <p:nvSpPr>
          <p:cNvPr id="30723" name="TextBox 3"/>
          <p:cNvSpPr txBox="1">
            <a:spLocks noChangeArrowheads="1"/>
          </p:cNvSpPr>
          <p:nvPr>
            <p:custDataLst>
              <p:tags r:id="rId2"/>
            </p:custDataLst>
          </p:nvPr>
        </p:nvSpPr>
        <p:spPr bwMode="auto">
          <a:xfrm>
            <a:off x="914400" y="635000"/>
            <a:ext cx="7761288" cy="214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400" dirty="0">
                <a:solidFill>
                  <a:srgbClr val="000000"/>
                </a:solidFill>
                <a:latin typeface="Microsoft Yahei" pitchFamily="34" charset="-122"/>
                <a:ea typeface="Microsoft Yahei" pitchFamily="34" charset="-122"/>
                <a:sym typeface="Microsoft Yahei" pitchFamily="34" charset="-122"/>
              </a:rPr>
              <a:t>Given a binary search tree with its </a:t>
            </a:r>
            <a:r>
              <a:rPr lang="en-US" altLang="zh-CN" sz="2400" dirty="0" err="1">
                <a:solidFill>
                  <a:srgbClr val="000000"/>
                </a:solidFill>
                <a:latin typeface="Microsoft Yahei" pitchFamily="34" charset="-122"/>
                <a:ea typeface="Microsoft Yahei" pitchFamily="34" charset="-122"/>
                <a:sym typeface="Microsoft Yahei" pitchFamily="34" charset="-122"/>
              </a:rPr>
              <a:t>postorder</a:t>
            </a:r>
            <a:r>
              <a:rPr lang="en-US" altLang="zh-CN" sz="2400" dirty="0">
                <a:solidFill>
                  <a:srgbClr val="000000"/>
                </a:solidFill>
                <a:latin typeface="Microsoft Yahei" pitchFamily="34" charset="-122"/>
                <a:ea typeface="Microsoft Yahei" pitchFamily="34" charset="-122"/>
                <a:sym typeface="Microsoft Yahei" pitchFamily="34" charset="-122"/>
              </a:rPr>
              <a:t> traversal sequence { 2, 7, 15, 10, 20, 19, 35, 21, 18 }. If 18 is deleted from the tree, which one of the following statements is FALSE?</a:t>
            </a:r>
            <a:endParaRPr lang="zh-CN" altLang="en-US" sz="2400" dirty="0">
              <a:solidFill>
                <a:srgbClr val="000000"/>
              </a:solidFill>
              <a:latin typeface="Microsoft Yahei" pitchFamily="34" charset="-122"/>
              <a:ea typeface="Microsoft Yahei" pitchFamily="34" charset="-122"/>
              <a:sym typeface="Microsoft Yahei" pitchFamily="34" charset="-122"/>
            </a:endParaRPr>
          </a:p>
        </p:txBody>
      </p:sp>
      <p:sp>
        <p:nvSpPr>
          <p:cNvPr id="30724" name="TextBox 4"/>
          <p:cNvSpPr txBox="1">
            <a:spLocks noChangeArrowheads="1"/>
          </p:cNvSpPr>
          <p:nvPr>
            <p:custDataLst>
              <p:tags r:id="rId3"/>
            </p:custDataLst>
          </p:nvPr>
        </p:nvSpPr>
        <p:spPr bwMode="auto">
          <a:xfrm>
            <a:off x="1116013" y="2570163"/>
            <a:ext cx="78105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endParaRPr lang="en-US" altLang="zh-CN" sz="2800" dirty="0"/>
          </a:p>
          <a:p>
            <a:r>
              <a:rPr lang="en-US" altLang="zh-CN" sz="2400" dirty="0"/>
              <a:t>One possible preorder traversal sequence of the resulting tree may be { 15, 10, 7, 2, 21, 19, 20, 35 }</a:t>
            </a:r>
          </a:p>
        </p:txBody>
      </p:sp>
      <p:sp>
        <p:nvSpPr>
          <p:cNvPr id="30725" name="TextBox 5"/>
          <p:cNvSpPr txBox="1">
            <a:spLocks noChangeArrowheads="1"/>
          </p:cNvSpPr>
          <p:nvPr>
            <p:custDataLst>
              <p:tags r:id="rId4"/>
            </p:custDataLst>
          </p:nvPr>
        </p:nvSpPr>
        <p:spPr bwMode="auto">
          <a:xfrm>
            <a:off x="1042988" y="3573463"/>
            <a:ext cx="7345362"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400" dirty="0">
                <a:solidFill>
                  <a:srgbClr val="000000"/>
                </a:solidFill>
                <a:latin typeface="Cambria" pitchFamily="18" charset="0"/>
                <a:sym typeface="Microsoft Yahei" pitchFamily="34" charset="-122"/>
              </a:rPr>
              <a:t>One possible preorder traversal sequence of the resulting tree may be { 20, 10, 7, 2, 15, 21, 19, 35 }</a:t>
            </a:r>
            <a:endParaRPr lang="zh-CN" altLang="en-US" sz="2400" dirty="0">
              <a:solidFill>
                <a:srgbClr val="000000"/>
              </a:solidFill>
              <a:latin typeface="Cambria" pitchFamily="18" charset="0"/>
              <a:ea typeface="Microsoft Yahei" pitchFamily="34" charset="-122"/>
              <a:sym typeface="Microsoft Yahei" pitchFamily="34" charset="-122"/>
            </a:endParaRPr>
          </a:p>
        </p:txBody>
      </p:sp>
      <p:sp>
        <p:nvSpPr>
          <p:cNvPr id="30726" name="TextBox 6"/>
          <p:cNvSpPr txBox="1">
            <a:spLocks noChangeArrowheads="1"/>
          </p:cNvSpPr>
          <p:nvPr>
            <p:custDataLst>
              <p:tags r:id="rId5"/>
            </p:custDataLst>
          </p:nvPr>
        </p:nvSpPr>
        <p:spPr bwMode="auto">
          <a:xfrm>
            <a:off x="1004888" y="4500563"/>
            <a:ext cx="70231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400">
                <a:solidFill>
                  <a:srgbClr val="000000"/>
                </a:solidFill>
                <a:latin typeface="Cambria" pitchFamily="18" charset="0"/>
                <a:sym typeface="Microsoft Yahei" pitchFamily="34" charset="-122"/>
              </a:rPr>
              <a:t>One possible preorder traversal sequence of the resulting tree may be { 19, 10, 7, 2, 15, 21, 20, 35 }</a:t>
            </a:r>
            <a:endParaRPr lang="zh-CN" altLang="en-US" sz="2400">
              <a:solidFill>
                <a:srgbClr val="000000"/>
              </a:solidFill>
              <a:latin typeface="Cambria" pitchFamily="18" charset="0"/>
              <a:ea typeface="Microsoft Yahei" pitchFamily="34" charset="-122"/>
              <a:sym typeface="Microsoft Yahei" pitchFamily="34" charset="-122"/>
            </a:endParaRPr>
          </a:p>
        </p:txBody>
      </p:sp>
      <p:sp>
        <p:nvSpPr>
          <p:cNvPr id="30727" name="TextBox 7"/>
          <p:cNvSpPr txBox="1">
            <a:spLocks noChangeArrowheads="1"/>
          </p:cNvSpPr>
          <p:nvPr>
            <p:custDataLst>
              <p:tags r:id="rId6"/>
            </p:custDataLst>
          </p:nvPr>
        </p:nvSpPr>
        <p:spPr bwMode="auto">
          <a:xfrm>
            <a:off x="1022350" y="5300663"/>
            <a:ext cx="7221538"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400"/>
              <a:t>It is possible that the resulting tree may have 3 leaves</a:t>
            </a:r>
            <a:endParaRPr lang="zh-CN" altLang="en-US" sz="2400">
              <a:solidFill>
                <a:srgbClr val="000000"/>
              </a:solidFill>
              <a:latin typeface="Microsoft Yahei" pitchFamily="34" charset="-122"/>
              <a:ea typeface="Microsoft Yahei" pitchFamily="34" charset="-122"/>
              <a:sym typeface="Microsoft Yahei" pitchFamily="34" charset="-122"/>
            </a:endParaRPr>
          </a:p>
        </p:txBody>
      </p:sp>
      <p:sp>
        <p:nvSpPr>
          <p:cNvPr id="30728" name="椭圆 8"/>
          <p:cNvSpPr>
            <a:spLocks noChangeAspect="1"/>
          </p:cNvSpPr>
          <p:nvPr>
            <p:custDataLst>
              <p:tags r:id="rId7"/>
            </p:custDataLst>
          </p:nvPr>
        </p:nvSpPr>
        <p:spPr bwMode="auto">
          <a:xfrm>
            <a:off x="469900" y="284956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A</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30729" name="椭圆 9"/>
          <p:cNvSpPr>
            <a:spLocks noChangeAspect="1"/>
          </p:cNvSpPr>
          <p:nvPr>
            <p:custDataLst>
              <p:tags r:id="rId8"/>
            </p:custDataLst>
          </p:nvPr>
        </p:nvSpPr>
        <p:spPr bwMode="auto">
          <a:xfrm>
            <a:off x="469900" y="3706813"/>
            <a:ext cx="514350" cy="514350"/>
          </a:xfrm>
          <a:prstGeom prst="ellipse">
            <a:avLst/>
          </a:prstGeom>
          <a:solidFill>
            <a:srgbClr val="00FF00"/>
          </a:solidFill>
          <a:ln w="254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B</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30730" name="椭圆 10"/>
          <p:cNvSpPr>
            <a:spLocks noChangeAspect="1"/>
          </p:cNvSpPr>
          <p:nvPr>
            <p:custDataLst>
              <p:tags r:id="rId9"/>
            </p:custDataLst>
          </p:nvPr>
        </p:nvSpPr>
        <p:spPr bwMode="auto">
          <a:xfrm>
            <a:off x="458788" y="456406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C</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30731" name="椭圆 11"/>
          <p:cNvSpPr>
            <a:spLocks noChangeAspect="1"/>
          </p:cNvSpPr>
          <p:nvPr>
            <p:custDataLst>
              <p:tags r:id="rId10"/>
            </p:custDataLst>
          </p:nvPr>
        </p:nvSpPr>
        <p:spPr bwMode="auto">
          <a:xfrm>
            <a:off x="458788" y="537051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D</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30732" name="圆角矩形 12"/>
          <p:cNvSpPr>
            <a:spLocks noChangeArrowheads="1"/>
          </p:cNvSpPr>
          <p:nvPr>
            <p:custDataLst>
              <p:tags r:id="rId11"/>
            </p:custDataLst>
          </p:nvPr>
        </p:nvSpPr>
        <p:spPr bwMode="auto">
          <a:xfrm>
            <a:off x="6172200" y="6215063"/>
            <a:ext cx="1543050" cy="411162"/>
          </a:xfrm>
          <a:prstGeom prst="roundRect">
            <a:avLst>
              <a:gd name="adj" fmla="val 16667"/>
            </a:avLst>
          </a:prstGeom>
          <a:solidFill>
            <a:srgbClr val="808080"/>
          </a:solidFill>
          <a:ln w="38100" algn="ctr">
            <a:solidFill>
              <a:srgbClr val="000000"/>
            </a:solidFill>
            <a:round/>
            <a:headEnd/>
            <a:tailEnd/>
          </a:ln>
        </p:spPr>
        <p:txBody>
          <a:bodyPr anchor="ctr" anchorCtr="1"/>
          <a:lstStyle/>
          <a:p>
            <a:pPr eaLnBrk="1" hangingPunct="1"/>
            <a:r>
              <a:rPr kumimoji="1" lang="zh-CN" altLang="en-US" sz="1600">
                <a:solidFill>
                  <a:srgbClr val="FFFFFF"/>
                </a:solidFill>
                <a:latin typeface="Microsoft Yahei" pitchFamily="34" charset="-122"/>
                <a:ea typeface="Microsoft Yahei" pitchFamily="34" charset="-122"/>
                <a:sym typeface="Microsoft Yahei" pitchFamily="34" charset="-122"/>
              </a:rPr>
              <a:t>提交</a:t>
            </a:r>
          </a:p>
        </p:txBody>
      </p:sp>
      <p:grpSp>
        <p:nvGrpSpPr>
          <p:cNvPr id="30733" name="组合 17"/>
          <p:cNvGrpSpPr>
            <a:grpSpLocks/>
          </p:cNvGrpSpPr>
          <p:nvPr>
            <p:custDataLst>
              <p:tags r:id="rId12"/>
            </p:custDataLst>
          </p:nvPr>
        </p:nvGrpSpPr>
        <p:grpSpPr bwMode="auto">
          <a:xfrm>
            <a:off x="0" y="0"/>
            <a:ext cx="9144000" cy="635000"/>
            <a:chOff x="0" y="0"/>
            <a:chExt cx="9144000" cy="635000"/>
          </a:xfrm>
        </p:grpSpPr>
        <p:sp>
          <p:nvSpPr>
            <p:cNvPr id="30735" name="TitleBackground"/>
            <p:cNvSpPr>
              <a:spLocks noChangeArrowheads="1"/>
            </p:cNvSpPr>
            <p:nvPr>
              <p:custDataLst>
                <p:tags r:id="rId14"/>
              </p:custDataLst>
            </p:nvPr>
          </p:nvSpPr>
          <p:spPr bwMode="auto">
            <a:xfrm>
              <a:off x="0" y="0"/>
              <a:ext cx="9144000" cy="635000"/>
            </a:xfrm>
            <a:prstGeom prst="rect">
              <a:avLst/>
            </a:prstGeom>
            <a:solidFill>
              <a:srgbClr val="F6F7F8"/>
            </a:solidFill>
            <a:ln>
              <a:noFill/>
            </a:ln>
            <a:extLst>
              <a:ext uri="{91240B29-F687-4F45-9708-019B960494DF}">
                <a14:hiddenLine xmlns:a14="http://schemas.microsoft.com/office/drawing/2010/main" w="9525" algn="ctr">
                  <a:solidFill>
                    <a:schemeClr val="tx1"/>
                  </a:solidFill>
                  <a:round/>
                  <a:headEnd/>
                  <a:tailEnd/>
                </a14:hiddenLine>
              </a:ext>
            </a:extLst>
          </p:spPr>
          <p:txBody>
            <a:bodyPr/>
            <a:lstStyle/>
            <a:p>
              <a:pPr eaLnBrk="1" hangingPunct="1"/>
              <a:endParaRPr kumimoji="1" lang="zh-CN" altLang="en-US" sz="2400">
                <a:latin typeface="Times New Roman" pitchFamily="18" charset="0"/>
              </a:endParaRPr>
            </a:p>
          </p:txBody>
        </p:sp>
        <p:sp>
          <p:nvSpPr>
            <p:cNvPr id="30736" name="ColorBlock"/>
            <p:cNvSpPr>
              <a:spLocks noChangeArrowheads="1"/>
            </p:cNvSpPr>
            <p:nvPr>
              <p:custDataLst>
                <p:tags r:id="rId15"/>
              </p:custDataLst>
            </p:nvPr>
          </p:nvSpPr>
          <p:spPr bwMode="auto">
            <a:xfrm>
              <a:off x="0" y="0"/>
              <a:ext cx="190500" cy="635000"/>
            </a:xfrm>
            <a:prstGeom prst="rect">
              <a:avLst/>
            </a:prstGeom>
            <a:solidFill>
              <a:srgbClr val="639EF4"/>
            </a:solidFill>
            <a:ln>
              <a:noFill/>
            </a:ln>
            <a:extLst>
              <a:ext uri="{91240B29-F687-4F45-9708-019B960494DF}">
                <a14:hiddenLine xmlns:a14="http://schemas.microsoft.com/office/drawing/2010/main" w="9525" algn="ctr">
                  <a:solidFill>
                    <a:schemeClr val="tx1"/>
                  </a:solidFill>
                  <a:round/>
                  <a:headEnd/>
                  <a:tailEnd/>
                </a14:hiddenLine>
              </a:ext>
            </a:extLst>
          </p:spPr>
          <p:txBody>
            <a:bodyPr/>
            <a:lstStyle/>
            <a:p>
              <a:pPr eaLnBrk="1" hangingPunct="1"/>
              <a:endParaRPr kumimoji="1" lang="zh-CN" altLang="en-US" sz="2400">
                <a:latin typeface="Times New Roman" pitchFamily="18" charset="0"/>
              </a:endParaRPr>
            </a:p>
          </p:txBody>
        </p:sp>
        <p:sp>
          <p:nvSpPr>
            <p:cNvPr id="30737" name="TypeText"/>
            <p:cNvSpPr txBox="1">
              <a:spLocks noChangeArrowheads="1"/>
            </p:cNvSpPr>
            <p:nvPr>
              <p:custDataLst>
                <p:tags r:id="rId16"/>
              </p:custDataLst>
            </p:nvPr>
          </p:nvSpPr>
          <p:spPr bwMode="auto">
            <a:xfrm>
              <a:off x="254000" y="0"/>
              <a:ext cx="190500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600">
                  <a:solidFill>
                    <a:srgbClr val="000000"/>
                  </a:solidFill>
                  <a:latin typeface="Microsoft Yahei" pitchFamily="34" charset="-122"/>
                  <a:ea typeface="Microsoft Yahei" pitchFamily="34" charset="-122"/>
                  <a:sym typeface="Microsoft Yahei" pitchFamily="34" charset="-122"/>
                </a:rPr>
                <a:t>单选题</a:t>
              </a:r>
            </a:p>
          </p:txBody>
        </p:sp>
        <p:sp>
          <p:nvSpPr>
            <p:cNvPr id="30738" name="TipText"/>
            <p:cNvSpPr txBox="1">
              <a:spLocks noChangeArrowheads="1"/>
            </p:cNvSpPr>
            <p:nvPr>
              <p:custDataLst>
                <p:tags r:id="rId17"/>
              </p:custDataLst>
            </p:nvPr>
          </p:nvSpPr>
          <p:spPr bwMode="auto">
            <a:xfrm>
              <a:off x="1525905" y="109220"/>
              <a:ext cx="22860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000">
                  <a:solidFill>
                    <a:srgbClr val="808080"/>
                  </a:solidFill>
                  <a:latin typeface="Microsoft Yahei" pitchFamily="34" charset="-122"/>
                  <a:ea typeface="Microsoft Yahei" pitchFamily="34" charset="-122"/>
                  <a:sym typeface="Microsoft Yahei" pitchFamily="34" charset="-122"/>
                </a:rPr>
                <a:t>1</a:t>
              </a:r>
              <a:r>
                <a:rPr lang="zh-CN" altLang="en-US" sz="2000">
                  <a:solidFill>
                    <a:srgbClr val="808080"/>
                  </a:solidFill>
                  <a:latin typeface="Microsoft Yahei" pitchFamily="34" charset="-122"/>
                  <a:ea typeface="Microsoft Yahei" pitchFamily="34" charset="-122"/>
                  <a:sym typeface="Microsoft Yahei" pitchFamily="34" charset="-122"/>
                </a:rPr>
                <a:t>分</a:t>
              </a:r>
            </a:p>
          </p:txBody>
        </p:sp>
      </p:grpSp>
      <p:pic>
        <p:nvPicPr>
          <p:cNvPr id="30734" name="图片 2"/>
          <p:cNvPicPr>
            <a:picLocks/>
          </p:cNvPicPr>
          <p:nvPr>
            <p:custDataLst>
              <p:tags r:id="rId13"/>
            </p:custDataLst>
          </p:nvPr>
        </p:nvPicPr>
        <p:blipFill>
          <a:blip r:embed="rId19">
            <a:extLst>
              <a:ext uri="{28A0092B-C50C-407E-A947-70E740481C1C}">
                <a14:useLocalDpi xmlns:a14="http://schemas.microsoft.com/office/drawing/2010/main" val="0"/>
              </a:ext>
            </a:extLst>
          </a:blip>
          <a:srcRect/>
          <a:stretch>
            <a:fillRect/>
          </a:stretch>
        </p:blipFill>
        <p:spPr bwMode="auto">
          <a:xfrm>
            <a:off x="7594600" y="63500"/>
            <a:ext cx="14224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301675363"/>
      </p:ext>
    </p:ext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2" name="组合 1"/>
          <p:cNvGrpSpPr/>
          <p:nvPr/>
        </p:nvGrpSpPr>
        <p:grpSpPr>
          <a:xfrm>
            <a:off x="12700" y="4876800"/>
            <a:ext cx="9131300" cy="1912938"/>
            <a:chOff x="12700" y="4876800"/>
            <a:chExt cx="9131300" cy="1912938"/>
          </a:xfrm>
        </p:grpSpPr>
        <p:sp>
          <p:nvSpPr>
            <p:cNvPr id="4" name="矩形 3"/>
            <p:cNvSpPr/>
            <p:nvPr/>
          </p:nvSpPr>
          <p:spPr bwMode="auto">
            <a:xfrm>
              <a:off x="12700" y="4876800"/>
              <a:ext cx="9131300" cy="1912938"/>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60419" name="组合 5"/>
            <p:cNvGrpSpPr/>
            <p:nvPr/>
          </p:nvGrpSpPr>
          <p:grpSpPr>
            <a:xfrm>
              <a:off x="7038975" y="5416550"/>
              <a:ext cx="2105025" cy="1233488"/>
              <a:chOff x="7039457" y="5416752"/>
              <a:chExt cx="910309" cy="1234015"/>
            </a:xfrm>
          </p:grpSpPr>
          <p:sp>
            <p:nvSpPr>
              <p:cNvPr id="5" name="矩形 4"/>
              <p:cNvSpPr/>
              <p:nvPr/>
            </p:nvSpPr>
            <p:spPr bwMode="auto">
              <a:xfrm>
                <a:off x="7039457" y="5416752"/>
                <a:ext cx="910309" cy="46058"/>
              </a:xfrm>
              <a:prstGeom prst="rect">
                <a:avLst/>
              </a:prstGeom>
              <a:solidFill>
                <a:schemeClr val="accent1"/>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34" name="矩形 33"/>
              <p:cNvSpPr/>
              <p:nvPr/>
            </p:nvSpPr>
            <p:spPr bwMode="auto">
              <a:xfrm>
                <a:off x="7039457" y="5558100"/>
                <a:ext cx="910309" cy="46057"/>
              </a:xfrm>
              <a:prstGeom prst="rect">
                <a:avLst/>
              </a:prstGeom>
              <a:solidFill>
                <a:schemeClr val="accent1"/>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35" name="矩形 34"/>
              <p:cNvSpPr/>
              <p:nvPr/>
            </p:nvSpPr>
            <p:spPr bwMode="auto">
              <a:xfrm>
                <a:off x="7039457" y="5723271"/>
                <a:ext cx="910309" cy="46057"/>
              </a:xfrm>
              <a:prstGeom prst="rect">
                <a:avLst/>
              </a:prstGeom>
              <a:solidFill>
                <a:schemeClr val="accent1"/>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36" name="矩形 35"/>
              <p:cNvSpPr/>
              <p:nvPr/>
            </p:nvSpPr>
            <p:spPr bwMode="auto">
              <a:xfrm>
                <a:off x="7039457" y="5861442"/>
                <a:ext cx="910309" cy="46058"/>
              </a:xfrm>
              <a:prstGeom prst="rect">
                <a:avLst/>
              </a:prstGeom>
              <a:solidFill>
                <a:schemeClr val="accent1"/>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37" name="矩形 36"/>
              <p:cNvSpPr/>
              <p:nvPr/>
            </p:nvSpPr>
            <p:spPr bwMode="auto">
              <a:xfrm>
                <a:off x="7039457" y="6023436"/>
                <a:ext cx="910309" cy="44469"/>
              </a:xfrm>
              <a:prstGeom prst="rect">
                <a:avLst/>
              </a:prstGeom>
              <a:solidFill>
                <a:schemeClr val="accent1"/>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38" name="矩形 37"/>
              <p:cNvSpPr/>
              <p:nvPr/>
            </p:nvSpPr>
            <p:spPr bwMode="auto">
              <a:xfrm>
                <a:off x="7039457" y="6152079"/>
                <a:ext cx="910309" cy="44469"/>
              </a:xfrm>
              <a:prstGeom prst="rect">
                <a:avLst/>
              </a:prstGeom>
              <a:solidFill>
                <a:schemeClr val="accent1"/>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39" name="矩形 38"/>
              <p:cNvSpPr/>
              <p:nvPr/>
            </p:nvSpPr>
            <p:spPr bwMode="auto">
              <a:xfrm>
                <a:off x="7039457" y="6280721"/>
                <a:ext cx="910309" cy="46058"/>
              </a:xfrm>
              <a:prstGeom prst="rect">
                <a:avLst/>
              </a:prstGeom>
              <a:solidFill>
                <a:schemeClr val="accent1"/>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0" name="矩形 39"/>
              <p:cNvSpPr/>
              <p:nvPr/>
            </p:nvSpPr>
            <p:spPr bwMode="auto">
              <a:xfrm>
                <a:off x="7039457" y="6464950"/>
                <a:ext cx="910309" cy="46058"/>
              </a:xfrm>
              <a:prstGeom prst="rect">
                <a:avLst/>
              </a:prstGeom>
              <a:solidFill>
                <a:schemeClr val="accent1"/>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1" name="矩形 40"/>
              <p:cNvSpPr/>
              <p:nvPr/>
            </p:nvSpPr>
            <p:spPr bwMode="auto">
              <a:xfrm>
                <a:off x="7039457" y="6604709"/>
                <a:ext cx="910309" cy="46058"/>
              </a:xfrm>
              <a:prstGeom prst="rect">
                <a:avLst/>
              </a:prstGeom>
              <a:solidFill>
                <a:schemeClr val="accent1"/>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grpSp>
      <p:sp>
        <p:nvSpPr>
          <p:cNvPr id="31" name="矩形 30"/>
          <p:cNvSpPr/>
          <p:nvPr/>
        </p:nvSpPr>
        <p:spPr bwMode="auto">
          <a:xfrm>
            <a:off x="4800600" y="908050"/>
            <a:ext cx="4343400" cy="3886200"/>
          </a:xfrm>
          <a:prstGeom prst="rect">
            <a:avLst/>
          </a:prstGeom>
          <a:solidFill>
            <a:srgbClr val="CCCCFF"/>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60430" name="Group 4"/>
          <p:cNvGrpSpPr/>
          <p:nvPr/>
        </p:nvGrpSpPr>
        <p:grpSpPr>
          <a:xfrm>
            <a:off x="5040313" y="990600"/>
            <a:ext cx="3760787" cy="3733800"/>
            <a:chOff x="1152" y="720"/>
            <a:chExt cx="2544" cy="2352"/>
          </a:xfrm>
        </p:grpSpPr>
        <p:sp>
          <p:nvSpPr>
            <p:cNvPr id="44035" name="Oval 5"/>
            <p:cNvSpPr>
              <a:spLocks noChangeArrowheads="1"/>
            </p:cNvSpPr>
            <p:nvPr/>
          </p:nvSpPr>
          <p:spPr bwMode="auto">
            <a:xfrm>
              <a:off x="2064" y="720"/>
              <a:ext cx="384"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45</a:t>
              </a:r>
            </a:p>
          </p:txBody>
        </p:sp>
        <p:sp>
          <p:nvSpPr>
            <p:cNvPr id="44036" name="Oval 6"/>
            <p:cNvSpPr>
              <a:spLocks noChangeArrowheads="1"/>
            </p:cNvSpPr>
            <p:nvPr/>
          </p:nvSpPr>
          <p:spPr bwMode="auto">
            <a:xfrm>
              <a:off x="1632" y="1152"/>
              <a:ext cx="384"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12</a:t>
              </a:r>
            </a:p>
          </p:txBody>
        </p:sp>
        <p:sp>
          <p:nvSpPr>
            <p:cNvPr id="44037" name="Oval 7"/>
            <p:cNvSpPr>
              <a:spLocks noChangeArrowheads="1"/>
            </p:cNvSpPr>
            <p:nvPr/>
          </p:nvSpPr>
          <p:spPr bwMode="auto">
            <a:xfrm>
              <a:off x="2640" y="1152"/>
              <a:ext cx="380"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53</a:t>
              </a:r>
            </a:p>
          </p:txBody>
        </p:sp>
        <p:sp>
          <p:nvSpPr>
            <p:cNvPr id="44038" name="Oval 8"/>
            <p:cNvSpPr>
              <a:spLocks noChangeArrowheads="1"/>
            </p:cNvSpPr>
            <p:nvPr/>
          </p:nvSpPr>
          <p:spPr bwMode="auto">
            <a:xfrm>
              <a:off x="1152" y="1728"/>
              <a:ext cx="384"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3</a:t>
              </a:r>
            </a:p>
          </p:txBody>
        </p:sp>
        <p:sp>
          <p:nvSpPr>
            <p:cNvPr id="44039" name="Oval 9"/>
            <p:cNvSpPr>
              <a:spLocks noChangeArrowheads="1"/>
            </p:cNvSpPr>
            <p:nvPr/>
          </p:nvSpPr>
          <p:spPr bwMode="auto">
            <a:xfrm>
              <a:off x="2064" y="1728"/>
              <a:ext cx="384"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37</a:t>
              </a:r>
            </a:p>
          </p:txBody>
        </p:sp>
        <p:sp>
          <p:nvSpPr>
            <p:cNvPr id="44040" name="Oval 10"/>
            <p:cNvSpPr>
              <a:spLocks noChangeArrowheads="1"/>
            </p:cNvSpPr>
            <p:nvPr/>
          </p:nvSpPr>
          <p:spPr bwMode="auto">
            <a:xfrm>
              <a:off x="1680" y="2304"/>
              <a:ext cx="380"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24</a:t>
              </a:r>
            </a:p>
          </p:txBody>
        </p:sp>
        <p:sp>
          <p:nvSpPr>
            <p:cNvPr id="44041" name="Line 11"/>
            <p:cNvSpPr>
              <a:spLocks noChangeShapeType="1"/>
            </p:cNvSpPr>
            <p:nvPr/>
          </p:nvSpPr>
          <p:spPr bwMode="auto">
            <a:xfrm flipH="1">
              <a:off x="1968" y="1008"/>
              <a:ext cx="144" cy="144"/>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4042" name="Line 12"/>
            <p:cNvSpPr>
              <a:spLocks noChangeShapeType="1"/>
            </p:cNvSpPr>
            <p:nvPr/>
          </p:nvSpPr>
          <p:spPr bwMode="auto">
            <a:xfrm flipH="1">
              <a:off x="1440" y="1488"/>
              <a:ext cx="243" cy="288"/>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4043" name="Line 13"/>
            <p:cNvSpPr>
              <a:spLocks noChangeShapeType="1"/>
            </p:cNvSpPr>
            <p:nvPr/>
          </p:nvSpPr>
          <p:spPr bwMode="auto">
            <a:xfrm>
              <a:off x="1968" y="1488"/>
              <a:ext cx="192" cy="288"/>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4044" name="Line 14"/>
            <p:cNvSpPr>
              <a:spLocks noChangeShapeType="1"/>
            </p:cNvSpPr>
            <p:nvPr/>
          </p:nvSpPr>
          <p:spPr bwMode="auto">
            <a:xfrm flipH="1">
              <a:off x="1968" y="2064"/>
              <a:ext cx="144" cy="240"/>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4045" name="Oval 15"/>
            <p:cNvSpPr>
              <a:spLocks noChangeArrowheads="1"/>
            </p:cNvSpPr>
            <p:nvPr/>
          </p:nvSpPr>
          <p:spPr bwMode="auto">
            <a:xfrm>
              <a:off x="3216" y="1680"/>
              <a:ext cx="384"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100</a:t>
              </a:r>
            </a:p>
          </p:txBody>
        </p:sp>
        <p:sp>
          <p:nvSpPr>
            <p:cNvPr id="44046" name="Oval 16"/>
            <p:cNvSpPr>
              <a:spLocks noChangeArrowheads="1"/>
            </p:cNvSpPr>
            <p:nvPr/>
          </p:nvSpPr>
          <p:spPr bwMode="auto">
            <a:xfrm>
              <a:off x="2688" y="2064"/>
              <a:ext cx="384"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61</a:t>
              </a:r>
            </a:p>
          </p:txBody>
        </p:sp>
        <p:sp>
          <p:nvSpPr>
            <p:cNvPr id="44047" name="Oval 17"/>
            <p:cNvSpPr>
              <a:spLocks noChangeArrowheads="1"/>
            </p:cNvSpPr>
            <p:nvPr/>
          </p:nvSpPr>
          <p:spPr bwMode="auto">
            <a:xfrm>
              <a:off x="3312" y="2400"/>
              <a:ext cx="384"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90</a:t>
              </a:r>
            </a:p>
          </p:txBody>
        </p:sp>
        <p:sp>
          <p:nvSpPr>
            <p:cNvPr id="44048" name="Oval 18"/>
            <p:cNvSpPr>
              <a:spLocks noChangeArrowheads="1"/>
            </p:cNvSpPr>
            <p:nvPr/>
          </p:nvSpPr>
          <p:spPr bwMode="auto">
            <a:xfrm>
              <a:off x="2736" y="2736"/>
              <a:ext cx="384"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78</a:t>
              </a:r>
            </a:p>
          </p:txBody>
        </p:sp>
        <p:sp>
          <p:nvSpPr>
            <p:cNvPr id="44049" name="Line 19"/>
            <p:cNvSpPr>
              <a:spLocks noChangeShapeType="1"/>
            </p:cNvSpPr>
            <p:nvPr/>
          </p:nvSpPr>
          <p:spPr bwMode="auto">
            <a:xfrm>
              <a:off x="2400" y="1008"/>
              <a:ext cx="243" cy="192"/>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4050" name="Line 20"/>
            <p:cNvSpPr>
              <a:spLocks noChangeShapeType="1"/>
            </p:cNvSpPr>
            <p:nvPr/>
          </p:nvSpPr>
          <p:spPr bwMode="auto">
            <a:xfrm>
              <a:off x="2977" y="1440"/>
              <a:ext cx="291" cy="288"/>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4051" name="Line 21"/>
            <p:cNvSpPr>
              <a:spLocks noChangeShapeType="1"/>
            </p:cNvSpPr>
            <p:nvPr/>
          </p:nvSpPr>
          <p:spPr bwMode="auto">
            <a:xfrm flipH="1">
              <a:off x="3072" y="1968"/>
              <a:ext cx="144" cy="144"/>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4052" name="Line 22"/>
            <p:cNvSpPr>
              <a:spLocks noChangeShapeType="1"/>
            </p:cNvSpPr>
            <p:nvPr/>
          </p:nvSpPr>
          <p:spPr bwMode="auto">
            <a:xfrm>
              <a:off x="3024" y="2304"/>
              <a:ext cx="336" cy="192"/>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4053" name="Line 23"/>
            <p:cNvSpPr>
              <a:spLocks noChangeShapeType="1"/>
            </p:cNvSpPr>
            <p:nvPr/>
          </p:nvSpPr>
          <p:spPr bwMode="auto">
            <a:xfrm flipH="1">
              <a:off x="3120" y="2640"/>
              <a:ext cx="190" cy="192"/>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grpSp>
        <p:nvGrpSpPr>
          <p:cNvPr id="3" name="Group 30"/>
          <p:cNvGrpSpPr/>
          <p:nvPr/>
        </p:nvGrpSpPr>
        <p:grpSpPr>
          <a:xfrm>
            <a:off x="158750" y="4935538"/>
            <a:ext cx="6088063" cy="1090612"/>
            <a:chOff x="197" y="2399"/>
            <a:chExt cx="3835" cy="687"/>
          </a:xfrm>
        </p:grpSpPr>
        <p:sp>
          <p:nvSpPr>
            <p:cNvPr id="44055" name="Text Box 24"/>
            <p:cNvSpPr txBox="1">
              <a:spLocks noChangeArrowheads="1"/>
            </p:cNvSpPr>
            <p:nvPr/>
          </p:nvSpPr>
          <p:spPr bwMode="auto">
            <a:xfrm>
              <a:off x="197" y="2399"/>
              <a:ext cx="3835" cy="64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3</a:t>
              </a:r>
              <a:r>
                <a:rPr kumimoji="0" lang="zh-CN" altLang="en-US" sz="2400" b="1" i="0" u="none" strike="noStrike" kern="1200" cap="none" spc="0" normalizeH="0" baseline="0" noProof="0" dirty="0">
                  <a:ln>
                    <a:noFill/>
                  </a:ln>
                  <a:solidFill>
                    <a:schemeClr val="accent2"/>
                  </a:solidFill>
                  <a:effectLst/>
                  <a:uLnTx/>
                  <a:uFillTx/>
                  <a:latin typeface="+mn-lt"/>
                  <a:ea typeface="+mn-ea"/>
                  <a:cs typeface="+mn-ea"/>
                  <a:sym typeface="+mn-lt"/>
                </a:rPr>
                <a:t>，</a:t>
              </a: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12</a:t>
              </a:r>
              <a:r>
                <a:rPr kumimoji="0" lang="zh-CN" altLang="en-US" sz="2400" b="1" i="0" u="none" strike="noStrike" kern="1200" cap="none" spc="0" normalizeH="0" baseline="0" noProof="0" dirty="0">
                  <a:ln>
                    <a:noFill/>
                  </a:ln>
                  <a:solidFill>
                    <a:schemeClr val="accent2"/>
                  </a:solidFill>
                  <a:effectLst/>
                  <a:uLnTx/>
                  <a:uFillTx/>
                  <a:latin typeface="+mn-lt"/>
                  <a:ea typeface="+mn-ea"/>
                  <a:cs typeface="+mn-ea"/>
                  <a:sym typeface="+mn-lt"/>
                </a:rPr>
                <a:t>，</a:t>
              </a: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24</a:t>
              </a:r>
              <a:r>
                <a:rPr kumimoji="0" lang="zh-CN" altLang="en-US" sz="2400" b="1" i="0" u="none" strike="noStrike" kern="1200" cap="none" spc="0" normalizeH="0" baseline="0" noProof="0" dirty="0">
                  <a:ln>
                    <a:noFill/>
                  </a:ln>
                  <a:solidFill>
                    <a:schemeClr val="accent2"/>
                  </a:solidFill>
                  <a:effectLst/>
                  <a:uLnTx/>
                  <a:uFillTx/>
                  <a:latin typeface="+mn-lt"/>
                  <a:ea typeface="+mn-ea"/>
                  <a:cs typeface="+mn-ea"/>
                  <a:sym typeface="+mn-lt"/>
                </a:rPr>
                <a:t>，</a:t>
              </a: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37</a:t>
              </a:r>
              <a:r>
                <a:rPr kumimoji="0" lang="zh-CN" altLang="en-US" sz="2400" b="1" i="0" u="none" strike="noStrike" kern="1200" cap="none" spc="0" normalizeH="0" baseline="0" noProof="0" dirty="0">
                  <a:ln>
                    <a:noFill/>
                  </a:ln>
                  <a:solidFill>
                    <a:schemeClr val="accent2"/>
                  </a:solidFill>
                  <a:effectLst/>
                  <a:uLnTx/>
                  <a:uFillTx/>
                  <a:latin typeface="+mn-lt"/>
                  <a:ea typeface="+mn-ea"/>
                  <a:cs typeface="+mn-ea"/>
                  <a:sym typeface="+mn-lt"/>
                </a:rPr>
                <a:t>，</a:t>
              </a: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45</a:t>
              </a:r>
              <a:r>
                <a:rPr kumimoji="0" lang="zh-CN" altLang="en-US" sz="2400" b="1" i="0" u="none" strike="noStrike" kern="1200" cap="none" spc="0" normalizeH="0" baseline="0" noProof="0" dirty="0">
                  <a:ln>
                    <a:noFill/>
                  </a:ln>
                  <a:solidFill>
                    <a:schemeClr val="accent2"/>
                  </a:solidFill>
                  <a:effectLst/>
                  <a:uLnTx/>
                  <a:uFillTx/>
                  <a:latin typeface="+mn-lt"/>
                  <a:ea typeface="+mn-ea"/>
                  <a:cs typeface="+mn-ea"/>
                  <a:sym typeface="+mn-lt"/>
                </a:rPr>
                <a:t>，</a:t>
              </a: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53</a:t>
              </a:r>
              <a:r>
                <a:rPr kumimoji="0" lang="zh-CN" altLang="en-US" sz="2400" b="1" i="0" u="none" strike="noStrike" kern="1200" cap="none" spc="0" normalizeH="0" baseline="0" noProof="0" dirty="0">
                  <a:ln>
                    <a:noFill/>
                  </a:ln>
                  <a:solidFill>
                    <a:schemeClr val="accent2"/>
                  </a:solidFill>
                  <a:effectLst/>
                  <a:uLnTx/>
                  <a:uFillTx/>
                  <a:latin typeface="+mn-lt"/>
                  <a:ea typeface="+mn-ea"/>
                  <a:cs typeface="+mn-ea"/>
                  <a:sym typeface="+mn-lt"/>
                </a:rPr>
                <a:t>，</a:t>
              </a: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61</a:t>
              </a:r>
              <a:r>
                <a:rPr kumimoji="0" lang="zh-CN" altLang="en-US" sz="2400" b="1" i="0" u="none" strike="noStrike" kern="1200" cap="none" spc="0" normalizeH="0" baseline="0" noProof="0" dirty="0">
                  <a:ln>
                    <a:noFill/>
                  </a:ln>
                  <a:solidFill>
                    <a:schemeClr val="accent2"/>
                  </a:solidFill>
                  <a:effectLst/>
                  <a:uLnTx/>
                  <a:uFillTx/>
                  <a:latin typeface="+mn-lt"/>
                  <a:ea typeface="+mn-ea"/>
                  <a:cs typeface="+mn-ea"/>
                  <a:sym typeface="+mn-lt"/>
                </a:rPr>
                <a:t>，</a:t>
              </a: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78</a:t>
              </a:r>
              <a:r>
                <a:rPr kumimoji="0" lang="zh-CN" altLang="en-US" sz="2400" b="1" i="0" u="none" strike="noStrike" kern="1200" cap="none" spc="0" normalizeH="0" baseline="0" noProof="0" dirty="0">
                  <a:ln>
                    <a:noFill/>
                  </a:ln>
                  <a:solidFill>
                    <a:schemeClr val="accent2"/>
                  </a:solidFill>
                  <a:effectLst/>
                  <a:uLnTx/>
                  <a:uFillTx/>
                  <a:latin typeface="+mn-lt"/>
                  <a:ea typeface="+mn-ea"/>
                  <a:cs typeface="+mn-ea"/>
                  <a:sym typeface="+mn-lt"/>
                </a:rPr>
                <a:t>，</a:t>
              </a: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90</a:t>
              </a:r>
              <a:r>
                <a:rPr kumimoji="0" lang="zh-CN" altLang="en-US" sz="2400" b="1" i="0" u="none" strike="noStrike" kern="1200" cap="none" spc="0" normalizeH="0" baseline="0" noProof="0" dirty="0">
                  <a:ln>
                    <a:noFill/>
                  </a:ln>
                  <a:solidFill>
                    <a:schemeClr val="accent2"/>
                  </a:solidFill>
                  <a:effectLst/>
                  <a:uLnTx/>
                  <a:uFillTx/>
                  <a:latin typeface="+mn-lt"/>
                  <a:ea typeface="+mn-ea"/>
                  <a:cs typeface="+mn-ea"/>
                  <a:sym typeface="+mn-lt"/>
                </a:rPr>
                <a:t>，</a:t>
              </a:r>
              <a:r>
                <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rPr>
                <a:t>100</a:t>
              </a: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endParaRPr kumimoji="0" lang="en-US" altLang="zh-CN" sz="2400" b="1" i="0" u="none" strike="noStrike" kern="1200" cap="none" spc="0" normalizeH="0" baseline="0" noProof="0" dirty="0">
                <a:ln>
                  <a:noFill/>
                </a:ln>
                <a:solidFill>
                  <a:schemeClr val="accent2"/>
                </a:solidFill>
                <a:effectLst/>
                <a:uLnTx/>
                <a:uFillTx/>
                <a:latin typeface="+mn-lt"/>
                <a:ea typeface="+mn-ea"/>
                <a:cs typeface="+mn-ea"/>
                <a:sym typeface="+mn-lt"/>
              </a:endParaRPr>
            </a:p>
          </p:txBody>
        </p:sp>
        <p:sp>
          <p:nvSpPr>
            <p:cNvPr id="44056" name="Line 25"/>
            <p:cNvSpPr>
              <a:spLocks noChangeShapeType="1"/>
            </p:cNvSpPr>
            <p:nvPr/>
          </p:nvSpPr>
          <p:spPr bwMode="auto">
            <a:xfrm>
              <a:off x="225" y="2735"/>
              <a:ext cx="3696" cy="0"/>
            </a:xfrm>
            <a:prstGeom prst="line">
              <a:avLst/>
            </a:prstGeom>
            <a:noFill/>
            <a:ln w="38100">
              <a:solidFill>
                <a:srgbClr val="7030A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4057" name="Text Box 26"/>
            <p:cNvSpPr txBox="1">
              <a:spLocks noChangeArrowheads="1"/>
            </p:cNvSpPr>
            <p:nvPr/>
          </p:nvSpPr>
          <p:spPr bwMode="auto">
            <a:xfrm>
              <a:off x="1791" y="2759"/>
              <a:ext cx="590" cy="327"/>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accent2"/>
                  </a:solidFill>
                  <a:effectLst/>
                  <a:uLnTx/>
                  <a:uFillTx/>
                  <a:latin typeface="+mn-lt"/>
                  <a:ea typeface="+mn-ea"/>
                  <a:cs typeface="+mn-ea"/>
                  <a:sym typeface="+mn-lt"/>
                </a:rPr>
                <a:t>递增</a:t>
              </a:r>
            </a:p>
          </p:txBody>
        </p:sp>
      </p:grpSp>
      <p:sp>
        <p:nvSpPr>
          <p:cNvPr id="1015835" name="Text Box 27"/>
          <p:cNvSpPr txBox="1">
            <a:spLocks noChangeArrowheads="1"/>
          </p:cNvSpPr>
          <p:nvPr/>
        </p:nvSpPr>
        <p:spPr bwMode="auto">
          <a:xfrm>
            <a:off x="203200" y="6154738"/>
            <a:ext cx="5867400" cy="522288"/>
          </a:xfrm>
          <a:prstGeom prst="rect">
            <a:avLst/>
          </a:prstGeom>
          <a:noFill/>
          <a:ln w="38100">
            <a:noFill/>
            <a:miter lim="800000"/>
          </a:ln>
        </p:spPr>
        <p:txBody>
          <a:bodyPr anchor="ctr">
            <a:spAutoFit/>
          </a:bodyP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得到一个关键字的递增有序序列</a:t>
            </a:r>
          </a:p>
        </p:txBody>
      </p:sp>
      <p:sp>
        <p:nvSpPr>
          <p:cNvPr id="44059" name="Rectangle 28"/>
          <p:cNvSpPr>
            <a:spLocks noChangeArrowheads="1"/>
          </p:cNvSpPr>
          <p:nvPr/>
        </p:nvSpPr>
        <p:spPr bwMode="auto">
          <a:xfrm>
            <a:off x="927100" y="138113"/>
            <a:ext cx="2339975" cy="685800"/>
          </a:xfrm>
          <a:prstGeom prst="rect">
            <a:avLst/>
          </a:prstGeom>
          <a:noFill/>
          <a:ln>
            <a:noFill/>
          </a:ln>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练习</a:t>
            </a:r>
          </a:p>
        </p:txBody>
      </p:sp>
      <p:sp>
        <p:nvSpPr>
          <p:cNvPr id="44060" name="Rectangle 29"/>
          <p:cNvSpPr>
            <a:spLocks noChangeArrowheads="1"/>
          </p:cNvSpPr>
          <p:nvPr/>
        </p:nvSpPr>
        <p:spPr bwMode="auto">
          <a:xfrm>
            <a:off x="12700" y="908050"/>
            <a:ext cx="4613275" cy="3886200"/>
          </a:xfrm>
          <a:prstGeom prst="rect">
            <a:avLst/>
          </a:prstGeom>
          <a:solidFill>
            <a:schemeClr val="accent1">
              <a:lumMod val="40000"/>
              <a:lumOff val="60000"/>
            </a:schemeClr>
          </a:solidFill>
          <a:ln w="57150">
            <a:noFill/>
            <a:miter lim="800000"/>
          </a:ln>
        </p:spPr>
        <p:txBody>
          <a:bodyPr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3200" b="0" i="0" u="none" strike="noStrike" kern="1200" cap="none" spc="0" normalizeH="0" baseline="0" noProof="0" dirty="0">
                <a:ln>
                  <a:noFill/>
                </a:ln>
                <a:solidFill>
                  <a:schemeClr val="tx1"/>
                </a:solidFill>
                <a:effectLst/>
                <a:uLnTx/>
                <a:uFillTx/>
                <a:latin typeface="+mn-lt"/>
                <a:ea typeface="+mn-ea"/>
                <a:cs typeface="+mn-ea"/>
                <a:sym typeface="+mn-lt"/>
              </a:rPr>
              <a:t>中序遍历二叉排序树后的结果有什么规律？</a:t>
            </a:r>
          </a:p>
        </p:txBody>
      </p:sp>
    </p:spTree>
    <p:extLst>
      <p:ext uri="{BB962C8B-B14F-4D97-AF65-F5344CB8AC3E}">
        <p14:creationId xmlns:p14="http://schemas.microsoft.com/office/powerpoint/2010/main" val="316418048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00" fill="hold"/>
                                        <p:tgtEl>
                                          <p:spTgt spid="3"/>
                                        </p:tgtEl>
                                        <p:attrNameLst>
                                          <p:attrName>ppt_x</p:attrName>
                                        </p:attrNameLst>
                                      </p:cBhvr>
                                      <p:tavLst>
                                        <p:tav tm="0">
                                          <p:val>
                                            <p:strVal val="#ppt_x"/>
                                          </p:val>
                                        </p:tav>
                                        <p:tav tm="100000">
                                          <p:val>
                                            <p:strVal val="#ppt_x"/>
                                          </p:val>
                                        </p:tav>
                                      </p:tavLst>
                                    </p:anim>
                                    <p:anim calcmode="lin" valueType="num">
                                      <p:cBhvr additive="base">
                                        <p:cTn id="1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015835"/>
                                        </p:tgtEl>
                                        <p:attrNameLst>
                                          <p:attrName>style.visibility</p:attrName>
                                        </p:attrNameLst>
                                      </p:cBhvr>
                                      <p:to>
                                        <p:strVal val="visible"/>
                                      </p:to>
                                    </p:set>
                                    <p:anim calcmode="lin" valueType="num">
                                      <p:cBhvr additive="base">
                                        <p:cTn id="19" dur="500" fill="hold"/>
                                        <p:tgtEl>
                                          <p:spTgt spid="1015835"/>
                                        </p:tgtEl>
                                        <p:attrNameLst>
                                          <p:attrName>ppt_x</p:attrName>
                                        </p:attrNameLst>
                                      </p:cBhvr>
                                      <p:tavLst>
                                        <p:tav tm="0">
                                          <p:val>
                                            <p:strVal val="0-#ppt_w/2"/>
                                          </p:val>
                                        </p:tav>
                                        <p:tav tm="100000">
                                          <p:val>
                                            <p:strVal val="#ppt_x"/>
                                          </p:val>
                                        </p:tav>
                                      </p:tavLst>
                                    </p:anim>
                                    <p:anim calcmode="lin" valueType="num">
                                      <p:cBhvr additive="base">
                                        <p:cTn id="20" dur="500" fill="hold"/>
                                        <p:tgtEl>
                                          <p:spTgt spid="1015835"/>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2"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5835" grpId="0"/>
    </p:bldLst>
  </p:timing>
</p:sld>
</file>

<file path=ppt/slides/slide12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5" name="矩形 24"/>
          <p:cNvSpPr/>
          <p:nvPr/>
        </p:nvSpPr>
        <p:spPr bwMode="auto">
          <a:xfrm>
            <a:off x="5427663" y="1844675"/>
            <a:ext cx="3716338" cy="3671888"/>
          </a:xfrm>
          <a:prstGeom prst="rect">
            <a:avLst/>
          </a:prstGeom>
          <a:solidFill>
            <a:srgbClr val="CCCCFF"/>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3" name="矩形 2"/>
          <p:cNvSpPr/>
          <p:nvPr/>
        </p:nvSpPr>
        <p:spPr bwMode="auto">
          <a:xfrm>
            <a:off x="6350" y="1844675"/>
            <a:ext cx="5332413" cy="3671888"/>
          </a:xfrm>
          <a:prstGeom prst="rect">
            <a:avLst/>
          </a:prstGeom>
          <a:solidFill>
            <a:srgbClr val="EBEBEB"/>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5058" name="Rectangle 95"/>
          <p:cNvSpPr>
            <a:spLocks noChangeArrowheads="1"/>
          </p:cNvSpPr>
          <p:nvPr/>
        </p:nvSpPr>
        <p:spPr bwMode="auto">
          <a:xfrm>
            <a:off x="31750" y="2414588"/>
            <a:ext cx="5519738" cy="267811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457200" marR="0" lvl="1"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若查找的关键字</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等于</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根结点，</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成功</a:t>
            </a:r>
          </a:p>
          <a:p>
            <a:pPr marL="457200" marR="0" lvl="1"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否则</a:t>
            </a:r>
          </a:p>
          <a:p>
            <a:pPr marL="457200" marR="0" lvl="1"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若</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小于</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根结点，查其</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左子树</a:t>
            </a:r>
          </a:p>
          <a:p>
            <a:pPr marL="457200" marR="0" lvl="1"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若</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大于</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根结点，查其</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右子树</a:t>
            </a:r>
          </a:p>
          <a:p>
            <a:pPr marL="457200" marR="0" lvl="1"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在左右子树上的操作类似</a:t>
            </a:r>
          </a:p>
        </p:txBody>
      </p:sp>
      <p:grpSp>
        <p:nvGrpSpPr>
          <p:cNvPr id="2" name="Group 96"/>
          <p:cNvGrpSpPr/>
          <p:nvPr/>
        </p:nvGrpSpPr>
        <p:grpSpPr>
          <a:xfrm>
            <a:off x="6113463" y="2197100"/>
            <a:ext cx="2438400" cy="3200400"/>
            <a:chOff x="2601" y="2034"/>
            <a:chExt cx="1536" cy="2016"/>
          </a:xfrm>
        </p:grpSpPr>
        <p:sp>
          <p:nvSpPr>
            <p:cNvPr id="45060" name="Oval 97"/>
            <p:cNvSpPr>
              <a:spLocks noChangeArrowheads="1"/>
            </p:cNvSpPr>
            <p:nvPr/>
          </p:nvSpPr>
          <p:spPr bwMode="auto">
            <a:xfrm>
              <a:off x="3129" y="2034"/>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1600" b="1" i="0" u="none" strike="noStrike" kern="1200" cap="none" spc="0" normalizeH="0" baseline="0" noProof="0" dirty="0">
                  <a:ln>
                    <a:noFill/>
                  </a:ln>
                  <a:solidFill>
                    <a:schemeClr val="tx1"/>
                  </a:solidFill>
                  <a:effectLst/>
                  <a:uLnTx/>
                  <a:uFillTx/>
                  <a:latin typeface="+mn-lt"/>
                  <a:ea typeface="+mn-ea"/>
                  <a:cs typeface="+mn-ea"/>
                  <a:sym typeface="+mn-lt"/>
                </a:rPr>
                <a:t>122</a:t>
              </a:r>
              <a:endParaRPr kumimoji="0" lang="en-US" altLang="zh-CN" sz="1600" b="1" i="0" u="sng" strike="noStrike" kern="1200" cap="none" spc="0" normalizeH="0" baseline="0" noProof="0" dirty="0">
                <a:ln>
                  <a:noFill/>
                </a:ln>
                <a:solidFill>
                  <a:schemeClr val="tx1"/>
                </a:solidFill>
                <a:effectLst/>
                <a:uLnTx/>
                <a:uFillTx/>
                <a:latin typeface="+mn-lt"/>
                <a:ea typeface="+mn-ea"/>
                <a:cs typeface="+mn-ea"/>
                <a:sym typeface="+mn-lt"/>
              </a:endParaRPr>
            </a:p>
          </p:txBody>
        </p:sp>
        <p:sp>
          <p:nvSpPr>
            <p:cNvPr id="45061" name="Oval 98"/>
            <p:cNvSpPr>
              <a:spLocks noChangeArrowheads="1"/>
            </p:cNvSpPr>
            <p:nvPr/>
          </p:nvSpPr>
          <p:spPr bwMode="auto">
            <a:xfrm>
              <a:off x="3609" y="2466"/>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250</a:t>
              </a:r>
              <a:endParaRPr kumimoji="0" lang="en-US" altLang="zh-CN"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45062" name="Oval 99"/>
            <p:cNvSpPr>
              <a:spLocks noChangeArrowheads="1"/>
            </p:cNvSpPr>
            <p:nvPr/>
          </p:nvSpPr>
          <p:spPr bwMode="auto">
            <a:xfrm>
              <a:off x="3849" y="2898"/>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300</a:t>
              </a:r>
              <a:endParaRPr kumimoji="0" lang="en-US" altLang="zh-CN"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45063" name="Oval 100"/>
            <p:cNvSpPr>
              <a:spLocks noChangeArrowheads="1"/>
            </p:cNvSpPr>
            <p:nvPr/>
          </p:nvSpPr>
          <p:spPr bwMode="auto">
            <a:xfrm>
              <a:off x="2841" y="2946"/>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110</a:t>
              </a:r>
              <a:endParaRPr kumimoji="0" lang="en-US" altLang="zh-CN"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45064" name="Oval 101"/>
            <p:cNvSpPr>
              <a:spLocks noChangeArrowheads="1"/>
            </p:cNvSpPr>
            <p:nvPr/>
          </p:nvSpPr>
          <p:spPr bwMode="auto">
            <a:xfrm>
              <a:off x="3369" y="2898"/>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200</a:t>
              </a:r>
              <a:endParaRPr kumimoji="0" lang="en-US" altLang="zh-CN"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45065" name="Oval 102"/>
            <p:cNvSpPr>
              <a:spLocks noChangeArrowheads="1"/>
            </p:cNvSpPr>
            <p:nvPr/>
          </p:nvSpPr>
          <p:spPr bwMode="auto">
            <a:xfrm>
              <a:off x="2601" y="2514"/>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99</a:t>
              </a:r>
              <a:endParaRPr kumimoji="0" lang="en-US" altLang="zh-CN"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45066" name="Line 103"/>
            <p:cNvSpPr>
              <a:spLocks noChangeShapeType="1"/>
            </p:cNvSpPr>
            <p:nvPr/>
          </p:nvSpPr>
          <p:spPr bwMode="auto">
            <a:xfrm flipH="1">
              <a:off x="2841" y="2226"/>
              <a:ext cx="336" cy="336"/>
            </a:xfrm>
            <a:prstGeom prst="line">
              <a:avLst/>
            </a:prstGeom>
            <a:noFill/>
            <a:ln w="381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5067" name="Line 104"/>
            <p:cNvSpPr>
              <a:spLocks noChangeShapeType="1"/>
            </p:cNvSpPr>
            <p:nvPr/>
          </p:nvSpPr>
          <p:spPr bwMode="auto">
            <a:xfrm>
              <a:off x="3369" y="2226"/>
              <a:ext cx="288" cy="288"/>
            </a:xfrm>
            <a:prstGeom prst="line">
              <a:avLst/>
            </a:prstGeom>
            <a:noFill/>
            <a:ln w="381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5068" name="Line 105"/>
            <p:cNvSpPr>
              <a:spLocks noChangeShapeType="1"/>
            </p:cNvSpPr>
            <p:nvPr/>
          </p:nvSpPr>
          <p:spPr bwMode="auto">
            <a:xfrm>
              <a:off x="3832" y="2674"/>
              <a:ext cx="161" cy="224"/>
            </a:xfrm>
            <a:prstGeom prst="line">
              <a:avLst/>
            </a:prstGeom>
            <a:noFill/>
            <a:ln w="381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45069" name="Line 106"/>
            <p:cNvSpPr>
              <a:spLocks noChangeShapeType="1"/>
            </p:cNvSpPr>
            <p:nvPr/>
          </p:nvSpPr>
          <p:spPr bwMode="auto">
            <a:xfrm flipH="1">
              <a:off x="3561" y="2706"/>
              <a:ext cx="144" cy="192"/>
            </a:xfrm>
            <a:prstGeom prst="line">
              <a:avLst/>
            </a:prstGeom>
            <a:noFill/>
            <a:ln w="381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5070" name="Line 107"/>
            <p:cNvSpPr>
              <a:spLocks noChangeShapeType="1"/>
            </p:cNvSpPr>
            <p:nvPr/>
          </p:nvSpPr>
          <p:spPr bwMode="auto">
            <a:xfrm>
              <a:off x="2793" y="2754"/>
              <a:ext cx="144" cy="192"/>
            </a:xfrm>
            <a:prstGeom prst="line">
              <a:avLst/>
            </a:prstGeom>
            <a:noFill/>
            <a:ln w="381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5071" name="Oval 108"/>
            <p:cNvSpPr>
              <a:spLocks noChangeArrowheads="1"/>
            </p:cNvSpPr>
            <p:nvPr/>
          </p:nvSpPr>
          <p:spPr bwMode="auto">
            <a:xfrm>
              <a:off x="2601" y="3378"/>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105</a:t>
              </a:r>
              <a:endParaRPr kumimoji="0" lang="en-US" altLang="zh-CN"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45072" name="Line 109"/>
            <p:cNvSpPr>
              <a:spLocks noChangeShapeType="1"/>
            </p:cNvSpPr>
            <p:nvPr/>
          </p:nvSpPr>
          <p:spPr bwMode="auto">
            <a:xfrm flipH="1">
              <a:off x="2793" y="3186"/>
              <a:ext cx="144" cy="192"/>
            </a:xfrm>
            <a:prstGeom prst="line">
              <a:avLst/>
            </a:prstGeom>
            <a:noFill/>
            <a:ln w="381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5073" name="Oval 110"/>
            <p:cNvSpPr>
              <a:spLocks noChangeArrowheads="1"/>
            </p:cNvSpPr>
            <p:nvPr/>
          </p:nvSpPr>
          <p:spPr bwMode="auto">
            <a:xfrm>
              <a:off x="3609" y="3378"/>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230</a:t>
              </a:r>
              <a:endParaRPr kumimoji="0" lang="en-US" altLang="zh-CN"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45074" name="Line 111"/>
            <p:cNvSpPr>
              <a:spLocks noChangeShapeType="1"/>
            </p:cNvSpPr>
            <p:nvPr/>
          </p:nvSpPr>
          <p:spPr bwMode="auto">
            <a:xfrm>
              <a:off x="3513" y="3138"/>
              <a:ext cx="192" cy="240"/>
            </a:xfrm>
            <a:prstGeom prst="line">
              <a:avLst/>
            </a:prstGeom>
            <a:noFill/>
            <a:ln w="381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5075" name="Oval 112"/>
            <p:cNvSpPr>
              <a:spLocks noChangeArrowheads="1"/>
            </p:cNvSpPr>
            <p:nvPr/>
          </p:nvSpPr>
          <p:spPr bwMode="auto">
            <a:xfrm>
              <a:off x="3369" y="3810"/>
              <a:ext cx="288" cy="24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1600" b="1" i="0" u="none" strike="noStrike" kern="1200" cap="none" spc="0" normalizeH="0" baseline="0" noProof="0">
                  <a:ln>
                    <a:noFill/>
                  </a:ln>
                  <a:solidFill>
                    <a:schemeClr val="tx1"/>
                  </a:solidFill>
                  <a:effectLst/>
                  <a:uLnTx/>
                  <a:uFillTx/>
                  <a:latin typeface="+mn-lt"/>
                  <a:ea typeface="+mn-ea"/>
                  <a:cs typeface="+mn-ea"/>
                  <a:sym typeface="+mn-lt"/>
                </a:rPr>
                <a:t>216</a:t>
              </a:r>
              <a:endParaRPr kumimoji="0" lang="en-US" altLang="zh-CN" sz="1600" b="1" i="0" u="sng" strike="noStrike" kern="1200" cap="none" spc="0" normalizeH="0" baseline="0" noProof="0">
                <a:ln>
                  <a:noFill/>
                </a:ln>
                <a:solidFill>
                  <a:schemeClr val="tx1"/>
                </a:solidFill>
                <a:effectLst/>
                <a:uLnTx/>
                <a:uFillTx/>
                <a:latin typeface="+mn-lt"/>
                <a:ea typeface="+mn-ea"/>
                <a:cs typeface="+mn-ea"/>
                <a:sym typeface="+mn-lt"/>
              </a:endParaRPr>
            </a:p>
          </p:txBody>
        </p:sp>
        <p:sp>
          <p:nvSpPr>
            <p:cNvPr id="45076" name="Line 113"/>
            <p:cNvSpPr>
              <a:spLocks noChangeShapeType="1"/>
            </p:cNvSpPr>
            <p:nvPr/>
          </p:nvSpPr>
          <p:spPr bwMode="auto">
            <a:xfrm flipH="1">
              <a:off x="3561" y="3618"/>
              <a:ext cx="144" cy="192"/>
            </a:xfrm>
            <a:prstGeom prst="line">
              <a:avLst/>
            </a:prstGeom>
            <a:noFill/>
            <a:ln w="38100">
              <a:solidFill>
                <a:schemeClr val="tx1"/>
              </a:solidFill>
              <a:round/>
              <a:headEnd type="none" w="sm" len="sm"/>
              <a:tailEnd type="none" w="sm" len="sm"/>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51410" name="Freeform 114"/>
          <p:cNvSpPr>
            <a:spLocks noChangeArrowheads="1"/>
          </p:cNvSpPr>
          <p:nvPr/>
        </p:nvSpPr>
        <p:spPr bwMode="auto">
          <a:xfrm>
            <a:off x="5835650" y="2119313"/>
            <a:ext cx="1219200" cy="2165350"/>
          </a:xfrm>
          <a:custGeom>
            <a:avLst/>
            <a:gdLst>
              <a:gd name="T0" fmla="*/ 768 w 768"/>
              <a:gd name="T1" fmla="*/ 52 h 1364"/>
              <a:gd name="T2" fmla="*/ 698 w 768"/>
              <a:gd name="T3" fmla="*/ 0 h 1364"/>
              <a:gd name="T4" fmla="*/ 435 w 768"/>
              <a:gd name="T5" fmla="*/ 7 h 1364"/>
              <a:gd name="T6" fmla="*/ 307 w 768"/>
              <a:gd name="T7" fmla="*/ 32 h 1364"/>
              <a:gd name="T8" fmla="*/ 211 w 768"/>
              <a:gd name="T9" fmla="*/ 135 h 1364"/>
              <a:gd name="T10" fmla="*/ 192 w 768"/>
              <a:gd name="T11" fmla="*/ 173 h 1364"/>
              <a:gd name="T12" fmla="*/ 173 w 768"/>
              <a:gd name="T13" fmla="*/ 237 h 1364"/>
              <a:gd name="T14" fmla="*/ 186 w 768"/>
              <a:gd name="T15" fmla="*/ 564 h 1364"/>
              <a:gd name="T16" fmla="*/ 32 w 768"/>
              <a:gd name="T17" fmla="*/ 685 h 1364"/>
              <a:gd name="T18" fmla="*/ 0 w 768"/>
              <a:gd name="T19" fmla="*/ 775 h 1364"/>
              <a:gd name="T20" fmla="*/ 77 w 768"/>
              <a:gd name="T21" fmla="*/ 922 h 1364"/>
              <a:gd name="T22" fmla="*/ 263 w 768"/>
              <a:gd name="T23" fmla="*/ 973 h 1364"/>
              <a:gd name="T24" fmla="*/ 320 w 768"/>
              <a:gd name="T25" fmla="*/ 992 h 1364"/>
              <a:gd name="T26" fmla="*/ 416 w 768"/>
              <a:gd name="T27" fmla="*/ 1005 h 1364"/>
              <a:gd name="T28" fmla="*/ 320 w 768"/>
              <a:gd name="T29" fmla="*/ 1050 h 1364"/>
              <a:gd name="T30" fmla="*/ 263 w 768"/>
              <a:gd name="T31" fmla="*/ 1114 h 1364"/>
              <a:gd name="T32" fmla="*/ 263 w 768"/>
              <a:gd name="T33" fmla="*/ 1364 h 1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68" h="1364">
                <a:moveTo>
                  <a:pt x="768" y="52"/>
                </a:moveTo>
                <a:cubicBezTo>
                  <a:pt x="750" y="25"/>
                  <a:pt x="728" y="11"/>
                  <a:pt x="698" y="0"/>
                </a:cubicBezTo>
                <a:cubicBezTo>
                  <a:pt x="610" y="2"/>
                  <a:pt x="523" y="3"/>
                  <a:pt x="435" y="7"/>
                </a:cubicBezTo>
                <a:cubicBezTo>
                  <a:pt x="392" y="9"/>
                  <a:pt x="307" y="32"/>
                  <a:pt x="307" y="32"/>
                </a:cubicBezTo>
                <a:cubicBezTo>
                  <a:pt x="269" y="63"/>
                  <a:pt x="246" y="102"/>
                  <a:pt x="211" y="135"/>
                </a:cubicBezTo>
                <a:cubicBezTo>
                  <a:pt x="207" y="149"/>
                  <a:pt x="196" y="159"/>
                  <a:pt x="192" y="173"/>
                </a:cubicBezTo>
                <a:cubicBezTo>
                  <a:pt x="170" y="248"/>
                  <a:pt x="202" y="194"/>
                  <a:pt x="173" y="237"/>
                </a:cubicBezTo>
                <a:cubicBezTo>
                  <a:pt x="138" y="341"/>
                  <a:pt x="125" y="470"/>
                  <a:pt x="186" y="564"/>
                </a:cubicBezTo>
                <a:cubicBezTo>
                  <a:pt x="121" y="605"/>
                  <a:pt x="80" y="622"/>
                  <a:pt x="32" y="685"/>
                </a:cubicBezTo>
                <a:cubicBezTo>
                  <a:pt x="21" y="715"/>
                  <a:pt x="11" y="745"/>
                  <a:pt x="0" y="775"/>
                </a:cubicBezTo>
                <a:cubicBezTo>
                  <a:pt x="5" y="838"/>
                  <a:pt x="8" y="900"/>
                  <a:pt x="77" y="922"/>
                </a:cubicBezTo>
                <a:cubicBezTo>
                  <a:pt x="125" y="957"/>
                  <a:pt x="204" y="964"/>
                  <a:pt x="263" y="973"/>
                </a:cubicBezTo>
                <a:cubicBezTo>
                  <a:pt x="282" y="979"/>
                  <a:pt x="301" y="986"/>
                  <a:pt x="320" y="992"/>
                </a:cubicBezTo>
                <a:cubicBezTo>
                  <a:pt x="351" y="1002"/>
                  <a:pt x="416" y="1005"/>
                  <a:pt x="416" y="1005"/>
                </a:cubicBezTo>
                <a:cubicBezTo>
                  <a:pt x="383" y="1017"/>
                  <a:pt x="354" y="1039"/>
                  <a:pt x="320" y="1050"/>
                </a:cubicBezTo>
                <a:cubicBezTo>
                  <a:pt x="276" y="1080"/>
                  <a:pt x="288" y="1075"/>
                  <a:pt x="263" y="1114"/>
                </a:cubicBezTo>
                <a:cubicBezTo>
                  <a:pt x="240" y="1198"/>
                  <a:pt x="263" y="1280"/>
                  <a:pt x="263" y="1364"/>
                </a:cubicBezTo>
              </a:path>
            </a:pathLst>
          </a:custGeom>
          <a:noFill/>
          <a:ln w="38100">
            <a:solidFill>
              <a:srgbClr val="0000FF"/>
            </a:solidFill>
            <a:round/>
            <a:tailEnd type="triangle" w="med" len="med"/>
          </a:ln>
        </p:spPr>
        <p:txBody>
          <a:bodyP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5078" name="Rectangle 115"/>
          <p:cNvSpPr>
            <a:spLocks noChangeArrowheads="1"/>
          </p:cNvSpPr>
          <p:nvPr/>
        </p:nvSpPr>
        <p:spPr bwMode="auto">
          <a:xfrm>
            <a:off x="827088" y="220663"/>
            <a:ext cx="5395913" cy="515938"/>
          </a:xfrm>
          <a:prstGeom prst="rect">
            <a:avLst/>
          </a:prstGeom>
          <a:noFill/>
          <a:ln>
            <a:noFill/>
          </a:ln>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二叉排序树的操作－查找</a:t>
            </a:r>
          </a:p>
        </p:txBody>
      </p:sp>
    </p:spTree>
    <p:extLst>
      <p:ext uri="{BB962C8B-B14F-4D97-AF65-F5344CB8AC3E}">
        <p14:creationId xmlns:p14="http://schemas.microsoft.com/office/powerpoint/2010/main" val="47066530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ppt_x"/>
                                          </p:val>
                                        </p:tav>
                                        <p:tav tm="100000">
                                          <p:val>
                                            <p:strVal val="#ppt_x"/>
                                          </p:val>
                                        </p:tav>
                                      </p:tavLst>
                                    </p:anim>
                                    <p:anim calcmode="lin" valueType="num">
                                      <p:cBhvr additive="base">
                                        <p:cTn id="8"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0-#ppt_w/2"/>
                                          </p:val>
                                        </p:tav>
                                        <p:tav tm="100000">
                                          <p:val>
                                            <p:strVal val="#ppt_x"/>
                                          </p:val>
                                        </p:tav>
                                      </p:tavLst>
                                    </p:anim>
                                    <p:anim calcmode="lin" valueType="num">
                                      <p:cBhvr additive="base">
                                        <p:cTn id="14"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951410"/>
                                        </p:tgtEl>
                                        <p:attrNameLst>
                                          <p:attrName>style.visibility</p:attrName>
                                        </p:attrNameLst>
                                      </p:cBhvr>
                                      <p:to>
                                        <p:strVal val="visible"/>
                                      </p:to>
                                    </p:set>
                                    <p:anim calcmode="lin" valueType="num">
                                      <p:cBhvr additive="base">
                                        <p:cTn id="19" dur="500" fill="hold"/>
                                        <p:tgtEl>
                                          <p:spTgt spid="951410"/>
                                        </p:tgtEl>
                                        <p:attrNameLst>
                                          <p:attrName>ppt_x</p:attrName>
                                        </p:attrNameLst>
                                      </p:cBhvr>
                                      <p:tavLst>
                                        <p:tav tm="0">
                                          <p:val>
                                            <p:strVal val="0-#ppt_w/2"/>
                                          </p:val>
                                        </p:tav>
                                        <p:tav tm="100000">
                                          <p:val>
                                            <p:strVal val="#ppt_x"/>
                                          </p:val>
                                        </p:tav>
                                      </p:tavLst>
                                    </p:anim>
                                    <p:anim calcmode="lin" valueType="num">
                                      <p:cBhvr additive="base">
                                        <p:cTn id="20" dur="500" fill="hold"/>
                                        <p:tgtEl>
                                          <p:spTgt spid="9514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12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6082" name="Text Box 4"/>
          <p:cNvSpPr txBox="1">
            <a:spLocks noChangeArrowheads="1"/>
          </p:cNvSpPr>
          <p:nvPr/>
        </p:nvSpPr>
        <p:spPr bwMode="auto">
          <a:xfrm>
            <a:off x="260350" y="1182688"/>
            <a:ext cx="8632825" cy="1793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）若二叉排序树为空，则查找失败，返回空指针。</a:t>
            </a:r>
          </a:p>
          <a:p>
            <a:pPr marL="0" marR="0" lvl="0" indent="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2</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）若二叉排序树非空，将给定值</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key</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与根结点的关键字</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T-&gt;</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data.key</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进行比较：</a:t>
            </a:r>
          </a:p>
        </p:txBody>
      </p:sp>
      <p:sp>
        <p:nvSpPr>
          <p:cNvPr id="46083" name="Rectangle 5"/>
          <p:cNvSpPr>
            <a:spLocks noChangeArrowheads="1"/>
          </p:cNvSpPr>
          <p:nvPr/>
        </p:nvSpPr>
        <p:spPr bwMode="auto">
          <a:xfrm>
            <a:off x="684213" y="166688"/>
            <a:ext cx="3775075" cy="606425"/>
          </a:xfrm>
          <a:prstGeom prst="rect">
            <a:avLst/>
          </a:prstGeom>
          <a:noFill/>
          <a:ln>
            <a:noFill/>
          </a:ln>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bg1"/>
                </a:solidFill>
                <a:effectLst/>
                <a:uLnTx/>
                <a:uFillTx/>
                <a:latin typeface="+mn-lt"/>
                <a:ea typeface="+mn-ea"/>
                <a:cs typeface="+mn-ea"/>
                <a:sym typeface="+mn-lt"/>
              </a:rPr>
              <a:t>【</a:t>
            </a: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算法思想</a:t>
            </a:r>
            <a:r>
              <a:rPr kumimoji="0" lang="en-US" altLang="zh-CN" sz="2800" b="0" i="0" u="none" strike="noStrike" kern="1200" cap="none" spc="0" normalizeH="0" baseline="0" noProof="0" dirty="0">
                <a:ln>
                  <a:noFill/>
                </a:ln>
                <a:solidFill>
                  <a:schemeClr val="bg1"/>
                </a:solidFill>
                <a:effectLst/>
                <a:uLnTx/>
                <a:uFillTx/>
                <a:latin typeface="+mn-lt"/>
                <a:ea typeface="+mn-ea"/>
                <a:cs typeface="+mn-ea"/>
                <a:sym typeface="+mn-lt"/>
              </a:rPr>
              <a:t>】</a:t>
            </a:r>
          </a:p>
        </p:txBody>
      </p:sp>
      <p:sp>
        <p:nvSpPr>
          <p:cNvPr id="5" name="Text Box 4"/>
          <p:cNvSpPr txBox="1">
            <a:spLocks noChangeArrowheads="1"/>
          </p:cNvSpPr>
          <p:nvPr/>
        </p:nvSpPr>
        <p:spPr bwMode="auto">
          <a:xfrm>
            <a:off x="1301750" y="3078163"/>
            <a:ext cx="7437438" cy="24193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若</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key</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等于</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T-&gt;</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data.key</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，则查找成功，返回根结点地址；</a:t>
            </a:r>
          </a:p>
          <a:p>
            <a:pPr marL="0" marR="0" lvl="0" indent="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若</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key</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小于</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T-&gt;</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data.key</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，则进一步查找左子树；</a:t>
            </a:r>
          </a:p>
          <a:p>
            <a:pPr marL="0" marR="0" lvl="0" indent="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若</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key</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大于</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T-&gt;</a:t>
            </a:r>
            <a:r>
              <a:rPr kumimoji="0" lang="en-US" altLang="zh-CN" sz="2800" b="0" i="0" u="none" strike="noStrike" kern="1200" cap="none" spc="0" normalizeH="0" baseline="0" noProof="0" dirty="0" err="1">
                <a:ln>
                  <a:noFill/>
                </a:ln>
                <a:solidFill>
                  <a:schemeClr val="tx1"/>
                </a:solidFill>
                <a:effectLst/>
                <a:uLnTx/>
                <a:uFillTx/>
                <a:latin typeface="+mn-lt"/>
                <a:ea typeface="+mn-ea"/>
                <a:cs typeface="+mn-ea"/>
                <a:sym typeface="+mn-lt"/>
              </a:rPr>
              <a:t>data.key</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，则进一步查找右子树。</a:t>
            </a:r>
          </a:p>
        </p:txBody>
      </p:sp>
      <p:grpSp>
        <p:nvGrpSpPr>
          <p:cNvPr id="62468" name="组合 16"/>
          <p:cNvGrpSpPr/>
          <p:nvPr/>
        </p:nvGrpSpPr>
        <p:grpSpPr>
          <a:xfrm>
            <a:off x="477838" y="3189288"/>
            <a:ext cx="657225" cy="663575"/>
            <a:chOff x="4929188" y="1303338"/>
            <a:chExt cx="501650" cy="506412"/>
          </a:xfrm>
        </p:grpSpPr>
        <p:sp>
          <p:nvSpPr>
            <p:cNvPr id="7" name="Freeform 6"/>
            <p:cNvSpPr/>
            <p:nvPr/>
          </p:nvSpPr>
          <p:spPr bwMode="auto">
            <a:xfrm>
              <a:off x="4929188" y="1303338"/>
              <a:ext cx="501650" cy="506412"/>
            </a:xfrm>
            <a:custGeom>
              <a:avLst/>
              <a:gdLst>
                <a:gd name="T0" fmla="*/ 134 w 134"/>
                <a:gd name="T1" fmla="*/ 36 h 135"/>
                <a:gd name="T2" fmla="*/ 134 w 134"/>
                <a:gd name="T3" fmla="*/ 98 h 135"/>
                <a:gd name="T4" fmla="*/ 98 w 134"/>
                <a:gd name="T5" fmla="*/ 135 h 135"/>
                <a:gd name="T6" fmla="*/ 36 w 134"/>
                <a:gd name="T7" fmla="*/ 135 h 135"/>
                <a:gd name="T8" fmla="*/ 0 w 134"/>
                <a:gd name="T9" fmla="*/ 98 h 135"/>
                <a:gd name="T10" fmla="*/ 0 w 134"/>
                <a:gd name="T11" fmla="*/ 36 h 135"/>
                <a:gd name="T12" fmla="*/ 36 w 134"/>
                <a:gd name="T13" fmla="*/ 0 h 135"/>
                <a:gd name="T14" fmla="*/ 134 w 134"/>
                <a:gd name="T15" fmla="*/ 0 h 135"/>
                <a:gd name="T16" fmla="*/ 134 w 134"/>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5">
                  <a:moveTo>
                    <a:pt x="134" y="36"/>
                  </a:moveTo>
                  <a:cubicBezTo>
                    <a:pt x="134" y="98"/>
                    <a:pt x="134" y="98"/>
                    <a:pt x="134" y="98"/>
                  </a:cubicBezTo>
                  <a:cubicBezTo>
                    <a:pt x="134" y="118"/>
                    <a:pt x="118" y="135"/>
                    <a:pt x="98" y="135"/>
                  </a:cubicBezTo>
                  <a:cubicBezTo>
                    <a:pt x="36" y="135"/>
                    <a:pt x="36" y="135"/>
                    <a:pt x="36" y="135"/>
                  </a:cubicBezTo>
                  <a:cubicBezTo>
                    <a:pt x="16" y="135"/>
                    <a:pt x="0" y="118"/>
                    <a:pt x="0" y="98"/>
                  </a:cubicBezTo>
                  <a:cubicBezTo>
                    <a:pt x="0" y="36"/>
                    <a:pt x="0" y="36"/>
                    <a:pt x="0" y="36"/>
                  </a:cubicBezTo>
                  <a:cubicBezTo>
                    <a:pt x="0" y="16"/>
                    <a:pt x="16" y="0"/>
                    <a:pt x="36" y="0"/>
                  </a:cubicBezTo>
                  <a:cubicBezTo>
                    <a:pt x="134" y="0"/>
                    <a:pt x="134" y="0"/>
                    <a:pt x="134" y="0"/>
                  </a:cubicBezTo>
                  <a:lnTo>
                    <a:pt x="134" y="36"/>
                  </a:lnTo>
                  <a:close/>
                </a:path>
              </a:pathLst>
            </a:custGeom>
            <a:solidFill>
              <a:srgbClr val="65A5D9"/>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sp>
          <p:nvSpPr>
            <p:cNvPr id="8" name="Freeform 7"/>
            <p:cNvSpPr/>
            <p:nvPr/>
          </p:nvSpPr>
          <p:spPr bwMode="auto">
            <a:xfrm>
              <a:off x="4995832" y="1359068"/>
              <a:ext cx="371997" cy="205957"/>
            </a:xfrm>
            <a:custGeom>
              <a:avLst/>
              <a:gdLst>
                <a:gd name="T0" fmla="*/ 97 w 99"/>
                <a:gd name="T1" fmla="*/ 44 h 55"/>
                <a:gd name="T2" fmla="*/ 50 w 99"/>
                <a:gd name="T3" fmla="*/ 0 h 55"/>
                <a:gd name="T4" fmla="*/ 3 w 99"/>
                <a:gd name="T5" fmla="*/ 44 h 55"/>
                <a:gd name="T6" fmla="*/ 3 w 99"/>
                <a:gd name="T7" fmla="*/ 53 h 55"/>
                <a:gd name="T8" fmla="*/ 8 w 99"/>
                <a:gd name="T9" fmla="*/ 55 h 55"/>
                <a:gd name="T10" fmla="*/ 12 w 99"/>
                <a:gd name="T11" fmla="*/ 53 h 55"/>
                <a:gd name="T12" fmla="*/ 50 w 99"/>
                <a:gd name="T13" fmla="*/ 18 h 55"/>
                <a:gd name="T14" fmla="*/ 87 w 99"/>
                <a:gd name="T15" fmla="*/ 53 h 55"/>
                <a:gd name="T16" fmla="*/ 92 w 99"/>
                <a:gd name="T17" fmla="*/ 55 h 55"/>
                <a:gd name="T18" fmla="*/ 97 w 99"/>
                <a:gd name="T19" fmla="*/ 53 h 55"/>
                <a:gd name="T20" fmla="*/ 97 w 99"/>
                <a:gd name="T21" fmla="*/ 4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55">
                  <a:moveTo>
                    <a:pt x="97" y="44"/>
                  </a:moveTo>
                  <a:cubicBezTo>
                    <a:pt x="50" y="0"/>
                    <a:pt x="50" y="0"/>
                    <a:pt x="50" y="0"/>
                  </a:cubicBezTo>
                  <a:cubicBezTo>
                    <a:pt x="3" y="44"/>
                    <a:pt x="3" y="44"/>
                    <a:pt x="3" y="44"/>
                  </a:cubicBezTo>
                  <a:cubicBezTo>
                    <a:pt x="1" y="46"/>
                    <a:pt x="0" y="50"/>
                    <a:pt x="3" y="53"/>
                  </a:cubicBezTo>
                  <a:cubicBezTo>
                    <a:pt x="4" y="54"/>
                    <a:pt x="6" y="55"/>
                    <a:pt x="8" y="55"/>
                  </a:cubicBezTo>
                  <a:cubicBezTo>
                    <a:pt x="9" y="55"/>
                    <a:pt x="11" y="54"/>
                    <a:pt x="12" y="53"/>
                  </a:cubicBezTo>
                  <a:cubicBezTo>
                    <a:pt x="50" y="18"/>
                    <a:pt x="50" y="18"/>
                    <a:pt x="50" y="18"/>
                  </a:cubicBezTo>
                  <a:cubicBezTo>
                    <a:pt x="87" y="53"/>
                    <a:pt x="87" y="53"/>
                    <a:pt x="87" y="53"/>
                  </a:cubicBezTo>
                  <a:cubicBezTo>
                    <a:pt x="89" y="54"/>
                    <a:pt x="90" y="55"/>
                    <a:pt x="92" y="55"/>
                  </a:cubicBezTo>
                  <a:cubicBezTo>
                    <a:pt x="94" y="55"/>
                    <a:pt x="96" y="54"/>
                    <a:pt x="97" y="53"/>
                  </a:cubicBezTo>
                  <a:cubicBezTo>
                    <a:pt x="99" y="50"/>
                    <a:pt x="99" y="46"/>
                    <a:pt x="97" y="44"/>
                  </a:cubicBez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sp>
          <p:nvSpPr>
            <p:cNvPr id="9" name="Freeform 8"/>
            <p:cNvSpPr/>
            <p:nvPr/>
          </p:nvSpPr>
          <p:spPr bwMode="auto">
            <a:xfrm>
              <a:off x="5056418" y="1446296"/>
              <a:ext cx="255672" cy="265321"/>
            </a:xfrm>
            <a:custGeom>
              <a:avLst/>
              <a:gdLst>
                <a:gd name="T0" fmla="*/ 0 w 68"/>
                <a:gd name="T1" fmla="*/ 32 h 71"/>
                <a:gd name="T2" fmla="*/ 0 w 68"/>
                <a:gd name="T3" fmla="*/ 68 h 71"/>
                <a:gd name="T4" fmla="*/ 5 w 68"/>
                <a:gd name="T5" fmla="*/ 71 h 71"/>
                <a:gd name="T6" fmla="*/ 22 w 68"/>
                <a:gd name="T7" fmla="*/ 71 h 71"/>
                <a:gd name="T8" fmla="*/ 22 w 68"/>
                <a:gd name="T9" fmla="*/ 44 h 71"/>
                <a:gd name="T10" fmla="*/ 46 w 68"/>
                <a:gd name="T11" fmla="*/ 44 h 71"/>
                <a:gd name="T12" fmla="*/ 46 w 68"/>
                <a:gd name="T13" fmla="*/ 71 h 71"/>
                <a:gd name="T14" fmla="*/ 63 w 68"/>
                <a:gd name="T15" fmla="*/ 71 h 71"/>
                <a:gd name="T16" fmla="*/ 68 w 68"/>
                <a:gd name="T17" fmla="*/ 68 h 71"/>
                <a:gd name="T18" fmla="*/ 68 w 68"/>
                <a:gd name="T19" fmla="*/ 32 h 71"/>
                <a:gd name="T20" fmla="*/ 34 w 68"/>
                <a:gd name="T21" fmla="*/ 0 h 71"/>
                <a:gd name="T22" fmla="*/ 0 w 68"/>
                <a:gd name="T23"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71">
                  <a:moveTo>
                    <a:pt x="0" y="32"/>
                  </a:moveTo>
                  <a:cubicBezTo>
                    <a:pt x="0" y="68"/>
                    <a:pt x="0" y="68"/>
                    <a:pt x="0" y="68"/>
                  </a:cubicBezTo>
                  <a:cubicBezTo>
                    <a:pt x="0" y="70"/>
                    <a:pt x="2" y="71"/>
                    <a:pt x="5" y="71"/>
                  </a:cubicBezTo>
                  <a:cubicBezTo>
                    <a:pt x="22" y="71"/>
                    <a:pt x="22" y="71"/>
                    <a:pt x="22" y="71"/>
                  </a:cubicBezTo>
                  <a:cubicBezTo>
                    <a:pt x="22" y="44"/>
                    <a:pt x="22" y="44"/>
                    <a:pt x="22" y="44"/>
                  </a:cubicBezTo>
                  <a:cubicBezTo>
                    <a:pt x="46" y="44"/>
                    <a:pt x="46" y="44"/>
                    <a:pt x="46" y="44"/>
                  </a:cubicBezTo>
                  <a:cubicBezTo>
                    <a:pt x="46" y="71"/>
                    <a:pt x="46" y="71"/>
                    <a:pt x="46" y="71"/>
                  </a:cubicBezTo>
                  <a:cubicBezTo>
                    <a:pt x="63" y="71"/>
                    <a:pt x="63" y="71"/>
                    <a:pt x="63" y="71"/>
                  </a:cubicBezTo>
                  <a:cubicBezTo>
                    <a:pt x="66" y="71"/>
                    <a:pt x="68" y="70"/>
                    <a:pt x="68" y="68"/>
                  </a:cubicBezTo>
                  <a:cubicBezTo>
                    <a:pt x="68" y="32"/>
                    <a:pt x="68" y="32"/>
                    <a:pt x="68" y="32"/>
                  </a:cubicBezTo>
                  <a:cubicBezTo>
                    <a:pt x="34" y="0"/>
                    <a:pt x="34" y="0"/>
                    <a:pt x="34" y="0"/>
                  </a:cubicBezTo>
                  <a:lnTo>
                    <a:pt x="0" y="32"/>
                  </a:ln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grpSp>
      <p:grpSp>
        <p:nvGrpSpPr>
          <p:cNvPr id="62472" name="组合 20"/>
          <p:cNvGrpSpPr/>
          <p:nvPr/>
        </p:nvGrpSpPr>
        <p:grpSpPr>
          <a:xfrm>
            <a:off x="471488" y="4230688"/>
            <a:ext cx="663575" cy="661987"/>
            <a:chOff x="1339850" y="2163763"/>
            <a:chExt cx="506413" cy="506412"/>
          </a:xfrm>
        </p:grpSpPr>
        <p:sp>
          <p:nvSpPr>
            <p:cNvPr id="11" name="Freeform 13"/>
            <p:cNvSpPr/>
            <p:nvPr/>
          </p:nvSpPr>
          <p:spPr bwMode="auto">
            <a:xfrm>
              <a:off x="1339850" y="2163763"/>
              <a:ext cx="506413" cy="506412"/>
            </a:xfrm>
            <a:custGeom>
              <a:avLst/>
              <a:gdLst>
                <a:gd name="T0" fmla="*/ 135 w 135"/>
                <a:gd name="T1" fmla="*/ 36 h 135"/>
                <a:gd name="T2" fmla="*/ 135 w 135"/>
                <a:gd name="T3" fmla="*/ 98 h 135"/>
                <a:gd name="T4" fmla="*/ 98 w 135"/>
                <a:gd name="T5" fmla="*/ 135 h 135"/>
                <a:gd name="T6" fmla="*/ 37 w 135"/>
                <a:gd name="T7" fmla="*/ 135 h 135"/>
                <a:gd name="T8" fmla="*/ 0 w 135"/>
                <a:gd name="T9" fmla="*/ 98 h 135"/>
                <a:gd name="T10" fmla="*/ 0 w 135"/>
                <a:gd name="T11" fmla="*/ 36 h 135"/>
                <a:gd name="T12" fmla="*/ 37 w 135"/>
                <a:gd name="T13" fmla="*/ 0 h 135"/>
                <a:gd name="T14" fmla="*/ 135 w 135"/>
                <a:gd name="T15" fmla="*/ 0 h 135"/>
                <a:gd name="T16" fmla="*/ 135 w 135"/>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5">
                  <a:moveTo>
                    <a:pt x="135" y="36"/>
                  </a:moveTo>
                  <a:cubicBezTo>
                    <a:pt x="135" y="98"/>
                    <a:pt x="135" y="98"/>
                    <a:pt x="135" y="98"/>
                  </a:cubicBezTo>
                  <a:cubicBezTo>
                    <a:pt x="135" y="118"/>
                    <a:pt x="118" y="135"/>
                    <a:pt x="98" y="135"/>
                  </a:cubicBezTo>
                  <a:cubicBezTo>
                    <a:pt x="37" y="135"/>
                    <a:pt x="37" y="135"/>
                    <a:pt x="37" y="135"/>
                  </a:cubicBezTo>
                  <a:cubicBezTo>
                    <a:pt x="16" y="135"/>
                    <a:pt x="0" y="118"/>
                    <a:pt x="0" y="98"/>
                  </a:cubicBezTo>
                  <a:cubicBezTo>
                    <a:pt x="0" y="36"/>
                    <a:pt x="0" y="36"/>
                    <a:pt x="0" y="36"/>
                  </a:cubicBezTo>
                  <a:cubicBezTo>
                    <a:pt x="0" y="16"/>
                    <a:pt x="16" y="0"/>
                    <a:pt x="37" y="0"/>
                  </a:cubicBezTo>
                  <a:cubicBezTo>
                    <a:pt x="135" y="0"/>
                    <a:pt x="135" y="0"/>
                    <a:pt x="135" y="0"/>
                  </a:cubicBezTo>
                  <a:lnTo>
                    <a:pt x="135" y="36"/>
                  </a:lnTo>
                  <a:close/>
                </a:path>
              </a:pathLst>
            </a:custGeom>
            <a:solidFill>
              <a:schemeClr val="tx1">
                <a:lumMod val="50000"/>
                <a:lumOff val="50000"/>
              </a:schemeClr>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sp>
          <p:nvSpPr>
            <p:cNvPr id="12" name="Freeform 14"/>
            <p:cNvSpPr/>
            <p:nvPr/>
          </p:nvSpPr>
          <p:spPr bwMode="auto">
            <a:xfrm>
              <a:off x="1499770" y="2276704"/>
              <a:ext cx="176881" cy="104440"/>
            </a:xfrm>
            <a:custGeom>
              <a:avLst/>
              <a:gdLst>
                <a:gd name="T0" fmla="*/ 111 w 111"/>
                <a:gd name="T1" fmla="*/ 0 h 66"/>
                <a:gd name="T2" fmla="*/ 55 w 111"/>
                <a:gd name="T3" fmla="*/ 0 h 66"/>
                <a:gd name="T4" fmla="*/ 55 w 111"/>
                <a:gd name="T5" fmla="*/ 54 h 66"/>
                <a:gd name="T6" fmla="*/ 14 w 111"/>
                <a:gd name="T7" fmla="*/ 54 h 66"/>
                <a:gd name="T8" fmla="*/ 14 w 111"/>
                <a:gd name="T9" fmla="*/ 0 h 66"/>
                <a:gd name="T10" fmla="*/ 0 w 111"/>
                <a:gd name="T11" fmla="*/ 0 h 66"/>
                <a:gd name="T12" fmla="*/ 0 w 111"/>
                <a:gd name="T13" fmla="*/ 66 h 66"/>
                <a:gd name="T14" fmla="*/ 111 w 111"/>
                <a:gd name="T15" fmla="*/ 66 h 66"/>
                <a:gd name="T16" fmla="*/ 111 w 111"/>
                <a:gd name="T1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6">
                  <a:moveTo>
                    <a:pt x="111" y="0"/>
                  </a:moveTo>
                  <a:lnTo>
                    <a:pt x="55" y="0"/>
                  </a:lnTo>
                  <a:lnTo>
                    <a:pt x="55" y="54"/>
                  </a:lnTo>
                  <a:lnTo>
                    <a:pt x="14" y="54"/>
                  </a:lnTo>
                  <a:lnTo>
                    <a:pt x="14" y="0"/>
                  </a:lnTo>
                  <a:lnTo>
                    <a:pt x="0" y="0"/>
                  </a:lnTo>
                  <a:lnTo>
                    <a:pt x="0" y="66"/>
                  </a:lnTo>
                  <a:lnTo>
                    <a:pt x="111" y="66"/>
                  </a:lnTo>
                  <a:lnTo>
                    <a:pt x="111" y="0"/>
                  </a:ln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sp>
          <p:nvSpPr>
            <p:cNvPr id="13" name="Freeform 15"/>
            <p:cNvSpPr>
              <a:spLocks noEditPoints="1"/>
            </p:cNvSpPr>
            <p:nvPr/>
          </p:nvSpPr>
          <p:spPr bwMode="auto">
            <a:xfrm>
              <a:off x="1447674" y="2276704"/>
              <a:ext cx="289552" cy="278102"/>
            </a:xfrm>
            <a:custGeom>
              <a:avLst/>
              <a:gdLst>
                <a:gd name="T0" fmla="*/ 72 w 77"/>
                <a:gd name="T1" fmla="*/ 0 h 74"/>
                <a:gd name="T2" fmla="*/ 64 w 77"/>
                <a:gd name="T3" fmla="*/ 0 h 74"/>
                <a:gd name="T4" fmla="*/ 64 w 77"/>
                <a:gd name="T5" fmla="*/ 31 h 74"/>
                <a:gd name="T6" fmla="*/ 10 w 77"/>
                <a:gd name="T7" fmla="*/ 31 h 74"/>
                <a:gd name="T8" fmla="*/ 10 w 77"/>
                <a:gd name="T9" fmla="*/ 0 h 74"/>
                <a:gd name="T10" fmla="*/ 5 w 77"/>
                <a:gd name="T11" fmla="*/ 0 h 74"/>
                <a:gd name="T12" fmla="*/ 0 w 77"/>
                <a:gd name="T13" fmla="*/ 6 h 74"/>
                <a:gd name="T14" fmla="*/ 0 w 77"/>
                <a:gd name="T15" fmla="*/ 68 h 74"/>
                <a:gd name="T16" fmla="*/ 5 w 77"/>
                <a:gd name="T17" fmla="*/ 74 h 74"/>
                <a:gd name="T18" fmla="*/ 72 w 77"/>
                <a:gd name="T19" fmla="*/ 74 h 74"/>
                <a:gd name="T20" fmla="*/ 77 w 77"/>
                <a:gd name="T21" fmla="*/ 68 h 74"/>
                <a:gd name="T22" fmla="*/ 77 w 77"/>
                <a:gd name="T23" fmla="*/ 6 h 74"/>
                <a:gd name="T24" fmla="*/ 72 w 77"/>
                <a:gd name="T25" fmla="*/ 0 h 74"/>
                <a:gd name="T26" fmla="*/ 38 w 77"/>
                <a:gd name="T27" fmla="*/ 65 h 74"/>
                <a:gd name="T28" fmla="*/ 22 w 77"/>
                <a:gd name="T29" fmla="*/ 49 h 74"/>
                <a:gd name="T30" fmla="*/ 38 w 77"/>
                <a:gd name="T31" fmla="*/ 33 h 74"/>
                <a:gd name="T32" fmla="*/ 54 w 77"/>
                <a:gd name="T33" fmla="*/ 49 h 74"/>
                <a:gd name="T34" fmla="*/ 38 w 77"/>
                <a:gd name="T35" fmla="*/ 6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4">
                  <a:moveTo>
                    <a:pt x="72" y="0"/>
                  </a:moveTo>
                  <a:cubicBezTo>
                    <a:pt x="64" y="0"/>
                    <a:pt x="64" y="0"/>
                    <a:pt x="64" y="0"/>
                  </a:cubicBezTo>
                  <a:cubicBezTo>
                    <a:pt x="64" y="31"/>
                    <a:pt x="64" y="31"/>
                    <a:pt x="64" y="31"/>
                  </a:cubicBezTo>
                  <a:cubicBezTo>
                    <a:pt x="10" y="31"/>
                    <a:pt x="10" y="31"/>
                    <a:pt x="10" y="31"/>
                  </a:cubicBezTo>
                  <a:cubicBezTo>
                    <a:pt x="10" y="0"/>
                    <a:pt x="10" y="0"/>
                    <a:pt x="10" y="0"/>
                  </a:cubicBezTo>
                  <a:cubicBezTo>
                    <a:pt x="5" y="0"/>
                    <a:pt x="5" y="0"/>
                    <a:pt x="5" y="0"/>
                  </a:cubicBezTo>
                  <a:cubicBezTo>
                    <a:pt x="2" y="0"/>
                    <a:pt x="0" y="3"/>
                    <a:pt x="0" y="6"/>
                  </a:cubicBezTo>
                  <a:cubicBezTo>
                    <a:pt x="0" y="68"/>
                    <a:pt x="0" y="68"/>
                    <a:pt x="0" y="68"/>
                  </a:cubicBezTo>
                  <a:cubicBezTo>
                    <a:pt x="0" y="72"/>
                    <a:pt x="2" y="74"/>
                    <a:pt x="5" y="74"/>
                  </a:cubicBezTo>
                  <a:cubicBezTo>
                    <a:pt x="72" y="74"/>
                    <a:pt x="72" y="74"/>
                    <a:pt x="72" y="74"/>
                  </a:cubicBezTo>
                  <a:cubicBezTo>
                    <a:pt x="75" y="74"/>
                    <a:pt x="77" y="72"/>
                    <a:pt x="77" y="68"/>
                  </a:cubicBezTo>
                  <a:cubicBezTo>
                    <a:pt x="77" y="6"/>
                    <a:pt x="77" y="6"/>
                    <a:pt x="77" y="6"/>
                  </a:cubicBezTo>
                  <a:cubicBezTo>
                    <a:pt x="77" y="3"/>
                    <a:pt x="75" y="0"/>
                    <a:pt x="72" y="0"/>
                  </a:cubicBezTo>
                  <a:close/>
                  <a:moveTo>
                    <a:pt x="38" y="65"/>
                  </a:moveTo>
                  <a:cubicBezTo>
                    <a:pt x="29" y="65"/>
                    <a:pt x="22" y="58"/>
                    <a:pt x="22" y="49"/>
                  </a:cubicBezTo>
                  <a:cubicBezTo>
                    <a:pt x="22" y="40"/>
                    <a:pt x="29" y="33"/>
                    <a:pt x="38" y="33"/>
                  </a:cubicBezTo>
                  <a:cubicBezTo>
                    <a:pt x="46" y="33"/>
                    <a:pt x="54" y="40"/>
                    <a:pt x="54" y="49"/>
                  </a:cubicBezTo>
                  <a:cubicBezTo>
                    <a:pt x="54" y="58"/>
                    <a:pt x="46" y="65"/>
                    <a:pt x="38" y="65"/>
                  </a:cubicBez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sp>
          <p:nvSpPr>
            <p:cNvPr id="14" name="Oval 16"/>
            <p:cNvSpPr>
              <a:spLocks noChangeArrowheads="1"/>
            </p:cNvSpPr>
            <p:nvPr/>
          </p:nvSpPr>
          <p:spPr bwMode="auto">
            <a:xfrm>
              <a:off x="1549442" y="2418791"/>
              <a:ext cx="82383" cy="82580"/>
            </a:xfrm>
            <a:prstGeom prst="ellipse">
              <a:avLst/>
            </a:prstGeom>
            <a:solidFill>
              <a:srgbClr val="ECECEB"/>
            </a:solidFill>
            <a:ln>
              <a:noFill/>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1" fontAlgn="base" latinLnBrk="0" hangingPunct="1">
                <a:lnSpc>
                  <a:spcPct val="100000"/>
                </a:lnSpc>
                <a:spcBef>
                  <a:spcPct val="20000"/>
                </a:spcBef>
                <a:spcAft>
                  <a:spcPct val="0"/>
                </a:spcAft>
                <a:buClrTx/>
                <a:buSzTx/>
                <a:buFontTx/>
                <a:buNone/>
                <a:defRPr/>
              </a:pPr>
              <a:endParaRPr kumimoji="0" lang="zh-CN" altLang="en-US" sz="1800" b="1" i="0" u="none" strike="noStrike" kern="1200" cap="none" spc="0" normalizeH="0" baseline="0" noProof="0">
                <a:ln>
                  <a:noFill/>
                </a:ln>
                <a:solidFill>
                  <a:srgbClr val="000000"/>
                </a:solidFill>
                <a:effectLst/>
                <a:uLnTx/>
                <a:uFillTx/>
                <a:latin typeface="+mn-lt"/>
                <a:ea typeface="+mn-ea"/>
                <a:cs typeface="+mn-ea"/>
                <a:sym typeface="+mn-lt"/>
              </a:endParaRPr>
            </a:p>
          </p:txBody>
        </p:sp>
      </p:grpSp>
      <p:grpSp>
        <p:nvGrpSpPr>
          <p:cNvPr id="62477" name="组合 25"/>
          <p:cNvGrpSpPr/>
          <p:nvPr/>
        </p:nvGrpSpPr>
        <p:grpSpPr>
          <a:xfrm>
            <a:off x="477838" y="4997450"/>
            <a:ext cx="657225" cy="663575"/>
            <a:chOff x="5093055" y="2766720"/>
            <a:chExt cx="501650" cy="506413"/>
          </a:xfrm>
        </p:grpSpPr>
        <p:sp>
          <p:nvSpPr>
            <p:cNvPr id="16" name="Freeform 21"/>
            <p:cNvSpPr/>
            <p:nvPr/>
          </p:nvSpPr>
          <p:spPr bwMode="auto">
            <a:xfrm>
              <a:off x="5093055" y="2766720"/>
              <a:ext cx="501650" cy="506413"/>
            </a:xfrm>
            <a:custGeom>
              <a:avLst/>
              <a:gdLst>
                <a:gd name="T0" fmla="*/ 134 w 134"/>
                <a:gd name="T1" fmla="*/ 37 h 135"/>
                <a:gd name="T2" fmla="*/ 134 w 134"/>
                <a:gd name="T3" fmla="*/ 98 h 135"/>
                <a:gd name="T4" fmla="*/ 98 w 134"/>
                <a:gd name="T5" fmla="*/ 135 h 135"/>
                <a:gd name="T6" fmla="*/ 36 w 134"/>
                <a:gd name="T7" fmla="*/ 135 h 135"/>
                <a:gd name="T8" fmla="*/ 0 w 134"/>
                <a:gd name="T9" fmla="*/ 98 h 135"/>
                <a:gd name="T10" fmla="*/ 0 w 134"/>
                <a:gd name="T11" fmla="*/ 37 h 135"/>
                <a:gd name="T12" fmla="*/ 36 w 134"/>
                <a:gd name="T13" fmla="*/ 0 h 135"/>
                <a:gd name="T14" fmla="*/ 134 w 134"/>
                <a:gd name="T15" fmla="*/ 0 h 135"/>
                <a:gd name="T16" fmla="*/ 134 w 134"/>
                <a:gd name="T17" fmla="*/ 3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5">
                  <a:moveTo>
                    <a:pt x="134" y="37"/>
                  </a:moveTo>
                  <a:cubicBezTo>
                    <a:pt x="134" y="98"/>
                    <a:pt x="134" y="98"/>
                    <a:pt x="134" y="98"/>
                  </a:cubicBezTo>
                  <a:cubicBezTo>
                    <a:pt x="134" y="118"/>
                    <a:pt x="118" y="135"/>
                    <a:pt x="98" y="135"/>
                  </a:cubicBezTo>
                  <a:cubicBezTo>
                    <a:pt x="36" y="135"/>
                    <a:pt x="36" y="135"/>
                    <a:pt x="36" y="135"/>
                  </a:cubicBezTo>
                  <a:cubicBezTo>
                    <a:pt x="16" y="135"/>
                    <a:pt x="0" y="118"/>
                    <a:pt x="0" y="98"/>
                  </a:cubicBezTo>
                  <a:cubicBezTo>
                    <a:pt x="0" y="37"/>
                    <a:pt x="0" y="37"/>
                    <a:pt x="0" y="37"/>
                  </a:cubicBezTo>
                  <a:cubicBezTo>
                    <a:pt x="0" y="16"/>
                    <a:pt x="16" y="0"/>
                    <a:pt x="36" y="0"/>
                  </a:cubicBezTo>
                  <a:cubicBezTo>
                    <a:pt x="134" y="0"/>
                    <a:pt x="134" y="0"/>
                    <a:pt x="134" y="0"/>
                  </a:cubicBezTo>
                  <a:lnTo>
                    <a:pt x="134" y="37"/>
                  </a:lnTo>
                  <a:close/>
                </a:path>
              </a:pathLst>
            </a:custGeom>
            <a:solidFill>
              <a:srgbClr val="9476B6"/>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dirty="0">
                <a:ln>
                  <a:noFill/>
                </a:ln>
                <a:solidFill>
                  <a:sysClr val="windowText" lastClr="000000"/>
                </a:solidFill>
                <a:effectLst/>
                <a:uLnTx/>
                <a:uFillTx/>
                <a:latin typeface="+mn-lt"/>
                <a:ea typeface="+mn-ea"/>
                <a:cs typeface="+mn-ea"/>
                <a:sym typeface="+mn-lt"/>
              </a:endParaRPr>
            </a:p>
          </p:txBody>
        </p:sp>
        <p:sp>
          <p:nvSpPr>
            <p:cNvPr id="17" name="Oval 22"/>
            <p:cNvSpPr>
              <a:spLocks noChangeArrowheads="1"/>
            </p:cNvSpPr>
            <p:nvPr/>
          </p:nvSpPr>
          <p:spPr bwMode="auto">
            <a:xfrm>
              <a:off x="5200897" y="3069599"/>
              <a:ext cx="98149" cy="99344"/>
            </a:xfrm>
            <a:prstGeom prst="ellipse">
              <a:avLst/>
            </a:prstGeom>
            <a:solidFill>
              <a:srgbClr val="ECECEB"/>
            </a:solidFill>
            <a:ln>
              <a:noFill/>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1" fontAlgn="base" latinLnBrk="0" hangingPunct="1">
                <a:lnSpc>
                  <a:spcPct val="100000"/>
                </a:lnSpc>
                <a:spcBef>
                  <a:spcPct val="20000"/>
                </a:spcBef>
                <a:spcAft>
                  <a:spcPct val="0"/>
                </a:spcAft>
                <a:buClrTx/>
                <a:buSzTx/>
                <a:buFontTx/>
                <a:buNone/>
                <a:defRPr/>
              </a:pPr>
              <a:endParaRPr kumimoji="0" lang="zh-CN" altLang="en-US" sz="1800" b="1"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8" name="Freeform 23"/>
            <p:cNvSpPr/>
            <p:nvPr/>
          </p:nvSpPr>
          <p:spPr bwMode="auto">
            <a:xfrm>
              <a:off x="5211803" y="2970254"/>
              <a:ext cx="181757" cy="179304"/>
            </a:xfrm>
            <a:custGeom>
              <a:avLst/>
              <a:gdLst>
                <a:gd name="T0" fmla="*/ 6 w 48"/>
                <a:gd name="T1" fmla="*/ 0 h 48"/>
                <a:gd name="T2" fmla="*/ 0 w 48"/>
                <a:gd name="T3" fmla="*/ 7 h 48"/>
                <a:gd name="T4" fmla="*/ 6 w 48"/>
                <a:gd name="T5" fmla="*/ 13 h 48"/>
                <a:gd name="T6" fmla="*/ 35 w 48"/>
                <a:gd name="T7" fmla="*/ 42 h 48"/>
                <a:gd name="T8" fmla="*/ 42 w 48"/>
                <a:gd name="T9" fmla="*/ 48 h 48"/>
                <a:gd name="T10" fmla="*/ 48 w 48"/>
                <a:gd name="T11" fmla="*/ 42 h 48"/>
                <a:gd name="T12" fmla="*/ 6 w 48"/>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48" h="48">
                  <a:moveTo>
                    <a:pt x="6" y="0"/>
                  </a:moveTo>
                  <a:cubicBezTo>
                    <a:pt x="3" y="0"/>
                    <a:pt x="0" y="3"/>
                    <a:pt x="0" y="7"/>
                  </a:cubicBezTo>
                  <a:cubicBezTo>
                    <a:pt x="0" y="10"/>
                    <a:pt x="3" y="13"/>
                    <a:pt x="6" y="13"/>
                  </a:cubicBezTo>
                  <a:cubicBezTo>
                    <a:pt x="22" y="13"/>
                    <a:pt x="35" y="26"/>
                    <a:pt x="35" y="42"/>
                  </a:cubicBezTo>
                  <a:cubicBezTo>
                    <a:pt x="35" y="45"/>
                    <a:pt x="38" y="48"/>
                    <a:pt x="42" y="48"/>
                  </a:cubicBezTo>
                  <a:cubicBezTo>
                    <a:pt x="45" y="48"/>
                    <a:pt x="48" y="45"/>
                    <a:pt x="48" y="42"/>
                  </a:cubicBezTo>
                  <a:cubicBezTo>
                    <a:pt x="48" y="19"/>
                    <a:pt x="29" y="0"/>
                    <a:pt x="6" y="0"/>
                  </a:cubicBez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sp>
          <p:nvSpPr>
            <p:cNvPr id="19" name="Freeform 24"/>
            <p:cNvSpPr/>
            <p:nvPr/>
          </p:nvSpPr>
          <p:spPr bwMode="auto">
            <a:xfrm>
              <a:off x="5211803" y="2870910"/>
              <a:ext cx="278694" cy="278648"/>
            </a:xfrm>
            <a:custGeom>
              <a:avLst/>
              <a:gdLst>
                <a:gd name="T0" fmla="*/ 6 w 74"/>
                <a:gd name="T1" fmla="*/ 0 h 74"/>
                <a:gd name="T2" fmla="*/ 0 w 74"/>
                <a:gd name="T3" fmla="*/ 7 h 74"/>
                <a:gd name="T4" fmla="*/ 6 w 74"/>
                <a:gd name="T5" fmla="*/ 13 h 74"/>
                <a:gd name="T6" fmla="*/ 61 w 74"/>
                <a:gd name="T7" fmla="*/ 68 h 74"/>
                <a:gd name="T8" fmla="*/ 68 w 74"/>
                <a:gd name="T9" fmla="*/ 74 h 74"/>
                <a:gd name="T10" fmla="*/ 74 w 74"/>
                <a:gd name="T11" fmla="*/ 68 h 74"/>
                <a:gd name="T12" fmla="*/ 6 w 74"/>
                <a:gd name="T13" fmla="*/ 0 h 74"/>
              </a:gdLst>
              <a:ahLst/>
              <a:cxnLst>
                <a:cxn ang="0">
                  <a:pos x="T0" y="T1"/>
                </a:cxn>
                <a:cxn ang="0">
                  <a:pos x="T2" y="T3"/>
                </a:cxn>
                <a:cxn ang="0">
                  <a:pos x="T4" y="T5"/>
                </a:cxn>
                <a:cxn ang="0">
                  <a:pos x="T6" y="T7"/>
                </a:cxn>
                <a:cxn ang="0">
                  <a:pos x="T8" y="T9"/>
                </a:cxn>
                <a:cxn ang="0">
                  <a:pos x="T10" y="T11"/>
                </a:cxn>
                <a:cxn ang="0">
                  <a:pos x="T12" y="T13"/>
                </a:cxn>
              </a:cxnLst>
              <a:rect l="0" t="0" r="r" b="b"/>
              <a:pathLst>
                <a:path w="74" h="74">
                  <a:moveTo>
                    <a:pt x="6" y="0"/>
                  </a:moveTo>
                  <a:cubicBezTo>
                    <a:pt x="3" y="0"/>
                    <a:pt x="0" y="3"/>
                    <a:pt x="0" y="7"/>
                  </a:cubicBezTo>
                  <a:cubicBezTo>
                    <a:pt x="0" y="10"/>
                    <a:pt x="3" y="13"/>
                    <a:pt x="6" y="13"/>
                  </a:cubicBezTo>
                  <a:cubicBezTo>
                    <a:pt x="37" y="13"/>
                    <a:pt x="61" y="38"/>
                    <a:pt x="61" y="68"/>
                  </a:cubicBezTo>
                  <a:cubicBezTo>
                    <a:pt x="61" y="71"/>
                    <a:pt x="64" y="74"/>
                    <a:pt x="68" y="74"/>
                  </a:cubicBezTo>
                  <a:cubicBezTo>
                    <a:pt x="71" y="74"/>
                    <a:pt x="74" y="71"/>
                    <a:pt x="74" y="68"/>
                  </a:cubicBezTo>
                  <a:cubicBezTo>
                    <a:pt x="74" y="30"/>
                    <a:pt x="44" y="0"/>
                    <a:pt x="6" y="0"/>
                  </a:cubicBezTo>
                  <a:close/>
                </a:path>
              </a:pathLst>
            </a:custGeom>
            <a:solidFill>
              <a:srgbClr val="ECECEB"/>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1800" b="1" i="0" u="none" strike="noStrike" kern="0" cap="none" spc="0" normalizeH="0" baseline="0" noProof="0">
                <a:ln>
                  <a:noFill/>
                </a:ln>
                <a:solidFill>
                  <a:sysClr val="windowText" lastClr="000000"/>
                </a:solidFill>
                <a:effectLst/>
                <a:uLnTx/>
                <a:uFillTx/>
                <a:latin typeface="+mn-lt"/>
                <a:ea typeface="+mn-ea"/>
                <a:cs typeface="+mn-ea"/>
                <a:sym typeface="+mn-lt"/>
              </a:endParaRPr>
            </a:p>
          </p:txBody>
        </p:sp>
      </p:grpSp>
    </p:spTree>
    <p:extLst>
      <p:ext uri="{BB962C8B-B14F-4D97-AF65-F5344CB8AC3E}">
        <p14:creationId xmlns:p14="http://schemas.microsoft.com/office/powerpoint/2010/main" val="360451116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矩形 1"/>
          <p:cNvSpPr/>
          <p:nvPr/>
        </p:nvSpPr>
        <p:spPr bwMode="auto">
          <a:xfrm>
            <a:off x="0" y="1484313"/>
            <a:ext cx="9144000" cy="4248150"/>
          </a:xfrm>
          <a:prstGeom prst="rect">
            <a:avLst/>
          </a:prstGeom>
          <a:solidFill>
            <a:srgbClr val="EBEBEB"/>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7106" name="Rectangle 4"/>
          <p:cNvSpPr>
            <a:spLocks noChangeArrowheads="1"/>
          </p:cNvSpPr>
          <p:nvPr/>
        </p:nvSpPr>
        <p:spPr bwMode="auto">
          <a:xfrm>
            <a:off x="415925" y="1484313"/>
            <a:ext cx="8458200" cy="4248150"/>
          </a:xfrm>
          <a:prstGeom prst="rect">
            <a:avLst/>
          </a:prstGeom>
          <a:noFill/>
          <a:ln>
            <a:noFill/>
          </a:ln>
        </p:spPr>
        <p:txBody>
          <a:bodyPr/>
          <a:lstStyle>
            <a:lvl1pPr marL="342900" indent="-342900">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342900" marR="0" lvl="0" indent="-34290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BSTree</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SearchBST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BSTree</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T,KeyType</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key) </a:t>
            </a:r>
          </a:p>
          <a:p>
            <a:pPr marL="342900" marR="0" lvl="0" indent="-34290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p>
          <a:p>
            <a:pPr marL="342900" marR="0" lvl="0" indent="-34290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if((!T) || key==T-&gt;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data.key</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return T;       	 </a:t>
            </a:r>
          </a:p>
          <a:p>
            <a:pPr marL="342900" marR="0" lvl="0" indent="-34290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else if (key&lt;T-&gt;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data.key</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return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SearchBST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(T-&gt;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lchild,key</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在左子树中继续查找</a:t>
            </a:r>
          </a:p>
          <a:p>
            <a:pPr marL="342900" marR="0" lvl="0" indent="-34290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else return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SearchBST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(T-&gt;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rchild,key</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在右子树中继续查找</a:t>
            </a:r>
          </a:p>
          <a:p>
            <a:pPr marL="342900" marR="0" lvl="0" indent="-34290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SearchBST</a:t>
            </a: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47107" name="Rectangle 5"/>
          <p:cNvSpPr>
            <a:spLocks noChangeArrowheads="1"/>
          </p:cNvSpPr>
          <p:nvPr/>
        </p:nvSpPr>
        <p:spPr bwMode="auto">
          <a:xfrm>
            <a:off x="684213" y="153988"/>
            <a:ext cx="3775075" cy="606425"/>
          </a:xfrm>
          <a:prstGeom prst="rect">
            <a:avLst/>
          </a:prstGeom>
          <a:noFill/>
          <a:ln>
            <a:noFill/>
          </a:ln>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bg1"/>
                </a:solidFill>
                <a:effectLst/>
                <a:uLnTx/>
                <a:uFillTx/>
                <a:latin typeface="+mn-lt"/>
                <a:ea typeface="+mn-ea"/>
                <a:cs typeface="+mn-ea"/>
                <a:sym typeface="+mn-lt"/>
              </a:rPr>
              <a:t>【</a:t>
            </a: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算法描述</a:t>
            </a:r>
            <a:r>
              <a:rPr kumimoji="0" lang="en-US" altLang="zh-CN" sz="2800" b="0" i="0" u="none" strike="noStrike" kern="1200" cap="none" spc="0" normalizeH="0" baseline="0" noProof="0" dirty="0">
                <a:ln>
                  <a:noFill/>
                </a:ln>
                <a:solidFill>
                  <a:schemeClr val="bg1"/>
                </a:solidFill>
                <a:effectLst/>
                <a:uLnTx/>
                <a:uFillTx/>
                <a:latin typeface="+mn-lt"/>
                <a:ea typeface="+mn-ea"/>
                <a:cs typeface="+mn-ea"/>
                <a:sym typeface="+mn-lt"/>
              </a:rPr>
              <a:t>】</a:t>
            </a:r>
          </a:p>
        </p:txBody>
      </p:sp>
    </p:spTree>
    <p:extLst>
      <p:ext uri="{BB962C8B-B14F-4D97-AF65-F5344CB8AC3E}">
        <p14:creationId xmlns:p14="http://schemas.microsoft.com/office/powerpoint/2010/main" val="424811298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矩形 1"/>
          <p:cNvSpPr/>
          <p:nvPr/>
        </p:nvSpPr>
        <p:spPr bwMode="auto">
          <a:xfrm>
            <a:off x="0" y="2663825"/>
            <a:ext cx="9144000" cy="2493963"/>
          </a:xfrm>
          <a:prstGeom prst="rect">
            <a:avLst/>
          </a:prstGeom>
          <a:solidFill>
            <a:srgbClr val="CCCCFF"/>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8130" name="Rectangle 75"/>
          <p:cNvSpPr>
            <a:spLocks noChangeArrowheads="1"/>
          </p:cNvSpPr>
          <p:nvPr/>
        </p:nvSpPr>
        <p:spPr bwMode="auto">
          <a:xfrm>
            <a:off x="827088" y="219075"/>
            <a:ext cx="5395913" cy="515938"/>
          </a:xfrm>
          <a:prstGeom prst="rect">
            <a:avLst/>
          </a:prstGeom>
          <a:noFill/>
          <a:ln>
            <a:noFill/>
          </a:ln>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二叉排序树的操作－插入</a:t>
            </a:r>
          </a:p>
        </p:txBody>
      </p:sp>
      <p:sp>
        <p:nvSpPr>
          <p:cNvPr id="952397" name="Rectangle 77"/>
          <p:cNvSpPr>
            <a:spLocks noChangeArrowheads="1"/>
          </p:cNvSpPr>
          <p:nvPr/>
        </p:nvSpPr>
        <p:spPr bwMode="auto">
          <a:xfrm>
            <a:off x="0" y="5373688"/>
            <a:ext cx="9144000" cy="431800"/>
          </a:xfrm>
          <a:prstGeom prst="rect">
            <a:avLst/>
          </a:prstGeom>
          <a:solidFill>
            <a:srgbClr val="7030A0"/>
          </a:solidFill>
          <a:ln>
            <a:noFill/>
          </a:ln>
        </p:spPr>
        <p:txBody>
          <a:bodyPr lIns="92075" tIns="46038" rIns="92075" bIns="46038" anchor="ctr"/>
          <a:lstStyle>
            <a:lvl1pPr marL="342900" indent="-342900">
              <a:defRPr sz="2800" b="1">
                <a:solidFill>
                  <a:schemeClr val="tx1"/>
                </a:solidFill>
                <a:latin typeface="Times New Roman" panose="02020603050405020304" pitchFamily="18" charset="0"/>
                <a:ea typeface="楷体_GB2312" panose="02010609030101010101" charset="-122"/>
              </a:defRPr>
            </a:lvl1pPr>
            <a:lvl2pPr marL="742950" indent="-285750">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342900" marR="0" lvl="0" indent="-342900" algn="ctr" defTabSz="914400" rtl="0" eaLnBrk="0" fontAlgn="base" latinLnBrk="0" hangingPunct="0">
              <a:lnSpc>
                <a:spcPct val="110000"/>
              </a:lnSpc>
              <a:spcBef>
                <a:spcPts val="2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插入的元素</a:t>
            </a:r>
            <a:r>
              <a:rPr kumimoji="0" lang="zh-CN" altLang="zh-CN" sz="2400" b="0" i="0" u="none" strike="noStrike" kern="1200" cap="none" spc="0" normalizeH="0" baseline="0" noProof="0" dirty="0">
                <a:ln>
                  <a:noFill/>
                </a:ln>
                <a:solidFill>
                  <a:schemeClr val="bg1"/>
                </a:solidFill>
                <a:effectLst/>
                <a:uLnTx/>
                <a:uFillTx/>
                <a:latin typeface="+mn-lt"/>
                <a:ea typeface="+mn-ea"/>
                <a:cs typeface="+mn-ea"/>
                <a:sym typeface="+mn-lt"/>
              </a:rPr>
              <a:t>一定在</a:t>
            </a:r>
            <a:r>
              <a:rPr kumimoji="0" lang="zh-CN" altLang="zh-CN" sz="2400" b="0" i="0" u="none" strike="noStrike" kern="1200" cap="none" spc="0" normalizeH="0" baseline="0" noProof="0" dirty="0">
                <a:ln>
                  <a:noFill/>
                </a:ln>
                <a:solidFill>
                  <a:srgbClr val="FF3300"/>
                </a:solidFill>
                <a:effectLst/>
                <a:uLnTx/>
                <a:uFillTx/>
                <a:latin typeface="+mn-lt"/>
                <a:ea typeface="+mn-ea"/>
                <a:cs typeface="+mn-ea"/>
                <a:sym typeface="+mn-lt"/>
              </a:rPr>
              <a:t>叶结点上</a:t>
            </a:r>
          </a:p>
        </p:txBody>
      </p:sp>
      <p:sp>
        <p:nvSpPr>
          <p:cNvPr id="952398" name="Text Box 78"/>
          <p:cNvSpPr txBox="1">
            <a:spLocks noChangeArrowheads="1"/>
          </p:cNvSpPr>
          <p:nvPr/>
        </p:nvSpPr>
        <p:spPr bwMode="auto">
          <a:xfrm>
            <a:off x="215900" y="1158875"/>
            <a:ext cx="8642350" cy="394811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3" indent="0" algn="l" defTabSz="914400" rtl="0" eaLnBrk="1" fontAlgn="base" latinLnBrk="0" hangingPunct="1">
              <a:lnSpc>
                <a:spcPct val="125000"/>
              </a:lnSpc>
              <a:spcBef>
                <a:spcPct val="20000"/>
              </a:spcBef>
              <a:spcAft>
                <a:spcPct val="0"/>
              </a:spcAft>
              <a:buClr>
                <a:srgbClr val="FF9900"/>
              </a:buClr>
              <a:buSzTx/>
              <a:buFont typeface="Wingdings" panose="05000000000000000000" pitchFamily="2" charset="2"/>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若二叉排序树为空，则插入结点应为</a:t>
            </a: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根结点</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否则，继续在其左、右子树上查找</a:t>
            </a:r>
            <a:endPar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3" indent="0" algn="l" defTabSz="914400" rtl="0" eaLnBrk="1" fontAlgn="base" latinLnBrk="0" hangingPunct="1">
              <a:lnSpc>
                <a:spcPct val="125000"/>
              </a:lnSpc>
              <a:spcBef>
                <a:spcPct val="20000"/>
              </a:spcBef>
              <a:spcAft>
                <a:spcPct val="0"/>
              </a:spcAft>
              <a:buClr>
                <a:srgbClr val="FF9900"/>
              </a:buClr>
              <a:buSzTx/>
              <a:buFont typeface="Wingdings" panose="05000000000000000000" pitchFamily="2" charset="2"/>
              <a:buNone/>
              <a:defRPr/>
            </a:pPr>
            <a:endPar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4" indent="0" algn="just" defTabSz="914400" rtl="0" eaLnBrk="0" fontAlgn="base" latinLnBrk="0" hangingPunct="0">
              <a:lnSpc>
                <a:spcPct val="125000"/>
              </a:lnSpc>
              <a:spcBef>
                <a:spcPct val="0"/>
              </a:spcBef>
              <a:spcAft>
                <a:spcPct val="0"/>
              </a:spcAft>
              <a:buClrTx/>
              <a:buSzTx/>
              <a:buFont typeface="Wingdings" panose="05000000000000000000" pitchFamily="2" charset="2"/>
              <a:buChar char="ü"/>
              <a:defRPr/>
            </a:pP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树中已有，不再插入</a:t>
            </a:r>
          </a:p>
          <a:p>
            <a:pPr marL="0" marR="0" lvl="4" indent="0" algn="just" defTabSz="914400" rtl="0" eaLnBrk="0" fontAlgn="base" latinLnBrk="0" hangingPunct="0">
              <a:lnSpc>
                <a:spcPct val="125000"/>
              </a:lnSpc>
              <a:spcBef>
                <a:spcPct val="0"/>
              </a:spcBef>
              <a:spcAft>
                <a:spcPct val="0"/>
              </a:spcAft>
              <a:buClrTx/>
              <a:buSzTx/>
              <a:buFont typeface="Wingdings" panose="05000000000000000000" pitchFamily="2" charset="2"/>
              <a:buChar char="ü"/>
              <a:defRPr/>
            </a:pP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树中没有，</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查找直至某个叶子结点的左子树或右子树为空为止，则插入结点应为该</a:t>
            </a:r>
            <a:r>
              <a:rPr kumimoji="0" lang="zh-CN" altLang="en-US" sz="2800" b="0" i="0" u="none" strike="noStrike" kern="1200" cap="none" spc="0" normalizeH="0" baseline="0" noProof="0" dirty="0">
                <a:ln>
                  <a:noFill/>
                </a:ln>
                <a:solidFill>
                  <a:schemeClr val="hlink"/>
                </a:solidFill>
                <a:effectLst/>
                <a:uLnTx/>
                <a:uFillTx/>
                <a:latin typeface="+mn-lt"/>
                <a:ea typeface="+mn-ea"/>
                <a:cs typeface="+mn-ea"/>
                <a:sym typeface="+mn-lt"/>
              </a:rPr>
              <a:t>叶子结点</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的左孩子或右孩子</a:t>
            </a:r>
          </a:p>
        </p:txBody>
      </p:sp>
    </p:spTree>
    <p:extLst>
      <p:ext uri="{BB962C8B-B14F-4D97-AF65-F5344CB8AC3E}">
        <p14:creationId xmlns:p14="http://schemas.microsoft.com/office/powerpoint/2010/main" val="2498685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952398"/>
                                        </p:tgtEl>
                                        <p:attrNameLst>
                                          <p:attrName>style.visibility</p:attrName>
                                        </p:attrNameLst>
                                      </p:cBhvr>
                                      <p:to>
                                        <p:strVal val="visible"/>
                                      </p:to>
                                    </p:set>
                                    <p:anim calcmode="lin" valueType="num">
                                      <p:cBhvr additive="base">
                                        <p:cTn id="13" dur="500" fill="hold"/>
                                        <p:tgtEl>
                                          <p:spTgt spid="952398"/>
                                        </p:tgtEl>
                                        <p:attrNameLst>
                                          <p:attrName>ppt_x</p:attrName>
                                        </p:attrNameLst>
                                      </p:cBhvr>
                                      <p:tavLst>
                                        <p:tav tm="0">
                                          <p:val>
                                            <p:strVal val="#ppt_x"/>
                                          </p:val>
                                        </p:tav>
                                        <p:tav tm="100000">
                                          <p:val>
                                            <p:strVal val="#ppt_x"/>
                                          </p:val>
                                        </p:tav>
                                      </p:tavLst>
                                    </p:anim>
                                    <p:anim calcmode="lin" valueType="num">
                                      <p:cBhvr additive="base">
                                        <p:cTn id="14" dur="500" fill="hold"/>
                                        <p:tgtEl>
                                          <p:spTgt spid="952398"/>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 presetClass="entr" presetSubtype="16" fill="hold" grpId="0" nodeType="clickEffect">
                                  <p:stCondLst>
                                    <p:cond delay="0"/>
                                  </p:stCondLst>
                                  <p:childTnLst>
                                    <p:set>
                                      <p:cBhvr>
                                        <p:cTn id="18" dur="1" fill="hold">
                                          <p:stCondLst>
                                            <p:cond delay="0"/>
                                          </p:stCondLst>
                                        </p:cTn>
                                        <p:tgtEl>
                                          <p:spTgt spid="952397"/>
                                        </p:tgtEl>
                                        <p:attrNameLst>
                                          <p:attrName>style.visibility</p:attrName>
                                        </p:attrNameLst>
                                      </p:cBhvr>
                                      <p:to>
                                        <p:strVal val="visible"/>
                                      </p:to>
                                    </p:set>
                                    <p:animEffect transition="in" filter="box(in)">
                                      <p:cBhvr>
                                        <p:cTn id="19" dur="500"/>
                                        <p:tgtEl>
                                          <p:spTgt spid="9523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952397" grpId="0" animBg="1"/>
      <p:bldP spid="952398" grpId="0"/>
    </p:bldLst>
  </p:timing>
</p:sld>
</file>

<file path=ppt/slides/slide1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矩形 1"/>
          <p:cNvSpPr/>
          <p:nvPr/>
        </p:nvSpPr>
        <p:spPr bwMode="auto">
          <a:xfrm>
            <a:off x="0" y="1884363"/>
            <a:ext cx="9144000" cy="4208463"/>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65538" name="Group 5"/>
          <p:cNvGrpSpPr/>
          <p:nvPr/>
        </p:nvGrpSpPr>
        <p:grpSpPr>
          <a:xfrm>
            <a:off x="2722563" y="2112963"/>
            <a:ext cx="4038600" cy="3810000"/>
            <a:chOff x="1536" y="1104"/>
            <a:chExt cx="2544" cy="2400"/>
          </a:xfrm>
        </p:grpSpPr>
        <p:sp>
          <p:nvSpPr>
            <p:cNvPr id="49155" name="Oval 6"/>
            <p:cNvSpPr>
              <a:spLocks noChangeArrowheads="1"/>
            </p:cNvSpPr>
            <p:nvPr/>
          </p:nvSpPr>
          <p:spPr bwMode="auto">
            <a:xfrm>
              <a:off x="2448" y="1104"/>
              <a:ext cx="384"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45</a:t>
              </a:r>
            </a:p>
          </p:txBody>
        </p:sp>
        <p:sp>
          <p:nvSpPr>
            <p:cNvPr id="49156" name="Oval 7"/>
            <p:cNvSpPr>
              <a:spLocks noChangeArrowheads="1"/>
            </p:cNvSpPr>
            <p:nvPr/>
          </p:nvSpPr>
          <p:spPr bwMode="auto">
            <a:xfrm>
              <a:off x="2016" y="1536"/>
              <a:ext cx="384"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12</a:t>
              </a:r>
            </a:p>
          </p:txBody>
        </p:sp>
        <p:sp>
          <p:nvSpPr>
            <p:cNvPr id="49157" name="Oval 8"/>
            <p:cNvSpPr>
              <a:spLocks noChangeArrowheads="1"/>
            </p:cNvSpPr>
            <p:nvPr/>
          </p:nvSpPr>
          <p:spPr bwMode="auto">
            <a:xfrm>
              <a:off x="3024" y="1536"/>
              <a:ext cx="384"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53</a:t>
              </a:r>
            </a:p>
          </p:txBody>
        </p:sp>
        <p:sp>
          <p:nvSpPr>
            <p:cNvPr id="49158" name="Oval 9"/>
            <p:cNvSpPr>
              <a:spLocks noChangeArrowheads="1"/>
            </p:cNvSpPr>
            <p:nvPr/>
          </p:nvSpPr>
          <p:spPr bwMode="auto">
            <a:xfrm>
              <a:off x="1536" y="2112"/>
              <a:ext cx="384"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3</a:t>
              </a:r>
            </a:p>
          </p:txBody>
        </p:sp>
        <p:sp>
          <p:nvSpPr>
            <p:cNvPr id="49159" name="Oval 10"/>
            <p:cNvSpPr>
              <a:spLocks noChangeArrowheads="1"/>
            </p:cNvSpPr>
            <p:nvPr/>
          </p:nvSpPr>
          <p:spPr bwMode="auto">
            <a:xfrm>
              <a:off x="2448" y="2112"/>
              <a:ext cx="384"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37</a:t>
              </a:r>
            </a:p>
          </p:txBody>
        </p:sp>
        <p:sp>
          <p:nvSpPr>
            <p:cNvPr id="49160" name="Oval 11"/>
            <p:cNvSpPr>
              <a:spLocks noChangeArrowheads="1"/>
            </p:cNvSpPr>
            <p:nvPr/>
          </p:nvSpPr>
          <p:spPr bwMode="auto">
            <a:xfrm>
              <a:off x="2064" y="2688"/>
              <a:ext cx="384"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24</a:t>
              </a:r>
            </a:p>
          </p:txBody>
        </p:sp>
        <p:sp>
          <p:nvSpPr>
            <p:cNvPr id="49161" name="Line 12"/>
            <p:cNvSpPr>
              <a:spLocks noChangeShapeType="1"/>
            </p:cNvSpPr>
            <p:nvPr/>
          </p:nvSpPr>
          <p:spPr bwMode="auto">
            <a:xfrm flipH="1">
              <a:off x="2352" y="1392"/>
              <a:ext cx="144" cy="144"/>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9162" name="Line 13"/>
            <p:cNvSpPr>
              <a:spLocks noChangeShapeType="1"/>
            </p:cNvSpPr>
            <p:nvPr/>
          </p:nvSpPr>
          <p:spPr bwMode="auto">
            <a:xfrm flipH="1">
              <a:off x="1824" y="1872"/>
              <a:ext cx="240" cy="288"/>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9163" name="Line 14"/>
            <p:cNvSpPr>
              <a:spLocks noChangeShapeType="1"/>
            </p:cNvSpPr>
            <p:nvPr/>
          </p:nvSpPr>
          <p:spPr bwMode="auto">
            <a:xfrm>
              <a:off x="2352" y="1872"/>
              <a:ext cx="192" cy="288"/>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9164" name="Line 15"/>
            <p:cNvSpPr>
              <a:spLocks noChangeShapeType="1"/>
            </p:cNvSpPr>
            <p:nvPr/>
          </p:nvSpPr>
          <p:spPr bwMode="auto">
            <a:xfrm flipH="1">
              <a:off x="2352" y="2448"/>
              <a:ext cx="144" cy="240"/>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9165" name="Oval 16"/>
            <p:cNvSpPr>
              <a:spLocks noChangeArrowheads="1"/>
            </p:cNvSpPr>
            <p:nvPr/>
          </p:nvSpPr>
          <p:spPr bwMode="auto">
            <a:xfrm>
              <a:off x="3600" y="2064"/>
              <a:ext cx="384"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100</a:t>
              </a:r>
            </a:p>
          </p:txBody>
        </p:sp>
        <p:sp>
          <p:nvSpPr>
            <p:cNvPr id="49166" name="Oval 17"/>
            <p:cNvSpPr>
              <a:spLocks noChangeArrowheads="1"/>
            </p:cNvSpPr>
            <p:nvPr/>
          </p:nvSpPr>
          <p:spPr bwMode="auto">
            <a:xfrm>
              <a:off x="3072" y="2448"/>
              <a:ext cx="384"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61</a:t>
              </a:r>
            </a:p>
          </p:txBody>
        </p:sp>
        <p:sp>
          <p:nvSpPr>
            <p:cNvPr id="49167" name="Oval 18"/>
            <p:cNvSpPr>
              <a:spLocks noChangeArrowheads="1"/>
            </p:cNvSpPr>
            <p:nvPr/>
          </p:nvSpPr>
          <p:spPr bwMode="auto">
            <a:xfrm>
              <a:off x="3696" y="2784"/>
              <a:ext cx="384"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90</a:t>
              </a:r>
            </a:p>
          </p:txBody>
        </p:sp>
        <p:sp>
          <p:nvSpPr>
            <p:cNvPr id="49168" name="Oval 19"/>
            <p:cNvSpPr>
              <a:spLocks noChangeArrowheads="1"/>
            </p:cNvSpPr>
            <p:nvPr/>
          </p:nvSpPr>
          <p:spPr bwMode="auto">
            <a:xfrm>
              <a:off x="3120" y="3120"/>
              <a:ext cx="384" cy="33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78</a:t>
              </a:r>
            </a:p>
          </p:txBody>
        </p:sp>
        <p:sp>
          <p:nvSpPr>
            <p:cNvPr id="49169" name="Line 20"/>
            <p:cNvSpPr>
              <a:spLocks noChangeShapeType="1"/>
            </p:cNvSpPr>
            <p:nvPr/>
          </p:nvSpPr>
          <p:spPr bwMode="auto">
            <a:xfrm>
              <a:off x="2784" y="1392"/>
              <a:ext cx="240" cy="192"/>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9170" name="Line 21"/>
            <p:cNvSpPr>
              <a:spLocks noChangeShapeType="1"/>
            </p:cNvSpPr>
            <p:nvPr/>
          </p:nvSpPr>
          <p:spPr bwMode="auto">
            <a:xfrm>
              <a:off x="3360" y="1824"/>
              <a:ext cx="288" cy="288"/>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9171" name="Line 22"/>
            <p:cNvSpPr>
              <a:spLocks noChangeShapeType="1"/>
            </p:cNvSpPr>
            <p:nvPr/>
          </p:nvSpPr>
          <p:spPr bwMode="auto">
            <a:xfrm flipH="1">
              <a:off x="3456" y="2352"/>
              <a:ext cx="144" cy="144"/>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9172" name="Line 23"/>
            <p:cNvSpPr>
              <a:spLocks noChangeShapeType="1"/>
            </p:cNvSpPr>
            <p:nvPr/>
          </p:nvSpPr>
          <p:spPr bwMode="auto">
            <a:xfrm>
              <a:off x="3408" y="2688"/>
              <a:ext cx="336" cy="192"/>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9173" name="Line 24"/>
            <p:cNvSpPr>
              <a:spLocks noChangeShapeType="1"/>
            </p:cNvSpPr>
            <p:nvPr/>
          </p:nvSpPr>
          <p:spPr bwMode="auto">
            <a:xfrm flipH="1">
              <a:off x="3504" y="3024"/>
              <a:ext cx="192" cy="192"/>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9174" name="Line 25"/>
            <p:cNvSpPr>
              <a:spLocks noChangeShapeType="1"/>
            </p:cNvSpPr>
            <p:nvPr/>
          </p:nvSpPr>
          <p:spPr bwMode="auto">
            <a:xfrm flipH="1">
              <a:off x="2016" y="1152"/>
              <a:ext cx="240" cy="240"/>
            </a:xfrm>
            <a:prstGeom prst="line">
              <a:avLst/>
            </a:prstGeom>
            <a:noFill/>
            <a:ln w="9525">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9175" name="Line 26"/>
            <p:cNvSpPr>
              <a:spLocks noChangeShapeType="1"/>
            </p:cNvSpPr>
            <p:nvPr/>
          </p:nvSpPr>
          <p:spPr bwMode="auto">
            <a:xfrm>
              <a:off x="2640" y="1776"/>
              <a:ext cx="144" cy="192"/>
            </a:xfrm>
            <a:prstGeom prst="line">
              <a:avLst/>
            </a:prstGeom>
            <a:noFill/>
            <a:ln w="9525">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9176" name="Line 27"/>
            <p:cNvSpPr>
              <a:spLocks noChangeShapeType="1"/>
            </p:cNvSpPr>
            <p:nvPr/>
          </p:nvSpPr>
          <p:spPr bwMode="auto">
            <a:xfrm flipH="1">
              <a:off x="1872" y="2304"/>
              <a:ext cx="384" cy="576"/>
            </a:xfrm>
            <a:prstGeom prst="line">
              <a:avLst/>
            </a:prstGeom>
            <a:noFill/>
            <a:ln w="9525">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49177" name="Oval 28"/>
            <p:cNvSpPr>
              <a:spLocks noChangeArrowheads="1"/>
            </p:cNvSpPr>
            <p:nvPr/>
          </p:nvSpPr>
          <p:spPr bwMode="auto">
            <a:xfrm>
              <a:off x="1728" y="3168"/>
              <a:ext cx="384" cy="336"/>
            </a:xfrm>
            <a:prstGeom prst="ellipse">
              <a:avLst/>
            </a:prstGeom>
            <a:solidFill>
              <a:srgbClr val="BE0E23"/>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20</a:t>
              </a:r>
            </a:p>
          </p:txBody>
        </p:sp>
        <p:sp>
          <p:nvSpPr>
            <p:cNvPr id="49178" name="Line 29"/>
            <p:cNvSpPr>
              <a:spLocks noChangeShapeType="1"/>
            </p:cNvSpPr>
            <p:nvPr/>
          </p:nvSpPr>
          <p:spPr bwMode="auto">
            <a:xfrm flipH="1">
              <a:off x="2016" y="3024"/>
              <a:ext cx="144" cy="144"/>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49179" name="Text Box 30"/>
          <p:cNvSpPr txBox="1">
            <a:spLocks noChangeArrowheads="1"/>
          </p:cNvSpPr>
          <p:nvPr/>
        </p:nvSpPr>
        <p:spPr bwMode="auto">
          <a:xfrm>
            <a:off x="704850" y="1138238"/>
            <a:ext cx="2600325" cy="57785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zh-CN" altLang="en-US" sz="3200" b="0" i="0" u="none" strike="noStrike" kern="1200" cap="none" spc="0" normalizeH="0" baseline="0" noProof="0" dirty="0">
                <a:ln>
                  <a:noFill/>
                </a:ln>
                <a:solidFill>
                  <a:schemeClr val="tx1"/>
                </a:solidFill>
                <a:effectLst/>
                <a:uLnTx/>
                <a:uFillTx/>
                <a:latin typeface="+mn-lt"/>
                <a:ea typeface="+mn-ea"/>
                <a:cs typeface="+mn-ea"/>
                <a:sym typeface="+mn-lt"/>
              </a:rPr>
              <a:t>插入结点</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20</a:t>
            </a:r>
          </a:p>
        </p:txBody>
      </p:sp>
      <p:sp>
        <p:nvSpPr>
          <p:cNvPr id="49180" name="Rectangle 31"/>
          <p:cNvSpPr>
            <a:spLocks noChangeArrowheads="1"/>
          </p:cNvSpPr>
          <p:nvPr/>
        </p:nvSpPr>
        <p:spPr bwMode="auto">
          <a:xfrm>
            <a:off x="766763" y="215900"/>
            <a:ext cx="5395913" cy="515938"/>
          </a:xfrm>
          <a:prstGeom prst="rect">
            <a:avLst/>
          </a:prstGeom>
          <a:noFill/>
          <a:ln>
            <a:noFill/>
          </a:ln>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二叉排序树的操作－插入</a:t>
            </a:r>
          </a:p>
        </p:txBody>
      </p:sp>
    </p:spTree>
    <p:extLst>
      <p:ext uri="{BB962C8B-B14F-4D97-AF65-F5344CB8AC3E}">
        <p14:creationId xmlns:p14="http://schemas.microsoft.com/office/powerpoint/2010/main" val="87866793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矩形 3"/>
          <p:cNvSpPr/>
          <p:nvPr/>
        </p:nvSpPr>
        <p:spPr bwMode="auto">
          <a:xfrm>
            <a:off x="0" y="3357563"/>
            <a:ext cx="9144000" cy="2879725"/>
          </a:xfrm>
          <a:prstGeom prst="rect">
            <a:avLst/>
          </a:prstGeom>
          <a:solidFill>
            <a:srgbClr val="EBEBEB"/>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19908" name="Text Box 4"/>
          <p:cNvSpPr txBox="1">
            <a:spLocks noChangeArrowheads="1"/>
          </p:cNvSpPr>
          <p:nvPr/>
        </p:nvSpPr>
        <p:spPr bwMode="auto">
          <a:xfrm>
            <a:off x="31750" y="2401888"/>
            <a:ext cx="7608888" cy="522288"/>
          </a:xfrm>
          <a:prstGeom prst="rect">
            <a:avLst/>
          </a:prstGeom>
          <a:noFill/>
          <a:ln>
            <a:noFill/>
          </a:ln>
        </p:spPr>
        <p:txBody>
          <a:bodyPr anchor="ctr">
            <a:spAutoFit/>
          </a:bodyP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  {10</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18</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3</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8</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12</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2</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7}</a:t>
            </a:r>
          </a:p>
        </p:txBody>
      </p:sp>
      <p:sp>
        <p:nvSpPr>
          <p:cNvPr id="1019909" name="Oval 5"/>
          <p:cNvSpPr>
            <a:spLocks noChangeArrowheads="1"/>
          </p:cNvSpPr>
          <p:nvPr/>
        </p:nvSpPr>
        <p:spPr bwMode="auto">
          <a:xfrm>
            <a:off x="396875" y="3941763"/>
            <a:ext cx="352425" cy="300038"/>
          </a:xfrm>
          <a:prstGeom prst="ellipse">
            <a:avLst/>
          </a:prstGeom>
          <a:solidFill>
            <a:srgbClr val="7030A0"/>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bg1"/>
                </a:solidFill>
                <a:effectLst/>
                <a:uLnTx/>
                <a:uFillTx/>
                <a:latin typeface="+mn-lt"/>
                <a:ea typeface="+mn-ea"/>
                <a:cs typeface="+mn-ea"/>
                <a:sym typeface="+mn-lt"/>
              </a:rPr>
              <a:t>10</a:t>
            </a:r>
          </a:p>
        </p:txBody>
      </p:sp>
      <p:grpSp>
        <p:nvGrpSpPr>
          <p:cNvPr id="2" name="Group 6"/>
          <p:cNvGrpSpPr/>
          <p:nvPr/>
        </p:nvGrpSpPr>
        <p:grpSpPr bwMode="auto">
          <a:xfrm>
            <a:off x="899591" y="3951515"/>
            <a:ext cx="723125" cy="776288"/>
            <a:chOff x="1074" y="1307"/>
            <a:chExt cx="388" cy="489"/>
          </a:xfrm>
          <a:solidFill>
            <a:srgbClr val="7030A0"/>
          </a:solidFill>
        </p:grpSpPr>
        <p:sp>
          <p:nvSpPr>
            <p:cNvPr id="50181" name="Oval 7"/>
            <p:cNvSpPr>
              <a:spLocks noChangeArrowheads="1"/>
            </p:cNvSpPr>
            <p:nvPr/>
          </p:nvSpPr>
          <p:spPr bwMode="auto">
            <a:xfrm>
              <a:off x="1074" y="1307"/>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10</a:t>
              </a:r>
            </a:p>
          </p:txBody>
        </p:sp>
        <p:sp>
          <p:nvSpPr>
            <p:cNvPr id="50182" name="Oval 8"/>
            <p:cNvSpPr>
              <a:spLocks noChangeArrowheads="1"/>
            </p:cNvSpPr>
            <p:nvPr/>
          </p:nvSpPr>
          <p:spPr bwMode="auto">
            <a:xfrm>
              <a:off x="1273" y="1607"/>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bg1"/>
                  </a:solidFill>
                  <a:effectLst/>
                  <a:uLnTx/>
                  <a:uFillTx/>
                  <a:latin typeface="+mn-lt"/>
                  <a:ea typeface="+mn-ea"/>
                  <a:cs typeface="+mn-ea"/>
                  <a:sym typeface="+mn-lt"/>
                </a:rPr>
                <a:t>18</a:t>
              </a:r>
            </a:p>
          </p:txBody>
        </p:sp>
        <p:sp>
          <p:nvSpPr>
            <p:cNvPr id="50183" name="Line 9"/>
            <p:cNvSpPr>
              <a:spLocks noChangeShapeType="1"/>
            </p:cNvSpPr>
            <p:nvPr/>
          </p:nvSpPr>
          <p:spPr bwMode="auto">
            <a:xfrm>
              <a:off x="1233" y="1467"/>
              <a:ext cx="89" cy="188"/>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grpSp>
        <p:nvGrpSpPr>
          <p:cNvPr id="3" name="Group 10"/>
          <p:cNvGrpSpPr/>
          <p:nvPr/>
        </p:nvGrpSpPr>
        <p:grpSpPr bwMode="auto">
          <a:xfrm>
            <a:off x="1763687" y="3951515"/>
            <a:ext cx="1069777" cy="801688"/>
            <a:chOff x="1785" y="1369"/>
            <a:chExt cx="574" cy="505"/>
          </a:xfrm>
          <a:solidFill>
            <a:srgbClr val="7030A0"/>
          </a:solidFill>
        </p:grpSpPr>
        <p:grpSp>
          <p:nvGrpSpPr>
            <p:cNvPr id="58435" name="Group 11"/>
            <p:cNvGrpSpPr/>
            <p:nvPr/>
          </p:nvGrpSpPr>
          <p:grpSpPr bwMode="auto">
            <a:xfrm>
              <a:off x="1971" y="1369"/>
              <a:ext cx="388" cy="489"/>
              <a:chOff x="1074" y="1307"/>
              <a:chExt cx="388" cy="489"/>
            </a:xfrm>
            <a:grpFill/>
          </p:grpSpPr>
          <p:sp>
            <p:nvSpPr>
              <p:cNvPr id="50186" name="Oval 12"/>
              <p:cNvSpPr>
                <a:spLocks noChangeArrowheads="1"/>
              </p:cNvSpPr>
              <p:nvPr/>
            </p:nvSpPr>
            <p:spPr bwMode="auto">
              <a:xfrm>
                <a:off x="1074" y="1307"/>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10</a:t>
                </a:r>
              </a:p>
            </p:txBody>
          </p:sp>
          <p:sp>
            <p:nvSpPr>
              <p:cNvPr id="50187" name="Oval 13"/>
              <p:cNvSpPr>
                <a:spLocks noChangeArrowheads="1"/>
              </p:cNvSpPr>
              <p:nvPr/>
            </p:nvSpPr>
            <p:spPr bwMode="auto">
              <a:xfrm>
                <a:off x="1273" y="1607"/>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bg1"/>
                    </a:solidFill>
                    <a:effectLst/>
                    <a:uLnTx/>
                    <a:uFillTx/>
                    <a:latin typeface="+mn-lt"/>
                    <a:ea typeface="+mn-ea"/>
                    <a:cs typeface="+mn-ea"/>
                    <a:sym typeface="+mn-lt"/>
                  </a:rPr>
                  <a:t>18</a:t>
                </a:r>
              </a:p>
            </p:txBody>
          </p:sp>
          <p:sp>
            <p:nvSpPr>
              <p:cNvPr id="50188" name="Line 14"/>
              <p:cNvSpPr>
                <a:spLocks noChangeShapeType="1"/>
              </p:cNvSpPr>
              <p:nvPr/>
            </p:nvSpPr>
            <p:spPr bwMode="auto">
              <a:xfrm>
                <a:off x="1233" y="1467"/>
                <a:ext cx="89" cy="188"/>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50189" name="Oval 15"/>
            <p:cNvSpPr>
              <a:spLocks noChangeArrowheads="1"/>
            </p:cNvSpPr>
            <p:nvPr/>
          </p:nvSpPr>
          <p:spPr bwMode="auto">
            <a:xfrm>
              <a:off x="1785" y="1685"/>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bg1"/>
                  </a:solidFill>
                  <a:effectLst/>
                  <a:uLnTx/>
                  <a:uFillTx/>
                  <a:latin typeface="+mn-lt"/>
                  <a:ea typeface="+mn-ea"/>
                  <a:cs typeface="+mn-ea"/>
                  <a:sym typeface="+mn-lt"/>
                </a:rPr>
                <a:t>3</a:t>
              </a:r>
            </a:p>
          </p:txBody>
        </p:sp>
        <p:sp>
          <p:nvSpPr>
            <p:cNvPr id="50190" name="Line 16"/>
            <p:cNvSpPr>
              <a:spLocks noChangeShapeType="1"/>
            </p:cNvSpPr>
            <p:nvPr/>
          </p:nvSpPr>
          <p:spPr bwMode="auto">
            <a:xfrm flipH="1">
              <a:off x="1934" y="1555"/>
              <a:ext cx="77" cy="167"/>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grpSp>
        <p:nvGrpSpPr>
          <p:cNvPr id="5" name="Group 17"/>
          <p:cNvGrpSpPr/>
          <p:nvPr/>
        </p:nvGrpSpPr>
        <p:grpSpPr bwMode="auto">
          <a:xfrm>
            <a:off x="3059831" y="3930645"/>
            <a:ext cx="1069777" cy="1285876"/>
            <a:chOff x="2659" y="1376"/>
            <a:chExt cx="574" cy="810"/>
          </a:xfrm>
          <a:solidFill>
            <a:srgbClr val="7030A0"/>
          </a:solidFill>
        </p:grpSpPr>
        <p:grpSp>
          <p:nvGrpSpPr>
            <p:cNvPr id="58426" name="Group 18"/>
            <p:cNvGrpSpPr/>
            <p:nvPr/>
          </p:nvGrpSpPr>
          <p:grpSpPr bwMode="auto">
            <a:xfrm>
              <a:off x="2659" y="1376"/>
              <a:ext cx="574" cy="505"/>
              <a:chOff x="1785" y="1369"/>
              <a:chExt cx="574" cy="505"/>
            </a:xfrm>
            <a:grpFill/>
          </p:grpSpPr>
          <p:grpSp>
            <p:nvGrpSpPr>
              <p:cNvPr id="58429" name="Group 19"/>
              <p:cNvGrpSpPr/>
              <p:nvPr/>
            </p:nvGrpSpPr>
            <p:grpSpPr bwMode="auto">
              <a:xfrm>
                <a:off x="1971" y="1369"/>
                <a:ext cx="388" cy="489"/>
                <a:chOff x="1074" y="1307"/>
                <a:chExt cx="388" cy="489"/>
              </a:xfrm>
              <a:grpFill/>
            </p:grpSpPr>
            <p:sp>
              <p:nvSpPr>
                <p:cNvPr id="50194" name="Oval 20"/>
                <p:cNvSpPr>
                  <a:spLocks noChangeArrowheads="1"/>
                </p:cNvSpPr>
                <p:nvPr/>
              </p:nvSpPr>
              <p:spPr bwMode="auto">
                <a:xfrm>
                  <a:off x="1074" y="1307"/>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10</a:t>
                  </a:r>
                </a:p>
              </p:txBody>
            </p:sp>
            <p:sp>
              <p:nvSpPr>
                <p:cNvPr id="50195" name="Oval 21"/>
                <p:cNvSpPr>
                  <a:spLocks noChangeArrowheads="1"/>
                </p:cNvSpPr>
                <p:nvPr/>
              </p:nvSpPr>
              <p:spPr bwMode="auto">
                <a:xfrm>
                  <a:off x="1273" y="1607"/>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18</a:t>
                  </a:r>
                </a:p>
              </p:txBody>
            </p:sp>
            <p:sp>
              <p:nvSpPr>
                <p:cNvPr id="50196" name="Line 22"/>
                <p:cNvSpPr>
                  <a:spLocks noChangeShapeType="1"/>
                </p:cNvSpPr>
                <p:nvPr/>
              </p:nvSpPr>
              <p:spPr bwMode="auto">
                <a:xfrm>
                  <a:off x="1233" y="1467"/>
                  <a:ext cx="89" cy="188"/>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50197" name="Oval 23"/>
              <p:cNvSpPr>
                <a:spLocks noChangeArrowheads="1"/>
              </p:cNvSpPr>
              <p:nvPr/>
            </p:nvSpPr>
            <p:spPr bwMode="auto">
              <a:xfrm>
                <a:off x="1785" y="1685"/>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3</a:t>
                </a:r>
              </a:p>
            </p:txBody>
          </p:sp>
          <p:sp>
            <p:nvSpPr>
              <p:cNvPr id="50198" name="Line 24"/>
              <p:cNvSpPr>
                <a:spLocks noChangeShapeType="1"/>
              </p:cNvSpPr>
              <p:nvPr/>
            </p:nvSpPr>
            <p:spPr bwMode="auto">
              <a:xfrm flipH="1">
                <a:off x="1934" y="1555"/>
                <a:ext cx="77" cy="167"/>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50199" name="Oval 25"/>
            <p:cNvSpPr>
              <a:spLocks noChangeArrowheads="1"/>
            </p:cNvSpPr>
            <p:nvPr/>
          </p:nvSpPr>
          <p:spPr bwMode="auto">
            <a:xfrm>
              <a:off x="2819" y="1997"/>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8</a:t>
              </a:r>
            </a:p>
          </p:txBody>
        </p:sp>
        <p:sp>
          <p:nvSpPr>
            <p:cNvPr id="50200" name="Line 26"/>
            <p:cNvSpPr>
              <a:spLocks noChangeShapeType="1"/>
            </p:cNvSpPr>
            <p:nvPr/>
          </p:nvSpPr>
          <p:spPr bwMode="auto">
            <a:xfrm>
              <a:off x="2823" y="1878"/>
              <a:ext cx="55" cy="133"/>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grpSp>
        <p:nvGrpSpPr>
          <p:cNvPr id="8" name="Group 27"/>
          <p:cNvGrpSpPr/>
          <p:nvPr/>
        </p:nvGrpSpPr>
        <p:grpSpPr bwMode="auto">
          <a:xfrm>
            <a:off x="4408132" y="3946339"/>
            <a:ext cx="1069777" cy="1285876"/>
            <a:chOff x="3599" y="1427"/>
            <a:chExt cx="574" cy="810"/>
          </a:xfrm>
          <a:solidFill>
            <a:srgbClr val="7030A0"/>
          </a:solidFill>
        </p:grpSpPr>
        <p:grpSp>
          <p:nvGrpSpPr>
            <p:cNvPr id="58414" name="Group 28"/>
            <p:cNvGrpSpPr/>
            <p:nvPr/>
          </p:nvGrpSpPr>
          <p:grpSpPr bwMode="auto">
            <a:xfrm>
              <a:off x="3599" y="1427"/>
              <a:ext cx="574" cy="810"/>
              <a:chOff x="2659" y="1376"/>
              <a:chExt cx="574" cy="810"/>
            </a:xfrm>
            <a:grpFill/>
          </p:grpSpPr>
          <p:grpSp>
            <p:nvGrpSpPr>
              <p:cNvPr id="58417" name="Group 29"/>
              <p:cNvGrpSpPr/>
              <p:nvPr/>
            </p:nvGrpSpPr>
            <p:grpSpPr bwMode="auto">
              <a:xfrm>
                <a:off x="2659" y="1376"/>
                <a:ext cx="574" cy="505"/>
                <a:chOff x="1785" y="1369"/>
                <a:chExt cx="574" cy="505"/>
              </a:xfrm>
              <a:grpFill/>
            </p:grpSpPr>
            <p:grpSp>
              <p:nvGrpSpPr>
                <p:cNvPr id="58420" name="Group 30"/>
                <p:cNvGrpSpPr/>
                <p:nvPr/>
              </p:nvGrpSpPr>
              <p:grpSpPr bwMode="auto">
                <a:xfrm>
                  <a:off x="1971" y="1369"/>
                  <a:ext cx="388" cy="489"/>
                  <a:chOff x="1074" y="1307"/>
                  <a:chExt cx="388" cy="489"/>
                </a:xfrm>
                <a:grpFill/>
              </p:grpSpPr>
              <p:sp>
                <p:nvSpPr>
                  <p:cNvPr id="50205" name="Oval 31"/>
                  <p:cNvSpPr>
                    <a:spLocks noChangeArrowheads="1"/>
                  </p:cNvSpPr>
                  <p:nvPr/>
                </p:nvSpPr>
                <p:spPr bwMode="auto">
                  <a:xfrm>
                    <a:off x="1074" y="1307"/>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10</a:t>
                    </a:r>
                  </a:p>
                </p:txBody>
              </p:sp>
              <p:sp>
                <p:nvSpPr>
                  <p:cNvPr id="50206" name="Oval 32"/>
                  <p:cNvSpPr>
                    <a:spLocks noChangeArrowheads="1"/>
                  </p:cNvSpPr>
                  <p:nvPr/>
                </p:nvSpPr>
                <p:spPr bwMode="auto">
                  <a:xfrm>
                    <a:off x="1273" y="1607"/>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18</a:t>
                    </a:r>
                  </a:p>
                </p:txBody>
              </p:sp>
              <p:sp>
                <p:nvSpPr>
                  <p:cNvPr id="50207" name="Line 33"/>
                  <p:cNvSpPr>
                    <a:spLocks noChangeShapeType="1"/>
                  </p:cNvSpPr>
                  <p:nvPr/>
                </p:nvSpPr>
                <p:spPr bwMode="auto">
                  <a:xfrm>
                    <a:off x="1233" y="1467"/>
                    <a:ext cx="89" cy="188"/>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50208" name="Oval 34"/>
                <p:cNvSpPr>
                  <a:spLocks noChangeArrowheads="1"/>
                </p:cNvSpPr>
                <p:nvPr/>
              </p:nvSpPr>
              <p:spPr bwMode="auto">
                <a:xfrm>
                  <a:off x="1785" y="1685"/>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3</a:t>
                  </a:r>
                </a:p>
              </p:txBody>
            </p:sp>
            <p:sp>
              <p:nvSpPr>
                <p:cNvPr id="50209" name="Line 35"/>
                <p:cNvSpPr>
                  <a:spLocks noChangeShapeType="1"/>
                </p:cNvSpPr>
                <p:nvPr/>
              </p:nvSpPr>
              <p:spPr bwMode="auto">
                <a:xfrm flipH="1">
                  <a:off x="1934" y="1555"/>
                  <a:ext cx="77" cy="167"/>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50210" name="Oval 36"/>
              <p:cNvSpPr>
                <a:spLocks noChangeArrowheads="1"/>
              </p:cNvSpPr>
              <p:nvPr/>
            </p:nvSpPr>
            <p:spPr bwMode="auto">
              <a:xfrm>
                <a:off x="2819" y="1997"/>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8</a:t>
                </a:r>
              </a:p>
            </p:txBody>
          </p:sp>
          <p:sp>
            <p:nvSpPr>
              <p:cNvPr id="50211" name="Line 37"/>
              <p:cNvSpPr>
                <a:spLocks noChangeShapeType="1"/>
              </p:cNvSpPr>
              <p:nvPr/>
            </p:nvSpPr>
            <p:spPr bwMode="auto">
              <a:xfrm>
                <a:off x="2823" y="1878"/>
                <a:ext cx="55" cy="133"/>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50212" name="Oval 38"/>
            <p:cNvSpPr>
              <a:spLocks noChangeArrowheads="1"/>
            </p:cNvSpPr>
            <p:nvPr/>
          </p:nvSpPr>
          <p:spPr bwMode="auto">
            <a:xfrm>
              <a:off x="3941" y="2040"/>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bg1"/>
                  </a:solidFill>
                  <a:effectLst/>
                  <a:uLnTx/>
                  <a:uFillTx/>
                  <a:latin typeface="+mn-lt"/>
                  <a:ea typeface="+mn-ea"/>
                  <a:cs typeface="+mn-ea"/>
                  <a:sym typeface="+mn-lt"/>
                </a:rPr>
                <a:t>12</a:t>
              </a:r>
            </a:p>
          </p:txBody>
        </p:sp>
        <p:sp>
          <p:nvSpPr>
            <p:cNvPr id="50213" name="Line 39"/>
            <p:cNvSpPr>
              <a:spLocks noChangeShapeType="1"/>
            </p:cNvSpPr>
            <p:nvPr/>
          </p:nvSpPr>
          <p:spPr bwMode="auto">
            <a:xfrm flipH="1">
              <a:off x="4034" y="1911"/>
              <a:ext cx="56" cy="133"/>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grpSp>
        <p:nvGrpSpPr>
          <p:cNvPr id="12" name="Group 40"/>
          <p:cNvGrpSpPr/>
          <p:nvPr/>
        </p:nvGrpSpPr>
        <p:grpSpPr bwMode="auto">
          <a:xfrm>
            <a:off x="5666298" y="3946339"/>
            <a:ext cx="1420157" cy="1285876"/>
            <a:chOff x="507" y="2489"/>
            <a:chExt cx="762" cy="810"/>
          </a:xfrm>
          <a:solidFill>
            <a:srgbClr val="7030A0"/>
          </a:solidFill>
        </p:grpSpPr>
        <p:grpSp>
          <p:nvGrpSpPr>
            <p:cNvPr id="58399" name="Group 41"/>
            <p:cNvGrpSpPr/>
            <p:nvPr/>
          </p:nvGrpSpPr>
          <p:grpSpPr bwMode="auto">
            <a:xfrm>
              <a:off x="695" y="2489"/>
              <a:ext cx="574" cy="810"/>
              <a:chOff x="3599" y="1427"/>
              <a:chExt cx="574" cy="810"/>
            </a:xfrm>
            <a:grpFill/>
          </p:grpSpPr>
          <p:grpSp>
            <p:nvGrpSpPr>
              <p:cNvPr id="58402" name="Group 42"/>
              <p:cNvGrpSpPr/>
              <p:nvPr/>
            </p:nvGrpSpPr>
            <p:grpSpPr bwMode="auto">
              <a:xfrm>
                <a:off x="3599" y="1427"/>
                <a:ext cx="574" cy="810"/>
                <a:chOff x="2659" y="1376"/>
                <a:chExt cx="574" cy="810"/>
              </a:xfrm>
              <a:grpFill/>
            </p:grpSpPr>
            <p:grpSp>
              <p:nvGrpSpPr>
                <p:cNvPr id="58405" name="Group 43"/>
                <p:cNvGrpSpPr/>
                <p:nvPr/>
              </p:nvGrpSpPr>
              <p:grpSpPr bwMode="auto">
                <a:xfrm>
                  <a:off x="2659" y="1376"/>
                  <a:ext cx="574" cy="505"/>
                  <a:chOff x="1785" y="1369"/>
                  <a:chExt cx="574" cy="505"/>
                </a:xfrm>
                <a:grpFill/>
              </p:grpSpPr>
              <p:grpSp>
                <p:nvGrpSpPr>
                  <p:cNvPr id="58408" name="Group 44"/>
                  <p:cNvGrpSpPr/>
                  <p:nvPr/>
                </p:nvGrpSpPr>
                <p:grpSpPr bwMode="auto">
                  <a:xfrm>
                    <a:off x="1971" y="1369"/>
                    <a:ext cx="388" cy="489"/>
                    <a:chOff x="1074" y="1307"/>
                    <a:chExt cx="388" cy="489"/>
                  </a:xfrm>
                  <a:grpFill/>
                </p:grpSpPr>
                <p:sp>
                  <p:nvSpPr>
                    <p:cNvPr id="50219" name="Oval 45"/>
                    <p:cNvSpPr>
                      <a:spLocks noChangeArrowheads="1"/>
                    </p:cNvSpPr>
                    <p:nvPr/>
                  </p:nvSpPr>
                  <p:spPr bwMode="auto">
                    <a:xfrm>
                      <a:off x="1074" y="1307"/>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10</a:t>
                      </a:r>
                    </a:p>
                  </p:txBody>
                </p:sp>
                <p:sp>
                  <p:nvSpPr>
                    <p:cNvPr id="50220" name="Oval 46"/>
                    <p:cNvSpPr>
                      <a:spLocks noChangeArrowheads="1"/>
                    </p:cNvSpPr>
                    <p:nvPr/>
                  </p:nvSpPr>
                  <p:spPr bwMode="auto">
                    <a:xfrm>
                      <a:off x="1273" y="1607"/>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18</a:t>
                      </a:r>
                    </a:p>
                  </p:txBody>
                </p:sp>
                <p:sp>
                  <p:nvSpPr>
                    <p:cNvPr id="50221" name="Line 47"/>
                    <p:cNvSpPr>
                      <a:spLocks noChangeShapeType="1"/>
                    </p:cNvSpPr>
                    <p:nvPr/>
                  </p:nvSpPr>
                  <p:spPr bwMode="auto">
                    <a:xfrm>
                      <a:off x="1233" y="1467"/>
                      <a:ext cx="89" cy="188"/>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50222" name="Oval 48"/>
                  <p:cNvSpPr>
                    <a:spLocks noChangeArrowheads="1"/>
                  </p:cNvSpPr>
                  <p:nvPr/>
                </p:nvSpPr>
                <p:spPr bwMode="auto">
                  <a:xfrm>
                    <a:off x="1785" y="1685"/>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3</a:t>
                    </a:r>
                  </a:p>
                </p:txBody>
              </p:sp>
              <p:sp>
                <p:nvSpPr>
                  <p:cNvPr id="50223" name="Line 49"/>
                  <p:cNvSpPr>
                    <a:spLocks noChangeShapeType="1"/>
                  </p:cNvSpPr>
                  <p:nvPr/>
                </p:nvSpPr>
                <p:spPr bwMode="auto">
                  <a:xfrm flipH="1">
                    <a:off x="1934" y="1555"/>
                    <a:ext cx="77" cy="167"/>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50224" name="Oval 50"/>
                <p:cNvSpPr>
                  <a:spLocks noChangeArrowheads="1"/>
                </p:cNvSpPr>
                <p:nvPr/>
              </p:nvSpPr>
              <p:spPr bwMode="auto">
                <a:xfrm>
                  <a:off x="2819" y="1997"/>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8</a:t>
                  </a:r>
                </a:p>
              </p:txBody>
            </p:sp>
            <p:sp>
              <p:nvSpPr>
                <p:cNvPr id="50225" name="Line 51"/>
                <p:cNvSpPr>
                  <a:spLocks noChangeShapeType="1"/>
                </p:cNvSpPr>
                <p:nvPr/>
              </p:nvSpPr>
              <p:spPr bwMode="auto">
                <a:xfrm>
                  <a:off x="2823" y="1878"/>
                  <a:ext cx="55" cy="133"/>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50226" name="Oval 52"/>
              <p:cNvSpPr>
                <a:spLocks noChangeArrowheads="1"/>
              </p:cNvSpPr>
              <p:nvPr/>
            </p:nvSpPr>
            <p:spPr bwMode="auto">
              <a:xfrm>
                <a:off x="3941" y="2040"/>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bg1"/>
                    </a:solidFill>
                    <a:effectLst/>
                    <a:uLnTx/>
                    <a:uFillTx/>
                    <a:latin typeface="+mn-lt"/>
                    <a:ea typeface="+mn-ea"/>
                    <a:cs typeface="+mn-ea"/>
                    <a:sym typeface="+mn-lt"/>
                  </a:rPr>
                  <a:t>12</a:t>
                </a:r>
              </a:p>
            </p:txBody>
          </p:sp>
          <p:sp>
            <p:nvSpPr>
              <p:cNvPr id="50227" name="Line 53"/>
              <p:cNvSpPr>
                <a:spLocks noChangeShapeType="1"/>
              </p:cNvSpPr>
              <p:nvPr/>
            </p:nvSpPr>
            <p:spPr bwMode="auto">
              <a:xfrm flipH="1">
                <a:off x="4034" y="1911"/>
                <a:ext cx="56" cy="133"/>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50228" name="Oval 54"/>
            <p:cNvSpPr>
              <a:spLocks noChangeArrowheads="1"/>
            </p:cNvSpPr>
            <p:nvPr/>
          </p:nvSpPr>
          <p:spPr bwMode="auto">
            <a:xfrm>
              <a:off x="507" y="3096"/>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2</a:t>
              </a:r>
            </a:p>
          </p:txBody>
        </p:sp>
        <p:sp>
          <p:nvSpPr>
            <p:cNvPr id="50229" name="Line 55"/>
            <p:cNvSpPr>
              <a:spLocks noChangeShapeType="1"/>
            </p:cNvSpPr>
            <p:nvPr/>
          </p:nvSpPr>
          <p:spPr bwMode="auto">
            <a:xfrm flipH="1">
              <a:off x="678" y="2978"/>
              <a:ext cx="78" cy="155"/>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grpSp>
        <p:nvGrpSpPr>
          <p:cNvPr id="17" name="Group 56"/>
          <p:cNvGrpSpPr/>
          <p:nvPr/>
        </p:nvGrpSpPr>
        <p:grpSpPr bwMode="auto">
          <a:xfrm>
            <a:off x="7256298" y="3933029"/>
            <a:ext cx="1420157" cy="1800226"/>
            <a:chOff x="1537" y="2529"/>
            <a:chExt cx="762" cy="1134"/>
          </a:xfrm>
          <a:solidFill>
            <a:srgbClr val="7030A0"/>
          </a:solidFill>
        </p:grpSpPr>
        <p:grpSp>
          <p:nvGrpSpPr>
            <p:cNvPr id="58381" name="Group 57"/>
            <p:cNvGrpSpPr/>
            <p:nvPr/>
          </p:nvGrpSpPr>
          <p:grpSpPr bwMode="auto">
            <a:xfrm>
              <a:off x="1537" y="2529"/>
              <a:ext cx="762" cy="810"/>
              <a:chOff x="507" y="2489"/>
              <a:chExt cx="762" cy="810"/>
            </a:xfrm>
            <a:grpFill/>
          </p:grpSpPr>
          <p:grpSp>
            <p:nvGrpSpPr>
              <p:cNvPr id="58384" name="Group 58"/>
              <p:cNvGrpSpPr/>
              <p:nvPr/>
            </p:nvGrpSpPr>
            <p:grpSpPr bwMode="auto">
              <a:xfrm>
                <a:off x="695" y="2489"/>
                <a:ext cx="574" cy="810"/>
                <a:chOff x="3599" y="1427"/>
                <a:chExt cx="574" cy="810"/>
              </a:xfrm>
              <a:grpFill/>
            </p:grpSpPr>
            <p:grpSp>
              <p:nvGrpSpPr>
                <p:cNvPr id="58387" name="Group 59"/>
                <p:cNvGrpSpPr/>
                <p:nvPr/>
              </p:nvGrpSpPr>
              <p:grpSpPr bwMode="auto">
                <a:xfrm>
                  <a:off x="3599" y="1427"/>
                  <a:ext cx="574" cy="810"/>
                  <a:chOff x="2659" y="1376"/>
                  <a:chExt cx="574" cy="810"/>
                </a:xfrm>
                <a:grpFill/>
              </p:grpSpPr>
              <p:grpSp>
                <p:nvGrpSpPr>
                  <p:cNvPr id="58390" name="Group 60"/>
                  <p:cNvGrpSpPr/>
                  <p:nvPr/>
                </p:nvGrpSpPr>
                <p:grpSpPr bwMode="auto">
                  <a:xfrm>
                    <a:off x="2659" y="1376"/>
                    <a:ext cx="574" cy="505"/>
                    <a:chOff x="1785" y="1369"/>
                    <a:chExt cx="574" cy="505"/>
                  </a:xfrm>
                  <a:grpFill/>
                </p:grpSpPr>
                <p:grpSp>
                  <p:nvGrpSpPr>
                    <p:cNvPr id="58393" name="Group 61"/>
                    <p:cNvGrpSpPr/>
                    <p:nvPr/>
                  </p:nvGrpSpPr>
                  <p:grpSpPr bwMode="auto">
                    <a:xfrm>
                      <a:off x="1971" y="1369"/>
                      <a:ext cx="388" cy="489"/>
                      <a:chOff x="1074" y="1307"/>
                      <a:chExt cx="388" cy="489"/>
                    </a:xfrm>
                    <a:grpFill/>
                  </p:grpSpPr>
                  <p:sp>
                    <p:nvSpPr>
                      <p:cNvPr id="50236" name="Oval 62"/>
                      <p:cNvSpPr>
                        <a:spLocks noChangeArrowheads="1"/>
                      </p:cNvSpPr>
                      <p:nvPr/>
                    </p:nvSpPr>
                    <p:spPr bwMode="auto">
                      <a:xfrm>
                        <a:off x="1074" y="1307"/>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10</a:t>
                        </a:r>
                      </a:p>
                    </p:txBody>
                  </p:sp>
                  <p:sp>
                    <p:nvSpPr>
                      <p:cNvPr id="50237" name="Oval 63"/>
                      <p:cNvSpPr>
                        <a:spLocks noChangeArrowheads="1"/>
                      </p:cNvSpPr>
                      <p:nvPr/>
                    </p:nvSpPr>
                    <p:spPr bwMode="auto">
                      <a:xfrm>
                        <a:off x="1273" y="1607"/>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18</a:t>
                        </a:r>
                      </a:p>
                    </p:txBody>
                  </p:sp>
                  <p:sp>
                    <p:nvSpPr>
                      <p:cNvPr id="50238" name="Line 64"/>
                      <p:cNvSpPr>
                        <a:spLocks noChangeShapeType="1"/>
                      </p:cNvSpPr>
                      <p:nvPr/>
                    </p:nvSpPr>
                    <p:spPr bwMode="auto">
                      <a:xfrm>
                        <a:off x="1233" y="1467"/>
                        <a:ext cx="89" cy="188"/>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50239" name="Oval 65"/>
                    <p:cNvSpPr>
                      <a:spLocks noChangeArrowheads="1"/>
                    </p:cNvSpPr>
                    <p:nvPr/>
                  </p:nvSpPr>
                  <p:spPr bwMode="auto">
                    <a:xfrm>
                      <a:off x="1785" y="1685"/>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3</a:t>
                      </a:r>
                    </a:p>
                  </p:txBody>
                </p:sp>
                <p:sp>
                  <p:nvSpPr>
                    <p:cNvPr id="50240" name="Line 66"/>
                    <p:cNvSpPr>
                      <a:spLocks noChangeShapeType="1"/>
                    </p:cNvSpPr>
                    <p:nvPr/>
                  </p:nvSpPr>
                  <p:spPr bwMode="auto">
                    <a:xfrm flipH="1">
                      <a:off x="1934" y="1555"/>
                      <a:ext cx="77" cy="167"/>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50241" name="Oval 67"/>
                  <p:cNvSpPr>
                    <a:spLocks noChangeArrowheads="1"/>
                  </p:cNvSpPr>
                  <p:nvPr/>
                </p:nvSpPr>
                <p:spPr bwMode="auto">
                  <a:xfrm>
                    <a:off x="2819" y="1997"/>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8</a:t>
                    </a:r>
                  </a:p>
                </p:txBody>
              </p:sp>
              <p:sp>
                <p:nvSpPr>
                  <p:cNvPr id="50242" name="Line 68"/>
                  <p:cNvSpPr>
                    <a:spLocks noChangeShapeType="1"/>
                  </p:cNvSpPr>
                  <p:nvPr/>
                </p:nvSpPr>
                <p:spPr bwMode="auto">
                  <a:xfrm>
                    <a:off x="2823" y="1878"/>
                    <a:ext cx="55" cy="133"/>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50243" name="Oval 69"/>
                <p:cNvSpPr>
                  <a:spLocks noChangeArrowheads="1"/>
                </p:cNvSpPr>
                <p:nvPr/>
              </p:nvSpPr>
              <p:spPr bwMode="auto">
                <a:xfrm>
                  <a:off x="3941" y="2040"/>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bg1"/>
                      </a:solidFill>
                      <a:effectLst/>
                      <a:uLnTx/>
                      <a:uFillTx/>
                      <a:latin typeface="+mn-lt"/>
                      <a:ea typeface="+mn-ea"/>
                      <a:cs typeface="+mn-ea"/>
                      <a:sym typeface="+mn-lt"/>
                    </a:rPr>
                    <a:t>12</a:t>
                  </a:r>
                </a:p>
              </p:txBody>
            </p:sp>
            <p:sp>
              <p:nvSpPr>
                <p:cNvPr id="50244" name="Line 70"/>
                <p:cNvSpPr>
                  <a:spLocks noChangeShapeType="1"/>
                </p:cNvSpPr>
                <p:nvPr/>
              </p:nvSpPr>
              <p:spPr bwMode="auto">
                <a:xfrm flipH="1">
                  <a:off x="4034" y="1911"/>
                  <a:ext cx="56" cy="133"/>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50245" name="Oval 71"/>
              <p:cNvSpPr>
                <a:spLocks noChangeArrowheads="1"/>
              </p:cNvSpPr>
              <p:nvPr/>
            </p:nvSpPr>
            <p:spPr bwMode="auto">
              <a:xfrm>
                <a:off x="507" y="3096"/>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2</a:t>
                </a:r>
              </a:p>
            </p:txBody>
          </p:sp>
          <p:sp>
            <p:nvSpPr>
              <p:cNvPr id="50246" name="Line 72"/>
              <p:cNvSpPr>
                <a:spLocks noChangeShapeType="1"/>
              </p:cNvSpPr>
              <p:nvPr/>
            </p:nvSpPr>
            <p:spPr bwMode="auto">
              <a:xfrm flipH="1">
                <a:off x="678" y="2978"/>
                <a:ext cx="78" cy="155"/>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50247" name="Oval 73"/>
            <p:cNvSpPr>
              <a:spLocks noChangeArrowheads="1"/>
            </p:cNvSpPr>
            <p:nvPr/>
          </p:nvSpPr>
          <p:spPr bwMode="auto">
            <a:xfrm>
              <a:off x="1730" y="3474"/>
              <a:ext cx="189" cy="189"/>
            </a:xfrm>
            <a:prstGeom prst="ellipse">
              <a:avLst/>
            </a:prstGeom>
            <a:grp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000" b="0" i="0" u="none" strike="noStrike" kern="1200" cap="none" spc="0" normalizeH="0" baseline="0" noProof="0">
                  <a:ln>
                    <a:noFill/>
                  </a:ln>
                  <a:solidFill>
                    <a:schemeClr val="bg1"/>
                  </a:solidFill>
                  <a:effectLst/>
                  <a:uLnTx/>
                  <a:uFillTx/>
                  <a:latin typeface="+mn-lt"/>
                  <a:ea typeface="+mn-ea"/>
                  <a:cs typeface="+mn-ea"/>
                  <a:sym typeface="+mn-lt"/>
                </a:rPr>
                <a:t>7</a:t>
              </a:r>
            </a:p>
          </p:txBody>
        </p:sp>
        <p:sp>
          <p:nvSpPr>
            <p:cNvPr id="50248" name="Line 74"/>
            <p:cNvSpPr>
              <a:spLocks noChangeShapeType="1"/>
            </p:cNvSpPr>
            <p:nvPr/>
          </p:nvSpPr>
          <p:spPr bwMode="auto">
            <a:xfrm flipH="1">
              <a:off x="1867" y="3343"/>
              <a:ext cx="78" cy="157"/>
            </a:xfrm>
            <a:prstGeom prst="line">
              <a:avLst/>
            </a:prstGeom>
            <a:grp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50249" name="Text Box 97"/>
          <p:cNvSpPr txBox="1">
            <a:spLocks noChangeArrowheads="1"/>
          </p:cNvSpPr>
          <p:nvPr/>
        </p:nvSpPr>
        <p:spPr bwMode="auto">
          <a:xfrm>
            <a:off x="238125" y="1014413"/>
            <a:ext cx="8839200" cy="1119188"/>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3" indent="0" algn="l" defTabSz="914400" rtl="0" eaLnBrk="1" fontAlgn="base" latinLnBrk="0" hangingPunct="1">
              <a:lnSpc>
                <a:spcPct val="125000"/>
              </a:lnSpc>
              <a:spcBef>
                <a:spcPts val="0"/>
              </a:spcBef>
              <a:spcAft>
                <a:spcPct val="0"/>
              </a:spcAft>
              <a:buClr>
                <a:srgbClr val="FF9900"/>
              </a:buClr>
              <a:buSzTx/>
              <a:buFont typeface="Wingdings" panose="05000000000000000000" pitchFamily="2" charset="2"/>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从空树出发，经过一系列的查找、插入操作之后，可生成一棵二叉排序树</a:t>
            </a:r>
          </a:p>
        </p:txBody>
      </p:sp>
      <p:sp>
        <p:nvSpPr>
          <p:cNvPr id="50250" name="Rectangle 98"/>
          <p:cNvSpPr>
            <a:spLocks noChangeArrowheads="1"/>
          </p:cNvSpPr>
          <p:nvPr/>
        </p:nvSpPr>
        <p:spPr bwMode="auto">
          <a:xfrm>
            <a:off x="765175" y="203200"/>
            <a:ext cx="5395913" cy="515938"/>
          </a:xfrm>
          <a:prstGeom prst="rect">
            <a:avLst/>
          </a:prstGeom>
          <a:noFill/>
          <a:ln>
            <a:noFill/>
          </a:ln>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二叉排序树的操作－生成</a:t>
            </a:r>
          </a:p>
        </p:txBody>
      </p:sp>
    </p:spTree>
    <p:extLst>
      <p:ext uri="{BB962C8B-B14F-4D97-AF65-F5344CB8AC3E}">
        <p14:creationId xmlns:p14="http://schemas.microsoft.com/office/powerpoint/2010/main" val="59099473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019908">
                                            <p:txEl>
                                              <p:pRg st="0" end="0"/>
                                            </p:txEl>
                                          </p:spTgt>
                                        </p:tgtEl>
                                        <p:attrNameLst>
                                          <p:attrName>style.visibility</p:attrName>
                                        </p:attrNameLst>
                                      </p:cBhvr>
                                      <p:to>
                                        <p:strVal val="visible"/>
                                      </p:to>
                                    </p:set>
                                    <p:anim calcmode="lin" valueType="num">
                                      <p:cBhvr additive="base">
                                        <p:cTn id="7" dur="500" fill="hold"/>
                                        <p:tgtEl>
                                          <p:spTgt spid="1019908">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019908">
                                            <p:txEl>
                                              <p:pRg st="0" end="0"/>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
                                            </p:cond>
                                          </p:stCondLst>
                                          <p:endCondLst>
                                            <p:cond evt="onStopAudio" delay="0">
                                              <p:tgtEl>
                                                <p:sldTgt/>
                                              </p:tgtEl>
                                            </p:cond>
                                          </p:endCondLst>
                                        </p:cTn>
                                        <p:tgtEl>
                                          <p:sndTgt r:embed="rId2" name="WHOOSH.WAV"/>
                                        </p:tgtEl>
                                      </p:cMediaNode>
                                    </p:audio>
                                  </p:sub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ppt_x"/>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019909"/>
                                        </p:tgtEl>
                                        <p:attrNameLst>
                                          <p:attrName>style.visibility</p:attrName>
                                        </p:attrNameLst>
                                      </p:cBhvr>
                                      <p:to>
                                        <p:strVal val="visible"/>
                                      </p:to>
                                    </p:set>
                                    <p:anim calcmode="lin" valueType="num">
                                      <p:cBhvr additive="base">
                                        <p:cTn id="19" dur="500" fill="hold"/>
                                        <p:tgtEl>
                                          <p:spTgt spid="1019909"/>
                                        </p:tgtEl>
                                        <p:attrNameLst>
                                          <p:attrName>ppt_x</p:attrName>
                                        </p:attrNameLst>
                                      </p:cBhvr>
                                      <p:tavLst>
                                        <p:tav tm="0">
                                          <p:val>
                                            <p:strVal val="0-#ppt_w/2"/>
                                          </p:val>
                                        </p:tav>
                                        <p:tav tm="100000">
                                          <p:val>
                                            <p:strVal val="#ppt_x"/>
                                          </p:val>
                                        </p:tav>
                                      </p:tavLst>
                                    </p:anim>
                                    <p:anim calcmode="lin" valueType="num">
                                      <p:cBhvr additive="base">
                                        <p:cTn id="20" dur="500" fill="hold"/>
                                        <p:tgtEl>
                                          <p:spTgt spid="1019909"/>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2" name="WHOOSH.WAV"/>
                                        </p:tgtEl>
                                      </p:cMediaNode>
                                    </p:audio>
                                  </p:sub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additive="base">
                                        <p:cTn id="25" dur="500" fill="hold"/>
                                        <p:tgtEl>
                                          <p:spTgt spid="2"/>
                                        </p:tgtEl>
                                        <p:attrNameLst>
                                          <p:attrName>ppt_x</p:attrName>
                                        </p:attrNameLst>
                                      </p:cBhvr>
                                      <p:tavLst>
                                        <p:tav tm="0">
                                          <p:val>
                                            <p:strVal val="0-#ppt_w/2"/>
                                          </p:val>
                                        </p:tav>
                                        <p:tav tm="100000">
                                          <p:val>
                                            <p:strVal val="#ppt_x"/>
                                          </p:val>
                                        </p:tav>
                                      </p:tavLst>
                                    </p:anim>
                                    <p:anim calcmode="lin" valueType="num">
                                      <p:cBhvr additive="base">
                                        <p:cTn id="26" dur="500" fill="hold"/>
                                        <p:tgtEl>
                                          <p:spTgt spid="2"/>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23"/>
                                            </p:cond>
                                          </p:stCondLst>
                                          <p:endCondLst>
                                            <p:cond evt="onStopAudio" delay="0">
                                              <p:tgtEl>
                                                <p:sldTgt/>
                                              </p:tgtEl>
                                            </p:cond>
                                          </p:endCondLst>
                                        </p:cTn>
                                        <p:tgtEl>
                                          <p:sndTgt r:embed="rId2" name="WHOOSH.WAV"/>
                                        </p:tgtEl>
                                      </p:cMediaNode>
                                    </p:audio>
                                  </p:sub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500" fill="hold"/>
                                        <p:tgtEl>
                                          <p:spTgt spid="3"/>
                                        </p:tgtEl>
                                        <p:attrNameLst>
                                          <p:attrName>ppt_x</p:attrName>
                                        </p:attrNameLst>
                                      </p:cBhvr>
                                      <p:tavLst>
                                        <p:tav tm="0">
                                          <p:val>
                                            <p:strVal val="0-#ppt_w/2"/>
                                          </p:val>
                                        </p:tav>
                                        <p:tav tm="100000">
                                          <p:val>
                                            <p:strVal val="#ppt_x"/>
                                          </p:val>
                                        </p:tav>
                                      </p:tavLst>
                                    </p:anim>
                                    <p:anim calcmode="lin" valueType="num">
                                      <p:cBhvr additive="base">
                                        <p:cTn id="32" dur="500" fill="hold"/>
                                        <p:tgtEl>
                                          <p:spTgt spid="3"/>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29"/>
                                            </p:cond>
                                          </p:stCondLst>
                                          <p:endCondLst>
                                            <p:cond evt="onStopAudio" delay="0">
                                              <p:tgtEl>
                                                <p:sldTgt/>
                                              </p:tgtEl>
                                            </p:cond>
                                          </p:endCondLst>
                                        </p:cTn>
                                        <p:tgtEl>
                                          <p:sndTgt r:embed="rId2" name="WHOOSH.WAV"/>
                                        </p:tgtEl>
                                      </p:cMediaNode>
                                    </p:audio>
                                  </p:sub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additive="base">
                                        <p:cTn id="37" dur="500" fill="hold"/>
                                        <p:tgtEl>
                                          <p:spTgt spid="5"/>
                                        </p:tgtEl>
                                        <p:attrNameLst>
                                          <p:attrName>ppt_x</p:attrName>
                                        </p:attrNameLst>
                                      </p:cBhvr>
                                      <p:tavLst>
                                        <p:tav tm="0">
                                          <p:val>
                                            <p:strVal val="0-#ppt_w/2"/>
                                          </p:val>
                                        </p:tav>
                                        <p:tav tm="100000">
                                          <p:val>
                                            <p:strVal val="#ppt_x"/>
                                          </p:val>
                                        </p:tav>
                                      </p:tavLst>
                                    </p:anim>
                                    <p:anim calcmode="lin" valueType="num">
                                      <p:cBhvr additive="base">
                                        <p:cTn id="38" dur="500" fill="hold"/>
                                        <p:tgtEl>
                                          <p:spTgt spid="5"/>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35"/>
                                            </p:cond>
                                          </p:stCondLst>
                                          <p:endCondLst>
                                            <p:cond evt="onStopAudio" delay="0">
                                              <p:tgtEl>
                                                <p:sldTgt/>
                                              </p:tgtEl>
                                            </p:cond>
                                          </p:endCondLst>
                                        </p:cTn>
                                        <p:tgtEl>
                                          <p:sndTgt r:embed="rId2" name="WHOOSH.WAV"/>
                                        </p:tgtEl>
                                      </p:cMediaNode>
                                    </p:audio>
                                  </p:sub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500" fill="hold"/>
                                        <p:tgtEl>
                                          <p:spTgt spid="8"/>
                                        </p:tgtEl>
                                        <p:attrNameLst>
                                          <p:attrName>ppt_x</p:attrName>
                                        </p:attrNameLst>
                                      </p:cBhvr>
                                      <p:tavLst>
                                        <p:tav tm="0">
                                          <p:val>
                                            <p:strVal val="0-#ppt_w/2"/>
                                          </p:val>
                                        </p:tav>
                                        <p:tav tm="100000">
                                          <p:val>
                                            <p:strVal val="#ppt_x"/>
                                          </p:val>
                                        </p:tav>
                                      </p:tavLst>
                                    </p:anim>
                                    <p:anim calcmode="lin" valueType="num">
                                      <p:cBhvr additive="base">
                                        <p:cTn id="44" dur="500" fill="hold"/>
                                        <p:tgtEl>
                                          <p:spTgt spid="8"/>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41"/>
                                            </p:cond>
                                          </p:stCondLst>
                                          <p:endCondLst>
                                            <p:cond evt="onStopAudio" delay="0">
                                              <p:tgtEl>
                                                <p:sldTgt/>
                                              </p:tgtEl>
                                            </p:cond>
                                          </p:endCondLst>
                                        </p:cTn>
                                        <p:tgtEl>
                                          <p:sndTgt r:embed="rId2" name="WHOOSH.WAV"/>
                                        </p:tgtEl>
                                      </p:cMediaNode>
                                    </p:audio>
                                  </p:sub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12"/>
                                        </p:tgtEl>
                                        <p:attrNameLst>
                                          <p:attrName>style.visibility</p:attrName>
                                        </p:attrNameLst>
                                      </p:cBhvr>
                                      <p:to>
                                        <p:strVal val="visible"/>
                                      </p:to>
                                    </p:set>
                                    <p:anim calcmode="lin" valueType="num">
                                      <p:cBhvr additive="base">
                                        <p:cTn id="49" dur="500" fill="hold"/>
                                        <p:tgtEl>
                                          <p:spTgt spid="12"/>
                                        </p:tgtEl>
                                        <p:attrNameLst>
                                          <p:attrName>ppt_x</p:attrName>
                                        </p:attrNameLst>
                                      </p:cBhvr>
                                      <p:tavLst>
                                        <p:tav tm="0">
                                          <p:val>
                                            <p:strVal val="0-#ppt_w/2"/>
                                          </p:val>
                                        </p:tav>
                                        <p:tav tm="100000">
                                          <p:val>
                                            <p:strVal val="#ppt_x"/>
                                          </p:val>
                                        </p:tav>
                                      </p:tavLst>
                                    </p:anim>
                                    <p:anim calcmode="lin" valueType="num">
                                      <p:cBhvr additive="base">
                                        <p:cTn id="50" dur="500" fill="hold"/>
                                        <p:tgtEl>
                                          <p:spTgt spid="12"/>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47"/>
                                            </p:cond>
                                          </p:stCondLst>
                                          <p:endCondLst>
                                            <p:cond evt="onStopAudio" delay="0">
                                              <p:tgtEl>
                                                <p:sldTgt/>
                                              </p:tgtEl>
                                            </p:cond>
                                          </p:endCondLst>
                                        </p:cTn>
                                        <p:tgtEl>
                                          <p:sndTgt r:embed="rId2" name="WHOOSH.WAV"/>
                                        </p:tgtEl>
                                      </p:cMediaNode>
                                    </p:audio>
                                  </p:subTnLst>
                                </p:cTn>
                              </p:par>
                            </p:childTnLst>
                          </p:cTn>
                        </p:par>
                      </p:childTnLst>
                    </p:cTn>
                  </p:par>
                  <p:par>
                    <p:cTn id="51" fill="hold">
                      <p:stCondLst>
                        <p:cond delay="indefinite"/>
                      </p:stCondLst>
                      <p:childTnLst>
                        <p:par>
                          <p:cTn id="52" fill="hold">
                            <p:stCondLst>
                              <p:cond delay="0"/>
                            </p:stCondLst>
                            <p:childTnLst>
                              <p:par>
                                <p:cTn id="53" presetID="2" presetClass="entr" presetSubtype="8" fill="hold" nodeType="clickEffect">
                                  <p:stCondLst>
                                    <p:cond delay="0"/>
                                  </p:stCondLst>
                                  <p:childTnLst>
                                    <p:set>
                                      <p:cBhvr>
                                        <p:cTn id="54" dur="1" fill="hold">
                                          <p:stCondLst>
                                            <p:cond delay="0"/>
                                          </p:stCondLst>
                                        </p:cTn>
                                        <p:tgtEl>
                                          <p:spTgt spid="17"/>
                                        </p:tgtEl>
                                        <p:attrNameLst>
                                          <p:attrName>style.visibility</p:attrName>
                                        </p:attrNameLst>
                                      </p:cBhvr>
                                      <p:to>
                                        <p:strVal val="visible"/>
                                      </p:to>
                                    </p:set>
                                    <p:anim calcmode="lin" valueType="num">
                                      <p:cBhvr additive="base">
                                        <p:cTn id="55" dur="500" fill="hold"/>
                                        <p:tgtEl>
                                          <p:spTgt spid="17"/>
                                        </p:tgtEl>
                                        <p:attrNameLst>
                                          <p:attrName>ppt_x</p:attrName>
                                        </p:attrNameLst>
                                      </p:cBhvr>
                                      <p:tavLst>
                                        <p:tav tm="0">
                                          <p:val>
                                            <p:strVal val="0-#ppt_w/2"/>
                                          </p:val>
                                        </p:tav>
                                        <p:tav tm="100000">
                                          <p:val>
                                            <p:strVal val="#ppt_x"/>
                                          </p:val>
                                        </p:tav>
                                      </p:tavLst>
                                    </p:anim>
                                    <p:anim calcmode="lin" valueType="num">
                                      <p:cBhvr additive="base">
                                        <p:cTn id="56" dur="500" fill="hold"/>
                                        <p:tgtEl>
                                          <p:spTgt spid="1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3"/>
                                            </p:cond>
                                          </p:stCondLst>
                                          <p:endCondLst>
                                            <p:cond evt="onStopAudio" delay="0">
                                              <p:tgtEl>
                                                <p:sldTgt/>
                                              </p:tgtEl>
                                            </p:cond>
                                          </p:endCondLst>
                                        </p:cTn>
                                        <p:tgtEl>
                                          <p:sndTgt r:embed="rId2"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019908" grpId="0" build="p"/>
      <p:bldP spid="1019909" grpId="0" animBg="1"/>
    </p:bldLst>
  </p:timing>
</p:sld>
</file>

<file path=ppt/slides/slide13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矩形 3"/>
          <p:cNvSpPr/>
          <p:nvPr/>
        </p:nvSpPr>
        <p:spPr bwMode="auto">
          <a:xfrm>
            <a:off x="0" y="1773238"/>
            <a:ext cx="9144000" cy="4319588"/>
          </a:xfrm>
          <a:prstGeom prst="rect">
            <a:avLst/>
          </a:prstGeom>
          <a:solidFill>
            <a:srgbClr val="CCCCFF"/>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2" name="Group 98"/>
          <p:cNvGrpSpPr/>
          <p:nvPr/>
        </p:nvGrpSpPr>
        <p:grpSpPr>
          <a:xfrm>
            <a:off x="1209675" y="3127375"/>
            <a:ext cx="2209800" cy="1792288"/>
            <a:chOff x="432" y="1530"/>
            <a:chExt cx="1392" cy="1248"/>
          </a:xfrm>
        </p:grpSpPr>
        <p:sp>
          <p:nvSpPr>
            <p:cNvPr id="51211" name="Line 82"/>
            <p:cNvSpPr>
              <a:spLocks noChangeShapeType="1"/>
            </p:cNvSpPr>
            <p:nvPr/>
          </p:nvSpPr>
          <p:spPr bwMode="auto">
            <a:xfrm>
              <a:off x="1056" y="2234"/>
              <a:ext cx="192" cy="255"/>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51210" name="Line 81"/>
            <p:cNvSpPr>
              <a:spLocks noChangeShapeType="1"/>
            </p:cNvSpPr>
            <p:nvPr/>
          </p:nvSpPr>
          <p:spPr bwMode="auto">
            <a:xfrm flipH="1">
              <a:off x="720" y="2250"/>
              <a:ext cx="144" cy="192"/>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51209" name="Line 80"/>
            <p:cNvSpPr>
              <a:spLocks noChangeShapeType="1"/>
            </p:cNvSpPr>
            <p:nvPr/>
          </p:nvSpPr>
          <p:spPr bwMode="auto">
            <a:xfrm flipH="1">
              <a:off x="1045" y="1858"/>
              <a:ext cx="144" cy="112"/>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51212" name="Line 83"/>
            <p:cNvSpPr>
              <a:spLocks noChangeShapeType="1"/>
            </p:cNvSpPr>
            <p:nvPr/>
          </p:nvSpPr>
          <p:spPr bwMode="auto">
            <a:xfrm>
              <a:off x="1392" y="1819"/>
              <a:ext cx="192" cy="191"/>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51204" name="Oval 75"/>
            <p:cNvSpPr>
              <a:spLocks noChangeArrowheads="1"/>
            </p:cNvSpPr>
            <p:nvPr/>
          </p:nvSpPr>
          <p:spPr bwMode="auto">
            <a:xfrm>
              <a:off x="1104" y="1530"/>
              <a:ext cx="336" cy="384"/>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40</a:t>
              </a:r>
            </a:p>
          </p:txBody>
        </p:sp>
        <p:sp>
          <p:nvSpPr>
            <p:cNvPr id="51205" name="Oval 76"/>
            <p:cNvSpPr>
              <a:spLocks noChangeArrowheads="1"/>
            </p:cNvSpPr>
            <p:nvPr/>
          </p:nvSpPr>
          <p:spPr bwMode="auto">
            <a:xfrm>
              <a:off x="768" y="1914"/>
              <a:ext cx="336" cy="387"/>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24</a:t>
              </a:r>
            </a:p>
          </p:txBody>
        </p:sp>
        <p:sp>
          <p:nvSpPr>
            <p:cNvPr id="51206" name="Oval 77"/>
            <p:cNvSpPr>
              <a:spLocks noChangeArrowheads="1"/>
            </p:cNvSpPr>
            <p:nvPr/>
          </p:nvSpPr>
          <p:spPr bwMode="auto">
            <a:xfrm>
              <a:off x="1488" y="1914"/>
              <a:ext cx="336" cy="387"/>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55</a:t>
              </a:r>
            </a:p>
          </p:txBody>
        </p:sp>
        <p:sp>
          <p:nvSpPr>
            <p:cNvPr id="51207" name="Oval 78"/>
            <p:cNvSpPr>
              <a:spLocks noChangeArrowheads="1"/>
            </p:cNvSpPr>
            <p:nvPr/>
          </p:nvSpPr>
          <p:spPr bwMode="auto">
            <a:xfrm>
              <a:off x="432" y="2346"/>
              <a:ext cx="336" cy="385"/>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12</a:t>
              </a:r>
            </a:p>
          </p:txBody>
        </p:sp>
        <p:sp>
          <p:nvSpPr>
            <p:cNvPr id="51208" name="Oval 79"/>
            <p:cNvSpPr>
              <a:spLocks noChangeArrowheads="1"/>
            </p:cNvSpPr>
            <p:nvPr/>
          </p:nvSpPr>
          <p:spPr bwMode="auto">
            <a:xfrm>
              <a:off x="1152" y="2394"/>
              <a:ext cx="336" cy="384"/>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37</a:t>
              </a:r>
            </a:p>
          </p:txBody>
        </p:sp>
      </p:grpSp>
      <p:sp>
        <p:nvSpPr>
          <p:cNvPr id="51202" name="Text Box 73"/>
          <p:cNvSpPr txBox="1">
            <a:spLocks noChangeArrowheads="1"/>
          </p:cNvSpPr>
          <p:nvPr/>
        </p:nvSpPr>
        <p:spPr bwMode="auto">
          <a:xfrm>
            <a:off x="563563" y="1017588"/>
            <a:ext cx="8820150" cy="4984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l" defTabSz="914400" rtl="0" eaLnBrk="1" fontAlgn="base" latinLnBrk="0" hangingPunct="1">
              <a:lnSpc>
                <a:spcPct val="120000"/>
              </a:lnSpc>
              <a:spcBef>
                <a:spcPct val="20000"/>
              </a:spcBef>
              <a:spcAft>
                <a:spcPct val="0"/>
              </a:spcAft>
              <a:buClrTx/>
              <a:buSzTx/>
              <a:buFont typeface="Wingdings" panose="05000000000000000000" pitchFamily="2" charset="2"/>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不同插入次序的序列生成不同形态的二叉排序树</a:t>
            </a:r>
          </a:p>
        </p:txBody>
      </p:sp>
      <p:grpSp>
        <p:nvGrpSpPr>
          <p:cNvPr id="3" name="Group 99"/>
          <p:cNvGrpSpPr/>
          <p:nvPr/>
        </p:nvGrpSpPr>
        <p:grpSpPr>
          <a:xfrm>
            <a:off x="4973638" y="2859088"/>
            <a:ext cx="2971800" cy="2819400"/>
            <a:chOff x="3024" y="1434"/>
            <a:chExt cx="1872" cy="1776"/>
          </a:xfrm>
        </p:grpSpPr>
        <p:sp>
          <p:nvSpPr>
            <p:cNvPr id="51214" name="Oval 84"/>
            <p:cNvSpPr>
              <a:spLocks noChangeArrowheads="1"/>
            </p:cNvSpPr>
            <p:nvPr/>
          </p:nvSpPr>
          <p:spPr bwMode="auto">
            <a:xfrm>
              <a:off x="3024" y="1434"/>
              <a:ext cx="384" cy="384"/>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12</a:t>
              </a:r>
            </a:p>
          </p:txBody>
        </p:sp>
        <p:sp>
          <p:nvSpPr>
            <p:cNvPr id="51215" name="Oval 85"/>
            <p:cNvSpPr>
              <a:spLocks noChangeArrowheads="1"/>
            </p:cNvSpPr>
            <p:nvPr/>
          </p:nvSpPr>
          <p:spPr bwMode="auto">
            <a:xfrm>
              <a:off x="3408" y="1770"/>
              <a:ext cx="384" cy="384"/>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24</a:t>
              </a:r>
            </a:p>
          </p:txBody>
        </p:sp>
        <p:sp>
          <p:nvSpPr>
            <p:cNvPr id="51216" name="Oval 86"/>
            <p:cNvSpPr>
              <a:spLocks noChangeArrowheads="1"/>
            </p:cNvSpPr>
            <p:nvPr/>
          </p:nvSpPr>
          <p:spPr bwMode="auto">
            <a:xfrm>
              <a:off x="3744" y="2106"/>
              <a:ext cx="432" cy="384"/>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37</a:t>
              </a:r>
            </a:p>
          </p:txBody>
        </p:sp>
        <p:sp>
          <p:nvSpPr>
            <p:cNvPr id="51217" name="Oval 87"/>
            <p:cNvSpPr>
              <a:spLocks noChangeArrowheads="1"/>
            </p:cNvSpPr>
            <p:nvPr/>
          </p:nvSpPr>
          <p:spPr bwMode="auto">
            <a:xfrm>
              <a:off x="4128" y="2490"/>
              <a:ext cx="384" cy="384"/>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40</a:t>
              </a:r>
            </a:p>
          </p:txBody>
        </p:sp>
        <p:sp>
          <p:nvSpPr>
            <p:cNvPr id="51218" name="Oval 88"/>
            <p:cNvSpPr>
              <a:spLocks noChangeArrowheads="1"/>
            </p:cNvSpPr>
            <p:nvPr/>
          </p:nvSpPr>
          <p:spPr bwMode="auto">
            <a:xfrm>
              <a:off x="4512" y="2826"/>
              <a:ext cx="384" cy="384"/>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bg1"/>
                  </a:solidFill>
                  <a:effectLst/>
                  <a:uLnTx/>
                  <a:uFillTx/>
                  <a:latin typeface="+mn-lt"/>
                  <a:ea typeface="+mn-ea"/>
                  <a:cs typeface="+mn-ea"/>
                  <a:sym typeface="+mn-lt"/>
                </a:rPr>
                <a:t>55</a:t>
              </a:r>
            </a:p>
          </p:txBody>
        </p:sp>
        <p:sp>
          <p:nvSpPr>
            <p:cNvPr id="51219" name="Line 89"/>
            <p:cNvSpPr>
              <a:spLocks noChangeShapeType="1"/>
            </p:cNvSpPr>
            <p:nvPr/>
          </p:nvSpPr>
          <p:spPr bwMode="auto">
            <a:xfrm>
              <a:off x="3360" y="1770"/>
              <a:ext cx="96" cy="96"/>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51220" name="Line 90"/>
            <p:cNvSpPr>
              <a:spLocks noChangeShapeType="1"/>
            </p:cNvSpPr>
            <p:nvPr/>
          </p:nvSpPr>
          <p:spPr bwMode="auto">
            <a:xfrm>
              <a:off x="3744" y="2106"/>
              <a:ext cx="48" cy="48"/>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51221" name="Line 91"/>
            <p:cNvSpPr>
              <a:spLocks noChangeShapeType="1"/>
            </p:cNvSpPr>
            <p:nvPr/>
          </p:nvSpPr>
          <p:spPr bwMode="auto">
            <a:xfrm>
              <a:off x="4080" y="2442"/>
              <a:ext cx="96" cy="96"/>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51222" name="Line 92"/>
            <p:cNvSpPr>
              <a:spLocks noChangeShapeType="1"/>
            </p:cNvSpPr>
            <p:nvPr/>
          </p:nvSpPr>
          <p:spPr bwMode="auto">
            <a:xfrm>
              <a:off x="4464" y="2823"/>
              <a:ext cx="96" cy="51"/>
            </a:xfrm>
            <a:prstGeom prst="line">
              <a:avLst/>
            </a:prstGeom>
            <a:noFill/>
            <a:ln w="9525">
              <a:solidFill>
                <a:schemeClr val="tx1"/>
              </a:solidFill>
              <a:roun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bg1"/>
                </a:solidFill>
                <a:effectLst/>
                <a:uLnTx/>
                <a:uFillTx/>
                <a:latin typeface="+mn-lt"/>
                <a:ea typeface="+mn-ea"/>
                <a:cs typeface="+mn-ea"/>
                <a:sym typeface="+mn-lt"/>
              </a:endParaRPr>
            </a:p>
          </p:txBody>
        </p:sp>
      </p:grpSp>
      <p:sp>
        <p:nvSpPr>
          <p:cNvPr id="51223" name="Text Box 93"/>
          <p:cNvSpPr txBox="1">
            <a:spLocks noChangeArrowheads="1"/>
          </p:cNvSpPr>
          <p:nvPr/>
        </p:nvSpPr>
        <p:spPr bwMode="auto">
          <a:xfrm>
            <a:off x="955675" y="2058988"/>
            <a:ext cx="3165475" cy="4572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55</a:t>
            </a:r>
          </a:p>
        </p:txBody>
      </p:sp>
      <p:sp>
        <p:nvSpPr>
          <p:cNvPr id="51224" name="Line 94"/>
          <p:cNvSpPr>
            <a:spLocks noChangeShapeType="1"/>
          </p:cNvSpPr>
          <p:nvPr/>
        </p:nvSpPr>
        <p:spPr bwMode="auto">
          <a:xfrm>
            <a:off x="1077913" y="2636838"/>
            <a:ext cx="2738438" cy="0"/>
          </a:xfrm>
          <a:prstGeom prst="line">
            <a:avLst/>
          </a:prstGeom>
          <a:noFill/>
          <a:ln w="5715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225" name="Line 95"/>
          <p:cNvSpPr>
            <a:spLocks noChangeShapeType="1"/>
          </p:cNvSpPr>
          <p:nvPr/>
        </p:nvSpPr>
        <p:spPr bwMode="auto">
          <a:xfrm>
            <a:off x="4589463" y="2636838"/>
            <a:ext cx="2819400" cy="0"/>
          </a:xfrm>
          <a:prstGeom prst="line">
            <a:avLst/>
          </a:prstGeom>
          <a:noFill/>
          <a:ln w="57150">
            <a:solidFill>
              <a:srgbClr val="FF0000"/>
            </a:solidFill>
            <a:round/>
            <a:tailEnd type="triangle" w="med" len="med"/>
          </a:ln>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51226" name="Text Box 97"/>
          <p:cNvSpPr txBox="1">
            <a:spLocks noChangeArrowheads="1"/>
          </p:cNvSpPr>
          <p:nvPr/>
        </p:nvSpPr>
        <p:spPr bwMode="auto">
          <a:xfrm>
            <a:off x="4445000" y="2065338"/>
            <a:ext cx="3213100" cy="457200"/>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anose="02010609030101010101" charset="-122"/>
              </a:defRPr>
            </a:lvl1pPr>
            <a:lvl2pPr>
              <a:defRPr sz="2800" b="1">
                <a:solidFill>
                  <a:schemeClr val="tx1"/>
                </a:solidFill>
                <a:latin typeface="Times New Roman" panose="02020603050405020304" pitchFamily="18" charset="0"/>
                <a:ea typeface="楷体_GB2312" panose="02010609030101010101" charset="-122"/>
              </a:defRPr>
            </a:lvl2pPr>
            <a:lvl3pPr>
              <a:defRPr sz="2800" b="1">
                <a:solidFill>
                  <a:schemeClr val="tx1"/>
                </a:solidFill>
                <a:latin typeface="Times New Roman" panose="02020603050405020304" pitchFamily="18" charset="0"/>
                <a:ea typeface="楷体_GB2312" panose="02010609030101010101" charset="-122"/>
              </a:defRPr>
            </a:lvl3pPr>
            <a:lvl4pPr>
              <a:defRPr sz="2800" b="1">
                <a:solidFill>
                  <a:schemeClr val="tx1"/>
                </a:solidFill>
                <a:latin typeface="Times New Roman" panose="02020603050405020304" pitchFamily="18" charset="0"/>
                <a:ea typeface="楷体_GB2312" panose="02010609030101010101" charset="-122"/>
              </a:defRPr>
            </a:lvl4pPr>
            <a:lvl5pPr>
              <a:defRPr sz="2800" b="1">
                <a:solidFill>
                  <a:schemeClr val="tx1"/>
                </a:solidFill>
                <a:latin typeface="Times New Roman" panose="02020603050405020304" pitchFamily="18" charset="0"/>
                <a:ea typeface="楷体_GB2312" panose="02010609030101010101"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panose="02010609030101010101"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12</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24</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37</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40</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55</a:t>
            </a:r>
          </a:p>
        </p:txBody>
      </p:sp>
      <p:sp>
        <p:nvSpPr>
          <p:cNvPr id="51227" name="Rectangle 100"/>
          <p:cNvSpPr>
            <a:spLocks noChangeArrowheads="1"/>
          </p:cNvSpPr>
          <p:nvPr/>
        </p:nvSpPr>
        <p:spPr bwMode="auto">
          <a:xfrm>
            <a:off x="790575" y="206375"/>
            <a:ext cx="5395913" cy="515938"/>
          </a:xfrm>
          <a:prstGeom prst="rect">
            <a:avLst/>
          </a:prstGeom>
          <a:noFill/>
          <a:ln>
            <a:noFill/>
          </a:ln>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二叉排序树的操作－生成</a:t>
            </a:r>
          </a:p>
        </p:txBody>
      </p:sp>
    </p:spTree>
    <p:extLst>
      <p:ext uri="{BB962C8B-B14F-4D97-AF65-F5344CB8AC3E}">
        <p14:creationId xmlns:p14="http://schemas.microsoft.com/office/powerpoint/2010/main" val="145709803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00" fill="hold"/>
                                        <p:tgtEl>
                                          <p:spTgt spid="3"/>
                                        </p:tgtEl>
                                        <p:attrNameLst>
                                          <p:attrName>ppt_x</p:attrName>
                                        </p:attrNameLst>
                                      </p:cBhvr>
                                      <p:tavLst>
                                        <p:tav tm="0">
                                          <p:val>
                                            <p:strVal val="#ppt_x"/>
                                          </p:val>
                                        </p:tav>
                                        <p:tav tm="100000">
                                          <p:val>
                                            <p:strVal val="#ppt_x"/>
                                          </p:val>
                                        </p:tav>
                                      </p:tavLst>
                                    </p:anim>
                                    <p:anim calcmode="lin" valueType="num">
                                      <p:cBhvr additive="base">
                                        <p:cTn id="1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2226" name="Rectangle 4"/>
          <p:cNvSpPr>
            <a:spLocks noChangeArrowheads="1"/>
          </p:cNvSpPr>
          <p:nvPr/>
        </p:nvSpPr>
        <p:spPr bwMode="auto">
          <a:xfrm>
            <a:off x="827088" y="220663"/>
            <a:ext cx="6403975" cy="515938"/>
          </a:xfrm>
          <a:prstGeom prst="rect">
            <a:avLst/>
          </a:prstGeom>
          <a:noFill/>
          <a:ln>
            <a:noFill/>
          </a:ln>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二叉排序树的操作－删除</a:t>
            </a:r>
          </a:p>
        </p:txBody>
      </p:sp>
      <p:sp>
        <p:nvSpPr>
          <p:cNvPr id="5" name="椭圆 6"/>
          <p:cNvSpPr>
            <a:spLocks noChangeArrowheads="1"/>
          </p:cNvSpPr>
          <p:nvPr/>
        </p:nvSpPr>
        <p:spPr bwMode="auto">
          <a:xfrm>
            <a:off x="979488" y="4559300"/>
            <a:ext cx="95250" cy="155575"/>
          </a:xfrm>
          <a:prstGeom prst="ellipse">
            <a:avLst/>
          </a:prstGeom>
          <a:solidFill>
            <a:srgbClr val="A5A5E9"/>
          </a:solidFill>
          <a:ln>
            <a:noFill/>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defRPr/>
            </a:pPr>
            <a:endParaRPr kumimoji="0" lang="zh-CN" altLang="en-US" sz="2800" b="1" i="0" u="none" strike="noStrike" kern="1200" cap="none" spc="0" normalizeH="0" baseline="0" noProof="0">
              <a:ln>
                <a:noFill/>
              </a:ln>
              <a:solidFill>
                <a:srgbClr val="FFFFFF"/>
              </a:solidFill>
              <a:effectLst/>
              <a:uLnTx/>
              <a:uFillTx/>
              <a:latin typeface="+mn-lt"/>
              <a:ea typeface="+mn-ea"/>
              <a:cs typeface="+mn-ea"/>
              <a:sym typeface="+mn-lt"/>
            </a:endParaRPr>
          </a:p>
        </p:txBody>
      </p:sp>
      <p:sp>
        <p:nvSpPr>
          <p:cNvPr id="6" name="椭圆 6"/>
          <p:cNvSpPr>
            <a:spLocks noChangeArrowheads="1"/>
          </p:cNvSpPr>
          <p:nvPr/>
        </p:nvSpPr>
        <p:spPr bwMode="auto">
          <a:xfrm>
            <a:off x="309563" y="4568825"/>
            <a:ext cx="95250" cy="155575"/>
          </a:xfrm>
          <a:prstGeom prst="ellipse">
            <a:avLst/>
          </a:prstGeom>
          <a:solidFill>
            <a:srgbClr val="595959"/>
          </a:solidFill>
          <a:ln>
            <a:noFill/>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defRPr/>
            </a:pPr>
            <a:endParaRPr kumimoji="0" lang="zh-CN" altLang="en-US" sz="2800" b="1" i="0" u="none" strike="noStrike" kern="1200" cap="none" spc="0" normalizeH="0" baseline="0" noProof="0">
              <a:ln>
                <a:noFill/>
              </a:ln>
              <a:solidFill>
                <a:srgbClr val="FFFFFF"/>
              </a:solidFill>
              <a:effectLst/>
              <a:uLnTx/>
              <a:uFillTx/>
              <a:latin typeface="+mn-lt"/>
              <a:ea typeface="+mn-ea"/>
              <a:cs typeface="+mn-ea"/>
              <a:sym typeface="+mn-lt"/>
            </a:endParaRPr>
          </a:p>
        </p:txBody>
      </p:sp>
      <p:sp>
        <p:nvSpPr>
          <p:cNvPr id="7" name="椭圆 11"/>
          <p:cNvSpPr>
            <a:spLocks noChangeArrowheads="1"/>
          </p:cNvSpPr>
          <p:nvPr/>
        </p:nvSpPr>
        <p:spPr bwMode="auto">
          <a:xfrm>
            <a:off x="304800" y="2201863"/>
            <a:ext cx="96838" cy="155575"/>
          </a:xfrm>
          <a:prstGeom prst="ellipse">
            <a:avLst/>
          </a:prstGeom>
          <a:solidFill>
            <a:srgbClr val="595959"/>
          </a:solidFill>
          <a:ln>
            <a:noFill/>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defRPr/>
            </a:pPr>
            <a:endParaRPr kumimoji="0" lang="zh-CN" altLang="en-US" sz="2800" b="1" i="0" u="none" strike="noStrike" kern="1200" cap="none" spc="0" normalizeH="0" baseline="0" noProof="0">
              <a:ln>
                <a:noFill/>
              </a:ln>
              <a:solidFill>
                <a:srgbClr val="FFFFFF"/>
              </a:solidFill>
              <a:effectLst/>
              <a:uLnTx/>
              <a:uFillTx/>
              <a:latin typeface="+mn-lt"/>
              <a:ea typeface="+mn-ea"/>
              <a:cs typeface="+mn-ea"/>
              <a:sym typeface="+mn-lt"/>
            </a:endParaRPr>
          </a:p>
        </p:txBody>
      </p:sp>
      <p:sp>
        <p:nvSpPr>
          <p:cNvPr id="8" name="矩形 7"/>
          <p:cNvSpPr>
            <a:spLocks noChangeArrowheads="1"/>
          </p:cNvSpPr>
          <p:nvPr/>
        </p:nvSpPr>
        <p:spPr bwMode="auto">
          <a:xfrm>
            <a:off x="3175" y="2312988"/>
            <a:ext cx="9140825" cy="2339975"/>
          </a:xfrm>
          <a:prstGeom prst="rect">
            <a:avLst/>
          </a:prstGeom>
          <a:solidFill>
            <a:srgbClr val="F2F2F2"/>
          </a:solidFill>
          <a:ln>
            <a:noFill/>
          </a:ln>
        </p:spPr>
        <p:txBody>
          <a:bodyPr lIns="4248000" rIns="252000" anchor="ctr"/>
          <a:lstStyle/>
          <a:p>
            <a:pPr marL="0" marR="0" lvl="0" indent="0" algn="just" defTabSz="914400" rtl="0" eaLnBrk="1" fontAlgn="base" latinLnBrk="0" hangingPunct="1">
              <a:lnSpc>
                <a:spcPct val="130000"/>
              </a:lnSpc>
              <a:spcBef>
                <a:spcPts val="600"/>
              </a:spcBef>
              <a:spcAft>
                <a:spcPts val="600"/>
              </a:spcAft>
              <a:buClrTx/>
              <a:buSzTx/>
              <a:buFontTx/>
              <a:buNone/>
              <a:defRPr/>
            </a:pPr>
            <a:endParaRPr kumimoji="0" lang="zh-CN" altLang="en-US" sz="2800" b="1" i="0" u="none" strike="noStrike" kern="120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sp>
        <p:nvSpPr>
          <p:cNvPr id="9" name="圆角矩形 15"/>
          <p:cNvSpPr>
            <a:spLocks noChangeArrowheads="1"/>
          </p:cNvSpPr>
          <p:nvPr/>
        </p:nvSpPr>
        <p:spPr bwMode="auto">
          <a:xfrm>
            <a:off x="334963" y="2198688"/>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C00000"/>
          </a:solidFill>
          <a:ln>
            <a:noFill/>
          </a:ln>
        </p:spPr>
        <p:txBody>
          <a:bodyPr vert="eaVert" lIns="72000" tIns="0" rIns="0" bIns="0"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2" name="椭圆 11"/>
          <p:cNvSpPr>
            <a:spLocks noChangeArrowheads="1"/>
          </p:cNvSpPr>
          <p:nvPr/>
        </p:nvSpPr>
        <p:spPr bwMode="auto">
          <a:xfrm>
            <a:off x="974725" y="2192338"/>
            <a:ext cx="96838" cy="155575"/>
          </a:xfrm>
          <a:prstGeom prst="ellipse">
            <a:avLst/>
          </a:prstGeom>
          <a:solidFill>
            <a:srgbClr val="A5A5E9"/>
          </a:solidFill>
          <a:ln>
            <a:noFill/>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defRPr/>
            </a:pPr>
            <a:endParaRPr kumimoji="0" lang="zh-CN" altLang="en-US" sz="2800" b="1" i="0" u="none" strike="noStrike" kern="1200" cap="none" spc="0" normalizeH="0" baseline="0" noProof="0">
              <a:ln>
                <a:noFill/>
              </a:ln>
              <a:solidFill>
                <a:srgbClr val="FFFFFF"/>
              </a:solidFill>
              <a:effectLst/>
              <a:uLnTx/>
              <a:uFillTx/>
              <a:latin typeface="+mn-lt"/>
              <a:ea typeface="+mn-ea"/>
              <a:cs typeface="+mn-ea"/>
              <a:sym typeface="+mn-lt"/>
            </a:endParaRPr>
          </a:p>
        </p:txBody>
      </p:sp>
      <p:sp>
        <p:nvSpPr>
          <p:cNvPr id="13" name="圆角矩形 15"/>
          <p:cNvSpPr>
            <a:spLocks noChangeArrowheads="1"/>
          </p:cNvSpPr>
          <p:nvPr/>
        </p:nvSpPr>
        <p:spPr bwMode="auto">
          <a:xfrm>
            <a:off x="1004888" y="2189163"/>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A5A5E9"/>
          </a:solidFill>
          <a:ln>
            <a:noFill/>
          </a:ln>
        </p:spPr>
        <p:txBody>
          <a:bodyPr vert="eaVert" lIns="72000" tIns="0" rIns="0" bIns="0"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20933" name="Rectangle 5"/>
          <p:cNvSpPr>
            <a:spLocks noGrp="1" noChangeArrowheads="1"/>
          </p:cNvSpPr>
          <p:nvPr>
            <p:ph idx="1"/>
          </p:nvPr>
        </p:nvSpPr>
        <p:spPr>
          <a:xfrm>
            <a:off x="1522413" y="2928938"/>
            <a:ext cx="7183438" cy="1065213"/>
          </a:xfrm>
        </p:spPr>
        <p:txBody>
          <a:bodyPr vert="horz" wrap="square" lIns="91440" tIns="45720" rIns="91440" bIns="45720" numCol="1" anchor="t" anchorCtr="0" compatLnSpc="1"/>
          <a:lstStyle/>
          <a:p>
            <a:pPr marL="0" marR="0" lvl="0" indent="538480" algn="l" defTabSz="914400" rtl="0" eaLnBrk="0" fontAlgn="base" latinLnBrk="0" hangingPunct="0">
              <a:lnSpc>
                <a:spcPct val="130000"/>
              </a:lnSpc>
              <a:spcBef>
                <a:spcPct val="0"/>
              </a:spcBef>
              <a:spcAft>
                <a:spcPct val="0"/>
              </a:spcAft>
              <a:buClrTx/>
              <a:buSzTx/>
              <a:buFontTx/>
              <a:buNone/>
              <a:defRPr/>
            </a:pPr>
            <a:r>
              <a:rPr kumimoji="1" lang="zh-CN" altLang="en-US" sz="2400" b="0" i="0" u="none" strike="noStrike" kern="0" cap="none" spc="0" normalizeH="0" baseline="0" noProof="0" dirty="0">
                <a:ln>
                  <a:noFill/>
                </a:ln>
                <a:solidFill>
                  <a:schemeClr val="tx1"/>
                </a:solidFill>
                <a:effectLst/>
                <a:uLnTx/>
                <a:uFillTx/>
                <a:latin typeface="+mn-lt"/>
                <a:ea typeface="+mn-ea"/>
                <a:cs typeface="+mn-ea"/>
                <a:sym typeface="+mn-lt"/>
              </a:rPr>
              <a:t>将因删除结点而断开的二叉链表重新链接起来</a:t>
            </a:r>
          </a:p>
          <a:p>
            <a:pPr marL="0" marR="0" lvl="0" indent="538480" algn="l" defTabSz="914400" rtl="0" eaLnBrk="0" fontAlgn="base" latinLnBrk="0" hangingPunct="0">
              <a:lnSpc>
                <a:spcPct val="130000"/>
              </a:lnSpc>
              <a:spcBef>
                <a:spcPct val="0"/>
              </a:spcBef>
              <a:spcAft>
                <a:spcPct val="0"/>
              </a:spcAft>
              <a:buClrTx/>
              <a:buSzTx/>
              <a:buFontTx/>
              <a:buNone/>
              <a:defRPr/>
            </a:pPr>
            <a:r>
              <a:rPr kumimoji="1" lang="zh-CN" altLang="en-US" sz="2400" b="0" i="0" u="none" strike="noStrike" kern="0" cap="none" spc="0" normalizeH="0" baseline="0" noProof="0" dirty="0">
                <a:ln>
                  <a:noFill/>
                </a:ln>
                <a:solidFill>
                  <a:schemeClr val="tx1"/>
                </a:solidFill>
                <a:effectLst/>
                <a:uLnTx/>
                <a:uFillTx/>
                <a:latin typeface="+mn-lt"/>
                <a:ea typeface="+mn-ea"/>
                <a:cs typeface="+mn-ea"/>
                <a:sym typeface="+mn-lt"/>
              </a:rPr>
              <a:t>防止重新链接后树的高度增加</a:t>
            </a:r>
          </a:p>
        </p:txBody>
      </p:sp>
    </p:spTree>
    <p:extLst>
      <p:ext uri="{BB962C8B-B14F-4D97-AF65-F5344CB8AC3E}">
        <p14:creationId xmlns:p14="http://schemas.microsoft.com/office/powerpoint/2010/main" val="36588233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69633" name="Picture 5"/>
          <p:cNvPicPr>
            <a:picLocks noChangeAspect="1"/>
          </p:cNvPicPr>
          <p:nvPr/>
        </p:nvPicPr>
        <p:blipFill>
          <a:blip r:embed="rId2"/>
          <a:stretch>
            <a:fillRect/>
          </a:stretch>
        </p:blipFill>
        <p:spPr>
          <a:xfrm>
            <a:off x="0" y="954088"/>
            <a:ext cx="9144000" cy="2835275"/>
          </a:xfrm>
          <a:prstGeom prst="rect">
            <a:avLst/>
          </a:prstGeom>
          <a:noFill/>
          <a:ln w="9525">
            <a:noFill/>
          </a:ln>
        </p:spPr>
      </p:pic>
      <p:pic>
        <p:nvPicPr>
          <p:cNvPr id="69634" name="Picture 6"/>
          <p:cNvPicPr>
            <a:picLocks noChangeAspect="1"/>
          </p:cNvPicPr>
          <p:nvPr/>
        </p:nvPicPr>
        <p:blipFill>
          <a:blip r:embed="rId3"/>
          <a:stretch>
            <a:fillRect/>
          </a:stretch>
        </p:blipFill>
        <p:spPr>
          <a:xfrm>
            <a:off x="0" y="3789363"/>
            <a:ext cx="9144000" cy="2830512"/>
          </a:xfrm>
          <a:prstGeom prst="rect">
            <a:avLst/>
          </a:prstGeom>
          <a:noFill/>
          <a:ln w="9525">
            <a:noFill/>
          </a:ln>
        </p:spPr>
      </p:pic>
      <p:sp>
        <p:nvSpPr>
          <p:cNvPr id="6" name="Rectangle 4"/>
          <p:cNvSpPr>
            <a:spLocks noChangeArrowheads="1"/>
          </p:cNvSpPr>
          <p:nvPr/>
        </p:nvSpPr>
        <p:spPr bwMode="auto">
          <a:xfrm>
            <a:off x="827088" y="220663"/>
            <a:ext cx="6403975" cy="515938"/>
          </a:xfrm>
          <a:prstGeom prst="rect">
            <a:avLst/>
          </a:prstGeom>
          <a:noFill/>
          <a:ln>
            <a:noFill/>
          </a:ln>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二叉排序树的操作－删除</a:t>
            </a:r>
          </a:p>
        </p:txBody>
      </p:sp>
      <p:sp>
        <p:nvSpPr>
          <p:cNvPr id="2" name="矩形 1"/>
          <p:cNvSpPr/>
          <p:nvPr/>
        </p:nvSpPr>
        <p:spPr bwMode="auto">
          <a:xfrm>
            <a:off x="0" y="6619875"/>
            <a:ext cx="9144000" cy="122238"/>
          </a:xfrm>
          <a:prstGeom prst="rect">
            <a:avLst/>
          </a:prstGeom>
          <a:solidFill>
            <a:schemeClr val="accent1"/>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Tree>
    <p:extLst>
      <p:ext uri="{BB962C8B-B14F-4D97-AF65-F5344CB8AC3E}">
        <p14:creationId xmlns:p14="http://schemas.microsoft.com/office/powerpoint/2010/main" val="224403420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46532" name="Rectangle 4"/>
          <p:cNvSpPr>
            <a:spLocks noChangeArrowheads="1"/>
          </p:cNvSpPr>
          <p:nvPr/>
        </p:nvSpPr>
        <p:spPr bwMode="auto">
          <a:xfrm>
            <a:off x="1870075" y="1196975"/>
            <a:ext cx="6878638" cy="5151438"/>
          </a:xfrm>
          <a:prstGeom prst="rect">
            <a:avLst/>
          </a:prstGeom>
          <a:noFill/>
          <a:ln w="9525">
            <a:noFill/>
            <a:miter lim="800000"/>
          </a:ln>
          <a:effectLst/>
        </p:spPr>
        <p:txBody>
          <a:bodyPr>
            <a:spAutoFit/>
          </a:bodyPr>
          <a:lstStyle/>
          <a:p>
            <a:pPr marL="0" marR="0" lvl="0" indent="0" algn="l" defTabSz="914400" rtl="0" eaLnBrk="0" fontAlgn="base" latinLnBrk="0" hangingPunct="0">
              <a:lnSpc>
                <a:spcPct val="125000"/>
              </a:lnSpc>
              <a:spcBef>
                <a:spcPct val="50000"/>
              </a:spcBef>
              <a:spcAft>
                <a:spcPct val="0"/>
              </a:spcAft>
              <a:buClrTx/>
              <a:buSzTx/>
              <a:buFontTx/>
              <a:buNone/>
              <a:defRPr/>
            </a:pPr>
            <a:r>
              <a:rPr kumimoji="1" lang="zh-CN" altLang="en-US" sz="2400" b="0" i="0" u="sng" strike="noStrike" kern="1200" cap="none" spc="0" normalizeH="0" baseline="0" noProof="0" dirty="0">
                <a:ln>
                  <a:noFill/>
                </a:ln>
                <a:solidFill>
                  <a:srgbClr val="FF0000"/>
                </a:solidFill>
                <a:effectLst/>
                <a:uLnTx/>
                <a:uFillTx/>
                <a:latin typeface="+mn-lt"/>
                <a:ea typeface="+mn-ea"/>
                <a:cs typeface="+mn-ea"/>
                <a:sym typeface="+mn-lt"/>
              </a:rPr>
              <a:t>删除叶结点</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，只需将其双亲结点指向它的指针清零，再释放它即可。</a:t>
            </a:r>
          </a:p>
          <a:p>
            <a:pPr marL="0" marR="0" lvl="0" indent="0" algn="l" defTabSz="914400" rtl="0" eaLnBrk="0" fontAlgn="base" latinLnBrk="0" hangingPunct="0">
              <a:lnSpc>
                <a:spcPct val="125000"/>
              </a:lnSpc>
              <a:spcBef>
                <a:spcPct val="50000"/>
              </a:spcBef>
              <a:spcAft>
                <a:spcPct val="0"/>
              </a:spcAft>
              <a:buClrTx/>
              <a:buSzTx/>
              <a:buFontTx/>
              <a:buNone/>
              <a:defRPr/>
            </a:pPr>
            <a:r>
              <a:rPr kumimoji="1" lang="zh-CN" altLang="en-US" sz="2400" b="0" i="0" u="sng" strike="noStrike" kern="1200" cap="none" spc="0" normalizeH="0" baseline="0" noProof="0" dirty="0">
                <a:ln>
                  <a:noFill/>
                </a:ln>
                <a:solidFill>
                  <a:srgbClr val="FF0000"/>
                </a:solidFill>
                <a:effectLst/>
                <a:uLnTx/>
                <a:uFillTx/>
                <a:latin typeface="+mn-lt"/>
                <a:ea typeface="+mn-ea"/>
                <a:cs typeface="+mn-ea"/>
                <a:sym typeface="+mn-lt"/>
              </a:rPr>
              <a:t>被删结点缺右子树</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，可以拿它的左子女结点顶替它的位置，再释放它。</a:t>
            </a:r>
          </a:p>
          <a:p>
            <a:pPr marL="0" marR="0" lvl="0" indent="0" algn="l" defTabSz="914400" rtl="0" eaLnBrk="0" fontAlgn="base" latinLnBrk="0" hangingPunct="0">
              <a:lnSpc>
                <a:spcPct val="125000"/>
              </a:lnSpc>
              <a:spcBef>
                <a:spcPct val="50000"/>
              </a:spcBef>
              <a:spcAft>
                <a:spcPct val="0"/>
              </a:spcAft>
              <a:buClrTx/>
              <a:buSzTx/>
              <a:buFontTx/>
              <a:buNone/>
              <a:defRPr/>
            </a:pPr>
            <a:r>
              <a:rPr kumimoji="1" lang="zh-CN" altLang="en-US" sz="2400" b="0" i="0" u="sng" strike="noStrike" kern="1200" cap="none" spc="0" normalizeH="0" baseline="0" noProof="0" dirty="0">
                <a:ln>
                  <a:noFill/>
                </a:ln>
                <a:solidFill>
                  <a:srgbClr val="FF0000"/>
                </a:solidFill>
                <a:effectLst/>
                <a:uLnTx/>
                <a:uFillTx/>
                <a:latin typeface="+mn-lt"/>
                <a:ea typeface="+mn-ea"/>
                <a:cs typeface="+mn-ea"/>
                <a:sym typeface="+mn-lt"/>
              </a:rPr>
              <a:t>被删结点缺左子树</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，可以拿它的右子女结点顶替它的位置，再释放它。</a:t>
            </a:r>
          </a:p>
          <a:p>
            <a:pPr marL="0" marR="0" lvl="0" indent="0" algn="l" defTabSz="914400" rtl="0" eaLnBrk="0" fontAlgn="base" latinLnBrk="0" hangingPunct="0">
              <a:lnSpc>
                <a:spcPct val="125000"/>
              </a:lnSpc>
              <a:spcBef>
                <a:spcPct val="20000"/>
              </a:spcBef>
              <a:spcAft>
                <a:spcPct val="0"/>
              </a:spcAft>
              <a:buClrTx/>
              <a:buSzTx/>
              <a:buFontTx/>
              <a:buNone/>
              <a:defRPr/>
            </a:pPr>
            <a:r>
              <a:rPr kumimoji="1" lang="zh-CN" altLang="en-US" sz="2400" b="0" i="0" u="sng" strike="noStrike" kern="1200" cap="none" spc="0" normalizeH="0" baseline="0" noProof="0" dirty="0">
                <a:ln>
                  <a:noFill/>
                </a:ln>
                <a:solidFill>
                  <a:srgbClr val="FF0000"/>
                </a:solidFill>
                <a:effectLst/>
                <a:uLnTx/>
                <a:uFillTx/>
                <a:latin typeface="+mn-lt"/>
                <a:ea typeface="+mn-ea"/>
                <a:cs typeface="+mn-ea"/>
                <a:sym typeface="+mn-lt"/>
              </a:rPr>
              <a:t>被删结点左、右子树都存在</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，可以在它的右子树中寻找中序下的第一个结点</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关键码最小</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用它的值填补到被删结点中，再来处理这个结点的删除问题。</a:t>
            </a:r>
          </a:p>
        </p:txBody>
      </p:sp>
      <p:sp>
        <p:nvSpPr>
          <p:cNvPr id="4" name="Rectangle 4"/>
          <p:cNvSpPr>
            <a:spLocks noChangeArrowheads="1"/>
          </p:cNvSpPr>
          <p:nvPr/>
        </p:nvSpPr>
        <p:spPr bwMode="auto">
          <a:xfrm>
            <a:off x="827088" y="220663"/>
            <a:ext cx="6403975" cy="515938"/>
          </a:xfrm>
          <a:prstGeom prst="rect">
            <a:avLst/>
          </a:prstGeom>
          <a:noFill/>
          <a:ln>
            <a:noFill/>
          </a:ln>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二叉排序树的操作－删除</a:t>
            </a:r>
          </a:p>
        </p:txBody>
      </p:sp>
      <p:grpSp>
        <p:nvGrpSpPr>
          <p:cNvPr id="62468" name="Group 61"/>
          <p:cNvGrpSpPr/>
          <p:nvPr/>
        </p:nvGrpSpPr>
        <p:grpSpPr>
          <a:xfrm>
            <a:off x="755650" y="1249363"/>
            <a:ext cx="831850" cy="831850"/>
            <a:chOff x="6518563" y="1579415"/>
            <a:chExt cx="831273" cy="831273"/>
          </a:xfrm>
        </p:grpSpPr>
        <p:sp>
          <p:nvSpPr>
            <p:cNvPr id="37" name="Rounded Rectangle 12"/>
            <p:cNvSpPr/>
            <p:nvPr/>
          </p:nvSpPr>
          <p:spPr>
            <a:xfrm>
              <a:off x="6518563" y="1579415"/>
              <a:ext cx="831273" cy="831273"/>
            </a:xfrm>
            <a:prstGeom prst="roundRect">
              <a:avLst/>
            </a:prstGeom>
            <a:solidFill>
              <a:srgbClr val="C0504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black">
                    <a:lumMod val="65000"/>
                    <a:lumOff val="35000"/>
                  </a:prstClr>
                </a:solidFill>
                <a:effectLst/>
                <a:uLnTx/>
                <a:uFillTx/>
                <a:latin typeface="+mn-lt"/>
                <a:ea typeface="+mn-ea"/>
                <a:cs typeface="+mn-ea"/>
                <a:sym typeface="+mn-lt"/>
              </a:endParaRPr>
            </a:p>
          </p:txBody>
        </p:sp>
        <p:grpSp>
          <p:nvGrpSpPr>
            <p:cNvPr id="38" name="Group 19"/>
            <p:cNvGrpSpPr/>
            <p:nvPr/>
          </p:nvGrpSpPr>
          <p:grpSpPr>
            <a:xfrm>
              <a:off x="6702027" y="1790527"/>
              <a:ext cx="464344" cy="465138"/>
              <a:chOff x="9145588" y="4435475"/>
              <a:chExt cx="464344" cy="465138"/>
            </a:xfrm>
            <a:solidFill>
              <a:srgbClr val="EEECE1"/>
            </a:solidFill>
          </p:grpSpPr>
          <p:sp>
            <p:nvSpPr>
              <p:cNvPr id="39" name="AutoShape 7"/>
              <p:cNvSpPr/>
              <p:nvPr/>
            </p:nvSpPr>
            <p:spPr bwMode="auto">
              <a:xfrm>
                <a:off x="9145588" y="4435475"/>
                <a:ext cx="464344" cy="465138"/>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mn-lt"/>
                  <a:ea typeface="+mn-ea"/>
                  <a:cs typeface="+mn-ea"/>
                  <a:sym typeface="+mn-lt"/>
                </a:endParaRPr>
              </a:p>
            </p:txBody>
          </p:sp>
          <p:sp>
            <p:nvSpPr>
              <p:cNvPr id="40" name="AutoShape 8"/>
              <p:cNvSpPr/>
              <p:nvPr/>
            </p:nvSpPr>
            <p:spPr bwMode="auto">
              <a:xfrm>
                <a:off x="9348788" y="4638675"/>
                <a:ext cx="57944" cy="57944"/>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mn-lt"/>
                  <a:ea typeface="+mn-ea"/>
                  <a:cs typeface="+mn-ea"/>
                  <a:sym typeface="+mn-lt"/>
                </a:endParaRPr>
              </a:p>
            </p:txBody>
          </p:sp>
          <p:sp>
            <p:nvSpPr>
              <p:cNvPr id="41" name="AutoShape 9"/>
              <p:cNvSpPr/>
              <p:nvPr/>
            </p:nvSpPr>
            <p:spPr bwMode="auto">
              <a:xfrm>
                <a:off x="9290050" y="4580732"/>
                <a:ext cx="174625" cy="174625"/>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mn-lt"/>
                  <a:ea typeface="+mn-ea"/>
                  <a:cs typeface="+mn-ea"/>
                  <a:sym typeface="+mn-lt"/>
                </a:endParaRPr>
              </a:p>
            </p:txBody>
          </p:sp>
          <p:sp>
            <p:nvSpPr>
              <p:cNvPr id="42" name="AutoShape 10"/>
              <p:cNvSpPr/>
              <p:nvPr/>
            </p:nvSpPr>
            <p:spPr bwMode="auto">
              <a:xfrm>
                <a:off x="9406732" y="4696619"/>
                <a:ext cx="72231" cy="74613"/>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mn-lt"/>
                  <a:ea typeface="+mn-ea"/>
                  <a:cs typeface="+mn-ea"/>
                  <a:sym typeface="+mn-lt"/>
                </a:endParaRPr>
              </a:p>
            </p:txBody>
          </p:sp>
          <p:sp>
            <p:nvSpPr>
              <p:cNvPr id="43" name="AutoShape 11"/>
              <p:cNvSpPr/>
              <p:nvPr/>
            </p:nvSpPr>
            <p:spPr bwMode="auto">
              <a:xfrm>
                <a:off x="9435307" y="4725988"/>
                <a:ext cx="103981" cy="106363"/>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mn-lt"/>
                  <a:ea typeface="+mn-ea"/>
                  <a:cs typeface="+mn-ea"/>
                  <a:sym typeface="+mn-lt"/>
                </a:endParaRPr>
              </a:p>
            </p:txBody>
          </p:sp>
          <p:sp>
            <p:nvSpPr>
              <p:cNvPr id="44" name="AutoShape 12"/>
              <p:cNvSpPr/>
              <p:nvPr/>
            </p:nvSpPr>
            <p:spPr bwMode="auto">
              <a:xfrm>
                <a:off x="9421019" y="4711700"/>
                <a:ext cx="88106" cy="89694"/>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mn-lt"/>
                  <a:ea typeface="+mn-ea"/>
                  <a:cs typeface="+mn-ea"/>
                  <a:sym typeface="+mn-lt"/>
                </a:endParaRPr>
              </a:p>
            </p:txBody>
          </p:sp>
          <p:sp>
            <p:nvSpPr>
              <p:cNvPr id="45" name="AutoShape 13"/>
              <p:cNvSpPr/>
              <p:nvPr/>
            </p:nvSpPr>
            <p:spPr bwMode="auto">
              <a:xfrm>
                <a:off x="9275763" y="4566444"/>
                <a:ext cx="73025" cy="73819"/>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mn-lt"/>
                  <a:ea typeface="+mn-ea"/>
                  <a:cs typeface="+mn-ea"/>
                  <a:sym typeface="+mn-lt"/>
                </a:endParaRPr>
              </a:p>
            </p:txBody>
          </p:sp>
          <p:sp>
            <p:nvSpPr>
              <p:cNvPr id="46" name="AutoShape 14"/>
              <p:cNvSpPr/>
              <p:nvPr/>
            </p:nvSpPr>
            <p:spPr bwMode="auto">
              <a:xfrm>
                <a:off x="9217819" y="4508500"/>
                <a:ext cx="103981" cy="105569"/>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mn-lt"/>
                  <a:ea typeface="+mn-ea"/>
                  <a:cs typeface="+mn-ea"/>
                  <a:sym typeface="+mn-lt"/>
                </a:endParaRPr>
              </a:p>
            </p:txBody>
          </p:sp>
          <p:sp>
            <p:nvSpPr>
              <p:cNvPr id="47" name="AutoShape 15"/>
              <p:cNvSpPr/>
              <p:nvPr/>
            </p:nvSpPr>
            <p:spPr bwMode="auto">
              <a:xfrm>
                <a:off x="9247188" y="4537075"/>
                <a:ext cx="88107" cy="90488"/>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lumMod val="65000"/>
                      <a:lumOff val="35000"/>
                    </a:prstClr>
                  </a:solidFill>
                  <a:effectLst/>
                  <a:uLnTx/>
                  <a:uFillTx/>
                  <a:latin typeface="+mn-lt"/>
                  <a:ea typeface="+mn-ea"/>
                  <a:cs typeface="+mn-ea"/>
                  <a:sym typeface="+mn-lt"/>
                </a:endParaRPr>
              </a:p>
            </p:txBody>
          </p:sp>
        </p:grpSp>
      </p:grpSp>
      <p:grpSp>
        <p:nvGrpSpPr>
          <p:cNvPr id="62469" name="Group 62"/>
          <p:cNvGrpSpPr/>
          <p:nvPr/>
        </p:nvGrpSpPr>
        <p:grpSpPr>
          <a:xfrm>
            <a:off x="755650" y="2381250"/>
            <a:ext cx="831850" cy="831850"/>
            <a:chOff x="6518563" y="2750124"/>
            <a:chExt cx="831273" cy="831273"/>
          </a:xfrm>
        </p:grpSpPr>
        <p:sp>
          <p:nvSpPr>
            <p:cNvPr id="49" name="Rounded Rectangle 13"/>
            <p:cNvSpPr/>
            <p:nvPr/>
          </p:nvSpPr>
          <p:spPr>
            <a:xfrm>
              <a:off x="6518563" y="2750124"/>
              <a:ext cx="831273" cy="831273"/>
            </a:xfrm>
            <a:prstGeom prst="roundRect">
              <a:avLst/>
            </a:prstGeom>
            <a:solidFill>
              <a:srgbClr val="8064A2"/>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black">
                    <a:lumMod val="65000"/>
                    <a:lumOff val="35000"/>
                  </a:prstClr>
                </a:solidFill>
                <a:effectLst/>
                <a:uLnTx/>
                <a:uFillTx/>
                <a:latin typeface="+mn-lt"/>
                <a:ea typeface="+mn-ea"/>
                <a:cs typeface="+mn-ea"/>
                <a:sym typeface="+mn-lt"/>
              </a:endParaRPr>
            </a:p>
          </p:txBody>
        </p:sp>
        <p:grpSp>
          <p:nvGrpSpPr>
            <p:cNvPr id="50" name="Group 29"/>
            <p:cNvGrpSpPr/>
            <p:nvPr/>
          </p:nvGrpSpPr>
          <p:grpSpPr>
            <a:xfrm>
              <a:off x="6772671" y="2933191"/>
              <a:ext cx="319088" cy="465138"/>
              <a:chOff x="5441157" y="4440238"/>
              <a:chExt cx="319088" cy="465138"/>
            </a:xfrm>
            <a:solidFill>
              <a:srgbClr val="EEECE1"/>
            </a:solidFill>
          </p:grpSpPr>
          <p:sp>
            <p:nvSpPr>
              <p:cNvPr id="51" name="AutoShape 97"/>
              <p:cNvSpPr/>
              <p:nvPr/>
            </p:nvSpPr>
            <p:spPr bwMode="auto">
              <a:xfrm>
                <a:off x="5441157" y="4440238"/>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6" y="3374"/>
                    </a:moveTo>
                    <a:lnTo>
                      <a:pt x="1963" y="3375"/>
                    </a:lnTo>
                    <a:lnTo>
                      <a:pt x="1963" y="2025"/>
                    </a:lnTo>
                    <a:cubicBezTo>
                      <a:pt x="1963" y="1653"/>
                      <a:pt x="2402" y="1350"/>
                      <a:pt x="2945" y="1350"/>
                    </a:cubicBezTo>
                    <a:lnTo>
                      <a:pt x="18654" y="1349"/>
                    </a:lnTo>
                    <a:cubicBezTo>
                      <a:pt x="19195" y="1349"/>
                      <a:pt x="19636" y="1652"/>
                      <a:pt x="19636" y="2024"/>
                    </a:cubicBezTo>
                    <a:cubicBezTo>
                      <a:pt x="19636" y="2024"/>
                      <a:pt x="19636" y="3374"/>
                      <a:pt x="19636" y="3374"/>
                    </a:cubicBezTo>
                    <a:close/>
                    <a:moveTo>
                      <a:pt x="19636" y="17546"/>
                    </a:moveTo>
                    <a:lnTo>
                      <a:pt x="1963" y="17547"/>
                    </a:lnTo>
                    <a:lnTo>
                      <a:pt x="1963" y="4050"/>
                    </a:lnTo>
                    <a:lnTo>
                      <a:pt x="19636" y="4049"/>
                    </a:lnTo>
                    <a:cubicBezTo>
                      <a:pt x="19636" y="4049"/>
                      <a:pt x="19636" y="17546"/>
                      <a:pt x="19636" y="17546"/>
                    </a:cubicBezTo>
                    <a:close/>
                    <a:moveTo>
                      <a:pt x="19636" y="19574"/>
                    </a:moveTo>
                    <a:cubicBezTo>
                      <a:pt x="19636" y="19946"/>
                      <a:pt x="19195" y="20249"/>
                      <a:pt x="18654" y="20249"/>
                    </a:cubicBezTo>
                    <a:lnTo>
                      <a:pt x="2945" y="20250"/>
                    </a:lnTo>
                    <a:cubicBezTo>
                      <a:pt x="2402" y="20250"/>
                      <a:pt x="1963" y="19947"/>
                      <a:pt x="1963" y="19575"/>
                    </a:cubicBezTo>
                    <a:lnTo>
                      <a:pt x="1963" y="18222"/>
                    </a:lnTo>
                    <a:lnTo>
                      <a:pt x="19636" y="18221"/>
                    </a:lnTo>
                    <a:cubicBezTo>
                      <a:pt x="19636" y="18221"/>
                      <a:pt x="19636" y="19574"/>
                      <a:pt x="19636" y="19574"/>
                    </a:cubicBezTo>
                    <a:close/>
                    <a:moveTo>
                      <a:pt x="18654" y="0"/>
                    </a:moveTo>
                    <a:lnTo>
                      <a:pt x="2945" y="0"/>
                    </a:lnTo>
                    <a:cubicBezTo>
                      <a:pt x="1317" y="0"/>
                      <a:pt x="0" y="907"/>
                      <a:pt x="0" y="2025"/>
                    </a:cubicBezTo>
                    <a:lnTo>
                      <a:pt x="0" y="19575"/>
                    </a:lnTo>
                    <a:cubicBezTo>
                      <a:pt x="0" y="20693"/>
                      <a:pt x="1317" y="21600"/>
                      <a:pt x="2945" y="21600"/>
                    </a:cubicBezTo>
                    <a:lnTo>
                      <a:pt x="18654" y="21599"/>
                    </a:lnTo>
                    <a:cubicBezTo>
                      <a:pt x="20280" y="21599"/>
                      <a:pt x="21600" y="20693"/>
                      <a:pt x="21600" y="19574"/>
                    </a:cubicBezTo>
                    <a:lnTo>
                      <a:pt x="21600" y="2024"/>
                    </a:lnTo>
                    <a:cubicBezTo>
                      <a:pt x="21600" y="906"/>
                      <a:pt x="20280" y="0"/>
                      <a:pt x="18654" y="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mn-lt"/>
                  <a:ea typeface="+mn-ea"/>
                  <a:cs typeface="+mn-ea"/>
                  <a:sym typeface="+mn-lt"/>
                </a:endParaRPr>
              </a:p>
            </p:txBody>
          </p:sp>
          <p:sp>
            <p:nvSpPr>
              <p:cNvPr id="52" name="AutoShape 98"/>
              <p:cNvSpPr/>
              <p:nvPr/>
            </p:nvSpPr>
            <p:spPr bwMode="auto">
              <a:xfrm>
                <a:off x="5571332" y="4483894"/>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58"/>
                      <a:pt x="20387" y="21599"/>
                      <a:pt x="18899" y="21599"/>
                    </a:cubicBezTo>
                    <a:lnTo>
                      <a:pt x="2699" y="21599"/>
                    </a:lnTo>
                    <a:cubicBezTo>
                      <a:pt x="1202" y="21599"/>
                      <a:pt x="0" y="16758"/>
                      <a:pt x="0" y="10800"/>
                    </a:cubicBezTo>
                    <a:cubicBezTo>
                      <a:pt x="0" y="4841"/>
                      <a:pt x="1202" y="0"/>
                      <a:pt x="2699" y="0"/>
                    </a:cubicBezTo>
                    <a:lnTo>
                      <a:pt x="18899" y="0"/>
                    </a:lnTo>
                    <a:cubicBezTo>
                      <a:pt x="20387" y="0"/>
                      <a:pt x="21600" y="4841"/>
                      <a:pt x="21600" y="1080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mn-lt"/>
                  <a:ea typeface="+mn-ea"/>
                  <a:cs typeface="+mn-ea"/>
                  <a:sym typeface="+mn-lt"/>
                </a:endParaRPr>
              </a:p>
            </p:txBody>
          </p:sp>
          <p:sp>
            <p:nvSpPr>
              <p:cNvPr id="53" name="AutoShape 99"/>
              <p:cNvSpPr/>
              <p:nvPr/>
            </p:nvSpPr>
            <p:spPr bwMode="auto">
              <a:xfrm>
                <a:off x="5586413" y="4847432"/>
                <a:ext cx="28575"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69"/>
                      <a:pt x="19174" y="21599"/>
                      <a:pt x="16199" y="21599"/>
                    </a:cubicBezTo>
                    <a:lnTo>
                      <a:pt x="5399" y="21599"/>
                    </a:lnTo>
                    <a:cubicBezTo>
                      <a:pt x="2404" y="21599"/>
                      <a:pt x="0" y="16769"/>
                      <a:pt x="0" y="10800"/>
                    </a:cubicBezTo>
                    <a:cubicBezTo>
                      <a:pt x="0" y="4830"/>
                      <a:pt x="2404" y="0"/>
                      <a:pt x="5399" y="0"/>
                    </a:cubicBezTo>
                    <a:lnTo>
                      <a:pt x="16199" y="0"/>
                    </a:lnTo>
                    <a:cubicBezTo>
                      <a:pt x="19174" y="0"/>
                      <a:pt x="21600" y="4830"/>
                      <a:pt x="21600" y="1080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mn-lt"/>
                  <a:ea typeface="+mn-ea"/>
                  <a:cs typeface="+mn-ea"/>
                  <a:sym typeface="+mn-lt"/>
                </a:endParaRPr>
              </a:p>
            </p:txBody>
          </p:sp>
        </p:grpSp>
      </p:grpSp>
      <p:grpSp>
        <p:nvGrpSpPr>
          <p:cNvPr id="62470" name="Group 63"/>
          <p:cNvGrpSpPr/>
          <p:nvPr/>
        </p:nvGrpSpPr>
        <p:grpSpPr>
          <a:xfrm>
            <a:off x="755650" y="3500438"/>
            <a:ext cx="831850" cy="831850"/>
            <a:chOff x="6518563" y="3920833"/>
            <a:chExt cx="831273" cy="831273"/>
          </a:xfrm>
        </p:grpSpPr>
        <p:sp>
          <p:nvSpPr>
            <p:cNvPr id="55" name="Rounded Rectangle 14"/>
            <p:cNvSpPr/>
            <p:nvPr/>
          </p:nvSpPr>
          <p:spPr>
            <a:xfrm>
              <a:off x="6518563" y="3920833"/>
              <a:ext cx="831273" cy="831273"/>
            </a:xfrm>
            <a:prstGeom prst="roundRect">
              <a:avLst/>
            </a:prstGeom>
            <a:solidFill>
              <a:srgbClr val="F79646"/>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black">
                    <a:lumMod val="65000"/>
                    <a:lumOff val="35000"/>
                  </a:prstClr>
                </a:solidFill>
                <a:effectLst/>
                <a:uLnTx/>
                <a:uFillTx/>
                <a:latin typeface="+mn-lt"/>
                <a:ea typeface="+mn-ea"/>
                <a:cs typeface="+mn-ea"/>
                <a:sym typeface="+mn-lt"/>
              </a:endParaRPr>
            </a:p>
          </p:txBody>
        </p:sp>
        <p:sp>
          <p:nvSpPr>
            <p:cNvPr id="56" name="AutoShape 139"/>
            <p:cNvSpPr/>
            <p:nvPr/>
          </p:nvSpPr>
          <p:spPr bwMode="auto">
            <a:xfrm>
              <a:off x="6699412" y="4119132"/>
              <a:ext cx="464815" cy="448951"/>
            </a:xfrm>
            <a:custGeom>
              <a:avLst/>
              <a:gdLst>
                <a:gd name="T0" fmla="+- 0 10800 104"/>
                <a:gd name="T1" fmla="*/ T0 w 21392"/>
                <a:gd name="T2" fmla="*/ 10800 h 21600"/>
                <a:gd name="T3" fmla="+- 0 10800 104"/>
                <a:gd name="T4" fmla="*/ T3 w 21392"/>
                <a:gd name="T5" fmla="*/ 10800 h 21600"/>
                <a:gd name="T6" fmla="+- 0 10800 104"/>
                <a:gd name="T7" fmla="*/ T6 w 21392"/>
                <a:gd name="T8" fmla="*/ 10800 h 21600"/>
                <a:gd name="T9" fmla="+- 0 10800 104"/>
                <a:gd name="T10" fmla="*/ T9 w 21392"/>
                <a:gd name="T11" fmla="*/ 10800 h 21600"/>
              </a:gdLst>
              <a:ahLst/>
              <a:cxnLst>
                <a:cxn ang="0">
                  <a:pos x="T1" y="T2"/>
                </a:cxn>
                <a:cxn ang="0">
                  <a:pos x="T4" y="T5"/>
                </a:cxn>
                <a:cxn ang="0">
                  <a:pos x="T7" y="T8"/>
                </a:cxn>
                <a:cxn ang="0">
                  <a:pos x="T10" y="T11"/>
                </a:cxn>
              </a:cxnLst>
              <a:rect l="0" t="0" r="r" b="b"/>
              <a:pathLst>
                <a:path w="21392" h="2160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rgbClr val="EEECE1"/>
            </a:solid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mn-lt"/>
                <a:ea typeface="+mn-ea"/>
                <a:cs typeface="+mn-ea"/>
                <a:sym typeface="+mn-lt"/>
              </a:endParaRPr>
            </a:p>
          </p:txBody>
        </p:sp>
      </p:grpSp>
      <p:grpSp>
        <p:nvGrpSpPr>
          <p:cNvPr id="62471" name="Group 64"/>
          <p:cNvGrpSpPr/>
          <p:nvPr/>
        </p:nvGrpSpPr>
        <p:grpSpPr>
          <a:xfrm>
            <a:off x="755650" y="4581525"/>
            <a:ext cx="831850" cy="831850"/>
            <a:chOff x="6518563" y="5091542"/>
            <a:chExt cx="831273" cy="831273"/>
          </a:xfrm>
        </p:grpSpPr>
        <p:sp>
          <p:nvSpPr>
            <p:cNvPr id="58" name="Rounded Rectangle 15"/>
            <p:cNvSpPr/>
            <p:nvPr/>
          </p:nvSpPr>
          <p:spPr>
            <a:xfrm>
              <a:off x="6518563" y="5091542"/>
              <a:ext cx="831273" cy="831273"/>
            </a:xfrm>
            <a:prstGeom prst="roundRect">
              <a:avLst/>
            </a:prstGeom>
            <a:solidFill>
              <a:srgbClr val="C0504D"/>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black">
                    <a:lumMod val="65000"/>
                    <a:lumOff val="35000"/>
                  </a:prstClr>
                </a:solidFill>
                <a:effectLst/>
                <a:uLnTx/>
                <a:uFillTx/>
                <a:latin typeface="+mn-lt"/>
                <a:ea typeface="+mn-ea"/>
                <a:cs typeface="+mn-ea"/>
                <a:sym typeface="+mn-lt"/>
              </a:endParaRPr>
            </a:p>
          </p:txBody>
        </p:sp>
        <p:grpSp>
          <p:nvGrpSpPr>
            <p:cNvPr id="59" name="Group 46"/>
            <p:cNvGrpSpPr/>
            <p:nvPr/>
          </p:nvGrpSpPr>
          <p:grpSpPr>
            <a:xfrm>
              <a:off x="6700043" y="5325806"/>
              <a:ext cx="464344" cy="362744"/>
              <a:chOff x="2581275" y="1710532"/>
              <a:chExt cx="464344" cy="362744"/>
            </a:xfrm>
            <a:solidFill>
              <a:srgbClr val="EEECE1"/>
            </a:solidFill>
          </p:grpSpPr>
          <p:sp>
            <p:nvSpPr>
              <p:cNvPr id="60" name="AutoShape 140"/>
              <p:cNvSpPr/>
              <p:nvPr/>
            </p:nvSpPr>
            <p:spPr bwMode="auto">
              <a:xfrm>
                <a:off x="2639219" y="1768475"/>
                <a:ext cx="290513" cy="235744"/>
              </a:xfrm>
              <a:custGeom>
                <a:avLst/>
                <a:gdLst>
                  <a:gd name="T0" fmla="+- 0 10800 376"/>
                  <a:gd name="T1" fmla="*/ T0 w 20848"/>
                  <a:gd name="T2" fmla="*/ 10800 h 21600"/>
                  <a:gd name="T3" fmla="+- 0 10800 376"/>
                  <a:gd name="T4" fmla="*/ T3 w 20848"/>
                  <a:gd name="T5" fmla="*/ 10800 h 21600"/>
                  <a:gd name="T6" fmla="+- 0 10800 376"/>
                  <a:gd name="T7" fmla="*/ T6 w 20848"/>
                  <a:gd name="T8" fmla="*/ 10800 h 21600"/>
                  <a:gd name="T9" fmla="+- 0 10800 376"/>
                  <a:gd name="T10" fmla="*/ T9 w 20848"/>
                  <a:gd name="T11" fmla="*/ 10800 h 21600"/>
                </a:gdLst>
                <a:ahLst/>
                <a:cxnLst>
                  <a:cxn ang="0">
                    <a:pos x="T1" y="T2"/>
                  </a:cxn>
                  <a:cxn ang="0">
                    <a:pos x="T4" y="T5"/>
                  </a:cxn>
                  <a:cxn ang="0">
                    <a:pos x="T7" y="T8"/>
                  </a:cxn>
                  <a:cxn ang="0">
                    <a:pos x="T10" y="T11"/>
                  </a:cxn>
                </a:cxnLst>
                <a:rect l="0" t="0" r="r" b="b"/>
                <a:pathLst>
                  <a:path w="20848" h="21600">
                    <a:moveTo>
                      <a:pt x="18728" y="19178"/>
                    </a:moveTo>
                    <a:cubicBezTo>
                      <a:pt x="13191" y="20631"/>
                      <a:pt x="7654" y="20631"/>
                      <a:pt x="2118" y="19178"/>
                    </a:cubicBezTo>
                    <a:cubicBezTo>
                      <a:pt x="678" y="13592"/>
                      <a:pt x="678" y="8008"/>
                      <a:pt x="2118" y="2421"/>
                    </a:cubicBezTo>
                    <a:cubicBezTo>
                      <a:pt x="7654" y="968"/>
                      <a:pt x="13191" y="968"/>
                      <a:pt x="18728" y="2421"/>
                    </a:cubicBezTo>
                    <a:cubicBezTo>
                      <a:pt x="20168" y="8008"/>
                      <a:pt x="20168" y="13592"/>
                      <a:pt x="18728" y="19178"/>
                    </a:cubicBezTo>
                    <a:moveTo>
                      <a:pt x="18938" y="1116"/>
                    </a:moveTo>
                    <a:cubicBezTo>
                      <a:pt x="16114" y="375"/>
                      <a:pt x="13249" y="0"/>
                      <a:pt x="10423" y="0"/>
                    </a:cubicBezTo>
                    <a:cubicBezTo>
                      <a:pt x="7597" y="0"/>
                      <a:pt x="4732" y="375"/>
                      <a:pt x="1908" y="1116"/>
                    </a:cubicBezTo>
                    <a:cubicBezTo>
                      <a:pt x="1543" y="1213"/>
                      <a:pt x="1244" y="1552"/>
                      <a:pt x="1127" y="2004"/>
                    </a:cubicBezTo>
                    <a:cubicBezTo>
                      <a:pt x="-376" y="7841"/>
                      <a:pt x="-376" y="13759"/>
                      <a:pt x="1127" y="19593"/>
                    </a:cubicBezTo>
                    <a:cubicBezTo>
                      <a:pt x="1244" y="20047"/>
                      <a:pt x="1543" y="20386"/>
                      <a:pt x="1908" y="20482"/>
                    </a:cubicBezTo>
                    <a:cubicBezTo>
                      <a:pt x="4732" y="21224"/>
                      <a:pt x="7597" y="21600"/>
                      <a:pt x="10423" y="21600"/>
                    </a:cubicBezTo>
                    <a:cubicBezTo>
                      <a:pt x="13249" y="21600"/>
                      <a:pt x="16114" y="21224"/>
                      <a:pt x="18938" y="20482"/>
                    </a:cubicBezTo>
                    <a:cubicBezTo>
                      <a:pt x="19303" y="20386"/>
                      <a:pt x="19602" y="20047"/>
                      <a:pt x="19719" y="19593"/>
                    </a:cubicBezTo>
                    <a:cubicBezTo>
                      <a:pt x="21223" y="13759"/>
                      <a:pt x="21223" y="7841"/>
                      <a:pt x="19719" y="2004"/>
                    </a:cubicBezTo>
                    <a:cubicBezTo>
                      <a:pt x="19602" y="1552"/>
                      <a:pt x="19303" y="1213"/>
                      <a:pt x="18938" y="1116"/>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mn-lt"/>
                  <a:ea typeface="+mn-ea"/>
                  <a:cs typeface="+mn-ea"/>
                  <a:sym typeface="+mn-lt"/>
                </a:endParaRPr>
              </a:p>
            </p:txBody>
          </p:sp>
          <p:sp>
            <p:nvSpPr>
              <p:cNvPr id="61" name="AutoShape 141"/>
              <p:cNvSpPr/>
              <p:nvPr/>
            </p:nvSpPr>
            <p:spPr bwMode="auto">
              <a:xfrm>
                <a:off x="2581275" y="1710532"/>
                <a:ext cx="464344" cy="362744"/>
              </a:xfrm>
              <a:custGeom>
                <a:avLst/>
                <a:gdLst>
                  <a:gd name="T0" fmla="+- 0 10800 252"/>
                  <a:gd name="T1" fmla="*/ T0 w 21096"/>
                  <a:gd name="T2" fmla="*/ 10800 h 21600"/>
                  <a:gd name="T3" fmla="+- 0 10800 252"/>
                  <a:gd name="T4" fmla="*/ T3 w 21096"/>
                  <a:gd name="T5" fmla="*/ 10800 h 21600"/>
                  <a:gd name="T6" fmla="+- 0 10800 252"/>
                  <a:gd name="T7" fmla="*/ T6 w 21096"/>
                  <a:gd name="T8" fmla="*/ 10800 h 21600"/>
                  <a:gd name="T9" fmla="+- 0 10800 252"/>
                  <a:gd name="T10" fmla="*/ T9 w 21096"/>
                  <a:gd name="T11" fmla="*/ 10800 h 21600"/>
                </a:gdLst>
                <a:ahLst/>
                <a:cxnLst>
                  <a:cxn ang="0">
                    <a:pos x="T1" y="T2"/>
                  </a:cxn>
                  <a:cxn ang="0">
                    <a:pos x="T4" y="T5"/>
                  </a:cxn>
                  <a:cxn ang="0">
                    <a:pos x="T7" y="T8"/>
                  </a:cxn>
                  <a:cxn ang="0">
                    <a:pos x="T10" y="T11"/>
                  </a:cxn>
                </a:cxnLst>
                <a:rect l="0" t="0" r="r" b="b"/>
                <a:pathLst>
                  <a:path w="21096" h="21600">
                    <a:moveTo>
                      <a:pt x="19056" y="18331"/>
                    </a:moveTo>
                    <a:cubicBezTo>
                      <a:pt x="13383" y="19233"/>
                      <a:pt x="7711" y="19233"/>
                      <a:pt x="2038" y="18331"/>
                    </a:cubicBezTo>
                    <a:cubicBezTo>
                      <a:pt x="1074" y="13022"/>
                      <a:pt x="1074" y="7713"/>
                      <a:pt x="2038" y="2404"/>
                    </a:cubicBezTo>
                    <a:cubicBezTo>
                      <a:pt x="7711" y="1502"/>
                      <a:pt x="13383" y="1502"/>
                      <a:pt x="19056" y="2404"/>
                    </a:cubicBezTo>
                    <a:cubicBezTo>
                      <a:pt x="20021" y="7713"/>
                      <a:pt x="20021" y="13022"/>
                      <a:pt x="19056" y="18331"/>
                    </a:cubicBezTo>
                    <a:moveTo>
                      <a:pt x="20338" y="2005"/>
                    </a:moveTo>
                    <a:cubicBezTo>
                      <a:pt x="20211" y="1301"/>
                      <a:pt x="19762" y="776"/>
                      <a:pt x="19215" y="689"/>
                    </a:cubicBezTo>
                    <a:cubicBezTo>
                      <a:pt x="16339" y="232"/>
                      <a:pt x="13423" y="0"/>
                      <a:pt x="10547" y="0"/>
                    </a:cubicBezTo>
                    <a:cubicBezTo>
                      <a:pt x="7671" y="0"/>
                      <a:pt x="4755" y="232"/>
                      <a:pt x="1879" y="689"/>
                    </a:cubicBezTo>
                    <a:cubicBezTo>
                      <a:pt x="1332" y="776"/>
                      <a:pt x="883" y="1301"/>
                      <a:pt x="756" y="2005"/>
                    </a:cubicBezTo>
                    <a:cubicBezTo>
                      <a:pt x="-252" y="7553"/>
                      <a:pt x="-252" y="13181"/>
                      <a:pt x="756" y="18731"/>
                    </a:cubicBezTo>
                    <a:cubicBezTo>
                      <a:pt x="883" y="19434"/>
                      <a:pt x="1332" y="19959"/>
                      <a:pt x="1879" y="20046"/>
                    </a:cubicBezTo>
                    <a:cubicBezTo>
                      <a:pt x="3265" y="20266"/>
                      <a:pt x="4660" y="20429"/>
                      <a:pt x="6055" y="20544"/>
                    </a:cubicBezTo>
                    <a:cubicBezTo>
                      <a:pt x="5979" y="20606"/>
                      <a:pt x="5931" y="20670"/>
                      <a:pt x="5931" y="20735"/>
                    </a:cubicBezTo>
                    <a:cubicBezTo>
                      <a:pt x="5931" y="21213"/>
                      <a:pt x="7997" y="21599"/>
                      <a:pt x="10547" y="21599"/>
                    </a:cubicBezTo>
                    <a:cubicBezTo>
                      <a:pt x="13097" y="21599"/>
                      <a:pt x="15164" y="21213"/>
                      <a:pt x="15164" y="20735"/>
                    </a:cubicBezTo>
                    <a:cubicBezTo>
                      <a:pt x="15164" y="20670"/>
                      <a:pt x="15115" y="20606"/>
                      <a:pt x="15040" y="20544"/>
                    </a:cubicBezTo>
                    <a:cubicBezTo>
                      <a:pt x="16434" y="20429"/>
                      <a:pt x="17830" y="20266"/>
                      <a:pt x="19215" y="20046"/>
                    </a:cubicBezTo>
                    <a:cubicBezTo>
                      <a:pt x="19762" y="19959"/>
                      <a:pt x="20211" y="19434"/>
                      <a:pt x="20338" y="18731"/>
                    </a:cubicBezTo>
                    <a:cubicBezTo>
                      <a:pt x="21347" y="13181"/>
                      <a:pt x="21347" y="7553"/>
                      <a:pt x="20338" y="2005"/>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mn-lt"/>
                  <a:ea typeface="+mn-ea"/>
                  <a:cs typeface="+mn-ea"/>
                  <a:sym typeface="+mn-lt"/>
                </a:endParaRPr>
              </a:p>
            </p:txBody>
          </p:sp>
          <p:sp>
            <p:nvSpPr>
              <p:cNvPr id="62" name="AutoShape 142"/>
              <p:cNvSpPr/>
              <p:nvPr/>
            </p:nvSpPr>
            <p:spPr bwMode="auto">
              <a:xfrm>
                <a:off x="2944019" y="1783557"/>
                <a:ext cx="43656" cy="428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200"/>
                    </a:moveTo>
                    <a:cubicBezTo>
                      <a:pt x="12779" y="7200"/>
                      <a:pt x="14399" y="8820"/>
                      <a:pt x="14399" y="10800"/>
                    </a:cubicBezTo>
                    <a:cubicBezTo>
                      <a:pt x="14399" y="12779"/>
                      <a:pt x="12779" y="14400"/>
                      <a:pt x="10800" y="14400"/>
                    </a:cubicBezTo>
                    <a:cubicBezTo>
                      <a:pt x="8820" y="14400"/>
                      <a:pt x="7199" y="12779"/>
                      <a:pt x="7199" y="10800"/>
                    </a:cubicBezTo>
                    <a:cubicBezTo>
                      <a:pt x="7199" y="8820"/>
                      <a:pt x="8820" y="7200"/>
                      <a:pt x="10800" y="7200"/>
                    </a:cubicBezTo>
                    <a:moveTo>
                      <a:pt x="10800" y="21599"/>
                    </a:moveTo>
                    <a:cubicBezTo>
                      <a:pt x="16762" y="21599"/>
                      <a:pt x="21600" y="16762"/>
                      <a:pt x="21600" y="10800"/>
                    </a:cubicBezTo>
                    <a:cubicBezTo>
                      <a:pt x="21600" y="4837"/>
                      <a:pt x="16762" y="0"/>
                      <a:pt x="10800" y="0"/>
                    </a:cubicBezTo>
                    <a:cubicBezTo>
                      <a:pt x="4837" y="0"/>
                      <a:pt x="0" y="4837"/>
                      <a:pt x="0" y="10800"/>
                    </a:cubicBezTo>
                    <a:cubicBezTo>
                      <a:pt x="0" y="16762"/>
                      <a:pt x="4837" y="21599"/>
                      <a:pt x="10800" y="21599"/>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mn-lt"/>
                  <a:ea typeface="+mn-ea"/>
                  <a:cs typeface="+mn-ea"/>
                  <a:sym typeface="+mn-lt"/>
                </a:endParaRPr>
              </a:p>
            </p:txBody>
          </p:sp>
          <p:sp>
            <p:nvSpPr>
              <p:cNvPr id="63" name="AutoShape 143"/>
              <p:cNvSpPr/>
              <p:nvPr/>
            </p:nvSpPr>
            <p:spPr bwMode="auto">
              <a:xfrm>
                <a:off x="2929732" y="1971675"/>
                <a:ext cx="57944" cy="150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mn-lt"/>
                  <a:ea typeface="+mn-ea"/>
                  <a:cs typeface="+mn-ea"/>
                  <a:sym typeface="+mn-lt"/>
                </a:endParaRPr>
              </a:p>
            </p:txBody>
          </p:sp>
          <p:sp>
            <p:nvSpPr>
              <p:cNvPr id="64" name="AutoShape 144"/>
              <p:cNvSpPr/>
              <p:nvPr/>
            </p:nvSpPr>
            <p:spPr bwMode="auto">
              <a:xfrm>
                <a:off x="2944019" y="1928019"/>
                <a:ext cx="58738" cy="150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mn-lt"/>
                  <a:ea typeface="+mn-ea"/>
                  <a:cs typeface="+mn-ea"/>
                  <a:sym typeface="+mn-lt"/>
                </a:endParaRPr>
              </a:p>
            </p:txBody>
          </p:sp>
          <p:sp>
            <p:nvSpPr>
              <p:cNvPr id="65" name="AutoShape 145"/>
              <p:cNvSpPr/>
              <p:nvPr/>
            </p:nvSpPr>
            <p:spPr bwMode="auto">
              <a:xfrm>
                <a:off x="2944019" y="1885157"/>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mn-lt"/>
                  <a:ea typeface="+mn-ea"/>
                  <a:cs typeface="+mn-ea"/>
                  <a:sym typeface="+mn-lt"/>
                </a:endParaRPr>
              </a:p>
            </p:txBody>
          </p:sp>
          <p:sp>
            <p:nvSpPr>
              <p:cNvPr id="66" name="AutoShape 146"/>
              <p:cNvSpPr/>
              <p:nvPr/>
            </p:nvSpPr>
            <p:spPr bwMode="auto">
              <a:xfrm>
                <a:off x="2697957" y="1826419"/>
                <a:ext cx="86519" cy="61119"/>
              </a:xfrm>
              <a:custGeom>
                <a:avLst/>
                <a:gdLst>
                  <a:gd name="T0" fmla="+- 0 10822 44"/>
                  <a:gd name="T1" fmla="*/ T0 w 21556"/>
                  <a:gd name="T2" fmla="+- 0 10826 53"/>
                  <a:gd name="T3" fmla="*/ 10826 h 21547"/>
                  <a:gd name="T4" fmla="+- 0 10822 44"/>
                  <a:gd name="T5" fmla="*/ T4 w 21556"/>
                  <a:gd name="T6" fmla="+- 0 10826 53"/>
                  <a:gd name="T7" fmla="*/ 10826 h 21547"/>
                  <a:gd name="T8" fmla="+- 0 10822 44"/>
                  <a:gd name="T9" fmla="*/ T8 w 21556"/>
                  <a:gd name="T10" fmla="+- 0 10826 53"/>
                  <a:gd name="T11" fmla="*/ 10826 h 21547"/>
                  <a:gd name="T12" fmla="+- 0 10822 44"/>
                  <a:gd name="T13" fmla="*/ T12 w 21556"/>
                  <a:gd name="T14" fmla="+- 0 10826 53"/>
                  <a:gd name="T15" fmla="*/ 10826 h 21547"/>
                </a:gdLst>
                <a:ahLst/>
                <a:cxnLst>
                  <a:cxn ang="0">
                    <a:pos x="T1" y="T3"/>
                  </a:cxn>
                  <a:cxn ang="0">
                    <a:pos x="T5" y="T7"/>
                  </a:cxn>
                  <a:cxn ang="0">
                    <a:pos x="T9" y="T11"/>
                  </a:cxn>
                  <a:cxn ang="0">
                    <a:pos x="T13" y="T15"/>
                  </a:cxn>
                </a:cxnLst>
                <a:rect l="0" t="0" r="r" b="b"/>
                <a:pathLst>
                  <a:path w="21556" h="21547">
                    <a:moveTo>
                      <a:pt x="19751" y="2"/>
                    </a:moveTo>
                    <a:lnTo>
                      <a:pt x="3200" y="1845"/>
                    </a:lnTo>
                    <a:cubicBezTo>
                      <a:pt x="2215" y="2010"/>
                      <a:pt x="1272" y="3284"/>
                      <a:pt x="1106" y="4676"/>
                    </a:cubicBezTo>
                    <a:lnTo>
                      <a:pt x="1" y="18986"/>
                    </a:lnTo>
                    <a:cubicBezTo>
                      <a:pt x="-44" y="20398"/>
                      <a:pt x="724" y="21547"/>
                      <a:pt x="1712" y="21547"/>
                    </a:cubicBezTo>
                    <a:cubicBezTo>
                      <a:pt x="2698" y="21547"/>
                      <a:pt x="3542" y="20398"/>
                      <a:pt x="3582" y="18978"/>
                    </a:cubicBezTo>
                    <a:lnTo>
                      <a:pt x="4185" y="9251"/>
                    </a:lnTo>
                    <a:cubicBezTo>
                      <a:pt x="4319" y="7849"/>
                      <a:pt x="5235" y="6592"/>
                      <a:pt x="6220" y="6447"/>
                    </a:cubicBezTo>
                    <a:lnTo>
                      <a:pt x="19751" y="5128"/>
                    </a:lnTo>
                    <a:cubicBezTo>
                      <a:pt x="20743" y="5078"/>
                      <a:pt x="21556" y="3884"/>
                      <a:pt x="21556" y="2467"/>
                    </a:cubicBezTo>
                    <a:cubicBezTo>
                      <a:pt x="21556" y="1055"/>
                      <a:pt x="20743" y="-53"/>
                      <a:pt x="19751" y="2"/>
                    </a:cubicBezTo>
                  </a:path>
                </a:pathLst>
              </a:custGeom>
              <a:grpFill/>
              <a:ln>
                <a:noFill/>
              </a:ln>
              <a:effec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prstClr val="black">
                      <a:lumMod val="65000"/>
                      <a:lumOff val="35000"/>
                    </a:prstClr>
                  </a:solidFill>
                  <a:effectLst>
                    <a:outerShdw blurRad="38100" dist="38100" dir="2700000" algn="tl">
                      <a:srgbClr val="000000"/>
                    </a:outerShdw>
                  </a:effectLst>
                  <a:uLnTx/>
                  <a:uFillTx/>
                  <a:latin typeface="+mn-lt"/>
                  <a:ea typeface="+mn-ea"/>
                  <a:cs typeface="+mn-ea"/>
                  <a:sym typeface="+mn-lt"/>
                </a:endParaRPr>
              </a:p>
            </p:txBody>
          </p:sp>
        </p:grpSp>
      </p:grpSp>
    </p:spTree>
    <p:extLst>
      <p:ext uri="{BB962C8B-B14F-4D97-AF65-F5344CB8AC3E}">
        <p14:creationId xmlns:p14="http://schemas.microsoft.com/office/powerpoint/2010/main" val="7767741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nodeType="clickEffect">
                                  <p:stCondLst>
                                    <p:cond delay="0"/>
                                  </p:stCondLst>
                                  <p:childTnLst>
                                    <p:set>
                                      <p:cBhvr>
                                        <p:cTn id="6" dur="1" fill="hold">
                                          <p:stCondLst>
                                            <p:cond delay="0"/>
                                          </p:stCondLst>
                                        </p:cTn>
                                        <p:tgtEl>
                                          <p:spTgt spid="62468"/>
                                        </p:tgtEl>
                                        <p:attrNameLst>
                                          <p:attrName>style.visibility</p:attrName>
                                        </p:attrNameLst>
                                      </p:cBhvr>
                                      <p:to>
                                        <p:strVal val="visible"/>
                                      </p:to>
                                    </p:set>
                                    <p:anim calcmode="lin" valueType="num">
                                      <p:cBhvr>
                                        <p:cTn id="7" dur="1000" fill="hold"/>
                                        <p:tgtEl>
                                          <p:spTgt spid="62468"/>
                                        </p:tgtEl>
                                        <p:attrNameLst>
                                          <p:attrName>ppt_w</p:attrName>
                                        </p:attrNameLst>
                                      </p:cBhvr>
                                      <p:tavLst>
                                        <p:tav tm="0">
                                          <p:val>
                                            <p:strVal val="#ppt_w*0.70"/>
                                          </p:val>
                                        </p:tav>
                                        <p:tav tm="100000">
                                          <p:val>
                                            <p:strVal val="#ppt_w"/>
                                          </p:val>
                                        </p:tav>
                                      </p:tavLst>
                                    </p:anim>
                                    <p:anim calcmode="lin" valueType="num">
                                      <p:cBhvr>
                                        <p:cTn id="8" dur="1000" fill="hold"/>
                                        <p:tgtEl>
                                          <p:spTgt spid="62468"/>
                                        </p:tgtEl>
                                        <p:attrNameLst>
                                          <p:attrName>ppt_h</p:attrName>
                                        </p:attrNameLst>
                                      </p:cBhvr>
                                      <p:tavLst>
                                        <p:tav tm="0">
                                          <p:val>
                                            <p:strVal val="#ppt_h"/>
                                          </p:val>
                                        </p:tav>
                                        <p:tav tm="100000">
                                          <p:val>
                                            <p:strVal val="#ppt_h"/>
                                          </p:val>
                                        </p:tav>
                                      </p:tavLst>
                                    </p:anim>
                                    <p:animEffect transition="in" filter="fade">
                                      <p:cBhvr>
                                        <p:cTn id="9" dur="1000"/>
                                        <p:tgtEl>
                                          <p:spTgt spid="62468"/>
                                        </p:tgtEl>
                                      </p:cBhvr>
                                    </p:animEffect>
                                  </p:childTnLst>
                                </p:cTn>
                              </p:par>
                            </p:childTnLst>
                          </p:cTn>
                        </p:par>
                      </p:childTnLst>
                    </p:cTn>
                  </p:par>
                  <p:par>
                    <p:cTn id="10" fill="hold">
                      <p:stCondLst>
                        <p:cond delay="indefinite"/>
                      </p:stCondLst>
                      <p:childTnLst>
                        <p:par>
                          <p:cTn id="11" fill="hold">
                            <p:stCondLst>
                              <p:cond delay="0"/>
                            </p:stCondLst>
                            <p:childTnLst>
                              <p:par>
                                <p:cTn id="12" presetID="55" presetClass="entr" presetSubtype="0" fill="hold" grpId="0" nodeType="clickEffect">
                                  <p:stCondLst>
                                    <p:cond delay="0"/>
                                  </p:stCondLst>
                                  <p:childTnLst>
                                    <p:set>
                                      <p:cBhvr>
                                        <p:cTn id="13" dur="1" fill="hold">
                                          <p:stCondLst>
                                            <p:cond delay="0"/>
                                          </p:stCondLst>
                                        </p:cTn>
                                        <p:tgtEl>
                                          <p:spTgt spid="1046532">
                                            <p:txEl>
                                              <p:pRg st="0" end="0"/>
                                            </p:txEl>
                                          </p:spTgt>
                                        </p:tgtEl>
                                        <p:attrNameLst>
                                          <p:attrName>style.visibility</p:attrName>
                                        </p:attrNameLst>
                                      </p:cBhvr>
                                      <p:to>
                                        <p:strVal val="visible"/>
                                      </p:to>
                                    </p:set>
                                    <p:anim calcmode="lin" valueType="num">
                                      <p:cBhvr>
                                        <p:cTn id="14" dur="1000" fill="hold"/>
                                        <p:tgtEl>
                                          <p:spTgt spid="1046532">
                                            <p:txEl>
                                              <p:pRg st="0" end="0"/>
                                            </p:txEl>
                                          </p:spTgt>
                                        </p:tgtEl>
                                        <p:attrNameLst>
                                          <p:attrName>ppt_w</p:attrName>
                                        </p:attrNameLst>
                                      </p:cBhvr>
                                      <p:tavLst>
                                        <p:tav tm="0">
                                          <p:val>
                                            <p:strVal val="#ppt_w*0.70"/>
                                          </p:val>
                                        </p:tav>
                                        <p:tav tm="100000">
                                          <p:val>
                                            <p:strVal val="#ppt_w"/>
                                          </p:val>
                                        </p:tav>
                                      </p:tavLst>
                                    </p:anim>
                                    <p:anim calcmode="lin" valueType="num">
                                      <p:cBhvr>
                                        <p:cTn id="15" dur="1000" fill="hold"/>
                                        <p:tgtEl>
                                          <p:spTgt spid="1046532">
                                            <p:txEl>
                                              <p:pRg st="0" end="0"/>
                                            </p:txEl>
                                          </p:spTgt>
                                        </p:tgtEl>
                                        <p:attrNameLst>
                                          <p:attrName>ppt_h</p:attrName>
                                        </p:attrNameLst>
                                      </p:cBhvr>
                                      <p:tavLst>
                                        <p:tav tm="0">
                                          <p:val>
                                            <p:strVal val="#ppt_h"/>
                                          </p:val>
                                        </p:tav>
                                        <p:tav tm="100000">
                                          <p:val>
                                            <p:strVal val="#ppt_h"/>
                                          </p:val>
                                        </p:tav>
                                      </p:tavLst>
                                    </p:anim>
                                    <p:animEffect transition="in" filter="fade">
                                      <p:cBhvr>
                                        <p:cTn id="16" dur="1000"/>
                                        <p:tgtEl>
                                          <p:spTgt spid="1046532">
                                            <p:txEl>
                                              <p:pRg st="0" end="0"/>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55" presetClass="entr" presetSubtype="0" fill="hold" nodeType="clickEffect">
                                  <p:stCondLst>
                                    <p:cond delay="0"/>
                                  </p:stCondLst>
                                  <p:childTnLst>
                                    <p:set>
                                      <p:cBhvr>
                                        <p:cTn id="20" dur="1" fill="hold">
                                          <p:stCondLst>
                                            <p:cond delay="0"/>
                                          </p:stCondLst>
                                        </p:cTn>
                                        <p:tgtEl>
                                          <p:spTgt spid="62469"/>
                                        </p:tgtEl>
                                        <p:attrNameLst>
                                          <p:attrName>style.visibility</p:attrName>
                                        </p:attrNameLst>
                                      </p:cBhvr>
                                      <p:to>
                                        <p:strVal val="visible"/>
                                      </p:to>
                                    </p:set>
                                    <p:anim calcmode="lin" valueType="num">
                                      <p:cBhvr>
                                        <p:cTn id="21" dur="1000" fill="hold"/>
                                        <p:tgtEl>
                                          <p:spTgt spid="62469"/>
                                        </p:tgtEl>
                                        <p:attrNameLst>
                                          <p:attrName>ppt_w</p:attrName>
                                        </p:attrNameLst>
                                      </p:cBhvr>
                                      <p:tavLst>
                                        <p:tav tm="0">
                                          <p:val>
                                            <p:strVal val="#ppt_w*0.70"/>
                                          </p:val>
                                        </p:tav>
                                        <p:tav tm="100000">
                                          <p:val>
                                            <p:strVal val="#ppt_w"/>
                                          </p:val>
                                        </p:tav>
                                      </p:tavLst>
                                    </p:anim>
                                    <p:anim calcmode="lin" valueType="num">
                                      <p:cBhvr>
                                        <p:cTn id="22" dur="1000" fill="hold"/>
                                        <p:tgtEl>
                                          <p:spTgt spid="62469"/>
                                        </p:tgtEl>
                                        <p:attrNameLst>
                                          <p:attrName>ppt_h</p:attrName>
                                        </p:attrNameLst>
                                      </p:cBhvr>
                                      <p:tavLst>
                                        <p:tav tm="0">
                                          <p:val>
                                            <p:strVal val="#ppt_h"/>
                                          </p:val>
                                        </p:tav>
                                        <p:tav tm="100000">
                                          <p:val>
                                            <p:strVal val="#ppt_h"/>
                                          </p:val>
                                        </p:tav>
                                      </p:tavLst>
                                    </p:anim>
                                    <p:animEffect transition="in" filter="fade">
                                      <p:cBhvr>
                                        <p:cTn id="23" dur="1000"/>
                                        <p:tgtEl>
                                          <p:spTgt spid="62469"/>
                                        </p:tgtEl>
                                      </p:cBhvr>
                                    </p:animEffect>
                                  </p:childTnLst>
                                </p:cTn>
                              </p:par>
                            </p:childTnLst>
                          </p:cTn>
                        </p:par>
                      </p:childTnLst>
                    </p:cTn>
                  </p:par>
                  <p:par>
                    <p:cTn id="24" fill="hold">
                      <p:stCondLst>
                        <p:cond delay="indefinite"/>
                      </p:stCondLst>
                      <p:childTnLst>
                        <p:par>
                          <p:cTn id="25" fill="hold">
                            <p:stCondLst>
                              <p:cond delay="0"/>
                            </p:stCondLst>
                            <p:childTnLst>
                              <p:par>
                                <p:cTn id="26" presetID="55" presetClass="entr" presetSubtype="0" fill="hold" grpId="0" nodeType="clickEffect">
                                  <p:stCondLst>
                                    <p:cond delay="0"/>
                                  </p:stCondLst>
                                  <p:childTnLst>
                                    <p:set>
                                      <p:cBhvr>
                                        <p:cTn id="27" dur="1" fill="hold">
                                          <p:stCondLst>
                                            <p:cond delay="0"/>
                                          </p:stCondLst>
                                        </p:cTn>
                                        <p:tgtEl>
                                          <p:spTgt spid="1046532">
                                            <p:txEl>
                                              <p:pRg st="1" end="1"/>
                                            </p:txEl>
                                          </p:spTgt>
                                        </p:tgtEl>
                                        <p:attrNameLst>
                                          <p:attrName>style.visibility</p:attrName>
                                        </p:attrNameLst>
                                      </p:cBhvr>
                                      <p:to>
                                        <p:strVal val="visible"/>
                                      </p:to>
                                    </p:set>
                                    <p:anim calcmode="lin" valueType="num">
                                      <p:cBhvr>
                                        <p:cTn id="28" dur="1000" fill="hold"/>
                                        <p:tgtEl>
                                          <p:spTgt spid="1046532">
                                            <p:txEl>
                                              <p:pRg st="1" end="1"/>
                                            </p:txEl>
                                          </p:spTgt>
                                        </p:tgtEl>
                                        <p:attrNameLst>
                                          <p:attrName>ppt_w</p:attrName>
                                        </p:attrNameLst>
                                      </p:cBhvr>
                                      <p:tavLst>
                                        <p:tav tm="0">
                                          <p:val>
                                            <p:strVal val="#ppt_w*0.70"/>
                                          </p:val>
                                        </p:tav>
                                        <p:tav tm="100000">
                                          <p:val>
                                            <p:strVal val="#ppt_w"/>
                                          </p:val>
                                        </p:tav>
                                      </p:tavLst>
                                    </p:anim>
                                    <p:anim calcmode="lin" valueType="num">
                                      <p:cBhvr>
                                        <p:cTn id="29" dur="1000" fill="hold"/>
                                        <p:tgtEl>
                                          <p:spTgt spid="1046532">
                                            <p:txEl>
                                              <p:pRg st="1" end="1"/>
                                            </p:txEl>
                                          </p:spTgt>
                                        </p:tgtEl>
                                        <p:attrNameLst>
                                          <p:attrName>ppt_h</p:attrName>
                                        </p:attrNameLst>
                                      </p:cBhvr>
                                      <p:tavLst>
                                        <p:tav tm="0">
                                          <p:val>
                                            <p:strVal val="#ppt_h"/>
                                          </p:val>
                                        </p:tav>
                                        <p:tav tm="100000">
                                          <p:val>
                                            <p:strVal val="#ppt_h"/>
                                          </p:val>
                                        </p:tav>
                                      </p:tavLst>
                                    </p:anim>
                                    <p:animEffect transition="in" filter="fade">
                                      <p:cBhvr>
                                        <p:cTn id="30" dur="1000"/>
                                        <p:tgtEl>
                                          <p:spTgt spid="1046532">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55" presetClass="entr" presetSubtype="0" fill="hold" nodeType="clickEffect">
                                  <p:stCondLst>
                                    <p:cond delay="0"/>
                                  </p:stCondLst>
                                  <p:childTnLst>
                                    <p:set>
                                      <p:cBhvr>
                                        <p:cTn id="34" dur="1" fill="hold">
                                          <p:stCondLst>
                                            <p:cond delay="0"/>
                                          </p:stCondLst>
                                        </p:cTn>
                                        <p:tgtEl>
                                          <p:spTgt spid="62470"/>
                                        </p:tgtEl>
                                        <p:attrNameLst>
                                          <p:attrName>style.visibility</p:attrName>
                                        </p:attrNameLst>
                                      </p:cBhvr>
                                      <p:to>
                                        <p:strVal val="visible"/>
                                      </p:to>
                                    </p:set>
                                    <p:anim calcmode="lin" valueType="num">
                                      <p:cBhvr>
                                        <p:cTn id="35" dur="1000" fill="hold"/>
                                        <p:tgtEl>
                                          <p:spTgt spid="62470"/>
                                        </p:tgtEl>
                                        <p:attrNameLst>
                                          <p:attrName>ppt_w</p:attrName>
                                        </p:attrNameLst>
                                      </p:cBhvr>
                                      <p:tavLst>
                                        <p:tav tm="0">
                                          <p:val>
                                            <p:strVal val="#ppt_w*0.70"/>
                                          </p:val>
                                        </p:tav>
                                        <p:tav tm="100000">
                                          <p:val>
                                            <p:strVal val="#ppt_w"/>
                                          </p:val>
                                        </p:tav>
                                      </p:tavLst>
                                    </p:anim>
                                    <p:anim calcmode="lin" valueType="num">
                                      <p:cBhvr>
                                        <p:cTn id="36" dur="1000" fill="hold"/>
                                        <p:tgtEl>
                                          <p:spTgt spid="62470"/>
                                        </p:tgtEl>
                                        <p:attrNameLst>
                                          <p:attrName>ppt_h</p:attrName>
                                        </p:attrNameLst>
                                      </p:cBhvr>
                                      <p:tavLst>
                                        <p:tav tm="0">
                                          <p:val>
                                            <p:strVal val="#ppt_h"/>
                                          </p:val>
                                        </p:tav>
                                        <p:tav tm="100000">
                                          <p:val>
                                            <p:strVal val="#ppt_h"/>
                                          </p:val>
                                        </p:tav>
                                      </p:tavLst>
                                    </p:anim>
                                    <p:animEffect transition="in" filter="fade">
                                      <p:cBhvr>
                                        <p:cTn id="37" dur="1000"/>
                                        <p:tgtEl>
                                          <p:spTgt spid="62470"/>
                                        </p:tgtEl>
                                      </p:cBhvr>
                                    </p:animEffect>
                                  </p:childTnLst>
                                </p:cTn>
                              </p:par>
                            </p:childTnLst>
                          </p:cTn>
                        </p:par>
                      </p:childTnLst>
                    </p:cTn>
                  </p:par>
                  <p:par>
                    <p:cTn id="38" fill="hold">
                      <p:stCondLst>
                        <p:cond delay="indefinite"/>
                      </p:stCondLst>
                      <p:childTnLst>
                        <p:par>
                          <p:cTn id="39" fill="hold">
                            <p:stCondLst>
                              <p:cond delay="0"/>
                            </p:stCondLst>
                            <p:childTnLst>
                              <p:par>
                                <p:cTn id="40" presetID="55" presetClass="entr" presetSubtype="0" fill="hold" grpId="0" nodeType="clickEffect">
                                  <p:stCondLst>
                                    <p:cond delay="0"/>
                                  </p:stCondLst>
                                  <p:childTnLst>
                                    <p:set>
                                      <p:cBhvr>
                                        <p:cTn id="41" dur="1" fill="hold">
                                          <p:stCondLst>
                                            <p:cond delay="0"/>
                                          </p:stCondLst>
                                        </p:cTn>
                                        <p:tgtEl>
                                          <p:spTgt spid="1046532">
                                            <p:txEl>
                                              <p:pRg st="2" end="2"/>
                                            </p:txEl>
                                          </p:spTgt>
                                        </p:tgtEl>
                                        <p:attrNameLst>
                                          <p:attrName>style.visibility</p:attrName>
                                        </p:attrNameLst>
                                      </p:cBhvr>
                                      <p:to>
                                        <p:strVal val="visible"/>
                                      </p:to>
                                    </p:set>
                                    <p:anim calcmode="lin" valueType="num">
                                      <p:cBhvr>
                                        <p:cTn id="42" dur="1000" fill="hold"/>
                                        <p:tgtEl>
                                          <p:spTgt spid="1046532">
                                            <p:txEl>
                                              <p:pRg st="2" end="2"/>
                                            </p:txEl>
                                          </p:spTgt>
                                        </p:tgtEl>
                                        <p:attrNameLst>
                                          <p:attrName>ppt_w</p:attrName>
                                        </p:attrNameLst>
                                      </p:cBhvr>
                                      <p:tavLst>
                                        <p:tav tm="0">
                                          <p:val>
                                            <p:strVal val="#ppt_w*0.70"/>
                                          </p:val>
                                        </p:tav>
                                        <p:tav tm="100000">
                                          <p:val>
                                            <p:strVal val="#ppt_w"/>
                                          </p:val>
                                        </p:tav>
                                      </p:tavLst>
                                    </p:anim>
                                    <p:anim calcmode="lin" valueType="num">
                                      <p:cBhvr>
                                        <p:cTn id="43" dur="1000" fill="hold"/>
                                        <p:tgtEl>
                                          <p:spTgt spid="1046532">
                                            <p:txEl>
                                              <p:pRg st="2" end="2"/>
                                            </p:txEl>
                                          </p:spTgt>
                                        </p:tgtEl>
                                        <p:attrNameLst>
                                          <p:attrName>ppt_h</p:attrName>
                                        </p:attrNameLst>
                                      </p:cBhvr>
                                      <p:tavLst>
                                        <p:tav tm="0">
                                          <p:val>
                                            <p:strVal val="#ppt_h"/>
                                          </p:val>
                                        </p:tav>
                                        <p:tav tm="100000">
                                          <p:val>
                                            <p:strVal val="#ppt_h"/>
                                          </p:val>
                                        </p:tav>
                                      </p:tavLst>
                                    </p:anim>
                                    <p:animEffect transition="in" filter="fade">
                                      <p:cBhvr>
                                        <p:cTn id="44" dur="1000"/>
                                        <p:tgtEl>
                                          <p:spTgt spid="1046532">
                                            <p:txEl>
                                              <p:pRg st="2" end="2"/>
                                            </p:txEl>
                                          </p:spTgt>
                                        </p:tgtEl>
                                      </p:cBhvr>
                                    </p:animEffect>
                                  </p:childTnLst>
                                </p:cTn>
                              </p:par>
                            </p:childTnLst>
                          </p:cTn>
                        </p:par>
                      </p:childTnLst>
                    </p:cTn>
                  </p:par>
                  <p:par>
                    <p:cTn id="45" fill="hold">
                      <p:stCondLst>
                        <p:cond delay="indefinite"/>
                      </p:stCondLst>
                      <p:childTnLst>
                        <p:par>
                          <p:cTn id="46" fill="hold">
                            <p:stCondLst>
                              <p:cond delay="0"/>
                            </p:stCondLst>
                            <p:childTnLst>
                              <p:par>
                                <p:cTn id="47" presetID="55" presetClass="entr" presetSubtype="0" fill="hold" nodeType="clickEffect">
                                  <p:stCondLst>
                                    <p:cond delay="0"/>
                                  </p:stCondLst>
                                  <p:childTnLst>
                                    <p:set>
                                      <p:cBhvr>
                                        <p:cTn id="48" dur="1" fill="hold">
                                          <p:stCondLst>
                                            <p:cond delay="0"/>
                                          </p:stCondLst>
                                        </p:cTn>
                                        <p:tgtEl>
                                          <p:spTgt spid="62471"/>
                                        </p:tgtEl>
                                        <p:attrNameLst>
                                          <p:attrName>style.visibility</p:attrName>
                                        </p:attrNameLst>
                                      </p:cBhvr>
                                      <p:to>
                                        <p:strVal val="visible"/>
                                      </p:to>
                                    </p:set>
                                    <p:anim calcmode="lin" valueType="num">
                                      <p:cBhvr>
                                        <p:cTn id="49" dur="1000" fill="hold"/>
                                        <p:tgtEl>
                                          <p:spTgt spid="62471"/>
                                        </p:tgtEl>
                                        <p:attrNameLst>
                                          <p:attrName>ppt_w</p:attrName>
                                        </p:attrNameLst>
                                      </p:cBhvr>
                                      <p:tavLst>
                                        <p:tav tm="0">
                                          <p:val>
                                            <p:strVal val="#ppt_w*0.70"/>
                                          </p:val>
                                        </p:tav>
                                        <p:tav tm="100000">
                                          <p:val>
                                            <p:strVal val="#ppt_w"/>
                                          </p:val>
                                        </p:tav>
                                      </p:tavLst>
                                    </p:anim>
                                    <p:anim calcmode="lin" valueType="num">
                                      <p:cBhvr>
                                        <p:cTn id="50" dur="1000" fill="hold"/>
                                        <p:tgtEl>
                                          <p:spTgt spid="62471"/>
                                        </p:tgtEl>
                                        <p:attrNameLst>
                                          <p:attrName>ppt_h</p:attrName>
                                        </p:attrNameLst>
                                      </p:cBhvr>
                                      <p:tavLst>
                                        <p:tav tm="0">
                                          <p:val>
                                            <p:strVal val="#ppt_h"/>
                                          </p:val>
                                        </p:tav>
                                        <p:tav tm="100000">
                                          <p:val>
                                            <p:strVal val="#ppt_h"/>
                                          </p:val>
                                        </p:tav>
                                      </p:tavLst>
                                    </p:anim>
                                    <p:animEffect transition="in" filter="fade">
                                      <p:cBhvr>
                                        <p:cTn id="51" dur="1000"/>
                                        <p:tgtEl>
                                          <p:spTgt spid="62471"/>
                                        </p:tgtEl>
                                      </p:cBhvr>
                                    </p:animEffect>
                                  </p:childTnLst>
                                </p:cTn>
                              </p:par>
                            </p:childTnLst>
                          </p:cTn>
                        </p:par>
                      </p:childTnLst>
                    </p:cTn>
                  </p:par>
                  <p:par>
                    <p:cTn id="52" fill="hold">
                      <p:stCondLst>
                        <p:cond delay="indefinite"/>
                      </p:stCondLst>
                      <p:childTnLst>
                        <p:par>
                          <p:cTn id="53" fill="hold">
                            <p:stCondLst>
                              <p:cond delay="0"/>
                            </p:stCondLst>
                            <p:childTnLst>
                              <p:par>
                                <p:cTn id="54" presetID="55" presetClass="entr" presetSubtype="0" fill="hold" grpId="0" nodeType="clickEffect">
                                  <p:stCondLst>
                                    <p:cond delay="0"/>
                                  </p:stCondLst>
                                  <p:childTnLst>
                                    <p:set>
                                      <p:cBhvr>
                                        <p:cTn id="55" dur="1" fill="hold">
                                          <p:stCondLst>
                                            <p:cond delay="0"/>
                                          </p:stCondLst>
                                        </p:cTn>
                                        <p:tgtEl>
                                          <p:spTgt spid="1046532">
                                            <p:txEl>
                                              <p:pRg st="3" end="3"/>
                                            </p:txEl>
                                          </p:spTgt>
                                        </p:tgtEl>
                                        <p:attrNameLst>
                                          <p:attrName>style.visibility</p:attrName>
                                        </p:attrNameLst>
                                      </p:cBhvr>
                                      <p:to>
                                        <p:strVal val="visible"/>
                                      </p:to>
                                    </p:set>
                                    <p:anim calcmode="lin" valueType="num">
                                      <p:cBhvr>
                                        <p:cTn id="56" dur="1000" fill="hold"/>
                                        <p:tgtEl>
                                          <p:spTgt spid="1046532">
                                            <p:txEl>
                                              <p:pRg st="3" end="3"/>
                                            </p:txEl>
                                          </p:spTgt>
                                        </p:tgtEl>
                                        <p:attrNameLst>
                                          <p:attrName>ppt_w</p:attrName>
                                        </p:attrNameLst>
                                      </p:cBhvr>
                                      <p:tavLst>
                                        <p:tav tm="0">
                                          <p:val>
                                            <p:strVal val="#ppt_w*0.70"/>
                                          </p:val>
                                        </p:tav>
                                        <p:tav tm="100000">
                                          <p:val>
                                            <p:strVal val="#ppt_w"/>
                                          </p:val>
                                        </p:tav>
                                      </p:tavLst>
                                    </p:anim>
                                    <p:anim calcmode="lin" valueType="num">
                                      <p:cBhvr>
                                        <p:cTn id="57" dur="1000" fill="hold"/>
                                        <p:tgtEl>
                                          <p:spTgt spid="1046532">
                                            <p:txEl>
                                              <p:pRg st="3" end="3"/>
                                            </p:txEl>
                                          </p:spTgt>
                                        </p:tgtEl>
                                        <p:attrNameLst>
                                          <p:attrName>ppt_h</p:attrName>
                                        </p:attrNameLst>
                                      </p:cBhvr>
                                      <p:tavLst>
                                        <p:tav tm="0">
                                          <p:val>
                                            <p:strVal val="#ppt_h"/>
                                          </p:val>
                                        </p:tav>
                                        <p:tav tm="100000">
                                          <p:val>
                                            <p:strVal val="#ppt_h"/>
                                          </p:val>
                                        </p:tav>
                                      </p:tavLst>
                                    </p:anim>
                                    <p:animEffect transition="in" filter="fade">
                                      <p:cBhvr>
                                        <p:cTn id="58" dur="1000"/>
                                        <p:tgtEl>
                                          <p:spTgt spid="104653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6532" grpId="0" build="p"/>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grpSp>
        <p:nvGrpSpPr>
          <p:cNvPr id="4" name="组合 3"/>
          <p:cNvGrpSpPr/>
          <p:nvPr/>
        </p:nvGrpSpPr>
        <p:grpSpPr>
          <a:xfrm>
            <a:off x="1500505" y="1774825"/>
            <a:ext cx="6143625" cy="4318635"/>
            <a:chOff x="2363" y="3247"/>
            <a:chExt cx="9675" cy="6801"/>
          </a:xfrm>
        </p:grpSpPr>
        <p:sp>
          <p:nvSpPr>
            <p:cNvPr id="3" name="矩形: 圆角 16"/>
            <p:cNvSpPr>
              <a:spLocks noChangeArrowheads="1"/>
            </p:cNvSpPr>
            <p:nvPr/>
          </p:nvSpPr>
          <p:spPr bwMode="auto">
            <a:xfrm>
              <a:off x="3850" y="8901"/>
              <a:ext cx="8188" cy="795"/>
            </a:xfrm>
            <a:prstGeom prst="roundRect">
              <a:avLst>
                <a:gd name="adj" fmla="val 16667"/>
              </a:avLst>
            </a:prstGeom>
            <a:solidFill>
              <a:srgbClr val="9476B6"/>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2363" y="8901"/>
              <a:ext cx="1323" cy="795"/>
            </a:xfrm>
            <a:prstGeom prst="roundRect">
              <a:avLst>
                <a:gd name="adj" fmla="val 16667"/>
              </a:avLst>
            </a:pr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4" name="文本框 13"/>
            <p:cNvSpPr txBox="1"/>
            <p:nvPr/>
          </p:nvSpPr>
          <p:spPr>
            <a:xfrm>
              <a:off x="2550" y="3247"/>
              <a:ext cx="1135" cy="6801"/>
            </a:xfrm>
            <a:prstGeom prst="rect">
              <a:avLst/>
            </a:prstGeom>
            <a:noFill/>
          </p:spPr>
          <p:txBody>
            <a:bodyPr>
              <a:noAutofit/>
            </a:bodyPr>
            <a:lstStyle/>
            <a:p>
              <a:pPr marR="0" defTabSz="914400">
                <a:lnSpc>
                  <a:spcPct val="150000"/>
                </a:lnSpc>
                <a:buClrTx/>
                <a:buSzTx/>
                <a:buFontTx/>
                <a:buNone/>
                <a:defRPr/>
              </a:pPr>
              <a:r>
                <a:rPr kumimoji="0" lang="en-US" altLang="zh-CN" sz="2200" b="0" kern="1200" cap="none" spc="0" normalizeH="0" baseline="0" noProof="0" dirty="0">
                  <a:solidFill>
                    <a:schemeClr val="tx1"/>
                  </a:solidFill>
                  <a:latin typeface="+mn-lt"/>
                  <a:ea typeface="+mn-ea"/>
                  <a:cs typeface="+mn-ea"/>
                  <a:sym typeface="+mn-lt"/>
                </a:rPr>
                <a:t>5.1</a:t>
              </a:r>
              <a:endParaRPr kumimoji="0" lang="zh-CN" altLang="en-US" sz="2200" b="0" kern="1200" cap="none" spc="0" normalizeH="0" baseline="0" noProof="0" dirty="0">
                <a:solidFill>
                  <a:schemeClr val="tx1"/>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5.2</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5.3</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5.4</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5.5</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5.6</a:t>
              </a:r>
            </a:p>
            <a:p>
              <a:pPr marR="0" defTabSz="914400">
                <a:lnSpc>
                  <a:spcPct val="150000"/>
                </a:lnSpc>
                <a:buClrTx/>
                <a:buSzTx/>
                <a:buFontTx/>
                <a:buNone/>
                <a:defRPr/>
              </a:pPr>
              <a:r>
                <a:rPr kumimoji="0" lang="en-US" altLang="zh-CN" sz="2200" b="0" kern="1200" cap="none" spc="0" normalizeH="0" baseline="0" noProof="0" dirty="0">
                  <a:solidFill>
                    <a:schemeClr val="tx2"/>
                  </a:solidFill>
                  <a:latin typeface="+mn-lt"/>
                  <a:ea typeface="+mn-ea"/>
                  <a:cs typeface="+mn-ea"/>
                  <a:sym typeface="+mn-lt"/>
                </a:rPr>
                <a:t>5.7</a:t>
              </a:r>
            </a:p>
            <a:p>
              <a:pPr marR="0" defTabSz="914400">
                <a:lnSpc>
                  <a:spcPct val="150000"/>
                </a:lnSpc>
                <a:buClrTx/>
                <a:buSzTx/>
                <a:buFontTx/>
                <a:buNone/>
                <a:defRPr/>
              </a:pPr>
              <a:r>
                <a:rPr kumimoji="0" lang="en-US" altLang="zh-CN" sz="2200" b="0" kern="1200" cap="none" spc="0" normalizeH="0" baseline="0" noProof="0" dirty="0" smtClean="0">
                  <a:solidFill>
                    <a:srgbClr val="EBEBEB"/>
                  </a:solidFill>
                  <a:latin typeface="+mn-lt"/>
                  <a:ea typeface="+mn-ea"/>
                  <a:cs typeface="+mn-ea"/>
                  <a:sym typeface="+mn-lt"/>
                </a:rPr>
                <a:t>5.8</a:t>
              </a:r>
              <a:endParaRPr kumimoji="0" lang="en-US" altLang="zh-CN" sz="2200" b="0" kern="1200" cap="none" spc="0" normalizeH="0" baseline="0" noProof="0" dirty="0">
                <a:solidFill>
                  <a:srgbClr val="EBEBEB"/>
                </a:solidFill>
                <a:latin typeface="+mn-lt"/>
                <a:ea typeface="+mn-ea"/>
                <a:cs typeface="+mn-ea"/>
                <a:sym typeface="+mn-lt"/>
              </a:endParaRPr>
            </a:p>
          </p:txBody>
        </p:sp>
        <p:sp>
          <p:nvSpPr>
            <p:cNvPr id="15" name="文本框 14"/>
            <p:cNvSpPr txBox="1"/>
            <p:nvPr/>
          </p:nvSpPr>
          <p:spPr>
            <a:xfrm>
              <a:off x="3870" y="3247"/>
              <a:ext cx="7265" cy="6461"/>
            </a:xfrm>
            <a:prstGeom prst="rect">
              <a:avLst/>
            </a:prstGeom>
            <a:noFill/>
          </p:spPr>
          <p:txBody>
            <a:bodyPr wrap="square">
              <a:noAutofit/>
            </a:bodyPr>
            <a:lstStyle/>
            <a:p>
              <a:pPr>
                <a:lnSpc>
                  <a:spcPct val="150000"/>
                </a:lnSpc>
                <a:defRPr/>
              </a:pPr>
              <a:r>
                <a:rPr lang="zh-CN" altLang="en-US" sz="2200" b="0" dirty="0">
                  <a:solidFill>
                    <a:srgbClr val="000000">
                      <a:lumMod val="95000"/>
                      <a:lumOff val="5000"/>
                    </a:srgbClr>
                  </a:solidFill>
                  <a:latin typeface="+mn-lt"/>
                  <a:ea typeface="+mn-ea"/>
                  <a:cs typeface="+mn-ea"/>
                  <a:sym typeface="+mn-lt"/>
                </a:rPr>
                <a:t>案例引入</a:t>
              </a:r>
            </a:p>
            <a:p>
              <a:pPr marR="0" defTabSz="914400">
                <a:lnSpc>
                  <a:spcPct val="150000"/>
                </a:lnSpc>
                <a:buClrTx/>
                <a:buSzTx/>
                <a:buFont typeface="Arial" panose="020B0604020202020204" pitchFamily="34" charset="0"/>
                <a:buNone/>
                <a:defRPr/>
              </a:pPr>
              <a:r>
                <a:rPr kumimoji="0" lang="zh-CN" altLang="en-US" sz="2200" b="0" kern="1200" cap="none" spc="0" normalizeH="0" baseline="0" noProof="0" dirty="0" smtClean="0">
                  <a:solidFill>
                    <a:schemeClr val="tx1"/>
                  </a:solidFill>
                  <a:latin typeface="+mn-lt"/>
                  <a:ea typeface="+mn-ea"/>
                  <a:cs typeface="+mn-ea"/>
                  <a:sym typeface="+mn-lt"/>
                </a:rPr>
                <a:t>树</a:t>
              </a:r>
              <a:r>
                <a:rPr kumimoji="0" lang="zh-CN" altLang="en-US" sz="2200" b="0" kern="1200" cap="none" spc="0" normalizeH="0" baseline="0" noProof="0" dirty="0">
                  <a:solidFill>
                    <a:schemeClr val="tx1"/>
                  </a:solidFill>
                  <a:latin typeface="+mn-lt"/>
                  <a:ea typeface="+mn-ea"/>
                  <a:cs typeface="+mn-ea"/>
                  <a:sym typeface="+mn-lt"/>
                </a:rPr>
                <a:t>和二叉树的定义</a:t>
              </a:r>
            </a:p>
            <a:p>
              <a:pPr marR="0" defTabSz="914400">
                <a:lnSpc>
                  <a:spcPct val="150000"/>
                </a:lnSpc>
                <a:buClrTx/>
                <a:buSzTx/>
                <a:buFontTx/>
                <a:buNone/>
                <a:defRPr/>
              </a:pPr>
              <a:r>
                <a:rPr kumimoji="0" lang="zh-CN" altLang="en-US" sz="2200" b="0" kern="1200" cap="none" spc="0" normalizeH="0" baseline="0" noProof="0" dirty="0" smtClean="0">
                  <a:solidFill>
                    <a:srgbClr val="000000">
                      <a:lumMod val="95000"/>
                      <a:lumOff val="5000"/>
                    </a:srgbClr>
                  </a:solidFill>
                  <a:latin typeface="+mn-lt"/>
                  <a:ea typeface="+mn-ea"/>
                  <a:cs typeface="+mn-ea"/>
                  <a:sym typeface="+mn-lt"/>
                </a:rPr>
                <a:t>树</a:t>
              </a:r>
              <a:r>
                <a:rPr kumimoji="0" lang="zh-CN" altLang="en-US" sz="2200" b="0" kern="1200" cap="none" spc="0" normalizeH="0" baseline="0" noProof="0" dirty="0">
                  <a:solidFill>
                    <a:srgbClr val="000000">
                      <a:lumMod val="95000"/>
                      <a:lumOff val="5000"/>
                    </a:srgbClr>
                  </a:solidFill>
                  <a:latin typeface="+mn-lt"/>
                  <a:ea typeface="+mn-ea"/>
                  <a:cs typeface="+mn-ea"/>
                  <a:sym typeface="+mn-lt"/>
                </a:rPr>
                <a:t>和二叉树的抽象数据类型定义</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二叉树的性质和存储结构</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遍历二叉树</a:t>
              </a:r>
              <a:r>
                <a:rPr kumimoji="0" lang="zh-CN" altLang="en-US" sz="2200" b="0" kern="1200" cap="none" spc="0" normalizeH="0" baseline="0" noProof="0" dirty="0" smtClean="0">
                  <a:solidFill>
                    <a:srgbClr val="000000">
                      <a:lumMod val="95000"/>
                      <a:lumOff val="5000"/>
                    </a:srgbClr>
                  </a:solidFill>
                  <a:latin typeface="+mn-lt"/>
                  <a:ea typeface="+mn-ea"/>
                  <a:cs typeface="+mn-ea"/>
                  <a:sym typeface="+mn-lt"/>
                </a:rPr>
                <a:t>和应用</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树和森林</a:t>
              </a:r>
            </a:p>
            <a:p>
              <a:pPr marR="0" defTabSz="914400">
                <a:lnSpc>
                  <a:spcPct val="150000"/>
                </a:lnSpc>
                <a:buClrTx/>
                <a:buSzTx/>
                <a:buFontTx/>
                <a:buNone/>
                <a:defRPr/>
              </a:pPr>
              <a:r>
                <a:rPr lang="zh-CN" altLang="en-US" sz="2200" b="0" noProof="0" dirty="0" smtClean="0">
                  <a:solidFill>
                    <a:schemeClr val="tx2"/>
                  </a:solidFill>
                  <a:latin typeface="+mn-lt"/>
                  <a:ea typeface="+mn-ea"/>
                  <a:cs typeface="+mn-ea"/>
                  <a:sym typeface="+mn-lt"/>
                </a:rPr>
                <a:t>二叉搜索树（二叉排序树）</a:t>
              </a:r>
              <a:endParaRPr lang="zh-CN" altLang="en-US" sz="2200" b="0" noProof="0" dirty="0">
                <a:solidFill>
                  <a:schemeClr val="tx2"/>
                </a:solidFill>
                <a:latin typeface="+mn-lt"/>
                <a:ea typeface="+mn-ea"/>
                <a:cs typeface="+mn-ea"/>
                <a:sym typeface="+mn-lt"/>
              </a:endParaRPr>
            </a:p>
            <a:p>
              <a:pPr marR="0" defTabSz="914400">
                <a:lnSpc>
                  <a:spcPct val="150000"/>
                </a:lnSpc>
                <a:buClrTx/>
                <a:buSzTx/>
                <a:buFontTx/>
                <a:buNone/>
                <a:defRPr/>
              </a:pPr>
              <a:r>
                <a:rPr kumimoji="0" lang="zh-CN" altLang="en-US" sz="2200" b="0" kern="1200" cap="none" spc="0" normalizeH="0" baseline="0" noProof="0" dirty="0" smtClean="0">
                  <a:solidFill>
                    <a:srgbClr val="EBEBEB"/>
                  </a:solidFill>
                  <a:latin typeface="+mn-lt"/>
                  <a:ea typeface="+mn-ea"/>
                  <a:cs typeface="+mn-ea"/>
                  <a:sym typeface="+mn-lt"/>
                </a:rPr>
                <a:t>堆</a:t>
              </a:r>
              <a:endParaRPr kumimoji="0" lang="zh-CN" altLang="en-US" sz="2200" b="0" kern="1200" cap="none" spc="0" normalizeH="0" baseline="0" noProof="0" dirty="0">
                <a:solidFill>
                  <a:srgbClr val="EBEBEB"/>
                </a:solidFill>
                <a:latin typeface="+mn-lt"/>
                <a:ea typeface="+mn-ea"/>
                <a:cs typeface="+mn-ea"/>
                <a:sym typeface="+mn-lt"/>
              </a:endParaRPr>
            </a:p>
          </p:txBody>
        </p:sp>
      </p:gr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extLst>
      <p:ext uri="{BB962C8B-B14F-4D97-AF65-F5344CB8AC3E}">
        <p14:creationId xmlns:p14="http://schemas.microsoft.com/office/powerpoint/2010/main" val="39495069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9" name="矩形 11"/>
          <p:cNvSpPr>
            <a:spLocks noChangeArrowheads="1"/>
          </p:cNvSpPr>
          <p:nvPr/>
        </p:nvSpPr>
        <p:spPr bwMode="auto">
          <a:xfrm>
            <a:off x="571500" y="785813"/>
            <a:ext cx="27146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zh-CN" sz="2000" b="1">
                <a:solidFill>
                  <a:srgbClr val="0000FF"/>
                </a:solidFill>
                <a:latin typeface="Times New Roman" pitchFamily="18" charset="0"/>
                <a:sym typeface="Wingdings" pitchFamily="2" charset="2"/>
              </a:rPr>
              <a:t></a:t>
            </a:r>
            <a:r>
              <a:rPr lang="en-US" altLang="zh-CN" sz="2000" b="1">
                <a:latin typeface="Times New Roman" pitchFamily="18" charset="0"/>
              </a:rPr>
              <a:t> </a:t>
            </a:r>
            <a:r>
              <a:rPr lang="zh-CN" altLang="en-US" sz="2000" b="1">
                <a:latin typeface="Times New Roman" pitchFamily="18" charset="0"/>
              </a:rPr>
              <a:t>堆的意义与定义</a:t>
            </a:r>
            <a:endParaRPr lang="en-US" altLang="zh-CN" sz="2000" b="1">
              <a:latin typeface="Times New Roman" pitchFamily="18" charset="0"/>
            </a:endParaRPr>
          </a:p>
        </p:txBody>
      </p:sp>
      <p:sp>
        <p:nvSpPr>
          <p:cNvPr id="31750" name="矩形 4"/>
          <p:cNvSpPr>
            <a:spLocks noChangeArrowheads="1"/>
          </p:cNvSpPr>
          <p:nvPr/>
        </p:nvSpPr>
        <p:spPr bwMode="auto">
          <a:xfrm>
            <a:off x="899592" y="188640"/>
            <a:ext cx="44100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zh-CN" sz="2400" b="1" dirty="0">
                <a:solidFill>
                  <a:srgbClr val="EBEBEB"/>
                </a:solidFill>
                <a:latin typeface="Times New Roman" pitchFamily="18" charset="0"/>
                <a:sym typeface="Wingdings" pitchFamily="2" charset="2"/>
              </a:rPr>
              <a:t></a:t>
            </a:r>
            <a:r>
              <a:rPr lang="zh-CN" altLang="en-US" sz="2400" b="1" dirty="0">
                <a:solidFill>
                  <a:srgbClr val="EBEBEB"/>
                </a:solidFill>
                <a:latin typeface="Times New Roman" pitchFamily="18" charset="0"/>
              </a:rPr>
              <a:t>堆（</a:t>
            </a:r>
            <a:r>
              <a:rPr lang="en-US" altLang="zh-CN" sz="2400" b="1" dirty="0">
                <a:solidFill>
                  <a:srgbClr val="EBEBEB"/>
                </a:solidFill>
                <a:latin typeface="Times New Roman" pitchFamily="18" charset="0"/>
              </a:rPr>
              <a:t>Heap</a:t>
            </a:r>
            <a:r>
              <a:rPr lang="zh-CN" altLang="en-US" sz="2400" b="1" dirty="0">
                <a:solidFill>
                  <a:srgbClr val="EBEBEB"/>
                </a:solidFill>
                <a:latin typeface="Times New Roman" pitchFamily="18" charset="0"/>
              </a:rPr>
              <a:t>）及其操作</a:t>
            </a:r>
          </a:p>
        </p:txBody>
      </p:sp>
      <p:sp>
        <p:nvSpPr>
          <p:cNvPr id="8" name="AutoShape 88" descr="再生纸"/>
          <p:cNvSpPr>
            <a:spLocks noChangeArrowheads="1"/>
          </p:cNvSpPr>
          <p:nvPr/>
        </p:nvSpPr>
        <p:spPr bwMode="auto">
          <a:xfrm>
            <a:off x="500063" y="1214438"/>
            <a:ext cx="8286750" cy="1357312"/>
          </a:xfrm>
          <a:prstGeom prst="roundRect">
            <a:avLst>
              <a:gd name="adj" fmla="val 10903"/>
            </a:avLst>
          </a:prstGeom>
          <a:blipFill dpi="0" rotWithShape="0">
            <a:blip r:embed="rId2"/>
            <a:srcRect/>
            <a:tile tx="0" ty="0" sx="100000" sy="100000" flip="none" algn="tl"/>
          </a:blipFill>
          <a:ln w="25400">
            <a:noFill/>
            <a:round/>
            <a:headEnd/>
            <a:tailEnd/>
          </a:ln>
          <a:effectLst>
            <a:outerShdw dist="107763" dir="2700000" algn="ctr" rotWithShape="0">
              <a:schemeClr val="bg2"/>
            </a:outerShdw>
          </a:effectLst>
        </p:spPr>
        <p:txBody>
          <a:bodyPr anchor="ctr"/>
          <a:lstStyle/>
          <a:p>
            <a:pPr fontAlgn="auto">
              <a:spcBef>
                <a:spcPts val="0"/>
              </a:spcBef>
              <a:spcAft>
                <a:spcPts val="0"/>
              </a:spcAft>
              <a:defRPr/>
            </a:pPr>
            <a:r>
              <a:rPr lang="en-US" altLang="zh-CN" sz="2000" b="1" dirty="0">
                <a:latin typeface="+mn-lt"/>
                <a:ea typeface="+mn-ea"/>
              </a:rPr>
              <a:t>【</a:t>
            </a:r>
            <a:r>
              <a:rPr lang="zh-CN" altLang="en-US" sz="2000" b="1" dirty="0">
                <a:latin typeface="+mn-lt"/>
                <a:ea typeface="+mn-ea"/>
              </a:rPr>
              <a:t>定义</a:t>
            </a:r>
            <a:r>
              <a:rPr lang="en-US" altLang="zh-CN" sz="2000" b="1" dirty="0">
                <a:latin typeface="+mn-lt"/>
                <a:ea typeface="+mn-ea"/>
              </a:rPr>
              <a:t>】</a:t>
            </a:r>
            <a:r>
              <a:rPr lang="zh-CN" altLang="en-US" sz="2000" b="1" dirty="0">
                <a:latin typeface="+mn-lt"/>
                <a:ea typeface="+mn-ea"/>
              </a:rPr>
              <a:t> </a:t>
            </a:r>
            <a:r>
              <a:rPr lang="zh-CN" altLang="en-US" sz="2000" b="1" dirty="0" smtClean="0">
                <a:latin typeface="+mn-lt"/>
                <a:ea typeface="+mn-ea"/>
              </a:rPr>
              <a:t>从</a:t>
            </a:r>
            <a:r>
              <a:rPr lang="zh-CN" altLang="en-US" sz="2000" b="1" dirty="0">
                <a:latin typeface="+mn-lt"/>
                <a:ea typeface="+mn-ea"/>
              </a:rPr>
              <a:t>堆中取出元素的顺序是依照元素</a:t>
            </a:r>
            <a:r>
              <a:rPr lang="zh-CN" altLang="en-US" sz="2000" b="1" dirty="0" smtClean="0">
                <a:latin typeface="+mn-lt"/>
                <a:ea typeface="+mn-ea"/>
              </a:rPr>
              <a:t>的</a:t>
            </a:r>
            <a:r>
              <a:rPr lang="zh-CN" altLang="en-US" sz="2000" b="1" dirty="0" smtClean="0">
                <a:solidFill>
                  <a:srgbClr val="0000FF"/>
                </a:solidFill>
                <a:latin typeface="+mn-lt"/>
                <a:ea typeface="+mn-ea"/>
              </a:rPr>
              <a:t>关键字</a:t>
            </a:r>
            <a:r>
              <a:rPr lang="zh-CN" altLang="en-US" sz="2000" b="1" dirty="0" smtClean="0">
                <a:latin typeface="+mn-lt"/>
                <a:ea typeface="+mn-ea"/>
              </a:rPr>
              <a:t>大小</a:t>
            </a:r>
            <a:r>
              <a:rPr lang="zh-CN" altLang="en-US" sz="2000" b="1" dirty="0">
                <a:latin typeface="+mn-lt"/>
                <a:ea typeface="+mn-ea"/>
              </a:rPr>
              <a:t>，而不是元素</a:t>
            </a:r>
            <a:r>
              <a:rPr lang="zh-CN" altLang="en-US" sz="2000" b="1" dirty="0" smtClean="0">
                <a:latin typeface="+mn-lt"/>
                <a:ea typeface="+mn-ea"/>
              </a:rPr>
              <a:t>进入的</a:t>
            </a:r>
            <a:r>
              <a:rPr lang="zh-CN" altLang="en-US" sz="2000" b="1" dirty="0">
                <a:latin typeface="+mn-lt"/>
                <a:ea typeface="+mn-ea"/>
              </a:rPr>
              <a:t>先后顺序。采用完全二叉树存储的优先队列 称为</a:t>
            </a:r>
            <a:r>
              <a:rPr lang="zh-CN" altLang="en-US" sz="2000" b="1" dirty="0">
                <a:solidFill>
                  <a:srgbClr val="0000FF"/>
                </a:solidFill>
                <a:latin typeface="+mn-lt"/>
                <a:ea typeface="+mn-ea"/>
              </a:rPr>
              <a:t>堆</a:t>
            </a:r>
            <a:r>
              <a:rPr lang="zh-CN" altLang="en-US" sz="2000" b="1" dirty="0">
                <a:latin typeface="+mn-lt"/>
                <a:ea typeface="+mn-ea"/>
              </a:rPr>
              <a:t>（</a:t>
            </a:r>
            <a:r>
              <a:rPr lang="en-US" sz="2000" b="1" dirty="0">
                <a:latin typeface="+mn-lt"/>
                <a:ea typeface="+mn-ea"/>
              </a:rPr>
              <a:t>Heap</a:t>
            </a:r>
            <a:r>
              <a:rPr lang="zh-CN" altLang="en-US" sz="2000" b="1" dirty="0">
                <a:latin typeface="+mn-lt"/>
                <a:ea typeface="+mn-ea"/>
              </a:rPr>
              <a:t>）。</a:t>
            </a:r>
          </a:p>
        </p:txBody>
      </p:sp>
      <p:sp>
        <p:nvSpPr>
          <p:cNvPr id="9217" name="Rectangle 1"/>
          <p:cNvSpPr>
            <a:spLocks noChangeArrowheads="1"/>
          </p:cNvSpPr>
          <p:nvPr/>
        </p:nvSpPr>
        <p:spPr bwMode="auto">
          <a:xfrm>
            <a:off x="571500" y="2830513"/>
            <a:ext cx="8143875" cy="3170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p>
            <a:pPr>
              <a:tabLst>
                <a:tab pos="457200" algn="l"/>
              </a:tabLst>
            </a:pPr>
            <a:r>
              <a:rPr lang="zh-CN" altLang="en-US" sz="2000" b="1">
                <a:solidFill>
                  <a:schemeClr val="accent1"/>
                </a:solidFill>
                <a:latin typeface="Times New Roman" pitchFamily="18" charset="0"/>
                <a:sym typeface="Wingdings" pitchFamily="2" charset="2"/>
              </a:rPr>
              <a:t>类型名称</a:t>
            </a:r>
            <a:r>
              <a:rPr lang="zh-CN" altLang="en-US" sz="2000" b="1">
                <a:latin typeface="Courier"/>
                <a:cs typeface="Times New Roman" pitchFamily="18" charset="0"/>
              </a:rPr>
              <a:t>：</a:t>
            </a:r>
            <a:r>
              <a:rPr lang="zh-CN" altLang="en-US" sz="2000" b="1">
                <a:solidFill>
                  <a:srgbClr val="0000FF"/>
                </a:solidFill>
                <a:latin typeface="Courier"/>
                <a:cs typeface="Times New Roman" pitchFamily="18" charset="0"/>
              </a:rPr>
              <a:t>最大堆</a:t>
            </a:r>
            <a:r>
              <a:rPr lang="zh-CN" altLang="en-US" sz="2000" b="1">
                <a:latin typeface="Courier"/>
                <a:cs typeface="Times New Roman" pitchFamily="18" charset="0"/>
              </a:rPr>
              <a:t>（</a:t>
            </a:r>
            <a:r>
              <a:rPr lang="en-US" altLang="zh-CN" sz="2000" b="1">
                <a:solidFill>
                  <a:srgbClr val="0000FF"/>
                </a:solidFill>
                <a:ea typeface="Courier"/>
                <a:cs typeface="Times New Roman" pitchFamily="18" charset="0"/>
              </a:rPr>
              <a:t>MaxHeap</a:t>
            </a:r>
            <a:r>
              <a:rPr lang="zh-CN" altLang="en-US" sz="2000" b="1">
                <a:latin typeface="Courier"/>
                <a:ea typeface="Courier"/>
                <a:cs typeface="Times New Roman" pitchFamily="18" charset="0"/>
              </a:rPr>
              <a:t>）</a:t>
            </a:r>
            <a:endParaRPr lang="zh-CN" altLang="en-US" sz="2000" b="1">
              <a:cs typeface="Times New Roman" pitchFamily="18" charset="0"/>
            </a:endParaRPr>
          </a:p>
          <a:p>
            <a:pPr>
              <a:tabLst>
                <a:tab pos="457200" algn="l"/>
              </a:tabLst>
            </a:pPr>
            <a:r>
              <a:rPr lang="zh-CN" altLang="en-US" sz="2000" b="1">
                <a:solidFill>
                  <a:schemeClr val="accent1"/>
                </a:solidFill>
                <a:latin typeface="Times New Roman" pitchFamily="18" charset="0"/>
                <a:cs typeface="Times New Roman" pitchFamily="18" charset="0"/>
                <a:sym typeface="Wingdings" pitchFamily="2" charset="2"/>
              </a:rPr>
              <a:t>数据对象集</a:t>
            </a:r>
            <a:r>
              <a:rPr lang="zh-CN" altLang="en-US" sz="2000" b="1">
                <a:latin typeface="Times New Roman" pitchFamily="18" charset="0"/>
                <a:cs typeface="Times New Roman" pitchFamily="18" charset="0"/>
              </a:rPr>
              <a:t>：一个有</a:t>
            </a:r>
            <a:r>
              <a:rPr lang="en-US" altLang="zh-CN" sz="2000" b="1">
                <a:latin typeface="Times New Roman" pitchFamily="18" charset="0"/>
                <a:cs typeface="Times New Roman" pitchFamily="18" charset="0"/>
              </a:rPr>
              <a:t>N&gt;0</a:t>
            </a:r>
            <a:r>
              <a:rPr lang="zh-CN" altLang="en-US" sz="2000" b="1">
                <a:latin typeface="Times New Roman" pitchFamily="18" charset="0"/>
                <a:cs typeface="Times New Roman" pitchFamily="18" charset="0"/>
              </a:rPr>
              <a:t>个元素的最大堆</a:t>
            </a:r>
            <a:r>
              <a:rPr lang="en-US" altLang="zh-CN" sz="2000" b="1">
                <a:latin typeface="Times New Roman" pitchFamily="18" charset="0"/>
                <a:cs typeface="Times New Roman" pitchFamily="18" charset="0"/>
              </a:rPr>
              <a:t>H</a:t>
            </a:r>
            <a:r>
              <a:rPr lang="zh-CN" altLang="en-US" sz="2000" b="1">
                <a:latin typeface="Times New Roman" pitchFamily="18" charset="0"/>
                <a:cs typeface="Times New Roman" pitchFamily="18" charset="0"/>
              </a:rPr>
              <a:t>是一棵</a:t>
            </a:r>
            <a:r>
              <a:rPr lang="zh-CN" altLang="en-US" sz="2000" b="1">
                <a:solidFill>
                  <a:srgbClr val="0000FF"/>
                </a:solidFill>
                <a:latin typeface="Times New Roman" pitchFamily="18" charset="0"/>
                <a:cs typeface="Times New Roman" pitchFamily="18" charset="0"/>
              </a:rPr>
              <a:t>完全二叉树</a:t>
            </a:r>
            <a:r>
              <a:rPr lang="zh-CN" altLang="en-US" sz="2000" b="1">
                <a:latin typeface="Times New Roman" pitchFamily="18" charset="0"/>
                <a:cs typeface="Times New Roman" pitchFamily="18" charset="0"/>
              </a:rPr>
              <a:t>，每个结点上的元素值</a:t>
            </a:r>
            <a:r>
              <a:rPr lang="zh-CN" altLang="en-US" sz="2000" b="1">
                <a:solidFill>
                  <a:srgbClr val="0000FF"/>
                </a:solidFill>
                <a:latin typeface="Times New Roman" pitchFamily="18" charset="0"/>
                <a:cs typeface="Times New Roman" pitchFamily="18" charset="0"/>
              </a:rPr>
              <a:t>不小于</a:t>
            </a:r>
            <a:r>
              <a:rPr lang="zh-CN" altLang="en-US" sz="2000" b="1">
                <a:latin typeface="Times New Roman" pitchFamily="18" charset="0"/>
                <a:cs typeface="Times New Roman" pitchFamily="18" charset="0"/>
              </a:rPr>
              <a:t>其子结点元素的值。</a:t>
            </a:r>
            <a:endParaRPr lang="zh-CN" altLang="en-US" sz="2000" b="1">
              <a:cs typeface="Times New Roman" pitchFamily="18" charset="0"/>
            </a:endParaRPr>
          </a:p>
          <a:p>
            <a:pPr>
              <a:tabLst>
                <a:tab pos="457200" algn="l"/>
              </a:tabLst>
            </a:pPr>
            <a:r>
              <a:rPr lang="zh-CN" altLang="en-US" sz="2000" b="1">
                <a:solidFill>
                  <a:schemeClr val="accent1"/>
                </a:solidFill>
                <a:latin typeface="Times New Roman" pitchFamily="18" charset="0"/>
                <a:cs typeface="Times New Roman" pitchFamily="18" charset="0"/>
                <a:sym typeface="Wingdings" pitchFamily="2" charset="2"/>
              </a:rPr>
              <a:t>操作集</a:t>
            </a:r>
            <a:r>
              <a:rPr lang="zh-CN" altLang="en-US" sz="2000" b="1">
                <a:latin typeface="Courier"/>
                <a:cs typeface="Times New Roman" pitchFamily="18" charset="0"/>
              </a:rPr>
              <a:t>：对于任意最多有</a:t>
            </a:r>
            <a:r>
              <a:rPr lang="en-US" altLang="zh-CN" sz="2000" b="1">
                <a:ea typeface="Courier"/>
                <a:cs typeface="Courier"/>
              </a:rPr>
              <a:t>MaxSize</a:t>
            </a:r>
            <a:r>
              <a:rPr lang="zh-CN" altLang="en-US" sz="2000" b="1">
                <a:latin typeface="Courier"/>
                <a:cs typeface="Times New Roman" pitchFamily="18" charset="0"/>
              </a:rPr>
              <a:t>个元素的最大堆</a:t>
            </a:r>
            <a:r>
              <a:rPr lang="en-US" altLang="zh-CN" sz="2000" b="1">
                <a:ea typeface="Courier"/>
                <a:cs typeface="Courier"/>
              </a:rPr>
              <a:t>H </a:t>
            </a:r>
            <a:r>
              <a:rPr lang="en-US" altLang="zh-CN" sz="2000" b="1">
                <a:latin typeface="Courier"/>
                <a:cs typeface="Times New Roman" pitchFamily="18" charset="0"/>
                <a:sym typeface="Symbol" pitchFamily="18" charset="2"/>
              </a:rPr>
              <a:t></a:t>
            </a:r>
            <a:r>
              <a:rPr lang="en-US" altLang="zh-CN" sz="2000" b="1">
                <a:ea typeface="Courier"/>
                <a:cs typeface="Courier"/>
              </a:rPr>
              <a:t> MaxHeap</a:t>
            </a:r>
            <a:r>
              <a:rPr lang="zh-CN" altLang="en-US" sz="2000" b="1">
                <a:latin typeface="Courier"/>
                <a:cs typeface="Times New Roman" pitchFamily="18" charset="0"/>
                <a:sym typeface="Symbol" pitchFamily="18" charset="2"/>
              </a:rPr>
              <a:t>，元素</a:t>
            </a:r>
            <a:r>
              <a:rPr lang="en-US" altLang="zh-CN" sz="2000" b="1">
                <a:ea typeface="Courier"/>
                <a:cs typeface="Courier"/>
                <a:sym typeface="Symbol" pitchFamily="18" charset="2"/>
              </a:rPr>
              <a:t>item </a:t>
            </a:r>
            <a:r>
              <a:rPr lang="en-US" altLang="zh-CN" sz="2000" b="1">
                <a:latin typeface="Courier"/>
                <a:cs typeface="Times New Roman" pitchFamily="18" charset="0"/>
                <a:sym typeface="Symbol" pitchFamily="18" charset="2"/>
              </a:rPr>
              <a:t></a:t>
            </a:r>
            <a:r>
              <a:rPr lang="en-US" altLang="zh-CN" sz="2000" b="1">
                <a:ea typeface="Courier"/>
                <a:cs typeface="Courier"/>
              </a:rPr>
              <a:t> ElementType</a:t>
            </a:r>
            <a:r>
              <a:rPr lang="zh-CN" altLang="en-US" sz="2000" b="1">
                <a:latin typeface="Courier"/>
                <a:cs typeface="Times New Roman" pitchFamily="18" charset="0"/>
                <a:sym typeface="Symbol" pitchFamily="18" charset="2"/>
              </a:rPr>
              <a:t>，主要操作有：</a:t>
            </a:r>
            <a:endParaRPr lang="zh-CN" altLang="en-US" sz="2000" b="1">
              <a:sym typeface="Symbol" pitchFamily="18" charset="2"/>
            </a:endParaRPr>
          </a:p>
          <a:p>
            <a:pPr>
              <a:buFontTx/>
              <a:buChar char="•"/>
              <a:tabLst>
                <a:tab pos="457200" algn="l"/>
              </a:tabLst>
            </a:pPr>
            <a:r>
              <a:rPr lang="en-US" altLang="zh-CN" sz="2000" b="1">
                <a:solidFill>
                  <a:srgbClr val="0000FF"/>
                </a:solidFill>
                <a:ea typeface="Courier"/>
                <a:cs typeface="Courier"/>
                <a:sym typeface="Symbol" pitchFamily="18" charset="2"/>
              </a:rPr>
              <a:t>MaxHeap Create( int MaxSize )</a:t>
            </a:r>
            <a:r>
              <a:rPr lang="zh-CN" altLang="en-US" sz="2000" b="1">
                <a:latin typeface="Courier"/>
                <a:sym typeface="Symbol" pitchFamily="18" charset="2"/>
              </a:rPr>
              <a:t>：创建一个空的最大堆。</a:t>
            </a:r>
            <a:endParaRPr lang="zh-CN" altLang="en-US" sz="2000" b="1">
              <a:sym typeface="Symbol" pitchFamily="18" charset="2"/>
            </a:endParaRPr>
          </a:p>
          <a:p>
            <a:pPr>
              <a:buFontTx/>
              <a:buChar char="•"/>
              <a:tabLst>
                <a:tab pos="457200" algn="l"/>
              </a:tabLst>
            </a:pPr>
            <a:r>
              <a:rPr lang="en-US" altLang="zh-CN" sz="2000" b="1">
                <a:solidFill>
                  <a:srgbClr val="0000FF"/>
                </a:solidFill>
                <a:ea typeface="Courier"/>
                <a:cs typeface="Courier"/>
                <a:sym typeface="Symbol" pitchFamily="18" charset="2"/>
              </a:rPr>
              <a:t>Boolean IsFull( MaxHeap H )</a:t>
            </a:r>
            <a:r>
              <a:rPr lang="zh-CN" altLang="en-US" sz="2000" b="1">
                <a:latin typeface="Courier"/>
                <a:sym typeface="Symbol" pitchFamily="18" charset="2"/>
              </a:rPr>
              <a:t>：判断最大堆</a:t>
            </a:r>
            <a:r>
              <a:rPr lang="en-US" altLang="zh-CN" sz="2000" b="1">
                <a:ea typeface="Courier"/>
                <a:cs typeface="Courier"/>
                <a:sym typeface="Symbol" pitchFamily="18" charset="2"/>
              </a:rPr>
              <a:t>H</a:t>
            </a:r>
            <a:r>
              <a:rPr lang="zh-CN" altLang="en-US" sz="2000" b="1">
                <a:latin typeface="Courier"/>
                <a:sym typeface="Symbol" pitchFamily="18" charset="2"/>
              </a:rPr>
              <a:t>是否已满。</a:t>
            </a:r>
            <a:endParaRPr lang="zh-CN" altLang="en-US" sz="2000" b="1">
              <a:sym typeface="Symbol" pitchFamily="18" charset="2"/>
            </a:endParaRPr>
          </a:p>
          <a:p>
            <a:pPr>
              <a:buFontTx/>
              <a:buChar char="•"/>
              <a:tabLst>
                <a:tab pos="457200" algn="l"/>
              </a:tabLst>
            </a:pPr>
            <a:r>
              <a:rPr lang="en-US" altLang="zh-CN" sz="2000" b="1">
                <a:solidFill>
                  <a:srgbClr val="0000FF"/>
                </a:solidFill>
                <a:ea typeface="Courier"/>
                <a:cs typeface="Courier"/>
                <a:sym typeface="Symbol" pitchFamily="18" charset="2"/>
              </a:rPr>
              <a:t>Insert( MaxHeap H, ElementType item )</a:t>
            </a:r>
            <a:r>
              <a:rPr lang="zh-CN" altLang="en-US" sz="2000" b="1">
                <a:latin typeface="Courier"/>
                <a:sym typeface="Symbol" pitchFamily="18" charset="2"/>
              </a:rPr>
              <a:t>：将元素</a:t>
            </a:r>
            <a:r>
              <a:rPr lang="en-US" altLang="zh-CN" sz="2000" b="1">
                <a:ea typeface="Courier"/>
                <a:cs typeface="Courier"/>
                <a:sym typeface="Symbol" pitchFamily="18" charset="2"/>
              </a:rPr>
              <a:t>item</a:t>
            </a:r>
            <a:r>
              <a:rPr lang="zh-CN" altLang="en-US" sz="2000" b="1">
                <a:latin typeface="Courier"/>
                <a:sym typeface="Symbol" pitchFamily="18" charset="2"/>
              </a:rPr>
              <a:t>插入最大堆</a:t>
            </a:r>
            <a:r>
              <a:rPr lang="en-US" altLang="zh-CN" sz="2000" b="1">
                <a:ea typeface="Courier"/>
                <a:cs typeface="Courier"/>
                <a:sym typeface="Symbol" pitchFamily="18" charset="2"/>
              </a:rPr>
              <a:t>H</a:t>
            </a:r>
            <a:r>
              <a:rPr lang="zh-CN" altLang="en-US" sz="2000" b="1">
                <a:latin typeface="Courier"/>
                <a:sym typeface="Symbol" pitchFamily="18" charset="2"/>
              </a:rPr>
              <a:t>。</a:t>
            </a:r>
            <a:endParaRPr lang="zh-CN" altLang="en-US" sz="2000" b="1">
              <a:sym typeface="Symbol" pitchFamily="18" charset="2"/>
            </a:endParaRPr>
          </a:p>
          <a:p>
            <a:pPr>
              <a:buFontTx/>
              <a:buChar char="•"/>
              <a:tabLst>
                <a:tab pos="457200" algn="l"/>
              </a:tabLst>
            </a:pPr>
            <a:r>
              <a:rPr lang="en-US" altLang="zh-CN" sz="2000" b="1">
                <a:solidFill>
                  <a:srgbClr val="0000FF"/>
                </a:solidFill>
                <a:ea typeface="Courier"/>
                <a:cs typeface="Courier"/>
                <a:sym typeface="Symbol" pitchFamily="18" charset="2"/>
              </a:rPr>
              <a:t>Boolean IsEmpty( MaxHeap H )</a:t>
            </a:r>
            <a:r>
              <a:rPr lang="zh-CN" altLang="en-US" sz="2000" b="1">
                <a:latin typeface="Courier"/>
                <a:sym typeface="Symbol" pitchFamily="18" charset="2"/>
              </a:rPr>
              <a:t>：判断最大堆</a:t>
            </a:r>
            <a:r>
              <a:rPr lang="en-US" altLang="zh-CN" sz="2000" b="1">
                <a:ea typeface="Courier"/>
                <a:cs typeface="Courier"/>
                <a:sym typeface="Symbol" pitchFamily="18" charset="2"/>
              </a:rPr>
              <a:t>H</a:t>
            </a:r>
            <a:r>
              <a:rPr lang="zh-CN" altLang="en-US" sz="2000" b="1">
                <a:latin typeface="Courier"/>
                <a:sym typeface="Symbol" pitchFamily="18" charset="2"/>
              </a:rPr>
              <a:t>是否为空。</a:t>
            </a:r>
            <a:endParaRPr lang="zh-CN" altLang="en-US" sz="2000" b="1">
              <a:sym typeface="Symbol" pitchFamily="18" charset="2"/>
            </a:endParaRPr>
          </a:p>
          <a:p>
            <a:pPr>
              <a:buFontTx/>
              <a:buChar char="•"/>
              <a:tabLst>
                <a:tab pos="457200" algn="l"/>
              </a:tabLst>
            </a:pPr>
            <a:r>
              <a:rPr lang="en-US" altLang="zh-CN" sz="2000" b="1">
                <a:solidFill>
                  <a:srgbClr val="0000FF"/>
                </a:solidFill>
                <a:ea typeface="Courier"/>
                <a:cs typeface="Courier"/>
                <a:sym typeface="Symbol" pitchFamily="18" charset="2"/>
              </a:rPr>
              <a:t>ElementType DeleteMax( MaxHeap H )</a:t>
            </a:r>
            <a:r>
              <a:rPr lang="zh-CN" altLang="en-US" sz="2000" b="1">
                <a:latin typeface="Courier"/>
                <a:sym typeface="Symbol" pitchFamily="18" charset="2"/>
              </a:rPr>
              <a:t>：返回</a:t>
            </a:r>
            <a:r>
              <a:rPr lang="en-US" altLang="zh-CN" sz="2000" b="1">
                <a:ea typeface="Courier"/>
                <a:cs typeface="Courier"/>
                <a:sym typeface="Symbol" pitchFamily="18" charset="2"/>
              </a:rPr>
              <a:t>H</a:t>
            </a:r>
            <a:r>
              <a:rPr lang="zh-CN" altLang="en-US" sz="2000" b="1">
                <a:latin typeface="Courier"/>
                <a:sym typeface="Symbol" pitchFamily="18" charset="2"/>
              </a:rPr>
              <a:t>中最大元素</a:t>
            </a:r>
            <a:r>
              <a:rPr lang="en-US" altLang="zh-CN" sz="2000" b="1">
                <a:latin typeface="Courier"/>
                <a:sym typeface="Symbol" pitchFamily="18" charset="2"/>
              </a:rPr>
              <a:t>(</a:t>
            </a:r>
            <a:r>
              <a:rPr lang="zh-CN" altLang="en-US" sz="2000" b="1">
                <a:latin typeface="Courier"/>
                <a:sym typeface="Symbol" pitchFamily="18" charset="2"/>
              </a:rPr>
              <a:t>高优先级</a:t>
            </a:r>
            <a:r>
              <a:rPr lang="en-US" altLang="zh-CN" sz="2000" b="1">
                <a:latin typeface="Courier"/>
                <a:sym typeface="Symbol" pitchFamily="18" charset="2"/>
              </a:rPr>
              <a:t>)</a:t>
            </a:r>
            <a:r>
              <a:rPr lang="zh-CN" altLang="en-US" sz="2000" b="1">
                <a:latin typeface="Courier"/>
                <a:sym typeface="Symbol" pitchFamily="18" charset="2"/>
              </a:rPr>
              <a:t>。</a:t>
            </a:r>
            <a:endParaRPr lang="zh-CN" altLang="en-US" sz="2000" b="1">
              <a:latin typeface="Courier"/>
              <a:cs typeface="Times New Roman" pitchFamily="18" charset="0"/>
              <a:sym typeface="Symbol" pitchFamily="18" charset="2"/>
            </a:endParaRPr>
          </a:p>
        </p:txBody>
      </p:sp>
    </p:spTree>
    <p:extLst>
      <p:ext uri="{BB962C8B-B14F-4D97-AF65-F5344CB8AC3E}">
        <p14:creationId xmlns:p14="http://schemas.microsoft.com/office/powerpoint/2010/main" val="334464577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ox(in)">
                                      <p:cBhvr>
                                        <p:cTn id="7" dur="500"/>
                                        <p:tgtEl>
                                          <p:spTgt spid="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9217"/>
                                        </p:tgtEl>
                                        <p:attrNameLst>
                                          <p:attrName>style.visibility</p:attrName>
                                        </p:attrNameLst>
                                      </p:cBhvr>
                                      <p:to>
                                        <p:strVal val="visible"/>
                                      </p:to>
                                    </p:set>
                                    <p:animEffect transition="in" filter="strips(downRight)">
                                      <p:cBhvr>
                                        <p:cTn id="12" dur="500"/>
                                        <p:tgtEl>
                                          <p:spTgt spid="92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217"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3"/>
          <p:cNvSpPr txBox="1">
            <a:spLocks noChangeArrowheads="1"/>
          </p:cNvSpPr>
          <p:nvPr/>
        </p:nvSpPr>
        <p:spPr bwMode="auto">
          <a:xfrm>
            <a:off x="457200" y="885825"/>
            <a:ext cx="16764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spcBef>
                <a:spcPct val="50000"/>
              </a:spcBef>
            </a:pPr>
            <a:r>
              <a:rPr lang="en-US" altLang="zh-CN" sz="2000" b="1">
                <a:solidFill>
                  <a:schemeClr val="accent1"/>
                </a:solidFill>
                <a:latin typeface="Times New Roman" pitchFamily="18" charset="0"/>
                <a:sym typeface="Wingdings" pitchFamily="2" charset="2"/>
              </a:rPr>
              <a:t>  </a:t>
            </a:r>
            <a:r>
              <a:rPr lang="zh-CN" altLang="en-US" sz="2000" b="1">
                <a:solidFill>
                  <a:schemeClr val="accent1"/>
                </a:solidFill>
                <a:latin typeface="Times New Roman" pitchFamily="18" charset="0"/>
                <a:sym typeface="Wingdings" pitchFamily="2" charset="2"/>
              </a:rPr>
              <a:t>数组</a:t>
            </a:r>
            <a:r>
              <a:rPr lang="en-US" altLang="zh-CN" sz="2000" b="1">
                <a:solidFill>
                  <a:schemeClr val="accent1"/>
                </a:solidFill>
                <a:latin typeface="Arial" pitchFamily="34" charset="0"/>
                <a:sym typeface="Wingdings" pitchFamily="2" charset="2"/>
              </a:rPr>
              <a:t> :</a:t>
            </a:r>
            <a:endParaRPr lang="en-US" altLang="zh-CN" sz="2000" b="1">
              <a:solidFill>
                <a:schemeClr val="accent1"/>
              </a:solidFill>
              <a:latin typeface="Times New Roman" pitchFamily="18" charset="0"/>
            </a:endParaRPr>
          </a:p>
        </p:txBody>
      </p:sp>
      <p:sp>
        <p:nvSpPr>
          <p:cNvPr id="3" name="Text Box 4"/>
          <p:cNvSpPr txBox="1">
            <a:spLocks noChangeArrowheads="1"/>
          </p:cNvSpPr>
          <p:nvPr/>
        </p:nvSpPr>
        <p:spPr bwMode="auto">
          <a:xfrm>
            <a:off x="1295400" y="1198563"/>
            <a:ext cx="6705600"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spcBef>
                <a:spcPct val="50000"/>
              </a:spcBef>
            </a:pPr>
            <a:r>
              <a:rPr lang="zh-CN" altLang="en-US" sz="2000" b="1">
                <a:solidFill>
                  <a:srgbClr val="0000FF"/>
                </a:solidFill>
                <a:latin typeface="Arial" pitchFamily="34" charset="0"/>
              </a:rPr>
              <a:t>插入</a:t>
            </a:r>
            <a:r>
              <a:rPr lang="en-US" altLang="zh-CN" sz="2000" b="1">
                <a:latin typeface="Arial" pitchFamily="34" charset="0"/>
              </a:rPr>
              <a:t> — </a:t>
            </a:r>
            <a:r>
              <a:rPr lang="zh-CN" altLang="en-US" sz="2000" b="1">
                <a:latin typeface="Arial" pitchFamily="34" charset="0"/>
              </a:rPr>
              <a:t>元素总是插入尾部</a:t>
            </a:r>
            <a:r>
              <a:rPr lang="en-US" altLang="zh-CN" sz="2000" b="1">
                <a:latin typeface="Arial" pitchFamily="34" charset="0"/>
              </a:rPr>
              <a:t>                         ~  </a:t>
            </a:r>
            <a:r>
              <a:rPr lang="en-US" altLang="zh-CN" sz="2000" b="1">
                <a:latin typeface="Times New Roman" pitchFamily="18" charset="0"/>
                <a:sym typeface="Symbol" pitchFamily="18" charset="2"/>
              </a:rPr>
              <a:t> ( 1 )</a:t>
            </a:r>
          </a:p>
          <a:p>
            <a:pPr eaLnBrk="1" hangingPunct="1"/>
            <a:r>
              <a:rPr lang="zh-CN" altLang="en-US" sz="2000" b="1">
                <a:solidFill>
                  <a:srgbClr val="0000FF"/>
                </a:solidFill>
                <a:latin typeface="Arial" pitchFamily="34" charset="0"/>
              </a:rPr>
              <a:t>删除</a:t>
            </a:r>
            <a:r>
              <a:rPr lang="en-US" altLang="zh-CN" sz="2000" b="1">
                <a:latin typeface="Arial" pitchFamily="34" charset="0"/>
              </a:rPr>
              <a:t> — </a:t>
            </a:r>
            <a:r>
              <a:rPr lang="zh-CN" altLang="en-US" sz="2000" b="1">
                <a:latin typeface="Arial" pitchFamily="34" charset="0"/>
              </a:rPr>
              <a:t>查找最大（或最小）关键字</a:t>
            </a:r>
            <a:r>
              <a:rPr lang="en-US" altLang="zh-CN" sz="2000" b="1">
                <a:latin typeface="Arial" pitchFamily="34" charset="0"/>
              </a:rPr>
              <a:t>           ~  </a:t>
            </a:r>
            <a:r>
              <a:rPr lang="en-US" altLang="zh-CN" sz="2000" b="1">
                <a:latin typeface="Times New Roman" pitchFamily="18" charset="0"/>
                <a:sym typeface="Symbol" pitchFamily="18" charset="2"/>
              </a:rPr>
              <a:t> ( </a:t>
            </a:r>
            <a:r>
              <a:rPr lang="en-US" altLang="zh-CN" sz="2000" b="1" i="1">
                <a:latin typeface="Times New Roman" pitchFamily="18" charset="0"/>
                <a:sym typeface="Symbol" pitchFamily="18" charset="2"/>
              </a:rPr>
              <a:t>n</a:t>
            </a:r>
            <a:r>
              <a:rPr lang="en-US" altLang="zh-CN" sz="2000" b="1">
                <a:latin typeface="Times New Roman" pitchFamily="18" charset="0"/>
                <a:sym typeface="Symbol" pitchFamily="18" charset="2"/>
              </a:rPr>
              <a:t> )</a:t>
            </a:r>
          </a:p>
          <a:p>
            <a:pPr eaLnBrk="1" hangingPunct="1"/>
            <a:r>
              <a:rPr lang="en-US" altLang="zh-CN" sz="2000" b="1">
                <a:latin typeface="Arial" pitchFamily="34" charset="0"/>
                <a:sym typeface="Symbol" pitchFamily="18" charset="2"/>
              </a:rPr>
              <a:t>                   </a:t>
            </a:r>
            <a:r>
              <a:rPr lang="zh-CN" altLang="en-US" sz="2000" b="1">
                <a:latin typeface="Arial" pitchFamily="34" charset="0"/>
                <a:sym typeface="Symbol" pitchFamily="18" charset="2"/>
              </a:rPr>
              <a:t>从数组中删去需要移动元素</a:t>
            </a:r>
            <a:r>
              <a:rPr lang="en-US" altLang="zh-CN" sz="2000" b="1">
                <a:latin typeface="Arial" pitchFamily="34" charset="0"/>
                <a:sym typeface="Symbol" pitchFamily="18" charset="2"/>
              </a:rPr>
              <a:t>     </a:t>
            </a:r>
            <a:r>
              <a:rPr lang="en-US" altLang="zh-CN" sz="2000" b="1">
                <a:latin typeface="Arial" pitchFamily="34" charset="0"/>
              </a:rPr>
              <a:t>~  </a:t>
            </a:r>
            <a:r>
              <a:rPr lang="en-US" altLang="zh-CN" sz="2000" b="1">
                <a:latin typeface="Times New Roman" pitchFamily="18" charset="0"/>
                <a:sym typeface="Symbol" pitchFamily="18" charset="2"/>
              </a:rPr>
              <a:t>O( </a:t>
            </a:r>
            <a:r>
              <a:rPr lang="en-US" altLang="zh-CN" sz="2000" b="1" i="1">
                <a:latin typeface="Times New Roman" pitchFamily="18" charset="0"/>
                <a:sym typeface="Symbol" pitchFamily="18" charset="2"/>
              </a:rPr>
              <a:t>n</a:t>
            </a:r>
            <a:r>
              <a:rPr lang="en-US" altLang="zh-CN" sz="2000" b="1">
                <a:latin typeface="Times New Roman" pitchFamily="18" charset="0"/>
                <a:sym typeface="Symbol" pitchFamily="18" charset="2"/>
              </a:rPr>
              <a:t> )</a:t>
            </a:r>
          </a:p>
        </p:txBody>
      </p:sp>
      <p:sp>
        <p:nvSpPr>
          <p:cNvPr id="4" name="Text Box 5"/>
          <p:cNvSpPr txBox="1">
            <a:spLocks noChangeArrowheads="1"/>
          </p:cNvSpPr>
          <p:nvPr/>
        </p:nvSpPr>
        <p:spPr bwMode="auto">
          <a:xfrm>
            <a:off x="457200" y="2100263"/>
            <a:ext cx="2133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spcBef>
                <a:spcPct val="50000"/>
              </a:spcBef>
            </a:pPr>
            <a:r>
              <a:rPr lang="en-US" altLang="zh-CN" sz="2000" b="1">
                <a:solidFill>
                  <a:schemeClr val="accent1"/>
                </a:solidFill>
                <a:latin typeface="Times New Roman" pitchFamily="18" charset="0"/>
                <a:sym typeface="Wingdings" pitchFamily="2" charset="2"/>
              </a:rPr>
              <a:t>  </a:t>
            </a:r>
            <a:r>
              <a:rPr lang="zh-CN" altLang="en-US" sz="2000" b="1">
                <a:solidFill>
                  <a:schemeClr val="accent1"/>
                </a:solidFill>
                <a:latin typeface="Times New Roman" pitchFamily="18" charset="0"/>
                <a:sym typeface="Wingdings" pitchFamily="2" charset="2"/>
              </a:rPr>
              <a:t>链表</a:t>
            </a:r>
            <a:r>
              <a:rPr lang="en-US" altLang="zh-CN" sz="2000" b="1">
                <a:solidFill>
                  <a:schemeClr val="accent1"/>
                </a:solidFill>
                <a:latin typeface="Arial" pitchFamily="34" charset="0"/>
                <a:sym typeface="Wingdings" pitchFamily="2" charset="2"/>
              </a:rPr>
              <a:t>:</a:t>
            </a:r>
            <a:endParaRPr lang="en-US" altLang="zh-CN" sz="2000" b="1">
              <a:solidFill>
                <a:schemeClr val="accent1"/>
              </a:solidFill>
              <a:latin typeface="Times New Roman" pitchFamily="18" charset="0"/>
            </a:endParaRPr>
          </a:p>
        </p:txBody>
      </p:sp>
      <p:sp>
        <p:nvSpPr>
          <p:cNvPr id="5" name="Text Box 6"/>
          <p:cNvSpPr txBox="1">
            <a:spLocks noChangeArrowheads="1"/>
          </p:cNvSpPr>
          <p:nvPr/>
        </p:nvSpPr>
        <p:spPr bwMode="auto">
          <a:xfrm>
            <a:off x="1295400" y="2484438"/>
            <a:ext cx="6491288"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spcBef>
                <a:spcPct val="50000"/>
              </a:spcBef>
            </a:pPr>
            <a:r>
              <a:rPr lang="zh-CN" altLang="en-US" sz="2000" b="1">
                <a:solidFill>
                  <a:srgbClr val="0000FF"/>
                </a:solidFill>
                <a:latin typeface="Arial" pitchFamily="34" charset="0"/>
              </a:rPr>
              <a:t>插入 </a:t>
            </a:r>
            <a:r>
              <a:rPr lang="en-US" altLang="zh-CN" sz="2000" b="1">
                <a:latin typeface="Arial" pitchFamily="34" charset="0"/>
              </a:rPr>
              <a:t>— </a:t>
            </a:r>
            <a:r>
              <a:rPr lang="zh-CN" altLang="en-US" sz="2000" b="1">
                <a:latin typeface="Arial" pitchFamily="34" charset="0"/>
              </a:rPr>
              <a:t>元素总是插入链表的头部</a:t>
            </a:r>
            <a:r>
              <a:rPr lang="en-US" altLang="zh-CN" sz="2000" b="1">
                <a:latin typeface="Arial" pitchFamily="34" charset="0"/>
              </a:rPr>
              <a:t>           ~  </a:t>
            </a:r>
            <a:r>
              <a:rPr lang="en-US" altLang="zh-CN" sz="2000" b="1">
                <a:latin typeface="Times New Roman" pitchFamily="18" charset="0"/>
                <a:sym typeface="Symbol" pitchFamily="18" charset="2"/>
              </a:rPr>
              <a:t> ( 1 )</a:t>
            </a:r>
          </a:p>
          <a:p>
            <a:pPr eaLnBrk="1" hangingPunct="1"/>
            <a:r>
              <a:rPr lang="zh-CN" altLang="en-US" sz="2000" b="1">
                <a:solidFill>
                  <a:srgbClr val="0000FF"/>
                </a:solidFill>
                <a:latin typeface="Arial" pitchFamily="34" charset="0"/>
              </a:rPr>
              <a:t>删除 </a:t>
            </a:r>
            <a:r>
              <a:rPr lang="en-US" altLang="zh-CN" sz="2000" b="1">
                <a:latin typeface="Arial" pitchFamily="34" charset="0"/>
              </a:rPr>
              <a:t>— </a:t>
            </a:r>
            <a:r>
              <a:rPr lang="zh-CN" altLang="en-US" sz="2000" b="1">
                <a:latin typeface="Arial" pitchFamily="34" charset="0"/>
              </a:rPr>
              <a:t>查找最大（或最小）关键字</a:t>
            </a:r>
            <a:r>
              <a:rPr lang="en-US" altLang="zh-CN" sz="2000" b="1">
                <a:latin typeface="Arial" pitchFamily="34" charset="0"/>
              </a:rPr>
              <a:t>        ~  </a:t>
            </a:r>
            <a:r>
              <a:rPr lang="en-US" altLang="zh-CN" sz="2000" b="1">
                <a:latin typeface="Times New Roman" pitchFamily="18" charset="0"/>
                <a:sym typeface="Symbol" pitchFamily="18" charset="2"/>
              </a:rPr>
              <a:t> ( </a:t>
            </a:r>
            <a:r>
              <a:rPr lang="en-US" altLang="zh-CN" sz="2000" b="1" i="1">
                <a:latin typeface="Times New Roman" pitchFamily="18" charset="0"/>
                <a:sym typeface="Symbol" pitchFamily="18" charset="2"/>
              </a:rPr>
              <a:t>n</a:t>
            </a:r>
            <a:r>
              <a:rPr lang="en-US" altLang="zh-CN" sz="2000" b="1">
                <a:latin typeface="Times New Roman" pitchFamily="18" charset="0"/>
                <a:sym typeface="Symbol" pitchFamily="18" charset="2"/>
              </a:rPr>
              <a:t> )</a:t>
            </a:r>
          </a:p>
          <a:p>
            <a:pPr eaLnBrk="1" hangingPunct="1"/>
            <a:r>
              <a:rPr lang="en-US" altLang="zh-CN" sz="2000" b="1">
                <a:latin typeface="Arial" pitchFamily="34" charset="0"/>
                <a:sym typeface="Symbol" pitchFamily="18" charset="2"/>
              </a:rPr>
              <a:t>                      </a:t>
            </a:r>
            <a:r>
              <a:rPr lang="zh-CN" altLang="en-US" sz="2000" b="1">
                <a:latin typeface="Arial" pitchFamily="34" charset="0"/>
                <a:sym typeface="Symbol" pitchFamily="18" charset="2"/>
              </a:rPr>
              <a:t>删去结点                            </a:t>
            </a:r>
            <a:r>
              <a:rPr lang="en-US" altLang="zh-CN" sz="2000" b="1">
                <a:latin typeface="Arial" pitchFamily="34" charset="0"/>
              </a:rPr>
              <a:t>~ </a:t>
            </a:r>
            <a:r>
              <a:rPr lang="en-US" altLang="zh-CN" sz="2000" b="1">
                <a:latin typeface="Times New Roman" pitchFamily="18" charset="0"/>
                <a:sym typeface="Symbol" pitchFamily="18" charset="2"/>
              </a:rPr>
              <a:t>( 1 )</a:t>
            </a:r>
          </a:p>
        </p:txBody>
      </p:sp>
      <p:sp>
        <p:nvSpPr>
          <p:cNvPr id="6" name="Text Box 7"/>
          <p:cNvSpPr txBox="1">
            <a:spLocks noChangeArrowheads="1"/>
          </p:cNvSpPr>
          <p:nvPr/>
        </p:nvSpPr>
        <p:spPr bwMode="auto">
          <a:xfrm>
            <a:off x="457200" y="3457575"/>
            <a:ext cx="2667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spcBef>
                <a:spcPct val="50000"/>
              </a:spcBef>
            </a:pPr>
            <a:r>
              <a:rPr lang="en-US" altLang="zh-CN" sz="2000" b="1">
                <a:solidFill>
                  <a:schemeClr val="accent1"/>
                </a:solidFill>
                <a:latin typeface="Times New Roman" pitchFamily="18" charset="0"/>
                <a:sym typeface="Wingdings" pitchFamily="2" charset="2"/>
              </a:rPr>
              <a:t>  </a:t>
            </a:r>
            <a:r>
              <a:rPr lang="zh-CN" altLang="en-US" sz="2000" b="1">
                <a:solidFill>
                  <a:schemeClr val="accent1"/>
                </a:solidFill>
                <a:latin typeface="Times New Roman" pitchFamily="18" charset="0"/>
                <a:sym typeface="Wingdings" pitchFamily="2" charset="2"/>
              </a:rPr>
              <a:t>有序数组</a:t>
            </a:r>
            <a:r>
              <a:rPr lang="en-US" altLang="zh-CN" sz="2000" b="1">
                <a:solidFill>
                  <a:schemeClr val="accent1"/>
                </a:solidFill>
                <a:latin typeface="Arial" pitchFamily="34" charset="0"/>
                <a:sym typeface="Wingdings" pitchFamily="2" charset="2"/>
              </a:rPr>
              <a:t>:</a:t>
            </a:r>
            <a:endParaRPr lang="en-US" altLang="zh-CN" sz="2000" b="1">
              <a:solidFill>
                <a:schemeClr val="accent1"/>
              </a:solidFill>
              <a:latin typeface="Times New Roman" pitchFamily="18" charset="0"/>
            </a:endParaRPr>
          </a:p>
        </p:txBody>
      </p:sp>
      <p:sp>
        <p:nvSpPr>
          <p:cNvPr id="7" name="Text Box 8"/>
          <p:cNvSpPr txBox="1">
            <a:spLocks noChangeArrowheads="1"/>
          </p:cNvSpPr>
          <p:nvPr/>
        </p:nvSpPr>
        <p:spPr bwMode="auto">
          <a:xfrm>
            <a:off x="1295400" y="3770313"/>
            <a:ext cx="7391400"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zh-CN" altLang="en-US" sz="2000" b="1" dirty="0">
                <a:solidFill>
                  <a:srgbClr val="0000FF"/>
                </a:solidFill>
                <a:latin typeface="Arial" pitchFamily="34" charset="0"/>
              </a:rPr>
              <a:t>插入  </a:t>
            </a:r>
            <a:r>
              <a:rPr lang="en-US" altLang="zh-CN" sz="2000" b="1" dirty="0">
                <a:latin typeface="Arial" pitchFamily="34" charset="0"/>
              </a:rPr>
              <a:t>—  </a:t>
            </a:r>
            <a:r>
              <a:rPr lang="zh-CN" altLang="en-US" sz="2000" b="1" dirty="0">
                <a:latin typeface="Arial" pitchFamily="34" charset="0"/>
              </a:rPr>
              <a:t>找到合适的位置         </a:t>
            </a:r>
            <a:r>
              <a:rPr lang="zh-CN" altLang="en-US" sz="2000" b="1" dirty="0" smtClean="0">
                <a:latin typeface="Arial" pitchFamily="34" charset="0"/>
              </a:rPr>
              <a:t>     </a:t>
            </a:r>
            <a:r>
              <a:rPr lang="en-US" altLang="zh-CN" sz="2000" b="1" dirty="0">
                <a:latin typeface="Arial" pitchFamily="34" charset="0"/>
              </a:rPr>
              <a:t>~  </a:t>
            </a:r>
            <a:r>
              <a:rPr lang="en-US" altLang="zh-CN" b="1" dirty="0">
                <a:latin typeface="Times New Roman" pitchFamily="18" charset="0"/>
                <a:sym typeface="Symbol" pitchFamily="18" charset="2"/>
              </a:rPr>
              <a:t>O( </a:t>
            </a:r>
            <a:r>
              <a:rPr lang="en-US" altLang="zh-CN" b="1" i="1" dirty="0">
                <a:latin typeface="Times New Roman" pitchFamily="18" charset="0"/>
                <a:sym typeface="Symbol" pitchFamily="18" charset="2"/>
              </a:rPr>
              <a:t>n</a:t>
            </a:r>
            <a:r>
              <a:rPr lang="en-US" altLang="zh-CN" b="1" dirty="0">
                <a:latin typeface="Times New Roman" pitchFamily="18" charset="0"/>
                <a:sym typeface="Symbol" pitchFamily="18" charset="2"/>
              </a:rPr>
              <a:t> ) </a:t>
            </a:r>
            <a:r>
              <a:rPr lang="zh-CN" altLang="en-US" b="1" dirty="0">
                <a:latin typeface="Times New Roman" pitchFamily="18" charset="0"/>
                <a:sym typeface="Symbol" pitchFamily="18" charset="2"/>
              </a:rPr>
              <a:t>或 </a:t>
            </a:r>
            <a:r>
              <a:rPr lang="en-US" altLang="zh-CN" b="1" dirty="0">
                <a:latin typeface="Times New Roman" pitchFamily="18" charset="0"/>
                <a:sym typeface="Symbol" pitchFamily="18" charset="2"/>
              </a:rPr>
              <a:t>O(log</a:t>
            </a:r>
            <a:r>
              <a:rPr lang="en-US" altLang="zh-CN" b="1" baseline="-25000" dirty="0">
                <a:latin typeface="Times New Roman" pitchFamily="18" charset="0"/>
                <a:sym typeface="Symbol" pitchFamily="18" charset="2"/>
              </a:rPr>
              <a:t>2</a:t>
            </a:r>
            <a:r>
              <a:rPr lang="en-US" altLang="zh-CN" b="1" dirty="0">
                <a:latin typeface="Times New Roman" pitchFamily="18" charset="0"/>
                <a:sym typeface="Symbol" pitchFamily="18" charset="2"/>
              </a:rPr>
              <a:t> </a:t>
            </a:r>
            <a:r>
              <a:rPr lang="en-US" altLang="zh-CN" b="1" i="1" dirty="0">
                <a:latin typeface="Times New Roman" pitchFamily="18" charset="0"/>
                <a:sym typeface="Symbol" pitchFamily="18" charset="2"/>
              </a:rPr>
              <a:t>n</a:t>
            </a:r>
            <a:r>
              <a:rPr lang="en-US" altLang="zh-CN" b="1" dirty="0">
                <a:latin typeface="Times New Roman" pitchFamily="18" charset="0"/>
                <a:sym typeface="Symbol" pitchFamily="18" charset="2"/>
              </a:rPr>
              <a:t> )</a:t>
            </a:r>
          </a:p>
          <a:p>
            <a:pPr eaLnBrk="1" hangingPunct="1"/>
            <a:r>
              <a:rPr lang="en-US" altLang="zh-CN" sz="2000" b="1" dirty="0">
                <a:latin typeface="Arial" pitchFamily="34" charset="0"/>
                <a:sym typeface="Symbol" pitchFamily="18" charset="2"/>
              </a:rPr>
              <a:t>                      </a:t>
            </a:r>
            <a:r>
              <a:rPr lang="zh-CN" altLang="en-US" sz="2000" b="1" dirty="0">
                <a:latin typeface="Arial" pitchFamily="34" charset="0"/>
                <a:sym typeface="Symbol" pitchFamily="18" charset="2"/>
              </a:rPr>
              <a:t>移动元素并插入        </a:t>
            </a:r>
            <a:r>
              <a:rPr lang="zh-CN" altLang="en-US" sz="2000" b="1" dirty="0" smtClean="0">
                <a:latin typeface="Arial" pitchFamily="34" charset="0"/>
                <a:sym typeface="Symbol" pitchFamily="18" charset="2"/>
              </a:rPr>
              <a:t>     </a:t>
            </a:r>
            <a:r>
              <a:rPr lang="en-US" altLang="zh-CN" sz="2000" b="1" dirty="0">
                <a:latin typeface="Arial" pitchFamily="34" charset="0"/>
              </a:rPr>
              <a:t>~  </a:t>
            </a:r>
            <a:r>
              <a:rPr lang="en-US" altLang="zh-CN" b="1" dirty="0">
                <a:latin typeface="Times New Roman" pitchFamily="18" charset="0"/>
                <a:sym typeface="Symbol" pitchFamily="18" charset="2"/>
              </a:rPr>
              <a:t>O( </a:t>
            </a:r>
            <a:r>
              <a:rPr lang="en-US" altLang="zh-CN" b="1" i="1" dirty="0">
                <a:latin typeface="Times New Roman" pitchFamily="18" charset="0"/>
                <a:sym typeface="Symbol" pitchFamily="18" charset="2"/>
              </a:rPr>
              <a:t>n</a:t>
            </a:r>
            <a:r>
              <a:rPr lang="en-US" altLang="zh-CN" b="1" dirty="0">
                <a:latin typeface="Times New Roman" pitchFamily="18" charset="0"/>
                <a:sym typeface="Symbol" pitchFamily="18" charset="2"/>
              </a:rPr>
              <a:t> )</a:t>
            </a:r>
          </a:p>
          <a:p>
            <a:pPr eaLnBrk="1" hangingPunct="1"/>
            <a:r>
              <a:rPr lang="zh-CN" altLang="en-US" sz="2000" b="1" dirty="0">
                <a:solidFill>
                  <a:srgbClr val="0000FF"/>
                </a:solidFill>
                <a:latin typeface="Arial" pitchFamily="34" charset="0"/>
              </a:rPr>
              <a:t>删除  </a:t>
            </a:r>
            <a:r>
              <a:rPr lang="en-US" altLang="zh-CN" sz="2000" b="1" dirty="0">
                <a:latin typeface="Arial" pitchFamily="34" charset="0"/>
              </a:rPr>
              <a:t>—  </a:t>
            </a:r>
            <a:r>
              <a:rPr lang="zh-CN" altLang="en-US" sz="2000" b="1" dirty="0">
                <a:latin typeface="Arial" pitchFamily="34" charset="0"/>
              </a:rPr>
              <a:t>删去最后一个元素                  </a:t>
            </a:r>
            <a:r>
              <a:rPr lang="en-US" altLang="zh-CN" sz="2000" b="1" dirty="0">
                <a:latin typeface="Arial" pitchFamily="34" charset="0"/>
              </a:rPr>
              <a:t>~ </a:t>
            </a:r>
            <a:r>
              <a:rPr lang="en-US" altLang="zh-CN" b="1" dirty="0">
                <a:latin typeface="Times New Roman" pitchFamily="18" charset="0"/>
                <a:sym typeface="Symbol" pitchFamily="18" charset="2"/>
              </a:rPr>
              <a:t>( 1 )</a:t>
            </a:r>
          </a:p>
        </p:txBody>
      </p:sp>
      <p:sp>
        <p:nvSpPr>
          <p:cNvPr id="8" name="Text Box 9"/>
          <p:cNvSpPr txBox="1">
            <a:spLocks noChangeArrowheads="1"/>
          </p:cNvSpPr>
          <p:nvPr/>
        </p:nvSpPr>
        <p:spPr bwMode="auto">
          <a:xfrm>
            <a:off x="395536" y="5051425"/>
            <a:ext cx="32004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spcBef>
                <a:spcPct val="50000"/>
              </a:spcBef>
            </a:pPr>
            <a:r>
              <a:rPr lang="en-US" altLang="zh-CN" sz="2000" b="1" dirty="0">
                <a:solidFill>
                  <a:schemeClr val="accent1"/>
                </a:solidFill>
                <a:latin typeface="Times New Roman" pitchFamily="18" charset="0"/>
                <a:sym typeface="Wingdings" pitchFamily="2" charset="2"/>
              </a:rPr>
              <a:t>  </a:t>
            </a:r>
            <a:r>
              <a:rPr lang="zh-CN" altLang="en-US" sz="2000" b="1" dirty="0">
                <a:solidFill>
                  <a:schemeClr val="accent1"/>
                </a:solidFill>
                <a:latin typeface="Times New Roman" pitchFamily="18" charset="0"/>
                <a:sym typeface="Wingdings" pitchFamily="2" charset="2"/>
              </a:rPr>
              <a:t>有序链表</a:t>
            </a:r>
            <a:r>
              <a:rPr lang="en-US" altLang="zh-CN" sz="2000" b="1" dirty="0">
                <a:solidFill>
                  <a:schemeClr val="accent1"/>
                </a:solidFill>
                <a:latin typeface="Arial" pitchFamily="34" charset="0"/>
                <a:sym typeface="Wingdings" pitchFamily="2" charset="2"/>
              </a:rPr>
              <a:t>:</a:t>
            </a:r>
            <a:endParaRPr lang="en-US" altLang="zh-CN" sz="2000" b="1" dirty="0">
              <a:solidFill>
                <a:schemeClr val="accent1"/>
              </a:solidFill>
              <a:latin typeface="Times New Roman" pitchFamily="18" charset="0"/>
            </a:endParaRPr>
          </a:p>
        </p:txBody>
      </p:sp>
      <p:sp>
        <p:nvSpPr>
          <p:cNvPr id="9" name="Text Box 10"/>
          <p:cNvSpPr txBox="1">
            <a:spLocks noChangeArrowheads="1"/>
          </p:cNvSpPr>
          <p:nvPr/>
        </p:nvSpPr>
        <p:spPr bwMode="auto">
          <a:xfrm>
            <a:off x="1295400" y="5251450"/>
            <a:ext cx="7391400"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zh-CN" altLang="en-US" sz="2000" b="1">
                <a:solidFill>
                  <a:srgbClr val="0000FF"/>
                </a:solidFill>
                <a:latin typeface="Arial" pitchFamily="34" charset="0"/>
              </a:rPr>
              <a:t>插入 </a:t>
            </a:r>
            <a:r>
              <a:rPr lang="en-US" altLang="zh-CN" sz="2000" b="1">
                <a:latin typeface="Arial" pitchFamily="34" charset="0"/>
              </a:rPr>
              <a:t>—  </a:t>
            </a:r>
            <a:r>
              <a:rPr lang="zh-CN" altLang="en-US" sz="2000" b="1">
                <a:latin typeface="Arial" pitchFamily="34" charset="0"/>
              </a:rPr>
              <a:t>找到合适的位置                  </a:t>
            </a:r>
            <a:r>
              <a:rPr lang="en-US" altLang="zh-CN" sz="2000" b="1">
                <a:latin typeface="Arial" pitchFamily="34" charset="0"/>
              </a:rPr>
              <a:t>~  </a:t>
            </a:r>
            <a:r>
              <a:rPr lang="en-US" altLang="zh-CN" b="1">
                <a:latin typeface="Times New Roman" pitchFamily="18" charset="0"/>
                <a:sym typeface="Symbol" pitchFamily="18" charset="2"/>
              </a:rPr>
              <a:t>O( </a:t>
            </a:r>
            <a:r>
              <a:rPr lang="en-US" altLang="zh-CN" b="1" i="1">
                <a:latin typeface="Times New Roman" pitchFamily="18" charset="0"/>
                <a:sym typeface="Symbol" pitchFamily="18" charset="2"/>
              </a:rPr>
              <a:t>n</a:t>
            </a:r>
            <a:r>
              <a:rPr lang="en-US" altLang="zh-CN" b="1">
                <a:latin typeface="Times New Roman" pitchFamily="18" charset="0"/>
                <a:sym typeface="Symbol" pitchFamily="18" charset="2"/>
              </a:rPr>
              <a:t> )</a:t>
            </a:r>
          </a:p>
          <a:p>
            <a:pPr eaLnBrk="1" hangingPunct="1"/>
            <a:r>
              <a:rPr lang="en-US" altLang="zh-CN" sz="2000" b="1">
                <a:latin typeface="Arial" pitchFamily="34" charset="0"/>
                <a:sym typeface="Symbol" pitchFamily="18" charset="2"/>
              </a:rPr>
              <a:t>                     </a:t>
            </a:r>
            <a:r>
              <a:rPr lang="zh-CN" altLang="en-US" sz="2000" b="1">
                <a:latin typeface="Arial" pitchFamily="34" charset="0"/>
                <a:sym typeface="Symbol" pitchFamily="18" charset="2"/>
              </a:rPr>
              <a:t>插入元素                      </a:t>
            </a:r>
            <a:r>
              <a:rPr lang="en-US" altLang="zh-CN" sz="2000" b="1">
                <a:latin typeface="Arial" pitchFamily="34" charset="0"/>
              </a:rPr>
              <a:t>~ </a:t>
            </a:r>
            <a:r>
              <a:rPr lang="en-US" altLang="zh-CN" b="1">
                <a:latin typeface="Times New Roman" pitchFamily="18" charset="0"/>
                <a:sym typeface="Symbol" pitchFamily="18" charset="2"/>
              </a:rPr>
              <a:t>( 1 )</a:t>
            </a:r>
          </a:p>
          <a:p>
            <a:pPr eaLnBrk="1" hangingPunct="1"/>
            <a:r>
              <a:rPr lang="zh-CN" altLang="en-US" sz="2000" b="1">
                <a:solidFill>
                  <a:srgbClr val="0000FF"/>
                </a:solidFill>
                <a:latin typeface="Arial" pitchFamily="34" charset="0"/>
              </a:rPr>
              <a:t>删除 </a:t>
            </a:r>
            <a:r>
              <a:rPr lang="en-US" altLang="zh-CN" sz="2000" b="1">
                <a:latin typeface="Arial" pitchFamily="34" charset="0"/>
              </a:rPr>
              <a:t>—  </a:t>
            </a:r>
            <a:r>
              <a:rPr lang="zh-CN" altLang="en-US" sz="2000" b="1">
                <a:latin typeface="Arial" pitchFamily="34" charset="0"/>
              </a:rPr>
              <a:t>删除首元素或最后元素       </a:t>
            </a:r>
            <a:r>
              <a:rPr lang="en-US" altLang="zh-CN" sz="2000" b="1">
                <a:latin typeface="Arial" pitchFamily="34" charset="0"/>
              </a:rPr>
              <a:t>~ </a:t>
            </a:r>
            <a:r>
              <a:rPr lang="en-US" altLang="zh-CN" b="1">
                <a:latin typeface="Times New Roman" pitchFamily="18" charset="0"/>
                <a:sym typeface="Symbol" pitchFamily="18" charset="2"/>
              </a:rPr>
              <a:t>( 1 )</a:t>
            </a:r>
          </a:p>
        </p:txBody>
      </p:sp>
      <p:sp>
        <p:nvSpPr>
          <p:cNvPr id="32781" name="矩形 11"/>
          <p:cNvSpPr>
            <a:spLocks noChangeArrowheads="1"/>
          </p:cNvSpPr>
          <p:nvPr/>
        </p:nvSpPr>
        <p:spPr bwMode="auto">
          <a:xfrm>
            <a:off x="525050" y="235743"/>
            <a:ext cx="52863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zh-CN" altLang="en-US" sz="2400" b="1" dirty="0" smtClean="0">
                <a:solidFill>
                  <a:srgbClr val="EBEBEB"/>
                </a:solidFill>
                <a:latin typeface="Times New Roman" pitchFamily="18" charset="0"/>
              </a:rPr>
              <a:t>若</a:t>
            </a:r>
            <a:r>
              <a:rPr lang="zh-CN" altLang="en-US" sz="2400" b="1" dirty="0">
                <a:solidFill>
                  <a:srgbClr val="EBEBEB"/>
                </a:solidFill>
                <a:latin typeface="Times New Roman" pitchFamily="18" charset="0"/>
              </a:rPr>
              <a:t>采用数组或链表实现优先队列 </a:t>
            </a:r>
            <a:endParaRPr lang="en-US" altLang="zh-CN" sz="2400" b="1" dirty="0">
              <a:solidFill>
                <a:srgbClr val="EBEBEB"/>
              </a:solidFill>
              <a:latin typeface="Times New Roman" pitchFamily="18" charset="0"/>
            </a:endParaRPr>
          </a:p>
        </p:txBody>
      </p:sp>
    </p:spTree>
    <p:extLst>
      <p:ext uri="{BB962C8B-B14F-4D97-AF65-F5344CB8AC3E}">
        <p14:creationId xmlns:p14="http://schemas.microsoft.com/office/powerpoint/2010/main" val="202598837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
                                        </p:tgtEl>
                                        <p:attrNameLst>
                                          <p:attrName>style.visibility</p:attrName>
                                        </p:attrNameLst>
                                      </p:cBhvr>
                                      <p:to>
                                        <p:strVal val="visible"/>
                                      </p:to>
                                    </p:set>
                                  </p:childTnLst>
                                </p:cTn>
                              </p:par>
                            </p:childTnLst>
                          </p:cTn>
                        </p:par>
                        <p:par>
                          <p:cTn id="7" fill="hold" nodeType="afterGroup">
                            <p:stCondLst>
                              <p:cond delay="500"/>
                            </p:stCondLst>
                            <p:childTnLst>
                              <p:par>
                                <p:cTn id="8" presetID="18" presetClass="entr" presetSubtype="6" fill="hold" grpId="0" nodeType="after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strips(downRight)">
                                      <p:cBhvr>
                                        <p:cTn id="10" dur="500"/>
                                        <p:tgtEl>
                                          <p:spTgt spid="3"/>
                                        </p:tgtEl>
                                      </p:cBhvr>
                                    </p:animEffect>
                                  </p:childTnLst>
                                  <p:subTnLst>
                                    <p:audio>
                                      <p:cMediaNode>
                                        <p:cTn display="0" masterRel="sameClick">
                                          <p:stCondLst>
                                            <p:cond evt="begin" delay="0">
                                              <p:tn val="8"/>
                                            </p:cond>
                                          </p:stCondLst>
                                          <p:endCondLst>
                                            <p:cond evt="onStopAudio" delay="0">
                                              <p:tgtEl>
                                                <p:sldTgt/>
                                              </p:tgtEl>
                                            </p:cond>
                                          </p:endCondLst>
                                        </p:cTn>
                                        <p:tgtEl>
                                          <p:sndTgt r:embed="rId2" name="PROJCTOR.WAV"/>
                                        </p:tgtEl>
                                      </p:cMediaNode>
                                    </p:audio>
                                  </p:sub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4"/>
                                        </p:tgtEl>
                                        <p:attrNameLst>
                                          <p:attrName>style.visibility</p:attrName>
                                        </p:attrNameLst>
                                      </p:cBhvr>
                                      <p:to>
                                        <p:strVal val="visible"/>
                                      </p:to>
                                    </p:set>
                                  </p:childTnLst>
                                </p:cTn>
                              </p:par>
                            </p:childTnLst>
                          </p:cTn>
                        </p:par>
                        <p:par>
                          <p:cTn id="15" fill="hold" nodeType="afterGroup">
                            <p:stCondLst>
                              <p:cond delay="500"/>
                            </p:stCondLst>
                            <p:childTnLst>
                              <p:par>
                                <p:cTn id="16" presetID="18" presetClass="entr" presetSubtype="6" fill="hold" grpId="0" nodeType="after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strips(downRight)">
                                      <p:cBhvr>
                                        <p:cTn id="18" dur="500"/>
                                        <p:tgtEl>
                                          <p:spTgt spid="5"/>
                                        </p:tgtEl>
                                      </p:cBhvr>
                                    </p:animEffect>
                                  </p:childTnLst>
                                  <p:subTnLst>
                                    <p:audio>
                                      <p:cMediaNode>
                                        <p:cTn display="0" masterRel="sameClick">
                                          <p:stCondLst>
                                            <p:cond evt="begin" delay="0">
                                              <p:tn val="16"/>
                                            </p:cond>
                                          </p:stCondLst>
                                          <p:endCondLst>
                                            <p:cond evt="onStopAudio" delay="0">
                                              <p:tgtEl>
                                                <p:sldTgt/>
                                              </p:tgtEl>
                                            </p:cond>
                                          </p:endCondLst>
                                        </p:cTn>
                                        <p:tgtEl>
                                          <p:sndTgt r:embed="rId2" name="PROJCTOR.WAV"/>
                                        </p:tgtEl>
                                      </p:cMediaNode>
                                    </p:audio>
                                  </p:sub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6"/>
                                        </p:tgtEl>
                                        <p:attrNameLst>
                                          <p:attrName>style.visibility</p:attrName>
                                        </p:attrNameLst>
                                      </p:cBhvr>
                                      <p:to>
                                        <p:strVal val="visible"/>
                                      </p:to>
                                    </p:set>
                                  </p:childTnLst>
                                </p:cTn>
                              </p:par>
                            </p:childTnLst>
                          </p:cTn>
                        </p:par>
                        <p:par>
                          <p:cTn id="23" fill="hold" nodeType="afterGroup">
                            <p:stCondLst>
                              <p:cond delay="500"/>
                            </p:stCondLst>
                            <p:childTnLst>
                              <p:par>
                                <p:cTn id="24" presetID="18" presetClass="entr" presetSubtype="6" fill="hold" grpId="0" nodeType="after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strips(downRight)">
                                      <p:cBhvr>
                                        <p:cTn id="26" dur="500"/>
                                        <p:tgtEl>
                                          <p:spTgt spid="7"/>
                                        </p:tgtEl>
                                      </p:cBhvr>
                                    </p:animEffect>
                                  </p:childTnLst>
                                  <p:subTnLst>
                                    <p:audio>
                                      <p:cMediaNode>
                                        <p:cTn display="0" masterRel="sameClick">
                                          <p:stCondLst>
                                            <p:cond evt="begin" delay="0">
                                              <p:tn val="24"/>
                                            </p:cond>
                                          </p:stCondLst>
                                          <p:endCondLst>
                                            <p:cond evt="onStopAudio" delay="0">
                                              <p:tgtEl>
                                                <p:sldTgt/>
                                              </p:tgtEl>
                                            </p:cond>
                                          </p:endCondLst>
                                        </p:cTn>
                                        <p:tgtEl>
                                          <p:sndTgt r:embed="rId2" name="PROJCTOR.WAV"/>
                                        </p:tgtEl>
                                      </p:cMediaNode>
                                    </p:audio>
                                  </p:sub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8"/>
                                        </p:tgtEl>
                                        <p:attrNameLst>
                                          <p:attrName>style.visibility</p:attrName>
                                        </p:attrNameLst>
                                      </p:cBhvr>
                                      <p:to>
                                        <p:strVal val="visible"/>
                                      </p:to>
                                    </p:set>
                                  </p:childTnLst>
                                </p:cTn>
                              </p:par>
                            </p:childTnLst>
                          </p:cTn>
                        </p:par>
                        <p:par>
                          <p:cTn id="31" fill="hold" nodeType="afterGroup">
                            <p:stCondLst>
                              <p:cond delay="500"/>
                            </p:stCondLst>
                            <p:childTnLst>
                              <p:par>
                                <p:cTn id="32" presetID="18" presetClass="entr" presetSubtype="6" fill="hold" grpId="0" nodeType="after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strips(downRight)">
                                      <p:cBhvr>
                                        <p:cTn id="34" dur="500"/>
                                        <p:tgtEl>
                                          <p:spTgt spid="9"/>
                                        </p:tgtEl>
                                      </p:cBhvr>
                                    </p:animEffect>
                                  </p:childTnLst>
                                  <p:subTnLst>
                                    <p:audio>
                                      <p:cMediaNode>
                                        <p:cTn display="0" masterRel="sameClick">
                                          <p:stCondLst>
                                            <p:cond evt="begin" delay="0">
                                              <p:tn val="32"/>
                                            </p:cond>
                                          </p:stCondLst>
                                          <p:endCondLst>
                                            <p:cond evt="onStopAudio" delay="0">
                                              <p:tgtEl>
                                                <p:sldTgt/>
                                              </p:tgtEl>
                                            </p:cond>
                                          </p:endCondLst>
                                        </p:cTn>
                                        <p:tgtEl>
                                          <p:sndTgt r:embed="rId2" name="PROJCTOR.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utoUpdateAnimBg="0"/>
      <p:bldP spid="3" grpId="0" autoUpdateAnimBg="0"/>
      <p:bldP spid="4" grpId="0" autoUpdateAnimBg="0"/>
      <p:bldP spid="5" grpId="0" autoUpdateAnimBg="0"/>
      <p:bldP spid="6" grpId="0" autoUpdateAnimBg="0"/>
      <p:bldP spid="7" grpId="0" autoUpdateAnimBg="0"/>
      <p:bldP spid="8" grpId="0" autoUpdateAnimBg="0"/>
      <p:bldP spid="9" grpId="0" autoUpdateAnimBg="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7" name="矩形 6"/>
          <p:cNvSpPr>
            <a:spLocks noChangeArrowheads="1"/>
          </p:cNvSpPr>
          <p:nvPr/>
        </p:nvSpPr>
        <p:spPr bwMode="auto">
          <a:xfrm>
            <a:off x="794940" y="260648"/>
            <a:ext cx="49291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zh-CN" altLang="en-US" sz="2400" b="1" dirty="0" smtClean="0">
                <a:solidFill>
                  <a:srgbClr val="EBEBEB"/>
                </a:solidFill>
                <a:latin typeface="Times New Roman" pitchFamily="18" charset="0"/>
              </a:rPr>
              <a:t>采用</a:t>
            </a:r>
            <a:r>
              <a:rPr lang="zh-CN" altLang="en-US" sz="2400" b="1" dirty="0">
                <a:solidFill>
                  <a:srgbClr val="EBEBEB"/>
                </a:solidFill>
                <a:latin typeface="Times New Roman" pitchFamily="18" charset="0"/>
              </a:rPr>
              <a:t>完全二叉树表示优先队列 </a:t>
            </a:r>
            <a:endParaRPr lang="en-US" altLang="zh-CN" sz="2400" b="1" dirty="0">
              <a:solidFill>
                <a:srgbClr val="EBEBEB"/>
              </a:solidFill>
              <a:latin typeface="Times New Roman" pitchFamily="18" charset="0"/>
            </a:endParaRPr>
          </a:p>
        </p:txBody>
      </p:sp>
      <p:grpSp>
        <p:nvGrpSpPr>
          <p:cNvPr id="8193" name="Group 1"/>
          <p:cNvGrpSpPr>
            <a:grpSpLocks/>
          </p:cNvGrpSpPr>
          <p:nvPr/>
        </p:nvGrpSpPr>
        <p:grpSpPr bwMode="auto">
          <a:xfrm>
            <a:off x="785813" y="928688"/>
            <a:ext cx="7098030" cy="3143250"/>
            <a:chOff x="3510" y="6468"/>
            <a:chExt cx="5589" cy="2688"/>
          </a:xfrm>
        </p:grpSpPr>
        <p:sp>
          <p:nvSpPr>
            <p:cNvPr id="33802" name="Line 2"/>
            <p:cNvSpPr>
              <a:spLocks noChangeShapeType="1"/>
            </p:cNvSpPr>
            <p:nvPr/>
          </p:nvSpPr>
          <p:spPr bwMode="auto">
            <a:xfrm flipH="1">
              <a:off x="6271" y="7343"/>
              <a:ext cx="225" cy="2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03" name="Line 3"/>
            <p:cNvSpPr>
              <a:spLocks noChangeShapeType="1"/>
            </p:cNvSpPr>
            <p:nvPr/>
          </p:nvSpPr>
          <p:spPr bwMode="auto">
            <a:xfrm>
              <a:off x="6766" y="7328"/>
              <a:ext cx="225" cy="2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04" name="Oval 4"/>
            <p:cNvSpPr>
              <a:spLocks noChangeArrowheads="1"/>
            </p:cNvSpPr>
            <p:nvPr/>
          </p:nvSpPr>
          <p:spPr bwMode="auto">
            <a:xfrm>
              <a:off x="6061" y="7524"/>
              <a:ext cx="374" cy="374"/>
            </a:xfrm>
            <a:prstGeom prst="ellipse">
              <a:avLst/>
            </a:prstGeom>
            <a:solidFill>
              <a:srgbClr val="FFFFFF"/>
            </a:solidFill>
            <a:ln w="9525">
              <a:solidFill>
                <a:srgbClr val="000000"/>
              </a:solidFill>
              <a:round/>
              <a:headEnd/>
              <a:tailEnd/>
            </a:ln>
          </p:spPr>
          <p:txBody>
            <a:bodyPr/>
            <a:lstStyle/>
            <a:p>
              <a:endParaRPr lang="zh-CN" altLang="en-US" b="1">
                <a:latin typeface="Times New Roman" pitchFamily="18" charset="0"/>
              </a:endParaRPr>
            </a:p>
          </p:txBody>
        </p:sp>
        <p:sp>
          <p:nvSpPr>
            <p:cNvPr id="33805" name="Oval 5"/>
            <p:cNvSpPr>
              <a:spLocks noChangeArrowheads="1"/>
            </p:cNvSpPr>
            <p:nvPr/>
          </p:nvSpPr>
          <p:spPr bwMode="auto">
            <a:xfrm>
              <a:off x="6826" y="7524"/>
              <a:ext cx="374" cy="374"/>
            </a:xfrm>
            <a:prstGeom prst="ellipse">
              <a:avLst/>
            </a:prstGeom>
            <a:solidFill>
              <a:srgbClr val="FFFFFF"/>
            </a:solidFill>
            <a:ln w="9525">
              <a:solidFill>
                <a:srgbClr val="000000"/>
              </a:solidFill>
              <a:round/>
              <a:headEnd/>
              <a:tailEnd/>
            </a:ln>
          </p:spPr>
          <p:txBody>
            <a:bodyPr/>
            <a:lstStyle/>
            <a:p>
              <a:endParaRPr lang="zh-CN" altLang="en-US" b="1">
                <a:latin typeface="Times New Roman" pitchFamily="18" charset="0"/>
              </a:endParaRPr>
            </a:p>
          </p:txBody>
        </p:sp>
        <p:sp>
          <p:nvSpPr>
            <p:cNvPr id="33806" name="Oval 6"/>
            <p:cNvSpPr>
              <a:spLocks noChangeArrowheads="1"/>
            </p:cNvSpPr>
            <p:nvPr/>
          </p:nvSpPr>
          <p:spPr bwMode="auto">
            <a:xfrm>
              <a:off x="5071" y="6998"/>
              <a:ext cx="374" cy="374"/>
            </a:xfrm>
            <a:prstGeom prst="ellipse">
              <a:avLst/>
            </a:prstGeom>
            <a:solidFill>
              <a:srgbClr val="FFFFFF"/>
            </a:solidFill>
            <a:ln w="9525">
              <a:solidFill>
                <a:srgbClr val="000000"/>
              </a:solidFill>
              <a:round/>
              <a:headEnd/>
              <a:tailEnd/>
            </a:ln>
          </p:spPr>
          <p:txBody>
            <a:bodyPr/>
            <a:lstStyle/>
            <a:p>
              <a:endParaRPr lang="zh-CN" altLang="en-US" b="1">
                <a:latin typeface="Times New Roman" pitchFamily="18" charset="0"/>
              </a:endParaRPr>
            </a:p>
          </p:txBody>
        </p:sp>
        <p:sp>
          <p:nvSpPr>
            <p:cNvPr id="33807" name="Line 7"/>
            <p:cNvSpPr>
              <a:spLocks noChangeShapeType="1"/>
            </p:cNvSpPr>
            <p:nvPr/>
          </p:nvSpPr>
          <p:spPr bwMode="auto">
            <a:xfrm flipH="1">
              <a:off x="5401" y="6821"/>
              <a:ext cx="420" cy="2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08" name="Line 8"/>
            <p:cNvSpPr>
              <a:spLocks noChangeShapeType="1"/>
            </p:cNvSpPr>
            <p:nvPr/>
          </p:nvSpPr>
          <p:spPr bwMode="auto">
            <a:xfrm flipH="1">
              <a:off x="4890" y="7333"/>
              <a:ext cx="225" cy="2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09" name="Line 9"/>
            <p:cNvSpPr>
              <a:spLocks noChangeShapeType="1"/>
            </p:cNvSpPr>
            <p:nvPr/>
          </p:nvSpPr>
          <p:spPr bwMode="auto">
            <a:xfrm>
              <a:off x="5385" y="7318"/>
              <a:ext cx="225" cy="2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10" name="Oval 10"/>
            <p:cNvSpPr>
              <a:spLocks noChangeArrowheads="1"/>
            </p:cNvSpPr>
            <p:nvPr/>
          </p:nvSpPr>
          <p:spPr bwMode="auto">
            <a:xfrm>
              <a:off x="4680" y="7529"/>
              <a:ext cx="374" cy="374"/>
            </a:xfrm>
            <a:prstGeom prst="ellipse">
              <a:avLst/>
            </a:prstGeom>
            <a:solidFill>
              <a:srgbClr val="FFFFFF"/>
            </a:solidFill>
            <a:ln w="9525">
              <a:solidFill>
                <a:srgbClr val="000000"/>
              </a:solidFill>
              <a:round/>
              <a:headEnd/>
              <a:tailEnd/>
            </a:ln>
          </p:spPr>
          <p:txBody>
            <a:bodyPr/>
            <a:lstStyle/>
            <a:p>
              <a:endParaRPr lang="zh-CN" altLang="en-US" b="1">
                <a:latin typeface="Times New Roman" pitchFamily="18" charset="0"/>
              </a:endParaRPr>
            </a:p>
          </p:txBody>
        </p:sp>
        <p:sp>
          <p:nvSpPr>
            <p:cNvPr id="33811" name="Oval 11"/>
            <p:cNvSpPr>
              <a:spLocks noChangeArrowheads="1"/>
            </p:cNvSpPr>
            <p:nvPr/>
          </p:nvSpPr>
          <p:spPr bwMode="auto">
            <a:xfrm>
              <a:off x="5430" y="7529"/>
              <a:ext cx="374" cy="374"/>
            </a:xfrm>
            <a:prstGeom prst="ellipse">
              <a:avLst/>
            </a:prstGeom>
            <a:solidFill>
              <a:srgbClr val="FFFFFF"/>
            </a:solidFill>
            <a:ln w="9525">
              <a:solidFill>
                <a:srgbClr val="000000"/>
              </a:solidFill>
              <a:round/>
              <a:headEnd/>
              <a:tailEnd/>
            </a:ln>
          </p:spPr>
          <p:txBody>
            <a:bodyPr/>
            <a:lstStyle/>
            <a:p>
              <a:endParaRPr lang="zh-CN" altLang="en-US" b="1">
                <a:latin typeface="Times New Roman" pitchFamily="18" charset="0"/>
              </a:endParaRPr>
            </a:p>
          </p:txBody>
        </p:sp>
        <p:sp>
          <p:nvSpPr>
            <p:cNvPr id="33812" name="Line 12"/>
            <p:cNvSpPr>
              <a:spLocks noChangeShapeType="1"/>
            </p:cNvSpPr>
            <p:nvPr/>
          </p:nvSpPr>
          <p:spPr bwMode="auto">
            <a:xfrm>
              <a:off x="6091" y="6809"/>
              <a:ext cx="420" cy="2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13" name="Line 13"/>
            <p:cNvSpPr>
              <a:spLocks noChangeShapeType="1"/>
            </p:cNvSpPr>
            <p:nvPr/>
          </p:nvSpPr>
          <p:spPr bwMode="auto">
            <a:xfrm flipH="1">
              <a:off x="4527" y="7861"/>
              <a:ext cx="225" cy="2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14" name="Line 14"/>
            <p:cNvSpPr>
              <a:spLocks noChangeShapeType="1"/>
            </p:cNvSpPr>
            <p:nvPr/>
          </p:nvSpPr>
          <p:spPr bwMode="auto">
            <a:xfrm>
              <a:off x="5022" y="7846"/>
              <a:ext cx="225" cy="2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15" name="Oval 15"/>
            <p:cNvSpPr>
              <a:spLocks noChangeArrowheads="1"/>
            </p:cNvSpPr>
            <p:nvPr/>
          </p:nvSpPr>
          <p:spPr bwMode="auto">
            <a:xfrm>
              <a:off x="4317" y="8057"/>
              <a:ext cx="374" cy="374"/>
            </a:xfrm>
            <a:prstGeom prst="ellipse">
              <a:avLst/>
            </a:prstGeom>
            <a:solidFill>
              <a:srgbClr val="FFFFFF"/>
            </a:solidFill>
            <a:ln w="9525">
              <a:solidFill>
                <a:srgbClr val="000000"/>
              </a:solidFill>
              <a:round/>
              <a:headEnd/>
              <a:tailEnd/>
            </a:ln>
          </p:spPr>
          <p:txBody>
            <a:bodyPr/>
            <a:lstStyle/>
            <a:p>
              <a:endParaRPr lang="zh-CN" altLang="en-US" b="1">
                <a:latin typeface="Times New Roman" pitchFamily="18" charset="0"/>
              </a:endParaRPr>
            </a:p>
          </p:txBody>
        </p:sp>
        <p:sp>
          <p:nvSpPr>
            <p:cNvPr id="33816" name="Oval 16"/>
            <p:cNvSpPr>
              <a:spLocks noChangeArrowheads="1"/>
            </p:cNvSpPr>
            <p:nvPr/>
          </p:nvSpPr>
          <p:spPr bwMode="auto">
            <a:xfrm>
              <a:off x="5082" y="8042"/>
              <a:ext cx="374" cy="374"/>
            </a:xfrm>
            <a:prstGeom prst="ellipse">
              <a:avLst/>
            </a:prstGeom>
            <a:solidFill>
              <a:srgbClr val="FFFFFF"/>
            </a:solidFill>
            <a:ln w="9525">
              <a:solidFill>
                <a:srgbClr val="000000"/>
              </a:solidFill>
              <a:round/>
              <a:headEnd/>
              <a:tailEnd/>
            </a:ln>
          </p:spPr>
          <p:txBody>
            <a:bodyPr/>
            <a:lstStyle/>
            <a:p>
              <a:endParaRPr lang="zh-CN" altLang="en-US" b="1">
                <a:latin typeface="Times New Roman" pitchFamily="18" charset="0"/>
              </a:endParaRPr>
            </a:p>
          </p:txBody>
        </p:sp>
        <p:sp>
          <p:nvSpPr>
            <p:cNvPr id="33817" name="Text Box 17"/>
            <p:cNvSpPr txBox="1">
              <a:spLocks noChangeArrowheads="1"/>
            </p:cNvSpPr>
            <p:nvPr/>
          </p:nvSpPr>
          <p:spPr bwMode="auto">
            <a:xfrm>
              <a:off x="3528" y="8532"/>
              <a:ext cx="4302" cy="312"/>
            </a:xfrm>
            <a:prstGeom prst="rect">
              <a:avLst/>
            </a:prstGeom>
            <a:solidFill>
              <a:srgbClr val="FFFFFF"/>
            </a:solidFill>
            <a:ln w="9525">
              <a:solidFill>
                <a:srgbClr val="000000"/>
              </a:solidFill>
              <a:miter lim="800000"/>
              <a:headEnd/>
              <a:tailEnd/>
            </a:ln>
          </p:spPr>
          <p:txBody>
            <a:bodyPr lIns="72000" tIns="0" rIns="3600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just" eaLnBrk="1" hangingPunct="1">
                <a:lnSpc>
                  <a:spcPct val="96000"/>
                </a:lnSpc>
              </a:pPr>
              <a:r>
                <a:rPr lang="en-US" altLang="zh-CN" b="1" i="1" dirty="0">
                  <a:latin typeface="Arial" pitchFamily="34" charset="0"/>
                </a:rPr>
                <a:t>     </a:t>
              </a:r>
              <a:r>
                <a:rPr lang="en-US" altLang="zh-CN" b="1" i="1" dirty="0" smtClean="0">
                  <a:latin typeface="Arial" pitchFamily="34" charset="0"/>
                </a:rPr>
                <a:t>a   b   c  d   </a:t>
              </a:r>
              <a:r>
                <a:rPr lang="en-US" altLang="zh-CN" b="1" i="1" dirty="0">
                  <a:latin typeface="Arial" pitchFamily="34" charset="0"/>
                </a:rPr>
                <a:t>e   </a:t>
              </a:r>
              <a:r>
                <a:rPr lang="en-US" altLang="zh-CN" b="1" i="1" dirty="0" smtClean="0">
                  <a:latin typeface="Arial" pitchFamily="34" charset="0"/>
                </a:rPr>
                <a:t>f   </a:t>
              </a:r>
              <a:r>
                <a:rPr lang="en-US" altLang="zh-CN" b="1" i="1" dirty="0">
                  <a:latin typeface="Arial" pitchFamily="34" charset="0"/>
                </a:rPr>
                <a:t>g  </a:t>
              </a:r>
              <a:r>
                <a:rPr lang="en-US" altLang="zh-CN" b="1" i="1" dirty="0" smtClean="0">
                  <a:latin typeface="Arial" pitchFamily="34" charset="0"/>
                </a:rPr>
                <a:t> </a:t>
              </a:r>
              <a:r>
                <a:rPr lang="en-US" altLang="zh-CN" b="1" i="1" dirty="0">
                  <a:latin typeface="Arial" pitchFamily="34" charset="0"/>
                </a:rPr>
                <a:t>h </a:t>
              </a:r>
              <a:r>
                <a:rPr lang="en-US" altLang="zh-CN" b="1" i="1" dirty="0" smtClean="0">
                  <a:latin typeface="Arial" pitchFamily="34" charset="0"/>
                </a:rPr>
                <a:t>  </a:t>
              </a:r>
              <a:r>
                <a:rPr lang="en-US" altLang="zh-CN" b="1" i="1" dirty="0">
                  <a:latin typeface="Arial" pitchFamily="34" charset="0"/>
                </a:rPr>
                <a:t>i</a:t>
              </a:r>
              <a:endParaRPr lang="zh-CN" altLang="zh-CN" b="1" dirty="0">
                <a:latin typeface="Arial" pitchFamily="34" charset="0"/>
              </a:endParaRPr>
            </a:p>
          </p:txBody>
        </p:sp>
        <p:sp>
          <p:nvSpPr>
            <p:cNvPr id="33818" name="Line 18"/>
            <p:cNvSpPr>
              <a:spLocks noChangeShapeType="1"/>
            </p:cNvSpPr>
            <p:nvPr/>
          </p:nvSpPr>
          <p:spPr bwMode="auto">
            <a:xfrm flipV="1">
              <a:off x="3888" y="8532"/>
              <a:ext cx="0" cy="3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19" name="Line 19"/>
            <p:cNvSpPr>
              <a:spLocks noChangeShapeType="1"/>
            </p:cNvSpPr>
            <p:nvPr/>
          </p:nvSpPr>
          <p:spPr bwMode="auto">
            <a:xfrm flipV="1">
              <a:off x="4248" y="8532"/>
              <a:ext cx="0" cy="3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20" name="Line 20"/>
            <p:cNvSpPr>
              <a:spLocks noChangeShapeType="1"/>
            </p:cNvSpPr>
            <p:nvPr/>
          </p:nvSpPr>
          <p:spPr bwMode="auto">
            <a:xfrm flipV="1">
              <a:off x="4608" y="8532"/>
              <a:ext cx="0" cy="3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21" name="Line 21"/>
            <p:cNvSpPr>
              <a:spLocks noChangeShapeType="1"/>
            </p:cNvSpPr>
            <p:nvPr/>
          </p:nvSpPr>
          <p:spPr bwMode="auto">
            <a:xfrm flipV="1">
              <a:off x="4968" y="8532"/>
              <a:ext cx="0" cy="3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22" name="Line 22"/>
            <p:cNvSpPr>
              <a:spLocks noChangeShapeType="1"/>
            </p:cNvSpPr>
            <p:nvPr/>
          </p:nvSpPr>
          <p:spPr bwMode="auto">
            <a:xfrm flipV="1">
              <a:off x="4968" y="8532"/>
              <a:ext cx="0" cy="3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23" name="Line 23"/>
            <p:cNvSpPr>
              <a:spLocks noChangeShapeType="1"/>
            </p:cNvSpPr>
            <p:nvPr/>
          </p:nvSpPr>
          <p:spPr bwMode="auto">
            <a:xfrm flipV="1">
              <a:off x="5328" y="8532"/>
              <a:ext cx="0" cy="3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24" name="Line 24"/>
            <p:cNvSpPr>
              <a:spLocks noChangeShapeType="1"/>
            </p:cNvSpPr>
            <p:nvPr/>
          </p:nvSpPr>
          <p:spPr bwMode="auto">
            <a:xfrm flipV="1">
              <a:off x="5688" y="8532"/>
              <a:ext cx="0" cy="3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25" name="Line 25"/>
            <p:cNvSpPr>
              <a:spLocks noChangeShapeType="1"/>
            </p:cNvSpPr>
            <p:nvPr/>
          </p:nvSpPr>
          <p:spPr bwMode="auto">
            <a:xfrm flipV="1">
              <a:off x="6048" y="8532"/>
              <a:ext cx="0" cy="3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26" name="Line 26"/>
            <p:cNvSpPr>
              <a:spLocks noChangeShapeType="1"/>
            </p:cNvSpPr>
            <p:nvPr/>
          </p:nvSpPr>
          <p:spPr bwMode="auto">
            <a:xfrm flipV="1">
              <a:off x="6408" y="8532"/>
              <a:ext cx="0" cy="3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27" name="Line 27"/>
            <p:cNvSpPr>
              <a:spLocks noChangeShapeType="1"/>
            </p:cNvSpPr>
            <p:nvPr/>
          </p:nvSpPr>
          <p:spPr bwMode="auto">
            <a:xfrm flipV="1">
              <a:off x="6768" y="8532"/>
              <a:ext cx="0" cy="3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28" name="Line 28"/>
            <p:cNvSpPr>
              <a:spLocks noChangeShapeType="1"/>
            </p:cNvSpPr>
            <p:nvPr/>
          </p:nvSpPr>
          <p:spPr bwMode="auto">
            <a:xfrm flipV="1">
              <a:off x="7128" y="8532"/>
              <a:ext cx="0" cy="3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29" name="Oval 29"/>
            <p:cNvSpPr>
              <a:spLocks noChangeArrowheads="1"/>
            </p:cNvSpPr>
            <p:nvPr/>
          </p:nvSpPr>
          <p:spPr bwMode="auto">
            <a:xfrm>
              <a:off x="6438" y="7026"/>
              <a:ext cx="374" cy="374"/>
            </a:xfrm>
            <a:prstGeom prst="ellipse">
              <a:avLst/>
            </a:prstGeom>
            <a:solidFill>
              <a:srgbClr val="FFFFFF"/>
            </a:solidFill>
            <a:ln w="9525">
              <a:solidFill>
                <a:srgbClr val="000000"/>
              </a:solidFill>
              <a:round/>
              <a:headEnd/>
              <a:tailEnd/>
            </a:ln>
          </p:spPr>
          <p:txBody>
            <a:bodyPr/>
            <a:lstStyle/>
            <a:p>
              <a:endParaRPr lang="zh-CN" altLang="en-US" b="1">
                <a:latin typeface="Times New Roman" pitchFamily="18" charset="0"/>
              </a:endParaRPr>
            </a:p>
          </p:txBody>
        </p:sp>
        <p:sp>
          <p:nvSpPr>
            <p:cNvPr id="33830" name="Oval 30"/>
            <p:cNvSpPr>
              <a:spLocks noChangeArrowheads="1"/>
            </p:cNvSpPr>
            <p:nvPr/>
          </p:nvSpPr>
          <p:spPr bwMode="auto">
            <a:xfrm>
              <a:off x="5748" y="6468"/>
              <a:ext cx="374" cy="374"/>
            </a:xfrm>
            <a:prstGeom prst="ellipse">
              <a:avLst/>
            </a:prstGeom>
            <a:solidFill>
              <a:srgbClr val="FFFFFF"/>
            </a:solidFill>
            <a:ln w="9525">
              <a:solidFill>
                <a:srgbClr val="000000"/>
              </a:solidFill>
              <a:round/>
              <a:headEnd/>
              <a:tailEnd/>
            </a:ln>
          </p:spPr>
          <p:txBody>
            <a:bodyPr/>
            <a:lstStyle/>
            <a:p>
              <a:endParaRPr lang="zh-CN" altLang="en-US" b="1">
                <a:latin typeface="Times New Roman" pitchFamily="18" charset="0"/>
              </a:endParaRPr>
            </a:p>
          </p:txBody>
        </p:sp>
        <p:sp>
          <p:nvSpPr>
            <p:cNvPr id="33831" name="Text Box 31"/>
            <p:cNvSpPr txBox="1">
              <a:spLocks noChangeArrowheads="1"/>
            </p:cNvSpPr>
            <p:nvPr/>
          </p:nvSpPr>
          <p:spPr bwMode="auto">
            <a:xfrm>
              <a:off x="5178" y="8148"/>
              <a:ext cx="180" cy="15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64000"/>
                </a:lnSpc>
              </a:pPr>
              <a:r>
                <a:rPr lang="en-US" altLang="zh-CN" b="1" i="1">
                  <a:latin typeface="Arial" pitchFamily="34" charset="0"/>
                </a:rPr>
                <a:t>i</a:t>
              </a:r>
              <a:endParaRPr lang="zh-CN" altLang="zh-CN" b="1">
                <a:latin typeface="Arial" pitchFamily="34" charset="0"/>
              </a:endParaRPr>
            </a:p>
          </p:txBody>
        </p:sp>
        <p:sp>
          <p:nvSpPr>
            <p:cNvPr id="33832" name="Text Box 32"/>
            <p:cNvSpPr txBox="1">
              <a:spLocks noChangeArrowheads="1"/>
            </p:cNvSpPr>
            <p:nvPr/>
          </p:nvSpPr>
          <p:spPr bwMode="auto">
            <a:xfrm>
              <a:off x="5868" y="6573"/>
              <a:ext cx="180" cy="15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64000"/>
                </a:lnSpc>
              </a:pPr>
              <a:r>
                <a:rPr lang="en-US" altLang="zh-CN" b="1" i="1">
                  <a:latin typeface="Arial" pitchFamily="34" charset="0"/>
                </a:rPr>
                <a:t>a</a:t>
              </a:r>
              <a:endParaRPr lang="zh-CN" altLang="zh-CN" b="1">
                <a:latin typeface="Arial" pitchFamily="34" charset="0"/>
              </a:endParaRPr>
            </a:p>
          </p:txBody>
        </p:sp>
        <p:sp>
          <p:nvSpPr>
            <p:cNvPr id="33833" name="Text Box 33"/>
            <p:cNvSpPr txBox="1">
              <a:spLocks noChangeArrowheads="1"/>
            </p:cNvSpPr>
            <p:nvPr/>
          </p:nvSpPr>
          <p:spPr bwMode="auto">
            <a:xfrm>
              <a:off x="5178" y="7116"/>
              <a:ext cx="180" cy="15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64000"/>
                </a:lnSpc>
              </a:pPr>
              <a:r>
                <a:rPr lang="en-US" altLang="zh-CN" b="1" i="1">
                  <a:latin typeface="Arial" pitchFamily="34" charset="0"/>
                </a:rPr>
                <a:t>b</a:t>
              </a:r>
              <a:endParaRPr lang="zh-CN" altLang="zh-CN" b="1">
                <a:latin typeface="Arial" pitchFamily="34" charset="0"/>
              </a:endParaRPr>
            </a:p>
          </p:txBody>
        </p:sp>
        <p:sp>
          <p:nvSpPr>
            <p:cNvPr id="33834" name="Text Box 34"/>
            <p:cNvSpPr txBox="1">
              <a:spLocks noChangeArrowheads="1"/>
            </p:cNvSpPr>
            <p:nvPr/>
          </p:nvSpPr>
          <p:spPr bwMode="auto">
            <a:xfrm>
              <a:off x="6558" y="7152"/>
              <a:ext cx="180" cy="15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64000"/>
                </a:lnSpc>
              </a:pPr>
              <a:r>
                <a:rPr lang="en-US" altLang="zh-CN" b="1" i="1">
                  <a:latin typeface="Arial" pitchFamily="34" charset="0"/>
                </a:rPr>
                <a:t>c</a:t>
              </a:r>
              <a:endParaRPr lang="zh-CN" altLang="zh-CN" b="1">
                <a:latin typeface="Arial" pitchFamily="34" charset="0"/>
              </a:endParaRPr>
            </a:p>
          </p:txBody>
        </p:sp>
        <p:sp>
          <p:nvSpPr>
            <p:cNvPr id="33835" name="Text Box 35"/>
            <p:cNvSpPr txBox="1">
              <a:spLocks noChangeArrowheads="1"/>
            </p:cNvSpPr>
            <p:nvPr/>
          </p:nvSpPr>
          <p:spPr bwMode="auto">
            <a:xfrm>
              <a:off x="4773" y="7650"/>
              <a:ext cx="180" cy="15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64000"/>
                </a:lnSpc>
              </a:pPr>
              <a:r>
                <a:rPr lang="en-US" altLang="zh-CN" b="1" i="1">
                  <a:latin typeface="Arial" pitchFamily="34" charset="0"/>
                </a:rPr>
                <a:t>d</a:t>
              </a:r>
              <a:endParaRPr lang="zh-CN" altLang="zh-CN" b="1">
                <a:latin typeface="Arial" pitchFamily="34" charset="0"/>
              </a:endParaRPr>
            </a:p>
          </p:txBody>
        </p:sp>
        <p:sp>
          <p:nvSpPr>
            <p:cNvPr id="33836" name="Text Box 36"/>
            <p:cNvSpPr txBox="1">
              <a:spLocks noChangeArrowheads="1"/>
            </p:cNvSpPr>
            <p:nvPr/>
          </p:nvSpPr>
          <p:spPr bwMode="auto">
            <a:xfrm>
              <a:off x="5538" y="7650"/>
              <a:ext cx="180" cy="15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64000"/>
                </a:lnSpc>
              </a:pPr>
              <a:r>
                <a:rPr lang="en-US" altLang="zh-CN" b="1" i="1">
                  <a:latin typeface="Arial" pitchFamily="34" charset="0"/>
                </a:rPr>
                <a:t>e</a:t>
              </a:r>
              <a:endParaRPr lang="zh-CN" altLang="zh-CN" b="1">
                <a:latin typeface="Arial" pitchFamily="34" charset="0"/>
              </a:endParaRPr>
            </a:p>
          </p:txBody>
        </p:sp>
        <p:sp>
          <p:nvSpPr>
            <p:cNvPr id="33837" name="Text Box 37"/>
            <p:cNvSpPr txBox="1">
              <a:spLocks noChangeArrowheads="1"/>
            </p:cNvSpPr>
            <p:nvPr/>
          </p:nvSpPr>
          <p:spPr bwMode="auto">
            <a:xfrm>
              <a:off x="6153" y="7650"/>
              <a:ext cx="180" cy="15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64000"/>
                </a:lnSpc>
              </a:pPr>
              <a:r>
                <a:rPr lang="en-US" altLang="zh-CN" b="1" i="1">
                  <a:latin typeface="Arial" pitchFamily="34" charset="0"/>
                </a:rPr>
                <a:t>f</a:t>
              </a:r>
              <a:endParaRPr lang="zh-CN" altLang="zh-CN" b="1">
                <a:latin typeface="Arial" pitchFamily="34" charset="0"/>
              </a:endParaRPr>
            </a:p>
          </p:txBody>
        </p:sp>
        <p:sp>
          <p:nvSpPr>
            <p:cNvPr id="33838" name="Text Box 38"/>
            <p:cNvSpPr txBox="1">
              <a:spLocks noChangeArrowheads="1"/>
            </p:cNvSpPr>
            <p:nvPr/>
          </p:nvSpPr>
          <p:spPr bwMode="auto">
            <a:xfrm>
              <a:off x="6933" y="7635"/>
              <a:ext cx="180" cy="15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64000"/>
                </a:lnSpc>
              </a:pPr>
              <a:r>
                <a:rPr lang="en-US" altLang="zh-CN" b="1" i="1">
                  <a:latin typeface="Arial" pitchFamily="34" charset="0"/>
                </a:rPr>
                <a:t>g</a:t>
              </a:r>
              <a:endParaRPr lang="zh-CN" altLang="zh-CN" b="1">
                <a:latin typeface="Arial" pitchFamily="34" charset="0"/>
              </a:endParaRPr>
            </a:p>
          </p:txBody>
        </p:sp>
        <p:sp>
          <p:nvSpPr>
            <p:cNvPr id="33839" name="Text Box 39"/>
            <p:cNvSpPr txBox="1">
              <a:spLocks noChangeArrowheads="1"/>
            </p:cNvSpPr>
            <p:nvPr/>
          </p:nvSpPr>
          <p:spPr bwMode="auto">
            <a:xfrm>
              <a:off x="4428" y="8169"/>
              <a:ext cx="180" cy="15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64000"/>
                </a:lnSpc>
              </a:pPr>
              <a:r>
                <a:rPr lang="en-US" altLang="zh-CN" b="1" i="1">
                  <a:latin typeface="Arial" pitchFamily="34" charset="0"/>
                </a:rPr>
                <a:t>h</a:t>
              </a:r>
              <a:endParaRPr lang="zh-CN" altLang="zh-CN" b="1">
                <a:latin typeface="Arial" pitchFamily="34" charset="0"/>
              </a:endParaRPr>
            </a:p>
          </p:txBody>
        </p:sp>
        <p:sp>
          <p:nvSpPr>
            <p:cNvPr id="33840" name="Text Box 40"/>
            <p:cNvSpPr txBox="1">
              <a:spLocks noChangeArrowheads="1"/>
            </p:cNvSpPr>
            <p:nvPr/>
          </p:nvSpPr>
          <p:spPr bwMode="auto">
            <a:xfrm>
              <a:off x="3510" y="8895"/>
              <a:ext cx="5589" cy="26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72000" tIns="0" rIns="3600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just" eaLnBrk="1" hangingPunct="1">
                <a:lnSpc>
                  <a:spcPct val="96000"/>
                </a:lnSpc>
              </a:pPr>
              <a:r>
                <a:rPr lang="en-US" altLang="zh-CN" b="1" dirty="0">
                  <a:latin typeface="Arial" pitchFamily="34" charset="0"/>
                </a:rPr>
                <a:t> </a:t>
              </a:r>
              <a:r>
                <a:rPr lang="en-US" altLang="zh-CN" b="1" dirty="0" smtClean="0">
                  <a:latin typeface="Arial" pitchFamily="34" charset="0"/>
                </a:rPr>
                <a:t>0  1   2   3  4    5   6  </a:t>
              </a:r>
              <a:r>
                <a:rPr lang="en-US" altLang="zh-CN" b="1" dirty="0">
                  <a:latin typeface="Arial" pitchFamily="34" charset="0"/>
                </a:rPr>
                <a:t>7 </a:t>
              </a:r>
              <a:r>
                <a:rPr lang="en-US" altLang="zh-CN" b="1" dirty="0" smtClean="0">
                  <a:latin typeface="Arial" pitchFamily="34" charset="0"/>
                </a:rPr>
                <a:t>  </a:t>
              </a:r>
              <a:r>
                <a:rPr lang="en-US" altLang="zh-CN" b="1" dirty="0">
                  <a:latin typeface="Arial" pitchFamily="34" charset="0"/>
                </a:rPr>
                <a:t>8 </a:t>
              </a:r>
              <a:r>
                <a:rPr lang="en-US" altLang="zh-CN" b="1" dirty="0" smtClean="0">
                  <a:latin typeface="Arial" pitchFamily="34" charset="0"/>
                </a:rPr>
                <a:t> 9 </a:t>
              </a:r>
              <a:r>
                <a:rPr lang="en-US" altLang="zh-CN" b="1" dirty="0">
                  <a:latin typeface="Arial" pitchFamily="34" charset="0"/>
                </a:rPr>
                <a:t>10 </a:t>
              </a:r>
              <a:r>
                <a:rPr lang="en-US" altLang="zh-CN" b="1" dirty="0" smtClean="0">
                  <a:latin typeface="Arial" pitchFamily="34" charset="0"/>
                </a:rPr>
                <a:t>11</a:t>
              </a:r>
              <a:endParaRPr lang="zh-CN" altLang="zh-CN" b="1" dirty="0">
                <a:latin typeface="Arial" pitchFamily="34" charset="0"/>
              </a:endParaRPr>
            </a:p>
          </p:txBody>
        </p:sp>
        <p:sp>
          <p:nvSpPr>
            <p:cNvPr id="33841" name="Line 41"/>
            <p:cNvSpPr>
              <a:spLocks noChangeShapeType="1"/>
            </p:cNvSpPr>
            <p:nvPr/>
          </p:nvSpPr>
          <p:spPr bwMode="auto">
            <a:xfrm flipV="1">
              <a:off x="7470" y="8532"/>
              <a:ext cx="0" cy="3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9" name="TextBox 48"/>
          <p:cNvSpPr txBox="1">
            <a:spLocks noChangeArrowheads="1"/>
          </p:cNvSpPr>
          <p:nvPr/>
        </p:nvSpPr>
        <p:spPr bwMode="auto">
          <a:xfrm>
            <a:off x="571500" y="4214813"/>
            <a:ext cx="20002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2000" b="1">
                <a:solidFill>
                  <a:srgbClr val="0000FF"/>
                </a:solidFill>
                <a:latin typeface="Times New Roman" pitchFamily="18" charset="0"/>
                <a:sym typeface="Wingdings" pitchFamily="2" charset="2"/>
              </a:rPr>
              <a:t> </a:t>
            </a:r>
            <a:r>
              <a:rPr lang="zh-CN" altLang="en-US" sz="2000" b="1">
                <a:latin typeface="Times New Roman" pitchFamily="18" charset="0"/>
              </a:rPr>
              <a:t>堆的两个特性</a:t>
            </a:r>
          </a:p>
        </p:txBody>
      </p:sp>
      <p:sp>
        <p:nvSpPr>
          <p:cNvPr id="50" name="矩形 49"/>
          <p:cNvSpPr>
            <a:spLocks noChangeArrowheads="1"/>
          </p:cNvSpPr>
          <p:nvPr/>
        </p:nvSpPr>
        <p:spPr bwMode="auto">
          <a:xfrm>
            <a:off x="571500" y="4500563"/>
            <a:ext cx="8032948" cy="1692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en-US" altLang="zh-CN" sz="3200" b="1" dirty="0">
                <a:solidFill>
                  <a:srgbClr val="0000FF"/>
                </a:solidFill>
                <a:latin typeface="Times New Roman" pitchFamily="18" charset="0"/>
                <a:sym typeface="Wingdings" pitchFamily="2" charset="2"/>
              </a:rPr>
              <a:t></a:t>
            </a:r>
            <a:r>
              <a:rPr lang="zh-CN" altLang="en-US" sz="2000" b="1" dirty="0">
                <a:solidFill>
                  <a:srgbClr val="0000FF"/>
                </a:solidFill>
                <a:latin typeface="Times New Roman" pitchFamily="18" charset="0"/>
              </a:rPr>
              <a:t>结构性</a:t>
            </a:r>
            <a:r>
              <a:rPr lang="zh-CN" altLang="en-US" sz="2000" b="1" dirty="0">
                <a:latin typeface="Times New Roman" pitchFamily="18" charset="0"/>
              </a:rPr>
              <a:t>：用数组表示的完全二叉树；</a:t>
            </a:r>
            <a:endParaRPr lang="en-US" altLang="zh-CN" sz="2000" b="1" dirty="0">
              <a:latin typeface="Times New Roman" pitchFamily="18" charset="0"/>
            </a:endParaRPr>
          </a:p>
          <a:p>
            <a:r>
              <a:rPr lang="en-US" altLang="zh-CN" sz="3200" b="1" dirty="0">
                <a:solidFill>
                  <a:srgbClr val="0000FF"/>
                </a:solidFill>
                <a:latin typeface="Times New Roman" pitchFamily="18" charset="0"/>
                <a:sym typeface="Wingdings" pitchFamily="2" charset="2"/>
              </a:rPr>
              <a:t></a:t>
            </a:r>
            <a:r>
              <a:rPr lang="zh-CN" altLang="en-US" sz="2000" b="1" dirty="0">
                <a:solidFill>
                  <a:srgbClr val="0000FF"/>
                </a:solidFill>
                <a:latin typeface="Times New Roman" pitchFamily="18" charset="0"/>
              </a:rPr>
              <a:t>有序性</a:t>
            </a:r>
            <a:r>
              <a:rPr lang="zh-CN" altLang="en-US" sz="2000" b="1" dirty="0">
                <a:latin typeface="Times New Roman" pitchFamily="18" charset="0"/>
              </a:rPr>
              <a:t>：根结点到</a:t>
            </a:r>
            <a:r>
              <a:rPr lang="zh-CN" altLang="zh-CN" sz="2000" b="1" dirty="0">
                <a:latin typeface="Times New Roman" pitchFamily="18" charset="0"/>
              </a:rPr>
              <a:t>任一结点</a:t>
            </a:r>
            <a:r>
              <a:rPr lang="zh-CN" altLang="en-US" sz="2000" b="1" dirty="0">
                <a:latin typeface="Times New Roman" pitchFamily="18" charset="0"/>
              </a:rPr>
              <a:t>的关键字序列保持</a:t>
            </a:r>
            <a:r>
              <a:rPr lang="zh-CN" altLang="en-US" sz="2000" b="1" dirty="0">
                <a:solidFill>
                  <a:srgbClr val="0000FF"/>
                </a:solidFill>
                <a:latin typeface="Times New Roman" pitchFamily="18" charset="0"/>
              </a:rPr>
              <a:t>非递增</a:t>
            </a:r>
            <a:r>
              <a:rPr lang="zh-CN" altLang="en-US" sz="2000" b="1" dirty="0">
                <a:latin typeface="Times New Roman" pitchFamily="18" charset="0"/>
              </a:rPr>
              <a:t>（称“</a:t>
            </a:r>
            <a:r>
              <a:rPr lang="zh-CN" altLang="en-US" sz="2000" b="1" dirty="0">
                <a:solidFill>
                  <a:srgbClr val="0000FF"/>
                </a:solidFill>
                <a:latin typeface="Times New Roman" pitchFamily="18" charset="0"/>
              </a:rPr>
              <a:t>最大堆</a:t>
            </a:r>
            <a:r>
              <a:rPr lang="en-US" altLang="zh-CN" sz="2000" b="1" dirty="0">
                <a:solidFill>
                  <a:srgbClr val="0000FF"/>
                </a:solidFill>
                <a:latin typeface="Times New Roman" pitchFamily="18" charset="0"/>
              </a:rPr>
              <a:t>(</a:t>
            </a:r>
            <a:r>
              <a:rPr lang="en-US" altLang="zh-CN" sz="2000" b="1" dirty="0" err="1">
                <a:solidFill>
                  <a:srgbClr val="0000FF"/>
                </a:solidFill>
                <a:latin typeface="Times New Roman" pitchFamily="18" charset="0"/>
              </a:rPr>
              <a:t>MaxHeap</a:t>
            </a:r>
            <a:r>
              <a:rPr lang="en-US" altLang="zh-CN" sz="2000" b="1" dirty="0">
                <a:solidFill>
                  <a:srgbClr val="0000FF"/>
                </a:solidFill>
                <a:latin typeface="Times New Roman" pitchFamily="18" charset="0"/>
              </a:rPr>
              <a:t>)</a:t>
            </a:r>
            <a:r>
              <a:rPr lang="zh-CN" altLang="en-US" sz="2000" b="1" dirty="0">
                <a:latin typeface="Times New Roman" pitchFamily="18" charset="0"/>
              </a:rPr>
              <a:t>”</a:t>
            </a:r>
            <a:r>
              <a:rPr lang="en-US" altLang="zh-CN" sz="2000" b="1" dirty="0">
                <a:latin typeface="Times New Roman" pitchFamily="18" charset="0"/>
              </a:rPr>
              <a:t>,</a:t>
            </a:r>
            <a:r>
              <a:rPr lang="zh-CN" altLang="en-US" sz="2000" b="1" dirty="0">
                <a:latin typeface="Times New Roman" pitchFamily="18" charset="0"/>
              </a:rPr>
              <a:t>也称</a:t>
            </a:r>
            <a:r>
              <a:rPr lang="zh-CN" altLang="en-US" sz="2000" b="1" dirty="0" smtClean="0">
                <a:latin typeface="Times New Roman" pitchFamily="18" charset="0"/>
              </a:rPr>
              <a:t>“</a:t>
            </a:r>
            <a:r>
              <a:rPr lang="zh-CN" altLang="en-US" sz="2000" b="1" dirty="0" smtClean="0">
                <a:solidFill>
                  <a:srgbClr val="0000FF"/>
                </a:solidFill>
                <a:latin typeface="Times New Roman" pitchFamily="18" charset="0"/>
              </a:rPr>
              <a:t>大顶堆</a:t>
            </a:r>
            <a:r>
              <a:rPr lang="zh-CN" altLang="en-US" sz="2000" b="1" dirty="0" smtClean="0">
                <a:latin typeface="Times New Roman" pitchFamily="18" charset="0"/>
              </a:rPr>
              <a:t>”</a:t>
            </a:r>
            <a:r>
              <a:rPr lang="zh-CN" altLang="en-US" sz="2000" dirty="0" smtClean="0"/>
              <a:t>、“</a:t>
            </a:r>
            <a:r>
              <a:rPr lang="zh-CN" altLang="en-US" sz="2000" dirty="0" smtClean="0">
                <a:solidFill>
                  <a:schemeClr val="accent2"/>
                </a:solidFill>
              </a:rPr>
              <a:t>大根堆</a:t>
            </a:r>
            <a:r>
              <a:rPr lang="zh-CN" altLang="en-US" sz="2000" dirty="0" smtClean="0"/>
              <a:t>”</a:t>
            </a:r>
            <a:r>
              <a:rPr lang="zh-CN" altLang="en-US" sz="2000" b="1" dirty="0" smtClean="0">
                <a:latin typeface="Times New Roman" pitchFamily="18" charset="0"/>
              </a:rPr>
              <a:t> </a:t>
            </a:r>
            <a:r>
              <a:rPr lang="zh-CN" altLang="en-US" sz="2000" b="1" dirty="0">
                <a:latin typeface="Times New Roman" pitchFamily="18" charset="0"/>
              </a:rPr>
              <a:t>）或者</a:t>
            </a:r>
            <a:r>
              <a:rPr lang="zh-CN" altLang="en-US" sz="2000" b="1" dirty="0">
                <a:solidFill>
                  <a:srgbClr val="0000FF"/>
                </a:solidFill>
                <a:latin typeface="Times New Roman" pitchFamily="18" charset="0"/>
              </a:rPr>
              <a:t>非递减</a:t>
            </a:r>
            <a:r>
              <a:rPr lang="zh-CN" altLang="en-US" sz="2000" b="1" dirty="0">
                <a:latin typeface="Times New Roman" pitchFamily="18" charset="0"/>
              </a:rPr>
              <a:t>（称“</a:t>
            </a:r>
            <a:r>
              <a:rPr lang="zh-CN" altLang="en-US" sz="2000" b="1" dirty="0">
                <a:solidFill>
                  <a:srgbClr val="0000FF"/>
                </a:solidFill>
                <a:latin typeface="Times New Roman" pitchFamily="18" charset="0"/>
              </a:rPr>
              <a:t>最小堆</a:t>
            </a:r>
            <a:r>
              <a:rPr lang="en-US" altLang="zh-CN" sz="2000" b="1" dirty="0">
                <a:solidFill>
                  <a:srgbClr val="0000FF"/>
                </a:solidFill>
                <a:latin typeface="Times New Roman" pitchFamily="18" charset="0"/>
              </a:rPr>
              <a:t>(</a:t>
            </a:r>
            <a:r>
              <a:rPr lang="en-US" altLang="zh-CN" sz="2000" b="1" dirty="0" err="1">
                <a:solidFill>
                  <a:srgbClr val="0000FF"/>
                </a:solidFill>
                <a:latin typeface="Times New Roman" pitchFamily="18" charset="0"/>
              </a:rPr>
              <a:t>MinHeap</a:t>
            </a:r>
            <a:r>
              <a:rPr lang="en-US" altLang="zh-CN" sz="2000" b="1" dirty="0">
                <a:solidFill>
                  <a:srgbClr val="0000FF"/>
                </a:solidFill>
                <a:latin typeface="Times New Roman" pitchFamily="18" charset="0"/>
              </a:rPr>
              <a:t>)</a:t>
            </a:r>
            <a:r>
              <a:rPr lang="zh-CN" altLang="en-US" sz="2000" b="1" dirty="0">
                <a:latin typeface="Times New Roman" pitchFamily="18" charset="0"/>
              </a:rPr>
              <a:t>”</a:t>
            </a:r>
            <a:r>
              <a:rPr lang="en-US" altLang="zh-CN" sz="2000" b="1" dirty="0">
                <a:latin typeface="Times New Roman" pitchFamily="18" charset="0"/>
              </a:rPr>
              <a:t>,</a:t>
            </a:r>
            <a:r>
              <a:rPr lang="zh-CN" altLang="en-US" sz="2000" b="1" dirty="0">
                <a:latin typeface="Times New Roman" pitchFamily="18" charset="0"/>
              </a:rPr>
              <a:t>也称</a:t>
            </a:r>
            <a:r>
              <a:rPr lang="zh-CN" altLang="en-US" sz="2000" b="1" dirty="0" smtClean="0">
                <a:latin typeface="Times New Roman" pitchFamily="18" charset="0"/>
              </a:rPr>
              <a:t>“</a:t>
            </a:r>
            <a:r>
              <a:rPr lang="zh-CN" altLang="en-US" sz="2000" b="1" dirty="0" smtClean="0">
                <a:solidFill>
                  <a:srgbClr val="0000FF"/>
                </a:solidFill>
                <a:latin typeface="Times New Roman" pitchFamily="18" charset="0"/>
              </a:rPr>
              <a:t>小顶堆</a:t>
            </a:r>
            <a:r>
              <a:rPr lang="zh-CN" altLang="en-US" sz="2000" b="1" dirty="0" smtClean="0">
                <a:latin typeface="Times New Roman" pitchFamily="18" charset="0"/>
              </a:rPr>
              <a:t>”、“</a:t>
            </a:r>
            <a:r>
              <a:rPr lang="zh-CN" altLang="en-US" sz="2000" b="1" dirty="0" smtClean="0">
                <a:solidFill>
                  <a:schemeClr val="accent2"/>
                </a:solidFill>
                <a:latin typeface="Times New Roman" pitchFamily="18" charset="0"/>
              </a:rPr>
              <a:t>小根堆</a:t>
            </a:r>
            <a:r>
              <a:rPr lang="zh-CN" altLang="en-US" sz="2000" b="1" dirty="0" smtClean="0">
                <a:latin typeface="Times New Roman" pitchFamily="18" charset="0"/>
              </a:rPr>
              <a:t>” </a:t>
            </a:r>
            <a:r>
              <a:rPr lang="zh-CN" altLang="en-US" sz="2000" b="1" dirty="0">
                <a:latin typeface="Times New Roman" pitchFamily="18" charset="0"/>
              </a:rPr>
              <a:t>）。</a:t>
            </a:r>
          </a:p>
        </p:txBody>
      </p:sp>
      <p:sp>
        <p:nvSpPr>
          <p:cNvPr id="52" name="矩形 51"/>
          <p:cNvSpPr>
            <a:spLocks noChangeArrowheads="1"/>
          </p:cNvSpPr>
          <p:nvPr/>
        </p:nvSpPr>
        <p:spPr bwMode="auto">
          <a:xfrm>
            <a:off x="5357813" y="1071563"/>
            <a:ext cx="34290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zh-CN" sz="2000" b="1">
                <a:solidFill>
                  <a:srgbClr val="0000FF"/>
                </a:solidFill>
                <a:latin typeface="Times New Roman" pitchFamily="18" charset="0"/>
                <a:sym typeface="Wingdings" pitchFamily="2" charset="2"/>
              </a:rPr>
              <a:t></a:t>
            </a:r>
            <a:r>
              <a:rPr lang="zh-CN" altLang="en-US" sz="2000" b="1">
                <a:latin typeface="Times New Roman" pitchFamily="18" charset="0"/>
              </a:rPr>
              <a:t>“大顶堆”：</a:t>
            </a:r>
            <a:r>
              <a:rPr lang="en-US" altLang="zh-CN" sz="2000" b="1">
                <a:latin typeface="Times New Roman" pitchFamily="18" charset="0"/>
              </a:rPr>
              <a:t>a ≥ b ≥ d ≥ e</a:t>
            </a:r>
          </a:p>
          <a:p>
            <a:r>
              <a:rPr lang="en-US" altLang="zh-CN" sz="2000" b="1">
                <a:solidFill>
                  <a:srgbClr val="0000FF"/>
                </a:solidFill>
                <a:latin typeface="Times New Roman" pitchFamily="18" charset="0"/>
                <a:sym typeface="Wingdings" pitchFamily="2" charset="2"/>
              </a:rPr>
              <a:t></a:t>
            </a:r>
            <a:r>
              <a:rPr lang="zh-CN" altLang="en-US" sz="2000" b="1">
                <a:latin typeface="Times New Roman" pitchFamily="18" charset="0"/>
              </a:rPr>
              <a:t> “小顶堆”：</a:t>
            </a:r>
            <a:r>
              <a:rPr lang="en-US" altLang="zh-CN" sz="2000" b="1">
                <a:latin typeface="Times New Roman" pitchFamily="18" charset="0"/>
              </a:rPr>
              <a:t> a ≤ c ≤ f</a:t>
            </a:r>
            <a:endParaRPr lang="zh-CN" altLang="en-US" sz="2000">
              <a:latin typeface="Times New Roman" pitchFamily="18" charset="0"/>
            </a:endParaRPr>
          </a:p>
        </p:txBody>
      </p:sp>
    </p:spTree>
    <p:extLst>
      <p:ext uri="{BB962C8B-B14F-4D97-AF65-F5344CB8AC3E}">
        <p14:creationId xmlns:p14="http://schemas.microsoft.com/office/powerpoint/2010/main" val="13670211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8193"/>
                                        </p:tgtEl>
                                        <p:attrNameLst>
                                          <p:attrName>style.visibility</p:attrName>
                                        </p:attrNameLst>
                                      </p:cBhvr>
                                      <p:to>
                                        <p:strVal val="visible"/>
                                      </p:to>
                                    </p:set>
                                    <p:animEffect transition="in" filter="wipe(left)">
                                      <p:cBhvr>
                                        <p:cTn id="7" dur="500"/>
                                        <p:tgtEl>
                                          <p:spTgt spid="819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wipe(up)">
                                      <p:cBhvr>
                                        <p:cTn id="12" dur="1000"/>
                                        <p:tgtEl>
                                          <p:spTgt spid="49"/>
                                        </p:tgtEl>
                                      </p:cBhvr>
                                    </p:animEffect>
                                  </p:childTnLst>
                                </p:cTn>
                              </p:par>
                            </p:childTnLst>
                          </p:cTn>
                        </p:par>
                        <p:par>
                          <p:cTn id="13" fill="hold" nodeType="afterGroup">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50"/>
                                        </p:tgtEl>
                                        <p:attrNameLst>
                                          <p:attrName>style.visibility</p:attrName>
                                        </p:attrNameLst>
                                      </p:cBhvr>
                                      <p:to>
                                        <p:strVal val="visible"/>
                                      </p:to>
                                    </p:set>
                                    <p:animEffect transition="in" filter="wipe(up)">
                                      <p:cBhvr>
                                        <p:cTn id="16" dur="2000"/>
                                        <p:tgtEl>
                                          <p:spTgt spid="50"/>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52"/>
                                        </p:tgtEl>
                                        <p:attrNameLst>
                                          <p:attrName>style.visibility</p:attrName>
                                        </p:attrNameLst>
                                      </p:cBhvr>
                                      <p:to>
                                        <p:strVal val="visible"/>
                                      </p:to>
                                    </p:set>
                                    <p:animEffect transition="in" filter="wipe(left)">
                                      <p:cBhvr>
                                        <p:cTn id="21"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0" grpId="0"/>
      <p:bldP spid="52"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9" name="矩形 1"/>
          <p:cNvSpPr>
            <a:spLocks noChangeArrowheads="1"/>
          </p:cNvSpPr>
          <p:nvPr/>
        </p:nvSpPr>
        <p:spPr bwMode="auto">
          <a:xfrm>
            <a:off x="793825" y="260648"/>
            <a:ext cx="40005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zh-CN" sz="2000" b="1" dirty="0">
                <a:solidFill>
                  <a:srgbClr val="EBEBEB"/>
                </a:solidFill>
                <a:latin typeface="Times New Roman" pitchFamily="18" charset="0"/>
              </a:rPr>
              <a:t>【</a:t>
            </a:r>
            <a:r>
              <a:rPr lang="zh-CN" altLang="en-US" sz="2000" b="1" dirty="0">
                <a:solidFill>
                  <a:srgbClr val="EBEBEB"/>
                </a:solidFill>
                <a:latin typeface="Times New Roman" pitchFamily="18" charset="0"/>
              </a:rPr>
              <a:t>例</a:t>
            </a:r>
            <a:r>
              <a:rPr lang="en-US" altLang="zh-CN" sz="2000" b="1" dirty="0">
                <a:solidFill>
                  <a:srgbClr val="EBEBEB"/>
                </a:solidFill>
                <a:latin typeface="Times New Roman" pitchFamily="18" charset="0"/>
              </a:rPr>
              <a:t>】</a:t>
            </a:r>
            <a:r>
              <a:rPr lang="zh-CN" altLang="en-US" sz="2000" b="1" dirty="0">
                <a:solidFill>
                  <a:srgbClr val="EBEBEB"/>
                </a:solidFill>
                <a:latin typeface="Times New Roman" pitchFamily="18" charset="0"/>
              </a:rPr>
              <a:t>最大堆和最小堆</a:t>
            </a:r>
          </a:p>
        </p:txBody>
      </p:sp>
      <p:grpSp>
        <p:nvGrpSpPr>
          <p:cNvPr id="6145" name="Group 1"/>
          <p:cNvGrpSpPr>
            <a:grpSpLocks/>
          </p:cNvGrpSpPr>
          <p:nvPr/>
        </p:nvGrpSpPr>
        <p:grpSpPr bwMode="auto">
          <a:xfrm>
            <a:off x="500063" y="1214438"/>
            <a:ext cx="8001000" cy="1857375"/>
            <a:chOff x="1980" y="4417"/>
            <a:chExt cx="7740" cy="1547"/>
          </a:xfrm>
        </p:grpSpPr>
        <p:sp>
          <p:nvSpPr>
            <p:cNvPr id="34903" name="Text Box 43"/>
            <p:cNvSpPr txBox="1">
              <a:spLocks noChangeArrowheads="1"/>
            </p:cNvSpPr>
            <p:nvPr/>
          </p:nvSpPr>
          <p:spPr bwMode="auto">
            <a:xfrm>
              <a:off x="8869" y="4480"/>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17</a:t>
              </a:r>
              <a:endParaRPr lang="zh-CN" altLang="zh-CN" sz="1600" b="1">
                <a:latin typeface="Arial" pitchFamily="34" charset="0"/>
              </a:endParaRPr>
            </a:p>
          </p:txBody>
        </p:sp>
        <p:sp>
          <p:nvSpPr>
            <p:cNvPr id="34904" name="Text Box 26"/>
            <p:cNvSpPr txBox="1">
              <a:spLocks noChangeArrowheads="1"/>
            </p:cNvSpPr>
            <p:nvPr/>
          </p:nvSpPr>
          <p:spPr bwMode="auto">
            <a:xfrm>
              <a:off x="6724" y="4480"/>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5</a:t>
              </a:r>
              <a:endParaRPr lang="zh-CN" altLang="zh-CN" sz="1600" b="1">
                <a:latin typeface="Arial" pitchFamily="34" charset="0"/>
              </a:endParaRPr>
            </a:p>
          </p:txBody>
        </p:sp>
        <p:sp>
          <p:nvSpPr>
            <p:cNvPr id="34905" name="Text Box 20"/>
            <p:cNvSpPr txBox="1">
              <a:spLocks noChangeArrowheads="1"/>
            </p:cNvSpPr>
            <p:nvPr/>
          </p:nvSpPr>
          <p:spPr bwMode="auto">
            <a:xfrm>
              <a:off x="4785" y="4495"/>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21</a:t>
              </a:r>
              <a:endParaRPr lang="zh-CN" altLang="zh-CN" sz="1600" b="1">
                <a:latin typeface="Arial" pitchFamily="34" charset="0"/>
              </a:endParaRPr>
            </a:p>
          </p:txBody>
        </p:sp>
        <p:sp>
          <p:nvSpPr>
            <p:cNvPr id="34906" name="Text Box 4"/>
            <p:cNvSpPr txBox="1">
              <a:spLocks noChangeArrowheads="1"/>
            </p:cNvSpPr>
            <p:nvPr/>
          </p:nvSpPr>
          <p:spPr bwMode="auto">
            <a:xfrm>
              <a:off x="2853" y="4480"/>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56</a:t>
              </a:r>
              <a:endParaRPr lang="zh-CN" altLang="zh-CN" sz="1600" b="1">
                <a:latin typeface="Arial" pitchFamily="34" charset="0"/>
              </a:endParaRPr>
            </a:p>
          </p:txBody>
        </p:sp>
        <p:sp>
          <p:nvSpPr>
            <p:cNvPr id="34907" name="Line 2"/>
            <p:cNvSpPr>
              <a:spLocks noChangeShapeType="1"/>
            </p:cNvSpPr>
            <p:nvPr/>
          </p:nvSpPr>
          <p:spPr bwMode="auto">
            <a:xfrm flipH="1">
              <a:off x="2535" y="4740"/>
              <a:ext cx="295"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908" name="Oval 3"/>
            <p:cNvSpPr>
              <a:spLocks noChangeArrowheads="1"/>
            </p:cNvSpPr>
            <p:nvPr/>
          </p:nvSpPr>
          <p:spPr bwMode="auto">
            <a:xfrm>
              <a:off x="2763" y="4417"/>
              <a:ext cx="374" cy="374"/>
            </a:xfrm>
            <a:prstGeom prst="ellipse">
              <a:avLst/>
            </a:prstGeom>
            <a:solidFill>
              <a:srgbClr val="0070C0">
                <a:alpha val="30980"/>
              </a:srgbClr>
            </a:solidFill>
            <a:ln w="9525">
              <a:solidFill>
                <a:srgbClr val="000000"/>
              </a:solidFill>
              <a:round/>
              <a:headEnd/>
              <a:tailEnd/>
            </a:ln>
          </p:spPr>
          <p:txBody>
            <a:bodyPr/>
            <a:lstStyle/>
            <a:p>
              <a:endParaRPr lang="zh-CN" altLang="en-US" sz="1600" b="1">
                <a:latin typeface="Times New Roman" pitchFamily="18" charset="0"/>
              </a:endParaRPr>
            </a:p>
          </p:txBody>
        </p:sp>
        <p:sp>
          <p:nvSpPr>
            <p:cNvPr id="34909" name="Oval 5"/>
            <p:cNvSpPr>
              <a:spLocks noChangeArrowheads="1"/>
            </p:cNvSpPr>
            <p:nvPr/>
          </p:nvSpPr>
          <p:spPr bwMode="auto">
            <a:xfrm>
              <a:off x="2236" y="4888"/>
              <a:ext cx="374" cy="374"/>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910" name="Text Box 6"/>
            <p:cNvSpPr txBox="1">
              <a:spLocks noChangeArrowheads="1"/>
            </p:cNvSpPr>
            <p:nvPr/>
          </p:nvSpPr>
          <p:spPr bwMode="auto">
            <a:xfrm>
              <a:off x="2311" y="4966"/>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19</a:t>
              </a:r>
              <a:endParaRPr lang="zh-CN" altLang="zh-CN" sz="1600" b="1">
                <a:latin typeface="Arial" pitchFamily="34" charset="0"/>
              </a:endParaRPr>
            </a:p>
          </p:txBody>
        </p:sp>
        <p:sp>
          <p:nvSpPr>
            <p:cNvPr id="34911" name="Oval 7"/>
            <p:cNvSpPr>
              <a:spLocks noChangeArrowheads="1"/>
            </p:cNvSpPr>
            <p:nvPr/>
          </p:nvSpPr>
          <p:spPr bwMode="auto">
            <a:xfrm>
              <a:off x="3330" y="4903"/>
              <a:ext cx="374" cy="374"/>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912" name="Text Box 8"/>
            <p:cNvSpPr txBox="1">
              <a:spLocks noChangeArrowheads="1"/>
            </p:cNvSpPr>
            <p:nvPr/>
          </p:nvSpPr>
          <p:spPr bwMode="auto">
            <a:xfrm>
              <a:off x="3420" y="4981"/>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40</a:t>
              </a:r>
              <a:endParaRPr lang="zh-CN" altLang="zh-CN" sz="1600" b="1">
                <a:latin typeface="Arial" pitchFamily="34" charset="0"/>
              </a:endParaRPr>
            </a:p>
          </p:txBody>
        </p:sp>
        <p:sp>
          <p:nvSpPr>
            <p:cNvPr id="34913" name="Oval 9"/>
            <p:cNvSpPr>
              <a:spLocks noChangeArrowheads="1"/>
            </p:cNvSpPr>
            <p:nvPr/>
          </p:nvSpPr>
          <p:spPr bwMode="auto">
            <a:xfrm>
              <a:off x="1980" y="5590"/>
              <a:ext cx="374" cy="374"/>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914" name="Text Box 10"/>
            <p:cNvSpPr txBox="1">
              <a:spLocks noChangeArrowheads="1"/>
            </p:cNvSpPr>
            <p:nvPr/>
          </p:nvSpPr>
          <p:spPr bwMode="auto">
            <a:xfrm>
              <a:off x="2055" y="5668"/>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18</a:t>
              </a:r>
              <a:endParaRPr lang="zh-CN" altLang="zh-CN" sz="1600" b="1">
                <a:latin typeface="Arial" pitchFamily="34" charset="0"/>
              </a:endParaRPr>
            </a:p>
          </p:txBody>
        </p:sp>
        <p:sp>
          <p:nvSpPr>
            <p:cNvPr id="34915" name="Oval 11"/>
            <p:cNvSpPr>
              <a:spLocks noChangeArrowheads="1"/>
            </p:cNvSpPr>
            <p:nvPr/>
          </p:nvSpPr>
          <p:spPr bwMode="auto">
            <a:xfrm>
              <a:off x="2566" y="5575"/>
              <a:ext cx="374" cy="374"/>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916" name="Text Box 12"/>
            <p:cNvSpPr txBox="1">
              <a:spLocks noChangeArrowheads="1"/>
            </p:cNvSpPr>
            <p:nvPr/>
          </p:nvSpPr>
          <p:spPr bwMode="auto">
            <a:xfrm>
              <a:off x="2641" y="5653"/>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9</a:t>
              </a:r>
              <a:endParaRPr lang="zh-CN" altLang="zh-CN" sz="1600" b="1">
                <a:latin typeface="Arial" pitchFamily="34" charset="0"/>
              </a:endParaRPr>
            </a:p>
          </p:txBody>
        </p:sp>
        <p:sp>
          <p:nvSpPr>
            <p:cNvPr id="34917" name="Oval 13"/>
            <p:cNvSpPr>
              <a:spLocks noChangeArrowheads="1"/>
            </p:cNvSpPr>
            <p:nvPr/>
          </p:nvSpPr>
          <p:spPr bwMode="auto">
            <a:xfrm>
              <a:off x="3061" y="5575"/>
              <a:ext cx="374" cy="374"/>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918" name="Text Box 14"/>
            <p:cNvSpPr txBox="1">
              <a:spLocks noChangeArrowheads="1"/>
            </p:cNvSpPr>
            <p:nvPr/>
          </p:nvSpPr>
          <p:spPr bwMode="auto">
            <a:xfrm>
              <a:off x="3136" y="5653"/>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3</a:t>
              </a:r>
              <a:endParaRPr lang="zh-CN" altLang="zh-CN" sz="1600" b="1">
                <a:latin typeface="Arial" pitchFamily="34" charset="0"/>
              </a:endParaRPr>
            </a:p>
          </p:txBody>
        </p:sp>
        <p:sp>
          <p:nvSpPr>
            <p:cNvPr id="34919" name="Line 15"/>
            <p:cNvSpPr>
              <a:spLocks noChangeShapeType="1"/>
            </p:cNvSpPr>
            <p:nvPr/>
          </p:nvSpPr>
          <p:spPr bwMode="auto">
            <a:xfrm>
              <a:off x="3090" y="4751"/>
              <a:ext cx="295"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920" name="Line 16"/>
            <p:cNvSpPr>
              <a:spLocks noChangeShapeType="1"/>
            </p:cNvSpPr>
            <p:nvPr/>
          </p:nvSpPr>
          <p:spPr bwMode="auto">
            <a:xfrm flipH="1">
              <a:off x="2235" y="5263"/>
              <a:ext cx="125" cy="3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921" name="Line 17"/>
            <p:cNvSpPr>
              <a:spLocks noChangeShapeType="1"/>
            </p:cNvSpPr>
            <p:nvPr/>
          </p:nvSpPr>
          <p:spPr bwMode="auto">
            <a:xfrm>
              <a:off x="2533" y="5250"/>
              <a:ext cx="127" cy="3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922" name="Line 18"/>
            <p:cNvSpPr>
              <a:spLocks noChangeShapeType="1"/>
            </p:cNvSpPr>
            <p:nvPr/>
          </p:nvSpPr>
          <p:spPr bwMode="auto">
            <a:xfrm flipH="1">
              <a:off x="3315" y="5248"/>
              <a:ext cx="125" cy="3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923" name="Oval 19"/>
            <p:cNvSpPr>
              <a:spLocks noChangeArrowheads="1"/>
            </p:cNvSpPr>
            <p:nvPr/>
          </p:nvSpPr>
          <p:spPr bwMode="auto">
            <a:xfrm>
              <a:off x="4695" y="4417"/>
              <a:ext cx="374" cy="374"/>
            </a:xfrm>
            <a:prstGeom prst="ellipse">
              <a:avLst/>
            </a:prstGeom>
            <a:solidFill>
              <a:srgbClr val="0070C0">
                <a:alpha val="39999"/>
              </a:srgbClr>
            </a:solidFill>
            <a:ln w="9525">
              <a:solidFill>
                <a:srgbClr val="000000"/>
              </a:solidFill>
              <a:round/>
              <a:headEnd/>
              <a:tailEnd/>
            </a:ln>
          </p:spPr>
          <p:txBody>
            <a:bodyPr/>
            <a:lstStyle/>
            <a:p>
              <a:endParaRPr lang="zh-CN" altLang="en-US" sz="1600" b="1">
                <a:latin typeface="Times New Roman" pitchFamily="18" charset="0"/>
              </a:endParaRPr>
            </a:p>
          </p:txBody>
        </p:sp>
        <p:sp>
          <p:nvSpPr>
            <p:cNvPr id="34924" name="Oval 21"/>
            <p:cNvSpPr>
              <a:spLocks noChangeArrowheads="1"/>
            </p:cNvSpPr>
            <p:nvPr/>
          </p:nvSpPr>
          <p:spPr bwMode="auto">
            <a:xfrm>
              <a:off x="4426" y="5089"/>
              <a:ext cx="374" cy="374"/>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925" name="Text Box 22"/>
            <p:cNvSpPr txBox="1">
              <a:spLocks noChangeArrowheads="1"/>
            </p:cNvSpPr>
            <p:nvPr/>
          </p:nvSpPr>
          <p:spPr bwMode="auto">
            <a:xfrm>
              <a:off x="4501" y="5167"/>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10</a:t>
              </a:r>
              <a:endParaRPr lang="zh-CN" altLang="zh-CN" sz="1600" b="1">
                <a:latin typeface="Arial" pitchFamily="34" charset="0"/>
              </a:endParaRPr>
            </a:p>
          </p:txBody>
        </p:sp>
        <p:sp>
          <p:nvSpPr>
            <p:cNvPr id="34926" name="Line 23"/>
            <p:cNvSpPr>
              <a:spLocks noChangeShapeType="1"/>
            </p:cNvSpPr>
            <p:nvPr/>
          </p:nvSpPr>
          <p:spPr bwMode="auto">
            <a:xfrm flipH="1">
              <a:off x="4680" y="4762"/>
              <a:ext cx="125" cy="3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927" name="Line 24"/>
            <p:cNvSpPr>
              <a:spLocks noChangeShapeType="1"/>
            </p:cNvSpPr>
            <p:nvPr/>
          </p:nvSpPr>
          <p:spPr bwMode="auto">
            <a:xfrm flipH="1">
              <a:off x="6406" y="4740"/>
              <a:ext cx="295"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69" name="Oval 25"/>
            <p:cNvSpPr>
              <a:spLocks noChangeArrowheads="1"/>
            </p:cNvSpPr>
            <p:nvPr/>
          </p:nvSpPr>
          <p:spPr bwMode="auto">
            <a:xfrm>
              <a:off x="6635" y="4417"/>
              <a:ext cx="373" cy="374"/>
            </a:xfrm>
            <a:prstGeom prst="ellipse">
              <a:avLst/>
            </a:prstGeom>
            <a:solidFill>
              <a:schemeClr val="accent5">
                <a:lumMod val="75000"/>
                <a:alpha val="40000"/>
              </a:schemeClr>
            </a:solidFill>
            <a:ln w="9525">
              <a:solidFill>
                <a:srgbClr val="000000"/>
              </a:solidFill>
              <a:round/>
              <a:headEnd/>
              <a:tailEnd/>
            </a:ln>
          </p:spPr>
          <p:txBody>
            <a:bodyPr/>
            <a:lstStyle/>
            <a:p>
              <a:pPr fontAlgn="auto">
                <a:spcBef>
                  <a:spcPts val="0"/>
                </a:spcBef>
                <a:spcAft>
                  <a:spcPts val="0"/>
                </a:spcAft>
                <a:defRPr/>
              </a:pPr>
              <a:endParaRPr lang="zh-CN" altLang="en-US" sz="1600" b="1">
                <a:latin typeface="+mn-lt"/>
                <a:ea typeface="+mn-ea"/>
              </a:endParaRPr>
            </a:p>
          </p:txBody>
        </p:sp>
        <p:sp>
          <p:nvSpPr>
            <p:cNvPr id="34929" name="Oval 27"/>
            <p:cNvSpPr>
              <a:spLocks noChangeArrowheads="1"/>
            </p:cNvSpPr>
            <p:nvPr/>
          </p:nvSpPr>
          <p:spPr bwMode="auto">
            <a:xfrm>
              <a:off x="6107" y="4888"/>
              <a:ext cx="374" cy="374"/>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930" name="Text Box 28"/>
            <p:cNvSpPr txBox="1">
              <a:spLocks noChangeArrowheads="1"/>
            </p:cNvSpPr>
            <p:nvPr/>
          </p:nvSpPr>
          <p:spPr bwMode="auto">
            <a:xfrm>
              <a:off x="6182" y="4966"/>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16</a:t>
              </a:r>
              <a:endParaRPr lang="zh-CN" altLang="zh-CN" sz="1600" b="1">
                <a:latin typeface="Arial" pitchFamily="34" charset="0"/>
              </a:endParaRPr>
            </a:p>
          </p:txBody>
        </p:sp>
        <p:sp>
          <p:nvSpPr>
            <p:cNvPr id="34931" name="Oval 29"/>
            <p:cNvSpPr>
              <a:spLocks noChangeArrowheads="1"/>
            </p:cNvSpPr>
            <p:nvPr/>
          </p:nvSpPr>
          <p:spPr bwMode="auto">
            <a:xfrm>
              <a:off x="7201" y="4903"/>
              <a:ext cx="374" cy="374"/>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932" name="Text Box 30"/>
            <p:cNvSpPr txBox="1">
              <a:spLocks noChangeArrowheads="1"/>
            </p:cNvSpPr>
            <p:nvPr/>
          </p:nvSpPr>
          <p:spPr bwMode="auto">
            <a:xfrm>
              <a:off x="7291" y="4981"/>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30</a:t>
              </a:r>
              <a:endParaRPr lang="zh-CN" altLang="zh-CN" sz="1600" b="1">
                <a:latin typeface="Arial" pitchFamily="34" charset="0"/>
              </a:endParaRPr>
            </a:p>
          </p:txBody>
        </p:sp>
        <p:sp>
          <p:nvSpPr>
            <p:cNvPr id="34933" name="Oval 31"/>
            <p:cNvSpPr>
              <a:spLocks noChangeArrowheads="1"/>
            </p:cNvSpPr>
            <p:nvPr/>
          </p:nvSpPr>
          <p:spPr bwMode="auto">
            <a:xfrm>
              <a:off x="5851" y="5590"/>
              <a:ext cx="374" cy="374"/>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934" name="Text Box 32"/>
            <p:cNvSpPr txBox="1">
              <a:spLocks noChangeArrowheads="1"/>
            </p:cNvSpPr>
            <p:nvPr/>
          </p:nvSpPr>
          <p:spPr bwMode="auto">
            <a:xfrm>
              <a:off x="5926" y="5668"/>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49</a:t>
              </a:r>
              <a:endParaRPr lang="zh-CN" altLang="zh-CN" sz="1600" b="1">
                <a:latin typeface="Arial" pitchFamily="34" charset="0"/>
              </a:endParaRPr>
            </a:p>
          </p:txBody>
        </p:sp>
        <p:sp>
          <p:nvSpPr>
            <p:cNvPr id="34935" name="Oval 33"/>
            <p:cNvSpPr>
              <a:spLocks noChangeArrowheads="1"/>
            </p:cNvSpPr>
            <p:nvPr/>
          </p:nvSpPr>
          <p:spPr bwMode="auto">
            <a:xfrm>
              <a:off x="6437" y="5575"/>
              <a:ext cx="374" cy="374"/>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936" name="Text Box 34"/>
            <p:cNvSpPr txBox="1">
              <a:spLocks noChangeArrowheads="1"/>
            </p:cNvSpPr>
            <p:nvPr/>
          </p:nvSpPr>
          <p:spPr bwMode="auto">
            <a:xfrm>
              <a:off x="6512" y="5653"/>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18</a:t>
              </a:r>
              <a:endParaRPr lang="zh-CN" altLang="zh-CN" sz="1600" b="1">
                <a:latin typeface="Arial" pitchFamily="34" charset="0"/>
              </a:endParaRPr>
            </a:p>
          </p:txBody>
        </p:sp>
        <p:sp>
          <p:nvSpPr>
            <p:cNvPr id="34937" name="Oval 35"/>
            <p:cNvSpPr>
              <a:spLocks noChangeArrowheads="1"/>
            </p:cNvSpPr>
            <p:nvPr/>
          </p:nvSpPr>
          <p:spPr bwMode="auto">
            <a:xfrm>
              <a:off x="6932" y="5575"/>
              <a:ext cx="374" cy="374"/>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938" name="Text Box 36"/>
            <p:cNvSpPr txBox="1">
              <a:spLocks noChangeArrowheads="1"/>
            </p:cNvSpPr>
            <p:nvPr/>
          </p:nvSpPr>
          <p:spPr bwMode="auto">
            <a:xfrm>
              <a:off x="7022" y="5638"/>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38</a:t>
              </a:r>
              <a:endParaRPr lang="zh-CN" altLang="zh-CN" sz="1600" b="1">
                <a:latin typeface="Arial" pitchFamily="34" charset="0"/>
              </a:endParaRPr>
            </a:p>
          </p:txBody>
        </p:sp>
        <p:sp>
          <p:nvSpPr>
            <p:cNvPr id="34939" name="Line 37"/>
            <p:cNvSpPr>
              <a:spLocks noChangeShapeType="1"/>
            </p:cNvSpPr>
            <p:nvPr/>
          </p:nvSpPr>
          <p:spPr bwMode="auto">
            <a:xfrm>
              <a:off x="6961" y="4751"/>
              <a:ext cx="295"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940" name="Line 38"/>
            <p:cNvSpPr>
              <a:spLocks noChangeShapeType="1"/>
            </p:cNvSpPr>
            <p:nvPr/>
          </p:nvSpPr>
          <p:spPr bwMode="auto">
            <a:xfrm flipH="1">
              <a:off x="6106" y="5263"/>
              <a:ext cx="125" cy="3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941" name="Line 39"/>
            <p:cNvSpPr>
              <a:spLocks noChangeShapeType="1"/>
            </p:cNvSpPr>
            <p:nvPr/>
          </p:nvSpPr>
          <p:spPr bwMode="auto">
            <a:xfrm>
              <a:off x="6403" y="5206"/>
              <a:ext cx="128" cy="4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942" name="Line 40"/>
            <p:cNvSpPr>
              <a:spLocks noChangeShapeType="1"/>
            </p:cNvSpPr>
            <p:nvPr/>
          </p:nvSpPr>
          <p:spPr bwMode="auto">
            <a:xfrm flipH="1">
              <a:off x="7186" y="5248"/>
              <a:ext cx="125" cy="3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943" name="Line 41"/>
            <p:cNvSpPr>
              <a:spLocks noChangeShapeType="1"/>
            </p:cNvSpPr>
            <p:nvPr/>
          </p:nvSpPr>
          <p:spPr bwMode="auto">
            <a:xfrm flipH="1">
              <a:off x="8551" y="4740"/>
              <a:ext cx="295"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86" name="Oval 42"/>
            <p:cNvSpPr>
              <a:spLocks noChangeArrowheads="1"/>
            </p:cNvSpPr>
            <p:nvPr/>
          </p:nvSpPr>
          <p:spPr bwMode="auto">
            <a:xfrm>
              <a:off x="8779" y="4417"/>
              <a:ext cx="375" cy="374"/>
            </a:xfrm>
            <a:prstGeom prst="ellipse">
              <a:avLst/>
            </a:prstGeom>
            <a:solidFill>
              <a:schemeClr val="accent5">
                <a:lumMod val="75000"/>
                <a:alpha val="40000"/>
              </a:schemeClr>
            </a:solidFill>
            <a:ln w="9525">
              <a:solidFill>
                <a:srgbClr val="000000"/>
              </a:solidFill>
              <a:round/>
              <a:headEnd/>
              <a:tailEnd/>
            </a:ln>
          </p:spPr>
          <p:txBody>
            <a:bodyPr/>
            <a:lstStyle/>
            <a:p>
              <a:pPr fontAlgn="auto">
                <a:spcBef>
                  <a:spcPts val="0"/>
                </a:spcBef>
                <a:spcAft>
                  <a:spcPts val="0"/>
                </a:spcAft>
                <a:defRPr/>
              </a:pPr>
              <a:endParaRPr lang="zh-CN" altLang="en-US" sz="1600" b="1">
                <a:latin typeface="+mn-lt"/>
                <a:ea typeface="+mn-ea"/>
              </a:endParaRPr>
            </a:p>
          </p:txBody>
        </p:sp>
        <p:sp>
          <p:nvSpPr>
            <p:cNvPr id="34945" name="Oval 44"/>
            <p:cNvSpPr>
              <a:spLocks noChangeArrowheads="1"/>
            </p:cNvSpPr>
            <p:nvPr/>
          </p:nvSpPr>
          <p:spPr bwMode="auto">
            <a:xfrm>
              <a:off x="8252" y="4888"/>
              <a:ext cx="374" cy="374"/>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946" name="Text Box 45"/>
            <p:cNvSpPr txBox="1">
              <a:spLocks noChangeArrowheads="1"/>
            </p:cNvSpPr>
            <p:nvPr/>
          </p:nvSpPr>
          <p:spPr bwMode="auto">
            <a:xfrm>
              <a:off x="8327" y="4966"/>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19</a:t>
              </a:r>
              <a:endParaRPr lang="zh-CN" altLang="zh-CN" sz="1600" b="1">
                <a:latin typeface="Arial" pitchFamily="34" charset="0"/>
              </a:endParaRPr>
            </a:p>
          </p:txBody>
        </p:sp>
        <p:sp>
          <p:nvSpPr>
            <p:cNvPr id="34947" name="Oval 46"/>
            <p:cNvSpPr>
              <a:spLocks noChangeArrowheads="1"/>
            </p:cNvSpPr>
            <p:nvPr/>
          </p:nvSpPr>
          <p:spPr bwMode="auto">
            <a:xfrm>
              <a:off x="9346" y="4903"/>
              <a:ext cx="374" cy="374"/>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948" name="Text Box 47"/>
            <p:cNvSpPr txBox="1">
              <a:spLocks noChangeArrowheads="1"/>
            </p:cNvSpPr>
            <p:nvPr/>
          </p:nvSpPr>
          <p:spPr bwMode="auto">
            <a:xfrm>
              <a:off x="9436" y="4981"/>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30</a:t>
              </a:r>
              <a:endParaRPr lang="zh-CN" altLang="zh-CN" sz="1600" b="1">
                <a:latin typeface="Arial" pitchFamily="34" charset="0"/>
              </a:endParaRPr>
            </a:p>
          </p:txBody>
        </p:sp>
        <p:sp>
          <p:nvSpPr>
            <p:cNvPr id="34949" name="Oval 48"/>
            <p:cNvSpPr>
              <a:spLocks noChangeArrowheads="1"/>
            </p:cNvSpPr>
            <p:nvPr/>
          </p:nvSpPr>
          <p:spPr bwMode="auto">
            <a:xfrm>
              <a:off x="7996" y="5590"/>
              <a:ext cx="374" cy="374"/>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950" name="Text Box 49"/>
            <p:cNvSpPr txBox="1">
              <a:spLocks noChangeArrowheads="1"/>
            </p:cNvSpPr>
            <p:nvPr/>
          </p:nvSpPr>
          <p:spPr bwMode="auto">
            <a:xfrm>
              <a:off x="8071" y="5668"/>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33</a:t>
              </a:r>
              <a:endParaRPr lang="zh-CN" altLang="zh-CN" sz="1600" b="1">
                <a:latin typeface="Arial" pitchFamily="34" charset="0"/>
              </a:endParaRPr>
            </a:p>
          </p:txBody>
        </p:sp>
        <p:sp>
          <p:nvSpPr>
            <p:cNvPr id="34951" name="Line 50"/>
            <p:cNvSpPr>
              <a:spLocks noChangeShapeType="1"/>
            </p:cNvSpPr>
            <p:nvPr/>
          </p:nvSpPr>
          <p:spPr bwMode="auto">
            <a:xfrm>
              <a:off x="9106" y="4751"/>
              <a:ext cx="295"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952" name="Line 51"/>
            <p:cNvSpPr>
              <a:spLocks noChangeShapeType="1"/>
            </p:cNvSpPr>
            <p:nvPr/>
          </p:nvSpPr>
          <p:spPr bwMode="auto">
            <a:xfrm flipH="1">
              <a:off x="8251" y="5263"/>
              <a:ext cx="125" cy="3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21" name="组合 120"/>
          <p:cNvGrpSpPr>
            <a:grpSpLocks/>
          </p:cNvGrpSpPr>
          <p:nvPr/>
        </p:nvGrpSpPr>
        <p:grpSpPr bwMode="auto">
          <a:xfrm>
            <a:off x="428625" y="3929063"/>
            <a:ext cx="1782763" cy="1857375"/>
            <a:chOff x="428596" y="3929066"/>
            <a:chExt cx="1782147" cy="1857388"/>
          </a:xfrm>
        </p:grpSpPr>
        <p:sp>
          <p:nvSpPr>
            <p:cNvPr id="34889" name="Line 2"/>
            <p:cNvSpPr>
              <a:spLocks noChangeShapeType="1"/>
            </p:cNvSpPr>
            <p:nvPr/>
          </p:nvSpPr>
          <p:spPr bwMode="auto">
            <a:xfrm flipH="1">
              <a:off x="1002315" y="4316872"/>
              <a:ext cx="304950" cy="2581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90" name="Oval 3"/>
            <p:cNvSpPr>
              <a:spLocks noChangeArrowheads="1"/>
            </p:cNvSpPr>
            <p:nvPr/>
          </p:nvSpPr>
          <p:spPr bwMode="auto">
            <a:xfrm>
              <a:off x="1238005" y="3929066"/>
              <a:ext cx="386614" cy="449039"/>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891" name="Text Box 4"/>
            <p:cNvSpPr txBox="1">
              <a:spLocks noChangeArrowheads="1"/>
            </p:cNvSpPr>
            <p:nvPr/>
          </p:nvSpPr>
          <p:spPr bwMode="auto">
            <a:xfrm>
              <a:off x="1331041" y="4004706"/>
              <a:ext cx="234656" cy="24853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56</a:t>
              </a:r>
              <a:endParaRPr lang="zh-CN" altLang="zh-CN" sz="1600" b="1">
                <a:latin typeface="Arial" pitchFamily="34" charset="0"/>
              </a:endParaRPr>
            </a:p>
          </p:txBody>
        </p:sp>
        <p:sp>
          <p:nvSpPr>
            <p:cNvPr id="34892" name="Oval 5"/>
            <p:cNvSpPr>
              <a:spLocks noChangeArrowheads="1"/>
            </p:cNvSpPr>
            <p:nvPr/>
          </p:nvSpPr>
          <p:spPr bwMode="auto">
            <a:xfrm>
              <a:off x="693230" y="4494567"/>
              <a:ext cx="386614" cy="449039"/>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893" name="Text Box 6"/>
            <p:cNvSpPr txBox="1">
              <a:spLocks noChangeArrowheads="1"/>
            </p:cNvSpPr>
            <p:nvPr/>
          </p:nvSpPr>
          <p:spPr bwMode="auto">
            <a:xfrm>
              <a:off x="770760" y="4588217"/>
              <a:ext cx="234656" cy="24853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19</a:t>
              </a:r>
              <a:endParaRPr lang="zh-CN" altLang="zh-CN" sz="1600" b="1">
                <a:latin typeface="Arial" pitchFamily="34" charset="0"/>
              </a:endParaRPr>
            </a:p>
          </p:txBody>
        </p:sp>
        <p:sp>
          <p:nvSpPr>
            <p:cNvPr id="34894" name="Oval 7"/>
            <p:cNvSpPr>
              <a:spLocks noChangeArrowheads="1"/>
            </p:cNvSpPr>
            <p:nvPr/>
          </p:nvSpPr>
          <p:spPr bwMode="auto">
            <a:xfrm>
              <a:off x="1824129" y="4512576"/>
              <a:ext cx="386614" cy="449039"/>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895" name="Text Box 8"/>
            <p:cNvSpPr txBox="1">
              <a:spLocks noChangeArrowheads="1"/>
            </p:cNvSpPr>
            <p:nvPr/>
          </p:nvSpPr>
          <p:spPr bwMode="auto">
            <a:xfrm>
              <a:off x="1917165" y="4606226"/>
              <a:ext cx="234656" cy="24853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40</a:t>
              </a:r>
              <a:endParaRPr lang="zh-CN" altLang="zh-CN" sz="1600" b="1">
                <a:latin typeface="Arial" pitchFamily="34" charset="0"/>
              </a:endParaRPr>
            </a:p>
          </p:txBody>
        </p:sp>
        <p:sp>
          <p:nvSpPr>
            <p:cNvPr id="34896" name="Oval 9"/>
            <p:cNvSpPr>
              <a:spLocks noChangeArrowheads="1"/>
            </p:cNvSpPr>
            <p:nvPr/>
          </p:nvSpPr>
          <p:spPr bwMode="auto">
            <a:xfrm>
              <a:off x="428596" y="5337415"/>
              <a:ext cx="386614" cy="449039"/>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897" name="Text Box 10"/>
            <p:cNvSpPr txBox="1">
              <a:spLocks noChangeArrowheads="1"/>
            </p:cNvSpPr>
            <p:nvPr/>
          </p:nvSpPr>
          <p:spPr bwMode="auto">
            <a:xfrm>
              <a:off x="506126" y="5431065"/>
              <a:ext cx="234656" cy="24853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18</a:t>
              </a:r>
              <a:endParaRPr lang="zh-CN" altLang="zh-CN" sz="1600" b="1">
                <a:latin typeface="Arial" pitchFamily="34" charset="0"/>
              </a:endParaRPr>
            </a:p>
          </p:txBody>
        </p:sp>
        <p:sp>
          <p:nvSpPr>
            <p:cNvPr id="34898" name="Oval 13"/>
            <p:cNvSpPr>
              <a:spLocks noChangeArrowheads="1"/>
            </p:cNvSpPr>
            <p:nvPr/>
          </p:nvSpPr>
          <p:spPr bwMode="auto">
            <a:xfrm>
              <a:off x="1546056" y="5319406"/>
              <a:ext cx="386614" cy="449039"/>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899" name="Text Box 14"/>
            <p:cNvSpPr txBox="1">
              <a:spLocks noChangeArrowheads="1"/>
            </p:cNvSpPr>
            <p:nvPr/>
          </p:nvSpPr>
          <p:spPr bwMode="auto">
            <a:xfrm>
              <a:off x="1623586" y="5413055"/>
              <a:ext cx="234656" cy="24853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3</a:t>
              </a:r>
              <a:endParaRPr lang="zh-CN" altLang="zh-CN" sz="1600" b="1">
                <a:latin typeface="Arial" pitchFamily="34" charset="0"/>
              </a:endParaRPr>
            </a:p>
          </p:txBody>
        </p:sp>
        <p:sp>
          <p:nvSpPr>
            <p:cNvPr id="34900" name="Line 15"/>
            <p:cNvSpPr>
              <a:spLocks noChangeShapeType="1"/>
            </p:cNvSpPr>
            <p:nvPr/>
          </p:nvSpPr>
          <p:spPr bwMode="auto">
            <a:xfrm>
              <a:off x="1576034" y="4330079"/>
              <a:ext cx="304950" cy="2581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901" name="Line 16"/>
            <p:cNvSpPr>
              <a:spLocks noChangeShapeType="1"/>
            </p:cNvSpPr>
            <p:nvPr/>
          </p:nvSpPr>
          <p:spPr bwMode="auto">
            <a:xfrm flipH="1">
              <a:off x="692197" y="4944806"/>
              <a:ext cx="129216" cy="3950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902" name="Line 18"/>
            <p:cNvSpPr>
              <a:spLocks noChangeShapeType="1"/>
            </p:cNvSpPr>
            <p:nvPr/>
          </p:nvSpPr>
          <p:spPr bwMode="auto">
            <a:xfrm flipH="1">
              <a:off x="1808623" y="4926797"/>
              <a:ext cx="129216" cy="3950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30" name="组合 129"/>
          <p:cNvGrpSpPr>
            <a:grpSpLocks/>
          </p:cNvGrpSpPr>
          <p:nvPr/>
        </p:nvGrpSpPr>
        <p:grpSpPr bwMode="auto">
          <a:xfrm>
            <a:off x="4429125" y="3929063"/>
            <a:ext cx="1782763" cy="1857375"/>
            <a:chOff x="4432927" y="3929066"/>
            <a:chExt cx="1782147" cy="1857388"/>
          </a:xfrm>
        </p:grpSpPr>
        <p:grpSp>
          <p:nvGrpSpPr>
            <p:cNvPr id="34870" name="组合 128"/>
            <p:cNvGrpSpPr>
              <a:grpSpLocks/>
            </p:cNvGrpSpPr>
            <p:nvPr/>
          </p:nvGrpSpPr>
          <p:grpSpPr bwMode="auto">
            <a:xfrm>
              <a:off x="5038691" y="5319406"/>
              <a:ext cx="386614" cy="449039"/>
              <a:chOff x="5038691" y="5319406"/>
              <a:chExt cx="386614" cy="449039"/>
            </a:xfrm>
          </p:grpSpPr>
          <p:sp>
            <p:nvSpPr>
              <p:cNvPr id="34887" name="Oval 33"/>
              <p:cNvSpPr>
                <a:spLocks noChangeArrowheads="1"/>
              </p:cNvSpPr>
              <p:nvPr/>
            </p:nvSpPr>
            <p:spPr bwMode="auto">
              <a:xfrm>
                <a:off x="5038691" y="5319406"/>
                <a:ext cx="386614" cy="449039"/>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888" name="Text Box 34"/>
              <p:cNvSpPr txBox="1">
                <a:spLocks noChangeArrowheads="1"/>
              </p:cNvSpPr>
              <p:nvPr/>
            </p:nvSpPr>
            <p:spPr bwMode="auto">
              <a:xfrm>
                <a:off x="5116221" y="5413055"/>
                <a:ext cx="234656" cy="24853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15</a:t>
                </a:r>
                <a:endParaRPr lang="zh-CN" altLang="zh-CN" sz="1600" b="1">
                  <a:latin typeface="Arial" pitchFamily="34" charset="0"/>
                </a:endParaRPr>
              </a:p>
            </p:txBody>
          </p:sp>
        </p:grpSp>
        <p:grpSp>
          <p:nvGrpSpPr>
            <p:cNvPr id="34871" name="组合 127"/>
            <p:cNvGrpSpPr>
              <a:grpSpLocks/>
            </p:cNvGrpSpPr>
            <p:nvPr/>
          </p:nvGrpSpPr>
          <p:grpSpPr bwMode="auto">
            <a:xfrm>
              <a:off x="4432927" y="3929066"/>
              <a:ext cx="1782147" cy="1857388"/>
              <a:chOff x="4432927" y="3929066"/>
              <a:chExt cx="1782147" cy="1857388"/>
            </a:xfrm>
          </p:grpSpPr>
          <p:sp>
            <p:nvSpPr>
              <p:cNvPr id="34872" name="Line 24"/>
              <p:cNvSpPr>
                <a:spLocks noChangeShapeType="1"/>
              </p:cNvSpPr>
              <p:nvPr/>
            </p:nvSpPr>
            <p:spPr bwMode="auto">
              <a:xfrm flipH="1">
                <a:off x="5006646" y="4316872"/>
                <a:ext cx="304950" cy="2581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73" name="Oval 25"/>
              <p:cNvSpPr>
                <a:spLocks noChangeArrowheads="1"/>
              </p:cNvSpPr>
              <p:nvPr/>
            </p:nvSpPr>
            <p:spPr bwMode="auto">
              <a:xfrm>
                <a:off x="5242336" y="3929066"/>
                <a:ext cx="386614" cy="449039"/>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874" name="Text Box 26"/>
              <p:cNvSpPr txBox="1">
                <a:spLocks noChangeArrowheads="1"/>
              </p:cNvSpPr>
              <p:nvPr/>
            </p:nvSpPr>
            <p:spPr bwMode="auto">
              <a:xfrm>
                <a:off x="5335371" y="4004706"/>
                <a:ext cx="234656" cy="24853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5</a:t>
                </a:r>
                <a:endParaRPr lang="zh-CN" altLang="zh-CN" sz="1600" b="1">
                  <a:latin typeface="Arial" pitchFamily="34" charset="0"/>
                </a:endParaRPr>
              </a:p>
            </p:txBody>
          </p:sp>
          <p:sp>
            <p:nvSpPr>
              <p:cNvPr id="34875" name="Oval 27"/>
              <p:cNvSpPr>
                <a:spLocks noChangeArrowheads="1"/>
              </p:cNvSpPr>
              <p:nvPr/>
            </p:nvSpPr>
            <p:spPr bwMode="auto">
              <a:xfrm>
                <a:off x="4697561" y="4494567"/>
                <a:ext cx="386614" cy="449039"/>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876" name="Text Box 28"/>
              <p:cNvSpPr txBox="1">
                <a:spLocks noChangeArrowheads="1"/>
              </p:cNvSpPr>
              <p:nvPr/>
            </p:nvSpPr>
            <p:spPr bwMode="auto">
              <a:xfrm>
                <a:off x="4775091" y="4588217"/>
                <a:ext cx="234656" cy="24853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16</a:t>
                </a:r>
                <a:endParaRPr lang="zh-CN" altLang="zh-CN" sz="1600" b="1">
                  <a:latin typeface="Arial" pitchFamily="34" charset="0"/>
                </a:endParaRPr>
              </a:p>
            </p:txBody>
          </p:sp>
          <p:sp>
            <p:nvSpPr>
              <p:cNvPr id="34877" name="Oval 29"/>
              <p:cNvSpPr>
                <a:spLocks noChangeArrowheads="1"/>
              </p:cNvSpPr>
              <p:nvPr/>
            </p:nvSpPr>
            <p:spPr bwMode="auto">
              <a:xfrm>
                <a:off x="5828460" y="4512576"/>
                <a:ext cx="386614" cy="449039"/>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878" name="Text Box 30"/>
              <p:cNvSpPr txBox="1">
                <a:spLocks noChangeArrowheads="1"/>
              </p:cNvSpPr>
              <p:nvPr/>
            </p:nvSpPr>
            <p:spPr bwMode="auto">
              <a:xfrm>
                <a:off x="5921495" y="4606226"/>
                <a:ext cx="234656" cy="24853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30</a:t>
                </a:r>
                <a:endParaRPr lang="zh-CN" altLang="zh-CN" sz="1600" b="1">
                  <a:latin typeface="Arial" pitchFamily="34" charset="0"/>
                </a:endParaRPr>
              </a:p>
            </p:txBody>
          </p:sp>
          <p:sp>
            <p:nvSpPr>
              <p:cNvPr id="34879" name="Oval 31"/>
              <p:cNvSpPr>
                <a:spLocks noChangeArrowheads="1"/>
              </p:cNvSpPr>
              <p:nvPr/>
            </p:nvSpPr>
            <p:spPr bwMode="auto">
              <a:xfrm>
                <a:off x="4432927" y="5337415"/>
                <a:ext cx="386614" cy="449039"/>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880" name="Text Box 32"/>
              <p:cNvSpPr txBox="1">
                <a:spLocks noChangeArrowheads="1"/>
              </p:cNvSpPr>
              <p:nvPr/>
            </p:nvSpPr>
            <p:spPr bwMode="auto">
              <a:xfrm>
                <a:off x="4510456" y="5431065"/>
                <a:ext cx="234656" cy="24853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49</a:t>
                </a:r>
                <a:endParaRPr lang="zh-CN" altLang="zh-CN" sz="1600" b="1">
                  <a:latin typeface="Arial" pitchFamily="34" charset="0"/>
                </a:endParaRPr>
              </a:p>
            </p:txBody>
          </p:sp>
          <p:sp>
            <p:nvSpPr>
              <p:cNvPr id="34881" name="Oval 35"/>
              <p:cNvSpPr>
                <a:spLocks noChangeArrowheads="1"/>
              </p:cNvSpPr>
              <p:nvPr/>
            </p:nvSpPr>
            <p:spPr bwMode="auto">
              <a:xfrm>
                <a:off x="5550387" y="5319406"/>
                <a:ext cx="386614" cy="449039"/>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882" name="Text Box 36"/>
              <p:cNvSpPr txBox="1">
                <a:spLocks noChangeArrowheads="1"/>
              </p:cNvSpPr>
              <p:nvPr/>
            </p:nvSpPr>
            <p:spPr bwMode="auto">
              <a:xfrm>
                <a:off x="5643422" y="5395046"/>
                <a:ext cx="234656" cy="24853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38</a:t>
                </a:r>
                <a:endParaRPr lang="zh-CN" altLang="zh-CN" sz="1600" b="1">
                  <a:latin typeface="Arial" pitchFamily="34" charset="0"/>
                </a:endParaRPr>
              </a:p>
            </p:txBody>
          </p:sp>
          <p:sp>
            <p:nvSpPr>
              <p:cNvPr id="34883" name="Line 37"/>
              <p:cNvSpPr>
                <a:spLocks noChangeShapeType="1"/>
              </p:cNvSpPr>
              <p:nvPr/>
            </p:nvSpPr>
            <p:spPr bwMode="auto">
              <a:xfrm>
                <a:off x="5580365" y="4330079"/>
                <a:ext cx="304950" cy="2581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84" name="Line 38"/>
              <p:cNvSpPr>
                <a:spLocks noChangeShapeType="1"/>
              </p:cNvSpPr>
              <p:nvPr/>
            </p:nvSpPr>
            <p:spPr bwMode="auto">
              <a:xfrm flipH="1">
                <a:off x="4696527" y="4944806"/>
                <a:ext cx="129216" cy="3950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85" name="Line 39"/>
              <p:cNvSpPr>
                <a:spLocks noChangeShapeType="1"/>
              </p:cNvSpPr>
              <p:nvPr/>
            </p:nvSpPr>
            <p:spPr bwMode="auto">
              <a:xfrm>
                <a:off x="5004431" y="4875770"/>
                <a:ext cx="131431" cy="4820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86" name="Line 40"/>
              <p:cNvSpPr>
                <a:spLocks noChangeShapeType="1"/>
              </p:cNvSpPr>
              <p:nvPr/>
            </p:nvSpPr>
            <p:spPr bwMode="auto">
              <a:xfrm flipH="1">
                <a:off x="5812954" y="4926797"/>
                <a:ext cx="129216" cy="3950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131" name="组合 130"/>
          <p:cNvGrpSpPr>
            <a:grpSpLocks/>
          </p:cNvGrpSpPr>
          <p:nvPr/>
        </p:nvGrpSpPr>
        <p:grpSpPr bwMode="auto">
          <a:xfrm>
            <a:off x="6646863" y="3929063"/>
            <a:ext cx="1782762" cy="1857375"/>
            <a:chOff x="6647505" y="3929066"/>
            <a:chExt cx="1782147" cy="1857388"/>
          </a:xfrm>
        </p:grpSpPr>
        <p:sp>
          <p:nvSpPr>
            <p:cNvPr id="34859" name="Line 41"/>
            <p:cNvSpPr>
              <a:spLocks noChangeShapeType="1"/>
            </p:cNvSpPr>
            <p:nvPr/>
          </p:nvSpPr>
          <p:spPr bwMode="auto">
            <a:xfrm flipH="1">
              <a:off x="7221224" y="4316872"/>
              <a:ext cx="304950" cy="2581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60" name="Oval 42"/>
            <p:cNvSpPr>
              <a:spLocks noChangeArrowheads="1"/>
            </p:cNvSpPr>
            <p:nvPr/>
          </p:nvSpPr>
          <p:spPr bwMode="auto">
            <a:xfrm>
              <a:off x="7456914" y="3929066"/>
              <a:ext cx="386614" cy="449039"/>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861" name="Text Box 43"/>
            <p:cNvSpPr txBox="1">
              <a:spLocks noChangeArrowheads="1"/>
            </p:cNvSpPr>
            <p:nvPr/>
          </p:nvSpPr>
          <p:spPr bwMode="auto">
            <a:xfrm>
              <a:off x="7549949" y="4004706"/>
              <a:ext cx="234656" cy="24853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37</a:t>
              </a:r>
              <a:endParaRPr lang="zh-CN" altLang="zh-CN" sz="1600" b="1">
                <a:latin typeface="Arial" pitchFamily="34" charset="0"/>
              </a:endParaRPr>
            </a:p>
          </p:txBody>
        </p:sp>
        <p:sp>
          <p:nvSpPr>
            <p:cNvPr id="34862" name="Oval 44"/>
            <p:cNvSpPr>
              <a:spLocks noChangeArrowheads="1"/>
            </p:cNvSpPr>
            <p:nvPr/>
          </p:nvSpPr>
          <p:spPr bwMode="auto">
            <a:xfrm>
              <a:off x="6912139" y="4494567"/>
              <a:ext cx="386614" cy="449039"/>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863" name="Text Box 45"/>
            <p:cNvSpPr txBox="1">
              <a:spLocks noChangeArrowheads="1"/>
            </p:cNvSpPr>
            <p:nvPr/>
          </p:nvSpPr>
          <p:spPr bwMode="auto">
            <a:xfrm>
              <a:off x="6989669" y="4588217"/>
              <a:ext cx="234656" cy="24853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19</a:t>
              </a:r>
              <a:endParaRPr lang="zh-CN" altLang="zh-CN" sz="1600" b="1">
                <a:latin typeface="Arial" pitchFamily="34" charset="0"/>
              </a:endParaRPr>
            </a:p>
          </p:txBody>
        </p:sp>
        <p:sp>
          <p:nvSpPr>
            <p:cNvPr id="34864" name="Oval 46"/>
            <p:cNvSpPr>
              <a:spLocks noChangeArrowheads="1"/>
            </p:cNvSpPr>
            <p:nvPr/>
          </p:nvSpPr>
          <p:spPr bwMode="auto">
            <a:xfrm>
              <a:off x="8043038" y="4512576"/>
              <a:ext cx="386614" cy="449039"/>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865" name="Text Box 47"/>
            <p:cNvSpPr txBox="1">
              <a:spLocks noChangeArrowheads="1"/>
            </p:cNvSpPr>
            <p:nvPr/>
          </p:nvSpPr>
          <p:spPr bwMode="auto">
            <a:xfrm>
              <a:off x="8136073" y="4606226"/>
              <a:ext cx="234656" cy="24853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30</a:t>
              </a:r>
              <a:endParaRPr lang="zh-CN" altLang="zh-CN" sz="1600" b="1">
                <a:latin typeface="Arial" pitchFamily="34" charset="0"/>
              </a:endParaRPr>
            </a:p>
          </p:txBody>
        </p:sp>
        <p:sp>
          <p:nvSpPr>
            <p:cNvPr id="34866" name="Oval 48"/>
            <p:cNvSpPr>
              <a:spLocks noChangeArrowheads="1"/>
            </p:cNvSpPr>
            <p:nvPr/>
          </p:nvSpPr>
          <p:spPr bwMode="auto">
            <a:xfrm>
              <a:off x="6647505" y="5337415"/>
              <a:ext cx="386614" cy="449039"/>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867" name="Text Box 49"/>
            <p:cNvSpPr txBox="1">
              <a:spLocks noChangeArrowheads="1"/>
            </p:cNvSpPr>
            <p:nvPr/>
          </p:nvSpPr>
          <p:spPr bwMode="auto">
            <a:xfrm>
              <a:off x="6725034" y="5431065"/>
              <a:ext cx="234656" cy="24853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33</a:t>
              </a:r>
              <a:endParaRPr lang="zh-CN" altLang="zh-CN" sz="1600" b="1">
                <a:latin typeface="Arial" pitchFamily="34" charset="0"/>
              </a:endParaRPr>
            </a:p>
          </p:txBody>
        </p:sp>
        <p:sp>
          <p:nvSpPr>
            <p:cNvPr id="34868" name="Line 50"/>
            <p:cNvSpPr>
              <a:spLocks noChangeShapeType="1"/>
            </p:cNvSpPr>
            <p:nvPr/>
          </p:nvSpPr>
          <p:spPr bwMode="auto">
            <a:xfrm>
              <a:off x="7794943" y="4330079"/>
              <a:ext cx="304950" cy="2581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69" name="Line 51"/>
            <p:cNvSpPr>
              <a:spLocks noChangeShapeType="1"/>
            </p:cNvSpPr>
            <p:nvPr/>
          </p:nvSpPr>
          <p:spPr bwMode="auto">
            <a:xfrm flipH="1">
              <a:off x="6911105" y="4944806"/>
              <a:ext cx="129216" cy="3950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0" name="矩形 109"/>
          <p:cNvSpPr>
            <a:spLocks noChangeArrowheads="1"/>
          </p:cNvSpPr>
          <p:nvPr/>
        </p:nvSpPr>
        <p:spPr bwMode="auto">
          <a:xfrm>
            <a:off x="642938" y="3357563"/>
            <a:ext cx="40005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zh-CN" sz="2000" b="1">
                <a:latin typeface="Times New Roman" pitchFamily="18" charset="0"/>
              </a:rPr>
              <a:t>【</a:t>
            </a:r>
            <a:r>
              <a:rPr lang="zh-CN" altLang="en-US" sz="2000" b="1">
                <a:latin typeface="Times New Roman" pitchFamily="18" charset="0"/>
              </a:rPr>
              <a:t>例</a:t>
            </a:r>
            <a:r>
              <a:rPr lang="en-US" altLang="zh-CN" sz="2000" b="1">
                <a:latin typeface="Times New Roman" pitchFamily="18" charset="0"/>
              </a:rPr>
              <a:t>】</a:t>
            </a:r>
            <a:r>
              <a:rPr lang="zh-CN" altLang="en-US" sz="2000" b="1">
                <a:solidFill>
                  <a:srgbClr val="0000FF"/>
                </a:solidFill>
                <a:latin typeface="Times New Roman" pitchFamily="18" charset="0"/>
              </a:rPr>
              <a:t>不是堆</a:t>
            </a:r>
          </a:p>
        </p:txBody>
      </p:sp>
      <p:grpSp>
        <p:nvGrpSpPr>
          <p:cNvPr id="122" name="组合 121"/>
          <p:cNvGrpSpPr>
            <a:grpSpLocks/>
          </p:cNvGrpSpPr>
          <p:nvPr/>
        </p:nvGrpSpPr>
        <p:grpSpPr bwMode="auto">
          <a:xfrm>
            <a:off x="3000375" y="4071938"/>
            <a:ext cx="865188" cy="1255712"/>
            <a:chOff x="3000364" y="4071942"/>
            <a:chExt cx="864935" cy="1255868"/>
          </a:xfrm>
        </p:grpSpPr>
        <p:sp>
          <p:nvSpPr>
            <p:cNvPr id="34854" name="Oval 19"/>
            <p:cNvSpPr>
              <a:spLocks noChangeArrowheads="1"/>
            </p:cNvSpPr>
            <p:nvPr/>
          </p:nvSpPr>
          <p:spPr bwMode="auto">
            <a:xfrm>
              <a:off x="3000364" y="4071942"/>
              <a:ext cx="386614" cy="449039"/>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855" name="Oval 21"/>
            <p:cNvSpPr>
              <a:spLocks noChangeArrowheads="1"/>
            </p:cNvSpPr>
            <p:nvPr/>
          </p:nvSpPr>
          <p:spPr bwMode="auto">
            <a:xfrm>
              <a:off x="3478685" y="4878771"/>
              <a:ext cx="386614" cy="449039"/>
            </a:xfrm>
            <a:prstGeom prst="ellipse">
              <a:avLst/>
            </a:prstGeom>
            <a:solidFill>
              <a:srgbClr val="FFFFFF"/>
            </a:solidFill>
            <a:ln w="9525">
              <a:solidFill>
                <a:srgbClr val="000000"/>
              </a:solidFill>
              <a:round/>
              <a:headEnd/>
              <a:tailEnd/>
            </a:ln>
          </p:spPr>
          <p:txBody>
            <a:bodyPr/>
            <a:lstStyle/>
            <a:p>
              <a:endParaRPr lang="zh-CN" altLang="en-US" sz="1600" b="1">
                <a:latin typeface="Times New Roman" pitchFamily="18" charset="0"/>
              </a:endParaRPr>
            </a:p>
          </p:txBody>
        </p:sp>
        <p:sp>
          <p:nvSpPr>
            <p:cNvPr id="34856" name="Line 23"/>
            <p:cNvSpPr>
              <a:spLocks noChangeShapeType="1"/>
            </p:cNvSpPr>
            <p:nvPr/>
          </p:nvSpPr>
          <p:spPr bwMode="auto">
            <a:xfrm>
              <a:off x="3293795" y="4500570"/>
              <a:ext cx="285751" cy="4286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57" name="Text Box 20"/>
            <p:cNvSpPr txBox="1">
              <a:spLocks noChangeArrowheads="1"/>
            </p:cNvSpPr>
            <p:nvPr/>
          </p:nvSpPr>
          <p:spPr bwMode="auto">
            <a:xfrm>
              <a:off x="3087308" y="4159589"/>
              <a:ext cx="234656" cy="24853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21</a:t>
              </a:r>
              <a:endParaRPr lang="zh-CN" altLang="zh-CN" sz="1600" b="1">
                <a:latin typeface="Arial" pitchFamily="34" charset="0"/>
              </a:endParaRPr>
            </a:p>
          </p:txBody>
        </p:sp>
        <p:sp>
          <p:nvSpPr>
            <p:cNvPr id="34858" name="Text Box 22"/>
            <p:cNvSpPr txBox="1">
              <a:spLocks noChangeArrowheads="1"/>
            </p:cNvSpPr>
            <p:nvPr/>
          </p:nvSpPr>
          <p:spPr bwMode="auto">
            <a:xfrm>
              <a:off x="3550123" y="4966418"/>
              <a:ext cx="234656" cy="24853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600" b="1">
                  <a:latin typeface="Arial" pitchFamily="34" charset="0"/>
                </a:rPr>
                <a:t>10</a:t>
              </a:r>
              <a:endParaRPr lang="zh-CN" altLang="zh-CN" sz="1600" b="1">
                <a:latin typeface="Arial" pitchFamily="34" charset="0"/>
              </a:endParaRPr>
            </a:p>
          </p:txBody>
        </p:sp>
      </p:grpSp>
      <p:grpSp>
        <p:nvGrpSpPr>
          <p:cNvPr id="116" name="Group 35"/>
          <p:cNvGrpSpPr>
            <a:grpSpLocks/>
          </p:cNvGrpSpPr>
          <p:nvPr/>
        </p:nvGrpSpPr>
        <p:grpSpPr bwMode="auto">
          <a:xfrm>
            <a:off x="928688" y="5072063"/>
            <a:ext cx="457200" cy="409575"/>
            <a:chOff x="1680" y="3744"/>
            <a:chExt cx="288" cy="258"/>
          </a:xfrm>
        </p:grpSpPr>
        <p:sp>
          <p:nvSpPr>
            <p:cNvPr id="34850" name="AutoShape 36"/>
            <p:cNvSpPr>
              <a:spLocks noChangeArrowheads="1"/>
            </p:cNvSpPr>
            <p:nvPr/>
          </p:nvSpPr>
          <p:spPr bwMode="auto">
            <a:xfrm>
              <a:off x="1731" y="3768"/>
              <a:ext cx="226" cy="234"/>
            </a:xfrm>
            <a:prstGeom prst="roundRect">
              <a:avLst>
                <a:gd name="adj" fmla="val 12102"/>
              </a:avLst>
            </a:prstGeom>
            <a:noFill/>
            <a:ln w="952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latin typeface="Times New Roman" pitchFamily="18" charset="0"/>
              </a:endParaRPr>
            </a:p>
          </p:txBody>
        </p:sp>
        <p:grpSp>
          <p:nvGrpSpPr>
            <p:cNvPr id="34851" name="Group 37"/>
            <p:cNvGrpSpPr>
              <a:grpSpLocks/>
            </p:cNvGrpSpPr>
            <p:nvPr/>
          </p:nvGrpSpPr>
          <p:grpSpPr bwMode="auto">
            <a:xfrm rot="16200000" flipH="1">
              <a:off x="1704" y="3720"/>
              <a:ext cx="240" cy="288"/>
              <a:chOff x="1728" y="3696"/>
              <a:chExt cx="288" cy="288"/>
            </a:xfrm>
          </p:grpSpPr>
          <p:sp>
            <p:nvSpPr>
              <p:cNvPr id="34852" name="Line 38"/>
              <p:cNvSpPr>
                <a:spLocks noChangeShapeType="1"/>
              </p:cNvSpPr>
              <p:nvPr/>
            </p:nvSpPr>
            <p:spPr bwMode="auto">
              <a:xfrm>
                <a:off x="1728" y="3744"/>
                <a:ext cx="192" cy="240"/>
              </a:xfrm>
              <a:prstGeom prst="line">
                <a:avLst/>
              </a:prstGeom>
              <a:noFill/>
              <a:ln w="1016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4853" name="Line 39"/>
              <p:cNvSpPr>
                <a:spLocks noChangeShapeType="1"/>
              </p:cNvSpPr>
              <p:nvPr/>
            </p:nvSpPr>
            <p:spPr bwMode="auto">
              <a:xfrm flipH="1">
                <a:off x="1728" y="3696"/>
                <a:ext cx="288" cy="240"/>
              </a:xfrm>
              <a:prstGeom prst="line">
                <a:avLst/>
              </a:prstGeom>
              <a:noFill/>
              <a:ln w="1016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grpSp>
        <p:nvGrpSpPr>
          <p:cNvPr id="123" name="Group 35"/>
          <p:cNvGrpSpPr>
            <a:grpSpLocks/>
          </p:cNvGrpSpPr>
          <p:nvPr/>
        </p:nvGrpSpPr>
        <p:grpSpPr bwMode="auto">
          <a:xfrm>
            <a:off x="2714625" y="4714875"/>
            <a:ext cx="457200" cy="409575"/>
            <a:chOff x="1680" y="3744"/>
            <a:chExt cx="288" cy="258"/>
          </a:xfrm>
        </p:grpSpPr>
        <p:sp>
          <p:nvSpPr>
            <p:cNvPr id="34846" name="AutoShape 36"/>
            <p:cNvSpPr>
              <a:spLocks noChangeArrowheads="1"/>
            </p:cNvSpPr>
            <p:nvPr/>
          </p:nvSpPr>
          <p:spPr bwMode="auto">
            <a:xfrm>
              <a:off x="1731" y="3768"/>
              <a:ext cx="226" cy="234"/>
            </a:xfrm>
            <a:prstGeom prst="roundRect">
              <a:avLst>
                <a:gd name="adj" fmla="val 12102"/>
              </a:avLst>
            </a:prstGeom>
            <a:noFill/>
            <a:ln w="952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latin typeface="Times New Roman" pitchFamily="18" charset="0"/>
              </a:endParaRPr>
            </a:p>
          </p:txBody>
        </p:sp>
        <p:grpSp>
          <p:nvGrpSpPr>
            <p:cNvPr id="34847" name="Group 37"/>
            <p:cNvGrpSpPr>
              <a:grpSpLocks/>
            </p:cNvGrpSpPr>
            <p:nvPr/>
          </p:nvGrpSpPr>
          <p:grpSpPr bwMode="auto">
            <a:xfrm rot="16200000" flipH="1">
              <a:off x="1704" y="3720"/>
              <a:ext cx="240" cy="288"/>
              <a:chOff x="1728" y="3696"/>
              <a:chExt cx="288" cy="288"/>
            </a:xfrm>
          </p:grpSpPr>
          <p:sp>
            <p:nvSpPr>
              <p:cNvPr id="34848" name="Line 38"/>
              <p:cNvSpPr>
                <a:spLocks noChangeShapeType="1"/>
              </p:cNvSpPr>
              <p:nvPr/>
            </p:nvSpPr>
            <p:spPr bwMode="auto">
              <a:xfrm>
                <a:off x="1728" y="3744"/>
                <a:ext cx="192" cy="240"/>
              </a:xfrm>
              <a:prstGeom prst="line">
                <a:avLst/>
              </a:prstGeom>
              <a:noFill/>
              <a:ln w="1016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4849" name="Line 39"/>
              <p:cNvSpPr>
                <a:spLocks noChangeShapeType="1"/>
              </p:cNvSpPr>
              <p:nvPr/>
            </p:nvSpPr>
            <p:spPr bwMode="auto">
              <a:xfrm flipH="1">
                <a:off x="1728" y="3696"/>
                <a:ext cx="288" cy="240"/>
              </a:xfrm>
              <a:prstGeom prst="line">
                <a:avLst/>
              </a:prstGeom>
              <a:noFill/>
              <a:ln w="1016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32" name="Oval 25"/>
          <p:cNvSpPr>
            <a:spLocks noChangeArrowheads="1"/>
          </p:cNvSpPr>
          <p:nvPr/>
        </p:nvSpPr>
        <p:spPr bwMode="auto">
          <a:xfrm>
            <a:off x="5214938" y="3929063"/>
            <a:ext cx="387350" cy="449262"/>
          </a:xfrm>
          <a:prstGeom prst="ellipse">
            <a:avLst/>
          </a:prstGeom>
          <a:solidFill>
            <a:schemeClr val="accent6">
              <a:lumMod val="40000"/>
              <a:lumOff val="60000"/>
              <a:alpha val="39000"/>
            </a:schemeClr>
          </a:solidFill>
          <a:ln w="9525">
            <a:solidFill>
              <a:srgbClr val="000000"/>
            </a:solidFill>
            <a:round/>
            <a:headEnd/>
            <a:tailEnd/>
          </a:ln>
        </p:spPr>
        <p:txBody>
          <a:bodyPr/>
          <a:lstStyle/>
          <a:p>
            <a:pPr fontAlgn="auto">
              <a:spcBef>
                <a:spcPts val="0"/>
              </a:spcBef>
              <a:spcAft>
                <a:spcPts val="0"/>
              </a:spcAft>
              <a:defRPr/>
            </a:pPr>
            <a:endParaRPr lang="zh-CN" altLang="en-US" sz="1600" b="1">
              <a:latin typeface="+mn-lt"/>
              <a:ea typeface="+mn-ea"/>
            </a:endParaRPr>
          </a:p>
        </p:txBody>
      </p:sp>
      <p:sp>
        <p:nvSpPr>
          <p:cNvPr id="133" name="Oval 25"/>
          <p:cNvSpPr>
            <a:spLocks noChangeArrowheads="1"/>
          </p:cNvSpPr>
          <p:nvPr/>
        </p:nvSpPr>
        <p:spPr bwMode="auto">
          <a:xfrm>
            <a:off x="4684713" y="4479925"/>
            <a:ext cx="387350" cy="449263"/>
          </a:xfrm>
          <a:prstGeom prst="ellipse">
            <a:avLst/>
          </a:prstGeom>
          <a:solidFill>
            <a:schemeClr val="accent6">
              <a:lumMod val="40000"/>
              <a:lumOff val="60000"/>
              <a:alpha val="39000"/>
            </a:schemeClr>
          </a:solidFill>
          <a:ln w="9525">
            <a:solidFill>
              <a:srgbClr val="000000"/>
            </a:solidFill>
            <a:round/>
            <a:headEnd/>
            <a:tailEnd/>
          </a:ln>
        </p:spPr>
        <p:txBody>
          <a:bodyPr/>
          <a:lstStyle/>
          <a:p>
            <a:pPr fontAlgn="auto">
              <a:spcBef>
                <a:spcPts val="0"/>
              </a:spcBef>
              <a:spcAft>
                <a:spcPts val="0"/>
              </a:spcAft>
              <a:defRPr/>
            </a:pPr>
            <a:endParaRPr lang="zh-CN" altLang="en-US" sz="1600" b="1">
              <a:latin typeface="+mn-lt"/>
              <a:ea typeface="+mn-ea"/>
            </a:endParaRPr>
          </a:p>
        </p:txBody>
      </p:sp>
      <p:sp>
        <p:nvSpPr>
          <p:cNvPr id="134" name="Oval 25"/>
          <p:cNvSpPr>
            <a:spLocks noChangeArrowheads="1"/>
          </p:cNvSpPr>
          <p:nvPr/>
        </p:nvSpPr>
        <p:spPr bwMode="auto">
          <a:xfrm>
            <a:off x="5041900" y="5337175"/>
            <a:ext cx="387350" cy="449263"/>
          </a:xfrm>
          <a:prstGeom prst="ellipse">
            <a:avLst/>
          </a:prstGeom>
          <a:solidFill>
            <a:schemeClr val="accent6">
              <a:lumMod val="40000"/>
              <a:lumOff val="60000"/>
              <a:alpha val="39000"/>
            </a:schemeClr>
          </a:solidFill>
          <a:ln w="9525">
            <a:solidFill>
              <a:srgbClr val="000000"/>
            </a:solidFill>
            <a:round/>
            <a:headEnd/>
            <a:tailEnd/>
          </a:ln>
        </p:spPr>
        <p:txBody>
          <a:bodyPr/>
          <a:lstStyle/>
          <a:p>
            <a:pPr fontAlgn="auto">
              <a:spcBef>
                <a:spcPts val="0"/>
              </a:spcBef>
              <a:spcAft>
                <a:spcPts val="0"/>
              </a:spcAft>
              <a:defRPr/>
            </a:pPr>
            <a:endParaRPr lang="zh-CN" altLang="en-US" sz="1600" b="1">
              <a:latin typeface="+mn-lt"/>
              <a:ea typeface="+mn-ea"/>
            </a:endParaRPr>
          </a:p>
        </p:txBody>
      </p:sp>
      <p:grpSp>
        <p:nvGrpSpPr>
          <p:cNvPr id="135" name="Group 35"/>
          <p:cNvGrpSpPr>
            <a:grpSpLocks/>
          </p:cNvGrpSpPr>
          <p:nvPr/>
        </p:nvGrpSpPr>
        <p:grpSpPr bwMode="auto">
          <a:xfrm>
            <a:off x="5143500" y="4714875"/>
            <a:ext cx="457200" cy="409575"/>
            <a:chOff x="1680" y="3744"/>
            <a:chExt cx="288" cy="258"/>
          </a:xfrm>
        </p:grpSpPr>
        <p:sp>
          <p:nvSpPr>
            <p:cNvPr id="34842" name="AutoShape 36"/>
            <p:cNvSpPr>
              <a:spLocks noChangeArrowheads="1"/>
            </p:cNvSpPr>
            <p:nvPr/>
          </p:nvSpPr>
          <p:spPr bwMode="auto">
            <a:xfrm>
              <a:off x="1731" y="3768"/>
              <a:ext cx="226" cy="234"/>
            </a:xfrm>
            <a:prstGeom prst="roundRect">
              <a:avLst>
                <a:gd name="adj" fmla="val 12102"/>
              </a:avLst>
            </a:prstGeom>
            <a:noFill/>
            <a:ln w="952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latin typeface="Times New Roman" pitchFamily="18" charset="0"/>
              </a:endParaRPr>
            </a:p>
          </p:txBody>
        </p:sp>
        <p:grpSp>
          <p:nvGrpSpPr>
            <p:cNvPr id="34843" name="Group 37"/>
            <p:cNvGrpSpPr>
              <a:grpSpLocks/>
            </p:cNvGrpSpPr>
            <p:nvPr/>
          </p:nvGrpSpPr>
          <p:grpSpPr bwMode="auto">
            <a:xfrm rot="16200000" flipH="1">
              <a:off x="1704" y="3720"/>
              <a:ext cx="240" cy="288"/>
              <a:chOff x="1728" y="3696"/>
              <a:chExt cx="288" cy="288"/>
            </a:xfrm>
          </p:grpSpPr>
          <p:sp>
            <p:nvSpPr>
              <p:cNvPr id="34844" name="Line 38"/>
              <p:cNvSpPr>
                <a:spLocks noChangeShapeType="1"/>
              </p:cNvSpPr>
              <p:nvPr/>
            </p:nvSpPr>
            <p:spPr bwMode="auto">
              <a:xfrm>
                <a:off x="1728" y="3744"/>
                <a:ext cx="192" cy="240"/>
              </a:xfrm>
              <a:prstGeom prst="line">
                <a:avLst/>
              </a:prstGeom>
              <a:noFill/>
              <a:ln w="1016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4845" name="Line 39"/>
              <p:cNvSpPr>
                <a:spLocks noChangeShapeType="1"/>
              </p:cNvSpPr>
              <p:nvPr/>
            </p:nvSpPr>
            <p:spPr bwMode="auto">
              <a:xfrm flipH="1">
                <a:off x="1728" y="3696"/>
                <a:ext cx="288" cy="240"/>
              </a:xfrm>
              <a:prstGeom prst="line">
                <a:avLst/>
              </a:prstGeom>
              <a:noFill/>
              <a:ln w="1016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sp>
        <p:nvSpPr>
          <p:cNvPr id="140" name="Oval 25"/>
          <p:cNvSpPr>
            <a:spLocks noChangeArrowheads="1"/>
          </p:cNvSpPr>
          <p:nvPr/>
        </p:nvSpPr>
        <p:spPr bwMode="auto">
          <a:xfrm>
            <a:off x="7470775" y="3929063"/>
            <a:ext cx="387350" cy="449262"/>
          </a:xfrm>
          <a:prstGeom prst="ellipse">
            <a:avLst/>
          </a:prstGeom>
          <a:solidFill>
            <a:schemeClr val="accent6">
              <a:lumMod val="40000"/>
              <a:lumOff val="60000"/>
              <a:alpha val="39000"/>
            </a:schemeClr>
          </a:solidFill>
          <a:ln w="9525">
            <a:solidFill>
              <a:srgbClr val="000000"/>
            </a:solidFill>
            <a:round/>
            <a:headEnd/>
            <a:tailEnd/>
          </a:ln>
        </p:spPr>
        <p:txBody>
          <a:bodyPr/>
          <a:lstStyle/>
          <a:p>
            <a:pPr fontAlgn="auto">
              <a:spcBef>
                <a:spcPts val="0"/>
              </a:spcBef>
              <a:spcAft>
                <a:spcPts val="0"/>
              </a:spcAft>
              <a:defRPr/>
            </a:pPr>
            <a:endParaRPr lang="zh-CN" altLang="en-US" sz="1600" b="1">
              <a:latin typeface="+mn-lt"/>
              <a:ea typeface="+mn-ea"/>
            </a:endParaRPr>
          </a:p>
        </p:txBody>
      </p:sp>
      <p:sp>
        <p:nvSpPr>
          <p:cNvPr id="141" name="Oval 25"/>
          <p:cNvSpPr>
            <a:spLocks noChangeArrowheads="1"/>
          </p:cNvSpPr>
          <p:nvPr/>
        </p:nvSpPr>
        <p:spPr bwMode="auto">
          <a:xfrm>
            <a:off x="6899275" y="4500563"/>
            <a:ext cx="387350" cy="449262"/>
          </a:xfrm>
          <a:prstGeom prst="ellipse">
            <a:avLst/>
          </a:prstGeom>
          <a:solidFill>
            <a:schemeClr val="accent6">
              <a:lumMod val="40000"/>
              <a:lumOff val="60000"/>
              <a:alpha val="39000"/>
            </a:schemeClr>
          </a:solidFill>
          <a:ln w="9525">
            <a:solidFill>
              <a:srgbClr val="000000"/>
            </a:solidFill>
            <a:round/>
            <a:headEnd/>
            <a:tailEnd/>
          </a:ln>
        </p:spPr>
        <p:txBody>
          <a:bodyPr/>
          <a:lstStyle/>
          <a:p>
            <a:pPr fontAlgn="auto">
              <a:spcBef>
                <a:spcPts val="0"/>
              </a:spcBef>
              <a:spcAft>
                <a:spcPts val="0"/>
              </a:spcAft>
              <a:defRPr/>
            </a:pPr>
            <a:endParaRPr lang="zh-CN" altLang="en-US" sz="1600" b="1">
              <a:latin typeface="+mn-lt"/>
              <a:ea typeface="+mn-ea"/>
            </a:endParaRPr>
          </a:p>
        </p:txBody>
      </p:sp>
      <p:sp>
        <p:nvSpPr>
          <p:cNvPr id="142" name="Oval 25"/>
          <p:cNvSpPr>
            <a:spLocks noChangeArrowheads="1"/>
          </p:cNvSpPr>
          <p:nvPr/>
        </p:nvSpPr>
        <p:spPr bwMode="auto">
          <a:xfrm>
            <a:off x="6643688" y="5357813"/>
            <a:ext cx="387350" cy="449262"/>
          </a:xfrm>
          <a:prstGeom prst="ellipse">
            <a:avLst/>
          </a:prstGeom>
          <a:solidFill>
            <a:schemeClr val="accent6">
              <a:lumMod val="40000"/>
              <a:lumOff val="60000"/>
              <a:alpha val="39000"/>
            </a:schemeClr>
          </a:solidFill>
          <a:ln w="9525">
            <a:solidFill>
              <a:srgbClr val="000000"/>
            </a:solidFill>
            <a:round/>
            <a:headEnd/>
            <a:tailEnd/>
          </a:ln>
        </p:spPr>
        <p:txBody>
          <a:bodyPr/>
          <a:lstStyle/>
          <a:p>
            <a:pPr fontAlgn="auto">
              <a:spcBef>
                <a:spcPts val="0"/>
              </a:spcBef>
              <a:spcAft>
                <a:spcPts val="0"/>
              </a:spcAft>
              <a:defRPr/>
            </a:pPr>
            <a:endParaRPr lang="zh-CN" altLang="en-US" sz="1600" b="1">
              <a:latin typeface="+mn-lt"/>
              <a:ea typeface="+mn-ea"/>
            </a:endParaRPr>
          </a:p>
        </p:txBody>
      </p:sp>
      <p:grpSp>
        <p:nvGrpSpPr>
          <p:cNvPr id="143" name="Group 35"/>
          <p:cNvGrpSpPr>
            <a:grpSpLocks/>
          </p:cNvGrpSpPr>
          <p:nvPr/>
        </p:nvGrpSpPr>
        <p:grpSpPr bwMode="auto">
          <a:xfrm>
            <a:off x="7400925" y="4948238"/>
            <a:ext cx="457200" cy="409575"/>
            <a:chOff x="1680" y="3744"/>
            <a:chExt cx="288" cy="258"/>
          </a:xfrm>
        </p:grpSpPr>
        <p:sp>
          <p:nvSpPr>
            <p:cNvPr id="34838" name="AutoShape 36"/>
            <p:cNvSpPr>
              <a:spLocks noChangeArrowheads="1"/>
            </p:cNvSpPr>
            <p:nvPr/>
          </p:nvSpPr>
          <p:spPr bwMode="auto">
            <a:xfrm>
              <a:off x="1731" y="3768"/>
              <a:ext cx="226" cy="234"/>
            </a:xfrm>
            <a:prstGeom prst="roundRect">
              <a:avLst>
                <a:gd name="adj" fmla="val 12102"/>
              </a:avLst>
            </a:prstGeom>
            <a:noFill/>
            <a:ln w="9525">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latin typeface="Times New Roman" pitchFamily="18" charset="0"/>
              </a:endParaRPr>
            </a:p>
          </p:txBody>
        </p:sp>
        <p:grpSp>
          <p:nvGrpSpPr>
            <p:cNvPr id="34839" name="Group 37"/>
            <p:cNvGrpSpPr>
              <a:grpSpLocks/>
            </p:cNvGrpSpPr>
            <p:nvPr/>
          </p:nvGrpSpPr>
          <p:grpSpPr bwMode="auto">
            <a:xfrm rot="16200000" flipH="1">
              <a:off x="1704" y="3720"/>
              <a:ext cx="240" cy="288"/>
              <a:chOff x="1728" y="3696"/>
              <a:chExt cx="288" cy="288"/>
            </a:xfrm>
          </p:grpSpPr>
          <p:sp>
            <p:nvSpPr>
              <p:cNvPr id="34840" name="Line 38"/>
              <p:cNvSpPr>
                <a:spLocks noChangeShapeType="1"/>
              </p:cNvSpPr>
              <p:nvPr/>
            </p:nvSpPr>
            <p:spPr bwMode="auto">
              <a:xfrm>
                <a:off x="1728" y="3744"/>
                <a:ext cx="192" cy="240"/>
              </a:xfrm>
              <a:prstGeom prst="line">
                <a:avLst/>
              </a:prstGeom>
              <a:noFill/>
              <a:ln w="1016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4841" name="Line 39"/>
              <p:cNvSpPr>
                <a:spLocks noChangeShapeType="1"/>
              </p:cNvSpPr>
              <p:nvPr/>
            </p:nvSpPr>
            <p:spPr bwMode="auto">
              <a:xfrm flipH="1">
                <a:off x="1728" y="3696"/>
                <a:ext cx="288" cy="240"/>
              </a:xfrm>
              <a:prstGeom prst="line">
                <a:avLst/>
              </a:prstGeom>
              <a:noFill/>
              <a:ln w="1016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spTree>
    <p:extLst>
      <p:ext uri="{BB962C8B-B14F-4D97-AF65-F5344CB8AC3E}">
        <p14:creationId xmlns:p14="http://schemas.microsoft.com/office/powerpoint/2010/main" val="147595712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6145"/>
                                        </p:tgtEl>
                                        <p:attrNameLst>
                                          <p:attrName>style.visibility</p:attrName>
                                        </p:attrNameLst>
                                      </p:cBhvr>
                                      <p:to>
                                        <p:strVal val="visible"/>
                                      </p:to>
                                    </p:set>
                                    <p:animEffect transition="in" filter="wipe(left)">
                                      <p:cBhvr>
                                        <p:cTn id="7" dur="500"/>
                                        <p:tgtEl>
                                          <p:spTgt spid="614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10"/>
                                        </p:tgtEl>
                                        <p:attrNameLst>
                                          <p:attrName>style.visibility</p:attrName>
                                        </p:attrNameLst>
                                      </p:cBhvr>
                                      <p:to>
                                        <p:strVal val="visible"/>
                                      </p:to>
                                    </p:set>
                                    <p:animEffect transition="in" filter="wipe(down)">
                                      <p:cBhvr>
                                        <p:cTn id="12" dur="500"/>
                                        <p:tgtEl>
                                          <p:spTgt spid="11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121"/>
                                        </p:tgtEl>
                                        <p:attrNameLst>
                                          <p:attrName>style.visibility</p:attrName>
                                        </p:attrNameLst>
                                      </p:cBhvr>
                                      <p:to>
                                        <p:strVal val="visible"/>
                                      </p:to>
                                    </p:set>
                                    <p:animEffect transition="in" filter="wipe(up)">
                                      <p:cBhvr>
                                        <p:cTn id="17" dur="500"/>
                                        <p:tgtEl>
                                          <p:spTgt spid="12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nodeType="clickEffect">
                                  <p:stCondLst>
                                    <p:cond delay="0"/>
                                  </p:stCondLst>
                                  <p:childTnLst>
                                    <p:set>
                                      <p:cBhvr>
                                        <p:cTn id="21" dur="1" fill="hold">
                                          <p:stCondLst>
                                            <p:cond delay="499"/>
                                          </p:stCondLst>
                                        </p:cTn>
                                        <p:tgtEl>
                                          <p:spTgt spid="116"/>
                                        </p:tgtEl>
                                        <p:attrNameLst>
                                          <p:attrName>style.visibility</p:attrName>
                                        </p:attrNameLst>
                                      </p:cBhvr>
                                      <p:to>
                                        <p:strVal val="visible"/>
                                      </p:to>
                                    </p:set>
                                  </p:childTnLst>
                                  <p:subTnLst>
                                    <p:audio>
                                      <p:cMediaNode>
                                        <p:cTn display="0" masterRel="sameClick">
                                          <p:stCondLst>
                                            <p:cond evt="begin" delay="0">
                                              <p:tn val="20"/>
                                            </p:cond>
                                          </p:stCondLst>
                                          <p:endCondLst>
                                            <p:cond evt="onStopAudio" delay="0">
                                              <p:tgtEl>
                                                <p:sldTgt/>
                                              </p:tgtEl>
                                            </p:cond>
                                          </p:endCondLst>
                                        </p:cTn>
                                        <p:tgtEl>
                                          <p:sndTgt r:embed="rId2" name="GUNSHOT.WAV"/>
                                        </p:tgtEl>
                                      </p:cMediaNode>
                                    </p:audio>
                                  </p:sub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1" fill="hold" nodeType="clickEffect">
                                  <p:stCondLst>
                                    <p:cond delay="0"/>
                                  </p:stCondLst>
                                  <p:childTnLst>
                                    <p:set>
                                      <p:cBhvr>
                                        <p:cTn id="25" dur="1" fill="hold">
                                          <p:stCondLst>
                                            <p:cond delay="0"/>
                                          </p:stCondLst>
                                        </p:cTn>
                                        <p:tgtEl>
                                          <p:spTgt spid="122"/>
                                        </p:tgtEl>
                                        <p:attrNameLst>
                                          <p:attrName>style.visibility</p:attrName>
                                        </p:attrNameLst>
                                      </p:cBhvr>
                                      <p:to>
                                        <p:strVal val="visible"/>
                                      </p:to>
                                    </p:set>
                                    <p:animEffect transition="in" filter="wipe(up)">
                                      <p:cBhvr>
                                        <p:cTn id="26" dur="500"/>
                                        <p:tgtEl>
                                          <p:spTgt spid="122"/>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499"/>
                                          </p:stCondLst>
                                        </p:cTn>
                                        <p:tgtEl>
                                          <p:spTgt spid="123"/>
                                        </p:tgtEl>
                                        <p:attrNameLst>
                                          <p:attrName>style.visibility</p:attrName>
                                        </p:attrNameLst>
                                      </p:cBhvr>
                                      <p:to>
                                        <p:strVal val="visible"/>
                                      </p:to>
                                    </p:set>
                                  </p:childTnLst>
                                  <p:subTnLst>
                                    <p:audio>
                                      <p:cMediaNode>
                                        <p:cTn display="0" masterRel="sameClick">
                                          <p:stCondLst>
                                            <p:cond evt="begin" delay="0">
                                              <p:tn val="29"/>
                                            </p:cond>
                                          </p:stCondLst>
                                          <p:endCondLst>
                                            <p:cond evt="onStopAudio" delay="0">
                                              <p:tgtEl>
                                                <p:sldTgt/>
                                              </p:tgtEl>
                                            </p:cond>
                                          </p:endCondLst>
                                        </p:cTn>
                                        <p:tgtEl>
                                          <p:sndTgt r:embed="rId2" name="GUNSHOT.WAV"/>
                                        </p:tgtEl>
                                      </p:cMediaNode>
                                    </p:audio>
                                  </p:subTnLst>
                                </p:cTn>
                              </p:par>
                            </p:childTnLst>
                          </p:cTn>
                        </p:par>
                      </p:childTnLst>
                    </p:cTn>
                  </p:par>
                  <p:par>
                    <p:cTn id="31" fill="hold" nodeType="clickPar">
                      <p:stCondLst>
                        <p:cond delay="indefinite"/>
                      </p:stCondLst>
                      <p:childTnLst>
                        <p:par>
                          <p:cTn id="32" fill="hold" nodeType="withGroup">
                            <p:stCondLst>
                              <p:cond delay="0"/>
                            </p:stCondLst>
                            <p:childTnLst>
                              <p:par>
                                <p:cTn id="33" presetID="22" presetClass="entr" presetSubtype="1" fill="hold" nodeType="clickEffect">
                                  <p:stCondLst>
                                    <p:cond delay="0"/>
                                  </p:stCondLst>
                                  <p:childTnLst>
                                    <p:set>
                                      <p:cBhvr>
                                        <p:cTn id="34" dur="1" fill="hold">
                                          <p:stCondLst>
                                            <p:cond delay="0"/>
                                          </p:stCondLst>
                                        </p:cTn>
                                        <p:tgtEl>
                                          <p:spTgt spid="130"/>
                                        </p:tgtEl>
                                        <p:attrNameLst>
                                          <p:attrName>style.visibility</p:attrName>
                                        </p:attrNameLst>
                                      </p:cBhvr>
                                      <p:to>
                                        <p:strVal val="visible"/>
                                      </p:to>
                                    </p:set>
                                    <p:animEffect transition="in" filter="wipe(up)">
                                      <p:cBhvr>
                                        <p:cTn id="35" dur="500"/>
                                        <p:tgtEl>
                                          <p:spTgt spid="130"/>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8" presetClass="entr" presetSubtype="16" fill="hold" grpId="0" nodeType="clickEffect">
                                  <p:stCondLst>
                                    <p:cond delay="0"/>
                                  </p:stCondLst>
                                  <p:childTnLst>
                                    <p:set>
                                      <p:cBhvr>
                                        <p:cTn id="39" dur="1" fill="hold">
                                          <p:stCondLst>
                                            <p:cond delay="0"/>
                                          </p:stCondLst>
                                        </p:cTn>
                                        <p:tgtEl>
                                          <p:spTgt spid="132"/>
                                        </p:tgtEl>
                                        <p:attrNameLst>
                                          <p:attrName>style.visibility</p:attrName>
                                        </p:attrNameLst>
                                      </p:cBhvr>
                                      <p:to>
                                        <p:strVal val="visible"/>
                                      </p:to>
                                    </p:set>
                                    <p:animEffect transition="in" filter="diamond(in)">
                                      <p:cBhvr>
                                        <p:cTn id="40" dur="500"/>
                                        <p:tgtEl>
                                          <p:spTgt spid="132"/>
                                        </p:tgtEl>
                                      </p:cBhvr>
                                    </p:animEffect>
                                  </p:childTnLst>
                                </p:cTn>
                              </p:par>
                            </p:childTnLst>
                          </p:cTn>
                        </p:par>
                        <p:par>
                          <p:cTn id="41" fill="hold" nodeType="afterGroup">
                            <p:stCondLst>
                              <p:cond delay="500"/>
                            </p:stCondLst>
                            <p:childTnLst>
                              <p:par>
                                <p:cTn id="42" presetID="8" presetClass="entr" presetSubtype="16" fill="hold" grpId="0" nodeType="afterEffect">
                                  <p:stCondLst>
                                    <p:cond delay="0"/>
                                  </p:stCondLst>
                                  <p:childTnLst>
                                    <p:set>
                                      <p:cBhvr>
                                        <p:cTn id="43" dur="1" fill="hold">
                                          <p:stCondLst>
                                            <p:cond delay="0"/>
                                          </p:stCondLst>
                                        </p:cTn>
                                        <p:tgtEl>
                                          <p:spTgt spid="133"/>
                                        </p:tgtEl>
                                        <p:attrNameLst>
                                          <p:attrName>style.visibility</p:attrName>
                                        </p:attrNameLst>
                                      </p:cBhvr>
                                      <p:to>
                                        <p:strVal val="visible"/>
                                      </p:to>
                                    </p:set>
                                    <p:animEffect transition="in" filter="diamond(in)">
                                      <p:cBhvr>
                                        <p:cTn id="44" dur="500"/>
                                        <p:tgtEl>
                                          <p:spTgt spid="133"/>
                                        </p:tgtEl>
                                      </p:cBhvr>
                                    </p:animEffect>
                                  </p:childTnLst>
                                </p:cTn>
                              </p:par>
                            </p:childTnLst>
                          </p:cTn>
                        </p:par>
                        <p:par>
                          <p:cTn id="45" fill="hold" nodeType="afterGroup">
                            <p:stCondLst>
                              <p:cond delay="1000"/>
                            </p:stCondLst>
                            <p:childTnLst>
                              <p:par>
                                <p:cTn id="46" presetID="8" presetClass="entr" presetSubtype="16" fill="hold" grpId="0" nodeType="afterEffect">
                                  <p:stCondLst>
                                    <p:cond delay="0"/>
                                  </p:stCondLst>
                                  <p:childTnLst>
                                    <p:set>
                                      <p:cBhvr>
                                        <p:cTn id="47" dur="1" fill="hold">
                                          <p:stCondLst>
                                            <p:cond delay="0"/>
                                          </p:stCondLst>
                                        </p:cTn>
                                        <p:tgtEl>
                                          <p:spTgt spid="134"/>
                                        </p:tgtEl>
                                        <p:attrNameLst>
                                          <p:attrName>style.visibility</p:attrName>
                                        </p:attrNameLst>
                                      </p:cBhvr>
                                      <p:to>
                                        <p:strVal val="visible"/>
                                      </p:to>
                                    </p:set>
                                    <p:animEffect transition="in" filter="diamond(in)">
                                      <p:cBhvr>
                                        <p:cTn id="48" dur="500"/>
                                        <p:tgtEl>
                                          <p:spTgt spid="134"/>
                                        </p:tgtEl>
                                      </p:cBhvr>
                                    </p:animEffect>
                                  </p:childTnLst>
                                </p:cTn>
                              </p:par>
                            </p:childTnLst>
                          </p:cTn>
                        </p:par>
                        <p:par>
                          <p:cTn id="49" fill="hold" nodeType="afterGroup">
                            <p:stCondLst>
                              <p:cond delay="1500"/>
                            </p:stCondLst>
                            <p:childTnLst>
                              <p:par>
                                <p:cTn id="50" presetID="1" presetClass="entr" presetSubtype="0" fill="hold" nodeType="afterEffect">
                                  <p:stCondLst>
                                    <p:cond delay="0"/>
                                  </p:stCondLst>
                                  <p:childTnLst>
                                    <p:set>
                                      <p:cBhvr>
                                        <p:cTn id="51" dur="1" fill="hold">
                                          <p:stCondLst>
                                            <p:cond delay="499"/>
                                          </p:stCondLst>
                                        </p:cTn>
                                        <p:tgtEl>
                                          <p:spTgt spid="135"/>
                                        </p:tgtEl>
                                        <p:attrNameLst>
                                          <p:attrName>style.visibility</p:attrName>
                                        </p:attrNameLst>
                                      </p:cBhvr>
                                      <p:to>
                                        <p:strVal val="visible"/>
                                      </p:to>
                                    </p:set>
                                  </p:childTnLst>
                                  <p:subTnLst>
                                    <p:audio>
                                      <p:cMediaNode>
                                        <p:cTn display="0" masterRel="sameClick">
                                          <p:stCondLst>
                                            <p:cond evt="begin" delay="0">
                                              <p:tn val="50"/>
                                            </p:cond>
                                          </p:stCondLst>
                                          <p:endCondLst>
                                            <p:cond evt="onStopAudio" delay="0">
                                              <p:tgtEl>
                                                <p:sldTgt/>
                                              </p:tgtEl>
                                            </p:cond>
                                          </p:endCondLst>
                                        </p:cTn>
                                        <p:tgtEl>
                                          <p:sndTgt r:embed="rId2" name="GUNSHOT.WAV"/>
                                        </p:tgtEl>
                                      </p:cMediaNode>
                                    </p:audio>
                                  </p:subTnLst>
                                </p:cTn>
                              </p:par>
                            </p:childTnLst>
                          </p:cTn>
                        </p:par>
                      </p:childTnLst>
                    </p:cTn>
                  </p:par>
                  <p:par>
                    <p:cTn id="52" fill="hold" nodeType="clickPar">
                      <p:stCondLst>
                        <p:cond delay="indefinite"/>
                      </p:stCondLst>
                      <p:childTnLst>
                        <p:par>
                          <p:cTn id="53" fill="hold" nodeType="withGroup">
                            <p:stCondLst>
                              <p:cond delay="0"/>
                            </p:stCondLst>
                            <p:childTnLst>
                              <p:par>
                                <p:cTn id="54" presetID="22" presetClass="entr" presetSubtype="1" fill="hold" nodeType="clickEffect">
                                  <p:stCondLst>
                                    <p:cond delay="0"/>
                                  </p:stCondLst>
                                  <p:childTnLst>
                                    <p:set>
                                      <p:cBhvr>
                                        <p:cTn id="55" dur="1" fill="hold">
                                          <p:stCondLst>
                                            <p:cond delay="0"/>
                                          </p:stCondLst>
                                        </p:cTn>
                                        <p:tgtEl>
                                          <p:spTgt spid="131"/>
                                        </p:tgtEl>
                                        <p:attrNameLst>
                                          <p:attrName>style.visibility</p:attrName>
                                        </p:attrNameLst>
                                      </p:cBhvr>
                                      <p:to>
                                        <p:strVal val="visible"/>
                                      </p:to>
                                    </p:set>
                                    <p:animEffect transition="in" filter="wipe(up)">
                                      <p:cBhvr>
                                        <p:cTn id="56" dur="500"/>
                                        <p:tgtEl>
                                          <p:spTgt spid="131"/>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8" presetClass="entr" presetSubtype="16" fill="hold" grpId="0" nodeType="clickEffect">
                                  <p:stCondLst>
                                    <p:cond delay="0"/>
                                  </p:stCondLst>
                                  <p:childTnLst>
                                    <p:set>
                                      <p:cBhvr>
                                        <p:cTn id="60" dur="1" fill="hold">
                                          <p:stCondLst>
                                            <p:cond delay="0"/>
                                          </p:stCondLst>
                                        </p:cTn>
                                        <p:tgtEl>
                                          <p:spTgt spid="140"/>
                                        </p:tgtEl>
                                        <p:attrNameLst>
                                          <p:attrName>style.visibility</p:attrName>
                                        </p:attrNameLst>
                                      </p:cBhvr>
                                      <p:to>
                                        <p:strVal val="visible"/>
                                      </p:to>
                                    </p:set>
                                    <p:animEffect transition="in" filter="diamond(in)">
                                      <p:cBhvr>
                                        <p:cTn id="61" dur="500"/>
                                        <p:tgtEl>
                                          <p:spTgt spid="140"/>
                                        </p:tgtEl>
                                      </p:cBhvr>
                                    </p:animEffect>
                                  </p:childTnLst>
                                </p:cTn>
                              </p:par>
                            </p:childTnLst>
                          </p:cTn>
                        </p:par>
                        <p:par>
                          <p:cTn id="62" fill="hold" nodeType="afterGroup">
                            <p:stCondLst>
                              <p:cond delay="500"/>
                            </p:stCondLst>
                            <p:childTnLst>
                              <p:par>
                                <p:cTn id="63" presetID="8" presetClass="entr" presetSubtype="16" fill="hold" grpId="0" nodeType="afterEffect">
                                  <p:stCondLst>
                                    <p:cond delay="0"/>
                                  </p:stCondLst>
                                  <p:childTnLst>
                                    <p:set>
                                      <p:cBhvr>
                                        <p:cTn id="64" dur="1" fill="hold">
                                          <p:stCondLst>
                                            <p:cond delay="0"/>
                                          </p:stCondLst>
                                        </p:cTn>
                                        <p:tgtEl>
                                          <p:spTgt spid="141"/>
                                        </p:tgtEl>
                                        <p:attrNameLst>
                                          <p:attrName>style.visibility</p:attrName>
                                        </p:attrNameLst>
                                      </p:cBhvr>
                                      <p:to>
                                        <p:strVal val="visible"/>
                                      </p:to>
                                    </p:set>
                                    <p:animEffect transition="in" filter="diamond(in)">
                                      <p:cBhvr>
                                        <p:cTn id="65" dur="500"/>
                                        <p:tgtEl>
                                          <p:spTgt spid="141"/>
                                        </p:tgtEl>
                                      </p:cBhvr>
                                    </p:animEffect>
                                  </p:childTnLst>
                                </p:cTn>
                              </p:par>
                            </p:childTnLst>
                          </p:cTn>
                        </p:par>
                        <p:par>
                          <p:cTn id="66" fill="hold" nodeType="afterGroup">
                            <p:stCondLst>
                              <p:cond delay="1000"/>
                            </p:stCondLst>
                            <p:childTnLst>
                              <p:par>
                                <p:cTn id="67" presetID="8" presetClass="entr" presetSubtype="16" fill="hold" grpId="0" nodeType="afterEffect">
                                  <p:stCondLst>
                                    <p:cond delay="0"/>
                                  </p:stCondLst>
                                  <p:childTnLst>
                                    <p:set>
                                      <p:cBhvr>
                                        <p:cTn id="68" dur="1" fill="hold">
                                          <p:stCondLst>
                                            <p:cond delay="0"/>
                                          </p:stCondLst>
                                        </p:cTn>
                                        <p:tgtEl>
                                          <p:spTgt spid="142"/>
                                        </p:tgtEl>
                                        <p:attrNameLst>
                                          <p:attrName>style.visibility</p:attrName>
                                        </p:attrNameLst>
                                      </p:cBhvr>
                                      <p:to>
                                        <p:strVal val="visible"/>
                                      </p:to>
                                    </p:set>
                                    <p:animEffect transition="in" filter="diamond(in)">
                                      <p:cBhvr>
                                        <p:cTn id="69" dur="500"/>
                                        <p:tgtEl>
                                          <p:spTgt spid="142"/>
                                        </p:tgtEl>
                                      </p:cBhvr>
                                    </p:animEffect>
                                  </p:childTnLst>
                                </p:cTn>
                              </p:par>
                            </p:childTnLst>
                          </p:cTn>
                        </p:par>
                        <p:par>
                          <p:cTn id="70" fill="hold" nodeType="afterGroup">
                            <p:stCondLst>
                              <p:cond delay="1500"/>
                            </p:stCondLst>
                            <p:childTnLst>
                              <p:par>
                                <p:cTn id="71" presetID="1" presetClass="entr" presetSubtype="0" fill="hold" nodeType="afterEffect">
                                  <p:stCondLst>
                                    <p:cond delay="0"/>
                                  </p:stCondLst>
                                  <p:childTnLst>
                                    <p:set>
                                      <p:cBhvr>
                                        <p:cTn id="72" dur="1" fill="hold">
                                          <p:stCondLst>
                                            <p:cond delay="499"/>
                                          </p:stCondLst>
                                        </p:cTn>
                                        <p:tgtEl>
                                          <p:spTgt spid="143"/>
                                        </p:tgtEl>
                                        <p:attrNameLst>
                                          <p:attrName>style.visibility</p:attrName>
                                        </p:attrNameLst>
                                      </p:cBhvr>
                                      <p:to>
                                        <p:strVal val="visible"/>
                                      </p:to>
                                    </p:set>
                                  </p:childTnLst>
                                  <p:subTnLst>
                                    <p:audio>
                                      <p:cMediaNode>
                                        <p:cTn display="0" masterRel="sameClick">
                                          <p:stCondLst>
                                            <p:cond evt="begin" delay="0">
                                              <p:tn val="71"/>
                                            </p:cond>
                                          </p:stCondLst>
                                          <p:endCondLst>
                                            <p:cond evt="onStopAudio" delay="0">
                                              <p:tgtEl>
                                                <p:sldTgt/>
                                              </p:tgtEl>
                                            </p:cond>
                                          </p:endCondLst>
                                        </p:cTn>
                                        <p:tgtEl>
                                          <p:sndTgt r:embed="rId2" name="GUNSHOT.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P spid="132" grpId="0" animBg="1"/>
      <p:bldP spid="133" grpId="0" animBg="1"/>
      <p:bldP spid="134" grpId="0" animBg="1"/>
      <p:bldP spid="140" grpId="0" animBg="1"/>
      <p:bldP spid="141" grpId="0" animBg="1"/>
      <p:bldP spid="142"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灯片编号占位符 1"/>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fld id="{3D940A11-7143-46C0-B7C1-EEFFCC51104D}" type="slidenum">
              <a:rPr lang="en-US" altLang="zh-CN" smtClean="0">
                <a:solidFill>
                  <a:srgbClr val="000000"/>
                </a:solidFill>
                <a:latin typeface="Times New Roman" pitchFamily="18" charset="0"/>
              </a:rPr>
              <a:pPr/>
              <a:t>139</a:t>
            </a:fld>
            <a:endParaRPr lang="en-US" altLang="zh-CN" smtClean="0">
              <a:solidFill>
                <a:srgbClr val="000000"/>
              </a:solidFill>
              <a:latin typeface="Times New Roman" pitchFamily="18" charset="0"/>
            </a:endParaRPr>
          </a:p>
        </p:txBody>
      </p:sp>
      <p:sp>
        <p:nvSpPr>
          <p:cNvPr id="35843" name="TextBox 3"/>
          <p:cNvSpPr txBox="1">
            <a:spLocks noChangeArrowheads="1"/>
          </p:cNvSpPr>
          <p:nvPr>
            <p:custDataLst>
              <p:tags r:id="rId2"/>
            </p:custDataLst>
          </p:nvPr>
        </p:nvSpPr>
        <p:spPr bwMode="auto">
          <a:xfrm>
            <a:off x="323528" y="787400"/>
            <a:ext cx="8496622" cy="214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400" dirty="0"/>
              <a:t>下列关于大根堆（至少含 </a:t>
            </a:r>
            <a:r>
              <a:rPr lang="en-US" altLang="zh-CN" sz="2400" dirty="0"/>
              <a:t>2 </a:t>
            </a:r>
            <a:r>
              <a:rPr lang="zh-CN" altLang="en-US" sz="2400" dirty="0"/>
              <a:t>个元素）的叙述中，正确的是：</a:t>
            </a:r>
          </a:p>
          <a:p>
            <a:r>
              <a:rPr lang="en-US" altLang="zh-CN" sz="2400" dirty="0"/>
              <a:t>(I). </a:t>
            </a:r>
            <a:r>
              <a:rPr lang="zh-CN" altLang="en-US" sz="2400" dirty="0"/>
              <a:t>可以将堆看成一棵完全二叉树</a:t>
            </a:r>
          </a:p>
          <a:p>
            <a:r>
              <a:rPr lang="en-US" altLang="zh-CN" sz="2400" dirty="0"/>
              <a:t>(II). </a:t>
            </a:r>
            <a:r>
              <a:rPr lang="zh-CN" altLang="en-US" sz="2400" dirty="0"/>
              <a:t>可以采用顺序存储方式保存堆</a:t>
            </a:r>
          </a:p>
          <a:p>
            <a:r>
              <a:rPr lang="en-US" altLang="zh-CN" sz="2400" dirty="0"/>
              <a:t>(III). </a:t>
            </a:r>
            <a:r>
              <a:rPr lang="zh-CN" altLang="en-US" sz="2400" dirty="0"/>
              <a:t>可以将堆看成一棵二叉排序树</a:t>
            </a:r>
          </a:p>
          <a:p>
            <a:r>
              <a:rPr lang="en-US" altLang="zh-CN" sz="2400" dirty="0"/>
              <a:t>(IV). </a:t>
            </a:r>
            <a:r>
              <a:rPr lang="zh-CN" altLang="en-US" sz="2400" dirty="0"/>
              <a:t>堆中的次大值一定在根的下一层</a:t>
            </a:r>
          </a:p>
        </p:txBody>
      </p:sp>
      <p:sp>
        <p:nvSpPr>
          <p:cNvPr id="35844" name="TextBox 4"/>
          <p:cNvSpPr txBox="1">
            <a:spLocks noChangeArrowheads="1"/>
          </p:cNvSpPr>
          <p:nvPr>
            <p:custDataLst>
              <p:tags r:id="rId3"/>
            </p:custDataLst>
          </p:nvPr>
        </p:nvSpPr>
        <p:spPr bwMode="auto">
          <a:xfrm>
            <a:off x="1828800" y="2930525"/>
            <a:ext cx="6400800" cy="642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400"/>
              <a:t>仅 </a:t>
            </a:r>
            <a:r>
              <a:rPr lang="en-US" altLang="zh-CN" sz="2400"/>
              <a:t>I</a:t>
            </a:r>
            <a:r>
              <a:rPr lang="zh-CN" altLang="en-US" sz="2400"/>
              <a:t>、</a:t>
            </a:r>
            <a:r>
              <a:rPr lang="en-US" altLang="zh-CN" sz="2400"/>
              <a:t>II</a:t>
            </a:r>
            <a:endParaRPr lang="zh-CN" altLang="en-US" sz="2400">
              <a:solidFill>
                <a:srgbClr val="000000"/>
              </a:solidFill>
              <a:latin typeface="Microsoft Yahei" pitchFamily="34" charset="-122"/>
              <a:ea typeface="Microsoft Yahei" pitchFamily="34" charset="-122"/>
              <a:sym typeface="Microsoft Yahei" pitchFamily="34" charset="-122"/>
            </a:endParaRPr>
          </a:p>
        </p:txBody>
      </p:sp>
      <p:sp>
        <p:nvSpPr>
          <p:cNvPr id="35845" name="TextBox 5"/>
          <p:cNvSpPr txBox="1">
            <a:spLocks noChangeArrowheads="1"/>
          </p:cNvSpPr>
          <p:nvPr>
            <p:custDataLst>
              <p:tags r:id="rId4"/>
            </p:custDataLst>
          </p:nvPr>
        </p:nvSpPr>
        <p:spPr bwMode="auto">
          <a:xfrm>
            <a:off x="1828800" y="380841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400"/>
              <a:t>仅 </a:t>
            </a:r>
            <a:r>
              <a:rPr lang="en-US" altLang="zh-CN" sz="2400"/>
              <a:t>II</a:t>
            </a:r>
            <a:r>
              <a:rPr lang="zh-CN" altLang="en-US" sz="2400"/>
              <a:t>、</a:t>
            </a:r>
            <a:r>
              <a:rPr lang="en-US" altLang="zh-CN" sz="2400"/>
              <a:t>III</a:t>
            </a:r>
          </a:p>
        </p:txBody>
      </p:sp>
      <p:sp>
        <p:nvSpPr>
          <p:cNvPr id="35846" name="TextBox 6"/>
          <p:cNvSpPr txBox="1">
            <a:spLocks noChangeArrowheads="1"/>
          </p:cNvSpPr>
          <p:nvPr>
            <p:custDataLst>
              <p:tags r:id="rId5"/>
            </p:custDataLst>
          </p:nvPr>
        </p:nvSpPr>
        <p:spPr bwMode="auto">
          <a:xfrm>
            <a:off x="1828800" y="466566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400"/>
              <a:t>仅 </a:t>
            </a:r>
            <a:r>
              <a:rPr lang="en-US" altLang="zh-CN" sz="2400"/>
              <a:t>I</a:t>
            </a:r>
            <a:r>
              <a:rPr lang="zh-CN" altLang="en-US" sz="2400"/>
              <a:t>、</a:t>
            </a:r>
            <a:r>
              <a:rPr lang="en-US" altLang="zh-CN" sz="2400"/>
              <a:t>II</a:t>
            </a:r>
            <a:r>
              <a:rPr lang="zh-CN" altLang="en-US" sz="2400"/>
              <a:t>、</a:t>
            </a:r>
            <a:r>
              <a:rPr lang="en-US" altLang="zh-CN" sz="2400"/>
              <a:t>IV</a:t>
            </a:r>
            <a:endParaRPr lang="zh-CN" altLang="en-US" sz="2400">
              <a:solidFill>
                <a:srgbClr val="000000"/>
              </a:solidFill>
              <a:latin typeface="Microsoft Yahei" pitchFamily="34" charset="-122"/>
              <a:ea typeface="Microsoft Yahei" pitchFamily="34" charset="-122"/>
              <a:sym typeface="Microsoft Yahei" pitchFamily="34" charset="-122"/>
            </a:endParaRPr>
          </a:p>
        </p:txBody>
      </p:sp>
      <p:sp>
        <p:nvSpPr>
          <p:cNvPr id="35847" name="TextBox 7"/>
          <p:cNvSpPr txBox="1">
            <a:spLocks noChangeArrowheads="1"/>
          </p:cNvSpPr>
          <p:nvPr>
            <p:custDataLst>
              <p:tags r:id="rId6"/>
            </p:custDataLst>
          </p:nvPr>
        </p:nvSpPr>
        <p:spPr bwMode="auto">
          <a:xfrm>
            <a:off x="1828800" y="552291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400"/>
              <a:t>仅 </a:t>
            </a:r>
            <a:r>
              <a:rPr lang="en-US" altLang="zh-CN" sz="2400"/>
              <a:t>I</a:t>
            </a:r>
            <a:r>
              <a:rPr lang="zh-CN" altLang="en-US" sz="2400"/>
              <a:t>、</a:t>
            </a:r>
            <a:r>
              <a:rPr lang="en-US" altLang="zh-CN" sz="2400"/>
              <a:t>III</a:t>
            </a:r>
            <a:r>
              <a:rPr lang="zh-CN" altLang="en-US" sz="2400"/>
              <a:t>、</a:t>
            </a:r>
            <a:r>
              <a:rPr lang="en-US" altLang="zh-CN" sz="2400"/>
              <a:t>IV</a:t>
            </a:r>
          </a:p>
        </p:txBody>
      </p:sp>
      <p:sp>
        <p:nvSpPr>
          <p:cNvPr id="35848" name="椭圆 8"/>
          <p:cNvSpPr>
            <a:spLocks noChangeAspect="1"/>
          </p:cNvSpPr>
          <p:nvPr>
            <p:custDataLst>
              <p:tags r:id="rId7"/>
            </p:custDataLst>
          </p:nvPr>
        </p:nvSpPr>
        <p:spPr bwMode="auto">
          <a:xfrm>
            <a:off x="1114425" y="301466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A</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35849" name="椭圆 9"/>
          <p:cNvSpPr>
            <a:spLocks noChangeAspect="1"/>
          </p:cNvSpPr>
          <p:nvPr>
            <p:custDataLst>
              <p:tags r:id="rId8"/>
            </p:custDataLst>
          </p:nvPr>
        </p:nvSpPr>
        <p:spPr bwMode="auto">
          <a:xfrm>
            <a:off x="1114425" y="387191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B</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35850" name="椭圆 10"/>
          <p:cNvSpPr>
            <a:spLocks noChangeAspect="1"/>
          </p:cNvSpPr>
          <p:nvPr>
            <p:custDataLst>
              <p:tags r:id="rId9"/>
            </p:custDataLst>
          </p:nvPr>
        </p:nvSpPr>
        <p:spPr bwMode="auto">
          <a:xfrm>
            <a:off x="1114425" y="4729163"/>
            <a:ext cx="514350" cy="514350"/>
          </a:xfrm>
          <a:prstGeom prst="ellipse">
            <a:avLst/>
          </a:prstGeom>
          <a:solidFill>
            <a:srgbClr val="00FF00"/>
          </a:solidFill>
          <a:ln w="254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C</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35851" name="椭圆 11"/>
          <p:cNvSpPr>
            <a:spLocks noChangeAspect="1"/>
          </p:cNvSpPr>
          <p:nvPr>
            <p:custDataLst>
              <p:tags r:id="rId10"/>
            </p:custDataLst>
          </p:nvPr>
        </p:nvSpPr>
        <p:spPr bwMode="auto">
          <a:xfrm>
            <a:off x="1114425" y="558641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D</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35852" name="圆角矩形 12"/>
          <p:cNvSpPr>
            <a:spLocks noChangeArrowheads="1"/>
          </p:cNvSpPr>
          <p:nvPr>
            <p:custDataLst>
              <p:tags r:id="rId11"/>
            </p:custDataLst>
          </p:nvPr>
        </p:nvSpPr>
        <p:spPr bwMode="auto">
          <a:xfrm>
            <a:off x="6172200" y="6215063"/>
            <a:ext cx="1543050" cy="411162"/>
          </a:xfrm>
          <a:prstGeom prst="roundRect">
            <a:avLst>
              <a:gd name="adj" fmla="val 16667"/>
            </a:avLst>
          </a:prstGeom>
          <a:solidFill>
            <a:srgbClr val="808080"/>
          </a:solidFill>
          <a:ln w="38100" algn="ctr">
            <a:solidFill>
              <a:srgbClr val="000000"/>
            </a:solidFill>
            <a:round/>
            <a:headEnd/>
            <a:tailEnd/>
          </a:ln>
        </p:spPr>
        <p:txBody>
          <a:bodyPr anchor="ctr" anchorCtr="1"/>
          <a:lstStyle/>
          <a:p>
            <a:pPr eaLnBrk="1" hangingPunct="1"/>
            <a:r>
              <a:rPr kumimoji="1" lang="zh-CN" altLang="en-US" sz="1600">
                <a:solidFill>
                  <a:srgbClr val="FFFFFF"/>
                </a:solidFill>
                <a:latin typeface="Microsoft Yahei" pitchFamily="34" charset="-122"/>
                <a:ea typeface="Microsoft Yahei" pitchFamily="34" charset="-122"/>
                <a:sym typeface="Microsoft Yahei" pitchFamily="34" charset="-122"/>
              </a:rPr>
              <a:t>提交</a:t>
            </a:r>
          </a:p>
        </p:txBody>
      </p:sp>
      <p:grpSp>
        <p:nvGrpSpPr>
          <p:cNvPr id="35853" name="组合 17"/>
          <p:cNvGrpSpPr>
            <a:grpSpLocks/>
          </p:cNvGrpSpPr>
          <p:nvPr>
            <p:custDataLst>
              <p:tags r:id="rId12"/>
            </p:custDataLst>
          </p:nvPr>
        </p:nvGrpSpPr>
        <p:grpSpPr bwMode="auto">
          <a:xfrm>
            <a:off x="0" y="0"/>
            <a:ext cx="9144000" cy="635000"/>
            <a:chOff x="0" y="0"/>
            <a:chExt cx="9144000" cy="635000"/>
          </a:xfrm>
        </p:grpSpPr>
        <p:sp>
          <p:nvSpPr>
            <p:cNvPr id="35855" name="TitleBackground"/>
            <p:cNvSpPr>
              <a:spLocks noChangeArrowheads="1"/>
            </p:cNvSpPr>
            <p:nvPr>
              <p:custDataLst>
                <p:tags r:id="rId14"/>
              </p:custDataLst>
            </p:nvPr>
          </p:nvSpPr>
          <p:spPr bwMode="auto">
            <a:xfrm>
              <a:off x="0" y="0"/>
              <a:ext cx="9144000" cy="635000"/>
            </a:xfrm>
            <a:prstGeom prst="rect">
              <a:avLst/>
            </a:prstGeom>
            <a:solidFill>
              <a:srgbClr val="F6F7F8"/>
            </a:solidFill>
            <a:ln>
              <a:noFill/>
            </a:ln>
            <a:extLst>
              <a:ext uri="{91240B29-F687-4F45-9708-019B960494DF}">
                <a14:hiddenLine xmlns:a14="http://schemas.microsoft.com/office/drawing/2010/main" w="9525" algn="ctr">
                  <a:solidFill>
                    <a:schemeClr val="tx1"/>
                  </a:solidFill>
                  <a:round/>
                  <a:headEnd/>
                  <a:tailEnd/>
                </a14:hiddenLine>
              </a:ext>
            </a:extLst>
          </p:spPr>
          <p:txBody>
            <a:bodyPr/>
            <a:lstStyle/>
            <a:p>
              <a:pPr eaLnBrk="1" hangingPunct="1"/>
              <a:endParaRPr kumimoji="1" lang="zh-CN" altLang="en-US" sz="2400">
                <a:latin typeface="Times New Roman" pitchFamily="18" charset="0"/>
              </a:endParaRPr>
            </a:p>
          </p:txBody>
        </p:sp>
        <p:sp>
          <p:nvSpPr>
            <p:cNvPr id="35856" name="ColorBlock"/>
            <p:cNvSpPr>
              <a:spLocks noChangeArrowheads="1"/>
            </p:cNvSpPr>
            <p:nvPr>
              <p:custDataLst>
                <p:tags r:id="rId15"/>
              </p:custDataLst>
            </p:nvPr>
          </p:nvSpPr>
          <p:spPr bwMode="auto">
            <a:xfrm>
              <a:off x="0" y="0"/>
              <a:ext cx="190500" cy="635000"/>
            </a:xfrm>
            <a:prstGeom prst="rect">
              <a:avLst/>
            </a:prstGeom>
            <a:solidFill>
              <a:srgbClr val="639EF4"/>
            </a:solidFill>
            <a:ln>
              <a:noFill/>
            </a:ln>
            <a:extLst>
              <a:ext uri="{91240B29-F687-4F45-9708-019B960494DF}">
                <a14:hiddenLine xmlns:a14="http://schemas.microsoft.com/office/drawing/2010/main" w="9525" algn="ctr">
                  <a:solidFill>
                    <a:schemeClr val="tx1"/>
                  </a:solidFill>
                  <a:round/>
                  <a:headEnd/>
                  <a:tailEnd/>
                </a14:hiddenLine>
              </a:ext>
            </a:extLst>
          </p:spPr>
          <p:txBody>
            <a:bodyPr/>
            <a:lstStyle/>
            <a:p>
              <a:pPr eaLnBrk="1" hangingPunct="1"/>
              <a:endParaRPr kumimoji="1" lang="zh-CN" altLang="en-US" sz="2400">
                <a:latin typeface="Times New Roman" pitchFamily="18" charset="0"/>
              </a:endParaRPr>
            </a:p>
          </p:txBody>
        </p:sp>
        <p:sp>
          <p:nvSpPr>
            <p:cNvPr id="35857" name="TypeText"/>
            <p:cNvSpPr txBox="1">
              <a:spLocks noChangeArrowheads="1"/>
            </p:cNvSpPr>
            <p:nvPr>
              <p:custDataLst>
                <p:tags r:id="rId16"/>
              </p:custDataLst>
            </p:nvPr>
          </p:nvSpPr>
          <p:spPr bwMode="auto">
            <a:xfrm>
              <a:off x="254000" y="0"/>
              <a:ext cx="190500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600">
                  <a:solidFill>
                    <a:srgbClr val="000000"/>
                  </a:solidFill>
                  <a:latin typeface="Microsoft Yahei" pitchFamily="34" charset="-122"/>
                  <a:ea typeface="Microsoft Yahei" pitchFamily="34" charset="-122"/>
                  <a:sym typeface="Microsoft Yahei" pitchFamily="34" charset="-122"/>
                </a:rPr>
                <a:t>单选题</a:t>
              </a:r>
            </a:p>
          </p:txBody>
        </p:sp>
        <p:sp>
          <p:nvSpPr>
            <p:cNvPr id="35858" name="TipText"/>
            <p:cNvSpPr txBox="1">
              <a:spLocks noChangeArrowheads="1"/>
            </p:cNvSpPr>
            <p:nvPr>
              <p:custDataLst>
                <p:tags r:id="rId17"/>
              </p:custDataLst>
            </p:nvPr>
          </p:nvSpPr>
          <p:spPr bwMode="auto">
            <a:xfrm>
              <a:off x="1525905" y="109220"/>
              <a:ext cx="22860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000">
                  <a:solidFill>
                    <a:srgbClr val="808080"/>
                  </a:solidFill>
                  <a:latin typeface="Microsoft Yahei" pitchFamily="34" charset="-122"/>
                  <a:ea typeface="Microsoft Yahei" pitchFamily="34" charset="-122"/>
                  <a:sym typeface="Microsoft Yahei" pitchFamily="34" charset="-122"/>
                </a:rPr>
                <a:t>1</a:t>
              </a:r>
              <a:r>
                <a:rPr lang="zh-CN" altLang="en-US" sz="2000">
                  <a:solidFill>
                    <a:srgbClr val="808080"/>
                  </a:solidFill>
                  <a:latin typeface="Microsoft Yahei" pitchFamily="34" charset="-122"/>
                  <a:ea typeface="Microsoft Yahei" pitchFamily="34" charset="-122"/>
                  <a:sym typeface="Microsoft Yahei" pitchFamily="34" charset="-122"/>
                </a:rPr>
                <a:t>分</a:t>
              </a:r>
            </a:p>
          </p:txBody>
        </p:sp>
      </p:grpSp>
      <p:pic>
        <p:nvPicPr>
          <p:cNvPr id="35854" name="图片 2"/>
          <p:cNvPicPr>
            <a:picLocks/>
          </p:cNvPicPr>
          <p:nvPr>
            <p:custDataLst>
              <p:tags r:id="rId13"/>
            </p:custDataLst>
          </p:nvPr>
        </p:nvPicPr>
        <p:blipFill>
          <a:blip r:embed="rId19">
            <a:extLst>
              <a:ext uri="{28A0092B-C50C-407E-A947-70E740481C1C}">
                <a14:useLocalDpi xmlns:a14="http://schemas.microsoft.com/office/drawing/2010/main" val="0"/>
              </a:ext>
            </a:extLst>
          </a:blip>
          <a:srcRect/>
          <a:stretch>
            <a:fillRect/>
          </a:stretch>
        </p:blipFill>
        <p:spPr bwMode="auto">
          <a:xfrm>
            <a:off x="7594600" y="63500"/>
            <a:ext cx="14224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490232211"/>
      </p:ext>
    </p:extLst>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a:spLocks noChangeArrowheads="1"/>
          </p:cNvSpPr>
          <p:nvPr/>
        </p:nvSpPr>
        <p:spPr bwMode="auto">
          <a:xfrm>
            <a:off x="571500" y="928688"/>
            <a:ext cx="229552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3600" b="1">
                <a:solidFill>
                  <a:srgbClr val="0000FF"/>
                </a:solidFill>
                <a:latin typeface="Times New Roman" pitchFamily="18" charset="0"/>
                <a:sym typeface="Wingdings" pitchFamily="2" charset="2"/>
              </a:rPr>
              <a:t></a:t>
            </a:r>
            <a:r>
              <a:rPr lang="en-US" altLang="zh-CN" sz="2000" b="1">
                <a:solidFill>
                  <a:srgbClr val="0000FF"/>
                </a:solidFill>
                <a:latin typeface="Times New Roman" pitchFamily="18" charset="0"/>
                <a:sym typeface="Wingdings" pitchFamily="2" charset="2"/>
              </a:rPr>
              <a:t>  </a:t>
            </a:r>
            <a:r>
              <a:rPr lang="zh-CN" altLang="en-US" sz="2000" b="1">
                <a:latin typeface="Times New Roman" pitchFamily="18" charset="0"/>
              </a:rPr>
              <a:t>最大堆的</a:t>
            </a:r>
            <a:r>
              <a:rPr lang="zh-CN" altLang="en-US" sz="2000" b="1">
                <a:solidFill>
                  <a:srgbClr val="0000FF"/>
                </a:solidFill>
                <a:latin typeface="Times New Roman" pitchFamily="18" charset="0"/>
              </a:rPr>
              <a:t>创建</a:t>
            </a:r>
          </a:p>
        </p:txBody>
      </p:sp>
      <p:sp>
        <p:nvSpPr>
          <p:cNvPr id="6" name="矩形 5"/>
          <p:cNvSpPr/>
          <p:nvPr/>
        </p:nvSpPr>
        <p:spPr>
          <a:xfrm>
            <a:off x="642938" y="1500188"/>
            <a:ext cx="8215312" cy="1938992"/>
          </a:xfrm>
          <a:prstGeom prst="rect">
            <a:avLst/>
          </a:prstGeom>
        </p:spPr>
        <p:txBody>
          <a:bodyPr wrap="square">
            <a:spAutoFit/>
          </a:bodyPr>
          <a:lstStyle/>
          <a:p>
            <a:pPr fontAlgn="auto">
              <a:spcBef>
                <a:spcPts val="0"/>
              </a:spcBef>
              <a:spcAft>
                <a:spcPts val="0"/>
              </a:spcAft>
              <a:defRPr/>
            </a:pPr>
            <a:r>
              <a:rPr lang="en-US" altLang="zh-CN" sz="2000" b="1" dirty="0" err="1">
                <a:solidFill>
                  <a:srgbClr val="0000FF"/>
                </a:solidFill>
                <a:latin typeface="+mn-lt"/>
                <a:ea typeface="+mn-ea"/>
              </a:rPr>
              <a:t>typedef</a:t>
            </a:r>
            <a:r>
              <a:rPr lang="en-US" altLang="zh-CN" sz="2000" b="1" dirty="0">
                <a:latin typeface="+mn-lt"/>
                <a:ea typeface="+mn-ea"/>
              </a:rPr>
              <a:t>  </a:t>
            </a:r>
            <a:r>
              <a:rPr lang="en-US" altLang="zh-CN" sz="2000" b="1" dirty="0" err="1">
                <a:solidFill>
                  <a:srgbClr val="0000FF"/>
                </a:solidFill>
                <a:latin typeface="+mn-lt"/>
                <a:ea typeface="+mn-ea"/>
              </a:rPr>
              <a:t>struct</a:t>
            </a:r>
            <a:r>
              <a:rPr lang="en-US" altLang="zh-CN" sz="2000" b="1" dirty="0">
                <a:latin typeface="+mn-lt"/>
                <a:ea typeface="+mn-ea"/>
              </a:rPr>
              <a:t>  </a:t>
            </a:r>
            <a:r>
              <a:rPr lang="en-US" altLang="zh-CN" sz="2000" b="1" dirty="0" err="1">
                <a:latin typeface="+mn-lt"/>
                <a:ea typeface="+mn-ea"/>
              </a:rPr>
              <a:t>HeapStruct</a:t>
            </a:r>
            <a:r>
              <a:rPr lang="en-US" altLang="zh-CN" sz="2000" b="1" dirty="0">
                <a:latin typeface="+mn-lt"/>
                <a:ea typeface="+mn-ea"/>
              </a:rPr>
              <a:t>  *</a:t>
            </a:r>
            <a:r>
              <a:rPr lang="en-US" altLang="zh-CN" sz="2000" b="1" dirty="0" err="1">
                <a:latin typeface="+mn-lt"/>
                <a:ea typeface="+mn-ea"/>
              </a:rPr>
              <a:t>MaxHeap</a:t>
            </a:r>
            <a:r>
              <a:rPr lang="en-US" altLang="zh-CN" sz="2000" b="1" dirty="0">
                <a:latin typeface="+mn-lt"/>
                <a:ea typeface="+mn-ea"/>
              </a:rPr>
              <a:t>;</a:t>
            </a:r>
          </a:p>
          <a:p>
            <a:pPr fontAlgn="auto">
              <a:spcBef>
                <a:spcPts val="0"/>
              </a:spcBef>
              <a:spcAft>
                <a:spcPts val="0"/>
              </a:spcAft>
              <a:defRPr/>
            </a:pPr>
            <a:r>
              <a:rPr lang="en-US" altLang="zh-CN" sz="2000" b="1" dirty="0" err="1">
                <a:solidFill>
                  <a:srgbClr val="0000FF"/>
                </a:solidFill>
                <a:latin typeface="+mn-lt"/>
                <a:ea typeface="+mn-ea"/>
              </a:rPr>
              <a:t>struct</a:t>
            </a:r>
            <a:r>
              <a:rPr lang="en-US" altLang="zh-CN" sz="2000" b="1" dirty="0">
                <a:latin typeface="+mn-lt"/>
                <a:ea typeface="+mn-ea"/>
              </a:rPr>
              <a:t>  </a:t>
            </a:r>
            <a:r>
              <a:rPr lang="en-US" altLang="zh-CN" sz="2000" b="1" dirty="0" err="1">
                <a:latin typeface="+mn-lt"/>
                <a:ea typeface="+mn-ea"/>
              </a:rPr>
              <a:t>HeapStruct</a:t>
            </a:r>
            <a:r>
              <a:rPr lang="en-US" altLang="zh-CN" sz="2000" b="1" dirty="0">
                <a:latin typeface="+mn-lt"/>
                <a:ea typeface="+mn-ea"/>
              </a:rPr>
              <a:t> {</a:t>
            </a:r>
          </a:p>
          <a:p>
            <a:pPr fontAlgn="auto">
              <a:spcBef>
                <a:spcPts val="0"/>
              </a:spcBef>
              <a:spcAft>
                <a:spcPts val="0"/>
              </a:spcAft>
              <a:defRPr/>
            </a:pPr>
            <a:r>
              <a:rPr lang="en-US" altLang="zh-CN" sz="2000" b="1" dirty="0">
                <a:solidFill>
                  <a:srgbClr val="002060"/>
                </a:solidFill>
                <a:latin typeface="+mn-lt"/>
                <a:ea typeface="+mn-ea"/>
              </a:rPr>
              <a:t>	</a:t>
            </a:r>
            <a:r>
              <a:rPr lang="en-US" altLang="zh-CN" sz="2000" b="1" dirty="0" err="1">
                <a:latin typeface="+mn-lt"/>
                <a:ea typeface="+mn-ea"/>
              </a:rPr>
              <a:t>ElementType</a:t>
            </a:r>
            <a:r>
              <a:rPr lang="en-US" altLang="zh-CN" sz="2000" b="1" dirty="0">
                <a:latin typeface="+mn-lt"/>
                <a:ea typeface="+mn-ea"/>
              </a:rPr>
              <a:t> *Elements;  </a:t>
            </a:r>
            <a:r>
              <a:rPr lang="en-US" altLang="zh-CN" sz="2000" b="1" dirty="0">
                <a:solidFill>
                  <a:srgbClr val="002060"/>
                </a:solidFill>
                <a:latin typeface="+mn-lt"/>
                <a:ea typeface="+mn-ea"/>
              </a:rPr>
              <a:t>/* </a:t>
            </a:r>
            <a:r>
              <a:rPr lang="zh-CN" altLang="en-US" sz="2000" b="1" dirty="0">
                <a:solidFill>
                  <a:srgbClr val="002060"/>
                </a:solidFill>
                <a:latin typeface="+mn-lt"/>
                <a:ea typeface="+mn-ea"/>
              </a:rPr>
              <a:t>存储堆元素的数组 *</a:t>
            </a:r>
            <a:r>
              <a:rPr lang="en-US" altLang="zh-CN" sz="2000" b="1" dirty="0">
                <a:solidFill>
                  <a:srgbClr val="002060"/>
                </a:solidFill>
                <a:latin typeface="+mn-lt"/>
                <a:ea typeface="+mn-ea"/>
              </a:rPr>
              <a:t>/</a:t>
            </a:r>
          </a:p>
          <a:p>
            <a:pPr fontAlgn="auto">
              <a:spcBef>
                <a:spcPts val="0"/>
              </a:spcBef>
              <a:spcAft>
                <a:spcPts val="0"/>
              </a:spcAft>
              <a:defRPr/>
            </a:pPr>
            <a:r>
              <a:rPr lang="en-US" altLang="zh-CN" sz="2000" b="1" dirty="0">
                <a:latin typeface="+mn-lt"/>
                <a:ea typeface="+mn-ea"/>
              </a:rPr>
              <a:t>	</a:t>
            </a:r>
            <a:r>
              <a:rPr lang="en-US" altLang="zh-CN" sz="2000" b="1" dirty="0" err="1">
                <a:solidFill>
                  <a:srgbClr val="0000FF"/>
                </a:solidFill>
                <a:latin typeface="+mn-lt"/>
                <a:ea typeface="+mn-ea"/>
              </a:rPr>
              <a:t>int</a:t>
            </a:r>
            <a:r>
              <a:rPr lang="en-US" altLang="zh-CN" sz="2000" b="1" dirty="0">
                <a:latin typeface="+mn-lt"/>
                <a:ea typeface="+mn-ea"/>
              </a:rPr>
              <a:t> Size;      </a:t>
            </a:r>
            <a:r>
              <a:rPr lang="en-US" altLang="zh-CN" sz="2000" b="1" dirty="0">
                <a:solidFill>
                  <a:srgbClr val="002060"/>
                </a:solidFill>
                <a:latin typeface="+mn-lt"/>
                <a:ea typeface="+mn-ea"/>
              </a:rPr>
              <a:t>              /* </a:t>
            </a:r>
            <a:r>
              <a:rPr lang="zh-CN" altLang="en-US" sz="2000" b="1" dirty="0">
                <a:solidFill>
                  <a:srgbClr val="002060"/>
                </a:solidFill>
                <a:latin typeface="+mn-lt"/>
                <a:ea typeface="+mn-ea"/>
              </a:rPr>
              <a:t>堆的当前元素个数 *</a:t>
            </a:r>
            <a:r>
              <a:rPr lang="en-US" altLang="zh-CN" sz="2000" b="1" dirty="0">
                <a:solidFill>
                  <a:srgbClr val="002060"/>
                </a:solidFill>
                <a:latin typeface="+mn-lt"/>
                <a:ea typeface="+mn-ea"/>
              </a:rPr>
              <a:t>/</a:t>
            </a:r>
          </a:p>
          <a:p>
            <a:pPr fontAlgn="auto">
              <a:spcBef>
                <a:spcPts val="0"/>
              </a:spcBef>
              <a:spcAft>
                <a:spcPts val="0"/>
              </a:spcAft>
              <a:defRPr/>
            </a:pPr>
            <a:r>
              <a:rPr lang="en-US" altLang="zh-CN" sz="2000" b="1" dirty="0">
                <a:latin typeface="+mn-lt"/>
                <a:ea typeface="+mn-ea"/>
              </a:rPr>
              <a:t>	</a:t>
            </a:r>
            <a:r>
              <a:rPr lang="en-US" altLang="zh-CN" sz="2000" b="1" dirty="0" err="1">
                <a:solidFill>
                  <a:srgbClr val="0000FF"/>
                </a:solidFill>
                <a:latin typeface="+mn-lt"/>
                <a:ea typeface="+mn-ea"/>
              </a:rPr>
              <a:t>int</a:t>
            </a:r>
            <a:r>
              <a:rPr lang="en-US" altLang="zh-CN" sz="2000" b="1" dirty="0">
                <a:latin typeface="+mn-lt"/>
                <a:ea typeface="+mn-ea"/>
              </a:rPr>
              <a:t> Capacity;          </a:t>
            </a:r>
            <a:r>
              <a:rPr lang="en-US" altLang="zh-CN" sz="2000" b="1" dirty="0">
                <a:solidFill>
                  <a:srgbClr val="002060"/>
                </a:solidFill>
                <a:latin typeface="+mn-lt"/>
                <a:ea typeface="+mn-ea"/>
              </a:rPr>
              <a:t> /* </a:t>
            </a:r>
            <a:r>
              <a:rPr lang="zh-CN" altLang="en-US" sz="2000" b="1" dirty="0">
                <a:solidFill>
                  <a:srgbClr val="002060"/>
                </a:solidFill>
                <a:latin typeface="+mn-lt"/>
                <a:ea typeface="+mn-ea"/>
              </a:rPr>
              <a:t>堆的最大容量     *</a:t>
            </a:r>
            <a:r>
              <a:rPr lang="en-US" altLang="zh-CN" sz="2000" b="1" dirty="0">
                <a:solidFill>
                  <a:srgbClr val="002060"/>
                </a:solidFill>
                <a:latin typeface="+mn-lt"/>
                <a:ea typeface="+mn-ea"/>
              </a:rPr>
              <a:t>/</a:t>
            </a:r>
          </a:p>
          <a:p>
            <a:pPr fontAlgn="auto">
              <a:spcBef>
                <a:spcPts val="0"/>
              </a:spcBef>
              <a:spcAft>
                <a:spcPts val="0"/>
              </a:spcAft>
              <a:defRPr/>
            </a:pPr>
            <a:r>
              <a:rPr lang="en-US" altLang="zh-CN" sz="2000" b="1" dirty="0">
                <a:latin typeface="+mn-lt"/>
                <a:ea typeface="+mn-ea"/>
              </a:rPr>
              <a:t>}; </a:t>
            </a:r>
          </a:p>
        </p:txBody>
      </p:sp>
      <p:sp>
        <p:nvSpPr>
          <p:cNvPr id="36871" name="矩形 6"/>
          <p:cNvSpPr>
            <a:spLocks noChangeArrowheads="1"/>
          </p:cNvSpPr>
          <p:nvPr/>
        </p:nvSpPr>
        <p:spPr bwMode="auto">
          <a:xfrm>
            <a:off x="755576" y="272434"/>
            <a:ext cx="23923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400" b="1" dirty="0">
                <a:solidFill>
                  <a:srgbClr val="EBEBEB"/>
                </a:solidFill>
                <a:latin typeface="Times New Roman" pitchFamily="18" charset="0"/>
                <a:sym typeface="Wingdings" pitchFamily="2" charset="2"/>
              </a:rPr>
              <a:t> </a:t>
            </a:r>
            <a:r>
              <a:rPr lang="zh-CN" altLang="en-US" sz="2400" b="1" dirty="0">
                <a:solidFill>
                  <a:srgbClr val="EBEBEB"/>
                </a:solidFill>
                <a:latin typeface="Times New Roman" pitchFamily="18" charset="0"/>
              </a:rPr>
              <a:t>最大堆的操作</a:t>
            </a:r>
          </a:p>
        </p:txBody>
      </p:sp>
      <p:graphicFrame>
        <p:nvGraphicFramePr>
          <p:cNvPr id="8" name="表格 7"/>
          <p:cNvGraphicFramePr>
            <a:graphicFrameLocks noGrp="1"/>
          </p:cNvGraphicFramePr>
          <p:nvPr>
            <p:extLst>
              <p:ext uri="{D42A27DB-BD31-4B8C-83A1-F6EECF244321}">
                <p14:modId xmlns:p14="http://schemas.microsoft.com/office/powerpoint/2010/main" val="1651050800"/>
              </p:ext>
            </p:extLst>
          </p:nvPr>
        </p:nvGraphicFramePr>
        <p:xfrm>
          <a:off x="571500" y="3789040"/>
          <a:ext cx="8286750" cy="2743200"/>
        </p:xfrm>
        <a:graphic>
          <a:graphicData uri="http://schemas.openxmlformats.org/drawingml/2006/table">
            <a:tbl>
              <a:tblPr/>
              <a:tblGrid>
                <a:gridCol w="8286750"/>
              </a:tblGrid>
              <a:tr h="2357454">
                <a:tc>
                  <a:txBody>
                    <a:bodyPr/>
                    <a:lstStyle/>
                    <a:p>
                      <a:pPr algn="l">
                        <a:spcAft>
                          <a:spcPts val="0"/>
                        </a:spcAft>
                      </a:pPr>
                      <a:r>
                        <a:rPr lang="en-US" sz="1800" b="1" kern="100" dirty="0" err="1">
                          <a:latin typeface="Courier New"/>
                          <a:ea typeface="宋体"/>
                          <a:cs typeface="Times New Roman"/>
                        </a:rPr>
                        <a:t>MaxHeap</a:t>
                      </a:r>
                      <a:r>
                        <a:rPr lang="en-US" sz="1800" b="1" kern="100" dirty="0">
                          <a:latin typeface="Courier New"/>
                          <a:ea typeface="宋体"/>
                          <a:cs typeface="Times New Roman"/>
                        </a:rPr>
                        <a:t> Create( </a:t>
                      </a:r>
                      <a:r>
                        <a:rPr lang="en-US" sz="1800" b="1" kern="100" dirty="0" err="1">
                          <a:solidFill>
                            <a:srgbClr val="0000FF"/>
                          </a:solidFill>
                          <a:latin typeface="Courier New"/>
                          <a:ea typeface="宋体"/>
                          <a:cs typeface="Times New Roman"/>
                        </a:rPr>
                        <a:t>int</a:t>
                      </a:r>
                      <a:r>
                        <a:rPr lang="en-US" sz="1800" b="1" kern="100" dirty="0">
                          <a:latin typeface="Courier New"/>
                          <a:ea typeface="宋体"/>
                          <a:cs typeface="Times New Roman"/>
                        </a:rPr>
                        <a:t> </a:t>
                      </a:r>
                      <a:r>
                        <a:rPr lang="en-US" sz="1800" b="1" kern="100" dirty="0" err="1">
                          <a:latin typeface="Courier New"/>
                          <a:ea typeface="宋体"/>
                          <a:cs typeface="Times New Roman"/>
                        </a:rPr>
                        <a:t>MaxSize</a:t>
                      </a:r>
                      <a:r>
                        <a:rPr lang="en-US" sz="1800" b="1" kern="100" dirty="0">
                          <a:latin typeface="Courier New"/>
                          <a:ea typeface="宋体"/>
                          <a:cs typeface="Times New Roman"/>
                        </a:rPr>
                        <a:t> )</a:t>
                      </a:r>
                      <a:endParaRPr lang="zh-CN" sz="1800" b="1" kern="100" dirty="0">
                        <a:latin typeface="Calibri"/>
                        <a:ea typeface="宋体"/>
                        <a:cs typeface="Times New Roman"/>
                      </a:endParaRPr>
                    </a:p>
                    <a:p>
                      <a:pPr algn="l">
                        <a:spcAft>
                          <a:spcPts val="0"/>
                        </a:spcAft>
                      </a:pPr>
                      <a:r>
                        <a:rPr lang="en-US" sz="1800" b="1" kern="100" dirty="0">
                          <a:latin typeface="Courier New"/>
                          <a:ea typeface="宋体"/>
                          <a:cs typeface="Times New Roman"/>
                        </a:rPr>
                        <a:t>{   </a:t>
                      </a:r>
                      <a:r>
                        <a:rPr lang="en-US" sz="1800" b="1" kern="100" dirty="0" smtClean="0">
                          <a:latin typeface="Courier New"/>
                          <a:ea typeface="宋体"/>
                          <a:cs typeface="Times New Roman"/>
                        </a:rPr>
                        <a:t>    </a:t>
                      </a:r>
                      <a:r>
                        <a:rPr lang="en-US" sz="1800" b="1" kern="100" dirty="0" smtClean="0">
                          <a:solidFill>
                            <a:srgbClr val="002060"/>
                          </a:solidFill>
                          <a:latin typeface="Courier New"/>
                          <a:ea typeface="宋体"/>
                          <a:cs typeface="Times New Roman"/>
                        </a:rPr>
                        <a:t> </a:t>
                      </a:r>
                      <a:r>
                        <a:rPr lang="en-US" altLang="zh-CN" sz="1800" b="1" kern="1200" dirty="0" smtClean="0">
                          <a:solidFill>
                            <a:srgbClr val="002060"/>
                          </a:solidFill>
                          <a:latin typeface="+mn-lt"/>
                          <a:ea typeface="+mn-ea"/>
                          <a:cs typeface="+mn-cs"/>
                        </a:rPr>
                        <a:t>/* </a:t>
                      </a:r>
                      <a:r>
                        <a:rPr lang="zh-CN" altLang="zh-CN" sz="1800" b="1" kern="1200" dirty="0" smtClean="0">
                          <a:solidFill>
                            <a:srgbClr val="002060"/>
                          </a:solidFill>
                          <a:latin typeface="+mn-lt"/>
                          <a:ea typeface="+mn-ea"/>
                          <a:cs typeface="+mn-cs"/>
                        </a:rPr>
                        <a:t>创建容量为</a:t>
                      </a:r>
                      <a:r>
                        <a:rPr lang="en-US" altLang="zh-CN" sz="1800" b="1" kern="1200" dirty="0" err="1" smtClean="0">
                          <a:solidFill>
                            <a:srgbClr val="002060"/>
                          </a:solidFill>
                          <a:latin typeface="+mn-lt"/>
                          <a:ea typeface="+mn-ea"/>
                          <a:cs typeface="+mn-cs"/>
                        </a:rPr>
                        <a:t>MaxSize</a:t>
                      </a:r>
                      <a:r>
                        <a:rPr lang="zh-CN" altLang="zh-CN" sz="1800" b="1" kern="1200" dirty="0" smtClean="0">
                          <a:solidFill>
                            <a:srgbClr val="002060"/>
                          </a:solidFill>
                          <a:latin typeface="+mn-lt"/>
                          <a:ea typeface="+mn-ea"/>
                          <a:cs typeface="+mn-cs"/>
                        </a:rPr>
                        <a:t>的空的</a:t>
                      </a:r>
                      <a:r>
                        <a:rPr lang="zh-CN" sz="1800" b="1" kern="100" dirty="0">
                          <a:solidFill>
                            <a:srgbClr val="002060"/>
                          </a:solidFill>
                          <a:latin typeface="+mn-ea"/>
                          <a:ea typeface="+mn-ea"/>
                          <a:cs typeface="Courier New"/>
                        </a:rPr>
                        <a:t>最大堆</a:t>
                      </a:r>
                      <a:r>
                        <a:rPr lang="en-US" sz="1800" b="1" kern="100" dirty="0">
                          <a:solidFill>
                            <a:srgbClr val="002060"/>
                          </a:solidFill>
                          <a:latin typeface="+mn-ea"/>
                          <a:ea typeface="+mn-ea"/>
                          <a:cs typeface="Times New Roman"/>
                        </a:rPr>
                        <a:t> </a:t>
                      </a:r>
                      <a:r>
                        <a:rPr lang="en-US" altLang="zh-CN" sz="1800" b="1" kern="1200" dirty="0" smtClean="0">
                          <a:solidFill>
                            <a:srgbClr val="002060"/>
                          </a:solidFill>
                          <a:latin typeface="+mn-lt"/>
                          <a:ea typeface="+mn-ea"/>
                          <a:cs typeface="+mn-cs"/>
                        </a:rPr>
                        <a:t>*/</a:t>
                      </a:r>
                      <a:endParaRPr lang="zh-CN" altLang="zh-CN" sz="1800" b="1" kern="1200" dirty="0" smtClean="0">
                        <a:solidFill>
                          <a:srgbClr val="002060"/>
                        </a:solidFill>
                        <a:latin typeface="+mn-lt"/>
                        <a:ea typeface="+mn-ea"/>
                        <a:cs typeface="+mn-cs"/>
                      </a:endParaRPr>
                    </a:p>
                    <a:p>
                      <a:pPr indent="266700" algn="l">
                        <a:spcAft>
                          <a:spcPts val="0"/>
                        </a:spcAft>
                      </a:pPr>
                      <a:r>
                        <a:rPr lang="en-US" sz="1800" b="1" kern="100" dirty="0" err="1">
                          <a:latin typeface="Courier New"/>
                          <a:ea typeface="宋体"/>
                          <a:cs typeface="Times New Roman"/>
                        </a:rPr>
                        <a:t>MaxHeap</a:t>
                      </a:r>
                      <a:r>
                        <a:rPr lang="en-US" sz="1800" b="1" kern="100" dirty="0">
                          <a:latin typeface="Courier New"/>
                          <a:ea typeface="宋体"/>
                          <a:cs typeface="Times New Roman"/>
                        </a:rPr>
                        <a:t> H = </a:t>
                      </a:r>
                      <a:r>
                        <a:rPr lang="en-US" sz="1800" b="1" kern="100" dirty="0" err="1">
                          <a:solidFill>
                            <a:srgbClr val="0000FF"/>
                          </a:solidFill>
                          <a:latin typeface="Courier New"/>
                          <a:ea typeface="宋体"/>
                          <a:cs typeface="Times New Roman"/>
                        </a:rPr>
                        <a:t>malloc</a:t>
                      </a:r>
                      <a:r>
                        <a:rPr lang="en-US" sz="1800" b="1" kern="100" dirty="0">
                          <a:latin typeface="Courier New"/>
                          <a:ea typeface="宋体"/>
                          <a:cs typeface="Times New Roman"/>
                        </a:rPr>
                        <a:t>( </a:t>
                      </a:r>
                      <a:r>
                        <a:rPr lang="en-US" sz="1800" b="1" kern="100" dirty="0" err="1">
                          <a:solidFill>
                            <a:srgbClr val="0000FF"/>
                          </a:solidFill>
                          <a:latin typeface="Courier New"/>
                          <a:ea typeface="宋体"/>
                          <a:cs typeface="Times New Roman"/>
                        </a:rPr>
                        <a:t>sizeof</a:t>
                      </a:r>
                      <a:r>
                        <a:rPr lang="en-US" sz="1800" b="1" kern="100" dirty="0">
                          <a:latin typeface="Courier New"/>
                          <a:ea typeface="宋体"/>
                          <a:cs typeface="Times New Roman"/>
                        </a:rPr>
                        <a:t>( </a:t>
                      </a:r>
                      <a:r>
                        <a:rPr lang="en-US" sz="1800" b="1" kern="100" dirty="0" err="1">
                          <a:solidFill>
                            <a:srgbClr val="0000FF"/>
                          </a:solidFill>
                          <a:latin typeface="Courier New"/>
                          <a:ea typeface="宋体"/>
                          <a:cs typeface="Times New Roman"/>
                        </a:rPr>
                        <a:t>struct</a:t>
                      </a:r>
                      <a:r>
                        <a:rPr lang="en-US" sz="1800" b="1" kern="100" dirty="0">
                          <a:latin typeface="Courier New"/>
                          <a:ea typeface="宋体"/>
                          <a:cs typeface="Times New Roman"/>
                        </a:rPr>
                        <a:t> </a:t>
                      </a:r>
                      <a:r>
                        <a:rPr lang="en-US" sz="1800" b="1" kern="100" dirty="0" err="1">
                          <a:latin typeface="Courier New"/>
                          <a:ea typeface="宋体"/>
                          <a:cs typeface="Times New Roman"/>
                        </a:rPr>
                        <a:t>HeapStruct</a:t>
                      </a:r>
                      <a:r>
                        <a:rPr lang="en-US" sz="1800" b="1" kern="100" dirty="0">
                          <a:latin typeface="Courier New"/>
                          <a:ea typeface="宋体"/>
                          <a:cs typeface="Times New Roman"/>
                        </a:rPr>
                        <a:t> ) );</a:t>
                      </a:r>
                      <a:endParaRPr lang="zh-CN" sz="1800" b="1" kern="100" dirty="0">
                        <a:latin typeface="Calibri"/>
                        <a:ea typeface="宋体"/>
                        <a:cs typeface="Times New Roman"/>
                      </a:endParaRPr>
                    </a:p>
                    <a:p>
                      <a:pPr indent="266700" algn="l">
                        <a:spcAft>
                          <a:spcPts val="0"/>
                        </a:spcAft>
                      </a:pPr>
                      <a:r>
                        <a:rPr lang="en-US" sz="1800" b="1" kern="100" dirty="0">
                          <a:latin typeface="Courier New"/>
                          <a:ea typeface="宋体"/>
                          <a:cs typeface="Times New Roman"/>
                        </a:rPr>
                        <a:t>H-&gt;Elements = </a:t>
                      </a:r>
                      <a:r>
                        <a:rPr lang="en-US" sz="1800" b="1" kern="100" dirty="0" err="1">
                          <a:solidFill>
                            <a:srgbClr val="0000FF"/>
                          </a:solidFill>
                          <a:latin typeface="Courier New"/>
                          <a:ea typeface="宋体"/>
                          <a:cs typeface="Times New Roman"/>
                        </a:rPr>
                        <a:t>malloc</a:t>
                      </a:r>
                      <a:r>
                        <a:rPr lang="en-US" sz="1800" b="1" kern="100" dirty="0">
                          <a:latin typeface="Courier New"/>
                          <a:ea typeface="宋体"/>
                          <a:cs typeface="Times New Roman"/>
                        </a:rPr>
                        <a:t>( (MaxSize+1) * </a:t>
                      </a:r>
                      <a:r>
                        <a:rPr lang="en-US" sz="1800" b="1" kern="100" dirty="0" err="1" smtClean="0">
                          <a:solidFill>
                            <a:srgbClr val="0000FF"/>
                          </a:solidFill>
                          <a:latin typeface="Courier New"/>
                          <a:ea typeface="宋体"/>
                          <a:cs typeface="Times New Roman"/>
                        </a:rPr>
                        <a:t>sizeof</a:t>
                      </a:r>
                      <a:r>
                        <a:rPr lang="en-US" sz="1800" b="1" kern="100" dirty="0" smtClean="0">
                          <a:solidFill>
                            <a:schemeClr val="tx1"/>
                          </a:solidFill>
                          <a:latin typeface="Courier New"/>
                          <a:ea typeface="宋体"/>
                          <a:cs typeface="Times New Roman"/>
                        </a:rPr>
                        <a:t>(</a:t>
                      </a:r>
                      <a:r>
                        <a:rPr lang="en-US" sz="1800" b="1" kern="100" dirty="0" err="1" smtClean="0">
                          <a:solidFill>
                            <a:schemeClr val="tx1"/>
                          </a:solidFill>
                          <a:latin typeface="Courier New"/>
                          <a:ea typeface="宋体"/>
                          <a:cs typeface="Times New Roman"/>
                        </a:rPr>
                        <a:t>ElementType</a:t>
                      </a:r>
                      <a:r>
                        <a:rPr lang="en-US" sz="1800" b="1" kern="100" dirty="0" smtClean="0">
                          <a:latin typeface="Courier New"/>
                          <a:ea typeface="宋体"/>
                          <a:cs typeface="Times New Roman"/>
                        </a:rPr>
                        <a:t>));</a:t>
                      </a:r>
                      <a:endParaRPr lang="zh-CN" sz="1800" b="1" kern="100" dirty="0">
                        <a:latin typeface="Calibri"/>
                        <a:ea typeface="宋体"/>
                        <a:cs typeface="Times New Roman"/>
                      </a:endParaRPr>
                    </a:p>
                    <a:p>
                      <a:pPr indent="266700" algn="l">
                        <a:spcAft>
                          <a:spcPts val="0"/>
                        </a:spcAft>
                      </a:pPr>
                      <a:r>
                        <a:rPr lang="en-US" sz="1800" b="1" kern="100" dirty="0">
                          <a:latin typeface="Courier New"/>
                          <a:ea typeface="宋体"/>
                          <a:cs typeface="Times New Roman"/>
                        </a:rPr>
                        <a:t>H-&gt;Size = 0;</a:t>
                      </a:r>
                      <a:endParaRPr lang="zh-CN" sz="1800" b="1" kern="100" dirty="0">
                        <a:latin typeface="Calibri"/>
                        <a:ea typeface="宋体"/>
                        <a:cs typeface="Times New Roman"/>
                      </a:endParaRPr>
                    </a:p>
                    <a:p>
                      <a:pPr indent="266700" algn="l">
                        <a:spcAft>
                          <a:spcPts val="0"/>
                        </a:spcAft>
                      </a:pPr>
                      <a:r>
                        <a:rPr lang="en-US" sz="1800" b="1" kern="100" dirty="0">
                          <a:latin typeface="Courier New"/>
                          <a:ea typeface="宋体"/>
                          <a:cs typeface="Times New Roman"/>
                        </a:rPr>
                        <a:t>H-&gt;Capacity = </a:t>
                      </a:r>
                      <a:r>
                        <a:rPr lang="en-US" sz="1800" b="1" kern="100" dirty="0" err="1">
                          <a:latin typeface="Courier New"/>
                          <a:ea typeface="宋体"/>
                          <a:cs typeface="Times New Roman"/>
                        </a:rPr>
                        <a:t>MaxSize</a:t>
                      </a:r>
                      <a:r>
                        <a:rPr lang="en-US" sz="1800" b="1" kern="100" dirty="0">
                          <a:latin typeface="Courier New"/>
                          <a:ea typeface="宋体"/>
                          <a:cs typeface="Times New Roman"/>
                        </a:rPr>
                        <a:t>;</a:t>
                      </a:r>
                      <a:endParaRPr lang="zh-CN" sz="1800" b="1" kern="100" dirty="0">
                        <a:latin typeface="Calibri"/>
                        <a:ea typeface="宋体"/>
                        <a:cs typeface="Times New Roman"/>
                      </a:endParaRPr>
                    </a:p>
                    <a:p>
                      <a:pPr indent="266700" algn="l">
                        <a:spcAft>
                          <a:spcPts val="0"/>
                        </a:spcAft>
                      </a:pPr>
                      <a:r>
                        <a:rPr lang="en-US" sz="1800" b="1" kern="100" dirty="0">
                          <a:latin typeface="Courier New"/>
                          <a:ea typeface="宋体"/>
                          <a:cs typeface="Times New Roman"/>
                        </a:rPr>
                        <a:t>H-&gt;Elements[0] = </a:t>
                      </a:r>
                      <a:r>
                        <a:rPr lang="en-US" sz="1800" b="1" kern="100" dirty="0" err="1">
                          <a:latin typeface="Courier New"/>
                          <a:ea typeface="宋体"/>
                          <a:cs typeface="Times New Roman"/>
                        </a:rPr>
                        <a:t>MaxData</a:t>
                      </a:r>
                      <a:r>
                        <a:rPr lang="en-US" sz="1800" b="1" kern="100" dirty="0">
                          <a:latin typeface="Courier New"/>
                          <a:ea typeface="宋体"/>
                          <a:cs typeface="Times New Roman"/>
                        </a:rPr>
                        <a:t>; </a:t>
                      </a:r>
                      <a:endParaRPr lang="en-US" sz="1800" b="1" kern="100" dirty="0" smtClean="0">
                        <a:latin typeface="Courier New"/>
                        <a:ea typeface="宋体"/>
                        <a:cs typeface="Times New Roman"/>
                      </a:endParaRPr>
                    </a:p>
                    <a:p>
                      <a:pPr indent="266700" algn="l">
                        <a:spcAft>
                          <a:spcPts val="0"/>
                        </a:spcAft>
                      </a:pPr>
                      <a:r>
                        <a:rPr lang="en-US" sz="1800" b="1" kern="100" dirty="0" smtClean="0">
                          <a:latin typeface="Courier New"/>
                          <a:ea typeface="宋体"/>
                          <a:cs typeface="Times New Roman"/>
                        </a:rPr>
                        <a:t>   </a:t>
                      </a:r>
                      <a:r>
                        <a:rPr lang="en-US" altLang="zh-CN" sz="1800" b="1" kern="1200" dirty="0" smtClean="0">
                          <a:solidFill>
                            <a:srgbClr val="002060"/>
                          </a:solidFill>
                          <a:latin typeface="+mn-lt"/>
                          <a:ea typeface="+mn-ea"/>
                          <a:cs typeface="+mn-cs"/>
                        </a:rPr>
                        <a:t>/* </a:t>
                      </a:r>
                      <a:r>
                        <a:rPr lang="zh-CN" altLang="zh-CN" sz="1800" b="1" kern="1200" dirty="0" smtClean="0">
                          <a:solidFill>
                            <a:srgbClr val="002060"/>
                          </a:solidFill>
                          <a:latin typeface="+mn-lt"/>
                          <a:ea typeface="+mn-ea"/>
                          <a:cs typeface="+mn-cs"/>
                        </a:rPr>
                        <a:t>定义“哨兵”为大于堆中所有可能元素的值</a:t>
                      </a:r>
                      <a:r>
                        <a:rPr lang="zh-CN" altLang="en-US" sz="1800" b="1" kern="1200" dirty="0" smtClean="0">
                          <a:solidFill>
                            <a:srgbClr val="002060"/>
                          </a:solidFill>
                          <a:latin typeface="+mn-lt"/>
                          <a:ea typeface="+mn-ea"/>
                          <a:cs typeface="+mn-cs"/>
                        </a:rPr>
                        <a:t>，便于以后更快操作 </a:t>
                      </a:r>
                      <a:r>
                        <a:rPr lang="en-US" altLang="zh-CN" sz="1800" b="1" kern="1200" dirty="0" smtClean="0">
                          <a:solidFill>
                            <a:srgbClr val="002060"/>
                          </a:solidFill>
                          <a:latin typeface="+mn-lt"/>
                          <a:ea typeface="+mn-ea"/>
                          <a:cs typeface="+mn-cs"/>
                        </a:rPr>
                        <a:t>*/</a:t>
                      </a:r>
                      <a:endParaRPr lang="zh-CN" altLang="zh-CN" sz="1800" b="1" kern="1200" dirty="0" smtClean="0">
                        <a:solidFill>
                          <a:srgbClr val="002060"/>
                        </a:solidFill>
                        <a:latin typeface="+mn-lt"/>
                        <a:ea typeface="+mn-ea"/>
                        <a:cs typeface="+mn-cs"/>
                      </a:endParaRPr>
                    </a:p>
                    <a:p>
                      <a:pPr indent="266700" algn="l">
                        <a:spcAft>
                          <a:spcPts val="0"/>
                        </a:spcAft>
                      </a:pPr>
                      <a:r>
                        <a:rPr lang="en-US" sz="1800" b="1" kern="100" dirty="0">
                          <a:solidFill>
                            <a:srgbClr val="0000FF"/>
                          </a:solidFill>
                          <a:latin typeface="Courier New"/>
                          <a:ea typeface="宋体"/>
                          <a:cs typeface="Times New Roman"/>
                        </a:rPr>
                        <a:t>return</a:t>
                      </a:r>
                      <a:r>
                        <a:rPr lang="en-US" sz="1800" b="1" kern="100" dirty="0">
                          <a:latin typeface="Courier New"/>
                          <a:ea typeface="宋体"/>
                          <a:cs typeface="Times New Roman"/>
                        </a:rPr>
                        <a:t> H;</a:t>
                      </a:r>
                      <a:endParaRPr lang="zh-CN" sz="1800" b="1" kern="100" dirty="0">
                        <a:latin typeface="Calibri"/>
                        <a:ea typeface="宋体"/>
                        <a:cs typeface="Times New Roman"/>
                      </a:endParaRPr>
                    </a:p>
                    <a:p>
                      <a:pPr algn="l">
                        <a:spcAft>
                          <a:spcPts val="0"/>
                        </a:spcAft>
                      </a:pPr>
                      <a:r>
                        <a:rPr lang="en-US" sz="1800" b="1" kern="100" dirty="0">
                          <a:latin typeface="Courier New"/>
                          <a:ea typeface="宋体"/>
                          <a:cs typeface="Times New Roman"/>
                        </a:rPr>
                        <a:t>}</a:t>
                      </a:r>
                      <a:endParaRPr lang="zh-CN" sz="1800" b="1" kern="100" dirty="0">
                        <a:latin typeface="Calibri"/>
                        <a:ea typeface="宋体"/>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9" name="AutoShape 8"/>
          <p:cNvSpPr>
            <a:spLocks noChangeArrowheads="1"/>
          </p:cNvSpPr>
          <p:nvPr/>
        </p:nvSpPr>
        <p:spPr bwMode="auto">
          <a:xfrm>
            <a:off x="4714875" y="714375"/>
            <a:ext cx="3609975" cy="1319213"/>
          </a:xfrm>
          <a:prstGeom prst="wedgeEllipseCallout">
            <a:avLst>
              <a:gd name="adj1" fmla="val -70171"/>
              <a:gd name="adj2" fmla="val 288292"/>
            </a:avLst>
          </a:prstGeom>
          <a:gradFill rotWithShape="0">
            <a:gsLst>
              <a:gs pos="0">
                <a:srgbClr val="C0C0C0"/>
              </a:gs>
              <a:gs pos="100000">
                <a:srgbClr val="FFFFFF"/>
              </a:gs>
            </a:gsLst>
            <a:lin ang="18900000" scaled="1"/>
          </a:gradFill>
          <a:ln w="12700">
            <a:solidFill>
              <a:schemeClr val="tx1"/>
            </a:solidFill>
            <a:miter lim="800000"/>
            <a:headEnd/>
            <a:tailEnd/>
          </a:ln>
        </p:spPr>
        <p:txBody>
          <a:bodyPr wrap="none" lIns="36000" tIns="46800" rIns="36000" bIns="46800" anchor="ctr"/>
          <a:lstStyle/>
          <a:p>
            <a:pPr algn="ctr"/>
            <a:r>
              <a:rPr lang="zh-CN" altLang="zh-CN" sz="1800" dirty="0">
                <a:latin typeface="Times New Roman" pitchFamily="18" charset="0"/>
              </a:rPr>
              <a:t>把</a:t>
            </a:r>
            <a:r>
              <a:rPr lang="en-US" altLang="zh-CN" sz="1800" dirty="0" err="1">
                <a:latin typeface="Times New Roman" pitchFamily="18" charset="0"/>
              </a:rPr>
              <a:t>MaxData</a:t>
            </a:r>
            <a:r>
              <a:rPr lang="zh-CN" altLang="zh-CN" sz="1800" dirty="0">
                <a:latin typeface="Times New Roman" pitchFamily="18" charset="0"/>
              </a:rPr>
              <a:t>换成</a:t>
            </a:r>
            <a:endParaRPr lang="en-US" altLang="zh-CN" sz="1800" dirty="0">
              <a:latin typeface="Times New Roman" pitchFamily="18" charset="0"/>
            </a:endParaRPr>
          </a:p>
          <a:p>
            <a:pPr algn="ctr"/>
            <a:r>
              <a:rPr lang="zh-CN" altLang="zh-CN" sz="1800" dirty="0">
                <a:latin typeface="Times New Roman" pitchFamily="18" charset="0"/>
              </a:rPr>
              <a:t>小于堆中所有元素的</a:t>
            </a:r>
            <a:endParaRPr lang="en-US" altLang="zh-CN" sz="1800" dirty="0">
              <a:latin typeface="Times New Roman" pitchFamily="18" charset="0"/>
            </a:endParaRPr>
          </a:p>
          <a:p>
            <a:pPr algn="ctr"/>
            <a:r>
              <a:rPr lang="en-US" altLang="zh-CN" sz="1800" dirty="0" err="1">
                <a:latin typeface="Times New Roman" pitchFamily="18" charset="0"/>
              </a:rPr>
              <a:t>MinData</a:t>
            </a:r>
            <a:r>
              <a:rPr lang="zh-CN" altLang="en-US" sz="1800" dirty="0">
                <a:latin typeface="Times New Roman" pitchFamily="18" charset="0"/>
              </a:rPr>
              <a:t>，同样适用于</a:t>
            </a:r>
            <a:endParaRPr lang="en-US" altLang="zh-CN" sz="1800" dirty="0">
              <a:latin typeface="Times New Roman" pitchFamily="18" charset="0"/>
            </a:endParaRPr>
          </a:p>
          <a:p>
            <a:pPr algn="ctr"/>
            <a:r>
              <a:rPr lang="zh-CN" altLang="en-US" sz="1800" dirty="0">
                <a:latin typeface="Times New Roman" pitchFamily="18" charset="0"/>
              </a:rPr>
              <a:t>创建</a:t>
            </a:r>
            <a:r>
              <a:rPr lang="zh-CN" altLang="en-US" sz="1800" b="1" dirty="0">
                <a:solidFill>
                  <a:srgbClr val="0000FF"/>
                </a:solidFill>
                <a:latin typeface="Times New Roman" pitchFamily="18" charset="0"/>
              </a:rPr>
              <a:t>最小堆</a:t>
            </a:r>
            <a:r>
              <a:rPr lang="zh-CN" altLang="en-US" sz="1800" dirty="0">
                <a:latin typeface="Times New Roman" pitchFamily="18" charset="0"/>
              </a:rPr>
              <a:t>。</a:t>
            </a:r>
            <a:endParaRPr lang="en-US" altLang="zh-CN" sz="1800" dirty="0">
              <a:latin typeface="Times New Roman" pitchFamily="18" charset="0"/>
            </a:endParaRPr>
          </a:p>
        </p:txBody>
      </p:sp>
    </p:spTree>
    <p:extLst>
      <p:ext uri="{BB962C8B-B14F-4D97-AF65-F5344CB8AC3E}">
        <p14:creationId xmlns:p14="http://schemas.microsoft.com/office/powerpoint/2010/main" val="2161398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par>
                          <p:cTn id="8" fill="hold" nodeType="afterGroup">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up)">
                                      <p:cBhvr>
                                        <p:cTn id="11" dur="500"/>
                                        <p:tgtEl>
                                          <p:spTgt spid="6"/>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8" presetClass="entr" presetSubtype="6" fill="hold" nodeType="click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strips(downRight)">
                                      <p:cBhvr>
                                        <p:cTn id="16" dur="500"/>
                                        <p:tgtEl>
                                          <p:spTgt spid="8"/>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wipe(down)">
                                      <p:cBhvr>
                                        <p:cTn id="21" dur="500"/>
                                        <p:tgtEl>
                                          <p:spTgt spid="9"/>
                                        </p:tgtEl>
                                      </p:cBhvr>
                                    </p:animEffect>
                                  </p:childTnLst>
                                  <p:subTnLst>
                                    <p:set>
                                      <p:cBhvr override="childStyle">
                                        <p:cTn dur="1" fill="hold" display="0" masterRel="nextClick" afterEffect="1"/>
                                        <p:tgtEl>
                                          <p:spTgt spid="9"/>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9" grpId="0" animBg="1" autoUpdateAnimBg="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
          <p:cNvGrpSpPr>
            <a:grpSpLocks/>
          </p:cNvGrpSpPr>
          <p:nvPr/>
        </p:nvGrpSpPr>
        <p:grpSpPr bwMode="auto">
          <a:xfrm>
            <a:off x="1060450" y="1504950"/>
            <a:ext cx="1905000" cy="1905000"/>
            <a:chOff x="1200" y="2784"/>
            <a:chExt cx="1200" cy="1200"/>
          </a:xfrm>
        </p:grpSpPr>
        <p:sp>
          <p:nvSpPr>
            <p:cNvPr id="37932" name="Oval 6"/>
            <p:cNvSpPr>
              <a:spLocks noChangeArrowheads="1"/>
            </p:cNvSpPr>
            <p:nvPr/>
          </p:nvSpPr>
          <p:spPr bwMode="auto">
            <a:xfrm>
              <a:off x="1872" y="2784"/>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1800" b="1">
                  <a:latin typeface="Times New Roman" pitchFamily="18" charset="0"/>
                </a:rPr>
                <a:t>44</a:t>
              </a:r>
            </a:p>
          </p:txBody>
        </p:sp>
        <p:sp>
          <p:nvSpPr>
            <p:cNvPr id="37933" name="Oval 7"/>
            <p:cNvSpPr>
              <a:spLocks noChangeArrowheads="1"/>
            </p:cNvSpPr>
            <p:nvPr/>
          </p:nvSpPr>
          <p:spPr bwMode="auto">
            <a:xfrm>
              <a:off x="1488" y="3168"/>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1800" b="1">
                  <a:latin typeface="Times New Roman" pitchFamily="18" charset="0"/>
                </a:rPr>
                <a:t>25</a:t>
              </a:r>
            </a:p>
          </p:txBody>
        </p:sp>
        <p:sp>
          <p:nvSpPr>
            <p:cNvPr id="37934" name="Oval 8"/>
            <p:cNvSpPr>
              <a:spLocks noChangeArrowheads="1"/>
            </p:cNvSpPr>
            <p:nvPr/>
          </p:nvSpPr>
          <p:spPr bwMode="auto">
            <a:xfrm>
              <a:off x="1200" y="3552"/>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1800" b="1">
                  <a:latin typeface="Times New Roman" pitchFamily="18" charset="0"/>
                </a:rPr>
                <a:t>18</a:t>
              </a:r>
            </a:p>
          </p:txBody>
        </p:sp>
        <p:sp>
          <p:nvSpPr>
            <p:cNvPr id="37935" name="Line 9"/>
            <p:cNvSpPr>
              <a:spLocks noChangeShapeType="1"/>
            </p:cNvSpPr>
            <p:nvPr/>
          </p:nvSpPr>
          <p:spPr bwMode="auto">
            <a:xfrm flipH="1">
              <a:off x="1369" y="3386"/>
              <a:ext cx="190" cy="19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800"/>
            </a:p>
          </p:txBody>
        </p:sp>
        <p:sp>
          <p:nvSpPr>
            <p:cNvPr id="37936" name="Line 10"/>
            <p:cNvSpPr>
              <a:spLocks noChangeShapeType="1"/>
            </p:cNvSpPr>
            <p:nvPr/>
          </p:nvSpPr>
          <p:spPr bwMode="auto">
            <a:xfrm flipH="1">
              <a:off x="1654" y="2976"/>
              <a:ext cx="218" cy="21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800"/>
            </a:p>
          </p:txBody>
        </p:sp>
        <p:sp>
          <p:nvSpPr>
            <p:cNvPr id="37937" name="Oval 11"/>
            <p:cNvSpPr>
              <a:spLocks noChangeArrowheads="1"/>
            </p:cNvSpPr>
            <p:nvPr/>
          </p:nvSpPr>
          <p:spPr bwMode="auto">
            <a:xfrm flipH="1">
              <a:off x="2160" y="3168"/>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1800" b="1">
                  <a:latin typeface="Times New Roman" pitchFamily="18" charset="0"/>
                </a:rPr>
                <a:t>31</a:t>
              </a:r>
            </a:p>
          </p:txBody>
        </p:sp>
        <p:sp>
          <p:nvSpPr>
            <p:cNvPr id="37938" name="Line 12"/>
            <p:cNvSpPr>
              <a:spLocks noChangeShapeType="1"/>
            </p:cNvSpPr>
            <p:nvPr/>
          </p:nvSpPr>
          <p:spPr bwMode="auto">
            <a:xfrm>
              <a:off x="2085" y="2976"/>
              <a:ext cx="190" cy="19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800"/>
            </a:p>
          </p:txBody>
        </p:sp>
        <p:sp>
          <p:nvSpPr>
            <p:cNvPr id="37939" name="Rectangle 13"/>
            <p:cNvSpPr>
              <a:spLocks noChangeArrowheads="1"/>
            </p:cNvSpPr>
            <p:nvPr/>
          </p:nvSpPr>
          <p:spPr bwMode="auto">
            <a:xfrm>
              <a:off x="1632" y="2832"/>
              <a:ext cx="24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anchor="ctr"/>
            <a:lstStyle/>
            <a:p>
              <a:pPr algn="ctr"/>
              <a:r>
                <a:rPr lang="en-US" altLang="zh-CN" sz="1800" b="1">
                  <a:latin typeface="Times New Roman" pitchFamily="18" charset="0"/>
                </a:rPr>
                <a:t>[1]</a:t>
              </a:r>
            </a:p>
          </p:txBody>
        </p:sp>
        <p:sp>
          <p:nvSpPr>
            <p:cNvPr id="37940" name="Rectangle 14"/>
            <p:cNvSpPr>
              <a:spLocks noChangeArrowheads="1"/>
            </p:cNvSpPr>
            <p:nvPr/>
          </p:nvSpPr>
          <p:spPr bwMode="auto">
            <a:xfrm>
              <a:off x="1248" y="3168"/>
              <a:ext cx="24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anchor="ctr"/>
            <a:lstStyle/>
            <a:p>
              <a:pPr algn="ctr"/>
              <a:r>
                <a:rPr lang="en-US" altLang="zh-CN" sz="1800" b="1">
                  <a:latin typeface="Times New Roman" pitchFamily="18" charset="0"/>
                </a:rPr>
                <a:t>[2]</a:t>
              </a:r>
            </a:p>
          </p:txBody>
        </p:sp>
        <p:sp>
          <p:nvSpPr>
            <p:cNvPr id="37941" name="Rectangle 15"/>
            <p:cNvSpPr>
              <a:spLocks noChangeArrowheads="1"/>
            </p:cNvSpPr>
            <p:nvPr/>
          </p:nvSpPr>
          <p:spPr bwMode="auto">
            <a:xfrm>
              <a:off x="1920" y="3168"/>
              <a:ext cx="24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anchor="ctr"/>
            <a:lstStyle/>
            <a:p>
              <a:pPr algn="ctr"/>
              <a:r>
                <a:rPr lang="en-US" altLang="zh-CN" sz="1800" b="1">
                  <a:latin typeface="Times New Roman" pitchFamily="18" charset="0"/>
                </a:rPr>
                <a:t>[3]</a:t>
              </a:r>
            </a:p>
          </p:txBody>
        </p:sp>
        <p:sp>
          <p:nvSpPr>
            <p:cNvPr id="37942" name="Rectangle 16"/>
            <p:cNvSpPr>
              <a:spLocks noChangeArrowheads="1"/>
            </p:cNvSpPr>
            <p:nvPr/>
          </p:nvSpPr>
          <p:spPr bwMode="auto">
            <a:xfrm>
              <a:off x="1200" y="3840"/>
              <a:ext cx="24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anchor="ctr"/>
            <a:lstStyle/>
            <a:p>
              <a:pPr algn="ctr"/>
              <a:r>
                <a:rPr lang="en-US" altLang="zh-CN" sz="1800" b="1">
                  <a:latin typeface="Times New Roman" pitchFamily="18" charset="0"/>
                </a:rPr>
                <a:t>[4]</a:t>
              </a:r>
            </a:p>
          </p:txBody>
        </p:sp>
        <p:sp>
          <p:nvSpPr>
            <p:cNvPr id="37943" name="Oval 17"/>
            <p:cNvSpPr>
              <a:spLocks noChangeArrowheads="1"/>
            </p:cNvSpPr>
            <p:nvPr/>
          </p:nvSpPr>
          <p:spPr bwMode="auto">
            <a:xfrm flipH="1">
              <a:off x="1680" y="3552"/>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1800" b="1">
                  <a:latin typeface="Times New Roman" pitchFamily="18" charset="0"/>
                </a:rPr>
                <a:t>10</a:t>
              </a:r>
            </a:p>
          </p:txBody>
        </p:sp>
        <p:sp>
          <p:nvSpPr>
            <p:cNvPr id="37944" name="Line 18"/>
            <p:cNvSpPr>
              <a:spLocks noChangeShapeType="1"/>
            </p:cNvSpPr>
            <p:nvPr/>
          </p:nvSpPr>
          <p:spPr bwMode="auto">
            <a:xfrm>
              <a:off x="1657" y="3386"/>
              <a:ext cx="145" cy="16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800"/>
            </a:p>
          </p:txBody>
        </p:sp>
        <p:sp>
          <p:nvSpPr>
            <p:cNvPr id="37945" name="Rectangle 19"/>
            <p:cNvSpPr>
              <a:spLocks noChangeArrowheads="1"/>
            </p:cNvSpPr>
            <p:nvPr/>
          </p:nvSpPr>
          <p:spPr bwMode="auto">
            <a:xfrm>
              <a:off x="1680" y="3840"/>
              <a:ext cx="24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anchor="ctr"/>
            <a:lstStyle/>
            <a:p>
              <a:pPr algn="ctr"/>
              <a:r>
                <a:rPr lang="en-US" altLang="zh-CN" sz="1800" b="1">
                  <a:latin typeface="Times New Roman" pitchFamily="18" charset="0"/>
                </a:rPr>
                <a:t>[5]</a:t>
              </a:r>
            </a:p>
          </p:txBody>
        </p:sp>
        <p:sp>
          <p:nvSpPr>
            <p:cNvPr id="37946" name="Oval 20"/>
            <p:cNvSpPr>
              <a:spLocks noChangeArrowheads="1"/>
            </p:cNvSpPr>
            <p:nvPr/>
          </p:nvSpPr>
          <p:spPr bwMode="auto">
            <a:xfrm flipH="1">
              <a:off x="1968" y="3552"/>
              <a:ext cx="240" cy="240"/>
            </a:xfrm>
            <a:prstGeom prst="ellipse">
              <a:avLst/>
            </a:prstGeom>
            <a:solidFill>
              <a:srgbClr val="C0C0C0"/>
            </a:solidFill>
            <a:ln w="25400">
              <a:solidFill>
                <a:schemeClr val="tx1"/>
              </a:solidFill>
              <a:round/>
              <a:headEnd/>
              <a:tailEnd/>
            </a:ln>
          </p:spPr>
          <p:txBody>
            <a:bodyPr wrap="none" anchor="ctr"/>
            <a:lstStyle/>
            <a:p>
              <a:pPr algn="ctr"/>
              <a:endParaRPr lang="zh-CN" altLang="zh-CN" sz="1800" b="1">
                <a:latin typeface="Times New Roman" pitchFamily="18" charset="0"/>
              </a:endParaRPr>
            </a:p>
          </p:txBody>
        </p:sp>
        <p:sp>
          <p:nvSpPr>
            <p:cNvPr id="37947" name="Rectangle 21"/>
            <p:cNvSpPr>
              <a:spLocks noChangeArrowheads="1"/>
            </p:cNvSpPr>
            <p:nvPr/>
          </p:nvSpPr>
          <p:spPr bwMode="auto">
            <a:xfrm>
              <a:off x="1968" y="3840"/>
              <a:ext cx="24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anchor="ctr"/>
            <a:lstStyle/>
            <a:p>
              <a:pPr algn="ctr"/>
              <a:r>
                <a:rPr lang="en-US" altLang="zh-CN" sz="1800" b="1">
                  <a:latin typeface="Times New Roman" pitchFamily="18" charset="0"/>
                </a:rPr>
                <a:t>[6]</a:t>
              </a:r>
            </a:p>
          </p:txBody>
        </p:sp>
        <p:sp>
          <p:nvSpPr>
            <p:cNvPr id="37948" name="Line 22"/>
            <p:cNvSpPr>
              <a:spLocks noChangeShapeType="1"/>
            </p:cNvSpPr>
            <p:nvPr/>
          </p:nvSpPr>
          <p:spPr bwMode="auto">
            <a:xfrm flipH="1">
              <a:off x="2137" y="3408"/>
              <a:ext cx="96" cy="16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800"/>
            </a:p>
          </p:txBody>
        </p:sp>
      </p:grpSp>
      <p:sp>
        <p:nvSpPr>
          <p:cNvPr id="33816" name="AutoShape 24"/>
          <p:cNvSpPr>
            <a:spLocks noChangeArrowheads="1"/>
          </p:cNvSpPr>
          <p:nvPr/>
        </p:nvSpPr>
        <p:spPr bwMode="auto">
          <a:xfrm>
            <a:off x="4000500" y="1824038"/>
            <a:ext cx="4429125" cy="1247775"/>
          </a:xfrm>
          <a:prstGeom prst="wedgeRoundRectCallout">
            <a:avLst>
              <a:gd name="adj1" fmla="val -78144"/>
              <a:gd name="adj2" fmla="val 32574"/>
              <a:gd name="adj3" fmla="val 16667"/>
            </a:avLst>
          </a:prstGeom>
          <a:gradFill rotWithShape="0">
            <a:gsLst>
              <a:gs pos="0">
                <a:srgbClr val="C2C2C2"/>
              </a:gs>
              <a:gs pos="50000">
                <a:srgbClr val="FFFFFF"/>
              </a:gs>
              <a:gs pos="100000">
                <a:srgbClr val="C2C2C2"/>
              </a:gs>
            </a:gsLst>
            <a:lin ang="0" scaled="1"/>
          </a:gradFill>
          <a:ln w="25400">
            <a:solidFill>
              <a:schemeClr val="tx1"/>
            </a:solidFill>
            <a:miter lim="800000"/>
            <a:headEnd/>
            <a:tailEnd/>
          </a:ln>
        </p:spPr>
        <p:txBody>
          <a:bodyPr wrap="none" anchor="ctr"/>
          <a:lstStyle/>
          <a:p>
            <a:pPr algn="ctr"/>
            <a:r>
              <a:rPr lang="zh-CN" altLang="en-US" sz="1800" b="1" dirty="0">
                <a:latin typeface="Times New Roman" pitchFamily="18" charset="0"/>
              </a:rPr>
              <a:t>从堆的完全二叉树结构要求来说，</a:t>
            </a:r>
            <a:endParaRPr lang="en-US" altLang="zh-CN" sz="1800" b="1" dirty="0">
              <a:latin typeface="Times New Roman" pitchFamily="18" charset="0"/>
            </a:endParaRPr>
          </a:p>
          <a:p>
            <a:pPr algn="ctr"/>
            <a:r>
              <a:rPr lang="zh-CN" altLang="en-US" sz="1800" b="1" dirty="0">
                <a:latin typeface="Times New Roman" pitchFamily="18" charset="0"/>
              </a:rPr>
              <a:t>新结点的位置必须在这里。</a:t>
            </a:r>
            <a:endParaRPr lang="en-US" altLang="zh-CN" sz="1800" b="1" dirty="0">
              <a:latin typeface="Times New Roman" pitchFamily="18" charset="0"/>
            </a:endParaRPr>
          </a:p>
        </p:txBody>
      </p:sp>
      <p:sp>
        <p:nvSpPr>
          <p:cNvPr id="33817" name="Text Box 25"/>
          <p:cNvSpPr txBox="1">
            <a:spLocks noChangeArrowheads="1"/>
          </p:cNvSpPr>
          <p:nvPr/>
        </p:nvSpPr>
        <p:spPr bwMode="auto">
          <a:xfrm>
            <a:off x="323528" y="3790950"/>
            <a:ext cx="36769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spcBef>
                <a:spcPct val="50000"/>
              </a:spcBef>
            </a:pPr>
            <a:r>
              <a:rPr lang="en-US" altLang="zh-CN" sz="2400" b="1" dirty="0">
                <a:latin typeface="Times New Roman" pitchFamily="18" charset="0"/>
              </a:rPr>
              <a:t>Case 1 :  </a:t>
            </a:r>
            <a:r>
              <a:rPr lang="en-US" altLang="zh-CN" sz="2400" b="1" dirty="0" err="1">
                <a:latin typeface="Times New Roman" pitchFamily="18" charset="0"/>
              </a:rPr>
              <a:t>new_item</a:t>
            </a:r>
            <a:r>
              <a:rPr lang="en-US" altLang="zh-CN" sz="2400" b="1" dirty="0">
                <a:latin typeface="Times New Roman" pitchFamily="18" charset="0"/>
              </a:rPr>
              <a:t> = 20</a:t>
            </a:r>
          </a:p>
        </p:txBody>
      </p:sp>
      <p:sp>
        <p:nvSpPr>
          <p:cNvPr id="33818" name="Oval 26"/>
          <p:cNvSpPr>
            <a:spLocks noChangeArrowheads="1"/>
          </p:cNvSpPr>
          <p:nvPr/>
        </p:nvSpPr>
        <p:spPr bwMode="auto">
          <a:xfrm flipH="1">
            <a:off x="2286000" y="2714625"/>
            <a:ext cx="381000" cy="381000"/>
          </a:xfrm>
          <a:prstGeom prst="ellipse">
            <a:avLst/>
          </a:prstGeom>
          <a:solidFill>
            <a:schemeClr val="bg1"/>
          </a:solidFill>
          <a:ln w="25400">
            <a:solidFill>
              <a:schemeClr val="tx1"/>
            </a:solidFill>
            <a:round/>
            <a:headEnd/>
            <a:tailEnd/>
          </a:ln>
        </p:spPr>
        <p:txBody>
          <a:bodyPr wrap="none" anchor="ctr"/>
          <a:lstStyle/>
          <a:p>
            <a:pPr algn="ctr"/>
            <a:r>
              <a:rPr lang="en-US" altLang="zh-CN" sz="1800" b="1">
                <a:solidFill>
                  <a:schemeClr val="hlink"/>
                </a:solidFill>
                <a:latin typeface="Times New Roman" pitchFamily="18" charset="0"/>
              </a:rPr>
              <a:t>20</a:t>
            </a:r>
            <a:endParaRPr lang="en-US" altLang="zh-CN" sz="1800" b="1">
              <a:latin typeface="Times New Roman" pitchFamily="18" charset="0"/>
            </a:endParaRPr>
          </a:p>
        </p:txBody>
      </p:sp>
      <p:grpSp>
        <p:nvGrpSpPr>
          <p:cNvPr id="3" name="Group 27"/>
          <p:cNvGrpSpPr>
            <a:grpSpLocks/>
          </p:cNvGrpSpPr>
          <p:nvPr/>
        </p:nvGrpSpPr>
        <p:grpSpPr bwMode="auto">
          <a:xfrm>
            <a:off x="4079875" y="3790950"/>
            <a:ext cx="1219200" cy="381000"/>
            <a:chOff x="2496" y="2256"/>
            <a:chExt cx="768" cy="240"/>
          </a:xfrm>
        </p:grpSpPr>
        <p:sp>
          <p:nvSpPr>
            <p:cNvPr id="37929" name="Oval 28"/>
            <p:cNvSpPr>
              <a:spLocks noChangeArrowheads="1"/>
            </p:cNvSpPr>
            <p:nvPr/>
          </p:nvSpPr>
          <p:spPr bwMode="auto">
            <a:xfrm flipH="1">
              <a:off x="2496" y="2256"/>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latin typeface="Times New Roman" pitchFamily="18" charset="0"/>
                </a:rPr>
                <a:t>20</a:t>
              </a:r>
            </a:p>
          </p:txBody>
        </p:sp>
        <p:sp>
          <p:nvSpPr>
            <p:cNvPr id="37930" name="Oval 29"/>
            <p:cNvSpPr>
              <a:spLocks noChangeArrowheads="1"/>
            </p:cNvSpPr>
            <p:nvPr/>
          </p:nvSpPr>
          <p:spPr bwMode="auto">
            <a:xfrm flipH="1">
              <a:off x="3024" y="2256"/>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solidFill>
                    <a:schemeClr val="hlink"/>
                  </a:solidFill>
                  <a:latin typeface="Times New Roman" pitchFamily="18" charset="0"/>
                </a:rPr>
                <a:t>31</a:t>
              </a:r>
              <a:endParaRPr lang="en-US" altLang="zh-CN" sz="2000" b="1">
                <a:latin typeface="Times New Roman" pitchFamily="18" charset="0"/>
              </a:endParaRPr>
            </a:p>
          </p:txBody>
        </p:sp>
        <p:sp>
          <p:nvSpPr>
            <p:cNvPr id="37931" name="Rectangle 30"/>
            <p:cNvSpPr>
              <a:spLocks noChangeArrowheads="1"/>
            </p:cNvSpPr>
            <p:nvPr/>
          </p:nvSpPr>
          <p:spPr bwMode="auto">
            <a:xfrm>
              <a:off x="2784" y="2256"/>
              <a:ext cx="192"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anchor="ctr"/>
            <a:lstStyle/>
            <a:p>
              <a:pPr algn="ctr"/>
              <a:r>
                <a:rPr lang="en-US" altLang="zh-CN" sz="2000" b="1">
                  <a:latin typeface="Times New Roman" pitchFamily="18" charset="0"/>
                </a:rPr>
                <a:t>&lt;</a:t>
              </a:r>
            </a:p>
          </p:txBody>
        </p:sp>
      </p:grpSp>
      <p:graphicFrame>
        <p:nvGraphicFramePr>
          <p:cNvPr id="33823" name="Object 2"/>
          <p:cNvGraphicFramePr>
            <a:graphicFrameLocks noChangeAspect="1"/>
          </p:cNvGraphicFramePr>
          <p:nvPr>
            <p:extLst>
              <p:ext uri="{D42A27DB-BD31-4B8C-83A1-F6EECF244321}">
                <p14:modId xmlns:p14="http://schemas.microsoft.com/office/powerpoint/2010/main" val="3929025886"/>
              </p:ext>
            </p:extLst>
          </p:nvPr>
        </p:nvGraphicFramePr>
        <p:xfrm>
          <a:off x="5527675" y="3562350"/>
          <a:ext cx="466725" cy="685800"/>
        </p:xfrm>
        <a:graphic>
          <a:graphicData uri="http://schemas.openxmlformats.org/presentationml/2006/ole">
            <mc:AlternateContent xmlns:mc="http://schemas.openxmlformats.org/markup-compatibility/2006">
              <mc:Choice xmlns:v="urn:schemas-microsoft-com:vml" Requires="v">
                <p:oleObj spid="_x0000_s19524" name="剪辑" r:id="rId10" imgW="1554370" imgH="2286549" progId="">
                  <p:embed/>
                </p:oleObj>
              </mc:Choice>
              <mc:Fallback>
                <p:oleObj name="剪辑" r:id="rId10" imgW="1554370" imgH="2286549" progId="">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527675" y="3562350"/>
                        <a:ext cx="46672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3824" name="Text Box 32"/>
          <p:cNvSpPr txBox="1">
            <a:spLocks noChangeArrowheads="1"/>
          </p:cNvSpPr>
          <p:nvPr/>
        </p:nvSpPr>
        <p:spPr bwMode="auto">
          <a:xfrm>
            <a:off x="323528" y="4552950"/>
            <a:ext cx="36769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spcBef>
                <a:spcPct val="50000"/>
              </a:spcBef>
            </a:pPr>
            <a:r>
              <a:rPr lang="en-US" altLang="zh-CN" sz="2400" b="1" dirty="0">
                <a:latin typeface="Times New Roman" pitchFamily="18" charset="0"/>
              </a:rPr>
              <a:t>Case 2 :  </a:t>
            </a:r>
            <a:r>
              <a:rPr lang="en-US" altLang="zh-CN" sz="2400" b="1" dirty="0" err="1">
                <a:latin typeface="Times New Roman" pitchFamily="18" charset="0"/>
              </a:rPr>
              <a:t>new_item</a:t>
            </a:r>
            <a:r>
              <a:rPr lang="en-US" altLang="zh-CN" sz="2400" b="1" dirty="0">
                <a:latin typeface="Times New Roman" pitchFamily="18" charset="0"/>
              </a:rPr>
              <a:t> = 35</a:t>
            </a:r>
          </a:p>
        </p:txBody>
      </p:sp>
      <p:sp>
        <p:nvSpPr>
          <p:cNvPr id="33825" name="Oval 33"/>
          <p:cNvSpPr>
            <a:spLocks noChangeArrowheads="1"/>
          </p:cNvSpPr>
          <p:nvPr/>
        </p:nvSpPr>
        <p:spPr bwMode="auto">
          <a:xfrm flipH="1">
            <a:off x="2286000" y="2714625"/>
            <a:ext cx="381000" cy="381000"/>
          </a:xfrm>
          <a:prstGeom prst="ellipse">
            <a:avLst/>
          </a:prstGeom>
          <a:solidFill>
            <a:schemeClr val="bg1"/>
          </a:solidFill>
          <a:ln w="25400">
            <a:solidFill>
              <a:schemeClr val="tx1"/>
            </a:solidFill>
            <a:round/>
            <a:headEnd/>
            <a:tailEnd/>
          </a:ln>
        </p:spPr>
        <p:txBody>
          <a:bodyPr wrap="none" anchor="ctr"/>
          <a:lstStyle/>
          <a:p>
            <a:pPr algn="ctr"/>
            <a:r>
              <a:rPr lang="en-US" altLang="zh-CN" sz="1800" b="1">
                <a:solidFill>
                  <a:schemeClr val="hlink"/>
                </a:solidFill>
                <a:latin typeface="Times New Roman" pitchFamily="18" charset="0"/>
              </a:rPr>
              <a:t>35</a:t>
            </a:r>
            <a:endParaRPr lang="en-US" altLang="zh-CN" sz="1800" b="1">
              <a:latin typeface="Times New Roman" pitchFamily="18" charset="0"/>
            </a:endParaRPr>
          </a:p>
        </p:txBody>
      </p:sp>
      <p:grpSp>
        <p:nvGrpSpPr>
          <p:cNvPr id="4" name="Group 34"/>
          <p:cNvGrpSpPr>
            <a:grpSpLocks/>
          </p:cNvGrpSpPr>
          <p:nvPr/>
        </p:nvGrpSpPr>
        <p:grpSpPr bwMode="auto">
          <a:xfrm>
            <a:off x="4079875" y="4552950"/>
            <a:ext cx="1219200" cy="381000"/>
            <a:chOff x="2496" y="2256"/>
            <a:chExt cx="768" cy="240"/>
          </a:xfrm>
        </p:grpSpPr>
        <p:sp>
          <p:nvSpPr>
            <p:cNvPr id="37926" name="Oval 35"/>
            <p:cNvSpPr>
              <a:spLocks noChangeArrowheads="1"/>
            </p:cNvSpPr>
            <p:nvPr/>
          </p:nvSpPr>
          <p:spPr bwMode="auto">
            <a:xfrm flipH="1">
              <a:off x="2496" y="2256"/>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latin typeface="Times New Roman" pitchFamily="18" charset="0"/>
                </a:rPr>
                <a:t>35</a:t>
              </a:r>
            </a:p>
          </p:txBody>
        </p:sp>
        <p:sp>
          <p:nvSpPr>
            <p:cNvPr id="37927" name="Oval 36"/>
            <p:cNvSpPr>
              <a:spLocks noChangeArrowheads="1"/>
            </p:cNvSpPr>
            <p:nvPr/>
          </p:nvSpPr>
          <p:spPr bwMode="auto">
            <a:xfrm flipH="1">
              <a:off x="3024" y="2256"/>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solidFill>
                    <a:schemeClr val="hlink"/>
                  </a:solidFill>
                  <a:latin typeface="Times New Roman" pitchFamily="18" charset="0"/>
                </a:rPr>
                <a:t>31</a:t>
              </a:r>
              <a:endParaRPr lang="en-US" altLang="zh-CN" sz="2000" b="1">
                <a:latin typeface="Times New Roman" pitchFamily="18" charset="0"/>
              </a:endParaRPr>
            </a:p>
          </p:txBody>
        </p:sp>
        <p:sp>
          <p:nvSpPr>
            <p:cNvPr id="37928" name="Rectangle 37"/>
            <p:cNvSpPr>
              <a:spLocks noChangeArrowheads="1"/>
            </p:cNvSpPr>
            <p:nvPr/>
          </p:nvSpPr>
          <p:spPr bwMode="auto">
            <a:xfrm>
              <a:off x="2784" y="2256"/>
              <a:ext cx="192"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anchor="ctr"/>
            <a:lstStyle/>
            <a:p>
              <a:pPr algn="ctr"/>
              <a:r>
                <a:rPr lang="en-US" altLang="zh-CN" sz="2000" b="1">
                  <a:latin typeface="Times New Roman" pitchFamily="18" charset="0"/>
                </a:rPr>
                <a:t>&gt;</a:t>
              </a:r>
            </a:p>
          </p:txBody>
        </p:sp>
      </p:grpSp>
      <p:sp>
        <p:nvSpPr>
          <p:cNvPr id="33830" name="Oval 38"/>
          <p:cNvSpPr>
            <a:spLocks noChangeArrowheads="1"/>
          </p:cNvSpPr>
          <p:nvPr/>
        </p:nvSpPr>
        <p:spPr bwMode="auto">
          <a:xfrm flipH="1">
            <a:off x="2571750" y="2119313"/>
            <a:ext cx="381000" cy="381000"/>
          </a:xfrm>
          <a:prstGeom prst="ellipse">
            <a:avLst/>
          </a:prstGeom>
          <a:solidFill>
            <a:schemeClr val="bg1"/>
          </a:solidFill>
          <a:ln w="25400">
            <a:solidFill>
              <a:schemeClr val="tx1"/>
            </a:solidFill>
            <a:round/>
            <a:headEnd/>
            <a:tailEnd/>
          </a:ln>
        </p:spPr>
        <p:txBody>
          <a:bodyPr wrap="none" anchor="ctr"/>
          <a:lstStyle/>
          <a:p>
            <a:pPr algn="ctr"/>
            <a:r>
              <a:rPr lang="en-US" altLang="zh-CN" sz="1800" b="1">
                <a:solidFill>
                  <a:schemeClr val="hlink"/>
                </a:solidFill>
                <a:latin typeface="Times New Roman" pitchFamily="18" charset="0"/>
              </a:rPr>
              <a:t>35</a:t>
            </a:r>
            <a:endParaRPr lang="en-US" altLang="zh-CN" sz="1800" b="1">
              <a:latin typeface="Times New Roman" pitchFamily="18" charset="0"/>
            </a:endParaRPr>
          </a:p>
        </p:txBody>
      </p:sp>
      <p:sp>
        <p:nvSpPr>
          <p:cNvPr id="33831" name="Oval 39"/>
          <p:cNvSpPr>
            <a:spLocks noChangeArrowheads="1"/>
          </p:cNvSpPr>
          <p:nvPr/>
        </p:nvSpPr>
        <p:spPr bwMode="auto">
          <a:xfrm flipH="1">
            <a:off x="2286000" y="2714625"/>
            <a:ext cx="381000" cy="381000"/>
          </a:xfrm>
          <a:prstGeom prst="ellipse">
            <a:avLst/>
          </a:prstGeom>
          <a:solidFill>
            <a:schemeClr val="bg1"/>
          </a:solidFill>
          <a:ln w="25400">
            <a:solidFill>
              <a:schemeClr val="tx1"/>
            </a:solidFill>
            <a:round/>
            <a:headEnd/>
            <a:tailEnd/>
          </a:ln>
        </p:spPr>
        <p:txBody>
          <a:bodyPr wrap="none" anchor="ctr"/>
          <a:lstStyle/>
          <a:p>
            <a:pPr algn="ctr"/>
            <a:r>
              <a:rPr lang="en-US" altLang="zh-CN" sz="1800" b="1" dirty="0">
                <a:latin typeface="Times New Roman" pitchFamily="18" charset="0"/>
              </a:rPr>
              <a:t>31</a:t>
            </a:r>
          </a:p>
        </p:txBody>
      </p:sp>
      <p:grpSp>
        <p:nvGrpSpPr>
          <p:cNvPr id="5" name="Group 40"/>
          <p:cNvGrpSpPr>
            <a:grpSpLocks/>
          </p:cNvGrpSpPr>
          <p:nvPr/>
        </p:nvGrpSpPr>
        <p:grpSpPr bwMode="auto">
          <a:xfrm>
            <a:off x="5527675" y="4552950"/>
            <a:ext cx="1219200" cy="381000"/>
            <a:chOff x="2496" y="2256"/>
            <a:chExt cx="768" cy="240"/>
          </a:xfrm>
        </p:grpSpPr>
        <p:sp>
          <p:nvSpPr>
            <p:cNvPr id="37923" name="Oval 41"/>
            <p:cNvSpPr>
              <a:spLocks noChangeArrowheads="1"/>
            </p:cNvSpPr>
            <p:nvPr/>
          </p:nvSpPr>
          <p:spPr bwMode="auto">
            <a:xfrm flipH="1">
              <a:off x="2496" y="2256"/>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latin typeface="Times New Roman" pitchFamily="18" charset="0"/>
                </a:rPr>
                <a:t>35</a:t>
              </a:r>
            </a:p>
          </p:txBody>
        </p:sp>
        <p:sp>
          <p:nvSpPr>
            <p:cNvPr id="37924" name="Oval 42"/>
            <p:cNvSpPr>
              <a:spLocks noChangeArrowheads="1"/>
            </p:cNvSpPr>
            <p:nvPr/>
          </p:nvSpPr>
          <p:spPr bwMode="auto">
            <a:xfrm flipH="1">
              <a:off x="3024" y="2256"/>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solidFill>
                    <a:schemeClr val="hlink"/>
                  </a:solidFill>
                  <a:latin typeface="Times New Roman" pitchFamily="18" charset="0"/>
                </a:rPr>
                <a:t>44</a:t>
              </a:r>
              <a:endParaRPr lang="en-US" altLang="zh-CN" sz="2000" b="1">
                <a:latin typeface="Times New Roman" pitchFamily="18" charset="0"/>
              </a:endParaRPr>
            </a:p>
          </p:txBody>
        </p:sp>
        <p:sp>
          <p:nvSpPr>
            <p:cNvPr id="37925" name="Rectangle 43"/>
            <p:cNvSpPr>
              <a:spLocks noChangeArrowheads="1"/>
            </p:cNvSpPr>
            <p:nvPr/>
          </p:nvSpPr>
          <p:spPr bwMode="auto">
            <a:xfrm>
              <a:off x="2784" y="2256"/>
              <a:ext cx="192"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anchor="ctr"/>
            <a:lstStyle/>
            <a:p>
              <a:pPr algn="ctr"/>
              <a:r>
                <a:rPr lang="en-US" altLang="zh-CN" sz="2000" b="1">
                  <a:latin typeface="Times New Roman" pitchFamily="18" charset="0"/>
                </a:rPr>
                <a:t>&lt;</a:t>
              </a:r>
            </a:p>
          </p:txBody>
        </p:sp>
      </p:grpSp>
      <p:graphicFrame>
        <p:nvGraphicFramePr>
          <p:cNvPr id="33836" name="Object 3"/>
          <p:cNvGraphicFramePr>
            <a:graphicFrameLocks noChangeAspect="1"/>
          </p:cNvGraphicFramePr>
          <p:nvPr>
            <p:extLst>
              <p:ext uri="{D42A27DB-BD31-4B8C-83A1-F6EECF244321}">
                <p14:modId xmlns:p14="http://schemas.microsoft.com/office/powerpoint/2010/main" val="1838470972"/>
              </p:ext>
            </p:extLst>
          </p:nvPr>
        </p:nvGraphicFramePr>
        <p:xfrm>
          <a:off x="6975475" y="4324350"/>
          <a:ext cx="466725" cy="685800"/>
        </p:xfrm>
        <a:graphic>
          <a:graphicData uri="http://schemas.openxmlformats.org/presentationml/2006/ole">
            <mc:AlternateContent xmlns:mc="http://schemas.openxmlformats.org/markup-compatibility/2006">
              <mc:Choice xmlns:v="urn:schemas-microsoft-com:vml" Requires="v">
                <p:oleObj spid="_x0000_s19525" name="剪辑" r:id="rId12" imgW="1554370" imgH="2286549" progId="">
                  <p:embed/>
                </p:oleObj>
              </mc:Choice>
              <mc:Fallback>
                <p:oleObj name="剪辑" r:id="rId12" imgW="1554370" imgH="2286549" progId="">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975475" y="4324350"/>
                        <a:ext cx="46672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3837" name="Text Box 45"/>
          <p:cNvSpPr txBox="1">
            <a:spLocks noChangeArrowheads="1"/>
          </p:cNvSpPr>
          <p:nvPr/>
        </p:nvSpPr>
        <p:spPr bwMode="auto">
          <a:xfrm>
            <a:off x="323528" y="5391150"/>
            <a:ext cx="36769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spcBef>
                <a:spcPct val="50000"/>
              </a:spcBef>
            </a:pPr>
            <a:r>
              <a:rPr lang="en-US" altLang="zh-CN" sz="2400" b="1" dirty="0">
                <a:latin typeface="Times New Roman" pitchFamily="18" charset="0"/>
              </a:rPr>
              <a:t>Case 3 :  </a:t>
            </a:r>
            <a:r>
              <a:rPr lang="en-US" altLang="zh-CN" sz="2400" b="1" dirty="0" err="1">
                <a:latin typeface="Times New Roman" pitchFamily="18" charset="0"/>
              </a:rPr>
              <a:t>new_item</a:t>
            </a:r>
            <a:r>
              <a:rPr lang="en-US" altLang="zh-CN" sz="2400" b="1" dirty="0">
                <a:latin typeface="Times New Roman" pitchFamily="18" charset="0"/>
              </a:rPr>
              <a:t> = 58</a:t>
            </a:r>
          </a:p>
        </p:txBody>
      </p:sp>
      <p:grpSp>
        <p:nvGrpSpPr>
          <p:cNvPr id="6" name="Group 46"/>
          <p:cNvGrpSpPr>
            <a:grpSpLocks/>
          </p:cNvGrpSpPr>
          <p:nvPr/>
        </p:nvGrpSpPr>
        <p:grpSpPr bwMode="auto">
          <a:xfrm>
            <a:off x="4079875" y="5391150"/>
            <a:ext cx="1219200" cy="381000"/>
            <a:chOff x="2496" y="2256"/>
            <a:chExt cx="768" cy="240"/>
          </a:xfrm>
        </p:grpSpPr>
        <p:sp>
          <p:nvSpPr>
            <p:cNvPr id="37920" name="Oval 47"/>
            <p:cNvSpPr>
              <a:spLocks noChangeArrowheads="1"/>
            </p:cNvSpPr>
            <p:nvPr/>
          </p:nvSpPr>
          <p:spPr bwMode="auto">
            <a:xfrm flipH="1">
              <a:off x="2496" y="2256"/>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latin typeface="Times New Roman" pitchFamily="18" charset="0"/>
                </a:rPr>
                <a:t>58</a:t>
              </a:r>
            </a:p>
          </p:txBody>
        </p:sp>
        <p:sp>
          <p:nvSpPr>
            <p:cNvPr id="37921" name="Oval 48"/>
            <p:cNvSpPr>
              <a:spLocks noChangeArrowheads="1"/>
            </p:cNvSpPr>
            <p:nvPr/>
          </p:nvSpPr>
          <p:spPr bwMode="auto">
            <a:xfrm flipH="1">
              <a:off x="3024" y="2256"/>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solidFill>
                    <a:schemeClr val="hlink"/>
                  </a:solidFill>
                  <a:latin typeface="Times New Roman" pitchFamily="18" charset="0"/>
                </a:rPr>
                <a:t>31</a:t>
              </a:r>
              <a:endParaRPr lang="en-US" altLang="zh-CN" sz="2000" b="1">
                <a:latin typeface="Times New Roman" pitchFamily="18" charset="0"/>
              </a:endParaRPr>
            </a:p>
          </p:txBody>
        </p:sp>
        <p:sp>
          <p:nvSpPr>
            <p:cNvPr id="37922" name="Rectangle 49"/>
            <p:cNvSpPr>
              <a:spLocks noChangeArrowheads="1"/>
            </p:cNvSpPr>
            <p:nvPr/>
          </p:nvSpPr>
          <p:spPr bwMode="auto">
            <a:xfrm>
              <a:off x="2784" y="2256"/>
              <a:ext cx="192"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anchor="ctr"/>
            <a:lstStyle/>
            <a:p>
              <a:pPr algn="ctr"/>
              <a:r>
                <a:rPr lang="en-US" altLang="zh-CN" sz="2000" b="1">
                  <a:latin typeface="Times New Roman" pitchFamily="18" charset="0"/>
                </a:rPr>
                <a:t>&gt;</a:t>
              </a:r>
            </a:p>
          </p:txBody>
        </p:sp>
      </p:grpSp>
      <p:sp>
        <p:nvSpPr>
          <p:cNvPr id="33842" name="Oval 50"/>
          <p:cNvSpPr>
            <a:spLocks noChangeArrowheads="1"/>
          </p:cNvSpPr>
          <p:nvPr/>
        </p:nvSpPr>
        <p:spPr bwMode="auto">
          <a:xfrm flipH="1">
            <a:off x="2571750" y="2119313"/>
            <a:ext cx="381000" cy="381000"/>
          </a:xfrm>
          <a:prstGeom prst="ellipse">
            <a:avLst/>
          </a:prstGeom>
          <a:solidFill>
            <a:schemeClr val="bg1"/>
          </a:solidFill>
          <a:ln w="25400">
            <a:solidFill>
              <a:schemeClr val="tx1"/>
            </a:solidFill>
            <a:round/>
            <a:headEnd/>
            <a:tailEnd/>
          </a:ln>
        </p:spPr>
        <p:txBody>
          <a:bodyPr wrap="none" anchor="ctr"/>
          <a:lstStyle/>
          <a:p>
            <a:pPr algn="ctr"/>
            <a:r>
              <a:rPr lang="en-US" altLang="zh-CN" sz="1800" b="1">
                <a:solidFill>
                  <a:schemeClr val="hlink"/>
                </a:solidFill>
                <a:latin typeface="Times New Roman" pitchFamily="18" charset="0"/>
              </a:rPr>
              <a:t>58</a:t>
            </a:r>
            <a:endParaRPr lang="en-US" altLang="zh-CN" sz="1800" b="1">
              <a:latin typeface="Times New Roman" pitchFamily="18" charset="0"/>
            </a:endParaRPr>
          </a:p>
        </p:txBody>
      </p:sp>
      <p:grpSp>
        <p:nvGrpSpPr>
          <p:cNvPr id="7" name="Group 51"/>
          <p:cNvGrpSpPr>
            <a:grpSpLocks/>
          </p:cNvGrpSpPr>
          <p:nvPr/>
        </p:nvGrpSpPr>
        <p:grpSpPr bwMode="auto">
          <a:xfrm>
            <a:off x="5527675" y="5391150"/>
            <a:ext cx="1219200" cy="381000"/>
            <a:chOff x="2496" y="2256"/>
            <a:chExt cx="768" cy="240"/>
          </a:xfrm>
        </p:grpSpPr>
        <p:sp>
          <p:nvSpPr>
            <p:cNvPr id="37917" name="Oval 52"/>
            <p:cNvSpPr>
              <a:spLocks noChangeArrowheads="1"/>
            </p:cNvSpPr>
            <p:nvPr/>
          </p:nvSpPr>
          <p:spPr bwMode="auto">
            <a:xfrm flipH="1">
              <a:off x="2496" y="2256"/>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latin typeface="Times New Roman" pitchFamily="18" charset="0"/>
                </a:rPr>
                <a:t>58</a:t>
              </a:r>
            </a:p>
          </p:txBody>
        </p:sp>
        <p:sp>
          <p:nvSpPr>
            <p:cNvPr id="37918" name="Oval 53"/>
            <p:cNvSpPr>
              <a:spLocks noChangeArrowheads="1"/>
            </p:cNvSpPr>
            <p:nvPr/>
          </p:nvSpPr>
          <p:spPr bwMode="auto">
            <a:xfrm flipH="1">
              <a:off x="3024" y="2256"/>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solidFill>
                    <a:schemeClr val="hlink"/>
                  </a:solidFill>
                  <a:latin typeface="Times New Roman" pitchFamily="18" charset="0"/>
                </a:rPr>
                <a:t>44</a:t>
              </a:r>
              <a:endParaRPr lang="en-US" altLang="zh-CN" sz="2000" b="1">
                <a:latin typeface="Times New Roman" pitchFamily="18" charset="0"/>
              </a:endParaRPr>
            </a:p>
          </p:txBody>
        </p:sp>
        <p:sp>
          <p:nvSpPr>
            <p:cNvPr id="37919" name="Rectangle 54"/>
            <p:cNvSpPr>
              <a:spLocks noChangeArrowheads="1"/>
            </p:cNvSpPr>
            <p:nvPr/>
          </p:nvSpPr>
          <p:spPr bwMode="auto">
            <a:xfrm>
              <a:off x="2784" y="2256"/>
              <a:ext cx="192"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anchor="ctr"/>
            <a:lstStyle/>
            <a:p>
              <a:pPr algn="ctr"/>
              <a:r>
                <a:rPr lang="en-US" altLang="zh-CN" sz="2000" b="1">
                  <a:latin typeface="Times New Roman" pitchFamily="18" charset="0"/>
                </a:rPr>
                <a:t>&gt;</a:t>
              </a:r>
            </a:p>
          </p:txBody>
        </p:sp>
      </p:grpSp>
      <p:sp>
        <p:nvSpPr>
          <p:cNvPr id="33847" name="Oval 55"/>
          <p:cNvSpPr>
            <a:spLocks noChangeArrowheads="1"/>
          </p:cNvSpPr>
          <p:nvPr/>
        </p:nvSpPr>
        <p:spPr bwMode="auto">
          <a:xfrm flipH="1">
            <a:off x="2143125" y="1500188"/>
            <a:ext cx="381000" cy="381000"/>
          </a:xfrm>
          <a:prstGeom prst="ellipse">
            <a:avLst/>
          </a:prstGeom>
          <a:solidFill>
            <a:schemeClr val="bg1"/>
          </a:solidFill>
          <a:ln w="25400">
            <a:solidFill>
              <a:schemeClr val="tx1"/>
            </a:solidFill>
            <a:round/>
            <a:headEnd/>
            <a:tailEnd/>
          </a:ln>
        </p:spPr>
        <p:txBody>
          <a:bodyPr wrap="none" anchor="ctr"/>
          <a:lstStyle/>
          <a:p>
            <a:pPr algn="ctr"/>
            <a:r>
              <a:rPr lang="en-US" altLang="zh-CN" sz="1800" b="1">
                <a:solidFill>
                  <a:schemeClr val="hlink"/>
                </a:solidFill>
                <a:latin typeface="Times New Roman" pitchFamily="18" charset="0"/>
              </a:rPr>
              <a:t>58</a:t>
            </a:r>
            <a:endParaRPr lang="en-US" altLang="zh-CN" sz="1800" b="1">
              <a:latin typeface="Times New Roman" pitchFamily="18" charset="0"/>
            </a:endParaRPr>
          </a:p>
        </p:txBody>
      </p:sp>
      <p:sp>
        <p:nvSpPr>
          <p:cNvPr id="33848" name="Oval 56"/>
          <p:cNvSpPr>
            <a:spLocks noChangeArrowheads="1"/>
          </p:cNvSpPr>
          <p:nvPr/>
        </p:nvSpPr>
        <p:spPr bwMode="auto">
          <a:xfrm flipH="1">
            <a:off x="2571750" y="2119313"/>
            <a:ext cx="381000" cy="381000"/>
          </a:xfrm>
          <a:prstGeom prst="ellipse">
            <a:avLst/>
          </a:prstGeom>
          <a:solidFill>
            <a:schemeClr val="bg1"/>
          </a:solidFill>
          <a:ln w="25400">
            <a:solidFill>
              <a:schemeClr val="tx1"/>
            </a:solidFill>
            <a:round/>
            <a:headEnd/>
            <a:tailEnd/>
          </a:ln>
        </p:spPr>
        <p:txBody>
          <a:bodyPr wrap="none" anchor="ctr"/>
          <a:lstStyle/>
          <a:p>
            <a:pPr algn="ctr"/>
            <a:r>
              <a:rPr lang="en-US" altLang="zh-CN" sz="1800" b="1">
                <a:latin typeface="Times New Roman" pitchFamily="18" charset="0"/>
              </a:rPr>
              <a:t>44</a:t>
            </a:r>
          </a:p>
        </p:txBody>
      </p:sp>
      <p:graphicFrame>
        <p:nvGraphicFramePr>
          <p:cNvPr id="33849" name="Object 4"/>
          <p:cNvGraphicFramePr>
            <a:graphicFrameLocks noChangeAspect="1"/>
          </p:cNvGraphicFramePr>
          <p:nvPr>
            <p:extLst>
              <p:ext uri="{D42A27DB-BD31-4B8C-83A1-F6EECF244321}">
                <p14:modId xmlns:p14="http://schemas.microsoft.com/office/powerpoint/2010/main" val="1754804807"/>
              </p:ext>
            </p:extLst>
          </p:nvPr>
        </p:nvGraphicFramePr>
        <p:xfrm>
          <a:off x="8713787" y="5143500"/>
          <a:ext cx="466725" cy="685800"/>
        </p:xfrm>
        <a:graphic>
          <a:graphicData uri="http://schemas.openxmlformats.org/presentationml/2006/ole">
            <mc:AlternateContent xmlns:mc="http://schemas.openxmlformats.org/markup-compatibility/2006">
              <mc:Choice xmlns:v="urn:schemas-microsoft-com:vml" Requires="v">
                <p:oleObj spid="_x0000_s19526" name="剪辑" r:id="rId13" imgW="1554370" imgH="2286549" progId="">
                  <p:embed/>
                </p:oleObj>
              </mc:Choice>
              <mc:Fallback>
                <p:oleObj name="剪辑" r:id="rId13" imgW="1554370" imgH="2286549" progId="">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713787" y="5143500"/>
                        <a:ext cx="46672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7911" name="矩形 58"/>
          <p:cNvSpPr>
            <a:spLocks noChangeArrowheads="1"/>
          </p:cNvSpPr>
          <p:nvPr/>
        </p:nvSpPr>
        <p:spPr bwMode="auto">
          <a:xfrm>
            <a:off x="785813" y="188640"/>
            <a:ext cx="25558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3200" b="1" dirty="0">
                <a:solidFill>
                  <a:schemeClr val="bg1"/>
                </a:solidFill>
                <a:latin typeface="Times New Roman" pitchFamily="18" charset="0"/>
                <a:sym typeface="Wingdings" pitchFamily="2" charset="2"/>
              </a:rPr>
              <a:t></a:t>
            </a:r>
            <a:r>
              <a:rPr lang="en-US" altLang="zh-CN" sz="2000" b="1" dirty="0">
                <a:solidFill>
                  <a:schemeClr val="bg1"/>
                </a:solidFill>
                <a:latin typeface="Times New Roman" pitchFamily="18" charset="0"/>
                <a:sym typeface="Wingdings" pitchFamily="2" charset="2"/>
              </a:rPr>
              <a:t>  </a:t>
            </a:r>
            <a:r>
              <a:rPr lang="zh-CN" altLang="en-US" sz="2400" b="1" dirty="0">
                <a:solidFill>
                  <a:schemeClr val="bg1"/>
                </a:solidFill>
                <a:latin typeface="Times New Roman" pitchFamily="18" charset="0"/>
              </a:rPr>
              <a:t>最大堆的插入</a:t>
            </a:r>
          </a:p>
        </p:txBody>
      </p:sp>
      <p:grpSp>
        <p:nvGrpSpPr>
          <p:cNvPr id="66" name="组合 65"/>
          <p:cNvGrpSpPr>
            <a:grpSpLocks/>
          </p:cNvGrpSpPr>
          <p:nvPr/>
        </p:nvGrpSpPr>
        <p:grpSpPr bwMode="auto">
          <a:xfrm>
            <a:off x="6999287" y="5405438"/>
            <a:ext cx="1681163" cy="381000"/>
            <a:chOff x="6572264" y="5405454"/>
            <a:chExt cx="1681169" cy="381000"/>
          </a:xfrm>
        </p:grpSpPr>
        <p:sp>
          <p:nvSpPr>
            <p:cNvPr id="37915" name="Oval 52"/>
            <p:cNvSpPr>
              <a:spLocks noChangeArrowheads="1"/>
            </p:cNvSpPr>
            <p:nvPr/>
          </p:nvSpPr>
          <p:spPr bwMode="auto">
            <a:xfrm flipH="1">
              <a:off x="6572264" y="5405454"/>
              <a:ext cx="369096" cy="38100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latin typeface="Times New Roman" pitchFamily="18" charset="0"/>
                </a:rPr>
                <a:t>58</a:t>
              </a:r>
            </a:p>
          </p:txBody>
        </p:sp>
        <p:sp>
          <p:nvSpPr>
            <p:cNvPr id="37916" name="Rectangle 54"/>
            <p:cNvSpPr>
              <a:spLocks noChangeArrowheads="1"/>
            </p:cNvSpPr>
            <p:nvPr/>
          </p:nvSpPr>
          <p:spPr bwMode="auto">
            <a:xfrm>
              <a:off x="7015179" y="5405454"/>
              <a:ext cx="1238254"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anchor="ctr"/>
            <a:lstStyle/>
            <a:p>
              <a:pPr algn="ctr"/>
              <a:r>
                <a:rPr lang="en-US" altLang="zh-CN" sz="2000" b="1">
                  <a:latin typeface="Times New Roman" pitchFamily="18" charset="0"/>
                </a:rPr>
                <a:t>&lt;  </a:t>
              </a:r>
              <a:r>
                <a:rPr lang="en-US" altLang="zh-CN" sz="2000" b="1">
                  <a:solidFill>
                    <a:srgbClr val="0000FF"/>
                  </a:solidFill>
                  <a:latin typeface="Times New Roman" pitchFamily="18" charset="0"/>
                </a:rPr>
                <a:t>MaxData </a:t>
              </a:r>
            </a:p>
          </p:txBody>
        </p:sp>
      </p:grpSp>
    </p:spTree>
    <p:extLst>
      <p:ext uri="{BB962C8B-B14F-4D97-AF65-F5344CB8AC3E}">
        <p14:creationId xmlns:p14="http://schemas.microsoft.com/office/powerpoint/2010/main" val="362859202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subTnLst>
                                    <p:audio>
                                      <p:cMediaNode>
                                        <p:cTn display="0" masterRel="sameClick">
                                          <p:stCondLst>
                                            <p:cond evt="begin" delay="0">
                                              <p:tn val="5"/>
                                            </p:cond>
                                          </p:stCondLst>
                                          <p:endCondLst>
                                            <p:cond evt="onStopAudio" delay="0">
                                              <p:tgtEl>
                                                <p:sldTgt/>
                                              </p:tgtEl>
                                            </p:cond>
                                          </p:endCondLst>
                                        </p:cTn>
                                        <p:tgtEl>
                                          <p:sndTgt r:embed="rId3" name="CAMERA.WAV"/>
                                        </p:tgtEl>
                                      </p:cMediaNode>
                                    </p:audio>
                                  </p:sub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3816"/>
                                        </p:tgtEl>
                                        <p:attrNameLst>
                                          <p:attrName>style.visibility</p:attrName>
                                        </p:attrNameLst>
                                      </p:cBhvr>
                                      <p:to>
                                        <p:strVal val="visible"/>
                                      </p:to>
                                    </p:set>
                                    <p:animEffect transition="in" filter="wipe(left)">
                                      <p:cBhvr>
                                        <p:cTn id="12" dur="500"/>
                                        <p:tgtEl>
                                          <p:spTgt spid="33816"/>
                                        </p:tgtEl>
                                      </p:cBhvr>
                                    </p:animEffect>
                                  </p:childTnLst>
                                  <p:subTnLst>
                                    <p:audio>
                                      <p:cMediaNode>
                                        <p:cTn display="0" masterRel="sameClick">
                                          <p:stCondLst>
                                            <p:cond evt="begin" delay="0">
                                              <p:tn val="10"/>
                                            </p:cond>
                                          </p:stCondLst>
                                          <p:endCondLst>
                                            <p:cond evt="onStopAudio" delay="0">
                                              <p:tgtEl>
                                                <p:sldTgt/>
                                              </p:tgtEl>
                                            </p:cond>
                                          </p:endCondLst>
                                        </p:cTn>
                                        <p:tgtEl>
                                          <p:sndTgt r:embed="rId4" name="WHOOSH.WAV"/>
                                        </p:tgtEl>
                                      </p:cMediaNode>
                                    </p:audio>
                                  </p:sub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33817"/>
                                        </p:tgtEl>
                                        <p:attrNameLst>
                                          <p:attrName>style.visibility</p:attrName>
                                        </p:attrNameLst>
                                      </p:cBhvr>
                                      <p:to>
                                        <p:strVal val="visible"/>
                                      </p:to>
                                    </p:set>
                                    <p:animEffect transition="in" filter="wipe(left)">
                                      <p:cBhvr>
                                        <p:cTn id="17" dur="500"/>
                                        <p:tgtEl>
                                          <p:spTgt spid="33817"/>
                                        </p:tgtEl>
                                      </p:cBhvr>
                                    </p:animEffect>
                                  </p:childTnLst>
                                  <p:subTnLst>
                                    <p:audio>
                                      <p:cMediaNode>
                                        <p:cTn display="0" masterRel="sameClick">
                                          <p:stCondLst>
                                            <p:cond evt="begin" delay="0">
                                              <p:tn val="15"/>
                                            </p:cond>
                                          </p:stCondLst>
                                          <p:endCondLst>
                                            <p:cond evt="onStopAudio" delay="0">
                                              <p:tgtEl>
                                                <p:sldTgt/>
                                              </p:tgtEl>
                                            </p:cond>
                                          </p:endCondLst>
                                        </p:cTn>
                                        <p:tgtEl>
                                          <p:sndTgt r:embed="rId5" name="TYPE.WAV"/>
                                        </p:tgtEl>
                                      </p:cMediaNode>
                                    </p:audio>
                                  </p:subTnLst>
                                </p:cTn>
                              </p:par>
                            </p:childTnLst>
                          </p:cTn>
                        </p:par>
                        <p:par>
                          <p:cTn id="18" fill="hold" nodeType="afterGroup">
                            <p:stCondLst>
                              <p:cond delay="500"/>
                            </p:stCondLst>
                            <p:childTnLst>
                              <p:par>
                                <p:cTn id="19" presetID="4" presetClass="entr" presetSubtype="32" fill="hold" grpId="0" nodeType="afterEffect">
                                  <p:stCondLst>
                                    <p:cond delay="0"/>
                                  </p:stCondLst>
                                  <p:childTnLst>
                                    <p:set>
                                      <p:cBhvr>
                                        <p:cTn id="20" dur="1" fill="hold">
                                          <p:stCondLst>
                                            <p:cond delay="0"/>
                                          </p:stCondLst>
                                        </p:cTn>
                                        <p:tgtEl>
                                          <p:spTgt spid="33818"/>
                                        </p:tgtEl>
                                        <p:attrNameLst>
                                          <p:attrName>style.visibility</p:attrName>
                                        </p:attrNameLst>
                                      </p:cBhvr>
                                      <p:to>
                                        <p:strVal val="visible"/>
                                      </p:to>
                                    </p:set>
                                    <p:animEffect transition="in" filter="box(out)">
                                      <p:cBhvr>
                                        <p:cTn id="21" dur="500"/>
                                        <p:tgtEl>
                                          <p:spTgt spid="33818"/>
                                        </p:tgtEl>
                                      </p:cBhvr>
                                    </p:animEffect>
                                  </p:childTnLst>
                                  <p:subTnLst>
                                    <p:audio>
                                      <p:cMediaNode>
                                        <p:cTn display="0" masterRel="sameClick">
                                          <p:stCondLst>
                                            <p:cond evt="begin" delay="0">
                                              <p:tn val="19"/>
                                            </p:cond>
                                          </p:stCondLst>
                                          <p:endCondLst>
                                            <p:cond evt="onStopAudio" delay="0">
                                              <p:tgtEl>
                                                <p:sldTgt/>
                                              </p:tgtEl>
                                            </p:cond>
                                          </p:endCondLst>
                                        </p:cTn>
                                        <p:tgtEl>
                                          <p:sndTgt r:embed="rId6" name="DING.WAV"/>
                                        </p:tgtEl>
                                      </p:cMediaNode>
                                    </p:audio>
                                  </p:sub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nodeType="click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wipe(left)">
                                      <p:cBhvr>
                                        <p:cTn id="26" dur="500"/>
                                        <p:tgtEl>
                                          <p:spTgt spid="3"/>
                                        </p:tgtEl>
                                      </p:cBhvr>
                                    </p:animEffect>
                                  </p:childTnLst>
                                  <p:subTnLst>
                                    <p:audio>
                                      <p:cMediaNode>
                                        <p:cTn display="0" masterRel="sameClick">
                                          <p:stCondLst>
                                            <p:cond evt="begin" delay="0">
                                              <p:tn val="24"/>
                                            </p:cond>
                                          </p:stCondLst>
                                          <p:endCondLst>
                                            <p:cond evt="onStopAudio" delay="0">
                                              <p:tgtEl>
                                                <p:sldTgt/>
                                              </p:tgtEl>
                                            </p:cond>
                                          </p:endCondLst>
                                        </p:cTn>
                                        <p:tgtEl>
                                          <p:sndTgt r:embed="rId7" name="CHIMES.WAV"/>
                                        </p:tgtEl>
                                      </p:cMediaNode>
                                    </p:audio>
                                  </p:sub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4" fill="hold" nodeType="clickEffect">
                                  <p:stCondLst>
                                    <p:cond delay="0"/>
                                  </p:stCondLst>
                                  <p:childTnLst>
                                    <p:set>
                                      <p:cBhvr>
                                        <p:cTn id="30" dur="1" fill="hold">
                                          <p:stCondLst>
                                            <p:cond delay="0"/>
                                          </p:stCondLst>
                                        </p:cTn>
                                        <p:tgtEl>
                                          <p:spTgt spid="33823"/>
                                        </p:tgtEl>
                                        <p:attrNameLst>
                                          <p:attrName>style.visibility</p:attrName>
                                        </p:attrNameLst>
                                      </p:cBhvr>
                                      <p:to>
                                        <p:strVal val="visible"/>
                                      </p:to>
                                    </p:set>
                                    <p:animEffect transition="in" filter="wipe(down)">
                                      <p:cBhvr>
                                        <p:cTn id="31" dur="500"/>
                                        <p:tgtEl>
                                          <p:spTgt spid="33823"/>
                                        </p:tgtEl>
                                      </p:cBhvr>
                                    </p:animEffect>
                                  </p:childTnLst>
                                  <p:subTnLst>
                                    <p:audio>
                                      <p:cMediaNode>
                                        <p:cTn display="0" masterRel="sameClick">
                                          <p:stCondLst>
                                            <p:cond evt="begin" delay="0">
                                              <p:tn val="29"/>
                                            </p:cond>
                                          </p:stCondLst>
                                          <p:endCondLst>
                                            <p:cond evt="onStopAudio" delay="0">
                                              <p:tgtEl>
                                                <p:sldTgt/>
                                              </p:tgtEl>
                                            </p:cond>
                                          </p:endCondLst>
                                        </p:cTn>
                                        <p:tgtEl>
                                          <p:sndTgt r:embed="rId8" name="TADA.WAV"/>
                                        </p:tgtEl>
                                      </p:cMediaNode>
                                    </p:audio>
                                  </p:sub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33824"/>
                                        </p:tgtEl>
                                        <p:attrNameLst>
                                          <p:attrName>style.visibility</p:attrName>
                                        </p:attrNameLst>
                                      </p:cBhvr>
                                      <p:to>
                                        <p:strVal val="visible"/>
                                      </p:to>
                                    </p:set>
                                    <p:animEffect transition="in" filter="wipe(left)">
                                      <p:cBhvr>
                                        <p:cTn id="36" dur="500"/>
                                        <p:tgtEl>
                                          <p:spTgt spid="33824"/>
                                        </p:tgtEl>
                                      </p:cBhvr>
                                    </p:animEffect>
                                  </p:childTnLst>
                                  <p:subTnLst>
                                    <p:audio>
                                      <p:cMediaNode>
                                        <p:cTn display="0" masterRel="sameClick">
                                          <p:stCondLst>
                                            <p:cond evt="begin" delay="0">
                                              <p:tn val="34"/>
                                            </p:cond>
                                          </p:stCondLst>
                                          <p:endCondLst>
                                            <p:cond evt="onStopAudio" delay="0">
                                              <p:tgtEl>
                                                <p:sldTgt/>
                                              </p:tgtEl>
                                            </p:cond>
                                          </p:endCondLst>
                                        </p:cTn>
                                        <p:tgtEl>
                                          <p:sndTgt r:embed="rId5" name="TYPE.WAV"/>
                                        </p:tgtEl>
                                      </p:cMediaNode>
                                    </p:audio>
                                  </p:subTnLst>
                                </p:cTn>
                              </p:par>
                            </p:childTnLst>
                          </p:cTn>
                        </p:par>
                        <p:par>
                          <p:cTn id="37" fill="hold" nodeType="afterGroup">
                            <p:stCondLst>
                              <p:cond delay="500"/>
                            </p:stCondLst>
                            <p:childTnLst>
                              <p:par>
                                <p:cTn id="38" presetID="4" presetClass="entr" presetSubtype="32" fill="hold" grpId="0" nodeType="afterEffect">
                                  <p:stCondLst>
                                    <p:cond delay="0"/>
                                  </p:stCondLst>
                                  <p:childTnLst>
                                    <p:set>
                                      <p:cBhvr>
                                        <p:cTn id="39" dur="1" fill="hold">
                                          <p:stCondLst>
                                            <p:cond delay="0"/>
                                          </p:stCondLst>
                                        </p:cTn>
                                        <p:tgtEl>
                                          <p:spTgt spid="33825"/>
                                        </p:tgtEl>
                                        <p:attrNameLst>
                                          <p:attrName>style.visibility</p:attrName>
                                        </p:attrNameLst>
                                      </p:cBhvr>
                                      <p:to>
                                        <p:strVal val="visible"/>
                                      </p:to>
                                    </p:set>
                                    <p:animEffect transition="in" filter="box(out)">
                                      <p:cBhvr>
                                        <p:cTn id="40" dur="500"/>
                                        <p:tgtEl>
                                          <p:spTgt spid="33825"/>
                                        </p:tgtEl>
                                      </p:cBhvr>
                                    </p:animEffect>
                                  </p:childTnLst>
                                  <p:subTnLst>
                                    <p:audio>
                                      <p:cMediaNode>
                                        <p:cTn display="0" masterRel="sameClick">
                                          <p:stCondLst>
                                            <p:cond evt="begin" delay="0">
                                              <p:tn val="38"/>
                                            </p:cond>
                                          </p:stCondLst>
                                          <p:endCondLst>
                                            <p:cond evt="onStopAudio" delay="0">
                                              <p:tgtEl>
                                                <p:sldTgt/>
                                              </p:tgtEl>
                                            </p:cond>
                                          </p:endCondLst>
                                        </p:cTn>
                                        <p:tgtEl>
                                          <p:sndTgt r:embed="rId6" name="DING.WAV"/>
                                        </p:tgtEl>
                                      </p:cMediaNode>
                                    </p:audio>
                                  </p:subTnLst>
                                </p:cTn>
                              </p:par>
                            </p:childTnLst>
                          </p:cTn>
                        </p:par>
                      </p:childTnLst>
                    </p:cTn>
                  </p:par>
                  <p:par>
                    <p:cTn id="41" fill="hold" nodeType="clickPar">
                      <p:stCondLst>
                        <p:cond delay="indefinite"/>
                      </p:stCondLst>
                      <p:childTnLst>
                        <p:par>
                          <p:cTn id="42" fill="hold" nodeType="withGroup">
                            <p:stCondLst>
                              <p:cond delay="0"/>
                            </p:stCondLst>
                            <p:childTnLst>
                              <p:par>
                                <p:cTn id="43" presetID="22" presetClass="entr" presetSubtype="8" fill="hold" nodeType="click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wipe(left)">
                                      <p:cBhvr>
                                        <p:cTn id="45" dur="500"/>
                                        <p:tgtEl>
                                          <p:spTgt spid="4"/>
                                        </p:tgtEl>
                                      </p:cBhvr>
                                    </p:animEffect>
                                  </p:childTnLst>
                                  <p:subTnLst>
                                    <p:audio>
                                      <p:cMediaNode>
                                        <p:cTn display="0" masterRel="sameClick">
                                          <p:stCondLst>
                                            <p:cond evt="begin" delay="0">
                                              <p:tn val="43"/>
                                            </p:cond>
                                          </p:stCondLst>
                                          <p:endCondLst>
                                            <p:cond evt="onStopAudio" delay="0">
                                              <p:tgtEl>
                                                <p:sldTgt/>
                                              </p:tgtEl>
                                            </p:cond>
                                          </p:endCondLst>
                                        </p:cTn>
                                        <p:tgtEl>
                                          <p:sndTgt r:embed="rId9" name="LASER.WAV"/>
                                        </p:tgtEl>
                                      </p:cMediaNode>
                                    </p:audio>
                                  </p:subTnLst>
                                </p:cTn>
                              </p:par>
                            </p:childTnLst>
                          </p:cTn>
                        </p:par>
                      </p:childTnLst>
                    </p:cTn>
                  </p:par>
                  <p:par>
                    <p:cTn id="46" fill="hold" nodeType="clickPar">
                      <p:stCondLst>
                        <p:cond delay="indefinite"/>
                      </p:stCondLst>
                      <p:childTnLst>
                        <p:par>
                          <p:cTn id="47" fill="hold" nodeType="withGroup">
                            <p:stCondLst>
                              <p:cond delay="0"/>
                            </p:stCondLst>
                            <p:childTnLst>
                              <p:par>
                                <p:cTn id="48" presetID="1" presetClass="entr" presetSubtype="0" fill="hold" grpId="0" nodeType="clickEffect">
                                  <p:stCondLst>
                                    <p:cond delay="0"/>
                                  </p:stCondLst>
                                  <p:childTnLst>
                                    <p:set>
                                      <p:cBhvr>
                                        <p:cTn id="49" dur="1" fill="hold">
                                          <p:stCondLst>
                                            <p:cond delay="499"/>
                                          </p:stCondLst>
                                        </p:cTn>
                                        <p:tgtEl>
                                          <p:spTgt spid="33830"/>
                                        </p:tgtEl>
                                        <p:attrNameLst>
                                          <p:attrName>style.visibility</p:attrName>
                                        </p:attrNameLst>
                                      </p:cBhvr>
                                      <p:to>
                                        <p:strVal val="visible"/>
                                      </p:to>
                                    </p:set>
                                  </p:childTnLst>
                                </p:cTn>
                              </p:par>
                            </p:childTnLst>
                          </p:cTn>
                        </p:par>
                        <p:par>
                          <p:cTn id="50" fill="hold" nodeType="afterGroup">
                            <p:stCondLst>
                              <p:cond delay="500"/>
                            </p:stCondLst>
                            <p:childTnLst>
                              <p:par>
                                <p:cTn id="51" presetID="1" presetClass="entr" presetSubtype="0" fill="hold" grpId="0" nodeType="afterEffect">
                                  <p:stCondLst>
                                    <p:cond delay="0"/>
                                  </p:stCondLst>
                                  <p:childTnLst>
                                    <p:set>
                                      <p:cBhvr>
                                        <p:cTn id="52" dur="1" fill="hold">
                                          <p:stCondLst>
                                            <p:cond delay="499"/>
                                          </p:stCondLst>
                                        </p:cTn>
                                        <p:tgtEl>
                                          <p:spTgt spid="33831"/>
                                        </p:tgtEl>
                                        <p:attrNameLst>
                                          <p:attrName>style.visibility</p:attrName>
                                        </p:attrNameLst>
                                      </p:cBhvr>
                                      <p:to>
                                        <p:strVal val="visible"/>
                                      </p:to>
                                    </p:set>
                                  </p:childTnLst>
                                  <p:subTnLst>
                                    <p:audio>
                                      <p:cMediaNode>
                                        <p:cTn display="0" masterRel="sameClick">
                                          <p:stCondLst>
                                            <p:cond evt="begin" delay="0">
                                              <p:tn val="51"/>
                                            </p:cond>
                                          </p:stCondLst>
                                          <p:endCondLst>
                                            <p:cond evt="onStopAudio" delay="0">
                                              <p:tgtEl>
                                                <p:sldTgt/>
                                              </p:tgtEl>
                                            </p:cond>
                                          </p:endCondLst>
                                        </p:cTn>
                                        <p:tgtEl>
                                          <p:sndTgt r:embed="rId6" name="DING.WAV"/>
                                        </p:tgtEl>
                                      </p:cMediaNode>
                                    </p:audio>
                                  </p:sub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8" fill="hold" nodeType="clickEffect">
                                  <p:stCondLst>
                                    <p:cond delay="0"/>
                                  </p:stCondLst>
                                  <p:childTnLst>
                                    <p:set>
                                      <p:cBhvr>
                                        <p:cTn id="56" dur="1" fill="hold">
                                          <p:stCondLst>
                                            <p:cond delay="0"/>
                                          </p:stCondLst>
                                        </p:cTn>
                                        <p:tgtEl>
                                          <p:spTgt spid="5"/>
                                        </p:tgtEl>
                                        <p:attrNameLst>
                                          <p:attrName>style.visibility</p:attrName>
                                        </p:attrNameLst>
                                      </p:cBhvr>
                                      <p:to>
                                        <p:strVal val="visible"/>
                                      </p:to>
                                    </p:set>
                                    <p:animEffect transition="in" filter="wipe(left)">
                                      <p:cBhvr>
                                        <p:cTn id="57" dur="500"/>
                                        <p:tgtEl>
                                          <p:spTgt spid="5"/>
                                        </p:tgtEl>
                                      </p:cBhvr>
                                    </p:animEffect>
                                  </p:childTnLst>
                                  <p:subTnLst>
                                    <p:audio>
                                      <p:cMediaNode>
                                        <p:cTn display="0" masterRel="sameClick">
                                          <p:stCondLst>
                                            <p:cond evt="begin" delay="0">
                                              <p:tn val="55"/>
                                            </p:cond>
                                          </p:stCondLst>
                                          <p:endCondLst>
                                            <p:cond evt="onStopAudio" delay="0">
                                              <p:tgtEl>
                                                <p:sldTgt/>
                                              </p:tgtEl>
                                            </p:cond>
                                          </p:endCondLst>
                                        </p:cTn>
                                        <p:tgtEl>
                                          <p:sndTgt r:embed="rId7" name="CHIMES.WAV"/>
                                        </p:tgtEl>
                                      </p:cMediaNode>
                                    </p:audio>
                                  </p:sub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4" fill="hold" nodeType="clickEffect">
                                  <p:stCondLst>
                                    <p:cond delay="0"/>
                                  </p:stCondLst>
                                  <p:childTnLst>
                                    <p:set>
                                      <p:cBhvr>
                                        <p:cTn id="61" dur="1" fill="hold">
                                          <p:stCondLst>
                                            <p:cond delay="0"/>
                                          </p:stCondLst>
                                        </p:cTn>
                                        <p:tgtEl>
                                          <p:spTgt spid="33836"/>
                                        </p:tgtEl>
                                        <p:attrNameLst>
                                          <p:attrName>style.visibility</p:attrName>
                                        </p:attrNameLst>
                                      </p:cBhvr>
                                      <p:to>
                                        <p:strVal val="visible"/>
                                      </p:to>
                                    </p:set>
                                    <p:animEffect transition="in" filter="wipe(down)">
                                      <p:cBhvr>
                                        <p:cTn id="62" dur="500"/>
                                        <p:tgtEl>
                                          <p:spTgt spid="33836"/>
                                        </p:tgtEl>
                                      </p:cBhvr>
                                    </p:animEffect>
                                  </p:childTnLst>
                                  <p:subTnLst>
                                    <p:audio>
                                      <p:cMediaNode>
                                        <p:cTn display="0" masterRel="sameClick">
                                          <p:stCondLst>
                                            <p:cond evt="begin" delay="0">
                                              <p:tn val="60"/>
                                            </p:cond>
                                          </p:stCondLst>
                                          <p:endCondLst>
                                            <p:cond evt="onStopAudio" delay="0">
                                              <p:tgtEl>
                                                <p:sldTgt/>
                                              </p:tgtEl>
                                            </p:cond>
                                          </p:endCondLst>
                                        </p:cTn>
                                        <p:tgtEl>
                                          <p:sndTgt r:embed="rId8" name="TADA.WAV"/>
                                        </p:tgtEl>
                                      </p:cMediaNode>
                                    </p:audio>
                                  </p:subTnLst>
                                </p:cTn>
                              </p:par>
                            </p:childTnLst>
                          </p:cTn>
                        </p:par>
                      </p:childTnLst>
                    </p:cTn>
                  </p:par>
                  <p:par>
                    <p:cTn id="63" fill="hold" nodeType="clickPar">
                      <p:stCondLst>
                        <p:cond delay="indefinite"/>
                      </p:stCondLst>
                      <p:childTnLst>
                        <p:par>
                          <p:cTn id="64" fill="hold" nodeType="withGroup">
                            <p:stCondLst>
                              <p:cond delay="0"/>
                            </p:stCondLst>
                            <p:childTnLst>
                              <p:par>
                                <p:cTn id="65" presetID="22" presetClass="entr" presetSubtype="8" fill="hold" grpId="0" nodeType="clickEffect">
                                  <p:stCondLst>
                                    <p:cond delay="0"/>
                                  </p:stCondLst>
                                  <p:childTnLst>
                                    <p:set>
                                      <p:cBhvr>
                                        <p:cTn id="66" dur="1" fill="hold">
                                          <p:stCondLst>
                                            <p:cond delay="0"/>
                                          </p:stCondLst>
                                        </p:cTn>
                                        <p:tgtEl>
                                          <p:spTgt spid="33837"/>
                                        </p:tgtEl>
                                        <p:attrNameLst>
                                          <p:attrName>style.visibility</p:attrName>
                                        </p:attrNameLst>
                                      </p:cBhvr>
                                      <p:to>
                                        <p:strVal val="visible"/>
                                      </p:to>
                                    </p:set>
                                    <p:animEffect transition="in" filter="wipe(left)">
                                      <p:cBhvr>
                                        <p:cTn id="67" dur="500"/>
                                        <p:tgtEl>
                                          <p:spTgt spid="33837"/>
                                        </p:tgtEl>
                                      </p:cBhvr>
                                    </p:animEffect>
                                  </p:childTnLst>
                                  <p:subTnLst>
                                    <p:audio>
                                      <p:cMediaNode>
                                        <p:cTn display="0" masterRel="sameClick">
                                          <p:stCondLst>
                                            <p:cond evt="begin" delay="0">
                                              <p:tn val="65"/>
                                            </p:cond>
                                          </p:stCondLst>
                                          <p:endCondLst>
                                            <p:cond evt="onStopAudio" delay="0">
                                              <p:tgtEl>
                                                <p:sldTgt/>
                                              </p:tgtEl>
                                            </p:cond>
                                          </p:endCondLst>
                                        </p:cTn>
                                        <p:tgtEl>
                                          <p:sndTgt r:embed="rId5" name="TYPE.WAV"/>
                                        </p:tgtEl>
                                      </p:cMediaNode>
                                    </p:audio>
                                  </p:subTnLst>
                                </p:cTn>
                              </p:par>
                            </p:childTnLst>
                          </p:cTn>
                        </p:par>
                      </p:childTnLst>
                    </p:cTn>
                  </p:par>
                  <p:par>
                    <p:cTn id="68" fill="hold" nodeType="clickPar">
                      <p:stCondLst>
                        <p:cond delay="indefinite"/>
                      </p:stCondLst>
                      <p:childTnLst>
                        <p:par>
                          <p:cTn id="69" fill="hold" nodeType="withGroup">
                            <p:stCondLst>
                              <p:cond delay="0"/>
                            </p:stCondLst>
                            <p:childTnLst>
                              <p:par>
                                <p:cTn id="70" presetID="22" presetClass="entr" presetSubtype="8" fill="hold" nodeType="clickEffect">
                                  <p:stCondLst>
                                    <p:cond delay="0"/>
                                  </p:stCondLst>
                                  <p:childTnLst>
                                    <p:set>
                                      <p:cBhvr>
                                        <p:cTn id="71" dur="1" fill="hold">
                                          <p:stCondLst>
                                            <p:cond delay="0"/>
                                          </p:stCondLst>
                                        </p:cTn>
                                        <p:tgtEl>
                                          <p:spTgt spid="6"/>
                                        </p:tgtEl>
                                        <p:attrNameLst>
                                          <p:attrName>style.visibility</p:attrName>
                                        </p:attrNameLst>
                                      </p:cBhvr>
                                      <p:to>
                                        <p:strVal val="visible"/>
                                      </p:to>
                                    </p:set>
                                    <p:animEffect transition="in" filter="wipe(left)">
                                      <p:cBhvr>
                                        <p:cTn id="72" dur="500"/>
                                        <p:tgtEl>
                                          <p:spTgt spid="6"/>
                                        </p:tgtEl>
                                      </p:cBhvr>
                                    </p:animEffect>
                                  </p:childTnLst>
                                  <p:subTnLst>
                                    <p:audio>
                                      <p:cMediaNode>
                                        <p:cTn display="0" masterRel="sameClick">
                                          <p:stCondLst>
                                            <p:cond evt="begin" delay="0">
                                              <p:tn val="70"/>
                                            </p:cond>
                                          </p:stCondLst>
                                          <p:endCondLst>
                                            <p:cond evt="onStopAudio" delay="0">
                                              <p:tgtEl>
                                                <p:sldTgt/>
                                              </p:tgtEl>
                                            </p:cond>
                                          </p:endCondLst>
                                        </p:cTn>
                                        <p:tgtEl>
                                          <p:sndTgt r:embed="rId9" name="LASER.WAV"/>
                                        </p:tgtEl>
                                      </p:cMediaNode>
                                    </p:audio>
                                  </p:subTnLst>
                                </p:cTn>
                              </p:par>
                            </p:childTnLst>
                          </p:cTn>
                        </p:par>
                        <p:par>
                          <p:cTn id="73" fill="hold" nodeType="afterGroup">
                            <p:stCondLst>
                              <p:cond delay="500"/>
                            </p:stCondLst>
                            <p:childTnLst>
                              <p:par>
                                <p:cTn id="74" presetID="1" presetClass="entr" presetSubtype="0" fill="hold" grpId="0" nodeType="afterEffect">
                                  <p:stCondLst>
                                    <p:cond delay="0"/>
                                  </p:stCondLst>
                                  <p:childTnLst>
                                    <p:set>
                                      <p:cBhvr>
                                        <p:cTn id="75" dur="1" fill="hold">
                                          <p:stCondLst>
                                            <p:cond delay="499"/>
                                          </p:stCondLst>
                                        </p:cTn>
                                        <p:tgtEl>
                                          <p:spTgt spid="33842"/>
                                        </p:tgtEl>
                                        <p:attrNameLst>
                                          <p:attrName>style.visibility</p:attrName>
                                        </p:attrNameLst>
                                      </p:cBhvr>
                                      <p:to>
                                        <p:strVal val="visible"/>
                                      </p:to>
                                    </p:set>
                                  </p:childTnLst>
                                  <p:subTnLst>
                                    <p:audio>
                                      <p:cMediaNode>
                                        <p:cTn display="0" masterRel="sameClick">
                                          <p:stCondLst>
                                            <p:cond evt="begin" delay="0">
                                              <p:tn val="74"/>
                                            </p:cond>
                                          </p:stCondLst>
                                          <p:endCondLst>
                                            <p:cond evt="onStopAudio" delay="0">
                                              <p:tgtEl>
                                                <p:sldTgt/>
                                              </p:tgtEl>
                                            </p:cond>
                                          </p:endCondLst>
                                        </p:cTn>
                                        <p:tgtEl>
                                          <p:sndTgt r:embed="rId6" name="DING.WAV"/>
                                        </p:tgtEl>
                                      </p:cMediaNode>
                                    </p:audio>
                                  </p:subTnLst>
                                </p:cTn>
                              </p:par>
                            </p:childTnLst>
                          </p:cTn>
                        </p:par>
                      </p:childTnLst>
                    </p:cTn>
                  </p:par>
                  <p:par>
                    <p:cTn id="76" fill="hold" nodeType="clickPar">
                      <p:stCondLst>
                        <p:cond delay="indefinite"/>
                      </p:stCondLst>
                      <p:childTnLst>
                        <p:par>
                          <p:cTn id="77" fill="hold" nodeType="withGroup">
                            <p:stCondLst>
                              <p:cond delay="0"/>
                            </p:stCondLst>
                            <p:childTnLst>
                              <p:par>
                                <p:cTn id="78" presetID="22" presetClass="entr" presetSubtype="8" fill="hold" nodeType="clickEffect">
                                  <p:stCondLst>
                                    <p:cond delay="0"/>
                                  </p:stCondLst>
                                  <p:childTnLst>
                                    <p:set>
                                      <p:cBhvr>
                                        <p:cTn id="79" dur="1" fill="hold">
                                          <p:stCondLst>
                                            <p:cond delay="0"/>
                                          </p:stCondLst>
                                        </p:cTn>
                                        <p:tgtEl>
                                          <p:spTgt spid="7"/>
                                        </p:tgtEl>
                                        <p:attrNameLst>
                                          <p:attrName>style.visibility</p:attrName>
                                        </p:attrNameLst>
                                      </p:cBhvr>
                                      <p:to>
                                        <p:strVal val="visible"/>
                                      </p:to>
                                    </p:set>
                                    <p:animEffect transition="in" filter="wipe(left)">
                                      <p:cBhvr>
                                        <p:cTn id="80" dur="500"/>
                                        <p:tgtEl>
                                          <p:spTgt spid="7"/>
                                        </p:tgtEl>
                                      </p:cBhvr>
                                    </p:animEffect>
                                  </p:childTnLst>
                                  <p:subTnLst>
                                    <p:audio>
                                      <p:cMediaNode>
                                        <p:cTn display="0" masterRel="sameClick">
                                          <p:stCondLst>
                                            <p:cond evt="begin" delay="0">
                                              <p:tn val="78"/>
                                            </p:cond>
                                          </p:stCondLst>
                                          <p:endCondLst>
                                            <p:cond evt="onStopAudio" delay="0">
                                              <p:tgtEl>
                                                <p:sldTgt/>
                                              </p:tgtEl>
                                            </p:cond>
                                          </p:endCondLst>
                                        </p:cTn>
                                        <p:tgtEl>
                                          <p:sndTgt r:embed="rId9" name="LASER.WAV"/>
                                        </p:tgtEl>
                                      </p:cMediaNode>
                                    </p:audio>
                                  </p:sub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grpId="0" nodeType="clickEffect">
                                  <p:stCondLst>
                                    <p:cond delay="0"/>
                                  </p:stCondLst>
                                  <p:childTnLst>
                                    <p:set>
                                      <p:cBhvr>
                                        <p:cTn id="84" dur="1" fill="hold">
                                          <p:stCondLst>
                                            <p:cond delay="499"/>
                                          </p:stCondLst>
                                        </p:cTn>
                                        <p:tgtEl>
                                          <p:spTgt spid="33847"/>
                                        </p:tgtEl>
                                        <p:attrNameLst>
                                          <p:attrName>style.visibility</p:attrName>
                                        </p:attrNameLst>
                                      </p:cBhvr>
                                      <p:to>
                                        <p:strVal val="visible"/>
                                      </p:to>
                                    </p:set>
                                  </p:childTnLst>
                                </p:cTn>
                              </p:par>
                            </p:childTnLst>
                          </p:cTn>
                        </p:par>
                        <p:par>
                          <p:cTn id="85" fill="hold" nodeType="afterGroup">
                            <p:stCondLst>
                              <p:cond delay="500"/>
                            </p:stCondLst>
                            <p:childTnLst>
                              <p:par>
                                <p:cTn id="86" presetID="1" presetClass="entr" presetSubtype="0" fill="hold" grpId="0" nodeType="afterEffect">
                                  <p:stCondLst>
                                    <p:cond delay="0"/>
                                  </p:stCondLst>
                                  <p:childTnLst>
                                    <p:set>
                                      <p:cBhvr>
                                        <p:cTn id="87" dur="1" fill="hold">
                                          <p:stCondLst>
                                            <p:cond delay="499"/>
                                          </p:stCondLst>
                                        </p:cTn>
                                        <p:tgtEl>
                                          <p:spTgt spid="33848"/>
                                        </p:tgtEl>
                                        <p:attrNameLst>
                                          <p:attrName>style.visibility</p:attrName>
                                        </p:attrNameLst>
                                      </p:cBhvr>
                                      <p:to>
                                        <p:strVal val="visible"/>
                                      </p:to>
                                    </p:set>
                                  </p:childTnLst>
                                  <p:subTnLst>
                                    <p:audio>
                                      <p:cMediaNode>
                                        <p:cTn display="0" masterRel="sameClick">
                                          <p:stCondLst>
                                            <p:cond evt="begin" delay="0">
                                              <p:tn val="86"/>
                                            </p:cond>
                                          </p:stCondLst>
                                          <p:endCondLst>
                                            <p:cond evt="onStopAudio" delay="0">
                                              <p:tgtEl>
                                                <p:sldTgt/>
                                              </p:tgtEl>
                                            </p:cond>
                                          </p:endCondLst>
                                        </p:cTn>
                                        <p:tgtEl>
                                          <p:sndTgt r:embed="rId6" name="DING.WAV"/>
                                        </p:tgtEl>
                                      </p:cMediaNode>
                                    </p:audio>
                                  </p:subTnLst>
                                </p:cTn>
                              </p:par>
                            </p:childTnLst>
                          </p:cTn>
                        </p:par>
                      </p:childTnLst>
                    </p:cTn>
                  </p:par>
                  <p:par>
                    <p:cTn id="88" fill="hold" nodeType="clickPar">
                      <p:stCondLst>
                        <p:cond delay="indefinite"/>
                      </p:stCondLst>
                      <p:childTnLst>
                        <p:par>
                          <p:cTn id="89" fill="hold" nodeType="withGroup">
                            <p:stCondLst>
                              <p:cond delay="0"/>
                            </p:stCondLst>
                            <p:childTnLst>
                              <p:par>
                                <p:cTn id="90" presetID="22" presetClass="entr" presetSubtype="8" fill="hold" nodeType="clickEffect">
                                  <p:stCondLst>
                                    <p:cond delay="0"/>
                                  </p:stCondLst>
                                  <p:childTnLst>
                                    <p:set>
                                      <p:cBhvr>
                                        <p:cTn id="91" dur="1" fill="hold">
                                          <p:stCondLst>
                                            <p:cond delay="0"/>
                                          </p:stCondLst>
                                        </p:cTn>
                                        <p:tgtEl>
                                          <p:spTgt spid="66"/>
                                        </p:tgtEl>
                                        <p:attrNameLst>
                                          <p:attrName>style.visibility</p:attrName>
                                        </p:attrNameLst>
                                      </p:cBhvr>
                                      <p:to>
                                        <p:strVal val="visible"/>
                                      </p:to>
                                    </p:set>
                                    <p:animEffect transition="in" filter="wipe(left)">
                                      <p:cBhvr>
                                        <p:cTn id="92" dur="500"/>
                                        <p:tgtEl>
                                          <p:spTgt spid="66"/>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22" presetClass="entr" presetSubtype="4" fill="hold" nodeType="clickEffect">
                                  <p:stCondLst>
                                    <p:cond delay="0"/>
                                  </p:stCondLst>
                                  <p:childTnLst>
                                    <p:set>
                                      <p:cBhvr>
                                        <p:cTn id="96" dur="1" fill="hold">
                                          <p:stCondLst>
                                            <p:cond delay="0"/>
                                          </p:stCondLst>
                                        </p:cTn>
                                        <p:tgtEl>
                                          <p:spTgt spid="33849"/>
                                        </p:tgtEl>
                                        <p:attrNameLst>
                                          <p:attrName>style.visibility</p:attrName>
                                        </p:attrNameLst>
                                      </p:cBhvr>
                                      <p:to>
                                        <p:strVal val="visible"/>
                                      </p:to>
                                    </p:set>
                                    <p:animEffect transition="in" filter="wipe(down)">
                                      <p:cBhvr>
                                        <p:cTn id="97" dur="500"/>
                                        <p:tgtEl>
                                          <p:spTgt spid="33849"/>
                                        </p:tgtEl>
                                      </p:cBhvr>
                                    </p:animEffect>
                                  </p:childTnLst>
                                  <p:subTnLst>
                                    <p:audio>
                                      <p:cMediaNode>
                                        <p:cTn display="0" masterRel="sameClick">
                                          <p:stCondLst>
                                            <p:cond evt="begin" delay="0">
                                              <p:tn val="95"/>
                                            </p:cond>
                                          </p:stCondLst>
                                          <p:endCondLst>
                                            <p:cond evt="onStopAudio" delay="0">
                                              <p:tgtEl>
                                                <p:sldTgt/>
                                              </p:tgtEl>
                                            </p:cond>
                                          </p:endCondLst>
                                        </p:cTn>
                                        <p:tgtEl>
                                          <p:sndTgt r:embed="rId8" name="TADA.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16" grpId="0" animBg="1" autoUpdateAnimBg="0"/>
      <p:bldP spid="33817" grpId="0" autoUpdateAnimBg="0"/>
      <p:bldP spid="33818" grpId="0" animBg="1" autoUpdateAnimBg="0"/>
      <p:bldP spid="33824" grpId="0" autoUpdateAnimBg="0"/>
      <p:bldP spid="33825" grpId="0" animBg="1" autoUpdateAnimBg="0"/>
      <p:bldP spid="33830" grpId="0" animBg="1" autoUpdateAnimBg="0"/>
      <p:bldP spid="33831" grpId="0" animBg="1" autoUpdateAnimBg="0"/>
      <p:bldP spid="33837" grpId="0" autoUpdateAnimBg="0"/>
      <p:bldP spid="33842" grpId="0" animBg="1" autoUpdateAnimBg="0"/>
      <p:bldP spid="33847" grpId="0" animBg="1" autoUpdateAnimBg="0"/>
      <p:bldP spid="33848" grpId="0" animBg="1" autoUpdateAnimBg="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5" name="矩形 1"/>
          <p:cNvSpPr>
            <a:spLocks noChangeArrowheads="1"/>
          </p:cNvSpPr>
          <p:nvPr/>
        </p:nvSpPr>
        <p:spPr bwMode="auto">
          <a:xfrm>
            <a:off x="660326" y="968673"/>
            <a:ext cx="764381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zh-CN" sz="2000" b="1" dirty="0">
                <a:solidFill>
                  <a:srgbClr val="0000FF"/>
                </a:solidFill>
                <a:latin typeface="Times New Roman" pitchFamily="18" charset="0"/>
                <a:sym typeface="Wingdings" pitchFamily="2" charset="2"/>
              </a:rPr>
              <a:t> </a:t>
            </a:r>
            <a:r>
              <a:rPr lang="zh-CN" altLang="en-US" sz="2000" b="1" dirty="0">
                <a:solidFill>
                  <a:srgbClr val="0000FF"/>
                </a:solidFill>
                <a:latin typeface="Times New Roman" pitchFamily="18" charset="0"/>
                <a:sym typeface="Wingdings" pitchFamily="2" charset="2"/>
              </a:rPr>
              <a:t>算法</a:t>
            </a:r>
            <a:r>
              <a:rPr lang="zh-CN" altLang="en-US" sz="2000" b="1" dirty="0">
                <a:latin typeface="Times New Roman" pitchFamily="18" charset="0"/>
                <a:sym typeface="Wingdings" pitchFamily="2" charset="2"/>
              </a:rPr>
              <a:t>可以概括成一句话：</a:t>
            </a:r>
            <a:r>
              <a:rPr lang="zh-CN" altLang="en-US" sz="2000" b="1" dirty="0">
                <a:latin typeface="Times New Roman" pitchFamily="18" charset="0"/>
              </a:rPr>
              <a:t>从新增的最后一个结点的父结点开始，用要插入元素</a:t>
            </a:r>
            <a:r>
              <a:rPr lang="zh-CN" altLang="en-US" sz="2000" b="1" dirty="0">
                <a:solidFill>
                  <a:srgbClr val="0000FF"/>
                </a:solidFill>
                <a:latin typeface="Times New Roman" pitchFamily="18" charset="0"/>
              </a:rPr>
              <a:t>向下过滤上层结点</a:t>
            </a:r>
            <a:r>
              <a:rPr lang="zh-CN" altLang="en-US" sz="2000" b="1" dirty="0">
                <a:latin typeface="Times New Roman" pitchFamily="18" charset="0"/>
              </a:rPr>
              <a:t>（相当于要插入的元素</a:t>
            </a:r>
            <a:r>
              <a:rPr lang="zh-CN" altLang="en-US" sz="2000" b="1" dirty="0">
                <a:solidFill>
                  <a:srgbClr val="0000FF"/>
                </a:solidFill>
                <a:latin typeface="Times New Roman" pitchFamily="18" charset="0"/>
              </a:rPr>
              <a:t>向上渗透</a:t>
            </a:r>
            <a:r>
              <a:rPr lang="zh-CN" altLang="en-US" sz="2000" b="1" dirty="0">
                <a:latin typeface="Times New Roman" pitchFamily="18" charset="0"/>
              </a:rPr>
              <a:t>）。</a:t>
            </a:r>
          </a:p>
        </p:txBody>
      </p:sp>
      <p:graphicFrame>
        <p:nvGraphicFramePr>
          <p:cNvPr id="7" name="表格 6"/>
          <p:cNvGraphicFramePr>
            <a:graphicFrameLocks noGrp="1"/>
          </p:cNvGraphicFramePr>
          <p:nvPr>
            <p:extLst>
              <p:ext uri="{D42A27DB-BD31-4B8C-83A1-F6EECF244321}">
                <p14:modId xmlns:p14="http://schemas.microsoft.com/office/powerpoint/2010/main" val="771813752"/>
              </p:ext>
            </p:extLst>
          </p:nvPr>
        </p:nvGraphicFramePr>
        <p:xfrm>
          <a:off x="392906" y="2143125"/>
          <a:ext cx="8286750" cy="3571875"/>
        </p:xfrm>
        <a:graphic>
          <a:graphicData uri="http://schemas.openxmlformats.org/drawingml/2006/table">
            <a:tbl>
              <a:tblPr/>
              <a:tblGrid>
                <a:gridCol w="8286750"/>
              </a:tblGrid>
              <a:tr h="3571875">
                <a:tc>
                  <a:txBody>
                    <a:bodyPr/>
                    <a:lstStyle/>
                    <a:p>
                      <a:pPr algn="just">
                        <a:spcAft>
                          <a:spcPts val="0"/>
                        </a:spcAft>
                      </a:pPr>
                      <a:r>
                        <a:rPr lang="en-US" sz="1800" b="1" kern="100" dirty="0">
                          <a:solidFill>
                            <a:srgbClr val="0000FF"/>
                          </a:solidFill>
                          <a:latin typeface="Courier New"/>
                          <a:ea typeface="宋体"/>
                          <a:cs typeface="Times New Roman"/>
                        </a:rPr>
                        <a:t>void</a:t>
                      </a:r>
                      <a:r>
                        <a:rPr lang="en-US" sz="1800" b="1" kern="100" dirty="0">
                          <a:latin typeface="Courier New"/>
                          <a:ea typeface="宋体"/>
                          <a:cs typeface="Times New Roman"/>
                        </a:rPr>
                        <a:t> Insert( </a:t>
                      </a:r>
                      <a:r>
                        <a:rPr lang="en-US" sz="1800" b="1" kern="100" dirty="0" err="1">
                          <a:latin typeface="Courier New"/>
                          <a:ea typeface="宋体"/>
                          <a:cs typeface="Times New Roman"/>
                        </a:rPr>
                        <a:t>MaxHeap</a:t>
                      </a:r>
                      <a:r>
                        <a:rPr lang="en-US" sz="1800" b="1" kern="100" dirty="0">
                          <a:latin typeface="Courier New"/>
                          <a:ea typeface="宋体"/>
                          <a:cs typeface="Times New Roman"/>
                        </a:rPr>
                        <a:t> H, </a:t>
                      </a:r>
                      <a:r>
                        <a:rPr lang="en-US" sz="1800" b="1" kern="100" dirty="0" err="1">
                          <a:latin typeface="Courier New"/>
                          <a:ea typeface="宋体"/>
                          <a:cs typeface="Times New Roman"/>
                        </a:rPr>
                        <a:t>ElementType</a:t>
                      </a:r>
                      <a:r>
                        <a:rPr lang="en-US" sz="1800" b="1" kern="100" dirty="0">
                          <a:latin typeface="Courier New"/>
                          <a:ea typeface="宋体"/>
                          <a:cs typeface="Times New Roman"/>
                        </a:rPr>
                        <a:t> item )</a:t>
                      </a:r>
                      <a:endParaRPr lang="zh-CN" sz="1800" b="1" kern="100" dirty="0">
                        <a:latin typeface="Calibri"/>
                        <a:ea typeface="宋体"/>
                        <a:cs typeface="Times New Roman"/>
                      </a:endParaRPr>
                    </a:p>
                    <a:p>
                      <a:pPr algn="just">
                        <a:spcAft>
                          <a:spcPts val="0"/>
                        </a:spcAft>
                      </a:pPr>
                      <a:r>
                        <a:rPr lang="en-US" sz="1800" b="1" kern="100" dirty="0">
                          <a:latin typeface="Courier New"/>
                          <a:ea typeface="宋体"/>
                          <a:cs typeface="Times New Roman"/>
                        </a:rPr>
                        <a:t>{ </a:t>
                      </a:r>
                      <a:r>
                        <a:rPr lang="en-US" sz="1800" b="1" kern="100" dirty="0">
                          <a:solidFill>
                            <a:srgbClr val="002060"/>
                          </a:solidFill>
                          <a:latin typeface="Courier New"/>
                          <a:ea typeface="宋体"/>
                          <a:cs typeface="Times New Roman"/>
                        </a:rPr>
                        <a:t>/* </a:t>
                      </a:r>
                      <a:r>
                        <a:rPr lang="zh-CN" sz="1800" b="1" kern="100" dirty="0">
                          <a:solidFill>
                            <a:srgbClr val="002060"/>
                          </a:solidFill>
                          <a:latin typeface="Courier New"/>
                          <a:ea typeface="宋体"/>
                          <a:cs typeface="Courier New"/>
                        </a:rPr>
                        <a:t>将元素</a:t>
                      </a:r>
                      <a:r>
                        <a:rPr lang="en-US" sz="1800" b="1" kern="100" dirty="0">
                          <a:solidFill>
                            <a:srgbClr val="002060"/>
                          </a:solidFill>
                          <a:latin typeface="Courier New"/>
                          <a:ea typeface="宋体"/>
                          <a:cs typeface="Times New Roman"/>
                        </a:rPr>
                        <a:t>item </a:t>
                      </a:r>
                      <a:r>
                        <a:rPr lang="zh-CN" sz="1800" b="1" kern="100" dirty="0">
                          <a:solidFill>
                            <a:srgbClr val="002060"/>
                          </a:solidFill>
                          <a:latin typeface="Courier New"/>
                          <a:ea typeface="宋体"/>
                          <a:cs typeface="Courier New"/>
                        </a:rPr>
                        <a:t>插入最大堆</a:t>
                      </a:r>
                      <a:r>
                        <a:rPr lang="en-US" sz="1800" b="1" kern="100" dirty="0">
                          <a:solidFill>
                            <a:srgbClr val="002060"/>
                          </a:solidFill>
                          <a:latin typeface="Courier New"/>
                          <a:ea typeface="宋体"/>
                          <a:cs typeface="Times New Roman"/>
                        </a:rPr>
                        <a:t>H</a:t>
                      </a:r>
                      <a:r>
                        <a:rPr lang="zh-CN" sz="1800" b="1" kern="100" dirty="0">
                          <a:solidFill>
                            <a:srgbClr val="002060"/>
                          </a:solidFill>
                          <a:latin typeface="Courier New"/>
                          <a:ea typeface="宋体"/>
                          <a:cs typeface="Courier New"/>
                        </a:rPr>
                        <a:t>，其中</a:t>
                      </a:r>
                      <a:r>
                        <a:rPr lang="en-US" sz="1800" b="1" kern="100" dirty="0">
                          <a:solidFill>
                            <a:srgbClr val="002060"/>
                          </a:solidFill>
                          <a:latin typeface="Courier New"/>
                          <a:ea typeface="宋体"/>
                          <a:cs typeface="Times New Roman"/>
                        </a:rPr>
                        <a:t>H-&gt;Elements[0]</a:t>
                      </a:r>
                      <a:r>
                        <a:rPr lang="zh-CN" sz="1800" b="1" kern="100" dirty="0">
                          <a:solidFill>
                            <a:srgbClr val="002060"/>
                          </a:solidFill>
                          <a:latin typeface="Courier New"/>
                          <a:ea typeface="宋体"/>
                          <a:cs typeface="Courier New"/>
                        </a:rPr>
                        <a:t>已经定义为哨兵</a:t>
                      </a:r>
                      <a:r>
                        <a:rPr lang="en-US" sz="1800" b="1" kern="100" dirty="0">
                          <a:solidFill>
                            <a:srgbClr val="002060"/>
                          </a:solidFill>
                          <a:latin typeface="Courier New"/>
                          <a:ea typeface="宋体"/>
                          <a:cs typeface="Times New Roman"/>
                        </a:rPr>
                        <a:t> */</a:t>
                      </a:r>
                      <a:endParaRPr lang="zh-CN" sz="1800" b="1" kern="100" dirty="0">
                        <a:solidFill>
                          <a:srgbClr val="002060"/>
                        </a:solidFill>
                        <a:latin typeface="Calibri"/>
                        <a:ea typeface="宋体"/>
                        <a:cs typeface="Times New Roman"/>
                      </a:endParaRPr>
                    </a:p>
                    <a:p>
                      <a:pPr algn="just">
                        <a:spcAft>
                          <a:spcPts val="0"/>
                        </a:spcAft>
                      </a:pPr>
                      <a:r>
                        <a:rPr lang="en-US" sz="1800" b="1" kern="100" dirty="0">
                          <a:latin typeface="Courier New"/>
                          <a:ea typeface="宋体"/>
                          <a:cs typeface="Times New Roman"/>
                        </a:rPr>
                        <a:t>    </a:t>
                      </a:r>
                      <a:r>
                        <a:rPr lang="en-US" sz="1800" b="1" kern="100" dirty="0" err="1">
                          <a:solidFill>
                            <a:srgbClr val="0000FF"/>
                          </a:solidFill>
                          <a:latin typeface="Courier New"/>
                          <a:ea typeface="宋体"/>
                          <a:cs typeface="Times New Roman"/>
                        </a:rPr>
                        <a:t>int</a:t>
                      </a:r>
                      <a:r>
                        <a:rPr lang="en-US" sz="1800" b="1" kern="100" dirty="0">
                          <a:latin typeface="Courier New"/>
                          <a:ea typeface="宋体"/>
                          <a:cs typeface="Times New Roman"/>
                        </a:rPr>
                        <a:t> </a:t>
                      </a:r>
                      <a:r>
                        <a:rPr lang="en-US" sz="1800" b="1" kern="100" dirty="0" err="1">
                          <a:latin typeface="Courier New"/>
                          <a:ea typeface="宋体"/>
                          <a:cs typeface="Times New Roman"/>
                        </a:rPr>
                        <a:t>i</a:t>
                      </a:r>
                      <a:r>
                        <a:rPr lang="en-US" sz="1800" b="1" kern="100" dirty="0">
                          <a:latin typeface="Courier New"/>
                          <a:ea typeface="宋体"/>
                          <a:cs typeface="Times New Roman"/>
                        </a:rPr>
                        <a:t>;</a:t>
                      </a:r>
                      <a:endParaRPr lang="zh-CN" sz="1800" b="1" kern="100" dirty="0">
                        <a:latin typeface="Calibri"/>
                        <a:ea typeface="宋体"/>
                        <a:cs typeface="Times New Roman"/>
                      </a:endParaRPr>
                    </a:p>
                    <a:p>
                      <a:pPr algn="just">
                        <a:spcAft>
                          <a:spcPts val="0"/>
                        </a:spcAft>
                      </a:pPr>
                      <a:r>
                        <a:rPr lang="en-US" sz="1800" b="1" kern="100" dirty="0">
                          <a:latin typeface="Courier New"/>
                          <a:ea typeface="宋体"/>
                          <a:cs typeface="Times New Roman"/>
                        </a:rPr>
                        <a:t>    </a:t>
                      </a:r>
                      <a:r>
                        <a:rPr lang="en-US" sz="1800" b="1" kern="100" dirty="0">
                          <a:solidFill>
                            <a:srgbClr val="0000FF"/>
                          </a:solidFill>
                          <a:latin typeface="Courier New"/>
                          <a:ea typeface="宋体"/>
                          <a:cs typeface="Times New Roman"/>
                        </a:rPr>
                        <a:t>if</a:t>
                      </a:r>
                      <a:r>
                        <a:rPr lang="en-US" sz="1800" b="1" kern="100" dirty="0">
                          <a:latin typeface="Courier New"/>
                          <a:ea typeface="宋体"/>
                          <a:cs typeface="Times New Roman"/>
                        </a:rPr>
                        <a:t> ( </a:t>
                      </a:r>
                      <a:r>
                        <a:rPr lang="en-US" sz="1800" b="1" kern="100" dirty="0" err="1">
                          <a:latin typeface="Courier New"/>
                          <a:ea typeface="宋体"/>
                          <a:cs typeface="Times New Roman"/>
                        </a:rPr>
                        <a:t>IsFull</a:t>
                      </a:r>
                      <a:r>
                        <a:rPr lang="en-US" sz="1800" b="1" kern="100" dirty="0">
                          <a:latin typeface="Courier New"/>
                          <a:ea typeface="宋体"/>
                          <a:cs typeface="Times New Roman"/>
                        </a:rPr>
                        <a:t>(H) ) { </a:t>
                      </a:r>
                      <a:endParaRPr lang="zh-CN" sz="1800" b="1" kern="100" dirty="0">
                        <a:latin typeface="Calibri"/>
                        <a:ea typeface="宋体"/>
                        <a:cs typeface="Times New Roman"/>
                      </a:endParaRPr>
                    </a:p>
                    <a:p>
                      <a:pPr algn="just">
                        <a:spcAft>
                          <a:spcPts val="0"/>
                        </a:spcAft>
                      </a:pPr>
                      <a:r>
                        <a:rPr lang="en-US" sz="1800" b="1" kern="100" dirty="0">
                          <a:latin typeface="Courier New"/>
                          <a:ea typeface="宋体"/>
                          <a:cs typeface="Times New Roman"/>
                        </a:rPr>
                        <a:t>        </a:t>
                      </a:r>
                      <a:r>
                        <a:rPr lang="en-US" sz="1800" b="1" kern="100" dirty="0" err="1">
                          <a:latin typeface="Courier New"/>
                          <a:ea typeface="宋体"/>
                          <a:cs typeface="Times New Roman"/>
                        </a:rPr>
                        <a:t>printf</a:t>
                      </a:r>
                      <a:r>
                        <a:rPr lang="en-US" sz="1800" b="1" kern="100" dirty="0">
                          <a:latin typeface="Courier New"/>
                          <a:ea typeface="宋体"/>
                          <a:cs typeface="Times New Roman"/>
                        </a:rPr>
                        <a:t>("</a:t>
                      </a:r>
                      <a:r>
                        <a:rPr lang="zh-CN" sz="1800" b="1" kern="100" dirty="0">
                          <a:latin typeface="Courier New"/>
                          <a:ea typeface="宋体"/>
                          <a:cs typeface="Courier New"/>
                        </a:rPr>
                        <a:t>最大堆已满</a:t>
                      </a:r>
                      <a:r>
                        <a:rPr lang="en-US" sz="1800" b="1" kern="100" dirty="0">
                          <a:latin typeface="Courier New"/>
                          <a:ea typeface="宋体"/>
                          <a:cs typeface="Times New Roman"/>
                        </a:rPr>
                        <a:t>");</a:t>
                      </a:r>
                      <a:endParaRPr lang="zh-CN" sz="1800" b="1" kern="100" dirty="0">
                        <a:latin typeface="Calibri"/>
                        <a:ea typeface="宋体"/>
                        <a:cs typeface="Times New Roman"/>
                      </a:endParaRPr>
                    </a:p>
                    <a:p>
                      <a:pPr algn="just">
                        <a:spcAft>
                          <a:spcPts val="0"/>
                        </a:spcAft>
                      </a:pPr>
                      <a:r>
                        <a:rPr lang="en-US" sz="1800" b="1" kern="100" dirty="0">
                          <a:latin typeface="Courier New"/>
                          <a:ea typeface="宋体"/>
                          <a:cs typeface="Times New Roman"/>
                        </a:rPr>
                        <a:t>        </a:t>
                      </a:r>
                      <a:r>
                        <a:rPr lang="en-US" sz="1800" b="1" kern="100" dirty="0">
                          <a:solidFill>
                            <a:srgbClr val="0000FF"/>
                          </a:solidFill>
                          <a:latin typeface="Courier New"/>
                          <a:ea typeface="宋体"/>
                          <a:cs typeface="Times New Roman"/>
                        </a:rPr>
                        <a:t>return</a:t>
                      </a:r>
                      <a:r>
                        <a:rPr lang="en-US" sz="1800" b="1" kern="100" dirty="0">
                          <a:latin typeface="Courier New"/>
                          <a:ea typeface="宋体"/>
                          <a:cs typeface="Times New Roman"/>
                        </a:rPr>
                        <a:t>;</a:t>
                      </a:r>
                      <a:endParaRPr lang="zh-CN" sz="1800" b="1" kern="100" dirty="0">
                        <a:latin typeface="Calibri"/>
                        <a:ea typeface="宋体"/>
                        <a:cs typeface="Times New Roman"/>
                      </a:endParaRPr>
                    </a:p>
                    <a:p>
                      <a:pPr algn="just">
                        <a:spcAft>
                          <a:spcPts val="0"/>
                        </a:spcAft>
                      </a:pPr>
                      <a:r>
                        <a:rPr lang="en-US" sz="1800" b="1" kern="100" dirty="0">
                          <a:latin typeface="Courier New"/>
                          <a:ea typeface="宋体"/>
                          <a:cs typeface="Times New Roman"/>
                        </a:rPr>
                        <a:t>    }</a:t>
                      </a:r>
                      <a:endParaRPr lang="zh-CN" sz="1800" b="1" kern="100" dirty="0">
                        <a:latin typeface="Calibri"/>
                        <a:ea typeface="宋体"/>
                        <a:cs typeface="Times New Roman"/>
                      </a:endParaRPr>
                    </a:p>
                    <a:p>
                      <a:pPr indent="266700" algn="just">
                        <a:spcAft>
                          <a:spcPts val="0"/>
                        </a:spcAft>
                      </a:pPr>
                      <a:r>
                        <a:rPr lang="en-US" sz="1800" b="1" kern="100" dirty="0" smtClean="0">
                          <a:latin typeface="Courier New"/>
                          <a:ea typeface="宋体"/>
                          <a:cs typeface="Times New Roman"/>
                        </a:rPr>
                        <a:t>  </a:t>
                      </a:r>
                      <a:r>
                        <a:rPr lang="en-US" sz="1800" b="1" kern="100" dirty="0" err="1" smtClean="0">
                          <a:latin typeface="Courier New"/>
                          <a:ea typeface="宋体"/>
                          <a:cs typeface="Times New Roman"/>
                        </a:rPr>
                        <a:t>i</a:t>
                      </a:r>
                      <a:r>
                        <a:rPr lang="en-US" sz="1800" b="1" kern="100" dirty="0" smtClean="0">
                          <a:latin typeface="Courier New"/>
                          <a:ea typeface="宋体"/>
                          <a:cs typeface="Times New Roman"/>
                        </a:rPr>
                        <a:t> </a:t>
                      </a:r>
                      <a:r>
                        <a:rPr lang="en-US" sz="1800" b="1" kern="100" dirty="0">
                          <a:latin typeface="Courier New"/>
                          <a:ea typeface="宋体"/>
                          <a:cs typeface="Times New Roman"/>
                        </a:rPr>
                        <a:t>= ++H-&gt;Size; </a:t>
                      </a:r>
                      <a:r>
                        <a:rPr lang="en-US" sz="1800" b="1" kern="100" dirty="0">
                          <a:solidFill>
                            <a:srgbClr val="002060"/>
                          </a:solidFill>
                          <a:latin typeface="Courier New"/>
                          <a:ea typeface="宋体"/>
                          <a:cs typeface="Times New Roman"/>
                        </a:rPr>
                        <a:t>/* </a:t>
                      </a:r>
                      <a:r>
                        <a:rPr lang="en-US" sz="1800" b="1" kern="100" dirty="0" err="1">
                          <a:solidFill>
                            <a:srgbClr val="002060"/>
                          </a:solidFill>
                          <a:latin typeface="Courier New"/>
                          <a:ea typeface="宋体"/>
                          <a:cs typeface="Times New Roman"/>
                        </a:rPr>
                        <a:t>i</a:t>
                      </a:r>
                      <a:r>
                        <a:rPr lang="zh-CN" sz="1800" b="1" kern="100" dirty="0">
                          <a:solidFill>
                            <a:srgbClr val="002060"/>
                          </a:solidFill>
                          <a:latin typeface="Courier New"/>
                          <a:ea typeface="宋体"/>
                          <a:cs typeface="Times New Roman"/>
                        </a:rPr>
                        <a:t>指向插入后堆中的最后一个元素的位置</a:t>
                      </a:r>
                      <a:r>
                        <a:rPr lang="en-US" sz="1800" b="1" kern="100" dirty="0">
                          <a:solidFill>
                            <a:srgbClr val="002060"/>
                          </a:solidFill>
                          <a:latin typeface="Courier New"/>
                          <a:ea typeface="宋体"/>
                          <a:cs typeface="Times New Roman"/>
                        </a:rPr>
                        <a:t> */</a:t>
                      </a:r>
                      <a:endParaRPr lang="zh-CN" sz="1800" b="1" kern="100" dirty="0">
                        <a:solidFill>
                          <a:srgbClr val="002060"/>
                        </a:solidFill>
                        <a:latin typeface="Courier New"/>
                        <a:ea typeface="宋体"/>
                        <a:cs typeface="Times New Roman"/>
                      </a:endParaRPr>
                    </a:p>
                    <a:p>
                      <a:pPr indent="266700" algn="just">
                        <a:spcAft>
                          <a:spcPts val="0"/>
                        </a:spcAft>
                      </a:pPr>
                      <a:r>
                        <a:rPr lang="en-US" sz="1800" b="1" kern="100" dirty="0" smtClean="0">
                          <a:solidFill>
                            <a:srgbClr val="0000FF"/>
                          </a:solidFill>
                          <a:latin typeface="Courier New"/>
                          <a:ea typeface="宋体"/>
                          <a:cs typeface="Times New Roman"/>
                        </a:rPr>
                        <a:t>  for</a:t>
                      </a:r>
                      <a:r>
                        <a:rPr lang="en-US" sz="1800" b="1" kern="100" dirty="0" smtClean="0">
                          <a:latin typeface="Courier New"/>
                          <a:ea typeface="宋体"/>
                          <a:cs typeface="Times New Roman"/>
                        </a:rPr>
                        <a:t> </a:t>
                      </a:r>
                      <a:r>
                        <a:rPr lang="en-US" sz="1800" b="1" kern="100" dirty="0">
                          <a:latin typeface="Courier New"/>
                          <a:ea typeface="宋体"/>
                          <a:cs typeface="Times New Roman"/>
                        </a:rPr>
                        <a:t>( ; H-&gt;Elements[</a:t>
                      </a:r>
                      <a:r>
                        <a:rPr lang="en-US" sz="1800" b="1" kern="100" dirty="0" err="1">
                          <a:latin typeface="Courier New"/>
                          <a:ea typeface="宋体"/>
                          <a:cs typeface="Times New Roman"/>
                        </a:rPr>
                        <a:t>i</a:t>
                      </a:r>
                      <a:r>
                        <a:rPr lang="en-US" sz="1800" b="1" kern="100" dirty="0">
                          <a:latin typeface="Courier New"/>
                          <a:ea typeface="宋体"/>
                          <a:cs typeface="Times New Roman"/>
                        </a:rPr>
                        <a:t>/2] &lt; item; </a:t>
                      </a:r>
                      <a:r>
                        <a:rPr lang="en-US" sz="1800" b="1" kern="100" dirty="0" err="1">
                          <a:latin typeface="Courier New"/>
                          <a:ea typeface="宋体"/>
                          <a:cs typeface="Times New Roman"/>
                        </a:rPr>
                        <a:t>i</a:t>
                      </a:r>
                      <a:r>
                        <a:rPr lang="en-US" sz="1800" b="1" kern="100" dirty="0">
                          <a:latin typeface="Courier New"/>
                          <a:ea typeface="宋体"/>
                          <a:cs typeface="Times New Roman"/>
                        </a:rPr>
                        <a:t>/=2 )</a:t>
                      </a:r>
                      <a:endParaRPr lang="zh-CN" sz="1800" b="1" kern="100" dirty="0">
                        <a:latin typeface="Calibri"/>
                        <a:ea typeface="宋体"/>
                        <a:cs typeface="Times New Roman"/>
                      </a:endParaRPr>
                    </a:p>
                    <a:p>
                      <a:pPr algn="just">
                        <a:spcAft>
                          <a:spcPts val="0"/>
                        </a:spcAft>
                      </a:pPr>
                      <a:r>
                        <a:rPr lang="en-US" sz="1800" b="1" kern="100" dirty="0">
                          <a:latin typeface="Courier New"/>
                          <a:ea typeface="宋体"/>
                          <a:cs typeface="Times New Roman"/>
                        </a:rPr>
                        <a:t>        H-&gt;Elements[</a:t>
                      </a:r>
                      <a:r>
                        <a:rPr lang="en-US" sz="1800" b="1" kern="100" dirty="0" err="1">
                          <a:latin typeface="Courier New"/>
                          <a:ea typeface="宋体"/>
                          <a:cs typeface="Times New Roman"/>
                        </a:rPr>
                        <a:t>i</a:t>
                      </a:r>
                      <a:r>
                        <a:rPr lang="en-US" sz="1800" b="1" kern="100" dirty="0">
                          <a:latin typeface="Courier New"/>
                          <a:ea typeface="宋体"/>
                          <a:cs typeface="Times New Roman"/>
                        </a:rPr>
                        <a:t>] = H-&gt;Elements[</a:t>
                      </a:r>
                      <a:r>
                        <a:rPr lang="en-US" sz="1800" b="1" kern="100" dirty="0" err="1">
                          <a:latin typeface="Courier New"/>
                          <a:ea typeface="宋体"/>
                          <a:cs typeface="Times New Roman"/>
                        </a:rPr>
                        <a:t>i</a:t>
                      </a:r>
                      <a:r>
                        <a:rPr lang="en-US" sz="1800" b="1" kern="100" dirty="0">
                          <a:latin typeface="Courier New"/>
                          <a:ea typeface="宋体"/>
                          <a:cs typeface="Times New Roman"/>
                        </a:rPr>
                        <a:t>/2]; </a:t>
                      </a:r>
                      <a:r>
                        <a:rPr lang="en-US" sz="1800" b="1" kern="100" dirty="0">
                          <a:solidFill>
                            <a:srgbClr val="002060"/>
                          </a:solidFill>
                          <a:latin typeface="Courier New"/>
                          <a:ea typeface="宋体"/>
                          <a:cs typeface="Times New Roman"/>
                        </a:rPr>
                        <a:t>/* </a:t>
                      </a:r>
                      <a:r>
                        <a:rPr lang="zh-CN" sz="1800" b="1" kern="100" dirty="0">
                          <a:solidFill>
                            <a:srgbClr val="002060"/>
                          </a:solidFill>
                          <a:latin typeface="Courier New"/>
                          <a:ea typeface="宋体"/>
                          <a:cs typeface="Times New Roman"/>
                        </a:rPr>
                        <a:t>向下过滤结点</a:t>
                      </a:r>
                      <a:r>
                        <a:rPr lang="en-US" sz="1800" b="1" kern="100" dirty="0">
                          <a:solidFill>
                            <a:srgbClr val="002060"/>
                          </a:solidFill>
                          <a:latin typeface="Courier New"/>
                          <a:ea typeface="宋体"/>
                          <a:cs typeface="Times New Roman"/>
                        </a:rPr>
                        <a:t> */</a:t>
                      </a:r>
                      <a:endParaRPr lang="zh-CN" sz="1800" b="1" kern="100" dirty="0">
                        <a:solidFill>
                          <a:srgbClr val="002060"/>
                        </a:solidFill>
                        <a:latin typeface="Courier New"/>
                        <a:ea typeface="宋体"/>
                        <a:cs typeface="Times New Roman"/>
                      </a:endParaRPr>
                    </a:p>
                    <a:p>
                      <a:pPr indent="266700" algn="just">
                        <a:spcAft>
                          <a:spcPts val="0"/>
                        </a:spcAft>
                      </a:pPr>
                      <a:r>
                        <a:rPr lang="en-US" sz="1800" b="1" kern="100" dirty="0" smtClean="0">
                          <a:latin typeface="Courier New"/>
                          <a:ea typeface="宋体"/>
                          <a:cs typeface="Times New Roman"/>
                        </a:rPr>
                        <a:t>  H-</a:t>
                      </a:r>
                      <a:r>
                        <a:rPr lang="en-US" sz="1800" b="1" kern="100" dirty="0">
                          <a:latin typeface="Courier New"/>
                          <a:ea typeface="宋体"/>
                          <a:cs typeface="Times New Roman"/>
                        </a:rPr>
                        <a:t>&gt;Elements[</a:t>
                      </a:r>
                      <a:r>
                        <a:rPr lang="en-US" sz="1800" b="1" kern="100" dirty="0" err="1">
                          <a:latin typeface="Courier New"/>
                          <a:ea typeface="宋体"/>
                          <a:cs typeface="Times New Roman"/>
                        </a:rPr>
                        <a:t>i</a:t>
                      </a:r>
                      <a:r>
                        <a:rPr lang="en-US" sz="1800" b="1" kern="100" dirty="0">
                          <a:latin typeface="Courier New"/>
                          <a:ea typeface="宋体"/>
                          <a:cs typeface="Times New Roman"/>
                        </a:rPr>
                        <a:t>] = item; </a:t>
                      </a:r>
                      <a:r>
                        <a:rPr lang="en-US" sz="1800" b="1" kern="100" dirty="0">
                          <a:solidFill>
                            <a:srgbClr val="002060"/>
                          </a:solidFill>
                          <a:latin typeface="Courier New"/>
                          <a:ea typeface="宋体"/>
                          <a:cs typeface="Times New Roman"/>
                        </a:rPr>
                        <a:t>/* </a:t>
                      </a:r>
                      <a:r>
                        <a:rPr lang="zh-CN" sz="1800" b="1" kern="100" dirty="0">
                          <a:solidFill>
                            <a:srgbClr val="002060"/>
                          </a:solidFill>
                          <a:latin typeface="Courier New"/>
                          <a:ea typeface="宋体"/>
                          <a:cs typeface="Times New Roman"/>
                        </a:rPr>
                        <a:t>将</a:t>
                      </a:r>
                      <a:r>
                        <a:rPr lang="en-US" sz="1800" b="1" kern="100" dirty="0">
                          <a:solidFill>
                            <a:srgbClr val="002060"/>
                          </a:solidFill>
                          <a:latin typeface="Courier New"/>
                          <a:ea typeface="宋体"/>
                          <a:cs typeface="Times New Roman"/>
                        </a:rPr>
                        <a:t>item </a:t>
                      </a:r>
                      <a:r>
                        <a:rPr lang="zh-CN" sz="1800" b="1" kern="100" dirty="0">
                          <a:solidFill>
                            <a:srgbClr val="002060"/>
                          </a:solidFill>
                          <a:latin typeface="Courier New"/>
                          <a:ea typeface="宋体"/>
                          <a:cs typeface="Times New Roman"/>
                        </a:rPr>
                        <a:t>插入</a:t>
                      </a:r>
                      <a:r>
                        <a:rPr lang="en-US" sz="1800" b="1" kern="100" dirty="0">
                          <a:solidFill>
                            <a:srgbClr val="002060"/>
                          </a:solidFill>
                          <a:latin typeface="Courier New"/>
                          <a:ea typeface="宋体"/>
                          <a:cs typeface="Times New Roman"/>
                        </a:rPr>
                        <a:t> */</a:t>
                      </a:r>
                      <a:endParaRPr lang="zh-CN" sz="1800" b="1" kern="100" dirty="0">
                        <a:solidFill>
                          <a:srgbClr val="002060"/>
                        </a:solidFill>
                        <a:latin typeface="Courier New"/>
                        <a:ea typeface="宋体"/>
                        <a:cs typeface="Times New Roman"/>
                      </a:endParaRPr>
                    </a:p>
                    <a:p>
                      <a:pPr algn="just">
                        <a:spcAft>
                          <a:spcPts val="0"/>
                        </a:spcAft>
                      </a:pPr>
                      <a:r>
                        <a:rPr lang="en-US" sz="1800" b="1" kern="100" dirty="0">
                          <a:latin typeface="Courier New"/>
                          <a:ea typeface="宋体"/>
                          <a:cs typeface="Times New Roman"/>
                        </a:rPr>
                        <a:t>}</a:t>
                      </a:r>
                      <a:endParaRPr lang="zh-CN" sz="1800" b="1" kern="100" dirty="0">
                        <a:latin typeface="Calibri"/>
                        <a:ea typeface="宋体"/>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8" name="AutoShape 5"/>
          <p:cNvSpPr>
            <a:spLocks noChangeArrowheads="1"/>
          </p:cNvSpPr>
          <p:nvPr/>
        </p:nvSpPr>
        <p:spPr bwMode="auto">
          <a:xfrm>
            <a:off x="4716016" y="5322341"/>
            <a:ext cx="2857500" cy="1071563"/>
          </a:xfrm>
          <a:prstGeom prst="wedgeEllipseCallout">
            <a:avLst>
              <a:gd name="adj1" fmla="val -102815"/>
              <a:gd name="adj2" fmla="val -97806"/>
            </a:avLst>
          </a:prstGeom>
          <a:gradFill rotWithShape="0">
            <a:gsLst>
              <a:gs pos="0">
                <a:srgbClr val="C0C0C0"/>
              </a:gs>
              <a:gs pos="100000">
                <a:srgbClr val="FFFFFF"/>
              </a:gs>
            </a:gsLst>
            <a:lin ang="2700000" scaled="1"/>
          </a:gradFill>
          <a:ln w="12700">
            <a:solidFill>
              <a:schemeClr val="tx1"/>
            </a:solidFill>
            <a:miter lim="800000"/>
            <a:headEnd/>
            <a:tailEnd/>
          </a:ln>
        </p:spPr>
        <p:txBody>
          <a:bodyPr anchor="ctr"/>
          <a:lstStyle/>
          <a:p>
            <a:pPr algn="ctr"/>
            <a:r>
              <a:rPr lang="zh-CN" altLang="en-US" sz="2000" b="1" i="1" dirty="0">
                <a:latin typeface="Times New Roman" pitchFamily="18" charset="0"/>
              </a:rPr>
              <a:t>比交换数据要快</a:t>
            </a:r>
            <a:endParaRPr lang="en-US" altLang="zh-CN" sz="2000" b="1" i="1" dirty="0">
              <a:latin typeface="Times New Roman" pitchFamily="18" charset="0"/>
            </a:endParaRPr>
          </a:p>
        </p:txBody>
      </p:sp>
      <p:sp>
        <p:nvSpPr>
          <p:cNvPr id="9" name="AutoShape 6"/>
          <p:cNvSpPr>
            <a:spLocks noChangeArrowheads="1"/>
          </p:cNvSpPr>
          <p:nvPr/>
        </p:nvSpPr>
        <p:spPr bwMode="auto">
          <a:xfrm>
            <a:off x="3652838" y="1857375"/>
            <a:ext cx="4419600" cy="1471613"/>
          </a:xfrm>
          <a:prstGeom prst="wedgeEllipseCallout">
            <a:avLst>
              <a:gd name="adj1" fmla="val -55296"/>
              <a:gd name="adj2" fmla="val 82426"/>
            </a:avLst>
          </a:prstGeom>
          <a:gradFill rotWithShape="0">
            <a:gsLst>
              <a:gs pos="0">
                <a:srgbClr val="C0C0C0"/>
              </a:gs>
              <a:gs pos="100000">
                <a:srgbClr val="FFFFFF"/>
              </a:gs>
            </a:gsLst>
            <a:lin ang="18900000" scaled="1"/>
          </a:gradFill>
          <a:ln w="12700">
            <a:solidFill>
              <a:schemeClr val="tx1"/>
            </a:solidFill>
            <a:miter lim="800000"/>
            <a:headEnd/>
            <a:tailEnd/>
          </a:ln>
        </p:spPr>
        <p:txBody>
          <a:bodyPr anchor="ctr"/>
          <a:lstStyle/>
          <a:p>
            <a:pPr algn="ctr"/>
            <a:r>
              <a:rPr lang="en-US" altLang="zh-CN" sz="2000" b="1" dirty="0"/>
              <a:t>H-&gt;Element[ 0 ] </a:t>
            </a:r>
            <a:r>
              <a:rPr lang="zh-CN" altLang="en-US" sz="2000" b="1" dirty="0"/>
              <a:t>是</a:t>
            </a:r>
            <a:r>
              <a:rPr lang="zh-CN" altLang="en-US" sz="2000" b="1" dirty="0">
                <a:solidFill>
                  <a:srgbClr val="0000FF"/>
                </a:solidFill>
              </a:rPr>
              <a:t>哨兵</a:t>
            </a:r>
            <a:r>
              <a:rPr lang="zh-CN" altLang="en-US" sz="2000" b="1" dirty="0"/>
              <a:t>元素，它</a:t>
            </a:r>
            <a:r>
              <a:rPr lang="zh-CN" altLang="en-US" sz="2000" b="1" dirty="0">
                <a:solidFill>
                  <a:srgbClr val="0000FF"/>
                </a:solidFill>
              </a:rPr>
              <a:t>不小于</a:t>
            </a:r>
            <a:r>
              <a:rPr lang="zh-CN" altLang="en-US" sz="2000" b="1" dirty="0"/>
              <a:t>堆中的最大元素，控制顺环结束。</a:t>
            </a:r>
            <a:endParaRPr lang="en-US" altLang="zh-CN" sz="2000" b="1" dirty="0"/>
          </a:p>
        </p:txBody>
      </p:sp>
      <p:sp>
        <p:nvSpPr>
          <p:cNvPr id="10" name="AutoShape 4"/>
          <p:cNvSpPr>
            <a:spLocks noChangeArrowheads="1"/>
          </p:cNvSpPr>
          <p:nvPr/>
        </p:nvSpPr>
        <p:spPr bwMode="auto">
          <a:xfrm>
            <a:off x="5652120" y="2774069"/>
            <a:ext cx="2819400" cy="1219200"/>
          </a:xfrm>
          <a:prstGeom prst="wedgeEllipseCallout">
            <a:avLst>
              <a:gd name="adj1" fmla="val -73611"/>
              <a:gd name="adj2" fmla="val 84750"/>
            </a:avLst>
          </a:prstGeom>
          <a:gradFill rotWithShape="0">
            <a:gsLst>
              <a:gs pos="0">
                <a:srgbClr val="C0C0C0"/>
              </a:gs>
              <a:gs pos="100000">
                <a:srgbClr val="FFFFFF"/>
              </a:gs>
            </a:gsLst>
            <a:lin ang="18900000" scaled="1"/>
          </a:gradFill>
          <a:ln w="12700">
            <a:solidFill>
              <a:schemeClr val="tx1"/>
            </a:solidFill>
            <a:miter lim="800000"/>
            <a:headEnd/>
            <a:tailEnd/>
          </a:ln>
        </p:spPr>
        <p:txBody>
          <a:bodyPr anchor="ctr"/>
          <a:lstStyle/>
          <a:p>
            <a:pPr algn="ctr"/>
            <a:r>
              <a:rPr lang="en-US" altLang="zh-CN" sz="2000" b="1" i="1" dirty="0">
                <a:latin typeface="Times New Roman" pitchFamily="18" charset="0"/>
              </a:rPr>
              <a:t>item </a:t>
            </a:r>
            <a:r>
              <a:rPr lang="zh-CN" altLang="en-US" sz="2000" b="1" i="1" dirty="0">
                <a:latin typeface="Times New Roman" pitchFamily="18" charset="0"/>
              </a:rPr>
              <a:t>往上渗透</a:t>
            </a:r>
            <a:endParaRPr lang="en-US" altLang="zh-CN" sz="2000" b="1" i="1" dirty="0">
              <a:latin typeface="Times New Roman" pitchFamily="18" charset="0"/>
            </a:endParaRPr>
          </a:p>
        </p:txBody>
      </p:sp>
      <p:sp>
        <p:nvSpPr>
          <p:cNvPr id="11" name="Text Box 7"/>
          <p:cNvSpPr txBox="1">
            <a:spLocks noChangeArrowheads="1"/>
          </p:cNvSpPr>
          <p:nvPr/>
        </p:nvSpPr>
        <p:spPr bwMode="auto">
          <a:xfrm>
            <a:off x="611560" y="6165304"/>
            <a:ext cx="2895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spcBef>
                <a:spcPct val="50000"/>
              </a:spcBef>
            </a:pPr>
            <a:r>
              <a:rPr lang="en-US" altLang="zh-CN" b="1" i="1" dirty="0">
                <a:latin typeface="Times New Roman" pitchFamily="18" charset="0"/>
              </a:rPr>
              <a:t>T</a:t>
            </a:r>
            <a:r>
              <a:rPr lang="en-US" altLang="zh-CN" b="1" dirty="0">
                <a:latin typeface="Times New Roman" pitchFamily="18" charset="0"/>
              </a:rPr>
              <a:t> (</a:t>
            </a:r>
            <a:r>
              <a:rPr lang="en-US" altLang="zh-CN" b="1" i="1" dirty="0">
                <a:latin typeface="Times New Roman" pitchFamily="18" charset="0"/>
              </a:rPr>
              <a:t>N</a:t>
            </a:r>
            <a:r>
              <a:rPr lang="en-US" altLang="zh-CN" b="1" dirty="0">
                <a:latin typeface="Times New Roman" pitchFamily="18" charset="0"/>
              </a:rPr>
              <a:t>) = O ( log </a:t>
            </a:r>
            <a:r>
              <a:rPr lang="en-US" altLang="zh-CN" b="1" i="1" dirty="0">
                <a:latin typeface="Times New Roman" pitchFamily="18" charset="0"/>
              </a:rPr>
              <a:t>N </a:t>
            </a:r>
            <a:r>
              <a:rPr lang="en-US" altLang="zh-CN" b="1" dirty="0">
                <a:latin typeface="Times New Roman" pitchFamily="18" charset="0"/>
              </a:rPr>
              <a:t>)</a:t>
            </a:r>
            <a:endParaRPr lang="en-US" altLang="zh-CN" b="1" i="1" dirty="0">
              <a:latin typeface="Times New Roman" pitchFamily="18" charset="0"/>
            </a:endParaRPr>
          </a:p>
        </p:txBody>
      </p:sp>
    </p:spTree>
    <p:extLst>
      <p:ext uri="{BB962C8B-B14F-4D97-AF65-F5344CB8AC3E}">
        <p14:creationId xmlns:p14="http://schemas.microsoft.com/office/powerpoint/2010/main" val="41349014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strips(downRight)">
                                      <p:cBhvr>
                                        <p:cTn id="7" dur="500"/>
                                        <p:tgtEl>
                                          <p:spTgt spid="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3"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strips(upRight)">
                                      <p:cBhvr>
                                        <p:cTn id="12" dur="500"/>
                                        <p:tgtEl>
                                          <p:spTgt spid="10"/>
                                        </p:tgtEl>
                                      </p:cBhvr>
                                    </p:animEffect>
                                  </p:childTnLst>
                                  <p:subTnLst>
                                    <p:set>
                                      <p:cBhvr override="childStyle">
                                        <p:cTn dur="1" fill="hold" display="0" masterRel="nextClick" afterEffect="1"/>
                                        <p:tgtEl>
                                          <p:spTgt spid="10"/>
                                        </p:tgtEl>
                                        <p:attrNameLst>
                                          <p:attrName>style.visibility</p:attrName>
                                        </p:attrNameLst>
                                      </p:cBhvr>
                                      <p:to>
                                        <p:strVal val="hidden"/>
                                      </p:to>
                                    </p:set>
                                  </p:sub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3"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strips(upRight)">
                                      <p:cBhvr>
                                        <p:cTn id="17" dur="500"/>
                                        <p:tgtEl>
                                          <p:spTgt spid="9"/>
                                        </p:tgtEl>
                                      </p:cBhvr>
                                    </p:animEffect>
                                  </p:childTnLst>
                                  <p:subTnLst>
                                    <p:set>
                                      <p:cBhvr override="childStyle">
                                        <p:cTn dur="1" fill="hold" display="0" masterRel="nextClick" afterEffect="1"/>
                                        <p:tgtEl>
                                          <p:spTgt spid="9"/>
                                        </p:tgtEl>
                                        <p:attrNameLst>
                                          <p:attrName>style.visibility</p:attrName>
                                        </p:attrNameLst>
                                      </p:cBhvr>
                                      <p:to>
                                        <p:strVal val="hidden"/>
                                      </p:to>
                                    </p:set>
                                  </p:sub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strips(downRight)">
                                      <p:cBhvr>
                                        <p:cTn id="22" dur="500"/>
                                        <p:tgtEl>
                                          <p:spTgt spid="8"/>
                                        </p:tgtEl>
                                      </p:cBhvr>
                                    </p:animEffect>
                                  </p:childTnLst>
                                  <p:subTnLst>
                                    <p:set>
                                      <p:cBhvr override="childStyle">
                                        <p:cTn dur="1" fill="hold" display="0" masterRel="nextClick" afterEffect="1"/>
                                        <p:tgtEl>
                                          <p:spTgt spid="8"/>
                                        </p:tgtEl>
                                        <p:attrNameLst>
                                          <p:attrName>style.visibility</p:attrName>
                                        </p:attrNameLst>
                                      </p:cBhvr>
                                      <p:to>
                                        <p:strVal val="hidden"/>
                                      </p:to>
                                    </p:set>
                                  </p:sub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wipe(left)">
                                      <p:cBhvr>
                                        <p:cTn id="2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autoUpdateAnimBg="0"/>
      <p:bldP spid="9" grpId="0" animBg="1" autoUpdateAnimBg="0"/>
      <p:bldP spid="10" grpId="0" animBg="1" autoUpdateAnimBg="0"/>
      <p:bldP spid="11" grpId="0" autoUpdateAnimBg="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灯片编号占位符 1"/>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fld id="{2A7A8266-23B7-4E63-9DF6-C1E19932A72F}" type="slidenum">
              <a:rPr lang="en-US" altLang="zh-CN" smtClean="0">
                <a:solidFill>
                  <a:srgbClr val="000000"/>
                </a:solidFill>
                <a:latin typeface="Times New Roman" pitchFamily="18" charset="0"/>
              </a:rPr>
              <a:pPr/>
              <a:t>143</a:t>
            </a:fld>
            <a:endParaRPr lang="en-US" altLang="zh-CN" smtClean="0">
              <a:solidFill>
                <a:srgbClr val="000000"/>
              </a:solidFill>
              <a:latin typeface="Times New Roman" pitchFamily="18" charset="0"/>
            </a:endParaRPr>
          </a:p>
        </p:txBody>
      </p:sp>
      <p:sp>
        <p:nvSpPr>
          <p:cNvPr id="39939" name="TextBox 3"/>
          <p:cNvSpPr txBox="1">
            <a:spLocks noChangeArrowheads="1"/>
          </p:cNvSpPr>
          <p:nvPr>
            <p:custDataLst>
              <p:tags r:id="rId2"/>
            </p:custDataLst>
          </p:nvPr>
        </p:nvSpPr>
        <p:spPr bwMode="auto">
          <a:xfrm>
            <a:off x="914400" y="635000"/>
            <a:ext cx="7315200" cy="214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600">
                <a:solidFill>
                  <a:srgbClr val="000000"/>
                </a:solidFill>
                <a:latin typeface="Microsoft Yahei" pitchFamily="34" charset="-122"/>
                <a:ea typeface="Microsoft Yahei" pitchFamily="34" charset="-122"/>
                <a:sym typeface="Microsoft Yahei" pitchFamily="34" charset="-122"/>
              </a:rPr>
              <a:t>将 </a:t>
            </a:r>
            <a:r>
              <a:rPr lang="en-US" altLang="zh-CN" sz="2600">
                <a:solidFill>
                  <a:srgbClr val="000000"/>
                </a:solidFill>
                <a:latin typeface="Microsoft Yahei" pitchFamily="34" charset="-122"/>
                <a:ea typeface="Microsoft Yahei" pitchFamily="34" charset="-122"/>
                <a:sym typeface="Microsoft Yahei" pitchFamily="34" charset="-122"/>
              </a:rPr>
              <a:t>{28, 15, 42, 18, 22, 5, 40} </a:t>
            </a:r>
            <a:r>
              <a:rPr lang="zh-CN" altLang="en-US" sz="2600">
                <a:solidFill>
                  <a:srgbClr val="000000"/>
                </a:solidFill>
                <a:latin typeface="Microsoft Yahei" pitchFamily="34" charset="-122"/>
                <a:ea typeface="Microsoft Yahei" pitchFamily="34" charset="-122"/>
                <a:sym typeface="Microsoft Yahei" pitchFamily="34" charset="-122"/>
              </a:rPr>
              <a:t>逐个按顺序插入到初始为空的最小堆（小根堆）中。则该树的前序遍历结果为：</a:t>
            </a:r>
          </a:p>
        </p:txBody>
      </p:sp>
      <p:sp>
        <p:nvSpPr>
          <p:cNvPr id="39940" name="TextBox 4"/>
          <p:cNvSpPr txBox="1">
            <a:spLocks noChangeArrowheads="1"/>
          </p:cNvSpPr>
          <p:nvPr>
            <p:custDataLst>
              <p:tags r:id="rId3"/>
            </p:custDataLst>
          </p:nvPr>
        </p:nvSpPr>
        <p:spPr bwMode="auto">
          <a:xfrm>
            <a:off x="1828800" y="278606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600">
                <a:solidFill>
                  <a:srgbClr val="000000"/>
                </a:solidFill>
                <a:latin typeface="Microsoft Yahei" pitchFamily="34" charset="-122"/>
                <a:ea typeface="Microsoft Yahei" pitchFamily="34" charset="-122"/>
                <a:sym typeface="Microsoft Yahei" pitchFamily="34" charset="-122"/>
              </a:rPr>
              <a:t>5, 18, 15, 28, 22, 42, 40</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39941" name="TextBox 5"/>
          <p:cNvSpPr txBox="1">
            <a:spLocks noChangeArrowheads="1"/>
          </p:cNvSpPr>
          <p:nvPr>
            <p:custDataLst>
              <p:tags r:id="rId4"/>
            </p:custDataLst>
          </p:nvPr>
        </p:nvSpPr>
        <p:spPr bwMode="auto">
          <a:xfrm>
            <a:off x="1828800" y="364331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600">
                <a:solidFill>
                  <a:srgbClr val="000000"/>
                </a:solidFill>
                <a:latin typeface="Microsoft Yahei" pitchFamily="34" charset="-122"/>
                <a:ea typeface="Microsoft Yahei" pitchFamily="34" charset="-122"/>
                <a:sym typeface="Microsoft Yahei" pitchFamily="34" charset="-122"/>
              </a:rPr>
              <a:t>5, 15, 18, 22, 28, 42, 40</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39942" name="TextBox 6"/>
          <p:cNvSpPr txBox="1">
            <a:spLocks noChangeArrowheads="1"/>
          </p:cNvSpPr>
          <p:nvPr>
            <p:custDataLst>
              <p:tags r:id="rId5"/>
            </p:custDataLst>
          </p:nvPr>
        </p:nvSpPr>
        <p:spPr bwMode="auto">
          <a:xfrm>
            <a:off x="1828800" y="450056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600">
                <a:solidFill>
                  <a:srgbClr val="000000"/>
                </a:solidFill>
                <a:latin typeface="Microsoft Yahei" pitchFamily="34" charset="-122"/>
                <a:ea typeface="Microsoft Yahei" pitchFamily="34" charset="-122"/>
                <a:sym typeface="Microsoft Yahei" pitchFamily="34" charset="-122"/>
              </a:rPr>
              <a:t>5, 18, 28, 22, 15, 42, 40</a:t>
            </a:r>
          </a:p>
        </p:txBody>
      </p:sp>
      <p:sp>
        <p:nvSpPr>
          <p:cNvPr id="39943" name="TextBox 7"/>
          <p:cNvSpPr txBox="1">
            <a:spLocks noChangeArrowheads="1"/>
          </p:cNvSpPr>
          <p:nvPr>
            <p:custDataLst>
              <p:tags r:id="rId6"/>
            </p:custDataLst>
          </p:nvPr>
        </p:nvSpPr>
        <p:spPr bwMode="auto">
          <a:xfrm>
            <a:off x="1828800" y="535781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600">
                <a:solidFill>
                  <a:srgbClr val="000000"/>
                </a:solidFill>
                <a:latin typeface="Microsoft Yahei" pitchFamily="34" charset="-122"/>
                <a:ea typeface="Microsoft Yahei" pitchFamily="34" charset="-122"/>
                <a:sym typeface="Microsoft Yahei" pitchFamily="34" charset="-122"/>
              </a:rPr>
              <a:t>5, 15, 28, 18, 22, 42, 40</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39944" name="椭圆 8"/>
          <p:cNvSpPr>
            <a:spLocks noChangeAspect="1"/>
          </p:cNvSpPr>
          <p:nvPr>
            <p:custDataLst>
              <p:tags r:id="rId7"/>
            </p:custDataLst>
          </p:nvPr>
        </p:nvSpPr>
        <p:spPr bwMode="auto">
          <a:xfrm>
            <a:off x="1114425" y="284956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A</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39945" name="椭圆 9"/>
          <p:cNvSpPr>
            <a:spLocks noChangeAspect="1"/>
          </p:cNvSpPr>
          <p:nvPr>
            <p:custDataLst>
              <p:tags r:id="rId8"/>
            </p:custDataLst>
          </p:nvPr>
        </p:nvSpPr>
        <p:spPr bwMode="auto">
          <a:xfrm>
            <a:off x="1114425" y="370681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B</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39946" name="椭圆 10"/>
          <p:cNvSpPr>
            <a:spLocks noChangeAspect="1"/>
          </p:cNvSpPr>
          <p:nvPr>
            <p:custDataLst>
              <p:tags r:id="rId9"/>
            </p:custDataLst>
          </p:nvPr>
        </p:nvSpPr>
        <p:spPr bwMode="auto">
          <a:xfrm>
            <a:off x="1114425" y="4564063"/>
            <a:ext cx="514350" cy="514350"/>
          </a:xfrm>
          <a:prstGeom prst="ellipse">
            <a:avLst/>
          </a:prstGeom>
          <a:solidFill>
            <a:srgbClr val="00FF00"/>
          </a:solidFill>
          <a:ln w="254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C</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39947" name="椭圆 11"/>
          <p:cNvSpPr>
            <a:spLocks noChangeAspect="1"/>
          </p:cNvSpPr>
          <p:nvPr>
            <p:custDataLst>
              <p:tags r:id="rId10"/>
            </p:custDataLst>
          </p:nvPr>
        </p:nvSpPr>
        <p:spPr bwMode="auto">
          <a:xfrm>
            <a:off x="1114425" y="542131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D</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39948" name="圆角矩形 12"/>
          <p:cNvSpPr>
            <a:spLocks noChangeArrowheads="1"/>
          </p:cNvSpPr>
          <p:nvPr>
            <p:custDataLst>
              <p:tags r:id="rId11"/>
            </p:custDataLst>
          </p:nvPr>
        </p:nvSpPr>
        <p:spPr bwMode="auto">
          <a:xfrm>
            <a:off x="6172200" y="6215063"/>
            <a:ext cx="1543050" cy="411162"/>
          </a:xfrm>
          <a:prstGeom prst="roundRect">
            <a:avLst>
              <a:gd name="adj" fmla="val 16667"/>
            </a:avLst>
          </a:prstGeom>
          <a:solidFill>
            <a:srgbClr val="808080"/>
          </a:solidFill>
          <a:ln w="38100" algn="ctr">
            <a:solidFill>
              <a:srgbClr val="000000"/>
            </a:solidFill>
            <a:round/>
            <a:headEnd/>
            <a:tailEnd/>
          </a:ln>
        </p:spPr>
        <p:txBody>
          <a:bodyPr anchor="ctr" anchorCtr="1"/>
          <a:lstStyle/>
          <a:p>
            <a:pPr eaLnBrk="1" hangingPunct="1"/>
            <a:r>
              <a:rPr kumimoji="1" lang="zh-CN" altLang="en-US" sz="1600">
                <a:solidFill>
                  <a:srgbClr val="FFFFFF"/>
                </a:solidFill>
                <a:latin typeface="Microsoft Yahei" pitchFamily="34" charset="-122"/>
                <a:ea typeface="Microsoft Yahei" pitchFamily="34" charset="-122"/>
                <a:sym typeface="Microsoft Yahei" pitchFamily="34" charset="-122"/>
              </a:rPr>
              <a:t>提交</a:t>
            </a:r>
          </a:p>
        </p:txBody>
      </p:sp>
      <p:grpSp>
        <p:nvGrpSpPr>
          <p:cNvPr id="39949" name="组合 17"/>
          <p:cNvGrpSpPr>
            <a:grpSpLocks/>
          </p:cNvGrpSpPr>
          <p:nvPr>
            <p:custDataLst>
              <p:tags r:id="rId12"/>
            </p:custDataLst>
          </p:nvPr>
        </p:nvGrpSpPr>
        <p:grpSpPr bwMode="auto">
          <a:xfrm>
            <a:off x="0" y="0"/>
            <a:ext cx="9144000" cy="635000"/>
            <a:chOff x="0" y="0"/>
            <a:chExt cx="9144000" cy="635000"/>
          </a:xfrm>
        </p:grpSpPr>
        <p:sp>
          <p:nvSpPr>
            <p:cNvPr id="39951" name="TitleBackground"/>
            <p:cNvSpPr>
              <a:spLocks noChangeArrowheads="1"/>
            </p:cNvSpPr>
            <p:nvPr>
              <p:custDataLst>
                <p:tags r:id="rId14"/>
              </p:custDataLst>
            </p:nvPr>
          </p:nvSpPr>
          <p:spPr bwMode="auto">
            <a:xfrm>
              <a:off x="0" y="0"/>
              <a:ext cx="9144000" cy="635000"/>
            </a:xfrm>
            <a:prstGeom prst="rect">
              <a:avLst/>
            </a:prstGeom>
            <a:solidFill>
              <a:srgbClr val="F6F7F8"/>
            </a:solidFill>
            <a:ln>
              <a:noFill/>
            </a:ln>
            <a:extLst>
              <a:ext uri="{91240B29-F687-4F45-9708-019B960494DF}">
                <a14:hiddenLine xmlns:a14="http://schemas.microsoft.com/office/drawing/2010/main" w="9525" algn="ctr">
                  <a:solidFill>
                    <a:schemeClr val="tx1"/>
                  </a:solidFill>
                  <a:round/>
                  <a:headEnd/>
                  <a:tailEnd/>
                </a14:hiddenLine>
              </a:ext>
            </a:extLst>
          </p:spPr>
          <p:txBody>
            <a:bodyPr/>
            <a:lstStyle/>
            <a:p>
              <a:pPr eaLnBrk="1" hangingPunct="1"/>
              <a:endParaRPr kumimoji="1" lang="zh-CN" altLang="en-US" sz="2400">
                <a:latin typeface="Times New Roman" pitchFamily="18" charset="0"/>
              </a:endParaRPr>
            </a:p>
          </p:txBody>
        </p:sp>
        <p:sp>
          <p:nvSpPr>
            <p:cNvPr id="39952" name="ColorBlock"/>
            <p:cNvSpPr>
              <a:spLocks noChangeArrowheads="1"/>
            </p:cNvSpPr>
            <p:nvPr>
              <p:custDataLst>
                <p:tags r:id="rId15"/>
              </p:custDataLst>
            </p:nvPr>
          </p:nvSpPr>
          <p:spPr bwMode="auto">
            <a:xfrm>
              <a:off x="0" y="0"/>
              <a:ext cx="190500" cy="635000"/>
            </a:xfrm>
            <a:prstGeom prst="rect">
              <a:avLst/>
            </a:prstGeom>
            <a:solidFill>
              <a:srgbClr val="639EF4"/>
            </a:solidFill>
            <a:ln>
              <a:noFill/>
            </a:ln>
            <a:extLst>
              <a:ext uri="{91240B29-F687-4F45-9708-019B960494DF}">
                <a14:hiddenLine xmlns:a14="http://schemas.microsoft.com/office/drawing/2010/main" w="9525" algn="ctr">
                  <a:solidFill>
                    <a:schemeClr val="tx1"/>
                  </a:solidFill>
                  <a:round/>
                  <a:headEnd/>
                  <a:tailEnd/>
                </a14:hiddenLine>
              </a:ext>
            </a:extLst>
          </p:spPr>
          <p:txBody>
            <a:bodyPr/>
            <a:lstStyle/>
            <a:p>
              <a:pPr eaLnBrk="1" hangingPunct="1"/>
              <a:endParaRPr kumimoji="1" lang="zh-CN" altLang="en-US" sz="2400">
                <a:latin typeface="Times New Roman" pitchFamily="18" charset="0"/>
              </a:endParaRPr>
            </a:p>
          </p:txBody>
        </p:sp>
        <p:sp>
          <p:nvSpPr>
            <p:cNvPr id="39953" name="TypeText"/>
            <p:cNvSpPr txBox="1">
              <a:spLocks noChangeArrowheads="1"/>
            </p:cNvSpPr>
            <p:nvPr>
              <p:custDataLst>
                <p:tags r:id="rId16"/>
              </p:custDataLst>
            </p:nvPr>
          </p:nvSpPr>
          <p:spPr bwMode="auto">
            <a:xfrm>
              <a:off x="254000" y="0"/>
              <a:ext cx="190500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600">
                  <a:solidFill>
                    <a:srgbClr val="000000"/>
                  </a:solidFill>
                  <a:latin typeface="Microsoft Yahei" pitchFamily="34" charset="-122"/>
                  <a:ea typeface="Microsoft Yahei" pitchFamily="34" charset="-122"/>
                  <a:sym typeface="Microsoft Yahei" pitchFamily="34" charset="-122"/>
                </a:rPr>
                <a:t>单选题</a:t>
              </a:r>
            </a:p>
          </p:txBody>
        </p:sp>
        <p:sp>
          <p:nvSpPr>
            <p:cNvPr id="39954" name="TipText"/>
            <p:cNvSpPr txBox="1">
              <a:spLocks noChangeArrowheads="1"/>
            </p:cNvSpPr>
            <p:nvPr>
              <p:custDataLst>
                <p:tags r:id="rId17"/>
              </p:custDataLst>
            </p:nvPr>
          </p:nvSpPr>
          <p:spPr bwMode="auto">
            <a:xfrm>
              <a:off x="1525905" y="109220"/>
              <a:ext cx="22860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000">
                  <a:solidFill>
                    <a:srgbClr val="808080"/>
                  </a:solidFill>
                  <a:latin typeface="Microsoft Yahei" pitchFamily="34" charset="-122"/>
                  <a:ea typeface="Microsoft Yahei" pitchFamily="34" charset="-122"/>
                  <a:sym typeface="Microsoft Yahei" pitchFamily="34" charset="-122"/>
                </a:rPr>
                <a:t>1</a:t>
              </a:r>
              <a:r>
                <a:rPr lang="zh-CN" altLang="en-US" sz="2000">
                  <a:solidFill>
                    <a:srgbClr val="808080"/>
                  </a:solidFill>
                  <a:latin typeface="Microsoft Yahei" pitchFamily="34" charset="-122"/>
                  <a:ea typeface="Microsoft Yahei" pitchFamily="34" charset="-122"/>
                  <a:sym typeface="Microsoft Yahei" pitchFamily="34" charset="-122"/>
                </a:rPr>
                <a:t>分</a:t>
              </a:r>
            </a:p>
          </p:txBody>
        </p:sp>
      </p:grpSp>
      <p:pic>
        <p:nvPicPr>
          <p:cNvPr id="39950" name="图片 2"/>
          <p:cNvPicPr>
            <a:picLocks/>
          </p:cNvPicPr>
          <p:nvPr>
            <p:custDataLst>
              <p:tags r:id="rId13"/>
            </p:custDataLst>
          </p:nvPr>
        </p:nvPicPr>
        <p:blipFill>
          <a:blip r:embed="rId19">
            <a:extLst>
              <a:ext uri="{28A0092B-C50C-407E-A947-70E740481C1C}">
                <a14:useLocalDpi xmlns:a14="http://schemas.microsoft.com/office/drawing/2010/main" val="0"/>
              </a:ext>
            </a:extLst>
          </a:blip>
          <a:srcRect/>
          <a:stretch>
            <a:fillRect/>
          </a:stretch>
        </p:blipFill>
        <p:spPr bwMode="auto">
          <a:xfrm>
            <a:off x="7594600" y="63500"/>
            <a:ext cx="14224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3324941796"/>
      </p:ext>
    </p:extLst>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5" name="矩形 3"/>
          <p:cNvSpPr>
            <a:spLocks noChangeArrowheads="1"/>
          </p:cNvSpPr>
          <p:nvPr/>
        </p:nvSpPr>
        <p:spPr bwMode="auto">
          <a:xfrm>
            <a:off x="882650" y="116632"/>
            <a:ext cx="25304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3200" b="1" dirty="0">
                <a:solidFill>
                  <a:srgbClr val="EBEBEB"/>
                </a:solidFill>
                <a:latin typeface="Times New Roman" pitchFamily="18" charset="0"/>
                <a:sym typeface="Wingdings" pitchFamily="2" charset="2"/>
              </a:rPr>
              <a:t> </a:t>
            </a:r>
            <a:r>
              <a:rPr lang="zh-CN" altLang="en-US" sz="2400" b="1" dirty="0">
                <a:solidFill>
                  <a:srgbClr val="EBEBEB"/>
                </a:solidFill>
                <a:latin typeface="Times New Roman" pitchFamily="18" charset="0"/>
              </a:rPr>
              <a:t>最大堆的删除</a:t>
            </a:r>
          </a:p>
        </p:txBody>
      </p:sp>
      <p:sp>
        <p:nvSpPr>
          <p:cNvPr id="40966" name="矩形 4"/>
          <p:cNvSpPr>
            <a:spLocks noChangeArrowheads="1"/>
          </p:cNvSpPr>
          <p:nvPr/>
        </p:nvSpPr>
        <p:spPr bwMode="auto">
          <a:xfrm>
            <a:off x="571500" y="1143000"/>
            <a:ext cx="774491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en-US" altLang="zh-CN" sz="2000" b="1" dirty="0">
                <a:solidFill>
                  <a:srgbClr val="0000FF"/>
                </a:solidFill>
                <a:latin typeface="Times New Roman" pitchFamily="18" charset="0"/>
                <a:sym typeface="Wingdings" pitchFamily="2" charset="2"/>
              </a:rPr>
              <a:t> </a:t>
            </a:r>
            <a:r>
              <a:rPr lang="zh-CN" altLang="en-US" sz="2000" b="1" dirty="0">
                <a:latin typeface="Times New Roman" pitchFamily="18" charset="0"/>
              </a:rPr>
              <a:t>取出根结点（最大值）元素，同时删除堆的一个结点。</a:t>
            </a:r>
          </a:p>
        </p:txBody>
      </p:sp>
      <p:grpSp>
        <p:nvGrpSpPr>
          <p:cNvPr id="50" name="Group 48"/>
          <p:cNvGrpSpPr>
            <a:grpSpLocks/>
          </p:cNvGrpSpPr>
          <p:nvPr/>
        </p:nvGrpSpPr>
        <p:grpSpPr bwMode="auto">
          <a:xfrm>
            <a:off x="1014413" y="2447925"/>
            <a:ext cx="1905000" cy="1905000"/>
            <a:chOff x="480" y="1152"/>
            <a:chExt cx="1200" cy="1200"/>
          </a:xfrm>
        </p:grpSpPr>
        <p:sp>
          <p:nvSpPr>
            <p:cNvPr id="40992" name="Oval 49"/>
            <p:cNvSpPr>
              <a:spLocks noChangeArrowheads="1"/>
            </p:cNvSpPr>
            <p:nvPr/>
          </p:nvSpPr>
          <p:spPr bwMode="auto">
            <a:xfrm>
              <a:off x="1152" y="1152"/>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latin typeface="Times New Roman" pitchFamily="18" charset="0"/>
                </a:rPr>
                <a:t>58</a:t>
              </a:r>
            </a:p>
          </p:txBody>
        </p:sp>
        <p:sp>
          <p:nvSpPr>
            <p:cNvPr id="40993" name="Oval 50"/>
            <p:cNvSpPr>
              <a:spLocks noChangeArrowheads="1"/>
            </p:cNvSpPr>
            <p:nvPr/>
          </p:nvSpPr>
          <p:spPr bwMode="auto">
            <a:xfrm>
              <a:off x="768" y="1536"/>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latin typeface="Times New Roman" pitchFamily="18" charset="0"/>
                </a:rPr>
                <a:t>44</a:t>
              </a:r>
            </a:p>
          </p:txBody>
        </p:sp>
        <p:sp>
          <p:nvSpPr>
            <p:cNvPr id="40994" name="Oval 51"/>
            <p:cNvSpPr>
              <a:spLocks noChangeArrowheads="1"/>
            </p:cNvSpPr>
            <p:nvPr/>
          </p:nvSpPr>
          <p:spPr bwMode="auto">
            <a:xfrm>
              <a:off x="480" y="1920"/>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latin typeface="Times New Roman" pitchFamily="18" charset="0"/>
                </a:rPr>
                <a:t>35</a:t>
              </a:r>
            </a:p>
          </p:txBody>
        </p:sp>
        <p:sp>
          <p:nvSpPr>
            <p:cNvPr id="40995" name="Line 52"/>
            <p:cNvSpPr>
              <a:spLocks noChangeShapeType="1"/>
            </p:cNvSpPr>
            <p:nvPr/>
          </p:nvSpPr>
          <p:spPr bwMode="auto">
            <a:xfrm flipH="1">
              <a:off x="649" y="1754"/>
              <a:ext cx="190" cy="19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2000"/>
            </a:p>
          </p:txBody>
        </p:sp>
        <p:sp>
          <p:nvSpPr>
            <p:cNvPr id="40996" name="Line 53"/>
            <p:cNvSpPr>
              <a:spLocks noChangeShapeType="1"/>
            </p:cNvSpPr>
            <p:nvPr/>
          </p:nvSpPr>
          <p:spPr bwMode="auto">
            <a:xfrm flipH="1">
              <a:off x="934" y="1344"/>
              <a:ext cx="218" cy="214"/>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2000"/>
            </a:p>
          </p:txBody>
        </p:sp>
        <p:sp>
          <p:nvSpPr>
            <p:cNvPr id="40997" name="Oval 54"/>
            <p:cNvSpPr>
              <a:spLocks noChangeArrowheads="1"/>
            </p:cNvSpPr>
            <p:nvPr/>
          </p:nvSpPr>
          <p:spPr bwMode="auto">
            <a:xfrm flipH="1">
              <a:off x="1440" y="1536"/>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latin typeface="Times New Roman" pitchFamily="18" charset="0"/>
                </a:rPr>
                <a:t>25</a:t>
              </a:r>
            </a:p>
          </p:txBody>
        </p:sp>
        <p:sp>
          <p:nvSpPr>
            <p:cNvPr id="40998" name="Line 55"/>
            <p:cNvSpPr>
              <a:spLocks noChangeShapeType="1"/>
            </p:cNvSpPr>
            <p:nvPr/>
          </p:nvSpPr>
          <p:spPr bwMode="auto">
            <a:xfrm>
              <a:off x="1365" y="1344"/>
              <a:ext cx="190" cy="19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2000"/>
            </a:p>
          </p:txBody>
        </p:sp>
        <p:sp>
          <p:nvSpPr>
            <p:cNvPr id="40999" name="Rectangle 56"/>
            <p:cNvSpPr>
              <a:spLocks noChangeArrowheads="1"/>
            </p:cNvSpPr>
            <p:nvPr/>
          </p:nvSpPr>
          <p:spPr bwMode="auto">
            <a:xfrm>
              <a:off x="912" y="1200"/>
              <a:ext cx="24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anchor="ctr"/>
            <a:lstStyle/>
            <a:p>
              <a:pPr algn="ctr"/>
              <a:r>
                <a:rPr lang="en-US" altLang="zh-CN" sz="2000" b="1">
                  <a:latin typeface="Times New Roman" pitchFamily="18" charset="0"/>
                </a:rPr>
                <a:t>[1]</a:t>
              </a:r>
            </a:p>
          </p:txBody>
        </p:sp>
        <p:sp>
          <p:nvSpPr>
            <p:cNvPr id="41000" name="Rectangle 57"/>
            <p:cNvSpPr>
              <a:spLocks noChangeArrowheads="1"/>
            </p:cNvSpPr>
            <p:nvPr/>
          </p:nvSpPr>
          <p:spPr bwMode="auto">
            <a:xfrm>
              <a:off x="528" y="1536"/>
              <a:ext cx="24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anchor="ctr"/>
            <a:lstStyle/>
            <a:p>
              <a:pPr algn="ctr"/>
              <a:r>
                <a:rPr lang="en-US" altLang="zh-CN" sz="2000" b="1">
                  <a:latin typeface="Times New Roman" pitchFamily="18" charset="0"/>
                </a:rPr>
                <a:t>[2]</a:t>
              </a:r>
            </a:p>
          </p:txBody>
        </p:sp>
        <p:sp>
          <p:nvSpPr>
            <p:cNvPr id="41001" name="Rectangle 58"/>
            <p:cNvSpPr>
              <a:spLocks noChangeArrowheads="1"/>
            </p:cNvSpPr>
            <p:nvPr/>
          </p:nvSpPr>
          <p:spPr bwMode="auto">
            <a:xfrm>
              <a:off x="1200" y="1536"/>
              <a:ext cx="24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anchor="ctr"/>
            <a:lstStyle/>
            <a:p>
              <a:pPr algn="ctr"/>
              <a:r>
                <a:rPr lang="en-US" altLang="zh-CN" sz="2000" b="1">
                  <a:latin typeface="Times New Roman" pitchFamily="18" charset="0"/>
                </a:rPr>
                <a:t>[3]</a:t>
              </a:r>
            </a:p>
          </p:txBody>
        </p:sp>
        <p:sp>
          <p:nvSpPr>
            <p:cNvPr id="41002" name="Rectangle 59"/>
            <p:cNvSpPr>
              <a:spLocks noChangeArrowheads="1"/>
            </p:cNvSpPr>
            <p:nvPr/>
          </p:nvSpPr>
          <p:spPr bwMode="auto">
            <a:xfrm>
              <a:off x="480" y="2208"/>
              <a:ext cx="24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anchor="ctr"/>
            <a:lstStyle/>
            <a:p>
              <a:pPr algn="ctr"/>
              <a:r>
                <a:rPr lang="en-US" altLang="zh-CN" sz="2000" b="1">
                  <a:latin typeface="Times New Roman" pitchFamily="18" charset="0"/>
                </a:rPr>
                <a:t>[4]</a:t>
              </a:r>
            </a:p>
          </p:txBody>
        </p:sp>
        <p:sp>
          <p:nvSpPr>
            <p:cNvPr id="41003" name="Oval 60"/>
            <p:cNvSpPr>
              <a:spLocks noChangeArrowheads="1"/>
            </p:cNvSpPr>
            <p:nvPr/>
          </p:nvSpPr>
          <p:spPr bwMode="auto">
            <a:xfrm flipH="1">
              <a:off x="960" y="1920"/>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latin typeface="Times New Roman" pitchFamily="18" charset="0"/>
                </a:rPr>
                <a:t>31</a:t>
              </a:r>
            </a:p>
          </p:txBody>
        </p:sp>
        <p:sp>
          <p:nvSpPr>
            <p:cNvPr id="41004" name="Line 61"/>
            <p:cNvSpPr>
              <a:spLocks noChangeShapeType="1"/>
            </p:cNvSpPr>
            <p:nvPr/>
          </p:nvSpPr>
          <p:spPr bwMode="auto">
            <a:xfrm>
              <a:off x="937" y="1754"/>
              <a:ext cx="145" cy="168"/>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2000"/>
            </a:p>
          </p:txBody>
        </p:sp>
        <p:sp>
          <p:nvSpPr>
            <p:cNvPr id="41005" name="Rectangle 62"/>
            <p:cNvSpPr>
              <a:spLocks noChangeArrowheads="1"/>
            </p:cNvSpPr>
            <p:nvPr/>
          </p:nvSpPr>
          <p:spPr bwMode="auto">
            <a:xfrm>
              <a:off x="960" y="2208"/>
              <a:ext cx="24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anchor="ctr"/>
            <a:lstStyle/>
            <a:p>
              <a:pPr algn="ctr"/>
              <a:r>
                <a:rPr lang="en-US" altLang="zh-CN" sz="2000" b="1">
                  <a:latin typeface="Times New Roman" pitchFamily="18" charset="0"/>
                </a:rPr>
                <a:t>[5]</a:t>
              </a:r>
            </a:p>
          </p:txBody>
        </p:sp>
      </p:grpSp>
      <p:sp>
        <p:nvSpPr>
          <p:cNvPr id="65" name="Oval 63"/>
          <p:cNvSpPr>
            <a:spLocks noChangeArrowheads="1"/>
          </p:cNvSpPr>
          <p:nvPr/>
        </p:nvSpPr>
        <p:spPr bwMode="auto">
          <a:xfrm>
            <a:off x="1766888" y="3690938"/>
            <a:ext cx="381000" cy="381000"/>
          </a:xfrm>
          <a:prstGeom prst="ellipse">
            <a:avLst/>
          </a:prstGeom>
          <a:solidFill>
            <a:srgbClr val="C0C0C0">
              <a:alpha val="50195"/>
            </a:srgbClr>
          </a:solidFill>
          <a:ln w="25400">
            <a:solidFill>
              <a:schemeClr val="tx1"/>
            </a:solidFill>
            <a:round/>
            <a:headEnd/>
            <a:tailEnd/>
          </a:ln>
        </p:spPr>
        <p:txBody>
          <a:bodyPr wrap="none" anchor="ctr"/>
          <a:lstStyle/>
          <a:p>
            <a:endParaRPr lang="zh-CN" altLang="en-US" sz="2000">
              <a:latin typeface="Times New Roman" pitchFamily="18" charset="0"/>
            </a:endParaRPr>
          </a:p>
        </p:txBody>
      </p:sp>
      <p:sp>
        <p:nvSpPr>
          <p:cNvPr id="66" name="AutoShape 64"/>
          <p:cNvSpPr>
            <a:spLocks noChangeArrowheads="1"/>
          </p:cNvSpPr>
          <p:nvPr/>
        </p:nvSpPr>
        <p:spPr bwMode="auto">
          <a:xfrm>
            <a:off x="3910013" y="2214563"/>
            <a:ext cx="3733800" cy="1600200"/>
          </a:xfrm>
          <a:prstGeom prst="wedgeRoundRectCallout">
            <a:avLst>
              <a:gd name="adj1" fmla="val -92644"/>
              <a:gd name="adj2" fmla="val 45537"/>
              <a:gd name="adj3" fmla="val 16667"/>
            </a:avLst>
          </a:prstGeom>
          <a:gradFill rotWithShape="0">
            <a:gsLst>
              <a:gs pos="0">
                <a:srgbClr val="E2E2E2"/>
              </a:gs>
              <a:gs pos="50000">
                <a:srgbClr val="FFFFFF"/>
              </a:gs>
              <a:gs pos="100000">
                <a:srgbClr val="E2E2E2"/>
              </a:gs>
            </a:gsLst>
            <a:lin ang="0" scaled="1"/>
          </a:gradFill>
          <a:ln w="25400">
            <a:solidFill>
              <a:schemeClr val="tx1"/>
            </a:solidFill>
            <a:miter lim="800000"/>
            <a:headEnd/>
            <a:tailEnd/>
          </a:ln>
        </p:spPr>
        <p:txBody>
          <a:bodyPr wrap="none" anchor="ctr"/>
          <a:lstStyle/>
          <a:p>
            <a:pPr algn="ctr"/>
            <a:r>
              <a:rPr lang="zh-CN" altLang="en-US" sz="2000" b="1" dirty="0">
                <a:latin typeface="Times New Roman" pitchFamily="18" charset="0"/>
              </a:rPr>
              <a:t>为了保持完全二叉树的结构特性，</a:t>
            </a:r>
            <a:endParaRPr lang="en-US" altLang="zh-CN" sz="2000" b="1" dirty="0">
              <a:latin typeface="Times New Roman" pitchFamily="18" charset="0"/>
            </a:endParaRPr>
          </a:p>
          <a:p>
            <a:pPr algn="ctr"/>
            <a:r>
              <a:rPr lang="zh-CN" altLang="en-US" sz="2000" b="1" dirty="0">
                <a:latin typeface="Times New Roman" pitchFamily="18" charset="0"/>
              </a:rPr>
              <a:t>移去的是该结点。</a:t>
            </a:r>
            <a:endParaRPr lang="en-US" altLang="zh-CN" sz="2000" b="1" dirty="0">
              <a:latin typeface="Times New Roman" pitchFamily="18" charset="0"/>
            </a:endParaRPr>
          </a:p>
        </p:txBody>
      </p:sp>
      <p:sp>
        <p:nvSpPr>
          <p:cNvPr id="67" name="Oval 65"/>
          <p:cNvSpPr>
            <a:spLocks noChangeArrowheads="1"/>
          </p:cNvSpPr>
          <p:nvPr/>
        </p:nvSpPr>
        <p:spPr bwMode="auto">
          <a:xfrm>
            <a:off x="2100263" y="2428875"/>
            <a:ext cx="381000" cy="381000"/>
          </a:xfrm>
          <a:prstGeom prst="ellipse">
            <a:avLst/>
          </a:prstGeom>
          <a:solidFill>
            <a:srgbClr val="FF0000">
              <a:alpha val="50195"/>
            </a:srgbClr>
          </a:solidFill>
          <a:ln w="25400">
            <a:solidFill>
              <a:schemeClr val="tx1"/>
            </a:solidFill>
            <a:round/>
            <a:headEnd/>
            <a:tailEnd/>
          </a:ln>
        </p:spPr>
        <p:txBody>
          <a:bodyPr wrap="none" anchor="ctr"/>
          <a:lstStyle/>
          <a:p>
            <a:endParaRPr lang="zh-CN" altLang="en-US" sz="2000">
              <a:latin typeface="Times New Roman" pitchFamily="18" charset="0"/>
            </a:endParaRPr>
          </a:p>
        </p:txBody>
      </p:sp>
      <p:sp>
        <p:nvSpPr>
          <p:cNvPr id="68" name="Oval 66"/>
          <p:cNvSpPr>
            <a:spLocks noChangeArrowheads="1"/>
          </p:cNvSpPr>
          <p:nvPr/>
        </p:nvSpPr>
        <p:spPr bwMode="auto">
          <a:xfrm>
            <a:off x="2100263" y="2428875"/>
            <a:ext cx="381000" cy="381000"/>
          </a:xfrm>
          <a:prstGeom prst="ellipse">
            <a:avLst/>
          </a:prstGeom>
          <a:solidFill>
            <a:srgbClr val="FF0000">
              <a:alpha val="50195"/>
            </a:srgbClr>
          </a:solidFill>
          <a:ln w="25400">
            <a:solidFill>
              <a:schemeClr val="tx1"/>
            </a:solidFill>
            <a:round/>
            <a:headEnd/>
            <a:tailEnd/>
          </a:ln>
        </p:spPr>
        <p:txBody>
          <a:bodyPr wrap="none" anchor="ctr"/>
          <a:lstStyle/>
          <a:p>
            <a:endParaRPr lang="zh-CN" altLang="en-US" sz="2000">
              <a:latin typeface="Times New Roman" pitchFamily="18" charset="0"/>
            </a:endParaRPr>
          </a:p>
        </p:txBody>
      </p:sp>
      <p:sp>
        <p:nvSpPr>
          <p:cNvPr id="69" name="Text Box 67"/>
          <p:cNvSpPr txBox="1">
            <a:spLocks noChangeArrowheads="1"/>
          </p:cNvSpPr>
          <p:nvPr/>
        </p:nvSpPr>
        <p:spPr bwMode="auto">
          <a:xfrm>
            <a:off x="3233738" y="2371725"/>
            <a:ext cx="3810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spcBef>
                <a:spcPct val="50000"/>
              </a:spcBef>
            </a:pPr>
            <a:r>
              <a:rPr lang="en-US" altLang="zh-CN" sz="2000" b="1">
                <a:latin typeface="Times New Roman" pitchFamily="18" charset="0"/>
                <a:sym typeface="Wingdings" pitchFamily="2" charset="2"/>
              </a:rPr>
              <a:t>  </a:t>
            </a:r>
            <a:r>
              <a:rPr lang="zh-CN" altLang="en-US" sz="2000" b="1">
                <a:latin typeface="Times New Roman" pitchFamily="18" charset="0"/>
                <a:sym typeface="Wingdings" pitchFamily="2" charset="2"/>
              </a:rPr>
              <a:t>把</a:t>
            </a:r>
            <a:r>
              <a:rPr lang="en-US" altLang="zh-CN" sz="2000" b="1">
                <a:latin typeface="Times New Roman" pitchFamily="18" charset="0"/>
                <a:sym typeface="Wingdings" pitchFamily="2" charset="2"/>
              </a:rPr>
              <a:t> 31 </a:t>
            </a:r>
            <a:r>
              <a:rPr lang="zh-CN" altLang="en-US" sz="2000" b="1">
                <a:latin typeface="Times New Roman" pitchFamily="18" charset="0"/>
                <a:sym typeface="Wingdings" pitchFamily="2" charset="2"/>
              </a:rPr>
              <a:t>移至根</a:t>
            </a:r>
            <a:endParaRPr lang="en-US" altLang="zh-CN" sz="2000" b="1">
              <a:latin typeface="Times New Roman" pitchFamily="18" charset="0"/>
            </a:endParaRPr>
          </a:p>
        </p:txBody>
      </p:sp>
      <p:sp>
        <p:nvSpPr>
          <p:cNvPr id="70" name="Oval 69"/>
          <p:cNvSpPr>
            <a:spLocks noChangeArrowheads="1"/>
          </p:cNvSpPr>
          <p:nvPr/>
        </p:nvSpPr>
        <p:spPr bwMode="auto">
          <a:xfrm>
            <a:off x="2100263" y="2428875"/>
            <a:ext cx="381000" cy="381000"/>
          </a:xfrm>
          <a:prstGeom prst="ellipse">
            <a:avLst/>
          </a:prstGeom>
          <a:solidFill>
            <a:schemeClr val="bg1"/>
          </a:solidFill>
          <a:ln w="25400">
            <a:solidFill>
              <a:schemeClr val="tx1"/>
            </a:solidFill>
            <a:round/>
            <a:headEnd/>
            <a:tailEnd/>
          </a:ln>
        </p:spPr>
        <p:txBody>
          <a:bodyPr wrap="none" anchor="ctr"/>
          <a:lstStyle/>
          <a:p>
            <a:pPr algn="ctr"/>
            <a:r>
              <a:rPr lang="en-US" altLang="zh-CN" sz="2000" b="1">
                <a:solidFill>
                  <a:schemeClr val="hlink"/>
                </a:solidFill>
                <a:latin typeface="Times New Roman" pitchFamily="18" charset="0"/>
              </a:rPr>
              <a:t>31</a:t>
            </a:r>
            <a:endParaRPr lang="en-US" altLang="zh-CN" sz="2000" b="1">
              <a:latin typeface="Times New Roman" pitchFamily="18" charset="0"/>
            </a:endParaRPr>
          </a:p>
        </p:txBody>
      </p:sp>
      <p:sp>
        <p:nvSpPr>
          <p:cNvPr id="71" name="Text Box 70"/>
          <p:cNvSpPr txBox="1">
            <a:spLocks noChangeArrowheads="1"/>
          </p:cNvSpPr>
          <p:nvPr/>
        </p:nvSpPr>
        <p:spPr bwMode="auto">
          <a:xfrm>
            <a:off x="3233738" y="3133725"/>
            <a:ext cx="43434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spcBef>
                <a:spcPct val="50000"/>
              </a:spcBef>
            </a:pPr>
            <a:r>
              <a:rPr lang="en-US" altLang="zh-CN" sz="2000" b="1">
                <a:latin typeface="Times New Roman" pitchFamily="18" charset="0"/>
                <a:sym typeface="Wingdings" pitchFamily="2" charset="2"/>
              </a:rPr>
              <a:t>   </a:t>
            </a:r>
            <a:r>
              <a:rPr lang="zh-CN" altLang="en-US" sz="2000" b="1">
                <a:latin typeface="Times New Roman" pitchFamily="18" charset="0"/>
                <a:sym typeface="Wingdings" pitchFamily="2" charset="2"/>
              </a:rPr>
              <a:t>找出</a:t>
            </a:r>
            <a:r>
              <a:rPr lang="en-US" altLang="zh-CN" sz="2000" b="1">
                <a:latin typeface="Times New Roman" pitchFamily="18" charset="0"/>
                <a:sym typeface="Wingdings" pitchFamily="2" charset="2"/>
              </a:rPr>
              <a:t>31</a:t>
            </a:r>
            <a:r>
              <a:rPr lang="zh-CN" altLang="en-US" sz="2000" b="1">
                <a:latin typeface="Times New Roman" pitchFamily="18" charset="0"/>
                <a:sym typeface="Wingdings" pitchFamily="2" charset="2"/>
              </a:rPr>
              <a:t>的较大的孩子</a:t>
            </a:r>
            <a:endParaRPr lang="en-US" altLang="zh-CN" sz="2000" b="1">
              <a:latin typeface="Times New Roman" pitchFamily="18" charset="0"/>
            </a:endParaRPr>
          </a:p>
        </p:txBody>
      </p:sp>
      <p:sp>
        <p:nvSpPr>
          <p:cNvPr id="72" name="Oval 71"/>
          <p:cNvSpPr>
            <a:spLocks noChangeArrowheads="1"/>
          </p:cNvSpPr>
          <p:nvPr/>
        </p:nvSpPr>
        <p:spPr bwMode="auto">
          <a:xfrm>
            <a:off x="1481138" y="3071813"/>
            <a:ext cx="381000" cy="381000"/>
          </a:xfrm>
          <a:prstGeom prst="ellipse">
            <a:avLst/>
          </a:prstGeom>
          <a:solidFill>
            <a:srgbClr val="FF0000">
              <a:alpha val="50195"/>
            </a:srgbClr>
          </a:solidFill>
          <a:ln w="25400">
            <a:solidFill>
              <a:schemeClr val="tx1"/>
            </a:solidFill>
            <a:round/>
            <a:headEnd/>
            <a:tailEnd/>
          </a:ln>
        </p:spPr>
        <p:txBody>
          <a:bodyPr wrap="none" anchor="ctr"/>
          <a:lstStyle/>
          <a:p>
            <a:endParaRPr lang="zh-CN" altLang="en-US" sz="2000">
              <a:latin typeface="Times New Roman" pitchFamily="18" charset="0"/>
            </a:endParaRPr>
          </a:p>
        </p:txBody>
      </p:sp>
      <p:grpSp>
        <p:nvGrpSpPr>
          <p:cNvPr id="73" name="Group 72"/>
          <p:cNvGrpSpPr>
            <a:grpSpLocks/>
          </p:cNvGrpSpPr>
          <p:nvPr/>
        </p:nvGrpSpPr>
        <p:grpSpPr bwMode="auto">
          <a:xfrm>
            <a:off x="6767513" y="3057525"/>
            <a:ext cx="1447800" cy="457200"/>
            <a:chOff x="3024" y="2832"/>
            <a:chExt cx="912" cy="288"/>
          </a:xfrm>
        </p:grpSpPr>
        <p:sp>
          <p:nvSpPr>
            <p:cNvPr id="40989" name="Oval 73"/>
            <p:cNvSpPr>
              <a:spLocks noChangeArrowheads="1"/>
            </p:cNvSpPr>
            <p:nvPr/>
          </p:nvSpPr>
          <p:spPr bwMode="auto">
            <a:xfrm>
              <a:off x="3024" y="2880"/>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latin typeface="Times New Roman" pitchFamily="18" charset="0"/>
                </a:rPr>
                <a:t>44</a:t>
              </a:r>
            </a:p>
          </p:txBody>
        </p:sp>
        <p:sp>
          <p:nvSpPr>
            <p:cNvPr id="40990" name="Oval 74"/>
            <p:cNvSpPr>
              <a:spLocks noChangeArrowheads="1"/>
            </p:cNvSpPr>
            <p:nvPr/>
          </p:nvSpPr>
          <p:spPr bwMode="auto">
            <a:xfrm>
              <a:off x="3696" y="2880"/>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solidFill>
                    <a:schemeClr val="hlink"/>
                  </a:solidFill>
                  <a:latin typeface="Times New Roman" pitchFamily="18" charset="0"/>
                </a:rPr>
                <a:t>25</a:t>
              </a:r>
            </a:p>
          </p:txBody>
        </p:sp>
        <p:sp>
          <p:nvSpPr>
            <p:cNvPr id="40991" name="Text Box 75"/>
            <p:cNvSpPr txBox="1">
              <a:spLocks noChangeArrowheads="1"/>
            </p:cNvSpPr>
            <p:nvPr/>
          </p:nvSpPr>
          <p:spPr bwMode="auto">
            <a:xfrm>
              <a:off x="3312" y="2832"/>
              <a:ext cx="33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spcBef>
                  <a:spcPct val="50000"/>
                </a:spcBef>
              </a:pPr>
              <a:r>
                <a:rPr lang="en-US" altLang="zh-CN" sz="2000" b="1">
                  <a:latin typeface="Times New Roman" pitchFamily="18" charset="0"/>
                </a:rPr>
                <a:t>&gt;</a:t>
              </a:r>
            </a:p>
          </p:txBody>
        </p:sp>
      </p:grpSp>
      <p:sp>
        <p:nvSpPr>
          <p:cNvPr id="77" name="Oval 76"/>
          <p:cNvSpPr>
            <a:spLocks noChangeArrowheads="1"/>
          </p:cNvSpPr>
          <p:nvPr/>
        </p:nvSpPr>
        <p:spPr bwMode="auto">
          <a:xfrm>
            <a:off x="1481138" y="3071813"/>
            <a:ext cx="381000" cy="381000"/>
          </a:xfrm>
          <a:prstGeom prst="ellipse">
            <a:avLst/>
          </a:prstGeom>
          <a:solidFill>
            <a:schemeClr val="bg1"/>
          </a:solidFill>
          <a:ln w="25400">
            <a:solidFill>
              <a:schemeClr val="tx1"/>
            </a:solidFill>
            <a:round/>
            <a:headEnd/>
            <a:tailEnd/>
          </a:ln>
        </p:spPr>
        <p:txBody>
          <a:bodyPr wrap="none" anchor="ctr"/>
          <a:lstStyle/>
          <a:p>
            <a:pPr algn="ctr"/>
            <a:r>
              <a:rPr lang="en-US" altLang="zh-CN" sz="2000" b="1">
                <a:solidFill>
                  <a:schemeClr val="hlink"/>
                </a:solidFill>
                <a:latin typeface="Times New Roman" pitchFamily="18" charset="0"/>
              </a:rPr>
              <a:t>31</a:t>
            </a:r>
          </a:p>
        </p:txBody>
      </p:sp>
      <p:sp>
        <p:nvSpPr>
          <p:cNvPr id="78" name="Oval 77"/>
          <p:cNvSpPr>
            <a:spLocks noChangeArrowheads="1"/>
          </p:cNvSpPr>
          <p:nvPr/>
        </p:nvSpPr>
        <p:spPr bwMode="auto">
          <a:xfrm>
            <a:off x="2100263" y="2428875"/>
            <a:ext cx="381000" cy="381000"/>
          </a:xfrm>
          <a:prstGeom prst="ellipse">
            <a:avLst/>
          </a:prstGeom>
          <a:solidFill>
            <a:schemeClr val="bg1"/>
          </a:solidFill>
          <a:ln w="25400">
            <a:solidFill>
              <a:schemeClr val="tx1"/>
            </a:solidFill>
            <a:round/>
            <a:headEnd/>
            <a:tailEnd/>
          </a:ln>
        </p:spPr>
        <p:txBody>
          <a:bodyPr wrap="none" anchor="ctr"/>
          <a:lstStyle/>
          <a:p>
            <a:pPr algn="ctr"/>
            <a:r>
              <a:rPr lang="en-US" altLang="zh-CN" sz="2000" b="1">
                <a:latin typeface="Times New Roman" pitchFamily="18" charset="0"/>
              </a:rPr>
              <a:t>44</a:t>
            </a:r>
          </a:p>
        </p:txBody>
      </p:sp>
      <p:sp>
        <p:nvSpPr>
          <p:cNvPr id="79" name="Arc 78"/>
          <p:cNvSpPr>
            <a:spLocks/>
          </p:cNvSpPr>
          <p:nvPr/>
        </p:nvSpPr>
        <p:spPr bwMode="auto">
          <a:xfrm flipV="1">
            <a:off x="3233738" y="3057525"/>
            <a:ext cx="381000" cy="533400"/>
          </a:xfrm>
          <a:custGeom>
            <a:avLst/>
            <a:gdLst>
              <a:gd name="T0" fmla="*/ 2147483647 w 43200"/>
              <a:gd name="T1" fmla="*/ 2147483647 h 43200"/>
              <a:gd name="T2" fmla="*/ 2147483647 w 43200"/>
              <a:gd name="T3" fmla="*/ 2147483647 h 43200"/>
              <a:gd name="T4" fmla="*/ 2147483647 w 43200"/>
              <a:gd name="T5" fmla="*/ 2147483647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31438" y="40828"/>
                </a:moveTo>
                <a:cubicBezTo>
                  <a:pt x="28393" y="42387"/>
                  <a:pt x="25021" y="43199"/>
                  <a:pt x="21600" y="43200"/>
                </a:cubicBezTo>
                <a:cubicBezTo>
                  <a:pt x="9670" y="43200"/>
                  <a:pt x="0" y="33529"/>
                  <a:pt x="0" y="21600"/>
                </a:cubicBezTo>
                <a:cubicBezTo>
                  <a:pt x="0" y="9670"/>
                  <a:pt x="9670" y="0"/>
                  <a:pt x="21600" y="0"/>
                </a:cubicBezTo>
                <a:cubicBezTo>
                  <a:pt x="33529" y="0"/>
                  <a:pt x="43200" y="9670"/>
                  <a:pt x="43200" y="21600"/>
                </a:cubicBezTo>
                <a:cubicBezTo>
                  <a:pt x="43200" y="25797"/>
                  <a:pt x="41977" y="29903"/>
                  <a:pt x="39680" y="33416"/>
                </a:cubicBezTo>
              </a:path>
              <a:path w="43200" h="43200" stroke="0" extrusionOk="0">
                <a:moveTo>
                  <a:pt x="31438" y="40828"/>
                </a:moveTo>
                <a:cubicBezTo>
                  <a:pt x="28393" y="42387"/>
                  <a:pt x="25021" y="43199"/>
                  <a:pt x="21600" y="43200"/>
                </a:cubicBezTo>
                <a:cubicBezTo>
                  <a:pt x="9670" y="43200"/>
                  <a:pt x="0" y="33529"/>
                  <a:pt x="0" y="21600"/>
                </a:cubicBezTo>
                <a:cubicBezTo>
                  <a:pt x="0" y="9670"/>
                  <a:pt x="9670" y="0"/>
                  <a:pt x="21600" y="0"/>
                </a:cubicBezTo>
                <a:cubicBezTo>
                  <a:pt x="33529" y="0"/>
                  <a:pt x="43200" y="9670"/>
                  <a:pt x="43200" y="21600"/>
                </a:cubicBezTo>
                <a:cubicBezTo>
                  <a:pt x="43200" y="25797"/>
                  <a:pt x="41977" y="29903"/>
                  <a:pt x="39680" y="33416"/>
                </a:cubicBezTo>
                <a:lnTo>
                  <a:pt x="21600" y="21600"/>
                </a:lnTo>
                <a:lnTo>
                  <a:pt x="31438" y="40828"/>
                </a:lnTo>
                <a:close/>
              </a:path>
            </a:pathLst>
          </a:custGeom>
          <a:noFill/>
          <a:ln w="25400">
            <a:solidFill>
              <a:schemeClr val="tx1"/>
            </a:solidFill>
            <a:round/>
            <a:headEnd type="triangle" w="sm" len="lg"/>
            <a:tailEnd type="none" w="sm" len="lg"/>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grpSp>
        <p:nvGrpSpPr>
          <p:cNvPr id="80" name="Group 79"/>
          <p:cNvGrpSpPr>
            <a:grpSpLocks/>
          </p:cNvGrpSpPr>
          <p:nvPr/>
        </p:nvGrpSpPr>
        <p:grpSpPr bwMode="auto">
          <a:xfrm>
            <a:off x="6767513" y="3590925"/>
            <a:ext cx="1447800" cy="457200"/>
            <a:chOff x="3024" y="2832"/>
            <a:chExt cx="912" cy="288"/>
          </a:xfrm>
        </p:grpSpPr>
        <p:sp>
          <p:nvSpPr>
            <p:cNvPr id="40986" name="Oval 80"/>
            <p:cNvSpPr>
              <a:spLocks noChangeArrowheads="1"/>
            </p:cNvSpPr>
            <p:nvPr/>
          </p:nvSpPr>
          <p:spPr bwMode="auto">
            <a:xfrm>
              <a:off x="3024" y="2880"/>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latin typeface="Times New Roman" pitchFamily="18" charset="0"/>
                </a:rPr>
                <a:t>31</a:t>
              </a:r>
            </a:p>
          </p:txBody>
        </p:sp>
        <p:sp>
          <p:nvSpPr>
            <p:cNvPr id="40987" name="Oval 81"/>
            <p:cNvSpPr>
              <a:spLocks noChangeArrowheads="1"/>
            </p:cNvSpPr>
            <p:nvPr/>
          </p:nvSpPr>
          <p:spPr bwMode="auto">
            <a:xfrm>
              <a:off x="3696" y="2880"/>
              <a:ext cx="240" cy="240"/>
            </a:xfrm>
            <a:prstGeom prst="ellipse">
              <a:avLst/>
            </a:pr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r>
                <a:rPr lang="en-US" altLang="zh-CN" sz="2000" b="1">
                  <a:solidFill>
                    <a:schemeClr val="hlink"/>
                  </a:solidFill>
                  <a:latin typeface="Times New Roman" pitchFamily="18" charset="0"/>
                </a:rPr>
                <a:t>35</a:t>
              </a:r>
            </a:p>
          </p:txBody>
        </p:sp>
        <p:sp>
          <p:nvSpPr>
            <p:cNvPr id="40988" name="Text Box 82"/>
            <p:cNvSpPr txBox="1">
              <a:spLocks noChangeArrowheads="1"/>
            </p:cNvSpPr>
            <p:nvPr/>
          </p:nvSpPr>
          <p:spPr bwMode="auto">
            <a:xfrm>
              <a:off x="3312" y="2832"/>
              <a:ext cx="33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spcBef>
                  <a:spcPct val="50000"/>
                </a:spcBef>
              </a:pPr>
              <a:r>
                <a:rPr lang="en-US" altLang="zh-CN" sz="2000" b="1">
                  <a:latin typeface="Times New Roman" pitchFamily="18" charset="0"/>
                </a:rPr>
                <a:t>&lt;</a:t>
              </a:r>
            </a:p>
          </p:txBody>
        </p:sp>
      </p:grpSp>
      <p:sp>
        <p:nvSpPr>
          <p:cNvPr id="84" name="Oval 83"/>
          <p:cNvSpPr>
            <a:spLocks noChangeArrowheads="1"/>
          </p:cNvSpPr>
          <p:nvPr/>
        </p:nvSpPr>
        <p:spPr bwMode="auto">
          <a:xfrm>
            <a:off x="1028700" y="3690938"/>
            <a:ext cx="381000" cy="381000"/>
          </a:xfrm>
          <a:prstGeom prst="ellipse">
            <a:avLst/>
          </a:prstGeom>
          <a:solidFill>
            <a:schemeClr val="bg1"/>
          </a:solidFill>
          <a:ln w="25400">
            <a:solidFill>
              <a:schemeClr val="tx1"/>
            </a:solidFill>
            <a:round/>
            <a:headEnd/>
            <a:tailEnd/>
          </a:ln>
        </p:spPr>
        <p:txBody>
          <a:bodyPr wrap="none" anchor="ctr"/>
          <a:lstStyle/>
          <a:p>
            <a:pPr algn="ctr"/>
            <a:r>
              <a:rPr lang="en-US" altLang="zh-CN" sz="2000" b="1">
                <a:solidFill>
                  <a:schemeClr val="hlink"/>
                </a:solidFill>
                <a:latin typeface="Times New Roman" pitchFamily="18" charset="0"/>
              </a:rPr>
              <a:t>31</a:t>
            </a:r>
          </a:p>
        </p:txBody>
      </p:sp>
      <p:sp>
        <p:nvSpPr>
          <p:cNvPr id="85" name="Oval 84"/>
          <p:cNvSpPr>
            <a:spLocks noChangeArrowheads="1"/>
          </p:cNvSpPr>
          <p:nvPr/>
        </p:nvSpPr>
        <p:spPr bwMode="auto">
          <a:xfrm>
            <a:off x="1481138" y="3071813"/>
            <a:ext cx="381000" cy="381000"/>
          </a:xfrm>
          <a:prstGeom prst="ellipse">
            <a:avLst/>
          </a:prstGeom>
          <a:solidFill>
            <a:schemeClr val="bg1"/>
          </a:solidFill>
          <a:ln w="25400">
            <a:solidFill>
              <a:schemeClr val="tx1"/>
            </a:solidFill>
            <a:round/>
            <a:headEnd/>
            <a:tailEnd/>
          </a:ln>
        </p:spPr>
        <p:txBody>
          <a:bodyPr wrap="none" anchor="ctr"/>
          <a:lstStyle/>
          <a:p>
            <a:pPr algn="ctr"/>
            <a:r>
              <a:rPr lang="en-US" altLang="zh-CN" sz="2000" b="1">
                <a:latin typeface="Times New Roman" pitchFamily="18" charset="0"/>
              </a:rPr>
              <a:t>35</a:t>
            </a:r>
          </a:p>
        </p:txBody>
      </p:sp>
      <p:sp>
        <p:nvSpPr>
          <p:cNvPr id="86" name="Text Box 94"/>
          <p:cNvSpPr txBox="1">
            <a:spLocks noChangeArrowheads="1"/>
          </p:cNvSpPr>
          <p:nvPr/>
        </p:nvSpPr>
        <p:spPr bwMode="auto">
          <a:xfrm>
            <a:off x="3233738" y="5114925"/>
            <a:ext cx="2895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spcBef>
                <a:spcPct val="50000"/>
              </a:spcBef>
            </a:pPr>
            <a:r>
              <a:rPr lang="en-US" altLang="zh-CN" sz="2000" b="1" i="1">
                <a:latin typeface="Times New Roman" pitchFamily="18" charset="0"/>
              </a:rPr>
              <a:t>T</a:t>
            </a:r>
            <a:r>
              <a:rPr lang="en-US" altLang="zh-CN" sz="2000" b="1">
                <a:latin typeface="Times New Roman" pitchFamily="18" charset="0"/>
              </a:rPr>
              <a:t> (</a:t>
            </a:r>
            <a:r>
              <a:rPr lang="en-US" altLang="zh-CN" sz="2000" b="1" i="1">
                <a:latin typeface="Times New Roman" pitchFamily="18" charset="0"/>
              </a:rPr>
              <a:t>N</a:t>
            </a:r>
            <a:r>
              <a:rPr lang="en-US" altLang="zh-CN" sz="2000" b="1">
                <a:latin typeface="Times New Roman" pitchFamily="18" charset="0"/>
              </a:rPr>
              <a:t>) = O ( log </a:t>
            </a:r>
            <a:r>
              <a:rPr lang="en-US" altLang="zh-CN" sz="2000" b="1" i="1">
                <a:latin typeface="Times New Roman" pitchFamily="18" charset="0"/>
              </a:rPr>
              <a:t>N </a:t>
            </a:r>
            <a:r>
              <a:rPr lang="en-US" altLang="zh-CN" sz="2000" b="1">
                <a:latin typeface="Times New Roman" pitchFamily="18" charset="0"/>
              </a:rPr>
              <a:t>)</a:t>
            </a:r>
            <a:endParaRPr lang="en-US" altLang="zh-CN" sz="2000" b="1" i="1">
              <a:latin typeface="Times New Roman" pitchFamily="18" charset="0"/>
            </a:endParaRPr>
          </a:p>
        </p:txBody>
      </p:sp>
      <p:sp>
        <p:nvSpPr>
          <p:cNvPr id="87" name="Oval 68"/>
          <p:cNvSpPr>
            <a:spLocks noChangeArrowheads="1"/>
          </p:cNvSpPr>
          <p:nvPr/>
        </p:nvSpPr>
        <p:spPr bwMode="auto">
          <a:xfrm>
            <a:off x="1624013" y="3357563"/>
            <a:ext cx="685800" cy="1143000"/>
          </a:xfrm>
          <a:prstGeom prst="ellipse">
            <a:avLst/>
          </a:prstGeom>
          <a:solidFill>
            <a:schemeClr val="accent3"/>
          </a:solidFill>
          <a:ln w="25400">
            <a:noFill/>
            <a:round/>
            <a:headEnd/>
            <a:tailEnd/>
          </a:ln>
          <a:effectLst/>
        </p:spPr>
        <p:txBody>
          <a:bodyPr wrap="none" anchor="ctr"/>
          <a:lstStyle/>
          <a:p>
            <a:pPr fontAlgn="auto">
              <a:spcBef>
                <a:spcPts val="0"/>
              </a:spcBef>
              <a:spcAft>
                <a:spcPts val="0"/>
              </a:spcAft>
              <a:defRPr/>
            </a:pPr>
            <a:endParaRPr lang="zh-CN" altLang="en-US" sz="2000">
              <a:latin typeface="+mn-lt"/>
              <a:ea typeface="+mn-ea"/>
            </a:endParaRPr>
          </a:p>
        </p:txBody>
      </p:sp>
      <p:graphicFrame>
        <p:nvGraphicFramePr>
          <p:cNvPr id="88" name="Object 2"/>
          <p:cNvGraphicFramePr>
            <a:graphicFrameLocks noChangeAspect="1"/>
          </p:cNvGraphicFramePr>
          <p:nvPr>
            <p:extLst>
              <p:ext uri="{D42A27DB-BD31-4B8C-83A1-F6EECF244321}">
                <p14:modId xmlns:p14="http://schemas.microsoft.com/office/powerpoint/2010/main" val="2046685414"/>
              </p:ext>
            </p:extLst>
          </p:nvPr>
        </p:nvGraphicFramePr>
        <p:xfrm>
          <a:off x="1838325" y="3643313"/>
          <a:ext cx="466725" cy="685800"/>
        </p:xfrm>
        <a:graphic>
          <a:graphicData uri="http://schemas.openxmlformats.org/presentationml/2006/ole">
            <mc:AlternateContent xmlns:mc="http://schemas.openxmlformats.org/markup-compatibility/2006">
              <mc:Choice xmlns:v="urn:schemas-microsoft-com:vml" Requires="v">
                <p:oleObj spid="_x0000_s20504" name="剪辑" r:id="rId9" imgW="1554370" imgH="2286549" progId="">
                  <p:embed/>
                </p:oleObj>
              </mc:Choice>
              <mc:Fallback>
                <p:oleObj name="剪辑" r:id="rId9" imgW="1554370" imgH="2286549" progId="">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38325" y="3643313"/>
                        <a:ext cx="46672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98808307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1" fill="hold" nodeType="after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wipe(up)">
                                      <p:cBhvr>
                                        <p:cTn id="7" dur="500"/>
                                        <p:tgtEl>
                                          <p:spTgt spid="50"/>
                                        </p:tgtEl>
                                      </p:cBhvr>
                                    </p:animEffect>
                                  </p:childTnLst>
                                  <p:subTnLst>
                                    <p:audio>
                                      <p:cMediaNode>
                                        <p:cTn display="0" masterRel="sameClick">
                                          <p:stCondLst>
                                            <p:cond evt="begin" delay="0">
                                              <p:tn val="5"/>
                                            </p:cond>
                                          </p:stCondLst>
                                          <p:endCondLst>
                                            <p:cond evt="onStopAudio" delay="0">
                                              <p:tgtEl>
                                                <p:sldTgt/>
                                              </p:tgtEl>
                                            </p:cond>
                                          </p:endCondLst>
                                        </p:cTn>
                                        <p:tgtEl>
                                          <p:sndTgt r:embed="rId3" name="CAMERA.WAV"/>
                                        </p:tgtEl>
                                      </p:cMediaNode>
                                    </p:audio>
                                  </p:sub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grpId="0" nodeType="clickEffect">
                                  <p:stCondLst>
                                    <p:cond delay="0"/>
                                  </p:stCondLst>
                                  <p:childTnLst>
                                    <p:set>
                                      <p:cBhvr>
                                        <p:cTn id="11" dur="1" fill="hold">
                                          <p:stCondLst>
                                            <p:cond delay="499"/>
                                          </p:stCondLst>
                                        </p:cTn>
                                        <p:tgtEl>
                                          <p:spTgt spid="65"/>
                                        </p:tgtEl>
                                        <p:attrNameLst>
                                          <p:attrName>style.visibility</p:attrName>
                                        </p:attrNameLst>
                                      </p:cBhvr>
                                      <p:to>
                                        <p:strVal val="visible"/>
                                      </p:to>
                                    </p:set>
                                  </p:childTnLst>
                                  <p:subTnLst>
                                    <p:set>
                                      <p:cBhvr override="childStyle">
                                        <p:cTn dur="1" fill="hold" display="0" masterRel="nextClick" afterEffect="1"/>
                                        <p:tgtEl>
                                          <p:spTgt spid="65"/>
                                        </p:tgtEl>
                                        <p:attrNameLst>
                                          <p:attrName>style.visibility</p:attrName>
                                        </p:attrNameLst>
                                      </p:cBhvr>
                                      <p:to>
                                        <p:strVal val="hidden"/>
                                      </p:to>
                                    </p:set>
                                    <p:audio>
                                      <p:cMediaNode>
                                        <p:cTn display="0" masterRel="sameClick">
                                          <p:stCondLst>
                                            <p:cond evt="begin" delay="0">
                                              <p:tn val="10"/>
                                            </p:cond>
                                          </p:stCondLst>
                                          <p:endCondLst>
                                            <p:cond evt="onStopAudio" delay="0">
                                              <p:tgtEl>
                                                <p:sldTgt/>
                                              </p:tgtEl>
                                            </p:cond>
                                          </p:endCondLst>
                                        </p:cTn>
                                        <p:tgtEl>
                                          <p:sndTgt r:embed="rId4" name="DING.WAV"/>
                                        </p:tgtEl>
                                      </p:cMediaNode>
                                    </p:audio>
                                  </p:subTnLst>
                                </p:cTn>
                              </p:par>
                            </p:childTnLst>
                          </p:cTn>
                        </p:par>
                        <p:par>
                          <p:cTn id="12" fill="hold" nodeType="afterGroup">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66"/>
                                        </p:tgtEl>
                                        <p:attrNameLst>
                                          <p:attrName>style.visibility</p:attrName>
                                        </p:attrNameLst>
                                      </p:cBhvr>
                                      <p:to>
                                        <p:strVal val="visible"/>
                                      </p:to>
                                    </p:set>
                                    <p:animEffect transition="in" filter="wipe(left)">
                                      <p:cBhvr>
                                        <p:cTn id="15" dur="500"/>
                                        <p:tgtEl>
                                          <p:spTgt spid="66"/>
                                        </p:tgtEl>
                                      </p:cBhvr>
                                    </p:animEffect>
                                  </p:childTnLst>
                                  <p:subTnLst>
                                    <p:set>
                                      <p:cBhvr override="childStyle">
                                        <p:cTn dur="1" fill="hold" display="0" masterRel="nextClick" afterEffect="1"/>
                                        <p:tgtEl>
                                          <p:spTgt spid="66"/>
                                        </p:tgtEl>
                                        <p:attrNameLst>
                                          <p:attrName>style.visibility</p:attrName>
                                        </p:attrNameLst>
                                      </p:cBhvr>
                                      <p:to>
                                        <p:strVal val="hidden"/>
                                      </p:to>
                                    </p:set>
                                  </p:subTnLst>
                                </p:cTn>
                              </p:par>
                            </p:childTnLst>
                          </p:cTn>
                        </p:par>
                      </p:childTnLst>
                    </p:cTn>
                  </p:par>
                  <p:par>
                    <p:cTn id="16" fill="hold" nodeType="clickPar">
                      <p:stCondLst>
                        <p:cond delay="indefinite"/>
                      </p:stCondLst>
                      <p:childTnLst>
                        <p:par>
                          <p:cTn id="17" fill="hold" nodeType="withGroup">
                            <p:stCondLst>
                              <p:cond delay="0"/>
                            </p:stCondLst>
                            <p:childTnLst>
                              <p:par>
                                <p:cTn id="18" presetID="11" presetClass="entr" presetSubtype="0" fill="hold" grpId="0" nodeType="clickEffect">
                                  <p:stCondLst>
                                    <p:cond delay="0"/>
                                  </p:stCondLst>
                                  <p:childTnLst>
                                    <p:set>
                                      <p:cBhvr>
                                        <p:cTn id="19" dur="500">
                                          <p:stCondLst>
                                            <p:cond delay="0"/>
                                          </p:stCondLst>
                                        </p:cTn>
                                        <p:tgtEl>
                                          <p:spTgt spid="67"/>
                                        </p:tgtEl>
                                        <p:attrNameLst>
                                          <p:attrName>style.visibility</p:attrName>
                                        </p:attrNameLst>
                                      </p:cBhvr>
                                      <p:to>
                                        <p:strVal val="visible"/>
                                      </p:to>
                                    </p:set>
                                  </p:childTnLst>
                                  <p:subTnLst>
                                    <p:audio>
                                      <p:cMediaNode>
                                        <p:cTn display="0" masterRel="sameClick">
                                          <p:stCondLst>
                                            <p:cond evt="begin" delay="0">
                                              <p:tn val="18"/>
                                            </p:cond>
                                          </p:stCondLst>
                                          <p:endCondLst>
                                            <p:cond evt="onStopAudio" delay="0">
                                              <p:tgtEl>
                                                <p:sldTgt/>
                                              </p:tgtEl>
                                            </p:cond>
                                          </p:endCondLst>
                                        </p:cTn>
                                        <p:tgtEl>
                                          <p:sndTgt r:embed="rId4" name="DING.WAV"/>
                                        </p:tgtEl>
                                      </p:cMediaNode>
                                    </p:audio>
                                  </p:subTnLst>
                                </p:cTn>
                              </p:par>
                            </p:childTnLst>
                          </p:cTn>
                        </p:par>
                        <p:par>
                          <p:cTn id="20" fill="hold" nodeType="afterGroup">
                            <p:stCondLst>
                              <p:cond delay="500"/>
                            </p:stCondLst>
                            <p:childTnLst>
                              <p:par>
                                <p:cTn id="21" presetID="11" presetClass="entr" presetSubtype="0" fill="hold" grpId="0" nodeType="afterEffect">
                                  <p:stCondLst>
                                    <p:cond delay="1000"/>
                                  </p:stCondLst>
                                  <p:childTnLst>
                                    <p:set>
                                      <p:cBhvr>
                                        <p:cTn id="22" dur="500">
                                          <p:stCondLst>
                                            <p:cond delay="0"/>
                                          </p:stCondLst>
                                        </p:cTn>
                                        <p:tgtEl>
                                          <p:spTgt spid="68"/>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69"/>
                                        </p:tgtEl>
                                        <p:attrNameLst>
                                          <p:attrName>style.visibility</p:attrName>
                                        </p:attrNameLst>
                                      </p:cBhvr>
                                      <p:to>
                                        <p:strVal val="visible"/>
                                      </p:to>
                                    </p:set>
                                    <p:animEffect transition="in" filter="wipe(left)">
                                      <p:cBhvr>
                                        <p:cTn id="27" dur="500"/>
                                        <p:tgtEl>
                                          <p:spTgt spid="69"/>
                                        </p:tgtEl>
                                      </p:cBhvr>
                                    </p:animEffect>
                                  </p:childTnLst>
                                  <p:subTnLst>
                                    <p:audio>
                                      <p:cMediaNode>
                                        <p:cTn display="0" masterRel="sameClick">
                                          <p:stCondLst>
                                            <p:cond evt="begin" delay="0">
                                              <p:tn val="25"/>
                                            </p:cond>
                                          </p:stCondLst>
                                          <p:endCondLst>
                                            <p:cond evt="onStopAudio" delay="0">
                                              <p:tgtEl>
                                                <p:sldTgt/>
                                              </p:tgtEl>
                                            </p:cond>
                                          </p:endCondLst>
                                        </p:cTn>
                                        <p:tgtEl>
                                          <p:sndTgt r:embed="rId5" name="TYPE.WAV"/>
                                        </p:tgtEl>
                                      </p:cMediaNode>
                                    </p:audio>
                                  </p:subTnLst>
                                </p:cTn>
                              </p:par>
                            </p:childTnLst>
                          </p:cTn>
                        </p:par>
                        <p:par>
                          <p:cTn id="28" fill="hold" nodeType="afterGroup">
                            <p:stCondLst>
                              <p:cond delay="500"/>
                            </p:stCondLst>
                            <p:childTnLst>
                              <p:par>
                                <p:cTn id="29" presetID="9" presetClass="entr" presetSubtype="0" fill="hold" grpId="0" nodeType="afterEffect">
                                  <p:stCondLst>
                                    <p:cond delay="0"/>
                                  </p:stCondLst>
                                  <p:childTnLst>
                                    <p:set>
                                      <p:cBhvr>
                                        <p:cTn id="30" dur="1" fill="hold">
                                          <p:stCondLst>
                                            <p:cond delay="0"/>
                                          </p:stCondLst>
                                        </p:cTn>
                                        <p:tgtEl>
                                          <p:spTgt spid="87"/>
                                        </p:tgtEl>
                                        <p:attrNameLst>
                                          <p:attrName>style.visibility</p:attrName>
                                        </p:attrNameLst>
                                      </p:cBhvr>
                                      <p:to>
                                        <p:strVal val="visible"/>
                                      </p:to>
                                    </p:set>
                                    <p:animEffect transition="in" filter="dissolve">
                                      <p:cBhvr>
                                        <p:cTn id="31" dur="500"/>
                                        <p:tgtEl>
                                          <p:spTgt spid="87"/>
                                        </p:tgtEl>
                                      </p:cBhvr>
                                    </p:animEffect>
                                  </p:childTnLst>
                                </p:cTn>
                              </p:par>
                            </p:childTnLst>
                          </p:cTn>
                        </p:par>
                        <p:par>
                          <p:cTn id="32" fill="hold" nodeType="afterGroup">
                            <p:stCondLst>
                              <p:cond delay="1000"/>
                            </p:stCondLst>
                            <p:childTnLst>
                              <p:par>
                                <p:cTn id="33" presetID="1" presetClass="entr" presetSubtype="0" fill="hold" grpId="0" nodeType="afterEffect">
                                  <p:stCondLst>
                                    <p:cond delay="0"/>
                                  </p:stCondLst>
                                  <p:childTnLst>
                                    <p:set>
                                      <p:cBhvr>
                                        <p:cTn id="34" dur="1" fill="hold">
                                          <p:stCondLst>
                                            <p:cond delay="499"/>
                                          </p:stCondLst>
                                        </p:cTn>
                                        <p:tgtEl>
                                          <p:spTgt spid="70"/>
                                        </p:tgtEl>
                                        <p:attrNameLst>
                                          <p:attrName>style.visibility</p:attrName>
                                        </p:attrNameLst>
                                      </p:cBhvr>
                                      <p:to>
                                        <p:strVal val="visible"/>
                                      </p:to>
                                    </p:set>
                                  </p:childTnLst>
                                  <p:subTnLst>
                                    <p:audio>
                                      <p:cMediaNode>
                                        <p:cTn display="0" masterRel="sameClick">
                                          <p:stCondLst>
                                            <p:cond evt="begin" delay="0">
                                              <p:tn val="33"/>
                                            </p:cond>
                                          </p:stCondLst>
                                          <p:endCondLst>
                                            <p:cond evt="onStopAudio" delay="0">
                                              <p:tgtEl>
                                                <p:sldTgt/>
                                              </p:tgtEl>
                                            </p:cond>
                                          </p:endCondLst>
                                        </p:cTn>
                                        <p:tgtEl>
                                          <p:sndTgt r:embed="rId4" name="DING.WAV"/>
                                        </p:tgtEl>
                                      </p:cMediaNode>
                                    </p:audio>
                                  </p:subTnLst>
                                </p:cTn>
                              </p:par>
                            </p:childTnLst>
                          </p:cTn>
                        </p:par>
                      </p:childTnLst>
                    </p:cTn>
                  </p:par>
                  <p:par>
                    <p:cTn id="35" fill="hold" nodeType="clickPar">
                      <p:stCondLst>
                        <p:cond delay="indefinite"/>
                      </p:stCondLst>
                      <p:childTnLst>
                        <p:par>
                          <p:cTn id="36" fill="hold" nodeType="withGroup">
                            <p:stCondLst>
                              <p:cond delay="0"/>
                            </p:stCondLst>
                            <p:childTnLst>
                              <p:par>
                                <p:cTn id="37" presetID="22" presetClass="entr" presetSubtype="8" fill="hold" grpId="0" nodeType="clickEffect">
                                  <p:stCondLst>
                                    <p:cond delay="0"/>
                                  </p:stCondLst>
                                  <p:childTnLst>
                                    <p:set>
                                      <p:cBhvr>
                                        <p:cTn id="38" dur="1" fill="hold">
                                          <p:stCondLst>
                                            <p:cond delay="0"/>
                                          </p:stCondLst>
                                        </p:cTn>
                                        <p:tgtEl>
                                          <p:spTgt spid="71"/>
                                        </p:tgtEl>
                                        <p:attrNameLst>
                                          <p:attrName>style.visibility</p:attrName>
                                        </p:attrNameLst>
                                      </p:cBhvr>
                                      <p:to>
                                        <p:strVal val="visible"/>
                                      </p:to>
                                    </p:set>
                                    <p:animEffect transition="in" filter="wipe(left)">
                                      <p:cBhvr>
                                        <p:cTn id="39" dur="500"/>
                                        <p:tgtEl>
                                          <p:spTgt spid="71"/>
                                        </p:tgtEl>
                                      </p:cBhvr>
                                    </p:animEffect>
                                  </p:childTnLst>
                                  <p:subTnLst>
                                    <p:audio>
                                      <p:cMediaNode>
                                        <p:cTn display="0" masterRel="sameClick">
                                          <p:stCondLst>
                                            <p:cond evt="begin" delay="0">
                                              <p:tn val="37"/>
                                            </p:cond>
                                          </p:stCondLst>
                                          <p:endCondLst>
                                            <p:cond evt="onStopAudio" delay="0">
                                              <p:tgtEl>
                                                <p:sldTgt/>
                                              </p:tgtEl>
                                            </p:cond>
                                          </p:endCondLst>
                                        </p:cTn>
                                        <p:tgtEl>
                                          <p:sndTgt r:embed="rId5" name="TYPE.WAV"/>
                                        </p:tgtEl>
                                      </p:cMediaNode>
                                    </p:audio>
                                  </p:subTnLst>
                                </p:cTn>
                              </p:par>
                            </p:childTnLst>
                          </p:cTn>
                        </p:par>
                        <p:par>
                          <p:cTn id="40" fill="hold" nodeType="afterGroup">
                            <p:stCondLst>
                              <p:cond delay="500"/>
                            </p:stCondLst>
                            <p:childTnLst>
                              <p:par>
                                <p:cTn id="41" presetID="1" presetClass="entr" presetSubtype="0" fill="hold" grpId="0" nodeType="afterEffect">
                                  <p:stCondLst>
                                    <p:cond delay="0"/>
                                  </p:stCondLst>
                                  <p:childTnLst>
                                    <p:set>
                                      <p:cBhvr>
                                        <p:cTn id="42" dur="1" fill="hold">
                                          <p:stCondLst>
                                            <p:cond delay="499"/>
                                          </p:stCondLst>
                                        </p:cTn>
                                        <p:tgtEl>
                                          <p:spTgt spid="72"/>
                                        </p:tgtEl>
                                        <p:attrNameLst>
                                          <p:attrName>style.visibility</p:attrName>
                                        </p:attrNameLst>
                                      </p:cBhvr>
                                      <p:to>
                                        <p:strVal val="visible"/>
                                      </p:to>
                                    </p:set>
                                  </p:childTnLst>
                                  <p:subTnLst>
                                    <p:audio>
                                      <p:cMediaNode>
                                        <p:cTn display="0" masterRel="sameClick">
                                          <p:stCondLst>
                                            <p:cond evt="begin" delay="0">
                                              <p:tn val="41"/>
                                            </p:cond>
                                          </p:stCondLst>
                                          <p:endCondLst>
                                            <p:cond evt="onStopAudio" delay="0">
                                              <p:tgtEl>
                                                <p:sldTgt/>
                                              </p:tgtEl>
                                            </p:cond>
                                          </p:endCondLst>
                                        </p:cTn>
                                        <p:tgtEl>
                                          <p:sndTgt r:embed="rId4" name="DING.WAV"/>
                                        </p:tgtEl>
                                      </p:cMediaNode>
                                    </p:audio>
                                  </p:sub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nodeType="clickEffect">
                                  <p:stCondLst>
                                    <p:cond delay="0"/>
                                  </p:stCondLst>
                                  <p:childTnLst>
                                    <p:set>
                                      <p:cBhvr>
                                        <p:cTn id="46" dur="1" fill="hold">
                                          <p:stCondLst>
                                            <p:cond delay="0"/>
                                          </p:stCondLst>
                                        </p:cTn>
                                        <p:tgtEl>
                                          <p:spTgt spid="73"/>
                                        </p:tgtEl>
                                        <p:attrNameLst>
                                          <p:attrName>style.visibility</p:attrName>
                                        </p:attrNameLst>
                                      </p:cBhvr>
                                      <p:to>
                                        <p:strVal val="visible"/>
                                      </p:to>
                                    </p:set>
                                    <p:animEffect transition="in" filter="wipe(left)">
                                      <p:cBhvr>
                                        <p:cTn id="47" dur="500"/>
                                        <p:tgtEl>
                                          <p:spTgt spid="73"/>
                                        </p:tgtEl>
                                      </p:cBhvr>
                                    </p:animEffect>
                                  </p:childTnLst>
                                  <p:subTnLst>
                                    <p:audio>
                                      <p:cMediaNode>
                                        <p:cTn display="0" masterRel="sameClick">
                                          <p:stCondLst>
                                            <p:cond evt="begin" delay="0">
                                              <p:tn val="45"/>
                                            </p:cond>
                                          </p:stCondLst>
                                          <p:endCondLst>
                                            <p:cond evt="onStopAudio" delay="0">
                                              <p:tgtEl>
                                                <p:sldTgt/>
                                              </p:tgtEl>
                                            </p:cond>
                                          </p:endCondLst>
                                        </p:cTn>
                                        <p:tgtEl>
                                          <p:sndTgt r:embed="rId6" name="LASER.WAV"/>
                                        </p:tgtEl>
                                      </p:cMediaNode>
                                    </p:audio>
                                  </p:subTnLst>
                                </p:cTn>
                              </p:par>
                            </p:childTnLst>
                          </p:cTn>
                        </p:par>
                      </p:childTnLst>
                    </p:cTn>
                  </p:par>
                  <p:par>
                    <p:cTn id="48" fill="hold" nodeType="clickPar">
                      <p:stCondLst>
                        <p:cond delay="indefinite"/>
                      </p:stCondLst>
                      <p:childTnLst>
                        <p:par>
                          <p:cTn id="49" fill="hold" nodeType="withGroup">
                            <p:stCondLst>
                              <p:cond delay="0"/>
                            </p:stCondLst>
                            <p:childTnLst>
                              <p:par>
                                <p:cTn id="50" presetID="1" presetClass="entr" presetSubtype="0" fill="hold" grpId="0" nodeType="clickEffect">
                                  <p:stCondLst>
                                    <p:cond delay="0"/>
                                  </p:stCondLst>
                                  <p:childTnLst>
                                    <p:set>
                                      <p:cBhvr>
                                        <p:cTn id="51" dur="1" fill="hold">
                                          <p:stCondLst>
                                            <p:cond delay="499"/>
                                          </p:stCondLst>
                                        </p:cTn>
                                        <p:tgtEl>
                                          <p:spTgt spid="77"/>
                                        </p:tgtEl>
                                        <p:attrNameLst>
                                          <p:attrName>style.visibility</p:attrName>
                                        </p:attrNameLst>
                                      </p:cBhvr>
                                      <p:to>
                                        <p:strVal val="visible"/>
                                      </p:to>
                                    </p:set>
                                  </p:childTnLst>
                                </p:cTn>
                              </p:par>
                            </p:childTnLst>
                          </p:cTn>
                        </p:par>
                        <p:par>
                          <p:cTn id="52" fill="hold" nodeType="afterGroup">
                            <p:stCondLst>
                              <p:cond delay="500"/>
                            </p:stCondLst>
                            <p:childTnLst>
                              <p:par>
                                <p:cTn id="53" presetID="1" presetClass="entr" presetSubtype="0" fill="hold" grpId="0" nodeType="afterEffect">
                                  <p:stCondLst>
                                    <p:cond delay="0"/>
                                  </p:stCondLst>
                                  <p:childTnLst>
                                    <p:set>
                                      <p:cBhvr>
                                        <p:cTn id="54" dur="1" fill="hold">
                                          <p:stCondLst>
                                            <p:cond delay="499"/>
                                          </p:stCondLst>
                                        </p:cTn>
                                        <p:tgtEl>
                                          <p:spTgt spid="78"/>
                                        </p:tgtEl>
                                        <p:attrNameLst>
                                          <p:attrName>style.visibility</p:attrName>
                                        </p:attrNameLst>
                                      </p:cBhvr>
                                      <p:to>
                                        <p:strVal val="visible"/>
                                      </p:to>
                                    </p:set>
                                  </p:childTnLst>
                                  <p:subTnLst>
                                    <p:audio>
                                      <p:cMediaNode>
                                        <p:cTn display="0" masterRel="sameClick">
                                          <p:stCondLst>
                                            <p:cond evt="begin" delay="0">
                                              <p:tn val="53"/>
                                            </p:cond>
                                          </p:stCondLst>
                                          <p:endCondLst>
                                            <p:cond evt="onStopAudio" delay="0">
                                              <p:tgtEl>
                                                <p:sldTgt/>
                                              </p:tgtEl>
                                            </p:cond>
                                          </p:endCondLst>
                                        </p:cTn>
                                        <p:tgtEl>
                                          <p:sndTgt r:embed="rId4" name="DING.WAV"/>
                                        </p:tgtEl>
                                      </p:cMediaNode>
                                    </p:audio>
                                  </p:subTnLst>
                                </p:cTn>
                              </p:par>
                            </p:childTnLst>
                          </p:cTn>
                        </p:par>
                      </p:childTnLst>
                    </p:cTn>
                  </p:par>
                  <p:par>
                    <p:cTn id="55" fill="hold" nodeType="clickPar">
                      <p:stCondLst>
                        <p:cond delay="indefinite"/>
                      </p:stCondLst>
                      <p:childTnLst>
                        <p:par>
                          <p:cTn id="56" fill="hold" nodeType="withGroup">
                            <p:stCondLst>
                              <p:cond delay="0"/>
                            </p:stCondLst>
                            <p:childTnLst>
                              <p:par>
                                <p:cTn id="57" presetID="22" presetClass="entr" presetSubtype="2" fill="hold" grpId="0" nodeType="clickEffect">
                                  <p:stCondLst>
                                    <p:cond delay="0"/>
                                  </p:stCondLst>
                                  <p:childTnLst>
                                    <p:set>
                                      <p:cBhvr>
                                        <p:cTn id="58" dur="1" fill="hold">
                                          <p:stCondLst>
                                            <p:cond delay="0"/>
                                          </p:stCondLst>
                                        </p:cTn>
                                        <p:tgtEl>
                                          <p:spTgt spid="79"/>
                                        </p:tgtEl>
                                        <p:attrNameLst>
                                          <p:attrName>style.visibility</p:attrName>
                                        </p:attrNameLst>
                                      </p:cBhvr>
                                      <p:to>
                                        <p:strVal val="visible"/>
                                      </p:to>
                                    </p:set>
                                    <p:animEffect transition="in" filter="wipe(right)">
                                      <p:cBhvr>
                                        <p:cTn id="59" dur="500"/>
                                        <p:tgtEl>
                                          <p:spTgt spid="79"/>
                                        </p:tgtEl>
                                      </p:cBhvr>
                                    </p:animEffect>
                                  </p:childTnLst>
                                  <p:subTnLst>
                                    <p:audio>
                                      <p:cMediaNode>
                                        <p:cTn display="0" masterRel="sameClick">
                                          <p:stCondLst>
                                            <p:cond evt="begin" delay="0">
                                              <p:tn val="57"/>
                                            </p:cond>
                                          </p:stCondLst>
                                          <p:endCondLst>
                                            <p:cond evt="onStopAudio" delay="0">
                                              <p:tgtEl>
                                                <p:sldTgt/>
                                              </p:tgtEl>
                                            </p:cond>
                                          </p:endCondLst>
                                        </p:cTn>
                                        <p:tgtEl>
                                          <p:sndTgt r:embed="rId7" name="WHOOSH.WAV"/>
                                        </p:tgtEl>
                                      </p:cMediaNode>
                                    </p:audio>
                                  </p:subTnLst>
                                </p:cTn>
                              </p:par>
                            </p:childTnLst>
                          </p:cTn>
                        </p:par>
                        <p:par>
                          <p:cTn id="60" fill="hold" nodeType="afterGroup">
                            <p:stCondLst>
                              <p:cond delay="500"/>
                            </p:stCondLst>
                            <p:childTnLst>
                              <p:par>
                                <p:cTn id="61" presetID="22" presetClass="entr" presetSubtype="8" fill="hold" nodeType="afterEffect">
                                  <p:stCondLst>
                                    <p:cond delay="0"/>
                                  </p:stCondLst>
                                  <p:childTnLst>
                                    <p:set>
                                      <p:cBhvr>
                                        <p:cTn id="62" dur="1" fill="hold">
                                          <p:stCondLst>
                                            <p:cond delay="0"/>
                                          </p:stCondLst>
                                        </p:cTn>
                                        <p:tgtEl>
                                          <p:spTgt spid="80"/>
                                        </p:tgtEl>
                                        <p:attrNameLst>
                                          <p:attrName>style.visibility</p:attrName>
                                        </p:attrNameLst>
                                      </p:cBhvr>
                                      <p:to>
                                        <p:strVal val="visible"/>
                                      </p:to>
                                    </p:set>
                                    <p:animEffect transition="in" filter="wipe(left)">
                                      <p:cBhvr>
                                        <p:cTn id="63" dur="500"/>
                                        <p:tgtEl>
                                          <p:spTgt spid="80"/>
                                        </p:tgtEl>
                                      </p:cBhvr>
                                    </p:animEffect>
                                  </p:childTnLst>
                                  <p:subTnLst>
                                    <p:audio>
                                      <p:cMediaNode>
                                        <p:cTn display="0" masterRel="sameClick">
                                          <p:stCondLst>
                                            <p:cond evt="begin" delay="0">
                                              <p:tn val="61"/>
                                            </p:cond>
                                          </p:stCondLst>
                                          <p:endCondLst>
                                            <p:cond evt="onStopAudio" delay="0">
                                              <p:tgtEl>
                                                <p:sldTgt/>
                                              </p:tgtEl>
                                            </p:cond>
                                          </p:endCondLst>
                                        </p:cTn>
                                        <p:tgtEl>
                                          <p:sndTgt r:embed="rId6" name="LASER.WAV"/>
                                        </p:tgtEl>
                                      </p:cMediaNode>
                                    </p:audio>
                                  </p:subTnLst>
                                </p:cTn>
                              </p:par>
                            </p:childTnLst>
                          </p:cTn>
                        </p:par>
                      </p:childTnLst>
                    </p:cTn>
                  </p:par>
                  <p:par>
                    <p:cTn id="64" fill="hold" nodeType="clickPar">
                      <p:stCondLst>
                        <p:cond delay="indefinite"/>
                      </p:stCondLst>
                      <p:childTnLst>
                        <p:par>
                          <p:cTn id="65" fill="hold" nodeType="withGroup">
                            <p:stCondLst>
                              <p:cond delay="0"/>
                            </p:stCondLst>
                            <p:childTnLst>
                              <p:par>
                                <p:cTn id="66" presetID="1" presetClass="entr" presetSubtype="0" fill="hold" grpId="0" nodeType="clickEffect">
                                  <p:stCondLst>
                                    <p:cond delay="0"/>
                                  </p:stCondLst>
                                  <p:childTnLst>
                                    <p:set>
                                      <p:cBhvr>
                                        <p:cTn id="67" dur="1" fill="hold">
                                          <p:stCondLst>
                                            <p:cond delay="499"/>
                                          </p:stCondLst>
                                        </p:cTn>
                                        <p:tgtEl>
                                          <p:spTgt spid="84"/>
                                        </p:tgtEl>
                                        <p:attrNameLst>
                                          <p:attrName>style.visibility</p:attrName>
                                        </p:attrNameLst>
                                      </p:cBhvr>
                                      <p:to>
                                        <p:strVal val="visible"/>
                                      </p:to>
                                    </p:set>
                                  </p:childTnLst>
                                </p:cTn>
                              </p:par>
                            </p:childTnLst>
                          </p:cTn>
                        </p:par>
                        <p:par>
                          <p:cTn id="68" fill="hold" nodeType="afterGroup">
                            <p:stCondLst>
                              <p:cond delay="500"/>
                            </p:stCondLst>
                            <p:childTnLst>
                              <p:par>
                                <p:cTn id="69" presetID="1" presetClass="entr" presetSubtype="0" fill="hold" grpId="0" nodeType="afterEffect">
                                  <p:stCondLst>
                                    <p:cond delay="0"/>
                                  </p:stCondLst>
                                  <p:childTnLst>
                                    <p:set>
                                      <p:cBhvr>
                                        <p:cTn id="70" dur="1" fill="hold">
                                          <p:stCondLst>
                                            <p:cond delay="499"/>
                                          </p:stCondLst>
                                        </p:cTn>
                                        <p:tgtEl>
                                          <p:spTgt spid="85"/>
                                        </p:tgtEl>
                                        <p:attrNameLst>
                                          <p:attrName>style.visibility</p:attrName>
                                        </p:attrNameLst>
                                      </p:cBhvr>
                                      <p:to>
                                        <p:strVal val="visible"/>
                                      </p:to>
                                    </p:set>
                                  </p:childTnLst>
                                  <p:subTnLst>
                                    <p:audio>
                                      <p:cMediaNode>
                                        <p:cTn display="0" masterRel="sameClick">
                                          <p:stCondLst>
                                            <p:cond evt="begin" delay="0">
                                              <p:tn val="69"/>
                                            </p:cond>
                                          </p:stCondLst>
                                          <p:endCondLst>
                                            <p:cond evt="onStopAudio" delay="0">
                                              <p:tgtEl>
                                                <p:sldTgt/>
                                              </p:tgtEl>
                                            </p:cond>
                                          </p:endCondLst>
                                        </p:cTn>
                                        <p:tgtEl>
                                          <p:sndTgt r:embed="rId4" name="DING.WAV"/>
                                        </p:tgtEl>
                                      </p:cMediaNode>
                                    </p:audio>
                                  </p:subTnLst>
                                </p:cTn>
                              </p:par>
                            </p:childTnLst>
                          </p:cTn>
                        </p:par>
                      </p:childTnLst>
                    </p:cTn>
                  </p:par>
                  <p:par>
                    <p:cTn id="71" fill="hold" nodeType="clickPar">
                      <p:stCondLst>
                        <p:cond delay="indefinite"/>
                      </p:stCondLst>
                      <p:childTnLst>
                        <p:par>
                          <p:cTn id="72" fill="hold" nodeType="withGroup">
                            <p:stCondLst>
                              <p:cond delay="0"/>
                            </p:stCondLst>
                            <p:childTnLst>
                              <p:par>
                                <p:cTn id="73" presetID="22" presetClass="entr" presetSubtype="4" fill="hold" nodeType="clickEffect">
                                  <p:stCondLst>
                                    <p:cond delay="0"/>
                                  </p:stCondLst>
                                  <p:childTnLst>
                                    <p:set>
                                      <p:cBhvr>
                                        <p:cTn id="74" dur="1" fill="hold">
                                          <p:stCondLst>
                                            <p:cond delay="0"/>
                                          </p:stCondLst>
                                        </p:cTn>
                                        <p:tgtEl>
                                          <p:spTgt spid="88"/>
                                        </p:tgtEl>
                                        <p:attrNameLst>
                                          <p:attrName>style.visibility</p:attrName>
                                        </p:attrNameLst>
                                      </p:cBhvr>
                                      <p:to>
                                        <p:strVal val="visible"/>
                                      </p:to>
                                    </p:set>
                                    <p:animEffect transition="in" filter="wipe(down)">
                                      <p:cBhvr>
                                        <p:cTn id="75" dur="500"/>
                                        <p:tgtEl>
                                          <p:spTgt spid="88"/>
                                        </p:tgtEl>
                                      </p:cBhvr>
                                    </p:animEffect>
                                  </p:childTnLst>
                                  <p:subTnLst>
                                    <p:audio>
                                      <p:cMediaNode>
                                        <p:cTn display="0" masterRel="sameClick">
                                          <p:stCondLst>
                                            <p:cond evt="begin" delay="0">
                                              <p:tn val="73"/>
                                            </p:cond>
                                          </p:stCondLst>
                                          <p:endCondLst>
                                            <p:cond evt="onStopAudio" delay="0">
                                              <p:tgtEl>
                                                <p:sldTgt/>
                                              </p:tgtEl>
                                            </p:cond>
                                          </p:endCondLst>
                                        </p:cTn>
                                        <p:tgtEl>
                                          <p:sndTgt r:embed="rId8" name="TADA.WAV"/>
                                        </p:tgtEl>
                                      </p:cMediaNode>
                                    </p:audio>
                                  </p:subTnLst>
                                </p:cTn>
                              </p:par>
                            </p:childTnLst>
                          </p:cTn>
                        </p:par>
                      </p:childTnLst>
                    </p:cTn>
                  </p:par>
                  <p:par>
                    <p:cTn id="76" fill="hold" nodeType="clickPar">
                      <p:stCondLst>
                        <p:cond delay="indefinite"/>
                      </p:stCondLst>
                      <p:childTnLst>
                        <p:par>
                          <p:cTn id="77" fill="hold" nodeType="withGroup">
                            <p:stCondLst>
                              <p:cond delay="0"/>
                            </p:stCondLst>
                            <p:childTnLst>
                              <p:par>
                                <p:cTn id="78" presetID="22" presetClass="entr" presetSubtype="8" fill="hold" grpId="0" nodeType="clickEffect">
                                  <p:stCondLst>
                                    <p:cond delay="0"/>
                                  </p:stCondLst>
                                  <p:childTnLst>
                                    <p:set>
                                      <p:cBhvr>
                                        <p:cTn id="79" dur="1" fill="hold">
                                          <p:stCondLst>
                                            <p:cond delay="0"/>
                                          </p:stCondLst>
                                        </p:cTn>
                                        <p:tgtEl>
                                          <p:spTgt spid="86"/>
                                        </p:tgtEl>
                                        <p:attrNameLst>
                                          <p:attrName>style.visibility</p:attrName>
                                        </p:attrNameLst>
                                      </p:cBhvr>
                                      <p:to>
                                        <p:strVal val="visible"/>
                                      </p:to>
                                    </p:set>
                                    <p:animEffect transition="in" filter="wipe(left)">
                                      <p:cBhvr>
                                        <p:cTn id="80" dur="5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animBg="1" autoUpdateAnimBg="0"/>
      <p:bldP spid="67" grpId="0" animBg="1"/>
      <p:bldP spid="68" grpId="0" animBg="1"/>
      <p:bldP spid="69" grpId="0" autoUpdateAnimBg="0"/>
      <p:bldP spid="70" grpId="0" animBg="1" autoUpdateAnimBg="0"/>
      <p:bldP spid="71" grpId="0" autoUpdateAnimBg="0"/>
      <p:bldP spid="72" grpId="0" animBg="1"/>
      <p:bldP spid="77" grpId="0" animBg="1" autoUpdateAnimBg="0"/>
      <p:bldP spid="78" grpId="0" animBg="1" autoUpdateAnimBg="0"/>
      <p:bldP spid="79" grpId="0" animBg="1"/>
      <p:bldP spid="84" grpId="0" animBg="1" autoUpdateAnimBg="0"/>
      <p:bldP spid="85" grpId="0" animBg="1" autoUpdateAnimBg="0"/>
      <p:bldP spid="86" grpId="0" autoUpdateAnimBg="0"/>
      <p:bldP spid="87"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格 5"/>
          <p:cNvGraphicFramePr>
            <a:graphicFrameLocks noGrp="1"/>
          </p:cNvGraphicFramePr>
          <p:nvPr>
            <p:extLst>
              <p:ext uri="{D42A27DB-BD31-4B8C-83A1-F6EECF244321}">
                <p14:modId xmlns:p14="http://schemas.microsoft.com/office/powerpoint/2010/main" val="318833750"/>
              </p:ext>
            </p:extLst>
          </p:nvPr>
        </p:nvGraphicFramePr>
        <p:xfrm>
          <a:off x="667925" y="250031"/>
          <a:ext cx="8143875" cy="6500812"/>
        </p:xfrm>
        <a:graphic>
          <a:graphicData uri="http://schemas.openxmlformats.org/drawingml/2006/table">
            <a:tbl>
              <a:tblPr/>
              <a:tblGrid>
                <a:gridCol w="8143875"/>
              </a:tblGrid>
              <a:tr h="6500812">
                <a:tc>
                  <a:txBody>
                    <a:bodyPr/>
                    <a:lstStyle/>
                    <a:p>
                      <a:pPr algn="l">
                        <a:spcAft>
                          <a:spcPts val="0"/>
                        </a:spcAft>
                      </a:pPr>
                      <a:r>
                        <a:rPr lang="en-US" sz="1800" b="1" kern="0" dirty="0" err="1">
                          <a:solidFill>
                            <a:srgbClr val="EBEBEB"/>
                          </a:solidFill>
                          <a:latin typeface="Courier"/>
                          <a:ea typeface="宋体"/>
                          <a:cs typeface="宋体"/>
                        </a:rPr>
                        <a:t>ElementType</a:t>
                      </a:r>
                      <a:r>
                        <a:rPr lang="en-US" sz="1800" b="1" kern="0" dirty="0">
                          <a:solidFill>
                            <a:srgbClr val="EBEBEB"/>
                          </a:solidFill>
                          <a:latin typeface="Courier"/>
                          <a:ea typeface="宋体"/>
                          <a:cs typeface="宋体"/>
                        </a:rPr>
                        <a:t> </a:t>
                      </a:r>
                      <a:r>
                        <a:rPr lang="en-US" sz="1800" b="1" kern="0" dirty="0" err="1">
                          <a:solidFill>
                            <a:srgbClr val="EBEBEB"/>
                          </a:solidFill>
                          <a:latin typeface="Courier"/>
                          <a:ea typeface="宋体"/>
                          <a:cs typeface="宋体"/>
                        </a:rPr>
                        <a:t>DeleteMax</a:t>
                      </a:r>
                      <a:r>
                        <a:rPr lang="en-US" sz="1800" b="1" kern="0" dirty="0">
                          <a:solidFill>
                            <a:srgbClr val="EBEBEB"/>
                          </a:solidFill>
                          <a:latin typeface="Courier"/>
                          <a:ea typeface="宋体"/>
                          <a:cs typeface="宋体"/>
                        </a:rPr>
                        <a:t>( </a:t>
                      </a:r>
                      <a:r>
                        <a:rPr lang="en-US" sz="1800" b="1" kern="0" dirty="0" err="1">
                          <a:solidFill>
                            <a:srgbClr val="EBEBEB"/>
                          </a:solidFill>
                          <a:latin typeface="Courier"/>
                          <a:ea typeface="宋体"/>
                          <a:cs typeface="宋体"/>
                        </a:rPr>
                        <a:t>MaxHeap</a:t>
                      </a:r>
                      <a:r>
                        <a:rPr lang="en-US" sz="1800" b="1" kern="0" dirty="0">
                          <a:solidFill>
                            <a:srgbClr val="EBEBEB"/>
                          </a:solidFill>
                          <a:latin typeface="Courier"/>
                          <a:ea typeface="宋体"/>
                          <a:cs typeface="宋体"/>
                        </a:rPr>
                        <a:t> H )</a:t>
                      </a:r>
                      <a:endParaRPr lang="zh-CN" sz="1800" b="1" kern="100" dirty="0">
                        <a:solidFill>
                          <a:srgbClr val="EBEBEB"/>
                        </a:solidFill>
                        <a:latin typeface="Calibri"/>
                        <a:ea typeface="宋体"/>
                        <a:cs typeface="Times New Roman"/>
                      </a:endParaRPr>
                    </a:p>
                    <a:p>
                      <a:pPr algn="just">
                        <a:spcAft>
                          <a:spcPts val="0"/>
                        </a:spcAft>
                      </a:pPr>
                      <a:r>
                        <a:rPr lang="en-US" sz="1800" b="1" kern="100" dirty="0">
                          <a:latin typeface="Courier New"/>
                          <a:ea typeface="宋体"/>
                          <a:cs typeface="Times New Roman"/>
                        </a:rPr>
                        <a:t>{  </a:t>
                      </a:r>
                      <a:r>
                        <a:rPr lang="en-US" sz="1800" b="1" kern="100" dirty="0">
                          <a:solidFill>
                            <a:schemeClr val="bg2">
                              <a:lumMod val="60000"/>
                              <a:lumOff val="40000"/>
                            </a:schemeClr>
                          </a:solidFill>
                          <a:latin typeface="Courier New"/>
                          <a:ea typeface="宋体"/>
                          <a:cs typeface="Times New Roman"/>
                        </a:rPr>
                        <a:t>/* </a:t>
                      </a:r>
                      <a:r>
                        <a:rPr lang="zh-CN" sz="1800" b="1" kern="100" dirty="0">
                          <a:solidFill>
                            <a:schemeClr val="bg2">
                              <a:lumMod val="60000"/>
                              <a:lumOff val="40000"/>
                            </a:schemeClr>
                          </a:solidFill>
                          <a:latin typeface="Courier New"/>
                          <a:ea typeface="宋体"/>
                          <a:cs typeface="Courier New"/>
                        </a:rPr>
                        <a:t>从最大堆</a:t>
                      </a:r>
                      <a:r>
                        <a:rPr lang="en-US" sz="1800" b="1" kern="100" dirty="0">
                          <a:solidFill>
                            <a:schemeClr val="bg2">
                              <a:lumMod val="60000"/>
                              <a:lumOff val="40000"/>
                            </a:schemeClr>
                          </a:solidFill>
                          <a:latin typeface="Courier New"/>
                          <a:ea typeface="宋体"/>
                          <a:cs typeface="Times New Roman"/>
                        </a:rPr>
                        <a:t>H</a:t>
                      </a:r>
                      <a:r>
                        <a:rPr lang="zh-CN" sz="1800" b="1" kern="100" dirty="0">
                          <a:solidFill>
                            <a:schemeClr val="bg2">
                              <a:lumMod val="60000"/>
                              <a:lumOff val="40000"/>
                            </a:schemeClr>
                          </a:solidFill>
                          <a:latin typeface="Courier New"/>
                          <a:ea typeface="宋体"/>
                          <a:cs typeface="Courier New"/>
                        </a:rPr>
                        <a:t>中取出键值为最大的元素，并删除一个结点</a:t>
                      </a:r>
                      <a:r>
                        <a:rPr lang="en-US" sz="1800" b="1" kern="100" dirty="0">
                          <a:solidFill>
                            <a:schemeClr val="bg2">
                              <a:lumMod val="60000"/>
                              <a:lumOff val="40000"/>
                            </a:schemeClr>
                          </a:solidFill>
                          <a:latin typeface="Courier New"/>
                          <a:ea typeface="宋体"/>
                          <a:cs typeface="Times New Roman"/>
                        </a:rPr>
                        <a:t> */</a:t>
                      </a:r>
                      <a:endParaRPr lang="zh-CN" sz="1800" b="1" kern="100" dirty="0">
                        <a:solidFill>
                          <a:schemeClr val="bg2">
                            <a:lumMod val="60000"/>
                            <a:lumOff val="40000"/>
                          </a:schemeClr>
                        </a:solidFill>
                        <a:latin typeface="Calibri"/>
                        <a:ea typeface="宋体"/>
                        <a:cs typeface="Times New Roman"/>
                      </a:endParaRPr>
                    </a:p>
                    <a:p>
                      <a:pPr algn="just">
                        <a:spcAft>
                          <a:spcPts val="0"/>
                        </a:spcAft>
                      </a:pPr>
                      <a:r>
                        <a:rPr lang="en-US" sz="1800" b="1" kern="100" dirty="0">
                          <a:latin typeface="Courier New"/>
                          <a:ea typeface="宋体"/>
                          <a:cs typeface="Times New Roman"/>
                        </a:rPr>
                        <a:t>    </a:t>
                      </a:r>
                      <a:r>
                        <a:rPr lang="en-US" sz="1800" b="1" kern="100" dirty="0" err="1">
                          <a:solidFill>
                            <a:srgbClr val="0000FF"/>
                          </a:solidFill>
                          <a:latin typeface="Courier New"/>
                          <a:ea typeface="宋体"/>
                          <a:cs typeface="Times New Roman"/>
                        </a:rPr>
                        <a:t>int</a:t>
                      </a:r>
                      <a:r>
                        <a:rPr lang="en-US" sz="1800" b="1" kern="100" dirty="0">
                          <a:latin typeface="Courier New"/>
                          <a:ea typeface="宋体"/>
                          <a:cs typeface="Times New Roman"/>
                        </a:rPr>
                        <a:t> Parent, Child;</a:t>
                      </a:r>
                      <a:endParaRPr lang="zh-CN" sz="1800" b="1" kern="100" dirty="0">
                        <a:latin typeface="Calibri"/>
                        <a:ea typeface="宋体"/>
                        <a:cs typeface="Times New Roman"/>
                      </a:endParaRPr>
                    </a:p>
                    <a:p>
                      <a:pPr algn="just">
                        <a:spcAft>
                          <a:spcPts val="0"/>
                        </a:spcAft>
                      </a:pPr>
                      <a:r>
                        <a:rPr lang="en-US" sz="1800" b="1" kern="100" dirty="0">
                          <a:latin typeface="Courier New"/>
                          <a:ea typeface="宋体"/>
                          <a:cs typeface="Times New Roman"/>
                        </a:rPr>
                        <a:t>    </a:t>
                      </a:r>
                      <a:r>
                        <a:rPr lang="en-US" sz="1800" b="1" kern="100" dirty="0" err="1">
                          <a:latin typeface="Courier New"/>
                          <a:ea typeface="宋体"/>
                          <a:cs typeface="Times New Roman"/>
                        </a:rPr>
                        <a:t>ElementType</a:t>
                      </a:r>
                      <a:r>
                        <a:rPr lang="en-US" sz="1800" b="1" kern="100" dirty="0">
                          <a:latin typeface="Courier New"/>
                          <a:ea typeface="宋体"/>
                          <a:cs typeface="Times New Roman"/>
                        </a:rPr>
                        <a:t> </a:t>
                      </a:r>
                      <a:r>
                        <a:rPr lang="en-US" sz="1800" b="1" kern="100" dirty="0" err="1">
                          <a:latin typeface="Courier New"/>
                          <a:ea typeface="宋体"/>
                          <a:cs typeface="Times New Roman"/>
                        </a:rPr>
                        <a:t>MaxItem</a:t>
                      </a:r>
                      <a:r>
                        <a:rPr lang="en-US" sz="1800" b="1" kern="100" dirty="0">
                          <a:latin typeface="Courier New"/>
                          <a:ea typeface="宋体"/>
                          <a:cs typeface="Times New Roman"/>
                        </a:rPr>
                        <a:t>, temp;</a:t>
                      </a:r>
                      <a:endParaRPr lang="zh-CN" sz="1800" b="1" kern="100" dirty="0">
                        <a:latin typeface="Calibri"/>
                        <a:ea typeface="宋体"/>
                        <a:cs typeface="Times New Roman"/>
                      </a:endParaRPr>
                    </a:p>
                    <a:p>
                      <a:pPr algn="just">
                        <a:spcAft>
                          <a:spcPts val="0"/>
                        </a:spcAft>
                      </a:pPr>
                      <a:r>
                        <a:rPr lang="en-US" sz="1800" b="1" kern="100" dirty="0">
                          <a:latin typeface="Courier New"/>
                          <a:ea typeface="宋体"/>
                          <a:cs typeface="Times New Roman"/>
                        </a:rPr>
                        <a:t>    </a:t>
                      </a:r>
                      <a:r>
                        <a:rPr lang="en-US" sz="1800" b="1" kern="100" dirty="0">
                          <a:solidFill>
                            <a:srgbClr val="0000FF"/>
                          </a:solidFill>
                          <a:latin typeface="Courier New"/>
                          <a:ea typeface="宋体"/>
                          <a:cs typeface="Times New Roman"/>
                        </a:rPr>
                        <a:t>if</a:t>
                      </a:r>
                      <a:r>
                        <a:rPr lang="en-US" sz="1800" b="1" kern="100" dirty="0">
                          <a:latin typeface="Courier New"/>
                          <a:ea typeface="宋体"/>
                          <a:cs typeface="Times New Roman"/>
                        </a:rPr>
                        <a:t> ( </a:t>
                      </a:r>
                      <a:r>
                        <a:rPr lang="en-US" sz="1800" b="1" kern="100" dirty="0" err="1">
                          <a:latin typeface="Courier New"/>
                          <a:ea typeface="宋体"/>
                          <a:cs typeface="Times New Roman"/>
                        </a:rPr>
                        <a:t>IsEmpty</a:t>
                      </a:r>
                      <a:r>
                        <a:rPr lang="en-US" sz="1800" b="1" kern="100" dirty="0">
                          <a:latin typeface="Courier New"/>
                          <a:ea typeface="宋体"/>
                          <a:cs typeface="Times New Roman"/>
                        </a:rPr>
                        <a:t>(H) ) {</a:t>
                      </a:r>
                      <a:endParaRPr lang="zh-CN" sz="1800" b="1" kern="100" dirty="0">
                        <a:latin typeface="Calibri"/>
                        <a:ea typeface="宋体"/>
                        <a:cs typeface="Times New Roman"/>
                      </a:endParaRPr>
                    </a:p>
                    <a:p>
                      <a:pPr algn="just">
                        <a:spcAft>
                          <a:spcPts val="0"/>
                        </a:spcAft>
                      </a:pPr>
                      <a:r>
                        <a:rPr lang="en-US" sz="1800" b="1" kern="100" dirty="0">
                          <a:latin typeface="Courier New"/>
                          <a:ea typeface="宋体"/>
                          <a:cs typeface="Times New Roman"/>
                        </a:rPr>
                        <a:t>        </a:t>
                      </a:r>
                      <a:r>
                        <a:rPr lang="en-US" sz="1800" b="1" kern="100" dirty="0" err="1">
                          <a:latin typeface="Courier New"/>
                          <a:ea typeface="宋体"/>
                          <a:cs typeface="Times New Roman"/>
                        </a:rPr>
                        <a:t>printf</a:t>
                      </a:r>
                      <a:r>
                        <a:rPr lang="en-US" sz="1800" b="1" kern="100" dirty="0">
                          <a:latin typeface="Courier New"/>
                          <a:ea typeface="宋体"/>
                          <a:cs typeface="Times New Roman"/>
                        </a:rPr>
                        <a:t>("</a:t>
                      </a:r>
                      <a:r>
                        <a:rPr lang="zh-CN" sz="1800" b="1" kern="100" dirty="0">
                          <a:latin typeface="Courier New"/>
                          <a:ea typeface="宋体"/>
                          <a:cs typeface="Courier New"/>
                        </a:rPr>
                        <a:t>最大堆已为空</a:t>
                      </a:r>
                      <a:r>
                        <a:rPr lang="en-US" sz="1800" b="1" kern="100" dirty="0">
                          <a:latin typeface="Courier New"/>
                          <a:ea typeface="宋体"/>
                          <a:cs typeface="Times New Roman"/>
                        </a:rPr>
                        <a:t>");</a:t>
                      </a:r>
                      <a:endParaRPr lang="zh-CN" sz="1800" b="1" kern="100" dirty="0">
                        <a:latin typeface="Calibri"/>
                        <a:ea typeface="宋体"/>
                        <a:cs typeface="Times New Roman"/>
                      </a:endParaRPr>
                    </a:p>
                    <a:p>
                      <a:pPr algn="just">
                        <a:spcAft>
                          <a:spcPts val="0"/>
                        </a:spcAft>
                      </a:pPr>
                      <a:r>
                        <a:rPr lang="en-US" sz="1800" b="1" kern="100" dirty="0">
                          <a:latin typeface="Courier New"/>
                          <a:ea typeface="宋体"/>
                          <a:cs typeface="Times New Roman"/>
                        </a:rPr>
                        <a:t>        </a:t>
                      </a:r>
                      <a:r>
                        <a:rPr lang="en-US" sz="1800" b="1" kern="100" dirty="0">
                          <a:solidFill>
                            <a:srgbClr val="0000FF"/>
                          </a:solidFill>
                          <a:latin typeface="Courier New"/>
                          <a:ea typeface="宋体"/>
                          <a:cs typeface="Times New Roman"/>
                        </a:rPr>
                        <a:t>return</a:t>
                      </a:r>
                      <a:r>
                        <a:rPr lang="en-US" sz="1800" b="1" kern="100" dirty="0">
                          <a:latin typeface="Courier New"/>
                          <a:ea typeface="宋体"/>
                          <a:cs typeface="Times New Roman"/>
                        </a:rPr>
                        <a:t>;</a:t>
                      </a:r>
                      <a:endParaRPr lang="zh-CN" sz="1800" b="1" kern="100" dirty="0">
                        <a:latin typeface="Calibri"/>
                        <a:ea typeface="宋体"/>
                        <a:cs typeface="Times New Roman"/>
                      </a:endParaRPr>
                    </a:p>
                    <a:p>
                      <a:pPr algn="just">
                        <a:spcAft>
                          <a:spcPts val="0"/>
                        </a:spcAft>
                      </a:pPr>
                      <a:r>
                        <a:rPr lang="en-US" sz="1800" b="1" kern="100" dirty="0">
                          <a:latin typeface="Courier New"/>
                          <a:ea typeface="宋体"/>
                          <a:cs typeface="Times New Roman"/>
                        </a:rPr>
                        <a:t>    }</a:t>
                      </a:r>
                      <a:endParaRPr lang="zh-CN" sz="1800" b="1" kern="100" dirty="0">
                        <a:latin typeface="Calibri"/>
                        <a:ea typeface="宋体"/>
                        <a:cs typeface="Times New Roman"/>
                      </a:endParaRPr>
                    </a:p>
                    <a:p>
                      <a:pPr algn="just">
                        <a:spcAft>
                          <a:spcPts val="0"/>
                        </a:spcAft>
                      </a:pPr>
                      <a:r>
                        <a:rPr lang="en-US" sz="1800" b="1" kern="100" dirty="0">
                          <a:solidFill>
                            <a:srgbClr val="3333CC"/>
                          </a:solidFill>
                          <a:latin typeface="Courier New"/>
                          <a:ea typeface="宋体"/>
                          <a:cs typeface="Times New Roman"/>
                        </a:rPr>
                        <a:t>    </a:t>
                      </a:r>
                      <a:r>
                        <a:rPr lang="en-US" sz="1800" b="1" kern="100" dirty="0" err="1">
                          <a:latin typeface="Courier New"/>
                          <a:ea typeface="宋体"/>
                          <a:cs typeface="Times New Roman"/>
                        </a:rPr>
                        <a:t>MaxItem</a:t>
                      </a:r>
                      <a:r>
                        <a:rPr lang="en-US" sz="1800" b="1" kern="100" dirty="0">
                          <a:latin typeface="Courier New"/>
                          <a:ea typeface="宋体"/>
                          <a:cs typeface="Times New Roman"/>
                        </a:rPr>
                        <a:t> = H-&gt;Elements[1]; </a:t>
                      </a:r>
                      <a:r>
                        <a:rPr lang="en-US" sz="1800" b="1" kern="100" dirty="0">
                          <a:solidFill>
                            <a:schemeClr val="bg2">
                              <a:lumMod val="60000"/>
                              <a:lumOff val="40000"/>
                            </a:schemeClr>
                          </a:solidFill>
                          <a:latin typeface="Courier New"/>
                          <a:ea typeface="宋体"/>
                          <a:cs typeface="Times New Roman"/>
                        </a:rPr>
                        <a:t>/* </a:t>
                      </a:r>
                      <a:r>
                        <a:rPr lang="zh-CN" sz="1800" b="1" kern="100" dirty="0">
                          <a:solidFill>
                            <a:schemeClr val="bg2">
                              <a:lumMod val="60000"/>
                              <a:lumOff val="40000"/>
                            </a:schemeClr>
                          </a:solidFill>
                          <a:latin typeface="Courier New"/>
                          <a:ea typeface="宋体"/>
                          <a:cs typeface="Times New Roman"/>
                        </a:rPr>
                        <a:t>取出根结点最大值</a:t>
                      </a:r>
                      <a:r>
                        <a:rPr lang="en-US" sz="1800" b="1" kern="100" dirty="0">
                          <a:solidFill>
                            <a:schemeClr val="bg2">
                              <a:lumMod val="60000"/>
                              <a:lumOff val="40000"/>
                            </a:schemeClr>
                          </a:solidFill>
                          <a:latin typeface="Courier New"/>
                          <a:ea typeface="宋体"/>
                          <a:cs typeface="Times New Roman"/>
                        </a:rPr>
                        <a:t> */</a:t>
                      </a:r>
                      <a:endParaRPr lang="zh-CN" sz="1800" b="1" kern="100" dirty="0">
                        <a:solidFill>
                          <a:schemeClr val="bg2">
                            <a:lumMod val="60000"/>
                            <a:lumOff val="40000"/>
                          </a:schemeClr>
                        </a:solidFill>
                        <a:latin typeface="Courier New"/>
                        <a:ea typeface="宋体"/>
                        <a:cs typeface="Times New Roman"/>
                      </a:endParaRPr>
                    </a:p>
                    <a:p>
                      <a:pPr algn="just">
                        <a:spcAft>
                          <a:spcPts val="0"/>
                        </a:spcAft>
                      </a:pPr>
                      <a:r>
                        <a:rPr lang="en-US" sz="1800" b="1" kern="100" dirty="0">
                          <a:latin typeface="Courier New"/>
                          <a:ea typeface="宋体"/>
                          <a:cs typeface="Times New Roman"/>
                        </a:rPr>
                        <a:t>    </a:t>
                      </a:r>
                      <a:r>
                        <a:rPr lang="en-US" sz="1800" b="1" kern="100" dirty="0">
                          <a:solidFill>
                            <a:schemeClr val="bg2">
                              <a:lumMod val="60000"/>
                              <a:lumOff val="40000"/>
                            </a:schemeClr>
                          </a:solidFill>
                          <a:latin typeface="Courier New"/>
                          <a:ea typeface="宋体"/>
                          <a:cs typeface="Times New Roman"/>
                        </a:rPr>
                        <a:t>/* </a:t>
                      </a:r>
                      <a:r>
                        <a:rPr lang="zh-CN" sz="1800" b="1" kern="100" dirty="0">
                          <a:solidFill>
                            <a:schemeClr val="bg2">
                              <a:lumMod val="60000"/>
                              <a:lumOff val="40000"/>
                            </a:schemeClr>
                          </a:solidFill>
                          <a:latin typeface="Courier New"/>
                          <a:ea typeface="宋体"/>
                          <a:cs typeface="Times New Roman"/>
                        </a:rPr>
                        <a:t>用最大堆中最后一个元素从根结点开始向上过滤下层结点</a:t>
                      </a:r>
                      <a:r>
                        <a:rPr lang="en-US" sz="1800" b="1" kern="100" dirty="0">
                          <a:solidFill>
                            <a:schemeClr val="bg2">
                              <a:lumMod val="60000"/>
                              <a:lumOff val="40000"/>
                            </a:schemeClr>
                          </a:solidFill>
                          <a:latin typeface="Courier New"/>
                          <a:ea typeface="宋体"/>
                          <a:cs typeface="Times New Roman"/>
                        </a:rPr>
                        <a:t> */</a:t>
                      </a:r>
                      <a:endParaRPr lang="zh-CN" sz="1800" b="1" kern="100" dirty="0">
                        <a:solidFill>
                          <a:schemeClr val="bg2">
                            <a:lumMod val="60000"/>
                            <a:lumOff val="40000"/>
                          </a:schemeClr>
                        </a:solidFill>
                        <a:latin typeface="Courier New"/>
                        <a:ea typeface="宋体"/>
                        <a:cs typeface="Times New Roman"/>
                      </a:endParaRPr>
                    </a:p>
                    <a:p>
                      <a:pPr algn="just">
                        <a:spcAft>
                          <a:spcPts val="0"/>
                        </a:spcAft>
                      </a:pPr>
                      <a:r>
                        <a:rPr lang="en-US" sz="1800" b="1" kern="100" dirty="0">
                          <a:latin typeface="Courier New"/>
                          <a:ea typeface="宋体"/>
                          <a:cs typeface="Times New Roman"/>
                        </a:rPr>
                        <a:t>    temp = H-&gt;Elements[H-&gt;Size--];</a:t>
                      </a:r>
                      <a:endParaRPr lang="zh-CN" sz="1800" b="1" kern="100" dirty="0">
                        <a:latin typeface="Calibri"/>
                        <a:ea typeface="宋体"/>
                        <a:cs typeface="Times New Roman"/>
                      </a:endParaRPr>
                    </a:p>
                    <a:p>
                      <a:pPr indent="266700" algn="l">
                        <a:spcAft>
                          <a:spcPts val="0"/>
                        </a:spcAft>
                      </a:pPr>
                      <a:r>
                        <a:rPr lang="en-US" sz="1800" b="1" kern="100" dirty="0" smtClean="0">
                          <a:latin typeface="Courier New"/>
                          <a:ea typeface="宋体"/>
                          <a:cs typeface="Times New Roman"/>
                        </a:rPr>
                        <a:t>  </a:t>
                      </a:r>
                      <a:r>
                        <a:rPr lang="en-US" sz="1800" b="1" kern="100" dirty="0" smtClean="0">
                          <a:solidFill>
                            <a:srgbClr val="0000FF"/>
                          </a:solidFill>
                          <a:latin typeface="Courier New"/>
                          <a:ea typeface="宋体"/>
                          <a:cs typeface="Times New Roman"/>
                        </a:rPr>
                        <a:t>for</a:t>
                      </a:r>
                      <a:r>
                        <a:rPr lang="en-US" sz="1800" b="1" kern="100" dirty="0">
                          <a:latin typeface="Courier New"/>
                          <a:ea typeface="宋体"/>
                          <a:cs typeface="Times New Roman"/>
                        </a:rPr>
                        <a:t>( Parent=1; Parent*2&lt;=H-&gt;Size; Parent=Child ) {</a:t>
                      </a:r>
                      <a:endParaRPr lang="zh-CN" sz="1800" b="1" kern="100" dirty="0">
                        <a:latin typeface="Calibri"/>
                        <a:ea typeface="宋体"/>
                        <a:cs typeface="Times New Roman"/>
                      </a:endParaRPr>
                    </a:p>
                    <a:p>
                      <a:pPr indent="266700" algn="l">
                        <a:spcAft>
                          <a:spcPts val="0"/>
                        </a:spcAft>
                      </a:pPr>
                      <a:r>
                        <a:rPr lang="en-US" sz="1800" b="1" kern="100" dirty="0">
                          <a:latin typeface="Courier New"/>
                          <a:ea typeface="宋体"/>
                          <a:cs typeface="Times New Roman"/>
                        </a:rPr>
                        <a:t>    </a:t>
                      </a:r>
                      <a:r>
                        <a:rPr lang="en-US" sz="1800" b="1" kern="100" dirty="0" smtClean="0">
                          <a:latin typeface="Courier New"/>
                          <a:ea typeface="宋体"/>
                          <a:cs typeface="Times New Roman"/>
                        </a:rPr>
                        <a:t>  Child </a:t>
                      </a:r>
                      <a:r>
                        <a:rPr lang="en-US" sz="1800" b="1" kern="100" dirty="0">
                          <a:latin typeface="Courier New"/>
                          <a:ea typeface="宋体"/>
                          <a:cs typeface="Times New Roman"/>
                        </a:rPr>
                        <a:t>= Parent * 2;</a:t>
                      </a:r>
                      <a:endParaRPr lang="zh-CN" sz="1800" b="1" kern="100" dirty="0">
                        <a:latin typeface="Calibri"/>
                        <a:ea typeface="宋体"/>
                        <a:cs typeface="Times New Roman"/>
                      </a:endParaRPr>
                    </a:p>
                    <a:p>
                      <a:pPr algn="just">
                        <a:spcAft>
                          <a:spcPts val="0"/>
                        </a:spcAft>
                      </a:pPr>
                      <a:r>
                        <a:rPr lang="en-US" sz="1800" b="1" kern="100" dirty="0">
                          <a:solidFill>
                            <a:srgbClr val="3333CC"/>
                          </a:solidFill>
                          <a:latin typeface="Courier New"/>
                          <a:ea typeface="宋体"/>
                          <a:cs typeface="Times New Roman"/>
                        </a:rPr>
                        <a:t>        </a:t>
                      </a:r>
                      <a:r>
                        <a:rPr lang="en-US" sz="1800" b="1" kern="100" dirty="0">
                          <a:solidFill>
                            <a:srgbClr val="0000FF"/>
                          </a:solidFill>
                          <a:latin typeface="Courier New"/>
                          <a:ea typeface="宋体"/>
                          <a:cs typeface="Times New Roman"/>
                        </a:rPr>
                        <a:t>if</a:t>
                      </a:r>
                      <a:r>
                        <a:rPr lang="en-US" sz="1800" b="1" kern="100" dirty="0">
                          <a:latin typeface="Courier New"/>
                          <a:ea typeface="宋体"/>
                          <a:cs typeface="Times New Roman"/>
                        </a:rPr>
                        <a:t>( (Child!= H-&gt;Size) &amp;&amp; </a:t>
                      </a:r>
                      <a:endParaRPr lang="zh-CN" sz="1800" b="1" kern="100" dirty="0">
                        <a:latin typeface="Calibri"/>
                        <a:ea typeface="宋体"/>
                        <a:cs typeface="Times New Roman"/>
                      </a:endParaRPr>
                    </a:p>
                    <a:p>
                      <a:pPr indent="933450" algn="just">
                        <a:spcAft>
                          <a:spcPts val="0"/>
                        </a:spcAft>
                      </a:pPr>
                      <a:r>
                        <a:rPr lang="en-US" sz="1800" b="1" kern="100" dirty="0" smtClean="0">
                          <a:latin typeface="Courier New"/>
                          <a:ea typeface="宋体"/>
                          <a:cs typeface="Times New Roman"/>
                        </a:rPr>
                        <a:t>     (</a:t>
                      </a:r>
                      <a:r>
                        <a:rPr lang="en-US" sz="1800" b="1" kern="100" dirty="0">
                          <a:latin typeface="Courier New"/>
                          <a:ea typeface="宋体"/>
                          <a:cs typeface="Times New Roman"/>
                        </a:rPr>
                        <a:t>H-&gt;Elements[Child] &lt; H-&gt;Elements[Child+1]) )</a:t>
                      </a:r>
                      <a:endParaRPr lang="zh-CN" sz="1800" b="1" kern="100" dirty="0">
                        <a:latin typeface="Calibri"/>
                        <a:ea typeface="宋体"/>
                        <a:cs typeface="Times New Roman"/>
                      </a:endParaRPr>
                    </a:p>
                    <a:p>
                      <a:pPr algn="just">
                        <a:spcAft>
                          <a:spcPts val="0"/>
                        </a:spcAft>
                      </a:pPr>
                      <a:r>
                        <a:rPr lang="en-US" sz="1800" b="1" kern="100" dirty="0">
                          <a:latin typeface="Courier New"/>
                          <a:ea typeface="宋体"/>
                          <a:cs typeface="Times New Roman"/>
                        </a:rPr>
                        <a:t>          </a:t>
                      </a:r>
                      <a:r>
                        <a:rPr lang="en-US" sz="1800" b="1" kern="100" dirty="0" smtClean="0">
                          <a:latin typeface="Courier New"/>
                          <a:ea typeface="宋体"/>
                          <a:cs typeface="Times New Roman"/>
                        </a:rPr>
                        <a:t> </a:t>
                      </a:r>
                      <a:r>
                        <a:rPr lang="en-US" sz="1800" b="1" kern="100" dirty="0">
                          <a:latin typeface="Courier New"/>
                          <a:ea typeface="宋体"/>
                          <a:cs typeface="Times New Roman"/>
                        </a:rPr>
                        <a:t>Child++;  </a:t>
                      </a:r>
                      <a:r>
                        <a:rPr lang="en-US" sz="1800" b="1" kern="100" dirty="0">
                          <a:solidFill>
                            <a:schemeClr val="bg2">
                              <a:lumMod val="60000"/>
                              <a:lumOff val="40000"/>
                            </a:schemeClr>
                          </a:solidFill>
                          <a:latin typeface="Courier New"/>
                          <a:ea typeface="宋体"/>
                          <a:cs typeface="Times New Roman"/>
                        </a:rPr>
                        <a:t>/* Child</a:t>
                      </a:r>
                      <a:r>
                        <a:rPr lang="zh-CN" sz="1800" b="1" kern="100" dirty="0">
                          <a:solidFill>
                            <a:schemeClr val="bg2">
                              <a:lumMod val="60000"/>
                              <a:lumOff val="40000"/>
                            </a:schemeClr>
                          </a:solidFill>
                          <a:latin typeface="Courier New"/>
                          <a:ea typeface="宋体"/>
                          <a:cs typeface="Times New Roman"/>
                        </a:rPr>
                        <a:t>指向左右子结点的较大者</a:t>
                      </a:r>
                      <a:r>
                        <a:rPr lang="en-US" sz="1800" b="1" kern="100" dirty="0">
                          <a:solidFill>
                            <a:schemeClr val="bg2">
                              <a:lumMod val="60000"/>
                              <a:lumOff val="40000"/>
                            </a:schemeClr>
                          </a:solidFill>
                          <a:latin typeface="Courier New"/>
                          <a:ea typeface="宋体"/>
                          <a:cs typeface="Times New Roman"/>
                        </a:rPr>
                        <a:t> */</a:t>
                      </a:r>
                      <a:endParaRPr lang="zh-CN" sz="1800" b="1" kern="100" dirty="0">
                        <a:solidFill>
                          <a:schemeClr val="bg2">
                            <a:lumMod val="60000"/>
                            <a:lumOff val="40000"/>
                          </a:schemeClr>
                        </a:solidFill>
                        <a:latin typeface="Courier New"/>
                        <a:ea typeface="宋体"/>
                        <a:cs typeface="Times New Roman"/>
                      </a:endParaRPr>
                    </a:p>
                    <a:p>
                      <a:pPr algn="just">
                        <a:spcAft>
                          <a:spcPts val="0"/>
                        </a:spcAft>
                      </a:pPr>
                      <a:r>
                        <a:rPr lang="en-US" sz="1800" b="1" kern="100" dirty="0">
                          <a:latin typeface="Courier New"/>
                          <a:ea typeface="宋体"/>
                          <a:cs typeface="Times New Roman"/>
                        </a:rPr>
                        <a:t>        </a:t>
                      </a:r>
                      <a:r>
                        <a:rPr lang="en-US" sz="1800" b="1" kern="100" dirty="0">
                          <a:solidFill>
                            <a:srgbClr val="0000FF"/>
                          </a:solidFill>
                          <a:latin typeface="Courier New"/>
                          <a:ea typeface="宋体"/>
                          <a:cs typeface="Times New Roman"/>
                        </a:rPr>
                        <a:t>if</a:t>
                      </a:r>
                      <a:r>
                        <a:rPr lang="en-US" sz="1800" b="1" kern="100" dirty="0">
                          <a:latin typeface="Courier New"/>
                          <a:ea typeface="宋体"/>
                          <a:cs typeface="Times New Roman"/>
                        </a:rPr>
                        <a:t>( temp &gt;= H-&gt;Elements[Child] ) </a:t>
                      </a:r>
                      <a:r>
                        <a:rPr lang="en-US" sz="1800" b="1" kern="100" dirty="0">
                          <a:solidFill>
                            <a:srgbClr val="0000FF"/>
                          </a:solidFill>
                          <a:latin typeface="Courier New"/>
                          <a:ea typeface="宋体"/>
                          <a:cs typeface="Times New Roman"/>
                        </a:rPr>
                        <a:t>break</a:t>
                      </a:r>
                      <a:r>
                        <a:rPr lang="en-US" sz="1800" b="1" kern="100" dirty="0">
                          <a:latin typeface="Courier New"/>
                          <a:ea typeface="宋体"/>
                          <a:cs typeface="Times New Roman"/>
                        </a:rPr>
                        <a:t>;</a:t>
                      </a:r>
                      <a:endParaRPr lang="zh-CN" sz="1800" b="1" kern="100" dirty="0">
                        <a:latin typeface="Calibri"/>
                        <a:ea typeface="宋体"/>
                        <a:cs typeface="Times New Roman"/>
                      </a:endParaRPr>
                    </a:p>
                    <a:p>
                      <a:pPr indent="533400" algn="just">
                        <a:spcAft>
                          <a:spcPts val="0"/>
                        </a:spcAft>
                      </a:pPr>
                      <a:r>
                        <a:rPr lang="en-US" sz="1800" b="1" kern="100" dirty="0" smtClean="0">
                          <a:latin typeface="Courier New"/>
                          <a:ea typeface="宋体"/>
                          <a:cs typeface="Times New Roman"/>
                        </a:rPr>
                        <a:t>    </a:t>
                      </a:r>
                      <a:r>
                        <a:rPr lang="en-US" sz="1800" b="1" kern="100" dirty="0" smtClean="0">
                          <a:solidFill>
                            <a:srgbClr val="0000FF"/>
                          </a:solidFill>
                          <a:latin typeface="Courier New"/>
                          <a:ea typeface="宋体"/>
                          <a:cs typeface="Times New Roman"/>
                        </a:rPr>
                        <a:t>else</a:t>
                      </a:r>
                      <a:r>
                        <a:rPr lang="en-US" sz="1800" b="1" kern="100" dirty="0" smtClean="0">
                          <a:latin typeface="Courier New"/>
                          <a:ea typeface="宋体"/>
                          <a:cs typeface="Times New Roman"/>
                        </a:rPr>
                        <a:t>  </a:t>
                      </a:r>
                      <a:r>
                        <a:rPr lang="en-US" sz="1800" b="1" kern="100" dirty="0">
                          <a:solidFill>
                            <a:schemeClr val="bg2">
                              <a:lumMod val="60000"/>
                              <a:lumOff val="40000"/>
                            </a:schemeClr>
                          </a:solidFill>
                          <a:latin typeface="Courier New"/>
                          <a:ea typeface="宋体"/>
                          <a:cs typeface="Times New Roman"/>
                        </a:rPr>
                        <a:t>/* </a:t>
                      </a:r>
                      <a:r>
                        <a:rPr lang="zh-CN" sz="1800" b="1" kern="100" dirty="0">
                          <a:solidFill>
                            <a:schemeClr val="bg2">
                              <a:lumMod val="60000"/>
                              <a:lumOff val="40000"/>
                            </a:schemeClr>
                          </a:solidFill>
                          <a:latin typeface="Courier New"/>
                          <a:ea typeface="宋体"/>
                          <a:cs typeface="Times New Roman"/>
                        </a:rPr>
                        <a:t>移动</a:t>
                      </a:r>
                      <a:r>
                        <a:rPr lang="en-US" sz="1800" b="1" kern="100" dirty="0">
                          <a:solidFill>
                            <a:schemeClr val="bg2">
                              <a:lumMod val="60000"/>
                              <a:lumOff val="40000"/>
                            </a:schemeClr>
                          </a:solidFill>
                          <a:latin typeface="Courier New"/>
                          <a:ea typeface="宋体"/>
                          <a:cs typeface="Times New Roman"/>
                        </a:rPr>
                        <a:t>temp</a:t>
                      </a:r>
                      <a:r>
                        <a:rPr lang="zh-CN" sz="1800" b="1" kern="100" dirty="0">
                          <a:solidFill>
                            <a:schemeClr val="bg2">
                              <a:lumMod val="60000"/>
                              <a:lumOff val="40000"/>
                            </a:schemeClr>
                          </a:solidFill>
                          <a:latin typeface="Courier New"/>
                          <a:ea typeface="宋体"/>
                          <a:cs typeface="Times New Roman"/>
                        </a:rPr>
                        <a:t>元素到下一层</a:t>
                      </a:r>
                      <a:r>
                        <a:rPr lang="en-US" sz="1800" b="1" kern="100" dirty="0">
                          <a:solidFill>
                            <a:schemeClr val="bg2">
                              <a:lumMod val="60000"/>
                              <a:lumOff val="40000"/>
                            </a:schemeClr>
                          </a:solidFill>
                          <a:latin typeface="Courier New"/>
                          <a:ea typeface="宋体"/>
                          <a:cs typeface="Times New Roman"/>
                        </a:rPr>
                        <a:t> */</a:t>
                      </a:r>
                      <a:endParaRPr lang="zh-CN" sz="1800" b="1" kern="100" dirty="0">
                        <a:solidFill>
                          <a:schemeClr val="bg2">
                            <a:lumMod val="60000"/>
                            <a:lumOff val="40000"/>
                          </a:schemeClr>
                        </a:solidFill>
                        <a:latin typeface="Courier New"/>
                        <a:ea typeface="宋体"/>
                        <a:cs typeface="Times New Roman"/>
                      </a:endParaRPr>
                    </a:p>
                    <a:p>
                      <a:pPr indent="266700" algn="just">
                        <a:spcAft>
                          <a:spcPts val="0"/>
                        </a:spcAft>
                      </a:pPr>
                      <a:r>
                        <a:rPr lang="en-US" sz="1800" b="1" kern="100" dirty="0">
                          <a:latin typeface="Courier New"/>
                          <a:ea typeface="宋体"/>
                          <a:cs typeface="Times New Roman"/>
                        </a:rPr>
                        <a:t>        </a:t>
                      </a:r>
                      <a:r>
                        <a:rPr lang="en-US" sz="1800" b="1" kern="100" dirty="0" smtClean="0">
                          <a:latin typeface="Courier New"/>
                          <a:ea typeface="宋体"/>
                          <a:cs typeface="Times New Roman"/>
                        </a:rPr>
                        <a:t> H-</a:t>
                      </a:r>
                      <a:r>
                        <a:rPr lang="en-US" sz="1800" b="1" kern="100" dirty="0">
                          <a:latin typeface="Courier New"/>
                          <a:ea typeface="宋体"/>
                          <a:cs typeface="Times New Roman"/>
                        </a:rPr>
                        <a:t>&gt;Elements[Parent] = H-&gt;Elements[Child];</a:t>
                      </a:r>
                      <a:endParaRPr lang="zh-CN" sz="1800" b="1" kern="100" dirty="0">
                        <a:latin typeface="Calibri"/>
                        <a:ea typeface="宋体"/>
                        <a:cs typeface="Times New Roman"/>
                      </a:endParaRPr>
                    </a:p>
                    <a:p>
                      <a:pPr algn="just">
                        <a:spcAft>
                          <a:spcPts val="0"/>
                        </a:spcAft>
                      </a:pPr>
                      <a:r>
                        <a:rPr lang="en-US" sz="1800" b="1" kern="100" dirty="0">
                          <a:latin typeface="Courier New"/>
                          <a:ea typeface="宋体"/>
                          <a:cs typeface="Times New Roman"/>
                        </a:rPr>
                        <a:t>    }</a:t>
                      </a:r>
                      <a:endParaRPr lang="zh-CN" sz="1800" b="1" kern="100" dirty="0">
                        <a:latin typeface="Calibri"/>
                        <a:ea typeface="宋体"/>
                        <a:cs typeface="Times New Roman"/>
                      </a:endParaRPr>
                    </a:p>
                    <a:p>
                      <a:pPr algn="just">
                        <a:spcAft>
                          <a:spcPts val="0"/>
                        </a:spcAft>
                      </a:pPr>
                      <a:r>
                        <a:rPr lang="en-US" sz="1800" b="1" kern="100" dirty="0">
                          <a:latin typeface="Courier New"/>
                          <a:ea typeface="宋体"/>
                          <a:cs typeface="Times New Roman"/>
                        </a:rPr>
                        <a:t>    H-&gt;Elements[Parent] = temp;</a:t>
                      </a:r>
                      <a:endParaRPr lang="zh-CN" sz="1800" b="1" kern="100" dirty="0">
                        <a:latin typeface="Calibri"/>
                        <a:ea typeface="宋体"/>
                        <a:cs typeface="Times New Roman"/>
                      </a:endParaRPr>
                    </a:p>
                    <a:p>
                      <a:pPr algn="just">
                        <a:spcAft>
                          <a:spcPts val="0"/>
                        </a:spcAft>
                      </a:pPr>
                      <a:r>
                        <a:rPr lang="en-US" sz="1800" b="1" kern="100" dirty="0">
                          <a:latin typeface="Courier New"/>
                          <a:ea typeface="宋体"/>
                          <a:cs typeface="Times New Roman"/>
                        </a:rPr>
                        <a:t>    </a:t>
                      </a:r>
                      <a:r>
                        <a:rPr lang="en-US" sz="1800" b="1" kern="100" dirty="0">
                          <a:solidFill>
                            <a:srgbClr val="0000FF"/>
                          </a:solidFill>
                          <a:latin typeface="Courier New"/>
                          <a:ea typeface="宋体"/>
                          <a:cs typeface="Times New Roman"/>
                        </a:rPr>
                        <a:t>return</a:t>
                      </a:r>
                      <a:r>
                        <a:rPr lang="en-US" sz="1800" b="1" kern="100" dirty="0">
                          <a:latin typeface="Courier New"/>
                          <a:ea typeface="宋体"/>
                          <a:cs typeface="Times New Roman"/>
                        </a:rPr>
                        <a:t> </a:t>
                      </a:r>
                      <a:r>
                        <a:rPr lang="en-US" sz="1800" b="1" kern="100" dirty="0" err="1">
                          <a:latin typeface="Courier New"/>
                          <a:ea typeface="宋体"/>
                          <a:cs typeface="Times New Roman"/>
                        </a:rPr>
                        <a:t>MaxItem</a:t>
                      </a:r>
                      <a:r>
                        <a:rPr lang="en-US" sz="1800" b="1" kern="100" dirty="0">
                          <a:latin typeface="Courier New"/>
                          <a:ea typeface="宋体"/>
                          <a:cs typeface="Times New Roman"/>
                        </a:rPr>
                        <a:t>;</a:t>
                      </a:r>
                      <a:endParaRPr lang="zh-CN" sz="1800" b="1" kern="100" dirty="0">
                        <a:latin typeface="Calibri"/>
                        <a:ea typeface="宋体"/>
                        <a:cs typeface="Times New Roman"/>
                      </a:endParaRPr>
                    </a:p>
                    <a:p>
                      <a:pPr algn="just">
                        <a:spcAft>
                          <a:spcPts val="0"/>
                        </a:spcAft>
                      </a:pPr>
                      <a:r>
                        <a:rPr lang="en-US" sz="1800" b="1" kern="100" dirty="0">
                          <a:latin typeface="Courier New"/>
                          <a:ea typeface="宋体"/>
                          <a:cs typeface="Times New Roman"/>
                        </a:rPr>
                        <a:t>} </a:t>
                      </a:r>
                      <a:endParaRPr lang="zh-CN" sz="1800" b="1" kern="100" dirty="0">
                        <a:latin typeface="Calibri"/>
                        <a:ea typeface="宋体"/>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9" name="AutoShape 6"/>
          <p:cNvSpPr>
            <a:spLocks noChangeArrowheads="1"/>
          </p:cNvSpPr>
          <p:nvPr/>
        </p:nvSpPr>
        <p:spPr bwMode="auto">
          <a:xfrm>
            <a:off x="5072063" y="571500"/>
            <a:ext cx="3124200" cy="1524000"/>
          </a:xfrm>
          <a:prstGeom prst="wedgeEllipseCallout">
            <a:avLst>
              <a:gd name="adj1" fmla="val -105782"/>
              <a:gd name="adj2" fmla="val 165588"/>
            </a:avLst>
          </a:prstGeom>
          <a:gradFill rotWithShape="0">
            <a:gsLst>
              <a:gs pos="0">
                <a:srgbClr val="C0C0C0"/>
              </a:gs>
              <a:gs pos="100000">
                <a:srgbClr val="FFFFFF"/>
              </a:gs>
            </a:gsLst>
            <a:lin ang="18900000" scaled="1"/>
          </a:gradFill>
          <a:ln w="12700">
            <a:solidFill>
              <a:schemeClr val="tx1"/>
            </a:solidFill>
            <a:miter lim="800000"/>
            <a:headEnd/>
            <a:tailEnd/>
          </a:ln>
        </p:spPr>
        <p:txBody>
          <a:bodyPr/>
          <a:lstStyle/>
          <a:p>
            <a:pPr algn="ctr"/>
            <a:r>
              <a:rPr lang="zh-CN" altLang="en-US" sz="1800" b="1" dirty="0">
                <a:latin typeface="Times New Roman" pitchFamily="18" charset="0"/>
              </a:rPr>
              <a:t>是否可以增加</a:t>
            </a:r>
            <a:endParaRPr lang="en-US" altLang="zh-CN" sz="1800" b="1" dirty="0">
              <a:latin typeface="Times New Roman" pitchFamily="18" charset="0"/>
            </a:endParaRPr>
          </a:p>
          <a:p>
            <a:pPr algn="ctr"/>
            <a:r>
              <a:rPr lang="zh-CN" altLang="en-US" sz="1800" b="1" dirty="0">
                <a:latin typeface="Times New Roman" pitchFamily="18" charset="0"/>
              </a:rPr>
              <a:t>一个哨兵而不用该判断</a:t>
            </a:r>
            <a:r>
              <a:rPr lang="en-US" altLang="zh-CN" sz="1800" b="1" dirty="0">
                <a:latin typeface="Times New Roman" pitchFamily="18" charset="0"/>
              </a:rPr>
              <a:t>?</a:t>
            </a:r>
          </a:p>
        </p:txBody>
      </p:sp>
      <p:sp>
        <p:nvSpPr>
          <p:cNvPr id="7" name="AutoShape 4"/>
          <p:cNvSpPr>
            <a:spLocks noChangeArrowheads="1"/>
          </p:cNvSpPr>
          <p:nvPr/>
        </p:nvSpPr>
        <p:spPr bwMode="auto">
          <a:xfrm>
            <a:off x="5000625" y="3143250"/>
            <a:ext cx="2895600" cy="714375"/>
          </a:xfrm>
          <a:prstGeom prst="wedgeEllipseCallout">
            <a:avLst>
              <a:gd name="adj1" fmla="val -49727"/>
              <a:gd name="adj2" fmla="val 245139"/>
            </a:avLst>
          </a:prstGeom>
          <a:gradFill rotWithShape="0">
            <a:gsLst>
              <a:gs pos="0">
                <a:srgbClr val="C0C0C0"/>
              </a:gs>
              <a:gs pos="100000">
                <a:srgbClr val="FFFFFF"/>
              </a:gs>
            </a:gsLst>
            <a:lin ang="18900000" scaled="1"/>
          </a:gradFill>
          <a:ln w="12700">
            <a:solidFill>
              <a:schemeClr val="tx1"/>
            </a:solidFill>
            <a:miter lim="800000"/>
            <a:headEnd/>
            <a:tailEnd/>
          </a:ln>
        </p:spPr>
        <p:txBody>
          <a:bodyPr/>
          <a:lstStyle/>
          <a:p>
            <a:pPr algn="ctr"/>
            <a:r>
              <a:rPr lang="zh-CN" altLang="en-US" sz="1800" b="1" i="1">
                <a:latin typeface="Times New Roman" pitchFamily="18" charset="0"/>
              </a:rPr>
              <a:t>新元素向下渗透</a:t>
            </a:r>
            <a:endParaRPr lang="en-US" altLang="zh-CN" sz="1800" b="1" i="1">
              <a:latin typeface="Times New Roman" pitchFamily="18" charset="0"/>
            </a:endParaRPr>
          </a:p>
        </p:txBody>
      </p:sp>
      <p:sp>
        <p:nvSpPr>
          <p:cNvPr id="8" name="AutoShape 5"/>
          <p:cNvSpPr>
            <a:spLocks noChangeArrowheads="1"/>
          </p:cNvSpPr>
          <p:nvPr/>
        </p:nvSpPr>
        <p:spPr bwMode="auto">
          <a:xfrm>
            <a:off x="5786438" y="1928813"/>
            <a:ext cx="2895600" cy="919162"/>
          </a:xfrm>
          <a:prstGeom prst="wedgeEllipseCallout">
            <a:avLst>
              <a:gd name="adj1" fmla="val -133500"/>
              <a:gd name="adj2" fmla="val 160648"/>
            </a:avLst>
          </a:prstGeom>
          <a:gradFill rotWithShape="0">
            <a:gsLst>
              <a:gs pos="0">
                <a:srgbClr val="C0C0C0"/>
              </a:gs>
              <a:gs pos="100000">
                <a:srgbClr val="FFFFFF"/>
              </a:gs>
            </a:gsLst>
            <a:lin ang="18900000" scaled="1"/>
          </a:gradFill>
          <a:ln w="12700">
            <a:solidFill>
              <a:schemeClr val="tx1"/>
            </a:solidFill>
            <a:miter lim="800000"/>
            <a:headEnd/>
            <a:tailEnd/>
          </a:ln>
        </p:spPr>
        <p:txBody>
          <a:bodyPr/>
          <a:lstStyle/>
          <a:p>
            <a:pPr algn="ctr"/>
            <a:r>
              <a:rPr lang="zh-CN" altLang="en-US" sz="1800" b="1">
                <a:latin typeface="Times New Roman" pitchFamily="18" charset="0"/>
              </a:rPr>
              <a:t>不用该条件</a:t>
            </a:r>
            <a:endParaRPr lang="en-US" altLang="zh-CN" sz="1800" b="1">
              <a:latin typeface="Times New Roman" pitchFamily="18" charset="0"/>
            </a:endParaRPr>
          </a:p>
          <a:p>
            <a:pPr algn="ctr"/>
            <a:r>
              <a:rPr lang="zh-CN" altLang="en-US" sz="1800" b="1">
                <a:latin typeface="Times New Roman" pitchFamily="18" charset="0"/>
              </a:rPr>
              <a:t>将会怎样</a:t>
            </a:r>
            <a:r>
              <a:rPr lang="en-US" altLang="zh-CN" sz="1800" b="1">
                <a:latin typeface="Times New Roman" pitchFamily="18" charset="0"/>
              </a:rPr>
              <a:t>?</a:t>
            </a:r>
          </a:p>
        </p:txBody>
      </p:sp>
    </p:spTree>
    <p:extLst>
      <p:ext uri="{BB962C8B-B14F-4D97-AF65-F5344CB8AC3E}">
        <p14:creationId xmlns:p14="http://schemas.microsoft.com/office/powerpoint/2010/main" val="295814075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3"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strips(upRight)">
                                      <p:cBhvr>
                                        <p:cTn id="7" dur="500"/>
                                        <p:tgtEl>
                                          <p:spTgt spid="7"/>
                                        </p:tgtEl>
                                      </p:cBhvr>
                                    </p:animEffect>
                                  </p:childTnLst>
                                  <p:subTnLst>
                                    <p:set>
                                      <p:cBhvr override="childStyle">
                                        <p:cTn dur="1" fill="hold" display="0" masterRel="nextClick" afterEffect="1"/>
                                        <p:tgtEl>
                                          <p:spTgt spid="7"/>
                                        </p:tgtEl>
                                        <p:attrNameLst>
                                          <p:attrName>style.visibility</p:attrName>
                                        </p:attrNameLst>
                                      </p:cBhvr>
                                      <p:to>
                                        <p:strVal val="hidden"/>
                                      </p:to>
                                    </p:set>
                                  </p:sub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3"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strips(upRight)">
                                      <p:cBhvr>
                                        <p:cTn id="12" dur="500"/>
                                        <p:tgtEl>
                                          <p:spTgt spid="8"/>
                                        </p:tgtEl>
                                      </p:cBhvr>
                                    </p:animEffect>
                                  </p:childTnLst>
                                  <p:subTnLst>
                                    <p:set>
                                      <p:cBhvr override="childStyle">
                                        <p:cTn dur="1" fill="hold" display="0" masterRel="nextClick" afterEffect="1"/>
                                        <p:tgtEl>
                                          <p:spTgt spid="8"/>
                                        </p:tgtEl>
                                        <p:attrNameLst>
                                          <p:attrName>style.visibility</p:attrName>
                                        </p:attrNameLst>
                                      </p:cBhvr>
                                      <p:to>
                                        <p:strVal val="hidden"/>
                                      </p:to>
                                    </p:set>
                                  </p:sub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3"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strips(upRight)">
                                      <p:cBhvr>
                                        <p:cTn id="17" dur="500"/>
                                        <p:tgtEl>
                                          <p:spTgt spid="9"/>
                                        </p:tgtEl>
                                      </p:cBhvr>
                                    </p:animEffect>
                                  </p:childTnLst>
                                  <p:subTnLst>
                                    <p:set>
                                      <p:cBhvr override="childStyle">
                                        <p:cTn dur="1" fill="hold" display="0" masterRel="nextClick" afterEffect="1"/>
                                        <p:tgtEl>
                                          <p:spTgt spid="9"/>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autoUpdateAnimBg="0"/>
      <p:bldP spid="7" grpId="0" animBg="1" autoUpdateAnimBg="0"/>
      <p:bldP spid="8" grpId="0" animBg="1" autoUpdateAnimBg="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灯片编号占位符 1"/>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fld id="{2CD86158-097F-4BD3-9BF3-451FE42DB545}" type="slidenum">
              <a:rPr lang="en-US" altLang="zh-CN" smtClean="0">
                <a:solidFill>
                  <a:srgbClr val="000000"/>
                </a:solidFill>
                <a:latin typeface="Times New Roman" pitchFamily="18" charset="0"/>
              </a:rPr>
              <a:pPr/>
              <a:t>146</a:t>
            </a:fld>
            <a:endParaRPr lang="en-US" altLang="zh-CN" smtClean="0">
              <a:solidFill>
                <a:srgbClr val="000000"/>
              </a:solidFill>
              <a:latin typeface="Times New Roman" pitchFamily="18" charset="0"/>
            </a:endParaRPr>
          </a:p>
        </p:txBody>
      </p:sp>
      <p:sp>
        <p:nvSpPr>
          <p:cNvPr id="43011" name="TextBox 3"/>
          <p:cNvSpPr txBox="1">
            <a:spLocks noChangeArrowheads="1"/>
          </p:cNvSpPr>
          <p:nvPr>
            <p:custDataLst>
              <p:tags r:id="rId2"/>
            </p:custDataLst>
          </p:nvPr>
        </p:nvSpPr>
        <p:spPr bwMode="auto">
          <a:xfrm>
            <a:off x="914400" y="635000"/>
            <a:ext cx="7315200" cy="214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600">
                <a:solidFill>
                  <a:srgbClr val="000000"/>
                </a:solidFill>
                <a:latin typeface="Microsoft Yahei" pitchFamily="34" charset="-122"/>
                <a:ea typeface="Microsoft Yahei" pitchFamily="34" charset="-122"/>
                <a:sym typeface="Microsoft Yahei" pitchFamily="34" charset="-122"/>
              </a:rPr>
              <a:t>对最小堆（小顶堆）</a:t>
            </a:r>
            <a:r>
              <a:rPr lang="en-US" altLang="zh-CN" sz="2600">
                <a:solidFill>
                  <a:srgbClr val="000000"/>
                </a:solidFill>
                <a:latin typeface="Microsoft Yahei" pitchFamily="34" charset="-122"/>
                <a:ea typeface="Microsoft Yahei" pitchFamily="34" charset="-122"/>
                <a:sym typeface="Microsoft Yahei" pitchFamily="34" charset="-122"/>
              </a:rPr>
              <a:t>{1,3,2,6,7,5,4,15,14,12,9,10,11,13,8} </a:t>
            </a:r>
            <a:r>
              <a:rPr lang="zh-CN" altLang="en-US" sz="2600">
                <a:solidFill>
                  <a:srgbClr val="000000"/>
                </a:solidFill>
                <a:latin typeface="Microsoft Yahei" pitchFamily="34" charset="-122"/>
                <a:ea typeface="Microsoft Yahei" pitchFamily="34" charset="-122"/>
                <a:sym typeface="Microsoft Yahei" pitchFamily="34" charset="-122"/>
              </a:rPr>
              <a:t>进行三次删除最小元的操作后，结果序列为：</a:t>
            </a:r>
          </a:p>
        </p:txBody>
      </p:sp>
      <p:sp>
        <p:nvSpPr>
          <p:cNvPr id="43012" name="TextBox 4"/>
          <p:cNvSpPr txBox="1">
            <a:spLocks noChangeArrowheads="1"/>
          </p:cNvSpPr>
          <p:nvPr>
            <p:custDataLst>
              <p:tags r:id="rId3"/>
            </p:custDataLst>
          </p:nvPr>
        </p:nvSpPr>
        <p:spPr bwMode="auto">
          <a:xfrm>
            <a:off x="1828800" y="278606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600">
                <a:solidFill>
                  <a:srgbClr val="000000"/>
                </a:solidFill>
                <a:latin typeface="Microsoft Yahei" pitchFamily="34" charset="-122"/>
                <a:ea typeface="Microsoft Yahei" pitchFamily="34" charset="-122"/>
                <a:sym typeface="Microsoft Yahei" pitchFamily="34" charset="-122"/>
              </a:rPr>
              <a:t>4,5,6,7,8,9,10,11,12,13,14,15</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43013" name="TextBox 5"/>
          <p:cNvSpPr txBox="1">
            <a:spLocks noChangeArrowheads="1"/>
          </p:cNvSpPr>
          <p:nvPr>
            <p:custDataLst>
              <p:tags r:id="rId4"/>
            </p:custDataLst>
          </p:nvPr>
        </p:nvSpPr>
        <p:spPr bwMode="auto">
          <a:xfrm>
            <a:off x="1828800" y="364331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800"/>
              <a:t>4,6,5,13,7,10,8,15,14,12,9,11</a:t>
            </a:r>
          </a:p>
        </p:txBody>
      </p:sp>
      <p:sp>
        <p:nvSpPr>
          <p:cNvPr id="43014" name="TextBox 6"/>
          <p:cNvSpPr txBox="1">
            <a:spLocks noChangeArrowheads="1"/>
          </p:cNvSpPr>
          <p:nvPr>
            <p:custDataLst>
              <p:tags r:id="rId5"/>
            </p:custDataLst>
          </p:nvPr>
        </p:nvSpPr>
        <p:spPr bwMode="auto">
          <a:xfrm>
            <a:off x="1828800" y="450056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800"/>
              <a:t>4,6,5,12,7,10,8,15,14,9,13,11</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43015" name="TextBox 7"/>
          <p:cNvSpPr txBox="1">
            <a:spLocks noChangeArrowheads="1"/>
          </p:cNvSpPr>
          <p:nvPr>
            <p:custDataLst>
              <p:tags r:id="rId6"/>
            </p:custDataLst>
          </p:nvPr>
        </p:nvSpPr>
        <p:spPr bwMode="auto">
          <a:xfrm>
            <a:off x="1828800" y="535781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800"/>
              <a:t>4,5,6,12,7,10,8,15,14,13,9,11</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43016" name="椭圆 8"/>
          <p:cNvSpPr>
            <a:spLocks noChangeAspect="1"/>
          </p:cNvSpPr>
          <p:nvPr>
            <p:custDataLst>
              <p:tags r:id="rId7"/>
            </p:custDataLst>
          </p:nvPr>
        </p:nvSpPr>
        <p:spPr bwMode="auto">
          <a:xfrm>
            <a:off x="1114425" y="284956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A</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43017" name="椭圆 9"/>
          <p:cNvSpPr>
            <a:spLocks noChangeAspect="1"/>
          </p:cNvSpPr>
          <p:nvPr>
            <p:custDataLst>
              <p:tags r:id="rId8"/>
            </p:custDataLst>
          </p:nvPr>
        </p:nvSpPr>
        <p:spPr bwMode="auto">
          <a:xfrm>
            <a:off x="1114425" y="3706813"/>
            <a:ext cx="514350" cy="514350"/>
          </a:xfrm>
          <a:prstGeom prst="ellipse">
            <a:avLst/>
          </a:prstGeom>
          <a:solidFill>
            <a:srgbClr val="00FF00"/>
          </a:solidFill>
          <a:ln w="254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B</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43018" name="椭圆 10"/>
          <p:cNvSpPr>
            <a:spLocks noChangeAspect="1"/>
          </p:cNvSpPr>
          <p:nvPr>
            <p:custDataLst>
              <p:tags r:id="rId9"/>
            </p:custDataLst>
          </p:nvPr>
        </p:nvSpPr>
        <p:spPr bwMode="auto">
          <a:xfrm>
            <a:off x="1114425" y="456406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C</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43019" name="椭圆 11"/>
          <p:cNvSpPr>
            <a:spLocks noChangeAspect="1"/>
          </p:cNvSpPr>
          <p:nvPr>
            <p:custDataLst>
              <p:tags r:id="rId10"/>
            </p:custDataLst>
          </p:nvPr>
        </p:nvSpPr>
        <p:spPr bwMode="auto">
          <a:xfrm>
            <a:off x="1114425" y="542131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D</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43020" name="圆角矩形 12"/>
          <p:cNvSpPr>
            <a:spLocks noChangeArrowheads="1"/>
          </p:cNvSpPr>
          <p:nvPr>
            <p:custDataLst>
              <p:tags r:id="rId11"/>
            </p:custDataLst>
          </p:nvPr>
        </p:nvSpPr>
        <p:spPr bwMode="auto">
          <a:xfrm>
            <a:off x="6172200" y="6215063"/>
            <a:ext cx="1543050" cy="411162"/>
          </a:xfrm>
          <a:prstGeom prst="roundRect">
            <a:avLst>
              <a:gd name="adj" fmla="val 16667"/>
            </a:avLst>
          </a:prstGeom>
          <a:solidFill>
            <a:srgbClr val="808080"/>
          </a:solidFill>
          <a:ln w="38100" algn="ctr">
            <a:solidFill>
              <a:srgbClr val="000000"/>
            </a:solidFill>
            <a:round/>
            <a:headEnd/>
            <a:tailEnd/>
          </a:ln>
        </p:spPr>
        <p:txBody>
          <a:bodyPr anchor="ctr" anchorCtr="1"/>
          <a:lstStyle/>
          <a:p>
            <a:pPr eaLnBrk="1" hangingPunct="1"/>
            <a:r>
              <a:rPr kumimoji="1" lang="zh-CN" altLang="en-US" sz="1600">
                <a:solidFill>
                  <a:srgbClr val="FFFFFF"/>
                </a:solidFill>
                <a:latin typeface="Microsoft Yahei" pitchFamily="34" charset="-122"/>
                <a:ea typeface="Microsoft Yahei" pitchFamily="34" charset="-122"/>
                <a:sym typeface="Microsoft Yahei" pitchFamily="34" charset="-122"/>
              </a:rPr>
              <a:t>提交</a:t>
            </a:r>
          </a:p>
        </p:txBody>
      </p:sp>
      <p:grpSp>
        <p:nvGrpSpPr>
          <p:cNvPr id="43021" name="组合 17"/>
          <p:cNvGrpSpPr>
            <a:grpSpLocks/>
          </p:cNvGrpSpPr>
          <p:nvPr>
            <p:custDataLst>
              <p:tags r:id="rId12"/>
            </p:custDataLst>
          </p:nvPr>
        </p:nvGrpSpPr>
        <p:grpSpPr bwMode="auto">
          <a:xfrm>
            <a:off x="0" y="0"/>
            <a:ext cx="9144000" cy="635000"/>
            <a:chOff x="0" y="0"/>
            <a:chExt cx="9144000" cy="635000"/>
          </a:xfrm>
        </p:grpSpPr>
        <p:sp>
          <p:nvSpPr>
            <p:cNvPr id="43023" name="TitleBackground"/>
            <p:cNvSpPr>
              <a:spLocks noChangeArrowheads="1"/>
            </p:cNvSpPr>
            <p:nvPr>
              <p:custDataLst>
                <p:tags r:id="rId14"/>
              </p:custDataLst>
            </p:nvPr>
          </p:nvSpPr>
          <p:spPr bwMode="auto">
            <a:xfrm>
              <a:off x="0" y="0"/>
              <a:ext cx="9144000" cy="635000"/>
            </a:xfrm>
            <a:prstGeom prst="rect">
              <a:avLst/>
            </a:prstGeom>
            <a:solidFill>
              <a:srgbClr val="F6F7F8"/>
            </a:solidFill>
            <a:ln>
              <a:noFill/>
            </a:ln>
            <a:extLst>
              <a:ext uri="{91240B29-F687-4F45-9708-019B960494DF}">
                <a14:hiddenLine xmlns:a14="http://schemas.microsoft.com/office/drawing/2010/main" w="9525" algn="ctr">
                  <a:solidFill>
                    <a:schemeClr val="tx1"/>
                  </a:solidFill>
                  <a:round/>
                  <a:headEnd/>
                  <a:tailEnd/>
                </a14:hiddenLine>
              </a:ext>
            </a:extLst>
          </p:spPr>
          <p:txBody>
            <a:bodyPr/>
            <a:lstStyle/>
            <a:p>
              <a:pPr eaLnBrk="1" hangingPunct="1"/>
              <a:endParaRPr kumimoji="1" lang="zh-CN" altLang="en-US" sz="2400">
                <a:latin typeface="Times New Roman" pitchFamily="18" charset="0"/>
              </a:endParaRPr>
            </a:p>
          </p:txBody>
        </p:sp>
        <p:sp>
          <p:nvSpPr>
            <p:cNvPr id="43024" name="ColorBlock"/>
            <p:cNvSpPr>
              <a:spLocks noChangeArrowheads="1"/>
            </p:cNvSpPr>
            <p:nvPr>
              <p:custDataLst>
                <p:tags r:id="rId15"/>
              </p:custDataLst>
            </p:nvPr>
          </p:nvSpPr>
          <p:spPr bwMode="auto">
            <a:xfrm>
              <a:off x="0" y="0"/>
              <a:ext cx="190500" cy="635000"/>
            </a:xfrm>
            <a:prstGeom prst="rect">
              <a:avLst/>
            </a:prstGeom>
            <a:solidFill>
              <a:srgbClr val="639EF4"/>
            </a:solidFill>
            <a:ln>
              <a:noFill/>
            </a:ln>
            <a:extLst>
              <a:ext uri="{91240B29-F687-4F45-9708-019B960494DF}">
                <a14:hiddenLine xmlns:a14="http://schemas.microsoft.com/office/drawing/2010/main" w="9525" algn="ctr">
                  <a:solidFill>
                    <a:schemeClr val="tx1"/>
                  </a:solidFill>
                  <a:round/>
                  <a:headEnd/>
                  <a:tailEnd/>
                </a14:hiddenLine>
              </a:ext>
            </a:extLst>
          </p:spPr>
          <p:txBody>
            <a:bodyPr/>
            <a:lstStyle/>
            <a:p>
              <a:pPr eaLnBrk="1" hangingPunct="1"/>
              <a:endParaRPr kumimoji="1" lang="zh-CN" altLang="en-US" sz="2400">
                <a:latin typeface="Times New Roman" pitchFamily="18" charset="0"/>
              </a:endParaRPr>
            </a:p>
          </p:txBody>
        </p:sp>
        <p:sp>
          <p:nvSpPr>
            <p:cNvPr id="43025" name="TypeText"/>
            <p:cNvSpPr txBox="1">
              <a:spLocks noChangeArrowheads="1"/>
            </p:cNvSpPr>
            <p:nvPr>
              <p:custDataLst>
                <p:tags r:id="rId16"/>
              </p:custDataLst>
            </p:nvPr>
          </p:nvSpPr>
          <p:spPr bwMode="auto">
            <a:xfrm>
              <a:off x="254000" y="0"/>
              <a:ext cx="190500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600">
                  <a:solidFill>
                    <a:srgbClr val="000000"/>
                  </a:solidFill>
                  <a:latin typeface="Microsoft Yahei" pitchFamily="34" charset="-122"/>
                  <a:ea typeface="Microsoft Yahei" pitchFamily="34" charset="-122"/>
                  <a:sym typeface="Microsoft Yahei" pitchFamily="34" charset="-122"/>
                </a:rPr>
                <a:t>单选题</a:t>
              </a:r>
            </a:p>
          </p:txBody>
        </p:sp>
        <p:sp>
          <p:nvSpPr>
            <p:cNvPr id="43026" name="TipText"/>
            <p:cNvSpPr txBox="1">
              <a:spLocks noChangeArrowheads="1"/>
            </p:cNvSpPr>
            <p:nvPr>
              <p:custDataLst>
                <p:tags r:id="rId17"/>
              </p:custDataLst>
            </p:nvPr>
          </p:nvSpPr>
          <p:spPr bwMode="auto">
            <a:xfrm>
              <a:off x="1525905" y="109220"/>
              <a:ext cx="22860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000">
                  <a:solidFill>
                    <a:srgbClr val="808080"/>
                  </a:solidFill>
                  <a:latin typeface="Microsoft Yahei" pitchFamily="34" charset="-122"/>
                  <a:ea typeface="Microsoft Yahei" pitchFamily="34" charset="-122"/>
                  <a:sym typeface="Microsoft Yahei" pitchFamily="34" charset="-122"/>
                </a:rPr>
                <a:t>1</a:t>
              </a:r>
              <a:r>
                <a:rPr lang="zh-CN" altLang="en-US" sz="2000">
                  <a:solidFill>
                    <a:srgbClr val="808080"/>
                  </a:solidFill>
                  <a:latin typeface="Microsoft Yahei" pitchFamily="34" charset="-122"/>
                  <a:ea typeface="Microsoft Yahei" pitchFamily="34" charset="-122"/>
                  <a:sym typeface="Microsoft Yahei" pitchFamily="34" charset="-122"/>
                </a:rPr>
                <a:t>分</a:t>
              </a:r>
            </a:p>
          </p:txBody>
        </p:sp>
      </p:grpSp>
      <p:pic>
        <p:nvPicPr>
          <p:cNvPr id="43022" name="图片 2"/>
          <p:cNvPicPr>
            <a:picLocks/>
          </p:cNvPicPr>
          <p:nvPr>
            <p:custDataLst>
              <p:tags r:id="rId13"/>
            </p:custDataLst>
          </p:nvPr>
        </p:nvPicPr>
        <p:blipFill>
          <a:blip r:embed="rId19">
            <a:extLst>
              <a:ext uri="{28A0092B-C50C-407E-A947-70E740481C1C}">
                <a14:useLocalDpi xmlns:a14="http://schemas.microsoft.com/office/drawing/2010/main" val="0"/>
              </a:ext>
            </a:extLst>
          </a:blip>
          <a:srcRect/>
          <a:stretch>
            <a:fillRect/>
          </a:stretch>
        </p:blipFill>
        <p:spPr bwMode="auto">
          <a:xfrm>
            <a:off x="7594600" y="63500"/>
            <a:ext cx="14224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2959514972"/>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5" name="矩形 1"/>
          <p:cNvSpPr>
            <a:spLocks noChangeArrowheads="1"/>
          </p:cNvSpPr>
          <p:nvPr/>
        </p:nvSpPr>
        <p:spPr bwMode="auto">
          <a:xfrm>
            <a:off x="857250" y="158750"/>
            <a:ext cx="26066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3200" b="1" dirty="0">
                <a:solidFill>
                  <a:srgbClr val="0000FF"/>
                </a:solidFill>
                <a:latin typeface="Times New Roman" pitchFamily="18" charset="0"/>
                <a:sym typeface="Wingdings" pitchFamily="2" charset="2"/>
              </a:rPr>
              <a:t> </a:t>
            </a:r>
            <a:r>
              <a:rPr lang="en-US" altLang="zh-CN" sz="2400" b="1" dirty="0">
                <a:solidFill>
                  <a:srgbClr val="0000FF"/>
                </a:solidFill>
                <a:latin typeface="Times New Roman" pitchFamily="18" charset="0"/>
                <a:sym typeface="Wingdings" pitchFamily="2" charset="2"/>
              </a:rPr>
              <a:t> </a:t>
            </a:r>
            <a:r>
              <a:rPr lang="zh-CN" altLang="en-US" sz="2400" b="1" dirty="0">
                <a:solidFill>
                  <a:srgbClr val="EBEBEB"/>
                </a:solidFill>
                <a:latin typeface="Times New Roman" pitchFamily="18" charset="0"/>
              </a:rPr>
              <a:t>最大堆的建立</a:t>
            </a:r>
          </a:p>
        </p:txBody>
      </p:sp>
      <p:sp>
        <p:nvSpPr>
          <p:cNvPr id="98305" name="Rectangle 1"/>
          <p:cNvSpPr>
            <a:spLocks noChangeArrowheads="1"/>
          </p:cNvSpPr>
          <p:nvPr/>
        </p:nvSpPr>
        <p:spPr bwMode="auto">
          <a:xfrm>
            <a:off x="857250" y="3000375"/>
            <a:ext cx="72866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p>
            <a:pPr indent="266700"/>
            <a:r>
              <a:rPr lang="zh-CN" altLang="en-US" sz="2000" b="1">
                <a:latin typeface="Times New Roman" pitchFamily="18" charset="0"/>
                <a:cs typeface="Times New Roman" pitchFamily="18" charset="0"/>
              </a:rPr>
              <a:t> </a:t>
            </a:r>
            <a:r>
              <a:rPr lang="en-US" altLang="zh-CN" sz="2000" b="1">
                <a:solidFill>
                  <a:srgbClr val="0000FF"/>
                </a:solidFill>
                <a:latin typeface="Times New Roman" pitchFamily="18" charset="0"/>
                <a:sym typeface="Wingdings" pitchFamily="2" charset="2"/>
              </a:rPr>
              <a:t>  </a:t>
            </a:r>
            <a:r>
              <a:rPr lang="zh-CN" altLang="en-US" sz="2000" b="1">
                <a:latin typeface="Times New Roman" pitchFamily="18" charset="0"/>
                <a:cs typeface="Times New Roman" pitchFamily="18" charset="0"/>
              </a:rPr>
              <a:t>可以通过最大堆的插入操作，将</a:t>
            </a:r>
            <a:r>
              <a:rPr lang="en-US" altLang="zh-CN" sz="2000" b="1" i="1">
                <a:latin typeface="Times New Roman" pitchFamily="18" charset="0"/>
                <a:cs typeface="Times New Roman" pitchFamily="18" charset="0"/>
              </a:rPr>
              <a:t>N</a:t>
            </a:r>
            <a:r>
              <a:rPr lang="zh-CN" altLang="en-US" sz="2000" b="1">
                <a:latin typeface="Times New Roman" pitchFamily="18" charset="0"/>
                <a:cs typeface="Times New Roman" pitchFamily="18" charset="0"/>
              </a:rPr>
              <a:t>个元素</a:t>
            </a:r>
            <a:r>
              <a:rPr lang="zh-CN" altLang="en-US" sz="2000" b="1">
                <a:solidFill>
                  <a:srgbClr val="0000FF"/>
                </a:solidFill>
                <a:latin typeface="Times New Roman" pitchFamily="18" charset="0"/>
                <a:cs typeface="Times New Roman" pitchFamily="18" charset="0"/>
              </a:rPr>
              <a:t>一个个相继插入到一个初始为空的堆中去</a:t>
            </a:r>
            <a:r>
              <a:rPr lang="zh-CN" altLang="en-US" sz="2000" b="1">
                <a:latin typeface="Times New Roman" pitchFamily="18" charset="0"/>
                <a:cs typeface="Times New Roman" pitchFamily="18" charset="0"/>
              </a:rPr>
              <a:t>，其时间代价最大为</a:t>
            </a:r>
            <a:r>
              <a:rPr lang="en-US" altLang="zh-CN" sz="2000" b="1" i="1">
                <a:solidFill>
                  <a:srgbClr val="0000FF"/>
                </a:solidFill>
                <a:latin typeface="Times New Roman" pitchFamily="18" charset="0"/>
                <a:cs typeface="Times New Roman" pitchFamily="18" charset="0"/>
              </a:rPr>
              <a:t>O(N logN)</a:t>
            </a:r>
            <a:r>
              <a:rPr lang="zh-CN" altLang="en-US" sz="2000" b="1">
                <a:latin typeface="Times New Roman" pitchFamily="18" charset="0"/>
                <a:cs typeface="Times New Roman" pitchFamily="18" charset="0"/>
              </a:rPr>
              <a:t>。</a:t>
            </a:r>
          </a:p>
        </p:txBody>
      </p:sp>
      <p:sp>
        <p:nvSpPr>
          <p:cNvPr id="9" name="AutoShape 88" descr="再生纸"/>
          <p:cNvSpPr>
            <a:spLocks noChangeArrowheads="1"/>
          </p:cNvSpPr>
          <p:nvPr/>
        </p:nvSpPr>
        <p:spPr bwMode="auto">
          <a:xfrm>
            <a:off x="500063" y="1214438"/>
            <a:ext cx="8286750" cy="1214437"/>
          </a:xfrm>
          <a:prstGeom prst="roundRect">
            <a:avLst>
              <a:gd name="adj" fmla="val 10903"/>
            </a:avLst>
          </a:prstGeom>
          <a:blipFill dpi="0" rotWithShape="0">
            <a:blip r:embed="rId2"/>
            <a:srcRect/>
            <a:tile tx="0" ty="0" sx="100000" sy="100000" flip="none" algn="tl"/>
          </a:blipFill>
          <a:ln w="25400">
            <a:noFill/>
            <a:round/>
            <a:headEnd/>
            <a:tailEnd/>
          </a:ln>
          <a:effectLst>
            <a:outerShdw dist="107763" dir="2700000" algn="ctr" rotWithShape="0">
              <a:schemeClr val="bg2"/>
            </a:outerShdw>
          </a:effectLst>
        </p:spPr>
        <p:txBody>
          <a:bodyPr anchor="ctr"/>
          <a:lstStyle/>
          <a:p>
            <a:pPr fontAlgn="auto">
              <a:spcBef>
                <a:spcPts val="0"/>
              </a:spcBef>
              <a:spcAft>
                <a:spcPts val="0"/>
              </a:spcAft>
              <a:defRPr/>
            </a:pPr>
            <a:r>
              <a:rPr lang="zh-CN" altLang="en-US" sz="2400" b="1" dirty="0">
                <a:latin typeface="+mn-lt"/>
                <a:ea typeface="+mn-ea"/>
              </a:rPr>
              <a:t>    “</a:t>
            </a:r>
            <a:r>
              <a:rPr lang="zh-CN" altLang="en-US" sz="2400" b="1" dirty="0">
                <a:solidFill>
                  <a:srgbClr val="0000FF"/>
                </a:solidFill>
                <a:latin typeface="+mn-lt"/>
                <a:ea typeface="+mn-ea"/>
              </a:rPr>
              <a:t>建立最大堆</a:t>
            </a:r>
            <a:r>
              <a:rPr lang="zh-CN" altLang="en-US" sz="2400" b="1" dirty="0">
                <a:latin typeface="+mn-lt"/>
                <a:ea typeface="+mn-ea"/>
              </a:rPr>
              <a:t>”</a:t>
            </a:r>
            <a:r>
              <a:rPr lang="zh-CN" altLang="en-US" sz="2400" b="1" dirty="0">
                <a:latin typeface="Times New Roman" pitchFamily="18" charset="0"/>
                <a:cs typeface="Times New Roman" pitchFamily="18" charset="0"/>
              </a:rPr>
              <a:t>是指如何将</a:t>
            </a:r>
            <a:r>
              <a:rPr lang="zh-CN" altLang="en-US" sz="2400" b="1" dirty="0">
                <a:solidFill>
                  <a:srgbClr val="0000FF"/>
                </a:solidFill>
                <a:latin typeface="Times New Roman" pitchFamily="18" charset="0"/>
                <a:cs typeface="Times New Roman" pitchFamily="18" charset="0"/>
              </a:rPr>
              <a:t>已经存在的</a:t>
            </a:r>
            <a:r>
              <a:rPr lang="en-US" altLang="zh-CN" sz="2400" b="1" i="1" dirty="0">
                <a:solidFill>
                  <a:srgbClr val="0000FF"/>
                </a:solidFill>
                <a:latin typeface="Times New Roman" pitchFamily="18" charset="0"/>
                <a:cs typeface="Times New Roman" pitchFamily="18" charset="0"/>
              </a:rPr>
              <a:t>N</a:t>
            </a:r>
            <a:r>
              <a:rPr lang="zh-CN" altLang="en-US" sz="2400" b="1" dirty="0">
                <a:solidFill>
                  <a:srgbClr val="0000FF"/>
                </a:solidFill>
                <a:latin typeface="Times New Roman" pitchFamily="18" charset="0"/>
                <a:cs typeface="Times New Roman" pitchFamily="18" charset="0"/>
              </a:rPr>
              <a:t>个元素</a:t>
            </a:r>
            <a:r>
              <a:rPr lang="zh-CN" altLang="en-US" sz="2400" b="1" dirty="0">
                <a:latin typeface="Times New Roman" pitchFamily="18" charset="0"/>
                <a:cs typeface="Times New Roman" pitchFamily="18" charset="0"/>
              </a:rPr>
              <a:t>按最大堆的要求存放在一个一维数组中。</a:t>
            </a:r>
            <a:endParaRPr lang="zh-CN" altLang="en-US" sz="2400" b="1" dirty="0">
              <a:latin typeface="+mn-lt"/>
              <a:ea typeface="+mn-ea"/>
            </a:endParaRPr>
          </a:p>
        </p:txBody>
      </p:sp>
      <p:sp>
        <p:nvSpPr>
          <p:cNvPr id="10" name="Rectangle 1"/>
          <p:cNvSpPr>
            <a:spLocks noChangeArrowheads="1"/>
          </p:cNvSpPr>
          <p:nvPr/>
        </p:nvSpPr>
        <p:spPr bwMode="auto">
          <a:xfrm>
            <a:off x="857250" y="3857625"/>
            <a:ext cx="728662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p>
            <a:pPr indent="266700"/>
            <a:r>
              <a:rPr lang="zh-CN" altLang="en-US" sz="2000" b="1">
                <a:latin typeface="Times New Roman" pitchFamily="18" charset="0"/>
                <a:cs typeface="Times New Roman" pitchFamily="18" charset="0"/>
              </a:rPr>
              <a:t> </a:t>
            </a:r>
            <a:r>
              <a:rPr lang="en-US" altLang="zh-CN" sz="2000" b="1">
                <a:solidFill>
                  <a:srgbClr val="0000FF"/>
                </a:solidFill>
                <a:latin typeface="Times New Roman" pitchFamily="18" charset="0"/>
                <a:sym typeface="Wingdings" pitchFamily="2" charset="2"/>
              </a:rPr>
              <a:t>  </a:t>
            </a:r>
            <a:r>
              <a:rPr lang="zh-CN" altLang="en-US" sz="2000" b="1">
                <a:latin typeface="Times New Roman" pitchFamily="18" charset="0"/>
                <a:cs typeface="Times New Roman" pitchFamily="18" charset="0"/>
              </a:rPr>
              <a:t>在</a:t>
            </a:r>
            <a:r>
              <a:rPr lang="zh-CN" altLang="en-US" sz="2000" b="1">
                <a:solidFill>
                  <a:srgbClr val="0000FF"/>
                </a:solidFill>
                <a:latin typeface="Times New Roman" pitchFamily="18" charset="0"/>
                <a:cs typeface="Times New Roman" pitchFamily="18" charset="0"/>
              </a:rPr>
              <a:t>线性时间复杂度</a:t>
            </a:r>
            <a:r>
              <a:rPr lang="zh-CN" altLang="en-US" sz="2000" b="1">
                <a:latin typeface="Times New Roman" pitchFamily="18" charset="0"/>
                <a:cs typeface="Times New Roman" pitchFamily="18" charset="0"/>
              </a:rPr>
              <a:t>下建立最大堆。具体分两步进行：</a:t>
            </a:r>
            <a:endParaRPr lang="en-US" altLang="zh-CN" sz="2000" b="1">
              <a:latin typeface="Times New Roman" pitchFamily="18" charset="0"/>
              <a:cs typeface="Times New Roman" pitchFamily="18" charset="0"/>
            </a:endParaRPr>
          </a:p>
          <a:p>
            <a:pPr indent="266700"/>
            <a:r>
              <a:rPr lang="zh-CN" altLang="en-US" sz="2000" b="1">
                <a:solidFill>
                  <a:srgbClr val="0000FF"/>
                </a:solidFill>
                <a:latin typeface="Times New Roman" pitchFamily="18" charset="0"/>
                <a:cs typeface="Times New Roman" pitchFamily="18" charset="0"/>
              </a:rPr>
              <a:t>第一步</a:t>
            </a:r>
            <a:r>
              <a:rPr lang="zh-CN" altLang="en-US" sz="2000" b="1">
                <a:latin typeface="Times New Roman" pitchFamily="18" charset="0"/>
                <a:cs typeface="Times New Roman" pitchFamily="18" charset="0"/>
              </a:rPr>
              <a:t>，将</a:t>
            </a:r>
            <a:r>
              <a:rPr lang="en-US" altLang="zh-CN" sz="2000" b="1" i="1">
                <a:latin typeface="Times New Roman" pitchFamily="18" charset="0"/>
                <a:cs typeface="Times New Roman" pitchFamily="18" charset="0"/>
              </a:rPr>
              <a:t>N</a:t>
            </a:r>
            <a:r>
              <a:rPr lang="zh-CN" altLang="en-US" sz="2000" b="1">
                <a:latin typeface="Times New Roman" pitchFamily="18" charset="0"/>
                <a:cs typeface="Times New Roman" pitchFamily="18" charset="0"/>
              </a:rPr>
              <a:t>个元素按输入顺序存入二叉树中，这一步只要求满足</a:t>
            </a:r>
            <a:r>
              <a:rPr lang="zh-CN" altLang="en-US" sz="2000" b="1">
                <a:solidFill>
                  <a:srgbClr val="0000FF"/>
                </a:solidFill>
                <a:latin typeface="Times New Roman" pitchFamily="18" charset="0"/>
                <a:cs typeface="Times New Roman" pitchFamily="18" charset="0"/>
              </a:rPr>
              <a:t>完全二叉树的结构特性</a:t>
            </a:r>
            <a:r>
              <a:rPr lang="zh-CN" altLang="en-US" sz="2000" b="1">
                <a:latin typeface="Times New Roman" pitchFamily="18" charset="0"/>
                <a:cs typeface="Times New Roman" pitchFamily="18" charset="0"/>
              </a:rPr>
              <a:t>，而不管其有序性。</a:t>
            </a:r>
            <a:endParaRPr lang="en-US" altLang="zh-CN" sz="2000" b="1">
              <a:latin typeface="Times New Roman" pitchFamily="18" charset="0"/>
              <a:cs typeface="Times New Roman" pitchFamily="18" charset="0"/>
            </a:endParaRPr>
          </a:p>
        </p:txBody>
      </p:sp>
      <p:sp>
        <p:nvSpPr>
          <p:cNvPr id="11" name="矩形 10"/>
          <p:cNvSpPr>
            <a:spLocks noChangeArrowheads="1"/>
          </p:cNvSpPr>
          <p:nvPr/>
        </p:nvSpPr>
        <p:spPr bwMode="auto">
          <a:xfrm>
            <a:off x="714375" y="4929188"/>
            <a:ext cx="77866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indent="266700"/>
            <a:r>
              <a:rPr lang="zh-CN" altLang="en-US" sz="2000" b="1">
                <a:solidFill>
                  <a:srgbClr val="0000FF"/>
                </a:solidFill>
                <a:latin typeface="Times New Roman" pitchFamily="18" charset="0"/>
                <a:cs typeface="Times New Roman" pitchFamily="18" charset="0"/>
              </a:rPr>
              <a:t>第二步</a:t>
            </a:r>
            <a:r>
              <a:rPr lang="zh-CN" altLang="en-US" sz="2000" b="1">
                <a:latin typeface="Times New Roman" pitchFamily="18" charset="0"/>
                <a:cs typeface="Times New Roman" pitchFamily="18" charset="0"/>
              </a:rPr>
              <a:t>，调整各结点元素，以满足最大堆的</a:t>
            </a:r>
            <a:r>
              <a:rPr lang="zh-CN" altLang="en-US" sz="2000" b="1">
                <a:solidFill>
                  <a:srgbClr val="0000FF"/>
                </a:solidFill>
                <a:latin typeface="Times New Roman" pitchFamily="18" charset="0"/>
                <a:cs typeface="Times New Roman" pitchFamily="18" charset="0"/>
              </a:rPr>
              <a:t>有序特性</a:t>
            </a:r>
            <a:r>
              <a:rPr lang="zh-CN" altLang="en-US" sz="2000" b="1">
                <a:latin typeface="Times New Roman" pitchFamily="18" charset="0"/>
                <a:cs typeface="Times New Roman" pitchFamily="18" charset="0"/>
              </a:rPr>
              <a:t>。</a:t>
            </a:r>
            <a:r>
              <a:rPr lang="zh-CN" altLang="en-US" sz="2000" b="1"/>
              <a:t> </a:t>
            </a:r>
          </a:p>
        </p:txBody>
      </p:sp>
    </p:spTree>
    <p:extLst>
      <p:ext uri="{BB962C8B-B14F-4D97-AF65-F5344CB8AC3E}">
        <p14:creationId xmlns:p14="http://schemas.microsoft.com/office/powerpoint/2010/main" val="327349951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box(in)">
                                      <p:cBhvr>
                                        <p:cTn id="7" dur="500"/>
                                        <p:tgtEl>
                                          <p:spTgt spid="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98305"/>
                                        </p:tgtEl>
                                        <p:attrNameLst>
                                          <p:attrName>style.visibility</p:attrName>
                                        </p:attrNameLst>
                                      </p:cBhvr>
                                      <p:to>
                                        <p:strVal val="visible"/>
                                      </p:to>
                                    </p:set>
                                    <p:animEffect transition="in" filter="strips(downRight)">
                                      <p:cBhvr>
                                        <p:cTn id="12" dur="500"/>
                                        <p:tgtEl>
                                          <p:spTgt spid="9830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strips(downRight)">
                                      <p:cBhvr>
                                        <p:cTn id="17" dur="500"/>
                                        <p:tgtEl>
                                          <p:spTgt spid="1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par>
                          <p:cTn id="23" fill="hold" nodeType="afterGroup">
                            <p:stCondLst>
                              <p:cond delay="500"/>
                            </p:stCondLst>
                            <p:childTnLst>
                              <p:par>
                                <p:cTn id="24" presetID="4" presetClass="emph" presetSubtype="2" fill="hold" grpId="1" nodeType="afterEffect">
                                  <p:stCondLst>
                                    <p:cond delay="0"/>
                                  </p:stCondLst>
                                  <p:childTnLst>
                                    <p:anim to="1.2" calcmode="lin" valueType="num">
                                      <p:cBhvr override="childStyle">
                                        <p:cTn id="25" dur="2000" fill="hold"/>
                                        <p:tgtEl>
                                          <p:spTgt spid="11"/>
                                        </p:tgtEl>
                                        <p:attrNameLst>
                                          <p:attrName>style.fontSize</p:attrName>
                                        </p:attrNameLst>
                                      </p:cBhvr>
                                    </p:anim>
                                  </p:childTnLst>
                                  <p:subTnLst>
                                    <p:animClr clrSpc="rgb" dir="cw">
                                      <p:cBhvr override="childStyle">
                                        <p:cTn dur="1" fill="hold" display="0" masterRel="nextClick" afterEffect="1"/>
                                        <p:tgtEl>
                                          <p:spTgt spid="11"/>
                                        </p:tgtEl>
                                        <p:attrNameLst>
                                          <p:attrName>ppt_c</p:attrName>
                                        </p:attrNameLst>
                                      </p:cBhvr>
                                      <p:to>
                                        <a:schemeClr val="tx2"/>
                                      </p:to>
                                    </p:animClr>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305" grpId="0"/>
      <p:bldP spid="9" grpId="0" animBg="1"/>
      <p:bldP spid="10" grpId="0"/>
      <p:bldP spid="11" grpId="0"/>
      <p:bldP spid="11" grpId="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1176338" y="1784350"/>
            <a:ext cx="4500562" cy="2643188"/>
            <a:chOff x="6232" y="3941"/>
            <a:chExt cx="3584" cy="2060"/>
          </a:xfrm>
        </p:grpSpPr>
        <p:sp>
          <p:nvSpPr>
            <p:cNvPr id="45219" name="Line 3"/>
            <p:cNvSpPr>
              <a:spLocks noChangeShapeType="1"/>
            </p:cNvSpPr>
            <p:nvPr/>
          </p:nvSpPr>
          <p:spPr bwMode="auto">
            <a:xfrm flipH="1">
              <a:off x="7279" y="4231"/>
              <a:ext cx="675" cy="3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220" name="Oval 4"/>
            <p:cNvSpPr>
              <a:spLocks noChangeArrowheads="1"/>
            </p:cNvSpPr>
            <p:nvPr/>
          </p:nvSpPr>
          <p:spPr bwMode="auto">
            <a:xfrm>
              <a:off x="7928" y="3941"/>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800" b="1">
                <a:latin typeface="Times New Roman" pitchFamily="18" charset="0"/>
              </a:endParaRPr>
            </a:p>
          </p:txBody>
        </p:sp>
        <p:sp>
          <p:nvSpPr>
            <p:cNvPr id="45221" name="Oval 5"/>
            <p:cNvSpPr>
              <a:spLocks noChangeArrowheads="1"/>
            </p:cNvSpPr>
            <p:nvPr/>
          </p:nvSpPr>
          <p:spPr bwMode="auto">
            <a:xfrm>
              <a:off x="6923" y="4476"/>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222" name="Text Box 6"/>
            <p:cNvSpPr txBox="1">
              <a:spLocks noChangeArrowheads="1"/>
            </p:cNvSpPr>
            <p:nvPr/>
          </p:nvSpPr>
          <p:spPr bwMode="auto">
            <a:xfrm>
              <a:off x="6998" y="4554"/>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66</a:t>
              </a:r>
              <a:endParaRPr lang="zh-CN" altLang="zh-CN" sz="1800" b="1">
                <a:latin typeface="Arial" pitchFamily="34" charset="0"/>
              </a:endParaRPr>
            </a:p>
          </p:txBody>
        </p:sp>
        <p:sp>
          <p:nvSpPr>
            <p:cNvPr id="45223" name="Oval 7"/>
            <p:cNvSpPr>
              <a:spLocks noChangeArrowheads="1"/>
            </p:cNvSpPr>
            <p:nvPr/>
          </p:nvSpPr>
          <p:spPr bwMode="auto">
            <a:xfrm>
              <a:off x="6472" y="4998"/>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224" name="Text Box 8"/>
            <p:cNvSpPr txBox="1">
              <a:spLocks noChangeArrowheads="1"/>
            </p:cNvSpPr>
            <p:nvPr/>
          </p:nvSpPr>
          <p:spPr bwMode="auto">
            <a:xfrm>
              <a:off x="6562" y="5061"/>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83</a:t>
              </a:r>
              <a:endParaRPr lang="zh-CN" altLang="zh-CN" sz="1800" b="1">
                <a:latin typeface="Arial" pitchFamily="34" charset="0"/>
              </a:endParaRPr>
            </a:p>
          </p:txBody>
        </p:sp>
        <p:sp>
          <p:nvSpPr>
            <p:cNvPr id="45225" name="Line 9"/>
            <p:cNvSpPr>
              <a:spLocks noChangeShapeType="1"/>
            </p:cNvSpPr>
            <p:nvPr/>
          </p:nvSpPr>
          <p:spPr bwMode="auto">
            <a:xfrm flipH="1">
              <a:off x="6772" y="4821"/>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226" name="Text Box 10"/>
            <p:cNvSpPr txBox="1">
              <a:spLocks noChangeArrowheads="1"/>
            </p:cNvSpPr>
            <p:nvPr/>
          </p:nvSpPr>
          <p:spPr bwMode="auto">
            <a:xfrm>
              <a:off x="8000" y="4019"/>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solidFill>
                    <a:srgbClr val="000000"/>
                  </a:solidFill>
                  <a:latin typeface="Arial" pitchFamily="34" charset="0"/>
                </a:rPr>
                <a:t>79</a:t>
              </a:r>
              <a:endParaRPr lang="zh-CN" altLang="zh-CN" sz="1800" b="1">
                <a:latin typeface="Arial" pitchFamily="34" charset="0"/>
              </a:endParaRPr>
            </a:p>
          </p:txBody>
        </p:sp>
        <p:sp>
          <p:nvSpPr>
            <p:cNvPr id="45227" name="Oval 11"/>
            <p:cNvSpPr>
              <a:spLocks noChangeArrowheads="1"/>
            </p:cNvSpPr>
            <p:nvPr/>
          </p:nvSpPr>
          <p:spPr bwMode="auto">
            <a:xfrm>
              <a:off x="6232" y="5627"/>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228" name="Text Box 12"/>
            <p:cNvSpPr txBox="1">
              <a:spLocks noChangeArrowheads="1"/>
            </p:cNvSpPr>
            <p:nvPr/>
          </p:nvSpPr>
          <p:spPr bwMode="auto">
            <a:xfrm>
              <a:off x="6322" y="5690"/>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55</a:t>
              </a:r>
              <a:endParaRPr lang="zh-CN" altLang="zh-CN" sz="1800" b="1">
                <a:latin typeface="Arial" pitchFamily="34" charset="0"/>
              </a:endParaRPr>
            </a:p>
          </p:txBody>
        </p:sp>
        <p:sp>
          <p:nvSpPr>
            <p:cNvPr id="45229" name="Oval 13"/>
            <p:cNvSpPr>
              <a:spLocks noChangeArrowheads="1"/>
            </p:cNvSpPr>
            <p:nvPr/>
          </p:nvSpPr>
          <p:spPr bwMode="auto">
            <a:xfrm>
              <a:off x="6758" y="5612"/>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230" name="Text Box 14"/>
            <p:cNvSpPr txBox="1">
              <a:spLocks noChangeArrowheads="1"/>
            </p:cNvSpPr>
            <p:nvPr/>
          </p:nvSpPr>
          <p:spPr bwMode="auto">
            <a:xfrm>
              <a:off x="6863" y="5675"/>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91</a:t>
              </a:r>
              <a:endParaRPr lang="zh-CN" altLang="zh-CN" sz="1800" b="1">
                <a:latin typeface="Arial" pitchFamily="34" charset="0"/>
              </a:endParaRPr>
            </a:p>
          </p:txBody>
        </p:sp>
        <p:sp>
          <p:nvSpPr>
            <p:cNvPr id="45231" name="Line 15"/>
            <p:cNvSpPr>
              <a:spLocks noChangeShapeType="1"/>
            </p:cNvSpPr>
            <p:nvPr/>
          </p:nvSpPr>
          <p:spPr bwMode="auto">
            <a:xfrm flipH="1">
              <a:off x="6487" y="5360"/>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232" name="Line 16"/>
            <p:cNvSpPr>
              <a:spLocks noChangeShapeType="1"/>
            </p:cNvSpPr>
            <p:nvPr/>
          </p:nvSpPr>
          <p:spPr bwMode="auto">
            <a:xfrm>
              <a:off x="6727" y="5360"/>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233" name="Oval 17"/>
            <p:cNvSpPr>
              <a:spLocks noChangeArrowheads="1"/>
            </p:cNvSpPr>
            <p:nvPr/>
          </p:nvSpPr>
          <p:spPr bwMode="auto">
            <a:xfrm>
              <a:off x="7431" y="4997"/>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234" name="Text Box 18"/>
            <p:cNvSpPr txBox="1">
              <a:spLocks noChangeArrowheads="1"/>
            </p:cNvSpPr>
            <p:nvPr/>
          </p:nvSpPr>
          <p:spPr bwMode="auto">
            <a:xfrm>
              <a:off x="7521" y="5060"/>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30</a:t>
              </a:r>
              <a:endParaRPr lang="zh-CN" altLang="zh-CN" sz="1800" b="1">
                <a:latin typeface="Arial" pitchFamily="34" charset="0"/>
              </a:endParaRPr>
            </a:p>
          </p:txBody>
        </p:sp>
        <p:sp>
          <p:nvSpPr>
            <p:cNvPr id="45235" name="Oval 19"/>
            <p:cNvSpPr>
              <a:spLocks noChangeArrowheads="1"/>
            </p:cNvSpPr>
            <p:nvPr/>
          </p:nvSpPr>
          <p:spPr bwMode="auto">
            <a:xfrm>
              <a:off x="7191" y="5626"/>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236" name="Text Box 20"/>
            <p:cNvSpPr txBox="1">
              <a:spLocks noChangeArrowheads="1"/>
            </p:cNvSpPr>
            <p:nvPr/>
          </p:nvSpPr>
          <p:spPr bwMode="auto">
            <a:xfrm>
              <a:off x="7281" y="5704"/>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72</a:t>
              </a:r>
              <a:endParaRPr lang="zh-CN" altLang="zh-CN" sz="1800" b="1">
                <a:latin typeface="Arial" pitchFamily="34" charset="0"/>
              </a:endParaRPr>
            </a:p>
          </p:txBody>
        </p:sp>
        <p:sp>
          <p:nvSpPr>
            <p:cNvPr id="45237" name="Oval 21"/>
            <p:cNvSpPr>
              <a:spLocks noChangeArrowheads="1"/>
            </p:cNvSpPr>
            <p:nvPr/>
          </p:nvSpPr>
          <p:spPr bwMode="auto">
            <a:xfrm>
              <a:off x="7717" y="5611"/>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238" name="Text Box 22"/>
            <p:cNvSpPr txBox="1">
              <a:spLocks noChangeArrowheads="1"/>
            </p:cNvSpPr>
            <p:nvPr/>
          </p:nvSpPr>
          <p:spPr bwMode="auto">
            <a:xfrm>
              <a:off x="7807" y="5689"/>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49</a:t>
              </a:r>
              <a:endParaRPr lang="zh-CN" altLang="zh-CN" sz="1800" b="1">
                <a:latin typeface="Arial" pitchFamily="34" charset="0"/>
              </a:endParaRPr>
            </a:p>
          </p:txBody>
        </p:sp>
        <p:sp>
          <p:nvSpPr>
            <p:cNvPr id="45239" name="Line 23"/>
            <p:cNvSpPr>
              <a:spLocks noChangeShapeType="1"/>
            </p:cNvSpPr>
            <p:nvPr/>
          </p:nvSpPr>
          <p:spPr bwMode="auto">
            <a:xfrm flipH="1">
              <a:off x="7446" y="5359"/>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240" name="Line 24"/>
            <p:cNvSpPr>
              <a:spLocks noChangeShapeType="1"/>
            </p:cNvSpPr>
            <p:nvPr/>
          </p:nvSpPr>
          <p:spPr bwMode="auto">
            <a:xfrm>
              <a:off x="7686" y="5359"/>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241" name="Line 25"/>
            <p:cNvSpPr>
              <a:spLocks noChangeShapeType="1"/>
            </p:cNvSpPr>
            <p:nvPr/>
          </p:nvSpPr>
          <p:spPr bwMode="auto">
            <a:xfrm>
              <a:off x="7252" y="4816"/>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242" name="Oval 26"/>
            <p:cNvSpPr>
              <a:spLocks noChangeArrowheads="1"/>
            </p:cNvSpPr>
            <p:nvPr/>
          </p:nvSpPr>
          <p:spPr bwMode="auto">
            <a:xfrm>
              <a:off x="8934" y="4456"/>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243" name="Text Box 27"/>
            <p:cNvSpPr txBox="1">
              <a:spLocks noChangeArrowheads="1"/>
            </p:cNvSpPr>
            <p:nvPr/>
          </p:nvSpPr>
          <p:spPr bwMode="auto">
            <a:xfrm>
              <a:off x="9009" y="4534"/>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43</a:t>
              </a:r>
              <a:endParaRPr lang="zh-CN" altLang="zh-CN" sz="1800" b="1">
                <a:latin typeface="Arial" pitchFamily="34" charset="0"/>
              </a:endParaRPr>
            </a:p>
          </p:txBody>
        </p:sp>
        <p:sp>
          <p:nvSpPr>
            <p:cNvPr id="45244" name="Oval 28"/>
            <p:cNvSpPr>
              <a:spLocks noChangeArrowheads="1"/>
            </p:cNvSpPr>
            <p:nvPr/>
          </p:nvSpPr>
          <p:spPr bwMode="auto">
            <a:xfrm>
              <a:off x="8483" y="4978"/>
              <a:ext cx="374" cy="374"/>
            </a:xfrm>
            <a:prstGeom prst="ellipse">
              <a:avLst/>
            </a:prstGeom>
            <a:solidFill>
              <a:srgbClr val="808080"/>
            </a:solidFill>
            <a:ln w="9525">
              <a:solidFill>
                <a:srgbClr val="000000"/>
              </a:solidFill>
              <a:round/>
              <a:headEnd/>
              <a:tailEnd/>
            </a:ln>
          </p:spPr>
          <p:txBody>
            <a:bodyPr/>
            <a:lstStyle/>
            <a:p>
              <a:endParaRPr lang="zh-CN" altLang="en-US" sz="1800" b="1">
                <a:latin typeface="Times New Roman" pitchFamily="18" charset="0"/>
              </a:endParaRPr>
            </a:p>
          </p:txBody>
        </p:sp>
        <p:sp>
          <p:nvSpPr>
            <p:cNvPr id="45245" name="Text Box 29"/>
            <p:cNvSpPr txBox="1">
              <a:spLocks noChangeArrowheads="1"/>
            </p:cNvSpPr>
            <p:nvPr/>
          </p:nvSpPr>
          <p:spPr bwMode="auto">
            <a:xfrm>
              <a:off x="8588" y="5056"/>
              <a:ext cx="227" cy="207"/>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87</a:t>
              </a:r>
              <a:endParaRPr lang="zh-CN" altLang="zh-CN" sz="1800" b="1">
                <a:latin typeface="Arial" pitchFamily="34" charset="0"/>
              </a:endParaRPr>
            </a:p>
          </p:txBody>
        </p:sp>
        <p:sp>
          <p:nvSpPr>
            <p:cNvPr id="45246" name="Line 30"/>
            <p:cNvSpPr>
              <a:spLocks noChangeShapeType="1"/>
            </p:cNvSpPr>
            <p:nvPr/>
          </p:nvSpPr>
          <p:spPr bwMode="auto">
            <a:xfrm flipH="1">
              <a:off x="8783" y="4801"/>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247" name="Oval 31"/>
            <p:cNvSpPr>
              <a:spLocks noChangeArrowheads="1"/>
            </p:cNvSpPr>
            <p:nvPr/>
          </p:nvSpPr>
          <p:spPr bwMode="auto">
            <a:xfrm>
              <a:off x="8243" y="5607"/>
              <a:ext cx="374" cy="374"/>
            </a:xfrm>
            <a:prstGeom prst="ellipse">
              <a:avLst/>
            </a:prstGeom>
            <a:solidFill>
              <a:srgbClr val="969696"/>
            </a:solidFill>
            <a:ln w="9525">
              <a:solidFill>
                <a:srgbClr val="000000"/>
              </a:solidFill>
              <a:round/>
              <a:headEnd/>
              <a:tailEnd/>
            </a:ln>
          </p:spPr>
          <p:txBody>
            <a:bodyPr/>
            <a:lstStyle/>
            <a:p>
              <a:endParaRPr lang="zh-CN" altLang="en-US" sz="1800" b="1">
                <a:latin typeface="Times New Roman" pitchFamily="18" charset="0"/>
              </a:endParaRPr>
            </a:p>
          </p:txBody>
        </p:sp>
        <p:sp>
          <p:nvSpPr>
            <p:cNvPr id="45248" name="Text Box 32"/>
            <p:cNvSpPr txBox="1">
              <a:spLocks noChangeArrowheads="1"/>
            </p:cNvSpPr>
            <p:nvPr/>
          </p:nvSpPr>
          <p:spPr bwMode="auto">
            <a:xfrm>
              <a:off x="8333" y="5682"/>
              <a:ext cx="227" cy="207"/>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9</a:t>
              </a:r>
              <a:endParaRPr lang="zh-CN" altLang="zh-CN" sz="1800" b="1">
                <a:latin typeface="Arial" pitchFamily="34" charset="0"/>
              </a:endParaRPr>
            </a:p>
          </p:txBody>
        </p:sp>
        <p:sp>
          <p:nvSpPr>
            <p:cNvPr id="45249" name="Line 33"/>
            <p:cNvSpPr>
              <a:spLocks noChangeShapeType="1"/>
            </p:cNvSpPr>
            <p:nvPr/>
          </p:nvSpPr>
          <p:spPr bwMode="auto">
            <a:xfrm flipH="1">
              <a:off x="8498" y="5340"/>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250" name="Oval 34"/>
            <p:cNvSpPr>
              <a:spLocks noChangeArrowheads="1"/>
            </p:cNvSpPr>
            <p:nvPr/>
          </p:nvSpPr>
          <p:spPr bwMode="auto">
            <a:xfrm>
              <a:off x="9442" y="4977"/>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251" name="Text Box 35"/>
            <p:cNvSpPr txBox="1">
              <a:spLocks noChangeArrowheads="1"/>
            </p:cNvSpPr>
            <p:nvPr/>
          </p:nvSpPr>
          <p:spPr bwMode="auto">
            <a:xfrm>
              <a:off x="9547" y="5055"/>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38</a:t>
              </a:r>
              <a:endParaRPr lang="zh-CN" altLang="zh-CN" sz="1800" b="1">
                <a:latin typeface="Arial" pitchFamily="34" charset="0"/>
              </a:endParaRPr>
            </a:p>
          </p:txBody>
        </p:sp>
        <p:sp>
          <p:nvSpPr>
            <p:cNvPr id="45252" name="Line 36"/>
            <p:cNvSpPr>
              <a:spLocks noChangeShapeType="1"/>
            </p:cNvSpPr>
            <p:nvPr/>
          </p:nvSpPr>
          <p:spPr bwMode="auto">
            <a:xfrm>
              <a:off x="9263" y="4796"/>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253" name="Line 37"/>
            <p:cNvSpPr>
              <a:spLocks noChangeShapeType="1"/>
            </p:cNvSpPr>
            <p:nvPr/>
          </p:nvSpPr>
          <p:spPr bwMode="auto">
            <a:xfrm>
              <a:off x="8272" y="4234"/>
              <a:ext cx="675" cy="3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grpSp>
      <p:grpSp>
        <p:nvGrpSpPr>
          <p:cNvPr id="97333" name="Group 53"/>
          <p:cNvGrpSpPr>
            <a:grpSpLocks/>
          </p:cNvGrpSpPr>
          <p:nvPr/>
        </p:nvGrpSpPr>
        <p:grpSpPr bwMode="auto">
          <a:xfrm>
            <a:off x="1176338" y="1784350"/>
            <a:ext cx="4500562" cy="2643188"/>
            <a:chOff x="1980" y="3936"/>
            <a:chExt cx="3584" cy="2060"/>
          </a:xfrm>
        </p:grpSpPr>
        <p:sp>
          <p:nvSpPr>
            <p:cNvPr id="45184" name="Line 54"/>
            <p:cNvSpPr>
              <a:spLocks noChangeShapeType="1"/>
            </p:cNvSpPr>
            <p:nvPr/>
          </p:nvSpPr>
          <p:spPr bwMode="auto">
            <a:xfrm flipH="1">
              <a:off x="3027" y="4226"/>
              <a:ext cx="675" cy="3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85" name="Oval 55"/>
            <p:cNvSpPr>
              <a:spLocks noChangeArrowheads="1"/>
            </p:cNvSpPr>
            <p:nvPr/>
          </p:nvSpPr>
          <p:spPr bwMode="auto">
            <a:xfrm>
              <a:off x="3676" y="3936"/>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800" b="1">
                <a:latin typeface="Times New Roman" pitchFamily="18" charset="0"/>
              </a:endParaRPr>
            </a:p>
          </p:txBody>
        </p:sp>
        <p:sp>
          <p:nvSpPr>
            <p:cNvPr id="45186" name="Oval 56"/>
            <p:cNvSpPr>
              <a:spLocks noChangeArrowheads="1"/>
            </p:cNvSpPr>
            <p:nvPr/>
          </p:nvSpPr>
          <p:spPr bwMode="auto">
            <a:xfrm>
              <a:off x="2671" y="4471"/>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87" name="Text Box 57"/>
            <p:cNvSpPr txBox="1">
              <a:spLocks noChangeArrowheads="1"/>
            </p:cNvSpPr>
            <p:nvPr/>
          </p:nvSpPr>
          <p:spPr bwMode="auto">
            <a:xfrm>
              <a:off x="2746" y="4549"/>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66</a:t>
              </a:r>
              <a:endParaRPr lang="zh-CN" altLang="zh-CN" sz="1800" b="1">
                <a:latin typeface="Arial" pitchFamily="34" charset="0"/>
              </a:endParaRPr>
            </a:p>
          </p:txBody>
        </p:sp>
        <p:sp>
          <p:nvSpPr>
            <p:cNvPr id="45188" name="Oval 58"/>
            <p:cNvSpPr>
              <a:spLocks noChangeArrowheads="1"/>
            </p:cNvSpPr>
            <p:nvPr/>
          </p:nvSpPr>
          <p:spPr bwMode="auto">
            <a:xfrm>
              <a:off x="2220" y="4993"/>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89" name="Text Box 59"/>
            <p:cNvSpPr txBox="1">
              <a:spLocks noChangeArrowheads="1"/>
            </p:cNvSpPr>
            <p:nvPr/>
          </p:nvSpPr>
          <p:spPr bwMode="auto">
            <a:xfrm>
              <a:off x="2310" y="5056"/>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83</a:t>
              </a:r>
              <a:endParaRPr lang="zh-CN" altLang="zh-CN" sz="1800" b="1">
                <a:latin typeface="Arial" pitchFamily="34" charset="0"/>
              </a:endParaRPr>
            </a:p>
          </p:txBody>
        </p:sp>
        <p:sp>
          <p:nvSpPr>
            <p:cNvPr id="45190" name="Line 60"/>
            <p:cNvSpPr>
              <a:spLocks noChangeShapeType="1"/>
            </p:cNvSpPr>
            <p:nvPr/>
          </p:nvSpPr>
          <p:spPr bwMode="auto">
            <a:xfrm flipH="1">
              <a:off x="2520" y="4816"/>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91" name="Text Box 61"/>
            <p:cNvSpPr txBox="1">
              <a:spLocks noChangeArrowheads="1"/>
            </p:cNvSpPr>
            <p:nvPr/>
          </p:nvSpPr>
          <p:spPr bwMode="auto">
            <a:xfrm>
              <a:off x="3748" y="4014"/>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solidFill>
                    <a:srgbClr val="000000"/>
                  </a:solidFill>
                  <a:latin typeface="Arial" pitchFamily="34" charset="0"/>
                </a:rPr>
                <a:t>79</a:t>
              </a:r>
              <a:endParaRPr lang="zh-CN" altLang="zh-CN" sz="1800" b="1">
                <a:latin typeface="Arial" pitchFamily="34" charset="0"/>
              </a:endParaRPr>
            </a:p>
          </p:txBody>
        </p:sp>
        <p:sp>
          <p:nvSpPr>
            <p:cNvPr id="45192" name="Oval 62"/>
            <p:cNvSpPr>
              <a:spLocks noChangeArrowheads="1"/>
            </p:cNvSpPr>
            <p:nvPr/>
          </p:nvSpPr>
          <p:spPr bwMode="auto">
            <a:xfrm>
              <a:off x="1980" y="5622"/>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93" name="Text Box 63"/>
            <p:cNvSpPr txBox="1">
              <a:spLocks noChangeArrowheads="1"/>
            </p:cNvSpPr>
            <p:nvPr/>
          </p:nvSpPr>
          <p:spPr bwMode="auto">
            <a:xfrm>
              <a:off x="2070" y="5685"/>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55</a:t>
              </a:r>
              <a:endParaRPr lang="zh-CN" altLang="zh-CN" sz="1800" b="1">
                <a:latin typeface="Arial" pitchFamily="34" charset="0"/>
              </a:endParaRPr>
            </a:p>
          </p:txBody>
        </p:sp>
        <p:sp>
          <p:nvSpPr>
            <p:cNvPr id="45194" name="Oval 64"/>
            <p:cNvSpPr>
              <a:spLocks noChangeArrowheads="1"/>
            </p:cNvSpPr>
            <p:nvPr/>
          </p:nvSpPr>
          <p:spPr bwMode="auto">
            <a:xfrm>
              <a:off x="2506" y="5607"/>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95" name="Text Box 65"/>
            <p:cNvSpPr txBox="1">
              <a:spLocks noChangeArrowheads="1"/>
            </p:cNvSpPr>
            <p:nvPr/>
          </p:nvSpPr>
          <p:spPr bwMode="auto">
            <a:xfrm>
              <a:off x="2611" y="5670"/>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91</a:t>
              </a:r>
              <a:endParaRPr lang="zh-CN" altLang="zh-CN" sz="1800" b="1">
                <a:latin typeface="Arial" pitchFamily="34" charset="0"/>
              </a:endParaRPr>
            </a:p>
          </p:txBody>
        </p:sp>
        <p:sp>
          <p:nvSpPr>
            <p:cNvPr id="45196" name="Line 66"/>
            <p:cNvSpPr>
              <a:spLocks noChangeShapeType="1"/>
            </p:cNvSpPr>
            <p:nvPr/>
          </p:nvSpPr>
          <p:spPr bwMode="auto">
            <a:xfrm flipH="1">
              <a:off x="2235" y="5355"/>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97" name="Line 67"/>
            <p:cNvSpPr>
              <a:spLocks noChangeShapeType="1"/>
            </p:cNvSpPr>
            <p:nvPr/>
          </p:nvSpPr>
          <p:spPr bwMode="auto">
            <a:xfrm>
              <a:off x="2475" y="5355"/>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98" name="Oval 68"/>
            <p:cNvSpPr>
              <a:spLocks noChangeArrowheads="1"/>
            </p:cNvSpPr>
            <p:nvPr/>
          </p:nvSpPr>
          <p:spPr bwMode="auto">
            <a:xfrm>
              <a:off x="3179" y="4992"/>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99" name="Text Box 69"/>
            <p:cNvSpPr txBox="1">
              <a:spLocks noChangeArrowheads="1"/>
            </p:cNvSpPr>
            <p:nvPr/>
          </p:nvSpPr>
          <p:spPr bwMode="auto">
            <a:xfrm>
              <a:off x="3269" y="5055"/>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30</a:t>
              </a:r>
              <a:endParaRPr lang="zh-CN" altLang="zh-CN" sz="1800" b="1">
                <a:latin typeface="Arial" pitchFamily="34" charset="0"/>
              </a:endParaRPr>
            </a:p>
          </p:txBody>
        </p:sp>
        <p:sp>
          <p:nvSpPr>
            <p:cNvPr id="45200" name="Oval 70"/>
            <p:cNvSpPr>
              <a:spLocks noChangeArrowheads="1"/>
            </p:cNvSpPr>
            <p:nvPr/>
          </p:nvSpPr>
          <p:spPr bwMode="auto">
            <a:xfrm>
              <a:off x="2939" y="5621"/>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201" name="Text Box 71"/>
            <p:cNvSpPr txBox="1">
              <a:spLocks noChangeArrowheads="1"/>
            </p:cNvSpPr>
            <p:nvPr/>
          </p:nvSpPr>
          <p:spPr bwMode="auto">
            <a:xfrm>
              <a:off x="3029" y="5699"/>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72</a:t>
              </a:r>
              <a:endParaRPr lang="zh-CN" altLang="zh-CN" sz="1800" b="1">
                <a:latin typeface="Arial" pitchFamily="34" charset="0"/>
              </a:endParaRPr>
            </a:p>
          </p:txBody>
        </p:sp>
        <p:sp>
          <p:nvSpPr>
            <p:cNvPr id="45202" name="Oval 72"/>
            <p:cNvSpPr>
              <a:spLocks noChangeArrowheads="1"/>
            </p:cNvSpPr>
            <p:nvPr/>
          </p:nvSpPr>
          <p:spPr bwMode="auto">
            <a:xfrm>
              <a:off x="3465" y="5606"/>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203" name="Text Box 73"/>
            <p:cNvSpPr txBox="1">
              <a:spLocks noChangeArrowheads="1"/>
            </p:cNvSpPr>
            <p:nvPr/>
          </p:nvSpPr>
          <p:spPr bwMode="auto">
            <a:xfrm>
              <a:off x="3555" y="5684"/>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49</a:t>
              </a:r>
              <a:endParaRPr lang="zh-CN" altLang="zh-CN" sz="1800" b="1">
                <a:latin typeface="Arial" pitchFamily="34" charset="0"/>
              </a:endParaRPr>
            </a:p>
          </p:txBody>
        </p:sp>
        <p:sp>
          <p:nvSpPr>
            <p:cNvPr id="45204" name="Line 74"/>
            <p:cNvSpPr>
              <a:spLocks noChangeShapeType="1"/>
            </p:cNvSpPr>
            <p:nvPr/>
          </p:nvSpPr>
          <p:spPr bwMode="auto">
            <a:xfrm flipH="1">
              <a:off x="3194" y="5354"/>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205" name="Line 75"/>
            <p:cNvSpPr>
              <a:spLocks noChangeShapeType="1"/>
            </p:cNvSpPr>
            <p:nvPr/>
          </p:nvSpPr>
          <p:spPr bwMode="auto">
            <a:xfrm>
              <a:off x="3434" y="5354"/>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206" name="Line 76"/>
            <p:cNvSpPr>
              <a:spLocks noChangeShapeType="1"/>
            </p:cNvSpPr>
            <p:nvPr/>
          </p:nvSpPr>
          <p:spPr bwMode="auto">
            <a:xfrm>
              <a:off x="3000" y="4811"/>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207" name="Oval 77"/>
            <p:cNvSpPr>
              <a:spLocks noChangeArrowheads="1"/>
            </p:cNvSpPr>
            <p:nvPr/>
          </p:nvSpPr>
          <p:spPr bwMode="auto">
            <a:xfrm>
              <a:off x="4682" y="4451"/>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208" name="Text Box 78"/>
            <p:cNvSpPr txBox="1">
              <a:spLocks noChangeArrowheads="1"/>
            </p:cNvSpPr>
            <p:nvPr/>
          </p:nvSpPr>
          <p:spPr bwMode="auto">
            <a:xfrm>
              <a:off x="4757" y="4529"/>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43</a:t>
              </a:r>
              <a:endParaRPr lang="zh-CN" altLang="zh-CN" sz="1800" b="1">
                <a:latin typeface="Arial" pitchFamily="34" charset="0"/>
              </a:endParaRPr>
            </a:p>
          </p:txBody>
        </p:sp>
        <p:sp>
          <p:nvSpPr>
            <p:cNvPr id="45209" name="Oval 79"/>
            <p:cNvSpPr>
              <a:spLocks noChangeArrowheads="1"/>
            </p:cNvSpPr>
            <p:nvPr/>
          </p:nvSpPr>
          <p:spPr bwMode="auto">
            <a:xfrm>
              <a:off x="4231" y="4973"/>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800" b="1">
                <a:latin typeface="Times New Roman" pitchFamily="18" charset="0"/>
              </a:endParaRPr>
            </a:p>
          </p:txBody>
        </p:sp>
        <p:sp>
          <p:nvSpPr>
            <p:cNvPr id="45210" name="Text Box 80"/>
            <p:cNvSpPr txBox="1">
              <a:spLocks noChangeArrowheads="1"/>
            </p:cNvSpPr>
            <p:nvPr/>
          </p:nvSpPr>
          <p:spPr bwMode="auto">
            <a:xfrm>
              <a:off x="4336" y="5051"/>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87</a:t>
              </a:r>
              <a:endParaRPr lang="zh-CN" altLang="zh-CN" sz="1800" b="1">
                <a:latin typeface="Arial" pitchFamily="34" charset="0"/>
              </a:endParaRPr>
            </a:p>
          </p:txBody>
        </p:sp>
        <p:sp>
          <p:nvSpPr>
            <p:cNvPr id="45211" name="Line 81"/>
            <p:cNvSpPr>
              <a:spLocks noChangeShapeType="1"/>
            </p:cNvSpPr>
            <p:nvPr/>
          </p:nvSpPr>
          <p:spPr bwMode="auto">
            <a:xfrm flipH="1">
              <a:off x="4531" y="4796"/>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212" name="Oval 82"/>
            <p:cNvSpPr>
              <a:spLocks noChangeArrowheads="1"/>
            </p:cNvSpPr>
            <p:nvPr/>
          </p:nvSpPr>
          <p:spPr bwMode="auto">
            <a:xfrm>
              <a:off x="3991" y="5602"/>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800" b="1">
                <a:latin typeface="Times New Roman" pitchFamily="18" charset="0"/>
              </a:endParaRPr>
            </a:p>
          </p:txBody>
        </p:sp>
        <p:sp>
          <p:nvSpPr>
            <p:cNvPr id="45213" name="Text Box 83"/>
            <p:cNvSpPr txBox="1">
              <a:spLocks noChangeArrowheads="1"/>
            </p:cNvSpPr>
            <p:nvPr/>
          </p:nvSpPr>
          <p:spPr bwMode="auto">
            <a:xfrm>
              <a:off x="4081" y="5677"/>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9</a:t>
              </a:r>
              <a:endParaRPr lang="zh-CN" altLang="zh-CN" sz="1800" b="1">
                <a:latin typeface="Arial" pitchFamily="34" charset="0"/>
              </a:endParaRPr>
            </a:p>
          </p:txBody>
        </p:sp>
        <p:sp>
          <p:nvSpPr>
            <p:cNvPr id="45214" name="Line 84"/>
            <p:cNvSpPr>
              <a:spLocks noChangeShapeType="1"/>
            </p:cNvSpPr>
            <p:nvPr/>
          </p:nvSpPr>
          <p:spPr bwMode="auto">
            <a:xfrm flipH="1">
              <a:off x="4246" y="5335"/>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215" name="Oval 85"/>
            <p:cNvSpPr>
              <a:spLocks noChangeArrowheads="1"/>
            </p:cNvSpPr>
            <p:nvPr/>
          </p:nvSpPr>
          <p:spPr bwMode="auto">
            <a:xfrm>
              <a:off x="5190" y="4972"/>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216" name="Text Box 86"/>
            <p:cNvSpPr txBox="1">
              <a:spLocks noChangeArrowheads="1"/>
            </p:cNvSpPr>
            <p:nvPr/>
          </p:nvSpPr>
          <p:spPr bwMode="auto">
            <a:xfrm>
              <a:off x="5295" y="5050"/>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38</a:t>
              </a:r>
              <a:endParaRPr lang="zh-CN" altLang="zh-CN" sz="1800" b="1">
                <a:latin typeface="Arial" pitchFamily="34" charset="0"/>
              </a:endParaRPr>
            </a:p>
          </p:txBody>
        </p:sp>
        <p:sp>
          <p:nvSpPr>
            <p:cNvPr id="45217" name="Line 87"/>
            <p:cNvSpPr>
              <a:spLocks noChangeShapeType="1"/>
            </p:cNvSpPr>
            <p:nvPr/>
          </p:nvSpPr>
          <p:spPr bwMode="auto">
            <a:xfrm>
              <a:off x="5011" y="4791"/>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218" name="Line 88"/>
            <p:cNvSpPr>
              <a:spLocks noChangeShapeType="1"/>
            </p:cNvSpPr>
            <p:nvPr/>
          </p:nvSpPr>
          <p:spPr bwMode="auto">
            <a:xfrm>
              <a:off x="4020" y="4229"/>
              <a:ext cx="675" cy="3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grpSp>
      <p:grpSp>
        <p:nvGrpSpPr>
          <p:cNvPr id="154" name="组合 153"/>
          <p:cNvGrpSpPr>
            <a:grpSpLocks/>
          </p:cNvGrpSpPr>
          <p:nvPr/>
        </p:nvGrpSpPr>
        <p:grpSpPr bwMode="auto">
          <a:xfrm>
            <a:off x="1176338" y="1784350"/>
            <a:ext cx="4500562" cy="2643188"/>
            <a:chOff x="0" y="3714752"/>
            <a:chExt cx="4500594" cy="2643206"/>
          </a:xfrm>
        </p:grpSpPr>
        <p:grpSp>
          <p:nvGrpSpPr>
            <p:cNvPr id="45147" name="Group 157"/>
            <p:cNvGrpSpPr>
              <a:grpSpLocks/>
            </p:cNvGrpSpPr>
            <p:nvPr/>
          </p:nvGrpSpPr>
          <p:grpSpPr bwMode="auto">
            <a:xfrm>
              <a:off x="0" y="3714752"/>
              <a:ext cx="4500594" cy="2643206"/>
              <a:chOff x="2103" y="7056"/>
              <a:chExt cx="3584" cy="2060"/>
            </a:xfrm>
          </p:grpSpPr>
          <p:sp>
            <p:nvSpPr>
              <p:cNvPr id="45149" name="Line 158"/>
              <p:cNvSpPr>
                <a:spLocks noChangeShapeType="1"/>
              </p:cNvSpPr>
              <p:nvPr/>
            </p:nvSpPr>
            <p:spPr bwMode="auto">
              <a:xfrm flipH="1">
                <a:off x="3150" y="7346"/>
                <a:ext cx="675" cy="3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50" name="Oval 159"/>
              <p:cNvSpPr>
                <a:spLocks noChangeArrowheads="1"/>
              </p:cNvSpPr>
              <p:nvPr/>
            </p:nvSpPr>
            <p:spPr bwMode="auto">
              <a:xfrm>
                <a:off x="3799" y="7056"/>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800" b="1">
                  <a:latin typeface="Times New Roman" pitchFamily="18" charset="0"/>
                </a:endParaRPr>
              </a:p>
            </p:txBody>
          </p:sp>
          <p:sp>
            <p:nvSpPr>
              <p:cNvPr id="45151" name="Oval 160"/>
              <p:cNvSpPr>
                <a:spLocks noChangeArrowheads="1"/>
              </p:cNvSpPr>
              <p:nvPr/>
            </p:nvSpPr>
            <p:spPr bwMode="auto">
              <a:xfrm>
                <a:off x="2794" y="7591"/>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52" name="Text Box 161"/>
              <p:cNvSpPr txBox="1">
                <a:spLocks noChangeArrowheads="1"/>
              </p:cNvSpPr>
              <p:nvPr/>
            </p:nvSpPr>
            <p:spPr bwMode="auto">
              <a:xfrm>
                <a:off x="2869" y="7669"/>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66</a:t>
                </a:r>
                <a:endParaRPr lang="zh-CN" altLang="zh-CN" sz="1800" b="1">
                  <a:latin typeface="Arial" pitchFamily="34" charset="0"/>
                </a:endParaRPr>
              </a:p>
            </p:txBody>
          </p:sp>
          <p:sp>
            <p:nvSpPr>
              <p:cNvPr id="45153" name="Oval 162"/>
              <p:cNvSpPr>
                <a:spLocks noChangeArrowheads="1"/>
              </p:cNvSpPr>
              <p:nvPr/>
            </p:nvSpPr>
            <p:spPr bwMode="auto">
              <a:xfrm>
                <a:off x="2343" y="8113"/>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54" name="Text Box 163"/>
              <p:cNvSpPr txBox="1">
                <a:spLocks noChangeArrowheads="1"/>
              </p:cNvSpPr>
              <p:nvPr/>
            </p:nvSpPr>
            <p:spPr bwMode="auto">
              <a:xfrm>
                <a:off x="2445" y="8191"/>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83</a:t>
                </a:r>
                <a:endParaRPr lang="zh-CN" altLang="zh-CN" sz="1800" b="1">
                  <a:latin typeface="Arial" pitchFamily="34" charset="0"/>
                </a:endParaRPr>
              </a:p>
            </p:txBody>
          </p:sp>
          <p:sp>
            <p:nvSpPr>
              <p:cNvPr id="45155" name="Line 164"/>
              <p:cNvSpPr>
                <a:spLocks noChangeShapeType="1"/>
              </p:cNvSpPr>
              <p:nvPr/>
            </p:nvSpPr>
            <p:spPr bwMode="auto">
              <a:xfrm flipH="1">
                <a:off x="2643" y="7936"/>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56" name="Text Box 165"/>
              <p:cNvSpPr txBox="1">
                <a:spLocks noChangeArrowheads="1"/>
              </p:cNvSpPr>
              <p:nvPr/>
            </p:nvSpPr>
            <p:spPr bwMode="auto">
              <a:xfrm>
                <a:off x="3871" y="7134"/>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solidFill>
                      <a:srgbClr val="000000"/>
                    </a:solidFill>
                    <a:latin typeface="Arial" pitchFamily="34" charset="0"/>
                  </a:rPr>
                  <a:t>79</a:t>
                </a:r>
                <a:endParaRPr lang="zh-CN" altLang="zh-CN" sz="1800" b="1">
                  <a:latin typeface="Arial" pitchFamily="34" charset="0"/>
                </a:endParaRPr>
              </a:p>
            </p:txBody>
          </p:sp>
          <p:sp>
            <p:nvSpPr>
              <p:cNvPr id="45157" name="Oval 166"/>
              <p:cNvSpPr>
                <a:spLocks noChangeArrowheads="1"/>
              </p:cNvSpPr>
              <p:nvPr/>
            </p:nvSpPr>
            <p:spPr bwMode="auto">
              <a:xfrm>
                <a:off x="2103" y="8742"/>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58" name="Text Box 167"/>
              <p:cNvSpPr txBox="1">
                <a:spLocks noChangeArrowheads="1"/>
              </p:cNvSpPr>
              <p:nvPr/>
            </p:nvSpPr>
            <p:spPr bwMode="auto">
              <a:xfrm>
                <a:off x="2193" y="8805"/>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55</a:t>
                </a:r>
                <a:endParaRPr lang="zh-CN" altLang="zh-CN" sz="1800" b="1">
                  <a:latin typeface="Arial" pitchFamily="34" charset="0"/>
                </a:endParaRPr>
              </a:p>
            </p:txBody>
          </p:sp>
          <p:sp>
            <p:nvSpPr>
              <p:cNvPr id="45159" name="Oval 168"/>
              <p:cNvSpPr>
                <a:spLocks noChangeArrowheads="1"/>
              </p:cNvSpPr>
              <p:nvPr/>
            </p:nvSpPr>
            <p:spPr bwMode="auto">
              <a:xfrm>
                <a:off x="2629" y="8727"/>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60" name="Text Box 169"/>
              <p:cNvSpPr txBox="1">
                <a:spLocks noChangeArrowheads="1"/>
              </p:cNvSpPr>
              <p:nvPr/>
            </p:nvSpPr>
            <p:spPr bwMode="auto">
              <a:xfrm>
                <a:off x="2734" y="8790"/>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91</a:t>
                </a:r>
                <a:endParaRPr lang="zh-CN" altLang="zh-CN" sz="1800" b="1">
                  <a:latin typeface="Arial" pitchFamily="34" charset="0"/>
                </a:endParaRPr>
              </a:p>
            </p:txBody>
          </p:sp>
          <p:sp>
            <p:nvSpPr>
              <p:cNvPr id="45161" name="Line 170"/>
              <p:cNvSpPr>
                <a:spLocks noChangeShapeType="1"/>
              </p:cNvSpPr>
              <p:nvPr/>
            </p:nvSpPr>
            <p:spPr bwMode="auto">
              <a:xfrm flipH="1">
                <a:off x="2358" y="8475"/>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62" name="Line 171"/>
              <p:cNvSpPr>
                <a:spLocks noChangeShapeType="1"/>
              </p:cNvSpPr>
              <p:nvPr/>
            </p:nvSpPr>
            <p:spPr bwMode="auto">
              <a:xfrm>
                <a:off x="2598" y="8475"/>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63" name="Oval 172"/>
              <p:cNvSpPr>
                <a:spLocks noChangeArrowheads="1"/>
              </p:cNvSpPr>
              <p:nvPr/>
            </p:nvSpPr>
            <p:spPr bwMode="auto">
              <a:xfrm>
                <a:off x="3302" y="8112"/>
                <a:ext cx="374" cy="374"/>
              </a:xfrm>
              <a:prstGeom prst="ellipse">
                <a:avLst/>
              </a:prstGeom>
              <a:solidFill>
                <a:srgbClr val="808080"/>
              </a:solidFill>
              <a:ln w="9525">
                <a:solidFill>
                  <a:srgbClr val="000000"/>
                </a:solidFill>
                <a:round/>
                <a:headEnd/>
                <a:tailEnd/>
              </a:ln>
            </p:spPr>
            <p:txBody>
              <a:bodyPr/>
              <a:lstStyle/>
              <a:p>
                <a:endParaRPr lang="zh-CN" altLang="en-US" sz="1800" b="1">
                  <a:latin typeface="Times New Roman" pitchFamily="18" charset="0"/>
                </a:endParaRPr>
              </a:p>
            </p:txBody>
          </p:sp>
          <p:sp>
            <p:nvSpPr>
              <p:cNvPr id="45164" name="Text Box 173"/>
              <p:cNvSpPr txBox="1">
                <a:spLocks noChangeArrowheads="1"/>
              </p:cNvSpPr>
              <p:nvPr/>
            </p:nvSpPr>
            <p:spPr bwMode="auto">
              <a:xfrm>
                <a:off x="3392" y="8175"/>
                <a:ext cx="227" cy="207"/>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solidFill>
                      <a:srgbClr val="FFFFFF"/>
                    </a:solidFill>
                    <a:latin typeface="Arial" pitchFamily="34" charset="0"/>
                  </a:rPr>
                  <a:t>30</a:t>
                </a:r>
                <a:endParaRPr lang="zh-CN" altLang="zh-CN" sz="1800" b="1">
                  <a:latin typeface="Arial" pitchFamily="34" charset="0"/>
                </a:endParaRPr>
              </a:p>
            </p:txBody>
          </p:sp>
          <p:sp>
            <p:nvSpPr>
              <p:cNvPr id="45165" name="Oval 174"/>
              <p:cNvSpPr>
                <a:spLocks noChangeArrowheads="1"/>
              </p:cNvSpPr>
              <p:nvPr/>
            </p:nvSpPr>
            <p:spPr bwMode="auto">
              <a:xfrm>
                <a:off x="3062" y="8741"/>
                <a:ext cx="374" cy="374"/>
              </a:xfrm>
              <a:prstGeom prst="ellipse">
                <a:avLst/>
              </a:prstGeom>
              <a:solidFill>
                <a:srgbClr val="969696"/>
              </a:solidFill>
              <a:ln w="9525">
                <a:solidFill>
                  <a:srgbClr val="000000"/>
                </a:solidFill>
                <a:round/>
                <a:headEnd/>
                <a:tailEnd/>
              </a:ln>
            </p:spPr>
            <p:txBody>
              <a:bodyPr/>
              <a:lstStyle/>
              <a:p>
                <a:endParaRPr lang="zh-CN" altLang="en-US" sz="1800" b="1">
                  <a:latin typeface="Times New Roman" pitchFamily="18" charset="0"/>
                </a:endParaRPr>
              </a:p>
            </p:txBody>
          </p:sp>
          <p:sp>
            <p:nvSpPr>
              <p:cNvPr id="45166" name="Text Box 175"/>
              <p:cNvSpPr txBox="1">
                <a:spLocks noChangeArrowheads="1"/>
              </p:cNvSpPr>
              <p:nvPr/>
            </p:nvSpPr>
            <p:spPr bwMode="auto">
              <a:xfrm>
                <a:off x="3152" y="8804"/>
                <a:ext cx="227" cy="207"/>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solidFill>
                      <a:srgbClr val="FFFFFF"/>
                    </a:solidFill>
                    <a:latin typeface="Arial" pitchFamily="34" charset="0"/>
                  </a:rPr>
                  <a:t>72</a:t>
                </a:r>
                <a:endParaRPr lang="zh-CN" altLang="zh-CN" sz="1800" b="1">
                  <a:latin typeface="Arial" pitchFamily="34" charset="0"/>
                </a:endParaRPr>
              </a:p>
            </p:txBody>
          </p:sp>
          <p:sp>
            <p:nvSpPr>
              <p:cNvPr id="45167" name="Oval 176"/>
              <p:cNvSpPr>
                <a:spLocks noChangeArrowheads="1"/>
              </p:cNvSpPr>
              <p:nvPr/>
            </p:nvSpPr>
            <p:spPr bwMode="auto">
              <a:xfrm>
                <a:off x="3588" y="8726"/>
                <a:ext cx="374" cy="374"/>
              </a:xfrm>
              <a:prstGeom prst="ellipse">
                <a:avLst/>
              </a:prstGeom>
              <a:solidFill>
                <a:srgbClr val="969696"/>
              </a:solidFill>
              <a:ln w="9525">
                <a:solidFill>
                  <a:srgbClr val="000000"/>
                </a:solidFill>
                <a:round/>
                <a:headEnd/>
                <a:tailEnd/>
              </a:ln>
            </p:spPr>
            <p:txBody>
              <a:bodyPr/>
              <a:lstStyle/>
              <a:p>
                <a:endParaRPr lang="zh-CN" altLang="en-US" sz="1800" b="1">
                  <a:latin typeface="Times New Roman" pitchFamily="18" charset="0"/>
                </a:endParaRPr>
              </a:p>
            </p:txBody>
          </p:sp>
          <p:sp>
            <p:nvSpPr>
              <p:cNvPr id="45168" name="Text Box 177"/>
              <p:cNvSpPr txBox="1">
                <a:spLocks noChangeArrowheads="1"/>
              </p:cNvSpPr>
              <p:nvPr/>
            </p:nvSpPr>
            <p:spPr bwMode="auto">
              <a:xfrm>
                <a:off x="3678" y="8804"/>
                <a:ext cx="227" cy="207"/>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49</a:t>
                </a:r>
                <a:endParaRPr lang="zh-CN" altLang="zh-CN" sz="1800" b="1">
                  <a:latin typeface="Arial" pitchFamily="34" charset="0"/>
                </a:endParaRPr>
              </a:p>
            </p:txBody>
          </p:sp>
          <p:sp>
            <p:nvSpPr>
              <p:cNvPr id="45169" name="Line 178"/>
              <p:cNvSpPr>
                <a:spLocks noChangeShapeType="1"/>
              </p:cNvSpPr>
              <p:nvPr/>
            </p:nvSpPr>
            <p:spPr bwMode="auto">
              <a:xfrm flipH="1">
                <a:off x="3317" y="8474"/>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70" name="Line 179"/>
              <p:cNvSpPr>
                <a:spLocks noChangeShapeType="1"/>
              </p:cNvSpPr>
              <p:nvPr/>
            </p:nvSpPr>
            <p:spPr bwMode="auto">
              <a:xfrm>
                <a:off x="3557" y="8474"/>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71" name="Line 180"/>
              <p:cNvSpPr>
                <a:spLocks noChangeShapeType="1"/>
              </p:cNvSpPr>
              <p:nvPr/>
            </p:nvSpPr>
            <p:spPr bwMode="auto">
              <a:xfrm>
                <a:off x="3123" y="7931"/>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72" name="Oval 181"/>
              <p:cNvSpPr>
                <a:spLocks noChangeArrowheads="1"/>
              </p:cNvSpPr>
              <p:nvPr/>
            </p:nvSpPr>
            <p:spPr bwMode="auto">
              <a:xfrm>
                <a:off x="4805" y="7571"/>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73" name="Text Box 182"/>
              <p:cNvSpPr txBox="1">
                <a:spLocks noChangeArrowheads="1"/>
              </p:cNvSpPr>
              <p:nvPr/>
            </p:nvSpPr>
            <p:spPr bwMode="auto">
              <a:xfrm>
                <a:off x="4880" y="7649"/>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43</a:t>
                </a:r>
                <a:endParaRPr lang="zh-CN" altLang="zh-CN" sz="1800" b="1">
                  <a:latin typeface="Arial" pitchFamily="34" charset="0"/>
                </a:endParaRPr>
              </a:p>
            </p:txBody>
          </p:sp>
          <p:sp>
            <p:nvSpPr>
              <p:cNvPr id="45174" name="Oval 183"/>
              <p:cNvSpPr>
                <a:spLocks noChangeArrowheads="1"/>
              </p:cNvSpPr>
              <p:nvPr/>
            </p:nvSpPr>
            <p:spPr bwMode="auto">
              <a:xfrm>
                <a:off x="4354" y="8093"/>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75" name="Text Box 184"/>
              <p:cNvSpPr txBox="1">
                <a:spLocks noChangeArrowheads="1"/>
              </p:cNvSpPr>
              <p:nvPr/>
            </p:nvSpPr>
            <p:spPr bwMode="auto">
              <a:xfrm>
                <a:off x="4459" y="8171"/>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87</a:t>
                </a:r>
                <a:endParaRPr lang="zh-CN" altLang="zh-CN" sz="1800" b="1">
                  <a:latin typeface="Arial" pitchFamily="34" charset="0"/>
                </a:endParaRPr>
              </a:p>
            </p:txBody>
          </p:sp>
          <p:sp>
            <p:nvSpPr>
              <p:cNvPr id="45176" name="Line 185"/>
              <p:cNvSpPr>
                <a:spLocks noChangeShapeType="1"/>
              </p:cNvSpPr>
              <p:nvPr/>
            </p:nvSpPr>
            <p:spPr bwMode="auto">
              <a:xfrm flipH="1">
                <a:off x="4654" y="7916"/>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77" name="Oval 186"/>
              <p:cNvSpPr>
                <a:spLocks noChangeArrowheads="1"/>
              </p:cNvSpPr>
              <p:nvPr/>
            </p:nvSpPr>
            <p:spPr bwMode="auto">
              <a:xfrm>
                <a:off x="4114" y="8722"/>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78" name="Text Box 187"/>
              <p:cNvSpPr txBox="1">
                <a:spLocks noChangeArrowheads="1"/>
              </p:cNvSpPr>
              <p:nvPr/>
            </p:nvSpPr>
            <p:spPr bwMode="auto">
              <a:xfrm>
                <a:off x="4204" y="8800"/>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9</a:t>
                </a:r>
                <a:endParaRPr lang="zh-CN" altLang="zh-CN" sz="1800" b="1">
                  <a:latin typeface="Arial" pitchFamily="34" charset="0"/>
                </a:endParaRPr>
              </a:p>
            </p:txBody>
          </p:sp>
          <p:sp>
            <p:nvSpPr>
              <p:cNvPr id="45179" name="Line 188"/>
              <p:cNvSpPr>
                <a:spLocks noChangeShapeType="1"/>
              </p:cNvSpPr>
              <p:nvPr/>
            </p:nvSpPr>
            <p:spPr bwMode="auto">
              <a:xfrm flipH="1">
                <a:off x="4369" y="8455"/>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80" name="Oval 189"/>
              <p:cNvSpPr>
                <a:spLocks noChangeArrowheads="1"/>
              </p:cNvSpPr>
              <p:nvPr/>
            </p:nvSpPr>
            <p:spPr bwMode="auto">
              <a:xfrm>
                <a:off x="5313" y="8092"/>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81" name="Text Box 190"/>
              <p:cNvSpPr txBox="1">
                <a:spLocks noChangeArrowheads="1"/>
              </p:cNvSpPr>
              <p:nvPr/>
            </p:nvSpPr>
            <p:spPr bwMode="auto">
              <a:xfrm>
                <a:off x="5418" y="8170"/>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38</a:t>
                </a:r>
                <a:endParaRPr lang="zh-CN" altLang="zh-CN" sz="1800" b="1">
                  <a:latin typeface="Arial" pitchFamily="34" charset="0"/>
                </a:endParaRPr>
              </a:p>
            </p:txBody>
          </p:sp>
          <p:sp>
            <p:nvSpPr>
              <p:cNvPr id="45182" name="Line 191"/>
              <p:cNvSpPr>
                <a:spLocks noChangeShapeType="1"/>
              </p:cNvSpPr>
              <p:nvPr/>
            </p:nvSpPr>
            <p:spPr bwMode="auto">
              <a:xfrm>
                <a:off x="5134" y="7911"/>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83" name="Line 192"/>
              <p:cNvSpPr>
                <a:spLocks noChangeShapeType="1"/>
              </p:cNvSpPr>
              <p:nvPr/>
            </p:nvSpPr>
            <p:spPr bwMode="auto">
              <a:xfrm>
                <a:off x="4143" y="7349"/>
                <a:ext cx="675" cy="3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grpSp>
        <p:cxnSp>
          <p:nvCxnSpPr>
            <p:cNvPr id="45148" name="直接箭头连接符 152"/>
            <p:cNvCxnSpPr>
              <a:cxnSpLocks noChangeShapeType="1"/>
            </p:cNvCxnSpPr>
            <p:nvPr/>
          </p:nvCxnSpPr>
          <p:spPr bwMode="auto">
            <a:xfrm rot="5400000" flipH="1" flipV="1">
              <a:off x="1223312" y="5581038"/>
              <a:ext cx="405358" cy="148350"/>
            </a:xfrm>
            <a:prstGeom prst="straightConnector1">
              <a:avLst/>
            </a:prstGeom>
            <a:noFill/>
            <a:ln w="25400" algn="ctr">
              <a:solidFill>
                <a:srgbClr val="0000FF"/>
              </a:solidFill>
              <a:prstDash val="sysDot"/>
              <a:round/>
              <a:headEnd type="arrow" w="med" len="med"/>
              <a:tailEnd type="arrow" w="med" len="med"/>
            </a:ln>
            <a:extLst>
              <a:ext uri="{909E8E84-426E-40DD-AFC4-6F175D3DCCD1}">
                <a14:hiddenFill xmlns:a14="http://schemas.microsoft.com/office/drawing/2010/main">
                  <a:noFill/>
                </a14:hiddenFill>
              </a:ext>
            </a:extLst>
          </p:spPr>
        </p:cxnSp>
      </p:grpSp>
      <p:grpSp>
        <p:nvGrpSpPr>
          <p:cNvPr id="159" name="组合 158"/>
          <p:cNvGrpSpPr>
            <a:grpSpLocks/>
          </p:cNvGrpSpPr>
          <p:nvPr/>
        </p:nvGrpSpPr>
        <p:grpSpPr bwMode="auto">
          <a:xfrm>
            <a:off x="1176338" y="1784350"/>
            <a:ext cx="4500562" cy="2643188"/>
            <a:chOff x="4643406" y="2857496"/>
            <a:chExt cx="4500594" cy="2643206"/>
          </a:xfrm>
        </p:grpSpPr>
        <p:grpSp>
          <p:nvGrpSpPr>
            <p:cNvPr id="45110" name="Group 105"/>
            <p:cNvGrpSpPr>
              <a:grpSpLocks/>
            </p:cNvGrpSpPr>
            <p:nvPr/>
          </p:nvGrpSpPr>
          <p:grpSpPr bwMode="auto">
            <a:xfrm>
              <a:off x="4643406" y="2857496"/>
              <a:ext cx="4500594" cy="2643206"/>
              <a:chOff x="6361" y="7056"/>
              <a:chExt cx="3584" cy="2060"/>
            </a:xfrm>
          </p:grpSpPr>
          <p:sp>
            <p:nvSpPr>
              <p:cNvPr id="45112" name="Line 106"/>
              <p:cNvSpPr>
                <a:spLocks noChangeShapeType="1"/>
              </p:cNvSpPr>
              <p:nvPr/>
            </p:nvSpPr>
            <p:spPr bwMode="auto">
              <a:xfrm flipH="1">
                <a:off x="7408" y="7346"/>
                <a:ext cx="675" cy="3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13" name="Oval 107"/>
              <p:cNvSpPr>
                <a:spLocks noChangeArrowheads="1"/>
              </p:cNvSpPr>
              <p:nvPr/>
            </p:nvSpPr>
            <p:spPr bwMode="auto">
              <a:xfrm>
                <a:off x="8057" y="7056"/>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800" b="1">
                  <a:latin typeface="Times New Roman" pitchFamily="18" charset="0"/>
                </a:endParaRPr>
              </a:p>
            </p:txBody>
          </p:sp>
          <p:sp>
            <p:nvSpPr>
              <p:cNvPr id="45114" name="Oval 108"/>
              <p:cNvSpPr>
                <a:spLocks noChangeArrowheads="1"/>
              </p:cNvSpPr>
              <p:nvPr/>
            </p:nvSpPr>
            <p:spPr bwMode="auto">
              <a:xfrm>
                <a:off x="7052" y="7591"/>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15" name="Text Box 109"/>
              <p:cNvSpPr txBox="1">
                <a:spLocks noChangeArrowheads="1"/>
              </p:cNvSpPr>
              <p:nvPr/>
            </p:nvSpPr>
            <p:spPr bwMode="auto">
              <a:xfrm>
                <a:off x="7127" y="7669"/>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66</a:t>
                </a:r>
                <a:endParaRPr lang="zh-CN" altLang="zh-CN" sz="1800" b="1">
                  <a:latin typeface="Arial" pitchFamily="34" charset="0"/>
                </a:endParaRPr>
              </a:p>
            </p:txBody>
          </p:sp>
          <p:sp>
            <p:nvSpPr>
              <p:cNvPr id="45116" name="Oval 110"/>
              <p:cNvSpPr>
                <a:spLocks noChangeArrowheads="1"/>
              </p:cNvSpPr>
              <p:nvPr/>
            </p:nvSpPr>
            <p:spPr bwMode="auto">
              <a:xfrm>
                <a:off x="6601" y="8113"/>
                <a:ext cx="374" cy="374"/>
              </a:xfrm>
              <a:prstGeom prst="ellipse">
                <a:avLst/>
              </a:prstGeom>
              <a:solidFill>
                <a:srgbClr val="808080"/>
              </a:solidFill>
              <a:ln w="9525">
                <a:solidFill>
                  <a:srgbClr val="000000"/>
                </a:solidFill>
                <a:round/>
                <a:headEnd/>
                <a:tailEnd/>
              </a:ln>
            </p:spPr>
            <p:txBody>
              <a:bodyPr/>
              <a:lstStyle/>
              <a:p>
                <a:endParaRPr lang="zh-CN" altLang="en-US" sz="1800" b="1">
                  <a:latin typeface="Times New Roman" pitchFamily="18" charset="0"/>
                </a:endParaRPr>
              </a:p>
            </p:txBody>
          </p:sp>
          <p:sp>
            <p:nvSpPr>
              <p:cNvPr id="45117" name="Text Box 111"/>
              <p:cNvSpPr txBox="1">
                <a:spLocks noChangeArrowheads="1"/>
              </p:cNvSpPr>
              <p:nvPr/>
            </p:nvSpPr>
            <p:spPr bwMode="auto">
              <a:xfrm>
                <a:off x="6691" y="8176"/>
                <a:ext cx="227" cy="207"/>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solidFill>
                      <a:srgbClr val="FFFFFF"/>
                    </a:solidFill>
                    <a:latin typeface="Arial" pitchFamily="34" charset="0"/>
                  </a:rPr>
                  <a:t>83</a:t>
                </a:r>
                <a:endParaRPr lang="zh-CN" altLang="zh-CN" sz="1800" b="1">
                  <a:latin typeface="Arial" pitchFamily="34" charset="0"/>
                </a:endParaRPr>
              </a:p>
            </p:txBody>
          </p:sp>
          <p:sp>
            <p:nvSpPr>
              <p:cNvPr id="45118" name="Line 112"/>
              <p:cNvSpPr>
                <a:spLocks noChangeShapeType="1"/>
              </p:cNvSpPr>
              <p:nvPr/>
            </p:nvSpPr>
            <p:spPr bwMode="auto">
              <a:xfrm flipH="1">
                <a:off x="6901" y="7936"/>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19" name="Text Box 113"/>
              <p:cNvSpPr txBox="1">
                <a:spLocks noChangeArrowheads="1"/>
              </p:cNvSpPr>
              <p:nvPr/>
            </p:nvSpPr>
            <p:spPr bwMode="auto">
              <a:xfrm>
                <a:off x="8129" y="7134"/>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solidFill>
                      <a:srgbClr val="000000"/>
                    </a:solidFill>
                    <a:latin typeface="Arial" pitchFamily="34" charset="0"/>
                  </a:rPr>
                  <a:t>79</a:t>
                </a:r>
                <a:endParaRPr lang="zh-CN" altLang="zh-CN" sz="1800" b="1">
                  <a:latin typeface="Arial" pitchFamily="34" charset="0"/>
                </a:endParaRPr>
              </a:p>
            </p:txBody>
          </p:sp>
          <p:sp>
            <p:nvSpPr>
              <p:cNvPr id="45120" name="Oval 114"/>
              <p:cNvSpPr>
                <a:spLocks noChangeArrowheads="1"/>
              </p:cNvSpPr>
              <p:nvPr/>
            </p:nvSpPr>
            <p:spPr bwMode="auto">
              <a:xfrm>
                <a:off x="6361" y="8742"/>
                <a:ext cx="374" cy="374"/>
              </a:xfrm>
              <a:prstGeom prst="ellipse">
                <a:avLst/>
              </a:prstGeom>
              <a:solidFill>
                <a:srgbClr val="969696"/>
              </a:solidFill>
              <a:ln w="9525">
                <a:solidFill>
                  <a:srgbClr val="000000"/>
                </a:solidFill>
                <a:round/>
                <a:headEnd/>
                <a:tailEnd/>
              </a:ln>
            </p:spPr>
            <p:txBody>
              <a:bodyPr/>
              <a:lstStyle/>
              <a:p>
                <a:endParaRPr lang="zh-CN" altLang="en-US" sz="1800" b="1">
                  <a:latin typeface="Times New Roman" pitchFamily="18" charset="0"/>
                </a:endParaRPr>
              </a:p>
            </p:txBody>
          </p:sp>
          <p:sp>
            <p:nvSpPr>
              <p:cNvPr id="45121" name="Text Box 115"/>
              <p:cNvSpPr txBox="1">
                <a:spLocks noChangeArrowheads="1"/>
              </p:cNvSpPr>
              <p:nvPr/>
            </p:nvSpPr>
            <p:spPr bwMode="auto">
              <a:xfrm>
                <a:off x="6451" y="8805"/>
                <a:ext cx="227" cy="207"/>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55</a:t>
                </a:r>
                <a:endParaRPr lang="zh-CN" altLang="zh-CN" sz="1800" b="1">
                  <a:latin typeface="Arial" pitchFamily="34" charset="0"/>
                </a:endParaRPr>
              </a:p>
            </p:txBody>
          </p:sp>
          <p:sp>
            <p:nvSpPr>
              <p:cNvPr id="45122" name="Oval 116"/>
              <p:cNvSpPr>
                <a:spLocks noChangeArrowheads="1"/>
              </p:cNvSpPr>
              <p:nvPr/>
            </p:nvSpPr>
            <p:spPr bwMode="auto">
              <a:xfrm>
                <a:off x="6887" y="8727"/>
                <a:ext cx="374" cy="374"/>
              </a:xfrm>
              <a:prstGeom prst="ellipse">
                <a:avLst/>
              </a:prstGeom>
              <a:solidFill>
                <a:srgbClr val="969696"/>
              </a:solidFill>
              <a:ln w="9525">
                <a:solidFill>
                  <a:srgbClr val="000000"/>
                </a:solidFill>
                <a:round/>
                <a:headEnd/>
                <a:tailEnd/>
              </a:ln>
            </p:spPr>
            <p:txBody>
              <a:bodyPr/>
              <a:lstStyle/>
              <a:p>
                <a:endParaRPr lang="zh-CN" altLang="en-US" sz="1800" b="1">
                  <a:latin typeface="Times New Roman" pitchFamily="18" charset="0"/>
                </a:endParaRPr>
              </a:p>
            </p:txBody>
          </p:sp>
          <p:sp>
            <p:nvSpPr>
              <p:cNvPr id="45123" name="Text Box 117"/>
              <p:cNvSpPr txBox="1">
                <a:spLocks noChangeArrowheads="1"/>
              </p:cNvSpPr>
              <p:nvPr/>
            </p:nvSpPr>
            <p:spPr bwMode="auto">
              <a:xfrm>
                <a:off x="6992" y="8790"/>
                <a:ext cx="227" cy="207"/>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solidFill>
                      <a:srgbClr val="FFFFFF"/>
                    </a:solidFill>
                    <a:latin typeface="Arial" pitchFamily="34" charset="0"/>
                  </a:rPr>
                  <a:t>91</a:t>
                </a:r>
                <a:endParaRPr lang="zh-CN" altLang="zh-CN" sz="1800" b="1">
                  <a:latin typeface="Arial" pitchFamily="34" charset="0"/>
                </a:endParaRPr>
              </a:p>
            </p:txBody>
          </p:sp>
          <p:sp>
            <p:nvSpPr>
              <p:cNvPr id="45124" name="Line 118"/>
              <p:cNvSpPr>
                <a:spLocks noChangeShapeType="1"/>
              </p:cNvSpPr>
              <p:nvPr/>
            </p:nvSpPr>
            <p:spPr bwMode="auto">
              <a:xfrm flipH="1">
                <a:off x="6616" y="8475"/>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25" name="Line 119"/>
              <p:cNvSpPr>
                <a:spLocks noChangeShapeType="1"/>
              </p:cNvSpPr>
              <p:nvPr/>
            </p:nvSpPr>
            <p:spPr bwMode="auto">
              <a:xfrm>
                <a:off x="6856" y="8475"/>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26" name="Oval 120"/>
              <p:cNvSpPr>
                <a:spLocks noChangeArrowheads="1"/>
              </p:cNvSpPr>
              <p:nvPr/>
            </p:nvSpPr>
            <p:spPr bwMode="auto">
              <a:xfrm>
                <a:off x="7560" y="8112"/>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800" b="1">
                  <a:latin typeface="Times New Roman" pitchFamily="18" charset="0"/>
                </a:endParaRPr>
              </a:p>
            </p:txBody>
          </p:sp>
          <p:sp>
            <p:nvSpPr>
              <p:cNvPr id="45127" name="Text Box 121"/>
              <p:cNvSpPr txBox="1">
                <a:spLocks noChangeArrowheads="1"/>
              </p:cNvSpPr>
              <p:nvPr/>
            </p:nvSpPr>
            <p:spPr bwMode="auto">
              <a:xfrm>
                <a:off x="7650" y="8175"/>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72</a:t>
                </a:r>
                <a:endParaRPr lang="zh-CN" altLang="zh-CN" sz="1800" b="1">
                  <a:latin typeface="Arial" pitchFamily="34" charset="0"/>
                </a:endParaRPr>
              </a:p>
            </p:txBody>
          </p:sp>
          <p:sp>
            <p:nvSpPr>
              <p:cNvPr id="45128" name="Oval 122"/>
              <p:cNvSpPr>
                <a:spLocks noChangeArrowheads="1"/>
              </p:cNvSpPr>
              <p:nvPr/>
            </p:nvSpPr>
            <p:spPr bwMode="auto">
              <a:xfrm>
                <a:off x="7320" y="8741"/>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800" b="1">
                  <a:latin typeface="Times New Roman" pitchFamily="18" charset="0"/>
                </a:endParaRPr>
              </a:p>
            </p:txBody>
          </p:sp>
          <p:sp>
            <p:nvSpPr>
              <p:cNvPr id="45129" name="Text Box 123"/>
              <p:cNvSpPr txBox="1">
                <a:spLocks noChangeArrowheads="1"/>
              </p:cNvSpPr>
              <p:nvPr/>
            </p:nvSpPr>
            <p:spPr bwMode="auto">
              <a:xfrm>
                <a:off x="7410" y="8819"/>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30</a:t>
                </a:r>
                <a:endParaRPr lang="zh-CN" altLang="zh-CN" sz="1800" b="1">
                  <a:latin typeface="Arial" pitchFamily="34" charset="0"/>
                </a:endParaRPr>
              </a:p>
            </p:txBody>
          </p:sp>
          <p:sp>
            <p:nvSpPr>
              <p:cNvPr id="45130" name="Oval 124"/>
              <p:cNvSpPr>
                <a:spLocks noChangeArrowheads="1"/>
              </p:cNvSpPr>
              <p:nvPr/>
            </p:nvSpPr>
            <p:spPr bwMode="auto">
              <a:xfrm>
                <a:off x="7846" y="8726"/>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800" b="1">
                  <a:latin typeface="Times New Roman" pitchFamily="18" charset="0"/>
                </a:endParaRPr>
              </a:p>
            </p:txBody>
          </p:sp>
          <p:sp>
            <p:nvSpPr>
              <p:cNvPr id="45131" name="Text Box 125"/>
              <p:cNvSpPr txBox="1">
                <a:spLocks noChangeArrowheads="1"/>
              </p:cNvSpPr>
              <p:nvPr/>
            </p:nvSpPr>
            <p:spPr bwMode="auto">
              <a:xfrm>
                <a:off x="7936" y="8804"/>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49</a:t>
                </a:r>
                <a:endParaRPr lang="zh-CN" altLang="zh-CN" sz="1800" b="1">
                  <a:latin typeface="Arial" pitchFamily="34" charset="0"/>
                </a:endParaRPr>
              </a:p>
            </p:txBody>
          </p:sp>
          <p:sp>
            <p:nvSpPr>
              <p:cNvPr id="45132" name="Line 126"/>
              <p:cNvSpPr>
                <a:spLocks noChangeShapeType="1"/>
              </p:cNvSpPr>
              <p:nvPr/>
            </p:nvSpPr>
            <p:spPr bwMode="auto">
              <a:xfrm flipH="1">
                <a:off x="7575" y="8474"/>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33" name="Line 127"/>
              <p:cNvSpPr>
                <a:spLocks noChangeShapeType="1"/>
              </p:cNvSpPr>
              <p:nvPr/>
            </p:nvSpPr>
            <p:spPr bwMode="auto">
              <a:xfrm>
                <a:off x="7815" y="8474"/>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34" name="Line 128"/>
              <p:cNvSpPr>
                <a:spLocks noChangeShapeType="1"/>
              </p:cNvSpPr>
              <p:nvPr/>
            </p:nvSpPr>
            <p:spPr bwMode="auto">
              <a:xfrm>
                <a:off x="7381" y="7931"/>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35" name="Oval 129"/>
              <p:cNvSpPr>
                <a:spLocks noChangeArrowheads="1"/>
              </p:cNvSpPr>
              <p:nvPr/>
            </p:nvSpPr>
            <p:spPr bwMode="auto">
              <a:xfrm>
                <a:off x="9063" y="7571"/>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36" name="Text Box 130"/>
              <p:cNvSpPr txBox="1">
                <a:spLocks noChangeArrowheads="1"/>
              </p:cNvSpPr>
              <p:nvPr/>
            </p:nvSpPr>
            <p:spPr bwMode="auto">
              <a:xfrm>
                <a:off x="9138" y="7649"/>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43</a:t>
                </a:r>
                <a:endParaRPr lang="zh-CN" altLang="zh-CN" sz="1800" b="1">
                  <a:latin typeface="Arial" pitchFamily="34" charset="0"/>
                </a:endParaRPr>
              </a:p>
            </p:txBody>
          </p:sp>
          <p:sp>
            <p:nvSpPr>
              <p:cNvPr id="45137" name="Oval 131"/>
              <p:cNvSpPr>
                <a:spLocks noChangeArrowheads="1"/>
              </p:cNvSpPr>
              <p:nvPr/>
            </p:nvSpPr>
            <p:spPr bwMode="auto">
              <a:xfrm>
                <a:off x="8612" y="8093"/>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38" name="Text Box 132"/>
              <p:cNvSpPr txBox="1">
                <a:spLocks noChangeArrowheads="1"/>
              </p:cNvSpPr>
              <p:nvPr/>
            </p:nvSpPr>
            <p:spPr bwMode="auto">
              <a:xfrm>
                <a:off x="8717" y="8171"/>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87</a:t>
                </a:r>
                <a:endParaRPr lang="zh-CN" altLang="zh-CN" sz="1800" b="1">
                  <a:latin typeface="Arial" pitchFamily="34" charset="0"/>
                </a:endParaRPr>
              </a:p>
            </p:txBody>
          </p:sp>
          <p:sp>
            <p:nvSpPr>
              <p:cNvPr id="45139" name="Line 133"/>
              <p:cNvSpPr>
                <a:spLocks noChangeShapeType="1"/>
              </p:cNvSpPr>
              <p:nvPr/>
            </p:nvSpPr>
            <p:spPr bwMode="auto">
              <a:xfrm flipH="1">
                <a:off x="8912" y="7916"/>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40" name="Oval 134"/>
              <p:cNvSpPr>
                <a:spLocks noChangeArrowheads="1"/>
              </p:cNvSpPr>
              <p:nvPr/>
            </p:nvSpPr>
            <p:spPr bwMode="auto">
              <a:xfrm>
                <a:off x="8372" y="8722"/>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41" name="Text Box 135"/>
              <p:cNvSpPr txBox="1">
                <a:spLocks noChangeArrowheads="1"/>
              </p:cNvSpPr>
              <p:nvPr/>
            </p:nvSpPr>
            <p:spPr bwMode="auto">
              <a:xfrm>
                <a:off x="8462" y="8800"/>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9</a:t>
                </a:r>
                <a:endParaRPr lang="zh-CN" altLang="zh-CN" sz="1800" b="1">
                  <a:latin typeface="Arial" pitchFamily="34" charset="0"/>
                </a:endParaRPr>
              </a:p>
            </p:txBody>
          </p:sp>
          <p:sp>
            <p:nvSpPr>
              <p:cNvPr id="45142" name="Line 136"/>
              <p:cNvSpPr>
                <a:spLocks noChangeShapeType="1"/>
              </p:cNvSpPr>
              <p:nvPr/>
            </p:nvSpPr>
            <p:spPr bwMode="auto">
              <a:xfrm flipH="1">
                <a:off x="8627" y="8455"/>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43" name="Oval 137"/>
              <p:cNvSpPr>
                <a:spLocks noChangeArrowheads="1"/>
              </p:cNvSpPr>
              <p:nvPr/>
            </p:nvSpPr>
            <p:spPr bwMode="auto">
              <a:xfrm>
                <a:off x="9571" y="8092"/>
                <a:ext cx="374" cy="374"/>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44" name="Text Box 138"/>
              <p:cNvSpPr txBox="1">
                <a:spLocks noChangeArrowheads="1"/>
              </p:cNvSpPr>
              <p:nvPr/>
            </p:nvSpPr>
            <p:spPr bwMode="auto">
              <a:xfrm>
                <a:off x="9676" y="8170"/>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38</a:t>
                </a:r>
                <a:endParaRPr lang="zh-CN" altLang="zh-CN" sz="1800" b="1">
                  <a:latin typeface="Arial" pitchFamily="34" charset="0"/>
                </a:endParaRPr>
              </a:p>
            </p:txBody>
          </p:sp>
          <p:sp>
            <p:nvSpPr>
              <p:cNvPr id="45145" name="Line 139"/>
              <p:cNvSpPr>
                <a:spLocks noChangeShapeType="1"/>
              </p:cNvSpPr>
              <p:nvPr/>
            </p:nvSpPr>
            <p:spPr bwMode="auto">
              <a:xfrm>
                <a:off x="9392" y="7911"/>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46" name="Line 140"/>
              <p:cNvSpPr>
                <a:spLocks noChangeShapeType="1"/>
              </p:cNvSpPr>
              <p:nvPr/>
            </p:nvSpPr>
            <p:spPr bwMode="auto">
              <a:xfrm>
                <a:off x="8401" y="7349"/>
                <a:ext cx="675" cy="3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grpSp>
        <p:cxnSp>
          <p:nvCxnSpPr>
            <p:cNvPr id="45111" name="直接箭头连接符 156"/>
            <p:cNvCxnSpPr>
              <a:cxnSpLocks noChangeShapeType="1"/>
            </p:cNvCxnSpPr>
            <p:nvPr/>
          </p:nvCxnSpPr>
          <p:spPr bwMode="auto">
            <a:xfrm rot="16200000" flipV="1">
              <a:off x="5298015" y="4703249"/>
              <a:ext cx="405358" cy="142876"/>
            </a:xfrm>
            <a:prstGeom prst="straightConnector1">
              <a:avLst/>
            </a:prstGeom>
            <a:noFill/>
            <a:ln w="25400" algn="ctr">
              <a:solidFill>
                <a:srgbClr val="0000FF"/>
              </a:solidFill>
              <a:prstDash val="sysDot"/>
              <a:round/>
              <a:headEnd type="arrow" w="med" len="med"/>
              <a:tailEnd type="arrow" w="med" len="med"/>
            </a:ln>
            <a:extLst>
              <a:ext uri="{909E8E84-426E-40DD-AFC4-6F175D3DCCD1}">
                <a14:hiddenFill xmlns:a14="http://schemas.microsoft.com/office/drawing/2010/main">
                  <a:noFill/>
                </a14:hiddenFill>
              </a:ext>
            </a:extLst>
          </p:spPr>
        </p:cxnSp>
      </p:grpSp>
      <p:grpSp>
        <p:nvGrpSpPr>
          <p:cNvPr id="199" name="组合 198"/>
          <p:cNvGrpSpPr>
            <a:grpSpLocks/>
          </p:cNvGrpSpPr>
          <p:nvPr/>
        </p:nvGrpSpPr>
        <p:grpSpPr bwMode="auto">
          <a:xfrm>
            <a:off x="3992563" y="1427163"/>
            <a:ext cx="4294187" cy="2143125"/>
            <a:chOff x="3173657" y="428604"/>
            <a:chExt cx="4293943" cy="2143140"/>
          </a:xfrm>
        </p:grpSpPr>
        <p:sp>
          <p:nvSpPr>
            <p:cNvPr id="196" name="Oval 77"/>
            <p:cNvSpPr>
              <a:spLocks noChangeArrowheads="1"/>
            </p:cNvSpPr>
            <p:nvPr/>
          </p:nvSpPr>
          <p:spPr bwMode="auto">
            <a:xfrm>
              <a:off x="3173657" y="2092316"/>
              <a:ext cx="469873" cy="479428"/>
            </a:xfrm>
            <a:prstGeom prst="ellipse">
              <a:avLst/>
            </a:prstGeom>
            <a:solidFill>
              <a:schemeClr val="accent2">
                <a:lumMod val="60000"/>
                <a:lumOff val="40000"/>
                <a:alpha val="54000"/>
              </a:schemeClr>
            </a:solidFill>
            <a:ln w="9525">
              <a:solidFill>
                <a:srgbClr val="000000"/>
              </a:solidFill>
              <a:round/>
              <a:headEnd/>
              <a:tailEnd/>
            </a:ln>
          </p:spPr>
          <p:txBody>
            <a:bodyPr/>
            <a:lstStyle/>
            <a:p>
              <a:pPr fontAlgn="auto">
                <a:spcBef>
                  <a:spcPts val="0"/>
                </a:spcBef>
                <a:spcAft>
                  <a:spcPts val="0"/>
                </a:spcAft>
                <a:defRPr/>
              </a:pPr>
              <a:endParaRPr lang="zh-CN" altLang="en-US" sz="1800" b="1">
                <a:latin typeface="+mn-lt"/>
                <a:ea typeface="+mn-ea"/>
              </a:endParaRPr>
            </a:p>
          </p:txBody>
        </p:sp>
        <p:sp>
          <p:nvSpPr>
            <p:cNvPr id="45109" name="AutoShape 4"/>
            <p:cNvSpPr>
              <a:spLocks noChangeArrowheads="1"/>
            </p:cNvSpPr>
            <p:nvPr/>
          </p:nvSpPr>
          <p:spPr bwMode="auto">
            <a:xfrm>
              <a:off x="4572000" y="428604"/>
              <a:ext cx="2895600" cy="714372"/>
            </a:xfrm>
            <a:prstGeom prst="wedgeEllipseCallout">
              <a:avLst>
                <a:gd name="adj1" fmla="val -82699"/>
                <a:gd name="adj2" fmla="val 207491"/>
              </a:avLst>
            </a:prstGeom>
            <a:gradFill rotWithShape="0">
              <a:gsLst>
                <a:gs pos="0">
                  <a:srgbClr val="C0C0C0"/>
                </a:gs>
                <a:gs pos="100000">
                  <a:srgbClr val="FFFFFF"/>
                </a:gs>
              </a:gsLst>
              <a:lin ang="18900000" scaled="1"/>
            </a:gradFill>
            <a:ln w="12700">
              <a:solidFill>
                <a:schemeClr val="tx1"/>
              </a:solidFill>
              <a:miter lim="800000"/>
              <a:headEnd/>
              <a:tailEnd/>
            </a:ln>
          </p:spPr>
          <p:txBody>
            <a:bodyPr/>
            <a:lstStyle/>
            <a:p>
              <a:pPr algn="ctr"/>
              <a:r>
                <a:rPr lang="zh-CN" altLang="en-US" sz="1800" b="1" i="1">
                  <a:latin typeface="Times New Roman" pitchFamily="18" charset="0"/>
                </a:rPr>
                <a:t>当前考虑结点</a:t>
              </a:r>
              <a:endParaRPr lang="en-US" altLang="zh-CN" sz="1800" b="1" i="1">
                <a:latin typeface="Times New Roman" pitchFamily="18" charset="0"/>
              </a:endParaRPr>
            </a:p>
          </p:txBody>
        </p:sp>
      </p:grpSp>
      <p:grpSp>
        <p:nvGrpSpPr>
          <p:cNvPr id="200" name="组合 199"/>
          <p:cNvGrpSpPr>
            <a:grpSpLocks/>
          </p:cNvGrpSpPr>
          <p:nvPr/>
        </p:nvGrpSpPr>
        <p:grpSpPr bwMode="auto">
          <a:xfrm>
            <a:off x="2676525" y="1498600"/>
            <a:ext cx="4294188" cy="2143125"/>
            <a:chOff x="3173657" y="428604"/>
            <a:chExt cx="4293943" cy="2143140"/>
          </a:xfrm>
        </p:grpSpPr>
        <p:sp>
          <p:nvSpPr>
            <p:cNvPr id="201" name="Oval 77"/>
            <p:cNvSpPr>
              <a:spLocks noChangeArrowheads="1"/>
            </p:cNvSpPr>
            <p:nvPr/>
          </p:nvSpPr>
          <p:spPr bwMode="auto">
            <a:xfrm>
              <a:off x="3173657" y="2092316"/>
              <a:ext cx="469873" cy="479428"/>
            </a:xfrm>
            <a:prstGeom prst="ellipse">
              <a:avLst/>
            </a:prstGeom>
            <a:solidFill>
              <a:schemeClr val="accent2">
                <a:lumMod val="60000"/>
                <a:lumOff val="40000"/>
                <a:alpha val="54000"/>
              </a:schemeClr>
            </a:solidFill>
            <a:ln w="9525">
              <a:solidFill>
                <a:srgbClr val="000000"/>
              </a:solidFill>
              <a:round/>
              <a:headEnd/>
              <a:tailEnd/>
            </a:ln>
          </p:spPr>
          <p:txBody>
            <a:bodyPr/>
            <a:lstStyle/>
            <a:p>
              <a:pPr fontAlgn="auto">
                <a:spcBef>
                  <a:spcPts val="0"/>
                </a:spcBef>
                <a:spcAft>
                  <a:spcPts val="0"/>
                </a:spcAft>
                <a:defRPr/>
              </a:pPr>
              <a:endParaRPr lang="zh-CN" altLang="en-US" sz="1800" b="1">
                <a:latin typeface="+mn-lt"/>
                <a:ea typeface="+mn-ea"/>
              </a:endParaRPr>
            </a:p>
          </p:txBody>
        </p:sp>
        <p:sp>
          <p:nvSpPr>
            <p:cNvPr id="45107" name="AutoShape 4"/>
            <p:cNvSpPr>
              <a:spLocks noChangeArrowheads="1"/>
            </p:cNvSpPr>
            <p:nvPr/>
          </p:nvSpPr>
          <p:spPr bwMode="auto">
            <a:xfrm>
              <a:off x="4572000" y="428604"/>
              <a:ext cx="2895600" cy="714372"/>
            </a:xfrm>
            <a:prstGeom prst="wedgeEllipseCallout">
              <a:avLst>
                <a:gd name="adj1" fmla="val -82699"/>
                <a:gd name="adj2" fmla="val 207491"/>
              </a:avLst>
            </a:prstGeom>
            <a:gradFill rotWithShape="0">
              <a:gsLst>
                <a:gs pos="0">
                  <a:srgbClr val="C0C0C0"/>
                </a:gs>
                <a:gs pos="100000">
                  <a:srgbClr val="FFFFFF"/>
                </a:gs>
              </a:gsLst>
              <a:lin ang="18900000" scaled="1"/>
            </a:gradFill>
            <a:ln w="12700">
              <a:solidFill>
                <a:schemeClr val="tx1"/>
              </a:solidFill>
              <a:miter lim="800000"/>
              <a:headEnd/>
              <a:tailEnd/>
            </a:ln>
          </p:spPr>
          <p:txBody>
            <a:bodyPr/>
            <a:lstStyle/>
            <a:p>
              <a:pPr algn="ctr"/>
              <a:r>
                <a:rPr lang="zh-CN" altLang="en-US" sz="1800" b="1" i="1">
                  <a:latin typeface="Times New Roman" pitchFamily="18" charset="0"/>
                </a:rPr>
                <a:t>当前考虑结点</a:t>
              </a:r>
              <a:endParaRPr lang="en-US" altLang="zh-CN" sz="1800" b="1" i="1">
                <a:latin typeface="Times New Roman" pitchFamily="18" charset="0"/>
              </a:endParaRPr>
            </a:p>
          </p:txBody>
        </p:sp>
      </p:grpSp>
      <p:grpSp>
        <p:nvGrpSpPr>
          <p:cNvPr id="249" name="组合 248"/>
          <p:cNvGrpSpPr>
            <a:grpSpLocks/>
          </p:cNvGrpSpPr>
          <p:nvPr/>
        </p:nvGrpSpPr>
        <p:grpSpPr bwMode="auto">
          <a:xfrm>
            <a:off x="1143000" y="1785938"/>
            <a:ext cx="4500563" cy="2644775"/>
            <a:chOff x="-32" y="3643314"/>
            <a:chExt cx="4500631" cy="2644281"/>
          </a:xfrm>
        </p:grpSpPr>
        <p:sp>
          <p:nvSpPr>
            <p:cNvPr id="45071" name="Line 106"/>
            <p:cNvSpPr>
              <a:spLocks noChangeShapeType="1"/>
            </p:cNvSpPr>
            <p:nvPr/>
          </p:nvSpPr>
          <p:spPr bwMode="auto">
            <a:xfrm flipH="1">
              <a:off x="1314770" y="4015416"/>
              <a:ext cx="847629" cy="4580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072" name="Oval 107"/>
            <p:cNvSpPr>
              <a:spLocks noChangeArrowheads="1"/>
            </p:cNvSpPr>
            <p:nvPr/>
          </p:nvSpPr>
          <p:spPr bwMode="auto">
            <a:xfrm>
              <a:off x="2129749" y="3643314"/>
              <a:ext cx="469649" cy="47988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800" b="1">
                <a:latin typeface="Times New Roman" pitchFamily="18" charset="0"/>
              </a:endParaRPr>
            </a:p>
          </p:txBody>
        </p:sp>
        <p:sp>
          <p:nvSpPr>
            <p:cNvPr id="45073" name="Oval 108"/>
            <p:cNvSpPr>
              <a:spLocks noChangeArrowheads="1"/>
            </p:cNvSpPr>
            <p:nvPr/>
          </p:nvSpPr>
          <p:spPr bwMode="auto">
            <a:xfrm>
              <a:off x="867724" y="4329778"/>
              <a:ext cx="469649" cy="479883"/>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074" name="Text Box 109"/>
            <p:cNvSpPr txBox="1">
              <a:spLocks noChangeArrowheads="1"/>
            </p:cNvSpPr>
            <p:nvPr/>
          </p:nvSpPr>
          <p:spPr bwMode="auto">
            <a:xfrm>
              <a:off x="961905" y="4429860"/>
              <a:ext cx="285054" cy="26560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66</a:t>
              </a:r>
              <a:endParaRPr lang="zh-CN" altLang="zh-CN" sz="1800" b="1">
                <a:latin typeface="Arial" pitchFamily="34" charset="0"/>
              </a:endParaRPr>
            </a:p>
          </p:txBody>
        </p:sp>
        <p:sp>
          <p:nvSpPr>
            <p:cNvPr id="45075" name="Line 112"/>
            <p:cNvSpPr>
              <a:spLocks noChangeShapeType="1"/>
            </p:cNvSpPr>
            <p:nvPr/>
          </p:nvSpPr>
          <p:spPr bwMode="auto">
            <a:xfrm flipH="1">
              <a:off x="678106" y="4772451"/>
              <a:ext cx="298868" cy="27586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076" name="Text Box 113"/>
            <p:cNvSpPr txBox="1">
              <a:spLocks noChangeArrowheads="1"/>
            </p:cNvSpPr>
            <p:nvPr/>
          </p:nvSpPr>
          <p:spPr bwMode="auto">
            <a:xfrm>
              <a:off x="2220163" y="3743397"/>
              <a:ext cx="285054" cy="265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solidFill>
                    <a:srgbClr val="000000"/>
                  </a:solidFill>
                  <a:latin typeface="Arial" pitchFamily="34" charset="0"/>
                </a:rPr>
                <a:t>79</a:t>
              </a:r>
              <a:endParaRPr lang="zh-CN" altLang="zh-CN" sz="1800" b="1">
                <a:latin typeface="Arial" pitchFamily="34" charset="0"/>
              </a:endParaRPr>
            </a:p>
          </p:txBody>
        </p:sp>
        <p:sp>
          <p:nvSpPr>
            <p:cNvPr id="45077" name="Oval 120"/>
            <p:cNvSpPr>
              <a:spLocks noChangeArrowheads="1"/>
            </p:cNvSpPr>
            <p:nvPr/>
          </p:nvSpPr>
          <p:spPr bwMode="auto">
            <a:xfrm>
              <a:off x="1505643" y="4998278"/>
              <a:ext cx="469649" cy="47988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800" b="1">
                <a:latin typeface="Times New Roman" pitchFamily="18" charset="0"/>
              </a:endParaRPr>
            </a:p>
          </p:txBody>
        </p:sp>
        <p:sp>
          <p:nvSpPr>
            <p:cNvPr id="45078" name="Text Box 121"/>
            <p:cNvSpPr txBox="1">
              <a:spLocks noChangeArrowheads="1"/>
            </p:cNvSpPr>
            <p:nvPr/>
          </p:nvSpPr>
          <p:spPr bwMode="auto">
            <a:xfrm>
              <a:off x="1618660" y="5079114"/>
              <a:ext cx="285054" cy="265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72</a:t>
              </a:r>
              <a:endParaRPr lang="zh-CN" altLang="zh-CN" sz="1800" b="1">
                <a:latin typeface="Arial" pitchFamily="34" charset="0"/>
              </a:endParaRPr>
            </a:p>
          </p:txBody>
        </p:sp>
        <p:sp>
          <p:nvSpPr>
            <p:cNvPr id="45079" name="Oval 122"/>
            <p:cNvSpPr>
              <a:spLocks noChangeArrowheads="1"/>
            </p:cNvSpPr>
            <p:nvPr/>
          </p:nvSpPr>
          <p:spPr bwMode="auto">
            <a:xfrm>
              <a:off x="1204264" y="5805354"/>
              <a:ext cx="469649" cy="47988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800" b="1">
                <a:latin typeface="Times New Roman" pitchFamily="18" charset="0"/>
              </a:endParaRPr>
            </a:p>
          </p:txBody>
        </p:sp>
        <p:sp>
          <p:nvSpPr>
            <p:cNvPr id="45080" name="Text Box 123"/>
            <p:cNvSpPr txBox="1">
              <a:spLocks noChangeArrowheads="1"/>
            </p:cNvSpPr>
            <p:nvPr/>
          </p:nvSpPr>
          <p:spPr bwMode="auto">
            <a:xfrm>
              <a:off x="1317281" y="5905436"/>
              <a:ext cx="285054" cy="265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30</a:t>
              </a:r>
              <a:endParaRPr lang="zh-CN" altLang="zh-CN" sz="1800" b="1">
                <a:latin typeface="Arial" pitchFamily="34" charset="0"/>
              </a:endParaRPr>
            </a:p>
          </p:txBody>
        </p:sp>
        <p:sp>
          <p:nvSpPr>
            <p:cNvPr id="45081" name="Oval 124"/>
            <p:cNvSpPr>
              <a:spLocks noChangeArrowheads="1"/>
            </p:cNvSpPr>
            <p:nvPr/>
          </p:nvSpPr>
          <p:spPr bwMode="auto">
            <a:xfrm>
              <a:off x="1864787" y="5786107"/>
              <a:ext cx="469649" cy="47988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800" b="1">
                <a:latin typeface="Times New Roman" pitchFamily="18" charset="0"/>
              </a:endParaRPr>
            </a:p>
          </p:txBody>
        </p:sp>
        <p:sp>
          <p:nvSpPr>
            <p:cNvPr id="45082" name="Text Box 125"/>
            <p:cNvSpPr txBox="1">
              <a:spLocks noChangeArrowheads="1"/>
            </p:cNvSpPr>
            <p:nvPr/>
          </p:nvSpPr>
          <p:spPr bwMode="auto">
            <a:xfrm>
              <a:off x="1977804" y="5886190"/>
              <a:ext cx="285054" cy="265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49</a:t>
              </a:r>
              <a:endParaRPr lang="zh-CN" altLang="zh-CN" sz="1800" b="1">
                <a:latin typeface="Arial" pitchFamily="34" charset="0"/>
              </a:endParaRPr>
            </a:p>
          </p:txBody>
        </p:sp>
        <p:sp>
          <p:nvSpPr>
            <p:cNvPr id="45083" name="Line 126"/>
            <p:cNvSpPr>
              <a:spLocks noChangeShapeType="1"/>
            </p:cNvSpPr>
            <p:nvPr/>
          </p:nvSpPr>
          <p:spPr bwMode="auto">
            <a:xfrm flipH="1">
              <a:off x="1524479" y="5462764"/>
              <a:ext cx="141899" cy="3490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084" name="Line 127"/>
            <p:cNvSpPr>
              <a:spLocks noChangeShapeType="1"/>
            </p:cNvSpPr>
            <p:nvPr/>
          </p:nvSpPr>
          <p:spPr bwMode="auto">
            <a:xfrm>
              <a:off x="1825859" y="5462764"/>
              <a:ext cx="141899" cy="3490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085" name="Line 128"/>
            <p:cNvSpPr>
              <a:spLocks noChangeShapeType="1"/>
            </p:cNvSpPr>
            <p:nvPr/>
          </p:nvSpPr>
          <p:spPr bwMode="auto">
            <a:xfrm>
              <a:off x="1280865" y="4766035"/>
              <a:ext cx="298868" cy="27586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086" name="Oval 129"/>
            <p:cNvSpPr>
              <a:spLocks noChangeArrowheads="1"/>
            </p:cNvSpPr>
            <p:nvPr/>
          </p:nvSpPr>
          <p:spPr bwMode="auto">
            <a:xfrm>
              <a:off x="3393030" y="4304115"/>
              <a:ext cx="469649" cy="479883"/>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087" name="Text Box 130"/>
            <p:cNvSpPr txBox="1">
              <a:spLocks noChangeArrowheads="1"/>
            </p:cNvSpPr>
            <p:nvPr/>
          </p:nvSpPr>
          <p:spPr bwMode="auto">
            <a:xfrm>
              <a:off x="3487211" y="4404198"/>
              <a:ext cx="285054" cy="26560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43</a:t>
              </a:r>
              <a:endParaRPr lang="zh-CN" altLang="zh-CN" sz="1800" b="1">
                <a:latin typeface="Arial" pitchFamily="34" charset="0"/>
              </a:endParaRPr>
            </a:p>
          </p:txBody>
        </p:sp>
        <p:sp>
          <p:nvSpPr>
            <p:cNvPr id="45088" name="Oval 131"/>
            <p:cNvSpPr>
              <a:spLocks noChangeArrowheads="1"/>
            </p:cNvSpPr>
            <p:nvPr/>
          </p:nvSpPr>
          <p:spPr bwMode="auto">
            <a:xfrm>
              <a:off x="2826689" y="4973899"/>
              <a:ext cx="469649" cy="479883"/>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089" name="Text Box 132"/>
            <p:cNvSpPr txBox="1">
              <a:spLocks noChangeArrowheads="1"/>
            </p:cNvSpPr>
            <p:nvPr/>
          </p:nvSpPr>
          <p:spPr bwMode="auto">
            <a:xfrm>
              <a:off x="2958542" y="5073981"/>
              <a:ext cx="285054" cy="26560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dirty="0">
                  <a:latin typeface="Arial" pitchFamily="34" charset="0"/>
                </a:rPr>
                <a:t>87</a:t>
              </a:r>
              <a:endParaRPr lang="zh-CN" altLang="zh-CN" sz="1800" b="1" dirty="0">
                <a:latin typeface="Arial" pitchFamily="34" charset="0"/>
              </a:endParaRPr>
            </a:p>
          </p:txBody>
        </p:sp>
        <p:sp>
          <p:nvSpPr>
            <p:cNvPr id="45090" name="Line 133"/>
            <p:cNvSpPr>
              <a:spLocks noChangeShapeType="1"/>
            </p:cNvSpPr>
            <p:nvPr/>
          </p:nvSpPr>
          <p:spPr bwMode="auto">
            <a:xfrm flipH="1">
              <a:off x="3203413" y="4746788"/>
              <a:ext cx="298868" cy="27586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091" name="Oval 134"/>
            <p:cNvSpPr>
              <a:spLocks noChangeArrowheads="1"/>
            </p:cNvSpPr>
            <p:nvPr/>
          </p:nvSpPr>
          <p:spPr bwMode="auto">
            <a:xfrm>
              <a:off x="2525310" y="5780975"/>
              <a:ext cx="469649" cy="479883"/>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092" name="Text Box 135"/>
            <p:cNvSpPr txBox="1">
              <a:spLocks noChangeArrowheads="1"/>
            </p:cNvSpPr>
            <p:nvPr/>
          </p:nvSpPr>
          <p:spPr bwMode="auto">
            <a:xfrm>
              <a:off x="2638327" y="5881057"/>
              <a:ext cx="285054" cy="26560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9</a:t>
              </a:r>
              <a:endParaRPr lang="zh-CN" altLang="zh-CN" sz="1800" b="1">
                <a:latin typeface="Arial" pitchFamily="34" charset="0"/>
              </a:endParaRPr>
            </a:p>
          </p:txBody>
        </p:sp>
        <p:sp>
          <p:nvSpPr>
            <p:cNvPr id="45093" name="Line 136"/>
            <p:cNvSpPr>
              <a:spLocks noChangeShapeType="1"/>
            </p:cNvSpPr>
            <p:nvPr/>
          </p:nvSpPr>
          <p:spPr bwMode="auto">
            <a:xfrm flipH="1">
              <a:off x="2845525" y="5438384"/>
              <a:ext cx="141899" cy="3490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094" name="Oval 137"/>
            <p:cNvSpPr>
              <a:spLocks noChangeArrowheads="1"/>
            </p:cNvSpPr>
            <p:nvPr/>
          </p:nvSpPr>
          <p:spPr bwMode="auto">
            <a:xfrm>
              <a:off x="4030950" y="4972616"/>
              <a:ext cx="469649" cy="479883"/>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095" name="Text Box 138"/>
            <p:cNvSpPr txBox="1">
              <a:spLocks noChangeArrowheads="1"/>
            </p:cNvSpPr>
            <p:nvPr/>
          </p:nvSpPr>
          <p:spPr bwMode="auto">
            <a:xfrm>
              <a:off x="4162803" y="5072698"/>
              <a:ext cx="285054" cy="26560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38</a:t>
              </a:r>
              <a:endParaRPr lang="zh-CN" altLang="zh-CN" sz="1800" b="1">
                <a:latin typeface="Arial" pitchFamily="34" charset="0"/>
              </a:endParaRPr>
            </a:p>
          </p:txBody>
        </p:sp>
        <p:sp>
          <p:nvSpPr>
            <p:cNvPr id="45096" name="Line 139"/>
            <p:cNvSpPr>
              <a:spLocks noChangeShapeType="1"/>
            </p:cNvSpPr>
            <p:nvPr/>
          </p:nvSpPr>
          <p:spPr bwMode="auto">
            <a:xfrm>
              <a:off x="3806171" y="4740373"/>
              <a:ext cx="298868" cy="27586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097" name="Line 140"/>
            <p:cNvSpPr>
              <a:spLocks noChangeShapeType="1"/>
            </p:cNvSpPr>
            <p:nvPr/>
          </p:nvSpPr>
          <p:spPr bwMode="auto">
            <a:xfrm>
              <a:off x="2561726" y="4019265"/>
              <a:ext cx="847629" cy="4580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098" name="Oval 7"/>
            <p:cNvSpPr>
              <a:spLocks noChangeArrowheads="1"/>
            </p:cNvSpPr>
            <p:nvPr/>
          </p:nvSpPr>
          <p:spPr bwMode="auto">
            <a:xfrm>
              <a:off x="301347" y="5000636"/>
              <a:ext cx="469649" cy="479883"/>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099" name="Text Box 8"/>
            <p:cNvSpPr txBox="1">
              <a:spLocks noChangeArrowheads="1"/>
            </p:cNvSpPr>
            <p:nvPr/>
          </p:nvSpPr>
          <p:spPr bwMode="auto">
            <a:xfrm>
              <a:off x="414364" y="5081472"/>
              <a:ext cx="285054" cy="26560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83</a:t>
              </a:r>
              <a:endParaRPr lang="zh-CN" altLang="zh-CN" sz="1800" b="1">
                <a:latin typeface="Arial" pitchFamily="34" charset="0"/>
              </a:endParaRPr>
            </a:p>
          </p:txBody>
        </p:sp>
        <p:sp>
          <p:nvSpPr>
            <p:cNvPr id="45100" name="Oval 11"/>
            <p:cNvSpPr>
              <a:spLocks noChangeArrowheads="1"/>
            </p:cNvSpPr>
            <p:nvPr/>
          </p:nvSpPr>
          <p:spPr bwMode="auto">
            <a:xfrm>
              <a:off x="-32" y="5807712"/>
              <a:ext cx="469649" cy="479883"/>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01" name="Text Box 12"/>
            <p:cNvSpPr txBox="1">
              <a:spLocks noChangeArrowheads="1"/>
            </p:cNvSpPr>
            <p:nvPr/>
          </p:nvSpPr>
          <p:spPr bwMode="auto">
            <a:xfrm>
              <a:off x="112985" y="5888548"/>
              <a:ext cx="285054" cy="26560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55</a:t>
              </a:r>
              <a:endParaRPr lang="zh-CN" altLang="zh-CN" sz="1800" b="1">
                <a:latin typeface="Arial" pitchFamily="34" charset="0"/>
              </a:endParaRPr>
            </a:p>
          </p:txBody>
        </p:sp>
        <p:sp>
          <p:nvSpPr>
            <p:cNvPr id="45102" name="Oval 13"/>
            <p:cNvSpPr>
              <a:spLocks noChangeArrowheads="1"/>
            </p:cNvSpPr>
            <p:nvPr/>
          </p:nvSpPr>
          <p:spPr bwMode="auto">
            <a:xfrm>
              <a:off x="660490" y="5788465"/>
              <a:ext cx="469649" cy="479883"/>
            </a:xfrm>
            <a:prstGeom prst="ellipse">
              <a:avLst/>
            </a:prstGeom>
            <a:solidFill>
              <a:srgbClr val="FFFFFF"/>
            </a:solidFill>
            <a:ln w="9525">
              <a:solidFill>
                <a:srgbClr val="000000"/>
              </a:solidFill>
              <a:round/>
              <a:headEnd/>
              <a:tailEnd/>
            </a:ln>
          </p:spPr>
          <p:txBody>
            <a:bodyPr/>
            <a:lstStyle/>
            <a:p>
              <a:endParaRPr lang="zh-CN" altLang="en-US" sz="1800" b="1">
                <a:latin typeface="Times New Roman" pitchFamily="18" charset="0"/>
              </a:endParaRPr>
            </a:p>
          </p:txBody>
        </p:sp>
        <p:sp>
          <p:nvSpPr>
            <p:cNvPr id="45103" name="Text Box 14"/>
            <p:cNvSpPr txBox="1">
              <a:spLocks noChangeArrowheads="1"/>
            </p:cNvSpPr>
            <p:nvPr/>
          </p:nvSpPr>
          <p:spPr bwMode="auto">
            <a:xfrm>
              <a:off x="792344" y="5869301"/>
              <a:ext cx="285054" cy="26560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1800" b="1">
                  <a:latin typeface="Arial" pitchFamily="34" charset="0"/>
                </a:rPr>
                <a:t>91</a:t>
              </a:r>
              <a:endParaRPr lang="zh-CN" altLang="zh-CN" sz="1800" b="1">
                <a:latin typeface="Arial" pitchFamily="34" charset="0"/>
              </a:endParaRPr>
            </a:p>
          </p:txBody>
        </p:sp>
        <p:sp>
          <p:nvSpPr>
            <p:cNvPr id="45104" name="Line 15"/>
            <p:cNvSpPr>
              <a:spLocks noChangeShapeType="1"/>
            </p:cNvSpPr>
            <p:nvPr/>
          </p:nvSpPr>
          <p:spPr bwMode="auto">
            <a:xfrm flipH="1">
              <a:off x="320183" y="5465122"/>
              <a:ext cx="141899" cy="3490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sp>
          <p:nvSpPr>
            <p:cNvPr id="45105" name="Line 16"/>
            <p:cNvSpPr>
              <a:spLocks noChangeShapeType="1"/>
            </p:cNvSpPr>
            <p:nvPr/>
          </p:nvSpPr>
          <p:spPr bwMode="auto">
            <a:xfrm>
              <a:off x="621562" y="5465122"/>
              <a:ext cx="141899" cy="3490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800"/>
            </a:p>
          </p:txBody>
        </p:sp>
      </p:grpSp>
      <p:grpSp>
        <p:nvGrpSpPr>
          <p:cNvPr id="250" name="组合 249"/>
          <p:cNvGrpSpPr>
            <a:grpSpLocks/>
          </p:cNvGrpSpPr>
          <p:nvPr/>
        </p:nvGrpSpPr>
        <p:grpSpPr bwMode="auto">
          <a:xfrm>
            <a:off x="1462088" y="1855788"/>
            <a:ext cx="5786437" cy="1785937"/>
            <a:chOff x="3173657" y="785794"/>
            <a:chExt cx="5786478" cy="1785950"/>
          </a:xfrm>
        </p:grpSpPr>
        <p:sp>
          <p:nvSpPr>
            <p:cNvPr id="251" name="Oval 77"/>
            <p:cNvSpPr>
              <a:spLocks noChangeArrowheads="1"/>
            </p:cNvSpPr>
            <p:nvPr/>
          </p:nvSpPr>
          <p:spPr bwMode="auto">
            <a:xfrm>
              <a:off x="3173657" y="2092316"/>
              <a:ext cx="469903" cy="479428"/>
            </a:xfrm>
            <a:prstGeom prst="ellipse">
              <a:avLst/>
            </a:prstGeom>
            <a:solidFill>
              <a:schemeClr val="accent2">
                <a:lumMod val="60000"/>
                <a:lumOff val="40000"/>
                <a:alpha val="54000"/>
              </a:schemeClr>
            </a:solidFill>
            <a:ln w="9525">
              <a:solidFill>
                <a:srgbClr val="000000"/>
              </a:solidFill>
              <a:round/>
              <a:headEnd/>
              <a:tailEnd/>
            </a:ln>
          </p:spPr>
          <p:txBody>
            <a:bodyPr/>
            <a:lstStyle/>
            <a:p>
              <a:pPr fontAlgn="auto">
                <a:spcBef>
                  <a:spcPts val="0"/>
                </a:spcBef>
                <a:spcAft>
                  <a:spcPts val="0"/>
                </a:spcAft>
                <a:defRPr/>
              </a:pPr>
              <a:endParaRPr lang="zh-CN" altLang="en-US" sz="1800" b="1">
                <a:latin typeface="+mn-lt"/>
                <a:ea typeface="+mn-ea"/>
              </a:endParaRPr>
            </a:p>
          </p:txBody>
        </p:sp>
        <p:sp>
          <p:nvSpPr>
            <p:cNvPr id="45070" name="AutoShape 4"/>
            <p:cNvSpPr>
              <a:spLocks noChangeArrowheads="1"/>
            </p:cNvSpPr>
            <p:nvPr/>
          </p:nvSpPr>
          <p:spPr bwMode="auto">
            <a:xfrm>
              <a:off x="5531111" y="785794"/>
              <a:ext cx="3429024" cy="571504"/>
            </a:xfrm>
            <a:prstGeom prst="wedgeEllipseCallout">
              <a:avLst>
                <a:gd name="adj1" fmla="val -106227"/>
                <a:gd name="adj2" fmla="val 198079"/>
              </a:avLst>
            </a:prstGeom>
            <a:gradFill rotWithShape="0">
              <a:gsLst>
                <a:gs pos="0">
                  <a:srgbClr val="C0C0C0"/>
                </a:gs>
                <a:gs pos="100000">
                  <a:srgbClr val="FFFFFF"/>
                </a:gs>
              </a:gsLst>
              <a:lin ang="18900000" scaled="1"/>
            </a:gradFill>
            <a:ln w="12700">
              <a:solidFill>
                <a:schemeClr val="tx1"/>
              </a:solidFill>
              <a:miter lim="800000"/>
              <a:headEnd/>
              <a:tailEnd/>
            </a:ln>
          </p:spPr>
          <p:txBody>
            <a:bodyPr/>
            <a:lstStyle/>
            <a:p>
              <a:pPr algn="ctr"/>
              <a:r>
                <a:rPr lang="zh-CN" altLang="en-US" sz="1800" b="1" i="1" dirty="0">
                  <a:latin typeface="Times New Roman" pitchFamily="18" charset="0"/>
                </a:rPr>
                <a:t>当前考虑结点</a:t>
              </a:r>
              <a:endParaRPr lang="en-US" altLang="zh-CN" sz="1800" b="1" i="1" dirty="0">
                <a:latin typeface="Times New Roman" pitchFamily="18" charset="0"/>
              </a:endParaRPr>
            </a:p>
          </p:txBody>
        </p:sp>
      </p:grpSp>
      <p:sp>
        <p:nvSpPr>
          <p:cNvPr id="195" name="矩形 1"/>
          <p:cNvSpPr>
            <a:spLocks noChangeArrowheads="1"/>
          </p:cNvSpPr>
          <p:nvPr/>
        </p:nvSpPr>
        <p:spPr bwMode="auto">
          <a:xfrm>
            <a:off x="857250" y="158750"/>
            <a:ext cx="26066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3200" b="1" dirty="0">
                <a:solidFill>
                  <a:srgbClr val="0000FF"/>
                </a:solidFill>
                <a:latin typeface="Times New Roman" pitchFamily="18" charset="0"/>
                <a:sym typeface="Wingdings" pitchFamily="2" charset="2"/>
              </a:rPr>
              <a:t> </a:t>
            </a:r>
            <a:r>
              <a:rPr lang="en-US" altLang="zh-CN" sz="2400" b="1" dirty="0">
                <a:solidFill>
                  <a:srgbClr val="0000FF"/>
                </a:solidFill>
                <a:latin typeface="Times New Roman" pitchFamily="18" charset="0"/>
                <a:sym typeface="Wingdings" pitchFamily="2" charset="2"/>
              </a:rPr>
              <a:t> </a:t>
            </a:r>
            <a:r>
              <a:rPr lang="zh-CN" altLang="en-US" sz="2400" b="1" dirty="0">
                <a:solidFill>
                  <a:srgbClr val="EBEBEB"/>
                </a:solidFill>
                <a:latin typeface="Times New Roman" pitchFamily="18" charset="0"/>
              </a:rPr>
              <a:t>最大堆的建立</a:t>
            </a:r>
          </a:p>
        </p:txBody>
      </p:sp>
    </p:spTree>
    <p:extLst>
      <p:ext uri="{BB962C8B-B14F-4D97-AF65-F5344CB8AC3E}">
        <p14:creationId xmlns:p14="http://schemas.microsoft.com/office/powerpoint/2010/main" val="106960428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199"/>
                                        </p:tgtEl>
                                        <p:attrNameLst>
                                          <p:attrName>style.visibility</p:attrName>
                                        </p:attrNameLst>
                                      </p:cBhvr>
                                      <p:to>
                                        <p:strVal val="visible"/>
                                      </p:to>
                                    </p:set>
                                    <p:animEffect transition="in" filter="wipe(left)">
                                      <p:cBhvr>
                                        <p:cTn id="7" dur="500"/>
                                        <p:tgtEl>
                                          <p:spTgt spid="19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xit" presetSubtype="2" fill="hold" nodeType="clickEffect">
                                  <p:stCondLst>
                                    <p:cond delay="0"/>
                                  </p:stCondLst>
                                  <p:childTnLst>
                                    <p:animEffect transition="out" filter="wipe(right)">
                                      <p:cBhvr>
                                        <p:cTn id="11" dur="500"/>
                                        <p:tgtEl>
                                          <p:spTgt spid="199"/>
                                        </p:tgtEl>
                                      </p:cBhvr>
                                    </p:animEffect>
                                    <p:set>
                                      <p:cBhvr>
                                        <p:cTn id="12" dur="1" fill="hold">
                                          <p:stCondLst>
                                            <p:cond delay="499"/>
                                          </p:stCondLst>
                                        </p:cTn>
                                        <p:tgtEl>
                                          <p:spTgt spid="199"/>
                                        </p:tgtEl>
                                        <p:attrNameLst>
                                          <p:attrName>style.visibility</p:attrName>
                                        </p:attrNameLst>
                                      </p:cBhvr>
                                      <p:to>
                                        <p:strVal val="hidden"/>
                                      </p:to>
                                    </p:set>
                                  </p:childTnLst>
                                </p:cTn>
                              </p:par>
                            </p:childTnLst>
                          </p:cTn>
                        </p:par>
                        <p:par>
                          <p:cTn id="13" fill="hold" nodeType="afterGroup">
                            <p:stCondLst>
                              <p:cond delay="500"/>
                            </p:stCondLst>
                            <p:childTnLst>
                              <p:par>
                                <p:cTn id="14" presetID="22" presetClass="exit" presetSubtype="4" fill="hold" nodeType="afterEffect">
                                  <p:stCondLst>
                                    <p:cond delay="0"/>
                                  </p:stCondLst>
                                  <p:childTnLst>
                                    <p:animEffect transition="out" filter="wipe(down)">
                                      <p:cBhvr>
                                        <p:cTn id="15" dur="500"/>
                                        <p:tgtEl>
                                          <p:spTgt spid="97333"/>
                                        </p:tgtEl>
                                      </p:cBhvr>
                                    </p:animEffect>
                                    <p:set>
                                      <p:cBhvr>
                                        <p:cTn id="16" dur="1" fill="hold">
                                          <p:stCondLst>
                                            <p:cond delay="499"/>
                                          </p:stCondLst>
                                        </p:cTn>
                                        <p:tgtEl>
                                          <p:spTgt spid="97333"/>
                                        </p:tgtEl>
                                        <p:attrNameLst>
                                          <p:attrName>style.visibility</p:attrName>
                                        </p:attrNameLst>
                                      </p:cBhvr>
                                      <p:to>
                                        <p:strVal val="hidden"/>
                                      </p:to>
                                    </p:set>
                                  </p:childTnLst>
                                </p:cTn>
                              </p:par>
                              <p:par>
                                <p:cTn id="17" presetID="2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wipe(down)">
                                      <p:cBhvr>
                                        <p:cTn id="19" dur="500"/>
                                        <p:tgtEl>
                                          <p:spTgt spid="2"/>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2" presetClass="entr" presetSubtype="8" fill="hold" nodeType="clickEffect">
                                  <p:stCondLst>
                                    <p:cond delay="0"/>
                                  </p:stCondLst>
                                  <p:childTnLst>
                                    <p:set>
                                      <p:cBhvr>
                                        <p:cTn id="23" dur="1" fill="hold">
                                          <p:stCondLst>
                                            <p:cond delay="0"/>
                                          </p:stCondLst>
                                        </p:cTn>
                                        <p:tgtEl>
                                          <p:spTgt spid="200"/>
                                        </p:tgtEl>
                                        <p:attrNameLst>
                                          <p:attrName>style.visibility</p:attrName>
                                        </p:attrNameLst>
                                      </p:cBhvr>
                                      <p:to>
                                        <p:strVal val="visible"/>
                                      </p:to>
                                    </p:set>
                                    <p:animEffect transition="in" filter="wipe(left)">
                                      <p:cBhvr>
                                        <p:cTn id="24" dur="500"/>
                                        <p:tgtEl>
                                          <p:spTgt spid="200"/>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xit" presetSubtype="4" fill="hold" nodeType="clickEffect">
                                  <p:stCondLst>
                                    <p:cond delay="0"/>
                                  </p:stCondLst>
                                  <p:childTnLst>
                                    <p:animEffect transition="out" filter="wipe(down)">
                                      <p:cBhvr>
                                        <p:cTn id="28" dur="500"/>
                                        <p:tgtEl>
                                          <p:spTgt spid="2"/>
                                        </p:tgtEl>
                                      </p:cBhvr>
                                    </p:animEffect>
                                    <p:set>
                                      <p:cBhvr>
                                        <p:cTn id="29" dur="1" fill="hold">
                                          <p:stCondLst>
                                            <p:cond delay="499"/>
                                          </p:stCondLst>
                                        </p:cTn>
                                        <p:tgtEl>
                                          <p:spTgt spid="2"/>
                                        </p:tgtEl>
                                        <p:attrNameLst>
                                          <p:attrName>style.visibility</p:attrName>
                                        </p:attrNameLst>
                                      </p:cBhvr>
                                      <p:to>
                                        <p:strVal val="hidden"/>
                                      </p:to>
                                    </p:set>
                                  </p:childTnLst>
                                </p:cTn>
                              </p:par>
                              <p:par>
                                <p:cTn id="30" presetID="22" presetClass="entr" presetSubtype="4" fill="hold" nodeType="withEffect">
                                  <p:stCondLst>
                                    <p:cond delay="0"/>
                                  </p:stCondLst>
                                  <p:childTnLst>
                                    <p:set>
                                      <p:cBhvr>
                                        <p:cTn id="31" dur="1" fill="hold">
                                          <p:stCondLst>
                                            <p:cond delay="0"/>
                                          </p:stCondLst>
                                        </p:cTn>
                                        <p:tgtEl>
                                          <p:spTgt spid="154"/>
                                        </p:tgtEl>
                                        <p:attrNameLst>
                                          <p:attrName>style.visibility</p:attrName>
                                        </p:attrNameLst>
                                      </p:cBhvr>
                                      <p:to>
                                        <p:strVal val="visible"/>
                                      </p:to>
                                    </p:set>
                                    <p:animEffect transition="in" filter="wipe(down)">
                                      <p:cBhvr>
                                        <p:cTn id="32" dur="500"/>
                                        <p:tgtEl>
                                          <p:spTgt spid="15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xit" presetSubtype="4" fill="hold" nodeType="clickEffect">
                                  <p:stCondLst>
                                    <p:cond delay="0"/>
                                  </p:stCondLst>
                                  <p:childTnLst>
                                    <p:animEffect transition="out" filter="wipe(down)">
                                      <p:cBhvr>
                                        <p:cTn id="36" dur="500"/>
                                        <p:tgtEl>
                                          <p:spTgt spid="154"/>
                                        </p:tgtEl>
                                      </p:cBhvr>
                                    </p:animEffect>
                                    <p:set>
                                      <p:cBhvr>
                                        <p:cTn id="37" dur="1" fill="hold">
                                          <p:stCondLst>
                                            <p:cond delay="499"/>
                                          </p:stCondLst>
                                        </p:cTn>
                                        <p:tgtEl>
                                          <p:spTgt spid="154"/>
                                        </p:tgtEl>
                                        <p:attrNameLst>
                                          <p:attrName>style.visibility</p:attrName>
                                        </p:attrNameLst>
                                      </p:cBhvr>
                                      <p:to>
                                        <p:strVal val="hidden"/>
                                      </p:to>
                                    </p:set>
                                  </p:childTnLst>
                                </p:cTn>
                              </p:par>
                              <p:par>
                                <p:cTn id="38" presetID="22" presetClass="entr" presetSubtype="4" fill="hold" nodeType="withEffect">
                                  <p:stCondLst>
                                    <p:cond delay="0"/>
                                  </p:stCondLst>
                                  <p:childTnLst>
                                    <p:set>
                                      <p:cBhvr>
                                        <p:cTn id="39" dur="1" fill="hold">
                                          <p:stCondLst>
                                            <p:cond delay="0"/>
                                          </p:stCondLst>
                                        </p:cTn>
                                        <p:tgtEl>
                                          <p:spTgt spid="249"/>
                                        </p:tgtEl>
                                        <p:attrNameLst>
                                          <p:attrName>style.visibility</p:attrName>
                                        </p:attrNameLst>
                                      </p:cBhvr>
                                      <p:to>
                                        <p:strVal val="visible"/>
                                      </p:to>
                                    </p:set>
                                    <p:animEffect transition="in" filter="wipe(down)">
                                      <p:cBhvr>
                                        <p:cTn id="40" dur="500"/>
                                        <p:tgtEl>
                                          <p:spTgt spid="249"/>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22" presetClass="exit" presetSubtype="2" fill="hold" nodeType="clickEffect">
                                  <p:stCondLst>
                                    <p:cond delay="0"/>
                                  </p:stCondLst>
                                  <p:childTnLst>
                                    <p:animEffect transition="out" filter="wipe(right)">
                                      <p:cBhvr>
                                        <p:cTn id="44" dur="500"/>
                                        <p:tgtEl>
                                          <p:spTgt spid="200"/>
                                        </p:tgtEl>
                                      </p:cBhvr>
                                    </p:animEffect>
                                    <p:set>
                                      <p:cBhvr>
                                        <p:cTn id="45" dur="1" fill="hold">
                                          <p:stCondLst>
                                            <p:cond delay="499"/>
                                          </p:stCondLst>
                                        </p:cTn>
                                        <p:tgtEl>
                                          <p:spTgt spid="200"/>
                                        </p:tgtEl>
                                        <p:attrNameLst>
                                          <p:attrName>style.visibility</p:attrName>
                                        </p:attrNameLst>
                                      </p:cBhvr>
                                      <p:to>
                                        <p:strVal val="hidden"/>
                                      </p:to>
                                    </p:set>
                                  </p:childTnLst>
                                </p:cTn>
                              </p:par>
                            </p:childTnLst>
                          </p:cTn>
                        </p:par>
                        <p:par>
                          <p:cTn id="46" fill="hold" nodeType="afterGroup">
                            <p:stCondLst>
                              <p:cond delay="500"/>
                            </p:stCondLst>
                            <p:childTnLst>
                              <p:par>
                                <p:cTn id="47" presetID="22" presetClass="entr" presetSubtype="8" fill="hold" nodeType="afterEffect">
                                  <p:stCondLst>
                                    <p:cond delay="0"/>
                                  </p:stCondLst>
                                  <p:childTnLst>
                                    <p:set>
                                      <p:cBhvr>
                                        <p:cTn id="48" dur="1" fill="hold">
                                          <p:stCondLst>
                                            <p:cond delay="0"/>
                                          </p:stCondLst>
                                        </p:cTn>
                                        <p:tgtEl>
                                          <p:spTgt spid="250"/>
                                        </p:tgtEl>
                                        <p:attrNameLst>
                                          <p:attrName>style.visibility</p:attrName>
                                        </p:attrNameLst>
                                      </p:cBhvr>
                                      <p:to>
                                        <p:strVal val="visible"/>
                                      </p:to>
                                    </p:set>
                                    <p:animEffect transition="in" filter="wipe(left)">
                                      <p:cBhvr>
                                        <p:cTn id="49" dur="500"/>
                                        <p:tgtEl>
                                          <p:spTgt spid="250"/>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22" presetClass="exit" presetSubtype="4" fill="hold" nodeType="clickEffect">
                                  <p:stCondLst>
                                    <p:cond delay="0"/>
                                  </p:stCondLst>
                                  <p:childTnLst>
                                    <p:animEffect transition="out" filter="wipe(down)">
                                      <p:cBhvr>
                                        <p:cTn id="53" dur="500"/>
                                        <p:tgtEl>
                                          <p:spTgt spid="249"/>
                                        </p:tgtEl>
                                      </p:cBhvr>
                                    </p:animEffect>
                                    <p:set>
                                      <p:cBhvr>
                                        <p:cTn id="54" dur="1" fill="hold">
                                          <p:stCondLst>
                                            <p:cond delay="499"/>
                                          </p:stCondLst>
                                        </p:cTn>
                                        <p:tgtEl>
                                          <p:spTgt spid="249"/>
                                        </p:tgtEl>
                                        <p:attrNameLst>
                                          <p:attrName>style.visibility</p:attrName>
                                        </p:attrNameLst>
                                      </p:cBhvr>
                                      <p:to>
                                        <p:strVal val="hidden"/>
                                      </p:to>
                                    </p:set>
                                  </p:childTnLst>
                                </p:cTn>
                              </p:par>
                              <p:par>
                                <p:cTn id="55" presetID="22" presetClass="entr" presetSubtype="4" fill="hold" nodeType="withEffect">
                                  <p:stCondLst>
                                    <p:cond delay="0"/>
                                  </p:stCondLst>
                                  <p:childTnLst>
                                    <p:set>
                                      <p:cBhvr>
                                        <p:cTn id="56" dur="1" fill="hold">
                                          <p:stCondLst>
                                            <p:cond delay="0"/>
                                          </p:stCondLst>
                                        </p:cTn>
                                        <p:tgtEl>
                                          <p:spTgt spid="159"/>
                                        </p:tgtEl>
                                        <p:attrNameLst>
                                          <p:attrName>style.visibility</p:attrName>
                                        </p:attrNameLst>
                                      </p:cBhvr>
                                      <p:to>
                                        <p:strVal val="visible"/>
                                      </p:to>
                                    </p:set>
                                    <p:animEffect transition="in" filter="wipe(down)">
                                      <p:cBhvr>
                                        <p:cTn id="57" dur="500"/>
                                        <p:tgtEl>
                                          <p:spTgt spid="1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组合 43"/>
          <p:cNvGrpSpPr>
            <a:grpSpLocks/>
          </p:cNvGrpSpPr>
          <p:nvPr/>
        </p:nvGrpSpPr>
        <p:grpSpPr bwMode="auto">
          <a:xfrm>
            <a:off x="1785938" y="1520825"/>
            <a:ext cx="6715125" cy="3122613"/>
            <a:chOff x="1785918" y="1520357"/>
            <a:chExt cx="6715172" cy="3123089"/>
          </a:xfrm>
        </p:grpSpPr>
        <p:grpSp>
          <p:nvGrpSpPr>
            <p:cNvPr id="46202" name="Group 2"/>
            <p:cNvGrpSpPr>
              <a:grpSpLocks/>
            </p:cNvGrpSpPr>
            <p:nvPr/>
          </p:nvGrpSpPr>
          <p:grpSpPr bwMode="auto">
            <a:xfrm>
              <a:off x="1785918" y="2000240"/>
              <a:ext cx="4500594" cy="2643206"/>
              <a:chOff x="2039" y="10176"/>
              <a:chExt cx="3584" cy="2060"/>
            </a:xfrm>
          </p:grpSpPr>
          <p:sp>
            <p:nvSpPr>
              <p:cNvPr id="46205" name="Line 3"/>
              <p:cNvSpPr>
                <a:spLocks noChangeShapeType="1"/>
              </p:cNvSpPr>
              <p:nvPr/>
            </p:nvSpPr>
            <p:spPr bwMode="auto">
              <a:xfrm flipH="1">
                <a:off x="3086" y="10466"/>
                <a:ext cx="675" cy="3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206" name="Oval 4"/>
              <p:cNvSpPr>
                <a:spLocks noChangeArrowheads="1"/>
              </p:cNvSpPr>
              <p:nvPr/>
            </p:nvSpPr>
            <p:spPr bwMode="auto">
              <a:xfrm>
                <a:off x="3735" y="10176"/>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207" name="Oval 5"/>
              <p:cNvSpPr>
                <a:spLocks noChangeArrowheads="1"/>
              </p:cNvSpPr>
              <p:nvPr/>
            </p:nvSpPr>
            <p:spPr bwMode="auto">
              <a:xfrm>
                <a:off x="2730" y="10711"/>
                <a:ext cx="374" cy="374"/>
              </a:xfrm>
              <a:prstGeom prst="ellipse">
                <a:avLst/>
              </a:prstGeom>
              <a:solidFill>
                <a:srgbClr val="FFFFFF"/>
              </a:solidFill>
              <a:ln w="9525">
                <a:solidFill>
                  <a:srgbClr val="000000"/>
                </a:solidFill>
                <a:round/>
                <a:headEnd/>
                <a:tailEnd/>
              </a:ln>
            </p:spPr>
            <p:txBody>
              <a:bodyPr/>
              <a:lstStyle/>
              <a:p>
                <a:endParaRPr lang="zh-CN" altLang="en-US" sz="2000" b="1">
                  <a:latin typeface="Times New Roman" pitchFamily="18" charset="0"/>
                </a:endParaRPr>
              </a:p>
            </p:txBody>
          </p:sp>
          <p:sp>
            <p:nvSpPr>
              <p:cNvPr id="46208" name="Text Box 6"/>
              <p:cNvSpPr txBox="1">
                <a:spLocks noChangeArrowheads="1"/>
              </p:cNvSpPr>
              <p:nvPr/>
            </p:nvSpPr>
            <p:spPr bwMode="auto">
              <a:xfrm>
                <a:off x="2805" y="10789"/>
                <a:ext cx="227" cy="2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66</a:t>
                </a:r>
                <a:endParaRPr lang="zh-CN" altLang="zh-CN" sz="2000" b="1">
                  <a:latin typeface="Arial" pitchFamily="34" charset="0"/>
                </a:endParaRPr>
              </a:p>
            </p:txBody>
          </p:sp>
          <p:sp>
            <p:nvSpPr>
              <p:cNvPr id="46209" name="Oval 7"/>
              <p:cNvSpPr>
                <a:spLocks noChangeArrowheads="1"/>
              </p:cNvSpPr>
              <p:nvPr/>
            </p:nvSpPr>
            <p:spPr bwMode="auto">
              <a:xfrm>
                <a:off x="2279" y="11233"/>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210" name="Text Box 8"/>
              <p:cNvSpPr txBox="1">
                <a:spLocks noChangeArrowheads="1"/>
              </p:cNvSpPr>
              <p:nvPr/>
            </p:nvSpPr>
            <p:spPr bwMode="auto">
              <a:xfrm>
                <a:off x="2384" y="11281"/>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91</a:t>
                </a:r>
                <a:endParaRPr lang="zh-CN" altLang="zh-CN" sz="2000" b="1">
                  <a:latin typeface="Arial" pitchFamily="34" charset="0"/>
                </a:endParaRPr>
              </a:p>
            </p:txBody>
          </p:sp>
          <p:sp>
            <p:nvSpPr>
              <p:cNvPr id="46211" name="Line 9"/>
              <p:cNvSpPr>
                <a:spLocks noChangeShapeType="1"/>
              </p:cNvSpPr>
              <p:nvPr/>
            </p:nvSpPr>
            <p:spPr bwMode="auto">
              <a:xfrm flipH="1">
                <a:off x="2579" y="11056"/>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212" name="Text Box 10"/>
              <p:cNvSpPr txBox="1">
                <a:spLocks noChangeArrowheads="1"/>
              </p:cNvSpPr>
              <p:nvPr/>
            </p:nvSpPr>
            <p:spPr bwMode="auto">
              <a:xfrm>
                <a:off x="3807" y="10254"/>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solidFill>
                      <a:srgbClr val="000000"/>
                    </a:solidFill>
                    <a:latin typeface="Arial" pitchFamily="34" charset="0"/>
                  </a:rPr>
                  <a:t>79</a:t>
                </a:r>
                <a:endParaRPr lang="zh-CN" altLang="zh-CN" sz="2000" b="1">
                  <a:latin typeface="Arial" pitchFamily="34" charset="0"/>
                </a:endParaRPr>
              </a:p>
            </p:txBody>
          </p:sp>
          <p:sp>
            <p:nvSpPr>
              <p:cNvPr id="46213" name="Oval 11"/>
              <p:cNvSpPr>
                <a:spLocks noChangeArrowheads="1"/>
              </p:cNvSpPr>
              <p:nvPr/>
            </p:nvSpPr>
            <p:spPr bwMode="auto">
              <a:xfrm>
                <a:off x="2039" y="11862"/>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214" name="Text Box 12"/>
              <p:cNvSpPr txBox="1">
                <a:spLocks noChangeArrowheads="1"/>
              </p:cNvSpPr>
              <p:nvPr/>
            </p:nvSpPr>
            <p:spPr bwMode="auto">
              <a:xfrm>
                <a:off x="2129" y="11925"/>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55</a:t>
                </a:r>
                <a:endParaRPr lang="zh-CN" altLang="zh-CN" sz="2000" b="1">
                  <a:latin typeface="Arial" pitchFamily="34" charset="0"/>
                </a:endParaRPr>
              </a:p>
            </p:txBody>
          </p:sp>
          <p:sp>
            <p:nvSpPr>
              <p:cNvPr id="46215" name="Oval 13"/>
              <p:cNvSpPr>
                <a:spLocks noChangeArrowheads="1"/>
              </p:cNvSpPr>
              <p:nvPr/>
            </p:nvSpPr>
            <p:spPr bwMode="auto">
              <a:xfrm>
                <a:off x="2565" y="11847"/>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216" name="Text Box 14"/>
              <p:cNvSpPr txBox="1">
                <a:spLocks noChangeArrowheads="1"/>
              </p:cNvSpPr>
              <p:nvPr/>
            </p:nvSpPr>
            <p:spPr bwMode="auto">
              <a:xfrm>
                <a:off x="2655" y="11910"/>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83</a:t>
                </a:r>
                <a:endParaRPr lang="zh-CN" altLang="zh-CN" sz="2000" b="1">
                  <a:latin typeface="Arial" pitchFamily="34" charset="0"/>
                </a:endParaRPr>
              </a:p>
            </p:txBody>
          </p:sp>
          <p:sp>
            <p:nvSpPr>
              <p:cNvPr id="46217" name="Line 15"/>
              <p:cNvSpPr>
                <a:spLocks noChangeShapeType="1"/>
              </p:cNvSpPr>
              <p:nvPr/>
            </p:nvSpPr>
            <p:spPr bwMode="auto">
              <a:xfrm flipH="1">
                <a:off x="2294" y="11595"/>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218" name="Line 16"/>
              <p:cNvSpPr>
                <a:spLocks noChangeShapeType="1"/>
              </p:cNvSpPr>
              <p:nvPr/>
            </p:nvSpPr>
            <p:spPr bwMode="auto">
              <a:xfrm>
                <a:off x="2534" y="11595"/>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219" name="Oval 17"/>
              <p:cNvSpPr>
                <a:spLocks noChangeArrowheads="1"/>
              </p:cNvSpPr>
              <p:nvPr/>
            </p:nvSpPr>
            <p:spPr bwMode="auto">
              <a:xfrm>
                <a:off x="3238" y="11232"/>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220" name="Text Box 18"/>
              <p:cNvSpPr txBox="1">
                <a:spLocks noChangeArrowheads="1"/>
              </p:cNvSpPr>
              <p:nvPr/>
            </p:nvSpPr>
            <p:spPr bwMode="auto">
              <a:xfrm>
                <a:off x="3328" y="11295"/>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72</a:t>
                </a:r>
                <a:endParaRPr lang="zh-CN" altLang="zh-CN" sz="2000" b="1">
                  <a:latin typeface="Arial" pitchFamily="34" charset="0"/>
                </a:endParaRPr>
              </a:p>
            </p:txBody>
          </p:sp>
          <p:sp>
            <p:nvSpPr>
              <p:cNvPr id="46221" name="Oval 19"/>
              <p:cNvSpPr>
                <a:spLocks noChangeArrowheads="1"/>
              </p:cNvSpPr>
              <p:nvPr/>
            </p:nvSpPr>
            <p:spPr bwMode="auto">
              <a:xfrm>
                <a:off x="2998" y="11861"/>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222" name="Text Box 20"/>
              <p:cNvSpPr txBox="1">
                <a:spLocks noChangeArrowheads="1"/>
              </p:cNvSpPr>
              <p:nvPr/>
            </p:nvSpPr>
            <p:spPr bwMode="auto">
              <a:xfrm>
                <a:off x="3088" y="11939"/>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30</a:t>
                </a:r>
                <a:endParaRPr lang="zh-CN" altLang="zh-CN" sz="2000" b="1">
                  <a:latin typeface="Arial" pitchFamily="34" charset="0"/>
                </a:endParaRPr>
              </a:p>
            </p:txBody>
          </p:sp>
          <p:sp>
            <p:nvSpPr>
              <p:cNvPr id="46223" name="Oval 21"/>
              <p:cNvSpPr>
                <a:spLocks noChangeArrowheads="1"/>
              </p:cNvSpPr>
              <p:nvPr/>
            </p:nvSpPr>
            <p:spPr bwMode="auto">
              <a:xfrm>
                <a:off x="3524" y="11846"/>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224" name="Text Box 22"/>
              <p:cNvSpPr txBox="1">
                <a:spLocks noChangeArrowheads="1"/>
              </p:cNvSpPr>
              <p:nvPr/>
            </p:nvSpPr>
            <p:spPr bwMode="auto">
              <a:xfrm>
                <a:off x="3614" y="11924"/>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49</a:t>
                </a:r>
                <a:endParaRPr lang="zh-CN" altLang="zh-CN" sz="2000" b="1">
                  <a:latin typeface="Arial" pitchFamily="34" charset="0"/>
                </a:endParaRPr>
              </a:p>
            </p:txBody>
          </p:sp>
          <p:sp>
            <p:nvSpPr>
              <p:cNvPr id="46225" name="Line 23"/>
              <p:cNvSpPr>
                <a:spLocks noChangeShapeType="1"/>
              </p:cNvSpPr>
              <p:nvPr/>
            </p:nvSpPr>
            <p:spPr bwMode="auto">
              <a:xfrm flipH="1">
                <a:off x="3253" y="11594"/>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226" name="Line 24"/>
              <p:cNvSpPr>
                <a:spLocks noChangeShapeType="1"/>
              </p:cNvSpPr>
              <p:nvPr/>
            </p:nvSpPr>
            <p:spPr bwMode="auto">
              <a:xfrm>
                <a:off x="3493" y="11594"/>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227" name="Line 25"/>
              <p:cNvSpPr>
                <a:spLocks noChangeShapeType="1"/>
              </p:cNvSpPr>
              <p:nvPr/>
            </p:nvSpPr>
            <p:spPr bwMode="auto">
              <a:xfrm>
                <a:off x="3059" y="11051"/>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228" name="Oval 26"/>
              <p:cNvSpPr>
                <a:spLocks noChangeArrowheads="1"/>
              </p:cNvSpPr>
              <p:nvPr/>
            </p:nvSpPr>
            <p:spPr bwMode="auto">
              <a:xfrm>
                <a:off x="4741" y="10691"/>
                <a:ext cx="374" cy="374"/>
              </a:xfrm>
              <a:prstGeom prst="ellipse">
                <a:avLst/>
              </a:prstGeom>
              <a:solidFill>
                <a:srgbClr val="808080"/>
              </a:solidFill>
              <a:ln w="9525">
                <a:solidFill>
                  <a:srgbClr val="000000"/>
                </a:solidFill>
                <a:round/>
                <a:headEnd/>
                <a:tailEnd/>
              </a:ln>
            </p:spPr>
            <p:txBody>
              <a:bodyPr/>
              <a:lstStyle/>
              <a:p>
                <a:endParaRPr lang="zh-CN" altLang="en-US" sz="2000" b="1">
                  <a:latin typeface="Times New Roman" pitchFamily="18" charset="0"/>
                </a:endParaRPr>
              </a:p>
            </p:txBody>
          </p:sp>
          <p:sp>
            <p:nvSpPr>
              <p:cNvPr id="46229" name="Text Box 27"/>
              <p:cNvSpPr txBox="1">
                <a:spLocks noChangeArrowheads="1"/>
              </p:cNvSpPr>
              <p:nvPr/>
            </p:nvSpPr>
            <p:spPr bwMode="auto">
              <a:xfrm>
                <a:off x="4816" y="10769"/>
                <a:ext cx="227" cy="207"/>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solidFill>
                      <a:srgbClr val="FFFFFF"/>
                    </a:solidFill>
                    <a:latin typeface="Arial" pitchFamily="34" charset="0"/>
                  </a:rPr>
                  <a:t>43</a:t>
                </a:r>
                <a:endParaRPr lang="zh-CN" altLang="zh-CN" sz="2000" b="1">
                  <a:latin typeface="Arial" pitchFamily="34" charset="0"/>
                </a:endParaRPr>
              </a:p>
            </p:txBody>
          </p:sp>
          <p:sp>
            <p:nvSpPr>
              <p:cNvPr id="46230" name="Oval 28"/>
              <p:cNvSpPr>
                <a:spLocks noChangeArrowheads="1"/>
              </p:cNvSpPr>
              <p:nvPr/>
            </p:nvSpPr>
            <p:spPr bwMode="auto">
              <a:xfrm>
                <a:off x="4290" y="11213"/>
                <a:ext cx="374" cy="374"/>
              </a:xfrm>
              <a:prstGeom prst="ellipse">
                <a:avLst/>
              </a:prstGeom>
              <a:solidFill>
                <a:srgbClr val="808080"/>
              </a:solidFill>
              <a:ln w="9525">
                <a:solidFill>
                  <a:srgbClr val="000000"/>
                </a:solidFill>
                <a:round/>
                <a:headEnd/>
                <a:tailEnd/>
              </a:ln>
            </p:spPr>
            <p:txBody>
              <a:bodyPr/>
              <a:lstStyle/>
              <a:p>
                <a:endParaRPr lang="zh-CN" altLang="en-US" sz="2000" b="1">
                  <a:latin typeface="Times New Roman" pitchFamily="18" charset="0"/>
                </a:endParaRPr>
              </a:p>
            </p:txBody>
          </p:sp>
          <p:sp>
            <p:nvSpPr>
              <p:cNvPr id="46231" name="Text Box 29"/>
              <p:cNvSpPr txBox="1">
                <a:spLocks noChangeArrowheads="1"/>
              </p:cNvSpPr>
              <p:nvPr/>
            </p:nvSpPr>
            <p:spPr bwMode="auto">
              <a:xfrm>
                <a:off x="4395" y="11291"/>
                <a:ext cx="227" cy="207"/>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solidFill>
                      <a:srgbClr val="FFFFFF"/>
                    </a:solidFill>
                    <a:latin typeface="Arial" pitchFamily="34" charset="0"/>
                  </a:rPr>
                  <a:t>87</a:t>
                </a:r>
                <a:endParaRPr lang="zh-CN" altLang="zh-CN" sz="2000" b="1">
                  <a:latin typeface="Arial" pitchFamily="34" charset="0"/>
                </a:endParaRPr>
              </a:p>
            </p:txBody>
          </p:sp>
          <p:sp>
            <p:nvSpPr>
              <p:cNvPr id="46232" name="Line 30"/>
              <p:cNvSpPr>
                <a:spLocks noChangeShapeType="1"/>
              </p:cNvSpPr>
              <p:nvPr/>
            </p:nvSpPr>
            <p:spPr bwMode="auto">
              <a:xfrm flipH="1">
                <a:off x="4590" y="11036"/>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233" name="Oval 31"/>
              <p:cNvSpPr>
                <a:spLocks noChangeArrowheads="1"/>
              </p:cNvSpPr>
              <p:nvPr/>
            </p:nvSpPr>
            <p:spPr bwMode="auto">
              <a:xfrm>
                <a:off x="4050" y="11842"/>
                <a:ext cx="374" cy="374"/>
              </a:xfrm>
              <a:prstGeom prst="ellipse">
                <a:avLst/>
              </a:prstGeom>
              <a:solidFill>
                <a:srgbClr val="969696"/>
              </a:solidFill>
              <a:ln w="9525">
                <a:solidFill>
                  <a:srgbClr val="000000"/>
                </a:solidFill>
                <a:round/>
                <a:headEnd/>
                <a:tailEnd/>
              </a:ln>
            </p:spPr>
            <p:txBody>
              <a:bodyPr/>
              <a:lstStyle/>
              <a:p>
                <a:endParaRPr lang="zh-CN" altLang="en-US" sz="2000" b="1">
                  <a:latin typeface="Times New Roman" pitchFamily="18" charset="0"/>
                </a:endParaRPr>
              </a:p>
            </p:txBody>
          </p:sp>
          <p:sp>
            <p:nvSpPr>
              <p:cNvPr id="46234" name="Text Box 32"/>
              <p:cNvSpPr txBox="1">
                <a:spLocks noChangeArrowheads="1"/>
              </p:cNvSpPr>
              <p:nvPr/>
            </p:nvSpPr>
            <p:spPr bwMode="auto">
              <a:xfrm>
                <a:off x="4140" y="11920"/>
                <a:ext cx="227" cy="207"/>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9</a:t>
                </a:r>
                <a:endParaRPr lang="zh-CN" altLang="zh-CN" sz="2000" b="1">
                  <a:latin typeface="Arial" pitchFamily="34" charset="0"/>
                </a:endParaRPr>
              </a:p>
            </p:txBody>
          </p:sp>
          <p:sp>
            <p:nvSpPr>
              <p:cNvPr id="46235" name="Line 33"/>
              <p:cNvSpPr>
                <a:spLocks noChangeShapeType="1"/>
              </p:cNvSpPr>
              <p:nvPr/>
            </p:nvSpPr>
            <p:spPr bwMode="auto">
              <a:xfrm flipH="1">
                <a:off x="4305" y="11575"/>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236" name="Oval 34"/>
              <p:cNvSpPr>
                <a:spLocks noChangeArrowheads="1"/>
              </p:cNvSpPr>
              <p:nvPr/>
            </p:nvSpPr>
            <p:spPr bwMode="auto">
              <a:xfrm>
                <a:off x="5249" y="11212"/>
                <a:ext cx="374" cy="374"/>
              </a:xfrm>
              <a:prstGeom prst="ellipse">
                <a:avLst/>
              </a:prstGeom>
              <a:solidFill>
                <a:srgbClr val="808080"/>
              </a:solidFill>
              <a:ln w="9525">
                <a:solidFill>
                  <a:srgbClr val="000000"/>
                </a:solidFill>
                <a:round/>
                <a:headEnd/>
                <a:tailEnd/>
              </a:ln>
            </p:spPr>
            <p:txBody>
              <a:bodyPr/>
              <a:lstStyle/>
              <a:p>
                <a:endParaRPr lang="zh-CN" altLang="en-US" sz="2000" b="1">
                  <a:latin typeface="Times New Roman" pitchFamily="18" charset="0"/>
                </a:endParaRPr>
              </a:p>
            </p:txBody>
          </p:sp>
          <p:sp>
            <p:nvSpPr>
              <p:cNvPr id="46237" name="Text Box 35"/>
              <p:cNvSpPr txBox="1">
                <a:spLocks noChangeArrowheads="1"/>
              </p:cNvSpPr>
              <p:nvPr/>
            </p:nvSpPr>
            <p:spPr bwMode="auto">
              <a:xfrm>
                <a:off x="5354" y="11290"/>
                <a:ext cx="227" cy="207"/>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38</a:t>
                </a:r>
                <a:endParaRPr lang="zh-CN" altLang="zh-CN" sz="2000" b="1">
                  <a:latin typeface="Arial" pitchFamily="34" charset="0"/>
                </a:endParaRPr>
              </a:p>
            </p:txBody>
          </p:sp>
          <p:sp>
            <p:nvSpPr>
              <p:cNvPr id="46238" name="Line 36"/>
              <p:cNvSpPr>
                <a:spLocks noChangeShapeType="1"/>
              </p:cNvSpPr>
              <p:nvPr/>
            </p:nvSpPr>
            <p:spPr bwMode="auto">
              <a:xfrm>
                <a:off x="5070" y="11031"/>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239" name="Line 37"/>
              <p:cNvSpPr>
                <a:spLocks noChangeShapeType="1"/>
              </p:cNvSpPr>
              <p:nvPr/>
            </p:nvSpPr>
            <p:spPr bwMode="auto">
              <a:xfrm>
                <a:off x="4079" y="10469"/>
                <a:ext cx="675" cy="3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6203" name="AutoShape 4"/>
            <p:cNvSpPr>
              <a:spLocks noChangeArrowheads="1"/>
            </p:cNvSpPr>
            <p:nvPr/>
          </p:nvSpPr>
          <p:spPr bwMode="auto">
            <a:xfrm>
              <a:off x="5605491" y="1520357"/>
              <a:ext cx="2895599" cy="714372"/>
            </a:xfrm>
            <a:prstGeom prst="wedgeEllipseCallout">
              <a:avLst>
                <a:gd name="adj1" fmla="val -49264"/>
                <a:gd name="adj2" fmla="val 124667"/>
              </a:avLst>
            </a:prstGeom>
            <a:gradFill rotWithShape="0">
              <a:gsLst>
                <a:gs pos="0">
                  <a:srgbClr val="C0C0C0"/>
                </a:gs>
                <a:gs pos="100000">
                  <a:srgbClr val="FFFFFF"/>
                </a:gs>
              </a:gsLst>
              <a:lin ang="18900000" scaled="1"/>
            </a:gradFill>
            <a:ln w="12700">
              <a:solidFill>
                <a:schemeClr val="tx1"/>
              </a:solidFill>
              <a:miter lim="800000"/>
              <a:headEnd/>
              <a:tailEnd/>
            </a:ln>
          </p:spPr>
          <p:txBody>
            <a:bodyPr/>
            <a:lstStyle/>
            <a:p>
              <a:pPr algn="ctr"/>
              <a:r>
                <a:rPr lang="zh-CN" altLang="en-US" sz="2000" b="1" i="1" dirty="0">
                  <a:latin typeface="Times New Roman" pitchFamily="18" charset="0"/>
                </a:rPr>
                <a:t>当前考虑结点</a:t>
              </a:r>
              <a:endParaRPr lang="en-US" altLang="zh-CN" sz="2000" b="1" i="1" dirty="0">
                <a:latin typeface="Times New Roman" pitchFamily="18" charset="0"/>
              </a:endParaRPr>
            </a:p>
          </p:txBody>
        </p:sp>
        <p:cxnSp>
          <p:nvCxnSpPr>
            <p:cNvPr id="46204" name="直接箭头连接符 41"/>
            <p:cNvCxnSpPr>
              <a:cxnSpLocks noChangeShapeType="1"/>
            </p:cNvCxnSpPr>
            <p:nvPr/>
          </p:nvCxnSpPr>
          <p:spPr bwMode="auto">
            <a:xfrm flipV="1">
              <a:off x="4786314" y="2928934"/>
              <a:ext cx="357190" cy="333920"/>
            </a:xfrm>
            <a:prstGeom prst="straightConnector1">
              <a:avLst/>
            </a:prstGeom>
            <a:noFill/>
            <a:ln w="25400" algn="ctr">
              <a:solidFill>
                <a:srgbClr val="0000FF"/>
              </a:solidFill>
              <a:prstDash val="sysDot"/>
              <a:round/>
              <a:headEnd type="arrow" w="med" len="med"/>
              <a:tailEnd type="arrow" w="med" len="med"/>
            </a:ln>
            <a:extLst>
              <a:ext uri="{909E8E84-426E-40DD-AFC4-6F175D3DCCD1}">
                <a14:hiddenFill xmlns:a14="http://schemas.microsoft.com/office/drawing/2010/main">
                  <a:noFill/>
                </a14:hiddenFill>
              </a:ext>
            </a:extLst>
          </p:spPr>
        </p:cxnSp>
      </p:grpSp>
      <p:grpSp>
        <p:nvGrpSpPr>
          <p:cNvPr id="47" name="组合 46"/>
          <p:cNvGrpSpPr>
            <a:grpSpLocks/>
          </p:cNvGrpSpPr>
          <p:nvPr/>
        </p:nvGrpSpPr>
        <p:grpSpPr bwMode="auto">
          <a:xfrm>
            <a:off x="642938" y="1285875"/>
            <a:ext cx="5643562" cy="3357563"/>
            <a:chOff x="1142976" y="1142984"/>
            <a:chExt cx="5643602" cy="3357586"/>
          </a:xfrm>
        </p:grpSpPr>
        <p:grpSp>
          <p:nvGrpSpPr>
            <p:cNvPr id="46163" name="Group 54"/>
            <p:cNvGrpSpPr>
              <a:grpSpLocks/>
            </p:cNvGrpSpPr>
            <p:nvPr/>
          </p:nvGrpSpPr>
          <p:grpSpPr bwMode="auto">
            <a:xfrm>
              <a:off x="2285987" y="1857364"/>
              <a:ext cx="4500596" cy="2643206"/>
              <a:chOff x="6316" y="10205"/>
              <a:chExt cx="3584" cy="2060"/>
            </a:xfrm>
          </p:grpSpPr>
          <p:sp>
            <p:nvSpPr>
              <p:cNvPr id="46167" name="Line 55"/>
              <p:cNvSpPr>
                <a:spLocks noChangeShapeType="1"/>
              </p:cNvSpPr>
              <p:nvPr/>
            </p:nvSpPr>
            <p:spPr bwMode="auto">
              <a:xfrm flipH="1">
                <a:off x="7363" y="10495"/>
                <a:ext cx="675" cy="3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68" name="Oval 56"/>
              <p:cNvSpPr>
                <a:spLocks noChangeArrowheads="1"/>
              </p:cNvSpPr>
              <p:nvPr/>
            </p:nvSpPr>
            <p:spPr bwMode="auto">
              <a:xfrm>
                <a:off x="8012" y="10205"/>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69" name="Oval 57"/>
              <p:cNvSpPr>
                <a:spLocks noChangeArrowheads="1"/>
              </p:cNvSpPr>
              <p:nvPr/>
            </p:nvSpPr>
            <p:spPr bwMode="auto">
              <a:xfrm>
                <a:off x="7007" y="10740"/>
                <a:ext cx="374" cy="374"/>
              </a:xfrm>
              <a:prstGeom prst="ellipse">
                <a:avLst/>
              </a:prstGeom>
              <a:solidFill>
                <a:srgbClr val="808080"/>
              </a:solidFill>
              <a:ln w="9525">
                <a:solidFill>
                  <a:srgbClr val="000000"/>
                </a:solidFill>
                <a:round/>
                <a:headEnd/>
                <a:tailEnd/>
              </a:ln>
            </p:spPr>
            <p:txBody>
              <a:bodyPr/>
              <a:lstStyle/>
              <a:p>
                <a:endParaRPr lang="zh-CN" altLang="en-US" sz="2000" b="1">
                  <a:latin typeface="Times New Roman" pitchFamily="18" charset="0"/>
                </a:endParaRPr>
              </a:p>
            </p:txBody>
          </p:sp>
          <p:sp>
            <p:nvSpPr>
              <p:cNvPr id="46170" name="Text Box 58"/>
              <p:cNvSpPr txBox="1">
                <a:spLocks noChangeArrowheads="1"/>
              </p:cNvSpPr>
              <p:nvPr/>
            </p:nvSpPr>
            <p:spPr bwMode="auto">
              <a:xfrm>
                <a:off x="7082" y="10818"/>
                <a:ext cx="227" cy="207"/>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solidFill>
                      <a:srgbClr val="FFFFFF"/>
                    </a:solidFill>
                    <a:latin typeface="Arial" pitchFamily="34" charset="0"/>
                  </a:rPr>
                  <a:t>66</a:t>
                </a:r>
                <a:endParaRPr lang="zh-CN" altLang="zh-CN" sz="2000" b="1">
                  <a:latin typeface="Arial" pitchFamily="34" charset="0"/>
                </a:endParaRPr>
              </a:p>
            </p:txBody>
          </p:sp>
          <p:sp>
            <p:nvSpPr>
              <p:cNvPr id="46171" name="Oval 59"/>
              <p:cNvSpPr>
                <a:spLocks noChangeArrowheads="1"/>
              </p:cNvSpPr>
              <p:nvPr/>
            </p:nvSpPr>
            <p:spPr bwMode="auto">
              <a:xfrm>
                <a:off x="6556" y="11262"/>
                <a:ext cx="374" cy="374"/>
              </a:xfrm>
              <a:prstGeom prst="ellipse">
                <a:avLst/>
              </a:prstGeom>
              <a:solidFill>
                <a:srgbClr val="808080"/>
              </a:solidFill>
              <a:ln w="9525">
                <a:solidFill>
                  <a:srgbClr val="000000"/>
                </a:solidFill>
                <a:round/>
                <a:headEnd/>
                <a:tailEnd/>
              </a:ln>
            </p:spPr>
            <p:txBody>
              <a:bodyPr/>
              <a:lstStyle/>
              <a:p>
                <a:endParaRPr lang="zh-CN" altLang="en-US" sz="2000" b="1">
                  <a:latin typeface="Times New Roman" pitchFamily="18" charset="0"/>
                </a:endParaRPr>
              </a:p>
            </p:txBody>
          </p:sp>
          <p:sp>
            <p:nvSpPr>
              <p:cNvPr id="46172" name="Text Box 60"/>
              <p:cNvSpPr txBox="1">
                <a:spLocks noChangeArrowheads="1"/>
              </p:cNvSpPr>
              <p:nvPr/>
            </p:nvSpPr>
            <p:spPr bwMode="auto">
              <a:xfrm>
                <a:off x="6661" y="11310"/>
                <a:ext cx="227" cy="207"/>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solidFill>
                      <a:srgbClr val="FFFFFF"/>
                    </a:solidFill>
                    <a:latin typeface="Arial" pitchFamily="34" charset="0"/>
                  </a:rPr>
                  <a:t>91</a:t>
                </a:r>
                <a:endParaRPr lang="zh-CN" altLang="zh-CN" sz="2000" b="1">
                  <a:latin typeface="Arial" pitchFamily="34" charset="0"/>
                </a:endParaRPr>
              </a:p>
            </p:txBody>
          </p:sp>
          <p:sp>
            <p:nvSpPr>
              <p:cNvPr id="46173" name="Line 61"/>
              <p:cNvSpPr>
                <a:spLocks noChangeShapeType="1"/>
              </p:cNvSpPr>
              <p:nvPr/>
            </p:nvSpPr>
            <p:spPr bwMode="auto">
              <a:xfrm flipH="1">
                <a:off x="6856" y="11085"/>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74" name="Text Box 62"/>
              <p:cNvSpPr txBox="1">
                <a:spLocks noChangeArrowheads="1"/>
              </p:cNvSpPr>
              <p:nvPr/>
            </p:nvSpPr>
            <p:spPr bwMode="auto">
              <a:xfrm>
                <a:off x="8084" y="10283"/>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solidFill>
                      <a:srgbClr val="000000"/>
                    </a:solidFill>
                    <a:latin typeface="Arial" pitchFamily="34" charset="0"/>
                  </a:rPr>
                  <a:t>79</a:t>
                </a:r>
                <a:endParaRPr lang="zh-CN" altLang="zh-CN" sz="2000" b="1">
                  <a:latin typeface="Arial" pitchFamily="34" charset="0"/>
                </a:endParaRPr>
              </a:p>
            </p:txBody>
          </p:sp>
          <p:sp>
            <p:nvSpPr>
              <p:cNvPr id="46175" name="Oval 63"/>
              <p:cNvSpPr>
                <a:spLocks noChangeArrowheads="1"/>
              </p:cNvSpPr>
              <p:nvPr/>
            </p:nvSpPr>
            <p:spPr bwMode="auto">
              <a:xfrm>
                <a:off x="6316" y="11891"/>
                <a:ext cx="374" cy="374"/>
              </a:xfrm>
              <a:prstGeom prst="ellipse">
                <a:avLst/>
              </a:prstGeom>
              <a:solidFill>
                <a:srgbClr val="969696"/>
              </a:solidFill>
              <a:ln w="9525">
                <a:solidFill>
                  <a:srgbClr val="000000"/>
                </a:solidFill>
                <a:round/>
                <a:headEnd/>
                <a:tailEnd/>
              </a:ln>
            </p:spPr>
            <p:txBody>
              <a:bodyPr/>
              <a:lstStyle/>
              <a:p>
                <a:endParaRPr lang="zh-CN" altLang="en-US" sz="2000" b="1">
                  <a:latin typeface="Times New Roman" pitchFamily="18" charset="0"/>
                </a:endParaRPr>
              </a:p>
            </p:txBody>
          </p:sp>
          <p:sp>
            <p:nvSpPr>
              <p:cNvPr id="46176" name="Text Box 64"/>
              <p:cNvSpPr txBox="1">
                <a:spLocks noChangeArrowheads="1"/>
              </p:cNvSpPr>
              <p:nvPr/>
            </p:nvSpPr>
            <p:spPr bwMode="auto">
              <a:xfrm>
                <a:off x="6406" y="11954"/>
                <a:ext cx="227" cy="207"/>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55</a:t>
                </a:r>
                <a:endParaRPr lang="zh-CN" altLang="zh-CN" sz="2000" b="1">
                  <a:latin typeface="Arial" pitchFamily="34" charset="0"/>
                </a:endParaRPr>
              </a:p>
            </p:txBody>
          </p:sp>
          <p:sp>
            <p:nvSpPr>
              <p:cNvPr id="46177" name="Oval 65"/>
              <p:cNvSpPr>
                <a:spLocks noChangeArrowheads="1"/>
              </p:cNvSpPr>
              <p:nvPr/>
            </p:nvSpPr>
            <p:spPr bwMode="auto">
              <a:xfrm>
                <a:off x="6842" y="11876"/>
                <a:ext cx="374" cy="374"/>
              </a:xfrm>
              <a:prstGeom prst="ellipse">
                <a:avLst/>
              </a:prstGeom>
              <a:solidFill>
                <a:srgbClr val="969696"/>
              </a:solidFill>
              <a:ln w="9525">
                <a:solidFill>
                  <a:srgbClr val="000000"/>
                </a:solidFill>
                <a:round/>
                <a:headEnd/>
                <a:tailEnd/>
              </a:ln>
            </p:spPr>
            <p:txBody>
              <a:bodyPr/>
              <a:lstStyle/>
              <a:p>
                <a:endParaRPr lang="zh-CN" altLang="en-US" sz="2000" b="1">
                  <a:latin typeface="Times New Roman" pitchFamily="18" charset="0"/>
                </a:endParaRPr>
              </a:p>
            </p:txBody>
          </p:sp>
          <p:sp>
            <p:nvSpPr>
              <p:cNvPr id="46178" name="Text Box 66"/>
              <p:cNvSpPr txBox="1">
                <a:spLocks noChangeArrowheads="1"/>
              </p:cNvSpPr>
              <p:nvPr/>
            </p:nvSpPr>
            <p:spPr bwMode="auto">
              <a:xfrm>
                <a:off x="6932" y="11939"/>
                <a:ext cx="227" cy="207"/>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solidFill>
                      <a:srgbClr val="FFFFFF"/>
                    </a:solidFill>
                    <a:latin typeface="Arial" pitchFamily="34" charset="0"/>
                  </a:rPr>
                  <a:t>83</a:t>
                </a:r>
                <a:endParaRPr lang="zh-CN" altLang="zh-CN" sz="2000" b="1">
                  <a:latin typeface="Arial" pitchFamily="34" charset="0"/>
                </a:endParaRPr>
              </a:p>
            </p:txBody>
          </p:sp>
          <p:sp>
            <p:nvSpPr>
              <p:cNvPr id="46179" name="Line 67"/>
              <p:cNvSpPr>
                <a:spLocks noChangeShapeType="1"/>
              </p:cNvSpPr>
              <p:nvPr/>
            </p:nvSpPr>
            <p:spPr bwMode="auto">
              <a:xfrm flipH="1">
                <a:off x="6571" y="11624"/>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80" name="Line 68"/>
              <p:cNvSpPr>
                <a:spLocks noChangeShapeType="1"/>
              </p:cNvSpPr>
              <p:nvPr/>
            </p:nvSpPr>
            <p:spPr bwMode="auto">
              <a:xfrm>
                <a:off x="6811" y="11624"/>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81" name="Oval 69"/>
              <p:cNvSpPr>
                <a:spLocks noChangeArrowheads="1"/>
              </p:cNvSpPr>
              <p:nvPr/>
            </p:nvSpPr>
            <p:spPr bwMode="auto">
              <a:xfrm>
                <a:off x="7515" y="11261"/>
                <a:ext cx="374" cy="374"/>
              </a:xfrm>
              <a:prstGeom prst="ellipse">
                <a:avLst/>
              </a:prstGeom>
              <a:solidFill>
                <a:srgbClr val="808080"/>
              </a:solidFill>
              <a:ln w="9525">
                <a:solidFill>
                  <a:srgbClr val="000000"/>
                </a:solidFill>
                <a:round/>
                <a:headEnd/>
                <a:tailEnd/>
              </a:ln>
            </p:spPr>
            <p:txBody>
              <a:bodyPr/>
              <a:lstStyle/>
              <a:p>
                <a:endParaRPr lang="zh-CN" altLang="en-US" sz="2000" b="1">
                  <a:latin typeface="Times New Roman" pitchFamily="18" charset="0"/>
                </a:endParaRPr>
              </a:p>
            </p:txBody>
          </p:sp>
          <p:sp>
            <p:nvSpPr>
              <p:cNvPr id="46182" name="Text Box 70"/>
              <p:cNvSpPr txBox="1">
                <a:spLocks noChangeArrowheads="1"/>
              </p:cNvSpPr>
              <p:nvPr/>
            </p:nvSpPr>
            <p:spPr bwMode="auto">
              <a:xfrm>
                <a:off x="7605" y="11324"/>
                <a:ext cx="227" cy="207"/>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72</a:t>
                </a:r>
                <a:endParaRPr lang="zh-CN" altLang="zh-CN" sz="2000" b="1">
                  <a:latin typeface="Arial" pitchFamily="34" charset="0"/>
                </a:endParaRPr>
              </a:p>
            </p:txBody>
          </p:sp>
          <p:sp>
            <p:nvSpPr>
              <p:cNvPr id="46183" name="Oval 71"/>
              <p:cNvSpPr>
                <a:spLocks noChangeArrowheads="1"/>
              </p:cNvSpPr>
              <p:nvPr/>
            </p:nvSpPr>
            <p:spPr bwMode="auto">
              <a:xfrm>
                <a:off x="7275" y="11890"/>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84" name="Text Box 72"/>
              <p:cNvSpPr txBox="1">
                <a:spLocks noChangeArrowheads="1"/>
              </p:cNvSpPr>
              <p:nvPr/>
            </p:nvSpPr>
            <p:spPr bwMode="auto">
              <a:xfrm>
                <a:off x="7365" y="11968"/>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30</a:t>
                </a:r>
                <a:endParaRPr lang="zh-CN" altLang="zh-CN" sz="2000" b="1">
                  <a:latin typeface="Arial" pitchFamily="34" charset="0"/>
                </a:endParaRPr>
              </a:p>
            </p:txBody>
          </p:sp>
          <p:sp>
            <p:nvSpPr>
              <p:cNvPr id="46185" name="Oval 73"/>
              <p:cNvSpPr>
                <a:spLocks noChangeArrowheads="1"/>
              </p:cNvSpPr>
              <p:nvPr/>
            </p:nvSpPr>
            <p:spPr bwMode="auto">
              <a:xfrm>
                <a:off x="7801" y="11875"/>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86" name="Text Box 74"/>
              <p:cNvSpPr txBox="1">
                <a:spLocks noChangeArrowheads="1"/>
              </p:cNvSpPr>
              <p:nvPr/>
            </p:nvSpPr>
            <p:spPr bwMode="auto">
              <a:xfrm>
                <a:off x="7891" y="11953"/>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49</a:t>
                </a:r>
                <a:endParaRPr lang="zh-CN" altLang="zh-CN" sz="2000" b="1">
                  <a:latin typeface="Arial" pitchFamily="34" charset="0"/>
                </a:endParaRPr>
              </a:p>
            </p:txBody>
          </p:sp>
          <p:sp>
            <p:nvSpPr>
              <p:cNvPr id="46187" name="Line 75"/>
              <p:cNvSpPr>
                <a:spLocks noChangeShapeType="1"/>
              </p:cNvSpPr>
              <p:nvPr/>
            </p:nvSpPr>
            <p:spPr bwMode="auto">
              <a:xfrm flipH="1">
                <a:off x="7530" y="11623"/>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88" name="Line 76"/>
              <p:cNvSpPr>
                <a:spLocks noChangeShapeType="1"/>
              </p:cNvSpPr>
              <p:nvPr/>
            </p:nvSpPr>
            <p:spPr bwMode="auto">
              <a:xfrm>
                <a:off x="7770" y="11623"/>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89" name="Line 77"/>
              <p:cNvSpPr>
                <a:spLocks noChangeShapeType="1"/>
              </p:cNvSpPr>
              <p:nvPr/>
            </p:nvSpPr>
            <p:spPr bwMode="auto">
              <a:xfrm>
                <a:off x="7336" y="11080"/>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90" name="Oval 78"/>
              <p:cNvSpPr>
                <a:spLocks noChangeArrowheads="1"/>
              </p:cNvSpPr>
              <p:nvPr/>
            </p:nvSpPr>
            <p:spPr bwMode="auto">
              <a:xfrm>
                <a:off x="9018" y="10720"/>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91" name="Text Box 79"/>
              <p:cNvSpPr txBox="1">
                <a:spLocks noChangeArrowheads="1"/>
              </p:cNvSpPr>
              <p:nvPr/>
            </p:nvSpPr>
            <p:spPr bwMode="auto">
              <a:xfrm>
                <a:off x="9093" y="10798"/>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87</a:t>
                </a:r>
                <a:endParaRPr lang="zh-CN" altLang="zh-CN" sz="2000" b="1">
                  <a:latin typeface="Arial" pitchFamily="34" charset="0"/>
                </a:endParaRPr>
              </a:p>
            </p:txBody>
          </p:sp>
          <p:sp>
            <p:nvSpPr>
              <p:cNvPr id="46192" name="Oval 80"/>
              <p:cNvSpPr>
                <a:spLocks noChangeArrowheads="1"/>
              </p:cNvSpPr>
              <p:nvPr/>
            </p:nvSpPr>
            <p:spPr bwMode="auto">
              <a:xfrm>
                <a:off x="8567" y="11242"/>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93" name="Text Box 81"/>
              <p:cNvSpPr txBox="1">
                <a:spLocks noChangeArrowheads="1"/>
              </p:cNvSpPr>
              <p:nvPr/>
            </p:nvSpPr>
            <p:spPr bwMode="auto">
              <a:xfrm>
                <a:off x="8672" y="11320"/>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43</a:t>
                </a:r>
                <a:endParaRPr lang="zh-CN" altLang="zh-CN" sz="2000" b="1">
                  <a:latin typeface="Arial" pitchFamily="34" charset="0"/>
                </a:endParaRPr>
              </a:p>
            </p:txBody>
          </p:sp>
          <p:sp>
            <p:nvSpPr>
              <p:cNvPr id="46194" name="Line 82"/>
              <p:cNvSpPr>
                <a:spLocks noChangeShapeType="1"/>
              </p:cNvSpPr>
              <p:nvPr/>
            </p:nvSpPr>
            <p:spPr bwMode="auto">
              <a:xfrm flipH="1">
                <a:off x="8867" y="11065"/>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95" name="Oval 83"/>
              <p:cNvSpPr>
                <a:spLocks noChangeArrowheads="1"/>
              </p:cNvSpPr>
              <p:nvPr/>
            </p:nvSpPr>
            <p:spPr bwMode="auto">
              <a:xfrm>
                <a:off x="8327" y="11871"/>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96" name="Text Box 84"/>
              <p:cNvSpPr txBox="1">
                <a:spLocks noChangeArrowheads="1"/>
              </p:cNvSpPr>
              <p:nvPr/>
            </p:nvSpPr>
            <p:spPr bwMode="auto">
              <a:xfrm>
                <a:off x="8417" y="11949"/>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9</a:t>
                </a:r>
                <a:endParaRPr lang="zh-CN" altLang="zh-CN" sz="2000" b="1">
                  <a:latin typeface="Arial" pitchFamily="34" charset="0"/>
                </a:endParaRPr>
              </a:p>
            </p:txBody>
          </p:sp>
          <p:sp>
            <p:nvSpPr>
              <p:cNvPr id="46197" name="Line 85"/>
              <p:cNvSpPr>
                <a:spLocks noChangeShapeType="1"/>
              </p:cNvSpPr>
              <p:nvPr/>
            </p:nvSpPr>
            <p:spPr bwMode="auto">
              <a:xfrm flipH="1">
                <a:off x="8582" y="11604"/>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98" name="Oval 86"/>
              <p:cNvSpPr>
                <a:spLocks noChangeArrowheads="1"/>
              </p:cNvSpPr>
              <p:nvPr/>
            </p:nvSpPr>
            <p:spPr bwMode="auto">
              <a:xfrm>
                <a:off x="9526" y="11241"/>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99" name="Text Box 87"/>
              <p:cNvSpPr txBox="1">
                <a:spLocks noChangeArrowheads="1"/>
              </p:cNvSpPr>
              <p:nvPr/>
            </p:nvSpPr>
            <p:spPr bwMode="auto">
              <a:xfrm>
                <a:off x="9631" y="11319"/>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38</a:t>
                </a:r>
                <a:endParaRPr lang="zh-CN" altLang="zh-CN" sz="2000" b="1">
                  <a:latin typeface="Arial" pitchFamily="34" charset="0"/>
                </a:endParaRPr>
              </a:p>
            </p:txBody>
          </p:sp>
          <p:sp>
            <p:nvSpPr>
              <p:cNvPr id="46200" name="Line 88"/>
              <p:cNvSpPr>
                <a:spLocks noChangeShapeType="1"/>
              </p:cNvSpPr>
              <p:nvPr/>
            </p:nvSpPr>
            <p:spPr bwMode="auto">
              <a:xfrm>
                <a:off x="9347" y="11060"/>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201" name="Line 89"/>
              <p:cNvSpPr>
                <a:spLocks noChangeShapeType="1"/>
              </p:cNvSpPr>
              <p:nvPr/>
            </p:nvSpPr>
            <p:spPr bwMode="auto">
              <a:xfrm>
                <a:off x="8356" y="10498"/>
                <a:ext cx="675" cy="3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6164" name="AutoShape 4"/>
            <p:cNvSpPr>
              <a:spLocks noChangeArrowheads="1"/>
            </p:cNvSpPr>
            <p:nvPr/>
          </p:nvSpPr>
          <p:spPr bwMode="auto">
            <a:xfrm>
              <a:off x="1142976" y="1142984"/>
              <a:ext cx="2895599" cy="714372"/>
            </a:xfrm>
            <a:prstGeom prst="wedgeEllipseCallout">
              <a:avLst>
                <a:gd name="adj1" fmla="val 23185"/>
                <a:gd name="adj2" fmla="val 151023"/>
              </a:avLst>
            </a:prstGeom>
            <a:gradFill rotWithShape="0">
              <a:gsLst>
                <a:gs pos="0">
                  <a:srgbClr val="C0C0C0"/>
                </a:gs>
                <a:gs pos="100000">
                  <a:srgbClr val="FFFFFF"/>
                </a:gs>
              </a:gsLst>
              <a:lin ang="18900000" scaled="1"/>
            </a:gradFill>
            <a:ln w="12700">
              <a:solidFill>
                <a:schemeClr val="tx1"/>
              </a:solidFill>
              <a:miter lim="800000"/>
              <a:headEnd/>
              <a:tailEnd/>
            </a:ln>
          </p:spPr>
          <p:txBody>
            <a:bodyPr/>
            <a:lstStyle/>
            <a:p>
              <a:pPr algn="ctr"/>
              <a:r>
                <a:rPr lang="zh-CN" altLang="en-US" sz="2000" b="1" i="1" dirty="0">
                  <a:latin typeface="Times New Roman" pitchFamily="18" charset="0"/>
                </a:rPr>
                <a:t>当前考虑结点</a:t>
              </a:r>
              <a:endParaRPr lang="en-US" altLang="zh-CN" sz="2000" b="1" i="1" dirty="0">
                <a:latin typeface="Times New Roman" pitchFamily="18" charset="0"/>
              </a:endParaRPr>
            </a:p>
          </p:txBody>
        </p:sp>
        <p:cxnSp>
          <p:nvCxnSpPr>
            <p:cNvPr id="46165" name="直接箭头连接符 49"/>
            <p:cNvCxnSpPr>
              <a:cxnSpLocks noChangeShapeType="1"/>
            </p:cNvCxnSpPr>
            <p:nvPr/>
          </p:nvCxnSpPr>
          <p:spPr bwMode="auto">
            <a:xfrm flipV="1">
              <a:off x="2786050" y="2857496"/>
              <a:ext cx="357190" cy="333920"/>
            </a:xfrm>
            <a:prstGeom prst="straightConnector1">
              <a:avLst/>
            </a:prstGeom>
            <a:noFill/>
            <a:ln w="25400" algn="ctr">
              <a:solidFill>
                <a:srgbClr val="0000FF"/>
              </a:solidFill>
              <a:prstDash val="sysDot"/>
              <a:round/>
              <a:headEnd type="arrow" w="med" len="med"/>
              <a:tailEnd type="arrow" w="med" len="med"/>
            </a:ln>
            <a:extLst>
              <a:ext uri="{909E8E84-426E-40DD-AFC4-6F175D3DCCD1}">
                <a14:hiddenFill xmlns:a14="http://schemas.microsoft.com/office/drawing/2010/main">
                  <a:noFill/>
                </a14:hiddenFill>
              </a:ext>
            </a:extLst>
          </p:spPr>
        </p:cxnSp>
        <p:cxnSp>
          <p:nvCxnSpPr>
            <p:cNvPr id="46166" name="直接箭头连接符 50"/>
            <p:cNvCxnSpPr>
              <a:cxnSpLocks noChangeShapeType="1"/>
            </p:cNvCxnSpPr>
            <p:nvPr/>
          </p:nvCxnSpPr>
          <p:spPr bwMode="auto">
            <a:xfrm rot="16200000" flipV="1">
              <a:off x="2940561" y="3703117"/>
              <a:ext cx="405358" cy="142876"/>
            </a:xfrm>
            <a:prstGeom prst="straightConnector1">
              <a:avLst/>
            </a:prstGeom>
            <a:noFill/>
            <a:ln w="25400" algn="ctr">
              <a:solidFill>
                <a:srgbClr val="0000FF"/>
              </a:solidFill>
              <a:prstDash val="sysDot"/>
              <a:round/>
              <a:headEnd type="arrow" w="med" len="med"/>
              <a:tailEnd type="arrow" w="med" len="med"/>
            </a:ln>
            <a:extLst>
              <a:ext uri="{909E8E84-426E-40DD-AFC4-6F175D3DCCD1}">
                <a14:hiddenFill xmlns:a14="http://schemas.microsoft.com/office/drawing/2010/main">
                  <a:noFill/>
                </a14:hiddenFill>
              </a:ext>
            </a:extLst>
          </p:spPr>
        </p:cxnSp>
      </p:grpSp>
      <p:grpSp>
        <p:nvGrpSpPr>
          <p:cNvPr id="87" name="组合 86"/>
          <p:cNvGrpSpPr>
            <a:grpSpLocks/>
          </p:cNvGrpSpPr>
          <p:nvPr/>
        </p:nvGrpSpPr>
        <p:grpSpPr bwMode="auto">
          <a:xfrm>
            <a:off x="1785938" y="928688"/>
            <a:ext cx="5467350" cy="3714750"/>
            <a:chOff x="2000232" y="785794"/>
            <a:chExt cx="5467367" cy="3714776"/>
          </a:xfrm>
        </p:grpSpPr>
        <p:grpSp>
          <p:nvGrpSpPr>
            <p:cNvPr id="46124" name="Group 159"/>
            <p:cNvGrpSpPr>
              <a:grpSpLocks/>
            </p:cNvGrpSpPr>
            <p:nvPr/>
          </p:nvGrpSpPr>
          <p:grpSpPr bwMode="auto">
            <a:xfrm>
              <a:off x="2000231" y="1857364"/>
              <a:ext cx="4500596" cy="2643206"/>
              <a:chOff x="2099" y="13311"/>
              <a:chExt cx="3584" cy="2060"/>
            </a:xfrm>
          </p:grpSpPr>
          <p:sp>
            <p:nvSpPr>
              <p:cNvPr id="46128" name="Line 160"/>
              <p:cNvSpPr>
                <a:spLocks noChangeShapeType="1"/>
              </p:cNvSpPr>
              <p:nvPr/>
            </p:nvSpPr>
            <p:spPr bwMode="auto">
              <a:xfrm flipH="1">
                <a:off x="3146" y="13601"/>
                <a:ext cx="675" cy="3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29" name="Oval 161"/>
              <p:cNvSpPr>
                <a:spLocks noChangeArrowheads="1"/>
              </p:cNvSpPr>
              <p:nvPr/>
            </p:nvSpPr>
            <p:spPr bwMode="auto">
              <a:xfrm>
                <a:off x="3795" y="13311"/>
                <a:ext cx="374" cy="374"/>
              </a:xfrm>
              <a:prstGeom prst="ellipse">
                <a:avLst/>
              </a:prstGeom>
              <a:solidFill>
                <a:srgbClr val="808080"/>
              </a:solidFill>
              <a:ln w="9525">
                <a:solidFill>
                  <a:srgbClr val="000000"/>
                </a:solidFill>
                <a:round/>
                <a:headEnd/>
                <a:tailEnd/>
              </a:ln>
            </p:spPr>
            <p:txBody>
              <a:bodyPr/>
              <a:lstStyle/>
              <a:p>
                <a:endParaRPr lang="zh-CN" altLang="en-US" sz="2000" b="1">
                  <a:latin typeface="Times New Roman" pitchFamily="18" charset="0"/>
                </a:endParaRPr>
              </a:p>
            </p:txBody>
          </p:sp>
          <p:sp>
            <p:nvSpPr>
              <p:cNvPr id="46130" name="Oval 162"/>
              <p:cNvSpPr>
                <a:spLocks noChangeArrowheads="1"/>
              </p:cNvSpPr>
              <p:nvPr/>
            </p:nvSpPr>
            <p:spPr bwMode="auto">
              <a:xfrm>
                <a:off x="2790" y="13846"/>
                <a:ext cx="374" cy="374"/>
              </a:xfrm>
              <a:prstGeom prst="ellipse">
                <a:avLst/>
              </a:prstGeom>
              <a:solidFill>
                <a:srgbClr val="808080"/>
              </a:solidFill>
              <a:ln w="9525">
                <a:solidFill>
                  <a:srgbClr val="000000"/>
                </a:solidFill>
                <a:round/>
                <a:headEnd/>
                <a:tailEnd/>
              </a:ln>
            </p:spPr>
            <p:txBody>
              <a:bodyPr/>
              <a:lstStyle/>
              <a:p>
                <a:endParaRPr lang="zh-CN" altLang="en-US" sz="2000" b="1">
                  <a:latin typeface="Times New Roman" pitchFamily="18" charset="0"/>
                </a:endParaRPr>
              </a:p>
            </p:txBody>
          </p:sp>
          <p:sp>
            <p:nvSpPr>
              <p:cNvPr id="46131" name="Text Box 163"/>
              <p:cNvSpPr txBox="1">
                <a:spLocks noChangeArrowheads="1"/>
              </p:cNvSpPr>
              <p:nvPr/>
            </p:nvSpPr>
            <p:spPr bwMode="auto">
              <a:xfrm>
                <a:off x="2895" y="13924"/>
                <a:ext cx="227" cy="207"/>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solidFill>
                      <a:srgbClr val="FFFFFF"/>
                    </a:solidFill>
                    <a:latin typeface="Arial" pitchFamily="34" charset="0"/>
                  </a:rPr>
                  <a:t>91</a:t>
                </a:r>
                <a:endParaRPr lang="zh-CN" altLang="zh-CN" sz="2000" b="1">
                  <a:latin typeface="Arial" pitchFamily="34" charset="0"/>
                </a:endParaRPr>
              </a:p>
            </p:txBody>
          </p:sp>
          <p:sp>
            <p:nvSpPr>
              <p:cNvPr id="46132" name="Oval 164"/>
              <p:cNvSpPr>
                <a:spLocks noChangeArrowheads="1"/>
              </p:cNvSpPr>
              <p:nvPr/>
            </p:nvSpPr>
            <p:spPr bwMode="auto">
              <a:xfrm>
                <a:off x="2339" y="14368"/>
                <a:ext cx="374" cy="374"/>
              </a:xfrm>
              <a:prstGeom prst="ellipse">
                <a:avLst/>
              </a:prstGeom>
              <a:solidFill>
                <a:srgbClr val="969696"/>
              </a:solidFill>
              <a:ln w="9525">
                <a:solidFill>
                  <a:srgbClr val="000000"/>
                </a:solidFill>
                <a:round/>
                <a:headEnd/>
                <a:tailEnd/>
              </a:ln>
            </p:spPr>
            <p:txBody>
              <a:bodyPr/>
              <a:lstStyle/>
              <a:p>
                <a:endParaRPr lang="zh-CN" altLang="en-US" sz="2000" b="1">
                  <a:latin typeface="Times New Roman" pitchFamily="18" charset="0"/>
                </a:endParaRPr>
              </a:p>
            </p:txBody>
          </p:sp>
          <p:sp>
            <p:nvSpPr>
              <p:cNvPr id="46133" name="Text Box 165"/>
              <p:cNvSpPr txBox="1">
                <a:spLocks noChangeArrowheads="1"/>
              </p:cNvSpPr>
              <p:nvPr/>
            </p:nvSpPr>
            <p:spPr bwMode="auto">
              <a:xfrm>
                <a:off x="2444" y="14416"/>
                <a:ext cx="227" cy="207"/>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solidFill>
                      <a:srgbClr val="FFFFFF"/>
                    </a:solidFill>
                    <a:latin typeface="Arial" pitchFamily="34" charset="0"/>
                  </a:rPr>
                  <a:t>83</a:t>
                </a:r>
                <a:endParaRPr lang="zh-CN" altLang="zh-CN" sz="2000" b="1">
                  <a:latin typeface="Arial" pitchFamily="34" charset="0"/>
                </a:endParaRPr>
              </a:p>
            </p:txBody>
          </p:sp>
          <p:sp>
            <p:nvSpPr>
              <p:cNvPr id="46134" name="Line 166"/>
              <p:cNvSpPr>
                <a:spLocks noChangeShapeType="1"/>
              </p:cNvSpPr>
              <p:nvPr/>
            </p:nvSpPr>
            <p:spPr bwMode="auto">
              <a:xfrm flipH="1">
                <a:off x="2639" y="14191"/>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35" name="Text Box 167"/>
              <p:cNvSpPr txBox="1">
                <a:spLocks noChangeArrowheads="1"/>
              </p:cNvSpPr>
              <p:nvPr/>
            </p:nvSpPr>
            <p:spPr bwMode="auto">
              <a:xfrm>
                <a:off x="3867" y="13389"/>
                <a:ext cx="227" cy="207"/>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solidFill>
                      <a:srgbClr val="FFFFFF"/>
                    </a:solidFill>
                    <a:latin typeface="Arial" pitchFamily="34" charset="0"/>
                  </a:rPr>
                  <a:t>79</a:t>
                </a:r>
                <a:endParaRPr lang="zh-CN" altLang="zh-CN" sz="2000" b="1">
                  <a:latin typeface="Arial" pitchFamily="34" charset="0"/>
                </a:endParaRPr>
              </a:p>
            </p:txBody>
          </p:sp>
          <p:sp>
            <p:nvSpPr>
              <p:cNvPr id="46136" name="Oval 168"/>
              <p:cNvSpPr>
                <a:spLocks noChangeArrowheads="1"/>
              </p:cNvSpPr>
              <p:nvPr/>
            </p:nvSpPr>
            <p:spPr bwMode="auto">
              <a:xfrm>
                <a:off x="2099" y="14997"/>
                <a:ext cx="374" cy="374"/>
              </a:xfrm>
              <a:prstGeom prst="ellipse">
                <a:avLst/>
              </a:prstGeom>
              <a:solidFill>
                <a:srgbClr val="C0C0C0"/>
              </a:solidFill>
              <a:ln w="9525">
                <a:solidFill>
                  <a:srgbClr val="000000"/>
                </a:solidFill>
                <a:round/>
                <a:headEnd/>
                <a:tailEnd/>
              </a:ln>
            </p:spPr>
            <p:txBody>
              <a:bodyPr/>
              <a:lstStyle/>
              <a:p>
                <a:endParaRPr lang="zh-CN" altLang="en-US" sz="2000" b="1">
                  <a:latin typeface="Times New Roman" pitchFamily="18" charset="0"/>
                </a:endParaRPr>
              </a:p>
            </p:txBody>
          </p:sp>
          <p:sp>
            <p:nvSpPr>
              <p:cNvPr id="46137" name="Text Box 169"/>
              <p:cNvSpPr txBox="1">
                <a:spLocks noChangeArrowheads="1"/>
              </p:cNvSpPr>
              <p:nvPr/>
            </p:nvSpPr>
            <p:spPr bwMode="auto">
              <a:xfrm>
                <a:off x="2189" y="15060"/>
                <a:ext cx="227" cy="207"/>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55</a:t>
                </a:r>
                <a:endParaRPr lang="zh-CN" altLang="zh-CN" sz="2000" b="1">
                  <a:latin typeface="Arial" pitchFamily="34" charset="0"/>
                </a:endParaRPr>
              </a:p>
            </p:txBody>
          </p:sp>
          <p:sp>
            <p:nvSpPr>
              <p:cNvPr id="46138" name="Oval 170"/>
              <p:cNvSpPr>
                <a:spLocks noChangeArrowheads="1"/>
              </p:cNvSpPr>
              <p:nvPr/>
            </p:nvSpPr>
            <p:spPr bwMode="auto">
              <a:xfrm>
                <a:off x="2625" y="14982"/>
                <a:ext cx="374" cy="374"/>
              </a:xfrm>
              <a:prstGeom prst="ellipse">
                <a:avLst/>
              </a:prstGeom>
              <a:solidFill>
                <a:srgbClr val="C0C0C0"/>
              </a:solidFill>
              <a:ln w="9525">
                <a:solidFill>
                  <a:srgbClr val="000000"/>
                </a:solidFill>
                <a:round/>
                <a:headEnd/>
                <a:tailEnd/>
              </a:ln>
            </p:spPr>
            <p:txBody>
              <a:bodyPr/>
              <a:lstStyle/>
              <a:p>
                <a:endParaRPr lang="zh-CN" altLang="en-US" sz="2000" b="1">
                  <a:latin typeface="Times New Roman" pitchFamily="18" charset="0"/>
                </a:endParaRPr>
              </a:p>
            </p:txBody>
          </p:sp>
          <p:sp>
            <p:nvSpPr>
              <p:cNvPr id="46139" name="Text Box 171"/>
              <p:cNvSpPr txBox="1">
                <a:spLocks noChangeArrowheads="1"/>
              </p:cNvSpPr>
              <p:nvPr/>
            </p:nvSpPr>
            <p:spPr bwMode="auto">
              <a:xfrm>
                <a:off x="2715" y="15045"/>
                <a:ext cx="227" cy="207"/>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66</a:t>
                </a:r>
                <a:endParaRPr lang="zh-CN" altLang="zh-CN" sz="2000" b="1">
                  <a:latin typeface="Arial" pitchFamily="34" charset="0"/>
                </a:endParaRPr>
              </a:p>
            </p:txBody>
          </p:sp>
          <p:sp>
            <p:nvSpPr>
              <p:cNvPr id="46140" name="Line 172"/>
              <p:cNvSpPr>
                <a:spLocks noChangeShapeType="1"/>
              </p:cNvSpPr>
              <p:nvPr/>
            </p:nvSpPr>
            <p:spPr bwMode="auto">
              <a:xfrm flipH="1">
                <a:off x="2354" y="14730"/>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41" name="Line 173"/>
              <p:cNvSpPr>
                <a:spLocks noChangeShapeType="1"/>
              </p:cNvSpPr>
              <p:nvPr/>
            </p:nvSpPr>
            <p:spPr bwMode="auto">
              <a:xfrm>
                <a:off x="2594" y="14730"/>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42" name="Oval 174"/>
              <p:cNvSpPr>
                <a:spLocks noChangeArrowheads="1"/>
              </p:cNvSpPr>
              <p:nvPr/>
            </p:nvSpPr>
            <p:spPr bwMode="auto">
              <a:xfrm>
                <a:off x="3298" y="14367"/>
                <a:ext cx="374" cy="374"/>
              </a:xfrm>
              <a:prstGeom prst="ellipse">
                <a:avLst/>
              </a:prstGeom>
              <a:solidFill>
                <a:srgbClr val="969696"/>
              </a:solidFill>
              <a:ln w="9525">
                <a:solidFill>
                  <a:srgbClr val="000000"/>
                </a:solidFill>
                <a:round/>
                <a:headEnd/>
                <a:tailEnd/>
              </a:ln>
            </p:spPr>
            <p:txBody>
              <a:bodyPr/>
              <a:lstStyle/>
              <a:p>
                <a:endParaRPr lang="zh-CN" altLang="en-US" sz="2000" b="1">
                  <a:latin typeface="Times New Roman" pitchFamily="18" charset="0"/>
                </a:endParaRPr>
              </a:p>
            </p:txBody>
          </p:sp>
          <p:sp>
            <p:nvSpPr>
              <p:cNvPr id="46143" name="Text Box 175"/>
              <p:cNvSpPr txBox="1">
                <a:spLocks noChangeArrowheads="1"/>
              </p:cNvSpPr>
              <p:nvPr/>
            </p:nvSpPr>
            <p:spPr bwMode="auto">
              <a:xfrm>
                <a:off x="3388" y="14430"/>
                <a:ext cx="227" cy="207"/>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72</a:t>
                </a:r>
                <a:endParaRPr lang="zh-CN" altLang="zh-CN" sz="2000" b="1">
                  <a:latin typeface="Arial" pitchFamily="34" charset="0"/>
                </a:endParaRPr>
              </a:p>
            </p:txBody>
          </p:sp>
          <p:sp>
            <p:nvSpPr>
              <p:cNvPr id="46144" name="Oval 176"/>
              <p:cNvSpPr>
                <a:spLocks noChangeArrowheads="1"/>
              </p:cNvSpPr>
              <p:nvPr/>
            </p:nvSpPr>
            <p:spPr bwMode="auto">
              <a:xfrm>
                <a:off x="3058" y="14996"/>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45" name="Text Box 177"/>
              <p:cNvSpPr txBox="1">
                <a:spLocks noChangeArrowheads="1"/>
              </p:cNvSpPr>
              <p:nvPr/>
            </p:nvSpPr>
            <p:spPr bwMode="auto">
              <a:xfrm>
                <a:off x="3148" y="15074"/>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30</a:t>
                </a:r>
                <a:endParaRPr lang="zh-CN" altLang="zh-CN" sz="2000" b="1">
                  <a:latin typeface="Arial" pitchFamily="34" charset="0"/>
                </a:endParaRPr>
              </a:p>
            </p:txBody>
          </p:sp>
          <p:sp>
            <p:nvSpPr>
              <p:cNvPr id="46146" name="Oval 178"/>
              <p:cNvSpPr>
                <a:spLocks noChangeArrowheads="1"/>
              </p:cNvSpPr>
              <p:nvPr/>
            </p:nvSpPr>
            <p:spPr bwMode="auto">
              <a:xfrm>
                <a:off x="3584" y="14981"/>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47" name="Text Box 179"/>
              <p:cNvSpPr txBox="1">
                <a:spLocks noChangeArrowheads="1"/>
              </p:cNvSpPr>
              <p:nvPr/>
            </p:nvSpPr>
            <p:spPr bwMode="auto">
              <a:xfrm>
                <a:off x="3674" y="15059"/>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49</a:t>
                </a:r>
                <a:endParaRPr lang="zh-CN" altLang="zh-CN" sz="2000" b="1">
                  <a:latin typeface="Arial" pitchFamily="34" charset="0"/>
                </a:endParaRPr>
              </a:p>
            </p:txBody>
          </p:sp>
          <p:sp>
            <p:nvSpPr>
              <p:cNvPr id="46148" name="Line 180"/>
              <p:cNvSpPr>
                <a:spLocks noChangeShapeType="1"/>
              </p:cNvSpPr>
              <p:nvPr/>
            </p:nvSpPr>
            <p:spPr bwMode="auto">
              <a:xfrm flipH="1">
                <a:off x="3313" y="14729"/>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49" name="Line 181"/>
              <p:cNvSpPr>
                <a:spLocks noChangeShapeType="1"/>
              </p:cNvSpPr>
              <p:nvPr/>
            </p:nvSpPr>
            <p:spPr bwMode="auto">
              <a:xfrm>
                <a:off x="3553" y="14729"/>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50" name="Line 182"/>
              <p:cNvSpPr>
                <a:spLocks noChangeShapeType="1"/>
              </p:cNvSpPr>
              <p:nvPr/>
            </p:nvSpPr>
            <p:spPr bwMode="auto">
              <a:xfrm>
                <a:off x="3119" y="14186"/>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51" name="Oval 183"/>
              <p:cNvSpPr>
                <a:spLocks noChangeArrowheads="1"/>
              </p:cNvSpPr>
              <p:nvPr/>
            </p:nvSpPr>
            <p:spPr bwMode="auto">
              <a:xfrm>
                <a:off x="4801" y="13826"/>
                <a:ext cx="374" cy="374"/>
              </a:xfrm>
              <a:prstGeom prst="ellipse">
                <a:avLst/>
              </a:prstGeom>
              <a:solidFill>
                <a:srgbClr val="808080"/>
              </a:solidFill>
              <a:ln w="9525">
                <a:solidFill>
                  <a:srgbClr val="000000"/>
                </a:solidFill>
                <a:round/>
                <a:headEnd/>
                <a:tailEnd/>
              </a:ln>
            </p:spPr>
            <p:txBody>
              <a:bodyPr/>
              <a:lstStyle/>
              <a:p>
                <a:endParaRPr lang="zh-CN" altLang="en-US" sz="2000" b="1">
                  <a:latin typeface="Times New Roman" pitchFamily="18" charset="0"/>
                </a:endParaRPr>
              </a:p>
            </p:txBody>
          </p:sp>
          <p:sp>
            <p:nvSpPr>
              <p:cNvPr id="46152" name="Text Box 184"/>
              <p:cNvSpPr txBox="1">
                <a:spLocks noChangeArrowheads="1"/>
              </p:cNvSpPr>
              <p:nvPr/>
            </p:nvSpPr>
            <p:spPr bwMode="auto">
              <a:xfrm>
                <a:off x="4876" y="13904"/>
                <a:ext cx="227" cy="207"/>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87</a:t>
                </a:r>
                <a:endParaRPr lang="zh-CN" altLang="zh-CN" sz="2000" b="1">
                  <a:latin typeface="Arial" pitchFamily="34" charset="0"/>
                </a:endParaRPr>
              </a:p>
            </p:txBody>
          </p:sp>
          <p:sp>
            <p:nvSpPr>
              <p:cNvPr id="46153" name="Oval 185"/>
              <p:cNvSpPr>
                <a:spLocks noChangeArrowheads="1"/>
              </p:cNvSpPr>
              <p:nvPr/>
            </p:nvSpPr>
            <p:spPr bwMode="auto">
              <a:xfrm>
                <a:off x="4350" y="14348"/>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54" name="Text Box 186"/>
              <p:cNvSpPr txBox="1">
                <a:spLocks noChangeArrowheads="1"/>
              </p:cNvSpPr>
              <p:nvPr/>
            </p:nvSpPr>
            <p:spPr bwMode="auto">
              <a:xfrm>
                <a:off x="4455" y="14426"/>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43</a:t>
                </a:r>
                <a:endParaRPr lang="zh-CN" altLang="zh-CN" sz="2000" b="1">
                  <a:latin typeface="Arial" pitchFamily="34" charset="0"/>
                </a:endParaRPr>
              </a:p>
            </p:txBody>
          </p:sp>
          <p:sp>
            <p:nvSpPr>
              <p:cNvPr id="46155" name="Line 187"/>
              <p:cNvSpPr>
                <a:spLocks noChangeShapeType="1"/>
              </p:cNvSpPr>
              <p:nvPr/>
            </p:nvSpPr>
            <p:spPr bwMode="auto">
              <a:xfrm flipH="1">
                <a:off x="4650" y="14171"/>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56" name="Oval 188"/>
              <p:cNvSpPr>
                <a:spLocks noChangeArrowheads="1"/>
              </p:cNvSpPr>
              <p:nvPr/>
            </p:nvSpPr>
            <p:spPr bwMode="auto">
              <a:xfrm>
                <a:off x="4110" y="14977"/>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57" name="Text Box 189"/>
              <p:cNvSpPr txBox="1">
                <a:spLocks noChangeArrowheads="1"/>
              </p:cNvSpPr>
              <p:nvPr/>
            </p:nvSpPr>
            <p:spPr bwMode="auto">
              <a:xfrm>
                <a:off x="4200" y="15055"/>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9</a:t>
                </a:r>
                <a:endParaRPr lang="zh-CN" altLang="zh-CN" sz="2000" b="1">
                  <a:latin typeface="Arial" pitchFamily="34" charset="0"/>
                </a:endParaRPr>
              </a:p>
            </p:txBody>
          </p:sp>
          <p:sp>
            <p:nvSpPr>
              <p:cNvPr id="46158" name="Line 190"/>
              <p:cNvSpPr>
                <a:spLocks noChangeShapeType="1"/>
              </p:cNvSpPr>
              <p:nvPr/>
            </p:nvSpPr>
            <p:spPr bwMode="auto">
              <a:xfrm flipH="1">
                <a:off x="4365" y="14710"/>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59" name="Oval 191"/>
              <p:cNvSpPr>
                <a:spLocks noChangeArrowheads="1"/>
              </p:cNvSpPr>
              <p:nvPr/>
            </p:nvSpPr>
            <p:spPr bwMode="auto">
              <a:xfrm>
                <a:off x="5309" y="14347"/>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60" name="Text Box 192"/>
              <p:cNvSpPr txBox="1">
                <a:spLocks noChangeArrowheads="1"/>
              </p:cNvSpPr>
              <p:nvPr/>
            </p:nvSpPr>
            <p:spPr bwMode="auto">
              <a:xfrm>
                <a:off x="5414" y="14425"/>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38</a:t>
                </a:r>
                <a:endParaRPr lang="zh-CN" altLang="zh-CN" sz="2000" b="1">
                  <a:latin typeface="Arial" pitchFamily="34" charset="0"/>
                </a:endParaRPr>
              </a:p>
            </p:txBody>
          </p:sp>
          <p:sp>
            <p:nvSpPr>
              <p:cNvPr id="46161" name="Line 193"/>
              <p:cNvSpPr>
                <a:spLocks noChangeShapeType="1"/>
              </p:cNvSpPr>
              <p:nvPr/>
            </p:nvSpPr>
            <p:spPr bwMode="auto">
              <a:xfrm>
                <a:off x="5130" y="14166"/>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62" name="Line 194"/>
              <p:cNvSpPr>
                <a:spLocks noChangeShapeType="1"/>
              </p:cNvSpPr>
              <p:nvPr/>
            </p:nvSpPr>
            <p:spPr bwMode="auto">
              <a:xfrm>
                <a:off x="4139" y="13604"/>
                <a:ext cx="675" cy="3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6125" name="AutoShape 4"/>
            <p:cNvSpPr>
              <a:spLocks noChangeArrowheads="1"/>
            </p:cNvSpPr>
            <p:nvPr/>
          </p:nvSpPr>
          <p:spPr bwMode="auto">
            <a:xfrm>
              <a:off x="4572000" y="785794"/>
              <a:ext cx="2895599" cy="714372"/>
            </a:xfrm>
            <a:prstGeom prst="wedgeEllipseCallout">
              <a:avLst>
                <a:gd name="adj1" fmla="val -49264"/>
                <a:gd name="adj2" fmla="val 124667"/>
              </a:avLst>
            </a:prstGeom>
            <a:gradFill rotWithShape="0">
              <a:gsLst>
                <a:gs pos="0">
                  <a:srgbClr val="C0C0C0"/>
                </a:gs>
                <a:gs pos="100000">
                  <a:srgbClr val="FFFFFF"/>
                </a:gs>
              </a:gsLst>
              <a:lin ang="18900000" scaled="1"/>
            </a:gradFill>
            <a:ln w="12700">
              <a:solidFill>
                <a:schemeClr val="tx1"/>
              </a:solidFill>
              <a:miter lim="800000"/>
              <a:headEnd/>
              <a:tailEnd/>
            </a:ln>
          </p:spPr>
          <p:txBody>
            <a:bodyPr/>
            <a:lstStyle/>
            <a:p>
              <a:pPr algn="ctr"/>
              <a:r>
                <a:rPr lang="zh-CN" altLang="en-US" sz="2000" b="1" i="1" dirty="0">
                  <a:latin typeface="Times New Roman" pitchFamily="18" charset="0"/>
                </a:rPr>
                <a:t>当前考虑结点</a:t>
              </a:r>
              <a:endParaRPr lang="en-US" altLang="zh-CN" sz="2000" b="1" i="1" dirty="0">
                <a:latin typeface="Times New Roman" pitchFamily="18" charset="0"/>
              </a:endParaRPr>
            </a:p>
          </p:txBody>
        </p:sp>
        <p:cxnSp>
          <p:nvCxnSpPr>
            <p:cNvPr id="46126" name="直接箭头连接符 89"/>
            <p:cNvCxnSpPr>
              <a:cxnSpLocks noChangeShapeType="1"/>
            </p:cNvCxnSpPr>
            <p:nvPr/>
          </p:nvCxnSpPr>
          <p:spPr bwMode="auto">
            <a:xfrm flipV="1">
              <a:off x="2571736" y="2880766"/>
              <a:ext cx="357190" cy="333920"/>
            </a:xfrm>
            <a:prstGeom prst="straightConnector1">
              <a:avLst/>
            </a:prstGeom>
            <a:noFill/>
            <a:ln w="25400" algn="ctr">
              <a:solidFill>
                <a:srgbClr val="0000FF"/>
              </a:solidFill>
              <a:prstDash val="sysDot"/>
              <a:round/>
              <a:headEnd type="arrow" w="med" len="med"/>
              <a:tailEnd type="arrow" w="med" len="med"/>
            </a:ln>
            <a:extLst>
              <a:ext uri="{909E8E84-426E-40DD-AFC4-6F175D3DCCD1}">
                <a14:hiddenFill xmlns:a14="http://schemas.microsoft.com/office/drawing/2010/main">
                  <a:noFill/>
                </a14:hiddenFill>
              </a:ext>
            </a:extLst>
          </p:spPr>
        </p:cxnSp>
        <p:cxnSp>
          <p:nvCxnSpPr>
            <p:cNvPr id="46127" name="直接箭头连接符 90"/>
            <p:cNvCxnSpPr>
              <a:cxnSpLocks noChangeShapeType="1"/>
            </p:cNvCxnSpPr>
            <p:nvPr/>
          </p:nvCxnSpPr>
          <p:spPr bwMode="auto">
            <a:xfrm flipV="1">
              <a:off x="3214678" y="2120576"/>
              <a:ext cx="915299" cy="451168"/>
            </a:xfrm>
            <a:prstGeom prst="straightConnector1">
              <a:avLst/>
            </a:prstGeom>
            <a:noFill/>
            <a:ln w="25400" algn="ctr">
              <a:solidFill>
                <a:srgbClr val="0000FF"/>
              </a:solidFill>
              <a:prstDash val="sysDot"/>
              <a:round/>
              <a:headEnd type="arrow" w="med" len="med"/>
              <a:tailEnd type="arrow" w="med" len="med"/>
            </a:ln>
            <a:extLst>
              <a:ext uri="{909E8E84-426E-40DD-AFC4-6F175D3DCCD1}">
                <a14:hiddenFill xmlns:a14="http://schemas.microsoft.com/office/drawing/2010/main">
                  <a:noFill/>
                </a14:hiddenFill>
              </a:ext>
            </a:extLst>
          </p:spPr>
        </p:cxnSp>
      </p:grpSp>
      <p:grpSp>
        <p:nvGrpSpPr>
          <p:cNvPr id="127" name="Group 108"/>
          <p:cNvGrpSpPr>
            <a:grpSpLocks/>
          </p:cNvGrpSpPr>
          <p:nvPr/>
        </p:nvGrpSpPr>
        <p:grpSpPr bwMode="auto">
          <a:xfrm>
            <a:off x="1785938" y="2000250"/>
            <a:ext cx="4516437" cy="2643188"/>
            <a:chOff x="6376" y="13324"/>
            <a:chExt cx="3584" cy="2060"/>
          </a:xfrm>
        </p:grpSpPr>
        <p:sp>
          <p:nvSpPr>
            <p:cNvPr id="46089" name="Line 109"/>
            <p:cNvSpPr>
              <a:spLocks noChangeShapeType="1"/>
            </p:cNvSpPr>
            <p:nvPr/>
          </p:nvSpPr>
          <p:spPr bwMode="auto">
            <a:xfrm flipH="1">
              <a:off x="7423" y="13614"/>
              <a:ext cx="675" cy="3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090" name="Oval 110"/>
            <p:cNvSpPr>
              <a:spLocks noChangeArrowheads="1"/>
            </p:cNvSpPr>
            <p:nvPr/>
          </p:nvSpPr>
          <p:spPr bwMode="auto">
            <a:xfrm>
              <a:off x="8072" y="13324"/>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091" name="Oval 111"/>
            <p:cNvSpPr>
              <a:spLocks noChangeArrowheads="1"/>
            </p:cNvSpPr>
            <p:nvPr/>
          </p:nvSpPr>
          <p:spPr bwMode="auto">
            <a:xfrm>
              <a:off x="7067" y="13859"/>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092" name="Text Box 112"/>
            <p:cNvSpPr txBox="1">
              <a:spLocks noChangeArrowheads="1"/>
            </p:cNvSpPr>
            <p:nvPr/>
          </p:nvSpPr>
          <p:spPr bwMode="auto">
            <a:xfrm>
              <a:off x="7172" y="13937"/>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solidFill>
                    <a:srgbClr val="000000"/>
                  </a:solidFill>
                  <a:latin typeface="Arial" pitchFamily="34" charset="0"/>
                </a:rPr>
                <a:t>83</a:t>
              </a:r>
              <a:endParaRPr lang="zh-CN" altLang="zh-CN" sz="2000" b="1">
                <a:latin typeface="Arial" pitchFamily="34" charset="0"/>
              </a:endParaRPr>
            </a:p>
          </p:txBody>
        </p:sp>
        <p:sp>
          <p:nvSpPr>
            <p:cNvPr id="46093" name="Oval 113"/>
            <p:cNvSpPr>
              <a:spLocks noChangeArrowheads="1"/>
            </p:cNvSpPr>
            <p:nvPr/>
          </p:nvSpPr>
          <p:spPr bwMode="auto">
            <a:xfrm>
              <a:off x="6616" y="14381"/>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094" name="Text Box 114"/>
            <p:cNvSpPr txBox="1">
              <a:spLocks noChangeArrowheads="1"/>
            </p:cNvSpPr>
            <p:nvPr/>
          </p:nvSpPr>
          <p:spPr bwMode="auto">
            <a:xfrm>
              <a:off x="6721" y="14429"/>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solidFill>
                    <a:srgbClr val="000000"/>
                  </a:solidFill>
                  <a:latin typeface="Arial" pitchFamily="34" charset="0"/>
                </a:rPr>
                <a:t>79</a:t>
              </a:r>
              <a:endParaRPr lang="zh-CN" altLang="zh-CN" sz="2000" b="1">
                <a:latin typeface="Arial" pitchFamily="34" charset="0"/>
              </a:endParaRPr>
            </a:p>
          </p:txBody>
        </p:sp>
        <p:sp>
          <p:nvSpPr>
            <p:cNvPr id="46095" name="Line 115"/>
            <p:cNvSpPr>
              <a:spLocks noChangeShapeType="1"/>
            </p:cNvSpPr>
            <p:nvPr/>
          </p:nvSpPr>
          <p:spPr bwMode="auto">
            <a:xfrm flipH="1">
              <a:off x="6916" y="14204"/>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096" name="Text Box 116"/>
            <p:cNvSpPr txBox="1">
              <a:spLocks noChangeArrowheads="1"/>
            </p:cNvSpPr>
            <p:nvPr/>
          </p:nvSpPr>
          <p:spPr bwMode="auto">
            <a:xfrm>
              <a:off x="8144" y="13402"/>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solidFill>
                    <a:srgbClr val="000000"/>
                  </a:solidFill>
                  <a:latin typeface="Arial" pitchFamily="34" charset="0"/>
                </a:rPr>
                <a:t>91</a:t>
              </a:r>
              <a:endParaRPr lang="zh-CN" altLang="zh-CN" sz="2000" b="1">
                <a:latin typeface="Arial" pitchFamily="34" charset="0"/>
              </a:endParaRPr>
            </a:p>
          </p:txBody>
        </p:sp>
        <p:sp>
          <p:nvSpPr>
            <p:cNvPr id="46097" name="Oval 117"/>
            <p:cNvSpPr>
              <a:spLocks noChangeArrowheads="1"/>
            </p:cNvSpPr>
            <p:nvPr/>
          </p:nvSpPr>
          <p:spPr bwMode="auto">
            <a:xfrm>
              <a:off x="6376" y="15010"/>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098" name="Text Box 118"/>
            <p:cNvSpPr txBox="1">
              <a:spLocks noChangeArrowheads="1"/>
            </p:cNvSpPr>
            <p:nvPr/>
          </p:nvSpPr>
          <p:spPr bwMode="auto">
            <a:xfrm>
              <a:off x="6466" y="15073"/>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55</a:t>
              </a:r>
              <a:endParaRPr lang="zh-CN" altLang="zh-CN" sz="2000" b="1">
                <a:latin typeface="Arial" pitchFamily="34" charset="0"/>
              </a:endParaRPr>
            </a:p>
          </p:txBody>
        </p:sp>
        <p:sp>
          <p:nvSpPr>
            <p:cNvPr id="46099" name="Oval 119"/>
            <p:cNvSpPr>
              <a:spLocks noChangeArrowheads="1"/>
            </p:cNvSpPr>
            <p:nvPr/>
          </p:nvSpPr>
          <p:spPr bwMode="auto">
            <a:xfrm>
              <a:off x="6902" y="14995"/>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00" name="Text Box 120"/>
            <p:cNvSpPr txBox="1">
              <a:spLocks noChangeArrowheads="1"/>
            </p:cNvSpPr>
            <p:nvPr/>
          </p:nvSpPr>
          <p:spPr bwMode="auto">
            <a:xfrm>
              <a:off x="6992" y="15058"/>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66</a:t>
              </a:r>
              <a:endParaRPr lang="zh-CN" altLang="zh-CN" sz="2000" b="1">
                <a:latin typeface="Arial" pitchFamily="34" charset="0"/>
              </a:endParaRPr>
            </a:p>
          </p:txBody>
        </p:sp>
        <p:sp>
          <p:nvSpPr>
            <p:cNvPr id="46101" name="Line 121"/>
            <p:cNvSpPr>
              <a:spLocks noChangeShapeType="1"/>
            </p:cNvSpPr>
            <p:nvPr/>
          </p:nvSpPr>
          <p:spPr bwMode="auto">
            <a:xfrm flipH="1">
              <a:off x="6631" y="14743"/>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02" name="Line 122"/>
            <p:cNvSpPr>
              <a:spLocks noChangeShapeType="1"/>
            </p:cNvSpPr>
            <p:nvPr/>
          </p:nvSpPr>
          <p:spPr bwMode="auto">
            <a:xfrm>
              <a:off x="6871" y="14743"/>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03" name="Oval 123"/>
            <p:cNvSpPr>
              <a:spLocks noChangeArrowheads="1"/>
            </p:cNvSpPr>
            <p:nvPr/>
          </p:nvSpPr>
          <p:spPr bwMode="auto">
            <a:xfrm>
              <a:off x="7575" y="14380"/>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04" name="Text Box 124"/>
            <p:cNvSpPr txBox="1">
              <a:spLocks noChangeArrowheads="1"/>
            </p:cNvSpPr>
            <p:nvPr/>
          </p:nvSpPr>
          <p:spPr bwMode="auto">
            <a:xfrm>
              <a:off x="7665" y="14443"/>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72</a:t>
              </a:r>
              <a:endParaRPr lang="zh-CN" altLang="zh-CN" sz="2000" b="1">
                <a:latin typeface="Arial" pitchFamily="34" charset="0"/>
              </a:endParaRPr>
            </a:p>
          </p:txBody>
        </p:sp>
        <p:sp>
          <p:nvSpPr>
            <p:cNvPr id="46105" name="Oval 125"/>
            <p:cNvSpPr>
              <a:spLocks noChangeArrowheads="1"/>
            </p:cNvSpPr>
            <p:nvPr/>
          </p:nvSpPr>
          <p:spPr bwMode="auto">
            <a:xfrm>
              <a:off x="7335" y="15009"/>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06" name="Text Box 126"/>
            <p:cNvSpPr txBox="1">
              <a:spLocks noChangeArrowheads="1"/>
            </p:cNvSpPr>
            <p:nvPr/>
          </p:nvSpPr>
          <p:spPr bwMode="auto">
            <a:xfrm>
              <a:off x="7425" y="15087"/>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30</a:t>
              </a:r>
              <a:endParaRPr lang="zh-CN" altLang="zh-CN" sz="2000" b="1">
                <a:latin typeface="Arial" pitchFamily="34" charset="0"/>
              </a:endParaRPr>
            </a:p>
          </p:txBody>
        </p:sp>
        <p:sp>
          <p:nvSpPr>
            <p:cNvPr id="46107" name="Oval 127"/>
            <p:cNvSpPr>
              <a:spLocks noChangeArrowheads="1"/>
            </p:cNvSpPr>
            <p:nvPr/>
          </p:nvSpPr>
          <p:spPr bwMode="auto">
            <a:xfrm>
              <a:off x="7861" y="14994"/>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08" name="Text Box 128"/>
            <p:cNvSpPr txBox="1">
              <a:spLocks noChangeArrowheads="1"/>
            </p:cNvSpPr>
            <p:nvPr/>
          </p:nvSpPr>
          <p:spPr bwMode="auto">
            <a:xfrm>
              <a:off x="7951" y="15072"/>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49</a:t>
              </a:r>
              <a:endParaRPr lang="zh-CN" altLang="zh-CN" sz="2000" b="1">
                <a:latin typeface="Arial" pitchFamily="34" charset="0"/>
              </a:endParaRPr>
            </a:p>
          </p:txBody>
        </p:sp>
        <p:sp>
          <p:nvSpPr>
            <p:cNvPr id="46109" name="Line 129"/>
            <p:cNvSpPr>
              <a:spLocks noChangeShapeType="1"/>
            </p:cNvSpPr>
            <p:nvPr/>
          </p:nvSpPr>
          <p:spPr bwMode="auto">
            <a:xfrm flipH="1">
              <a:off x="7590" y="14742"/>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10" name="Line 130"/>
            <p:cNvSpPr>
              <a:spLocks noChangeShapeType="1"/>
            </p:cNvSpPr>
            <p:nvPr/>
          </p:nvSpPr>
          <p:spPr bwMode="auto">
            <a:xfrm>
              <a:off x="7830" y="14742"/>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11" name="Line 131"/>
            <p:cNvSpPr>
              <a:spLocks noChangeShapeType="1"/>
            </p:cNvSpPr>
            <p:nvPr/>
          </p:nvSpPr>
          <p:spPr bwMode="auto">
            <a:xfrm>
              <a:off x="7396" y="14199"/>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12" name="Oval 132"/>
            <p:cNvSpPr>
              <a:spLocks noChangeArrowheads="1"/>
            </p:cNvSpPr>
            <p:nvPr/>
          </p:nvSpPr>
          <p:spPr bwMode="auto">
            <a:xfrm>
              <a:off x="9078" y="13839"/>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13" name="Text Box 133"/>
            <p:cNvSpPr txBox="1">
              <a:spLocks noChangeArrowheads="1"/>
            </p:cNvSpPr>
            <p:nvPr/>
          </p:nvSpPr>
          <p:spPr bwMode="auto">
            <a:xfrm>
              <a:off x="9153" y="13917"/>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87</a:t>
              </a:r>
              <a:endParaRPr lang="zh-CN" altLang="zh-CN" sz="2000" b="1">
                <a:latin typeface="Arial" pitchFamily="34" charset="0"/>
              </a:endParaRPr>
            </a:p>
          </p:txBody>
        </p:sp>
        <p:sp>
          <p:nvSpPr>
            <p:cNvPr id="46114" name="Oval 134"/>
            <p:cNvSpPr>
              <a:spLocks noChangeArrowheads="1"/>
            </p:cNvSpPr>
            <p:nvPr/>
          </p:nvSpPr>
          <p:spPr bwMode="auto">
            <a:xfrm>
              <a:off x="8627" y="14361"/>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15" name="Text Box 135"/>
            <p:cNvSpPr txBox="1">
              <a:spLocks noChangeArrowheads="1"/>
            </p:cNvSpPr>
            <p:nvPr/>
          </p:nvSpPr>
          <p:spPr bwMode="auto">
            <a:xfrm>
              <a:off x="8732" y="14439"/>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43</a:t>
              </a:r>
              <a:endParaRPr lang="zh-CN" altLang="zh-CN" sz="2000" b="1">
                <a:latin typeface="Arial" pitchFamily="34" charset="0"/>
              </a:endParaRPr>
            </a:p>
          </p:txBody>
        </p:sp>
        <p:sp>
          <p:nvSpPr>
            <p:cNvPr id="46116" name="Line 136"/>
            <p:cNvSpPr>
              <a:spLocks noChangeShapeType="1"/>
            </p:cNvSpPr>
            <p:nvPr/>
          </p:nvSpPr>
          <p:spPr bwMode="auto">
            <a:xfrm flipH="1">
              <a:off x="8927" y="14184"/>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17" name="Oval 137"/>
            <p:cNvSpPr>
              <a:spLocks noChangeArrowheads="1"/>
            </p:cNvSpPr>
            <p:nvPr/>
          </p:nvSpPr>
          <p:spPr bwMode="auto">
            <a:xfrm>
              <a:off x="8387" y="14990"/>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18" name="Text Box 138"/>
            <p:cNvSpPr txBox="1">
              <a:spLocks noChangeArrowheads="1"/>
            </p:cNvSpPr>
            <p:nvPr/>
          </p:nvSpPr>
          <p:spPr bwMode="auto">
            <a:xfrm>
              <a:off x="8477" y="15068"/>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9</a:t>
              </a:r>
              <a:endParaRPr lang="zh-CN" altLang="zh-CN" sz="2000" b="1">
                <a:latin typeface="Arial" pitchFamily="34" charset="0"/>
              </a:endParaRPr>
            </a:p>
          </p:txBody>
        </p:sp>
        <p:sp>
          <p:nvSpPr>
            <p:cNvPr id="46119" name="Line 139"/>
            <p:cNvSpPr>
              <a:spLocks noChangeShapeType="1"/>
            </p:cNvSpPr>
            <p:nvPr/>
          </p:nvSpPr>
          <p:spPr bwMode="auto">
            <a:xfrm flipH="1">
              <a:off x="8642" y="14723"/>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20" name="Oval 140"/>
            <p:cNvSpPr>
              <a:spLocks noChangeArrowheads="1"/>
            </p:cNvSpPr>
            <p:nvPr/>
          </p:nvSpPr>
          <p:spPr bwMode="auto">
            <a:xfrm>
              <a:off x="9586" y="14360"/>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6121" name="Text Box 141"/>
            <p:cNvSpPr txBox="1">
              <a:spLocks noChangeArrowheads="1"/>
            </p:cNvSpPr>
            <p:nvPr/>
          </p:nvSpPr>
          <p:spPr bwMode="auto">
            <a:xfrm>
              <a:off x="9691" y="14438"/>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38</a:t>
              </a:r>
              <a:endParaRPr lang="zh-CN" altLang="zh-CN" sz="2000" b="1">
                <a:latin typeface="Arial" pitchFamily="34" charset="0"/>
              </a:endParaRPr>
            </a:p>
          </p:txBody>
        </p:sp>
        <p:sp>
          <p:nvSpPr>
            <p:cNvPr id="46122" name="Line 142"/>
            <p:cNvSpPr>
              <a:spLocks noChangeShapeType="1"/>
            </p:cNvSpPr>
            <p:nvPr/>
          </p:nvSpPr>
          <p:spPr bwMode="auto">
            <a:xfrm>
              <a:off x="9407" y="14179"/>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23" name="Line 143"/>
            <p:cNvSpPr>
              <a:spLocks noChangeShapeType="1"/>
            </p:cNvSpPr>
            <p:nvPr/>
          </p:nvSpPr>
          <p:spPr bwMode="auto">
            <a:xfrm>
              <a:off x="8416" y="13617"/>
              <a:ext cx="675" cy="3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60" name="矩形 1"/>
          <p:cNvSpPr>
            <a:spLocks noChangeArrowheads="1"/>
          </p:cNvSpPr>
          <p:nvPr/>
        </p:nvSpPr>
        <p:spPr bwMode="auto">
          <a:xfrm>
            <a:off x="857250" y="158750"/>
            <a:ext cx="26066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3200" b="1" dirty="0">
                <a:solidFill>
                  <a:srgbClr val="0000FF"/>
                </a:solidFill>
                <a:latin typeface="Times New Roman" pitchFamily="18" charset="0"/>
                <a:sym typeface="Wingdings" pitchFamily="2" charset="2"/>
              </a:rPr>
              <a:t> </a:t>
            </a:r>
            <a:r>
              <a:rPr lang="en-US" altLang="zh-CN" sz="2400" b="1" dirty="0">
                <a:solidFill>
                  <a:srgbClr val="0000FF"/>
                </a:solidFill>
                <a:latin typeface="Times New Roman" pitchFamily="18" charset="0"/>
                <a:sym typeface="Wingdings" pitchFamily="2" charset="2"/>
              </a:rPr>
              <a:t> </a:t>
            </a:r>
            <a:r>
              <a:rPr lang="zh-CN" altLang="en-US" sz="2400" b="1" dirty="0">
                <a:solidFill>
                  <a:srgbClr val="EBEBEB"/>
                </a:solidFill>
                <a:latin typeface="Times New Roman" pitchFamily="18" charset="0"/>
              </a:rPr>
              <a:t>最大堆的建立</a:t>
            </a:r>
          </a:p>
        </p:txBody>
      </p:sp>
    </p:spTree>
    <p:extLst>
      <p:ext uri="{BB962C8B-B14F-4D97-AF65-F5344CB8AC3E}">
        <p14:creationId xmlns:p14="http://schemas.microsoft.com/office/powerpoint/2010/main" val="12283615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xit" presetSubtype="4" fill="hold" nodeType="clickEffect">
                                  <p:stCondLst>
                                    <p:cond delay="0"/>
                                  </p:stCondLst>
                                  <p:childTnLst>
                                    <p:animEffect transition="out" filter="wipe(down)">
                                      <p:cBhvr>
                                        <p:cTn id="6" dur="500"/>
                                        <p:tgtEl>
                                          <p:spTgt spid="44"/>
                                        </p:tgtEl>
                                      </p:cBhvr>
                                    </p:animEffect>
                                    <p:set>
                                      <p:cBhvr>
                                        <p:cTn id="7" dur="1" fill="hold">
                                          <p:stCondLst>
                                            <p:cond delay="499"/>
                                          </p:stCondLst>
                                        </p:cTn>
                                        <p:tgtEl>
                                          <p:spTgt spid="44"/>
                                        </p:tgtEl>
                                        <p:attrNameLst>
                                          <p:attrName>style.visibility</p:attrName>
                                        </p:attrNameLst>
                                      </p:cBhvr>
                                      <p:to>
                                        <p:strVal val="hidden"/>
                                      </p:to>
                                    </p:set>
                                  </p:childTnLst>
                                </p:cTn>
                              </p:par>
                              <p:par>
                                <p:cTn id="8" presetID="22" presetClass="entr" presetSubtype="4" fill="hold" nodeType="withEffect">
                                  <p:stCondLst>
                                    <p:cond delay="0"/>
                                  </p:stCondLst>
                                  <p:childTnLst>
                                    <p:set>
                                      <p:cBhvr>
                                        <p:cTn id="9" dur="1" fill="hold">
                                          <p:stCondLst>
                                            <p:cond delay="0"/>
                                          </p:stCondLst>
                                        </p:cTn>
                                        <p:tgtEl>
                                          <p:spTgt spid="47"/>
                                        </p:tgtEl>
                                        <p:attrNameLst>
                                          <p:attrName>style.visibility</p:attrName>
                                        </p:attrNameLst>
                                      </p:cBhvr>
                                      <p:to>
                                        <p:strVal val="visible"/>
                                      </p:to>
                                    </p:set>
                                    <p:animEffect transition="in" filter="wipe(down)">
                                      <p:cBhvr>
                                        <p:cTn id="10" dur="500"/>
                                        <p:tgtEl>
                                          <p:spTgt spid="47"/>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xit" presetSubtype="4" fill="hold" nodeType="clickEffect">
                                  <p:stCondLst>
                                    <p:cond delay="0"/>
                                  </p:stCondLst>
                                  <p:childTnLst>
                                    <p:animEffect transition="out" filter="wipe(down)">
                                      <p:cBhvr>
                                        <p:cTn id="14" dur="500"/>
                                        <p:tgtEl>
                                          <p:spTgt spid="47"/>
                                        </p:tgtEl>
                                      </p:cBhvr>
                                    </p:animEffect>
                                    <p:set>
                                      <p:cBhvr>
                                        <p:cTn id="15" dur="1" fill="hold">
                                          <p:stCondLst>
                                            <p:cond delay="499"/>
                                          </p:stCondLst>
                                        </p:cTn>
                                        <p:tgtEl>
                                          <p:spTgt spid="47"/>
                                        </p:tgtEl>
                                        <p:attrNameLst>
                                          <p:attrName>style.visibility</p:attrName>
                                        </p:attrNameLst>
                                      </p:cBhvr>
                                      <p:to>
                                        <p:strVal val="hidden"/>
                                      </p:to>
                                    </p:set>
                                  </p:childTnLst>
                                </p:cTn>
                              </p:par>
                              <p:par>
                                <p:cTn id="16" presetID="22" presetClass="entr" presetSubtype="4" fill="hold" nodeType="withEffect">
                                  <p:stCondLst>
                                    <p:cond delay="0"/>
                                  </p:stCondLst>
                                  <p:childTnLst>
                                    <p:set>
                                      <p:cBhvr>
                                        <p:cTn id="17" dur="1" fill="hold">
                                          <p:stCondLst>
                                            <p:cond delay="0"/>
                                          </p:stCondLst>
                                        </p:cTn>
                                        <p:tgtEl>
                                          <p:spTgt spid="87"/>
                                        </p:tgtEl>
                                        <p:attrNameLst>
                                          <p:attrName>style.visibility</p:attrName>
                                        </p:attrNameLst>
                                      </p:cBhvr>
                                      <p:to>
                                        <p:strVal val="visible"/>
                                      </p:to>
                                    </p:set>
                                    <p:animEffect transition="in" filter="wipe(down)">
                                      <p:cBhvr>
                                        <p:cTn id="18" dur="500"/>
                                        <p:tgtEl>
                                          <p:spTgt spid="87"/>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xit" presetSubtype="4" fill="hold" nodeType="clickEffect">
                                  <p:stCondLst>
                                    <p:cond delay="0"/>
                                  </p:stCondLst>
                                  <p:childTnLst>
                                    <p:animEffect transition="out" filter="wipe(down)">
                                      <p:cBhvr>
                                        <p:cTn id="22" dur="500"/>
                                        <p:tgtEl>
                                          <p:spTgt spid="87"/>
                                        </p:tgtEl>
                                      </p:cBhvr>
                                    </p:animEffect>
                                    <p:set>
                                      <p:cBhvr>
                                        <p:cTn id="23" dur="1" fill="hold">
                                          <p:stCondLst>
                                            <p:cond delay="499"/>
                                          </p:stCondLst>
                                        </p:cTn>
                                        <p:tgtEl>
                                          <p:spTgt spid="87"/>
                                        </p:tgtEl>
                                        <p:attrNameLst>
                                          <p:attrName>style.visibility</p:attrName>
                                        </p:attrNameLst>
                                      </p:cBhvr>
                                      <p:to>
                                        <p:strVal val="hidden"/>
                                      </p:to>
                                    </p:set>
                                  </p:childTnLst>
                                </p:cTn>
                              </p:par>
                              <p:par>
                                <p:cTn id="24" presetID="22" presetClass="entr" presetSubtype="4" fill="hold" nodeType="withEffect">
                                  <p:stCondLst>
                                    <p:cond delay="0"/>
                                  </p:stCondLst>
                                  <p:childTnLst>
                                    <p:set>
                                      <p:cBhvr>
                                        <p:cTn id="25" dur="1" fill="hold">
                                          <p:stCondLst>
                                            <p:cond delay="0"/>
                                          </p:stCondLst>
                                        </p:cTn>
                                        <p:tgtEl>
                                          <p:spTgt spid="127"/>
                                        </p:tgtEl>
                                        <p:attrNameLst>
                                          <p:attrName>style.visibility</p:attrName>
                                        </p:attrNameLst>
                                      </p:cBhvr>
                                      <p:to>
                                        <p:strVal val="visible"/>
                                      </p:to>
                                    </p:set>
                                    <p:animEffect transition="in" filter="wipe(down)">
                                      <p:cBhvr>
                                        <p:cTn id="26"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Group 108"/>
          <p:cNvGrpSpPr>
            <a:grpSpLocks/>
          </p:cNvGrpSpPr>
          <p:nvPr/>
        </p:nvGrpSpPr>
        <p:grpSpPr bwMode="auto">
          <a:xfrm>
            <a:off x="755576" y="929829"/>
            <a:ext cx="4516438" cy="2643187"/>
            <a:chOff x="6376" y="13324"/>
            <a:chExt cx="3584" cy="2060"/>
          </a:xfrm>
        </p:grpSpPr>
        <p:sp>
          <p:nvSpPr>
            <p:cNvPr id="47113" name="Line 109"/>
            <p:cNvSpPr>
              <a:spLocks noChangeShapeType="1"/>
            </p:cNvSpPr>
            <p:nvPr/>
          </p:nvSpPr>
          <p:spPr bwMode="auto">
            <a:xfrm flipH="1">
              <a:off x="7423" y="13614"/>
              <a:ext cx="675" cy="3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7114" name="Oval 110"/>
            <p:cNvSpPr>
              <a:spLocks noChangeArrowheads="1"/>
            </p:cNvSpPr>
            <p:nvPr/>
          </p:nvSpPr>
          <p:spPr bwMode="auto">
            <a:xfrm>
              <a:off x="8072" y="13324"/>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7115" name="Oval 111"/>
            <p:cNvSpPr>
              <a:spLocks noChangeArrowheads="1"/>
            </p:cNvSpPr>
            <p:nvPr/>
          </p:nvSpPr>
          <p:spPr bwMode="auto">
            <a:xfrm>
              <a:off x="7067" y="13859"/>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7116" name="Text Box 112"/>
            <p:cNvSpPr txBox="1">
              <a:spLocks noChangeArrowheads="1"/>
            </p:cNvSpPr>
            <p:nvPr/>
          </p:nvSpPr>
          <p:spPr bwMode="auto">
            <a:xfrm>
              <a:off x="7172" y="13937"/>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solidFill>
                    <a:srgbClr val="000000"/>
                  </a:solidFill>
                  <a:latin typeface="Arial" pitchFamily="34" charset="0"/>
                </a:rPr>
                <a:t>83</a:t>
              </a:r>
              <a:endParaRPr lang="zh-CN" altLang="zh-CN" sz="2000" b="1">
                <a:latin typeface="Arial" pitchFamily="34" charset="0"/>
              </a:endParaRPr>
            </a:p>
          </p:txBody>
        </p:sp>
        <p:sp>
          <p:nvSpPr>
            <p:cNvPr id="47117" name="Oval 113"/>
            <p:cNvSpPr>
              <a:spLocks noChangeArrowheads="1"/>
            </p:cNvSpPr>
            <p:nvPr/>
          </p:nvSpPr>
          <p:spPr bwMode="auto">
            <a:xfrm>
              <a:off x="6616" y="14381"/>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7118" name="Text Box 114"/>
            <p:cNvSpPr txBox="1">
              <a:spLocks noChangeArrowheads="1"/>
            </p:cNvSpPr>
            <p:nvPr/>
          </p:nvSpPr>
          <p:spPr bwMode="auto">
            <a:xfrm>
              <a:off x="6721" y="14429"/>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solidFill>
                    <a:srgbClr val="000000"/>
                  </a:solidFill>
                  <a:latin typeface="Arial" pitchFamily="34" charset="0"/>
                </a:rPr>
                <a:t>79</a:t>
              </a:r>
              <a:endParaRPr lang="zh-CN" altLang="zh-CN" sz="2000" b="1">
                <a:latin typeface="Arial" pitchFamily="34" charset="0"/>
              </a:endParaRPr>
            </a:p>
          </p:txBody>
        </p:sp>
        <p:sp>
          <p:nvSpPr>
            <p:cNvPr id="47119" name="Line 115"/>
            <p:cNvSpPr>
              <a:spLocks noChangeShapeType="1"/>
            </p:cNvSpPr>
            <p:nvPr/>
          </p:nvSpPr>
          <p:spPr bwMode="auto">
            <a:xfrm flipH="1">
              <a:off x="6916" y="14204"/>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7120" name="Text Box 116"/>
            <p:cNvSpPr txBox="1">
              <a:spLocks noChangeArrowheads="1"/>
            </p:cNvSpPr>
            <p:nvPr/>
          </p:nvSpPr>
          <p:spPr bwMode="auto">
            <a:xfrm>
              <a:off x="8144" y="13402"/>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solidFill>
                    <a:srgbClr val="000000"/>
                  </a:solidFill>
                  <a:latin typeface="Arial" pitchFamily="34" charset="0"/>
                </a:rPr>
                <a:t>91</a:t>
              </a:r>
              <a:endParaRPr lang="zh-CN" altLang="zh-CN" sz="2000" b="1">
                <a:latin typeface="Arial" pitchFamily="34" charset="0"/>
              </a:endParaRPr>
            </a:p>
          </p:txBody>
        </p:sp>
        <p:sp>
          <p:nvSpPr>
            <p:cNvPr id="47121" name="Oval 117"/>
            <p:cNvSpPr>
              <a:spLocks noChangeArrowheads="1"/>
            </p:cNvSpPr>
            <p:nvPr/>
          </p:nvSpPr>
          <p:spPr bwMode="auto">
            <a:xfrm>
              <a:off x="6376" y="15010"/>
              <a:ext cx="374" cy="374"/>
            </a:xfrm>
            <a:prstGeom prst="ellipse">
              <a:avLst/>
            </a:prstGeom>
            <a:solidFill>
              <a:schemeClr val="tx2">
                <a:alpha val="45097"/>
              </a:schemeClr>
            </a:solidFill>
            <a:ln w="9525">
              <a:solidFill>
                <a:srgbClr val="000000"/>
              </a:solidFill>
              <a:round/>
              <a:headEnd/>
              <a:tailEnd/>
            </a:ln>
          </p:spPr>
          <p:txBody>
            <a:bodyPr/>
            <a:lstStyle/>
            <a:p>
              <a:endParaRPr lang="zh-CN" altLang="en-US" sz="2000" b="1">
                <a:latin typeface="Times New Roman" pitchFamily="18" charset="0"/>
              </a:endParaRPr>
            </a:p>
          </p:txBody>
        </p:sp>
        <p:sp>
          <p:nvSpPr>
            <p:cNvPr id="47122" name="Text Box 118"/>
            <p:cNvSpPr txBox="1">
              <a:spLocks noChangeArrowheads="1"/>
            </p:cNvSpPr>
            <p:nvPr/>
          </p:nvSpPr>
          <p:spPr bwMode="auto">
            <a:xfrm>
              <a:off x="6466" y="15073"/>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55</a:t>
              </a:r>
              <a:endParaRPr lang="zh-CN" altLang="zh-CN" sz="2000" b="1">
                <a:latin typeface="Arial" pitchFamily="34" charset="0"/>
              </a:endParaRPr>
            </a:p>
          </p:txBody>
        </p:sp>
        <p:sp>
          <p:nvSpPr>
            <p:cNvPr id="47123" name="Oval 119"/>
            <p:cNvSpPr>
              <a:spLocks noChangeArrowheads="1"/>
            </p:cNvSpPr>
            <p:nvPr/>
          </p:nvSpPr>
          <p:spPr bwMode="auto">
            <a:xfrm>
              <a:off x="6902" y="14995"/>
              <a:ext cx="374" cy="374"/>
            </a:xfrm>
            <a:prstGeom prst="ellipse">
              <a:avLst/>
            </a:prstGeom>
            <a:solidFill>
              <a:schemeClr val="tx2">
                <a:alpha val="45097"/>
              </a:schemeClr>
            </a:solidFill>
            <a:ln w="9525">
              <a:solidFill>
                <a:srgbClr val="000000"/>
              </a:solidFill>
              <a:round/>
              <a:headEnd/>
              <a:tailEnd/>
            </a:ln>
          </p:spPr>
          <p:txBody>
            <a:bodyPr/>
            <a:lstStyle/>
            <a:p>
              <a:endParaRPr lang="zh-CN" altLang="en-US" sz="2000" b="1">
                <a:latin typeface="Times New Roman" pitchFamily="18" charset="0"/>
              </a:endParaRPr>
            </a:p>
          </p:txBody>
        </p:sp>
        <p:sp>
          <p:nvSpPr>
            <p:cNvPr id="47124" name="Text Box 120"/>
            <p:cNvSpPr txBox="1">
              <a:spLocks noChangeArrowheads="1"/>
            </p:cNvSpPr>
            <p:nvPr/>
          </p:nvSpPr>
          <p:spPr bwMode="auto">
            <a:xfrm>
              <a:off x="6992" y="15058"/>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66</a:t>
              </a:r>
              <a:endParaRPr lang="zh-CN" altLang="zh-CN" sz="2000" b="1">
                <a:latin typeface="Arial" pitchFamily="34" charset="0"/>
              </a:endParaRPr>
            </a:p>
          </p:txBody>
        </p:sp>
        <p:sp>
          <p:nvSpPr>
            <p:cNvPr id="47125" name="Line 121"/>
            <p:cNvSpPr>
              <a:spLocks noChangeShapeType="1"/>
            </p:cNvSpPr>
            <p:nvPr/>
          </p:nvSpPr>
          <p:spPr bwMode="auto">
            <a:xfrm flipH="1">
              <a:off x="6631" y="14743"/>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7126" name="Line 122"/>
            <p:cNvSpPr>
              <a:spLocks noChangeShapeType="1"/>
            </p:cNvSpPr>
            <p:nvPr/>
          </p:nvSpPr>
          <p:spPr bwMode="auto">
            <a:xfrm>
              <a:off x="6871" y="14743"/>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7127" name="Oval 123"/>
            <p:cNvSpPr>
              <a:spLocks noChangeArrowheads="1"/>
            </p:cNvSpPr>
            <p:nvPr/>
          </p:nvSpPr>
          <p:spPr bwMode="auto">
            <a:xfrm>
              <a:off x="7575" y="14380"/>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7128" name="Text Box 124"/>
            <p:cNvSpPr txBox="1">
              <a:spLocks noChangeArrowheads="1"/>
            </p:cNvSpPr>
            <p:nvPr/>
          </p:nvSpPr>
          <p:spPr bwMode="auto">
            <a:xfrm>
              <a:off x="7665" y="14443"/>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72</a:t>
              </a:r>
              <a:endParaRPr lang="zh-CN" altLang="zh-CN" sz="2000" b="1">
                <a:latin typeface="Arial" pitchFamily="34" charset="0"/>
              </a:endParaRPr>
            </a:p>
          </p:txBody>
        </p:sp>
        <p:sp>
          <p:nvSpPr>
            <p:cNvPr id="47129" name="Oval 125"/>
            <p:cNvSpPr>
              <a:spLocks noChangeArrowheads="1"/>
            </p:cNvSpPr>
            <p:nvPr/>
          </p:nvSpPr>
          <p:spPr bwMode="auto">
            <a:xfrm>
              <a:off x="7335" y="15009"/>
              <a:ext cx="374" cy="374"/>
            </a:xfrm>
            <a:prstGeom prst="ellipse">
              <a:avLst/>
            </a:prstGeom>
            <a:solidFill>
              <a:schemeClr val="tx2">
                <a:alpha val="45097"/>
              </a:schemeClr>
            </a:solidFill>
            <a:ln w="9525">
              <a:solidFill>
                <a:srgbClr val="000000"/>
              </a:solidFill>
              <a:round/>
              <a:headEnd/>
              <a:tailEnd/>
            </a:ln>
          </p:spPr>
          <p:txBody>
            <a:bodyPr/>
            <a:lstStyle/>
            <a:p>
              <a:endParaRPr lang="zh-CN" altLang="en-US" sz="2000" b="1">
                <a:latin typeface="Times New Roman" pitchFamily="18" charset="0"/>
              </a:endParaRPr>
            </a:p>
          </p:txBody>
        </p:sp>
        <p:sp>
          <p:nvSpPr>
            <p:cNvPr id="47130" name="Text Box 126"/>
            <p:cNvSpPr txBox="1">
              <a:spLocks noChangeArrowheads="1"/>
            </p:cNvSpPr>
            <p:nvPr/>
          </p:nvSpPr>
          <p:spPr bwMode="auto">
            <a:xfrm>
              <a:off x="7425" y="15087"/>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30</a:t>
              </a:r>
              <a:endParaRPr lang="zh-CN" altLang="zh-CN" sz="2000" b="1">
                <a:latin typeface="Arial" pitchFamily="34" charset="0"/>
              </a:endParaRPr>
            </a:p>
          </p:txBody>
        </p:sp>
        <p:sp>
          <p:nvSpPr>
            <p:cNvPr id="47131" name="Oval 127"/>
            <p:cNvSpPr>
              <a:spLocks noChangeArrowheads="1"/>
            </p:cNvSpPr>
            <p:nvPr/>
          </p:nvSpPr>
          <p:spPr bwMode="auto">
            <a:xfrm>
              <a:off x="7861" y="14994"/>
              <a:ext cx="374" cy="374"/>
            </a:xfrm>
            <a:prstGeom prst="ellipse">
              <a:avLst/>
            </a:prstGeom>
            <a:solidFill>
              <a:schemeClr val="tx2">
                <a:alpha val="43921"/>
              </a:schemeClr>
            </a:solidFill>
            <a:ln w="9525">
              <a:solidFill>
                <a:srgbClr val="000000"/>
              </a:solidFill>
              <a:round/>
              <a:headEnd/>
              <a:tailEnd/>
            </a:ln>
          </p:spPr>
          <p:txBody>
            <a:bodyPr/>
            <a:lstStyle/>
            <a:p>
              <a:endParaRPr lang="zh-CN" altLang="en-US" sz="2000" b="1">
                <a:latin typeface="Times New Roman" pitchFamily="18" charset="0"/>
              </a:endParaRPr>
            </a:p>
          </p:txBody>
        </p:sp>
        <p:sp>
          <p:nvSpPr>
            <p:cNvPr id="47132" name="Text Box 128"/>
            <p:cNvSpPr txBox="1">
              <a:spLocks noChangeArrowheads="1"/>
            </p:cNvSpPr>
            <p:nvPr/>
          </p:nvSpPr>
          <p:spPr bwMode="auto">
            <a:xfrm>
              <a:off x="7951" y="15072"/>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49</a:t>
              </a:r>
              <a:endParaRPr lang="zh-CN" altLang="zh-CN" sz="2000" b="1">
                <a:latin typeface="Arial" pitchFamily="34" charset="0"/>
              </a:endParaRPr>
            </a:p>
          </p:txBody>
        </p:sp>
        <p:sp>
          <p:nvSpPr>
            <p:cNvPr id="47133" name="Line 129"/>
            <p:cNvSpPr>
              <a:spLocks noChangeShapeType="1"/>
            </p:cNvSpPr>
            <p:nvPr/>
          </p:nvSpPr>
          <p:spPr bwMode="auto">
            <a:xfrm flipH="1">
              <a:off x="7590" y="14742"/>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7134" name="Line 130"/>
            <p:cNvSpPr>
              <a:spLocks noChangeShapeType="1"/>
            </p:cNvSpPr>
            <p:nvPr/>
          </p:nvSpPr>
          <p:spPr bwMode="auto">
            <a:xfrm>
              <a:off x="7830" y="14742"/>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7135" name="Line 131"/>
            <p:cNvSpPr>
              <a:spLocks noChangeShapeType="1"/>
            </p:cNvSpPr>
            <p:nvPr/>
          </p:nvSpPr>
          <p:spPr bwMode="auto">
            <a:xfrm>
              <a:off x="7396" y="14199"/>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7136" name="Oval 132"/>
            <p:cNvSpPr>
              <a:spLocks noChangeArrowheads="1"/>
            </p:cNvSpPr>
            <p:nvPr/>
          </p:nvSpPr>
          <p:spPr bwMode="auto">
            <a:xfrm>
              <a:off x="9078" y="13839"/>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7137" name="Text Box 133"/>
            <p:cNvSpPr txBox="1">
              <a:spLocks noChangeArrowheads="1"/>
            </p:cNvSpPr>
            <p:nvPr/>
          </p:nvSpPr>
          <p:spPr bwMode="auto">
            <a:xfrm>
              <a:off x="9153" y="13917"/>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87</a:t>
              </a:r>
              <a:endParaRPr lang="zh-CN" altLang="zh-CN" sz="2000" b="1">
                <a:latin typeface="Arial" pitchFamily="34" charset="0"/>
              </a:endParaRPr>
            </a:p>
          </p:txBody>
        </p:sp>
        <p:sp>
          <p:nvSpPr>
            <p:cNvPr id="47138" name="Oval 134"/>
            <p:cNvSpPr>
              <a:spLocks noChangeArrowheads="1"/>
            </p:cNvSpPr>
            <p:nvPr/>
          </p:nvSpPr>
          <p:spPr bwMode="auto">
            <a:xfrm>
              <a:off x="8627" y="14361"/>
              <a:ext cx="374" cy="37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2000" b="1">
                <a:latin typeface="Times New Roman" pitchFamily="18" charset="0"/>
              </a:endParaRPr>
            </a:p>
          </p:txBody>
        </p:sp>
        <p:sp>
          <p:nvSpPr>
            <p:cNvPr id="47139" name="Text Box 135"/>
            <p:cNvSpPr txBox="1">
              <a:spLocks noChangeArrowheads="1"/>
            </p:cNvSpPr>
            <p:nvPr/>
          </p:nvSpPr>
          <p:spPr bwMode="auto">
            <a:xfrm>
              <a:off x="8732" y="14439"/>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43</a:t>
              </a:r>
              <a:endParaRPr lang="zh-CN" altLang="zh-CN" sz="2000" b="1">
                <a:latin typeface="Arial" pitchFamily="34" charset="0"/>
              </a:endParaRPr>
            </a:p>
          </p:txBody>
        </p:sp>
        <p:sp>
          <p:nvSpPr>
            <p:cNvPr id="47140" name="Line 136"/>
            <p:cNvSpPr>
              <a:spLocks noChangeShapeType="1"/>
            </p:cNvSpPr>
            <p:nvPr/>
          </p:nvSpPr>
          <p:spPr bwMode="auto">
            <a:xfrm flipH="1">
              <a:off x="8927" y="14184"/>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7141" name="Oval 137"/>
            <p:cNvSpPr>
              <a:spLocks noChangeArrowheads="1"/>
            </p:cNvSpPr>
            <p:nvPr/>
          </p:nvSpPr>
          <p:spPr bwMode="auto">
            <a:xfrm>
              <a:off x="8387" y="14990"/>
              <a:ext cx="374" cy="374"/>
            </a:xfrm>
            <a:prstGeom prst="ellipse">
              <a:avLst/>
            </a:prstGeom>
            <a:solidFill>
              <a:schemeClr val="tx2">
                <a:alpha val="43921"/>
              </a:schemeClr>
            </a:solidFill>
            <a:ln w="9525">
              <a:solidFill>
                <a:srgbClr val="000000"/>
              </a:solidFill>
              <a:round/>
              <a:headEnd/>
              <a:tailEnd/>
            </a:ln>
          </p:spPr>
          <p:txBody>
            <a:bodyPr/>
            <a:lstStyle/>
            <a:p>
              <a:endParaRPr lang="zh-CN" altLang="en-US" sz="2000" b="1">
                <a:latin typeface="Times New Roman" pitchFamily="18" charset="0"/>
              </a:endParaRPr>
            </a:p>
          </p:txBody>
        </p:sp>
        <p:sp>
          <p:nvSpPr>
            <p:cNvPr id="47142" name="Text Box 138"/>
            <p:cNvSpPr txBox="1">
              <a:spLocks noChangeArrowheads="1"/>
            </p:cNvSpPr>
            <p:nvPr/>
          </p:nvSpPr>
          <p:spPr bwMode="auto">
            <a:xfrm>
              <a:off x="8477" y="15068"/>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9</a:t>
              </a:r>
              <a:endParaRPr lang="zh-CN" altLang="zh-CN" sz="2000" b="1">
                <a:latin typeface="Arial" pitchFamily="34" charset="0"/>
              </a:endParaRPr>
            </a:p>
          </p:txBody>
        </p:sp>
        <p:sp>
          <p:nvSpPr>
            <p:cNvPr id="47143" name="Line 139"/>
            <p:cNvSpPr>
              <a:spLocks noChangeShapeType="1"/>
            </p:cNvSpPr>
            <p:nvPr/>
          </p:nvSpPr>
          <p:spPr bwMode="auto">
            <a:xfrm flipH="1">
              <a:off x="8642" y="14723"/>
              <a:ext cx="113" cy="2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7144" name="Oval 140"/>
            <p:cNvSpPr>
              <a:spLocks noChangeArrowheads="1"/>
            </p:cNvSpPr>
            <p:nvPr/>
          </p:nvSpPr>
          <p:spPr bwMode="auto">
            <a:xfrm>
              <a:off x="9586" y="14360"/>
              <a:ext cx="374" cy="374"/>
            </a:xfrm>
            <a:prstGeom prst="ellipse">
              <a:avLst/>
            </a:prstGeom>
            <a:solidFill>
              <a:schemeClr val="tx2">
                <a:alpha val="45097"/>
              </a:schemeClr>
            </a:solidFill>
            <a:ln w="9525">
              <a:solidFill>
                <a:srgbClr val="000000"/>
              </a:solidFill>
              <a:round/>
              <a:headEnd/>
              <a:tailEnd/>
            </a:ln>
          </p:spPr>
          <p:txBody>
            <a:bodyPr/>
            <a:lstStyle/>
            <a:p>
              <a:endParaRPr lang="zh-CN" altLang="en-US" sz="2000" b="1">
                <a:latin typeface="Times New Roman" pitchFamily="18" charset="0"/>
              </a:endParaRPr>
            </a:p>
          </p:txBody>
        </p:sp>
        <p:sp>
          <p:nvSpPr>
            <p:cNvPr id="47145" name="Text Box 141"/>
            <p:cNvSpPr txBox="1">
              <a:spLocks noChangeArrowheads="1"/>
            </p:cNvSpPr>
            <p:nvPr/>
          </p:nvSpPr>
          <p:spPr bwMode="auto">
            <a:xfrm>
              <a:off x="9691" y="14438"/>
              <a:ext cx="227" cy="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algn="ctr" eaLnBrk="1" hangingPunct="1">
                <a:lnSpc>
                  <a:spcPct val="96000"/>
                </a:lnSpc>
              </a:pPr>
              <a:r>
                <a:rPr lang="en-US" altLang="zh-CN" sz="2000" b="1">
                  <a:latin typeface="Arial" pitchFamily="34" charset="0"/>
                </a:rPr>
                <a:t>38</a:t>
              </a:r>
              <a:endParaRPr lang="zh-CN" altLang="zh-CN" sz="2000" b="1">
                <a:latin typeface="Arial" pitchFamily="34" charset="0"/>
              </a:endParaRPr>
            </a:p>
          </p:txBody>
        </p:sp>
        <p:sp>
          <p:nvSpPr>
            <p:cNvPr id="47146" name="Line 142"/>
            <p:cNvSpPr>
              <a:spLocks noChangeShapeType="1"/>
            </p:cNvSpPr>
            <p:nvPr/>
          </p:nvSpPr>
          <p:spPr bwMode="auto">
            <a:xfrm>
              <a:off x="9407" y="14179"/>
              <a:ext cx="23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7147" name="Line 143"/>
            <p:cNvSpPr>
              <a:spLocks noChangeShapeType="1"/>
            </p:cNvSpPr>
            <p:nvPr/>
          </p:nvSpPr>
          <p:spPr bwMode="auto">
            <a:xfrm>
              <a:off x="8416" y="13617"/>
              <a:ext cx="675" cy="3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81" name="矩形 80"/>
          <p:cNvSpPr>
            <a:spLocks noChangeArrowheads="1"/>
          </p:cNvSpPr>
          <p:nvPr/>
        </p:nvSpPr>
        <p:spPr bwMode="auto">
          <a:xfrm>
            <a:off x="5072063" y="1012726"/>
            <a:ext cx="35925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altLang="zh-CN" sz="2000" b="1">
                <a:solidFill>
                  <a:srgbClr val="0000FF"/>
                </a:solidFill>
                <a:latin typeface="Times New Roman" pitchFamily="18" charset="0"/>
                <a:sym typeface="Wingdings" pitchFamily="2" charset="2"/>
              </a:rPr>
              <a:t>  </a:t>
            </a:r>
            <a:r>
              <a:rPr lang="zh-CN" altLang="en-US" sz="2000" b="1">
                <a:solidFill>
                  <a:srgbClr val="0000FF"/>
                </a:solidFill>
                <a:latin typeface="Times New Roman" pitchFamily="18" charset="0"/>
                <a:cs typeface="Times New Roman" pitchFamily="18" charset="0"/>
              </a:rPr>
              <a:t>线性时间复杂度</a:t>
            </a:r>
            <a:r>
              <a:rPr lang="en-US" altLang="zh-CN" sz="2000" b="1">
                <a:solidFill>
                  <a:srgbClr val="0000FF"/>
                </a:solidFill>
                <a:latin typeface="Times New Roman" pitchFamily="18" charset="0"/>
                <a:cs typeface="Times New Roman" pitchFamily="18" charset="0"/>
              </a:rPr>
              <a:t>T(n)=O(n)</a:t>
            </a:r>
            <a:endParaRPr lang="zh-CN" altLang="en-US" sz="2000">
              <a:latin typeface="Times New Roman" pitchFamily="18" charset="0"/>
            </a:endParaRPr>
          </a:p>
        </p:txBody>
      </p:sp>
      <p:sp>
        <p:nvSpPr>
          <p:cNvPr id="82" name="矩形 81"/>
          <p:cNvSpPr>
            <a:spLocks noChangeArrowheads="1"/>
          </p:cNvSpPr>
          <p:nvPr/>
        </p:nvSpPr>
        <p:spPr bwMode="auto">
          <a:xfrm>
            <a:off x="5929313" y="1634679"/>
            <a:ext cx="2957512" cy="19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zh-CN" altLang="en-US" sz="2000" b="1">
                <a:latin typeface="Times New Roman" pitchFamily="18" charset="0"/>
                <a:sym typeface="Wingdings" pitchFamily="2" charset="2"/>
              </a:rPr>
              <a:t>结点数      最多交换次数</a:t>
            </a:r>
            <a:endParaRPr lang="en-US" altLang="zh-CN" sz="2000" b="1">
              <a:latin typeface="Times New Roman" pitchFamily="18" charset="0"/>
              <a:sym typeface="Wingdings" pitchFamily="2" charset="2"/>
            </a:endParaRPr>
          </a:p>
          <a:p>
            <a:r>
              <a:rPr lang="en-US" altLang="zh-CN" sz="2000" b="1">
                <a:solidFill>
                  <a:srgbClr val="0000FF"/>
                </a:solidFill>
                <a:latin typeface="Times New Roman" pitchFamily="18" charset="0"/>
                <a:sym typeface="Wingdings" pitchFamily="2" charset="2"/>
              </a:rPr>
              <a:t>    n/4                1</a:t>
            </a:r>
          </a:p>
          <a:p>
            <a:r>
              <a:rPr lang="en-US" altLang="zh-CN" sz="2000" b="1">
                <a:solidFill>
                  <a:srgbClr val="0000FF"/>
                </a:solidFill>
                <a:latin typeface="Times New Roman" pitchFamily="18" charset="0"/>
                <a:sym typeface="Wingdings" pitchFamily="2" charset="2"/>
              </a:rPr>
              <a:t>    n/8                2</a:t>
            </a:r>
          </a:p>
          <a:p>
            <a:r>
              <a:rPr lang="en-US" altLang="zh-CN" sz="2000" b="1">
                <a:solidFill>
                  <a:srgbClr val="0000FF"/>
                </a:solidFill>
                <a:latin typeface="Times New Roman" pitchFamily="18" charset="0"/>
                <a:sym typeface="Wingdings" pitchFamily="2" charset="2"/>
              </a:rPr>
              <a:t>    n/16              3</a:t>
            </a:r>
          </a:p>
          <a:p>
            <a:r>
              <a:rPr lang="en-US" altLang="zh-CN" sz="2000" b="1">
                <a:solidFill>
                  <a:srgbClr val="0000FF"/>
                </a:solidFill>
                <a:latin typeface="Times New Roman" pitchFamily="18" charset="0"/>
                <a:sym typeface="Wingdings" pitchFamily="2" charset="2"/>
              </a:rPr>
              <a:t>     ……</a:t>
            </a:r>
          </a:p>
          <a:p>
            <a:r>
              <a:rPr lang="en-US" altLang="zh-CN" sz="2000" b="1">
                <a:solidFill>
                  <a:srgbClr val="0000FF"/>
                </a:solidFill>
                <a:latin typeface="Times New Roman" pitchFamily="18" charset="0"/>
                <a:sym typeface="Wingdings" pitchFamily="2" charset="2"/>
              </a:rPr>
              <a:t>    n/2</a:t>
            </a:r>
            <a:r>
              <a:rPr lang="en-US" altLang="zh-CN" sz="2000" b="1" baseline="30000">
                <a:solidFill>
                  <a:srgbClr val="0000FF"/>
                </a:solidFill>
                <a:latin typeface="Times New Roman" pitchFamily="18" charset="0"/>
                <a:sym typeface="Wingdings" pitchFamily="2" charset="2"/>
              </a:rPr>
              <a:t>k</a:t>
            </a:r>
            <a:r>
              <a:rPr lang="en-US" altLang="zh-CN" sz="2000" b="1">
                <a:solidFill>
                  <a:srgbClr val="0000FF"/>
                </a:solidFill>
                <a:latin typeface="Times New Roman" pitchFamily="18" charset="0"/>
                <a:sym typeface="Wingdings" pitchFamily="2" charset="2"/>
              </a:rPr>
              <a:t>=1       log</a:t>
            </a:r>
            <a:r>
              <a:rPr lang="en-US" altLang="zh-CN" sz="2000" b="1" baseline="-25000">
                <a:solidFill>
                  <a:srgbClr val="0000FF"/>
                </a:solidFill>
                <a:latin typeface="Times New Roman" pitchFamily="18" charset="0"/>
                <a:sym typeface="Wingdings" pitchFamily="2" charset="2"/>
              </a:rPr>
              <a:t>2</a:t>
            </a:r>
            <a:r>
              <a:rPr lang="en-US" altLang="zh-CN" sz="2000" b="1">
                <a:solidFill>
                  <a:srgbClr val="0000FF"/>
                </a:solidFill>
                <a:latin typeface="Times New Roman" pitchFamily="18" charset="0"/>
                <a:sym typeface="Wingdings" pitchFamily="2" charset="2"/>
              </a:rPr>
              <a:t>n-1 (k-1)</a:t>
            </a:r>
            <a:endParaRPr lang="zh-CN" altLang="en-US" sz="2000">
              <a:latin typeface="Times New Roman" pitchFamily="18" charset="0"/>
            </a:endParaRPr>
          </a:p>
        </p:txBody>
      </p:sp>
      <p:graphicFrame>
        <p:nvGraphicFramePr>
          <p:cNvPr id="83" name="Object 2"/>
          <p:cNvGraphicFramePr>
            <a:graphicFrameLocks noChangeAspect="1"/>
          </p:cNvGraphicFramePr>
          <p:nvPr/>
        </p:nvGraphicFramePr>
        <p:xfrm>
          <a:off x="679450" y="3714750"/>
          <a:ext cx="8107363" cy="2286000"/>
        </p:xfrm>
        <a:graphic>
          <a:graphicData uri="http://schemas.openxmlformats.org/presentationml/2006/ole">
            <mc:AlternateContent xmlns:mc="http://schemas.openxmlformats.org/markup-compatibility/2006">
              <mc:Choice xmlns:v="urn:schemas-microsoft-com:vml" Requires="v">
                <p:oleObj spid="_x0000_s21528" name="公式" r:id="rId3" imgW="4203700" imgH="1219200" progId="Equation.3">
                  <p:embed/>
                </p:oleObj>
              </mc:Choice>
              <mc:Fallback>
                <p:oleObj name="公式" r:id="rId3" imgW="4203700" imgH="1219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9450" y="3714750"/>
                        <a:ext cx="8107363"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47112" name="Text Box 2"/>
          <p:cNvSpPr txBox="1">
            <a:spLocks noChangeArrowheads="1"/>
          </p:cNvSpPr>
          <p:nvPr/>
        </p:nvSpPr>
        <p:spPr bwMode="auto">
          <a:xfrm>
            <a:off x="941834" y="194330"/>
            <a:ext cx="34861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8000" rIns="144000">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hangingPunct="1">
              <a:spcBef>
                <a:spcPct val="50000"/>
              </a:spcBef>
            </a:pPr>
            <a:r>
              <a:rPr kumimoji="1" lang="zh-CN" altLang="en-US" dirty="0" smtClean="0">
                <a:solidFill>
                  <a:srgbClr val="EBEBEB"/>
                </a:solidFill>
                <a:latin typeface="Times New Roman" pitchFamily="18" charset="0"/>
                <a:sym typeface="Webdings" pitchFamily="18" charset="2"/>
              </a:rPr>
              <a:t>建</a:t>
            </a:r>
            <a:r>
              <a:rPr kumimoji="1" lang="zh-CN" altLang="en-US" dirty="0">
                <a:solidFill>
                  <a:srgbClr val="EBEBEB"/>
                </a:solidFill>
                <a:latin typeface="Times New Roman" pitchFamily="18" charset="0"/>
                <a:sym typeface="Webdings" pitchFamily="18" charset="2"/>
              </a:rPr>
              <a:t>堆的时间复杂性</a:t>
            </a:r>
            <a:endParaRPr kumimoji="1" lang="en-US" altLang="zh-CN" dirty="0">
              <a:solidFill>
                <a:srgbClr val="EBEBEB"/>
              </a:solidFill>
              <a:latin typeface="Times New Roman" pitchFamily="18" charset="0"/>
              <a:sym typeface="Webdings" pitchFamily="18" charset="2"/>
            </a:endParaRPr>
          </a:p>
        </p:txBody>
      </p:sp>
    </p:spTree>
    <p:extLst>
      <p:ext uri="{BB962C8B-B14F-4D97-AF65-F5344CB8AC3E}">
        <p14:creationId xmlns:p14="http://schemas.microsoft.com/office/powerpoint/2010/main" val="33198669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4"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81"/>
                                        </p:tgtEl>
                                        <p:attrNameLst>
                                          <p:attrName>style.visibility</p:attrName>
                                        </p:attrNameLst>
                                      </p:cBhvr>
                                      <p:to>
                                        <p:strVal val="visible"/>
                                      </p:to>
                                    </p:set>
                                    <p:animEffect transition="in" filter="wipe(left)">
                                      <p:cBhvr>
                                        <p:cTn id="12" dur="500"/>
                                        <p:tgtEl>
                                          <p:spTgt spid="8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82"/>
                                        </p:tgtEl>
                                        <p:attrNameLst>
                                          <p:attrName>style.visibility</p:attrName>
                                        </p:attrNameLst>
                                      </p:cBhvr>
                                      <p:to>
                                        <p:strVal val="visible"/>
                                      </p:to>
                                    </p:set>
                                    <p:animEffect transition="in" filter="wipe(up)">
                                      <p:cBhvr>
                                        <p:cTn id="17" dur="500"/>
                                        <p:tgtEl>
                                          <p:spTgt spid="8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83"/>
                                        </p:tgtEl>
                                        <p:attrNameLst>
                                          <p:attrName>style.visibility</p:attrName>
                                        </p:attrNameLst>
                                      </p:cBhvr>
                                      <p:to>
                                        <p:strVal val="visible"/>
                                      </p:to>
                                    </p:set>
                                    <p:animEffect transition="in" filter="wipe(up)">
                                      <p:cBhvr>
                                        <p:cTn id="22" dur="5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格 5"/>
          <p:cNvGraphicFramePr>
            <a:graphicFrameLocks noGrp="1"/>
          </p:cNvGraphicFramePr>
          <p:nvPr>
            <p:extLst>
              <p:ext uri="{D42A27DB-BD31-4B8C-83A1-F6EECF244321}">
                <p14:modId xmlns:p14="http://schemas.microsoft.com/office/powerpoint/2010/main" val="1310542091"/>
              </p:ext>
            </p:extLst>
          </p:nvPr>
        </p:nvGraphicFramePr>
        <p:xfrm>
          <a:off x="539552" y="908322"/>
          <a:ext cx="8072437" cy="5761038"/>
        </p:xfrm>
        <a:graphic>
          <a:graphicData uri="http://schemas.openxmlformats.org/drawingml/2006/table">
            <a:tbl>
              <a:tblPr/>
              <a:tblGrid>
                <a:gridCol w="8072437"/>
              </a:tblGrid>
              <a:tr h="5761038">
                <a:tc>
                  <a:txBody>
                    <a:bodyPr/>
                    <a:lstStyle/>
                    <a:p>
                      <a:pPr algn="l">
                        <a:spcAft>
                          <a:spcPts val="0"/>
                        </a:spcAft>
                      </a:pPr>
                      <a:r>
                        <a:rPr lang="en-US" sz="1800" b="1" kern="0" dirty="0" err="1">
                          <a:latin typeface="Courier"/>
                          <a:ea typeface="宋体"/>
                          <a:cs typeface="宋体"/>
                        </a:rPr>
                        <a:t>MaxHeap</a:t>
                      </a:r>
                      <a:r>
                        <a:rPr lang="en-US" sz="1800" b="1" kern="0" dirty="0">
                          <a:latin typeface="Courier"/>
                          <a:ea typeface="宋体"/>
                          <a:cs typeface="宋体"/>
                        </a:rPr>
                        <a:t> </a:t>
                      </a:r>
                      <a:r>
                        <a:rPr lang="en-US" sz="1800" b="1" kern="0" dirty="0" err="1">
                          <a:latin typeface="Courier"/>
                          <a:ea typeface="宋体"/>
                          <a:cs typeface="宋体"/>
                        </a:rPr>
                        <a:t>BuildMaxHeap</a:t>
                      </a:r>
                      <a:r>
                        <a:rPr lang="en-US" sz="1800" b="1" kern="0" dirty="0">
                          <a:latin typeface="Courier"/>
                          <a:ea typeface="宋体"/>
                          <a:cs typeface="宋体"/>
                        </a:rPr>
                        <a:t>( </a:t>
                      </a:r>
                      <a:r>
                        <a:rPr lang="en-US" sz="1800" b="1" kern="0" dirty="0" err="1">
                          <a:latin typeface="Courier"/>
                          <a:ea typeface="宋体"/>
                          <a:cs typeface="宋体"/>
                        </a:rPr>
                        <a:t>MaxHeap</a:t>
                      </a:r>
                      <a:r>
                        <a:rPr lang="en-US" sz="1800" b="1" kern="0" dirty="0">
                          <a:latin typeface="Courier"/>
                          <a:ea typeface="宋体"/>
                          <a:cs typeface="宋体"/>
                        </a:rPr>
                        <a:t> H )</a:t>
                      </a:r>
                      <a:endParaRPr lang="zh-CN" sz="1800" b="1" kern="100" dirty="0">
                        <a:latin typeface="Calibri"/>
                        <a:ea typeface="宋体"/>
                        <a:cs typeface="Times New Roman"/>
                      </a:endParaRPr>
                    </a:p>
                    <a:p>
                      <a:pPr algn="l">
                        <a:spcAft>
                          <a:spcPts val="0"/>
                        </a:spcAft>
                      </a:pPr>
                      <a:r>
                        <a:rPr lang="en-US" sz="1800" b="1" kern="0" dirty="0">
                          <a:latin typeface="Courier"/>
                          <a:ea typeface="宋体"/>
                          <a:cs typeface="宋体"/>
                        </a:rPr>
                        <a:t>{   </a:t>
                      </a:r>
                      <a:r>
                        <a:rPr lang="en-US" sz="1800" b="1" kern="0" dirty="0">
                          <a:solidFill>
                            <a:schemeClr val="bg2">
                              <a:lumMod val="60000"/>
                              <a:lumOff val="40000"/>
                            </a:schemeClr>
                          </a:solidFill>
                          <a:latin typeface="Courier"/>
                          <a:ea typeface="宋体"/>
                          <a:cs typeface="宋体"/>
                        </a:rPr>
                        <a:t>/* </a:t>
                      </a:r>
                      <a:r>
                        <a:rPr lang="zh-CN" sz="1800" b="1" kern="0" dirty="0">
                          <a:solidFill>
                            <a:schemeClr val="bg2">
                              <a:lumMod val="60000"/>
                              <a:lumOff val="40000"/>
                            </a:schemeClr>
                          </a:solidFill>
                          <a:latin typeface="Courier"/>
                          <a:ea typeface="宋体"/>
                          <a:cs typeface="宋体"/>
                        </a:rPr>
                        <a:t>这里假设所有</a:t>
                      </a:r>
                      <a:r>
                        <a:rPr lang="en-US" sz="1800" b="1" kern="0" dirty="0">
                          <a:solidFill>
                            <a:schemeClr val="bg2">
                              <a:lumMod val="60000"/>
                              <a:lumOff val="40000"/>
                            </a:schemeClr>
                          </a:solidFill>
                          <a:latin typeface="Courier"/>
                          <a:ea typeface="宋体"/>
                          <a:cs typeface="宋体"/>
                        </a:rPr>
                        <a:t>H-&gt;Size</a:t>
                      </a:r>
                      <a:r>
                        <a:rPr lang="zh-CN" sz="1800" b="1" kern="0" dirty="0">
                          <a:solidFill>
                            <a:schemeClr val="bg2">
                              <a:lumMod val="60000"/>
                              <a:lumOff val="40000"/>
                            </a:schemeClr>
                          </a:solidFill>
                          <a:latin typeface="Courier"/>
                          <a:ea typeface="宋体"/>
                          <a:cs typeface="宋体"/>
                        </a:rPr>
                        <a:t>个元素已经存在</a:t>
                      </a:r>
                      <a:r>
                        <a:rPr lang="en-US" sz="1800" b="1" kern="0" dirty="0">
                          <a:solidFill>
                            <a:schemeClr val="bg2">
                              <a:lumMod val="60000"/>
                              <a:lumOff val="40000"/>
                            </a:schemeClr>
                          </a:solidFill>
                          <a:latin typeface="Courier"/>
                          <a:ea typeface="宋体"/>
                          <a:cs typeface="宋体"/>
                        </a:rPr>
                        <a:t>H-&gt;Elements[]</a:t>
                      </a:r>
                      <a:r>
                        <a:rPr lang="zh-CN" sz="1800" b="1" kern="0" dirty="0">
                          <a:solidFill>
                            <a:schemeClr val="bg2">
                              <a:lumMod val="60000"/>
                              <a:lumOff val="40000"/>
                            </a:schemeClr>
                          </a:solidFill>
                          <a:latin typeface="Courier"/>
                          <a:ea typeface="宋体"/>
                          <a:cs typeface="宋体"/>
                        </a:rPr>
                        <a:t>中</a:t>
                      </a:r>
                      <a:r>
                        <a:rPr lang="en-US" sz="1800" b="1" kern="0" dirty="0">
                          <a:solidFill>
                            <a:schemeClr val="bg2">
                              <a:lumMod val="60000"/>
                              <a:lumOff val="40000"/>
                            </a:schemeClr>
                          </a:solidFill>
                          <a:latin typeface="Courier"/>
                          <a:ea typeface="宋体"/>
                          <a:cs typeface="宋体"/>
                        </a:rPr>
                        <a:t>     */</a:t>
                      </a:r>
                      <a:endParaRPr lang="zh-CN" sz="1800" b="1" kern="100" dirty="0">
                        <a:solidFill>
                          <a:schemeClr val="bg2">
                            <a:lumMod val="60000"/>
                            <a:lumOff val="40000"/>
                          </a:schemeClr>
                        </a:solidFill>
                        <a:latin typeface="Calibri"/>
                        <a:ea typeface="宋体"/>
                        <a:cs typeface="Times New Roman"/>
                      </a:endParaRPr>
                    </a:p>
                    <a:p>
                      <a:pPr algn="l">
                        <a:spcAft>
                          <a:spcPts val="0"/>
                        </a:spcAft>
                      </a:pPr>
                      <a:r>
                        <a:rPr lang="en-US" sz="1800" b="1" kern="0" dirty="0">
                          <a:solidFill>
                            <a:schemeClr val="bg2">
                              <a:lumMod val="60000"/>
                              <a:lumOff val="40000"/>
                            </a:schemeClr>
                          </a:solidFill>
                          <a:latin typeface="Courier"/>
                          <a:ea typeface="宋体"/>
                          <a:cs typeface="宋体"/>
                        </a:rPr>
                        <a:t>    /* </a:t>
                      </a:r>
                      <a:r>
                        <a:rPr lang="zh-CN" sz="1800" b="1" kern="0" dirty="0">
                          <a:solidFill>
                            <a:schemeClr val="bg2">
                              <a:lumMod val="60000"/>
                              <a:lumOff val="40000"/>
                            </a:schemeClr>
                          </a:solidFill>
                          <a:latin typeface="Courier"/>
                          <a:ea typeface="宋体"/>
                          <a:cs typeface="宋体"/>
                        </a:rPr>
                        <a:t>本函数将</a:t>
                      </a:r>
                      <a:r>
                        <a:rPr lang="en-US" sz="1800" b="1" kern="0" dirty="0">
                          <a:solidFill>
                            <a:schemeClr val="bg2">
                              <a:lumMod val="60000"/>
                              <a:lumOff val="40000"/>
                            </a:schemeClr>
                          </a:solidFill>
                          <a:latin typeface="Courier"/>
                          <a:ea typeface="宋体"/>
                          <a:cs typeface="宋体"/>
                        </a:rPr>
                        <a:t>H-&gt;Elements[]</a:t>
                      </a:r>
                      <a:r>
                        <a:rPr lang="zh-CN" sz="1800" b="1" kern="0" dirty="0">
                          <a:solidFill>
                            <a:schemeClr val="bg2">
                              <a:lumMod val="60000"/>
                              <a:lumOff val="40000"/>
                            </a:schemeClr>
                          </a:solidFill>
                          <a:latin typeface="Courier"/>
                          <a:ea typeface="宋体"/>
                          <a:cs typeface="宋体"/>
                        </a:rPr>
                        <a:t>中的元素调整，使满足最大堆的有序性</a:t>
                      </a:r>
                      <a:r>
                        <a:rPr lang="en-US" sz="1800" b="1" kern="0" dirty="0">
                          <a:solidFill>
                            <a:schemeClr val="bg2">
                              <a:lumMod val="60000"/>
                              <a:lumOff val="40000"/>
                            </a:schemeClr>
                          </a:solidFill>
                          <a:latin typeface="Courier"/>
                          <a:ea typeface="宋体"/>
                          <a:cs typeface="宋体"/>
                        </a:rPr>
                        <a:t> */</a:t>
                      </a:r>
                      <a:endParaRPr lang="zh-CN" sz="1800" b="1" kern="100" dirty="0">
                        <a:solidFill>
                          <a:schemeClr val="bg2">
                            <a:lumMod val="60000"/>
                            <a:lumOff val="40000"/>
                          </a:schemeClr>
                        </a:solidFill>
                        <a:latin typeface="Calibri"/>
                        <a:ea typeface="宋体"/>
                        <a:cs typeface="Times New Roman"/>
                      </a:endParaRPr>
                    </a:p>
                    <a:p>
                      <a:pPr indent="276225" algn="l">
                        <a:spcAft>
                          <a:spcPts val="0"/>
                        </a:spcAft>
                      </a:pPr>
                      <a:r>
                        <a:rPr lang="en-US" sz="1800" b="1" kern="0" dirty="0" err="1">
                          <a:solidFill>
                            <a:srgbClr val="0000FF"/>
                          </a:solidFill>
                          <a:latin typeface="Courier"/>
                          <a:ea typeface="宋体"/>
                          <a:cs typeface="宋体"/>
                        </a:rPr>
                        <a:t>int</a:t>
                      </a:r>
                      <a:r>
                        <a:rPr lang="en-US" sz="1800" b="1" kern="0" dirty="0">
                          <a:latin typeface="Courier"/>
                          <a:ea typeface="宋体"/>
                          <a:cs typeface="宋体"/>
                        </a:rPr>
                        <a:t> Parent, Child, </a:t>
                      </a:r>
                      <a:r>
                        <a:rPr lang="en-US" sz="1800" b="1" kern="0" dirty="0" err="1">
                          <a:latin typeface="Courier"/>
                          <a:ea typeface="宋体"/>
                          <a:cs typeface="宋体"/>
                        </a:rPr>
                        <a:t>i</a:t>
                      </a:r>
                      <a:r>
                        <a:rPr lang="en-US" sz="1800" b="1" kern="0" dirty="0">
                          <a:latin typeface="Courier"/>
                          <a:ea typeface="宋体"/>
                          <a:cs typeface="宋体"/>
                        </a:rPr>
                        <a:t>;</a:t>
                      </a:r>
                      <a:endParaRPr lang="zh-CN" sz="1800" b="1" kern="100" dirty="0">
                        <a:latin typeface="Calibri"/>
                        <a:ea typeface="宋体"/>
                        <a:cs typeface="Times New Roman"/>
                      </a:endParaRPr>
                    </a:p>
                    <a:p>
                      <a:pPr indent="276225" algn="l">
                        <a:spcAft>
                          <a:spcPts val="0"/>
                        </a:spcAft>
                      </a:pPr>
                      <a:r>
                        <a:rPr lang="en-US" sz="1800" b="1" kern="0" dirty="0" err="1">
                          <a:latin typeface="Courier"/>
                          <a:ea typeface="宋体"/>
                          <a:cs typeface="宋体"/>
                        </a:rPr>
                        <a:t>ElementType</a:t>
                      </a:r>
                      <a:r>
                        <a:rPr lang="en-US" sz="1800" b="1" kern="0" dirty="0">
                          <a:latin typeface="Courier"/>
                          <a:ea typeface="宋体"/>
                          <a:cs typeface="宋体"/>
                        </a:rPr>
                        <a:t> temp;</a:t>
                      </a:r>
                      <a:endParaRPr lang="zh-CN" sz="1800" b="1" kern="100" dirty="0">
                        <a:latin typeface="Calibri"/>
                        <a:ea typeface="宋体"/>
                        <a:cs typeface="Times New Roman"/>
                      </a:endParaRPr>
                    </a:p>
                    <a:p>
                      <a:pPr indent="276225" algn="l">
                        <a:spcAft>
                          <a:spcPts val="0"/>
                        </a:spcAft>
                      </a:pPr>
                      <a:r>
                        <a:rPr lang="en-US" sz="1800" b="1" kern="0" dirty="0">
                          <a:solidFill>
                            <a:srgbClr val="0000FF"/>
                          </a:solidFill>
                          <a:latin typeface="Courier"/>
                          <a:ea typeface="宋体"/>
                          <a:cs typeface="宋体"/>
                        </a:rPr>
                        <a:t>for</a:t>
                      </a:r>
                      <a:r>
                        <a:rPr lang="en-US" sz="1800" b="1" kern="0" dirty="0">
                          <a:latin typeface="Courier"/>
                          <a:ea typeface="宋体"/>
                          <a:cs typeface="宋体"/>
                        </a:rPr>
                        <a:t>( </a:t>
                      </a:r>
                      <a:r>
                        <a:rPr lang="en-US" sz="1800" b="1" kern="0" dirty="0" err="1">
                          <a:latin typeface="Courier"/>
                          <a:ea typeface="宋体"/>
                          <a:cs typeface="宋体"/>
                        </a:rPr>
                        <a:t>i</a:t>
                      </a:r>
                      <a:r>
                        <a:rPr lang="en-US" sz="1800" b="1" kern="0" dirty="0">
                          <a:latin typeface="Courier"/>
                          <a:ea typeface="宋体"/>
                          <a:cs typeface="宋体"/>
                        </a:rPr>
                        <a:t> = H-&gt;Size/2; </a:t>
                      </a:r>
                      <a:r>
                        <a:rPr lang="en-US" sz="1800" b="1" kern="0" dirty="0" err="1">
                          <a:latin typeface="Courier"/>
                          <a:ea typeface="宋体"/>
                          <a:cs typeface="宋体"/>
                        </a:rPr>
                        <a:t>i</a:t>
                      </a:r>
                      <a:r>
                        <a:rPr lang="en-US" sz="1800" b="1" kern="0" dirty="0">
                          <a:latin typeface="Courier"/>
                          <a:ea typeface="宋体"/>
                          <a:cs typeface="宋体"/>
                        </a:rPr>
                        <a:t>&gt;0; </a:t>
                      </a:r>
                      <a:r>
                        <a:rPr lang="en-US" sz="1800" b="1" kern="0" dirty="0" err="1">
                          <a:latin typeface="Courier"/>
                          <a:ea typeface="宋体"/>
                          <a:cs typeface="宋体"/>
                        </a:rPr>
                        <a:t>i</a:t>
                      </a:r>
                      <a:r>
                        <a:rPr lang="en-US" sz="1800" b="1" kern="0" dirty="0">
                          <a:latin typeface="Courier"/>
                          <a:ea typeface="宋体"/>
                          <a:cs typeface="宋体"/>
                        </a:rPr>
                        <a:t>-- ){ </a:t>
                      </a:r>
                      <a:r>
                        <a:rPr lang="en-US" sz="1800" b="1" kern="0" dirty="0">
                          <a:solidFill>
                            <a:schemeClr val="bg2">
                              <a:lumMod val="60000"/>
                              <a:lumOff val="40000"/>
                            </a:schemeClr>
                          </a:solidFill>
                          <a:latin typeface="Courier"/>
                          <a:ea typeface="宋体"/>
                          <a:cs typeface="宋体"/>
                        </a:rPr>
                        <a:t>/*</a:t>
                      </a:r>
                      <a:r>
                        <a:rPr lang="zh-CN" sz="1800" b="1" kern="0" dirty="0">
                          <a:solidFill>
                            <a:schemeClr val="bg2">
                              <a:lumMod val="60000"/>
                              <a:lumOff val="40000"/>
                            </a:schemeClr>
                          </a:solidFill>
                          <a:latin typeface="Courier"/>
                          <a:ea typeface="宋体"/>
                          <a:cs typeface="宋体"/>
                        </a:rPr>
                        <a:t>从最后一个结点的父结点开始</a:t>
                      </a:r>
                      <a:r>
                        <a:rPr lang="en-US" sz="1800" b="1" kern="0" dirty="0">
                          <a:solidFill>
                            <a:schemeClr val="bg2">
                              <a:lumMod val="60000"/>
                              <a:lumOff val="40000"/>
                            </a:schemeClr>
                          </a:solidFill>
                          <a:latin typeface="Courier"/>
                          <a:ea typeface="宋体"/>
                          <a:cs typeface="宋体"/>
                        </a:rPr>
                        <a:t> */</a:t>
                      </a:r>
                      <a:endParaRPr lang="zh-CN" sz="1800" b="1" kern="0" dirty="0">
                        <a:solidFill>
                          <a:schemeClr val="bg2">
                            <a:lumMod val="60000"/>
                            <a:lumOff val="40000"/>
                          </a:schemeClr>
                        </a:solidFill>
                        <a:latin typeface="Courier"/>
                        <a:ea typeface="宋体"/>
                        <a:cs typeface="宋体"/>
                      </a:endParaRPr>
                    </a:p>
                    <a:p>
                      <a:pPr indent="533400" algn="l">
                        <a:spcAft>
                          <a:spcPts val="0"/>
                        </a:spcAft>
                      </a:pPr>
                      <a:r>
                        <a:rPr lang="en-US" sz="1800" b="1" kern="0" dirty="0" smtClean="0">
                          <a:latin typeface="Courier"/>
                          <a:ea typeface="宋体"/>
                          <a:cs typeface="宋体"/>
                        </a:rPr>
                        <a:t> temp </a:t>
                      </a:r>
                      <a:r>
                        <a:rPr lang="en-US" sz="1800" b="1" kern="0" dirty="0">
                          <a:latin typeface="Courier"/>
                          <a:ea typeface="宋体"/>
                          <a:cs typeface="宋体"/>
                        </a:rPr>
                        <a:t>= H-&gt;Elements[</a:t>
                      </a:r>
                      <a:r>
                        <a:rPr lang="en-US" sz="1800" b="1" kern="0" dirty="0" err="1">
                          <a:latin typeface="Courier"/>
                          <a:ea typeface="宋体"/>
                          <a:cs typeface="宋体"/>
                        </a:rPr>
                        <a:t>i</a:t>
                      </a:r>
                      <a:r>
                        <a:rPr lang="en-US" sz="1800" b="1" kern="0" dirty="0">
                          <a:latin typeface="Courier"/>
                          <a:ea typeface="宋体"/>
                          <a:cs typeface="宋体"/>
                        </a:rPr>
                        <a:t>];</a:t>
                      </a:r>
                      <a:endParaRPr lang="zh-CN" sz="1800" b="1" kern="100" dirty="0">
                        <a:latin typeface="Calibri"/>
                        <a:ea typeface="宋体"/>
                        <a:cs typeface="Times New Roman"/>
                      </a:endParaRPr>
                    </a:p>
                    <a:p>
                      <a:pPr indent="533400" algn="l">
                        <a:spcAft>
                          <a:spcPts val="0"/>
                        </a:spcAft>
                      </a:pPr>
                      <a:r>
                        <a:rPr lang="en-US" sz="1800" b="1" kern="0" dirty="0" smtClean="0">
                          <a:solidFill>
                            <a:srgbClr val="0000FF"/>
                          </a:solidFill>
                          <a:latin typeface="Courier"/>
                          <a:ea typeface="宋体"/>
                          <a:cs typeface="宋体"/>
                        </a:rPr>
                        <a:t> for</a:t>
                      </a:r>
                      <a:r>
                        <a:rPr lang="en-US" sz="1800" b="1" kern="100" dirty="0">
                          <a:latin typeface="Courier New"/>
                          <a:ea typeface="宋体"/>
                          <a:cs typeface="Times New Roman"/>
                        </a:rPr>
                        <a:t>( Parent=</a:t>
                      </a:r>
                      <a:r>
                        <a:rPr lang="en-US" sz="1800" b="1" kern="100" dirty="0" err="1">
                          <a:latin typeface="Courier New"/>
                          <a:ea typeface="宋体"/>
                          <a:cs typeface="Times New Roman"/>
                        </a:rPr>
                        <a:t>i</a:t>
                      </a:r>
                      <a:r>
                        <a:rPr lang="en-US" sz="1800" b="1" kern="100" dirty="0">
                          <a:latin typeface="Courier New"/>
                          <a:ea typeface="宋体"/>
                          <a:cs typeface="Times New Roman"/>
                        </a:rPr>
                        <a:t>; Parent*2&lt;=H-&gt;Size; Parent=Child ) {</a:t>
                      </a:r>
                      <a:endParaRPr lang="zh-CN" sz="1800" b="1" kern="100" dirty="0">
                        <a:latin typeface="Calibri"/>
                        <a:ea typeface="宋体"/>
                        <a:cs typeface="Times New Roman"/>
                      </a:endParaRPr>
                    </a:p>
                    <a:p>
                      <a:pPr indent="533400" algn="l">
                        <a:spcAft>
                          <a:spcPts val="0"/>
                        </a:spcAft>
                      </a:pPr>
                      <a:r>
                        <a:rPr lang="en-US" sz="1800" b="1" kern="100" dirty="0">
                          <a:latin typeface="Courier New"/>
                          <a:ea typeface="宋体"/>
                          <a:cs typeface="Times New Roman"/>
                        </a:rPr>
                        <a:t>    </a:t>
                      </a:r>
                      <a:r>
                        <a:rPr lang="en-US" sz="1800" b="1" kern="0" dirty="0">
                          <a:solidFill>
                            <a:schemeClr val="bg2">
                              <a:lumMod val="60000"/>
                              <a:lumOff val="40000"/>
                            </a:schemeClr>
                          </a:solidFill>
                          <a:latin typeface="Courier"/>
                          <a:ea typeface="宋体"/>
                          <a:cs typeface="宋体"/>
                        </a:rPr>
                        <a:t>/* </a:t>
                      </a:r>
                      <a:r>
                        <a:rPr lang="zh-CN" sz="1800" b="1" kern="0" dirty="0">
                          <a:solidFill>
                            <a:schemeClr val="bg2">
                              <a:lumMod val="60000"/>
                              <a:lumOff val="40000"/>
                            </a:schemeClr>
                          </a:solidFill>
                          <a:latin typeface="Courier"/>
                          <a:ea typeface="宋体"/>
                          <a:cs typeface="宋体"/>
                        </a:rPr>
                        <a:t>向下过滤</a:t>
                      </a:r>
                      <a:r>
                        <a:rPr lang="en-US" sz="1800" b="1" kern="0" dirty="0">
                          <a:solidFill>
                            <a:schemeClr val="bg2">
                              <a:lumMod val="60000"/>
                              <a:lumOff val="40000"/>
                            </a:schemeClr>
                          </a:solidFill>
                          <a:latin typeface="Courier"/>
                          <a:ea typeface="宋体"/>
                          <a:cs typeface="宋体"/>
                        </a:rPr>
                        <a:t> */</a:t>
                      </a:r>
                      <a:endParaRPr lang="zh-CN" sz="1800" b="1" kern="0" dirty="0">
                        <a:solidFill>
                          <a:schemeClr val="bg2">
                            <a:lumMod val="60000"/>
                            <a:lumOff val="40000"/>
                          </a:schemeClr>
                        </a:solidFill>
                        <a:latin typeface="Courier"/>
                        <a:ea typeface="宋体"/>
                        <a:cs typeface="宋体"/>
                      </a:endParaRPr>
                    </a:p>
                    <a:p>
                      <a:pPr indent="266700" algn="l">
                        <a:spcAft>
                          <a:spcPts val="0"/>
                        </a:spcAft>
                      </a:pPr>
                      <a:r>
                        <a:rPr lang="en-US" sz="1800" b="1" kern="100" dirty="0">
                          <a:latin typeface="Courier New"/>
                          <a:ea typeface="宋体"/>
                          <a:cs typeface="Times New Roman"/>
                        </a:rPr>
                        <a:t>      </a:t>
                      </a:r>
                      <a:r>
                        <a:rPr lang="en-US" sz="1800" b="1" kern="100" dirty="0" smtClean="0">
                          <a:latin typeface="Courier New"/>
                          <a:ea typeface="宋体"/>
                          <a:cs typeface="Times New Roman"/>
                        </a:rPr>
                        <a:t>Child </a:t>
                      </a:r>
                      <a:r>
                        <a:rPr lang="en-US" sz="1800" b="1" kern="100" dirty="0">
                          <a:latin typeface="Courier New"/>
                          <a:ea typeface="宋体"/>
                          <a:cs typeface="Times New Roman"/>
                        </a:rPr>
                        <a:t>= Parent * 2;</a:t>
                      </a:r>
                      <a:endParaRPr lang="zh-CN" sz="1800" b="1" kern="100" dirty="0">
                        <a:latin typeface="Calibri"/>
                        <a:ea typeface="宋体"/>
                        <a:cs typeface="Times New Roman"/>
                      </a:endParaRPr>
                    </a:p>
                    <a:p>
                      <a:pPr algn="l">
                        <a:spcAft>
                          <a:spcPts val="0"/>
                        </a:spcAft>
                      </a:pPr>
                      <a:r>
                        <a:rPr lang="en-US" sz="1800" b="1" kern="100" dirty="0">
                          <a:solidFill>
                            <a:srgbClr val="3333CC"/>
                          </a:solidFill>
                          <a:latin typeface="Courier New"/>
                          <a:ea typeface="宋体"/>
                          <a:cs typeface="Times New Roman"/>
                        </a:rPr>
                        <a:t>        </a:t>
                      </a:r>
                      <a:r>
                        <a:rPr lang="en-US" sz="1800" b="1" kern="0" dirty="0" smtClean="0">
                          <a:solidFill>
                            <a:srgbClr val="0000FF"/>
                          </a:solidFill>
                          <a:latin typeface="Courier"/>
                          <a:ea typeface="宋体"/>
                          <a:cs typeface="宋体"/>
                        </a:rPr>
                        <a:t>if</a:t>
                      </a:r>
                      <a:r>
                        <a:rPr lang="en-US" sz="1800" b="1" kern="100" dirty="0">
                          <a:latin typeface="Courier New"/>
                          <a:ea typeface="宋体"/>
                          <a:cs typeface="Times New Roman"/>
                        </a:rPr>
                        <a:t>( (Child!= H-&gt;Size) &amp;&amp; </a:t>
                      </a:r>
                      <a:endParaRPr lang="zh-CN" sz="1800" b="1" kern="100" dirty="0">
                        <a:latin typeface="Calibri"/>
                        <a:ea typeface="宋体"/>
                        <a:cs typeface="Times New Roman"/>
                      </a:endParaRPr>
                    </a:p>
                    <a:p>
                      <a:pPr indent="1133475" algn="l">
                        <a:spcAft>
                          <a:spcPts val="0"/>
                        </a:spcAft>
                      </a:pPr>
                      <a:r>
                        <a:rPr lang="en-US" sz="1800" b="1" kern="100" dirty="0" smtClean="0">
                          <a:latin typeface="Courier New"/>
                          <a:ea typeface="宋体"/>
                          <a:cs typeface="Times New Roman"/>
                        </a:rPr>
                        <a:t> </a:t>
                      </a:r>
                      <a:r>
                        <a:rPr lang="en-US" sz="1800" b="1" kern="100" baseline="0" dirty="0" smtClean="0">
                          <a:latin typeface="Courier New"/>
                          <a:ea typeface="宋体"/>
                          <a:cs typeface="Times New Roman"/>
                        </a:rPr>
                        <a:t>   </a:t>
                      </a:r>
                      <a:r>
                        <a:rPr lang="en-US" sz="1800" b="1" kern="100" dirty="0" smtClean="0">
                          <a:latin typeface="Courier New"/>
                          <a:ea typeface="宋体"/>
                          <a:cs typeface="Times New Roman"/>
                        </a:rPr>
                        <a:t>(</a:t>
                      </a:r>
                      <a:r>
                        <a:rPr lang="en-US" sz="1800" b="1" kern="100" dirty="0">
                          <a:latin typeface="Courier New"/>
                          <a:ea typeface="宋体"/>
                          <a:cs typeface="Times New Roman"/>
                        </a:rPr>
                        <a:t>H-&gt;Elements[Child] &lt; H-&gt;Elements[Child+1]) )</a:t>
                      </a:r>
                      <a:endParaRPr lang="zh-CN" sz="1800" b="1" kern="100" dirty="0">
                        <a:latin typeface="Calibri"/>
                        <a:ea typeface="宋体"/>
                        <a:cs typeface="Times New Roman"/>
                      </a:endParaRPr>
                    </a:p>
                    <a:p>
                      <a:pPr algn="l">
                        <a:spcAft>
                          <a:spcPts val="0"/>
                        </a:spcAft>
                      </a:pPr>
                      <a:r>
                        <a:rPr lang="en-US" sz="1800" b="1" kern="100" dirty="0">
                          <a:latin typeface="Courier New"/>
                          <a:ea typeface="宋体"/>
                          <a:cs typeface="Times New Roman"/>
                        </a:rPr>
                        <a:t>           </a:t>
                      </a:r>
                      <a:r>
                        <a:rPr lang="en-US" sz="1800" b="1" kern="100" dirty="0" smtClean="0">
                          <a:latin typeface="Courier New"/>
                          <a:ea typeface="宋体"/>
                          <a:cs typeface="Times New Roman"/>
                        </a:rPr>
                        <a:t> Child</a:t>
                      </a:r>
                      <a:r>
                        <a:rPr lang="en-US" sz="1800" b="1" kern="100" dirty="0">
                          <a:latin typeface="Courier New"/>
                          <a:ea typeface="宋体"/>
                          <a:cs typeface="Times New Roman"/>
                        </a:rPr>
                        <a:t>++;  </a:t>
                      </a:r>
                      <a:r>
                        <a:rPr lang="en-US" sz="1800" b="1" kern="0" dirty="0">
                          <a:solidFill>
                            <a:schemeClr val="bg2">
                              <a:lumMod val="60000"/>
                              <a:lumOff val="40000"/>
                            </a:schemeClr>
                          </a:solidFill>
                          <a:latin typeface="Courier"/>
                          <a:ea typeface="宋体"/>
                          <a:cs typeface="宋体"/>
                        </a:rPr>
                        <a:t>/* Child</a:t>
                      </a:r>
                      <a:r>
                        <a:rPr lang="zh-CN" sz="1800" b="1" kern="0" dirty="0">
                          <a:solidFill>
                            <a:schemeClr val="bg2">
                              <a:lumMod val="60000"/>
                              <a:lumOff val="40000"/>
                            </a:schemeClr>
                          </a:solidFill>
                          <a:latin typeface="Courier"/>
                          <a:ea typeface="宋体"/>
                          <a:cs typeface="宋体"/>
                        </a:rPr>
                        <a:t>指向左右子结点的较大者</a:t>
                      </a:r>
                      <a:r>
                        <a:rPr lang="en-US" sz="1800" b="1" kern="0" dirty="0">
                          <a:solidFill>
                            <a:schemeClr val="bg2">
                              <a:lumMod val="60000"/>
                              <a:lumOff val="40000"/>
                            </a:schemeClr>
                          </a:solidFill>
                          <a:latin typeface="Courier"/>
                          <a:ea typeface="宋体"/>
                          <a:cs typeface="宋体"/>
                        </a:rPr>
                        <a:t> */</a:t>
                      </a:r>
                      <a:endParaRPr lang="zh-CN" sz="1800" b="1" kern="0" dirty="0">
                        <a:solidFill>
                          <a:schemeClr val="bg2">
                            <a:lumMod val="60000"/>
                            <a:lumOff val="40000"/>
                          </a:schemeClr>
                        </a:solidFill>
                        <a:latin typeface="Courier"/>
                        <a:ea typeface="宋体"/>
                        <a:cs typeface="宋体"/>
                      </a:endParaRPr>
                    </a:p>
                    <a:p>
                      <a:pPr algn="l">
                        <a:spcAft>
                          <a:spcPts val="0"/>
                        </a:spcAft>
                      </a:pPr>
                      <a:r>
                        <a:rPr lang="en-US" sz="1800" b="1" kern="100" dirty="0">
                          <a:latin typeface="Courier New"/>
                          <a:ea typeface="宋体"/>
                          <a:cs typeface="Times New Roman"/>
                        </a:rPr>
                        <a:t>        </a:t>
                      </a:r>
                      <a:r>
                        <a:rPr lang="en-US" sz="1800" b="1" kern="0" dirty="0" smtClean="0">
                          <a:solidFill>
                            <a:srgbClr val="0000FF"/>
                          </a:solidFill>
                          <a:latin typeface="Courier"/>
                          <a:ea typeface="宋体"/>
                          <a:cs typeface="宋体"/>
                        </a:rPr>
                        <a:t>if</a:t>
                      </a:r>
                      <a:r>
                        <a:rPr lang="en-US" sz="1800" b="1" kern="100" dirty="0">
                          <a:latin typeface="Courier New"/>
                          <a:ea typeface="宋体"/>
                          <a:cs typeface="Times New Roman"/>
                        </a:rPr>
                        <a:t>( temp &gt;= H-&gt;Elements[Child] ) </a:t>
                      </a:r>
                      <a:r>
                        <a:rPr lang="en-US" sz="1800" b="1" kern="100" dirty="0">
                          <a:solidFill>
                            <a:srgbClr val="0000FF"/>
                          </a:solidFill>
                          <a:latin typeface="Courier New"/>
                          <a:ea typeface="宋体"/>
                          <a:cs typeface="Times New Roman"/>
                        </a:rPr>
                        <a:t>break</a:t>
                      </a:r>
                      <a:r>
                        <a:rPr lang="en-US" sz="1800" b="1" kern="100" dirty="0">
                          <a:latin typeface="Courier New"/>
                          <a:ea typeface="宋体"/>
                          <a:cs typeface="Times New Roman"/>
                        </a:rPr>
                        <a:t>;</a:t>
                      </a:r>
                      <a:endParaRPr lang="zh-CN" sz="1800" b="1" kern="100" dirty="0">
                        <a:latin typeface="Calibri"/>
                        <a:ea typeface="宋体"/>
                        <a:cs typeface="Times New Roman"/>
                      </a:endParaRPr>
                    </a:p>
                    <a:p>
                      <a:pPr indent="800100" algn="l">
                        <a:spcAft>
                          <a:spcPts val="0"/>
                        </a:spcAft>
                      </a:pPr>
                      <a:r>
                        <a:rPr lang="en-US" sz="1800" b="1" kern="0" dirty="0" smtClean="0">
                          <a:solidFill>
                            <a:srgbClr val="0000FF"/>
                          </a:solidFill>
                          <a:latin typeface="Courier"/>
                          <a:ea typeface="宋体"/>
                          <a:cs typeface="宋体"/>
                        </a:rPr>
                        <a:t>   else</a:t>
                      </a:r>
                      <a:r>
                        <a:rPr lang="en-US" sz="1800" b="1" kern="100" dirty="0" smtClean="0">
                          <a:latin typeface="Courier New"/>
                          <a:ea typeface="宋体"/>
                          <a:cs typeface="Times New Roman"/>
                        </a:rPr>
                        <a:t>  </a:t>
                      </a:r>
                      <a:r>
                        <a:rPr lang="en-US" sz="1800" b="1" kern="0" dirty="0">
                          <a:solidFill>
                            <a:schemeClr val="bg2">
                              <a:lumMod val="60000"/>
                              <a:lumOff val="40000"/>
                            </a:schemeClr>
                          </a:solidFill>
                          <a:latin typeface="Courier"/>
                          <a:ea typeface="宋体"/>
                          <a:cs typeface="宋体"/>
                        </a:rPr>
                        <a:t>/* </a:t>
                      </a:r>
                      <a:r>
                        <a:rPr lang="zh-CN" sz="1800" b="1" kern="0" dirty="0">
                          <a:solidFill>
                            <a:schemeClr val="bg2">
                              <a:lumMod val="60000"/>
                              <a:lumOff val="40000"/>
                            </a:schemeClr>
                          </a:solidFill>
                          <a:latin typeface="Courier"/>
                          <a:ea typeface="宋体"/>
                          <a:cs typeface="宋体"/>
                        </a:rPr>
                        <a:t>移动</a:t>
                      </a:r>
                      <a:r>
                        <a:rPr lang="en-US" sz="1800" b="1" kern="0" dirty="0">
                          <a:solidFill>
                            <a:schemeClr val="bg2">
                              <a:lumMod val="60000"/>
                              <a:lumOff val="40000"/>
                            </a:schemeClr>
                          </a:solidFill>
                          <a:latin typeface="Courier"/>
                          <a:ea typeface="宋体"/>
                          <a:cs typeface="宋体"/>
                        </a:rPr>
                        <a:t>temp</a:t>
                      </a:r>
                      <a:r>
                        <a:rPr lang="zh-CN" sz="1800" b="1" kern="0" dirty="0">
                          <a:solidFill>
                            <a:schemeClr val="bg2">
                              <a:lumMod val="60000"/>
                              <a:lumOff val="40000"/>
                            </a:schemeClr>
                          </a:solidFill>
                          <a:latin typeface="Courier"/>
                          <a:ea typeface="宋体"/>
                          <a:cs typeface="宋体"/>
                        </a:rPr>
                        <a:t>元素到下一层</a:t>
                      </a:r>
                      <a:r>
                        <a:rPr lang="en-US" sz="1800" b="1" kern="0" dirty="0">
                          <a:solidFill>
                            <a:schemeClr val="bg2">
                              <a:lumMod val="60000"/>
                              <a:lumOff val="40000"/>
                            </a:schemeClr>
                          </a:solidFill>
                          <a:latin typeface="Courier"/>
                          <a:ea typeface="宋体"/>
                          <a:cs typeface="宋体"/>
                        </a:rPr>
                        <a:t> */</a:t>
                      </a:r>
                      <a:endParaRPr lang="zh-CN" sz="1800" b="1" kern="0" dirty="0">
                        <a:solidFill>
                          <a:schemeClr val="bg2">
                            <a:lumMod val="60000"/>
                            <a:lumOff val="40000"/>
                          </a:schemeClr>
                        </a:solidFill>
                        <a:latin typeface="Courier"/>
                        <a:ea typeface="宋体"/>
                        <a:cs typeface="宋体"/>
                      </a:endParaRPr>
                    </a:p>
                    <a:p>
                      <a:pPr indent="266700" algn="l">
                        <a:spcAft>
                          <a:spcPts val="0"/>
                        </a:spcAft>
                      </a:pPr>
                      <a:r>
                        <a:rPr lang="en-US" sz="1800" b="1" kern="100" dirty="0">
                          <a:latin typeface="Courier New"/>
                          <a:ea typeface="宋体"/>
                          <a:cs typeface="Times New Roman"/>
                        </a:rPr>
                        <a:t>         </a:t>
                      </a:r>
                      <a:r>
                        <a:rPr lang="en-US" sz="1800" b="1" kern="100" baseline="0" dirty="0" smtClean="0">
                          <a:latin typeface="Courier New"/>
                          <a:ea typeface="宋体"/>
                          <a:cs typeface="Times New Roman"/>
                        </a:rPr>
                        <a:t> </a:t>
                      </a:r>
                      <a:r>
                        <a:rPr lang="en-US" sz="1800" b="1" kern="100" dirty="0" smtClean="0">
                          <a:latin typeface="Courier New"/>
                          <a:ea typeface="宋体"/>
                          <a:cs typeface="Times New Roman"/>
                        </a:rPr>
                        <a:t>H-</a:t>
                      </a:r>
                      <a:r>
                        <a:rPr lang="en-US" sz="1800" b="1" kern="100" dirty="0">
                          <a:latin typeface="Courier New"/>
                          <a:ea typeface="宋体"/>
                          <a:cs typeface="Times New Roman"/>
                        </a:rPr>
                        <a:t>&gt;Elements[Parent] = H-&gt;Elements[Child];</a:t>
                      </a:r>
                      <a:endParaRPr lang="zh-CN" sz="1800" b="1" kern="100" dirty="0">
                        <a:latin typeface="Calibri"/>
                        <a:ea typeface="宋体"/>
                        <a:cs typeface="Times New Roman"/>
                      </a:endParaRPr>
                    </a:p>
                    <a:p>
                      <a:pPr indent="533400" algn="l">
                        <a:spcAft>
                          <a:spcPts val="0"/>
                        </a:spcAft>
                      </a:pPr>
                      <a:r>
                        <a:rPr lang="en-US" sz="1800" b="1" kern="0" dirty="0" smtClean="0">
                          <a:latin typeface="Courier"/>
                          <a:ea typeface="宋体"/>
                          <a:cs typeface="宋体"/>
                        </a:rPr>
                        <a:t>  } </a:t>
                      </a:r>
                      <a:r>
                        <a:rPr lang="en-US" sz="1800" b="1" kern="0" dirty="0">
                          <a:solidFill>
                            <a:schemeClr val="bg2">
                              <a:lumMod val="60000"/>
                              <a:lumOff val="40000"/>
                            </a:schemeClr>
                          </a:solidFill>
                          <a:latin typeface="Courier"/>
                          <a:ea typeface="宋体"/>
                          <a:cs typeface="宋体"/>
                        </a:rPr>
                        <a:t>/* </a:t>
                      </a:r>
                      <a:r>
                        <a:rPr lang="zh-CN" sz="1800" b="1" kern="0" dirty="0">
                          <a:solidFill>
                            <a:schemeClr val="bg2">
                              <a:lumMod val="60000"/>
                              <a:lumOff val="40000"/>
                            </a:schemeClr>
                          </a:solidFill>
                          <a:latin typeface="Courier"/>
                          <a:ea typeface="宋体"/>
                          <a:cs typeface="宋体"/>
                        </a:rPr>
                        <a:t>结束内部</a:t>
                      </a:r>
                      <a:r>
                        <a:rPr lang="en-US" sz="1800" b="1" kern="0" dirty="0">
                          <a:solidFill>
                            <a:schemeClr val="bg2">
                              <a:lumMod val="60000"/>
                              <a:lumOff val="40000"/>
                            </a:schemeClr>
                          </a:solidFill>
                          <a:latin typeface="Courier"/>
                          <a:ea typeface="宋体"/>
                          <a:cs typeface="宋体"/>
                        </a:rPr>
                        <a:t>for</a:t>
                      </a:r>
                      <a:r>
                        <a:rPr lang="zh-CN" sz="1800" b="1" kern="0" dirty="0">
                          <a:solidFill>
                            <a:schemeClr val="bg2">
                              <a:lumMod val="60000"/>
                              <a:lumOff val="40000"/>
                            </a:schemeClr>
                          </a:solidFill>
                          <a:latin typeface="Courier"/>
                          <a:ea typeface="宋体"/>
                          <a:cs typeface="宋体"/>
                        </a:rPr>
                        <a:t>循环对以</a:t>
                      </a:r>
                      <a:r>
                        <a:rPr lang="en-US" sz="1800" b="1" kern="0" dirty="0">
                          <a:solidFill>
                            <a:schemeClr val="bg2">
                              <a:lumMod val="60000"/>
                              <a:lumOff val="40000"/>
                            </a:schemeClr>
                          </a:solidFill>
                          <a:latin typeface="Courier"/>
                          <a:ea typeface="宋体"/>
                          <a:cs typeface="宋体"/>
                        </a:rPr>
                        <a:t>H-&gt;Elements[</a:t>
                      </a:r>
                      <a:r>
                        <a:rPr lang="en-US" sz="1800" b="1" kern="0" dirty="0" err="1">
                          <a:solidFill>
                            <a:schemeClr val="bg2">
                              <a:lumMod val="60000"/>
                              <a:lumOff val="40000"/>
                            </a:schemeClr>
                          </a:solidFill>
                          <a:latin typeface="Courier"/>
                          <a:ea typeface="宋体"/>
                          <a:cs typeface="宋体"/>
                        </a:rPr>
                        <a:t>i</a:t>
                      </a:r>
                      <a:r>
                        <a:rPr lang="en-US" sz="1800" b="1" kern="0" dirty="0">
                          <a:solidFill>
                            <a:schemeClr val="bg2">
                              <a:lumMod val="60000"/>
                              <a:lumOff val="40000"/>
                            </a:schemeClr>
                          </a:solidFill>
                          <a:latin typeface="Courier"/>
                          <a:ea typeface="宋体"/>
                          <a:cs typeface="宋体"/>
                        </a:rPr>
                        <a:t>]</a:t>
                      </a:r>
                      <a:r>
                        <a:rPr lang="zh-CN" sz="1800" b="1" kern="0" dirty="0">
                          <a:solidFill>
                            <a:schemeClr val="bg2">
                              <a:lumMod val="60000"/>
                              <a:lumOff val="40000"/>
                            </a:schemeClr>
                          </a:solidFill>
                          <a:latin typeface="Courier"/>
                          <a:ea typeface="宋体"/>
                          <a:cs typeface="宋体"/>
                        </a:rPr>
                        <a:t>为根的子树的调整</a:t>
                      </a:r>
                      <a:r>
                        <a:rPr lang="en-US" sz="1800" b="1" kern="0" dirty="0">
                          <a:solidFill>
                            <a:schemeClr val="bg2">
                              <a:lumMod val="60000"/>
                              <a:lumOff val="40000"/>
                            </a:schemeClr>
                          </a:solidFill>
                          <a:latin typeface="Courier"/>
                          <a:ea typeface="宋体"/>
                          <a:cs typeface="宋体"/>
                        </a:rPr>
                        <a:t> */</a:t>
                      </a:r>
                      <a:endParaRPr lang="zh-CN" sz="1800" b="1" kern="0" dirty="0">
                        <a:solidFill>
                          <a:schemeClr val="bg2">
                            <a:lumMod val="60000"/>
                            <a:lumOff val="40000"/>
                          </a:schemeClr>
                        </a:solidFill>
                        <a:latin typeface="Courier"/>
                        <a:ea typeface="宋体"/>
                        <a:cs typeface="宋体"/>
                      </a:endParaRPr>
                    </a:p>
                    <a:p>
                      <a:pPr indent="533400" algn="l">
                        <a:spcAft>
                          <a:spcPts val="0"/>
                        </a:spcAft>
                      </a:pPr>
                      <a:r>
                        <a:rPr lang="en-US" sz="1800" b="1" kern="100" dirty="0" smtClean="0">
                          <a:latin typeface="Courier New"/>
                          <a:ea typeface="宋体"/>
                          <a:cs typeface="Times New Roman"/>
                        </a:rPr>
                        <a:t>  H-</a:t>
                      </a:r>
                      <a:r>
                        <a:rPr lang="en-US" sz="1800" b="1" kern="100" dirty="0">
                          <a:latin typeface="Courier New"/>
                          <a:ea typeface="宋体"/>
                          <a:cs typeface="Times New Roman"/>
                        </a:rPr>
                        <a:t>&gt;Elements[Parent] = temp;</a:t>
                      </a:r>
                      <a:endParaRPr lang="zh-CN" sz="1800" b="1" kern="100" dirty="0">
                        <a:latin typeface="Calibri"/>
                        <a:ea typeface="宋体"/>
                        <a:cs typeface="Times New Roman"/>
                      </a:endParaRPr>
                    </a:p>
                    <a:p>
                      <a:pPr indent="200025" algn="l">
                        <a:spcAft>
                          <a:spcPts val="0"/>
                        </a:spcAft>
                      </a:pPr>
                      <a:r>
                        <a:rPr lang="en-US" sz="1800" b="1" kern="0" dirty="0" smtClean="0">
                          <a:latin typeface="Courier"/>
                          <a:ea typeface="宋体"/>
                          <a:cs typeface="宋体"/>
                        </a:rPr>
                        <a:t> }</a:t>
                      </a:r>
                      <a:endParaRPr lang="zh-CN" sz="1800" b="1" kern="100" dirty="0">
                        <a:latin typeface="Calibri"/>
                        <a:ea typeface="宋体"/>
                        <a:cs typeface="Times New Roman"/>
                      </a:endParaRPr>
                    </a:p>
                    <a:p>
                      <a:pPr indent="200025" algn="l">
                        <a:spcAft>
                          <a:spcPts val="0"/>
                        </a:spcAft>
                      </a:pPr>
                      <a:r>
                        <a:rPr lang="en-US" sz="1800" b="1" kern="0" dirty="0" smtClean="0">
                          <a:solidFill>
                            <a:srgbClr val="0000FF"/>
                          </a:solidFill>
                          <a:latin typeface="Courier"/>
                          <a:ea typeface="宋体"/>
                          <a:cs typeface="宋体"/>
                        </a:rPr>
                        <a:t> return</a:t>
                      </a:r>
                      <a:r>
                        <a:rPr lang="en-US" sz="1800" b="1" kern="0" dirty="0" smtClean="0">
                          <a:latin typeface="Courier"/>
                          <a:ea typeface="宋体"/>
                          <a:cs typeface="宋体"/>
                        </a:rPr>
                        <a:t> </a:t>
                      </a:r>
                      <a:r>
                        <a:rPr lang="en-US" sz="1800" b="1" kern="0" dirty="0">
                          <a:latin typeface="Courier"/>
                          <a:ea typeface="宋体"/>
                          <a:cs typeface="宋体"/>
                        </a:rPr>
                        <a:t>H;</a:t>
                      </a:r>
                      <a:endParaRPr lang="zh-CN" sz="1800" b="1" kern="100" dirty="0">
                        <a:latin typeface="Calibri"/>
                        <a:ea typeface="宋体"/>
                        <a:cs typeface="Times New Roman"/>
                      </a:endParaRPr>
                    </a:p>
                    <a:p>
                      <a:pPr algn="l">
                        <a:spcAft>
                          <a:spcPts val="0"/>
                        </a:spcAft>
                      </a:pPr>
                      <a:r>
                        <a:rPr lang="en-US" sz="1800" b="1" kern="0" dirty="0">
                          <a:latin typeface="Courier"/>
                          <a:ea typeface="宋体"/>
                          <a:cs typeface="宋体"/>
                        </a:rPr>
                        <a:t>}</a:t>
                      </a:r>
                      <a:endParaRPr lang="zh-CN" sz="1800" b="1" kern="100" dirty="0">
                        <a:latin typeface="Calibri"/>
                        <a:ea typeface="宋体"/>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extLst>
      <p:ext uri="{BB962C8B-B14F-4D97-AF65-F5344CB8AC3E}">
        <p14:creationId xmlns:p14="http://schemas.microsoft.com/office/powerpoint/2010/main" val="1846420777"/>
      </p:ext>
    </p:extLst>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灯片编号占位符 1"/>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fld id="{E554FA50-4857-4433-8805-A339157FF2FC}" type="slidenum">
              <a:rPr lang="en-US" altLang="zh-CN" smtClean="0">
                <a:solidFill>
                  <a:srgbClr val="000000"/>
                </a:solidFill>
                <a:latin typeface="Times New Roman" pitchFamily="18" charset="0"/>
              </a:rPr>
              <a:pPr/>
              <a:t>152</a:t>
            </a:fld>
            <a:endParaRPr lang="en-US" altLang="zh-CN" smtClean="0">
              <a:solidFill>
                <a:srgbClr val="000000"/>
              </a:solidFill>
              <a:latin typeface="Times New Roman" pitchFamily="18" charset="0"/>
            </a:endParaRPr>
          </a:p>
        </p:txBody>
      </p:sp>
      <p:sp>
        <p:nvSpPr>
          <p:cNvPr id="49155" name="TextBox 3"/>
          <p:cNvSpPr txBox="1">
            <a:spLocks noChangeArrowheads="1"/>
          </p:cNvSpPr>
          <p:nvPr>
            <p:custDataLst>
              <p:tags r:id="rId2"/>
            </p:custDataLst>
          </p:nvPr>
        </p:nvSpPr>
        <p:spPr bwMode="auto">
          <a:xfrm>
            <a:off x="914400" y="635000"/>
            <a:ext cx="7315200" cy="214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800"/>
              <a:t>用线性复杂度的算法将序列</a:t>
            </a:r>
            <a:r>
              <a:rPr lang="en-US" altLang="zh-CN" sz="2800"/>
              <a:t>{10, 12, 1, 14, 6, 5, 8, 15, 3, 9, 7, 4, 11, 13, 2}</a:t>
            </a:r>
            <a:r>
              <a:rPr lang="zh-CN" altLang="en-US" sz="2800"/>
              <a:t>调整成最小堆（小顶堆）的结果是</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49156" name="TextBox 4"/>
          <p:cNvSpPr txBox="1">
            <a:spLocks noChangeArrowheads="1"/>
          </p:cNvSpPr>
          <p:nvPr>
            <p:custDataLst>
              <p:tags r:id="rId3"/>
            </p:custDataLst>
          </p:nvPr>
        </p:nvSpPr>
        <p:spPr bwMode="auto">
          <a:xfrm>
            <a:off x="1828800" y="278606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800"/>
              <a:t>1,3,2,12,6,4,8,15,14,9,7,5,11,13,10</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49157" name="TextBox 5"/>
          <p:cNvSpPr txBox="1">
            <a:spLocks noChangeArrowheads="1"/>
          </p:cNvSpPr>
          <p:nvPr>
            <p:custDataLst>
              <p:tags r:id="rId4"/>
            </p:custDataLst>
          </p:nvPr>
        </p:nvSpPr>
        <p:spPr bwMode="auto">
          <a:xfrm>
            <a:off x="1828800" y="364331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800"/>
              <a:t>1,2,3,4,5,6,7,8,9,10,11,12,13,14,15</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49158" name="TextBox 6"/>
          <p:cNvSpPr txBox="1">
            <a:spLocks noChangeArrowheads="1"/>
          </p:cNvSpPr>
          <p:nvPr>
            <p:custDataLst>
              <p:tags r:id="rId5"/>
            </p:custDataLst>
          </p:nvPr>
        </p:nvSpPr>
        <p:spPr bwMode="auto">
          <a:xfrm>
            <a:off x="1828800" y="450056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800"/>
              <a:t>1,2,3,6,7,5,4,15,14,12,9,10,11,13,8</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49159" name="TextBox 7"/>
          <p:cNvSpPr txBox="1">
            <a:spLocks noChangeArrowheads="1"/>
          </p:cNvSpPr>
          <p:nvPr>
            <p:custDataLst>
              <p:tags r:id="rId6"/>
            </p:custDataLst>
          </p:nvPr>
        </p:nvSpPr>
        <p:spPr bwMode="auto">
          <a:xfrm>
            <a:off x="1828800" y="5357813"/>
            <a:ext cx="6400800" cy="64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800"/>
              <a:t>1,3,2,6,7,5,4,15,14,12,9,10,11,13,8</a:t>
            </a:r>
            <a:endParaRPr lang="zh-CN" altLang="en-US" sz="2600">
              <a:solidFill>
                <a:srgbClr val="000000"/>
              </a:solidFill>
              <a:latin typeface="Microsoft Yahei" pitchFamily="34" charset="-122"/>
              <a:ea typeface="Microsoft Yahei" pitchFamily="34" charset="-122"/>
              <a:sym typeface="Microsoft Yahei" pitchFamily="34" charset="-122"/>
            </a:endParaRPr>
          </a:p>
        </p:txBody>
      </p:sp>
      <p:sp>
        <p:nvSpPr>
          <p:cNvPr id="49160" name="椭圆 8"/>
          <p:cNvSpPr>
            <a:spLocks noChangeAspect="1"/>
          </p:cNvSpPr>
          <p:nvPr>
            <p:custDataLst>
              <p:tags r:id="rId7"/>
            </p:custDataLst>
          </p:nvPr>
        </p:nvSpPr>
        <p:spPr bwMode="auto">
          <a:xfrm>
            <a:off x="1114425" y="2849563"/>
            <a:ext cx="514350" cy="514350"/>
          </a:xfrm>
          <a:prstGeom prst="ellipse">
            <a:avLst/>
          </a:prstGeom>
          <a:solidFill>
            <a:srgbClr val="00FF00"/>
          </a:solidFill>
          <a:ln w="254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A</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49161" name="椭圆 9"/>
          <p:cNvSpPr>
            <a:spLocks noChangeAspect="1"/>
          </p:cNvSpPr>
          <p:nvPr>
            <p:custDataLst>
              <p:tags r:id="rId8"/>
            </p:custDataLst>
          </p:nvPr>
        </p:nvSpPr>
        <p:spPr bwMode="auto">
          <a:xfrm>
            <a:off x="1114425" y="370681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B</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49162" name="椭圆 10"/>
          <p:cNvSpPr>
            <a:spLocks noChangeAspect="1"/>
          </p:cNvSpPr>
          <p:nvPr>
            <p:custDataLst>
              <p:tags r:id="rId9"/>
            </p:custDataLst>
          </p:nvPr>
        </p:nvSpPr>
        <p:spPr bwMode="auto">
          <a:xfrm>
            <a:off x="1114425" y="456406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C</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49163" name="椭圆 11"/>
          <p:cNvSpPr>
            <a:spLocks noChangeAspect="1"/>
          </p:cNvSpPr>
          <p:nvPr>
            <p:custDataLst>
              <p:tags r:id="rId10"/>
            </p:custDataLst>
          </p:nvPr>
        </p:nvSpPr>
        <p:spPr bwMode="auto">
          <a:xfrm>
            <a:off x="1114425" y="5421313"/>
            <a:ext cx="514350" cy="514350"/>
          </a:xfrm>
          <a:prstGeom prst="ellipse">
            <a:avLst/>
          </a:prstGeom>
          <a:solidFill>
            <a:srgbClr val="808080"/>
          </a:solidFill>
          <a:ln w="12700" algn="ctr">
            <a:solidFill>
              <a:srgbClr val="000000"/>
            </a:solidFill>
            <a:round/>
            <a:headEnd/>
            <a:tailEnd/>
          </a:ln>
        </p:spPr>
        <p:txBody>
          <a:bodyPr anchor="ctr" anchorCtr="1"/>
          <a:lstStyle/>
          <a:p>
            <a:pPr eaLnBrk="1" hangingPunct="1"/>
            <a:r>
              <a:rPr kumimoji="1" lang="en-US" altLang="zh-CN" sz="1600">
                <a:solidFill>
                  <a:srgbClr val="FFFFFF"/>
                </a:solidFill>
                <a:latin typeface="Microsoft Yahei" pitchFamily="34" charset="-122"/>
                <a:ea typeface="Microsoft Yahei" pitchFamily="34" charset="-122"/>
                <a:sym typeface="Microsoft Yahei" pitchFamily="34" charset="-122"/>
              </a:rPr>
              <a:t>D</a:t>
            </a:r>
            <a:endParaRPr kumimoji="1" lang="zh-CN" altLang="en-US" sz="1600">
              <a:solidFill>
                <a:srgbClr val="FFFFFF"/>
              </a:solidFill>
              <a:latin typeface="Microsoft Yahei" pitchFamily="34" charset="-122"/>
              <a:ea typeface="Microsoft Yahei" pitchFamily="34" charset="-122"/>
              <a:sym typeface="Microsoft Yahei" pitchFamily="34" charset="-122"/>
            </a:endParaRPr>
          </a:p>
        </p:txBody>
      </p:sp>
      <p:sp>
        <p:nvSpPr>
          <p:cNvPr id="49164" name="圆角矩形 12"/>
          <p:cNvSpPr>
            <a:spLocks noChangeArrowheads="1"/>
          </p:cNvSpPr>
          <p:nvPr>
            <p:custDataLst>
              <p:tags r:id="rId11"/>
            </p:custDataLst>
          </p:nvPr>
        </p:nvSpPr>
        <p:spPr bwMode="auto">
          <a:xfrm>
            <a:off x="6172200" y="6215063"/>
            <a:ext cx="1543050" cy="411162"/>
          </a:xfrm>
          <a:prstGeom prst="roundRect">
            <a:avLst>
              <a:gd name="adj" fmla="val 16667"/>
            </a:avLst>
          </a:prstGeom>
          <a:solidFill>
            <a:srgbClr val="808080"/>
          </a:solidFill>
          <a:ln w="38100" algn="ctr">
            <a:solidFill>
              <a:srgbClr val="000000"/>
            </a:solidFill>
            <a:round/>
            <a:headEnd/>
            <a:tailEnd/>
          </a:ln>
        </p:spPr>
        <p:txBody>
          <a:bodyPr anchor="ctr" anchorCtr="1"/>
          <a:lstStyle/>
          <a:p>
            <a:pPr eaLnBrk="1" hangingPunct="1"/>
            <a:r>
              <a:rPr kumimoji="1" lang="zh-CN" altLang="en-US" sz="1600">
                <a:solidFill>
                  <a:srgbClr val="FFFFFF"/>
                </a:solidFill>
                <a:latin typeface="Microsoft Yahei" pitchFamily="34" charset="-122"/>
                <a:ea typeface="Microsoft Yahei" pitchFamily="34" charset="-122"/>
                <a:sym typeface="Microsoft Yahei" pitchFamily="34" charset="-122"/>
              </a:rPr>
              <a:t>提交</a:t>
            </a:r>
          </a:p>
        </p:txBody>
      </p:sp>
      <p:grpSp>
        <p:nvGrpSpPr>
          <p:cNvPr id="49165" name="组合 17"/>
          <p:cNvGrpSpPr>
            <a:grpSpLocks/>
          </p:cNvGrpSpPr>
          <p:nvPr>
            <p:custDataLst>
              <p:tags r:id="rId12"/>
            </p:custDataLst>
          </p:nvPr>
        </p:nvGrpSpPr>
        <p:grpSpPr bwMode="auto">
          <a:xfrm>
            <a:off x="0" y="0"/>
            <a:ext cx="9144000" cy="635000"/>
            <a:chOff x="0" y="0"/>
            <a:chExt cx="9144000" cy="635000"/>
          </a:xfrm>
        </p:grpSpPr>
        <p:sp>
          <p:nvSpPr>
            <p:cNvPr id="49167" name="TitleBackground"/>
            <p:cNvSpPr>
              <a:spLocks noChangeArrowheads="1"/>
            </p:cNvSpPr>
            <p:nvPr>
              <p:custDataLst>
                <p:tags r:id="rId14"/>
              </p:custDataLst>
            </p:nvPr>
          </p:nvSpPr>
          <p:spPr bwMode="auto">
            <a:xfrm>
              <a:off x="0" y="0"/>
              <a:ext cx="9144000" cy="635000"/>
            </a:xfrm>
            <a:prstGeom prst="rect">
              <a:avLst/>
            </a:prstGeom>
            <a:solidFill>
              <a:srgbClr val="F6F7F8"/>
            </a:solidFill>
            <a:ln>
              <a:noFill/>
            </a:ln>
            <a:extLst>
              <a:ext uri="{91240B29-F687-4F45-9708-019B960494DF}">
                <a14:hiddenLine xmlns:a14="http://schemas.microsoft.com/office/drawing/2010/main" w="9525" algn="ctr">
                  <a:solidFill>
                    <a:schemeClr val="tx1"/>
                  </a:solidFill>
                  <a:round/>
                  <a:headEnd/>
                  <a:tailEnd/>
                </a14:hiddenLine>
              </a:ext>
            </a:extLst>
          </p:spPr>
          <p:txBody>
            <a:bodyPr/>
            <a:lstStyle/>
            <a:p>
              <a:pPr eaLnBrk="1" hangingPunct="1"/>
              <a:endParaRPr kumimoji="1" lang="zh-CN" altLang="en-US" sz="2400">
                <a:latin typeface="Times New Roman" pitchFamily="18" charset="0"/>
              </a:endParaRPr>
            </a:p>
          </p:txBody>
        </p:sp>
        <p:sp>
          <p:nvSpPr>
            <p:cNvPr id="49168" name="ColorBlock"/>
            <p:cNvSpPr>
              <a:spLocks noChangeArrowheads="1"/>
            </p:cNvSpPr>
            <p:nvPr>
              <p:custDataLst>
                <p:tags r:id="rId15"/>
              </p:custDataLst>
            </p:nvPr>
          </p:nvSpPr>
          <p:spPr bwMode="auto">
            <a:xfrm>
              <a:off x="0" y="0"/>
              <a:ext cx="190500" cy="635000"/>
            </a:xfrm>
            <a:prstGeom prst="rect">
              <a:avLst/>
            </a:prstGeom>
            <a:solidFill>
              <a:srgbClr val="639EF4"/>
            </a:solidFill>
            <a:ln>
              <a:noFill/>
            </a:ln>
            <a:extLst>
              <a:ext uri="{91240B29-F687-4F45-9708-019B960494DF}">
                <a14:hiddenLine xmlns:a14="http://schemas.microsoft.com/office/drawing/2010/main" w="9525" algn="ctr">
                  <a:solidFill>
                    <a:schemeClr val="tx1"/>
                  </a:solidFill>
                  <a:round/>
                  <a:headEnd/>
                  <a:tailEnd/>
                </a14:hiddenLine>
              </a:ext>
            </a:extLst>
          </p:spPr>
          <p:txBody>
            <a:bodyPr/>
            <a:lstStyle/>
            <a:p>
              <a:pPr eaLnBrk="1" hangingPunct="1"/>
              <a:endParaRPr kumimoji="1" lang="zh-CN" altLang="en-US" sz="2400">
                <a:latin typeface="Times New Roman" pitchFamily="18" charset="0"/>
              </a:endParaRPr>
            </a:p>
          </p:txBody>
        </p:sp>
        <p:sp>
          <p:nvSpPr>
            <p:cNvPr id="49169" name="TypeText"/>
            <p:cNvSpPr txBox="1">
              <a:spLocks noChangeArrowheads="1"/>
            </p:cNvSpPr>
            <p:nvPr>
              <p:custDataLst>
                <p:tags r:id="rId16"/>
              </p:custDataLst>
            </p:nvPr>
          </p:nvSpPr>
          <p:spPr bwMode="auto">
            <a:xfrm>
              <a:off x="254000" y="0"/>
              <a:ext cx="190500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zh-CN" altLang="en-US" sz="2600">
                  <a:solidFill>
                    <a:srgbClr val="000000"/>
                  </a:solidFill>
                  <a:latin typeface="Microsoft Yahei" pitchFamily="34" charset="-122"/>
                  <a:ea typeface="Microsoft Yahei" pitchFamily="34" charset="-122"/>
                  <a:sym typeface="Microsoft Yahei" pitchFamily="34" charset="-122"/>
                </a:rPr>
                <a:t>单选题</a:t>
              </a:r>
            </a:p>
          </p:txBody>
        </p:sp>
        <p:sp>
          <p:nvSpPr>
            <p:cNvPr id="49170" name="TipText"/>
            <p:cNvSpPr txBox="1">
              <a:spLocks noChangeArrowheads="1"/>
            </p:cNvSpPr>
            <p:nvPr>
              <p:custDataLst>
                <p:tags r:id="rId17"/>
              </p:custDataLst>
            </p:nvPr>
          </p:nvSpPr>
          <p:spPr bwMode="auto">
            <a:xfrm>
              <a:off x="1525905" y="109220"/>
              <a:ext cx="22860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r>
                <a:rPr lang="en-US" altLang="zh-CN" sz="2000">
                  <a:solidFill>
                    <a:srgbClr val="808080"/>
                  </a:solidFill>
                  <a:latin typeface="Microsoft Yahei" pitchFamily="34" charset="-122"/>
                  <a:ea typeface="Microsoft Yahei" pitchFamily="34" charset="-122"/>
                  <a:sym typeface="Microsoft Yahei" pitchFamily="34" charset="-122"/>
                </a:rPr>
                <a:t>1</a:t>
              </a:r>
              <a:r>
                <a:rPr lang="zh-CN" altLang="en-US" sz="2000">
                  <a:solidFill>
                    <a:srgbClr val="808080"/>
                  </a:solidFill>
                  <a:latin typeface="Microsoft Yahei" pitchFamily="34" charset="-122"/>
                  <a:ea typeface="Microsoft Yahei" pitchFamily="34" charset="-122"/>
                  <a:sym typeface="Microsoft Yahei" pitchFamily="34" charset="-122"/>
                </a:rPr>
                <a:t>分</a:t>
              </a:r>
            </a:p>
          </p:txBody>
        </p:sp>
      </p:grpSp>
      <p:pic>
        <p:nvPicPr>
          <p:cNvPr id="49166" name="图片 2"/>
          <p:cNvPicPr>
            <a:picLocks/>
          </p:cNvPicPr>
          <p:nvPr>
            <p:custDataLst>
              <p:tags r:id="rId13"/>
            </p:custDataLst>
          </p:nvPr>
        </p:nvPicPr>
        <p:blipFill>
          <a:blip r:embed="rId19">
            <a:extLst>
              <a:ext uri="{28A0092B-C50C-407E-A947-70E740481C1C}">
                <a14:useLocalDpi xmlns:a14="http://schemas.microsoft.com/office/drawing/2010/main" val="0"/>
              </a:ext>
            </a:extLst>
          </a:blip>
          <a:srcRect/>
          <a:stretch>
            <a:fillRect/>
          </a:stretch>
        </p:blipFill>
        <p:spPr bwMode="auto">
          <a:xfrm>
            <a:off x="7594600" y="63500"/>
            <a:ext cx="14224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2731932797"/>
      </p:ext>
    </p:extLst>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90114" name="Picture 9" descr="@~X3FO03[CME)(U@Q`UK%ZK"/>
          <p:cNvPicPr>
            <a:picLocks noChangeAspect="1"/>
          </p:cNvPicPr>
          <p:nvPr/>
        </p:nvPicPr>
        <p:blipFill>
          <a:blip r:embed="rId2"/>
          <a:stretch>
            <a:fillRect/>
          </a:stretch>
        </p:blipFill>
        <p:spPr>
          <a:xfrm>
            <a:off x="433388" y="4492625"/>
            <a:ext cx="7242175" cy="785813"/>
          </a:xfrm>
          <a:prstGeom prst="rect">
            <a:avLst/>
          </a:prstGeom>
          <a:noFill/>
          <a:ln w="9525">
            <a:noFill/>
          </a:ln>
        </p:spPr>
      </p:pic>
      <p:pic>
        <p:nvPicPr>
          <p:cNvPr id="90115" name="Picture 10" descr="`L@[6I`3T2YU{)O9Y}R8XYX"/>
          <p:cNvPicPr>
            <a:picLocks noChangeAspect="1"/>
          </p:cNvPicPr>
          <p:nvPr/>
        </p:nvPicPr>
        <p:blipFill>
          <a:blip r:embed="rId3"/>
          <a:stretch>
            <a:fillRect/>
          </a:stretch>
        </p:blipFill>
        <p:spPr>
          <a:xfrm>
            <a:off x="5508625" y="1484313"/>
            <a:ext cx="3346450" cy="2165350"/>
          </a:xfrm>
          <a:prstGeom prst="rect">
            <a:avLst/>
          </a:prstGeom>
          <a:noFill/>
          <a:ln w="9525">
            <a:noFill/>
          </a:ln>
        </p:spPr>
      </p:pic>
      <p:sp>
        <p:nvSpPr>
          <p:cNvPr id="953355" name="Rectangle 11"/>
          <p:cNvSpPr>
            <a:spLocks noChangeArrowheads="1"/>
          </p:cNvSpPr>
          <p:nvPr/>
        </p:nvSpPr>
        <p:spPr bwMode="auto">
          <a:xfrm>
            <a:off x="250825" y="1484313"/>
            <a:ext cx="5148263" cy="2165350"/>
          </a:xfrm>
          <a:prstGeom prst="roundRect">
            <a:avLst>
              <a:gd name="adj" fmla="val 9629"/>
            </a:avLst>
          </a:prstGeom>
          <a:solidFill>
            <a:srgbClr val="EBEBEB"/>
          </a:solidFill>
          <a:ln w="9525">
            <a:noFill/>
            <a:miter lim="800000"/>
          </a:ln>
          <a:effectLst/>
        </p:spPr>
        <p:txBody>
          <a:bodyPr lIns="0" anchor="ctr"/>
          <a:lstStyle/>
          <a:p>
            <a:pPr marL="720090" marR="0" lvl="1" indent="-457200" algn="just" defTabSz="914400" rtl="0" eaLnBrk="0" fontAlgn="base" latinLnBrk="0" hangingPunct="0">
              <a:lnSpc>
                <a:spcPct val="125000"/>
              </a:lnSpc>
              <a:spcBef>
                <a:spcPct val="20000"/>
              </a:spcBef>
              <a:spcAft>
                <a:spcPct val="0"/>
              </a:spcAft>
              <a:buClr>
                <a:srgbClr val="FF3300"/>
              </a:buClr>
              <a:buSzTx/>
              <a:buFont typeface="Wingdings" panose="05000000000000000000" pitchFamily="2" charset="2"/>
              <a:buChar char=""/>
              <a:defRPr/>
            </a:pP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游戏</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中主角的生命值</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d</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，有这样的条件判定：当怪物碰到主角后，</a:t>
            </a: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怪物的反应</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遵从下规则 </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p>
        </p:txBody>
      </p:sp>
      <p:sp>
        <p:nvSpPr>
          <p:cNvPr id="86021" name="AutoShape 12"/>
          <p:cNvSpPr>
            <a:spLocks noChangeArrowheads="1"/>
          </p:cNvSpPr>
          <p:nvPr/>
        </p:nvSpPr>
        <p:spPr bwMode="auto">
          <a:xfrm>
            <a:off x="2627313" y="3700463"/>
            <a:ext cx="288925" cy="808038"/>
          </a:xfrm>
          <a:prstGeom prst="downArrow">
            <a:avLst>
              <a:gd name="adj1" fmla="val 50000"/>
              <a:gd name="adj2" fmla="val 69892"/>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6022" name="Rectangle 58"/>
          <p:cNvSpPr>
            <a:spLocks noChangeArrowheads="1"/>
          </p:cNvSpPr>
          <p:nvPr/>
        </p:nvSpPr>
        <p:spPr bwMode="auto">
          <a:xfrm>
            <a:off x="900113" y="134938"/>
            <a:ext cx="677545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哈夫曼树及其应用</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59492" name="Text Box 4"/>
          <p:cNvSpPr txBox="1">
            <a:spLocks noChangeArrowheads="1"/>
          </p:cNvSpPr>
          <p:nvPr/>
        </p:nvSpPr>
        <p:spPr bwMode="auto">
          <a:xfrm>
            <a:off x="227013" y="3179763"/>
            <a:ext cx="8728075" cy="2786063"/>
          </a:xfrm>
          <a:prstGeom prst="rect">
            <a:avLst/>
          </a:prstGeom>
          <a:solidFill>
            <a:schemeClr val="accent1">
              <a:lumMod val="20000"/>
              <a:lumOff val="80000"/>
            </a:schemeClr>
          </a:solidFill>
          <a:ln w="38100">
            <a:solidFill>
              <a:schemeClr val="accent2"/>
            </a:solidFill>
            <a:miter lim="800000"/>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5000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if(d&lt;100) state=</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嘲笑，单挑</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b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else if(d&lt;200) state=</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单挑</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b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else if(d&lt;300) state=</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嗜血魔法</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b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else if(d&lt;500) state=</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呼唤同伴</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b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else state=</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逃跑</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a:t>
            </a:r>
          </a:p>
        </p:txBody>
      </p:sp>
      <p:sp>
        <p:nvSpPr>
          <p:cNvPr id="87043" name="AutoShape 8"/>
          <p:cNvSpPr>
            <a:spLocks noChangeArrowheads="1"/>
          </p:cNvSpPr>
          <p:nvPr/>
        </p:nvSpPr>
        <p:spPr bwMode="auto">
          <a:xfrm>
            <a:off x="3756025" y="2371725"/>
            <a:ext cx="288925" cy="808038"/>
          </a:xfrm>
          <a:prstGeom prst="downArrow">
            <a:avLst>
              <a:gd name="adj1" fmla="val 50000"/>
              <a:gd name="adj2" fmla="val 69892"/>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pic>
        <p:nvPicPr>
          <p:cNvPr id="91140" name="Picture 9" descr="`L@[6I`3T2YU{)O9Y}R8XYX"/>
          <p:cNvPicPr>
            <a:picLocks noChangeAspect="1"/>
          </p:cNvPicPr>
          <p:nvPr/>
        </p:nvPicPr>
        <p:blipFill>
          <a:blip r:embed="rId2"/>
          <a:stretch>
            <a:fillRect/>
          </a:stretch>
        </p:blipFill>
        <p:spPr>
          <a:xfrm>
            <a:off x="7281863" y="1625600"/>
            <a:ext cx="1673225" cy="1082675"/>
          </a:xfrm>
          <a:prstGeom prst="rect">
            <a:avLst/>
          </a:prstGeom>
          <a:noFill/>
          <a:ln w="9525">
            <a:noFill/>
          </a:ln>
        </p:spPr>
      </p:pic>
      <p:pic>
        <p:nvPicPr>
          <p:cNvPr id="91141" name="Picture 10" descr="datastruct_1"/>
          <p:cNvPicPr>
            <a:picLocks noChangeAspect="1"/>
          </p:cNvPicPr>
          <p:nvPr/>
        </p:nvPicPr>
        <p:blipFill>
          <a:blip r:embed="rId3"/>
          <a:stretch>
            <a:fillRect/>
          </a:stretch>
        </p:blipFill>
        <p:spPr>
          <a:xfrm>
            <a:off x="227013" y="1504950"/>
            <a:ext cx="7056437" cy="989013"/>
          </a:xfrm>
          <a:prstGeom prst="rect">
            <a:avLst/>
          </a:prstGeom>
          <a:noFill/>
          <a:ln w="9525">
            <a:noFill/>
          </a:ln>
        </p:spPr>
      </p:pic>
      <p:sp>
        <p:nvSpPr>
          <p:cNvPr id="6" name="Rectangle 58"/>
          <p:cNvSpPr>
            <a:spLocks noChangeArrowheads="1"/>
          </p:cNvSpPr>
          <p:nvPr/>
        </p:nvSpPr>
        <p:spPr bwMode="auto">
          <a:xfrm>
            <a:off x="900113" y="134938"/>
            <a:ext cx="677545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哈夫曼树及其应用</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959492"/>
                                        </p:tgtEl>
                                        <p:attrNameLst>
                                          <p:attrName>style.visibility</p:attrName>
                                        </p:attrNameLst>
                                      </p:cBhvr>
                                      <p:to>
                                        <p:strVal val="visible"/>
                                      </p:to>
                                    </p:set>
                                    <p:animEffect transition="in" filter="box(in)">
                                      <p:cBhvr>
                                        <p:cTn id="7" dur="500"/>
                                        <p:tgtEl>
                                          <p:spTgt spid="959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9492" grpId="0" animBg="1"/>
    </p:bldLst>
  </p:timing>
</p:sld>
</file>

<file path=ppt/slides/slide15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60516" name="Rectangle 4"/>
          <p:cNvSpPr>
            <a:spLocks noChangeArrowheads="1"/>
          </p:cNvSpPr>
          <p:nvPr/>
        </p:nvSpPr>
        <p:spPr bwMode="auto">
          <a:xfrm>
            <a:off x="142875" y="1412875"/>
            <a:ext cx="5148263" cy="3384550"/>
          </a:xfrm>
          <a:prstGeom prst="roundRect">
            <a:avLst>
              <a:gd name="adj" fmla="val 5785"/>
            </a:avLst>
          </a:prstGeom>
          <a:solidFill>
            <a:schemeClr val="accent1">
              <a:lumMod val="20000"/>
              <a:lumOff val="80000"/>
            </a:schemeClr>
          </a:solidFill>
          <a:ln w="9525">
            <a:noFill/>
            <a:miter lim="800000"/>
          </a:ln>
          <a:effectLst/>
        </p:spPr>
        <p:txBody>
          <a:bodyPr lIns="0"/>
          <a:lstStyle/>
          <a:p>
            <a:pPr marL="720090" marR="0" lvl="1" indent="-457200" algn="just" defTabSz="914400" rtl="0" eaLnBrk="0" fontAlgn="base" latinLnBrk="0" hangingPunct="0">
              <a:lnSpc>
                <a:spcPct val="125000"/>
              </a:lnSpc>
              <a:spcBef>
                <a:spcPct val="20000"/>
              </a:spcBef>
              <a:spcAft>
                <a:spcPct val="0"/>
              </a:spcAft>
              <a:buClr>
                <a:srgbClr val="FF3300"/>
              </a:buClr>
              <a:buSzTx/>
              <a:buFont typeface="Wingdings" panose="05000000000000000000" pitchFamily="2" charset="2"/>
              <a:buChar char=""/>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分析主角生命值</a:t>
            </a: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d</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的特点，即预测出每种条件占总条件的</a:t>
            </a: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百分比</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，将这些比值作为权值来构造最优二叉树（</a:t>
            </a: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哈夫曼树</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），作为判定树来设定算法。 </a:t>
            </a:r>
          </a:p>
        </p:txBody>
      </p:sp>
      <p:pic>
        <p:nvPicPr>
          <p:cNvPr id="92163" name="Picture 5" descr="`L@[6I`3T2YU{)O9Y}R8XYX"/>
          <p:cNvPicPr>
            <a:picLocks noChangeAspect="1"/>
          </p:cNvPicPr>
          <p:nvPr/>
        </p:nvPicPr>
        <p:blipFill>
          <a:blip r:embed="rId2"/>
          <a:stretch>
            <a:fillRect/>
          </a:stretch>
        </p:blipFill>
        <p:spPr>
          <a:xfrm>
            <a:off x="6119813" y="1412875"/>
            <a:ext cx="2844800" cy="1841500"/>
          </a:xfrm>
          <a:prstGeom prst="rect">
            <a:avLst/>
          </a:prstGeom>
          <a:noFill/>
          <a:ln w="9525">
            <a:noFill/>
          </a:ln>
        </p:spPr>
      </p:pic>
      <p:pic>
        <p:nvPicPr>
          <p:cNvPr id="92164" name="Picture 6" descr="datastruct_2"/>
          <p:cNvPicPr>
            <a:picLocks noChangeAspect="1"/>
          </p:cNvPicPr>
          <p:nvPr/>
        </p:nvPicPr>
        <p:blipFill>
          <a:blip r:embed="rId3"/>
          <a:stretch>
            <a:fillRect/>
          </a:stretch>
        </p:blipFill>
        <p:spPr>
          <a:xfrm>
            <a:off x="71438" y="4960938"/>
            <a:ext cx="9001125" cy="1062037"/>
          </a:xfrm>
          <a:prstGeom prst="rect">
            <a:avLst/>
          </a:prstGeom>
          <a:noFill/>
          <a:ln w="9525">
            <a:noFill/>
          </a:ln>
        </p:spPr>
      </p:pic>
      <p:sp>
        <p:nvSpPr>
          <p:cNvPr id="88069" name="AutoShape 8"/>
          <p:cNvSpPr>
            <a:spLocks noChangeArrowheads="1"/>
          </p:cNvSpPr>
          <p:nvPr/>
        </p:nvSpPr>
        <p:spPr bwMode="auto">
          <a:xfrm>
            <a:off x="5472113" y="3117850"/>
            <a:ext cx="647700" cy="1824038"/>
          </a:xfrm>
          <a:prstGeom prst="curvedLeftArrow">
            <a:avLst>
              <a:gd name="adj1" fmla="val 29507"/>
              <a:gd name="adj2" fmla="val 59014"/>
              <a:gd name="adj3" fmla="val 33324"/>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8070" name="Rectangle 9"/>
          <p:cNvSpPr>
            <a:spLocks noChangeArrowheads="1"/>
          </p:cNvSpPr>
          <p:nvPr/>
        </p:nvSpPr>
        <p:spPr bwMode="auto">
          <a:xfrm>
            <a:off x="6119813" y="4294188"/>
            <a:ext cx="2844800" cy="503238"/>
          </a:xfrm>
          <a:prstGeom prst="roundRect">
            <a:avLst>
              <a:gd name="adj" fmla="val 50000"/>
            </a:avLst>
          </a:prstGeom>
          <a:solidFill>
            <a:schemeClr val="accent1">
              <a:lumMod val="20000"/>
              <a:lumOff val="80000"/>
            </a:schemeClr>
          </a:solidFill>
          <a:ln>
            <a:noFill/>
          </a:ln>
        </p:spPr>
        <p:txBody>
          <a:bodyPr lIns="0" tIns="0" rIns="0" bIns="0"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提高效率</a:t>
            </a:r>
          </a:p>
        </p:txBody>
      </p:sp>
      <p:sp>
        <p:nvSpPr>
          <p:cNvPr id="7" name="Rectangle 58"/>
          <p:cNvSpPr>
            <a:spLocks noChangeArrowheads="1"/>
          </p:cNvSpPr>
          <p:nvPr/>
        </p:nvSpPr>
        <p:spPr bwMode="auto">
          <a:xfrm>
            <a:off x="900113" y="134938"/>
            <a:ext cx="677545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哈夫曼树及其应用</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15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93186" name="Picture 16" descr="datastruct_2"/>
          <p:cNvPicPr>
            <a:picLocks noChangeAspect="1"/>
          </p:cNvPicPr>
          <p:nvPr/>
        </p:nvPicPr>
        <p:blipFill>
          <a:blip r:embed="rId2"/>
          <a:stretch>
            <a:fillRect/>
          </a:stretch>
        </p:blipFill>
        <p:spPr>
          <a:xfrm>
            <a:off x="184150" y="908050"/>
            <a:ext cx="8839200" cy="977900"/>
          </a:xfrm>
          <a:prstGeom prst="rect">
            <a:avLst/>
          </a:prstGeom>
          <a:noFill/>
          <a:ln w="9525">
            <a:noFill/>
          </a:ln>
        </p:spPr>
      </p:pic>
      <p:sp>
        <p:nvSpPr>
          <p:cNvPr id="89092" name="AutoShape 17"/>
          <p:cNvSpPr>
            <a:spLocks noChangeArrowheads="1"/>
          </p:cNvSpPr>
          <p:nvPr/>
        </p:nvSpPr>
        <p:spPr bwMode="auto">
          <a:xfrm>
            <a:off x="1565275" y="2195513"/>
            <a:ext cx="288925" cy="808038"/>
          </a:xfrm>
          <a:prstGeom prst="downArrow">
            <a:avLst>
              <a:gd name="adj1" fmla="val 50000"/>
              <a:gd name="adj2" fmla="val 69892"/>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93188" name="组合 3"/>
          <p:cNvGrpSpPr/>
          <p:nvPr/>
        </p:nvGrpSpPr>
        <p:grpSpPr>
          <a:xfrm>
            <a:off x="165100" y="3386138"/>
            <a:ext cx="3675063" cy="3041650"/>
            <a:chOff x="107949" y="2893466"/>
            <a:chExt cx="5645253" cy="3297238"/>
          </a:xfrm>
        </p:grpSpPr>
        <p:pic>
          <p:nvPicPr>
            <p:cNvPr id="93196" name="Picture 15"/>
            <p:cNvPicPr>
              <a:picLocks noChangeAspect="1"/>
            </p:cNvPicPr>
            <p:nvPr/>
          </p:nvPicPr>
          <p:blipFill>
            <a:blip r:embed="rId3"/>
            <a:stretch>
              <a:fillRect/>
            </a:stretch>
          </p:blipFill>
          <p:spPr>
            <a:xfrm>
              <a:off x="107949" y="2893466"/>
              <a:ext cx="5645253" cy="3297238"/>
            </a:xfrm>
            <a:prstGeom prst="rect">
              <a:avLst/>
            </a:prstGeom>
            <a:noFill/>
            <a:ln w="9525" cap="flat" cmpd="sng">
              <a:solidFill>
                <a:srgbClr val="000000"/>
              </a:solidFill>
              <a:prstDash val="solid"/>
              <a:miter/>
              <a:headEnd type="none" w="med" len="med"/>
              <a:tailEnd type="none" w="med" len="med"/>
            </a:ln>
          </p:spPr>
        </p:pic>
        <p:sp>
          <p:nvSpPr>
            <p:cNvPr id="89099" name="Oval 24"/>
            <p:cNvSpPr>
              <a:spLocks noChangeArrowheads="1"/>
            </p:cNvSpPr>
            <p:nvPr/>
          </p:nvSpPr>
          <p:spPr bwMode="auto">
            <a:xfrm>
              <a:off x="1251632" y="5636575"/>
              <a:ext cx="609638" cy="457759"/>
            </a:xfrm>
            <a:prstGeom prst="ellipse">
              <a:avLst/>
            </a:pr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9100" name="Oval 25"/>
            <p:cNvSpPr>
              <a:spLocks noChangeArrowheads="1"/>
            </p:cNvSpPr>
            <p:nvPr/>
          </p:nvSpPr>
          <p:spPr bwMode="auto">
            <a:xfrm>
              <a:off x="1997829" y="5670993"/>
              <a:ext cx="609638" cy="456037"/>
            </a:xfrm>
            <a:prstGeom prst="ellipse">
              <a:avLst/>
            </a:pr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9101" name="Oval 26"/>
            <p:cNvSpPr>
              <a:spLocks noChangeArrowheads="1"/>
            </p:cNvSpPr>
            <p:nvPr/>
          </p:nvSpPr>
          <p:spPr bwMode="auto">
            <a:xfrm>
              <a:off x="2375804" y="4951658"/>
              <a:ext cx="609638" cy="456037"/>
            </a:xfrm>
            <a:prstGeom prst="ellipse">
              <a:avLst/>
            </a:pr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9102" name="Oval 27"/>
            <p:cNvSpPr>
              <a:spLocks noChangeArrowheads="1"/>
            </p:cNvSpPr>
            <p:nvPr/>
          </p:nvSpPr>
          <p:spPr bwMode="auto">
            <a:xfrm>
              <a:off x="2785481" y="4230602"/>
              <a:ext cx="609638" cy="457759"/>
            </a:xfrm>
            <a:prstGeom prst="ellipse">
              <a:avLst/>
            </a:pr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89103" name="Oval 28"/>
            <p:cNvSpPr>
              <a:spLocks noChangeArrowheads="1"/>
            </p:cNvSpPr>
            <p:nvPr/>
          </p:nvSpPr>
          <p:spPr bwMode="auto">
            <a:xfrm>
              <a:off x="3134195" y="3545685"/>
              <a:ext cx="609638" cy="457759"/>
            </a:xfrm>
            <a:prstGeom prst="ellipse">
              <a:avLst/>
            </a:prstGeom>
            <a:noFill/>
            <a:ln w="28575">
              <a:solidFill>
                <a:srgbClr val="FF0000"/>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6" name="Rectangle 58"/>
          <p:cNvSpPr>
            <a:spLocks noChangeArrowheads="1"/>
          </p:cNvSpPr>
          <p:nvPr/>
        </p:nvSpPr>
        <p:spPr bwMode="auto">
          <a:xfrm>
            <a:off x="900113" y="134938"/>
            <a:ext cx="677545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哈夫曼树及其应用</a:t>
            </a:r>
          </a:p>
        </p:txBody>
      </p:sp>
      <p:grpSp>
        <p:nvGrpSpPr>
          <p:cNvPr id="2" name="Group 18"/>
          <p:cNvGrpSpPr/>
          <p:nvPr/>
        </p:nvGrpSpPr>
        <p:grpSpPr>
          <a:xfrm>
            <a:off x="2979738" y="2011363"/>
            <a:ext cx="6042025" cy="2093912"/>
            <a:chOff x="1810" y="1138"/>
            <a:chExt cx="3806" cy="1319"/>
          </a:xfrm>
        </p:grpSpPr>
        <p:sp>
          <p:nvSpPr>
            <p:cNvPr id="89094" name="Text Box 19"/>
            <p:cNvSpPr txBox="1">
              <a:spLocks noChangeArrowheads="1"/>
            </p:cNvSpPr>
            <p:nvPr/>
          </p:nvSpPr>
          <p:spPr bwMode="auto">
            <a:xfrm>
              <a:off x="2395" y="1138"/>
              <a:ext cx="3221" cy="1319"/>
            </a:xfrm>
            <a:prstGeom prst="roundRect">
              <a:avLst>
                <a:gd name="adj" fmla="val 6418"/>
              </a:avLst>
            </a:prstGeom>
            <a:solidFill>
              <a:srgbClr val="EBEBEB"/>
            </a:solidFill>
            <a:ln w="38100">
              <a:noFill/>
              <a:miter lim="800000"/>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if(d&gt;=200)&amp;&amp;(d&lt;300) state=</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嗜血魔法</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b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else if(d&gt;=300)&amp;&amp;(d&lt;500) state=</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呼唤同伴</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b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else if(d&gt;=100)&amp;&amp;(d&lt;200) state=</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单挑</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b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else if(d&lt;100) state=</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嘲笑，单挑</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b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else state=</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逃跑</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p>
          </p:txBody>
        </p:sp>
        <p:sp>
          <p:nvSpPr>
            <p:cNvPr id="89095" name="AutoShape 20"/>
            <p:cNvSpPr>
              <a:spLocks noChangeArrowheads="1"/>
            </p:cNvSpPr>
            <p:nvPr/>
          </p:nvSpPr>
          <p:spPr bwMode="auto">
            <a:xfrm rot="16597063">
              <a:off x="1749" y="1468"/>
              <a:ext cx="464" cy="341"/>
            </a:xfrm>
            <a:prstGeom prst="curvedDownArrow">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3" name="Group 21"/>
          <p:cNvGrpSpPr/>
          <p:nvPr/>
        </p:nvGrpSpPr>
        <p:grpSpPr>
          <a:xfrm>
            <a:off x="3910013" y="4017963"/>
            <a:ext cx="5113337" cy="2409825"/>
            <a:chOff x="2418" y="2127"/>
            <a:chExt cx="3221" cy="1518"/>
          </a:xfrm>
        </p:grpSpPr>
        <p:sp>
          <p:nvSpPr>
            <p:cNvPr id="89097" name="Text Box 22"/>
            <p:cNvSpPr txBox="1">
              <a:spLocks noChangeArrowheads="1"/>
            </p:cNvSpPr>
            <p:nvPr/>
          </p:nvSpPr>
          <p:spPr bwMode="auto">
            <a:xfrm>
              <a:off x="2418" y="2326"/>
              <a:ext cx="3221" cy="1319"/>
            </a:xfrm>
            <a:prstGeom prst="roundRect">
              <a:avLst>
                <a:gd name="adj" fmla="val 6987"/>
              </a:avLst>
            </a:prstGeom>
            <a:solidFill>
              <a:srgbClr val="E2D9EB"/>
            </a:solidFill>
            <a:ln w="38100">
              <a:noFill/>
              <a:miter lim="800000"/>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if(d&lt;100) state=</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嘲笑，单挑</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b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else if(d&lt;200) state=</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单挑</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b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else if(d&lt;300) state=</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嗜血魔法</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b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else if(d&lt;500) state=</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呼唤同伴</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b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b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else state=</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逃跑</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p>
          </p:txBody>
        </p:sp>
        <p:sp>
          <p:nvSpPr>
            <p:cNvPr id="89098" name="AutoShape 23"/>
            <p:cNvSpPr>
              <a:spLocks noChangeArrowheads="1"/>
            </p:cNvSpPr>
            <p:nvPr/>
          </p:nvSpPr>
          <p:spPr bwMode="auto">
            <a:xfrm>
              <a:off x="3924" y="2127"/>
              <a:ext cx="182" cy="311"/>
            </a:xfrm>
            <a:prstGeom prst="upArrow">
              <a:avLst>
                <a:gd name="adj1" fmla="val 50000"/>
                <a:gd name="adj2" fmla="val 54925"/>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box(in)">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9330" name="圆角矩形 1"/>
          <p:cNvSpPr/>
          <p:nvPr/>
        </p:nvSpPr>
        <p:spPr>
          <a:xfrm>
            <a:off x="457200" y="2471738"/>
            <a:ext cx="8223250" cy="3384550"/>
          </a:xfrm>
          <a:prstGeom prst="roundRect">
            <a:avLst>
              <a:gd name="adj" fmla="val 5032"/>
            </a:avLst>
          </a:prstGeom>
          <a:solidFill>
            <a:srgbClr val="E2D9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90114" name="Text Box 2"/>
          <p:cNvSpPr txBox="1">
            <a:spLocks noChangeArrowheads="1"/>
          </p:cNvSpPr>
          <p:nvPr/>
        </p:nvSpPr>
        <p:spPr bwMode="auto">
          <a:xfrm>
            <a:off x="457200" y="1052513"/>
            <a:ext cx="8223250" cy="1254125"/>
          </a:xfrm>
          <a:prstGeom prst="roundRect">
            <a:avLst>
              <a:gd name="adj" fmla="val 11600"/>
            </a:avLst>
          </a:prstGeom>
          <a:solidFill>
            <a:srgbClr val="EBEBEB"/>
          </a:solidFill>
          <a:ln w="38100">
            <a:noFill/>
            <a:miter lim="800000"/>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30000"/>
              </a:lnSpc>
              <a:spcBef>
                <a:spcPct val="20000"/>
              </a:spcBef>
              <a:spcAft>
                <a:spcPct val="0"/>
              </a:spcAft>
              <a:buClrTx/>
              <a:buSzTx/>
              <a:buFont typeface="Wingdings" panose="05000000000000000000" pitchFamily="2" charset="2"/>
              <a:buNone/>
              <a:defRPr/>
            </a:pP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在远程通讯中，要将待传字符转换成二进制的字符串，怎样编码才能使它们组成的报文在网络中传得最快？</a:t>
            </a:r>
          </a:p>
        </p:txBody>
      </p:sp>
      <p:graphicFrame>
        <p:nvGraphicFramePr>
          <p:cNvPr id="954371" name="Object 3"/>
          <p:cNvGraphicFramePr/>
          <p:nvPr/>
        </p:nvGraphicFramePr>
        <p:xfrm>
          <a:off x="709613" y="2870200"/>
          <a:ext cx="1957387" cy="1957388"/>
        </p:xfrm>
        <a:graphic>
          <a:graphicData uri="http://schemas.openxmlformats.org/presentationml/2006/ole">
            <mc:AlternateContent xmlns:mc="http://schemas.openxmlformats.org/markup-compatibility/2006">
              <mc:Choice xmlns:v="urn:schemas-microsoft-com:vml" Requires="v">
                <p:oleObj spid="_x0000_s15411" r:id="rId3" imgW="1475740" imgH="1475740" progId="Visio.Drawing.5">
                  <p:embed/>
                </p:oleObj>
              </mc:Choice>
              <mc:Fallback>
                <p:oleObj r:id="rId3" imgW="1475740" imgH="1475740" progId="Visio.Drawing.5">
                  <p:embed/>
                  <p:pic>
                    <p:nvPicPr>
                      <p:cNvPr id="0" name="图片 3099"/>
                      <p:cNvPicPr/>
                      <p:nvPr/>
                    </p:nvPicPr>
                    <p:blipFill>
                      <a:blip r:embed="rId4"/>
                      <a:stretch>
                        <a:fillRect/>
                      </a:stretch>
                    </p:blipFill>
                    <p:spPr>
                      <a:xfrm>
                        <a:off x="709613" y="2870200"/>
                        <a:ext cx="1957387" cy="1957388"/>
                      </a:xfrm>
                      <a:prstGeom prst="rect">
                        <a:avLst/>
                      </a:prstGeom>
                      <a:noFill/>
                      <a:ln w="38100">
                        <a:noFill/>
                        <a:miter/>
                      </a:ln>
                    </p:spPr>
                  </p:pic>
                </p:oleObj>
              </mc:Fallback>
            </mc:AlternateContent>
          </a:graphicData>
        </a:graphic>
      </p:graphicFrame>
      <p:sp>
        <p:nvSpPr>
          <p:cNvPr id="954372" name="Text Box 4"/>
          <p:cNvSpPr txBox="1">
            <a:spLocks noChangeArrowheads="1"/>
          </p:cNvSpPr>
          <p:nvPr/>
        </p:nvSpPr>
        <p:spPr bwMode="auto">
          <a:xfrm>
            <a:off x="3200400" y="3227388"/>
            <a:ext cx="2971800" cy="76200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4400" b="0" i="0" u="none" strike="noStrike" kern="1200" cap="none" spc="0" normalizeH="0" baseline="0" noProof="0" dirty="0">
                <a:ln>
                  <a:noFill/>
                </a:ln>
                <a:solidFill>
                  <a:schemeClr val="bg1"/>
                </a:solidFill>
                <a:effectLst/>
                <a:uLnTx/>
                <a:uFillTx/>
                <a:latin typeface="+mn-lt"/>
                <a:ea typeface="+mn-ea"/>
                <a:cs typeface="+mn-ea"/>
                <a:sym typeface="+mn-lt"/>
              </a:rPr>
              <a:t>ABACCDA</a:t>
            </a:r>
          </a:p>
        </p:txBody>
      </p:sp>
      <p:sp>
        <p:nvSpPr>
          <p:cNvPr id="954373" name="Text Box 5"/>
          <p:cNvSpPr txBox="1">
            <a:spLocks noChangeArrowheads="1"/>
          </p:cNvSpPr>
          <p:nvPr/>
        </p:nvSpPr>
        <p:spPr bwMode="auto">
          <a:xfrm>
            <a:off x="736600" y="5062538"/>
            <a:ext cx="2851150" cy="519113"/>
          </a:xfrm>
          <a:prstGeom prst="rect">
            <a:avLst/>
          </a:prstGeom>
          <a:solidFill>
            <a:srgbClr val="C00000"/>
          </a:solidFill>
          <a:ln>
            <a:noFill/>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bg1"/>
                </a:solidFill>
                <a:effectLst/>
                <a:uLnTx/>
                <a:uFillTx/>
                <a:latin typeface="+mn-lt"/>
                <a:ea typeface="+mn-ea"/>
                <a:cs typeface="+mn-ea"/>
                <a:sym typeface="+mn-lt"/>
              </a:rPr>
              <a:t>000110010101100</a:t>
            </a:r>
          </a:p>
        </p:txBody>
      </p:sp>
      <p:graphicFrame>
        <p:nvGraphicFramePr>
          <p:cNvPr id="954374" name="Object 6"/>
          <p:cNvGraphicFramePr/>
          <p:nvPr/>
        </p:nvGraphicFramePr>
        <p:xfrm>
          <a:off x="6711950" y="2857500"/>
          <a:ext cx="1822450" cy="1981200"/>
        </p:xfrm>
        <a:graphic>
          <a:graphicData uri="http://schemas.openxmlformats.org/presentationml/2006/ole">
            <mc:AlternateContent xmlns:mc="http://schemas.openxmlformats.org/markup-compatibility/2006">
              <mc:Choice xmlns:v="urn:schemas-microsoft-com:vml" Requires="v">
                <p:oleObj spid="_x0000_s15412" r:id="rId5" imgW="1475740" imgH="1475740" progId="Visio.Drawing.5">
                  <p:embed/>
                </p:oleObj>
              </mc:Choice>
              <mc:Fallback>
                <p:oleObj r:id="rId5" imgW="1475740" imgH="1475740" progId="Visio.Drawing.5">
                  <p:embed/>
                  <p:pic>
                    <p:nvPicPr>
                      <p:cNvPr id="0" name="图片 3098"/>
                      <p:cNvPicPr/>
                      <p:nvPr/>
                    </p:nvPicPr>
                    <p:blipFill>
                      <a:blip r:embed="rId6"/>
                      <a:stretch>
                        <a:fillRect/>
                      </a:stretch>
                    </p:blipFill>
                    <p:spPr>
                      <a:xfrm>
                        <a:off x="6711950" y="2857500"/>
                        <a:ext cx="1822450" cy="1981200"/>
                      </a:xfrm>
                      <a:prstGeom prst="rect">
                        <a:avLst/>
                      </a:prstGeom>
                      <a:noFill/>
                      <a:ln w="38100">
                        <a:noFill/>
                        <a:miter/>
                      </a:ln>
                    </p:spPr>
                  </p:pic>
                </p:oleObj>
              </mc:Fallback>
            </mc:AlternateContent>
          </a:graphicData>
        </a:graphic>
      </p:graphicFrame>
      <p:sp>
        <p:nvSpPr>
          <p:cNvPr id="954375" name="Text Box 7"/>
          <p:cNvSpPr txBox="1">
            <a:spLocks noChangeArrowheads="1"/>
          </p:cNvSpPr>
          <p:nvPr/>
        </p:nvSpPr>
        <p:spPr bwMode="auto">
          <a:xfrm>
            <a:off x="6750050" y="5064125"/>
            <a:ext cx="1784350" cy="519113"/>
          </a:xfrm>
          <a:prstGeom prst="rect">
            <a:avLst/>
          </a:prstGeom>
          <a:solidFill>
            <a:srgbClr val="C00000"/>
          </a:solidFill>
          <a:ln>
            <a:noFill/>
          </a:ln>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bg1"/>
                </a:solidFill>
                <a:effectLst/>
                <a:uLnTx/>
                <a:uFillTx/>
                <a:latin typeface="+mn-lt"/>
                <a:ea typeface="+mn-ea"/>
                <a:cs typeface="+mn-ea"/>
                <a:sym typeface="+mn-lt"/>
              </a:rPr>
              <a:t>000011010</a:t>
            </a:r>
          </a:p>
        </p:txBody>
      </p:sp>
      <p:sp>
        <p:nvSpPr>
          <p:cNvPr id="954376" name="Line 8"/>
          <p:cNvSpPr>
            <a:spLocks noChangeShapeType="1"/>
          </p:cNvSpPr>
          <p:nvPr/>
        </p:nvSpPr>
        <p:spPr bwMode="auto">
          <a:xfrm flipH="1">
            <a:off x="2819400" y="4141788"/>
            <a:ext cx="685800" cy="685800"/>
          </a:xfrm>
          <a:prstGeom prst="line">
            <a:avLst/>
          </a:prstGeom>
          <a:noFill/>
          <a:ln w="57150">
            <a:solidFill>
              <a:srgbClr val="CC00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54377" name="Line 9"/>
          <p:cNvSpPr>
            <a:spLocks noChangeShapeType="1"/>
          </p:cNvSpPr>
          <p:nvPr/>
        </p:nvSpPr>
        <p:spPr bwMode="auto">
          <a:xfrm>
            <a:off x="5867400" y="4065588"/>
            <a:ext cx="685800" cy="762000"/>
          </a:xfrm>
          <a:prstGeom prst="line">
            <a:avLst/>
          </a:prstGeom>
          <a:noFill/>
          <a:ln w="76200">
            <a:solidFill>
              <a:srgbClr val="CC00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0122" name="Rectangle 10"/>
          <p:cNvSpPr>
            <a:spLocks noChangeArrowheads="1"/>
          </p:cNvSpPr>
          <p:nvPr/>
        </p:nvSpPr>
        <p:spPr bwMode="auto">
          <a:xfrm>
            <a:off x="827088" y="225425"/>
            <a:ext cx="586740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哈夫曼树应用实例－－哈夫曼编码</a:t>
            </a:r>
          </a:p>
        </p:txBody>
      </p:sp>
      <p:sp>
        <p:nvSpPr>
          <p:cNvPr id="954379" name="Rectangle 11"/>
          <p:cNvSpPr>
            <a:spLocks noChangeArrowheads="1"/>
          </p:cNvSpPr>
          <p:nvPr/>
        </p:nvSpPr>
        <p:spPr bwMode="auto">
          <a:xfrm>
            <a:off x="1371600" y="6005513"/>
            <a:ext cx="66294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800" b="0" i="0" u="sng" strike="noStrike" kern="1200" cap="none" spc="0" normalizeH="0" baseline="0" noProof="0" dirty="0">
                <a:ln>
                  <a:noFill/>
                </a:ln>
                <a:solidFill>
                  <a:schemeClr val="tx1"/>
                </a:solidFill>
                <a:effectLst/>
                <a:uLnTx/>
                <a:uFillTx/>
                <a:latin typeface="+mn-lt"/>
                <a:ea typeface="+mn-ea"/>
                <a:cs typeface="+mn-ea"/>
                <a:sym typeface="+mn-lt"/>
              </a:rPr>
              <a:t>出现次数较多的字符采用尽可能短的编码</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99330"/>
                                        </p:tgtEl>
                                        <p:attrNameLst>
                                          <p:attrName>style.visibility</p:attrName>
                                        </p:attrNameLst>
                                      </p:cBhvr>
                                      <p:to>
                                        <p:strVal val="visible"/>
                                      </p:to>
                                    </p:set>
                                    <p:animEffect transition="in" filter="wipe(down)">
                                      <p:cBhvr>
                                        <p:cTn id="7" dur="500"/>
                                        <p:tgtEl>
                                          <p:spTgt spid="99330"/>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954372"/>
                                        </p:tgtEl>
                                        <p:attrNameLst>
                                          <p:attrName>style.visibility</p:attrName>
                                        </p:attrNameLst>
                                      </p:cBhvr>
                                      <p:to>
                                        <p:strVal val="visible"/>
                                      </p:to>
                                    </p:set>
                                    <p:anim calcmode="lin" valueType="num">
                                      <p:cBhvr additive="base">
                                        <p:cTn id="12" dur="500" fill="hold"/>
                                        <p:tgtEl>
                                          <p:spTgt spid="954372"/>
                                        </p:tgtEl>
                                        <p:attrNameLst>
                                          <p:attrName>ppt_x</p:attrName>
                                        </p:attrNameLst>
                                      </p:cBhvr>
                                      <p:tavLst>
                                        <p:tav tm="0">
                                          <p:val>
                                            <p:strVal val="#ppt_x"/>
                                          </p:val>
                                        </p:tav>
                                        <p:tav tm="100000">
                                          <p:val>
                                            <p:strVal val="#ppt_x"/>
                                          </p:val>
                                        </p:tav>
                                      </p:tavLst>
                                    </p:anim>
                                    <p:anim calcmode="lin" valueType="num">
                                      <p:cBhvr additive="base">
                                        <p:cTn id="13" dur="500" fill="hold"/>
                                        <p:tgtEl>
                                          <p:spTgt spid="954372"/>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499"/>
                                          </p:stCondLst>
                                        </p:cTn>
                                        <p:tgtEl>
                                          <p:spTgt spid="954371"/>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499"/>
                                          </p:stCondLst>
                                        </p:cTn>
                                        <p:tgtEl>
                                          <p:spTgt spid="954376"/>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499"/>
                                          </p:stCondLst>
                                        </p:cTn>
                                        <p:tgtEl>
                                          <p:spTgt spid="954373"/>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499"/>
                                          </p:stCondLst>
                                        </p:cTn>
                                        <p:tgtEl>
                                          <p:spTgt spid="954374"/>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499"/>
                                          </p:stCondLst>
                                        </p:cTn>
                                        <p:tgtEl>
                                          <p:spTgt spid="954377"/>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grpId="0" nodeType="clickEffect">
                                  <p:stCondLst>
                                    <p:cond delay="0"/>
                                  </p:stCondLst>
                                  <p:childTnLst>
                                    <p:set>
                                      <p:cBhvr>
                                        <p:cTn id="37" dur="1" fill="hold">
                                          <p:stCondLst>
                                            <p:cond delay="499"/>
                                          </p:stCondLst>
                                        </p:cTn>
                                        <p:tgtEl>
                                          <p:spTgt spid="954375"/>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8" presetClass="entr" presetSubtype="16" fill="hold" grpId="0" nodeType="clickEffect">
                                  <p:stCondLst>
                                    <p:cond delay="0"/>
                                  </p:stCondLst>
                                  <p:childTnLst>
                                    <p:set>
                                      <p:cBhvr>
                                        <p:cTn id="41" dur="1" fill="hold">
                                          <p:stCondLst>
                                            <p:cond delay="0"/>
                                          </p:stCondLst>
                                        </p:cTn>
                                        <p:tgtEl>
                                          <p:spTgt spid="954379"/>
                                        </p:tgtEl>
                                        <p:attrNameLst>
                                          <p:attrName>style.visibility</p:attrName>
                                        </p:attrNameLst>
                                      </p:cBhvr>
                                      <p:to>
                                        <p:strVal val="visible"/>
                                      </p:to>
                                    </p:set>
                                    <p:animEffect transition="in" filter="diamond(in)">
                                      <p:cBhvr>
                                        <p:cTn id="42" dur="2000"/>
                                        <p:tgtEl>
                                          <p:spTgt spid="9543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330" grpId="0" animBg="1"/>
      <p:bldP spid="954372" grpId="0" animBg="1"/>
      <p:bldP spid="954373" grpId="0" animBg="1"/>
      <p:bldP spid="954375" grpId="0" animBg="1"/>
      <p:bldP spid="954379" grpId="0"/>
    </p:bldLst>
  </p:timing>
</p:sld>
</file>

<file path=ppt/slides/slide15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5234" name="矩形 2"/>
          <p:cNvSpPr/>
          <p:nvPr/>
        </p:nvSpPr>
        <p:spPr>
          <a:xfrm>
            <a:off x="0" y="1419225"/>
            <a:ext cx="9144000" cy="3168650"/>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91138" name="Text Box 2"/>
          <p:cNvSpPr txBox="1">
            <a:spLocks noChangeArrowheads="1"/>
          </p:cNvSpPr>
          <p:nvPr/>
        </p:nvSpPr>
        <p:spPr bwMode="auto">
          <a:xfrm>
            <a:off x="1828800" y="381000"/>
            <a:ext cx="32766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Char char=" "/>
              <a:defRPr/>
            </a:pPr>
            <a:endParaRPr kumimoji="0" lang="zh-CN" altLang="zh-CN"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139" name="Text Box 3"/>
          <p:cNvSpPr txBox="1">
            <a:spLocks noChangeArrowheads="1"/>
          </p:cNvSpPr>
          <p:nvPr/>
        </p:nvSpPr>
        <p:spPr bwMode="auto">
          <a:xfrm>
            <a:off x="6337300" y="3041650"/>
            <a:ext cx="1524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endParaRPr kumimoji="0" lang="zh-CN" altLang="zh-CN"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55396" name="Text Box 4"/>
          <p:cNvSpPr txBox="1">
            <a:spLocks noChangeArrowheads="1"/>
          </p:cNvSpPr>
          <p:nvPr/>
        </p:nvSpPr>
        <p:spPr bwMode="auto">
          <a:xfrm>
            <a:off x="395288" y="4860925"/>
            <a:ext cx="8424863" cy="1016000"/>
          </a:xfrm>
          <a:prstGeom prst="rect">
            <a:avLst/>
          </a:prstGeom>
          <a:noFill/>
          <a:ln w="38100">
            <a:noFill/>
            <a:miter lim="800000"/>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50000"/>
              </a:spcBef>
              <a:spcAft>
                <a:spcPct val="0"/>
              </a:spcAft>
              <a:buClrTx/>
              <a:buSzTx/>
              <a:buFont typeface="Arial" panose="020B0604020202020204" pitchFamily="34" charset="0"/>
              <a:buNone/>
              <a:defRPr/>
            </a:pPr>
            <a:r>
              <a:rPr kumimoji="0" lang="zh-CN" altLang="en-US" sz="2400" b="0" i="0" u="sng" strike="noStrike" kern="1200" cap="none" spc="0" normalizeH="0" baseline="0" noProof="0" dirty="0">
                <a:ln>
                  <a:noFill/>
                </a:ln>
                <a:solidFill>
                  <a:schemeClr val="tx1"/>
                </a:solidFill>
                <a:effectLst/>
                <a:uLnTx/>
                <a:uFillTx/>
                <a:latin typeface="+mn-lt"/>
                <a:ea typeface="+mn-ea"/>
                <a:cs typeface="+mn-ea"/>
                <a:sym typeface="+mn-lt"/>
              </a:rPr>
              <a:t>关键：</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要设计长度不等的编码，则必须使任一字符的编码都不是另一个字符的编码的</a:t>
            </a:r>
            <a:r>
              <a:rPr kumimoji="0" lang="zh-CN" altLang="en-US" sz="2400" b="0" i="0" u="none" strike="noStrike" kern="1200" cap="none" spc="0" normalizeH="0" baseline="0" noProof="0" dirty="0">
                <a:ln>
                  <a:noFill/>
                </a:ln>
                <a:solidFill>
                  <a:schemeClr val="accent2"/>
                </a:solidFill>
                <a:effectLst/>
                <a:uLnTx/>
                <a:uFillTx/>
                <a:latin typeface="+mn-lt"/>
                <a:ea typeface="+mn-ea"/>
                <a:cs typeface="+mn-ea"/>
                <a:sym typeface="+mn-lt"/>
              </a:rPr>
              <a:t>前缀－</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前缀编码</a:t>
            </a:r>
          </a:p>
        </p:txBody>
      </p:sp>
      <p:grpSp>
        <p:nvGrpSpPr>
          <p:cNvPr id="2" name="Group 5"/>
          <p:cNvGrpSpPr/>
          <p:nvPr/>
        </p:nvGrpSpPr>
        <p:grpSpPr>
          <a:xfrm>
            <a:off x="2070100" y="3263900"/>
            <a:ext cx="4264025" cy="1108075"/>
            <a:chOff x="1296" y="2640"/>
            <a:chExt cx="2686" cy="698"/>
          </a:xfrm>
        </p:grpSpPr>
        <p:sp>
          <p:nvSpPr>
            <p:cNvPr id="91142" name="Text Box 6"/>
            <p:cNvSpPr txBox="1">
              <a:spLocks noChangeArrowheads="1"/>
            </p:cNvSpPr>
            <p:nvPr/>
          </p:nvSpPr>
          <p:spPr bwMode="auto">
            <a:xfrm>
              <a:off x="1296" y="2640"/>
              <a:ext cx="1968" cy="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70000"/>
                </a:spcBef>
                <a:spcAft>
                  <a:spcPct val="0"/>
                </a:spcAft>
                <a:buClrTx/>
                <a:buSzTx/>
                <a:buFont typeface="Arial" panose="020B0604020202020204" pitchFamily="34" charset="0"/>
                <a:buNone/>
                <a:defRPr/>
              </a:pPr>
              <a:r>
                <a:rPr kumimoji="0" lang="zh-CN" altLang="en-US" sz="2400" b="0" i="0" u="none" strike="noStrike" kern="1200" cap="none" spc="0" normalizeH="0" baseline="0" noProof="0">
                  <a:ln>
                    <a:noFill/>
                  </a:ln>
                  <a:solidFill>
                    <a:schemeClr val="tx1"/>
                  </a:solidFill>
                  <a:effectLst/>
                  <a:uLnTx/>
                  <a:uFillTx/>
                  <a:latin typeface="+mn-lt"/>
                  <a:ea typeface="+mn-ea"/>
                  <a:cs typeface="+mn-ea"/>
                  <a:sym typeface="+mn-lt"/>
                </a:rPr>
                <a:t>　　　</a:t>
              </a: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0000</a:t>
              </a:r>
            </a:p>
            <a:p>
              <a:pPr marL="0" marR="0" lvl="0" indent="0" algn="l" defTabSz="914400" rtl="0" eaLnBrk="1" fontAlgn="base" latinLnBrk="0" hangingPunct="1">
                <a:lnSpc>
                  <a:spcPct val="100000"/>
                </a:lnSpc>
                <a:spcBef>
                  <a:spcPct val="7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AAAA   ABA   BB</a:t>
              </a:r>
            </a:p>
          </p:txBody>
        </p:sp>
        <p:sp>
          <p:nvSpPr>
            <p:cNvPr id="91143" name="Line 7"/>
            <p:cNvSpPr>
              <a:spLocks noChangeShapeType="1"/>
            </p:cNvSpPr>
            <p:nvPr/>
          </p:nvSpPr>
          <p:spPr bwMode="auto">
            <a:xfrm flipH="1">
              <a:off x="1584" y="2880"/>
              <a:ext cx="384" cy="192"/>
            </a:xfrm>
            <a:prstGeom prst="line">
              <a:avLst/>
            </a:prstGeom>
            <a:noFill/>
            <a:ln w="38100">
              <a:solidFill>
                <a:schemeClr val="accent2"/>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144" name="Line 8"/>
            <p:cNvSpPr>
              <a:spLocks noChangeShapeType="1"/>
            </p:cNvSpPr>
            <p:nvPr/>
          </p:nvSpPr>
          <p:spPr bwMode="auto">
            <a:xfrm>
              <a:off x="2160" y="2880"/>
              <a:ext cx="0" cy="240"/>
            </a:xfrm>
            <a:prstGeom prst="line">
              <a:avLst/>
            </a:prstGeom>
            <a:noFill/>
            <a:ln w="38100">
              <a:solidFill>
                <a:schemeClr val="accent2"/>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145" name="Line 9"/>
            <p:cNvSpPr>
              <a:spLocks noChangeShapeType="1"/>
            </p:cNvSpPr>
            <p:nvPr/>
          </p:nvSpPr>
          <p:spPr bwMode="auto">
            <a:xfrm>
              <a:off x="2352" y="2880"/>
              <a:ext cx="336" cy="192"/>
            </a:xfrm>
            <a:prstGeom prst="line">
              <a:avLst/>
            </a:prstGeom>
            <a:noFill/>
            <a:ln w="38100">
              <a:solidFill>
                <a:schemeClr val="accent2"/>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1146" name="AutoShape 10"/>
            <p:cNvSpPr>
              <a:spLocks noChangeArrowheads="1"/>
            </p:cNvSpPr>
            <p:nvPr/>
          </p:nvSpPr>
          <p:spPr bwMode="auto">
            <a:xfrm>
              <a:off x="3070" y="2837"/>
              <a:ext cx="912" cy="501"/>
            </a:xfrm>
            <a:prstGeom prst="leftArrow">
              <a:avLst>
                <a:gd name="adj1" fmla="val 50000"/>
                <a:gd name="adj2" fmla="val 52758"/>
              </a:avLst>
            </a:prstGeom>
            <a:solidFill>
              <a:schemeClr val="accent1"/>
            </a:solidFill>
            <a:ln w="9525">
              <a:solidFill>
                <a:schemeClr val="tx1"/>
              </a:solid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重码</a:t>
              </a:r>
            </a:p>
          </p:txBody>
        </p:sp>
      </p:grpSp>
      <p:grpSp>
        <p:nvGrpSpPr>
          <p:cNvPr id="95239" name="Group 11"/>
          <p:cNvGrpSpPr/>
          <p:nvPr/>
        </p:nvGrpSpPr>
        <p:grpSpPr>
          <a:xfrm>
            <a:off x="2184400" y="1770063"/>
            <a:ext cx="6176963" cy="2414587"/>
            <a:chOff x="1368" y="687"/>
            <a:chExt cx="3891" cy="1521"/>
          </a:xfrm>
        </p:grpSpPr>
        <p:sp>
          <p:nvSpPr>
            <p:cNvPr id="91148" name="Text Box 12"/>
            <p:cNvSpPr txBox="1">
              <a:spLocks noChangeArrowheads="1"/>
            </p:cNvSpPr>
            <p:nvPr/>
          </p:nvSpPr>
          <p:spPr bwMode="auto">
            <a:xfrm>
              <a:off x="1368" y="687"/>
              <a:ext cx="2304" cy="536"/>
            </a:xfrm>
            <a:prstGeom prst="round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4400" b="0" i="0" u="none" strike="noStrike" kern="1200" cap="none" spc="0" normalizeH="0" baseline="0" noProof="0" dirty="0">
                  <a:ln>
                    <a:noFill/>
                  </a:ln>
                  <a:solidFill>
                    <a:schemeClr val="bg1"/>
                  </a:solidFill>
                  <a:effectLst/>
                  <a:uLnTx/>
                  <a:uFillTx/>
                  <a:latin typeface="+mn-lt"/>
                  <a:ea typeface="+mn-ea"/>
                  <a:cs typeface="+mn-ea"/>
                  <a:sym typeface="+mn-lt"/>
                </a:rPr>
                <a:t>ABACCDA</a:t>
              </a:r>
            </a:p>
          </p:txBody>
        </p:sp>
        <p:graphicFrame>
          <p:nvGraphicFramePr>
            <p:cNvPr id="95242" name="Object 13"/>
            <p:cNvGraphicFramePr/>
            <p:nvPr/>
          </p:nvGraphicFramePr>
          <p:xfrm>
            <a:off x="4111" y="687"/>
            <a:ext cx="1148" cy="1050"/>
          </p:xfrm>
          <a:graphic>
            <a:graphicData uri="http://schemas.openxmlformats.org/presentationml/2006/ole">
              <mc:AlternateContent xmlns:mc="http://schemas.openxmlformats.org/markup-compatibility/2006">
                <mc:Choice xmlns:v="urn:schemas-microsoft-com:vml" Requires="v">
                  <p:oleObj spid="_x0000_s16410" r:id="rId3" imgW="1475740" imgH="1475740" progId="Visio.Drawing.5">
                    <p:embed/>
                  </p:oleObj>
                </mc:Choice>
                <mc:Fallback>
                  <p:oleObj r:id="rId3" imgW="1475740" imgH="1475740" progId="Visio.Drawing.5">
                    <p:embed/>
                    <p:pic>
                      <p:nvPicPr>
                        <p:cNvPr id="0" name="图片 3100"/>
                        <p:cNvPicPr/>
                        <p:nvPr/>
                      </p:nvPicPr>
                      <p:blipFill>
                        <a:blip r:embed="rId4"/>
                        <a:stretch>
                          <a:fillRect/>
                        </a:stretch>
                      </p:blipFill>
                      <p:spPr>
                        <a:xfrm>
                          <a:off x="4111" y="687"/>
                          <a:ext cx="1148" cy="1050"/>
                        </a:xfrm>
                        <a:prstGeom prst="rect">
                          <a:avLst/>
                        </a:prstGeom>
                        <a:noFill/>
                        <a:ln w="38100">
                          <a:noFill/>
                          <a:miter/>
                        </a:ln>
                      </p:spPr>
                    </p:pic>
                  </p:oleObj>
                </mc:Fallback>
              </mc:AlternateContent>
            </a:graphicData>
          </a:graphic>
        </p:graphicFrame>
        <p:sp>
          <p:nvSpPr>
            <p:cNvPr id="91150" name="Text Box 14"/>
            <p:cNvSpPr txBox="1">
              <a:spLocks noChangeArrowheads="1"/>
            </p:cNvSpPr>
            <p:nvPr/>
          </p:nvSpPr>
          <p:spPr bwMode="auto">
            <a:xfrm>
              <a:off x="4063" y="1881"/>
              <a:ext cx="1196" cy="327"/>
            </a:xfrm>
            <a:prstGeom prst="rect">
              <a:avLst/>
            </a:prstGeom>
            <a:solidFill>
              <a:srgbClr val="E2D9EB"/>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1" i="0" u="sng" strike="noStrike" kern="1200" cap="none" spc="0" normalizeH="0" baseline="0" noProof="0">
                  <a:ln>
                    <a:noFill/>
                  </a:ln>
                  <a:solidFill>
                    <a:srgbClr val="FF3300"/>
                  </a:solidFill>
                  <a:effectLst/>
                  <a:uLnTx/>
                  <a:uFillTx/>
                  <a:latin typeface="+mn-lt"/>
                  <a:ea typeface="+mn-ea"/>
                  <a:cs typeface="+mn-ea"/>
                  <a:sym typeface="+mn-lt"/>
                </a:rPr>
                <a:t>0000</a:t>
              </a:r>
              <a:r>
                <a:rPr kumimoji="0" lang="en-US" altLang="zh-CN" sz="2800" b="0" i="0" u="none" strike="noStrike" kern="1200" cap="none" spc="0" normalizeH="0" baseline="0" noProof="0">
                  <a:ln>
                    <a:noFill/>
                  </a:ln>
                  <a:solidFill>
                    <a:schemeClr val="tx1"/>
                  </a:solidFill>
                  <a:effectLst/>
                  <a:uLnTx/>
                  <a:uFillTx/>
                  <a:latin typeface="+mn-lt"/>
                  <a:ea typeface="+mn-ea"/>
                  <a:cs typeface="+mn-ea"/>
                  <a:sym typeface="+mn-lt"/>
                </a:rPr>
                <a:t>11010</a:t>
              </a:r>
            </a:p>
          </p:txBody>
        </p:sp>
        <p:sp>
          <p:nvSpPr>
            <p:cNvPr id="91151" name="Line 15"/>
            <p:cNvSpPr>
              <a:spLocks noChangeShapeType="1"/>
            </p:cNvSpPr>
            <p:nvPr/>
          </p:nvSpPr>
          <p:spPr bwMode="auto">
            <a:xfrm>
              <a:off x="3487" y="1305"/>
              <a:ext cx="432" cy="480"/>
            </a:xfrm>
            <a:prstGeom prst="line">
              <a:avLst/>
            </a:prstGeom>
            <a:noFill/>
            <a:ln w="76200">
              <a:solidFill>
                <a:srgbClr val="FF0000"/>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1152" name="Rectangle 16"/>
          <p:cNvSpPr>
            <a:spLocks noChangeArrowheads="1"/>
          </p:cNvSpPr>
          <p:nvPr/>
        </p:nvSpPr>
        <p:spPr bwMode="auto">
          <a:xfrm>
            <a:off x="800100" y="201613"/>
            <a:ext cx="586740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哈夫曼树应用实例－－哈夫曼编码</a:t>
            </a:r>
          </a:p>
        </p:txBody>
      </p:sp>
    </p:spTree>
  </p:cSld>
  <p:clrMapOvr>
    <a:masterClrMapping/>
  </p:clrMapOvr>
  <p:transition>
    <p:blind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955396"/>
                                        </p:tgtEl>
                                        <p:attrNameLst>
                                          <p:attrName>style.visibility</p:attrName>
                                        </p:attrNameLst>
                                      </p:cBhvr>
                                      <p:to>
                                        <p:strVal val="visible"/>
                                      </p:to>
                                    </p:set>
                                    <p:animEffect transition="in" filter="box(in)">
                                      <p:cBhvr>
                                        <p:cTn id="13" dur="500"/>
                                        <p:tgtEl>
                                          <p:spTgt spid="9553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5396" grpId="0"/>
    </p:bldLst>
  </p:timing>
</p:sld>
</file>

<file path=ppt/slides/slide15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2162" name="Text Box 2"/>
          <p:cNvSpPr txBox="1">
            <a:spLocks noChangeArrowheads="1"/>
          </p:cNvSpPr>
          <p:nvPr/>
        </p:nvSpPr>
        <p:spPr bwMode="auto">
          <a:xfrm>
            <a:off x="1295400" y="-228600"/>
            <a:ext cx="32766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Char char=" "/>
              <a:defRPr/>
            </a:pPr>
            <a:endParaRPr kumimoji="0" lang="zh-CN" altLang="zh-CN"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2163" name="Text Box 3"/>
          <p:cNvSpPr txBox="1">
            <a:spLocks noChangeArrowheads="1"/>
          </p:cNvSpPr>
          <p:nvPr/>
        </p:nvSpPr>
        <p:spPr bwMode="auto">
          <a:xfrm>
            <a:off x="6457950" y="2268538"/>
            <a:ext cx="1524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endParaRPr kumimoji="0" lang="zh-CN" altLang="zh-CN"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2164" name="Oval 4"/>
          <p:cNvSpPr>
            <a:spLocks noChangeArrowheads="1"/>
          </p:cNvSpPr>
          <p:nvPr/>
        </p:nvSpPr>
        <p:spPr bwMode="auto">
          <a:xfrm>
            <a:off x="3619500" y="3810000"/>
            <a:ext cx="457200" cy="457200"/>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2165" name="Oval 5"/>
          <p:cNvSpPr>
            <a:spLocks noChangeArrowheads="1"/>
          </p:cNvSpPr>
          <p:nvPr/>
        </p:nvSpPr>
        <p:spPr bwMode="auto">
          <a:xfrm>
            <a:off x="4152900" y="4191000"/>
            <a:ext cx="457200" cy="457200"/>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2166" name="Oval 6"/>
          <p:cNvSpPr>
            <a:spLocks noChangeArrowheads="1"/>
          </p:cNvSpPr>
          <p:nvPr/>
        </p:nvSpPr>
        <p:spPr bwMode="auto">
          <a:xfrm>
            <a:off x="4686300" y="4724400"/>
            <a:ext cx="457200" cy="457200"/>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2167" name="Oval 7"/>
          <p:cNvSpPr>
            <a:spLocks noChangeArrowheads="1"/>
          </p:cNvSpPr>
          <p:nvPr/>
        </p:nvSpPr>
        <p:spPr bwMode="auto">
          <a:xfrm>
            <a:off x="3086100" y="4267200"/>
            <a:ext cx="457200" cy="457200"/>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A</a:t>
            </a:r>
          </a:p>
        </p:txBody>
      </p:sp>
      <p:sp>
        <p:nvSpPr>
          <p:cNvPr id="92168" name="Oval 8"/>
          <p:cNvSpPr>
            <a:spLocks noChangeArrowheads="1"/>
          </p:cNvSpPr>
          <p:nvPr/>
        </p:nvSpPr>
        <p:spPr bwMode="auto">
          <a:xfrm>
            <a:off x="3695700" y="4800600"/>
            <a:ext cx="457200" cy="457200"/>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C</a:t>
            </a:r>
          </a:p>
        </p:txBody>
      </p:sp>
      <p:sp>
        <p:nvSpPr>
          <p:cNvPr id="92169" name="Oval 9"/>
          <p:cNvSpPr>
            <a:spLocks noChangeArrowheads="1"/>
          </p:cNvSpPr>
          <p:nvPr/>
        </p:nvSpPr>
        <p:spPr bwMode="auto">
          <a:xfrm>
            <a:off x="4229100" y="5334000"/>
            <a:ext cx="457200" cy="457200"/>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B</a:t>
            </a:r>
          </a:p>
        </p:txBody>
      </p:sp>
      <p:sp>
        <p:nvSpPr>
          <p:cNvPr id="92170" name="Oval 10"/>
          <p:cNvSpPr>
            <a:spLocks noChangeArrowheads="1"/>
          </p:cNvSpPr>
          <p:nvPr/>
        </p:nvSpPr>
        <p:spPr bwMode="auto">
          <a:xfrm>
            <a:off x="5143500" y="5334000"/>
            <a:ext cx="457200" cy="457200"/>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D</a:t>
            </a:r>
          </a:p>
        </p:txBody>
      </p:sp>
      <p:sp>
        <p:nvSpPr>
          <p:cNvPr id="92171" name="Line 11"/>
          <p:cNvSpPr>
            <a:spLocks noChangeShapeType="1"/>
          </p:cNvSpPr>
          <p:nvPr/>
        </p:nvSpPr>
        <p:spPr bwMode="auto">
          <a:xfrm flipH="1">
            <a:off x="3543300" y="4191000"/>
            <a:ext cx="76200" cy="1524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2172" name="Line 12"/>
          <p:cNvSpPr>
            <a:spLocks noChangeShapeType="1"/>
          </p:cNvSpPr>
          <p:nvPr/>
        </p:nvSpPr>
        <p:spPr bwMode="auto">
          <a:xfrm>
            <a:off x="4076700" y="4191000"/>
            <a:ext cx="228600" cy="1524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2173" name="Line 13"/>
          <p:cNvSpPr>
            <a:spLocks noChangeShapeType="1"/>
          </p:cNvSpPr>
          <p:nvPr/>
        </p:nvSpPr>
        <p:spPr bwMode="auto">
          <a:xfrm flipH="1">
            <a:off x="4076700" y="4648200"/>
            <a:ext cx="152400" cy="2286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2174" name="Line 14"/>
          <p:cNvSpPr>
            <a:spLocks noChangeShapeType="1"/>
          </p:cNvSpPr>
          <p:nvPr/>
        </p:nvSpPr>
        <p:spPr bwMode="auto">
          <a:xfrm flipH="1">
            <a:off x="4533900" y="5105400"/>
            <a:ext cx="228600" cy="2286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2175" name="Line 15"/>
          <p:cNvSpPr>
            <a:spLocks noChangeShapeType="1"/>
          </p:cNvSpPr>
          <p:nvPr/>
        </p:nvSpPr>
        <p:spPr bwMode="auto">
          <a:xfrm>
            <a:off x="5067300" y="5181600"/>
            <a:ext cx="152400" cy="2286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2176" name="Line 16"/>
          <p:cNvSpPr>
            <a:spLocks noChangeShapeType="1"/>
          </p:cNvSpPr>
          <p:nvPr/>
        </p:nvSpPr>
        <p:spPr bwMode="auto">
          <a:xfrm>
            <a:off x="4533900" y="4572000"/>
            <a:ext cx="228600" cy="2286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2177" name="Text Box 17"/>
          <p:cNvSpPr txBox="1">
            <a:spLocks noChangeArrowheads="1"/>
          </p:cNvSpPr>
          <p:nvPr/>
        </p:nvSpPr>
        <p:spPr bwMode="auto">
          <a:xfrm>
            <a:off x="3162300" y="3886200"/>
            <a:ext cx="533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2178" name="Text Box 18"/>
          <p:cNvSpPr txBox="1">
            <a:spLocks noChangeArrowheads="1"/>
          </p:cNvSpPr>
          <p:nvPr/>
        </p:nvSpPr>
        <p:spPr bwMode="auto">
          <a:xfrm>
            <a:off x="3695700" y="4419600"/>
            <a:ext cx="533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2179" name="Text Box 19"/>
          <p:cNvSpPr txBox="1">
            <a:spLocks noChangeArrowheads="1"/>
          </p:cNvSpPr>
          <p:nvPr/>
        </p:nvSpPr>
        <p:spPr bwMode="auto">
          <a:xfrm>
            <a:off x="4305300" y="4953000"/>
            <a:ext cx="533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2180" name="Text Box 20"/>
          <p:cNvSpPr txBox="1">
            <a:spLocks noChangeArrowheads="1"/>
          </p:cNvSpPr>
          <p:nvPr/>
        </p:nvSpPr>
        <p:spPr bwMode="auto">
          <a:xfrm>
            <a:off x="4229100" y="3733800"/>
            <a:ext cx="533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2181" name="Text Box 21"/>
          <p:cNvSpPr txBox="1">
            <a:spLocks noChangeArrowheads="1"/>
          </p:cNvSpPr>
          <p:nvPr/>
        </p:nvSpPr>
        <p:spPr bwMode="auto">
          <a:xfrm>
            <a:off x="4762500" y="4343400"/>
            <a:ext cx="533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2182" name="Text Box 22"/>
          <p:cNvSpPr txBox="1">
            <a:spLocks noChangeArrowheads="1"/>
          </p:cNvSpPr>
          <p:nvPr/>
        </p:nvSpPr>
        <p:spPr bwMode="auto">
          <a:xfrm>
            <a:off x="5219700" y="4953000"/>
            <a:ext cx="533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2183" name="AutoShape 23"/>
          <p:cNvSpPr>
            <a:spLocks noChangeArrowheads="1"/>
          </p:cNvSpPr>
          <p:nvPr/>
        </p:nvSpPr>
        <p:spPr bwMode="auto">
          <a:xfrm>
            <a:off x="323850" y="2420938"/>
            <a:ext cx="3219450" cy="1465263"/>
          </a:xfrm>
          <a:prstGeom prst="cloudCallout">
            <a:avLst>
              <a:gd name="adj1" fmla="val 29208"/>
              <a:gd name="adj2" fmla="val 83074"/>
            </a:avLst>
          </a:prstGeom>
          <a:solidFill>
            <a:srgbClr val="E2D9EB"/>
          </a:solidFill>
          <a:ln w="9525">
            <a:noFill/>
            <a:round/>
          </a:ln>
        </p:spPr>
        <p:txBody>
          <a:bodyPr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采用二叉树设计</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前缀编码</a:t>
            </a:r>
          </a:p>
        </p:txBody>
      </p:sp>
      <p:sp>
        <p:nvSpPr>
          <p:cNvPr id="92184" name="AutoShape 24"/>
          <p:cNvSpPr>
            <a:spLocks noChangeArrowheads="1"/>
          </p:cNvSpPr>
          <p:nvPr/>
        </p:nvSpPr>
        <p:spPr bwMode="auto">
          <a:xfrm>
            <a:off x="6134100" y="4800600"/>
            <a:ext cx="2589213" cy="990600"/>
          </a:xfrm>
          <a:prstGeom prst="wedgeRoundRectCallout">
            <a:avLst>
              <a:gd name="adj1" fmla="val -78019"/>
              <a:gd name="adj2" fmla="val 34778"/>
              <a:gd name="adj3" fmla="val 16667"/>
            </a:avLst>
          </a:prstGeom>
          <a:solidFill>
            <a:srgbClr val="A78DC2"/>
          </a:solidFill>
          <a:ln w="9525">
            <a:noFill/>
            <a:miter lim="800000"/>
          </a:ln>
        </p:spPr>
        <p:txBody>
          <a:bodyPr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左分支用“</a:t>
            </a: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0”</a:t>
            </a:r>
          </a:p>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右分支用“</a:t>
            </a: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1”</a:t>
            </a:r>
          </a:p>
        </p:txBody>
      </p:sp>
      <p:grpSp>
        <p:nvGrpSpPr>
          <p:cNvPr id="2" name="Group 25"/>
          <p:cNvGrpSpPr/>
          <p:nvPr/>
        </p:nvGrpSpPr>
        <p:grpSpPr>
          <a:xfrm>
            <a:off x="5808663" y="1871663"/>
            <a:ext cx="2914650" cy="2733675"/>
            <a:chOff x="3348" y="700"/>
            <a:chExt cx="1836" cy="1722"/>
          </a:xfrm>
        </p:grpSpPr>
        <p:sp>
          <p:nvSpPr>
            <p:cNvPr id="92186" name="Text Box 26"/>
            <p:cNvSpPr txBox="1">
              <a:spLocks noChangeArrowheads="1"/>
            </p:cNvSpPr>
            <p:nvPr/>
          </p:nvSpPr>
          <p:spPr bwMode="auto">
            <a:xfrm>
              <a:off x="3348" y="700"/>
              <a:ext cx="876" cy="1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20000"/>
                </a:spcBef>
                <a:spcAft>
                  <a:spcPct val="0"/>
                </a:spcAft>
                <a:buClrTx/>
                <a:buSzTx/>
                <a:buFont typeface="Wingdings" panose="05000000000000000000" pitchFamily="2" charset="2"/>
                <a:buNone/>
                <a:defRPr/>
              </a:pPr>
              <a:r>
                <a:rPr kumimoji="0" lang="en-US" altLang="zh-CN" sz="2600" b="0" i="0" u="none" strike="noStrike" kern="1200" cap="none" spc="0" normalizeH="0" baseline="0" noProof="0">
                  <a:ln>
                    <a:noFill/>
                  </a:ln>
                  <a:solidFill>
                    <a:srgbClr val="000066"/>
                  </a:solidFill>
                  <a:effectLst/>
                  <a:uLnTx/>
                  <a:uFillTx/>
                  <a:latin typeface="+mn-lt"/>
                  <a:ea typeface="+mn-ea"/>
                  <a:cs typeface="+mn-ea"/>
                  <a:sym typeface="+mn-lt"/>
                </a:rPr>
                <a:t>A—0</a:t>
              </a:r>
            </a:p>
            <a:p>
              <a:pPr marL="0" marR="0" lvl="0" indent="0" algn="l" defTabSz="914400" rtl="0" eaLnBrk="1" fontAlgn="base" latinLnBrk="0" hangingPunct="1">
                <a:lnSpc>
                  <a:spcPct val="100000"/>
                </a:lnSpc>
                <a:spcBef>
                  <a:spcPct val="20000"/>
                </a:spcBef>
                <a:spcAft>
                  <a:spcPct val="0"/>
                </a:spcAft>
                <a:buClrTx/>
                <a:buSzTx/>
                <a:buFont typeface="Wingdings" panose="05000000000000000000" pitchFamily="2" charset="2"/>
                <a:buNone/>
                <a:defRPr/>
              </a:pPr>
              <a:r>
                <a:rPr kumimoji="0" lang="en-US" altLang="zh-CN" sz="2600" b="0" i="0" u="none" strike="noStrike" kern="1200" cap="none" spc="0" normalizeH="0" baseline="0" noProof="0">
                  <a:ln>
                    <a:noFill/>
                  </a:ln>
                  <a:solidFill>
                    <a:srgbClr val="000066"/>
                  </a:solidFill>
                  <a:effectLst/>
                  <a:uLnTx/>
                  <a:uFillTx/>
                  <a:latin typeface="+mn-lt"/>
                  <a:ea typeface="+mn-ea"/>
                  <a:cs typeface="+mn-ea"/>
                  <a:sym typeface="+mn-lt"/>
                </a:rPr>
                <a:t>B—110</a:t>
              </a:r>
            </a:p>
            <a:p>
              <a:pPr marL="0" marR="0" lvl="0" indent="0" algn="l" defTabSz="914400" rtl="0" eaLnBrk="1" fontAlgn="base" latinLnBrk="0" hangingPunct="1">
                <a:lnSpc>
                  <a:spcPct val="100000"/>
                </a:lnSpc>
                <a:spcBef>
                  <a:spcPct val="20000"/>
                </a:spcBef>
                <a:spcAft>
                  <a:spcPct val="0"/>
                </a:spcAft>
                <a:buClrTx/>
                <a:buSzTx/>
                <a:buFont typeface="Wingdings" panose="05000000000000000000" pitchFamily="2" charset="2"/>
                <a:buNone/>
                <a:defRPr/>
              </a:pPr>
              <a:r>
                <a:rPr kumimoji="0" lang="en-US" altLang="zh-CN" sz="2600" b="0" i="0" u="none" strike="noStrike" kern="1200" cap="none" spc="0" normalizeH="0" baseline="0" noProof="0">
                  <a:ln>
                    <a:noFill/>
                  </a:ln>
                  <a:solidFill>
                    <a:srgbClr val="000066"/>
                  </a:solidFill>
                  <a:effectLst/>
                  <a:uLnTx/>
                  <a:uFillTx/>
                  <a:latin typeface="+mn-lt"/>
                  <a:ea typeface="+mn-ea"/>
                  <a:cs typeface="+mn-ea"/>
                  <a:sym typeface="+mn-lt"/>
                </a:rPr>
                <a:t>C—10</a:t>
              </a:r>
            </a:p>
            <a:p>
              <a:pPr marL="0" marR="0" lvl="0" indent="0" algn="l" defTabSz="914400" rtl="0" eaLnBrk="1" fontAlgn="base" latinLnBrk="0" hangingPunct="1">
                <a:lnSpc>
                  <a:spcPct val="100000"/>
                </a:lnSpc>
                <a:spcBef>
                  <a:spcPct val="20000"/>
                </a:spcBef>
                <a:spcAft>
                  <a:spcPct val="0"/>
                </a:spcAft>
                <a:buClrTx/>
                <a:buSzTx/>
                <a:buFont typeface="Wingdings" panose="05000000000000000000" pitchFamily="2" charset="2"/>
                <a:buNone/>
                <a:defRPr/>
              </a:pPr>
              <a:r>
                <a:rPr kumimoji="0" lang="en-US" altLang="zh-CN" sz="2600" b="0" i="0" u="none" strike="noStrike" kern="1200" cap="none" spc="0" normalizeH="0" baseline="0" noProof="0">
                  <a:ln>
                    <a:noFill/>
                  </a:ln>
                  <a:solidFill>
                    <a:srgbClr val="000066"/>
                  </a:solidFill>
                  <a:effectLst/>
                  <a:uLnTx/>
                  <a:uFillTx/>
                  <a:latin typeface="+mn-lt"/>
                  <a:ea typeface="+mn-ea"/>
                  <a:cs typeface="+mn-ea"/>
                  <a:sym typeface="+mn-lt"/>
                </a:rPr>
                <a:t>D</a:t>
              </a:r>
              <a:r>
                <a:rPr kumimoji="0" lang="en-US" altLang="zh-CN" sz="2800" b="0" i="0" u="none" strike="noStrike" kern="1200" cap="none" spc="0" normalizeH="0" baseline="0" noProof="0">
                  <a:ln>
                    <a:noFill/>
                  </a:ln>
                  <a:solidFill>
                    <a:srgbClr val="000066"/>
                  </a:solidFill>
                  <a:effectLst/>
                  <a:uLnTx/>
                  <a:uFillTx/>
                  <a:latin typeface="+mn-lt"/>
                  <a:ea typeface="+mn-ea"/>
                  <a:cs typeface="+mn-ea"/>
                  <a:sym typeface="+mn-lt"/>
                </a:rPr>
                <a:t>—</a:t>
              </a:r>
              <a:r>
                <a:rPr kumimoji="0" lang="en-US" altLang="zh-CN" sz="2600" b="0" i="0" u="none" strike="noStrike" kern="1200" cap="none" spc="0" normalizeH="0" baseline="0" noProof="0">
                  <a:ln>
                    <a:noFill/>
                  </a:ln>
                  <a:solidFill>
                    <a:srgbClr val="000066"/>
                  </a:solidFill>
                  <a:effectLst/>
                  <a:uLnTx/>
                  <a:uFillTx/>
                  <a:latin typeface="+mn-lt"/>
                  <a:ea typeface="+mn-ea"/>
                  <a:cs typeface="+mn-ea"/>
                  <a:sym typeface="+mn-lt"/>
                </a:rPr>
                <a:t>111</a:t>
              </a:r>
              <a:r>
                <a:rPr kumimoji="0" lang="en-US" altLang="zh-CN" sz="2600" b="1" i="0" u="none" strike="noStrike" kern="1200" cap="none" spc="0" normalizeH="0" baseline="0" noProof="0">
                  <a:ln>
                    <a:noFill/>
                  </a:ln>
                  <a:solidFill>
                    <a:srgbClr val="000066"/>
                  </a:solidFill>
                  <a:effectLst/>
                  <a:uLnTx/>
                  <a:uFillTx/>
                  <a:latin typeface="+mn-lt"/>
                  <a:ea typeface="+mn-ea"/>
                  <a:cs typeface="+mn-ea"/>
                  <a:sym typeface="+mn-lt"/>
                </a:rPr>
                <a:t>                                                  </a:t>
              </a:r>
            </a:p>
          </p:txBody>
        </p:sp>
        <p:sp>
          <p:nvSpPr>
            <p:cNvPr id="92187" name="AutoShape 27"/>
            <p:cNvSpPr>
              <a:spLocks noChangeArrowheads="1"/>
            </p:cNvSpPr>
            <p:nvPr/>
          </p:nvSpPr>
          <p:spPr bwMode="auto">
            <a:xfrm>
              <a:off x="4440" y="700"/>
              <a:ext cx="432" cy="1364"/>
            </a:xfrm>
            <a:prstGeom prst="downArrow">
              <a:avLst>
                <a:gd name="adj1" fmla="val 50000"/>
                <a:gd name="adj2" fmla="val 78906"/>
              </a:avLst>
            </a:prstGeom>
            <a:solidFill>
              <a:schemeClr val="accent1"/>
            </a:solidFill>
            <a:ln w="9525">
              <a:solidFill>
                <a:schemeClr val="tx1"/>
              </a:solidFill>
              <a:miter lim="800000"/>
            </a:ln>
          </p:spPr>
          <p:txBody>
            <a:bodyPr vert="eaVert"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2188" name="Text Box 28"/>
            <p:cNvSpPr txBox="1">
              <a:spLocks noChangeArrowheads="1"/>
            </p:cNvSpPr>
            <p:nvPr/>
          </p:nvSpPr>
          <p:spPr bwMode="auto">
            <a:xfrm>
              <a:off x="3348" y="2112"/>
              <a:ext cx="1836" cy="310"/>
            </a:xfrm>
            <a:prstGeom prst="rect">
              <a:avLst/>
            </a:prstGeom>
            <a:noFill/>
            <a:ln w="28575">
              <a:solidFill>
                <a:srgbClr val="FF0000"/>
              </a:solidFill>
              <a:miter lim="800000"/>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600" b="0" i="0" u="none" strike="noStrike" kern="1200" cap="none" spc="0" normalizeH="0" baseline="0" noProof="0">
                  <a:ln>
                    <a:noFill/>
                  </a:ln>
                  <a:solidFill>
                    <a:srgbClr val="000066"/>
                  </a:solidFill>
                  <a:effectLst/>
                  <a:uLnTx/>
                  <a:uFillTx/>
                  <a:latin typeface="+mn-lt"/>
                  <a:ea typeface="+mn-ea"/>
                  <a:cs typeface="+mn-ea"/>
                  <a:sym typeface="+mn-lt"/>
                </a:rPr>
                <a:t>0110010101110</a:t>
              </a:r>
            </a:p>
          </p:txBody>
        </p:sp>
      </p:grpSp>
      <p:sp>
        <p:nvSpPr>
          <p:cNvPr id="92189" name="Text Box 29"/>
          <p:cNvSpPr txBox="1">
            <a:spLocks noChangeArrowheads="1"/>
          </p:cNvSpPr>
          <p:nvPr/>
        </p:nvSpPr>
        <p:spPr bwMode="auto">
          <a:xfrm>
            <a:off x="5753100" y="1290638"/>
            <a:ext cx="2970213" cy="488950"/>
          </a:xfrm>
          <a:prstGeom prst="rect">
            <a:avLst/>
          </a:prstGeom>
          <a:solidFill>
            <a:srgbClr val="EBEBEB"/>
          </a:solid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600" b="0" i="0" u="none" strike="noStrike" kern="1200" cap="none" spc="0" normalizeH="0" baseline="0" noProof="0" dirty="0">
                <a:ln>
                  <a:noFill/>
                </a:ln>
                <a:solidFill>
                  <a:srgbClr val="000066"/>
                </a:solidFill>
                <a:effectLst/>
                <a:uLnTx/>
                <a:uFillTx/>
                <a:latin typeface="+mn-lt"/>
                <a:ea typeface="+mn-ea"/>
                <a:cs typeface="+mn-ea"/>
                <a:sym typeface="+mn-lt"/>
              </a:rPr>
              <a:t> ABACCDA</a:t>
            </a:r>
          </a:p>
        </p:txBody>
      </p:sp>
      <p:sp>
        <p:nvSpPr>
          <p:cNvPr id="30" name="Rectangle 16"/>
          <p:cNvSpPr>
            <a:spLocks noChangeArrowheads="1"/>
          </p:cNvSpPr>
          <p:nvPr/>
        </p:nvSpPr>
        <p:spPr bwMode="auto">
          <a:xfrm>
            <a:off x="800100" y="201613"/>
            <a:ext cx="586740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哈夫曼树应用实例－－哈夫曼编码</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3186" name="Text Box 2"/>
          <p:cNvSpPr txBox="1">
            <a:spLocks noChangeArrowheads="1"/>
          </p:cNvSpPr>
          <p:nvPr/>
        </p:nvSpPr>
        <p:spPr bwMode="auto">
          <a:xfrm>
            <a:off x="1330325" y="42863"/>
            <a:ext cx="32766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Char char=" "/>
              <a:defRPr/>
            </a:pPr>
            <a:endParaRPr kumimoji="0" lang="zh-CN" altLang="zh-CN"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187" name="Text Box 3"/>
          <p:cNvSpPr txBox="1">
            <a:spLocks noChangeArrowheads="1"/>
          </p:cNvSpPr>
          <p:nvPr/>
        </p:nvSpPr>
        <p:spPr bwMode="auto">
          <a:xfrm>
            <a:off x="323850" y="1052513"/>
            <a:ext cx="8569325" cy="1890713"/>
          </a:xfrm>
          <a:prstGeom prst="roundRect">
            <a:avLst>
              <a:gd name="adj" fmla="val 10619"/>
            </a:avLst>
          </a:prstGeom>
          <a:solidFill>
            <a:srgbClr val="EBEBEB"/>
          </a:solidFill>
          <a:ln w="28575">
            <a:noFill/>
            <a:miter lim="800000"/>
          </a:ln>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20000"/>
              </a:spcBef>
              <a:spcAft>
                <a:spcPct val="0"/>
              </a:spcAft>
              <a:buClrTx/>
              <a:buSzTx/>
              <a:buFont typeface="Wingdings" panose="05000000000000000000" pitchFamily="2" charset="2"/>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分解接收字符串：遇“</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0”</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向左，遇“</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向右；一旦到达叶子结点，则译出一个字符，反复由根出发，直到译码完成。                                                  </a:t>
            </a:r>
          </a:p>
        </p:txBody>
      </p:sp>
      <p:sp>
        <p:nvSpPr>
          <p:cNvPr id="93188" name="Text Box 4"/>
          <p:cNvSpPr txBox="1">
            <a:spLocks noChangeArrowheads="1"/>
          </p:cNvSpPr>
          <p:nvPr/>
        </p:nvSpPr>
        <p:spPr bwMode="auto">
          <a:xfrm>
            <a:off x="5826125" y="2354263"/>
            <a:ext cx="1524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endParaRPr kumimoji="0" lang="zh-CN" altLang="zh-CN"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189" name="AutoShape 5"/>
          <p:cNvSpPr>
            <a:spLocks noChangeArrowheads="1"/>
          </p:cNvSpPr>
          <p:nvPr/>
        </p:nvSpPr>
        <p:spPr bwMode="auto">
          <a:xfrm>
            <a:off x="6297613" y="3798888"/>
            <a:ext cx="381000" cy="1444625"/>
          </a:xfrm>
          <a:prstGeom prst="downArrow">
            <a:avLst>
              <a:gd name="adj1" fmla="val 50000"/>
              <a:gd name="adj2" fmla="val 90752"/>
            </a:avLst>
          </a:prstGeom>
          <a:solidFill>
            <a:schemeClr val="accent1"/>
          </a:solidFill>
          <a:ln w="9525">
            <a:noFill/>
            <a:miter lim="800000"/>
          </a:ln>
        </p:spPr>
        <p:txBody>
          <a:bodyPr vert="eaVert"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190" name="Text Box 6"/>
          <p:cNvSpPr txBox="1">
            <a:spLocks noChangeArrowheads="1"/>
          </p:cNvSpPr>
          <p:nvPr/>
        </p:nvSpPr>
        <p:spPr bwMode="auto">
          <a:xfrm>
            <a:off x="5349875" y="3159125"/>
            <a:ext cx="2514600"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600" b="0" i="0" u="none" strike="noStrike" kern="1200" cap="none" spc="0" normalizeH="0" baseline="0" noProof="0">
                <a:ln>
                  <a:noFill/>
                </a:ln>
                <a:solidFill>
                  <a:srgbClr val="000066"/>
                </a:solidFill>
                <a:effectLst/>
                <a:uLnTx/>
                <a:uFillTx/>
                <a:latin typeface="+mn-lt"/>
                <a:ea typeface="+mn-ea"/>
                <a:cs typeface="+mn-ea"/>
                <a:sym typeface="+mn-lt"/>
              </a:rPr>
              <a:t>0110010101110</a:t>
            </a:r>
          </a:p>
        </p:txBody>
      </p:sp>
      <p:sp>
        <p:nvSpPr>
          <p:cNvPr id="93191" name="Oval 7"/>
          <p:cNvSpPr>
            <a:spLocks noChangeArrowheads="1"/>
          </p:cNvSpPr>
          <p:nvPr/>
        </p:nvSpPr>
        <p:spPr bwMode="auto">
          <a:xfrm>
            <a:off x="2054225" y="3403600"/>
            <a:ext cx="457200" cy="457200"/>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192" name="Oval 8"/>
          <p:cNvSpPr>
            <a:spLocks noChangeArrowheads="1"/>
          </p:cNvSpPr>
          <p:nvPr/>
        </p:nvSpPr>
        <p:spPr bwMode="auto">
          <a:xfrm>
            <a:off x="2587625" y="3784600"/>
            <a:ext cx="457200" cy="457200"/>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193" name="Oval 9"/>
          <p:cNvSpPr>
            <a:spLocks noChangeArrowheads="1"/>
          </p:cNvSpPr>
          <p:nvPr/>
        </p:nvSpPr>
        <p:spPr bwMode="auto">
          <a:xfrm>
            <a:off x="3121025" y="4318000"/>
            <a:ext cx="457200" cy="457200"/>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194" name="Oval 10"/>
          <p:cNvSpPr>
            <a:spLocks noChangeArrowheads="1"/>
          </p:cNvSpPr>
          <p:nvPr/>
        </p:nvSpPr>
        <p:spPr bwMode="auto">
          <a:xfrm>
            <a:off x="1520825" y="3860800"/>
            <a:ext cx="457200" cy="457200"/>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A</a:t>
            </a:r>
          </a:p>
        </p:txBody>
      </p:sp>
      <p:sp>
        <p:nvSpPr>
          <p:cNvPr id="93195" name="Oval 11"/>
          <p:cNvSpPr>
            <a:spLocks noChangeArrowheads="1"/>
          </p:cNvSpPr>
          <p:nvPr/>
        </p:nvSpPr>
        <p:spPr bwMode="auto">
          <a:xfrm>
            <a:off x="2130425" y="4394200"/>
            <a:ext cx="457200" cy="457200"/>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C</a:t>
            </a:r>
          </a:p>
        </p:txBody>
      </p:sp>
      <p:sp>
        <p:nvSpPr>
          <p:cNvPr id="93196" name="Oval 12"/>
          <p:cNvSpPr>
            <a:spLocks noChangeArrowheads="1"/>
          </p:cNvSpPr>
          <p:nvPr/>
        </p:nvSpPr>
        <p:spPr bwMode="auto">
          <a:xfrm>
            <a:off x="2663825" y="4927600"/>
            <a:ext cx="457200" cy="457200"/>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B</a:t>
            </a:r>
          </a:p>
        </p:txBody>
      </p:sp>
      <p:sp>
        <p:nvSpPr>
          <p:cNvPr id="93197" name="Oval 13"/>
          <p:cNvSpPr>
            <a:spLocks noChangeArrowheads="1"/>
          </p:cNvSpPr>
          <p:nvPr/>
        </p:nvSpPr>
        <p:spPr bwMode="auto">
          <a:xfrm>
            <a:off x="3578225" y="4927600"/>
            <a:ext cx="457200" cy="457200"/>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D</a:t>
            </a:r>
          </a:p>
        </p:txBody>
      </p:sp>
      <p:sp>
        <p:nvSpPr>
          <p:cNvPr id="93198" name="Line 14"/>
          <p:cNvSpPr>
            <a:spLocks noChangeShapeType="1"/>
          </p:cNvSpPr>
          <p:nvPr/>
        </p:nvSpPr>
        <p:spPr bwMode="auto">
          <a:xfrm flipH="1">
            <a:off x="1978025" y="3784600"/>
            <a:ext cx="76200" cy="1524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199" name="Line 15"/>
          <p:cNvSpPr>
            <a:spLocks noChangeShapeType="1"/>
          </p:cNvSpPr>
          <p:nvPr/>
        </p:nvSpPr>
        <p:spPr bwMode="auto">
          <a:xfrm>
            <a:off x="2473325" y="3762375"/>
            <a:ext cx="153988" cy="9842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0" name="Line 16"/>
          <p:cNvSpPr>
            <a:spLocks noChangeShapeType="1"/>
          </p:cNvSpPr>
          <p:nvPr/>
        </p:nvSpPr>
        <p:spPr bwMode="auto">
          <a:xfrm flipH="1">
            <a:off x="2511425" y="4241800"/>
            <a:ext cx="152400" cy="2286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1" name="Line 17"/>
          <p:cNvSpPr>
            <a:spLocks noChangeShapeType="1"/>
          </p:cNvSpPr>
          <p:nvPr/>
        </p:nvSpPr>
        <p:spPr bwMode="auto">
          <a:xfrm flipH="1">
            <a:off x="2968625" y="4699000"/>
            <a:ext cx="228600" cy="2286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2" name="Line 18"/>
          <p:cNvSpPr>
            <a:spLocks noChangeShapeType="1"/>
          </p:cNvSpPr>
          <p:nvPr/>
        </p:nvSpPr>
        <p:spPr bwMode="auto">
          <a:xfrm>
            <a:off x="3502025" y="4699000"/>
            <a:ext cx="206375" cy="24288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93203" name="Line 19"/>
          <p:cNvSpPr>
            <a:spLocks noChangeShapeType="1"/>
          </p:cNvSpPr>
          <p:nvPr/>
        </p:nvSpPr>
        <p:spPr bwMode="auto">
          <a:xfrm>
            <a:off x="2968625" y="4165600"/>
            <a:ext cx="228600" cy="2286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3204" name="Text Box 20"/>
          <p:cNvSpPr txBox="1">
            <a:spLocks noChangeArrowheads="1"/>
          </p:cNvSpPr>
          <p:nvPr/>
        </p:nvSpPr>
        <p:spPr bwMode="auto">
          <a:xfrm>
            <a:off x="1597025" y="3479800"/>
            <a:ext cx="533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3205" name="Text Box 21"/>
          <p:cNvSpPr txBox="1">
            <a:spLocks noChangeArrowheads="1"/>
          </p:cNvSpPr>
          <p:nvPr/>
        </p:nvSpPr>
        <p:spPr bwMode="auto">
          <a:xfrm>
            <a:off x="2130425" y="4013200"/>
            <a:ext cx="533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3206" name="Text Box 22"/>
          <p:cNvSpPr txBox="1">
            <a:spLocks noChangeArrowheads="1"/>
          </p:cNvSpPr>
          <p:nvPr/>
        </p:nvSpPr>
        <p:spPr bwMode="auto">
          <a:xfrm>
            <a:off x="2740025" y="4546600"/>
            <a:ext cx="533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3207" name="Text Box 23"/>
          <p:cNvSpPr txBox="1">
            <a:spLocks noChangeArrowheads="1"/>
          </p:cNvSpPr>
          <p:nvPr/>
        </p:nvSpPr>
        <p:spPr bwMode="auto">
          <a:xfrm>
            <a:off x="2663825" y="3327400"/>
            <a:ext cx="533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208" name="Text Box 24"/>
          <p:cNvSpPr txBox="1">
            <a:spLocks noChangeArrowheads="1"/>
          </p:cNvSpPr>
          <p:nvPr/>
        </p:nvSpPr>
        <p:spPr bwMode="auto">
          <a:xfrm>
            <a:off x="3197225" y="3937000"/>
            <a:ext cx="533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209" name="Text Box 25"/>
          <p:cNvSpPr txBox="1">
            <a:spLocks noChangeArrowheads="1"/>
          </p:cNvSpPr>
          <p:nvPr/>
        </p:nvSpPr>
        <p:spPr bwMode="auto">
          <a:xfrm>
            <a:off x="3654425" y="4546600"/>
            <a:ext cx="533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3210" name="Text Box 26"/>
          <p:cNvSpPr txBox="1">
            <a:spLocks noChangeArrowheads="1"/>
          </p:cNvSpPr>
          <p:nvPr/>
        </p:nvSpPr>
        <p:spPr bwMode="auto">
          <a:xfrm>
            <a:off x="5616575" y="5307013"/>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accent2"/>
                </a:solidFill>
                <a:effectLst/>
                <a:uLnTx/>
                <a:uFillTx/>
                <a:latin typeface="+mn-lt"/>
                <a:ea typeface="+mn-ea"/>
                <a:cs typeface="+mn-ea"/>
                <a:sym typeface="+mn-lt"/>
              </a:rPr>
              <a:t>ABACCDA</a:t>
            </a:r>
          </a:p>
        </p:txBody>
      </p:sp>
      <p:sp>
        <p:nvSpPr>
          <p:cNvPr id="957467" name="Rectangle 27"/>
          <p:cNvSpPr>
            <a:spLocks noChangeArrowheads="1"/>
          </p:cNvSpPr>
          <p:nvPr/>
        </p:nvSpPr>
        <p:spPr bwMode="auto">
          <a:xfrm>
            <a:off x="355600" y="6073775"/>
            <a:ext cx="85026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2"/>
                </a:solidFill>
                <a:effectLst/>
                <a:uLnTx/>
                <a:uFillTx/>
                <a:latin typeface="+mn-lt"/>
                <a:ea typeface="+mn-ea"/>
                <a:cs typeface="+mn-ea"/>
                <a:sym typeface="+mn-lt"/>
              </a:rPr>
              <a:t>特点：每一码都不是另一码的前缀，绝不会错译</a:t>
            </a:r>
            <a:r>
              <a:rPr kumimoji="0" lang="en-US" altLang="zh-CN" sz="2400" b="0" i="0" u="none" strike="noStrike" kern="1200" cap="none" spc="0" normalizeH="0" baseline="0" noProof="0" dirty="0">
                <a:ln>
                  <a:noFill/>
                </a:ln>
                <a:solidFill>
                  <a:schemeClr val="tx2"/>
                </a:solidFill>
                <a:effectLst/>
                <a:uLnTx/>
                <a:uFillTx/>
                <a:latin typeface="+mn-lt"/>
                <a:ea typeface="+mn-ea"/>
                <a:cs typeface="+mn-ea"/>
                <a:sym typeface="+mn-lt"/>
              </a:rPr>
              <a:t>! </a:t>
            </a:r>
            <a:r>
              <a:rPr kumimoji="0" lang="zh-CN" altLang="en-US" sz="2400" b="0" i="0" u="none" strike="noStrike" kern="1200" cap="none" spc="0" normalizeH="0" baseline="0" noProof="0" dirty="0">
                <a:ln>
                  <a:noFill/>
                </a:ln>
                <a:solidFill>
                  <a:schemeClr val="tx2"/>
                </a:solidFill>
                <a:effectLst/>
                <a:uLnTx/>
                <a:uFillTx/>
                <a:latin typeface="+mn-lt"/>
                <a:ea typeface="+mn-ea"/>
                <a:cs typeface="+mn-ea"/>
                <a:sym typeface="+mn-lt"/>
              </a:rPr>
              <a:t>称为前缀码</a:t>
            </a:r>
          </a:p>
        </p:txBody>
      </p:sp>
      <p:sp>
        <p:nvSpPr>
          <p:cNvPr id="93212" name="Rectangle 28"/>
          <p:cNvSpPr>
            <a:spLocks noChangeArrowheads="1"/>
          </p:cNvSpPr>
          <p:nvPr/>
        </p:nvSpPr>
        <p:spPr bwMode="auto">
          <a:xfrm>
            <a:off x="784225" y="223838"/>
            <a:ext cx="45688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哈夫曼编码的译码过程</a:t>
            </a:r>
          </a:p>
        </p:txBody>
      </p:sp>
    </p:spTree>
  </p:cSld>
  <p:clrMapOvr>
    <a:masterClrMapping/>
  </p:clrMapOvr>
  <p:transition>
    <p:blinds dir="vert"/>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95746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7467" grpId="0"/>
    </p:bldLst>
  </p:timing>
</p:sld>
</file>

<file path=ppt/slides/slide16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98306" name="Group 12"/>
          <p:cNvGrpSpPr/>
          <p:nvPr/>
        </p:nvGrpSpPr>
        <p:grpSpPr>
          <a:xfrm>
            <a:off x="6007100" y="981075"/>
            <a:ext cx="2903538" cy="2127250"/>
            <a:chOff x="4128" y="227"/>
            <a:chExt cx="1477" cy="1139"/>
          </a:xfrm>
        </p:grpSpPr>
        <p:grpSp>
          <p:nvGrpSpPr>
            <p:cNvPr id="98341" name="Group 13"/>
            <p:cNvGrpSpPr/>
            <p:nvPr/>
          </p:nvGrpSpPr>
          <p:grpSpPr>
            <a:xfrm>
              <a:off x="4128" y="288"/>
              <a:ext cx="1477" cy="1078"/>
              <a:chOff x="838" y="1898"/>
              <a:chExt cx="1477" cy="1078"/>
            </a:xfrm>
          </p:grpSpPr>
          <p:sp>
            <p:nvSpPr>
              <p:cNvPr id="94217" name="Oval 14"/>
              <p:cNvSpPr>
                <a:spLocks noChangeArrowheads="1"/>
              </p:cNvSpPr>
              <p:nvPr/>
            </p:nvSpPr>
            <p:spPr bwMode="auto">
              <a:xfrm>
                <a:off x="1450" y="1898"/>
                <a:ext cx="214" cy="188"/>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lIns="92075" tIns="46038" rIns="92075" bIns="46038"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218" name="Oval 15"/>
              <p:cNvSpPr>
                <a:spLocks noChangeArrowheads="1"/>
              </p:cNvSpPr>
              <p:nvPr/>
            </p:nvSpPr>
            <p:spPr bwMode="auto">
              <a:xfrm>
                <a:off x="1117" y="2290"/>
                <a:ext cx="214" cy="188"/>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219" name="Oval 16"/>
              <p:cNvSpPr>
                <a:spLocks noChangeArrowheads="1"/>
              </p:cNvSpPr>
              <p:nvPr/>
            </p:nvSpPr>
            <p:spPr bwMode="auto">
              <a:xfrm>
                <a:off x="1799" y="2274"/>
                <a:ext cx="214" cy="188"/>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220" name="Oval 17"/>
              <p:cNvSpPr>
                <a:spLocks noChangeArrowheads="1"/>
              </p:cNvSpPr>
              <p:nvPr/>
            </p:nvSpPr>
            <p:spPr bwMode="auto">
              <a:xfrm>
                <a:off x="838" y="2725"/>
                <a:ext cx="214" cy="188"/>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221" name="Line 18"/>
              <p:cNvSpPr>
                <a:spLocks noChangeShapeType="1"/>
              </p:cNvSpPr>
              <p:nvPr/>
            </p:nvSpPr>
            <p:spPr bwMode="auto">
              <a:xfrm flipH="1">
                <a:off x="1232" y="2084"/>
                <a:ext cx="268" cy="20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222" name="Line 19"/>
              <p:cNvSpPr>
                <a:spLocks noChangeShapeType="1"/>
              </p:cNvSpPr>
              <p:nvPr/>
            </p:nvSpPr>
            <p:spPr bwMode="auto">
              <a:xfrm flipH="1">
                <a:off x="951" y="2467"/>
                <a:ext cx="191" cy="25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223" name="Rectangle 20"/>
              <p:cNvSpPr>
                <a:spLocks noChangeArrowheads="1"/>
              </p:cNvSpPr>
              <p:nvPr/>
            </p:nvSpPr>
            <p:spPr bwMode="auto">
              <a:xfrm>
                <a:off x="847" y="2685"/>
                <a:ext cx="15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d</a:t>
                </a:r>
                <a:endParaRPr kumimoji="0" lang="en-US" altLang="zh-TW" sz="2400" b="1"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94224" name="Line 21"/>
              <p:cNvSpPr>
                <a:spLocks noChangeShapeType="1"/>
              </p:cNvSpPr>
              <p:nvPr/>
            </p:nvSpPr>
            <p:spPr bwMode="auto">
              <a:xfrm>
                <a:off x="1623" y="2079"/>
                <a:ext cx="293" cy="19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225" name="Oval 22"/>
              <p:cNvSpPr>
                <a:spLocks noChangeArrowheads="1"/>
              </p:cNvSpPr>
              <p:nvPr/>
            </p:nvSpPr>
            <p:spPr bwMode="auto">
              <a:xfrm>
                <a:off x="1344" y="2718"/>
                <a:ext cx="214" cy="188"/>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226" name="Line 23"/>
              <p:cNvSpPr>
                <a:spLocks noChangeShapeType="1"/>
              </p:cNvSpPr>
              <p:nvPr/>
            </p:nvSpPr>
            <p:spPr bwMode="auto">
              <a:xfrm>
                <a:off x="1282" y="2476"/>
                <a:ext cx="182" cy="24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227" name="Rectangle 24"/>
              <p:cNvSpPr>
                <a:spLocks noChangeArrowheads="1"/>
              </p:cNvSpPr>
              <p:nvPr/>
            </p:nvSpPr>
            <p:spPr bwMode="auto">
              <a:xfrm>
                <a:off x="1359" y="2667"/>
                <a:ext cx="14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e</a:t>
                </a:r>
                <a:endParaRPr kumimoji="0" lang="en-US" altLang="zh-TW"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228" name="Oval 25"/>
              <p:cNvSpPr>
                <a:spLocks noChangeArrowheads="1"/>
              </p:cNvSpPr>
              <p:nvPr/>
            </p:nvSpPr>
            <p:spPr bwMode="auto">
              <a:xfrm>
                <a:off x="2101" y="2711"/>
                <a:ext cx="214" cy="188"/>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230" name="Line 27"/>
              <p:cNvSpPr>
                <a:spLocks noChangeShapeType="1"/>
              </p:cNvSpPr>
              <p:nvPr/>
            </p:nvSpPr>
            <p:spPr bwMode="auto">
              <a:xfrm>
                <a:off x="1987" y="2450"/>
                <a:ext cx="238" cy="26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231" name="Line 28"/>
              <p:cNvSpPr>
                <a:spLocks noChangeShapeType="1"/>
              </p:cNvSpPr>
              <p:nvPr/>
            </p:nvSpPr>
            <p:spPr bwMode="auto">
              <a:xfrm flipH="1">
                <a:off x="1736" y="2450"/>
                <a:ext cx="134" cy="28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232" name="Oval 29"/>
              <p:cNvSpPr>
                <a:spLocks noChangeArrowheads="1"/>
              </p:cNvSpPr>
              <p:nvPr/>
            </p:nvSpPr>
            <p:spPr bwMode="auto">
              <a:xfrm>
                <a:off x="1669" y="2718"/>
                <a:ext cx="214" cy="189"/>
              </a:xfrm>
              <a:prstGeom prst="ellipse">
                <a:avLst/>
              </a:pr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233" name="Text Box 30"/>
              <p:cNvSpPr txBox="1">
                <a:spLocks noChangeArrowheads="1"/>
              </p:cNvSpPr>
              <p:nvPr/>
            </p:nvSpPr>
            <p:spPr bwMode="auto">
              <a:xfrm>
                <a:off x="1736" y="2638"/>
                <a:ext cx="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en-US" altLang="zh-TW"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234" name="Rectangle 31"/>
              <p:cNvSpPr>
                <a:spLocks noChangeArrowheads="1"/>
              </p:cNvSpPr>
              <p:nvPr/>
            </p:nvSpPr>
            <p:spPr bwMode="auto">
              <a:xfrm>
                <a:off x="877" y="2427"/>
                <a:ext cx="82"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TW" altLang="en-US"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235" name="Rectangle 32"/>
              <p:cNvSpPr>
                <a:spLocks noChangeArrowheads="1"/>
              </p:cNvSpPr>
              <p:nvPr/>
            </p:nvSpPr>
            <p:spPr bwMode="auto">
              <a:xfrm>
                <a:off x="1206" y="2458"/>
                <a:ext cx="8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TW" altLang="en-US"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236" name="Rectangle 33"/>
              <p:cNvSpPr>
                <a:spLocks noChangeArrowheads="1"/>
              </p:cNvSpPr>
              <p:nvPr/>
            </p:nvSpPr>
            <p:spPr bwMode="auto">
              <a:xfrm>
                <a:off x="1619" y="2420"/>
                <a:ext cx="8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TW" altLang="en-US"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4237" name="Rectangle 34"/>
              <p:cNvSpPr>
                <a:spLocks noChangeArrowheads="1"/>
              </p:cNvSpPr>
              <p:nvPr/>
            </p:nvSpPr>
            <p:spPr bwMode="auto">
              <a:xfrm>
                <a:off x="2066" y="2420"/>
                <a:ext cx="8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TW" altLang="en-US" sz="24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4238" name="Rectangle 35"/>
            <p:cNvSpPr>
              <a:spLocks noChangeArrowheads="1"/>
            </p:cNvSpPr>
            <p:nvPr/>
          </p:nvSpPr>
          <p:spPr bwMode="auto">
            <a:xfrm>
              <a:off x="4416" y="639"/>
              <a:ext cx="15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b</a:t>
              </a:r>
            </a:p>
          </p:txBody>
        </p:sp>
        <p:sp>
          <p:nvSpPr>
            <p:cNvPr id="94239" name="Rectangle 36"/>
            <p:cNvSpPr>
              <a:spLocks noChangeArrowheads="1"/>
            </p:cNvSpPr>
            <p:nvPr/>
          </p:nvSpPr>
          <p:spPr bwMode="auto">
            <a:xfrm>
              <a:off x="4752" y="227"/>
              <a:ext cx="14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a</a:t>
              </a:r>
            </a:p>
          </p:txBody>
        </p:sp>
        <p:sp>
          <p:nvSpPr>
            <p:cNvPr id="94240" name="Rectangle 37"/>
            <p:cNvSpPr>
              <a:spLocks noChangeArrowheads="1"/>
            </p:cNvSpPr>
            <p:nvPr/>
          </p:nvSpPr>
          <p:spPr bwMode="auto">
            <a:xfrm>
              <a:off x="5115" y="606"/>
              <a:ext cx="139"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c</a:t>
              </a:r>
            </a:p>
          </p:txBody>
        </p:sp>
        <p:sp>
          <p:nvSpPr>
            <p:cNvPr id="94241" name="Rectangle 38"/>
            <p:cNvSpPr>
              <a:spLocks noChangeArrowheads="1"/>
            </p:cNvSpPr>
            <p:nvPr/>
          </p:nvSpPr>
          <p:spPr bwMode="auto">
            <a:xfrm>
              <a:off x="4992" y="1075"/>
              <a:ext cx="15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f </a:t>
              </a:r>
            </a:p>
          </p:txBody>
        </p:sp>
        <p:sp>
          <p:nvSpPr>
            <p:cNvPr id="94242" name="Rectangle 39"/>
            <p:cNvSpPr>
              <a:spLocks noChangeArrowheads="1"/>
            </p:cNvSpPr>
            <p:nvPr/>
          </p:nvSpPr>
          <p:spPr bwMode="auto">
            <a:xfrm>
              <a:off x="5404" y="1037"/>
              <a:ext cx="14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g</a:t>
              </a:r>
            </a:p>
          </p:txBody>
        </p:sp>
      </p:grpSp>
      <p:sp>
        <p:nvSpPr>
          <p:cNvPr id="94251" name="Rectangle 55"/>
          <p:cNvSpPr>
            <a:spLocks noChangeArrowheads="1"/>
          </p:cNvSpPr>
          <p:nvPr/>
        </p:nvSpPr>
        <p:spPr bwMode="auto">
          <a:xfrm>
            <a:off x="841375" y="230188"/>
            <a:ext cx="3348038"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哈夫曼树的构造</a:t>
            </a:r>
          </a:p>
        </p:txBody>
      </p:sp>
      <p:grpSp>
        <p:nvGrpSpPr>
          <p:cNvPr id="44" name="组合 43"/>
          <p:cNvGrpSpPr/>
          <p:nvPr/>
        </p:nvGrpSpPr>
        <p:grpSpPr>
          <a:xfrm>
            <a:off x="107950" y="1125538"/>
            <a:ext cx="2627313" cy="2379662"/>
            <a:chOff x="1091444" y="1808820"/>
            <a:chExt cx="3034701" cy="2749178"/>
          </a:xfrm>
        </p:grpSpPr>
        <p:sp>
          <p:nvSpPr>
            <p:cNvPr id="45" name="íṩľíḍè-圆角矩形 61"/>
            <p:cNvSpPr/>
            <p:nvPr/>
          </p:nvSpPr>
          <p:spPr>
            <a:xfrm>
              <a:off x="1091444" y="1808820"/>
              <a:ext cx="3034701" cy="2743677"/>
            </a:xfrm>
            <a:prstGeom prst="roundRect">
              <a:avLst>
                <a:gd name="adj" fmla="val 3485"/>
              </a:avLst>
            </a:prstGeom>
            <a:solidFill>
              <a:srgbClr val="4F81BD"/>
            </a:solidFill>
            <a:ln w="25400" cap="flat" cmpd="sng" algn="ctr">
              <a:noFill/>
              <a:prstDash val="solid"/>
            </a:ln>
            <a:effectLst/>
          </p:spPr>
          <p:txBody>
            <a:bodyPr wrap="none" tIns="216000" bIns="216000" anchorCtr="1">
              <a:norm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400" b="0" i="0" u="none" strike="noStrike" kern="0" cap="none" spc="0" normalizeH="0" baseline="0" noProof="0" dirty="0">
                  <a:ln>
                    <a:noFill/>
                  </a:ln>
                  <a:solidFill>
                    <a:prstClr val="white"/>
                  </a:solidFill>
                  <a:effectLst/>
                  <a:uLnTx/>
                  <a:uFillTx/>
                  <a:latin typeface="+mn-ea"/>
                  <a:ea typeface="+mn-ea"/>
                  <a:cs typeface="+mn-cs"/>
                </a:rPr>
                <a:t>路    径</a:t>
              </a:r>
            </a:p>
          </p:txBody>
        </p:sp>
        <p:sp>
          <p:nvSpPr>
            <p:cNvPr id="46" name="íṩľíḍè-任意多边形 62"/>
            <p:cNvSpPr/>
            <p:nvPr/>
          </p:nvSpPr>
          <p:spPr>
            <a:xfrm>
              <a:off x="1091444" y="2854205"/>
              <a:ext cx="3034701" cy="1703793"/>
            </a:xfrm>
            <a:custGeom>
              <a:avLst/>
              <a:gdLst>
                <a:gd name="connsiteX0" fmla="*/ 0 w 3657600"/>
                <a:gd name="connsiteY0" fmla="*/ 0 h 5486400"/>
                <a:gd name="connsiteX1" fmla="*/ 127467 w 3657600"/>
                <a:gd name="connsiteY1" fmla="*/ 0 h 5486400"/>
                <a:gd name="connsiteX2" fmla="*/ 1072342 w 3657600"/>
                <a:gd name="connsiteY2" fmla="*/ 0 h 5486400"/>
                <a:gd name="connsiteX3" fmla="*/ 1828800 w 3657600"/>
                <a:gd name="connsiteY3" fmla="*/ 756458 h 5486400"/>
                <a:gd name="connsiteX4" fmla="*/ 2585258 w 3657600"/>
                <a:gd name="connsiteY4" fmla="*/ 0 h 5486400"/>
                <a:gd name="connsiteX5" fmla="*/ 3530133 w 3657600"/>
                <a:gd name="connsiteY5" fmla="*/ 0 h 5486400"/>
                <a:gd name="connsiteX6" fmla="*/ 3657600 w 3657600"/>
                <a:gd name="connsiteY6" fmla="*/ 0 h 5486400"/>
                <a:gd name="connsiteX7" fmla="*/ 3657600 w 3657600"/>
                <a:gd name="connsiteY7" fmla="*/ 127467 h 5486400"/>
                <a:gd name="connsiteX8" fmla="*/ 3657600 w 3657600"/>
                <a:gd name="connsiteY8" fmla="*/ 914400 h 5486400"/>
                <a:gd name="connsiteX9" fmla="*/ 3657600 w 3657600"/>
                <a:gd name="connsiteY9" fmla="*/ 5358933 h 5486400"/>
                <a:gd name="connsiteX10" fmla="*/ 3530133 w 3657600"/>
                <a:gd name="connsiteY10" fmla="*/ 5486400 h 5486400"/>
                <a:gd name="connsiteX11" fmla="*/ 127467 w 3657600"/>
                <a:gd name="connsiteY11" fmla="*/ 5486400 h 5486400"/>
                <a:gd name="connsiteX12" fmla="*/ 0 w 3657600"/>
                <a:gd name="connsiteY12" fmla="*/ 5358933 h 5486400"/>
                <a:gd name="connsiteX13" fmla="*/ 0 w 3657600"/>
                <a:gd name="connsiteY13" fmla="*/ 914400 h 5486400"/>
                <a:gd name="connsiteX14" fmla="*/ 0 w 3657600"/>
                <a:gd name="connsiteY14" fmla="*/ 127467 h 5486400"/>
                <a:gd name="connsiteX15" fmla="*/ 0 w 3657600"/>
                <a:gd name="connsiteY15" fmla="*/ 0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57600" h="5486400">
                  <a:moveTo>
                    <a:pt x="0" y="0"/>
                  </a:moveTo>
                  <a:lnTo>
                    <a:pt x="127467" y="0"/>
                  </a:lnTo>
                  <a:lnTo>
                    <a:pt x="1072342" y="0"/>
                  </a:lnTo>
                  <a:cubicBezTo>
                    <a:pt x="1072342" y="417780"/>
                    <a:pt x="1411020" y="756458"/>
                    <a:pt x="1828800" y="756458"/>
                  </a:cubicBezTo>
                  <a:cubicBezTo>
                    <a:pt x="2246580" y="756458"/>
                    <a:pt x="2585258" y="417780"/>
                    <a:pt x="2585258" y="0"/>
                  </a:cubicBezTo>
                  <a:lnTo>
                    <a:pt x="3530133" y="0"/>
                  </a:lnTo>
                  <a:lnTo>
                    <a:pt x="3657600" y="0"/>
                  </a:lnTo>
                  <a:lnTo>
                    <a:pt x="3657600" y="127467"/>
                  </a:lnTo>
                  <a:lnTo>
                    <a:pt x="3657600" y="914400"/>
                  </a:lnTo>
                  <a:lnTo>
                    <a:pt x="3657600" y="5358933"/>
                  </a:lnTo>
                  <a:cubicBezTo>
                    <a:pt x="3657600" y="5429331"/>
                    <a:pt x="3600531" y="5486400"/>
                    <a:pt x="3530133" y="5486400"/>
                  </a:cubicBezTo>
                  <a:lnTo>
                    <a:pt x="127467" y="5486400"/>
                  </a:lnTo>
                  <a:cubicBezTo>
                    <a:pt x="57069" y="5486400"/>
                    <a:pt x="0" y="5429331"/>
                    <a:pt x="0" y="5358933"/>
                  </a:cubicBezTo>
                  <a:lnTo>
                    <a:pt x="0" y="914400"/>
                  </a:lnTo>
                  <a:lnTo>
                    <a:pt x="0" y="127467"/>
                  </a:lnTo>
                  <a:lnTo>
                    <a:pt x="0" y="0"/>
                  </a:lnTo>
                  <a:close/>
                </a:path>
              </a:pathLst>
            </a:custGeom>
            <a:solidFill>
              <a:sysClr val="window" lastClr="FFFFFF">
                <a:lumMod val="95000"/>
              </a:sysClr>
            </a:solidFill>
            <a:ln w="25400" cap="flat" cmpd="sng" algn="ctr">
              <a:noFill/>
              <a:prstDash val="solid"/>
            </a:ln>
            <a:effectLst>
              <a:outerShdw dist="25400" dir="16200000" sx="101000" sy="101000" rotWithShape="0">
                <a:prstClr val="black">
                  <a:alpha val="14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7" name="íṩľíḍè-文本框 63"/>
            <p:cNvSpPr txBox="1"/>
            <p:nvPr/>
          </p:nvSpPr>
          <p:spPr>
            <a:xfrm>
              <a:off x="2275986" y="2546091"/>
              <a:ext cx="755466" cy="564875"/>
            </a:xfrm>
            <a:prstGeom prst="rect">
              <a:avLst/>
            </a:prstGeom>
            <a:noFill/>
          </p:spPr>
          <p:txBody>
            <a:bodyPr wrap="none">
              <a:normAutofit lnSpcReduction="10000"/>
            </a:bodyPr>
            <a:lstStyle/>
            <a:p>
              <a:pPr marR="0" algn="ctr" defTabSz="914400" eaLnBrk="1" fontAlgn="auto" hangingPunct="1">
                <a:spcBef>
                  <a:spcPts val="0"/>
                </a:spcBef>
                <a:spcAft>
                  <a:spcPts val="0"/>
                </a:spcAft>
                <a:buClrTx/>
                <a:buSzTx/>
                <a:buFontTx/>
                <a:buNone/>
                <a:defRPr/>
              </a:pPr>
              <a:r>
                <a:rPr kumimoji="0" lang="en-US" b="0" kern="0" cap="none" spc="0" normalizeH="0" baseline="0" noProof="0" dirty="0">
                  <a:solidFill>
                    <a:srgbClr val="EEECE1"/>
                  </a:solidFill>
                  <a:latin typeface="+mn-lt"/>
                  <a:ea typeface="+mn-ea"/>
                  <a:cs typeface="+mn-cs"/>
                </a:rPr>
                <a:t>01</a:t>
              </a:r>
            </a:p>
          </p:txBody>
        </p:sp>
        <p:sp>
          <p:nvSpPr>
            <p:cNvPr id="48" name="íṩľíḍè-Rectangle 30"/>
            <p:cNvSpPr/>
            <p:nvPr/>
          </p:nvSpPr>
          <p:spPr>
            <a:xfrm>
              <a:off x="1214300" y="3222840"/>
              <a:ext cx="2877005" cy="931676"/>
            </a:xfrm>
            <a:prstGeom prst="rect">
              <a:avLst/>
            </a:prstGeom>
          </p:spPr>
          <p:txBody>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2000" b="0" i="0" u="none" strike="noStrike" kern="0" cap="none" spc="0" normalizeH="0" baseline="0" noProof="0" dirty="0">
                  <a:ln>
                    <a:noFill/>
                  </a:ln>
                  <a:solidFill>
                    <a:prstClr val="black"/>
                  </a:solidFill>
                  <a:effectLst/>
                  <a:uLnTx/>
                  <a:uFillTx/>
                  <a:latin typeface="+mn-ea"/>
                  <a:ea typeface="+mn-ea"/>
                  <a:cs typeface="+mn-cs"/>
                </a:rPr>
                <a:t>由一结点到另一结点间的分支所构成</a:t>
              </a:r>
            </a:p>
          </p:txBody>
        </p:sp>
      </p:grpSp>
      <p:grpSp>
        <p:nvGrpSpPr>
          <p:cNvPr id="2" name="组合 1"/>
          <p:cNvGrpSpPr/>
          <p:nvPr/>
        </p:nvGrpSpPr>
        <p:grpSpPr>
          <a:xfrm>
            <a:off x="2905125" y="1131888"/>
            <a:ext cx="2962275" cy="2405062"/>
            <a:chOff x="2905464" y="1132553"/>
            <a:chExt cx="2962680" cy="2404456"/>
          </a:xfrm>
        </p:grpSpPr>
        <p:grpSp>
          <p:nvGrpSpPr>
            <p:cNvPr id="98330" name="组合 49"/>
            <p:cNvGrpSpPr/>
            <p:nvPr/>
          </p:nvGrpSpPr>
          <p:grpSpPr>
            <a:xfrm>
              <a:off x="2905464" y="1132553"/>
              <a:ext cx="2962680" cy="2404456"/>
              <a:chOff x="3723734" y="1808820"/>
              <a:chExt cx="3420603" cy="2776099"/>
            </a:xfrm>
          </p:grpSpPr>
          <p:sp>
            <p:nvSpPr>
              <p:cNvPr id="51" name="íṩľíḍè-圆角矩形 56"/>
              <p:cNvSpPr/>
              <p:nvPr/>
            </p:nvSpPr>
            <p:spPr>
              <a:xfrm>
                <a:off x="3723734" y="1808820"/>
                <a:ext cx="3420603" cy="2776099"/>
              </a:xfrm>
              <a:prstGeom prst="roundRect">
                <a:avLst>
                  <a:gd name="adj" fmla="val 3485"/>
                </a:avLst>
              </a:prstGeom>
              <a:solidFill>
                <a:srgbClr val="C0504D"/>
              </a:solidFill>
              <a:ln w="25400" cap="flat" cmpd="sng" algn="ctr">
                <a:noFill/>
                <a:prstDash val="solid"/>
              </a:ln>
              <a:effectLst/>
            </p:spPr>
            <p:txBody>
              <a:bodyPr wrap="none" tIns="216000" bIns="216000" anchorCtr="1">
                <a:norm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400" b="0" i="0" u="none" strike="noStrike" kern="0" cap="none" spc="0" normalizeH="0" baseline="0" noProof="0" dirty="0">
                    <a:ln>
                      <a:noFill/>
                    </a:ln>
                    <a:solidFill>
                      <a:prstClr val="white"/>
                    </a:solidFill>
                    <a:effectLst/>
                    <a:uLnTx/>
                    <a:uFillTx/>
                    <a:latin typeface="+mn-ea"/>
                    <a:ea typeface="+mn-ea"/>
                    <a:cs typeface="+mn-cs"/>
                  </a:rPr>
                  <a:t>路径长度</a:t>
                </a:r>
              </a:p>
            </p:txBody>
          </p:sp>
          <p:sp>
            <p:nvSpPr>
              <p:cNvPr id="52" name="íślíḋè-任意多边形 57"/>
              <p:cNvSpPr/>
              <p:nvPr/>
            </p:nvSpPr>
            <p:spPr>
              <a:xfrm>
                <a:off x="3723734" y="2734186"/>
                <a:ext cx="3420603" cy="1850733"/>
              </a:xfrm>
              <a:custGeom>
                <a:avLst/>
                <a:gdLst>
                  <a:gd name="connsiteX0" fmla="*/ 0 w 3657600"/>
                  <a:gd name="connsiteY0" fmla="*/ 0 h 5486400"/>
                  <a:gd name="connsiteX1" fmla="*/ 127467 w 3657600"/>
                  <a:gd name="connsiteY1" fmla="*/ 0 h 5486400"/>
                  <a:gd name="connsiteX2" fmla="*/ 1072342 w 3657600"/>
                  <a:gd name="connsiteY2" fmla="*/ 0 h 5486400"/>
                  <a:gd name="connsiteX3" fmla="*/ 1828800 w 3657600"/>
                  <a:gd name="connsiteY3" fmla="*/ 756458 h 5486400"/>
                  <a:gd name="connsiteX4" fmla="*/ 2585258 w 3657600"/>
                  <a:gd name="connsiteY4" fmla="*/ 0 h 5486400"/>
                  <a:gd name="connsiteX5" fmla="*/ 3530133 w 3657600"/>
                  <a:gd name="connsiteY5" fmla="*/ 0 h 5486400"/>
                  <a:gd name="connsiteX6" fmla="*/ 3657600 w 3657600"/>
                  <a:gd name="connsiteY6" fmla="*/ 0 h 5486400"/>
                  <a:gd name="connsiteX7" fmla="*/ 3657600 w 3657600"/>
                  <a:gd name="connsiteY7" fmla="*/ 127467 h 5486400"/>
                  <a:gd name="connsiteX8" fmla="*/ 3657600 w 3657600"/>
                  <a:gd name="connsiteY8" fmla="*/ 914400 h 5486400"/>
                  <a:gd name="connsiteX9" fmla="*/ 3657600 w 3657600"/>
                  <a:gd name="connsiteY9" fmla="*/ 5358933 h 5486400"/>
                  <a:gd name="connsiteX10" fmla="*/ 3530133 w 3657600"/>
                  <a:gd name="connsiteY10" fmla="*/ 5486400 h 5486400"/>
                  <a:gd name="connsiteX11" fmla="*/ 127467 w 3657600"/>
                  <a:gd name="connsiteY11" fmla="*/ 5486400 h 5486400"/>
                  <a:gd name="connsiteX12" fmla="*/ 0 w 3657600"/>
                  <a:gd name="connsiteY12" fmla="*/ 5358933 h 5486400"/>
                  <a:gd name="connsiteX13" fmla="*/ 0 w 3657600"/>
                  <a:gd name="connsiteY13" fmla="*/ 914400 h 5486400"/>
                  <a:gd name="connsiteX14" fmla="*/ 0 w 3657600"/>
                  <a:gd name="connsiteY14" fmla="*/ 127467 h 5486400"/>
                  <a:gd name="connsiteX15" fmla="*/ 0 w 3657600"/>
                  <a:gd name="connsiteY15" fmla="*/ 0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57600" h="5486400">
                    <a:moveTo>
                      <a:pt x="0" y="0"/>
                    </a:moveTo>
                    <a:lnTo>
                      <a:pt x="127467" y="0"/>
                    </a:lnTo>
                    <a:lnTo>
                      <a:pt x="1072342" y="0"/>
                    </a:lnTo>
                    <a:cubicBezTo>
                      <a:pt x="1072342" y="417780"/>
                      <a:pt x="1411020" y="756458"/>
                      <a:pt x="1828800" y="756458"/>
                    </a:cubicBezTo>
                    <a:cubicBezTo>
                      <a:pt x="2246580" y="756458"/>
                      <a:pt x="2585258" y="417780"/>
                      <a:pt x="2585258" y="0"/>
                    </a:cubicBezTo>
                    <a:lnTo>
                      <a:pt x="3530133" y="0"/>
                    </a:lnTo>
                    <a:lnTo>
                      <a:pt x="3657600" y="0"/>
                    </a:lnTo>
                    <a:lnTo>
                      <a:pt x="3657600" y="127467"/>
                    </a:lnTo>
                    <a:lnTo>
                      <a:pt x="3657600" y="914400"/>
                    </a:lnTo>
                    <a:lnTo>
                      <a:pt x="3657600" y="5358933"/>
                    </a:lnTo>
                    <a:cubicBezTo>
                      <a:pt x="3657600" y="5429331"/>
                      <a:pt x="3600531" y="5486400"/>
                      <a:pt x="3530133" y="5486400"/>
                    </a:cubicBezTo>
                    <a:lnTo>
                      <a:pt x="127467" y="5486400"/>
                    </a:lnTo>
                    <a:cubicBezTo>
                      <a:pt x="57069" y="5486400"/>
                      <a:pt x="0" y="5429331"/>
                      <a:pt x="0" y="5358933"/>
                    </a:cubicBezTo>
                    <a:lnTo>
                      <a:pt x="0" y="914400"/>
                    </a:lnTo>
                    <a:lnTo>
                      <a:pt x="0" y="127467"/>
                    </a:lnTo>
                    <a:lnTo>
                      <a:pt x="0" y="0"/>
                    </a:lnTo>
                    <a:close/>
                  </a:path>
                </a:pathLst>
              </a:custGeom>
              <a:solidFill>
                <a:sysClr val="window" lastClr="FFFFFF">
                  <a:lumMod val="95000"/>
                </a:sysClr>
              </a:solidFill>
              <a:ln w="25400" cap="flat" cmpd="sng" algn="ctr">
                <a:noFill/>
                <a:prstDash val="solid"/>
              </a:ln>
              <a:effectLst>
                <a:outerShdw dist="25400" dir="16200000" sx="101000" sy="101000" rotWithShape="0">
                  <a:prstClr val="black">
                    <a:alpha val="14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3" name="íślíḋè-文本框 58"/>
              <p:cNvSpPr txBox="1"/>
              <p:nvPr/>
            </p:nvSpPr>
            <p:spPr>
              <a:xfrm>
                <a:off x="5052747" y="2466654"/>
                <a:ext cx="757078" cy="707310"/>
              </a:xfrm>
              <a:prstGeom prst="rect">
                <a:avLst/>
              </a:prstGeom>
              <a:noFill/>
            </p:spPr>
            <p:txBody>
              <a:bodyPr wrap="none">
                <a:normAutofit/>
              </a:bodyPr>
              <a:lstStyle/>
              <a:p>
                <a:pPr marR="0" algn="ctr" defTabSz="914400" eaLnBrk="1" fontAlgn="auto" hangingPunct="1">
                  <a:spcBef>
                    <a:spcPts val="0"/>
                  </a:spcBef>
                  <a:spcAft>
                    <a:spcPts val="0"/>
                  </a:spcAft>
                  <a:buClrTx/>
                  <a:buSzTx/>
                  <a:buFontTx/>
                  <a:buNone/>
                  <a:defRPr/>
                </a:pPr>
                <a:r>
                  <a:rPr kumimoji="0" lang="en-US" b="0" kern="0" cap="none" spc="0" normalizeH="0" baseline="0" noProof="0" dirty="0">
                    <a:solidFill>
                      <a:srgbClr val="EEECE1"/>
                    </a:solidFill>
                    <a:latin typeface="+mn-lt"/>
                    <a:ea typeface="+mn-ea"/>
                    <a:cs typeface="+mn-cs"/>
                  </a:rPr>
                  <a:t>02</a:t>
                </a:r>
              </a:p>
            </p:txBody>
          </p:sp>
          <p:sp>
            <p:nvSpPr>
              <p:cNvPr id="54" name="íślíḋè-Rectangle 25"/>
              <p:cNvSpPr/>
              <p:nvPr/>
            </p:nvSpPr>
            <p:spPr>
              <a:xfrm>
                <a:off x="3872217" y="3161138"/>
                <a:ext cx="2934825" cy="551555"/>
              </a:xfrm>
              <a:prstGeom prst="rect">
                <a:avLst/>
              </a:prstGeom>
            </p:spPr>
            <p:txBody>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2000" b="0" i="0" u="none" strike="noStrike" kern="0" cap="none" spc="0" normalizeH="0" baseline="0" noProof="0" dirty="0">
                    <a:ln>
                      <a:noFill/>
                    </a:ln>
                    <a:solidFill>
                      <a:prstClr val="black"/>
                    </a:solidFill>
                    <a:effectLst/>
                    <a:uLnTx/>
                    <a:uFillTx/>
                    <a:latin typeface="+mn-ea"/>
                    <a:ea typeface="+mn-ea"/>
                    <a:cs typeface="+mn-cs"/>
                  </a:rPr>
                  <a:t>路径上的分支数目</a:t>
                </a:r>
              </a:p>
            </p:txBody>
          </p:sp>
        </p:grpSp>
        <p:sp>
          <p:nvSpPr>
            <p:cNvPr id="784426" name="Rectangle 42"/>
            <p:cNvSpPr>
              <a:spLocks noChangeArrowheads="1"/>
            </p:cNvSpPr>
            <p:nvPr/>
          </p:nvSpPr>
          <p:spPr bwMode="auto">
            <a:xfrm>
              <a:off x="2970561" y="2727588"/>
              <a:ext cx="2695944" cy="463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err="1">
                  <a:ln>
                    <a:noFill/>
                  </a:ln>
                  <a:solidFill>
                    <a:schemeClr val="hlink"/>
                  </a:solidFill>
                  <a:effectLst/>
                  <a:uLnTx/>
                  <a:uFillTx/>
                  <a:latin typeface="+mn-lt"/>
                  <a:ea typeface="+mn-ea"/>
                  <a:cs typeface="+mn-ea"/>
                  <a:sym typeface="+mn-lt"/>
                </a:rPr>
                <a:t>a→e</a:t>
              </a: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的路径长度＝</a:t>
              </a:r>
            </a:p>
          </p:txBody>
        </p:sp>
        <p:sp>
          <p:nvSpPr>
            <p:cNvPr id="784428" name="Rectangle 44"/>
            <p:cNvSpPr>
              <a:spLocks noChangeArrowheads="1"/>
            </p:cNvSpPr>
            <p:nvPr/>
          </p:nvSpPr>
          <p:spPr bwMode="auto">
            <a:xfrm>
              <a:off x="5483916" y="2727588"/>
              <a:ext cx="338184" cy="463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hlink"/>
                  </a:solidFill>
                  <a:effectLst/>
                  <a:uLnTx/>
                  <a:uFillTx/>
                  <a:latin typeface="+mn-lt"/>
                  <a:ea typeface="+mn-ea"/>
                  <a:cs typeface="+mn-ea"/>
                  <a:sym typeface="+mn-lt"/>
                </a:rPr>
                <a:t>2</a:t>
              </a:r>
            </a:p>
          </p:txBody>
        </p:sp>
      </p:grpSp>
      <p:grpSp>
        <p:nvGrpSpPr>
          <p:cNvPr id="3" name="组合 2"/>
          <p:cNvGrpSpPr/>
          <p:nvPr/>
        </p:nvGrpSpPr>
        <p:grpSpPr>
          <a:xfrm>
            <a:off x="3052763" y="3263900"/>
            <a:ext cx="2743200" cy="3203575"/>
            <a:chOff x="3053317" y="3263548"/>
            <a:chExt cx="2742819" cy="3203612"/>
          </a:xfrm>
        </p:grpSpPr>
        <p:grpSp>
          <p:nvGrpSpPr>
            <p:cNvPr id="98321" name="组合 61"/>
            <p:cNvGrpSpPr/>
            <p:nvPr/>
          </p:nvGrpSpPr>
          <p:grpSpPr>
            <a:xfrm>
              <a:off x="3053317" y="3263548"/>
              <a:ext cx="2742819" cy="3203612"/>
              <a:chOff x="8988320" y="1808820"/>
              <a:chExt cx="3166760" cy="3698776"/>
            </a:xfrm>
          </p:grpSpPr>
          <p:sp>
            <p:nvSpPr>
              <p:cNvPr id="63" name="íślíḋè-圆角矩形 46"/>
              <p:cNvSpPr/>
              <p:nvPr/>
            </p:nvSpPr>
            <p:spPr>
              <a:xfrm>
                <a:off x="8988320" y="1808820"/>
                <a:ext cx="3166760" cy="3698776"/>
              </a:xfrm>
              <a:prstGeom prst="roundRect">
                <a:avLst>
                  <a:gd name="adj" fmla="val 3485"/>
                </a:avLst>
              </a:prstGeom>
              <a:solidFill>
                <a:srgbClr val="8064A2"/>
              </a:solidFill>
              <a:ln w="25400" cap="flat" cmpd="sng" algn="ctr">
                <a:noFill/>
                <a:prstDash val="solid"/>
              </a:ln>
              <a:effectLst/>
            </p:spPr>
            <p:txBody>
              <a:bodyPr wrap="none" tIns="216000" bIns="216000" anchorCtr="1">
                <a:norm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400" b="0" i="0" u="none" strike="noStrike" kern="0" cap="none" spc="0" normalizeH="0" baseline="0" noProof="0" dirty="0">
                    <a:ln>
                      <a:noFill/>
                    </a:ln>
                    <a:solidFill>
                      <a:prstClr val="white"/>
                    </a:solidFill>
                    <a:effectLst/>
                    <a:uLnTx/>
                    <a:uFillTx/>
                    <a:latin typeface="+mn-ea"/>
                    <a:ea typeface="+mn-ea"/>
                    <a:cs typeface="+mn-cs"/>
                  </a:rPr>
                  <a:t>树的带权路径长度</a:t>
                </a:r>
              </a:p>
            </p:txBody>
          </p:sp>
          <p:sp>
            <p:nvSpPr>
              <p:cNvPr id="64" name="íślíḋè-任意多边形 47"/>
              <p:cNvSpPr/>
              <p:nvPr/>
            </p:nvSpPr>
            <p:spPr>
              <a:xfrm>
                <a:off x="8988320" y="2734431"/>
                <a:ext cx="3166760" cy="2773165"/>
              </a:xfrm>
              <a:custGeom>
                <a:avLst/>
                <a:gdLst>
                  <a:gd name="connsiteX0" fmla="*/ 0 w 3657600"/>
                  <a:gd name="connsiteY0" fmla="*/ 0 h 5486400"/>
                  <a:gd name="connsiteX1" fmla="*/ 127467 w 3657600"/>
                  <a:gd name="connsiteY1" fmla="*/ 0 h 5486400"/>
                  <a:gd name="connsiteX2" fmla="*/ 1072342 w 3657600"/>
                  <a:gd name="connsiteY2" fmla="*/ 0 h 5486400"/>
                  <a:gd name="connsiteX3" fmla="*/ 1828800 w 3657600"/>
                  <a:gd name="connsiteY3" fmla="*/ 756458 h 5486400"/>
                  <a:gd name="connsiteX4" fmla="*/ 2585258 w 3657600"/>
                  <a:gd name="connsiteY4" fmla="*/ 0 h 5486400"/>
                  <a:gd name="connsiteX5" fmla="*/ 3530133 w 3657600"/>
                  <a:gd name="connsiteY5" fmla="*/ 0 h 5486400"/>
                  <a:gd name="connsiteX6" fmla="*/ 3657600 w 3657600"/>
                  <a:gd name="connsiteY6" fmla="*/ 0 h 5486400"/>
                  <a:gd name="connsiteX7" fmla="*/ 3657600 w 3657600"/>
                  <a:gd name="connsiteY7" fmla="*/ 127467 h 5486400"/>
                  <a:gd name="connsiteX8" fmla="*/ 3657600 w 3657600"/>
                  <a:gd name="connsiteY8" fmla="*/ 914400 h 5486400"/>
                  <a:gd name="connsiteX9" fmla="*/ 3657600 w 3657600"/>
                  <a:gd name="connsiteY9" fmla="*/ 5358933 h 5486400"/>
                  <a:gd name="connsiteX10" fmla="*/ 3530133 w 3657600"/>
                  <a:gd name="connsiteY10" fmla="*/ 5486400 h 5486400"/>
                  <a:gd name="connsiteX11" fmla="*/ 127467 w 3657600"/>
                  <a:gd name="connsiteY11" fmla="*/ 5486400 h 5486400"/>
                  <a:gd name="connsiteX12" fmla="*/ 0 w 3657600"/>
                  <a:gd name="connsiteY12" fmla="*/ 5358933 h 5486400"/>
                  <a:gd name="connsiteX13" fmla="*/ 0 w 3657600"/>
                  <a:gd name="connsiteY13" fmla="*/ 914400 h 5486400"/>
                  <a:gd name="connsiteX14" fmla="*/ 0 w 3657600"/>
                  <a:gd name="connsiteY14" fmla="*/ 127467 h 5486400"/>
                  <a:gd name="connsiteX15" fmla="*/ 0 w 3657600"/>
                  <a:gd name="connsiteY15" fmla="*/ 0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57600" h="5486400">
                    <a:moveTo>
                      <a:pt x="0" y="0"/>
                    </a:moveTo>
                    <a:lnTo>
                      <a:pt x="127467" y="0"/>
                    </a:lnTo>
                    <a:lnTo>
                      <a:pt x="1072342" y="0"/>
                    </a:lnTo>
                    <a:cubicBezTo>
                      <a:pt x="1072342" y="417780"/>
                      <a:pt x="1411020" y="756458"/>
                      <a:pt x="1828800" y="756458"/>
                    </a:cubicBezTo>
                    <a:cubicBezTo>
                      <a:pt x="2246580" y="756458"/>
                      <a:pt x="2585258" y="417780"/>
                      <a:pt x="2585258" y="0"/>
                    </a:cubicBezTo>
                    <a:lnTo>
                      <a:pt x="3530133" y="0"/>
                    </a:lnTo>
                    <a:lnTo>
                      <a:pt x="3657600" y="0"/>
                    </a:lnTo>
                    <a:lnTo>
                      <a:pt x="3657600" y="127467"/>
                    </a:lnTo>
                    <a:lnTo>
                      <a:pt x="3657600" y="914400"/>
                    </a:lnTo>
                    <a:lnTo>
                      <a:pt x="3657600" y="5358933"/>
                    </a:lnTo>
                    <a:cubicBezTo>
                      <a:pt x="3657600" y="5429331"/>
                      <a:pt x="3600531" y="5486400"/>
                      <a:pt x="3530133" y="5486400"/>
                    </a:cubicBezTo>
                    <a:lnTo>
                      <a:pt x="127467" y="5486400"/>
                    </a:lnTo>
                    <a:cubicBezTo>
                      <a:pt x="57069" y="5486400"/>
                      <a:pt x="0" y="5429331"/>
                      <a:pt x="0" y="5358933"/>
                    </a:cubicBezTo>
                    <a:lnTo>
                      <a:pt x="0" y="914400"/>
                    </a:lnTo>
                    <a:lnTo>
                      <a:pt x="0" y="127467"/>
                    </a:lnTo>
                    <a:lnTo>
                      <a:pt x="0" y="0"/>
                    </a:lnTo>
                    <a:close/>
                  </a:path>
                </a:pathLst>
              </a:custGeom>
              <a:solidFill>
                <a:sysClr val="window" lastClr="FFFFFF">
                  <a:lumMod val="95000"/>
                </a:sysClr>
              </a:solidFill>
              <a:ln w="25400" cap="flat" cmpd="sng" algn="ctr">
                <a:noFill/>
                <a:prstDash val="solid"/>
              </a:ln>
              <a:effectLst>
                <a:outerShdw dist="25400" dir="16200000" sx="101000" sy="101000" rotWithShape="0">
                  <a:prstClr val="black">
                    <a:alpha val="14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65" name="íślíḋè-文本框 48"/>
              <p:cNvSpPr txBox="1"/>
              <p:nvPr/>
            </p:nvSpPr>
            <p:spPr>
              <a:xfrm>
                <a:off x="10153864" y="2516316"/>
                <a:ext cx="755038" cy="707496"/>
              </a:xfrm>
              <a:prstGeom prst="rect">
                <a:avLst/>
              </a:prstGeom>
              <a:noFill/>
            </p:spPr>
            <p:txBody>
              <a:bodyPr wrap="none">
                <a:normAutofit fontScale="92500" lnSpcReduction="10000"/>
              </a:bodyPr>
              <a:lstStyle/>
              <a:p>
                <a:pPr marR="0" algn="ctr" defTabSz="914400" eaLnBrk="1" fontAlgn="auto" hangingPunct="1">
                  <a:spcBef>
                    <a:spcPts val="0"/>
                  </a:spcBef>
                  <a:spcAft>
                    <a:spcPts val="0"/>
                  </a:spcAft>
                  <a:buClrTx/>
                  <a:buSzTx/>
                  <a:buFontTx/>
                  <a:buNone/>
                  <a:defRPr/>
                </a:pPr>
                <a:r>
                  <a:rPr kumimoji="0" lang="en-US" sz="4000" b="0" kern="0" cap="none" spc="0" normalizeH="0" baseline="0" noProof="0" dirty="0">
                    <a:solidFill>
                      <a:srgbClr val="EEECE1"/>
                    </a:solidFill>
                    <a:latin typeface="+mn-lt"/>
                    <a:ea typeface="+mn-ea"/>
                    <a:cs typeface="+mn-cs"/>
                  </a:rPr>
                  <a:t>04</a:t>
                </a:r>
              </a:p>
            </p:txBody>
          </p:sp>
          <p:sp>
            <p:nvSpPr>
              <p:cNvPr id="66" name="íślíḋè-Rectangle 15"/>
              <p:cNvSpPr/>
              <p:nvPr/>
            </p:nvSpPr>
            <p:spPr>
              <a:xfrm>
                <a:off x="9074452" y="3375943"/>
                <a:ext cx="2934018" cy="949438"/>
              </a:xfrm>
              <a:prstGeom prst="rect">
                <a:avLst/>
              </a:prstGeom>
            </p:spPr>
            <p:txBody>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2000" b="0" i="0" u="none" strike="noStrike" kern="0" cap="none" spc="0" normalizeH="0" baseline="0" noProof="0" dirty="0">
                    <a:ln>
                      <a:noFill/>
                    </a:ln>
                    <a:solidFill>
                      <a:prstClr val="black"/>
                    </a:solidFill>
                    <a:effectLst/>
                    <a:uLnTx/>
                    <a:uFillTx/>
                    <a:latin typeface="+mn-ea"/>
                    <a:ea typeface="+mn-ea"/>
                    <a:cs typeface="+mn-cs"/>
                  </a:rPr>
                  <a:t>树中所有叶子结点的带权路径长度之和</a:t>
                </a:r>
              </a:p>
            </p:txBody>
          </p:sp>
        </p:grpSp>
        <p:grpSp>
          <p:nvGrpSpPr>
            <p:cNvPr id="98322" name="Group 51"/>
            <p:cNvGrpSpPr/>
            <p:nvPr/>
          </p:nvGrpSpPr>
          <p:grpSpPr>
            <a:xfrm>
              <a:off x="3241011" y="5265861"/>
              <a:ext cx="2501900" cy="1160463"/>
              <a:chOff x="2414" y="791"/>
              <a:chExt cx="1576" cy="585"/>
            </a:xfrm>
          </p:grpSpPr>
          <p:sp>
            <p:nvSpPr>
              <p:cNvPr id="94248" name="Rectangle 52"/>
              <p:cNvSpPr>
                <a:spLocks noChangeArrowheads="1"/>
              </p:cNvSpPr>
              <p:nvPr/>
            </p:nvSpPr>
            <p:spPr bwMode="auto">
              <a:xfrm>
                <a:off x="2414" y="898"/>
                <a:ext cx="1576"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800" b="0" i="1" u="none" strike="noStrike" kern="1200" cap="none" spc="0" normalizeH="0" baseline="0" noProof="0" dirty="0">
                    <a:ln>
                      <a:noFill/>
                    </a:ln>
                    <a:solidFill>
                      <a:schemeClr val="tx1"/>
                    </a:solidFill>
                    <a:effectLst/>
                    <a:uLnTx/>
                    <a:uFillTx/>
                    <a:latin typeface="+mn-lt"/>
                    <a:ea typeface="+mn-ea"/>
                    <a:cs typeface="+mn-ea"/>
                    <a:sym typeface="+mn-lt"/>
                  </a:rPr>
                  <a:t>WPL</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en-US" altLang="zh-CN" sz="3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3200" b="0" i="1" u="none" strike="noStrike" kern="1200" cap="none" spc="0" normalizeH="0" baseline="0" noProof="0" dirty="0" err="1">
                    <a:ln>
                      <a:noFill/>
                    </a:ln>
                    <a:solidFill>
                      <a:schemeClr val="tx1"/>
                    </a:solidFill>
                    <a:effectLst/>
                    <a:uLnTx/>
                    <a:uFillTx/>
                    <a:latin typeface="+mn-lt"/>
                    <a:ea typeface="+mn-ea"/>
                    <a:cs typeface="+mn-ea"/>
                    <a:sym typeface="+mn-lt"/>
                  </a:rPr>
                  <a:t>w</a:t>
                </a:r>
                <a:r>
                  <a:rPr kumimoji="0" lang="en-US" altLang="zh-CN" sz="2800" b="0" i="0" u="none" strike="noStrike" kern="1200" cap="none" spc="0" normalizeH="0" baseline="-25000" noProof="0" dirty="0" err="1">
                    <a:ln>
                      <a:noFill/>
                    </a:ln>
                    <a:solidFill>
                      <a:schemeClr val="tx1"/>
                    </a:solidFill>
                    <a:effectLst/>
                    <a:uLnTx/>
                    <a:uFillTx/>
                    <a:latin typeface="+mn-lt"/>
                    <a:ea typeface="+mn-ea"/>
                    <a:cs typeface="+mn-ea"/>
                    <a:sym typeface="+mn-lt"/>
                  </a:rPr>
                  <a:t>k</a:t>
                </a:r>
                <a:r>
                  <a:rPr kumimoji="0" lang="en-US" altLang="zh-CN" sz="3200" b="0" i="1" u="none" strike="noStrike" kern="1200" cap="none" spc="0" normalizeH="0" baseline="0" noProof="0" dirty="0" err="1">
                    <a:ln>
                      <a:noFill/>
                    </a:ln>
                    <a:solidFill>
                      <a:schemeClr val="tx1"/>
                    </a:solidFill>
                    <a:effectLst/>
                    <a:uLnTx/>
                    <a:uFillTx/>
                    <a:latin typeface="+mn-lt"/>
                    <a:ea typeface="+mn-ea"/>
                    <a:cs typeface="+mn-ea"/>
                    <a:sym typeface="+mn-lt"/>
                  </a:rPr>
                  <a:t>l</a:t>
                </a:r>
                <a:r>
                  <a:rPr kumimoji="0" lang="en-US" altLang="zh-CN" sz="2800" b="0" i="0" u="none" strike="noStrike" kern="1200" cap="none" spc="0" normalizeH="0" baseline="-25000" noProof="0" dirty="0" err="1">
                    <a:ln>
                      <a:noFill/>
                    </a:ln>
                    <a:solidFill>
                      <a:schemeClr val="tx1"/>
                    </a:solidFill>
                    <a:effectLst/>
                    <a:uLnTx/>
                    <a:uFillTx/>
                    <a:latin typeface="+mn-lt"/>
                    <a:ea typeface="+mn-ea"/>
                    <a:cs typeface="+mn-ea"/>
                    <a:sym typeface="+mn-lt"/>
                  </a:rPr>
                  <a:t>k</a:t>
                </a:r>
                <a:r>
                  <a:rPr kumimoji="0" lang="en-US" altLang="zh-CN" sz="2800" b="0" i="0" u="none" strike="noStrike" kern="1200" cap="none" spc="0" normalizeH="0" baseline="-25000" noProof="0" dirty="0">
                    <a:ln>
                      <a:noFill/>
                    </a:ln>
                    <a:solidFill>
                      <a:schemeClr val="tx1"/>
                    </a:solidFill>
                    <a:effectLst/>
                    <a:uLnTx/>
                    <a:uFillTx/>
                    <a:latin typeface="+mn-lt"/>
                    <a:ea typeface="+mn-ea"/>
                    <a:cs typeface="+mn-ea"/>
                    <a:sym typeface="+mn-lt"/>
                  </a:rPr>
                  <a:t> </a:t>
                </a:r>
              </a:p>
            </p:txBody>
          </p:sp>
          <p:sp>
            <p:nvSpPr>
              <p:cNvPr id="94249" name="Rectangle 53"/>
              <p:cNvSpPr>
                <a:spLocks noChangeArrowheads="1"/>
              </p:cNvSpPr>
              <p:nvPr/>
            </p:nvSpPr>
            <p:spPr bwMode="auto">
              <a:xfrm>
                <a:off x="3102" y="1191"/>
                <a:ext cx="469" cy="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0" i="1" u="none" strike="noStrike" kern="1200" cap="none" spc="0" normalizeH="0" baseline="0" noProof="0" dirty="0">
                    <a:ln>
                      <a:noFill/>
                    </a:ln>
                    <a:solidFill>
                      <a:schemeClr val="tx1"/>
                    </a:solidFill>
                    <a:effectLst/>
                    <a:uLnTx/>
                    <a:uFillTx/>
                    <a:latin typeface="+mn-lt"/>
                    <a:ea typeface="+mn-ea"/>
                    <a:cs typeface="+mn-ea"/>
                    <a:sym typeface="+mn-lt"/>
                  </a:rPr>
                  <a:t>k=1</a:t>
                </a:r>
              </a:p>
            </p:txBody>
          </p:sp>
          <p:sp>
            <p:nvSpPr>
              <p:cNvPr id="94250" name="Rectangle 54"/>
              <p:cNvSpPr>
                <a:spLocks noChangeArrowheads="1"/>
              </p:cNvSpPr>
              <p:nvPr/>
            </p:nvSpPr>
            <p:spPr bwMode="auto">
              <a:xfrm>
                <a:off x="3166" y="791"/>
                <a:ext cx="301" cy="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1800" b="0" i="1" u="none" strike="noStrike" kern="1200" cap="none" spc="0" normalizeH="0" baseline="0" noProof="0" dirty="0">
                    <a:ln>
                      <a:noFill/>
                    </a:ln>
                    <a:solidFill>
                      <a:schemeClr val="tx1"/>
                    </a:solidFill>
                    <a:effectLst/>
                    <a:uLnTx/>
                    <a:uFillTx/>
                    <a:latin typeface="+mn-lt"/>
                    <a:ea typeface="+mn-ea"/>
                    <a:cs typeface="+mn-ea"/>
                    <a:sym typeface="+mn-lt"/>
                  </a:rPr>
                  <a:t>n</a:t>
                </a:r>
              </a:p>
            </p:txBody>
          </p:sp>
        </p:grpSp>
      </p:grpSp>
      <p:grpSp>
        <p:nvGrpSpPr>
          <p:cNvPr id="75" name="组合 74"/>
          <p:cNvGrpSpPr/>
          <p:nvPr/>
        </p:nvGrpSpPr>
        <p:grpSpPr>
          <a:xfrm>
            <a:off x="338138" y="3273425"/>
            <a:ext cx="2138362" cy="3203575"/>
            <a:chOff x="6356028" y="1808820"/>
            <a:chExt cx="2469587" cy="3698776"/>
          </a:xfrm>
        </p:grpSpPr>
        <p:sp>
          <p:nvSpPr>
            <p:cNvPr id="76" name="íślíḋè-圆角矩形 51"/>
            <p:cNvSpPr/>
            <p:nvPr/>
          </p:nvSpPr>
          <p:spPr>
            <a:xfrm>
              <a:off x="6356028" y="1808820"/>
              <a:ext cx="2469587" cy="3698776"/>
            </a:xfrm>
            <a:prstGeom prst="roundRect">
              <a:avLst>
                <a:gd name="adj" fmla="val 3485"/>
              </a:avLst>
            </a:prstGeom>
            <a:solidFill>
              <a:srgbClr val="9BBB59"/>
            </a:solidFill>
            <a:ln w="25400" cap="flat" cmpd="sng" algn="ctr">
              <a:noFill/>
              <a:prstDash val="solid"/>
            </a:ln>
            <a:effectLst/>
          </p:spPr>
          <p:txBody>
            <a:bodyPr wrap="none" tIns="216000" bIns="216000" anchorCtr="1">
              <a:norm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400" b="0" i="0" u="none" strike="noStrike" kern="0" cap="none" spc="0" normalizeH="0" baseline="0" noProof="0" dirty="0">
                  <a:ln>
                    <a:noFill/>
                  </a:ln>
                  <a:solidFill>
                    <a:prstClr val="white"/>
                  </a:solidFill>
                  <a:effectLst/>
                  <a:uLnTx/>
                  <a:uFillTx/>
                  <a:latin typeface="+mn-ea"/>
                  <a:ea typeface="+mn-ea"/>
                  <a:cs typeface="+mn-cs"/>
                </a:rPr>
                <a:t>带权路径长度</a:t>
              </a:r>
            </a:p>
          </p:txBody>
        </p:sp>
        <p:sp>
          <p:nvSpPr>
            <p:cNvPr id="77" name="íślíḋè-任意多边形 52"/>
            <p:cNvSpPr/>
            <p:nvPr/>
          </p:nvSpPr>
          <p:spPr>
            <a:xfrm>
              <a:off x="6356028" y="2734431"/>
              <a:ext cx="2469587" cy="2773165"/>
            </a:xfrm>
            <a:custGeom>
              <a:avLst/>
              <a:gdLst>
                <a:gd name="connsiteX0" fmla="*/ 0 w 3657600"/>
                <a:gd name="connsiteY0" fmla="*/ 0 h 5486400"/>
                <a:gd name="connsiteX1" fmla="*/ 127467 w 3657600"/>
                <a:gd name="connsiteY1" fmla="*/ 0 h 5486400"/>
                <a:gd name="connsiteX2" fmla="*/ 1072342 w 3657600"/>
                <a:gd name="connsiteY2" fmla="*/ 0 h 5486400"/>
                <a:gd name="connsiteX3" fmla="*/ 1828800 w 3657600"/>
                <a:gd name="connsiteY3" fmla="*/ 756458 h 5486400"/>
                <a:gd name="connsiteX4" fmla="*/ 2585258 w 3657600"/>
                <a:gd name="connsiteY4" fmla="*/ 0 h 5486400"/>
                <a:gd name="connsiteX5" fmla="*/ 3530133 w 3657600"/>
                <a:gd name="connsiteY5" fmla="*/ 0 h 5486400"/>
                <a:gd name="connsiteX6" fmla="*/ 3657600 w 3657600"/>
                <a:gd name="connsiteY6" fmla="*/ 0 h 5486400"/>
                <a:gd name="connsiteX7" fmla="*/ 3657600 w 3657600"/>
                <a:gd name="connsiteY7" fmla="*/ 127467 h 5486400"/>
                <a:gd name="connsiteX8" fmla="*/ 3657600 w 3657600"/>
                <a:gd name="connsiteY8" fmla="*/ 914400 h 5486400"/>
                <a:gd name="connsiteX9" fmla="*/ 3657600 w 3657600"/>
                <a:gd name="connsiteY9" fmla="*/ 5358933 h 5486400"/>
                <a:gd name="connsiteX10" fmla="*/ 3530133 w 3657600"/>
                <a:gd name="connsiteY10" fmla="*/ 5486400 h 5486400"/>
                <a:gd name="connsiteX11" fmla="*/ 127467 w 3657600"/>
                <a:gd name="connsiteY11" fmla="*/ 5486400 h 5486400"/>
                <a:gd name="connsiteX12" fmla="*/ 0 w 3657600"/>
                <a:gd name="connsiteY12" fmla="*/ 5358933 h 5486400"/>
                <a:gd name="connsiteX13" fmla="*/ 0 w 3657600"/>
                <a:gd name="connsiteY13" fmla="*/ 914400 h 5486400"/>
                <a:gd name="connsiteX14" fmla="*/ 0 w 3657600"/>
                <a:gd name="connsiteY14" fmla="*/ 127467 h 5486400"/>
                <a:gd name="connsiteX15" fmla="*/ 0 w 3657600"/>
                <a:gd name="connsiteY15" fmla="*/ 0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57600" h="5486400">
                  <a:moveTo>
                    <a:pt x="0" y="0"/>
                  </a:moveTo>
                  <a:lnTo>
                    <a:pt x="127467" y="0"/>
                  </a:lnTo>
                  <a:lnTo>
                    <a:pt x="1072342" y="0"/>
                  </a:lnTo>
                  <a:cubicBezTo>
                    <a:pt x="1072342" y="417780"/>
                    <a:pt x="1411020" y="756458"/>
                    <a:pt x="1828800" y="756458"/>
                  </a:cubicBezTo>
                  <a:cubicBezTo>
                    <a:pt x="2246580" y="756458"/>
                    <a:pt x="2585258" y="417780"/>
                    <a:pt x="2585258" y="0"/>
                  </a:cubicBezTo>
                  <a:lnTo>
                    <a:pt x="3530133" y="0"/>
                  </a:lnTo>
                  <a:lnTo>
                    <a:pt x="3657600" y="0"/>
                  </a:lnTo>
                  <a:lnTo>
                    <a:pt x="3657600" y="127467"/>
                  </a:lnTo>
                  <a:lnTo>
                    <a:pt x="3657600" y="914400"/>
                  </a:lnTo>
                  <a:lnTo>
                    <a:pt x="3657600" y="5358933"/>
                  </a:lnTo>
                  <a:cubicBezTo>
                    <a:pt x="3657600" y="5429331"/>
                    <a:pt x="3600531" y="5486400"/>
                    <a:pt x="3530133" y="5486400"/>
                  </a:cubicBezTo>
                  <a:lnTo>
                    <a:pt x="127467" y="5486400"/>
                  </a:lnTo>
                  <a:cubicBezTo>
                    <a:pt x="57069" y="5486400"/>
                    <a:pt x="0" y="5429331"/>
                    <a:pt x="0" y="5358933"/>
                  </a:cubicBezTo>
                  <a:lnTo>
                    <a:pt x="0" y="914400"/>
                  </a:lnTo>
                  <a:lnTo>
                    <a:pt x="0" y="127467"/>
                  </a:lnTo>
                  <a:lnTo>
                    <a:pt x="0" y="0"/>
                  </a:lnTo>
                  <a:close/>
                </a:path>
              </a:pathLst>
            </a:custGeom>
            <a:solidFill>
              <a:sysClr val="window" lastClr="FFFFFF">
                <a:lumMod val="95000"/>
              </a:sysClr>
            </a:solidFill>
            <a:ln w="25400" cap="flat" cmpd="sng" algn="ctr">
              <a:noFill/>
              <a:prstDash val="solid"/>
            </a:ln>
            <a:effectLst>
              <a:outerShdw dist="25400" dir="16200000" sx="101000" sy="101000" rotWithShape="0">
                <a:prstClr val="black">
                  <a:alpha val="14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78" name="íślíḋè-文本框 53"/>
            <p:cNvSpPr txBox="1"/>
            <p:nvPr/>
          </p:nvSpPr>
          <p:spPr>
            <a:xfrm>
              <a:off x="7215891" y="2453998"/>
              <a:ext cx="755360" cy="707496"/>
            </a:xfrm>
            <a:prstGeom prst="rect">
              <a:avLst/>
            </a:prstGeom>
            <a:noFill/>
          </p:spPr>
          <p:txBody>
            <a:bodyPr wrap="none">
              <a:normAutofit fontScale="92500" lnSpcReduction="10000"/>
            </a:bodyPr>
            <a:lstStyle/>
            <a:p>
              <a:pPr marR="0" algn="ctr" defTabSz="914400" eaLnBrk="1" fontAlgn="auto" hangingPunct="1">
                <a:spcBef>
                  <a:spcPts val="0"/>
                </a:spcBef>
                <a:spcAft>
                  <a:spcPts val="0"/>
                </a:spcAft>
                <a:buClrTx/>
                <a:buSzTx/>
                <a:buFontTx/>
                <a:buNone/>
                <a:defRPr/>
              </a:pPr>
              <a:r>
                <a:rPr kumimoji="0" lang="en-US" sz="4000" b="0" kern="0" cap="none" spc="0" normalizeH="0" baseline="0" noProof="0" dirty="0">
                  <a:solidFill>
                    <a:srgbClr val="EEECE1"/>
                  </a:solidFill>
                  <a:latin typeface="+mn-lt"/>
                  <a:ea typeface="+mn-ea"/>
                  <a:cs typeface="+mn-cs"/>
                </a:rPr>
                <a:t>03</a:t>
              </a:r>
            </a:p>
          </p:txBody>
        </p:sp>
        <p:sp>
          <p:nvSpPr>
            <p:cNvPr id="79" name="íślíḋè-Rectangle 20"/>
            <p:cNvSpPr/>
            <p:nvPr/>
          </p:nvSpPr>
          <p:spPr>
            <a:xfrm>
              <a:off x="6442197" y="3375943"/>
              <a:ext cx="2084575" cy="1273859"/>
            </a:xfrm>
            <a:prstGeom prst="rect">
              <a:avLst/>
            </a:prstGeom>
          </p:spPr>
          <p:txBody>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2000" b="0" i="0" u="none" strike="noStrike" kern="0" cap="none" spc="0" normalizeH="0" baseline="0" noProof="0" dirty="0">
                  <a:ln>
                    <a:noFill/>
                  </a:ln>
                  <a:solidFill>
                    <a:prstClr val="black"/>
                  </a:solidFill>
                  <a:effectLst/>
                  <a:uLnTx/>
                  <a:uFillTx/>
                  <a:latin typeface="+mn-ea"/>
                  <a:ea typeface="+mn-ea"/>
                  <a:cs typeface="+mn-cs"/>
                </a:rPr>
                <a:t>结点到根的路径长度与结点上权的乘积</a:t>
              </a:r>
            </a:p>
          </p:txBody>
        </p:sp>
      </p:grpSp>
      <p:grpSp>
        <p:nvGrpSpPr>
          <p:cNvPr id="81" name="组合 80"/>
          <p:cNvGrpSpPr/>
          <p:nvPr/>
        </p:nvGrpSpPr>
        <p:grpSpPr>
          <a:xfrm>
            <a:off x="6427788" y="3263900"/>
            <a:ext cx="1954212" cy="3203575"/>
            <a:chOff x="8988321" y="1808820"/>
            <a:chExt cx="2256251" cy="3698776"/>
          </a:xfrm>
        </p:grpSpPr>
        <p:sp>
          <p:nvSpPr>
            <p:cNvPr id="82" name="íślíḋè-圆角矩形 41"/>
            <p:cNvSpPr/>
            <p:nvPr/>
          </p:nvSpPr>
          <p:spPr>
            <a:xfrm>
              <a:off x="8988321" y="1808820"/>
              <a:ext cx="2256251" cy="3698776"/>
            </a:xfrm>
            <a:prstGeom prst="roundRect">
              <a:avLst>
                <a:gd name="adj" fmla="val 3485"/>
              </a:avLst>
            </a:prstGeom>
            <a:solidFill>
              <a:srgbClr val="4BACC6">
                <a:lumMod val="100000"/>
              </a:srgbClr>
            </a:solidFill>
            <a:ln w="25400" cap="flat" cmpd="sng" algn="ctr">
              <a:noFill/>
              <a:prstDash val="solid"/>
            </a:ln>
            <a:effectLst/>
          </p:spPr>
          <p:txBody>
            <a:bodyPr wrap="none" tIns="216000" bIns="216000" anchorCtr="1">
              <a:norm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400" b="0" i="0" u="none" strike="noStrike" kern="0" cap="none" spc="0" normalizeH="0" baseline="0" noProof="0" dirty="0">
                  <a:ln>
                    <a:noFill/>
                  </a:ln>
                  <a:solidFill>
                    <a:prstClr val="white"/>
                  </a:solidFill>
                  <a:effectLst/>
                  <a:uLnTx/>
                  <a:uFillTx/>
                  <a:latin typeface="+mn-ea"/>
                  <a:ea typeface="+mn-ea"/>
                  <a:cs typeface="+mn-cs"/>
                </a:rPr>
                <a:t>哈 夫 曼 树</a:t>
              </a:r>
            </a:p>
          </p:txBody>
        </p:sp>
        <p:sp>
          <p:nvSpPr>
            <p:cNvPr id="83" name="íślíḋè-任意多边形 42"/>
            <p:cNvSpPr/>
            <p:nvPr/>
          </p:nvSpPr>
          <p:spPr>
            <a:xfrm>
              <a:off x="8988321" y="2734431"/>
              <a:ext cx="2256251" cy="2773165"/>
            </a:xfrm>
            <a:custGeom>
              <a:avLst/>
              <a:gdLst>
                <a:gd name="connsiteX0" fmla="*/ 0 w 3657600"/>
                <a:gd name="connsiteY0" fmla="*/ 0 h 5486400"/>
                <a:gd name="connsiteX1" fmla="*/ 127467 w 3657600"/>
                <a:gd name="connsiteY1" fmla="*/ 0 h 5486400"/>
                <a:gd name="connsiteX2" fmla="*/ 1072342 w 3657600"/>
                <a:gd name="connsiteY2" fmla="*/ 0 h 5486400"/>
                <a:gd name="connsiteX3" fmla="*/ 1828800 w 3657600"/>
                <a:gd name="connsiteY3" fmla="*/ 756458 h 5486400"/>
                <a:gd name="connsiteX4" fmla="*/ 2585258 w 3657600"/>
                <a:gd name="connsiteY4" fmla="*/ 0 h 5486400"/>
                <a:gd name="connsiteX5" fmla="*/ 3530133 w 3657600"/>
                <a:gd name="connsiteY5" fmla="*/ 0 h 5486400"/>
                <a:gd name="connsiteX6" fmla="*/ 3657600 w 3657600"/>
                <a:gd name="connsiteY6" fmla="*/ 0 h 5486400"/>
                <a:gd name="connsiteX7" fmla="*/ 3657600 w 3657600"/>
                <a:gd name="connsiteY7" fmla="*/ 127467 h 5486400"/>
                <a:gd name="connsiteX8" fmla="*/ 3657600 w 3657600"/>
                <a:gd name="connsiteY8" fmla="*/ 914400 h 5486400"/>
                <a:gd name="connsiteX9" fmla="*/ 3657600 w 3657600"/>
                <a:gd name="connsiteY9" fmla="*/ 5358933 h 5486400"/>
                <a:gd name="connsiteX10" fmla="*/ 3530133 w 3657600"/>
                <a:gd name="connsiteY10" fmla="*/ 5486400 h 5486400"/>
                <a:gd name="connsiteX11" fmla="*/ 127467 w 3657600"/>
                <a:gd name="connsiteY11" fmla="*/ 5486400 h 5486400"/>
                <a:gd name="connsiteX12" fmla="*/ 0 w 3657600"/>
                <a:gd name="connsiteY12" fmla="*/ 5358933 h 5486400"/>
                <a:gd name="connsiteX13" fmla="*/ 0 w 3657600"/>
                <a:gd name="connsiteY13" fmla="*/ 914400 h 5486400"/>
                <a:gd name="connsiteX14" fmla="*/ 0 w 3657600"/>
                <a:gd name="connsiteY14" fmla="*/ 127467 h 5486400"/>
                <a:gd name="connsiteX15" fmla="*/ 0 w 3657600"/>
                <a:gd name="connsiteY15" fmla="*/ 0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57600" h="5486400">
                  <a:moveTo>
                    <a:pt x="0" y="0"/>
                  </a:moveTo>
                  <a:lnTo>
                    <a:pt x="127467" y="0"/>
                  </a:lnTo>
                  <a:lnTo>
                    <a:pt x="1072342" y="0"/>
                  </a:lnTo>
                  <a:cubicBezTo>
                    <a:pt x="1072342" y="417780"/>
                    <a:pt x="1411020" y="756458"/>
                    <a:pt x="1828800" y="756458"/>
                  </a:cubicBezTo>
                  <a:cubicBezTo>
                    <a:pt x="2246580" y="756458"/>
                    <a:pt x="2585258" y="417780"/>
                    <a:pt x="2585258" y="0"/>
                  </a:cubicBezTo>
                  <a:lnTo>
                    <a:pt x="3530133" y="0"/>
                  </a:lnTo>
                  <a:lnTo>
                    <a:pt x="3657600" y="0"/>
                  </a:lnTo>
                  <a:lnTo>
                    <a:pt x="3657600" y="127467"/>
                  </a:lnTo>
                  <a:lnTo>
                    <a:pt x="3657600" y="914400"/>
                  </a:lnTo>
                  <a:lnTo>
                    <a:pt x="3657600" y="5358933"/>
                  </a:lnTo>
                  <a:cubicBezTo>
                    <a:pt x="3657600" y="5429331"/>
                    <a:pt x="3600531" y="5486400"/>
                    <a:pt x="3530133" y="5486400"/>
                  </a:cubicBezTo>
                  <a:lnTo>
                    <a:pt x="127467" y="5486400"/>
                  </a:lnTo>
                  <a:cubicBezTo>
                    <a:pt x="57069" y="5486400"/>
                    <a:pt x="0" y="5429331"/>
                    <a:pt x="0" y="5358933"/>
                  </a:cubicBezTo>
                  <a:lnTo>
                    <a:pt x="0" y="914400"/>
                  </a:lnTo>
                  <a:lnTo>
                    <a:pt x="0" y="127467"/>
                  </a:lnTo>
                  <a:lnTo>
                    <a:pt x="0" y="0"/>
                  </a:lnTo>
                  <a:close/>
                </a:path>
              </a:pathLst>
            </a:custGeom>
            <a:solidFill>
              <a:sysClr val="window" lastClr="FFFFFF">
                <a:lumMod val="95000"/>
              </a:sysClr>
            </a:solidFill>
            <a:ln w="25400" cap="flat" cmpd="sng" algn="ctr">
              <a:noFill/>
              <a:prstDash val="solid"/>
            </a:ln>
            <a:effectLst>
              <a:outerShdw dist="25400" dir="16200000" sx="101000" sy="101000" rotWithShape="0">
                <a:prstClr val="black">
                  <a:alpha val="14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84" name="íślíḋè-文本框 43"/>
            <p:cNvSpPr txBox="1"/>
            <p:nvPr/>
          </p:nvSpPr>
          <p:spPr>
            <a:xfrm>
              <a:off x="9737960" y="2453998"/>
              <a:ext cx="756972" cy="707496"/>
            </a:xfrm>
            <a:prstGeom prst="rect">
              <a:avLst/>
            </a:prstGeom>
            <a:noFill/>
          </p:spPr>
          <p:txBody>
            <a:bodyPr wrap="none">
              <a:normAutofit fontScale="92500" lnSpcReduction="10000"/>
            </a:bodyPr>
            <a:lstStyle/>
            <a:p>
              <a:pPr marR="0" algn="ctr" defTabSz="914400" eaLnBrk="1" fontAlgn="auto" hangingPunct="1">
                <a:spcBef>
                  <a:spcPts val="0"/>
                </a:spcBef>
                <a:spcAft>
                  <a:spcPts val="0"/>
                </a:spcAft>
                <a:buClrTx/>
                <a:buSzTx/>
                <a:buFontTx/>
                <a:buNone/>
                <a:defRPr/>
              </a:pPr>
              <a:r>
                <a:rPr kumimoji="0" lang="en-US" sz="4000" b="0" kern="0" cap="none" spc="0" normalizeH="0" baseline="0" noProof="0" dirty="0">
                  <a:solidFill>
                    <a:srgbClr val="EEECE1"/>
                  </a:solidFill>
                  <a:latin typeface="+mn-lt"/>
                  <a:ea typeface="+mn-ea"/>
                  <a:cs typeface="+mn-cs"/>
                </a:rPr>
                <a:t>05</a:t>
              </a:r>
            </a:p>
          </p:txBody>
        </p:sp>
        <p:sp>
          <p:nvSpPr>
            <p:cNvPr id="85" name="íślíḋè-Rectangle 10"/>
            <p:cNvSpPr/>
            <p:nvPr/>
          </p:nvSpPr>
          <p:spPr>
            <a:xfrm>
              <a:off x="9074465" y="3375943"/>
              <a:ext cx="2083963" cy="1198711"/>
            </a:xfrm>
            <a:prstGeom prst="rect">
              <a:avLst/>
            </a:prstGeom>
          </p:spPr>
          <p:txBody>
            <a:bodyPr/>
            <a:lstStyle/>
            <a:p>
              <a:pPr marL="0" marR="0" lvl="0" indent="0" algn="ctr" defTabSz="914400" rtl="0" eaLnBrk="1" fontAlgn="auto" latinLnBrk="0" hangingPunct="1">
                <a:lnSpc>
                  <a:spcPct val="120000"/>
                </a:lnSpc>
                <a:spcBef>
                  <a:spcPts val="0"/>
                </a:spcBef>
                <a:spcAft>
                  <a:spcPts val="0"/>
                </a:spcAft>
                <a:buClrTx/>
                <a:buSzTx/>
                <a:buFontTx/>
                <a:buNone/>
                <a:defRPr/>
              </a:pPr>
              <a:r>
                <a:rPr kumimoji="0" lang="zh-CN" altLang="en-US" sz="2000" b="0" i="0" u="none" strike="noStrike" kern="0" cap="none" spc="0" normalizeH="0" baseline="0" noProof="0" dirty="0">
                  <a:ln>
                    <a:noFill/>
                  </a:ln>
                  <a:solidFill>
                    <a:prstClr val="black"/>
                  </a:solidFill>
                  <a:effectLst/>
                  <a:uLnTx/>
                  <a:uFillTx/>
                  <a:latin typeface="+mn-ea"/>
                  <a:ea typeface="+mn-ea"/>
                  <a:cs typeface="+mn-cs"/>
                </a:rPr>
                <a:t>带权路径长度最小的树</a:t>
              </a:r>
            </a:p>
          </p:txBody>
        </p:sp>
      </p:gr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500" fill="hold"/>
                                        <p:tgtEl>
                                          <p:spTgt spid="44"/>
                                        </p:tgtEl>
                                        <p:attrNameLst>
                                          <p:attrName>ppt_x</p:attrName>
                                        </p:attrNameLst>
                                      </p:cBhvr>
                                      <p:tavLst>
                                        <p:tav tm="0">
                                          <p:val>
                                            <p:strVal val="#ppt_x"/>
                                          </p:val>
                                        </p:tav>
                                        <p:tav tm="100000">
                                          <p:val>
                                            <p:strVal val="#ppt_x"/>
                                          </p:val>
                                        </p:tav>
                                      </p:tavLst>
                                    </p:anim>
                                    <p:anim calcmode="lin" valueType="num">
                                      <p:cBhvr additive="base">
                                        <p:cTn id="8" dur="500" fill="hold"/>
                                        <p:tgtEl>
                                          <p:spTgt spid="4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ppt_x"/>
                                          </p:val>
                                        </p:tav>
                                        <p:tav tm="100000">
                                          <p:val>
                                            <p:strVal val="#ppt_x"/>
                                          </p:val>
                                        </p:tav>
                                      </p:tavLst>
                                    </p:anim>
                                    <p:anim calcmode="lin" valueType="num">
                                      <p:cBhvr additive="base">
                                        <p:cTn id="13" dur="500" fill="hold"/>
                                        <p:tgtEl>
                                          <p:spTgt spid="2"/>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nodeType="afterEffect">
                                  <p:stCondLst>
                                    <p:cond delay="0"/>
                                  </p:stCondLst>
                                  <p:childTnLst>
                                    <p:set>
                                      <p:cBhvr>
                                        <p:cTn id="16" dur="1" fill="hold">
                                          <p:stCondLst>
                                            <p:cond delay="0"/>
                                          </p:stCondLst>
                                        </p:cTn>
                                        <p:tgtEl>
                                          <p:spTgt spid="75"/>
                                        </p:tgtEl>
                                        <p:attrNameLst>
                                          <p:attrName>style.visibility</p:attrName>
                                        </p:attrNameLst>
                                      </p:cBhvr>
                                      <p:to>
                                        <p:strVal val="visible"/>
                                      </p:to>
                                    </p:set>
                                    <p:anim calcmode="lin" valueType="num">
                                      <p:cBhvr additive="base">
                                        <p:cTn id="17" dur="500" fill="hold"/>
                                        <p:tgtEl>
                                          <p:spTgt spid="75"/>
                                        </p:tgtEl>
                                        <p:attrNameLst>
                                          <p:attrName>ppt_x</p:attrName>
                                        </p:attrNameLst>
                                      </p:cBhvr>
                                      <p:tavLst>
                                        <p:tav tm="0">
                                          <p:val>
                                            <p:strVal val="#ppt_x"/>
                                          </p:val>
                                        </p:tav>
                                        <p:tav tm="100000">
                                          <p:val>
                                            <p:strVal val="#ppt_x"/>
                                          </p:val>
                                        </p:tav>
                                      </p:tavLst>
                                    </p:anim>
                                    <p:anim calcmode="lin" valueType="num">
                                      <p:cBhvr additive="base">
                                        <p:cTn id="18" dur="500" fill="hold"/>
                                        <p:tgtEl>
                                          <p:spTgt spid="75"/>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500" fill="hold"/>
                                        <p:tgtEl>
                                          <p:spTgt spid="3"/>
                                        </p:tgtEl>
                                        <p:attrNameLst>
                                          <p:attrName>ppt_x</p:attrName>
                                        </p:attrNameLst>
                                      </p:cBhvr>
                                      <p:tavLst>
                                        <p:tav tm="0">
                                          <p:val>
                                            <p:strVal val="#ppt_x"/>
                                          </p:val>
                                        </p:tav>
                                        <p:tav tm="100000">
                                          <p:val>
                                            <p:strVal val="#ppt_x"/>
                                          </p:val>
                                        </p:tav>
                                      </p:tavLst>
                                    </p:anim>
                                    <p:anim calcmode="lin" valueType="num">
                                      <p:cBhvr additive="base">
                                        <p:cTn id="23" dur="500" fill="hold"/>
                                        <p:tgtEl>
                                          <p:spTgt spid="3"/>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nodeType="afterEffect">
                                  <p:stCondLst>
                                    <p:cond delay="0"/>
                                  </p:stCondLst>
                                  <p:childTnLst>
                                    <p:set>
                                      <p:cBhvr>
                                        <p:cTn id="26" dur="1" fill="hold">
                                          <p:stCondLst>
                                            <p:cond delay="0"/>
                                          </p:stCondLst>
                                        </p:cTn>
                                        <p:tgtEl>
                                          <p:spTgt spid="81"/>
                                        </p:tgtEl>
                                        <p:attrNameLst>
                                          <p:attrName>style.visibility</p:attrName>
                                        </p:attrNameLst>
                                      </p:cBhvr>
                                      <p:to>
                                        <p:strVal val="visible"/>
                                      </p:to>
                                    </p:set>
                                    <p:anim calcmode="lin" valueType="num">
                                      <p:cBhvr additive="base">
                                        <p:cTn id="27" dur="500" fill="hold"/>
                                        <p:tgtEl>
                                          <p:spTgt spid="81"/>
                                        </p:tgtEl>
                                        <p:attrNameLst>
                                          <p:attrName>ppt_x</p:attrName>
                                        </p:attrNameLst>
                                      </p:cBhvr>
                                      <p:tavLst>
                                        <p:tav tm="0">
                                          <p:val>
                                            <p:strVal val="#ppt_x"/>
                                          </p:val>
                                        </p:tav>
                                        <p:tav tm="100000">
                                          <p:val>
                                            <p:strVal val="#ppt_x"/>
                                          </p:val>
                                        </p:tav>
                                      </p:tavLst>
                                    </p:anim>
                                    <p:anim calcmode="lin" valueType="num">
                                      <p:cBhvr additive="base">
                                        <p:cTn id="28" dur="500" fill="hold"/>
                                        <p:tgtEl>
                                          <p:spTgt spid="8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2" name="Group 82"/>
          <p:cNvGrpSpPr/>
          <p:nvPr/>
        </p:nvGrpSpPr>
        <p:grpSpPr>
          <a:xfrm>
            <a:off x="4881563" y="1446213"/>
            <a:ext cx="3200400" cy="2690812"/>
            <a:chOff x="192" y="1776"/>
            <a:chExt cx="2112" cy="2144"/>
          </a:xfrm>
        </p:grpSpPr>
        <p:grpSp>
          <p:nvGrpSpPr>
            <p:cNvPr id="99373" name="Group 83"/>
            <p:cNvGrpSpPr/>
            <p:nvPr/>
          </p:nvGrpSpPr>
          <p:grpSpPr>
            <a:xfrm>
              <a:off x="192" y="1776"/>
              <a:ext cx="2112" cy="1776"/>
              <a:chOff x="192" y="1776"/>
              <a:chExt cx="2112" cy="1776"/>
            </a:xfrm>
          </p:grpSpPr>
          <p:sp>
            <p:nvSpPr>
              <p:cNvPr id="95236" name="Oval 84"/>
              <p:cNvSpPr>
                <a:spLocks noChangeArrowheads="1"/>
              </p:cNvSpPr>
              <p:nvPr/>
            </p:nvSpPr>
            <p:spPr bwMode="auto">
              <a:xfrm>
                <a:off x="1296" y="1776"/>
                <a:ext cx="240" cy="240"/>
              </a:xfrm>
              <a:prstGeom prst="ellipse">
                <a:avLst/>
              </a:prstGeom>
              <a:solidFill>
                <a:schemeClr val="bg2">
                  <a:lumMod val="20000"/>
                  <a:lumOff val="80000"/>
                </a:schemeClr>
              </a:solidFill>
              <a:ln w="19050">
                <a:solidFill>
                  <a:schemeClr val="accent2"/>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5237" name="Oval 85"/>
              <p:cNvSpPr>
                <a:spLocks noChangeArrowheads="1"/>
              </p:cNvSpPr>
              <p:nvPr/>
            </p:nvSpPr>
            <p:spPr bwMode="auto">
              <a:xfrm>
                <a:off x="816" y="2209"/>
                <a:ext cx="240" cy="239"/>
              </a:xfrm>
              <a:prstGeom prst="ellipse">
                <a:avLst/>
              </a:prstGeom>
              <a:solidFill>
                <a:schemeClr val="bg2">
                  <a:lumMod val="20000"/>
                  <a:lumOff val="80000"/>
                </a:schemeClr>
              </a:solidFill>
              <a:ln w="19050">
                <a:solidFill>
                  <a:schemeClr val="accent2"/>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5238" name="Oval 86"/>
              <p:cNvSpPr>
                <a:spLocks noChangeArrowheads="1"/>
              </p:cNvSpPr>
              <p:nvPr/>
            </p:nvSpPr>
            <p:spPr bwMode="auto">
              <a:xfrm>
                <a:off x="432" y="2736"/>
                <a:ext cx="240" cy="240"/>
              </a:xfrm>
              <a:prstGeom prst="ellipse">
                <a:avLst/>
              </a:prstGeom>
              <a:solidFill>
                <a:schemeClr val="bg2">
                  <a:lumMod val="20000"/>
                  <a:lumOff val="80000"/>
                </a:schemeClr>
              </a:solidFill>
              <a:ln w="19050">
                <a:solidFill>
                  <a:schemeClr val="accent2"/>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d</a:t>
                </a:r>
              </a:p>
            </p:txBody>
          </p:sp>
          <p:sp>
            <p:nvSpPr>
              <p:cNvPr id="95239" name="Oval 87"/>
              <p:cNvSpPr>
                <a:spLocks noChangeArrowheads="1"/>
              </p:cNvSpPr>
              <p:nvPr/>
            </p:nvSpPr>
            <p:spPr bwMode="auto">
              <a:xfrm>
                <a:off x="1104" y="2736"/>
                <a:ext cx="240" cy="240"/>
              </a:xfrm>
              <a:prstGeom prst="ellipse">
                <a:avLst/>
              </a:prstGeom>
              <a:solidFill>
                <a:schemeClr val="bg2">
                  <a:lumMod val="20000"/>
                  <a:lumOff val="80000"/>
                </a:schemeClr>
              </a:solidFill>
              <a:ln w="19050">
                <a:solidFill>
                  <a:schemeClr val="accent2"/>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5240" name="Oval 88"/>
              <p:cNvSpPr>
                <a:spLocks noChangeArrowheads="1"/>
              </p:cNvSpPr>
              <p:nvPr/>
            </p:nvSpPr>
            <p:spPr bwMode="auto">
              <a:xfrm>
                <a:off x="1776" y="2209"/>
                <a:ext cx="240" cy="239"/>
              </a:xfrm>
              <a:prstGeom prst="ellipse">
                <a:avLst/>
              </a:prstGeom>
              <a:solidFill>
                <a:schemeClr val="bg2">
                  <a:lumMod val="20000"/>
                  <a:lumOff val="80000"/>
                </a:schemeClr>
              </a:solidFill>
              <a:ln w="19050">
                <a:solidFill>
                  <a:schemeClr val="accent2"/>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c</a:t>
                </a:r>
              </a:p>
            </p:txBody>
          </p:sp>
          <p:cxnSp>
            <p:nvCxnSpPr>
              <p:cNvPr id="99381" name="AutoShape 89"/>
              <p:cNvCxnSpPr>
                <a:stCxn id="95236" idx="3"/>
                <a:endCxn id="95237" idx="7"/>
              </p:cNvCxnSpPr>
              <p:nvPr/>
            </p:nvCxnSpPr>
            <p:spPr>
              <a:xfrm flipH="1">
                <a:off x="1021" y="1987"/>
                <a:ext cx="310" cy="250"/>
              </a:xfrm>
              <a:prstGeom prst="straightConnector1">
                <a:avLst/>
              </a:prstGeom>
              <a:ln w="19050" cap="flat" cmpd="sng">
                <a:solidFill>
                  <a:schemeClr val="accent2"/>
                </a:solidFill>
                <a:prstDash val="solid"/>
                <a:headEnd type="none" w="med" len="med"/>
                <a:tailEnd type="none" w="med" len="med"/>
              </a:ln>
            </p:spPr>
          </p:cxnSp>
          <p:cxnSp>
            <p:nvCxnSpPr>
              <p:cNvPr id="99382" name="AutoShape 90"/>
              <p:cNvCxnSpPr>
                <a:stCxn id="95237" idx="3"/>
                <a:endCxn id="95238" idx="0"/>
              </p:cNvCxnSpPr>
              <p:nvPr/>
            </p:nvCxnSpPr>
            <p:spPr>
              <a:xfrm flipH="1">
                <a:off x="552" y="2419"/>
                <a:ext cx="299" cy="311"/>
              </a:xfrm>
              <a:prstGeom prst="straightConnector1">
                <a:avLst/>
              </a:prstGeom>
              <a:ln w="19050" cap="flat" cmpd="sng">
                <a:solidFill>
                  <a:schemeClr val="accent2"/>
                </a:solidFill>
                <a:prstDash val="solid"/>
                <a:headEnd type="none" w="med" len="med"/>
                <a:tailEnd type="none" w="med" len="med"/>
              </a:ln>
            </p:spPr>
          </p:cxnSp>
          <p:cxnSp>
            <p:nvCxnSpPr>
              <p:cNvPr id="99383" name="AutoShape 91"/>
              <p:cNvCxnSpPr>
                <a:stCxn id="95237" idx="5"/>
                <a:endCxn id="95239" idx="0"/>
              </p:cNvCxnSpPr>
              <p:nvPr/>
            </p:nvCxnSpPr>
            <p:spPr>
              <a:xfrm>
                <a:off x="1021" y="2419"/>
                <a:ext cx="203" cy="311"/>
              </a:xfrm>
              <a:prstGeom prst="straightConnector1">
                <a:avLst/>
              </a:prstGeom>
              <a:ln w="19050" cap="flat" cmpd="sng">
                <a:solidFill>
                  <a:schemeClr val="accent2"/>
                </a:solidFill>
                <a:prstDash val="solid"/>
                <a:headEnd type="none" w="med" len="med"/>
                <a:tailEnd type="none" w="med" len="med"/>
              </a:ln>
            </p:spPr>
          </p:cxnSp>
          <p:cxnSp>
            <p:nvCxnSpPr>
              <p:cNvPr id="99384" name="AutoShape 92"/>
              <p:cNvCxnSpPr>
                <a:stCxn id="95236" idx="5"/>
                <a:endCxn id="95240" idx="1"/>
              </p:cNvCxnSpPr>
              <p:nvPr/>
            </p:nvCxnSpPr>
            <p:spPr>
              <a:xfrm>
                <a:off x="1501" y="1987"/>
                <a:ext cx="310" cy="250"/>
              </a:xfrm>
              <a:prstGeom prst="straightConnector1">
                <a:avLst/>
              </a:prstGeom>
              <a:ln w="19050" cap="flat" cmpd="sng">
                <a:solidFill>
                  <a:schemeClr val="accent2"/>
                </a:solidFill>
                <a:prstDash val="solid"/>
                <a:headEnd type="none" w="med" len="med"/>
                <a:tailEnd type="none" w="med" len="med"/>
              </a:ln>
            </p:spPr>
          </p:cxnSp>
          <p:sp>
            <p:nvSpPr>
              <p:cNvPr id="95245" name="Oval 93"/>
              <p:cNvSpPr>
                <a:spLocks noChangeArrowheads="1"/>
              </p:cNvSpPr>
              <p:nvPr/>
            </p:nvSpPr>
            <p:spPr bwMode="auto">
              <a:xfrm>
                <a:off x="768" y="3312"/>
                <a:ext cx="240" cy="240"/>
              </a:xfrm>
              <a:prstGeom prst="ellipse">
                <a:avLst/>
              </a:prstGeom>
              <a:solidFill>
                <a:schemeClr val="bg2">
                  <a:lumMod val="20000"/>
                  <a:lumOff val="80000"/>
                </a:schemeClr>
              </a:solidFill>
              <a:ln w="19050">
                <a:solidFill>
                  <a:schemeClr val="accent2"/>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a</a:t>
                </a:r>
              </a:p>
            </p:txBody>
          </p:sp>
          <p:cxnSp>
            <p:nvCxnSpPr>
              <p:cNvPr id="99386" name="AutoShape 94"/>
              <p:cNvCxnSpPr>
                <a:stCxn id="95239" idx="3"/>
                <a:endCxn id="95245" idx="0"/>
              </p:cNvCxnSpPr>
              <p:nvPr/>
            </p:nvCxnSpPr>
            <p:spPr>
              <a:xfrm flipH="1">
                <a:off x="888" y="2947"/>
                <a:ext cx="251" cy="359"/>
              </a:xfrm>
              <a:prstGeom prst="straightConnector1">
                <a:avLst/>
              </a:prstGeom>
              <a:ln w="19050" cap="flat" cmpd="sng">
                <a:solidFill>
                  <a:schemeClr val="accent2"/>
                </a:solidFill>
                <a:prstDash val="solid"/>
                <a:headEnd type="none" w="med" len="med"/>
                <a:tailEnd type="none" w="med" len="med"/>
              </a:ln>
            </p:spPr>
          </p:cxnSp>
          <p:sp>
            <p:nvSpPr>
              <p:cNvPr id="95247" name="Oval 95"/>
              <p:cNvSpPr>
                <a:spLocks noChangeArrowheads="1"/>
              </p:cNvSpPr>
              <p:nvPr/>
            </p:nvSpPr>
            <p:spPr bwMode="auto">
              <a:xfrm>
                <a:off x="1536" y="3312"/>
                <a:ext cx="240" cy="240"/>
              </a:xfrm>
              <a:prstGeom prst="ellipse">
                <a:avLst/>
              </a:prstGeom>
              <a:solidFill>
                <a:schemeClr val="bg2">
                  <a:lumMod val="20000"/>
                  <a:lumOff val="80000"/>
                </a:schemeClr>
              </a:solidFill>
              <a:ln w="19050">
                <a:solidFill>
                  <a:schemeClr val="accent2"/>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b</a:t>
                </a:r>
              </a:p>
            </p:txBody>
          </p:sp>
          <p:cxnSp>
            <p:nvCxnSpPr>
              <p:cNvPr id="99388" name="AutoShape 96"/>
              <p:cNvCxnSpPr>
                <a:stCxn id="95239" idx="5"/>
                <a:endCxn id="95247" idx="0"/>
              </p:cNvCxnSpPr>
              <p:nvPr/>
            </p:nvCxnSpPr>
            <p:spPr>
              <a:xfrm>
                <a:off x="1309" y="2947"/>
                <a:ext cx="347" cy="359"/>
              </a:xfrm>
              <a:prstGeom prst="straightConnector1">
                <a:avLst/>
              </a:prstGeom>
              <a:ln w="19050" cap="flat" cmpd="sng">
                <a:solidFill>
                  <a:schemeClr val="accent2"/>
                </a:solidFill>
                <a:prstDash val="solid"/>
                <a:headEnd type="none" w="med" len="med"/>
                <a:tailEnd type="none" w="med" len="med"/>
              </a:ln>
            </p:spPr>
          </p:cxnSp>
          <p:sp>
            <p:nvSpPr>
              <p:cNvPr id="95249" name="Text Box 97"/>
              <p:cNvSpPr txBox="1">
                <a:spLocks noChangeArrowheads="1"/>
              </p:cNvSpPr>
              <p:nvPr/>
            </p:nvSpPr>
            <p:spPr bwMode="auto">
              <a:xfrm>
                <a:off x="2064" y="2209"/>
                <a:ext cx="240"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2</a:t>
                </a:r>
              </a:p>
            </p:txBody>
          </p:sp>
          <p:sp>
            <p:nvSpPr>
              <p:cNvPr id="95250" name="Text Box 98"/>
              <p:cNvSpPr txBox="1">
                <a:spLocks noChangeArrowheads="1"/>
              </p:cNvSpPr>
              <p:nvPr/>
            </p:nvSpPr>
            <p:spPr bwMode="auto">
              <a:xfrm>
                <a:off x="192" y="2688"/>
                <a:ext cx="240"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4</a:t>
                </a:r>
              </a:p>
            </p:txBody>
          </p:sp>
        </p:grpSp>
        <p:sp>
          <p:nvSpPr>
            <p:cNvPr id="95251" name="Text Box 99"/>
            <p:cNvSpPr txBox="1">
              <a:spLocks noChangeArrowheads="1"/>
            </p:cNvSpPr>
            <p:nvPr/>
          </p:nvSpPr>
          <p:spPr bwMode="auto">
            <a:xfrm>
              <a:off x="768" y="3552"/>
              <a:ext cx="240"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7</a:t>
              </a:r>
            </a:p>
          </p:txBody>
        </p:sp>
        <p:sp>
          <p:nvSpPr>
            <p:cNvPr id="95252" name="Text Box 100"/>
            <p:cNvSpPr txBox="1">
              <a:spLocks noChangeArrowheads="1"/>
            </p:cNvSpPr>
            <p:nvPr/>
          </p:nvSpPr>
          <p:spPr bwMode="auto">
            <a:xfrm>
              <a:off x="1536" y="3552"/>
              <a:ext cx="240"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5</a:t>
              </a:r>
            </a:p>
          </p:txBody>
        </p:sp>
      </p:grpSp>
      <p:sp>
        <p:nvSpPr>
          <p:cNvPr id="785509" name="Text Box 101"/>
          <p:cNvSpPr txBox="1">
            <a:spLocks noChangeArrowheads="1"/>
          </p:cNvSpPr>
          <p:nvPr/>
        </p:nvSpPr>
        <p:spPr bwMode="auto">
          <a:xfrm>
            <a:off x="4921250" y="4141788"/>
            <a:ext cx="3886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WPL=</a:t>
            </a:r>
            <a:r>
              <a:rPr kumimoji="0" lang="en-US" altLang="zh-CN" sz="2400" b="1" i="0" u="none" strike="noStrike" kern="1200" cap="none" spc="0" normalizeH="0" baseline="0" noProof="0" dirty="0">
                <a:ln>
                  <a:noFill/>
                </a:ln>
                <a:solidFill>
                  <a:srgbClr val="FF0000"/>
                </a:solidFill>
                <a:effectLst/>
                <a:uLnTx/>
                <a:uFillTx/>
                <a:latin typeface="+mn-lt"/>
                <a:ea typeface="+mn-ea"/>
                <a:cs typeface="+mn-ea"/>
                <a:sym typeface="+mn-lt"/>
              </a:rPr>
              <a:t>7</a:t>
            </a: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*3+</a:t>
            </a:r>
            <a:r>
              <a:rPr kumimoji="0" lang="en-US" altLang="zh-CN" sz="2400" b="1" i="0" u="none" strike="noStrike" kern="1200" cap="none" spc="0" normalizeH="0" baseline="0" noProof="0" dirty="0">
                <a:ln>
                  <a:noFill/>
                </a:ln>
                <a:solidFill>
                  <a:srgbClr val="FF0000"/>
                </a:solidFill>
                <a:effectLst/>
                <a:uLnTx/>
                <a:uFillTx/>
                <a:latin typeface="+mn-lt"/>
                <a:ea typeface="+mn-ea"/>
                <a:cs typeface="+mn-ea"/>
                <a:sym typeface="+mn-lt"/>
              </a:rPr>
              <a:t>5</a:t>
            </a: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*3+</a:t>
            </a:r>
            <a:r>
              <a:rPr kumimoji="0" lang="en-US" altLang="zh-CN" sz="2400" b="1" i="0" u="none" strike="noStrike" kern="1200" cap="none" spc="0" normalizeH="0" baseline="0" noProof="0" dirty="0">
                <a:ln>
                  <a:noFill/>
                </a:ln>
                <a:solidFill>
                  <a:srgbClr val="FF0000"/>
                </a:solidFill>
                <a:effectLst/>
                <a:uLnTx/>
                <a:uFillTx/>
                <a:latin typeface="+mn-lt"/>
                <a:ea typeface="+mn-ea"/>
                <a:cs typeface="+mn-ea"/>
                <a:sym typeface="+mn-lt"/>
              </a:rPr>
              <a:t>2</a:t>
            </a: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*1+</a:t>
            </a:r>
            <a:r>
              <a:rPr kumimoji="0" lang="en-US" altLang="zh-CN" sz="2400" b="1" i="0" u="none" strike="noStrike" kern="1200" cap="none" spc="0" normalizeH="0" baseline="0" noProof="0" dirty="0">
                <a:ln>
                  <a:noFill/>
                </a:ln>
                <a:solidFill>
                  <a:srgbClr val="FF0000"/>
                </a:solidFill>
                <a:effectLst/>
                <a:uLnTx/>
                <a:uFillTx/>
                <a:latin typeface="+mn-lt"/>
                <a:ea typeface="+mn-ea"/>
                <a:cs typeface="+mn-ea"/>
                <a:sym typeface="+mn-lt"/>
              </a:rPr>
              <a:t>4</a:t>
            </a: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*2=46</a:t>
            </a:r>
          </a:p>
        </p:txBody>
      </p:sp>
      <p:grpSp>
        <p:nvGrpSpPr>
          <p:cNvPr id="4" name="Group 102"/>
          <p:cNvGrpSpPr/>
          <p:nvPr/>
        </p:nvGrpSpPr>
        <p:grpSpPr>
          <a:xfrm>
            <a:off x="762000" y="4657725"/>
            <a:ext cx="3886200" cy="2108200"/>
            <a:chOff x="2880" y="1968"/>
            <a:chExt cx="2448" cy="1839"/>
          </a:xfrm>
        </p:grpSpPr>
        <p:sp>
          <p:nvSpPr>
            <p:cNvPr id="95255" name="Oval 103"/>
            <p:cNvSpPr>
              <a:spLocks noChangeArrowheads="1"/>
            </p:cNvSpPr>
            <p:nvPr/>
          </p:nvSpPr>
          <p:spPr bwMode="auto">
            <a:xfrm>
              <a:off x="3600" y="1968"/>
              <a:ext cx="240" cy="240"/>
            </a:xfrm>
            <a:prstGeom prst="ellipse">
              <a:avLst/>
            </a:prstGeom>
            <a:solidFill>
              <a:srgbClr val="EBEBEB"/>
            </a:solidFill>
            <a:ln w="19050">
              <a:solidFill>
                <a:srgbClr val="FF330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5256" name="Oval 104"/>
            <p:cNvSpPr>
              <a:spLocks noChangeArrowheads="1"/>
            </p:cNvSpPr>
            <p:nvPr/>
          </p:nvSpPr>
          <p:spPr bwMode="auto">
            <a:xfrm>
              <a:off x="3120" y="2400"/>
              <a:ext cx="240" cy="240"/>
            </a:xfrm>
            <a:prstGeom prst="ellipse">
              <a:avLst/>
            </a:prstGeom>
            <a:solidFill>
              <a:srgbClr val="EBEBEB"/>
            </a:solidFill>
            <a:ln w="19050">
              <a:solidFill>
                <a:srgbClr val="FF330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a</a:t>
              </a:r>
            </a:p>
          </p:txBody>
        </p:sp>
        <p:sp>
          <p:nvSpPr>
            <p:cNvPr id="95257" name="Oval 105"/>
            <p:cNvSpPr>
              <a:spLocks noChangeArrowheads="1"/>
            </p:cNvSpPr>
            <p:nvPr/>
          </p:nvSpPr>
          <p:spPr bwMode="auto">
            <a:xfrm>
              <a:off x="4080" y="2400"/>
              <a:ext cx="240" cy="240"/>
            </a:xfrm>
            <a:prstGeom prst="ellipse">
              <a:avLst/>
            </a:prstGeom>
            <a:solidFill>
              <a:srgbClr val="EBEBEB"/>
            </a:solidFill>
            <a:ln w="19050">
              <a:solidFill>
                <a:srgbClr val="FF330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5258" name="Oval 106"/>
            <p:cNvSpPr>
              <a:spLocks noChangeArrowheads="1"/>
            </p:cNvSpPr>
            <p:nvPr/>
          </p:nvSpPr>
          <p:spPr bwMode="auto">
            <a:xfrm>
              <a:off x="3744" y="2928"/>
              <a:ext cx="240" cy="241"/>
            </a:xfrm>
            <a:prstGeom prst="ellipse">
              <a:avLst/>
            </a:prstGeom>
            <a:solidFill>
              <a:srgbClr val="EBEBEB"/>
            </a:solidFill>
            <a:ln w="19050">
              <a:solidFill>
                <a:srgbClr val="FF330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95259" name="Oval 107"/>
            <p:cNvSpPr>
              <a:spLocks noChangeArrowheads="1"/>
            </p:cNvSpPr>
            <p:nvPr/>
          </p:nvSpPr>
          <p:spPr bwMode="auto">
            <a:xfrm>
              <a:off x="4464" y="2928"/>
              <a:ext cx="240" cy="241"/>
            </a:xfrm>
            <a:prstGeom prst="ellipse">
              <a:avLst/>
            </a:prstGeom>
            <a:solidFill>
              <a:srgbClr val="EBEBEB"/>
            </a:solidFill>
            <a:ln w="19050">
              <a:solidFill>
                <a:srgbClr val="FF330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cxnSp>
          <p:nvCxnSpPr>
            <p:cNvPr id="99361" name="AutoShape 108"/>
            <p:cNvCxnSpPr>
              <a:stCxn id="95255" idx="3"/>
              <a:endCxn id="95256" idx="7"/>
            </p:cNvCxnSpPr>
            <p:nvPr/>
          </p:nvCxnSpPr>
          <p:spPr>
            <a:xfrm flipH="1">
              <a:off x="3325" y="2179"/>
              <a:ext cx="310" cy="250"/>
            </a:xfrm>
            <a:prstGeom prst="straightConnector1">
              <a:avLst/>
            </a:prstGeom>
            <a:ln w="19050" cap="flat" cmpd="sng">
              <a:solidFill>
                <a:srgbClr val="FF3300"/>
              </a:solidFill>
              <a:prstDash val="solid"/>
              <a:headEnd type="none" w="med" len="med"/>
              <a:tailEnd type="none" w="med" len="med"/>
            </a:ln>
          </p:spPr>
        </p:cxnSp>
        <p:cxnSp>
          <p:nvCxnSpPr>
            <p:cNvPr id="99362" name="AutoShape 109"/>
            <p:cNvCxnSpPr>
              <a:stCxn id="95255" idx="5"/>
              <a:endCxn id="95257" idx="1"/>
            </p:cNvCxnSpPr>
            <p:nvPr/>
          </p:nvCxnSpPr>
          <p:spPr>
            <a:xfrm>
              <a:off x="3805" y="2179"/>
              <a:ext cx="310" cy="250"/>
            </a:xfrm>
            <a:prstGeom prst="straightConnector1">
              <a:avLst/>
            </a:prstGeom>
            <a:ln w="19050" cap="flat" cmpd="sng">
              <a:solidFill>
                <a:srgbClr val="FF3300"/>
              </a:solidFill>
              <a:prstDash val="solid"/>
              <a:headEnd type="none" w="med" len="med"/>
              <a:tailEnd type="none" w="med" len="med"/>
            </a:ln>
          </p:spPr>
        </p:cxnSp>
        <p:cxnSp>
          <p:nvCxnSpPr>
            <p:cNvPr id="99363" name="AutoShape 110"/>
            <p:cNvCxnSpPr>
              <a:stCxn id="95257" idx="3"/>
              <a:endCxn id="95258" idx="0"/>
            </p:cNvCxnSpPr>
            <p:nvPr/>
          </p:nvCxnSpPr>
          <p:spPr>
            <a:xfrm flipH="1">
              <a:off x="3864" y="2611"/>
              <a:ext cx="251" cy="311"/>
            </a:xfrm>
            <a:prstGeom prst="straightConnector1">
              <a:avLst/>
            </a:prstGeom>
            <a:ln w="19050" cap="flat" cmpd="sng">
              <a:solidFill>
                <a:srgbClr val="FF3300"/>
              </a:solidFill>
              <a:prstDash val="solid"/>
              <a:headEnd type="none" w="med" len="med"/>
              <a:tailEnd type="none" w="med" len="med"/>
            </a:ln>
          </p:spPr>
        </p:cxnSp>
        <p:cxnSp>
          <p:nvCxnSpPr>
            <p:cNvPr id="99364" name="AutoShape 111"/>
            <p:cNvCxnSpPr>
              <a:stCxn id="95257" idx="5"/>
              <a:endCxn id="95259" idx="0"/>
            </p:cNvCxnSpPr>
            <p:nvPr/>
          </p:nvCxnSpPr>
          <p:spPr>
            <a:xfrm>
              <a:off x="4285" y="2611"/>
              <a:ext cx="299" cy="311"/>
            </a:xfrm>
            <a:prstGeom prst="straightConnector1">
              <a:avLst/>
            </a:prstGeom>
            <a:ln w="19050" cap="flat" cmpd="sng">
              <a:solidFill>
                <a:srgbClr val="FF3300"/>
              </a:solidFill>
              <a:prstDash val="solid"/>
              <a:headEnd type="none" w="med" len="med"/>
              <a:tailEnd type="none" w="med" len="med"/>
            </a:ln>
          </p:spPr>
        </p:cxnSp>
        <p:sp>
          <p:nvSpPr>
            <p:cNvPr id="95264" name="Oval 112"/>
            <p:cNvSpPr>
              <a:spLocks noChangeArrowheads="1"/>
            </p:cNvSpPr>
            <p:nvPr/>
          </p:nvSpPr>
          <p:spPr bwMode="auto">
            <a:xfrm>
              <a:off x="4128" y="3457"/>
              <a:ext cx="240" cy="241"/>
            </a:xfrm>
            <a:prstGeom prst="ellipse">
              <a:avLst/>
            </a:prstGeom>
            <a:solidFill>
              <a:srgbClr val="EBEBEB"/>
            </a:solidFill>
            <a:ln w="19050">
              <a:solidFill>
                <a:srgbClr val="FF330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c</a:t>
              </a:r>
            </a:p>
          </p:txBody>
        </p:sp>
        <p:cxnSp>
          <p:nvCxnSpPr>
            <p:cNvPr id="99366" name="AutoShape 113"/>
            <p:cNvCxnSpPr>
              <a:stCxn id="95257" idx="5"/>
              <a:endCxn id="95264" idx="0"/>
            </p:cNvCxnSpPr>
            <p:nvPr/>
          </p:nvCxnSpPr>
          <p:spPr>
            <a:xfrm flipH="1">
              <a:off x="4248" y="3127"/>
              <a:ext cx="251" cy="323"/>
            </a:xfrm>
            <a:prstGeom prst="straightConnector1">
              <a:avLst/>
            </a:prstGeom>
            <a:ln w="19050" cap="flat" cmpd="sng">
              <a:solidFill>
                <a:srgbClr val="FF3300"/>
              </a:solidFill>
              <a:prstDash val="solid"/>
              <a:headEnd type="none" w="med" len="med"/>
              <a:tailEnd type="none" w="med" len="med"/>
            </a:ln>
          </p:spPr>
        </p:cxnSp>
        <p:sp>
          <p:nvSpPr>
            <p:cNvPr id="95266" name="Oval 114"/>
            <p:cNvSpPr>
              <a:spLocks noChangeArrowheads="1"/>
            </p:cNvSpPr>
            <p:nvPr/>
          </p:nvSpPr>
          <p:spPr bwMode="auto">
            <a:xfrm>
              <a:off x="4800" y="3457"/>
              <a:ext cx="240" cy="241"/>
            </a:xfrm>
            <a:prstGeom prst="ellipse">
              <a:avLst/>
            </a:prstGeom>
            <a:solidFill>
              <a:srgbClr val="EBEBEB"/>
            </a:solidFill>
            <a:ln w="19050">
              <a:solidFill>
                <a:srgbClr val="FF3300"/>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d</a:t>
              </a:r>
            </a:p>
          </p:txBody>
        </p:sp>
        <p:cxnSp>
          <p:nvCxnSpPr>
            <p:cNvPr id="99368" name="AutoShape 115"/>
            <p:cNvCxnSpPr>
              <a:stCxn id="95259" idx="5"/>
              <a:endCxn id="95266" idx="0"/>
            </p:cNvCxnSpPr>
            <p:nvPr/>
          </p:nvCxnSpPr>
          <p:spPr>
            <a:xfrm>
              <a:off x="4669" y="3139"/>
              <a:ext cx="251" cy="311"/>
            </a:xfrm>
            <a:prstGeom prst="straightConnector1">
              <a:avLst/>
            </a:prstGeom>
            <a:ln w="19050" cap="flat" cmpd="sng">
              <a:solidFill>
                <a:srgbClr val="FF3300"/>
              </a:solidFill>
              <a:prstDash val="solid"/>
              <a:headEnd type="none" w="med" len="med"/>
              <a:tailEnd type="none" w="med" len="med"/>
            </a:ln>
          </p:spPr>
        </p:cxnSp>
        <p:sp>
          <p:nvSpPr>
            <p:cNvPr id="95268" name="Text Box 116"/>
            <p:cNvSpPr txBox="1">
              <a:spLocks noChangeArrowheads="1"/>
            </p:cNvSpPr>
            <p:nvPr/>
          </p:nvSpPr>
          <p:spPr bwMode="auto">
            <a:xfrm>
              <a:off x="2880" y="2352"/>
              <a:ext cx="240"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7</a:t>
              </a:r>
            </a:p>
          </p:txBody>
        </p:sp>
        <p:sp>
          <p:nvSpPr>
            <p:cNvPr id="95269" name="Text Box 117"/>
            <p:cNvSpPr txBox="1">
              <a:spLocks noChangeArrowheads="1"/>
            </p:cNvSpPr>
            <p:nvPr/>
          </p:nvSpPr>
          <p:spPr bwMode="auto">
            <a:xfrm>
              <a:off x="3456" y="2928"/>
              <a:ext cx="240"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5</a:t>
              </a:r>
            </a:p>
          </p:txBody>
        </p:sp>
        <p:sp>
          <p:nvSpPr>
            <p:cNvPr id="95270" name="Text Box 118"/>
            <p:cNvSpPr txBox="1">
              <a:spLocks noChangeArrowheads="1"/>
            </p:cNvSpPr>
            <p:nvPr/>
          </p:nvSpPr>
          <p:spPr bwMode="auto">
            <a:xfrm>
              <a:off x="3792" y="3408"/>
              <a:ext cx="240" cy="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2</a:t>
              </a:r>
            </a:p>
          </p:txBody>
        </p:sp>
        <p:sp>
          <p:nvSpPr>
            <p:cNvPr id="95271" name="Text Box 119"/>
            <p:cNvSpPr txBox="1">
              <a:spLocks noChangeArrowheads="1"/>
            </p:cNvSpPr>
            <p:nvPr/>
          </p:nvSpPr>
          <p:spPr bwMode="auto">
            <a:xfrm>
              <a:off x="5088" y="3408"/>
              <a:ext cx="240" cy="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4</a:t>
              </a:r>
            </a:p>
          </p:txBody>
        </p:sp>
      </p:grpSp>
      <p:sp>
        <p:nvSpPr>
          <p:cNvPr id="785528" name="Text Box 120"/>
          <p:cNvSpPr txBox="1">
            <a:spLocks noChangeArrowheads="1"/>
          </p:cNvSpPr>
          <p:nvPr/>
        </p:nvSpPr>
        <p:spPr bwMode="auto">
          <a:xfrm>
            <a:off x="5022850" y="6273800"/>
            <a:ext cx="3886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WPL=</a:t>
            </a:r>
            <a:r>
              <a:rPr kumimoji="0" lang="en-US" altLang="zh-CN" sz="2400" b="1" i="0" u="none" strike="noStrike" kern="1200" cap="none" spc="0" normalizeH="0" baseline="0" noProof="0" dirty="0">
                <a:ln>
                  <a:noFill/>
                </a:ln>
                <a:solidFill>
                  <a:srgbClr val="FF0000"/>
                </a:solidFill>
                <a:effectLst/>
                <a:uLnTx/>
                <a:uFillTx/>
                <a:latin typeface="+mn-lt"/>
                <a:ea typeface="+mn-ea"/>
                <a:cs typeface="+mn-ea"/>
                <a:sym typeface="+mn-lt"/>
              </a:rPr>
              <a:t>7</a:t>
            </a: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*1+</a:t>
            </a:r>
            <a:r>
              <a:rPr kumimoji="0" lang="en-US" altLang="zh-CN" sz="2400" b="1" i="0" u="none" strike="noStrike" kern="1200" cap="none" spc="0" normalizeH="0" baseline="0" noProof="0" dirty="0">
                <a:ln>
                  <a:noFill/>
                </a:ln>
                <a:solidFill>
                  <a:srgbClr val="FF0000"/>
                </a:solidFill>
                <a:effectLst/>
                <a:uLnTx/>
                <a:uFillTx/>
                <a:latin typeface="+mn-lt"/>
                <a:ea typeface="+mn-ea"/>
                <a:cs typeface="+mn-ea"/>
                <a:sym typeface="+mn-lt"/>
              </a:rPr>
              <a:t>5</a:t>
            </a: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*2+</a:t>
            </a:r>
            <a:r>
              <a:rPr kumimoji="0" lang="en-US" altLang="zh-CN" sz="2400" b="1" i="0" u="none" strike="noStrike" kern="1200" cap="none" spc="0" normalizeH="0" baseline="0" noProof="0" dirty="0">
                <a:ln>
                  <a:noFill/>
                </a:ln>
                <a:solidFill>
                  <a:srgbClr val="FF0000"/>
                </a:solidFill>
                <a:effectLst/>
                <a:uLnTx/>
                <a:uFillTx/>
                <a:latin typeface="+mn-lt"/>
                <a:ea typeface="+mn-ea"/>
                <a:cs typeface="+mn-ea"/>
                <a:sym typeface="+mn-lt"/>
              </a:rPr>
              <a:t>2</a:t>
            </a: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*3+</a:t>
            </a:r>
            <a:r>
              <a:rPr kumimoji="0" lang="en-US" altLang="zh-CN" sz="2400" b="1" i="0" u="none" strike="noStrike" kern="1200" cap="none" spc="0" normalizeH="0" baseline="0" noProof="0" dirty="0">
                <a:ln>
                  <a:noFill/>
                </a:ln>
                <a:solidFill>
                  <a:srgbClr val="FF0000"/>
                </a:solidFill>
                <a:effectLst/>
                <a:uLnTx/>
                <a:uFillTx/>
                <a:latin typeface="+mn-lt"/>
                <a:ea typeface="+mn-ea"/>
                <a:cs typeface="+mn-ea"/>
                <a:sym typeface="+mn-lt"/>
              </a:rPr>
              <a:t>4</a:t>
            </a: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*3=35</a:t>
            </a:r>
          </a:p>
        </p:txBody>
      </p:sp>
      <p:grpSp>
        <p:nvGrpSpPr>
          <p:cNvPr id="5" name="Group 122"/>
          <p:cNvGrpSpPr/>
          <p:nvPr/>
        </p:nvGrpSpPr>
        <p:grpSpPr>
          <a:xfrm>
            <a:off x="1119188" y="1820863"/>
            <a:ext cx="2628900" cy="2101850"/>
            <a:chOff x="3120" y="144"/>
            <a:chExt cx="1968" cy="1534"/>
          </a:xfrm>
        </p:grpSpPr>
        <p:grpSp>
          <p:nvGrpSpPr>
            <p:cNvPr id="99338" name="Group 123"/>
            <p:cNvGrpSpPr/>
            <p:nvPr/>
          </p:nvGrpSpPr>
          <p:grpSpPr>
            <a:xfrm>
              <a:off x="3120" y="144"/>
              <a:ext cx="1968" cy="1200"/>
              <a:chOff x="3120" y="144"/>
              <a:chExt cx="1968" cy="1200"/>
            </a:xfrm>
          </p:grpSpPr>
          <p:sp>
            <p:nvSpPr>
              <p:cNvPr id="95275" name="Oval 124"/>
              <p:cNvSpPr>
                <a:spLocks noChangeArrowheads="1"/>
              </p:cNvSpPr>
              <p:nvPr/>
            </p:nvSpPr>
            <p:spPr bwMode="auto">
              <a:xfrm>
                <a:off x="3984" y="144"/>
                <a:ext cx="240" cy="240"/>
              </a:xfrm>
              <a:prstGeom prst="ellipse">
                <a:avLst/>
              </a:prstGeom>
              <a:solidFill>
                <a:schemeClr val="accent1"/>
              </a:solidFill>
              <a:ln w="19050">
                <a:solidFill>
                  <a:schemeClr val="accent2"/>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5276" name="Oval 125"/>
              <p:cNvSpPr>
                <a:spLocks noChangeArrowheads="1"/>
              </p:cNvSpPr>
              <p:nvPr/>
            </p:nvSpPr>
            <p:spPr bwMode="auto">
              <a:xfrm>
                <a:off x="3504" y="576"/>
                <a:ext cx="240" cy="240"/>
              </a:xfrm>
              <a:prstGeom prst="ellipse">
                <a:avLst/>
              </a:prstGeom>
              <a:solidFill>
                <a:schemeClr val="accent1"/>
              </a:solidFill>
              <a:ln w="19050">
                <a:solidFill>
                  <a:schemeClr val="accent2"/>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5277" name="Oval 126"/>
              <p:cNvSpPr>
                <a:spLocks noChangeArrowheads="1"/>
              </p:cNvSpPr>
              <p:nvPr/>
            </p:nvSpPr>
            <p:spPr bwMode="auto">
              <a:xfrm>
                <a:off x="3120" y="1104"/>
                <a:ext cx="240" cy="240"/>
              </a:xfrm>
              <a:prstGeom prst="ellipse">
                <a:avLst/>
              </a:prstGeom>
              <a:solidFill>
                <a:schemeClr val="accent1"/>
              </a:solidFill>
              <a:ln w="19050">
                <a:solidFill>
                  <a:schemeClr val="accent2"/>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bg1"/>
                    </a:solidFill>
                    <a:effectLst/>
                    <a:uLnTx/>
                    <a:uFillTx/>
                    <a:latin typeface="+mn-lt"/>
                    <a:ea typeface="+mn-ea"/>
                    <a:cs typeface="+mn-ea"/>
                    <a:sym typeface="+mn-lt"/>
                  </a:rPr>
                  <a:t>a</a:t>
                </a:r>
              </a:p>
            </p:txBody>
          </p:sp>
          <p:sp>
            <p:nvSpPr>
              <p:cNvPr id="95278" name="Oval 127"/>
              <p:cNvSpPr>
                <a:spLocks noChangeArrowheads="1"/>
              </p:cNvSpPr>
              <p:nvPr/>
            </p:nvSpPr>
            <p:spPr bwMode="auto">
              <a:xfrm>
                <a:off x="3791" y="1104"/>
                <a:ext cx="240" cy="240"/>
              </a:xfrm>
              <a:prstGeom prst="ellipse">
                <a:avLst/>
              </a:prstGeom>
              <a:solidFill>
                <a:schemeClr val="accent1"/>
              </a:solidFill>
              <a:ln w="19050">
                <a:solidFill>
                  <a:schemeClr val="accent2"/>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bg1"/>
                    </a:solidFill>
                    <a:effectLst/>
                    <a:uLnTx/>
                    <a:uFillTx/>
                    <a:latin typeface="+mn-lt"/>
                    <a:ea typeface="+mn-ea"/>
                    <a:cs typeface="+mn-ea"/>
                    <a:sym typeface="+mn-lt"/>
                  </a:rPr>
                  <a:t>b</a:t>
                </a:r>
              </a:p>
            </p:txBody>
          </p:sp>
          <p:sp>
            <p:nvSpPr>
              <p:cNvPr id="95279" name="Oval 128"/>
              <p:cNvSpPr>
                <a:spLocks noChangeArrowheads="1"/>
              </p:cNvSpPr>
              <p:nvPr/>
            </p:nvSpPr>
            <p:spPr bwMode="auto">
              <a:xfrm>
                <a:off x="4464" y="576"/>
                <a:ext cx="240" cy="240"/>
              </a:xfrm>
              <a:prstGeom prst="ellipse">
                <a:avLst/>
              </a:prstGeom>
              <a:solidFill>
                <a:schemeClr val="accent1"/>
              </a:solidFill>
              <a:ln w="19050">
                <a:solidFill>
                  <a:schemeClr val="accent2"/>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5280" name="Oval 129"/>
              <p:cNvSpPr>
                <a:spLocks noChangeArrowheads="1"/>
              </p:cNvSpPr>
              <p:nvPr/>
            </p:nvSpPr>
            <p:spPr bwMode="auto">
              <a:xfrm>
                <a:off x="4128" y="1104"/>
                <a:ext cx="240" cy="240"/>
              </a:xfrm>
              <a:prstGeom prst="ellipse">
                <a:avLst/>
              </a:prstGeom>
              <a:solidFill>
                <a:schemeClr val="accent1"/>
              </a:solidFill>
              <a:ln w="19050">
                <a:solidFill>
                  <a:schemeClr val="accent2"/>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bg1"/>
                    </a:solidFill>
                    <a:effectLst/>
                    <a:uLnTx/>
                    <a:uFillTx/>
                    <a:latin typeface="+mn-lt"/>
                    <a:ea typeface="+mn-ea"/>
                    <a:cs typeface="+mn-ea"/>
                    <a:sym typeface="+mn-lt"/>
                  </a:rPr>
                  <a:t>c</a:t>
                </a:r>
              </a:p>
            </p:txBody>
          </p:sp>
          <p:sp>
            <p:nvSpPr>
              <p:cNvPr id="95281" name="Oval 130"/>
              <p:cNvSpPr>
                <a:spLocks noChangeArrowheads="1"/>
              </p:cNvSpPr>
              <p:nvPr/>
            </p:nvSpPr>
            <p:spPr bwMode="auto">
              <a:xfrm>
                <a:off x="4848" y="1104"/>
                <a:ext cx="240" cy="240"/>
              </a:xfrm>
              <a:prstGeom prst="ellipse">
                <a:avLst/>
              </a:prstGeom>
              <a:solidFill>
                <a:schemeClr val="accent1"/>
              </a:solidFill>
              <a:ln w="19050">
                <a:solidFill>
                  <a:schemeClr val="accent2"/>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bg1"/>
                    </a:solidFill>
                    <a:effectLst/>
                    <a:uLnTx/>
                    <a:uFillTx/>
                    <a:latin typeface="+mn-lt"/>
                    <a:ea typeface="+mn-ea"/>
                    <a:cs typeface="+mn-ea"/>
                    <a:sym typeface="+mn-lt"/>
                  </a:rPr>
                  <a:t>d</a:t>
                </a:r>
              </a:p>
            </p:txBody>
          </p:sp>
          <p:cxnSp>
            <p:nvCxnSpPr>
              <p:cNvPr id="99350" name="AutoShape 131"/>
              <p:cNvCxnSpPr>
                <a:stCxn id="95275" idx="3"/>
                <a:endCxn id="95276" idx="7"/>
              </p:cNvCxnSpPr>
              <p:nvPr/>
            </p:nvCxnSpPr>
            <p:spPr>
              <a:xfrm flipH="1">
                <a:off x="3709" y="355"/>
                <a:ext cx="310" cy="250"/>
              </a:xfrm>
              <a:prstGeom prst="straightConnector1">
                <a:avLst/>
              </a:prstGeom>
              <a:ln w="19050" cap="flat" cmpd="sng">
                <a:solidFill>
                  <a:schemeClr val="accent2"/>
                </a:solidFill>
                <a:prstDash val="solid"/>
                <a:headEnd type="none" w="med" len="med"/>
                <a:tailEnd type="none" w="med" len="med"/>
              </a:ln>
            </p:spPr>
          </p:cxnSp>
          <p:cxnSp>
            <p:nvCxnSpPr>
              <p:cNvPr id="99351" name="AutoShape 132"/>
              <p:cNvCxnSpPr>
                <a:stCxn id="95276" idx="3"/>
                <a:endCxn id="95277" idx="0"/>
              </p:cNvCxnSpPr>
              <p:nvPr/>
            </p:nvCxnSpPr>
            <p:spPr>
              <a:xfrm flipH="1">
                <a:off x="3240" y="787"/>
                <a:ext cx="299" cy="311"/>
              </a:xfrm>
              <a:prstGeom prst="straightConnector1">
                <a:avLst/>
              </a:prstGeom>
              <a:ln w="19050" cap="flat" cmpd="sng">
                <a:solidFill>
                  <a:schemeClr val="accent2"/>
                </a:solidFill>
                <a:prstDash val="solid"/>
                <a:headEnd type="none" w="med" len="med"/>
                <a:tailEnd type="none" w="med" len="med"/>
              </a:ln>
            </p:spPr>
          </p:cxnSp>
          <p:cxnSp>
            <p:nvCxnSpPr>
              <p:cNvPr id="99352" name="AutoShape 133"/>
              <p:cNvCxnSpPr>
                <a:stCxn id="95276" idx="5"/>
                <a:endCxn id="95278" idx="0"/>
              </p:cNvCxnSpPr>
              <p:nvPr/>
            </p:nvCxnSpPr>
            <p:spPr>
              <a:xfrm>
                <a:off x="3709" y="787"/>
                <a:ext cx="203" cy="311"/>
              </a:xfrm>
              <a:prstGeom prst="straightConnector1">
                <a:avLst/>
              </a:prstGeom>
              <a:ln w="19050" cap="flat" cmpd="sng">
                <a:solidFill>
                  <a:schemeClr val="accent2"/>
                </a:solidFill>
                <a:prstDash val="solid"/>
                <a:headEnd type="none" w="med" len="med"/>
                <a:tailEnd type="none" w="med" len="med"/>
              </a:ln>
            </p:spPr>
          </p:cxnSp>
          <p:cxnSp>
            <p:nvCxnSpPr>
              <p:cNvPr id="99353" name="AutoShape 134"/>
              <p:cNvCxnSpPr>
                <a:stCxn id="95275" idx="5"/>
                <a:endCxn id="95279" idx="1"/>
              </p:cNvCxnSpPr>
              <p:nvPr/>
            </p:nvCxnSpPr>
            <p:spPr>
              <a:xfrm>
                <a:off x="4189" y="355"/>
                <a:ext cx="310" cy="250"/>
              </a:xfrm>
              <a:prstGeom prst="straightConnector1">
                <a:avLst/>
              </a:prstGeom>
              <a:ln w="19050" cap="flat" cmpd="sng">
                <a:solidFill>
                  <a:schemeClr val="accent2"/>
                </a:solidFill>
                <a:prstDash val="solid"/>
                <a:headEnd type="none" w="med" len="med"/>
                <a:tailEnd type="none" w="med" len="med"/>
              </a:ln>
            </p:spPr>
          </p:cxnSp>
          <p:cxnSp>
            <p:nvCxnSpPr>
              <p:cNvPr id="99354" name="AutoShape 135"/>
              <p:cNvCxnSpPr>
                <a:stCxn id="95279" idx="3"/>
                <a:endCxn id="95280" idx="0"/>
              </p:cNvCxnSpPr>
              <p:nvPr/>
            </p:nvCxnSpPr>
            <p:spPr>
              <a:xfrm flipH="1">
                <a:off x="4248" y="787"/>
                <a:ext cx="251" cy="311"/>
              </a:xfrm>
              <a:prstGeom prst="straightConnector1">
                <a:avLst/>
              </a:prstGeom>
              <a:ln w="19050" cap="flat" cmpd="sng">
                <a:solidFill>
                  <a:schemeClr val="accent2"/>
                </a:solidFill>
                <a:prstDash val="solid"/>
                <a:headEnd type="none" w="med" len="med"/>
                <a:tailEnd type="none" w="med" len="med"/>
              </a:ln>
            </p:spPr>
          </p:cxnSp>
          <p:cxnSp>
            <p:nvCxnSpPr>
              <p:cNvPr id="99355" name="AutoShape 136"/>
              <p:cNvCxnSpPr>
                <a:stCxn id="95279" idx="5"/>
                <a:endCxn id="95281" idx="0"/>
              </p:cNvCxnSpPr>
              <p:nvPr/>
            </p:nvCxnSpPr>
            <p:spPr>
              <a:xfrm>
                <a:off x="4669" y="787"/>
                <a:ext cx="299" cy="311"/>
              </a:xfrm>
              <a:prstGeom prst="straightConnector1">
                <a:avLst/>
              </a:prstGeom>
              <a:ln w="19050" cap="flat" cmpd="sng">
                <a:solidFill>
                  <a:schemeClr val="accent2"/>
                </a:solidFill>
                <a:prstDash val="solid"/>
                <a:headEnd type="none" w="med" len="med"/>
                <a:tailEnd type="none" w="med" len="med"/>
              </a:ln>
            </p:spPr>
          </p:cxnSp>
        </p:grpSp>
        <p:sp>
          <p:nvSpPr>
            <p:cNvPr id="95288" name="Text Box 137"/>
            <p:cNvSpPr txBox="1">
              <a:spLocks noChangeArrowheads="1"/>
            </p:cNvSpPr>
            <p:nvPr/>
          </p:nvSpPr>
          <p:spPr bwMode="auto">
            <a:xfrm>
              <a:off x="3120" y="1344"/>
              <a:ext cx="240" cy="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7</a:t>
              </a:r>
            </a:p>
          </p:txBody>
        </p:sp>
        <p:sp>
          <p:nvSpPr>
            <p:cNvPr id="95289" name="Text Box 138"/>
            <p:cNvSpPr txBox="1">
              <a:spLocks noChangeArrowheads="1"/>
            </p:cNvSpPr>
            <p:nvPr/>
          </p:nvSpPr>
          <p:spPr bwMode="auto">
            <a:xfrm>
              <a:off x="3744" y="1344"/>
              <a:ext cx="240" cy="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5</a:t>
              </a:r>
            </a:p>
          </p:txBody>
        </p:sp>
        <p:sp>
          <p:nvSpPr>
            <p:cNvPr id="95290" name="Text Box 139"/>
            <p:cNvSpPr txBox="1">
              <a:spLocks noChangeArrowheads="1"/>
            </p:cNvSpPr>
            <p:nvPr/>
          </p:nvSpPr>
          <p:spPr bwMode="auto">
            <a:xfrm>
              <a:off x="4128" y="1344"/>
              <a:ext cx="240" cy="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2</a:t>
              </a:r>
            </a:p>
          </p:txBody>
        </p:sp>
        <p:sp>
          <p:nvSpPr>
            <p:cNvPr id="95291" name="Text Box 140"/>
            <p:cNvSpPr txBox="1">
              <a:spLocks noChangeArrowheads="1"/>
            </p:cNvSpPr>
            <p:nvPr/>
          </p:nvSpPr>
          <p:spPr bwMode="auto">
            <a:xfrm>
              <a:off x="4848" y="1343"/>
              <a:ext cx="240" cy="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4</a:t>
              </a:r>
            </a:p>
          </p:txBody>
        </p:sp>
      </p:grpSp>
      <p:sp>
        <p:nvSpPr>
          <p:cNvPr id="785549" name="Text Box 141"/>
          <p:cNvSpPr txBox="1">
            <a:spLocks noChangeArrowheads="1"/>
          </p:cNvSpPr>
          <p:nvPr/>
        </p:nvSpPr>
        <p:spPr bwMode="auto">
          <a:xfrm>
            <a:off x="419100" y="4137025"/>
            <a:ext cx="3962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WPL=</a:t>
            </a:r>
            <a:r>
              <a:rPr kumimoji="0" lang="en-US" altLang="zh-CN" sz="2400" b="1" i="0" u="none" strike="noStrike" kern="1200" cap="none" spc="0" normalizeH="0" baseline="0" noProof="0" dirty="0">
                <a:ln>
                  <a:noFill/>
                </a:ln>
                <a:solidFill>
                  <a:srgbClr val="FF0000"/>
                </a:solidFill>
                <a:effectLst/>
                <a:uLnTx/>
                <a:uFillTx/>
                <a:latin typeface="+mn-lt"/>
                <a:ea typeface="+mn-ea"/>
                <a:cs typeface="+mn-ea"/>
                <a:sym typeface="+mn-lt"/>
              </a:rPr>
              <a:t>7</a:t>
            </a: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*2+</a:t>
            </a:r>
            <a:r>
              <a:rPr kumimoji="0" lang="en-US" altLang="zh-CN" sz="2400" b="1" i="0" u="none" strike="noStrike" kern="1200" cap="none" spc="0" normalizeH="0" baseline="0" noProof="0" dirty="0">
                <a:ln>
                  <a:noFill/>
                </a:ln>
                <a:solidFill>
                  <a:srgbClr val="FF0000"/>
                </a:solidFill>
                <a:effectLst/>
                <a:uLnTx/>
                <a:uFillTx/>
                <a:latin typeface="+mn-lt"/>
                <a:ea typeface="+mn-ea"/>
                <a:cs typeface="+mn-ea"/>
                <a:sym typeface="+mn-lt"/>
              </a:rPr>
              <a:t>5</a:t>
            </a: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*2+</a:t>
            </a:r>
            <a:r>
              <a:rPr kumimoji="0" lang="en-US" altLang="zh-CN" sz="2400" b="1" i="0" u="none" strike="noStrike" kern="1200" cap="none" spc="0" normalizeH="0" baseline="0" noProof="0" dirty="0">
                <a:ln>
                  <a:noFill/>
                </a:ln>
                <a:solidFill>
                  <a:srgbClr val="FF0000"/>
                </a:solidFill>
                <a:effectLst/>
                <a:uLnTx/>
                <a:uFillTx/>
                <a:latin typeface="+mn-lt"/>
                <a:ea typeface="+mn-ea"/>
                <a:cs typeface="+mn-ea"/>
                <a:sym typeface="+mn-lt"/>
              </a:rPr>
              <a:t>2</a:t>
            </a: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*2+</a:t>
            </a:r>
            <a:r>
              <a:rPr kumimoji="0" lang="en-US" altLang="zh-CN" sz="2400" b="1" i="0" u="none" strike="noStrike" kern="1200" cap="none" spc="0" normalizeH="0" baseline="0" noProof="0" dirty="0">
                <a:ln>
                  <a:noFill/>
                </a:ln>
                <a:solidFill>
                  <a:srgbClr val="FF0000"/>
                </a:solidFill>
                <a:effectLst/>
                <a:uLnTx/>
                <a:uFillTx/>
                <a:latin typeface="+mn-lt"/>
                <a:ea typeface="+mn-ea"/>
                <a:cs typeface="+mn-ea"/>
                <a:sym typeface="+mn-lt"/>
              </a:rPr>
              <a:t>4</a:t>
            </a: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*2=36</a:t>
            </a:r>
          </a:p>
        </p:txBody>
      </p:sp>
      <p:sp>
        <p:nvSpPr>
          <p:cNvPr id="95293" name="Rectangle 142"/>
          <p:cNvSpPr>
            <a:spLocks noChangeArrowheads="1"/>
          </p:cNvSpPr>
          <p:nvPr/>
        </p:nvSpPr>
        <p:spPr bwMode="auto">
          <a:xfrm>
            <a:off x="749300" y="884238"/>
            <a:ext cx="815181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j-lt"/>
                <a:ea typeface="微软雅黑" panose="020B0503020204020204" pitchFamily="34" charset="-122"/>
                <a:cs typeface="+mj-cs"/>
                <a:sym typeface="+mn-lt"/>
              </a:rPr>
              <a:t>权值分别为</a:t>
            </a:r>
            <a:r>
              <a:rPr kumimoji="0" lang="en-US" altLang="zh-CN" sz="2400" b="0" i="0" u="none" strike="noStrike" kern="1200" cap="none" spc="0" normalizeH="0" baseline="0" noProof="0" dirty="0">
                <a:ln>
                  <a:noFill/>
                </a:ln>
                <a:solidFill>
                  <a:schemeClr val="tx1"/>
                </a:solidFill>
                <a:effectLst/>
                <a:uLnTx/>
                <a:uFillTx/>
                <a:latin typeface="+mj-lt"/>
                <a:ea typeface="微软雅黑" panose="020B0503020204020204" pitchFamily="34" charset="-122"/>
                <a:cs typeface="+mj-cs"/>
                <a:sym typeface="+mn-lt"/>
              </a:rPr>
              <a:t>7</a:t>
            </a:r>
            <a:r>
              <a:rPr kumimoji="0" lang="zh-CN" altLang="en-US" sz="2400" b="0" i="0" u="none" strike="noStrike" kern="1200" cap="none" spc="0" normalizeH="0" baseline="0" noProof="0" dirty="0">
                <a:ln>
                  <a:noFill/>
                </a:ln>
                <a:solidFill>
                  <a:schemeClr val="tx1"/>
                </a:solidFill>
                <a:effectLst/>
                <a:uLnTx/>
                <a:uFillTx/>
                <a:latin typeface="+mj-lt"/>
                <a:ea typeface="微软雅黑" panose="020B0503020204020204" pitchFamily="34" charset="-122"/>
                <a:cs typeface="+mj-cs"/>
                <a:sym typeface="+mn-lt"/>
              </a:rPr>
              <a:t>，</a:t>
            </a:r>
            <a:r>
              <a:rPr kumimoji="0" lang="en-US" altLang="zh-CN" sz="2400" b="0" i="0" u="none" strike="noStrike" kern="1200" cap="none" spc="0" normalizeH="0" baseline="0" noProof="0" dirty="0">
                <a:ln>
                  <a:noFill/>
                </a:ln>
                <a:solidFill>
                  <a:schemeClr val="tx1"/>
                </a:solidFill>
                <a:effectLst/>
                <a:uLnTx/>
                <a:uFillTx/>
                <a:latin typeface="+mj-lt"/>
                <a:ea typeface="微软雅黑" panose="020B0503020204020204" pitchFamily="34" charset="-122"/>
                <a:cs typeface="+mj-cs"/>
                <a:sym typeface="+mn-lt"/>
              </a:rPr>
              <a:t>5</a:t>
            </a:r>
            <a:r>
              <a:rPr kumimoji="0" lang="zh-CN" altLang="en-US" sz="2400" b="0" i="0" u="none" strike="noStrike" kern="1200" cap="none" spc="0" normalizeH="0" baseline="0" noProof="0" dirty="0">
                <a:ln>
                  <a:noFill/>
                </a:ln>
                <a:solidFill>
                  <a:schemeClr val="tx1"/>
                </a:solidFill>
                <a:effectLst/>
                <a:uLnTx/>
                <a:uFillTx/>
                <a:latin typeface="+mj-lt"/>
                <a:ea typeface="微软雅黑" panose="020B0503020204020204" pitchFamily="34" charset="-122"/>
                <a:cs typeface="+mj-cs"/>
                <a:sym typeface="+mn-lt"/>
              </a:rPr>
              <a:t>，</a:t>
            </a:r>
            <a:r>
              <a:rPr kumimoji="0" lang="en-US" altLang="zh-CN" sz="2400" b="0" i="0" u="none" strike="noStrike" kern="1200" cap="none" spc="0" normalizeH="0" baseline="0" noProof="0" dirty="0">
                <a:ln>
                  <a:noFill/>
                </a:ln>
                <a:solidFill>
                  <a:schemeClr val="tx1"/>
                </a:solidFill>
                <a:effectLst/>
                <a:uLnTx/>
                <a:uFillTx/>
                <a:latin typeface="+mj-lt"/>
                <a:ea typeface="微软雅黑" panose="020B0503020204020204" pitchFamily="34" charset="-122"/>
                <a:cs typeface="+mj-cs"/>
                <a:sym typeface="+mn-lt"/>
              </a:rPr>
              <a:t>2</a:t>
            </a:r>
            <a:r>
              <a:rPr kumimoji="0" lang="zh-CN" altLang="en-US" sz="2400" b="0" i="0" u="none" strike="noStrike" kern="1200" cap="none" spc="0" normalizeH="0" baseline="0" noProof="0" dirty="0">
                <a:ln>
                  <a:noFill/>
                </a:ln>
                <a:solidFill>
                  <a:schemeClr val="tx1"/>
                </a:solidFill>
                <a:effectLst/>
                <a:uLnTx/>
                <a:uFillTx/>
                <a:latin typeface="+mj-lt"/>
                <a:ea typeface="微软雅黑" panose="020B0503020204020204" pitchFamily="34" charset="-122"/>
                <a:cs typeface="+mj-cs"/>
                <a:sym typeface="+mn-lt"/>
              </a:rPr>
              <a:t>，</a:t>
            </a:r>
            <a:r>
              <a:rPr kumimoji="0" lang="en-US" altLang="zh-CN" sz="2400" b="0" i="0" u="none" strike="noStrike" kern="1200" cap="none" spc="0" normalizeH="0" baseline="0" noProof="0" dirty="0">
                <a:ln>
                  <a:noFill/>
                </a:ln>
                <a:solidFill>
                  <a:schemeClr val="tx1"/>
                </a:solidFill>
                <a:effectLst/>
                <a:uLnTx/>
                <a:uFillTx/>
                <a:latin typeface="+mj-lt"/>
                <a:ea typeface="微软雅黑" panose="020B0503020204020204" pitchFamily="34" charset="-122"/>
                <a:cs typeface="+mj-cs"/>
                <a:sym typeface="+mn-lt"/>
              </a:rPr>
              <a:t>4</a:t>
            </a:r>
            <a:r>
              <a:rPr kumimoji="0" lang="zh-CN" altLang="en-US" sz="2400" b="0" i="0" u="none" strike="noStrike" kern="1200" cap="none" spc="0" normalizeH="0" baseline="0" noProof="0" dirty="0">
                <a:ln>
                  <a:noFill/>
                </a:ln>
                <a:solidFill>
                  <a:schemeClr val="tx1"/>
                </a:solidFill>
                <a:effectLst/>
                <a:uLnTx/>
                <a:uFillTx/>
                <a:latin typeface="+mj-lt"/>
                <a:ea typeface="微软雅黑" panose="020B0503020204020204" pitchFamily="34" charset="-122"/>
                <a:cs typeface="+mj-cs"/>
                <a:sym typeface="+mn-lt"/>
              </a:rPr>
              <a:t>，构造有</a:t>
            </a:r>
            <a:r>
              <a:rPr kumimoji="0" lang="en-US" altLang="zh-CN" sz="2400" b="0" i="0" u="none" strike="noStrike" kern="1200" cap="none" spc="0" normalizeH="0" baseline="0" noProof="0" dirty="0">
                <a:ln>
                  <a:noFill/>
                </a:ln>
                <a:solidFill>
                  <a:schemeClr val="tx1"/>
                </a:solidFill>
                <a:effectLst/>
                <a:uLnTx/>
                <a:uFillTx/>
                <a:latin typeface="+mj-lt"/>
                <a:ea typeface="微软雅黑" panose="020B0503020204020204" pitchFamily="34" charset="-122"/>
                <a:cs typeface="+mj-cs"/>
                <a:sym typeface="+mn-lt"/>
              </a:rPr>
              <a:t>4</a:t>
            </a:r>
            <a:r>
              <a:rPr kumimoji="0" lang="zh-CN" altLang="en-US" sz="2400" b="0" i="0" u="none" strike="noStrike" kern="1200" cap="none" spc="0" normalizeH="0" baseline="0" noProof="0" dirty="0">
                <a:ln>
                  <a:noFill/>
                </a:ln>
                <a:solidFill>
                  <a:schemeClr val="tx1"/>
                </a:solidFill>
                <a:effectLst/>
                <a:uLnTx/>
                <a:uFillTx/>
                <a:latin typeface="+mj-lt"/>
                <a:ea typeface="微软雅黑" panose="020B0503020204020204" pitchFamily="34" charset="-122"/>
                <a:cs typeface="+mj-cs"/>
                <a:sym typeface="+mn-lt"/>
              </a:rPr>
              <a:t>个叶子结点的二叉树</a:t>
            </a:r>
          </a:p>
        </p:txBody>
      </p:sp>
      <p:sp>
        <p:nvSpPr>
          <p:cNvPr id="62" name="Rectangle 55"/>
          <p:cNvSpPr>
            <a:spLocks noChangeArrowheads="1"/>
          </p:cNvSpPr>
          <p:nvPr/>
        </p:nvSpPr>
        <p:spPr bwMode="auto">
          <a:xfrm>
            <a:off x="841375" y="230188"/>
            <a:ext cx="3348038"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哈夫曼树的构造</a:t>
            </a:r>
          </a:p>
        </p:txBody>
      </p:sp>
    </p:spTree>
  </p:cSld>
  <p:clrMapOvr>
    <a:masterClrMapping/>
  </p:clrMapOvr>
  <p:transition>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32"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ox(ou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32"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box(out)">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4" presetClass="entr" presetSubtype="32"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box(out)">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4" presetClass="entr" presetSubtype="32" fill="hold" grpId="0" nodeType="clickEffect">
                                  <p:stCondLst>
                                    <p:cond delay="0"/>
                                  </p:stCondLst>
                                  <p:childTnLst>
                                    <p:set>
                                      <p:cBhvr>
                                        <p:cTn id="21" dur="1" fill="hold">
                                          <p:stCondLst>
                                            <p:cond delay="0"/>
                                          </p:stCondLst>
                                        </p:cTn>
                                        <p:tgtEl>
                                          <p:spTgt spid="785549">
                                            <p:txEl>
                                              <p:pRg st="0" end="0"/>
                                            </p:txEl>
                                          </p:spTgt>
                                        </p:tgtEl>
                                        <p:attrNameLst>
                                          <p:attrName>style.visibility</p:attrName>
                                        </p:attrNameLst>
                                      </p:cBhvr>
                                      <p:to>
                                        <p:strVal val="visible"/>
                                      </p:to>
                                    </p:set>
                                    <p:animEffect transition="in" filter="box(out)">
                                      <p:cBhvr>
                                        <p:cTn id="22" dur="500"/>
                                        <p:tgtEl>
                                          <p:spTgt spid="785549">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4" presetClass="entr" presetSubtype="32" fill="hold" grpId="0" nodeType="clickEffect">
                                  <p:stCondLst>
                                    <p:cond delay="0"/>
                                  </p:stCondLst>
                                  <p:childTnLst>
                                    <p:set>
                                      <p:cBhvr>
                                        <p:cTn id="26" dur="1" fill="hold">
                                          <p:stCondLst>
                                            <p:cond delay="0"/>
                                          </p:stCondLst>
                                        </p:cTn>
                                        <p:tgtEl>
                                          <p:spTgt spid="785509">
                                            <p:txEl>
                                              <p:pRg st="0" end="0"/>
                                            </p:txEl>
                                          </p:spTgt>
                                        </p:tgtEl>
                                        <p:attrNameLst>
                                          <p:attrName>style.visibility</p:attrName>
                                        </p:attrNameLst>
                                      </p:cBhvr>
                                      <p:to>
                                        <p:strVal val="visible"/>
                                      </p:to>
                                    </p:set>
                                    <p:animEffect transition="in" filter="box(out)">
                                      <p:cBhvr>
                                        <p:cTn id="27" dur="500"/>
                                        <p:tgtEl>
                                          <p:spTgt spid="785509">
                                            <p:txEl>
                                              <p:pRg st="0" end="0"/>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4" presetClass="entr" presetSubtype="32" fill="hold" grpId="0" nodeType="clickEffect">
                                  <p:stCondLst>
                                    <p:cond delay="0"/>
                                  </p:stCondLst>
                                  <p:childTnLst>
                                    <p:set>
                                      <p:cBhvr>
                                        <p:cTn id="31" dur="1" fill="hold">
                                          <p:stCondLst>
                                            <p:cond delay="0"/>
                                          </p:stCondLst>
                                        </p:cTn>
                                        <p:tgtEl>
                                          <p:spTgt spid="785528">
                                            <p:txEl>
                                              <p:pRg st="0" end="0"/>
                                            </p:txEl>
                                          </p:spTgt>
                                        </p:tgtEl>
                                        <p:attrNameLst>
                                          <p:attrName>style.visibility</p:attrName>
                                        </p:attrNameLst>
                                      </p:cBhvr>
                                      <p:to>
                                        <p:strVal val="visible"/>
                                      </p:to>
                                    </p:set>
                                    <p:animEffect transition="in" filter="box(out)">
                                      <p:cBhvr>
                                        <p:cTn id="32" dur="500"/>
                                        <p:tgtEl>
                                          <p:spTgt spid="78552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5509" grpId="0" build="p"/>
      <p:bldP spid="785528" grpId="0" build="p"/>
      <p:bldP spid="785549" grpId="0" build="p"/>
    </p:bldLst>
  </p:timing>
</p:sld>
</file>

<file path=ppt/slides/slide1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2" name="Group 4"/>
          <p:cNvGrpSpPr/>
          <p:nvPr/>
        </p:nvGrpSpPr>
        <p:grpSpPr>
          <a:xfrm>
            <a:off x="1531938" y="1000125"/>
            <a:ext cx="2411412" cy="687388"/>
            <a:chOff x="588" y="397"/>
            <a:chExt cx="1519" cy="433"/>
          </a:xfrm>
        </p:grpSpPr>
        <p:sp>
          <p:nvSpPr>
            <p:cNvPr id="96259" name="Text Box 5"/>
            <p:cNvSpPr txBox="1">
              <a:spLocks noChangeArrowheads="1"/>
            </p:cNvSpPr>
            <p:nvPr/>
          </p:nvSpPr>
          <p:spPr bwMode="auto">
            <a:xfrm>
              <a:off x="588" y="423"/>
              <a:ext cx="1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00465" name="Group 6"/>
            <p:cNvGrpSpPr/>
            <p:nvPr/>
          </p:nvGrpSpPr>
          <p:grpSpPr>
            <a:xfrm>
              <a:off x="1006" y="397"/>
              <a:ext cx="212" cy="433"/>
              <a:chOff x="1006" y="397"/>
              <a:chExt cx="212" cy="433"/>
            </a:xfrm>
          </p:grpSpPr>
          <p:sp>
            <p:nvSpPr>
              <p:cNvPr id="96261" name="Oval 7"/>
              <p:cNvSpPr>
                <a:spLocks noChangeArrowheads="1"/>
              </p:cNvSpPr>
              <p:nvPr/>
            </p:nvSpPr>
            <p:spPr bwMode="auto">
              <a:xfrm>
                <a:off x="1022" y="652"/>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a</a:t>
                </a:r>
              </a:p>
            </p:txBody>
          </p:sp>
          <p:sp>
            <p:nvSpPr>
              <p:cNvPr id="96262" name="Text Box 8"/>
              <p:cNvSpPr txBox="1">
                <a:spLocks noChangeArrowheads="1"/>
              </p:cNvSpPr>
              <p:nvPr/>
            </p:nvSpPr>
            <p:spPr bwMode="auto">
              <a:xfrm>
                <a:off x="1006" y="397"/>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7</a:t>
                </a:r>
              </a:p>
            </p:txBody>
          </p:sp>
        </p:grpSp>
        <p:grpSp>
          <p:nvGrpSpPr>
            <p:cNvPr id="100466" name="Group 9"/>
            <p:cNvGrpSpPr/>
            <p:nvPr/>
          </p:nvGrpSpPr>
          <p:grpSpPr>
            <a:xfrm>
              <a:off x="1284" y="409"/>
              <a:ext cx="212" cy="421"/>
              <a:chOff x="1284" y="409"/>
              <a:chExt cx="212" cy="421"/>
            </a:xfrm>
          </p:grpSpPr>
          <p:sp>
            <p:nvSpPr>
              <p:cNvPr id="96264" name="Oval 10"/>
              <p:cNvSpPr>
                <a:spLocks noChangeArrowheads="1"/>
              </p:cNvSpPr>
              <p:nvPr/>
            </p:nvSpPr>
            <p:spPr bwMode="auto">
              <a:xfrm>
                <a:off x="1321" y="652"/>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96265" name="Text Box 11"/>
              <p:cNvSpPr txBox="1">
                <a:spLocks noChangeArrowheads="1"/>
              </p:cNvSpPr>
              <p:nvPr/>
            </p:nvSpPr>
            <p:spPr bwMode="auto">
              <a:xfrm>
                <a:off x="1284" y="409"/>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5</a:t>
                </a:r>
              </a:p>
            </p:txBody>
          </p:sp>
        </p:grpSp>
        <p:grpSp>
          <p:nvGrpSpPr>
            <p:cNvPr id="100467" name="Group 12"/>
            <p:cNvGrpSpPr/>
            <p:nvPr/>
          </p:nvGrpSpPr>
          <p:grpSpPr>
            <a:xfrm>
              <a:off x="1585" y="398"/>
              <a:ext cx="212" cy="432"/>
              <a:chOff x="1585" y="398"/>
              <a:chExt cx="212" cy="432"/>
            </a:xfrm>
          </p:grpSpPr>
          <p:sp>
            <p:nvSpPr>
              <p:cNvPr id="96267" name="Oval 13"/>
              <p:cNvSpPr>
                <a:spLocks noChangeArrowheads="1"/>
              </p:cNvSpPr>
              <p:nvPr/>
            </p:nvSpPr>
            <p:spPr bwMode="auto">
              <a:xfrm>
                <a:off x="1620" y="652"/>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c</a:t>
                </a:r>
              </a:p>
            </p:txBody>
          </p:sp>
          <p:sp>
            <p:nvSpPr>
              <p:cNvPr id="96268" name="Text Box 14"/>
              <p:cNvSpPr txBox="1">
                <a:spLocks noChangeArrowheads="1"/>
              </p:cNvSpPr>
              <p:nvPr/>
            </p:nvSpPr>
            <p:spPr bwMode="auto">
              <a:xfrm>
                <a:off x="1585" y="398"/>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2</a:t>
                </a:r>
              </a:p>
            </p:txBody>
          </p:sp>
        </p:grpSp>
        <p:grpSp>
          <p:nvGrpSpPr>
            <p:cNvPr id="100468" name="Group 15"/>
            <p:cNvGrpSpPr/>
            <p:nvPr/>
          </p:nvGrpSpPr>
          <p:grpSpPr>
            <a:xfrm>
              <a:off x="1895" y="399"/>
              <a:ext cx="212" cy="431"/>
              <a:chOff x="1895" y="399"/>
              <a:chExt cx="212" cy="431"/>
            </a:xfrm>
          </p:grpSpPr>
          <p:sp>
            <p:nvSpPr>
              <p:cNvPr id="96270" name="Oval 16"/>
              <p:cNvSpPr>
                <a:spLocks noChangeArrowheads="1"/>
              </p:cNvSpPr>
              <p:nvPr/>
            </p:nvSpPr>
            <p:spPr bwMode="auto">
              <a:xfrm>
                <a:off x="1919" y="652"/>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d</a:t>
                </a:r>
              </a:p>
            </p:txBody>
          </p:sp>
          <p:sp>
            <p:nvSpPr>
              <p:cNvPr id="96271" name="Text Box 17"/>
              <p:cNvSpPr txBox="1">
                <a:spLocks noChangeArrowheads="1"/>
              </p:cNvSpPr>
              <p:nvPr/>
            </p:nvSpPr>
            <p:spPr bwMode="auto">
              <a:xfrm>
                <a:off x="1895" y="399"/>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4</a:t>
                </a:r>
              </a:p>
            </p:txBody>
          </p:sp>
        </p:grpSp>
      </p:grpSp>
      <p:grpSp>
        <p:nvGrpSpPr>
          <p:cNvPr id="7" name="Group 18"/>
          <p:cNvGrpSpPr/>
          <p:nvPr/>
        </p:nvGrpSpPr>
        <p:grpSpPr>
          <a:xfrm>
            <a:off x="523875" y="2379663"/>
            <a:ext cx="1912938" cy="1182687"/>
            <a:chOff x="996" y="1318"/>
            <a:chExt cx="1205" cy="745"/>
          </a:xfrm>
        </p:grpSpPr>
        <p:grpSp>
          <p:nvGrpSpPr>
            <p:cNvPr id="100446" name="Group 19"/>
            <p:cNvGrpSpPr/>
            <p:nvPr/>
          </p:nvGrpSpPr>
          <p:grpSpPr>
            <a:xfrm>
              <a:off x="996" y="1318"/>
              <a:ext cx="228" cy="390"/>
              <a:chOff x="1022" y="477"/>
              <a:chExt cx="228" cy="390"/>
            </a:xfrm>
          </p:grpSpPr>
          <p:sp>
            <p:nvSpPr>
              <p:cNvPr id="96274" name="Oval 20"/>
              <p:cNvSpPr>
                <a:spLocks noChangeArrowheads="1"/>
              </p:cNvSpPr>
              <p:nvPr/>
            </p:nvSpPr>
            <p:spPr bwMode="auto">
              <a:xfrm>
                <a:off x="1022" y="689"/>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a</a:t>
                </a:r>
              </a:p>
            </p:txBody>
          </p:sp>
          <p:sp>
            <p:nvSpPr>
              <p:cNvPr id="96275" name="Text Box 21"/>
              <p:cNvSpPr txBox="1">
                <a:spLocks noChangeArrowheads="1"/>
              </p:cNvSpPr>
              <p:nvPr/>
            </p:nvSpPr>
            <p:spPr bwMode="auto">
              <a:xfrm>
                <a:off x="1038" y="477"/>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7</a:t>
                </a:r>
              </a:p>
            </p:txBody>
          </p:sp>
        </p:grpSp>
        <p:grpSp>
          <p:nvGrpSpPr>
            <p:cNvPr id="100447" name="Group 22"/>
            <p:cNvGrpSpPr/>
            <p:nvPr/>
          </p:nvGrpSpPr>
          <p:grpSpPr>
            <a:xfrm>
              <a:off x="1334" y="1341"/>
              <a:ext cx="212" cy="378"/>
              <a:chOff x="1316" y="489"/>
              <a:chExt cx="212" cy="378"/>
            </a:xfrm>
          </p:grpSpPr>
          <p:sp>
            <p:nvSpPr>
              <p:cNvPr id="96277" name="Oval 23"/>
              <p:cNvSpPr>
                <a:spLocks noChangeArrowheads="1"/>
              </p:cNvSpPr>
              <p:nvPr/>
            </p:nvSpPr>
            <p:spPr bwMode="auto">
              <a:xfrm>
                <a:off x="1321" y="689"/>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96278" name="Text Box 24"/>
              <p:cNvSpPr txBox="1">
                <a:spLocks noChangeArrowheads="1"/>
              </p:cNvSpPr>
              <p:nvPr/>
            </p:nvSpPr>
            <p:spPr bwMode="auto">
              <a:xfrm>
                <a:off x="1316" y="489"/>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5</a:t>
                </a:r>
              </a:p>
            </p:txBody>
          </p:sp>
        </p:grpSp>
        <p:grpSp>
          <p:nvGrpSpPr>
            <p:cNvPr id="100448" name="Group 25"/>
            <p:cNvGrpSpPr/>
            <p:nvPr/>
          </p:nvGrpSpPr>
          <p:grpSpPr>
            <a:xfrm>
              <a:off x="1613" y="1342"/>
              <a:ext cx="588" cy="721"/>
              <a:chOff x="1624" y="1453"/>
              <a:chExt cx="588" cy="721"/>
            </a:xfrm>
          </p:grpSpPr>
          <p:grpSp>
            <p:nvGrpSpPr>
              <p:cNvPr id="100449" name="Group 26"/>
              <p:cNvGrpSpPr/>
              <p:nvPr/>
            </p:nvGrpSpPr>
            <p:grpSpPr>
              <a:xfrm>
                <a:off x="1624" y="1785"/>
                <a:ext cx="212" cy="389"/>
                <a:chOff x="1617" y="478"/>
                <a:chExt cx="212" cy="389"/>
              </a:xfrm>
            </p:grpSpPr>
            <p:sp>
              <p:nvSpPr>
                <p:cNvPr id="96281" name="Oval 27"/>
                <p:cNvSpPr>
                  <a:spLocks noChangeArrowheads="1"/>
                </p:cNvSpPr>
                <p:nvPr/>
              </p:nvSpPr>
              <p:spPr bwMode="auto">
                <a:xfrm>
                  <a:off x="1620" y="689"/>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c</a:t>
                  </a:r>
                </a:p>
              </p:txBody>
            </p:sp>
            <p:sp>
              <p:nvSpPr>
                <p:cNvPr id="96282" name="Text Box 28"/>
                <p:cNvSpPr txBox="1">
                  <a:spLocks noChangeArrowheads="1"/>
                </p:cNvSpPr>
                <p:nvPr/>
              </p:nvSpPr>
              <p:spPr bwMode="auto">
                <a:xfrm>
                  <a:off x="1617" y="478"/>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2</a:t>
                  </a:r>
                </a:p>
              </p:txBody>
            </p:sp>
          </p:grpSp>
          <p:grpSp>
            <p:nvGrpSpPr>
              <p:cNvPr id="100450" name="Group 29"/>
              <p:cNvGrpSpPr/>
              <p:nvPr/>
            </p:nvGrpSpPr>
            <p:grpSpPr>
              <a:xfrm>
                <a:off x="1992" y="1786"/>
                <a:ext cx="220" cy="388"/>
                <a:chOff x="1919" y="479"/>
                <a:chExt cx="220" cy="388"/>
              </a:xfrm>
            </p:grpSpPr>
            <p:sp>
              <p:nvSpPr>
                <p:cNvPr id="96284" name="Oval 30"/>
                <p:cNvSpPr>
                  <a:spLocks noChangeArrowheads="1"/>
                </p:cNvSpPr>
                <p:nvPr/>
              </p:nvSpPr>
              <p:spPr bwMode="auto">
                <a:xfrm>
                  <a:off x="1919" y="689"/>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d</a:t>
                  </a:r>
                </a:p>
              </p:txBody>
            </p:sp>
            <p:sp>
              <p:nvSpPr>
                <p:cNvPr id="96285" name="Text Box 31"/>
                <p:cNvSpPr txBox="1">
                  <a:spLocks noChangeArrowheads="1"/>
                </p:cNvSpPr>
                <p:nvPr/>
              </p:nvSpPr>
              <p:spPr bwMode="auto">
                <a:xfrm>
                  <a:off x="1927" y="479"/>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4</a:t>
                  </a:r>
                </a:p>
              </p:txBody>
            </p:sp>
          </p:grpSp>
          <p:grpSp>
            <p:nvGrpSpPr>
              <p:cNvPr id="100451" name="Group 32"/>
              <p:cNvGrpSpPr/>
              <p:nvPr/>
            </p:nvGrpSpPr>
            <p:grpSpPr>
              <a:xfrm>
                <a:off x="1816" y="1453"/>
                <a:ext cx="220" cy="388"/>
                <a:chOff x="1782" y="1597"/>
                <a:chExt cx="220" cy="388"/>
              </a:xfrm>
            </p:grpSpPr>
            <p:sp>
              <p:nvSpPr>
                <p:cNvPr id="96287" name="Oval 33"/>
                <p:cNvSpPr>
                  <a:spLocks noChangeArrowheads="1"/>
                </p:cNvSpPr>
                <p:nvPr/>
              </p:nvSpPr>
              <p:spPr bwMode="auto">
                <a:xfrm>
                  <a:off x="1782" y="1807"/>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288" name="Text Box 34"/>
                <p:cNvSpPr txBox="1">
                  <a:spLocks noChangeArrowheads="1"/>
                </p:cNvSpPr>
                <p:nvPr/>
              </p:nvSpPr>
              <p:spPr bwMode="auto">
                <a:xfrm>
                  <a:off x="1790" y="1597"/>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0000"/>
                      </a:solidFill>
                      <a:effectLst/>
                      <a:uLnTx/>
                      <a:uFillTx/>
                      <a:latin typeface="+mn-lt"/>
                      <a:ea typeface="+mn-ea"/>
                      <a:cs typeface="+mn-ea"/>
                      <a:sym typeface="+mn-lt"/>
                    </a:rPr>
                    <a:t>6</a:t>
                  </a:r>
                </a:p>
              </p:txBody>
            </p:sp>
          </p:grpSp>
          <p:sp>
            <p:nvSpPr>
              <p:cNvPr id="96289" name="Line 35"/>
              <p:cNvSpPr>
                <a:spLocks noChangeShapeType="1"/>
              </p:cNvSpPr>
              <p:nvPr/>
            </p:nvSpPr>
            <p:spPr bwMode="auto">
              <a:xfrm flipH="1">
                <a:off x="1767" y="1833"/>
                <a:ext cx="100" cy="18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290" name="Line 36"/>
              <p:cNvSpPr>
                <a:spLocks noChangeShapeType="1"/>
              </p:cNvSpPr>
              <p:nvPr/>
            </p:nvSpPr>
            <p:spPr bwMode="auto">
              <a:xfrm>
                <a:off x="1922" y="1833"/>
                <a:ext cx="112" cy="17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grpSp>
        <p:nvGrpSpPr>
          <p:cNvPr id="14" name="Group 37"/>
          <p:cNvGrpSpPr/>
          <p:nvPr/>
        </p:nvGrpSpPr>
        <p:grpSpPr>
          <a:xfrm>
            <a:off x="3114675" y="2303463"/>
            <a:ext cx="1982788" cy="1676400"/>
            <a:chOff x="948" y="2391"/>
            <a:chExt cx="1249" cy="1056"/>
          </a:xfrm>
        </p:grpSpPr>
        <p:grpSp>
          <p:nvGrpSpPr>
            <p:cNvPr id="100422" name="Group 38"/>
            <p:cNvGrpSpPr/>
            <p:nvPr/>
          </p:nvGrpSpPr>
          <p:grpSpPr>
            <a:xfrm>
              <a:off x="948" y="2391"/>
              <a:ext cx="228" cy="390"/>
              <a:chOff x="1022" y="477"/>
              <a:chExt cx="228" cy="390"/>
            </a:xfrm>
          </p:grpSpPr>
          <p:sp>
            <p:nvSpPr>
              <p:cNvPr id="96293" name="Oval 39"/>
              <p:cNvSpPr>
                <a:spLocks noChangeArrowheads="1"/>
              </p:cNvSpPr>
              <p:nvPr/>
            </p:nvSpPr>
            <p:spPr bwMode="auto">
              <a:xfrm>
                <a:off x="1022" y="689"/>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a</a:t>
                </a:r>
              </a:p>
            </p:txBody>
          </p:sp>
          <p:sp>
            <p:nvSpPr>
              <p:cNvPr id="96294" name="Text Box 40"/>
              <p:cNvSpPr txBox="1">
                <a:spLocks noChangeArrowheads="1"/>
              </p:cNvSpPr>
              <p:nvPr/>
            </p:nvSpPr>
            <p:spPr bwMode="auto">
              <a:xfrm>
                <a:off x="1038" y="477"/>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7</a:t>
                </a:r>
              </a:p>
            </p:txBody>
          </p:sp>
        </p:grpSp>
        <p:grpSp>
          <p:nvGrpSpPr>
            <p:cNvPr id="100423" name="Group 41"/>
            <p:cNvGrpSpPr/>
            <p:nvPr/>
          </p:nvGrpSpPr>
          <p:grpSpPr>
            <a:xfrm>
              <a:off x="1400" y="2399"/>
              <a:ext cx="797" cy="1048"/>
              <a:chOff x="1645" y="2644"/>
              <a:chExt cx="797" cy="1048"/>
            </a:xfrm>
          </p:grpSpPr>
          <p:grpSp>
            <p:nvGrpSpPr>
              <p:cNvPr id="100424" name="Group 42"/>
              <p:cNvGrpSpPr/>
              <p:nvPr/>
            </p:nvGrpSpPr>
            <p:grpSpPr>
              <a:xfrm>
                <a:off x="1645" y="2992"/>
                <a:ext cx="212" cy="378"/>
                <a:chOff x="1321" y="489"/>
                <a:chExt cx="201" cy="378"/>
              </a:xfrm>
            </p:grpSpPr>
            <p:sp>
              <p:nvSpPr>
                <p:cNvPr id="96297" name="Oval 43"/>
                <p:cNvSpPr>
                  <a:spLocks noChangeArrowheads="1"/>
                </p:cNvSpPr>
                <p:nvPr/>
              </p:nvSpPr>
              <p:spPr bwMode="auto">
                <a:xfrm>
                  <a:off x="1321" y="689"/>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96298" name="Text Box 44"/>
                <p:cNvSpPr txBox="1">
                  <a:spLocks noChangeArrowheads="1"/>
                </p:cNvSpPr>
                <p:nvPr/>
              </p:nvSpPr>
              <p:spPr bwMode="auto">
                <a:xfrm>
                  <a:off x="1321" y="489"/>
                  <a:ext cx="20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5</a:t>
                  </a:r>
                </a:p>
              </p:txBody>
            </p:sp>
          </p:grpSp>
          <p:grpSp>
            <p:nvGrpSpPr>
              <p:cNvPr id="100425" name="Group 45"/>
              <p:cNvGrpSpPr/>
              <p:nvPr/>
            </p:nvGrpSpPr>
            <p:grpSpPr>
              <a:xfrm>
                <a:off x="1854" y="2971"/>
                <a:ext cx="588" cy="721"/>
                <a:chOff x="1624" y="1453"/>
                <a:chExt cx="588" cy="721"/>
              </a:xfrm>
            </p:grpSpPr>
            <p:grpSp>
              <p:nvGrpSpPr>
                <p:cNvPr id="100431" name="Group 46"/>
                <p:cNvGrpSpPr/>
                <p:nvPr/>
              </p:nvGrpSpPr>
              <p:grpSpPr>
                <a:xfrm>
                  <a:off x="1624" y="1785"/>
                  <a:ext cx="212" cy="389"/>
                  <a:chOff x="1617" y="478"/>
                  <a:chExt cx="212" cy="389"/>
                </a:xfrm>
              </p:grpSpPr>
              <p:sp>
                <p:nvSpPr>
                  <p:cNvPr id="96301" name="Oval 47"/>
                  <p:cNvSpPr>
                    <a:spLocks noChangeArrowheads="1"/>
                  </p:cNvSpPr>
                  <p:nvPr/>
                </p:nvSpPr>
                <p:spPr bwMode="auto">
                  <a:xfrm>
                    <a:off x="1620" y="689"/>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c</a:t>
                    </a:r>
                  </a:p>
                </p:txBody>
              </p:sp>
              <p:sp>
                <p:nvSpPr>
                  <p:cNvPr id="96302" name="Text Box 48"/>
                  <p:cNvSpPr txBox="1">
                    <a:spLocks noChangeArrowheads="1"/>
                  </p:cNvSpPr>
                  <p:nvPr/>
                </p:nvSpPr>
                <p:spPr bwMode="auto">
                  <a:xfrm>
                    <a:off x="1617" y="478"/>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2</a:t>
                    </a:r>
                  </a:p>
                </p:txBody>
              </p:sp>
            </p:grpSp>
            <p:grpSp>
              <p:nvGrpSpPr>
                <p:cNvPr id="100432" name="Group 49"/>
                <p:cNvGrpSpPr/>
                <p:nvPr/>
              </p:nvGrpSpPr>
              <p:grpSpPr>
                <a:xfrm>
                  <a:off x="1992" y="1786"/>
                  <a:ext cx="220" cy="388"/>
                  <a:chOff x="1919" y="479"/>
                  <a:chExt cx="220" cy="388"/>
                </a:xfrm>
              </p:grpSpPr>
              <p:sp>
                <p:nvSpPr>
                  <p:cNvPr id="96304" name="Oval 50"/>
                  <p:cNvSpPr>
                    <a:spLocks noChangeArrowheads="1"/>
                  </p:cNvSpPr>
                  <p:nvPr/>
                </p:nvSpPr>
                <p:spPr bwMode="auto">
                  <a:xfrm>
                    <a:off x="1919" y="689"/>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d</a:t>
                    </a:r>
                  </a:p>
                </p:txBody>
              </p:sp>
              <p:sp>
                <p:nvSpPr>
                  <p:cNvPr id="96305" name="Text Box 51"/>
                  <p:cNvSpPr txBox="1">
                    <a:spLocks noChangeArrowheads="1"/>
                  </p:cNvSpPr>
                  <p:nvPr/>
                </p:nvSpPr>
                <p:spPr bwMode="auto">
                  <a:xfrm>
                    <a:off x="1927" y="479"/>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4</a:t>
                    </a:r>
                  </a:p>
                </p:txBody>
              </p:sp>
            </p:grpSp>
            <p:grpSp>
              <p:nvGrpSpPr>
                <p:cNvPr id="100433" name="Group 52"/>
                <p:cNvGrpSpPr/>
                <p:nvPr/>
              </p:nvGrpSpPr>
              <p:grpSpPr>
                <a:xfrm>
                  <a:off x="1816" y="1453"/>
                  <a:ext cx="172" cy="388"/>
                  <a:chOff x="1782" y="1597"/>
                  <a:chExt cx="172" cy="388"/>
                </a:xfrm>
              </p:grpSpPr>
              <p:sp>
                <p:nvSpPr>
                  <p:cNvPr id="96307" name="Oval 53"/>
                  <p:cNvSpPr>
                    <a:spLocks noChangeArrowheads="1"/>
                  </p:cNvSpPr>
                  <p:nvPr/>
                </p:nvSpPr>
                <p:spPr bwMode="auto">
                  <a:xfrm>
                    <a:off x="1782" y="1807"/>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308" name="Text Box 54"/>
                  <p:cNvSpPr txBox="1">
                    <a:spLocks noChangeArrowheads="1"/>
                  </p:cNvSpPr>
                  <p:nvPr/>
                </p:nvSpPr>
                <p:spPr bwMode="auto">
                  <a:xfrm>
                    <a:off x="1838" y="1597"/>
                    <a:ext cx="1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mn-lt"/>
                      <a:ea typeface="+mn-ea"/>
                      <a:cs typeface="+mn-ea"/>
                      <a:sym typeface="+mn-lt"/>
                    </a:endParaRPr>
                  </a:p>
                </p:txBody>
              </p:sp>
            </p:grpSp>
            <p:sp>
              <p:nvSpPr>
                <p:cNvPr id="96309" name="Line 55"/>
                <p:cNvSpPr>
                  <a:spLocks noChangeShapeType="1"/>
                </p:cNvSpPr>
                <p:nvPr/>
              </p:nvSpPr>
              <p:spPr bwMode="auto">
                <a:xfrm flipH="1">
                  <a:off x="1767" y="1833"/>
                  <a:ext cx="100" cy="18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310" name="Line 56"/>
                <p:cNvSpPr>
                  <a:spLocks noChangeShapeType="1"/>
                </p:cNvSpPr>
                <p:nvPr/>
              </p:nvSpPr>
              <p:spPr bwMode="auto">
                <a:xfrm>
                  <a:off x="1922" y="1833"/>
                  <a:ext cx="112" cy="17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00426" name="Group 57"/>
              <p:cNvGrpSpPr/>
              <p:nvPr/>
            </p:nvGrpSpPr>
            <p:grpSpPr>
              <a:xfrm>
                <a:off x="1793" y="2644"/>
                <a:ext cx="308" cy="378"/>
                <a:chOff x="1276" y="489"/>
                <a:chExt cx="291" cy="378"/>
              </a:xfrm>
            </p:grpSpPr>
            <p:sp>
              <p:nvSpPr>
                <p:cNvPr id="96312" name="Oval 58"/>
                <p:cNvSpPr>
                  <a:spLocks noChangeArrowheads="1"/>
                </p:cNvSpPr>
                <p:nvPr/>
              </p:nvSpPr>
              <p:spPr bwMode="auto">
                <a:xfrm>
                  <a:off x="1321" y="689"/>
                  <a:ext cx="163"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313" name="Text Box 59"/>
                <p:cNvSpPr txBox="1">
                  <a:spLocks noChangeArrowheads="1"/>
                </p:cNvSpPr>
                <p:nvPr/>
              </p:nvSpPr>
              <p:spPr bwMode="auto">
                <a:xfrm>
                  <a:off x="1276" y="489"/>
                  <a:ext cx="29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0000"/>
                      </a:solidFill>
                      <a:effectLst/>
                      <a:uLnTx/>
                      <a:uFillTx/>
                      <a:latin typeface="+mn-lt"/>
                      <a:ea typeface="+mn-ea"/>
                      <a:cs typeface="+mn-ea"/>
                      <a:sym typeface="+mn-lt"/>
                    </a:rPr>
                    <a:t>11</a:t>
                  </a:r>
                </a:p>
              </p:txBody>
            </p:sp>
          </p:grpSp>
          <p:sp>
            <p:nvSpPr>
              <p:cNvPr id="96314" name="Line 60"/>
              <p:cNvSpPr>
                <a:spLocks noChangeShapeType="1"/>
              </p:cNvSpPr>
              <p:nvPr/>
            </p:nvSpPr>
            <p:spPr bwMode="auto">
              <a:xfrm flipH="1">
                <a:off x="1800" y="3011"/>
                <a:ext cx="89"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315" name="Line 61"/>
              <p:cNvSpPr>
                <a:spLocks noChangeShapeType="1"/>
              </p:cNvSpPr>
              <p:nvPr/>
            </p:nvSpPr>
            <p:spPr bwMode="auto">
              <a:xfrm>
                <a:off x="1978" y="3011"/>
                <a:ext cx="100"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grpSp>
        <p:nvGrpSpPr>
          <p:cNvPr id="23" name="Group 62"/>
          <p:cNvGrpSpPr/>
          <p:nvPr/>
        </p:nvGrpSpPr>
        <p:grpSpPr>
          <a:xfrm>
            <a:off x="6156325" y="1857375"/>
            <a:ext cx="1871663" cy="2211388"/>
            <a:chOff x="3441" y="1461"/>
            <a:chExt cx="1074" cy="1393"/>
          </a:xfrm>
        </p:grpSpPr>
        <p:grpSp>
          <p:nvGrpSpPr>
            <p:cNvPr id="100393" name="Group 63"/>
            <p:cNvGrpSpPr/>
            <p:nvPr/>
          </p:nvGrpSpPr>
          <p:grpSpPr>
            <a:xfrm>
              <a:off x="3441" y="1767"/>
              <a:ext cx="212" cy="424"/>
              <a:chOff x="985" y="446"/>
              <a:chExt cx="212" cy="424"/>
            </a:xfrm>
          </p:grpSpPr>
          <p:sp>
            <p:nvSpPr>
              <p:cNvPr id="96318" name="Oval 64"/>
              <p:cNvSpPr>
                <a:spLocks noChangeArrowheads="1"/>
              </p:cNvSpPr>
              <p:nvPr/>
            </p:nvSpPr>
            <p:spPr bwMode="auto">
              <a:xfrm>
                <a:off x="1022" y="692"/>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a</a:t>
                </a:r>
              </a:p>
            </p:txBody>
          </p:sp>
          <p:sp>
            <p:nvSpPr>
              <p:cNvPr id="96319" name="Text Box 65"/>
              <p:cNvSpPr txBox="1">
                <a:spLocks noChangeArrowheads="1"/>
              </p:cNvSpPr>
              <p:nvPr/>
            </p:nvSpPr>
            <p:spPr bwMode="auto">
              <a:xfrm>
                <a:off x="985" y="446"/>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7</a:t>
                </a:r>
              </a:p>
            </p:txBody>
          </p:sp>
        </p:grpSp>
        <p:grpSp>
          <p:nvGrpSpPr>
            <p:cNvPr id="100394" name="Group 66"/>
            <p:cNvGrpSpPr/>
            <p:nvPr/>
          </p:nvGrpSpPr>
          <p:grpSpPr>
            <a:xfrm>
              <a:off x="3718" y="1805"/>
              <a:ext cx="797" cy="1049"/>
              <a:chOff x="1645" y="2643"/>
              <a:chExt cx="797" cy="1049"/>
            </a:xfrm>
          </p:grpSpPr>
          <p:grpSp>
            <p:nvGrpSpPr>
              <p:cNvPr id="100400" name="Group 67"/>
              <p:cNvGrpSpPr/>
              <p:nvPr/>
            </p:nvGrpSpPr>
            <p:grpSpPr>
              <a:xfrm>
                <a:off x="1645" y="2968"/>
                <a:ext cx="212" cy="402"/>
                <a:chOff x="1321" y="465"/>
                <a:chExt cx="201" cy="402"/>
              </a:xfrm>
            </p:grpSpPr>
            <p:sp>
              <p:nvSpPr>
                <p:cNvPr id="96322" name="Oval 68"/>
                <p:cNvSpPr>
                  <a:spLocks noChangeArrowheads="1"/>
                </p:cNvSpPr>
                <p:nvPr/>
              </p:nvSpPr>
              <p:spPr bwMode="auto">
                <a:xfrm>
                  <a:off x="1321" y="689"/>
                  <a:ext cx="168"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96323" name="Text Box 69"/>
                <p:cNvSpPr txBox="1">
                  <a:spLocks noChangeArrowheads="1"/>
                </p:cNvSpPr>
                <p:nvPr/>
              </p:nvSpPr>
              <p:spPr bwMode="auto">
                <a:xfrm>
                  <a:off x="1321" y="465"/>
                  <a:ext cx="20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5</a:t>
                  </a:r>
                </a:p>
              </p:txBody>
            </p:sp>
          </p:grpSp>
          <p:grpSp>
            <p:nvGrpSpPr>
              <p:cNvPr id="100401" name="Group 70"/>
              <p:cNvGrpSpPr/>
              <p:nvPr/>
            </p:nvGrpSpPr>
            <p:grpSpPr>
              <a:xfrm>
                <a:off x="1854" y="2971"/>
                <a:ext cx="588" cy="721"/>
                <a:chOff x="1624" y="1453"/>
                <a:chExt cx="588" cy="721"/>
              </a:xfrm>
            </p:grpSpPr>
            <p:grpSp>
              <p:nvGrpSpPr>
                <p:cNvPr id="100407" name="Group 71"/>
                <p:cNvGrpSpPr/>
                <p:nvPr/>
              </p:nvGrpSpPr>
              <p:grpSpPr>
                <a:xfrm>
                  <a:off x="1624" y="1738"/>
                  <a:ext cx="212" cy="436"/>
                  <a:chOff x="1617" y="431"/>
                  <a:chExt cx="212" cy="436"/>
                </a:xfrm>
              </p:grpSpPr>
              <p:sp>
                <p:nvSpPr>
                  <p:cNvPr id="96326" name="Oval 72"/>
                  <p:cNvSpPr>
                    <a:spLocks noChangeArrowheads="1"/>
                  </p:cNvSpPr>
                  <p:nvPr/>
                </p:nvSpPr>
                <p:spPr bwMode="auto">
                  <a:xfrm>
                    <a:off x="1618" y="689"/>
                    <a:ext cx="169"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c</a:t>
                    </a:r>
                  </a:p>
                </p:txBody>
              </p:sp>
              <p:sp>
                <p:nvSpPr>
                  <p:cNvPr id="96327" name="Text Box 73"/>
                  <p:cNvSpPr txBox="1">
                    <a:spLocks noChangeArrowheads="1"/>
                  </p:cNvSpPr>
                  <p:nvPr/>
                </p:nvSpPr>
                <p:spPr bwMode="auto">
                  <a:xfrm>
                    <a:off x="1617" y="431"/>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2</a:t>
                    </a:r>
                  </a:p>
                </p:txBody>
              </p:sp>
            </p:grpSp>
            <p:grpSp>
              <p:nvGrpSpPr>
                <p:cNvPr id="100408" name="Group 74"/>
                <p:cNvGrpSpPr/>
                <p:nvPr/>
              </p:nvGrpSpPr>
              <p:grpSpPr>
                <a:xfrm>
                  <a:off x="1992" y="1738"/>
                  <a:ext cx="220" cy="436"/>
                  <a:chOff x="1919" y="431"/>
                  <a:chExt cx="220" cy="436"/>
                </a:xfrm>
              </p:grpSpPr>
              <p:sp>
                <p:nvSpPr>
                  <p:cNvPr id="96329" name="Oval 75"/>
                  <p:cNvSpPr>
                    <a:spLocks noChangeArrowheads="1"/>
                  </p:cNvSpPr>
                  <p:nvPr/>
                </p:nvSpPr>
                <p:spPr bwMode="auto">
                  <a:xfrm>
                    <a:off x="1919" y="689"/>
                    <a:ext cx="169"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d</a:t>
                    </a:r>
                  </a:p>
                </p:txBody>
              </p:sp>
              <p:sp>
                <p:nvSpPr>
                  <p:cNvPr id="96330" name="Text Box 76"/>
                  <p:cNvSpPr txBox="1">
                    <a:spLocks noChangeArrowheads="1"/>
                  </p:cNvSpPr>
                  <p:nvPr/>
                </p:nvSpPr>
                <p:spPr bwMode="auto">
                  <a:xfrm>
                    <a:off x="1927" y="431"/>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tx1"/>
                        </a:solidFill>
                        <a:effectLst/>
                        <a:uLnTx/>
                        <a:uFillTx/>
                        <a:latin typeface="+mn-lt"/>
                        <a:ea typeface="+mn-ea"/>
                        <a:cs typeface="+mn-ea"/>
                        <a:sym typeface="+mn-lt"/>
                      </a:rPr>
                      <a:t>4</a:t>
                    </a:r>
                  </a:p>
                </p:txBody>
              </p:sp>
            </p:grpSp>
            <p:grpSp>
              <p:nvGrpSpPr>
                <p:cNvPr id="100409" name="Group 77"/>
                <p:cNvGrpSpPr/>
                <p:nvPr/>
              </p:nvGrpSpPr>
              <p:grpSpPr>
                <a:xfrm>
                  <a:off x="1816" y="1453"/>
                  <a:ext cx="172" cy="388"/>
                  <a:chOff x="1782" y="1597"/>
                  <a:chExt cx="172" cy="388"/>
                </a:xfrm>
              </p:grpSpPr>
              <p:sp>
                <p:nvSpPr>
                  <p:cNvPr id="96332" name="Oval 78"/>
                  <p:cNvSpPr>
                    <a:spLocks noChangeArrowheads="1"/>
                  </p:cNvSpPr>
                  <p:nvPr/>
                </p:nvSpPr>
                <p:spPr bwMode="auto">
                  <a:xfrm>
                    <a:off x="1782" y="1807"/>
                    <a:ext cx="169"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333" name="Text Box 79"/>
                  <p:cNvSpPr txBox="1">
                    <a:spLocks noChangeArrowheads="1"/>
                  </p:cNvSpPr>
                  <p:nvPr/>
                </p:nvSpPr>
                <p:spPr bwMode="auto">
                  <a:xfrm>
                    <a:off x="1838" y="1597"/>
                    <a:ext cx="1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mn-lt"/>
                      <a:ea typeface="+mn-ea"/>
                      <a:cs typeface="+mn-ea"/>
                      <a:sym typeface="+mn-lt"/>
                    </a:endParaRPr>
                  </a:p>
                </p:txBody>
              </p:sp>
            </p:grpSp>
            <p:sp>
              <p:nvSpPr>
                <p:cNvPr id="96334" name="Line 80"/>
                <p:cNvSpPr>
                  <a:spLocks noChangeShapeType="1"/>
                </p:cNvSpPr>
                <p:nvPr/>
              </p:nvSpPr>
              <p:spPr bwMode="auto">
                <a:xfrm flipH="1">
                  <a:off x="1767" y="1833"/>
                  <a:ext cx="100" cy="18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335" name="Line 81"/>
                <p:cNvSpPr>
                  <a:spLocks noChangeShapeType="1"/>
                </p:cNvSpPr>
                <p:nvPr/>
              </p:nvSpPr>
              <p:spPr bwMode="auto">
                <a:xfrm>
                  <a:off x="1920" y="1833"/>
                  <a:ext cx="112" cy="17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00402" name="Group 82"/>
              <p:cNvGrpSpPr/>
              <p:nvPr/>
            </p:nvGrpSpPr>
            <p:grpSpPr>
              <a:xfrm>
                <a:off x="1841" y="2643"/>
                <a:ext cx="176" cy="379"/>
                <a:chOff x="1321" y="488"/>
                <a:chExt cx="167" cy="379"/>
              </a:xfrm>
            </p:grpSpPr>
            <p:sp>
              <p:nvSpPr>
                <p:cNvPr id="96337" name="Oval 83"/>
                <p:cNvSpPr>
                  <a:spLocks noChangeArrowheads="1"/>
                </p:cNvSpPr>
                <p:nvPr/>
              </p:nvSpPr>
              <p:spPr bwMode="auto">
                <a:xfrm>
                  <a:off x="1321" y="689"/>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338" name="Text Box 84"/>
                <p:cNvSpPr txBox="1">
                  <a:spLocks noChangeArrowheads="1"/>
                </p:cNvSpPr>
                <p:nvPr/>
              </p:nvSpPr>
              <p:spPr bwMode="auto">
                <a:xfrm>
                  <a:off x="1366" y="488"/>
                  <a:ext cx="11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mn-lt"/>
                    <a:ea typeface="+mn-ea"/>
                    <a:cs typeface="+mn-ea"/>
                    <a:sym typeface="+mn-lt"/>
                  </a:endParaRPr>
                </a:p>
              </p:txBody>
            </p:sp>
          </p:grpSp>
          <p:sp>
            <p:nvSpPr>
              <p:cNvPr id="96339" name="Line 85"/>
              <p:cNvSpPr>
                <a:spLocks noChangeShapeType="1"/>
              </p:cNvSpPr>
              <p:nvPr/>
            </p:nvSpPr>
            <p:spPr bwMode="auto">
              <a:xfrm flipH="1">
                <a:off x="1800" y="3011"/>
                <a:ext cx="89"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340" name="Line 86"/>
              <p:cNvSpPr>
                <a:spLocks noChangeShapeType="1"/>
              </p:cNvSpPr>
              <p:nvPr/>
            </p:nvSpPr>
            <p:spPr bwMode="auto">
              <a:xfrm>
                <a:off x="1978" y="3011"/>
                <a:ext cx="98"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00395" name="Group 87"/>
            <p:cNvGrpSpPr/>
            <p:nvPr/>
          </p:nvGrpSpPr>
          <p:grpSpPr>
            <a:xfrm>
              <a:off x="3665" y="1461"/>
              <a:ext cx="308" cy="390"/>
              <a:chOff x="990" y="477"/>
              <a:chExt cx="308" cy="390"/>
            </a:xfrm>
          </p:grpSpPr>
          <p:sp>
            <p:nvSpPr>
              <p:cNvPr id="96342" name="Oval 88"/>
              <p:cNvSpPr>
                <a:spLocks noChangeArrowheads="1"/>
              </p:cNvSpPr>
              <p:nvPr/>
            </p:nvSpPr>
            <p:spPr bwMode="auto">
              <a:xfrm>
                <a:off x="1022" y="689"/>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343" name="Text Box 89"/>
              <p:cNvSpPr txBox="1">
                <a:spLocks noChangeArrowheads="1"/>
              </p:cNvSpPr>
              <p:nvPr/>
            </p:nvSpPr>
            <p:spPr bwMode="auto">
              <a:xfrm>
                <a:off x="990" y="477"/>
                <a:ext cx="30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F0000"/>
                    </a:solidFill>
                    <a:effectLst/>
                    <a:uLnTx/>
                    <a:uFillTx/>
                    <a:latin typeface="+mn-lt"/>
                    <a:ea typeface="+mn-ea"/>
                    <a:cs typeface="+mn-ea"/>
                    <a:sym typeface="+mn-lt"/>
                  </a:rPr>
                  <a:t>18</a:t>
                </a:r>
              </a:p>
            </p:txBody>
          </p:sp>
        </p:grpSp>
        <p:sp>
          <p:nvSpPr>
            <p:cNvPr id="96344" name="Line 90"/>
            <p:cNvSpPr>
              <a:spLocks noChangeShapeType="1"/>
            </p:cNvSpPr>
            <p:nvPr/>
          </p:nvSpPr>
          <p:spPr bwMode="auto">
            <a:xfrm flipH="1">
              <a:off x="3623" y="1822"/>
              <a:ext cx="111" cy="21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345" name="Line 91"/>
            <p:cNvSpPr>
              <a:spLocks noChangeShapeType="1"/>
            </p:cNvSpPr>
            <p:nvPr/>
          </p:nvSpPr>
          <p:spPr bwMode="auto">
            <a:xfrm>
              <a:off x="3812" y="1844"/>
              <a:ext cx="122"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8849" name="Group 92"/>
          <p:cNvGrpSpPr/>
          <p:nvPr/>
        </p:nvGrpSpPr>
        <p:grpSpPr>
          <a:xfrm>
            <a:off x="3111500" y="4170363"/>
            <a:ext cx="1646238" cy="2211387"/>
            <a:chOff x="3478" y="1461"/>
            <a:chExt cx="1037" cy="1393"/>
          </a:xfrm>
        </p:grpSpPr>
        <p:grpSp>
          <p:nvGrpSpPr>
            <p:cNvPr id="100364" name="Group 93"/>
            <p:cNvGrpSpPr/>
            <p:nvPr/>
          </p:nvGrpSpPr>
          <p:grpSpPr>
            <a:xfrm>
              <a:off x="3478" y="1798"/>
              <a:ext cx="228" cy="390"/>
              <a:chOff x="1022" y="477"/>
              <a:chExt cx="228" cy="390"/>
            </a:xfrm>
          </p:grpSpPr>
          <p:sp>
            <p:nvSpPr>
              <p:cNvPr id="96348" name="Oval 94"/>
              <p:cNvSpPr>
                <a:spLocks noChangeArrowheads="1"/>
              </p:cNvSpPr>
              <p:nvPr/>
            </p:nvSpPr>
            <p:spPr bwMode="auto">
              <a:xfrm>
                <a:off x="1022" y="689"/>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a</a:t>
                </a:r>
              </a:p>
            </p:txBody>
          </p:sp>
          <p:sp>
            <p:nvSpPr>
              <p:cNvPr id="96349" name="Text Box 95"/>
              <p:cNvSpPr txBox="1">
                <a:spLocks noChangeArrowheads="1"/>
              </p:cNvSpPr>
              <p:nvPr/>
            </p:nvSpPr>
            <p:spPr bwMode="auto">
              <a:xfrm>
                <a:off x="1038" y="477"/>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7</a:t>
                </a:r>
              </a:p>
            </p:txBody>
          </p:sp>
        </p:grpSp>
        <p:grpSp>
          <p:nvGrpSpPr>
            <p:cNvPr id="100365" name="Group 96"/>
            <p:cNvGrpSpPr/>
            <p:nvPr/>
          </p:nvGrpSpPr>
          <p:grpSpPr>
            <a:xfrm>
              <a:off x="3718" y="1805"/>
              <a:ext cx="797" cy="1049"/>
              <a:chOff x="1645" y="2643"/>
              <a:chExt cx="797" cy="1049"/>
            </a:xfrm>
          </p:grpSpPr>
          <p:grpSp>
            <p:nvGrpSpPr>
              <p:cNvPr id="100371" name="Group 97"/>
              <p:cNvGrpSpPr/>
              <p:nvPr/>
            </p:nvGrpSpPr>
            <p:grpSpPr>
              <a:xfrm>
                <a:off x="1645" y="2992"/>
                <a:ext cx="212" cy="378"/>
                <a:chOff x="1321" y="489"/>
                <a:chExt cx="201" cy="378"/>
              </a:xfrm>
            </p:grpSpPr>
            <p:sp>
              <p:nvSpPr>
                <p:cNvPr id="96352" name="Oval 98"/>
                <p:cNvSpPr>
                  <a:spLocks noChangeArrowheads="1"/>
                </p:cNvSpPr>
                <p:nvPr/>
              </p:nvSpPr>
              <p:spPr bwMode="auto">
                <a:xfrm>
                  <a:off x="1321" y="689"/>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b</a:t>
                  </a:r>
                </a:p>
              </p:txBody>
            </p:sp>
            <p:sp>
              <p:nvSpPr>
                <p:cNvPr id="96353" name="Text Box 99"/>
                <p:cNvSpPr txBox="1">
                  <a:spLocks noChangeArrowheads="1"/>
                </p:cNvSpPr>
                <p:nvPr/>
              </p:nvSpPr>
              <p:spPr bwMode="auto">
                <a:xfrm>
                  <a:off x="1321" y="489"/>
                  <a:ext cx="20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5</a:t>
                  </a:r>
                </a:p>
              </p:txBody>
            </p:sp>
          </p:grpSp>
          <p:grpSp>
            <p:nvGrpSpPr>
              <p:cNvPr id="100372" name="Group 100"/>
              <p:cNvGrpSpPr/>
              <p:nvPr/>
            </p:nvGrpSpPr>
            <p:grpSpPr>
              <a:xfrm>
                <a:off x="1854" y="2971"/>
                <a:ext cx="588" cy="721"/>
                <a:chOff x="1624" y="1453"/>
                <a:chExt cx="588" cy="721"/>
              </a:xfrm>
            </p:grpSpPr>
            <p:grpSp>
              <p:nvGrpSpPr>
                <p:cNvPr id="100378" name="Group 101"/>
                <p:cNvGrpSpPr/>
                <p:nvPr/>
              </p:nvGrpSpPr>
              <p:grpSpPr>
                <a:xfrm>
                  <a:off x="1624" y="1785"/>
                  <a:ext cx="212" cy="389"/>
                  <a:chOff x="1617" y="478"/>
                  <a:chExt cx="212" cy="389"/>
                </a:xfrm>
              </p:grpSpPr>
              <p:sp>
                <p:nvSpPr>
                  <p:cNvPr id="96356" name="Oval 102"/>
                  <p:cNvSpPr>
                    <a:spLocks noChangeArrowheads="1"/>
                  </p:cNvSpPr>
                  <p:nvPr/>
                </p:nvSpPr>
                <p:spPr bwMode="auto">
                  <a:xfrm>
                    <a:off x="1620" y="689"/>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c</a:t>
                    </a:r>
                  </a:p>
                </p:txBody>
              </p:sp>
              <p:sp>
                <p:nvSpPr>
                  <p:cNvPr id="96357" name="Text Box 103"/>
                  <p:cNvSpPr txBox="1">
                    <a:spLocks noChangeArrowheads="1"/>
                  </p:cNvSpPr>
                  <p:nvPr/>
                </p:nvSpPr>
                <p:spPr bwMode="auto">
                  <a:xfrm>
                    <a:off x="1617" y="478"/>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2</a:t>
                    </a:r>
                  </a:p>
                </p:txBody>
              </p:sp>
            </p:grpSp>
            <p:grpSp>
              <p:nvGrpSpPr>
                <p:cNvPr id="100379" name="Group 104"/>
                <p:cNvGrpSpPr/>
                <p:nvPr/>
              </p:nvGrpSpPr>
              <p:grpSpPr>
                <a:xfrm>
                  <a:off x="1992" y="1786"/>
                  <a:ext cx="220" cy="388"/>
                  <a:chOff x="1919" y="479"/>
                  <a:chExt cx="220" cy="388"/>
                </a:xfrm>
              </p:grpSpPr>
              <p:sp>
                <p:nvSpPr>
                  <p:cNvPr id="96359" name="Oval 105"/>
                  <p:cNvSpPr>
                    <a:spLocks noChangeArrowheads="1"/>
                  </p:cNvSpPr>
                  <p:nvPr/>
                </p:nvSpPr>
                <p:spPr bwMode="auto">
                  <a:xfrm>
                    <a:off x="1919" y="689"/>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d</a:t>
                    </a:r>
                  </a:p>
                </p:txBody>
              </p:sp>
              <p:sp>
                <p:nvSpPr>
                  <p:cNvPr id="96360" name="Text Box 106"/>
                  <p:cNvSpPr txBox="1">
                    <a:spLocks noChangeArrowheads="1"/>
                  </p:cNvSpPr>
                  <p:nvPr/>
                </p:nvSpPr>
                <p:spPr bwMode="auto">
                  <a:xfrm>
                    <a:off x="1927" y="479"/>
                    <a:ext cx="2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tx1"/>
                        </a:solidFill>
                        <a:effectLst/>
                        <a:uLnTx/>
                        <a:uFillTx/>
                        <a:latin typeface="+mn-lt"/>
                        <a:ea typeface="+mn-ea"/>
                        <a:cs typeface="+mn-ea"/>
                        <a:sym typeface="+mn-lt"/>
                      </a:rPr>
                      <a:t>4</a:t>
                    </a:r>
                  </a:p>
                </p:txBody>
              </p:sp>
            </p:grpSp>
            <p:grpSp>
              <p:nvGrpSpPr>
                <p:cNvPr id="100380" name="Group 107"/>
                <p:cNvGrpSpPr/>
                <p:nvPr/>
              </p:nvGrpSpPr>
              <p:grpSpPr>
                <a:xfrm>
                  <a:off x="1816" y="1453"/>
                  <a:ext cx="172" cy="388"/>
                  <a:chOff x="1782" y="1597"/>
                  <a:chExt cx="172" cy="388"/>
                </a:xfrm>
              </p:grpSpPr>
              <p:sp>
                <p:nvSpPr>
                  <p:cNvPr id="96362" name="Oval 108"/>
                  <p:cNvSpPr>
                    <a:spLocks noChangeArrowheads="1"/>
                  </p:cNvSpPr>
                  <p:nvPr/>
                </p:nvSpPr>
                <p:spPr bwMode="auto">
                  <a:xfrm>
                    <a:off x="1782" y="1807"/>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363" name="Text Box 109"/>
                  <p:cNvSpPr txBox="1">
                    <a:spLocks noChangeArrowheads="1"/>
                  </p:cNvSpPr>
                  <p:nvPr/>
                </p:nvSpPr>
                <p:spPr bwMode="auto">
                  <a:xfrm>
                    <a:off x="1838" y="1597"/>
                    <a:ext cx="1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mn-lt"/>
                      <a:ea typeface="+mn-ea"/>
                      <a:cs typeface="+mn-ea"/>
                      <a:sym typeface="+mn-lt"/>
                    </a:endParaRPr>
                  </a:p>
                </p:txBody>
              </p:sp>
            </p:grpSp>
            <p:sp>
              <p:nvSpPr>
                <p:cNvPr id="96364" name="Line 110"/>
                <p:cNvSpPr>
                  <a:spLocks noChangeShapeType="1"/>
                </p:cNvSpPr>
                <p:nvPr/>
              </p:nvSpPr>
              <p:spPr bwMode="auto">
                <a:xfrm flipH="1">
                  <a:off x="1767" y="1833"/>
                  <a:ext cx="100" cy="18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365" name="Line 111"/>
                <p:cNvSpPr>
                  <a:spLocks noChangeShapeType="1"/>
                </p:cNvSpPr>
                <p:nvPr/>
              </p:nvSpPr>
              <p:spPr bwMode="auto">
                <a:xfrm>
                  <a:off x="1922" y="1833"/>
                  <a:ext cx="112" cy="17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00373" name="Group 112"/>
              <p:cNvGrpSpPr/>
              <p:nvPr/>
            </p:nvGrpSpPr>
            <p:grpSpPr>
              <a:xfrm>
                <a:off x="1841" y="2643"/>
                <a:ext cx="176" cy="379"/>
                <a:chOff x="1321" y="488"/>
                <a:chExt cx="167" cy="379"/>
              </a:xfrm>
            </p:grpSpPr>
            <p:sp>
              <p:nvSpPr>
                <p:cNvPr id="96367" name="Oval 113"/>
                <p:cNvSpPr>
                  <a:spLocks noChangeArrowheads="1"/>
                </p:cNvSpPr>
                <p:nvPr/>
              </p:nvSpPr>
              <p:spPr bwMode="auto">
                <a:xfrm>
                  <a:off x="1321" y="689"/>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368" name="Text Box 114"/>
                <p:cNvSpPr txBox="1">
                  <a:spLocks noChangeArrowheads="1"/>
                </p:cNvSpPr>
                <p:nvPr/>
              </p:nvSpPr>
              <p:spPr bwMode="auto">
                <a:xfrm>
                  <a:off x="1366" y="488"/>
                  <a:ext cx="11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mn-lt"/>
                    <a:ea typeface="+mn-ea"/>
                    <a:cs typeface="+mn-ea"/>
                    <a:sym typeface="+mn-lt"/>
                  </a:endParaRPr>
                </a:p>
              </p:txBody>
            </p:sp>
          </p:grpSp>
          <p:sp>
            <p:nvSpPr>
              <p:cNvPr id="96369" name="Line 115"/>
              <p:cNvSpPr>
                <a:spLocks noChangeShapeType="1"/>
              </p:cNvSpPr>
              <p:nvPr/>
            </p:nvSpPr>
            <p:spPr bwMode="auto">
              <a:xfrm flipH="1">
                <a:off x="1800" y="3011"/>
                <a:ext cx="89"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370" name="Line 116"/>
              <p:cNvSpPr>
                <a:spLocks noChangeShapeType="1"/>
              </p:cNvSpPr>
              <p:nvPr/>
            </p:nvSpPr>
            <p:spPr bwMode="auto">
              <a:xfrm>
                <a:off x="1978" y="3011"/>
                <a:ext cx="100"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00366" name="Group 117"/>
            <p:cNvGrpSpPr/>
            <p:nvPr/>
          </p:nvGrpSpPr>
          <p:grpSpPr>
            <a:xfrm>
              <a:off x="3697" y="1461"/>
              <a:ext cx="180" cy="390"/>
              <a:chOff x="1022" y="477"/>
              <a:chExt cx="180" cy="390"/>
            </a:xfrm>
          </p:grpSpPr>
          <p:sp>
            <p:nvSpPr>
              <p:cNvPr id="96372" name="Oval 118"/>
              <p:cNvSpPr>
                <a:spLocks noChangeArrowheads="1"/>
              </p:cNvSpPr>
              <p:nvPr/>
            </p:nvSpPr>
            <p:spPr bwMode="auto">
              <a:xfrm>
                <a:off x="1022" y="689"/>
                <a:ext cx="167" cy="178"/>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373" name="Text Box 119"/>
              <p:cNvSpPr txBox="1">
                <a:spLocks noChangeArrowheads="1"/>
              </p:cNvSpPr>
              <p:nvPr/>
            </p:nvSpPr>
            <p:spPr bwMode="auto">
              <a:xfrm>
                <a:off x="1086" y="477"/>
                <a:ext cx="1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mn-lt"/>
                  <a:ea typeface="+mn-ea"/>
                  <a:cs typeface="+mn-ea"/>
                  <a:sym typeface="+mn-lt"/>
                </a:endParaRPr>
              </a:p>
            </p:txBody>
          </p:sp>
        </p:grpSp>
        <p:sp>
          <p:nvSpPr>
            <p:cNvPr id="96374" name="Line 120"/>
            <p:cNvSpPr>
              <a:spLocks noChangeShapeType="1"/>
            </p:cNvSpPr>
            <p:nvPr/>
          </p:nvSpPr>
          <p:spPr bwMode="auto">
            <a:xfrm flipH="1">
              <a:off x="3623" y="1822"/>
              <a:ext cx="111" cy="21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6375" name="Line 121"/>
            <p:cNvSpPr>
              <a:spLocks noChangeShapeType="1"/>
            </p:cNvSpPr>
            <p:nvPr/>
          </p:nvSpPr>
          <p:spPr bwMode="auto">
            <a:xfrm>
              <a:off x="3812" y="1844"/>
              <a:ext cx="122"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26842" name="AutoShape 122"/>
          <p:cNvSpPr>
            <a:spLocks noChangeArrowheads="1"/>
          </p:cNvSpPr>
          <p:nvPr/>
        </p:nvSpPr>
        <p:spPr bwMode="auto">
          <a:xfrm>
            <a:off x="2657475" y="3141663"/>
            <a:ext cx="533400" cy="304800"/>
          </a:xfrm>
          <a:prstGeom prst="rightArrow">
            <a:avLst>
              <a:gd name="adj1" fmla="val 50000"/>
              <a:gd name="adj2" fmla="val 43750"/>
            </a:avLst>
          </a:prstGeom>
          <a:solidFill>
            <a:srgbClr val="7030A0"/>
          </a:solidFill>
          <a:ln w="9525">
            <a:no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zh-CN"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926843" name="AutoShape 123"/>
          <p:cNvSpPr>
            <a:spLocks noChangeArrowheads="1"/>
          </p:cNvSpPr>
          <p:nvPr/>
        </p:nvSpPr>
        <p:spPr bwMode="auto">
          <a:xfrm>
            <a:off x="5248275" y="3065463"/>
            <a:ext cx="533400" cy="304800"/>
          </a:xfrm>
          <a:prstGeom prst="rightArrow">
            <a:avLst>
              <a:gd name="adj1" fmla="val 50000"/>
              <a:gd name="adj2" fmla="val 43750"/>
            </a:avLst>
          </a:prstGeom>
          <a:solidFill>
            <a:srgbClr val="7030A0"/>
          </a:solidFill>
          <a:ln w="9525">
            <a:no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zh-CN" sz="2400" b="0" i="0" u="none" strike="noStrike" kern="1200" cap="none" spc="0" normalizeH="0" baseline="0" noProof="0">
              <a:ln>
                <a:noFill/>
              </a:ln>
              <a:solidFill>
                <a:srgbClr val="FF0000"/>
              </a:solidFill>
              <a:effectLst/>
              <a:uLnTx/>
              <a:uFillTx/>
              <a:latin typeface="+mn-lt"/>
              <a:ea typeface="+mn-ea"/>
              <a:cs typeface="+mn-ea"/>
              <a:sym typeface="+mn-lt"/>
            </a:endParaRPr>
          </a:p>
        </p:txBody>
      </p:sp>
      <p:sp>
        <p:nvSpPr>
          <p:cNvPr id="96378" name="Rectangle 124"/>
          <p:cNvSpPr>
            <a:spLocks noChangeArrowheads="1"/>
          </p:cNvSpPr>
          <p:nvPr/>
        </p:nvSpPr>
        <p:spPr bwMode="auto">
          <a:xfrm>
            <a:off x="808038" y="214313"/>
            <a:ext cx="389731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哈夫曼树的构造过程</a:t>
            </a:r>
          </a:p>
        </p:txBody>
      </p:sp>
      <p:sp>
        <p:nvSpPr>
          <p:cNvPr id="926845" name="Rectangle 125"/>
          <p:cNvSpPr>
            <a:spLocks noChangeArrowheads="1"/>
          </p:cNvSpPr>
          <p:nvPr/>
        </p:nvSpPr>
        <p:spPr bwMode="auto">
          <a:xfrm>
            <a:off x="334963" y="2438400"/>
            <a:ext cx="8534400" cy="1463675"/>
          </a:xfrm>
          <a:prstGeom prst="roundRect">
            <a:avLst>
              <a:gd name="adj" fmla="val 7993"/>
            </a:avLst>
          </a:prstGeom>
          <a:solidFill>
            <a:srgbClr val="E2D9EB"/>
          </a:solid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Arial" panose="020B0604020202020204" pitchFamily="34" charset="0"/>
              <a:buNone/>
              <a:defRPr/>
            </a:pPr>
            <a:r>
              <a:rPr kumimoji="0" lang="zh-CN" altLang="en-US" sz="3200" b="0" i="0" u="none" strike="noStrike" kern="1200" cap="none" spc="0" normalizeH="0" baseline="0" noProof="0" dirty="0">
                <a:ln>
                  <a:noFill/>
                </a:ln>
                <a:solidFill>
                  <a:srgbClr val="FF3300"/>
                </a:solidFill>
                <a:effectLst/>
                <a:uLnTx/>
                <a:uFillTx/>
                <a:latin typeface="+mn-lt"/>
                <a:ea typeface="+mn-ea"/>
                <a:cs typeface="+mn-ea"/>
                <a:sym typeface="+mn-lt"/>
              </a:rPr>
              <a:t>操作要点：</a:t>
            </a:r>
            <a:r>
              <a:rPr kumimoji="0" lang="zh-CN" altLang="en-US" sz="3200" b="0" i="0" u="none" strike="noStrike" kern="1200" cap="none" spc="0" normalizeH="0" baseline="0" noProof="0" dirty="0">
                <a:ln>
                  <a:noFill/>
                </a:ln>
                <a:solidFill>
                  <a:schemeClr val="tx1"/>
                </a:solidFill>
                <a:effectLst/>
                <a:uLnTx/>
                <a:uFillTx/>
                <a:latin typeface="+mn-lt"/>
                <a:ea typeface="+mn-ea"/>
                <a:cs typeface="+mn-ea"/>
                <a:sym typeface="+mn-lt"/>
              </a:rPr>
              <a:t>对权值的</a:t>
            </a:r>
            <a:r>
              <a:rPr kumimoji="0" lang="zh-CN" altLang="en-US" sz="3200" b="0" i="0" u="none" strike="noStrike" kern="1200" cap="none" spc="0" normalizeH="0" baseline="0" noProof="0" dirty="0">
                <a:ln>
                  <a:noFill/>
                </a:ln>
                <a:solidFill>
                  <a:srgbClr val="FF3300"/>
                </a:solidFill>
                <a:effectLst/>
                <a:uLnTx/>
                <a:uFillTx/>
                <a:latin typeface="+mn-lt"/>
                <a:ea typeface="+mn-ea"/>
                <a:cs typeface="+mn-ea"/>
                <a:sym typeface="+mn-lt"/>
              </a:rPr>
              <a:t>合并、删除与替换</a:t>
            </a:r>
            <a:r>
              <a:rPr kumimoji="0" lang="zh-CN" altLang="en-US" sz="3200" b="0" i="0" u="none" strike="noStrike" kern="1200" cap="none" spc="0" normalizeH="0" baseline="0" noProof="0" dirty="0">
                <a:ln>
                  <a:noFill/>
                </a:ln>
                <a:solidFill>
                  <a:schemeClr val="tx1"/>
                </a:solidFill>
                <a:effectLst/>
                <a:uLnTx/>
                <a:uFillTx/>
                <a:latin typeface="+mn-lt"/>
                <a:ea typeface="+mn-ea"/>
                <a:cs typeface="+mn-ea"/>
                <a:sym typeface="+mn-lt"/>
              </a:rPr>
              <a:t>，总是合并当前值最小的两个</a:t>
            </a:r>
          </a:p>
        </p:txBody>
      </p:sp>
      <p:sp>
        <p:nvSpPr>
          <p:cNvPr id="926846" name="Rectangle 126"/>
          <p:cNvSpPr>
            <a:spLocks noChangeArrowheads="1"/>
          </p:cNvSpPr>
          <p:nvPr/>
        </p:nvSpPr>
        <p:spPr bwMode="auto">
          <a:xfrm>
            <a:off x="334963" y="1125538"/>
            <a:ext cx="8534400" cy="647700"/>
          </a:xfrm>
          <a:prstGeom prst="roundRect">
            <a:avLst/>
          </a:prstGeom>
          <a:solidFill>
            <a:srgbClr val="E2D9EB"/>
          </a:solid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3200" b="0" i="0" u="none" strike="noStrike" kern="1200" cap="none" spc="0" normalizeH="0" baseline="0" noProof="0" dirty="0">
                <a:ln>
                  <a:noFill/>
                </a:ln>
                <a:solidFill>
                  <a:srgbClr val="FF3300"/>
                </a:solidFill>
                <a:effectLst/>
                <a:uLnTx/>
                <a:uFillTx/>
                <a:latin typeface="+mn-lt"/>
                <a:ea typeface="+mn-ea"/>
                <a:cs typeface="+mn-ea"/>
                <a:sym typeface="+mn-lt"/>
              </a:rPr>
              <a:t>基本思想：</a:t>
            </a:r>
            <a:r>
              <a:rPr kumimoji="0" lang="zh-CN" altLang="en-US" sz="3200" b="0" i="0" u="none" strike="noStrike" kern="1200" cap="none" spc="0" normalizeH="0" baseline="0" noProof="0" dirty="0">
                <a:ln>
                  <a:noFill/>
                </a:ln>
                <a:solidFill>
                  <a:schemeClr val="tx1"/>
                </a:solidFill>
                <a:effectLst/>
                <a:uLnTx/>
                <a:uFillTx/>
                <a:latin typeface="+mn-lt"/>
                <a:ea typeface="+mn-ea"/>
                <a:cs typeface="+mn-ea"/>
                <a:sym typeface="+mn-lt"/>
              </a:rPr>
              <a:t>使权大的结点靠近根</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500" fill="hold"/>
                                        <p:tgtEl>
                                          <p:spTgt spid="7"/>
                                        </p:tgtEl>
                                        <p:attrNameLst>
                                          <p:attrName>ppt_x</p:attrName>
                                        </p:attrNameLst>
                                      </p:cBhvr>
                                      <p:tavLst>
                                        <p:tav tm="0">
                                          <p:val>
                                            <p:strVal val="0-#ppt_w/2"/>
                                          </p:val>
                                        </p:tav>
                                        <p:tav tm="100000">
                                          <p:val>
                                            <p:strVal val="#ppt_x"/>
                                          </p:val>
                                        </p:tav>
                                      </p:tavLst>
                                    </p:anim>
                                    <p:anim calcmode="lin" valueType="num">
                                      <p:cBhvr additive="base">
                                        <p:cTn id="14"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3" presetClass="entr" presetSubtype="10" fill="hold" grpId="0" nodeType="clickEffect">
                                  <p:stCondLst>
                                    <p:cond delay="0"/>
                                  </p:stCondLst>
                                  <p:childTnLst>
                                    <p:set>
                                      <p:cBhvr>
                                        <p:cTn id="18" dur="1" fill="hold">
                                          <p:stCondLst>
                                            <p:cond delay="0"/>
                                          </p:stCondLst>
                                        </p:cTn>
                                        <p:tgtEl>
                                          <p:spTgt spid="926842"/>
                                        </p:tgtEl>
                                        <p:attrNameLst>
                                          <p:attrName>style.visibility</p:attrName>
                                        </p:attrNameLst>
                                      </p:cBhvr>
                                      <p:to>
                                        <p:strVal val="visible"/>
                                      </p:to>
                                    </p:set>
                                    <p:animEffect transition="in" filter="blinds(horizontal)">
                                      <p:cBhvr>
                                        <p:cTn id="19" dur="500"/>
                                        <p:tgtEl>
                                          <p:spTgt spid="926842"/>
                                        </p:tgtEl>
                                      </p:cBhvr>
                                    </p:animEffect>
                                  </p:childTnLst>
                                </p:cTn>
                              </p:par>
                            </p:childTnLst>
                          </p:cTn>
                        </p:par>
                      </p:childTnLst>
                    </p:cTn>
                  </p:par>
                  <p:par>
                    <p:cTn id="20" fill="hold">
                      <p:stCondLst>
                        <p:cond delay="indefinite"/>
                      </p:stCondLst>
                      <p:childTnLst>
                        <p:par>
                          <p:cTn id="21" fill="hold">
                            <p:stCondLst>
                              <p:cond delay="0"/>
                            </p:stCondLst>
                            <p:childTnLst>
                              <p:par>
                                <p:cTn id="22" presetID="2" presetClass="entr" presetSubtype="8" fill="hold" nodeType="clickEffect">
                                  <p:stCondLst>
                                    <p:cond delay="0"/>
                                  </p:stCondLst>
                                  <p:childTnLst>
                                    <p:set>
                                      <p:cBhvr>
                                        <p:cTn id="23" dur="1" fill="hold">
                                          <p:stCondLst>
                                            <p:cond delay="0"/>
                                          </p:stCondLst>
                                        </p:cTn>
                                        <p:tgtEl>
                                          <p:spTgt spid="14"/>
                                        </p:tgtEl>
                                        <p:attrNameLst>
                                          <p:attrName>style.visibility</p:attrName>
                                        </p:attrNameLst>
                                      </p:cBhvr>
                                      <p:to>
                                        <p:strVal val="visible"/>
                                      </p:to>
                                    </p:set>
                                    <p:anim calcmode="lin" valueType="num">
                                      <p:cBhvr additive="base">
                                        <p:cTn id="24" dur="500" fill="hold"/>
                                        <p:tgtEl>
                                          <p:spTgt spid="14"/>
                                        </p:tgtEl>
                                        <p:attrNameLst>
                                          <p:attrName>ppt_x</p:attrName>
                                        </p:attrNameLst>
                                      </p:cBhvr>
                                      <p:tavLst>
                                        <p:tav tm="0">
                                          <p:val>
                                            <p:strVal val="0-#ppt_w/2"/>
                                          </p:val>
                                        </p:tav>
                                        <p:tav tm="100000">
                                          <p:val>
                                            <p:strVal val="#ppt_x"/>
                                          </p:val>
                                        </p:tav>
                                      </p:tavLst>
                                    </p:anim>
                                    <p:anim calcmode="lin" valueType="num">
                                      <p:cBhvr additive="base">
                                        <p:cTn id="25"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3" presetClass="entr" presetSubtype="10" fill="hold" grpId="0" nodeType="clickEffect">
                                  <p:stCondLst>
                                    <p:cond delay="0"/>
                                  </p:stCondLst>
                                  <p:childTnLst>
                                    <p:set>
                                      <p:cBhvr>
                                        <p:cTn id="29" dur="1" fill="hold">
                                          <p:stCondLst>
                                            <p:cond delay="0"/>
                                          </p:stCondLst>
                                        </p:cTn>
                                        <p:tgtEl>
                                          <p:spTgt spid="926843"/>
                                        </p:tgtEl>
                                        <p:attrNameLst>
                                          <p:attrName>style.visibility</p:attrName>
                                        </p:attrNameLst>
                                      </p:cBhvr>
                                      <p:to>
                                        <p:strVal val="visible"/>
                                      </p:to>
                                    </p:set>
                                    <p:animEffect transition="in" filter="blinds(horizontal)">
                                      <p:cBhvr>
                                        <p:cTn id="30" dur="500"/>
                                        <p:tgtEl>
                                          <p:spTgt spid="926843"/>
                                        </p:tgtEl>
                                      </p:cBhvr>
                                    </p:animEffect>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3"/>
                                        </p:tgtEl>
                                        <p:attrNameLst>
                                          <p:attrName>style.visibility</p:attrName>
                                        </p:attrNameLst>
                                      </p:cBhvr>
                                      <p:to>
                                        <p:strVal val="visible"/>
                                      </p:to>
                                    </p:set>
                                    <p:anim calcmode="lin" valueType="num">
                                      <p:cBhvr additive="base">
                                        <p:cTn id="35" dur="500" fill="hold"/>
                                        <p:tgtEl>
                                          <p:spTgt spid="23"/>
                                        </p:tgtEl>
                                        <p:attrNameLst>
                                          <p:attrName>ppt_x</p:attrName>
                                        </p:attrNameLst>
                                      </p:cBhvr>
                                      <p:tavLst>
                                        <p:tav tm="0">
                                          <p:val>
                                            <p:strVal val="0-#ppt_w/2"/>
                                          </p:val>
                                        </p:tav>
                                        <p:tav tm="100000">
                                          <p:val>
                                            <p:strVal val="#ppt_x"/>
                                          </p:val>
                                        </p:tav>
                                      </p:tavLst>
                                    </p:anim>
                                    <p:anim calcmode="lin" valueType="num">
                                      <p:cBhvr additive="base">
                                        <p:cTn id="36"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78849"/>
                                        </p:tgtEl>
                                        <p:attrNameLst>
                                          <p:attrName>style.visibility</p:attrName>
                                        </p:attrNameLst>
                                      </p:cBhvr>
                                      <p:to>
                                        <p:strVal val="visible"/>
                                      </p:to>
                                    </p:set>
                                    <p:anim calcmode="lin" valueType="num">
                                      <p:cBhvr additive="base">
                                        <p:cTn id="41" dur="500" fill="hold"/>
                                        <p:tgtEl>
                                          <p:spTgt spid="78849"/>
                                        </p:tgtEl>
                                        <p:attrNameLst>
                                          <p:attrName>ppt_x</p:attrName>
                                        </p:attrNameLst>
                                      </p:cBhvr>
                                      <p:tavLst>
                                        <p:tav tm="0">
                                          <p:val>
                                            <p:strVal val="0-#ppt_w/2"/>
                                          </p:val>
                                        </p:tav>
                                        <p:tav tm="100000">
                                          <p:val>
                                            <p:strVal val="#ppt_x"/>
                                          </p:val>
                                        </p:tav>
                                      </p:tavLst>
                                    </p:anim>
                                    <p:anim calcmode="lin" valueType="num">
                                      <p:cBhvr additive="base">
                                        <p:cTn id="42" dur="500" fill="hold"/>
                                        <p:tgtEl>
                                          <p:spTgt spid="78849"/>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926846"/>
                                        </p:tgtEl>
                                        <p:attrNameLst>
                                          <p:attrName>style.visibility</p:attrName>
                                        </p:attrNameLst>
                                      </p:cBhvr>
                                      <p:to>
                                        <p:strVal val="visible"/>
                                      </p:to>
                                    </p:set>
                                    <p:anim calcmode="lin" valueType="num">
                                      <p:cBhvr additive="base">
                                        <p:cTn id="47" dur="500" fill="hold"/>
                                        <p:tgtEl>
                                          <p:spTgt spid="926846"/>
                                        </p:tgtEl>
                                        <p:attrNameLst>
                                          <p:attrName>ppt_x</p:attrName>
                                        </p:attrNameLst>
                                      </p:cBhvr>
                                      <p:tavLst>
                                        <p:tav tm="0">
                                          <p:val>
                                            <p:strVal val="#ppt_x"/>
                                          </p:val>
                                        </p:tav>
                                        <p:tav tm="100000">
                                          <p:val>
                                            <p:strVal val="#ppt_x"/>
                                          </p:val>
                                        </p:tav>
                                      </p:tavLst>
                                    </p:anim>
                                    <p:anim calcmode="lin" valueType="num">
                                      <p:cBhvr additive="base">
                                        <p:cTn id="48" dur="500" fill="hold"/>
                                        <p:tgtEl>
                                          <p:spTgt spid="926846"/>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926846"/>
                                        </p:tgtEl>
                                        <p:attrNameLst>
                                          <p:attrName>style.visibility</p:attrName>
                                        </p:attrNameLst>
                                      </p:cBhvr>
                                      <p:to>
                                        <p:strVal val="hidden"/>
                                      </p:to>
                                    </p:set>
                                  </p:sub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926845"/>
                                        </p:tgtEl>
                                        <p:attrNameLst>
                                          <p:attrName>style.visibility</p:attrName>
                                        </p:attrNameLst>
                                      </p:cBhvr>
                                      <p:to>
                                        <p:strVal val="visible"/>
                                      </p:to>
                                    </p:set>
                                    <p:anim calcmode="lin" valueType="num">
                                      <p:cBhvr additive="base">
                                        <p:cTn id="53" dur="500" fill="hold"/>
                                        <p:tgtEl>
                                          <p:spTgt spid="926845"/>
                                        </p:tgtEl>
                                        <p:attrNameLst>
                                          <p:attrName>ppt_x</p:attrName>
                                        </p:attrNameLst>
                                      </p:cBhvr>
                                      <p:tavLst>
                                        <p:tav tm="0">
                                          <p:val>
                                            <p:strVal val="#ppt_x"/>
                                          </p:val>
                                        </p:tav>
                                        <p:tav tm="100000">
                                          <p:val>
                                            <p:strVal val="#ppt_x"/>
                                          </p:val>
                                        </p:tav>
                                      </p:tavLst>
                                    </p:anim>
                                    <p:anim calcmode="lin" valueType="num">
                                      <p:cBhvr additive="base">
                                        <p:cTn id="54" dur="500" fill="hold"/>
                                        <p:tgtEl>
                                          <p:spTgt spid="92684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6842" grpId="0" animBg="1"/>
      <p:bldP spid="926843" grpId="0" animBg="1"/>
      <p:bldP spid="926845" grpId="0" animBg="1"/>
      <p:bldP spid="926846" grpId="0" animBg="1"/>
    </p:bldLst>
  </p:timing>
</p:sld>
</file>

<file path=ppt/slides/slide1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6498" name="圆角矩形 3"/>
          <p:cNvSpPr/>
          <p:nvPr/>
        </p:nvSpPr>
        <p:spPr>
          <a:xfrm>
            <a:off x="2195513" y="3028950"/>
            <a:ext cx="6697662" cy="2763838"/>
          </a:xfrm>
          <a:prstGeom prst="roundRect">
            <a:avLst>
              <a:gd name="adj" fmla="val 3801"/>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97282" name="Rectangle 4"/>
          <p:cNvSpPr>
            <a:spLocks noChangeArrowheads="1"/>
          </p:cNvSpPr>
          <p:nvPr/>
        </p:nvSpPr>
        <p:spPr bwMode="auto">
          <a:xfrm>
            <a:off x="228600" y="1125538"/>
            <a:ext cx="8664575" cy="511175"/>
          </a:xfrm>
          <a:prstGeom prst="roundRect">
            <a:avLst/>
          </a:prstGeom>
          <a:solidFill>
            <a:srgbClr val="A78DC2"/>
          </a:solidFill>
          <a:ln w="9525">
            <a:solidFill>
              <a:srgbClr val="E2D9EB"/>
            </a:solidFill>
            <a:miter lim="800000"/>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基本思想：概率大的字符用短码，小的用长码，构造哈夫曼树</a:t>
            </a:r>
          </a:p>
        </p:txBody>
      </p:sp>
      <p:sp>
        <p:nvSpPr>
          <p:cNvPr id="97283" name="Rectangle 5"/>
          <p:cNvSpPr>
            <a:spLocks noChangeArrowheads="1"/>
          </p:cNvSpPr>
          <p:nvPr/>
        </p:nvSpPr>
        <p:spPr bwMode="auto">
          <a:xfrm>
            <a:off x="793750" y="241300"/>
            <a:ext cx="45688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哈夫曼编码的构造</a:t>
            </a:r>
          </a:p>
        </p:txBody>
      </p:sp>
      <p:sp>
        <p:nvSpPr>
          <p:cNvPr id="797702" name="Text Box 6"/>
          <p:cNvSpPr txBox="1">
            <a:spLocks noChangeArrowheads="1"/>
          </p:cNvSpPr>
          <p:nvPr/>
        </p:nvSpPr>
        <p:spPr bwMode="auto">
          <a:xfrm>
            <a:off x="241300" y="1708150"/>
            <a:ext cx="8664575" cy="1209675"/>
          </a:xfrm>
          <a:prstGeom prst="roundRect">
            <a:avLst>
              <a:gd name="adj" fmla="val 7212"/>
            </a:avLst>
          </a:prstGeom>
          <a:solidFill>
            <a:schemeClr val="bg2">
              <a:lumMod val="20000"/>
              <a:lumOff val="80000"/>
            </a:schemeClr>
          </a:solidFill>
          <a:ln w="28575">
            <a:noFill/>
            <a:miter lim="800000"/>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25000"/>
              </a:lnSpc>
              <a:spcBef>
                <a:spcPct val="0"/>
              </a:spcBef>
              <a:spcAft>
                <a:spcPct val="0"/>
              </a:spcAft>
              <a:buClrTx/>
              <a:buSzTx/>
              <a:buFont typeface="Wingdings" panose="05000000000000000000" pitchFamily="2" charset="2"/>
              <a:buNone/>
              <a:defRPr/>
            </a:pP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例：某系统在通讯时，只出现</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C</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A</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S</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T</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B</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五种字符，其出现频率依次为</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2</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4</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2</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3</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，试设计</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Huffman</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编码。 </a:t>
            </a:r>
          </a:p>
        </p:txBody>
      </p:sp>
      <p:grpSp>
        <p:nvGrpSpPr>
          <p:cNvPr id="2" name="Group 39"/>
          <p:cNvGrpSpPr/>
          <p:nvPr/>
        </p:nvGrpSpPr>
        <p:grpSpPr>
          <a:xfrm>
            <a:off x="3697288" y="3090863"/>
            <a:ext cx="3962400" cy="2743200"/>
            <a:chOff x="3096" y="1468"/>
            <a:chExt cx="2496" cy="1728"/>
          </a:xfrm>
        </p:grpSpPr>
        <p:sp>
          <p:nvSpPr>
            <p:cNvPr id="97286" name="Oval 7"/>
            <p:cNvSpPr>
              <a:spLocks noChangeArrowheads="1"/>
            </p:cNvSpPr>
            <p:nvPr/>
          </p:nvSpPr>
          <p:spPr bwMode="auto">
            <a:xfrm>
              <a:off x="4008" y="1468"/>
              <a:ext cx="288" cy="288"/>
            </a:xfrm>
            <a:prstGeom prst="ellipse">
              <a:avLst/>
            </a:prstGeom>
            <a:solidFill>
              <a:srgbClr val="F2ED2C"/>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14</a:t>
              </a:r>
            </a:p>
          </p:txBody>
        </p:sp>
        <p:sp>
          <p:nvSpPr>
            <p:cNvPr id="97287" name="Oval 8"/>
            <p:cNvSpPr>
              <a:spLocks noChangeArrowheads="1"/>
            </p:cNvSpPr>
            <p:nvPr/>
          </p:nvSpPr>
          <p:spPr bwMode="auto">
            <a:xfrm>
              <a:off x="4584" y="1900"/>
              <a:ext cx="288" cy="288"/>
            </a:xfrm>
            <a:prstGeom prst="ellipse">
              <a:avLst/>
            </a:prstGeom>
            <a:solidFill>
              <a:srgbClr val="F2ED2C"/>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8</a:t>
              </a:r>
            </a:p>
          </p:txBody>
        </p:sp>
        <p:sp>
          <p:nvSpPr>
            <p:cNvPr id="97288" name="Oval 9"/>
            <p:cNvSpPr>
              <a:spLocks noChangeArrowheads="1"/>
            </p:cNvSpPr>
            <p:nvPr/>
          </p:nvSpPr>
          <p:spPr bwMode="auto">
            <a:xfrm>
              <a:off x="4920" y="2236"/>
              <a:ext cx="288" cy="288"/>
            </a:xfrm>
            <a:prstGeom prst="ellipse">
              <a:avLst/>
            </a:prstGeom>
            <a:solidFill>
              <a:srgbClr val="F2ED2C"/>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4</a:t>
              </a:r>
            </a:p>
          </p:txBody>
        </p:sp>
        <p:sp>
          <p:nvSpPr>
            <p:cNvPr id="97289" name="Oval 10"/>
            <p:cNvSpPr>
              <a:spLocks noChangeArrowheads="1"/>
            </p:cNvSpPr>
            <p:nvPr/>
          </p:nvSpPr>
          <p:spPr bwMode="auto">
            <a:xfrm>
              <a:off x="3528" y="1948"/>
              <a:ext cx="288" cy="288"/>
            </a:xfrm>
            <a:prstGeom prst="ellipse">
              <a:avLst/>
            </a:prstGeom>
            <a:solidFill>
              <a:srgbClr val="F2ED2C"/>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6</a:t>
              </a:r>
            </a:p>
          </p:txBody>
        </p:sp>
        <p:sp>
          <p:nvSpPr>
            <p:cNvPr id="97290" name="Oval 11"/>
            <p:cNvSpPr>
              <a:spLocks noChangeArrowheads="1"/>
            </p:cNvSpPr>
            <p:nvPr/>
          </p:nvSpPr>
          <p:spPr bwMode="auto">
            <a:xfrm>
              <a:off x="4296" y="2284"/>
              <a:ext cx="288" cy="288"/>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4</a:t>
              </a:r>
            </a:p>
          </p:txBody>
        </p:sp>
        <p:sp>
          <p:nvSpPr>
            <p:cNvPr id="97291" name="Oval 12"/>
            <p:cNvSpPr>
              <a:spLocks noChangeArrowheads="1"/>
            </p:cNvSpPr>
            <p:nvPr/>
          </p:nvSpPr>
          <p:spPr bwMode="auto">
            <a:xfrm>
              <a:off x="4632" y="2620"/>
              <a:ext cx="288" cy="288"/>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2</a:t>
              </a:r>
            </a:p>
          </p:txBody>
        </p:sp>
        <p:sp>
          <p:nvSpPr>
            <p:cNvPr id="97292" name="Oval 13"/>
            <p:cNvSpPr>
              <a:spLocks noChangeArrowheads="1"/>
            </p:cNvSpPr>
            <p:nvPr/>
          </p:nvSpPr>
          <p:spPr bwMode="auto">
            <a:xfrm>
              <a:off x="5208" y="2620"/>
              <a:ext cx="288" cy="288"/>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2</a:t>
              </a:r>
            </a:p>
          </p:txBody>
        </p:sp>
        <p:sp>
          <p:nvSpPr>
            <p:cNvPr id="97293" name="Line 14"/>
            <p:cNvSpPr>
              <a:spLocks noChangeShapeType="1"/>
            </p:cNvSpPr>
            <p:nvPr/>
          </p:nvSpPr>
          <p:spPr bwMode="auto">
            <a:xfrm>
              <a:off x="4296" y="1708"/>
              <a:ext cx="336"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7294" name="Line 15"/>
            <p:cNvSpPr>
              <a:spLocks noChangeShapeType="1"/>
            </p:cNvSpPr>
            <p:nvPr/>
          </p:nvSpPr>
          <p:spPr bwMode="auto">
            <a:xfrm flipH="1">
              <a:off x="4536" y="2188"/>
              <a:ext cx="96" cy="1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7295" name="Line 16"/>
            <p:cNvSpPr>
              <a:spLocks noChangeShapeType="1"/>
            </p:cNvSpPr>
            <p:nvPr/>
          </p:nvSpPr>
          <p:spPr bwMode="auto">
            <a:xfrm flipH="1">
              <a:off x="4824" y="2476"/>
              <a:ext cx="144" cy="1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7296" name="Line 17"/>
            <p:cNvSpPr>
              <a:spLocks noChangeShapeType="1"/>
            </p:cNvSpPr>
            <p:nvPr/>
          </p:nvSpPr>
          <p:spPr bwMode="auto">
            <a:xfrm>
              <a:off x="5160" y="2524"/>
              <a:ext cx="96" cy="1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7297" name="Line 18"/>
            <p:cNvSpPr>
              <a:spLocks noChangeShapeType="1"/>
            </p:cNvSpPr>
            <p:nvPr/>
          </p:nvSpPr>
          <p:spPr bwMode="auto">
            <a:xfrm>
              <a:off x="4824" y="2140"/>
              <a:ext cx="144" cy="1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7298" name="Text Box 19"/>
            <p:cNvSpPr txBox="1">
              <a:spLocks noChangeArrowheads="1"/>
            </p:cNvSpPr>
            <p:nvPr/>
          </p:nvSpPr>
          <p:spPr bwMode="auto">
            <a:xfrm>
              <a:off x="3480" y="1708"/>
              <a:ext cx="3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7299" name="Text Box 20"/>
            <p:cNvSpPr txBox="1">
              <a:spLocks noChangeArrowheads="1"/>
            </p:cNvSpPr>
            <p:nvPr/>
          </p:nvSpPr>
          <p:spPr bwMode="auto">
            <a:xfrm>
              <a:off x="4296" y="2044"/>
              <a:ext cx="3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7300" name="Text Box 21"/>
            <p:cNvSpPr txBox="1">
              <a:spLocks noChangeArrowheads="1"/>
            </p:cNvSpPr>
            <p:nvPr/>
          </p:nvSpPr>
          <p:spPr bwMode="auto">
            <a:xfrm>
              <a:off x="4680" y="2380"/>
              <a:ext cx="3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7301" name="Text Box 22"/>
            <p:cNvSpPr txBox="1">
              <a:spLocks noChangeArrowheads="1"/>
            </p:cNvSpPr>
            <p:nvPr/>
          </p:nvSpPr>
          <p:spPr bwMode="auto">
            <a:xfrm>
              <a:off x="4632" y="1612"/>
              <a:ext cx="3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7302" name="Text Box 23"/>
            <p:cNvSpPr txBox="1">
              <a:spLocks noChangeArrowheads="1"/>
            </p:cNvSpPr>
            <p:nvPr/>
          </p:nvSpPr>
          <p:spPr bwMode="auto">
            <a:xfrm>
              <a:off x="4968" y="1996"/>
              <a:ext cx="3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7303" name="Text Box 24"/>
            <p:cNvSpPr txBox="1">
              <a:spLocks noChangeArrowheads="1"/>
            </p:cNvSpPr>
            <p:nvPr/>
          </p:nvSpPr>
          <p:spPr bwMode="auto">
            <a:xfrm>
              <a:off x="5256" y="2380"/>
              <a:ext cx="3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7304" name="Line 25"/>
            <p:cNvSpPr>
              <a:spLocks noChangeShapeType="1"/>
            </p:cNvSpPr>
            <p:nvPr/>
          </p:nvSpPr>
          <p:spPr bwMode="auto">
            <a:xfrm flipH="1">
              <a:off x="3768" y="1708"/>
              <a:ext cx="288"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7305" name="Oval 26"/>
            <p:cNvSpPr>
              <a:spLocks noChangeArrowheads="1"/>
            </p:cNvSpPr>
            <p:nvPr/>
          </p:nvSpPr>
          <p:spPr bwMode="auto">
            <a:xfrm>
              <a:off x="3144" y="2284"/>
              <a:ext cx="288" cy="288"/>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3</a:t>
              </a:r>
            </a:p>
          </p:txBody>
        </p:sp>
        <p:sp>
          <p:nvSpPr>
            <p:cNvPr id="97306" name="Oval 27"/>
            <p:cNvSpPr>
              <a:spLocks noChangeArrowheads="1"/>
            </p:cNvSpPr>
            <p:nvPr/>
          </p:nvSpPr>
          <p:spPr bwMode="auto">
            <a:xfrm>
              <a:off x="3816" y="2284"/>
              <a:ext cx="288" cy="288"/>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3</a:t>
              </a:r>
            </a:p>
          </p:txBody>
        </p:sp>
        <p:sp>
          <p:nvSpPr>
            <p:cNvPr id="97307" name="Line 28"/>
            <p:cNvSpPr>
              <a:spLocks noChangeShapeType="1"/>
            </p:cNvSpPr>
            <p:nvPr/>
          </p:nvSpPr>
          <p:spPr bwMode="auto">
            <a:xfrm flipH="1">
              <a:off x="3336" y="2188"/>
              <a:ext cx="240" cy="1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7308" name="Line 29"/>
            <p:cNvSpPr>
              <a:spLocks noChangeShapeType="1"/>
            </p:cNvSpPr>
            <p:nvPr/>
          </p:nvSpPr>
          <p:spPr bwMode="auto">
            <a:xfrm>
              <a:off x="3768" y="2188"/>
              <a:ext cx="96" cy="1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7309" name="Text Box 30"/>
            <p:cNvSpPr txBox="1">
              <a:spLocks noChangeArrowheads="1"/>
            </p:cNvSpPr>
            <p:nvPr/>
          </p:nvSpPr>
          <p:spPr bwMode="auto">
            <a:xfrm>
              <a:off x="3096" y="2044"/>
              <a:ext cx="3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0</a:t>
              </a:r>
            </a:p>
          </p:txBody>
        </p:sp>
        <p:sp>
          <p:nvSpPr>
            <p:cNvPr id="97310" name="Text Box 31"/>
            <p:cNvSpPr txBox="1">
              <a:spLocks noChangeArrowheads="1"/>
            </p:cNvSpPr>
            <p:nvPr/>
          </p:nvSpPr>
          <p:spPr bwMode="auto">
            <a:xfrm>
              <a:off x="3864" y="2044"/>
              <a:ext cx="3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1</a:t>
              </a:r>
            </a:p>
          </p:txBody>
        </p:sp>
        <p:sp>
          <p:nvSpPr>
            <p:cNvPr id="97311" name="Text Box 32"/>
            <p:cNvSpPr txBox="1">
              <a:spLocks noChangeArrowheads="1"/>
            </p:cNvSpPr>
            <p:nvPr/>
          </p:nvSpPr>
          <p:spPr bwMode="auto">
            <a:xfrm>
              <a:off x="3096" y="2572"/>
              <a:ext cx="5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 T</a:t>
              </a:r>
            </a:p>
          </p:txBody>
        </p:sp>
        <p:sp>
          <p:nvSpPr>
            <p:cNvPr id="97312" name="Text Box 33"/>
            <p:cNvSpPr txBox="1">
              <a:spLocks noChangeArrowheads="1"/>
            </p:cNvSpPr>
            <p:nvPr/>
          </p:nvSpPr>
          <p:spPr bwMode="auto">
            <a:xfrm>
              <a:off x="3720" y="2572"/>
              <a:ext cx="5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 B</a:t>
              </a:r>
            </a:p>
          </p:txBody>
        </p:sp>
        <p:sp>
          <p:nvSpPr>
            <p:cNvPr id="97313" name="Text Box 34"/>
            <p:cNvSpPr txBox="1">
              <a:spLocks noChangeArrowheads="1"/>
            </p:cNvSpPr>
            <p:nvPr/>
          </p:nvSpPr>
          <p:spPr bwMode="auto">
            <a:xfrm>
              <a:off x="4104" y="2524"/>
              <a:ext cx="5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 A</a:t>
              </a:r>
            </a:p>
          </p:txBody>
        </p:sp>
        <p:sp>
          <p:nvSpPr>
            <p:cNvPr id="97314" name="Text Box 35"/>
            <p:cNvSpPr txBox="1">
              <a:spLocks noChangeArrowheads="1"/>
            </p:cNvSpPr>
            <p:nvPr/>
          </p:nvSpPr>
          <p:spPr bwMode="auto">
            <a:xfrm>
              <a:off x="4440" y="2860"/>
              <a:ext cx="5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tx1"/>
                  </a:solidFill>
                  <a:effectLst/>
                  <a:uLnTx/>
                  <a:uFillTx/>
                  <a:latin typeface="+mn-lt"/>
                  <a:ea typeface="+mn-ea"/>
                  <a:cs typeface="+mn-ea"/>
                  <a:sym typeface="+mn-lt"/>
                </a:rPr>
                <a:t> C</a:t>
              </a:r>
            </a:p>
          </p:txBody>
        </p:sp>
        <p:sp>
          <p:nvSpPr>
            <p:cNvPr id="97315" name="Text Box 36"/>
            <p:cNvSpPr txBox="1">
              <a:spLocks noChangeArrowheads="1"/>
            </p:cNvSpPr>
            <p:nvPr/>
          </p:nvSpPr>
          <p:spPr bwMode="auto">
            <a:xfrm>
              <a:off x="5064" y="2908"/>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S</a:t>
              </a:r>
            </a:p>
          </p:txBody>
        </p:sp>
      </p:grpSp>
      <p:sp>
        <p:nvSpPr>
          <p:cNvPr id="797734" name="Rectangle 38"/>
          <p:cNvSpPr>
            <a:spLocks noChangeArrowheads="1"/>
          </p:cNvSpPr>
          <p:nvPr/>
        </p:nvSpPr>
        <p:spPr bwMode="auto">
          <a:xfrm>
            <a:off x="266700" y="3016250"/>
            <a:ext cx="1727200" cy="2741613"/>
          </a:xfrm>
          <a:prstGeom prst="roundRect">
            <a:avLst>
              <a:gd name="adj" fmla="val 7255"/>
            </a:avLst>
          </a:prstGeom>
          <a:solidFill>
            <a:srgbClr val="E2D9EB"/>
          </a:solidFill>
          <a:ln>
            <a:noFill/>
          </a:ln>
        </p:spPr>
        <p:txBody>
          <a:bodyPr anchor="ctr">
            <a:spAutoFit/>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T</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00</a:t>
            </a:r>
          </a:p>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B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01</a:t>
            </a:r>
          </a:p>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10 </a:t>
            </a:r>
          </a:p>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C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110 </a:t>
            </a:r>
          </a:p>
          <a:p>
            <a:pPr marL="342900" marR="0" lvl="0" indent="-342900" algn="ctr"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 S</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111</a:t>
            </a:r>
          </a:p>
        </p:txBody>
      </p:sp>
      <p:grpSp>
        <p:nvGrpSpPr>
          <p:cNvPr id="3" name="Group 42"/>
          <p:cNvGrpSpPr/>
          <p:nvPr/>
        </p:nvGrpSpPr>
        <p:grpSpPr>
          <a:xfrm>
            <a:off x="2238375" y="5945188"/>
            <a:ext cx="2922588" cy="579437"/>
            <a:chOff x="1495" y="3505"/>
            <a:chExt cx="1841" cy="365"/>
          </a:xfrm>
        </p:grpSpPr>
        <p:sp>
          <p:nvSpPr>
            <p:cNvPr id="97318" name="Text Box 40"/>
            <p:cNvSpPr txBox="1">
              <a:spLocks noChangeArrowheads="1"/>
            </p:cNvSpPr>
            <p:nvPr/>
          </p:nvSpPr>
          <p:spPr bwMode="auto">
            <a:xfrm>
              <a:off x="2616" y="3505"/>
              <a:ext cx="720"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zh-CN" altLang="en-US" sz="3200" b="0" i="0" u="none" strike="noStrike" kern="1200" cap="none" spc="0" normalizeH="0" baseline="0" noProof="0" dirty="0">
                  <a:ln>
                    <a:noFill/>
                  </a:ln>
                  <a:solidFill>
                    <a:schemeClr val="tx1"/>
                  </a:solidFill>
                  <a:effectLst/>
                  <a:uLnTx/>
                  <a:uFillTx/>
                  <a:latin typeface="+mn-lt"/>
                  <a:ea typeface="+mn-ea"/>
                  <a:cs typeface="+mn-ea"/>
                  <a:sym typeface="+mn-lt"/>
                </a:rPr>
                <a:t>例</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5.2</a:t>
              </a:r>
            </a:p>
          </p:txBody>
        </p:sp>
        <p:sp>
          <p:nvSpPr>
            <p:cNvPr id="97319" name="AutoShape 41"/>
            <p:cNvSpPr>
              <a:spLocks noChangeArrowheads="1"/>
            </p:cNvSpPr>
            <p:nvPr/>
          </p:nvSpPr>
          <p:spPr bwMode="auto">
            <a:xfrm>
              <a:off x="1495" y="3566"/>
              <a:ext cx="1089" cy="227"/>
            </a:xfrm>
            <a:prstGeom prst="rightArrow">
              <a:avLst>
                <a:gd name="adj1" fmla="val 50000"/>
                <a:gd name="adj2" fmla="val 119890"/>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Tree>
  </p:cSld>
  <p:clrMapOvr>
    <a:masterClrMapping/>
  </p:clrMapOvr>
  <p:transition>
    <p:zoom dir="in"/>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97702"/>
                                        </p:tgtEl>
                                        <p:attrNameLst>
                                          <p:attrName>style.visibility</p:attrName>
                                        </p:attrNameLst>
                                      </p:cBhvr>
                                      <p:to>
                                        <p:strVal val="visible"/>
                                      </p:to>
                                    </p:set>
                                    <p:anim calcmode="lin" valueType="num">
                                      <p:cBhvr additive="base">
                                        <p:cTn id="7" dur="500" fill="hold"/>
                                        <p:tgtEl>
                                          <p:spTgt spid="797702"/>
                                        </p:tgtEl>
                                        <p:attrNameLst>
                                          <p:attrName>ppt_x</p:attrName>
                                        </p:attrNameLst>
                                      </p:cBhvr>
                                      <p:tavLst>
                                        <p:tav tm="0">
                                          <p:val>
                                            <p:strVal val="#ppt_x"/>
                                          </p:val>
                                        </p:tav>
                                        <p:tav tm="100000">
                                          <p:val>
                                            <p:strVal val="#ppt_x"/>
                                          </p:val>
                                        </p:tav>
                                      </p:tavLst>
                                    </p:anim>
                                    <p:anim calcmode="lin" valueType="num">
                                      <p:cBhvr additive="base">
                                        <p:cTn id="8" dur="500" fill="hold"/>
                                        <p:tgtEl>
                                          <p:spTgt spid="79770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106498"/>
                                        </p:tgtEl>
                                        <p:attrNameLst>
                                          <p:attrName>style.visibility</p:attrName>
                                        </p:attrNameLst>
                                      </p:cBhvr>
                                      <p:to>
                                        <p:strVal val="visible"/>
                                      </p:to>
                                    </p:set>
                                    <p:animEffect transition="in" filter="fade">
                                      <p:cBhvr>
                                        <p:cTn id="13" dur="1000"/>
                                        <p:tgtEl>
                                          <p:spTgt spid="106498"/>
                                        </p:tgtEl>
                                      </p:cBhvr>
                                    </p:animEffect>
                                    <p:anim calcmode="lin" valueType="num">
                                      <p:cBhvr>
                                        <p:cTn id="14" dur="1000" fill="hold"/>
                                        <p:tgtEl>
                                          <p:spTgt spid="106498"/>
                                        </p:tgtEl>
                                        <p:attrNameLst>
                                          <p:attrName>ppt_x</p:attrName>
                                        </p:attrNameLst>
                                      </p:cBhvr>
                                      <p:tavLst>
                                        <p:tav tm="0">
                                          <p:val>
                                            <p:strVal val="#ppt_x"/>
                                          </p:val>
                                        </p:tav>
                                        <p:tav tm="100000">
                                          <p:val>
                                            <p:strVal val="#ppt_x"/>
                                          </p:val>
                                        </p:tav>
                                      </p:tavLst>
                                    </p:anim>
                                    <p:anim calcmode="lin" valueType="num">
                                      <p:cBhvr>
                                        <p:cTn id="15" dur="1000" fill="hold"/>
                                        <p:tgtEl>
                                          <p:spTgt spid="106498"/>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 presetClass="entr" presetSubtype="4" fill="hold" nodeType="clickEffect">
                                  <p:stCondLst>
                                    <p:cond delay="0"/>
                                  </p:stCondLst>
                                  <p:childTnLst>
                                    <p:set>
                                      <p:cBhvr>
                                        <p:cTn id="19" dur="1" fill="hold">
                                          <p:stCondLst>
                                            <p:cond delay="0"/>
                                          </p:stCondLst>
                                        </p:cTn>
                                        <p:tgtEl>
                                          <p:spTgt spid="2"/>
                                        </p:tgtEl>
                                        <p:attrNameLst>
                                          <p:attrName>style.visibility</p:attrName>
                                        </p:attrNameLst>
                                      </p:cBhvr>
                                      <p:to>
                                        <p:strVal val="visible"/>
                                      </p:to>
                                    </p:set>
                                    <p:anim calcmode="lin" valueType="num">
                                      <p:cBhvr additive="base">
                                        <p:cTn id="20" dur="500" fill="hold"/>
                                        <p:tgtEl>
                                          <p:spTgt spid="2"/>
                                        </p:tgtEl>
                                        <p:attrNameLst>
                                          <p:attrName>ppt_x</p:attrName>
                                        </p:attrNameLst>
                                      </p:cBhvr>
                                      <p:tavLst>
                                        <p:tav tm="0">
                                          <p:val>
                                            <p:strVal val="#ppt_x"/>
                                          </p:val>
                                        </p:tav>
                                        <p:tav tm="100000">
                                          <p:val>
                                            <p:strVal val="#ppt_x"/>
                                          </p:val>
                                        </p:tav>
                                      </p:tavLst>
                                    </p:anim>
                                    <p:anim calcmode="lin" valueType="num">
                                      <p:cBhvr additive="base">
                                        <p:cTn id="21"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grpId="0" nodeType="clickEffect">
                                  <p:stCondLst>
                                    <p:cond delay="0"/>
                                  </p:stCondLst>
                                  <p:childTnLst>
                                    <p:set>
                                      <p:cBhvr>
                                        <p:cTn id="25" dur="1" fill="hold">
                                          <p:stCondLst>
                                            <p:cond delay="0"/>
                                          </p:stCondLst>
                                        </p:cTn>
                                        <p:tgtEl>
                                          <p:spTgt spid="797734"/>
                                        </p:tgtEl>
                                        <p:attrNameLst>
                                          <p:attrName>style.visibility</p:attrName>
                                        </p:attrNameLst>
                                      </p:cBhvr>
                                      <p:to>
                                        <p:strVal val="visible"/>
                                      </p:to>
                                    </p:set>
                                    <p:anim calcmode="lin" valueType="num">
                                      <p:cBhvr additive="base">
                                        <p:cTn id="26" dur="500" fill="hold"/>
                                        <p:tgtEl>
                                          <p:spTgt spid="797734"/>
                                        </p:tgtEl>
                                        <p:attrNameLst>
                                          <p:attrName>ppt_x</p:attrName>
                                        </p:attrNameLst>
                                      </p:cBhvr>
                                      <p:tavLst>
                                        <p:tav tm="0">
                                          <p:val>
                                            <p:strVal val="#ppt_x"/>
                                          </p:val>
                                        </p:tav>
                                        <p:tav tm="100000">
                                          <p:val>
                                            <p:strVal val="#ppt_x"/>
                                          </p:val>
                                        </p:tav>
                                      </p:tavLst>
                                    </p:anim>
                                    <p:anim calcmode="lin" valueType="num">
                                      <p:cBhvr additive="base">
                                        <p:cTn id="27" dur="500" fill="hold"/>
                                        <p:tgtEl>
                                          <p:spTgt spid="797734"/>
                                        </p:tgtEl>
                                        <p:attrNameLst>
                                          <p:attrName>ppt_y</p:attrName>
                                        </p:attrNameLst>
                                      </p:cBhvr>
                                      <p:tavLst>
                                        <p:tav tm="0">
                                          <p:val>
                                            <p:strVal val="1+#ppt_h/2"/>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 presetClass="entr" presetSubtype="4" fill="hold" nodeType="clickEffect">
                                  <p:stCondLst>
                                    <p:cond delay="0"/>
                                  </p:stCondLst>
                                  <p:childTnLst>
                                    <p:set>
                                      <p:cBhvr>
                                        <p:cTn id="31" dur="1" fill="hold">
                                          <p:stCondLst>
                                            <p:cond delay="0"/>
                                          </p:stCondLst>
                                        </p:cTn>
                                        <p:tgtEl>
                                          <p:spTgt spid="3"/>
                                        </p:tgtEl>
                                        <p:attrNameLst>
                                          <p:attrName>style.visibility</p:attrName>
                                        </p:attrNameLst>
                                      </p:cBhvr>
                                      <p:to>
                                        <p:strVal val="visible"/>
                                      </p:to>
                                    </p:set>
                                    <p:anim calcmode="lin" valueType="num">
                                      <p:cBhvr additive="base">
                                        <p:cTn id="32" dur="500" fill="hold"/>
                                        <p:tgtEl>
                                          <p:spTgt spid="3"/>
                                        </p:tgtEl>
                                        <p:attrNameLst>
                                          <p:attrName>ppt_x</p:attrName>
                                        </p:attrNameLst>
                                      </p:cBhvr>
                                      <p:tavLst>
                                        <p:tav tm="0">
                                          <p:val>
                                            <p:strVal val="#ppt_x"/>
                                          </p:val>
                                        </p:tav>
                                        <p:tav tm="100000">
                                          <p:val>
                                            <p:strVal val="#ppt_x"/>
                                          </p:val>
                                        </p:tav>
                                      </p:tavLst>
                                    </p:anim>
                                    <p:anim calcmode="lin" valueType="num">
                                      <p:cBhvr additive="base">
                                        <p:cTn id="33"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498" grpId="0" animBg="1"/>
      <p:bldP spid="797702" grpId="0" animBg="1"/>
      <p:bldP spid="797734" grpId="0" animBg="1"/>
    </p:bldLst>
  </p:timing>
</p:sld>
</file>

<file path=ppt/slides/slide1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45154" name="Rectangle 2"/>
          <p:cNvSpPr>
            <a:spLocks noChangeArrowheads="1"/>
          </p:cNvSpPr>
          <p:nvPr/>
        </p:nvSpPr>
        <p:spPr bwMode="auto">
          <a:xfrm>
            <a:off x="468313" y="1125538"/>
            <a:ext cx="8416925" cy="5243513"/>
          </a:xfrm>
          <a:prstGeom prst="roundRect">
            <a:avLst>
              <a:gd name="adj" fmla="val 2301"/>
            </a:avLst>
          </a:prstGeom>
          <a:solidFill>
            <a:schemeClr val="bg2">
              <a:lumMod val="20000"/>
              <a:lumOff val="80000"/>
            </a:schemeClr>
          </a:solidFill>
          <a:ln>
            <a:noFill/>
          </a:ln>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263525" marR="0" lvl="0" indent="-263525" algn="l" defTabSz="914400" rtl="0" eaLnBrk="1" fontAlgn="base" latinLnBrk="0" hangingPunct="1">
              <a:lnSpc>
                <a:spcPct val="125000"/>
              </a:lnSpc>
              <a:spcBef>
                <a:spcPct val="50000"/>
              </a:spcBef>
              <a:spcAft>
                <a:spcPct val="0"/>
              </a:spcAft>
              <a:buClr>
                <a:srgbClr val="FF3300"/>
              </a:buClr>
              <a:buSzTx/>
              <a:buFont typeface="Wingdings" panose="05000000000000000000" pitchFamily="2" charset="2"/>
              <a:buChar char="ü"/>
              <a:defRPr/>
            </a:pP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根据给定的</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zh-CN" sz="2600" b="0" i="0" u="none" strike="noStrike" kern="1200" cap="none" spc="0" normalizeH="0" baseline="0" noProof="0" dirty="0">
                <a:ln>
                  <a:noFill/>
                </a:ln>
                <a:solidFill>
                  <a:schemeClr val="tx1"/>
                </a:solidFill>
                <a:effectLst/>
                <a:uLnTx/>
                <a:uFillTx/>
                <a:latin typeface="+mn-lt"/>
                <a:ea typeface="+mn-ea"/>
                <a:cs typeface="+mn-ea"/>
                <a:sym typeface="+mn-lt"/>
              </a:rPr>
              <a:t>个权值{</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w</a:t>
            </a:r>
            <a:r>
              <a:rPr kumimoji="0" lang="en-US" altLang="zh-CN" sz="2600" b="0" i="0" u="none" strike="noStrike" kern="1200" cap="none" spc="0" normalizeH="0" baseline="-25000" noProof="0" dirty="0">
                <a:ln>
                  <a:noFill/>
                </a:ln>
                <a:solidFill>
                  <a:schemeClr val="tx1"/>
                </a:solidFill>
                <a:effectLst/>
                <a:uLnTx/>
                <a:uFillTx/>
                <a:latin typeface="+mn-lt"/>
                <a:ea typeface="+mn-ea"/>
                <a:cs typeface="+mn-ea"/>
                <a:sym typeface="+mn-lt"/>
              </a:rPr>
              <a:t>1</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,w</a:t>
            </a:r>
            <a:r>
              <a:rPr kumimoji="0" lang="en-US" altLang="zh-CN" sz="2600" b="0" i="0" u="none" strike="noStrike" kern="1200" cap="none" spc="0" normalizeH="0" baseline="-25000" noProof="0" dirty="0">
                <a:ln>
                  <a:noFill/>
                </a:ln>
                <a:solidFill>
                  <a:schemeClr val="tx1"/>
                </a:solidFill>
                <a:effectLst/>
                <a:uLnTx/>
                <a:uFillTx/>
                <a:latin typeface="+mn-lt"/>
                <a:ea typeface="+mn-ea"/>
                <a:cs typeface="+mn-ea"/>
                <a:sym typeface="+mn-lt"/>
              </a:rPr>
              <a:t>2</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600" b="0" i="0" u="none" strike="noStrike" kern="1200" cap="none" spc="0" normalizeH="0" baseline="0" noProof="0" dirty="0" err="1">
                <a:ln>
                  <a:noFill/>
                </a:ln>
                <a:solidFill>
                  <a:schemeClr val="tx1"/>
                </a:solidFill>
                <a:effectLst/>
                <a:uLnTx/>
                <a:uFillTx/>
                <a:latin typeface="+mn-lt"/>
                <a:ea typeface="+mn-ea"/>
                <a:cs typeface="+mn-ea"/>
                <a:sym typeface="+mn-lt"/>
              </a:rPr>
              <a:t>w</a:t>
            </a:r>
            <a:r>
              <a:rPr kumimoji="0" lang="en-US" altLang="zh-CN" sz="2600" b="0" i="0" u="none" strike="noStrike" kern="1200" cap="none" spc="0" normalizeH="0" baseline="-25000" noProof="0" dirty="0" err="1">
                <a:ln>
                  <a:noFill/>
                </a:ln>
                <a:solidFill>
                  <a:schemeClr val="tx1"/>
                </a:solidFill>
                <a:effectLst/>
                <a:uLnTx/>
                <a:uFillTx/>
                <a:latin typeface="+mn-lt"/>
                <a:ea typeface="+mn-ea"/>
                <a:cs typeface="+mn-ea"/>
                <a:sym typeface="+mn-lt"/>
              </a:rPr>
              <a:t>n</a:t>
            </a:r>
            <a:r>
              <a:rPr kumimoji="0" lang="en-US" altLang="zh-CN" sz="2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zh-CN" sz="2600" b="0" i="0" u="none" strike="noStrike" kern="1200" cap="none" spc="0" normalizeH="0" baseline="0" noProof="0" dirty="0">
                <a:ln>
                  <a:noFill/>
                </a:ln>
                <a:solidFill>
                  <a:schemeClr val="tx1"/>
                </a:solidFill>
                <a:effectLst/>
                <a:uLnTx/>
                <a:uFillTx/>
                <a:latin typeface="+mn-lt"/>
                <a:ea typeface="+mn-ea"/>
                <a:cs typeface="+mn-ea"/>
                <a:sym typeface="+mn-lt"/>
              </a:rPr>
              <a:t>构造</a:t>
            </a:r>
            <a:r>
              <a:rPr kumimoji="0" lang="en-US" altLang="zh-CN" sz="2600" b="0" i="0" u="none" strike="noStrike" kern="1200" cap="none" spc="0" normalizeH="0" baseline="0" noProof="0" dirty="0">
                <a:ln>
                  <a:noFill/>
                </a:ln>
                <a:solidFill>
                  <a:srgbClr val="FF3300"/>
                </a:solidFill>
                <a:effectLst/>
                <a:uLnTx/>
                <a:uFillTx/>
                <a:latin typeface="+mn-lt"/>
                <a:ea typeface="+mn-ea"/>
                <a:cs typeface="+mn-ea"/>
                <a:sym typeface="+mn-lt"/>
              </a:rPr>
              <a:t>n</a:t>
            </a:r>
            <a:r>
              <a:rPr kumimoji="0" lang="zh-CN" altLang="zh-CN" sz="2600" b="0" i="0" u="none" strike="noStrike" kern="1200" cap="none" spc="0" normalizeH="0" baseline="0" noProof="0" dirty="0">
                <a:ln>
                  <a:noFill/>
                </a:ln>
                <a:solidFill>
                  <a:srgbClr val="FF3300"/>
                </a:solidFill>
                <a:effectLst/>
                <a:uLnTx/>
                <a:uFillTx/>
                <a:latin typeface="+mn-lt"/>
                <a:ea typeface="+mn-ea"/>
                <a:cs typeface="+mn-ea"/>
                <a:sym typeface="+mn-lt"/>
              </a:rPr>
              <a:t>棵只有根结点的二叉树</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a:t>
            </a:r>
          </a:p>
          <a:p>
            <a:pPr marL="263525" marR="0" lvl="0" indent="-263525" algn="l" defTabSz="914400" rtl="0" eaLnBrk="1" fontAlgn="base" latinLnBrk="0" hangingPunct="1">
              <a:lnSpc>
                <a:spcPct val="125000"/>
              </a:lnSpc>
              <a:spcBef>
                <a:spcPct val="50000"/>
              </a:spcBef>
              <a:spcAft>
                <a:spcPct val="0"/>
              </a:spcAft>
              <a:buClr>
                <a:srgbClr val="FF3300"/>
              </a:buClr>
              <a:buSzTx/>
              <a:buFont typeface="Wingdings" panose="05000000000000000000" pitchFamily="2" charset="2"/>
              <a:buChar char="ü"/>
              <a:defRPr/>
            </a:pPr>
            <a:r>
              <a:rPr kumimoji="0" lang="zh-CN" altLang="zh-CN" sz="2600" b="0" i="0" u="none" strike="noStrike" kern="1200" cap="none" spc="0" normalizeH="0" baseline="0" noProof="0" dirty="0">
                <a:ln>
                  <a:noFill/>
                </a:ln>
                <a:solidFill>
                  <a:schemeClr val="tx1"/>
                </a:solidFill>
                <a:effectLst/>
                <a:uLnTx/>
                <a:uFillTx/>
                <a:latin typeface="+mn-lt"/>
                <a:ea typeface="+mn-ea"/>
                <a:cs typeface="+mn-ea"/>
                <a:sym typeface="+mn-lt"/>
              </a:rPr>
              <a:t>在森林中选取两棵根结点</a:t>
            </a:r>
            <a:r>
              <a:rPr kumimoji="0" lang="zh-CN" altLang="zh-CN" sz="2600" b="0" i="0" u="none" strike="noStrike" kern="1200" cap="none" spc="0" normalizeH="0" baseline="0" noProof="0" dirty="0">
                <a:ln>
                  <a:noFill/>
                </a:ln>
                <a:solidFill>
                  <a:srgbClr val="FF3300"/>
                </a:solidFill>
                <a:effectLst/>
                <a:uLnTx/>
                <a:uFillTx/>
                <a:latin typeface="+mn-lt"/>
                <a:ea typeface="+mn-ea"/>
                <a:cs typeface="+mn-ea"/>
                <a:sym typeface="+mn-lt"/>
              </a:rPr>
              <a:t>权值最小的树作左右子树</a:t>
            </a:r>
            <a:r>
              <a:rPr kumimoji="0" lang="zh-CN" altLang="zh-CN" sz="2600" b="0" i="0" u="none" strike="noStrike" kern="1200" cap="none" spc="0" normalizeH="0" baseline="0" noProof="0" dirty="0">
                <a:ln>
                  <a:noFill/>
                </a:ln>
                <a:solidFill>
                  <a:schemeClr val="tx1"/>
                </a:solidFill>
                <a:effectLst/>
                <a:uLnTx/>
                <a:uFillTx/>
                <a:latin typeface="+mn-lt"/>
                <a:ea typeface="+mn-ea"/>
                <a:cs typeface="+mn-ea"/>
                <a:sym typeface="+mn-lt"/>
              </a:rPr>
              <a:t>，构造一棵新的二叉树，置新二叉树根结点权值为其左右子树根结点权值之和。</a:t>
            </a:r>
          </a:p>
          <a:p>
            <a:pPr marL="263525" marR="0" lvl="0" indent="-263525" algn="l" defTabSz="914400" rtl="0" eaLnBrk="1" fontAlgn="base" latinLnBrk="0" hangingPunct="1">
              <a:lnSpc>
                <a:spcPct val="125000"/>
              </a:lnSpc>
              <a:spcBef>
                <a:spcPct val="50000"/>
              </a:spcBef>
              <a:spcAft>
                <a:spcPct val="0"/>
              </a:spcAft>
              <a:buClr>
                <a:srgbClr val="FF3300"/>
              </a:buClr>
              <a:buSzTx/>
              <a:buFont typeface="Wingdings" panose="05000000000000000000" pitchFamily="2" charset="2"/>
              <a:buChar char="ü"/>
              <a:defRPr/>
            </a:pPr>
            <a:r>
              <a:rPr kumimoji="0" lang="zh-CN" altLang="zh-CN" sz="2600" b="0" i="0" u="none" strike="noStrike" kern="1200" cap="none" spc="0" normalizeH="0" baseline="0" noProof="0" dirty="0">
                <a:ln>
                  <a:noFill/>
                </a:ln>
                <a:solidFill>
                  <a:schemeClr val="tx1"/>
                </a:solidFill>
                <a:effectLst/>
                <a:uLnTx/>
                <a:uFillTx/>
                <a:latin typeface="+mn-lt"/>
                <a:ea typeface="+mn-ea"/>
                <a:cs typeface="+mn-ea"/>
                <a:sym typeface="+mn-lt"/>
              </a:rPr>
              <a:t>在森林中</a:t>
            </a:r>
            <a:r>
              <a:rPr kumimoji="0" lang="zh-CN" altLang="zh-CN" sz="2600" b="0" i="0" u="none" strike="noStrike" kern="1200" cap="none" spc="0" normalizeH="0" baseline="0" noProof="0" dirty="0">
                <a:ln>
                  <a:noFill/>
                </a:ln>
                <a:solidFill>
                  <a:srgbClr val="FF3300"/>
                </a:solidFill>
                <a:effectLst/>
                <a:uLnTx/>
                <a:uFillTx/>
                <a:latin typeface="+mn-lt"/>
                <a:ea typeface="+mn-ea"/>
                <a:cs typeface="+mn-ea"/>
                <a:sym typeface="+mn-lt"/>
              </a:rPr>
              <a:t>删除这两棵树</a:t>
            </a:r>
            <a:r>
              <a:rPr kumimoji="0" lang="zh-CN" altLang="zh-CN" sz="2600" b="0" i="0" u="none" strike="noStrike" kern="1200" cap="none" spc="0" normalizeH="0" baseline="0" noProof="0" dirty="0">
                <a:ln>
                  <a:noFill/>
                </a:ln>
                <a:solidFill>
                  <a:schemeClr val="tx1"/>
                </a:solidFill>
                <a:effectLst/>
                <a:uLnTx/>
                <a:uFillTx/>
                <a:latin typeface="+mn-lt"/>
                <a:ea typeface="+mn-ea"/>
                <a:cs typeface="+mn-ea"/>
                <a:sym typeface="+mn-lt"/>
              </a:rPr>
              <a:t>，同时将新得到的二叉树加入森林中。</a:t>
            </a:r>
          </a:p>
          <a:p>
            <a:pPr marL="263525" marR="0" lvl="0" indent="-263525" algn="l" defTabSz="914400" rtl="0" eaLnBrk="1" fontAlgn="base" latinLnBrk="0" hangingPunct="1">
              <a:lnSpc>
                <a:spcPct val="125000"/>
              </a:lnSpc>
              <a:spcBef>
                <a:spcPct val="50000"/>
              </a:spcBef>
              <a:spcAft>
                <a:spcPct val="0"/>
              </a:spcAft>
              <a:buClr>
                <a:srgbClr val="FF3300"/>
              </a:buClr>
              <a:buSzTx/>
              <a:buFont typeface="Wingdings" panose="05000000000000000000" pitchFamily="2" charset="2"/>
              <a:buChar char="ü"/>
              <a:defRPr/>
            </a:pPr>
            <a:r>
              <a:rPr kumimoji="0" lang="zh-CN" altLang="zh-CN" sz="2600" b="0" i="0" u="none" strike="noStrike" kern="1200" cap="none" spc="0" normalizeH="0" baseline="0" noProof="0" dirty="0">
                <a:ln>
                  <a:noFill/>
                </a:ln>
                <a:solidFill>
                  <a:schemeClr val="tx1"/>
                </a:solidFill>
                <a:effectLst/>
                <a:uLnTx/>
                <a:uFillTx/>
                <a:latin typeface="+mn-lt"/>
                <a:ea typeface="+mn-ea"/>
                <a:cs typeface="+mn-ea"/>
                <a:sym typeface="+mn-lt"/>
              </a:rPr>
              <a:t>重复上述两步，</a:t>
            </a:r>
            <a:r>
              <a:rPr kumimoji="0" lang="zh-CN" altLang="zh-CN" sz="2600" b="0" i="0" u="none" strike="noStrike" kern="1200" cap="none" spc="0" normalizeH="0" baseline="0" noProof="0" dirty="0">
                <a:ln>
                  <a:noFill/>
                </a:ln>
                <a:solidFill>
                  <a:srgbClr val="FF3300"/>
                </a:solidFill>
                <a:effectLst/>
                <a:uLnTx/>
                <a:uFillTx/>
                <a:latin typeface="+mn-lt"/>
                <a:ea typeface="+mn-ea"/>
                <a:cs typeface="+mn-ea"/>
                <a:sym typeface="+mn-lt"/>
              </a:rPr>
              <a:t>直到只含一棵树为止</a:t>
            </a:r>
            <a:r>
              <a:rPr kumimoji="0" lang="zh-CN" altLang="zh-CN" sz="2600" b="0" i="0" u="none" strike="noStrike" kern="1200" cap="none" spc="0" normalizeH="0" baseline="0" noProof="0" dirty="0">
                <a:ln>
                  <a:noFill/>
                </a:ln>
                <a:solidFill>
                  <a:schemeClr val="tx1"/>
                </a:solidFill>
                <a:effectLst/>
                <a:uLnTx/>
                <a:uFillTx/>
                <a:latin typeface="+mn-lt"/>
                <a:ea typeface="+mn-ea"/>
                <a:cs typeface="+mn-ea"/>
                <a:sym typeface="+mn-lt"/>
              </a:rPr>
              <a:t>，这棵树即</a:t>
            </a:r>
            <a:r>
              <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rPr>
              <a:t>哈夫</a:t>
            </a:r>
            <a:r>
              <a:rPr kumimoji="0" lang="zh-CN" altLang="zh-CN" sz="2600" b="0" i="0" u="none" strike="noStrike" kern="1200" cap="none" spc="0" normalizeH="0" baseline="0" noProof="0" dirty="0">
                <a:ln>
                  <a:noFill/>
                </a:ln>
                <a:solidFill>
                  <a:schemeClr val="tx1"/>
                </a:solidFill>
                <a:effectLst/>
                <a:uLnTx/>
                <a:uFillTx/>
                <a:latin typeface="+mn-lt"/>
                <a:ea typeface="+mn-ea"/>
                <a:cs typeface="+mn-ea"/>
                <a:sym typeface="+mn-lt"/>
              </a:rPr>
              <a:t>曼树。</a:t>
            </a:r>
            <a:endParaRPr kumimoji="0" lang="zh-CN" altLang="en-US" sz="26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98307" name="Rectangle 3"/>
          <p:cNvSpPr>
            <a:spLocks noChangeArrowheads="1"/>
          </p:cNvSpPr>
          <p:nvPr/>
        </p:nvSpPr>
        <p:spPr bwMode="auto">
          <a:xfrm>
            <a:off x="900113" y="233363"/>
            <a:ext cx="389731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哈夫曼树的构造过程</a:t>
            </a:r>
          </a:p>
        </p:txBody>
      </p:sp>
    </p:spTree>
  </p:cSld>
  <p:clrMapOvr>
    <a:masterClrMapping/>
  </p:clrMapOvr>
  <p:transition>
    <p:pull dir="r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945154">
                                            <p:bg/>
                                          </p:spTgt>
                                        </p:tgtEl>
                                        <p:attrNameLst>
                                          <p:attrName>style.visibility</p:attrName>
                                        </p:attrNameLst>
                                      </p:cBhvr>
                                      <p:to>
                                        <p:strVal val="visible"/>
                                      </p:to>
                                    </p:set>
                                    <p:animEffect transition="in" filter="box(in)">
                                      <p:cBhvr>
                                        <p:cTn id="7" dur="500"/>
                                        <p:tgtEl>
                                          <p:spTgt spid="945154">
                                            <p:bg/>
                                          </p:spTgt>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945154">
                                            <p:txEl>
                                              <p:pRg st="0" end="0"/>
                                            </p:txEl>
                                          </p:spTgt>
                                        </p:tgtEl>
                                        <p:attrNameLst>
                                          <p:attrName>style.visibility</p:attrName>
                                        </p:attrNameLst>
                                      </p:cBhvr>
                                      <p:to>
                                        <p:strVal val="visible"/>
                                      </p:to>
                                    </p:set>
                                    <p:animEffect transition="in" filter="box(in)">
                                      <p:cBhvr>
                                        <p:cTn id="12" dur="500"/>
                                        <p:tgtEl>
                                          <p:spTgt spid="945154">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945154">
                                            <p:txEl>
                                              <p:pRg st="1" end="1"/>
                                            </p:txEl>
                                          </p:spTgt>
                                        </p:tgtEl>
                                        <p:attrNameLst>
                                          <p:attrName>style.visibility</p:attrName>
                                        </p:attrNameLst>
                                      </p:cBhvr>
                                      <p:to>
                                        <p:strVal val="visible"/>
                                      </p:to>
                                    </p:set>
                                    <p:animEffect transition="in" filter="box(in)">
                                      <p:cBhvr>
                                        <p:cTn id="17" dur="500"/>
                                        <p:tgtEl>
                                          <p:spTgt spid="945154">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945154">
                                            <p:txEl>
                                              <p:pRg st="2" end="2"/>
                                            </p:txEl>
                                          </p:spTgt>
                                        </p:tgtEl>
                                        <p:attrNameLst>
                                          <p:attrName>style.visibility</p:attrName>
                                        </p:attrNameLst>
                                      </p:cBhvr>
                                      <p:to>
                                        <p:strVal val="visible"/>
                                      </p:to>
                                    </p:set>
                                    <p:animEffect transition="in" filter="box(in)">
                                      <p:cBhvr>
                                        <p:cTn id="22" dur="500"/>
                                        <p:tgtEl>
                                          <p:spTgt spid="945154">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945154">
                                            <p:txEl>
                                              <p:pRg st="3" end="3"/>
                                            </p:txEl>
                                          </p:spTgt>
                                        </p:tgtEl>
                                        <p:attrNameLst>
                                          <p:attrName>style.visibility</p:attrName>
                                        </p:attrNameLst>
                                      </p:cBhvr>
                                      <p:to>
                                        <p:strVal val="visible"/>
                                      </p:to>
                                    </p:set>
                                    <p:animEffect transition="in" filter="box(in)">
                                      <p:cBhvr>
                                        <p:cTn id="27" dur="500"/>
                                        <p:tgtEl>
                                          <p:spTgt spid="94515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5154" grpId="0" build="p" animBg="1"/>
    </p:bldLst>
  </p:timing>
</p:sld>
</file>

<file path=ppt/slides/slide1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矩形 1"/>
          <p:cNvSpPr/>
          <p:nvPr/>
        </p:nvSpPr>
        <p:spPr bwMode="auto">
          <a:xfrm>
            <a:off x="0" y="3141663"/>
            <a:ext cx="9144000" cy="2951163"/>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946179" name="Text Box 3"/>
          <p:cNvSpPr txBox="1">
            <a:spLocks noChangeArrowheads="1"/>
          </p:cNvSpPr>
          <p:nvPr/>
        </p:nvSpPr>
        <p:spPr bwMode="auto">
          <a:xfrm>
            <a:off x="793750" y="3262313"/>
            <a:ext cx="3960813" cy="2497138"/>
          </a:xfrm>
          <a:prstGeom prst="rect">
            <a:avLst/>
          </a:prstGeom>
          <a:no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25000"/>
              </a:lnSpc>
              <a:spcBef>
                <a:spcPct val="0"/>
              </a:spcBef>
              <a:spcAft>
                <a:spcPct val="0"/>
              </a:spcAft>
              <a:buClrTx/>
              <a:buSzTx/>
              <a:buFont typeface="Arial" panose="020B0604020202020204" pitchFamily="34" charset="0"/>
              <a:buNone/>
              <a:defRPr/>
            </a:pP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typedef  </a:t>
            </a:r>
            <a:r>
              <a:rPr kumimoji="0" lang="en-US" altLang="zh-CN" sz="3200" b="0" i="0" u="none" strike="noStrike" kern="1200" cap="none" spc="0" normalizeH="0" baseline="0" noProof="0" dirty="0" err="1">
                <a:ln>
                  <a:noFill/>
                </a:ln>
                <a:solidFill>
                  <a:schemeClr val="tx1"/>
                </a:solidFill>
                <a:effectLst/>
                <a:uLnTx/>
                <a:uFillTx/>
                <a:latin typeface="+mn-lt"/>
                <a:ea typeface="+mn-ea"/>
                <a:cs typeface="+mn-ea"/>
                <a:sym typeface="+mn-lt"/>
              </a:rPr>
              <a:t>struct</a:t>
            </a:r>
            <a:endPar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25000"/>
              </a:lnSpc>
              <a:spcBef>
                <a:spcPct val="0"/>
              </a:spcBef>
              <a:spcAft>
                <a:spcPct val="0"/>
              </a:spcAft>
              <a:buClrTx/>
              <a:buSzTx/>
              <a:buFont typeface="Arial" panose="020B0604020202020204" pitchFamily="34" charset="0"/>
              <a:buNone/>
              <a:defRPr/>
            </a:pP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  int </a:t>
            </a:r>
            <a:r>
              <a:rPr kumimoji="0" lang="en-US" altLang="zh-CN" sz="3200" b="0" i="0" u="none" strike="noStrike" kern="1200" cap="none" spc="0" normalizeH="0" baseline="0" noProof="0" dirty="0" err="1">
                <a:ln>
                  <a:noFill/>
                </a:ln>
                <a:solidFill>
                  <a:schemeClr val="tx1"/>
                </a:solidFill>
                <a:effectLst/>
                <a:uLnTx/>
                <a:uFillTx/>
                <a:latin typeface="+mn-lt"/>
                <a:ea typeface="+mn-ea"/>
                <a:cs typeface="+mn-ea"/>
                <a:sym typeface="+mn-lt"/>
              </a:rPr>
              <a:t>weght</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a:t>
            </a:r>
          </a:p>
          <a:p>
            <a:pPr marL="0" marR="0" lvl="0" indent="0" algn="l" defTabSz="914400" rtl="0" eaLnBrk="0" fontAlgn="base" latinLnBrk="0" hangingPunct="0">
              <a:lnSpc>
                <a:spcPct val="125000"/>
              </a:lnSpc>
              <a:spcBef>
                <a:spcPct val="0"/>
              </a:spcBef>
              <a:spcAft>
                <a:spcPct val="0"/>
              </a:spcAft>
              <a:buClrTx/>
              <a:buSzTx/>
              <a:buFont typeface="Arial" panose="020B0604020202020204" pitchFamily="34" charset="0"/>
              <a:buNone/>
              <a:defRPr/>
            </a:pP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   int </a:t>
            </a:r>
            <a:r>
              <a:rPr kumimoji="0" lang="en-US" altLang="zh-CN" sz="3200" b="0" i="0" u="none" strike="noStrike" kern="1200" cap="none" spc="0" normalizeH="0" baseline="0" noProof="0" dirty="0" err="1">
                <a:ln>
                  <a:noFill/>
                </a:ln>
                <a:solidFill>
                  <a:schemeClr val="tx1"/>
                </a:solidFill>
                <a:effectLst/>
                <a:uLnTx/>
                <a:uFillTx/>
                <a:latin typeface="+mn-lt"/>
                <a:ea typeface="+mn-ea"/>
                <a:cs typeface="+mn-ea"/>
                <a:sym typeface="+mn-lt"/>
              </a:rPr>
              <a:t>parent,lch,rch</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a:t>
            </a:r>
          </a:p>
          <a:p>
            <a:pPr marL="0" marR="0" lvl="0" indent="0" algn="l" defTabSz="914400" rtl="0" eaLnBrk="0" fontAlgn="base" latinLnBrk="0" hangingPunct="0">
              <a:lnSpc>
                <a:spcPct val="125000"/>
              </a:lnSpc>
              <a:spcBef>
                <a:spcPct val="0"/>
              </a:spcBef>
              <a:spcAft>
                <a:spcPct val="0"/>
              </a:spcAft>
              <a:buClrTx/>
              <a:buSzTx/>
              <a:buFont typeface="Arial" panose="020B0604020202020204" pitchFamily="34" charset="0"/>
              <a:buNone/>
              <a:defRPr/>
            </a:pP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3200" b="0" i="0" u="none" strike="noStrike" kern="1200" cap="none" spc="0" normalizeH="0" baseline="0" noProof="0" dirty="0" err="1">
                <a:ln>
                  <a:noFill/>
                </a:ln>
                <a:solidFill>
                  <a:schemeClr val="tx1"/>
                </a:solidFill>
                <a:effectLst/>
                <a:uLnTx/>
                <a:uFillTx/>
                <a:latin typeface="+mn-lt"/>
                <a:ea typeface="+mn-ea"/>
                <a:cs typeface="+mn-ea"/>
                <a:sym typeface="+mn-lt"/>
              </a:rPr>
              <a:t>HuffmanTree</a:t>
            </a:r>
            <a:r>
              <a:rPr kumimoji="0" lang="en-US" altLang="zh-CN" sz="3200" b="0" i="0" u="none" strike="noStrike" kern="1200" cap="none" spc="0" normalizeH="0" baseline="0" noProof="0" dirty="0">
                <a:ln>
                  <a:noFill/>
                </a:ln>
                <a:solidFill>
                  <a:schemeClr val="tx1"/>
                </a:solidFill>
                <a:effectLst/>
                <a:uLnTx/>
                <a:uFillTx/>
                <a:latin typeface="+mn-lt"/>
                <a:ea typeface="+mn-ea"/>
                <a:cs typeface="+mn-ea"/>
                <a:sym typeface="+mn-lt"/>
              </a:rPr>
              <a:t>;</a:t>
            </a:r>
          </a:p>
        </p:txBody>
      </p:sp>
      <p:sp>
        <p:nvSpPr>
          <p:cNvPr id="99331" name="Rectangle 4"/>
          <p:cNvSpPr>
            <a:spLocks noChangeArrowheads="1"/>
          </p:cNvSpPr>
          <p:nvPr/>
        </p:nvSpPr>
        <p:spPr bwMode="auto">
          <a:xfrm>
            <a:off x="793750" y="201613"/>
            <a:ext cx="65881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哈夫曼树构造算法的实现（算法</a:t>
            </a:r>
            <a:r>
              <a:rPr kumimoji="0" lang="en-US" altLang="zh-CN"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5.10</a:t>
            </a: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a:t>
            </a:r>
          </a:p>
        </p:txBody>
      </p:sp>
      <p:sp>
        <p:nvSpPr>
          <p:cNvPr id="946181" name="Rectangle 5"/>
          <p:cNvSpPr>
            <a:spLocks noChangeArrowheads="1"/>
          </p:cNvSpPr>
          <p:nvPr/>
        </p:nvSpPr>
        <p:spPr bwMode="auto">
          <a:xfrm>
            <a:off x="652463" y="1700213"/>
            <a:ext cx="6729413" cy="1206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25000"/>
              </a:lnSpc>
              <a:spcBef>
                <a:spcPct val="20000"/>
              </a:spcBef>
              <a:spcAft>
                <a:spcPct val="0"/>
              </a:spcAft>
              <a:buClr>
                <a:srgbClr val="FF3300"/>
              </a:buClr>
              <a:buSzTx/>
              <a:buFont typeface="Wingdings" panose="05000000000000000000" pitchFamily="2" charset="2"/>
              <a:buChar char="ü"/>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采用顺序存储结构</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一维结构数组</a:t>
            </a:r>
          </a:p>
          <a:p>
            <a:pPr marL="342900" marR="0" lvl="0" indent="-342900" algn="l" defTabSz="914400" rtl="0" eaLnBrk="0" fontAlgn="base" latinLnBrk="0" hangingPunct="0">
              <a:lnSpc>
                <a:spcPct val="125000"/>
              </a:lnSpc>
              <a:spcBef>
                <a:spcPct val="20000"/>
              </a:spcBef>
              <a:spcAft>
                <a:spcPct val="0"/>
              </a:spcAft>
              <a:buClr>
                <a:srgbClr val="FF3300"/>
              </a:buClr>
              <a:buSzTx/>
              <a:buFont typeface="Wingdings" panose="05000000000000000000" pitchFamily="2" charset="2"/>
              <a:buChar char="ü"/>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结点类型定义</a:t>
            </a:r>
          </a:p>
        </p:txBody>
      </p:sp>
      <p:sp>
        <p:nvSpPr>
          <p:cNvPr id="946182" name="Text Box 6"/>
          <p:cNvSpPr txBox="1">
            <a:spLocks noChangeArrowheads="1"/>
          </p:cNvSpPr>
          <p:nvPr/>
        </p:nvSpPr>
        <p:spPr bwMode="auto">
          <a:xfrm>
            <a:off x="652463" y="1119188"/>
            <a:ext cx="8097838"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一棵有</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个叶子结点的</a:t>
            </a:r>
            <a:r>
              <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rPr>
              <a:t>Huffman</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树有</a:t>
            </a:r>
            <a:r>
              <a:rPr kumimoji="0" lang="zh-CN" altLang="en-US" sz="3200" b="0" i="0" u="sng" strike="noStrike" kern="1200" cap="none" spc="0" normalizeH="0" baseline="0" noProof="0" dirty="0">
                <a:ln>
                  <a:noFill/>
                </a:ln>
                <a:solidFill>
                  <a:schemeClr val="accent2"/>
                </a:solidFill>
                <a:effectLst/>
                <a:uLnTx/>
                <a:uFillTx/>
                <a:latin typeface="+mn-lt"/>
                <a:ea typeface="+mn-ea"/>
                <a:cs typeface="+mn-ea"/>
                <a:sym typeface="+mn-lt"/>
              </a:rPr>
              <a:t>            </a:t>
            </a:r>
            <a:r>
              <a:rPr kumimoji="0" lang="zh-CN" altLang="en-US" sz="2800" b="0" i="0" u="none" strike="noStrike" kern="1200" cap="none" spc="0" normalizeH="0" baseline="0" noProof="0" dirty="0">
                <a:ln>
                  <a:noFill/>
                </a:ln>
                <a:solidFill>
                  <a:schemeClr val="tx1"/>
                </a:solidFill>
                <a:effectLst/>
                <a:uLnTx/>
                <a:uFillTx/>
                <a:latin typeface="+mn-lt"/>
                <a:ea typeface="+mn-ea"/>
                <a:cs typeface="+mn-ea"/>
                <a:sym typeface="+mn-lt"/>
              </a:rPr>
              <a:t>个结点</a:t>
            </a:r>
          </a:p>
        </p:txBody>
      </p:sp>
      <p:sp>
        <p:nvSpPr>
          <p:cNvPr id="946183" name="Text Box 7"/>
          <p:cNvSpPr txBox="1">
            <a:spLocks noChangeArrowheads="1"/>
          </p:cNvSpPr>
          <p:nvPr/>
        </p:nvSpPr>
        <p:spPr bwMode="auto">
          <a:xfrm>
            <a:off x="6229350" y="1030288"/>
            <a:ext cx="995363" cy="579438"/>
          </a:xfrm>
          <a:prstGeom prst="rect">
            <a:avLst/>
          </a:prstGeom>
          <a:noFill/>
          <a:ln>
            <a:noFill/>
          </a:ln>
        </p:spPr>
        <p:txBody>
          <a:bodyPr>
            <a:spAutoFit/>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50000"/>
              </a:spcBef>
              <a:spcAft>
                <a:spcPct val="0"/>
              </a:spcAft>
              <a:buClrTx/>
              <a:buSzTx/>
              <a:buFont typeface="Arial" panose="020B0604020202020204" pitchFamily="34" charset="0"/>
              <a:buNone/>
              <a:defRPr/>
            </a:pPr>
            <a:r>
              <a:rPr kumimoji="0" lang="en-US" altLang="zh-CN" sz="3200" b="1" i="0" u="none" strike="noStrike" kern="1200" cap="none" spc="0" normalizeH="0" baseline="0" noProof="0" dirty="0">
                <a:ln>
                  <a:noFill/>
                </a:ln>
                <a:solidFill>
                  <a:srgbClr val="FF0000"/>
                </a:solidFill>
                <a:effectLst/>
                <a:uLnTx/>
                <a:uFillTx/>
                <a:latin typeface="+mn-lt"/>
                <a:ea typeface="+mn-ea"/>
                <a:cs typeface="+mn-ea"/>
                <a:sym typeface="+mn-lt"/>
              </a:rPr>
              <a:t>2n-1</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46182"/>
                                        </p:tgtEl>
                                        <p:attrNameLst>
                                          <p:attrName>style.visibility</p:attrName>
                                        </p:attrNameLst>
                                      </p:cBhvr>
                                      <p:to>
                                        <p:strVal val="visible"/>
                                      </p:to>
                                    </p:set>
                                    <p:anim calcmode="lin" valueType="num">
                                      <p:cBhvr additive="base">
                                        <p:cTn id="7" dur="500" fill="hold"/>
                                        <p:tgtEl>
                                          <p:spTgt spid="946182"/>
                                        </p:tgtEl>
                                        <p:attrNameLst>
                                          <p:attrName>ppt_x</p:attrName>
                                        </p:attrNameLst>
                                      </p:cBhvr>
                                      <p:tavLst>
                                        <p:tav tm="0">
                                          <p:val>
                                            <p:strVal val="#ppt_x"/>
                                          </p:val>
                                        </p:tav>
                                        <p:tav tm="100000">
                                          <p:val>
                                            <p:strVal val="#ppt_x"/>
                                          </p:val>
                                        </p:tav>
                                      </p:tavLst>
                                    </p:anim>
                                    <p:anim calcmode="lin" valueType="num">
                                      <p:cBhvr additive="base">
                                        <p:cTn id="8" dur="500" fill="hold"/>
                                        <p:tgtEl>
                                          <p:spTgt spid="94618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946183"/>
                                        </p:tgtEl>
                                        <p:attrNameLst>
                                          <p:attrName>style.visibility</p:attrName>
                                        </p:attrNameLst>
                                      </p:cBhvr>
                                      <p:to>
                                        <p:strVal val="visible"/>
                                      </p:to>
                                    </p:set>
                                    <p:animEffect transition="in" filter="box(in)">
                                      <p:cBhvr>
                                        <p:cTn id="13" dur="500"/>
                                        <p:tgtEl>
                                          <p:spTgt spid="946183"/>
                                        </p:tgtEl>
                                      </p:cBhvr>
                                    </p:animEffect>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grpId="0" nodeType="clickEffect">
                                  <p:stCondLst>
                                    <p:cond delay="0"/>
                                  </p:stCondLst>
                                  <p:childTnLst>
                                    <p:set>
                                      <p:cBhvr>
                                        <p:cTn id="17" dur="1" fill="hold">
                                          <p:stCondLst>
                                            <p:cond delay="0"/>
                                          </p:stCondLst>
                                        </p:cTn>
                                        <p:tgtEl>
                                          <p:spTgt spid="946181"/>
                                        </p:tgtEl>
                                        <p:attrNameLst>
                                          <p:attrName>style.visibility</p:attrName>
                                        </p:attrNameLst>
                                      </p:cBhvr>
                                      <p:to>
                                        <p:strVal val="visible"/>
                                      </p:to>
                                    </p:set>
                                    <p:anim calcmode="lin" valueType="num">
                                      <p:cBhvr additive="base">
                                        <p:cTn id="18" dur="500" fill="hold"/>
                                        <p:tgtEl>
                                          <p:spTgt spid="946181"/>
                                        </p:tgtEl>
                                        <p:attrNameLst>
                                          <p:attrName>ppt_x</p:attrName>
                                        </p:attrNameLst>
                                      </p:cBhvr>
                                      <p:tavLst>
                                        <p:tav tm="0">
                                          <p:val>
                                            <p:strVal val="#ppt_x"/>
                                          </p:val>
                                        </p:tav>
                                        <p:tav tm="100000">
                                          <p:val>
                                            <p:strVal val="#ppt_x"/>
                                          </p:val>
                                        </p:tav>
                                      </p:tavLst>
                                    </p:anim>
                                    <p:anim calcmode="lin" valueType="num">
                                      <p:cBhvr additive="base">
                                        <p:cTn id="19" dur="500" fill="hold"/>
                                        <p:tgtEl>
                                          <p:spTgt spid="946181"/>
                                        </p:tgtEl>
                                        <p:attrNameLst>
                                          <p:attrName>ppt_y</p:attrName>
                                        </p:attrNameLst>
                                      </p:cBhvr>
                                      <p:tavLst>
                                        <p:tav tm="0">
                                          <p:val>
                                            <p:strVal val="1+#ppt_h/2"/>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grpId="0" nodeType="clickEffect">
                                  <p:stCondLst>
                                    <p:cond delay="0"/>
                                  </p:stCondLst>
                                  <p:childTnLst>
                                    <p:set>
                                      <p:cBhvr>
                                        <p:cTn id="23" dur="1" fill="hold">
                                          <p:stCondLst>
                                            <p:cond delay="0"/>
                                          </p:stCondLst>
                                        </p:cTn>
                                        <p:tgtEl>
                                          <p:spTgt spid="2"/>
                                        </p:tgtEl>
                                        <p:attrNameLst>
                                          <p:attrName>style.visibility</p:attrName>
                                        </p:attrNameLst>
                                      </p:cBhvr>
                                      <p:to>
                                        <p:strVal val="visible"/>
                                      </p:to>
                                    </p:set>
                                    <p:anim calcmode="lin" valueType="num">
                                      <p:cBhvr additive="base">
                                        <p:cTn id="24" dur="500" fill="hold"/>
                                        <p:tgtEl>
                                          <p:spTgt spid="2"/>
                                        </p:tgtEl>
                                        <p:attrNameLst>
                                          <p:attrName>ppt_x</p:attrName>
                                        </p:attrNameLst>
                                      </p:cBhvr>
                                      <p:tavLst>
                                        <p:tav tm="0">
                                          <p:val>
                                            <p:strVal val="#ppt_x"/>
                                          </p:val>
                                        </p:tav>
                                        <p:tav tm="100000">
                                          <p:val>
                                            <p:strVal val="#ppt_x"/>
                                          </p:val>
                                        </p:tav>
                                      </p:tavLst>
                                    </p:anim>
                                    <p:anim calcmode="lin" valueType="num">
                                      <p:cBhvr additive="base">
                                        <p:cTn id="25"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4" presetClass="entr" presetSubtype="16" fill="hold" grpId="0" nodeType="clickEffect">
                                  <p:stCondLst>
                                    <p:cond delay="0"/>
                                  </p:stCondLst>
                                  <p:childTnLst>
                                    <p:set>
                                      <p:cBhvr>
                                        <p:cTn id="29" dur="1" fill="hold">
                                          <p:stCondLst>
                                            <p:cond delay="0"/>
                                          </p:stCondLst>
                                        </p:cTn>
                                        <p:tgtEl>
                                          <p:spTgt spid="946179"/>
                                        </p:tgtEl>
                                        <p:attrNameLst>
                                          <p:attrName>style.visibility</p:attrName>
                                        </p:attrNameLst>
                                      </p:cBhvr>
                                      <p:to>
                                        <p:strVal val="visible"/>
                                      </p:to>
                                    </p:set>
                                    <p:animEffect transition="in" filter="box(in)">
                                      <p:cBhvr>
                                        <p:cTn id="30" dur="500"/>
                                        <p:tgtEl>
                                          <p:spTgt spid="9461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946179" grpId="0"/>
      <p:bldP spid="946181" grpId="0"/>
      <p:bldP spid="946182" grpId="0"/>
      <p:bldP spid="946183" grpId="0"/>
    </p:bldLst>
  </p:timing>
</p:sld>
</file>

<file path=ppt/slides/slide1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6" name="圆角矩形 25"/>
          <p:cNvSpPr/>
          <p:nvPr/>
        </p:nvSpPr>
        <p:spPr bwMode="auto">
          <a:xfrm>
            <a:off x="906562" y="3105150"/>
            <a:ext cx="7548563" cy="2606675"/>
          </a:xfrm>
          <a:prstGeom prst="roundRect">
            <a:avLst>
              <a:gd name="adj" fmla="val 4975"/>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100354" name="Rectangle 2"/>
          <p:cNvSpPr>
            <a:spLocks noChangeArrowheads="1"/>
          </p:cNvSpPr>
          <p:nvPr/>
        </p:nvSpPr>
        <p:spPr bwMode="auto">
          <a:xfrm>
            <a:off x="1438275" y="1163638"/>
            <a:ext cx="7237413" cy="627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初始化</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HT[1..2n-1]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lch</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rch</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=parent=0</a:t>
            </a:r>
          </a:p>
        </p:txBody>
      </p:sp>
      <p:sp>
        <p:nvSpPr>
          <p:cNvPr id="100355" name="Rectangle 3"/>
          <p:cNvSpPr>
            <a:spLocks noChangeArrowheads="1"/>
          </p:cNvSpPr>
          <p:nvPr/>
        </p:nvSpPr>
        <p:spPr bwMode="auto">
          <a:xfrm>
            <a:off x="827088" y="223838"/>
            <a:ext cx="65881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哈夫曼树构造算法的实现</a:t>
            </a:r>
          </a:p>
        </p:txBody>
      </p:sp>
      <p:grpSp>
        <p:nvGrpSpPr>
          <p:cNvPr id="104453" name="组合 12"/>
          <p:cNvGrpSpPr/>
          <p:nvPr/>
        </p:nvGrpSpPr>
        <p:grpSpPr>
          <a:xfrm>
            <a:off x="749300" y="1163638"/>
            <a:ext cx="579438" cy="627062"/>
            <a:chOff x="6242320" y="1105727"/>
            <a:chExt cx="579005" cy="626656"/>
          </a:xfrm>
        </p:grpSpPr>
        <p:sp>
          <p:nvSpPr>
            <p:cNvPr id="104475" name="TextBox 6"/>
            <p:cNvSpPr txBox="1"/>
            <p:nvPr/>
          </p:nvSpPr>
          <p:spPr>
            <a:xfrm>
              <a:off x="6327224" y="1105727"/>
              <a:ext cx="448425" cy="492443"/>
            </a:xfrm>
            <a:prstGeom prst="rect">
              <a:avLst/>
            </a:prstGeom>
            <a:noFill/>
            <a:ln w="9525">
              <a:noFill/>
            </a:ln>
          </p:spPr>
          <p:txBody>
            <a:bodyPr lIns="0" tIns="0" rIns="0" bIns="0"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pPr>
              <a:r>
                <a:rPr lang="en-US" altLang="zh-CN" sz="3200" dirty="0">
                  <a:solidFill>
                    <a:srgbClr val="FF9900"/>
                  </a:solidFill>
                  <a:latin typeface="Impact" panose="020B0806030902050204" pitchFamily="34" charset="0"/>
                </a:rPr>
                <a:t>01</a:t>
              </a:r>
              <a:endParaRPr lang="zh-CN" altLang="en-US" sz="3200" dirty="0">
                <a:solidFill>
                  <a:srgbClr val="FF9900"/>
                </a:solidFill>
                <a:latin typeface="微软雅黑" panose="020B0503020204020204" pitchFamily="34" charset="-122"/>
              </a:endParaRPr>
            </a:p>
          </p:txBody>
        </p:sp>
        <p:sp>
          <p:nvSpPr>
            <p:cNvPr id="104476" name="文本框 22"/>
            <p:cNvSpPr txBox="1"/>
            <p:nvPr/>
          </p:nvSpPr>
          <p:spPr>
            <a:xfrm>
              <a:off x="6242320" y="1516939"/>
              <a:ext cx="579005" cy="215444"/>
            </a:xfrm>
            <a:prstGeom prst="rect">
              <a:avLst/>
            </a:prstGeom>
            <a:noFill/>
            <a:ln w="9525">
              <a:noFill/>
            </a:ln>
          </p:spPr>
          <p:txBody>
            <a:bodyPr wrap="none">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buNone/>
              </a:pPr>
              <a:r>
                <a:rPr lang="en-US" altLang="zh-CN" sz="800" b="1" dirty="0">
                  <a:solidFill>
                    <a:srgbClr val="818181"/>
                  </a:solidFill>
                  <a:latin typeface="Leelawadee" panose="020B0502040204020203" pitchFamily="34" charset="-34"/>
                  <a:ea typeface="宋体" panose="02010600030101010101" pitchFamily="2" charset="-122"/>
                </a:rPr>
                <a:t>OPTION</a:t>
              </a:r>
              <a:endParaRPr lang="zh-CN" altLang="en-US" sz="800" b="1" dirty="0">
                <a:solidFill>
                  <a:srgbClr val="818181"/>
                </a:solidFill>
                <a:latin typeface="Leelawadee" panose="020B0502040204020203" pitchFamily="34" charset="-34"/>
                <a:ea typeface="宋体" panose="02010600030101010101" pitchFamily="2" charset="-122"/>
              </a:endParaRPr>
            </a:p>
          </p:txBody>
        </p:sp>
      </p:grpSp>
      <p:grpSp>
        <p:nvGrpSpPr>
          <p:cNvPr id="104455" name="组合 18"/>
          <p:cNvGrpSpPr/>
          <p:nvPr/>
        </p:nvGrpSpPr>
        <p:grpSpPr>
          <a:xfrm>
            <a:off x="736070" y="2186578"/>
            <a:ext cx="579438" cy="620713"/>
            <a:chOff x="6242320" y="3640739"/>
            <a:chExt cx="579005" cy="620494"/>
          </a:xfrm>
        </p:grpSpPr>
        <p:sp>
          <p:nvSpPr>
            <p:cNvPr id="104471" name="TextBox 6"/>
            <p:cNvSpPr txBox="1"/>
            <p:nvPr/>
          </p:nvSpPr>
          <p:spPr>
            <a:xfrm>
              <a:off x="6327224" y="3640739"/>
              <a:ext cx="448425" cy="492443"/>
            </a:xfrm>
            <a:prstGeom prst="rect">
              <a:avLst/>
            </a:prstGeom>
            <a:noFill/>
            <a:ln w="9525">
              <a:noFill/>
            </a:ln>
          </p:spPr>
          <p:txBody>
            <a:bodyPr lIns="0" tIns="0" rIns="0" bIns="0"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pPr>
              <a:r>
                <a:rPr lang="en-US" altLang="zh-CN" sz="3200" dirty="0">
                  <a:solidFill>
                    <a:srgbClr val="C00000"/>
                  </a:solidFill>
                  <a:latin typeface="Impact" panose="020B0806030902050204" pitchFamily="34" charset="0"/>
                </a:rPr>
                <a:t>02</a:t>
              </a:r>
              <a:endParaRPr lang="zh-CN" altLang="en-US" sz="3200" dirty="0">
                <a:solidFill>
                  <a:srgbClr val="C00000"/>
                </a:solidFill>
                <a:latin typeface="微软雅黑" panose="020B0503020204020204" pitchFamily="34" charset="-122"/>
              </a:endParaRPr>
            </a:p>
          </p:txBody>
        </p:sp>
        <p:sp>
          <p:nvSpPr>
            <p:cNvPr id="104472" name="文本框 24"/>
            <p:cNvSpPr txBox="1"/>
            <p:nvPr/>
          </p:nvSpPr>
          <p:spPr>
            <a:xfrm>
              <a:off x="6242320" y="4045789"/>
              <a:ext cx="579005" cy="215444"/>
            </a:xfrm>
            <a:prstGeom prst="rect">
              <a:avLst/>
            </a:prstGeom>
            <a:noFill/>
            <a:ln w="9525">
              <a:noFill/>
            </a:ln>
          </p:spPr>
          <p:txBody>
            <a:bodyPr wrap="none">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buNone/>
              </a:pPr>
              <a:r>
                <a:rPr lang="en-US" altLang="zh-CN" sz="800" b="1" dirty="0">
                  <a:solidFill>
                    <a:srgbClr val="818181"/>
                  </a:solidFill>
                  <a:latin typeface="Leelawadee" panose="020B0502040204020203" pitchFamily="34" charset="-34"/>
                  <a:ea typeface="宋体" panose="02010600030101010101" pitchFamily="2" charset="-122"/>
                </a:rPr>
                <a:t>OPTION</a:t>
              </a:r>
              <a:endParaRPr lang="zh-CN" altLang="en-US" sz="800" b="1" dirty="0">
                <a:solidFill>
                  <a:srgbClr val="818181"/>
                </a:solidFill>
                <a:latin typeface="Leelawadee" panose="020B0502040204020203" pitchFamily="34" charset="-34"/>
                <a:ea typeface="宋体" panose="02010600030101010101" pitchFamily="2" charset="-122"/>
              </a:endParaRPr>
            </a:p>
          </p:txBody>
        </p:sp>
      </p:grpSp>
      <p:sp>
        <p:nvSpPr>
          <p:cNvPr id="23" name="Rectangle 2"/>
          <p:cNvSpPr>
            <a:spLocks noChangeArrowheads="1"/>
          </p:cNvSpPr>
          <p:nvPr/>
        </p:nvSpPr>
        <p:spPr bwMode="auto">
          <a:xfrm>
            <a:off x="1425045" y="2113553"/>
            <a:ext cx="7237413" cy="620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进行以下</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n-1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次合并，依次产生</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HT[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=n+1..2n-1</a:t>
            </a:r>
            <a:endPar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24" name="Rectangle 2"/>
          <p:cNvSpPr>
            <a:spLocks noChangeArrowheads="1"/>
          </p:cNvSpPr>
          <p:nvPr/>
        </p:nvSpPr>
        <p:spPr bwMode="auto">
          <a:xfrm>
            <a:off x="1979712" y="3124200"/>
            <a:ext cx="6538913" cy="2570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25000"/>
              </a:lnSpc>
              <a:spcBef>
                <a:spcPts val="160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在</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HT[1..i-1]</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中选两个未被选过的</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weight</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最小的两个结点</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HT[s1]</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和</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HT[s2] (</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从</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parent = 0 </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的结点中选</a:t>
            </a:r>
            <a:r>
              <a:rPr kumimoji="0" lang="en-US" altLang="en-US" sz="2200" b="0" i="0" u="none" strike="noStrike" kern="1200" cap="none" spc="0" normalizeH="0" baseline="0" noProof="0" dirty="0">
                <a:ln>
                  <a:noFill/>
                </a:ln>
                <a:solidFill>
                  <a:schemeClr val="tx1"/>
                </a:solidFill>
                <a:effectLst/>
                <a:uLnTx/>
                <a:uFillTx/>
                <a:latin typeface="+mn-lt"/>
                <a:ea typeface="+mn-ea"/>
                <a:cs typeface="+mn-ea"/>
                <a:sym typeface="+mn-lt"/>
              </a:rPr>
              <a:t>)</a:t>
            </a:r>
            <a:endPar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25000"/>
              </a:lnSpc>
              <a:spcBef>
                <a:spcPts val="160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修改</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HT[s1]</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和</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HT[s2]</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的</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parent</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值： </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parent=</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i</a:t>
            </a:r>
            <a:endPar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25000"/>
              </a:lnSpc>
              <a:spcBef>
                <a:spcPts val="160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置</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HT[</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].weight=HT[s1].weight + HT[s2].weight </a:t>
            </a:r>
            <a:r>
              <a:rPr lang="zh-CN" altLang="en-US" sz="2200" b="0" dirty="0">
                <a:latin typeface="+mn-lt"/>
                <a:ea typeface="+mn-ea"/>
                <a:cs typeface="+mn-ea"/>
                <a:sym typeface="+mn-lt"/>
              </a:rPr>
              <a:t>，</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lch</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=s1,  </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rch</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=s2</a:t>
            </a:r>
          </a:p>
        </p:txBody>
      </p:sp>
      <p:cxnSp>
        <p:nvCxnSpPr>
          <p:cNvPr id="104459" name="直接连接符 2"/>
          <p:cNvCxnSpPr/>
          <p:nvPr/>
        </p:nvCxnSpPr>
        <p:spPr>
          <a:xfrm>
            <a:off x="1438275" y="1711325"/>
            <a:ext cx="6950075" cy="0"/>
          </a:xfrm>
          <a:prstGeom prst="line">
            <a:avLst/>
          </a:prstGeom>
          <a:ln w="9525" cap="flat" cmpd="sng">
            <a:solidFill>
              <a:srgbClr val="E2D9EB"/>
            </a:solidFill>
            <a:prstDash val="solid"/>
            <a:headEnd type="none" w="med" len="med"/>
            <a:tailEnd type="none" w="med" len="med"/>
          </a:ln>
        </p:spPr>
      </p:cxnSp>
      <p:cxnSp>
        <p:nvCxnSpPr>
          <p:cNvPr id="104461" name="直接连接符 28"/>
          <p:cNvCxnSpPr/>
          <p:nvPr/>
        </p:nvCxnSpPr>
        <p:spPr>
          <a:xfrm>
            <a:off x="1425045" y="2729503"/>
            <a:ext cx="6950075" cy="0"/>
          </a:xfrm>
          <a:prstGeom prst="line">
            <a:avLst/>
          </a:prstGeom>
          <a:ln w="9525" cap="flat" cmpd="sng">
            <a:solidFill>
              <a:srgbClr val="E2D9EB"/>
            </a:solidFill>
            <a:prstDash val="solid"/>
            <a:headEnd type="none" w="med" len="med"/>
            <a:tailEnd type="none" w="med" len="med"/>
          </a:ln>
        </p:spPr>
      </p:cxnSp>
      <p:grpSp>
        <p:nvGrpSpPr>
          <p:cNvPr id="104462" name="Group 32"/>
          <p:cNvGrpSpPr/>
          <p:nvPr/>
        </p:nvGrpSpPr>
        <p:grpSpPr>
          <a:xfrm>
            <a:off x="1235174" y="4167188"/>
            <a:ext cx="539750" cy="539750"/>
            <a:chOff x="6528170" y="3281715"/>
            <a:chExt cx="914400" cy="914400"/>
          </a:xfrm>
        </p:grpSpPr>
        <p:sp>
          <p:nvSpPr>
            <p:cNvPr id="51" name="Rounded Rectangle 8"/>
            <p:cNvSpPr/>
            <p:nvPr/>
          </p:nvSpPr>
          <p:spPr>
            <a:xfrm>
              <a:off x="6528170" y="3281715"/>
              <a:ext cx="914400" cy="914400"/>
            </a:xfrm>
            <a:prstGeom prst="roundRect">
              <a:avLst/>
            </a:prstGeom>
            <a:solidFill>
              <a:srgbClr val="4BACC6"/>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52" name="Group 69"/>
            <p:cNvGrpSpPr/>
            <p:nvPr/>
          </p:nvGrpSpPr>
          <p:grpSpPr>
            <a:xfrm>
              <a:off x="6759757" y="3506346"/>
              <a:ext cx="464344" cy="465138"/>
              <a:chOff x="7287419" y="3505994"/>
              <a:chExt cx="464344" cy="465138"/>
            </a:xfrm>
            <a:solidFill>
              <a:srgbClr val="EEECE1"/>
            </a:solidFill>
          </p:grpSpPr>
          <p:sp>
            <p:nvSpPr>
              <p:cNvPr id="53" name="AutoShape 37"/>
              <p:cNvSpPr/>
              <p:nvPr/>
            </p:nvSpPr>
            <p:spPr bwMode="auto">
              <a:xfrm>
                <a:off x="7287419" y="354965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54" name="AutoShape 38"/>
              <p:cNvSpPr/>
              <p:nvPr/>
            </p:nvSpPr>
            <p:spPr bwMode="auto">
              <a:xfrm>
                <a:off x="7490619" y="373856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55" name="AutoShape 39"/>
              <p:cNvSpPr/>
              <p:nvPr/>
            </p:nvSpPr>
            <p:spPr bwMode="auto">
              <a:xfrm>
                <a:off x="7679532" y="350599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56" name="AutoShape 40"/>
              <p:cNvSpPr/>
              <p:nvPr/>
            </p:nvSpPr>
            <p:spPr bwMode="auto">
              <a:xfrm>
                <a:off x="7403307" y="372427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57" name="AutoShape 41"/>
              <p:cNvSpPr/>
              <p:nvPr/>
            </p:nvSpPr>
            <p:spPr bwMode="auto">
              <a:xfrm>
                <a:off x="7461250" y="382587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58" name="AutoShape 42"/>
              <p:cNvSpPr/>
              <p:nvPr/>
            </p:nvSpPr>
            <p:spPr bwMode="auto">
              <a:xfrm>
                <a:off x="7693819" y="360759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grpSp>
      </p:grpSp>
      <p:grpSp>
        <p:nvGrpSpPr>
          <p:cNvPr id="104463" name="Group 33"/>
          <p:cNvGrpSpPr/>
          <p:nvPr/>
        </p:nvGrpSpPr>
        <p:grpSpPr>
          <a:xfrm>
            <a:off x="1222474" y="5027613"/>
            <a:ext cx="539750" cy="539750"/>
            <a:chOff x="6528170" y="4684221"/>
            <a:chExt cx="914400" cy="914400"/>
          </a:xfrm>
        </p:grpSpPr>
        <p:sp>
          <p:nvSpPr>
            <p:cNvPr id="60" name="Rounded Rectangle 9"/>
            <p:cNvSpPr/>
            <p:nvPr/>
          </p:nvSpPr>
          <p:spPr>
            <a:xfrm>
              <a:off x="6528170" y="4684221"/>
              <a:ext cx="914400" cy="914400"/>
            </a:xfrm>
            <a:prstGeom prst="roundRect">
              <a:avLst/>
            </a:prstGeom>
            <a:solidFill>
              <a:srgbClr val="F79646"/>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61" name="Group 76"/>
            <p:cNvGrpSpPr/>
            <p:nvPr/>
          </p:nvGrpSpPr>
          <p:grpSpPr>
            <a:xfrm>
              <a:off x="6748385" y="4909249"/>
              <a:ext cx="464344" cy="464344"/>
              <a:chOff x="7287419" y="2577307"/>
              <a:chExt cx="464344" cy="464344"/>
            </a:xfrm>
            <a:solidFill>
              <a:srgbClr val="EEECE1"/>
            </a:solidFill>
          </p:grpSpPr>
          <p:sp>
            <p:nvSpPr>
              <p:cNvPr id="62" name="AutoShape 56"/>
              <p:cNvSpPr/>
              <p:nvPr/>
            </p:nvSpPr>
            <p:spPr bwMode="auto">
              <a:xfrm>
                <a:off x="7287419" y="2577307"/>
                <a:ext cx="145256"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63" name="AutoShape 57"/>
              <p:cNvSpPr/>
              <p:nvPr/>
            </p:nvSpPr>
            <p:spPr bwMode="auto">
              <a:xfrm>
                <a:off x="7606507" y="2577307"/>
                <a:ext cx="145256"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64" name="AutoShape 58"/>
              <p:cNvSpPr/>
              <p:nvPr/>
            </p:nvSpPr>
            <p:spPr bwMode="auto">
              <a:xfrm>
                <a:off x="7446963" y="2577307"/>
                <a:ext cx="145257"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15416"/>
                    </a:moveTo>
                    <a:cubicBezTo>
                      <a:pt x="16954" y="15452"/>
                      <a:pt x="16923" y="15487"/>
                      <a:pt x="16883" y="15523"/>
                    </a:cubicBezTo>
                    <a:cubicBezTo>
                      <a:pt x="16677" y="15701"/>
                      <a:pt x="16414" y="15870"/>
                      <a:pt x="16066" y="16020"/>
                    </a:cubicBezTo>
                    <a:cubicBezTo>
                      <a:pt x="16057" y="16024"/>
                      <a:pt x="16044" y="16027"/>
                      <a:pt x="16038" y="16031"/>
                    </a:cubicBezTo>
                    <a:cubicBezTo>
                      <a:pt x="15662" y="16192"/>
                      <a:pt x="15214" y="16334"/>
                      <a:pt x="14705" y="16454"/>
                    </a:cubicBezTo>
                    <a:cubicBezTo>
                      <a:pt x="14697" y="16457"/>
                      <a:pt x="14692" y="16458"/>
                      <a:pt x="14686" y="16459"/>
                    </a:cubicBezTo>
                    <a:cubicBezTo>
                      <a:pt x="14163" y="16582"/>
                      <a:pt x="13584" y="16681"/>
                      <a:pt x="12960" y="16749"/>
                    </a:cubicBezTo>
                    <a:cubicBezTo>
                      <a:pt x="12279" y="16826"/>
                      <a:pt x="11560" y="16875"/>
                      <a:pt x="10800" y="16875"/>
                    </a:cubicBezTo>
                    <a:cubicBezTo>
                      <a:pt x="10037" y="16875"/>
                      <a:pt x="9318" y="16826"/>
                      <a:pt x="8640" y="16749"/>
                    </a:cubicBezTo>
                    <a:cubicBezTo>
                      <a:pt x="8016" y="16681"/>
                      <a:pt x="7435" y="16582"/>
                      <a:pt x="6914" y="16459"/>
                    </a:cubicBezTo>
                    <a:cubicBezTo>
                      <a:pt x="6908" y="16458"/>
                      <a:pt x="6901" y="16457"/>
                      <a:pt x="6893" y="16454"/>
                    </a:cubicBezTo>
                    <a:cubicBezTo>
                      <a:pt x="6385" y="16334"/>
                      <a:pt x="5937" y="16192"/>
                      <a:pt x="5562" y="16031"/>
                    </a:cubicBezTo>
                    <a:cubicBezTo>
                      <a:pt x="5553" y="16027"/>
                      <a:pt x="5541" y="16024"/>
                      <a:pt x="5531" y="16020"/>
                    </a:cubicBezTo>
                    <a:cubicBezTo>
                      <a:pt x="5184" y="15870"/>
                      <a:pt x="4921" y="15701"/>
                      <a:pt x="4715" y="15523"/>
                    </a:cubicBezTo>
                    <a:cubicBezTo>
                      <a:pt x="4676" y="15487"/>
                      <a:pt x="4644" y="15452"/>
                      <a:pt x="4612" y="15416"/>
                    </a:cubicBezTo>
                    <a:cubicBezTo>
                      <a:pt x="4437" y="15236"/>
                      <a:pt x="4320" y="15047"/>
                      <a:pt x="4320" y="14850"/>
                    </a:cubicBezTo>
                    <a:cubicBezTo>
                      <a:pt x="4320" y="14650"/>
                      <a:pt x="4437" y="14462"/>
                      <a:pt x="4612" y="14281"/>
                    </a:cubicBezTo>
                    <a:cubicBezTo>
                      <a:pt x="4644" y="14246"/>
                      <a:pt x="4676" y="14210"/>
                      <a:pt x="4715" y="14176"/>
                    </a:cubicBezTo>
                    <a:cubicBezTo>
                      <a:pt x="4921" y="13998"/>
                      <a:pt x="5184" y="13829"/>
                      <a:pt x="5531" y="13677"/>
                    </a:cubicBezTo>
                    <a:cubicBezTo>
                      <a:pt x="5541" y="13674"/>
                      <a:pt x="5553" y="13671"/>
                      <a:pt x="5562" y="13667"/>
                    </a:cubicBezTo>
                    <a:cubicBezTo>
                      <a:pt x="5937" y="13507"/>
                      <a:pt x="6385" y="13364"/>
                      <a:pt x="6893" y="13244"/>
                    </a:cubicBezTo>
                    <a:cubicBezTo>
                      <a:pt x="6901" y="13242"/>
                      <a:pt x="6908" y="13240"/>
                      <a:pt x="6914" y="13238"/>
                    </a:cubicBezTo>
                    <a:cubicBezTo>
                      <a:pt x="7435" y="13117"/>
                      <a:pt x="8016" y="13018"/>
                      <a:pt x="8640" y="12948"/>
                    </a:cubicBezTo>
                    <a:cubicBezTo>
                      <a:pt x="9318" y="12873"/>
                      <a:pt x="10037" y="12825"/>
                      <a:pt x="10800" y="12825"/>
                    </a:cubicBezTo>
                    <a:cubicBezTo>
                      <a:pt x="11560" y="12825"/>
                      <a:pt x="12279" y="12873"/>
                      <a:pt x="12960" y="12948"/>
                    </a:cubicBezTo>
                    <a:cubicBezTo>
                      <a:pt x="13584" y="13018"/>
                      <a:pt x="14163" y="13117"/>
                      <a:pt x="14686" y="13238"/>
                    </a:cubicBezTo>
                    <a:cubicBezTo>
                      <a:pt x="14692" y="13240"/>
                      <a:pt x="14697" y="13242"/>
                      <a:pt x="14705" y="13244"/>
                    </a:cubicBezTo>
                    <a:cubicBezTo>
                      <a:pt x="15214" y="13364"/>
                      <a:pt x="15662" y="13507"/>
                      <a:pt x="16038" y="13667"/>
                    </a:cubicBezTo>
                    <a:cubicBezTo>
                      <a:pt x="16044" y="13671"/>
                      <a:pt x="16057" y="13674"/>
                      <a:pt x="16066" y="13677"/>
                    </a:cubicBezTo>
                    <a:cubicBezTo>
                      <a:pt x="16414" y="13829"/>
                      <a:pt x="16677" y="13998"/>
                      <a:pt x="16883" y="14176"/>
                    </a:cubicBezTo>
                    <a:cubicBezTo>
                      <a:pt x="16923" y="14210"/>
                      <a:pt x="16954" y="14246"/>
                      <a:pt x="16988" y="14281"/>
                    </a:cubicBezTo>
                    <a:cubicBezTo>
                      <a:pt x="17161" y="14462"/>
                      <a:pt x="17280" y="14650"/>
                      <a:pt x="17280" y="14850"/>
                    </a:cubicBezTo>
                    <a:cubicBezTo>
                      <a:pt x="17280" y="15047"/>
                      <a:pt x="17161" y="15236"/>
                      <a:pt x="16988" y="15416"/>
                    </a:cubicBezTo>
                    <a:moveTo>
                      <a:pt x="12960" y="19575"/>
                    </a:moveTo>
                    <a:cubicBezTo>
                      <a:pt x="12960" y="19948"/>
                      <a:pt x="11992" y="20249"/>
                      <a:pt x="10800" y="20249"/>
                    </a:cubicBezTo>
                    <a:cubicBezTo>
                      <a:pt x="9606" y="20249"/>
                      <a:pt x="8640" y="19948"/>
                      <a:pt x="8640" y="19575"/>
                    </a:cubicBezTo>
                    <a:lnTo>
                      <a:pt x="8640" y="18156"/>
                    </a:lnTo>
                    <a:cubicBezTo>
                      <a:pt x="9338" y="18201"/>
                      <a:pt x="10059" y="18225"/>
                      <a:pt x="10800" y="18225"/>
                    </a:cubicBezTo>
                    <a:cubicBezTo>
                      <a:pt x="11541" y="18225"/>
                      <a:pt x="12262" y="18201"/>
                      <a:pt x="12960" y="18156"/>
                    </a:cubicBezTo>
                    <a:cubicBezTo>
                      <a:pt x="12960" y="18156"/>
                      <a:pt x="12960" y="19575"/>
                      <a:pt x="12960" y="19575"/>
                    </a:cubicBezTo>
                    <a:close/>
                    <a:moveTo>
                      <a:pt x="8640" y="2025"/>
                    </a:moveTo>
                    <a:cubicBezTo>
                      <a:pt x="8640" y="1651"/>
                      <a:pt x="9606" y="1350"/>
                      <a:pt x="10800" y="1350"/>
                    </a:cubicBezTo>
                    <a:cubicBezTo>
                      <a:pt x="11992" y="1350"/>
                      <a:pt x="12960" y="1651"/>
                      <a:pt x="12960" y="2025"/>
                    </a:cubicBezTo>
                    <a:lnTo>
                      <a:pt x="12960" y="11542"/>
                    </a:lnTo>
                    <a:cubicBezTo>
                      <a:pt x="12262" y="11498"/>
                      <a:pt x="11541" y="11475"/>
                      <a:pt x="10800" y="11475"/>
                    </a:cubicBezTo>
                    <a:cubicBezTo>
                      <a:pt x="10059" y="11475"/>
                      <a:pt x="9338" y="11498"/>
                      <a:pt x="8640" y="11542"/>
                    </a:cubicBezTo>
                    <a:cubicBezTo>
                      <a:pt x="8640" y="11542"/>
                      <a:pt x="8640" y="2025"/>
                      <a:pt x="8640" y="2025"/>
                    </a:cubicBezTo>
                    <a:close/>
                    <a:moveTo>
                      <a:pt x="17280" y="12164"/>
                    </a:moveTo>
                    <a:lnTo>
                      <a:pt x="17280" y="2025"/>
                    </a:lnTo>
                    <a:cubicBezTo>
                      <a:pt x="17280" y="908"/>
                      <a:pt x="14373" y="0"/>
                      <a:pt x="10800" y="0"/>
                    </a:cubicBezTo>
                    <a:cubicBezTo>
                      <a:pt x="7225" y="0"/>
                      <a:pt x="4320" y="908"/>
                      <a:pt x="4320" y="2025"/>
                    </a:cubicBezTo>
                    <a:lnTo>
                      <a:pt x="4320" y="12164"/>
                    </a:lnTo>
                    <a:cubicBezTo>
                      <a:pt x="1710" y="12781"/>
                      <a:pt x="0" y="13749"/>
                      <a:pt x="0" y="14850"/>
                    </a:cubicBezTo>
                    <a:cubicBezTo>
                      <a:pt x="0" y="15950"/>
                      <a:pt x="1710" y="16918"/>
                      <a:pt x="4320" y="17534"/>
                    </a:cubicBezTo>
                    <a:lnTo>
                      <a:pt x="4320" y="19575"/>
                    </a:lnTo>
                    <a:cubicBezTo>
                      <a:pt x="4320" y="20691"/>
                      <a:pt x="7225" y="21599"/>
                      <a:pt x="10800" y="21599"/>
                    </a:cubicBezTo>
                    <a:cubicBezTo>
                      <a:pt x="14373" y="21599"/>
                      <a:pt x="17280" y="20691"/>
                      <a:pt x="17280" y="19575"/>
                    </a:cubicBezTo>
                    <a:lnTo>
                      <a:pt x="17280" y="17534"/>
                    </a:lnTo>
                    <a:cubicBezTo>
                      <a:pt x="19889" y="16918"/>
                      <a:pt x="21600" y="15950"/>
                      <a:pt x="21600" y="14850"/>
                    </a:cubicBezTo>
                    <a:cubicBezTo>
                      <a:pt x="21600" y="13749"/>
                      <a:pt x="19889" y="12781"/>
                      <a:pt x="17280" y="12164"/>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ea typeface="+mn-ea"/>
                  <a:cs typeface="+mn-cs"/>
                  <a:sym typeface="Gill Sans" charset="0"/>
                </a:endParaRPr>
              </a:p>
            </p:txBody>
          </p:sp>
        </p:grpSp>
      </p:grpSp>
      <p:grpSp>
        <p:nvGrpSpPr>
          <p:cNvPr id="104464" name="Group 31"/>
          <p:cNvGrpSpPr/>
          <p:nvPr/>
        </p:nvGrpSpPr>
        <p:grpSpPr>
          <a:xfrm>
            <a:off x="1235174" y="3248025"/>
            <a:ext cx="539750" cy="539750"/>
            <a:chOff x="6528170" y="1885071"/>
            <a:chExt cx="914400" cy="914400"/>
          </a:xfrm>
        </p:grpSpPr>
        <p:sp>
          <p:nvSpPr>
            <p:cNvPr id="66" name="Rounded Rectangle 7"/>
            <p:cNvSpPr/>
            <p:nvPr/>
          </p:nvSpPr>
          <p:spPr>
            <a:xfrm>
              <a:off x="6528170" y="1885071"/>
              <a:ext cx="914400" cy="914400"/>
            </a:xfrm>
            <a:prstGeom prst="roundRect">
              <a:avLst/>
            </a:prstGeom>
            <a:solidFill>
              <a:srgbClr val="8064A2"/>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67" name="Group 83"/>
            <p:cNvGrpSpPr/>
            <p:nvPr/>
          </p:nvGrpSpPr>
          <p:grpSpPr>
            <a:xfrm>
              <a:off x="6758963" y="2110099"/>
              <a:ext cx="465138" cy="464344"/>
              <a:chOff x="2581275" y="2582069"/>
              <a:chExt cx="465138" cy="464344"/>
            </a:xfrm>
            <a:solidFill>
              <a:srgbClr val="EEECE1"/>
            </a:solidFill>
          </p:grpSpPr>
          <p:sp>
            <p:nvSpPr>
              <p:cNvPr id="68" name="AutoShape 128"/>
              <p:cNvSpPr/>
              <p:nvPr/>
            </p:nvSpPr>
            <p:spPr bwMode="auto">
              <a:xfrm>
                <a:off x="2581275" y="2582069"/>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69" name="AutoShape 129"/>
              <p:cNvSpPr/>
              <p:nvPr/>
            </p:nvSpPr>
            <p:spPr bwMode="auto">
              <a:xfrm>
                <a:off x="2871788" y="2640013"/>
                <a:ext cx="115888" cy="115888"/>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ea typeface="+mn-ea"/>
                  <a:cs typeface="+mn-cs"/>
                  <a:sym typeface="Gill Sans" charset="0"/>
                </a:endParaRPr>
              </a:p>
            </p:txBody>
          </p:sp>
        </p:grpSp>
      </p:grpSp>
      <p:cxnSp>
        <p:nvCxnSpPr>
          <p:cNvPr id="2" name="直接连接符 1"/>
          <p:cNvCxnSpPr/>
          <p:nvPr/>
        </p:nvCxnSpPr>
        <p:spPr bwMode="auto">
          <a:xfrm>
            <a:off x="33096" y="1775497"/>
            <a:ext cx="9144000" cy="0"/>
          </a:xfrm>
          <a:prstGeom prst="line">
            <a:avLst/>
          </a:prstGeom>
          <a:solidFill>
            <a:schemeClr val="accent1"/>
          </a:solidFill>
          <a:ln w="28575" cap="flat" cmpd="sng" algn="ctr">
            <a:solidFill>
              <a:schemeClr val="tx1">
                <a:lumMod val="50000"/>
                <a:lumOff val="50000"/>
              </a:schemeClr>
            </a:solidFill>
            <a:prstDash val="dash"/>
            <a:round/>
            <a:headEnd type="none" w="med" len="med"/>
            <a:tailEnd type="none" w="med" len="med"/>
          </a:ln>
        </p:spPr>
      </p:cxn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16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5474" name="圆角矩形 1"/>
          <p:cNvSpPr/>
          <p:nvPr/>
        </p:nvSpPr>
        <p:spPr>
          <a:xfrm>
            <a:off x="5364163" y="1014413"/>
            <a:ext cx="3311525" cy="2136775"/>
          </a:xfrm>
          <a:prstGeom prst="roundRect">
            <a:avLst>
              <a:gd name="adj" fmla="val 6569"/>
            </a:avLst>
          </a:prstGeom>
          <a:no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101378" name="Text Box 4"/>
          <p:cNvSpPr txBox="1">
            <a:spLocks noChangeArrowheads="1"/>
          </p:cNvSpPr>
          <p:nvPr/>
        </p:nvSpPr>
        <p:spPr bwMode="auto">
          <a:xfrm>
            <a:off x="368300" y="1281113"/>
            <a:ext cx="4695825" cy="958850"/>
          </a:xfrm>
          <a:prstGeom prst="roundRect">
            <a:avLst>
              <a:gd name="adj" fmla="val 12699"/>
            </a:avLst>
          </a:prstGeom>
          <a:no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例:设</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n=4,  w={70,50,20,40}</a:t>
            </a:r>
          </a:p>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试设计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huffman</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code (m=2*4-1=7)</a:t>
            </a:r>
            <a:endPar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endParaRPr>
          </a:p>
        </p:txBody>
      </p:sp>
      <p:graphicFrame>
        <p:nvGraphicFramePr>
          <p:cNvPr id="99332" name="表格 99331"/>
          <p:cNvGraphicFramePr/>
          <p:nvPr>
            <p:custDataLst>
              <p:tags r:id="rId1"/>
            </p:custDataLst>
          </p:nvPr>
        </p:nvGraphicFramePr>
        <p:xfrm>
          <a:off x="439738" y="3197225"/>
          <a:ext cx="4040186" cy="3395664"/>
        </p:xfrm>
        <a:graphic>
          <a:graphicData uri="http://schemas.openxmlformats.org/drawingml/2006/table">
            <a:tbl>
              <a:tblPr/>
              <a:tblGrid>
                <a:gridCol w="526992"/>
                <a:gridCol w="936521"/>
                <a:gridCol w="902970"/>
                <a:gridCol w="765308"/>
                <a:gridCol w="908395"/>
              </a:tblGrid>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weight</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parent</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lch</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rch</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1</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70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2</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50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3</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20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4</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40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5</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6</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7</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graphicFrame>
        <p:nvGraphicFramePr>
          <p:cNvPr id="99388" name="表格 99387"/>
          <p:cNvGraphicFramePr/>
          <p:nvPr/>
        </p:nvGraphicFramePr>
        <p:xfrm>
          <a:off x="4635500" y="3201988"/>
          <a:ext cx="4040188" cy="3395664"/>
        </p:xfrm>
        <a:graphic>
          <a:graphicData uri="http://schemas.openxmlformats.org/drawingml/2006/table">
            <a:tbl>
              <a:tblPr/>
              <a:tblGrid>
                <a:gridCol w="527050"/>
                <a:gridCol w="936625"/>
                <a:gridCol w="903288"/>
                <a:gridCol w="765175"/>
                <a:gridCol w="908050"/>
              </a:tblGrid>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solidFill>
                          <a:schemeClr val="bg1"/>
                        </a:solidFill>
                        <a:latin typeface="+mn-lt"/>
                        <a:ea typeface="+mn-ea"/>
                        <a:cs typeface="+mn-ea"/>
                        <a:sym typeface="+mn-lt"/>
                      </a:endParaRP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weight</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parent</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lch</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rch</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1</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70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rgbClr val="FF3300"/>
                          </a:solidFill>
                          <a:latin typeface="+mn-lt"/>
                          <a:ea typeface="+mn-ea"/>
                          <a:cs typeface="+mn-ea"/>
                          <a:sym typeface="+mn-lt"/>
                        </a:rPr>
                        <a:t>7</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2</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50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rgbClr val="FF3300"/>
                          </a:solidFill>
                          <a:latin typeface="+mn-lt"/>
                          <a:ea typeface="+mn-ea"/>
                          <a:cs typeface="+mn-ea"/>
                          <a:sym typeface="+mn-lt"/>
                        </a:rPr>
                        <a:t>6</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3</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20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rgbClr val="FF3300"/>
                          </a:solidFill>
                          <a:latin typeface="+mn-lt"/>
                          <a:ea typeface="+mn-ea"/>
                          <a:cs typeface="+mn-ea"/>
                          <a:sym typeface="+mn-lt"/>
                        </a:rPr>
                        <a:t>5</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4</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latin typeface="+mn-lt"/>
                          <a:ea typeface="+mn-ea"/>
                          <a:cs typeface="+mn-ea"/>
                          <a:sym typeface="+mn-lt"/>
                        </a:rPr>
                        <a:t>40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5</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5</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60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6</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3</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4</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6</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110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7</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2</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5</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7</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180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1</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6</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grpSp>
        <p:nvGrpSpPr>
          <p:cNvPr id="105588" name="Group 117"/>
          <p:cNvGrpSpPr/>
          <p:nvPr/>
        </p:nvGrpSpPr>
        <p:grpSpPr>
          <a:xfrm>
            <a:off x="6003925" y="716280"/>
            <a:ext cx="2173288" cy="2211388"/>
            <a:chOff x="3439" y="1461"/>
            <a:chExt cx="1094" cy="1393"/>
          </a:xfrm>
        </p:grpSpPr>
        <p:grpSp>
          <p:nvGrpSpPr>
            <p:cNvPr id="105591" name="Group 118"/>
            <p:cNvGrpSpPr/>
            <p:nvPr/>
          </p:nvGrpSpPr>
          <p:grpSpPr>
            <a:xfrm>
              <a:off x="3439" y="1755"/>
              <a:ext cx="248" cy="433"/>
              <a:chOff x="983" y="434"/>
              <a:chExt cx="248" cy="433"/>
            </a:xfrm>
          </p:grpSpPr>
          <p:sp>
            <p:nvSpPr>
              <p:cNvPr id="101493" name="Oval 119"/>
              <p:cNvSpPr>
                <a:spLocks noChangeArrowheads="1"/>
              </p:cNvSpPr>
              <p:nvPr/>
            </p:nvSpPr>
            <p:spPr bwMode="auto">
              <a:xfrm>
                <a:off x="1022" y="689"/>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bg1"/>
                    </a:solidFill>
                    <a:effectLst/>
                    <a:uLnTx/>
                    <a:uFillTx/>
                    <a:latin typeface="+mn-lt"/>
                    <a:ea typeface="+mn-ea"/>
                    <a:cs typeface="+mn-ea"/>
                    <a:sym typeface="+mn-lt"/>
                  </a:rPr>
                  <a:t>a</a:t>
                </a:r>
              </a:p>
            </p:txBody>
          </p:sp>
          <p:sp>
            <p:nvSpPr>
              <p:cNvPr id="101494" name="Text Box 120"/>
              <p:cNvSpPr txBox="1">
                <a:spLocks noChangeArrowheads="1"/>
              </p:cNvSpPr>
              <p:nvPr/>
            </p:nvSpPr>
            <p:spPr bwMode="auto">
              <a:xfrm>
                <a:off x="983" y="434"/>
                <a:ext cx="24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70</a:t>
                </a:r>
              </a:p>
            </p:txBody>
          </p:sp>
        </p:grpSp>
        <p:grpSp>
          <p:nvGrpSpPr>
            <p:cNvPr id="105592" name="Group 121"/>
            <p:cNvGrpSpPr/>
            <p:nvPr/>
          </p:nvGrpSpPr>
          <p:grpSpPr>
            <a:xfrm>
              <a:off x="3698" y="1805"/>
              <a:ext cx="835" cy="1049"/>
              <a:chOff x="1625" y="2643"/>
              <a:chExt cx="835" cy="1049"/>
            </a:xfrm>
          </p:grpSpPr>
          <p:grpSp>
            <p:nvGrpSpPr>
              <p:cNvPr id="105598" name="Group 122"/>
              <p:cNvGrpSpPr/>
              <p:nvPr/>
            </p:nvGrpSpPr>
            <p:grpSpPr>
              <a:xfrm>
                <a:off x="1625" y="2929"/>
                <a:ext cx="248" cy="441"/>
                <a:chOff x="1300" y="426"/>
                <a:chExt cx="234" cy="441"/>
              </a:xfrm>
            </p:grpSpPr>
            <p:sp>
              <p:nvSpPr>
                <p:cNvPr id="101497" name="Oval 123"/>
                <p:cNvSpPr>
                  <a:spLocks noChangeArrowheads="1"/>
                </p:cNvSpPr>
                <p:nvPr/>
              </p:nvSpPr>
              <p:spPr bwMode="auto">
                <a:xfrm>
                  <a:off x="1321" y="689"/>
                  <a:ext cx="166"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bg1"/>
                      </a:solidFill>
                      <a:effectLst/>
                      <a:uLnTx/>
                      <a:uFillTx/>
                      <a:latin typeface="+mn-lt"/>
                      <a:ea typeface="+mn-ea"/>
                      <a:cs typeface="+mn-ea"/>
                      <a:sym typeface="+mn-lt"/>
                    </a:rPr>
                    <a:t>b</a:t>
                  </a:r>
                </a:p>
              </p:txBody>
            </p:sp>
            <p:sp>
              <p:nvSpPr>
                <p:cNvPr id="101498" name="Text Box 124"/>
                <p:cNvSpPr txBox="1">
                  <a:spLocks noChangeArrowheads="1"/>
                </p:cNvSpPr>
                <p:nvPr/>
              </p:nvSpPr>
              <p:spPr bwMode="auto">
                <a:xfrm>
                  <a:off x="1300" y="426"/>
                  <a:ext cx="23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50</a:t>
                  </a:r>
                </a:p>
              </p:txBody>
            </p:sp>
          </p:grpSp>
          <p:grpSp>
            <p:nvGrpSpPr>
              <p:cNvPr id="105599" name="Group 125"/>
              <p:cNvGrpSpPr/>
              <p:nvPr/>
            </p:nvGrpSpPr>
            <p:grpSpPr>
              <a:xfrm>
                <a:off x="1836" y="2971"/>
                <a:ext cx="624" cy="721"/>
                <a:chOff x="1606" y="1453"/>
                <a:chExt cx="624" cy="721"/>
              </a:xfrm>
            </p:grpSpPr>
            <p:grpSp>
              <p:nvGrpSpPr>
                <p:cNvPr id="105605" name="Group 126"/>
                <p:cNvGrpSpPr/>
                <p:nvPr/>
              </p:nvGrpSpPr>
              <p:grpSpPr>
                <a:xfrm>
                  <a:off x="1606" y="1729"/>
                  <a:ext cx="248" cy="445"/>
                  <a:chOff x="1599" y="422"/>
                  <a:chExt cx="248" cy="445"/>
                </a:xfrm>
              </p:grpSpPr>
              <p:sp>
                <p:nvSpPr>
                  <p:cNvPr id="101501" name="Oval 127"/>
                  <p:cNvSpPr>
                    <a:spLocks noChangeArrowheads="1"/>
                  </p:cNvSpPr>
                  <p:nvPr/>
                </p:nvSpPr>
                <p:spPr bwMode="auto">
                  <a:xfrm>
                    <a:off x="1620" y="689"/>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bg1"/>
                        </a:solidFill>
                        <a:effectLst/>
                        <a:uLnTx/>
                        <a:uFillTx/>
                        <a:latin typeface="+mn-lt"/>
                        <a:ea typeface="+mn-ea"/>
                        <a:cs typeface="+mn-ea"/>
                        <a:sym typeface="+mn-lt"/>
                      </a:rPr>
                      <a:t>c</a:t>
                    </a:r>
                  </a:p>
                </p:txBody>
              </p:sp>
              <p:sp>
                <p:nvSpPr>
                  <p:cNvPr id="101502" name="Text Box 128"/>
                  <p:cNvSpPr txBox="1">
                    <a:spLocks noChangeArrowheads="1"/>
                  </p:cNvSpPr>
                  <p:nvPr/>
                </p:nvSpPr>
                <p:spPr bwMode="auto">
                  <a:xfrm>
                    <a:off x="1599" y="422"/>
                    <a:ext cx="24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20</a:t>
                    </a:r>
                  </a:p>
                </p:txBody>
              </p:sp>
            </p:grpSp>
            <p:grpSp>
              <p:nvGrpSpPr>
                <p:cNvPr id="105606" name="Group 129"/>
                <p:cNvGrpSpPr/>
                <p:nvPr/>
              </p:nvGrpSpPr>
              <p:grpSpPr>
                <a:xfrm>
                  <a:off x="1982" y="1729"/>
                  <a:ext cx="248" cy="445"/>
                  <a:chOff x="1909" y="422"/>
                  <a:chExt cx="248" cy="445"/>
                </a:xfrm>
              </p:grpSpPr>
              <p:sp>
                <p:nvSpPr>
                  <p:cNvPr id="101504" name="Oval 130"/>
                  <p:cNvSpPr>
                    <a:spLocks noChangeArrowheads="1"/>
                  </p:cNvSpPr>
                  <p:nvPr/>
                </p:nvSpPr>
                <p:spPr bwMode="auto">
                  <a:xfrm>
                    <a:off x="1920" y="689"/>
                    <a:ext cx="165"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bg1"/>
                        </a:solidFill>
                        <a:effectLst/>
                        <a:uLnTx/>
                        <a:uFillTx/>
                        <a:latin typeface="+mn-lt"/>
                        <a:ea typeface="+mn-ea"/>
                        <a:cs typeface="+mn-ea"/>
                        <a:sym typeface="+mn-lt"/>
                      </a:rPr>
                      <a:t>d</a:t>
                    </a:r>
                  </a:p>
                </p:txBody>
              </p:sp>
              <p:sp>
                <p:nvSpPr>
                  <p:cNvPr id="101505" name="Text Box 131"/>
                  <p:cNvSpPr txBox="1">
                    <a:spLocks noChangeArrowheads="1"/>
                  </p:cNvSpPr>
                  <p:nvPr/>
                </p:nvSpPr>
                <p:spPr bwMode="auto">
                  <a:xfrm>
                    <a:off x="1909" y="422"/>
                    <a:ext cx="24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40</a:t>
                    </a:r>
                  </a:p>
                </p:txBody>
              </p:sp>
            </p:grpSp>
            <p:grpSp>
              <p:nvGrpSpPr>
                <p:cNvPr id="105607" name="Group 132"/>
                <p:cNvGrpSpPr/>
                <p:nvPr/>
              </p:nvGrpSpPr>
              <p:grpSpPr>
                <a:xfrm>
                  <a:off x="1816" y="1453"/>
                  <a:ext cx="172" cy="388"/>
                  <a:chOff x="1782" y="1597"/>
                  <a:chExt cx="172" cy="388"/>
                </a:xfrm>
              </p:grpSpPr>
              <p:sp>
                <p:nvSpPr>
                  <p:cNvPr id="101507" name="Oval 133"/>
                  <p:cNvSpPr>
                    <a:spLocks noChangeArrowheads="1"/>
                  </p:cNvSpPr>
                  <p:nvPr/>
                </p:nvSpPr>
                <p:spPr bwMode="auto">
                  <a:xfrm>
                    <a:off x="1782" y="1807"/>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1508" name="Text Box 134"/>
                  <p:cNvSpPr txBox="1">
                    <a:spLocks noChangeArrowheads="1"/>
                  </p:cNvSpPr>
                  <p:nvPr/>
                </p:nvSpPr>
                <p:spPr bwMode="auto">
                  <a:xfrm>
                    <a:off x="1838" y="1597"/>
                    <a:ext cx="1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mn-lt"/>
                      <a:ea typeface="+mn-ea"/>
                      <a:cs typeface="+mn-ea"/>
                      <a:sym typeface="+mn-lt"/>
                    </a:endParaRPr>
                  </a:p>
                </p:txBody>
              </p:sp>
            </p:grpSp>
            <p:sp>
              <p:nvSpPr>
                <p:cNvPr id="101509" name="Line 135"/>
                <p:cNvSpPr>
                  <a:spLocks noChangeShapeType="1"/>
                </p:cNvSpPr>
                <p:nvPr/>
              </p:nvSpPr>
              <p:spPr bwMode="auto">
                <a:xfrm flipH="1">
                  <a:off x="1767" y="1833"/>
                  <a:ext cx="100" cy="18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1510" name="Line 136"/>
                <p:cNvSpPr>
                  <a:spLocks noChangeShapeType="1"/>
                </p:cNvSpPr>
                <p:nvPr/>
              </p:nvSpPr>
              <p:spPr bwMode="auto">
                <a:xfrm>
                  <a:off x="1922" y="1833"/>
                  <a:ext cx="112" cy="17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05600" name="Group 137"/>
              <p:cNvGrpSpPr/>
              <p:nvPr/>
            </p:nvGrpSpPr>
            <p:grpSpPr>
              <a:xfrm>
                <a:off x="1841" y="2643"/>
                <a:ext cx="176" cy="379"/>
                <a:chOff x="1321" y="488"/>
                <a:chExt cx="167" cy="379"/>
              </a:xfrm>
            </p:grpSpPr>
            <p:sp>
              <p:nvSpPr>
                <p:cNvPr id="101512" name="Oval 138"/>
                <p:cNvSpPr>
                  <a:spLocks noChangeArrowheads="1"/>
                </p:cNvSpPr>
                <p:nvPr/>
              </p:nvSpPr>
              <p:spPr bwMode="auto">
                <a:xfrm>
                  <a:off x="1321" y="689"/>
                  <a:ext cx="168"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1513" name="Text Box 139"/>
                <p:cNvSpPr txBox="1">
                  <a:spLocks noChangeArrowheads="1"/>
                </p:cNvSpPr>
                <p:nvPr/>
              </p:nvSpPr>
              <p:spPr bwMode="auto">
                <a:xfrm>
                  <a:off x="1366" y="488"/>
                  <a:ext cx="11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mn-lt"/>
                    <a:ea typeface="+mn-ea"/>
                    <a:cs typeface="+mn-ea"/>
                    <a:sym typeface="+mn-lt"/>
                  </a:endParaRPr>
                </a:p>
              </p:txBody>
            </p:sp>
          </p:grpSp>
          <p:sp>
            <p:nvSpPr>
              <p:cNvPr id="101514" name="Line 140"/>
              <p:cNvSpPr>
                <a:spLocks noChangeShapeType="1"/>
              </p:cNvSpPr>
              <p:nvPr/>
            </p:nvSpPr>
            <p:spPr bwMode="auto">
              <a:xfrm flipH="1">
                <a:off x="1800" y="3011"/>
                <a:ext cx="89"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1515" name="Line 141"/>
              <p:cNvSpPr>
                <a:spLocks noChangeShapeType="1"/>
              </p:cNvSpPr>
              <p:nvPr/>
            </p:nvSpPr>
            <p:spPr bwMode="auto">
              <a:xfrm>
                <a:off x="1978" y="3011"/>
                <a:ext cx="100"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05593" name="Group 142"/>
            <p:cNvGrpSpPr/>
            <p:nvPr/>
          </p:nvGrpSpPr>
          <p:grpSpPr>
            <a:xfrm>
              <a:off x="3697" y="1461"/>
              <a:ext cx="180" cy="390"/>
              <a:chOff x="1022" y="477"/>
              <a:chExt cx="180" cy="390"/>
            </a:xfrm>
          </p:grpSpPr>
          <p:sp>
            <p:nvSpPr>
              <p:cNvPr id="101517" name="Oval 143"/>
              <p:cNvSpPr>
                <a:spLocks noChangeArrowheads="1"/>
              </p:cNvSpPr>
              <p:nvPr/>
            </p:nvSpPr>
            <p:spPr bwMode="auto">
              <a:xfrm>
                <a:off x="1022" y="689"/>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1518" name="Text Box 144"/>
              <p:cNvSpPr txBox="1">
                <a:spLocks noChangeArrowheads="1"/>
              </p:cNvSpPr>
              <p:nvPr/>
            </p:nvSpPr>
            <p:spPr bwMode="auto">
              <a:xfrm>
                <a:off x="1086" y="477"/>
                <a:ext cx="1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mn-lt"/>
                  <a:ea typeface="+mn-ea"/>
                  <a:cs typeface="+mn-ea"/>
                  <a:sym typeface="+mn-lt"/>
                </a:endParaRPr>
              </a:p>
            </p:txBody>
          </p:sp>
        </p:grpSp>
        <p:sp>
          <p:nvSpPr>
            <p:cNvPr id="101519" name="Line 145"/>
            <p:cNvSpPr>
              <a:spLocks noChangeShapeType="1"/>
            </p:cNvSpPr>
            <p:nvPr/>
          </p:nvSpPr>
          <p:spPr bwMode="auto">
            <a:xfrm flipH="1">
              <a:off x="3623" y="1822"/>
              <a:ext cx="111" cy="21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1520" name="Line 146"/>
            <p:cNvSpPr>
              <a:spLocks noChangeShapeType="1"/>
            </p:cNvSpPr>
            <p:nvPr/>
          </p:nvSpPr>
          <p:spPr bwMode="auto">
            <a:xfrm>
              <a:off x="3812" y="1844"/>
              <a:ext cx="121"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52467" name="AutoShape 147"/>
          <p:cNvSpPr>
            <a:spLocks noChangeArrowheads="1"/>
          </p:cNvSpPr>
          <p:nvPr/>
        </p:nvSpPr>
        <p:spPr bwMode="auto">
          <a:xfrm>
            <a:off x="3797300" y="2781300"/>
            <a:ext cx="1584325" cy="279400"/>
          </a:xfrm>
          <a:prstGeom prst="curvedDownArrow">
            <a:avLst>
              <a:gd name="adj1" fmla="val 48802"/>
              <a:gd name="adj2" fmla="val 97604"/>
              <a:gd name="adj3" fmla="val 33324"/>
            </a:avLst>
          </a:prstGeom>
          <a:solidFill>
            <a:schemeClr val="accent1">
              <a:lumMod val="60000"/>
              <a:lumOff val="40000"/>
            </a:schemeClr>
          </a:solidFill>
          <a:ln w="9525">
            <a:solidFill>
              <a:schemeClr val="accent1">
                <a:lumMod val="60000"/>
                <a:lumOff val="40000"/>
              </a:schemeClr>
            </a:solid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36" name="Rectangle 3"/>
          <p:cNvSpPr>
            <a:spLocks noChangeArrowheads="1"/>
          </p:cNvSpPr>
          <p:nvPr/>
        </p:nvSpPr>
        <p:spPr bwMode="auto">
          <a:xfrm>
            <a:off x="827088" y="223838"/>
            <a:ext cx="65881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哈夫曼树构造算法的实现</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99332"/>
                                        </p:tgtEl>
                                        <p:attrNameLst>
                                          <p:attrName>style.visibility</p:attrName>
                                        </p:attrNameLst>
                                      </p:cBhvr>
                                      <p:to>
                                        <p:strVal val="visible"/>
                                      </p:to>
                                    </p:set>
                                    <p:anim calcmode="lin" valueType="num">
                                      <p:cBhvr additive="base">
                                        <p:cTn id="7" dur="500" fill="hold"/>
                                        <p:tgtEl>
                                          <p:spTgt spid="99332"/>
                                        </p:tgtEl>
                                        <p:attrNameLst>
                                          <p:attrName>ppt_x</p:attrName>
                                        </p:attrNameLst>
                                      </p:cBhvr>
                                      <p:tavLst>
                                        <p:tav tm="0">
                                          <p:val>
                                            <p:strVal val="#ppt_x"/>
                                          </p:val>
                                        </p:tav>
                                        <p:tav tm="100000">
                                          <p:val>
                                            <p:strVal val="#ppt_x"/>
                                          </p:val>
                                        </p:tav>
                                      </p:tavLst>
                                    </p:anim>
                                    <p:anim calcmode="lin" valueType="num">
                                      <p:cBhvr additive="base">
                                        <p:cTn id="8" dur="500" fill="hold"/>
                                        <p:tgtEl>
                                          <p:spTgt spid="9933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952467"/>
                                        </p:tgtEl>
                                        <p:attrNameLst>
                                          <p:attrName>style.visibility</p:attrName>
                                        </p:attrNameLst>
                                      </p:cBhvr>
                                      <p:to>
                                        <p:strVal val="visible"/>
                                      </p:to>
                                    </p:set>
                                    <p:anim calcmode="lin" valueType="num">
                                      <p:cBhvr additive="base">
                                        <p:cTn id="13" dur="500" fill="hold"/>
                                        <p:tgtEl>
                                          <p:spTgt spid="952467"/>
                                        </p:tgtEl>
                                        <p:attrNameLst>
                                          <p:attrName>ppt_x</p:attrName>
                                        </p:attrNameLst>
                                      </p:cBhvr>
                                      <p:tavLst>
                                        <p:tav tm="0">
                                          <p:val>
                                            <p:strVal val="#ppt_x"/>
                                          </p:val>
                                        </p:tav>
                                        <p:tav tm="100000">
                                          <p:val>
                                            <p:strVal val="#ppt_x"/>
                                          </p:val>
                                        </p:tav>
                                      </p:tavLst>
                                    </p:anim>
                                    <p:anim calcmode="lin" valueType="num">
                                      <p:cBhvr additive="base">
                                        <p:cTn id="14" dur="500" fill="hold"/>
                                        <p:tgtEl>
                                          <p:spTgt spid="952467"/>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 presetClass="entr" presetSubtype="16" fill="hold" nodeType="clickEffect">
                                  <p:stCondLst>
                                    <p:cond delay="0"/>
                                  </p:stCondLst>
                                  <p:childTnLst>
                                    <p:set>
                                      <p:cBhvr>
                                        <p:cTn id="18" dur="1" fill="hold">
                                          <p:stCondLst>
                                            <p:cond delay="0"/>
                                          </p:stCondLst>
                                        </p:cTn>
                                        <p:tgtEl>
                                          <p:spTgt spid="99388"/>
                                        </p:tgtEl>
                                        <p:attrNameLst>
                                          <p:attrName>style.visibility</p:attrName>
                                        </p:attrNameLst>
                                      </p:cBhvr>
                                      <p:to>
                                        <p:strVal val="visible"/>
                                      </p:to>
                                    </p:set>
                                    <p:animEffect transition="in" filter="box(in)">
                                      <p:cBhvr>
                                        <p:cTn id="19" dur="500"/>
                                        <p:tgtEl>
                                          <p:spTgt spid="993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2467" grpId="0" animBg="1"/>
    </p:bldLst>
  </p:timing>
</p:sld>
</file>

<file path=ppt/slides/slide16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5474" name="圆角矩形 1"/>
          <p:cNvSpPr/>
          <p:nvPr/>
        </p:nvSpPr>
        <p:spPr>
          <a:xfrm>
            <a:off x="5364163" y="1014413"/>
            <a:ext cx="3311525" cy="2136775"/>
          </a:xfrm>
          <a:prstGeom prst="roundRect">
            <a:avLst>
              <a:gd name="adj" fmla="val 6569"/>
            </a:avLst>
          </a:prstGeom>
          <a:no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0" lang="zh-CN" altLang="en-US" sz="2800" b="0" i="0" u="none" strike="noStrike" kern="1200" cap="none" spc="0" normalizeH="0" baseline="0" noProof="0" dirty="0">
              <a:ln>
                <a:noFill/>
              </a:ln>
              <a:solidFill>
                <a:srgbClr val="000000"/>
              </a:solidFill>
              <a:effectLst/>
              <a:uLnTx/>
              <a:uFillTx/>
              <a:latin typeface="Times New Roman" panose="02020603050405020304"/>
              <a:ea typeface="仿宋_GB2312" pitchFamily="49" charset="-122"/>
              <a:cs typeface="+mn-cs"/>
            </a:endParaRPr>
          </a:p>
        </p:txBody>
      </p:sp>
      <p:sp>
        <p:nvSpPr>
          <p:cNvPr id="101378" name="Text Box 4"/>
          <p:cNvSpPr txBox="1">
            <a:spLocks noChangeArrowheads="1"/>
          </p:cNvSpPr>
          <p:nvPr/>
        </p:nvSpPr>
        <p:spPr bwMode="auto">
          <a:xfrm>
            <a:off x="368300" y="1281113"/>
            <a:ext cx="4695825" cy="958850"/>
          </a:xfrm>
          <a:prstGeom prst="roundRect">
            <a:avLst>
              <a:gd name="adj" fmla="val 12699"/>
            </a:avLst>
          </a:prstGeom>
          <a:no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例:设</a:t>
            </a:r>
            <a:r>
              <a:rPr kumimoji="0" lang="en-US"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n=4,  w={70,50,20,40}</a:t>
            </a:r>
          </a:p>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试设计 </a:t>
            </a:r>
            <a:r>
              <a:rPr kumimoji="0" lang="en-US" altLang="zh-CN" sz="2400" b="0" i="0" u="none" strike="noStrike" kern="1200" cap="none" spc="0" normalizeH="0" baseline="0" noProof="0" dirty="0" err="1">
                <a:ln>
                  <a:noFill/>
                </a:ln>
                <a:solidFill>
                  <a:srgbClr val="000000"/>
                </a:solidFill>
                <a:effectLst/>
                <a:uLnTx/>
                <a:uFillTx/>
                <a:latin typeface="Times New Roman" panose="02020603050405020304"/>
                <a:ea typeface="微软雅黑" panose="020B0503020204020204" pitchFamily="34" charset="-122"/>
                <a:cs typeface="+mn-ea"/>
                <a:sym typeface="+mn-lt"/>
              </a:rPr>
              <a:t>huffman</a:t>
            </a:r>
            <a:r>
              <a:rPr kumimoji="0" lang="en-US"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 code (m=2*4-1=7)</a:t>
            </a:r>
            <a:endParaRPr kumimoji="0" lang="en-US" altLang="zh-CN" sz="28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graphicFrame>
        <p:nvGraphicFramePr>
          <p:cNvPr id="99332" name="表格 99331"/>
          <p:cNvGraphicFramePr/>
          <p:nvPr/>
        </p:nvGraphicFramePr>
        <p:xfrm>
          <a:off x="439738" y="3197225"/>
          <a:ext cx="4040186" cy="3395664"/>
        </p:xfrm>
        <a:graphic>
          <a:graphicData uri="http://schemas.openxmlformats.org/drawingml/2006/table">
            <a:tbl>
              <a:tblPr/>
              <a:tblGrid>
                <a:gridCol w="526992"/>
                <a:gridCol w="936521"/>
                <a:gridCol w="903188"/>
                <a:gridCol w="765090"/>
                <a:gridCol w="908395"/>
              </a:tblGrid>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weight</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parent</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lch</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rch</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1</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70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2</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50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3</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20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4</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40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5</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6</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7</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graphicFrame>
        <p:nvGraphicFramePr>
          <p:cNvPr id="99388" name="表格 99387"/>
          <p:cNvGraphicFramePr/>
          <p:nvPr>
            <p:custDataLst>
              <p:tags r:id="rId1"/>
            </p:custDataLst>
          </p:nvPr>
        </p:nvGraphicFramePr>
        <p:xfrm>
          <a:off x="4635500" y="3201988"/>
          <a:ext cx="4040188" cy="3395709"/>
        </p:xfrm>
        <a:graphic>
          <a:graphicData uri="http://schemas.openxmlformats.org/drawingml/2006/table">
            <a:tbl>
              <a:tblPr/>
              <a:tblGrid>
                <a:gridCol w="527050"/>
                <a:gridCol w="936625"/>
                <a:gridCol w="903288"/>
                <a:gridCol w="765175"/>
                <a:gridCol w="908050"/>
              </a:tblGrid>
              <a:tr h="396875">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solidFill>
                          <a:schemeClr val="bg1"/>
                        </a:solidFill>
                        <a:latin typeface="+mn-lt"/>
                        <a:ea typeface="+mn-ea"/>
                        <a:cs typeface="+mn-ea"/>
                        <a:sym typeface="+mn-lt"/>
                      </a:endParaRP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weight</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parent</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lch</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rch</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1</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70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accent1">
                              <a:lumMod val="75000"/>
                            </a:schemeClr>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2</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50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accent1">
                              <a:lumMod val="75000"/>
                            </a:schemeClr>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3</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rgbClr val="7030A0"/>
                          </a:solidFill>
                          <a:highlight>
                            <a:srgbClr val="FFFF00"/>
                          </a:highlight>
                          <a:latin typeface="+mn-lt"/>
                          <a:ea typeface="+mn-ea"/>
                          <a:cs typeface="+mn-ea"/>
                          <a:sym typeface="+mn-lt"/>
                        </a:rPr>
                        <a:t>20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rgbClr val="FF3300"/>
                          </a:solidFill>
                          <a:latin typeface="+mn-lt"/>
                          <a:ea typeface="+mn-ea"/>
                          <a:cs typeface="+mn-ea"/>
                          <a:sym typeface="+mn-lt"/>
                        </a:rPr>
                        <a:t>5</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4</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accent1">
                              <a:lumMod val="75000"/>
                            </a:schemeClr>
                          </a:solidFill>
                          <a:highlight>
                            <a:srgbClr val="FFFF00"/>
                          </a:highlight>
                          <a:latin typeface="+mn-lt"/>
                          <a:ea typeface="+mn-ea"/>
                          <a:cs typeface="+mn-ea"/>
                          <a:sym typeface="+mn-lt"/>
                        </a:rPr>
                        <a:t>40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5</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5</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60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0000"/>
                          </a:solidFill>
                          <a:latin typeface="+mn-lt"/>
                          <a:ea typeface="+mn-ea"/>
                          <a:cs typeface="+mn-ea"/>
                          <a:sym typeface="+mn-lt"/>
                        </a:rPr>
                        <a:t>3</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0000"/>
                          </a:solidFill>
                          <a:latin typeface="+mn-lt"/>
                          <a:ea typeface="+mn-ea"/>
                          <a:cs typeface="+mn-ea"/>
                          <a:sym typeface="+mn-lt"/>
                        </a:rPr>
                        <a:t>4</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6</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en-US" altLang="zh-CN" sz="2000" dirty="0">
                        <a:solidFill>
                          <a:srgbClr val="FF3300"/>
                        </a:solidFill>
                        <a:latin typeface="+mn-lt"/>
                        <a:ea typeface="+mn-ea"/>
                        <a:cs typeface="+mn-ea"/>
                        <a:sym typeface="+mn-lt"/>
                      </a:endParaRP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7</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en-US" altLang="zh-CN" sz="2000" dirty="0">
                        <a:solidFill>
                          <a:srgbClr val="FF3300"/>
                        </a:solidFill>
                        <a:latin typeface="+mn-lt"/>
                        <a:ea typeface="+mn-ea"/>
                        <a:cs typeface="+mn-ea"/>
                        <a:sym typeface="+mn-lt"/>
                      </a:endParaRP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grpSp>
        <p:nvGrpSpPr>
          <p:cNvPr id="105588" name="Group 117"/>
          <p:cNvGrpSpPr/>
          <p:nvPr/>
        </p:nvGrpSpPr>
        <p:grpSpPr>
          <a:xfrm>
            <a:off x="6007100" y="739775"/>
            <a:ext cx="2173288" cy="2211388"/>
            <a:chOff x="3439" y="1461"/>
            <a:chExt cx="1094" cy="1393"/>
          </a:xfrm>
        </p:grpSpPr>
        <p:grpSp>
          <p:nvGrpSpPr>
            <p:cNvPr id="105591" name="Group 118"/>
            <p:cNvGrpSpPr/>
            <p:nvPr/>
          </p:nvGrpSpPr>
          <p:grpSpPr>
            <a:xfrm>
              <a:off x="3439" y="1755"/>
              <a:ext cx="248" cy="433"/>
              <a:chOff x="983" y="434"/>
              <a:chExt cx="248" cy="433"/>
            </a:xfrm>
          </p:grpSpPr>
          <p:sp>
            <p:nvSpPr>
              <p:cNvPr id="101493" name="Oval 119"/>
              <p:cNvSpPr>
                <a:spLocks noChangeArrowheads="1"/>
              </p:cNvSpPr>
              <p:nvPr/>
            </p:nvSpPr>
            <p:spPr bwMode="auto">
              <a:xfrm>
                <a:off x="1022" y="689"/>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EFFFF"/>
                    </a:solidFill>
                    <a:effectLst/>
                    <a:uLnTx/>
                    <a:uFillTx/>
                    <a:latin typeface="Times New Roman" panose="02020603050405020304"/>
                    <a:ea typeface="微软雅黑" panose="020B0503020204020204" pitchFamily="34" charset="-122"/>
                    <a:cs typeface="+mn-ea"/>
                    <a:sym typeface="+mn-lt"/>
                  </a:rPr>
                  <a:t>a</a:t>
                </a:r>
              </a:p>
            </p:txBody>
          </p:sp>
          <p:sp>
            <p:nvSpPr>
              <p:cNvPr id="101494" name="Text Box 120"/>
              <p:cNvSpPr txBox="1">
                <a:spLocks noChangeArrowheads="1"/>
              </p:cNvSpPr>
              <p:nvPr/>
            </p:nvSpPr>
            <p:spPr bwMode="auto">
              <a:xfrm>
                <a:off x="983" y="434"/>
                <a:ext cx="24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70</a:t>
                </a:r>
              </a:p>
            </p:txBody>
          </p:sp>
        </p:grpSp>
        <p:grpSp>
          <p:nvGrpSpPr>
            <p:cNvPr id="105592" name="Group 121"/>
            <p:cNvGrpSpPr/>
            <p:nvPr/>
          </p:nvGrpSpPr>
          <p:grpSpPr>
            <a:xfrm>
              <a:off x="3698" y="1805"/>
              <a:ext cx="835" cy="1049"/>
              <a:chOff x="1625" y="2643"/>
              <a:chExt cx="835" cy="1049"/>
            </a:xfrm>
          </p:grpSpPr>
          <p:grpSp>
            <p:nvGrpSpPr>
              <p:cNvPr id="105598" name="Group 122"/>
              <p:cNvGrpSpPr/>
              <p:nvPr/>
            </p:nvGrpSpPr>
            <p:grpSpPr>
              <a:xfrm>
                <a:off x="1625" y="2929"/>
                <a:ext cx="248" cy="441"/>
                <a:chOff x="1300" y="426"/>
                <a:chExt cx="234" cy="441"/>
              </a:xfrm>
            </p:grpSpPr>
            <p:sp>
              <p:nvSpPr>
                <p:cNvPr id="101497" name="Oval 123"/>
                <p:cNvSpPr>
                  <a:spLocks noChangeArrowheads="1"/>
                </p:cNvSpPr>
                <p:nvPr/>
              </p:nvSpPr>
              <p:spPr bwMode="auto">
                <a:xfrm>
                  <a:off x="1321" y="689"/>
                  <a:ext cx="166"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EFFFF"/>
                      </a:solidFill>
                      <a:effectLst/>
                      <a:uLnTx/>
                      <a:uFillTx/>
                      <a:latin typeface="Times New Roman" panose="02020603050405020304"/>
                      <a:ea typeface="微软雅黑" panose="020B0503020204020204" pitchFamily="34" charset="-122"/>
                      <a:cs typeface="+mn-ea"/>
                      <a:sym typeface="+mn-lt"/>
                    </a:rPr>
                    <a:t>b</a:t>
                  </a:r>
                </a:p>
              </p:txBody>
            </p:sp>
            <p:sp>
              <p:nvSpPr>
                <p:cNvPr id="101498" name="Text Box 124"/>
                <p:cNvSpPr txBox="1">
                  <a:spLocks noChangeArrowheads="1"/>
                </p:cNvSpPr>
                <p:nvPr/>
              </p:nvSpPr>
              <p:spPr bwMode="auto">
                <a:xfrm>
                  <a:off x="1300" y="426"/>
                  <a:ext cx="23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50</a:t>
                  </a:r>
                </a:p>
              </p:txBody>
            </p:sp>
          </p:grpSp>
          <p:grpSp>
            <p:nvGrpSpPr>
              <p:cNvPr id="105599" name="Group 125"/>
              <p:cNvGrpSpPr/>
              <p:nvPr/>
            </p:nvGrpSpPr>
            <p:grpSpPr>
              <a:xfrm>
                <a:off x="1836" y="2971"/>
                <a:ext cx="624" cy="721"/>
                <a:chOff x="1606" y="1453"/>
                <a:chExt cx="624" cy="721"/>
              </a:xfrm>
            </p:grpSpPr>
            <p:grpSp>
              <p:nvGrpSpPr>
                <p:cNvPr id="105605" name="Group 126"/>
                <p:cNvGrpSpPr/>
                <p:nvPr/>
              </p:nvGrpSpPr>
              <p:grpSpPr>
                <a:xfrm>
                  <a:off x="1606" y="1729"/>
                  <a:ext cx="248" cy="445"/>
                  <a:chOff x="1599" y="422"/>
                  <a:chExt cx="248" cy="445"/>
                </a:xfrm>
              </p:grpSpPr>
              <p:sp>
                <p:nvSpPr>
                  <p:cNvPr id="101501" name="Oval 127"/>
                  <p:cNvSpPr>
                    <a:spLocks noChangeArrowheads="1"/>
                  </p:cNvSpPr>
                  <p:nvPr/>
                </p:nvSpPr>
                <p:spPr bwMode="auto">
                  <a:xfrm>
                    <a:off x="1620" y="689"/>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EFFFF"/>
                        </a:solidFill>
                        <a:effectLst/>
                        <a:uLnTx/>
                        <a:uFillTx/>
                        <a:latin typeface="Times New Roman" panose="02020603050405020304"/>
                        <a:ea typeface="微软雅黑" panose="020B0503020204020204" pitchFamily="34" charset="-122"/>
                        <a:cs typeface="+mn-ea"/>
                        <a:sym typeface="+mn-lt"/>
                      </a:rPr>
                      <a:t>c</a:t>
                    </a:r>
                  </a:p>
                </p:txBody>
              </p:sp>
              <p:sp>
                <p:nvSpPr>
                  <p:cNvPr id="101502" name="Text Box 128"/>
                  <p:cNvSpPr txBox="1">
                    <a:spLocks noChangeArrowheads="1"/>
                  </p:cNvSpPr>
                  <p:nvPr/>
                </p:nvSpPr>
                <p:spPr bwMode="auto">
                  <a:xfrm>
                    <a:off x="1599" y="422"/>
                    <a:ext cx="24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20</a:t>
                    </a:r>
                  </a:p>
                </p:txBody>
              </p:sp>
            </p:grpSp>
            <p:grpSp>
              <p:nvGrpSpPr>
                <p:cNvPr id="105606" name="Group 129"/>
                <p:cNvGrpSpPr/>
                <p:nvPr/>
              </p:nvGrpSpPr>
              <p:grpSpPr>
                <a:xfrm>
                  <a:off x="1982" y="1729"/>
                  <a:ext cx="248" cy="445"/>
                  <a:chOff x="1909" y="422"/>
                  <a:chExt cx="248" cy="445"/>
                </a:xfrm>
              </p:grpSpPr>
              <p:sp>
                <p:nvSpPr>
                  <p:cNvPr id="101504" name="Oval 130"/>
                  <p:cNvSpPr>
                    <a:spLocks noChangeArrowheads="1"/>
                  </p:cNvSpPr>
                  <p:nvPr/>
                </p:nvSpPr>
                <p:spPr bwMode="auto">
                  <a:xfrm>
                    <a:off x="1920" y="689"/>
                    <a:ext cx="165"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rgbClr val="FEFFFF"/>
                        </a:solidFill>
                        <a:effectLst/>
                        <a:uLnTx/>
                        <a:uFillTx/>
                        <a:latin typeface="Times New Roman" panose="02020603050405020304"/>
                        <a:ea typeface="微软雅黑" panose="020B0503020204020204" pitchFamily="34" charset="-122"/>
                        <a:cs typeface="+mn-ea"/>
                        <a:sym typeface="+mn-lt"/>
                      </a:rPr>
                      <a:t>d</a:t>
                    </a:r>
                  </a:p>
                </p:txBody>
              </p:sp>
              <p:sp>
                <p:nvSpPr>
                  <p:cNvPr id="101505" name="Text Box 131"/>
                  <p:cNvSpPr txBox="1">
                    <a:spLocks noChangeArrowheads="1"/>
                  </p:cNvSpPr>
                  <p:nvPr/>
                </p:nvSpPr>
                <p:spPr bwMode="auto">
                  <a:xfrm>
                    <a:off x="1909" y="422"/>
                    <a:ext cx="24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40</a:t>
                    </a:r>
                  </a:p>
                </p:txBody>
              </p:sp>
            </p:grpSp>
            <p:grpSp>
              <p:nvGrpSpPr>
                <p:cNvPr id="105607" name="Group 132"/>
                <p:cNvGrpSpPr/>
                <p:nvPr/>
              </p:nvGrpSpPr>
              <p:grpSpPr>
                <a:xfrm>
                  <a:off x="1816" y="1453"/>
                  <a:ext cx="172" cy="388"/>
                  <a:chOff x="1782" y="1597"/>
                  <a:chExt cx="172" cy="388"/>
                </a:xfrm>
              </p:grpSpPr>
              <p:sp>
                <p:nvSpPr>
                  <p:cNvPr id="101507" name="Oval 133"/>
                  <p:cNvSpPr>
                    <a:spLocks noChangeArrowheads="1"/>
                  </p:cNvSpPr>
                  <p:nvPr/>
                </p:nvSpPr>
                <p:spPr bwMode="auto">
                  <a:xfrm>
                    <a:off x="1782" y="1807"/>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EFFFF"/>
                      </a:solidFill>
                      <a:effectLst/>
                      <a:uLnTx/>
                      <a:uFillTx/>
                      <a:latin typeface="Times New Roman" panose="02020603050405020304"/>
                      <a:ea typeface="微软雅黑" panose="020B0503020204020204" pitchFamily="34" charset="-122"/>
                      <a:cs typeface="+mn-ea"/>
                      <a:sym typeface="+mn-lt"/>
                    </a:endParaRPr>
                  </a:p>
                </p:txBody>
              </p:sp>
              <p:sp>
                <p:nvSpPr>
                  <p:cNvPr id="101508" name="Text Box 134"/>
                  <p:cNvSpPr txBox="1">
                    <a:spLocks noChangeArrowheads="1"/>
                  </p:cNvSpPr>
                  <p:nvPr/>
                </p:nvSpPr>
                <p:spPr bwMode="auto">
                  <a:xfrm>
                    <a:off x="1838" y="1597"/>
                    <a:ext cx="1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Times New Roman" panose="02020603050405020304"/>
                      <a:ea typeface="微软雅黑" panose="020B0503020204020204" pitchFamily="34" charset="-122"/>
                      <a:cs typeface="+mn-ea"/>
                      <a:sym typeface="+mn-lt"/>
                    </a:endParaRPr>
                  </a:p>
                </p:txBody>
              </p:sp>
            </p:grpSp>
            <p:sp>
              <p:nvSpPr>
                <p:cNvPr id="101509" name="Line 135"/>
                <p:cNvSpPr>
                  <a:spLocks noChangeShapeType="1"/>
                </p:cNvSpPr>
                <p:nvPr/>
              </p:nvSpPr>
              <p:spPr bwMode="auto">
                <a:xfrm flipH="1">
                  <a:off x="1767" y="1833"/>
                  <a:ext cx="100" cy="18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sp>
              <p:nvSpPr>
                <p:cNvPr id="101510" name="Line 136"/>
                <p:cNvSpPr>
                  <a:spLocks noChangeShapeType="1"/>
                </p:cNvSpPr>
                <p:nvPr/>
              </p:nvSpPr>
              <p:spPr bwMode="auto">
                <a:xfrm>
                  <a:off x="1922" y="1833"/>
                  <a:ext cx="112" cy="17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grpSp>
          <p:grpSp>
            <p:nvGrpSpPr>
              <p:cNvPr id="105600" name="Group 137"/>
              <p:cNvGrpSpPr/>
              <p:nvPr/>
            </p:nvGrpSpPr>
            <p:grpSpPr>
              <a:xfrm>
                <a:off x="1841" y="2643"/>
                <a:ext cx="176" cy="379"/>
                <a:chOff x="1321" y="488"/>
                <a:chExt cx="167" cy="379"/>
              </a:xfrm>
            </p:grpSpPr>
            <p:sp>
              <p:nvSpPr>
                <p:cNvPr id="101512" name="Oval 138"/>
                <p:cNvSpPr>
                  <a:spLocks noChangeArrowheads="1"/>
                </p:cNvSpPr>
                <p:nvPr/>
              </p:nvSpPr>
              <p:spPr bwMode="auto">
                <a:xfrm>
                  <a:off x="1321" y="689"/>
                  <a:ext cx="168"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EFFFF"/>
                    </a:solidFill>
                    <a:effectLst/>
                    <a:uLnTx/>
                    <a:uFillTx/>
                    <a:latin typeface="Times New Roman" panose="02020603050405020304"/>
                    <a:ea typeface="微软雅黑" panose="020B0503020204020204" pitchFamily="34" charset="-122"/>
                    <a:cs typeface="+mn-ea"/>
                    <a:sym typeface="+mn-lt"/>
                  </a:endParaRPr>
                </a:p>
              </p:txBody>
            </p:sp>
            <p:sp>
              <p:nvSpPr>
                <p:cNvPr id="101513" name="Text Box 139"/>
                <p:cNvSpPr txBox="1">
                  <a:spLocks noChangeArrowheads="1"/>
                </p:cNvSpPr>
                <p:nvPr/>
              </p:nvSpPr>
              <p:spPr bwMode="auto">
                <a:xfrm>
                  <a:off x="1366" y="488"/>
                  <a:ext cx="11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Times New Roman" panose="02020603050405020304"/>
                    <a:ea typeface="微软雅黑" panose="020B0503020204020204" pitchFamily="34" charset="-122"/>
                    <a:cs typeface="+mn-ea"/>
                    <a:sym typeface="+mn-lt"/>
                  </a:endParaRPr>
                </a:p>
              </p:txBody>
            </p:sp>
          </p:grpSp>
          <p:sp>
            <p:nvSpPr>
              <p:cNvPr id="101514" name="Line 140"/>
              <p:cNvSpPr>
                <a:spLocks noChangeShapeType="1"/>
              </p:cNvSpPr>
              <p:nvPr/>
            </p:nvSpPr>
            <p:spPr bwMode="auto">
              <a:xfrm flipH="1">
                <a:off x="1800" y="3011"/>
                <a:ext cx="89"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sp>
            <p:nvSpPr>
              <p:cNvPr id="101515" name="Line 141"/>
              <p:cNvSpPr>
                <a:spLocks noChangeShapeType="1"/>
              </p:cNvSpPr>
              <p:nvPr/>
            </p:nvSpPr>
            <p:spPr bwMode="auto">
              <a:xfrm>
                <a:off x="1978" y="3011"/>
                <a:ext cx="100"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grpSp>
        <p:grpSp>
          <p:nvGrpSpPr>
            <p:cNvPr id="105593" name="Group 142"/>
            <p:cNvGrpSpPr/>
            <p:nvPr/>
          </p:nvGrpSpPr>
          <p:grpSpPr>
            <a:xfrm>
              <a:off x="3697" y="1461"/>
              <a:ext cx="180" cy="390"/>
              <a:chOff x="1022" y="477"/>
              <a:chExt cx="180" cy="390"/>
            </a:xfrm>
          </p:grpSpPr>
          <p:sp>
            <p:nvSpPr>
              <p:cNvPr id="101517" name="Oval 143"/>
              <p:cNvSpPr>
                <a:spLocks noChangeArrowheads="1"/>
              </p:cNvSpPr>
              <p:nvPr/>
            </p:nvSpPr>
            <p:spPr bwMode="auto">
              <a:xfrm>
                <a:off x="1022" y="689"/>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EFFFF"/>
                  </a:solidFill>
                  <a:effectLst/>
                  <a:uLnTx/>
                  <a:uFillTx/>
                  <a:latin typeface="Times New Roman" panose="02020603050405020304"/>
                  <a:ea typeface="微软雅黑" panose="020B0503020204020204" pitchFamily="34" charset="-122"/>
                  <a:cs typeface="+mn-ea"/>
                  <a:sym typeface="+mn-lt"/>
                </a:endParaRPr>
              </a:p>
            </p:txBody>
          </p:sp>
          <p:sp>
            <p:nvSpPr>
              <p:cNvPr id="101518" name="Text Box 144"/>
              <p:cNvSpPr txBox="1">
                <a:spLocks noChangeArrowheads="1"/>
              </p:cNvSpPr>
              <p:nvPr/>
            </p:nvSpPr>
            <p:spPr bwMode="auto">
              <a:xfrm>
                <a:off x="1086" y="477"/>
                <a:ext cx="1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Times New Roman" panose="02020603050405020304"/>
                  <a:ea typeface="微软雅黑" panose="020B0503020204020204" pitchFamily="34" charset="-122"/>
                  <a:cs typeface="+mn-ea"/>
                  <a:sym typeface="+mn-lt"/>
                </a:endParaRPr>
              </a:p>
            </p:txBody>
          </p:sp>
        </p:grpSp>
        <p:sp>
          <p:nvSpPr>
            <p:cNvPr id="101519" name="Line 145"/>
            <p:cNvSpPr>
              <a:spLocks noChangeShapeType="1"/>
            </p:cNvSpPr>
            <p:nvPr/>
          </p:nvSpPr>
          <p:spPr bwMode="auto">
            <a:xfrm flipH="1">
              <a:off x="3623" y="1822"/>
              <a:ext cx="111" cy="21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sp>
          <p:nvSpPr>
            <p:cNvPr id="101520" name="Line 146"/>
            <p:cNvSpPr>
              <a:spLocks noChangeShapeType="1"/>
            </p:cNvSpPr>
            <p:nvPr/>
          </p:nvSpPr>
          <p:spPr bwMode="auto">
            <a:xfrm>
              <a:off x="3812" y="1844"/>
              <a:ext cx="121"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grpSp>
      <p:sp>
        <p:nvSpPr>
          <p:cNvPr id="952467" name="AutoShape 147"/>
          <p:cNvSpPr>
            <a:spLocks noChangeArrowheads="1"/>
          </p:cNvSpPr>
          <p:nvPr/>
        </p:nvSpPr>
        <p:spPr bwMode="auto">
          <a:xfrm>
            <a:off x="3797300" y="2781300"/>
            <a:ext cx="1584325" cy="279400"/>
          </a:xfrm>
          <a:prstGeom prst="curvedDownArrow">
            <a:avLst>
              <a:gd name="adj1" fmla="val 48802"/>
              <a:gd name="adj2" fmla="val 97604"/>
              <a:gd name="adj3" fmla="val 33324"/>
            </a:avLst>
          </a:prstGeom>
          <a:solidFill>
            <a:schemeClr val="accent1">
              <a:lumMod val="60000"/>
              <a:lumOff val="40000"/>
            </a:schemeClr>
          </a:solidFill>
          <a:ln w="9525">
            <a:solidFill>
              <a:schemeClr val="accent1">
                <a:lumMod val="60000"/>
                <a:lumOff val="40000"/>
              </a:schemeClr>
            </a:solid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sp>
        <p:nvSpPr>
          <p:cNvPr id="36" name="Rectangle 3"/>
          <p:cNvSpPr>
            <a:spLocks noChangeArrowheads="1"/>
          </p:cNvSpPr>
          <p:nvPr/>
        </p:nvSpPr>
        <p:spPr bwMode="auto">
          <a:xfrm>
            <a:off x="827088" y="223838"/>
            <a:ext cx="65881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EFFFF"/>
                </a:solidFill>
                <a:effectLst/>
                <a:uLnTx/>
                <a:uFillTx/>
                <a:latin typeface="Times New Roman" panose="02020603050405020304"/>
                <a:ea typeface="微软雅黑" panose="020B0503020204020204" pitchFamily="34" charset="-122"/>
                <a:cs typeface="+mn-cs"/>
                <a:sym typeface="+mn-lt"/>
              </a:rPr>
              <a:t>哈夫曼树构造算法的实现</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99332"/>
                                        </p:tgtEl>
                                        <p:attrNameLst>
                                          <p:attrName>style.visibility</p:attrName>
                                        </p:attrNameLst>
                                      </p:cBhvr>
                                      <p:to>
                                        <p:strVal val="visible"/>
                                      </p:to>
                                    </p:set>
                                    <p:anim calcmode="lin" valueType="num">
                                      <p:cBhvr additive="base">
                                        <p:cTn id="7" dur="500" fill="hold"/>
                                        <p:tgtEl>
                                          <p:spTgt spid="99332"/>
                                        </p:tgtEl>
                                        <p:attrNameLst>
                                          <p:attrName>ppt_x</p:attrName>
                                        </p:attrNameLst>
                                      </p:cBhvr>
                                      <p:tavLst>
                                        <p:tav tm="0">
                                          <p:val>
                                            <p:strVal val="#ppt_x"/>
                                          </p:val>
                                        </p:tav>
                                        <p:tav tm="100000">
                                          <p:val>
                                            <p:strVal val="#ppt_x"/>
                                          </p:val>
                                        </p:tav>
                                      </p:tavLst>
                                    </p:anim>
                                    <p:anim calcmode="lin" valueType="num">
                                      <p:cBhvr additive="base">
                                        <p:cTn id="8" dur="500" fill="hold"/>
                                        <p:tgtEl>
                                          <p:spTgt spid="9933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952467"/>
                                        </p:tgtEl>
                                        <p:attrNameLst>
                                          <p:attrName>style.visibility</p:attrName>
                                        </p:attrNameLst>
                                      </p:cBhvr>
                                      <p:to>
                                        <p:strVal val="visible"/>
                                      </p:to>
                                    </p:set>
                                    <p:anim calcmode="lin" valueType="num">
                                      <p:cBhvr additive="base">
                                        <p:cTn id="13" dur="500" fill="hold"/>
                                        <p:tgtEl>
                                          <p:spTgt spid="952467"/>
                                        </p:tgtEl>
                                        <p:attrNameLst>
                                          <p:attrName>ppt_x</p:attrName>
                                        </p:attrNameLst>
                                      </p:cBhvr>
                                      <p:tavLst>
                                        <p:tav tm="0">
                                          <p:val>
                                            <p:strVal val="#ppt_x"/>
                                          </p:val>
                                        </p:tav>
                                        <p:tav tm="100000">
                                          <p:val>
                                            <p:strVal val="#ppt_x"/>
                                          </p:val>
                                        </p:tav>
                                      </p:tavLst>
                                    </p:anim>
                                    <p:anim calcmode="lin" valueType="num">
                                      <p:cBhvr additive="base">
                                        <p:cTn id="14" dur="500" fill="hold"/>
                                        <p:tgtEl>
                                          <p:spTgt spid="952467"/>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 presetClass="entr" presetSubtype="16" fill="hold" nodeType="clickEffect">
                                  <p:stCondLst>
                                    <p:cond delay="0"/>
                                  </p:stCondLst>
                                  <p:childTnLst>
                                    <p:set>
                                      <p:cBhvr>
                                        <p:cTn id="18" dur="1" fill="hold">
                                          <p:stCondLst>
                                            <p:cond delay="0"/>
                                          </p:stCondLst>
                                        </p:cTn>
                                        <p:tgtEl>
                                          <p:spTgt spid="99388"/>
                                        </p:tgtEl>
                                        <p:attrNameLst>
                                          <p:attrName>style.visibility</p:attrName>
                                        </p:attrNameLst>
                                      </p:cBhvr>
                                      <p:to>
                                        <p:strVal val="visible"/>
                                      </p:to>
                                    </p:set>
                                    <p:animEffect transition="in" filter="box(in)">
                                      <p:cBhvr>
                                        <p:cTn id="19" dur="500"/>
                                        <p:tgtEl>
                                          <p:spTgt spid="993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2467" grpId="0" animBg="1"/>
    </p:bldLst>
  </p:timing>
</p:sld>
</file>

<file path=ppt/slides/slide17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5474" name="圆角矩形 1"/>
          <p:cNvSpPr/>
          <p:nvPr/>
        </p:nvSpPr>
        <p:spPr>
          <a:xfrm>
            <a:off x="5364163" y="1014413"/>
            <a:ext cx="3311525" cy="2136775"/>
          </a:xfrm>
          <a:prstGeom prst="roundRect">
            <a:avLst>
              <a:gd name="adj" fmla="val 6569"/>
            </a:avLst>
          </a:prstGeom>
          <a:no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0" lang="zh-CN" altLang="en-US" sz="2800" b="0" i="0" u="none" strike="noStrike" kern="1200" cap="none" spc="0" normalizeH="0" baseline="0" noProof="0" dirty="0">
              <a:ln>
                <a:noFill/>
              </a:ln>
              <a:solidFill>
                <a:srgbClr val="000000"/>
              </a:solidFill>
              <a:effectLst/>
              <a:uLnTx/>
              <a:uFillTx/>
              <a:latin typeface="Times New Roman" panose="02020603050405020304"/>
              <a:ea typeface="仿宋_GB2312" pitchFamily="49" charset="-122"/>
              <a:cs typeface="+mn-cs"/>
            </a:endParaRPr>
          </a:p>
        </p:txBody>
      </p:sp>
      <p:sp>
        <p:nvSpPr>
          <p:cNvPr id="101378" name="Text Box 4"/>
          <p:cNvSpPr txBox="1">
            <a:spLocks noChangeArrowheads="1"/>
          </p:cNvSpPr>
          <p:nvPr/>
        </p:nvSpPr>
        <p:spPr bwMode="auto">
          <a:xfrm>
            <a:off x="368300" y="1281113"/>
            <a:ext cx="4695825" cy="958850"/>
          </a:xfrm>
          <a:prstGeom prst="roundRect">
            <a:avLst>
              <a:gd name="adj" fmla="val 12699"/>
            </a:avLst>
          </a:prstGeom>
          <a:no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例:设</a:t>
            </a:r>
            <a:r>
              <a:rPr kumimoji="0" lang="en-US"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n=4,  w={70,50,20,40}</a:t>
            </a:r>
          </a:p>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试设计 </a:t>
            </a:r>
            <a:r>
              <a:rPr kumimoji="0" lang="en-US" altLang="zh-CN" sz="2400" b="0" i="0" u="none" strike="noStrike" kern="1200" cap="none" spc="0" normalizeH="0" baseline="0" noProof="0" dirty="0" err="1">
                <a:ln>
                  <a:noFill/>
                </a:ln>
                <a:solidFill>
                  <a:srgbClr val="000000"/>
                </a:solidFill>
                <a:effectLst/>
                <a:uLnTx/>
                <a:uFillTx/>
                <a:latin typeface="Times New Roman" panose="02020603050405020304"/>
                <a:ea typeface="微软雅黑" panose="020B0503020204020204" pitchFamily="34" charset="-122"/>
                <a:cs typeface="+mn-ea"/>
                <a:sym typeface="+mn-lt"/>
              </a:rPr>
              <a:t>huffman</a:t>
            </a:r>
            <a:r>
              <a:rPr kumimoji="0" lang="en-US"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 code (m=2*4-1=7)</a:t>
            </a:r>
            <a:endParaRPr kumimoji="0" lang="en-US" altLang="zh-CN" sz="28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graphicFrame>
        <p:nvGraphicFramePr>
          <p:cNvPr id="99332" name="表格 99331"/>
          <p:cNvGraphicFramePr/>
          <p:nvPr/>
        </p:nvGraphicFramePr>
        <p:xfrm>
          <a:off x="439738" y="3197225"/>
          <a:ext cx="4040186" cy="3395664"/>
        </p:xfrm>
        <a:graphic>
          <a:graphicData uri="http://schemas.openxmlformats.org/drawingml/2006/table">
            <a:tbl>
              <a:tblPr/>
              <a:tblGrid>
                <a:gridCol w="526992"/>
                <a:gridCol w="936521"/>
                <a:gridCol w="903188"/>
                <a:gridCol w="765090"/>
                <a:gridCol w="908395"/>
              </a:tblGrid>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weight</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parent</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lch</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rch</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1</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70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2</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50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3</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20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4</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40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5</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6</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7</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graphicFrame>
        <p:nvGraphicFramePr>
          <p:cNvPr id="99388" name="表格 99387"/>
          <p:cNvGraphicFramePr/>
          <p:nvPr>
            <p:custDataLst>
              <p:tags r:id="rId1"/>
            </p:custDataLst>
          </p:nvPr>
        </p:nvGraphicFramePr>
        <p:xfrm>
          <a:off x="4635500" y="3201988"/>
          <a:ext cx="4040188" cy="3395664"/>
        </p:xfrm>
        <a:graphic>
          <a:graphicData uri="http://schemas.openxmlformats.org/drawingml/2006/table">
            <a:tbl>
              <a:tblPr/>
              <a:tblGrid>
                <a:gridCol w="527050"/>
                <a:gridCol w="936625"/>
                <a:gridCol w="903288"/>
                <a:gridCol w="765175"/>
                <a:gridCol w="908050"/>
              </a:tblGrid>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solidFill>
                          <a:schemeClr val="bg1"/>
                        </a:solidFill>
                        <a:latin typeface="+mn-lt"/>
                        <a:ea typeface="+mn-ea"/>
                        <a:cs typeface="+mn-ea"/>
                        <a:sym typeface="+mn-lt"/>
                      </a:endParaRP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weight</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parent</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lch</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rch</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1</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70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accent1">
                              <a:lumMod val="75000"/>
                            </a:schemeClr>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2</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highlight>
                            <a:srgbClr val="FFFF00"/>
                          </a:highlight>
                          <a:latin typeface="+mn-lt"/>
                          <a:ea typeface="+mn-ea"/>
                          <a:cs typeface="+mn-ea"/>
                          <a:sym typeface="+mn-lt"/>
                        </a:rPr>
                        <a:t>50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rgbClr val="FF0000"/>
                          </a:solidFill>
                          <a:latin typeface="+mn-lt"/>
                          <a:ea typeface="+mn-ea"/>
                          <a:cs typeface="+mn-ea"/>
                          <a:sym typeface="+mn-lt"/>
                        </a:rPr>
                        <a:t>6</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3</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20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5</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4</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40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5</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5560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5</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highlight>
                            <a:srgbClr val="FFFF00"/>
                          </a:highlight>
                          <a:latin typeface="+mn-lt"/>
                          <a:ea typeface="+mn-ea"/>
                          <a:cs typeface="+mn-ea"/>
                          <a:sym typeface="+mn-lt"/>
                        </a:rPr>
                        <a:t>60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0000"/>
                          </a:solidFill>
                          <a:latin typeface="+mn-lt"/>
                          <a:ea typeface="+mn-ea"/>
                          <a:cs typeface="+mn-ea"/>
                          <a:sym typeface="+mn-lt"/>
                        </a:rPr>
                        <a:t>6</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3</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4</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6</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110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0000"/>
                          </a:solidFill>
                          <a:latin typeface="+mn-lt"/>
                          <a:ea typeface="+mn-ea"/>
                          <a:cs typeface="+mn-ea"/>
                          <a:sym typeface="+mn-lt"/>
                        </a:rPr>
                        <a:t>2</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0000"/>
                          </a:solidFill>
                          <a:latin typeface="+mn-lt"/>
                          <a:ea typeface="+mn-ea"/>
                          <a:cs typeface="+mn-ea"/>
                          <a:sym typeface="+mn-lt"/>
                        </a:rPr>
                        <a:t>5</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7</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en-US" altLang="zh-CN" sz="2000" dirty="0">
                        <a:solidFill>
                          <a:srgbClr val="FF3300"/>
                        </a:solidFill>
                        <a:latin typeface="+mn-lt"/>
                        <a:ea typeface="+mn-ea"/>
                        <a:cs typeface="+mn-ea"/>
                        <a:sym typeface="+mn-lt"/>
                      </a:endParaRP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grpSp>
        <p:nvGrpSpPr>
          <p:cNvPr id="105588" name="Group 117"/>
          <p:cNvGrpSpPr/>
          <p:nvPr/>
        </p:nvGrpSpPr>
        <p:grpSpPr>
          <a:xfrm>
            <a:off x="5989955" y="778510"/>
            <a:ext cx="2173288" cy="2211388"/>
            <a:chOff x="3439" y="1461"/>
            <a:chExt cx="1094" cy="1393"/>
          </a:xfrm>
        </p:grpSpPr>
        <p:grpSp>
          <p:nvGrpSpPr>
            <p:cNvPr id="105591" name="Group 118"/>
            <p:cNvGrpSpPr/>
            <p:nvPr/>
          </p:nvGrpSpPr>
          <p:grpSpPr>
            <a:xfrm>
              <a:off x="3439" y="1755"/>
              <a:ext cx="248" cy="433"/>
              <a:chOff x="983" y="434"/>
              <a:chExt cx="248" cy="433"/>
            </a:xfrm>
          </p:grpSpPr>
          <p:sp>
            <p:nvSpPr>
              <p:cNvPr id="101493" name="Oval 119"/>
              <p:cNvSpPr>
                <a:spLocks noChangeArrowheads="1"/>
              </p:cNvSpPr>
              <p:nvPr/>
            </p:nvSpPr>
            <p:spPr bwMode="auto">
              <a:xfrm>
                <a:off x="1022" y="689"/>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EFFFF"/>
                    </a:solidFill>
                    <a:effectLst/>
                    <a:uLnTx/>
                    <a:uFillTx/>
                    <a:latin typeface="Times New Roman" panose="02020603050405020304"/>
                    <a:ea typeface="微软雅黑" panose="020B0503020204020204" pitchFamily="34" charset="-122"/>
                    <a:cs typeface="+mn-ea"/>
                    <a:sym typeface="+mn-lt"/>
                  </a:rPr>
                  <a:t>a</a:t>
                </a:r>
              </a:p>
            </p:txBody>
          </p:sp>
          <p:sp>
            <p:nvSpPr>
              <p:cNvPr id="101494" name="Text Box 120"/>
              <p:cNvSpPr txBox="1">
                <a:spLocks noChangeArrowheads="1"/>
              </p:cNvSpPr>
              <p:nvPr/>
            </p:nvSpPr>
            <p:spPr bwMode="auto">
              <a:xfrm>
                <a:off x="983" y="434"/>
                <a:ext cx="24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70</a:t>
                </a:r>
              </a:p>
            </p:txBody>
          </p:sp>
        </p:grpSp>
        <p:grpSp>
          <p:nvGrpSpPr>
            <p:cNvPr id="105592" name="Group 121"/>
            <p:cNvGrpSpPr/>
            <p:nvPr/>
          </p:nvGrpSpPr>
          <p:grpSpPr>
            <a:xfrm>
              <a:off x="3698" y="1805"/>
              <a:ext cx="835" cy="1049"/>
              <a:chOff x="1625" y="2643"/>
              <a:chExt cx="835" cy="1049"/>
            </a:xfrm>
          </p:grpSpPr>
          <p:grpSp>
            <p:nvGrpSpPr>
              <p:cNvPr id="105598" name="Group 122"/>
              <p:cNvGrpSpPr/>
              <p:nvPr/>
            </p:nvGrpSpPr>
            <p:grpSpPr>
              <a:xfrm>
                <a:off x="1625" y="2929"/>
                <a:ext cx="248" cy="441"/>
                <a:chOff x="1300" y="426"/>
                <a:chExt cx="234" cy="441"/>
              </a:xfrm>
            </p:grpSpPr>
            <p:sp>
              <p:nvSpPr>
                <p:cNvPr id="101497" name="Oval 123"/>
                <p:cNvSpPr>
                  <a:spLocks noChangeArrowheads="1"/>
                </p:cNvSpPr>
                <p:nvPr/>
              </p:nvSpPr>
              <p:spPr bwMode="auto">
                <a:xfrm>
                  <a:off x="1321" y="689"/>
                  <a:ext cx="166"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EFFFF"/>
                      </a:solidFill>
                      <a:effectLst/>
                      <a:uLnTx/>
                      <a:uFillTx/>
                      <a:latin typeface="Times New Roman" panose="02020603050405020304"/>
                      <a:ea typeface="微软雅黑" panose="020B0503020204020204" pitchFamily="34" charset="-122"/>
                      <a:cs typeface="+mn-ea"/>
                      <a:sym typeface="+mn-lt"/>
                    </a:rPr>
                    <a:t>b</a:t>
                  </a:r>
                </a:p>
              </p:txBody>
            </p:sp>
            <p:sp>
              <p:nvSpPr>
                <p:cNvPr id="101498" name="Text Box 124"/>
                <p:cNvSpPr txBox="1">
                  <a:spLocks noChangeArrowheads="1"/>
                </p:cNvSpPr>
                <p:nvPr/>
              </p:nvSpPr>
              <p:spPr bwMode="auto">
                <a:xfrm>
                  <a:off x="1300" y="426"/>
                  <a:ext cx="23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50</a:t>
                  </a:r>
                </a:p>
              </p:txBody>
            </p:sp>
          </p:grpSp>
          <p:grpSp>
            <p:nvGrpSpPr>
              <p:cNvPr id="105599" name="Group 125"/>
              <p:cNvGrpSpPr/>
              <p:nvPr/>
            </p:nvGrpSpPr>
            <p:grpSpPr>
              <a:xfrm>
                <a:off x="1836" y="2971"/>
                <a:ext cx="624" cy="721"/>
                <a:chOff x="1606" y="1453"/>
                <a:chExt cx="624" cy="721"/>
              </a:xfrm>
            </p:grpSpPr>
            <p:grpSp>
              <p:nvGrpSpPr>
                <p:cNvPr id="105605" name="Group 126"/>
                <p:cNvGrpSpPr/>
                <p:nvPr/>
              </p:nvGrpSpPr>
              <p:grpSpPr>
                <a:xfrm>
                  <a:off x="1606" y="1729"/>
                  <a:ext cx="248" cy="445"/>
                  <a:chOff x="1599" y="422"/>
                  <a:chExt cx="248" cy="445"/>
                </a:xfrm>
              </p:grpSpPr>
              <p:sp>
                <p:nvSpPr>
                  <p:cNvPr id="101501" name="Oval 127"/>
                  <p:cNvSpPr>
                    <a:spLocks noChangeArrowheads="1"/>
                  </p:cNvSpPr>
                  <p:nvPr/>
                </p:nvSpPr>
                <p:spPr bwMode="auto">
                  <a:xfrm>
                    <a:off x="1620" y="689"/>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EFFFF"/>
                        </a:solidFill>
                        <a:effectLst/>
                        <a:uLnTx/>
                        <a:uFillTx/>
                        <a:latin typeface="Times New Roman" panose="02020603050405020304"/>
                        <a:ea typeface="微软雅黑" panose="020B0503020204020204" pitchFamily="34" charset="-122"/>
                        <a:cs typeface="+mn-ea"/>
                        <a:sym typeface="+mn-lt"/>
                      </a:rPr>
                      <a:t>c</a:t>
                    </a:r>
                  </a:p>
                </p:txBody>
              </p:sp>
              <p:sp>
                <p:nvSpPr>
                  <p:cNvPr id="101502" name="Text Box 128"/>
                  <p:cNvSpPr txBox="1">
                    <a:spLocks noChangeArrowheads="1"/>
                  </p:cNvSpPr>
                  <p:nvPr/>
                </p:nvSpPr>
                <p:spPr bwMode="auto">
                  <a:xfrm>
                    <a:off x="1599" y="422"/>
                    <a:ext cx="24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20</a:t>
                    </a:r>
                  </a:p>
                </p:txBody>
              </p:sp>
            </p:grpSp>
            <p:grpSp>
              <p:nvGrpSpPr>
                <p:cNvPr id="105606" name="Group 129"/>
                <p:cNvGrpSpPr/>
                <p:nvPr/>
              </p:nvGrpSpPr>
              <p:grpSpPr>
                <a:xfrm>
                  <a:off x="1982" y="1729"/>
                  <a:ext cx="248" cy="445"/>
                  <a:chOff x="1909" y="422"/>
                  <a:chExt cx="248" cy="445"/>
                </a:xfrm>
              </p:grpSpPr>
              <p:sp>
                <p:nvSpPr>
                  <p:cNvPr id="101504" name="Oval 130"/>
                  <p:cNvSpPr>
                    <a:spLocks noChangeArrowheads="1"/>
                  </p:cNvSpPr>
                  <p:nvPr/>
                </p:nvSpPr>
                <p:spPr bwMode="auto">
                  <a:xfrm>
                    <a:off x="1920" y="689"/>
                    <a:ext cx="165"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rgbClr val="FEFFFF"/>
                        </a:solidFill>
                        <a:effectLst/>
                        <a:uLnTx/>
                        <a:uFillTx/>
                        <a:latin typeface="Times New Roman" panose="02020603050405020304"/>
                        <a:ea typeface="微软雅黑" panose="020B0503020204020204" pitchFamily="34" charset="-122"/>
                        <a:cs typeface="+mn-ea"/>
                        <a:sym typeface="+mn-lt"/>
                      </a:rPr>
                      <a:t>d</a:t>
                    </a:r>
                  </a:p>
                </p:txBody>
              </p:sp>
              <p:sp>
                <p:nvSpPr>
                  <p:cNvPr id="101505" name="Text Box 131"/>
                  <p:cNvSpPr txBox="1">
                    <a:spLocks noChangeArrowheads="1"/>
                  </p:cNvSpPr>
                  <p:nvPr/>
                </p:nvSpPr>
                <p:spPr bwMode="auto">
                  <a:xfrm>
                    <a:off x="1909" y="422"/>
                    <a:ext cx="24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40</a:t>
                    </a:r>
                  </a:p>
                </p:txBody>
              </p:sp>
            </p:grpSp>
            <p:grpSp>
              <p:nvGrpSpPr>
                <p:cNvPr id="105607" name="Group 132"/>
                <p:cNvGrpSpPr/>
                <p:nvPr/>
              </p:nvGrpSpPr>
              <p:grpSpPr>
                <a:xfrm>
                  <a:off x="1816" y="1453"/>
                  <a:ext cx="172" cy="388"/>
                  <a:chOff x="1782" y="1597"/>
                  <a:chExt cx="172" cy="388"/>
                </a:xfrm>
              </p:grpSpPr>
              <p:sp>
                <p:nvSpPr>
                  <p:cNvPr id="101507" name="Oval 133"/>
                  <p:cNvSpPr>
                    <a:spLocks noChangeArrowheads="1"/>
                  </p:cNvSpPr>
                  <p:nvPr/>
                </p:nvSpPr>
                <p:spPr bwMode="auto">
                  <a:xfrm>
                    <a:off x="1782" y="1807"/>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EFFFF"/>
                      </a:solidFill>
                      <a:effectLst/>
                      <a:uLnTx/>
                      <a:uFillTx/>
                      <a:latin typeface="Times New Roman" panose="02020603050405020304"/>
                      <a:ea typeface="微软雅黑" panose="020B0503020204020204" pitchFamily="34" charset="-122"/>
                      <a:cs typeface="+mn-ea"/>
                      <a:sym typeface="+mn-lt"/>
                    </a:endParaRPr>
                  </a:p>
                </p:txBody>
              </p:sp>
              <p:sp>
                <p:nvSpPr>
                  <p:cNvPr id="101508" name="Text Box 134"/>
                  <p:cNvSpPr txBox="1">
                    <a:spLocks noChangeArrowheads="1"/>
                  </p:cNvSpPr>
                  <p:nvPr/>
                </p:nvSpPr>
                <p:spPr bwMode="auto">
                  <a:xfrm>
                    <a:off x="1838" y="1597"/>
                    <a:ext cx="1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Times New Roman" panose="02020603050405020304"/>
                      <a:ea typeface="微软雅黑" panose="020B0503020204020204" pitchFamily="34" charset="-122"/>
                      <a:cs typeface="+mn-ea"/>
                      <a:sym typeface="+mn-lt"/>
                    </a:endParaRPr>
                  </a:p>
                </p:txBody>
              </p:sp>
            </p:grpSp>
            <p:sp>
              <p:nvSpPr>
                <p:cNvPr id="101509" name="Line 135"/>
                <p:cNvSpPr>
                  <a:spLocks noChangeShapeType="1"/>
                </p:cNvSpPr>
                <p:nvPr/>
              </p:nvSpPr>
              <p:spPr bwMode="auto">
                <a:xfrm flipH="1">
                  <a:off x="1767" y="1833"/>
                  <a:ext cx="100" cy="18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sp>
              <p:nvSpPr>
                <p:cNvPr id="101510" name="Line 136"/>
                <p:cNvSpPr>
                  <a:spLocks noChangeShapeType="1"/>
                </p:cNvSpPr>
                <p:nvPr/>
              </p:nvSpPr>
              <p:spPr bwMode="auto">
                <a:xfrm>
                  <a:off x="1922" y="1833"/>
                  <a:ext cx="112" cy="17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grpSp>
          <p:grpSp>
            <p:nvGrpSpPr>
              <p:cNvPr id="105600" name="Group 137"/>
              <p:cNvGrpSpPr/>
              <p:nvPr/>
            </p:nvGrpSpPr>
            <p:grpSpPr>
              <a:xfrm>
                <a:off x="1841" y="2643"/>
                <a:ext cx="176" cy="379"/>
                <a:chOff x="1321" y="488"/>
                <a:chExt cx="167" cy="379"/>
              </a:xfrm>
            </p:grpSpPr>
            <p:sp>
              <p:nvSpPr>
                <p:cNvPr id="101512" name="Oval 138"/>
                <p:cNvSpPr>
                  <a:spLocks noChangeArrowheads="1"/>
                </p:cNvSpPr>
                <p:nvPr/>
              </p:nvSpPr>
              <p:spPr bwMode="auto">
                <a:xfrm>
                  <a:off x="1321" y="689"/>
                  <a:ext cx="168"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EFFFF"/>
                    </a:solidFill>
                    <a:effectLst/>
                    <a:uLnTx/>
                    <a:uFillTx/>
                    <a:latin typeface="Times New Roman" panose="02020603050405020304"/>
                    <a:ea typeface="微软雅黑" panose="020B0503020204020204" pitchFamily="34" charset="-122"/>
                    <a:cs typeface="+mn-ea"/>
                    <a:sym typeface="+mn-lt"/>
                  </a:endParaRPr>
                </a:p>
              </p:txBody>
            </p:sp>
            <p:sp>
              <p:nvSpPr>
                <p:cNvPr id="101513" name="Text Box 139"/>
                <p:cNvSpPr txBox="1">
                  <a:spLocks noChangeArrowheads="1"/>
                </p:cNvSpPr>
                <p:nvPr/>
              </p:nvSpPr>
              <p:spPr bwMode="auto">
                <a:xfrm>
                  <a:off x="1366" y="488"/>
                  <a:ext cx="11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Times New Roman" panose="02020603050405020304"/>
                    <a:ea typeface="微软雅黑" panose="020B0503020204020204" pitchFamily="34" charset="-122"/>
                    <a:cs typeface="+mn-ea"/>
                    <a:sym typeface="+mn-lt"/>
                  </a:endParaRPr>
                </a:p>
              </p:txBody>
            </p:sp>
          </p:grpSp>
          <p:sp>
            <p:nvSpPr>
              <p:cNvPr id="101514" name="Line 140"/>
              <p:cNvSpPr>
                <a:spLocks noChangeShapeType="1"/>
              </p:cNvSpPr>
              <p:nvPr/>
            </p:nvSpPr>
            <p:spPr bwMode="auto">
              <a:xfrm flipH="1">
                <a:off x="1800" y="3011"/>
                <a:ext cx="89"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sp>
            <p:nvSpPr>
              <p:cNvPr id="101515" name="Line 141"/>
              <p:cNvSpPr>
                <a:spLocks noChangeShapeType="1"/>
              </p:cNvSpPr>
              <p:nvPr/>
            </p:nvSpPr>
            <p:spPr bwMode="auto">
              <a:xfrm>
                <a:off x="1978" y="3011"/>
                <a:ext cx="100"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grpSp>
        <p:grpSp>
          <p:nvGrpSpPr>
            <p:cNvPr id="105593" name="Group 142"/>
            <p:cNvGrpSpPr/>
            <p:nvPr/>
          </p:nvGrpSpPr>
          <p:grpSpPr>
            <a:xfrm>
              <a:off x="3697" y="1461"/>
              <a:ext cx="180" cy="390"/>
              <a:chOff x="1022" y="477"/>
              <a:chExt cx="180" cy="390"/>
            </a:xfrm>
          </p:grpSpPr>
          <p:sp>
            <p:nvSpPr>
              <p:cNvPr id="101517" name="Oval 143"/>
              <p:cNvSpPr>
                <a:spLocks noChangeArrowheads="1"/>
              </p:cNvSpPr>
              <p:nvPr/>
            </p:nvSpPr>
            <p:spPr bwMode="auto">
              <a:xfrm>
                <a:off x="1022" y="689"/>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EFFFF"/>
                  </a:solidFill>
                  <a:effectLst/>
                  <a:uLnTx/>
                  <a:uFillTx/>
                  <a:latin typeface="Times New Roman" panose="02020603050405020304"/>
                  <a:ea typeface="微软雅黑" panose="020B0503020204020204" pitchFamily="34" charset="-122"/>
                  <a:cs typeface="+mn-ea"/>
                  <a:sym typeface="+mn-lt"/>
                </a:endParaRPr>
              </a:p>
            </p:txBody>
          </p:sp>
          <p:sp>
            <p:nvSpPr>
              <p:cNvPr id="101518" name="Text Box 144"/>
              <p:cNvSpPr txBox="1">
                <a:spLocks noChangeArrowheads="1"/>
              </p:cNvSpPr>
              <p:nvPr/>
            </p:nvSpPr>
            <p:spPr bwMode="auto">
              <a:xfrm>
                <a:off x="1086" y="477"/>
                <a:ext cx="1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Times New Roman" panose="02020603050405020304"/>
                  <a:ea typeface="微软雅黑" panose="020B0503020204020204" pitchFamily="34" charset="-122"/>
                  <a:cs typeface="+mn-ea"/>
                  <a:sym typeface="+mn-lt"/>
                </a:endParaRPr>
              </a:p>
            </p:txBody>
          </p:sp>
        </p:grpSp>
        <p:sp>
          <p:nvSpPr>
            <p:cNvPr id="101519" name="Line 145"/>
            <p:cNvSpPr>
              <a:spLocks noChangeShapeType="1"/>
            </p:cNvSpPr>
            <p:nvPr/>
          </p:nvSpPr>
          <p:spPr bwMode="auto">
            <a:xfrm flipH="1">
              <a:off x="3623" y="1822"/>
              <a:ext cx="111" cy="21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sp>
          <p:nvSpPr>
            <p:cNvPr id="101520" name="Line 146"/>
            <p:cNvSpPr>
              <a:spLocks noChangeShapeType="1"/>
            </p:cNvSpPr>
            <p:nvPr/>
          </p:nvSpPr>
          <p:spPr bwMode="auto">
            <a:xfrm>
              <a:off x="3812" y="1844"/>
              <a:ext cx="121"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grpSp>
      <p:sp>
        <p:nvSpPr>
          <p:cNvPr id="952467" name="AutoShape 147"/>
          <p:cNvSpPr>
            <a:spLocks noChangeArrowheads="1"/>
          </p:cNvSpPr>
          <p:nvPr/>
        </p:nvSpPr>
        <p:spPr bwMode="auto">
          <a:xfrm>
            <a:off x="3797300" y="2781300"/>
            <a:ext cx="1584325" cy="279400"/>
          </a:xfrm>
          <a:prstGeom prst="curvedDownArrow">
            <a:avLst>
              <a:gd name="adj1" fmla="val 48802"/>
              <a:gd name="adj2" fmla="val 97604"/>
              <a:gd name="adj3" fmla="val 33324"/>
            </a:avLst>
          </a:prstGeom>
          <a:solidFill>
            <a:schemeClr val="accent1">
              <a:lumMod val="60000"/>
              <a:lumOff val="40000"/>
            </a:schemeClr>
          </a:solidFill>
          <a:ln w="9525">
            <a:solidFill>
              <a:schemeClr val="accent1">
                <a:lumMod val="60000"/>
                <a:lumOff val="40000"/>
              </a:schemeClr>
            </a:solid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sp>
        <p:nvSpPr>
          <p:cNvPr id="36" name="Rectangle 3"/>
          <p:cNvSpPr>
            <a:spLocks noChangeArrowheads="1"/>
          </p:cNvSpPr>
          <p:nvPr/>
        </p:nvSpPr>
        <p:spPr bwMode="auto">
          <a:xfrm>
            <a:off x="827088" y="223838"/>
            <a:ext cx="65881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EFFFF"/>
                </a:solidFill>
                <a:effectLst/>
                <a:uLnTx/>
                <a:uFillTx/>
                <a:latin typeface="Times New Roman" panose="02020603050405020304"/>
                <a:ea typeface="微软雅黑" panose="020B0503020204020204" pitchFamily="34" charset="-122"/>
                <a:cs typeface="+mn-cs"/>
                <a:sym typeface="+mn-lt"/>
              </a:rPr>
              <a:t>哈夫曼树构造算法的实现</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99332"/>
                                        </p:tgtEl>
                                        <p:attrNameLst>
                                          <p:attrName>style.visibility</p:attrName>
                                        </p:attrNameLst>
                                      </p:cBhvr>
                                      <p:to>
                                        <p:strVal val="visible"/>
                                      </p:to>
                                    </p:set>
                                    <p:anim calcmode="lin" valueType="num">
                                      <p:cBhvr additive="base">
                                        <p:cTn id="7" dur="500" fill="hold"/>
                                        <p:tgtEl>
                                          <p:spTgt spid="99332"/>
                                        </p:tgtEl>
                                        <p:attrNameLst>
                                          <p:attrName>ppt_x</p:attrName>
                                        </p:attrNameLst>
                                      </p:cBhvr>
                                      <p:tavLst>
                                        <p:tav tm="0">
                                          <p:val>
                                            <p:strVal val="#ppt_x"/>
                                          </p:val>
                                        </p:tav>
                                        <p:tav tm="100000">
                                          <p:val>
                                            <p:strVal val="#ppt_x"/>
                                          </p:val>
                                        </p:tav>
                                      </p:tavLst>
                                    </p:anim>
                                    <p:anim calcmode="lin" valueType="num">
                                      <p:cBhvr additive="base">
                                        <p:cTn id="8" dur="500" fill="hold"/>
                                        <p:tgtEl>
                                          <p:spTgt spid="9933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952467"/>
                                        </p:tgtEl>
                                        <p:attrNameLst>
                                          <p:attrName>style.visibility</p:attrName>
                                        </p:attrNameLst>
                                      </p:cBhvr>
                                      <p:to>
                                        <p:strVal val="visible"/>
                                      </p:to>
                                    </p:set>
                                    <p:anim calcmode="lin" valueType="num">
                                      <p:cBhvr additive="base">
                                        <p:cTn id="13" dur="500" fill="hold"/>
                                        <p:tgtEl>
                                          <p:spTgt spid="952467"/>
                                        </p:tgtEl>
                                        <p:attrNameLst>
                                          <p:attrName>ppt_x</p:attrName>
                                        </p:attrNameLst>
                                      </p:cBhvr>
                                      <p:tavLst>
                                        <p:tav tm="0">
                                          <p:val>
                                            <p:strVal val="#ppt_x"/>
                                          </p:val>
                                        </p:tav>
                                        <p:tav tm="100000">
                                          <p:val>
                                            <p:strVal val="#ppt_x"/>
                                          </p:val>
                                        </p:tav>
                                      </p:tavLst>
                                    </p:anim>
                                    <p:anim calcmode="lin" valueType="num">
                                      <p:cBhvr additive="base">
                                        <p:cTn id="14" dur="500" fill="hold"/>
                                        <p:tgtEl>
                                          <p:spTgt spid="952467"/>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 presetClass="entr" presetSubtype="16" fill="hold" nodeType="clickEffect">
                                  <p:stCondLst>
                                    <p:cond delay="0"/>
                                  </p:stCondLst>
                                  <p:childTnLst>
                                    <p:set>
                                      <p:cBhvr>
                                        <p:cTn id="18" dur="1" fill="hold">
                                          <p:stCondLst>
                                            <p:cond delay="0"/>
                                          </p:stCondLst>
                                        </p:cTn>
                                        <p:tgtEl>
                                          <p:spTgt spid="99388"/>
                                        </p:tgtEl>
                                        <p:attrNameLst>
                                          <p:attrName>style.visibility</p:attrName>
                                        </p:attrNameLst>
                                      </p:cBhvr>
                                      <p:to>
                                        <p:strVal val="visible"/>
                                      </p:to>
                                    </p:set>
                                    <p:animEffect transition="in" filter="box(in)">
                                      <p:cBhvr>
                                        <p:cTn id="19" dur="500"/>
                                        <p:tgtEl>
                                          <p:spTgt spid="993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2467" grpId="0" bldLvl="0" animBg="1"/>
    </p:bldLst>
  </p:timing>
</p:sld>
</file>

<file path=ppt/slides/slide17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5474" name="圆角矩形 1"/>
          <p:cNvSpPr/>
          <p:nvPr/>
        </p:nvSpPr>
        <p:spPr>
          <a:xfrm>
            <a:off x="5364163" y="1014413"/>
            <a:ext cx="3311525" cy="2136775"/>
          </a:xfrm>
          <a:prstGeom prst="roundRect">
            <a:avLst>
              <a:gd name="adj" fmla="val 6569"/>
            </a:avLst>
          </a:prstGeom>
          <a:no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0" lang="zh-CN" altLang="en-US" sz="2800" b="0" i="0" u="none" strike="noStrike" kern="1200" cap="none" spc="0" normalizeH="0" baseline="0" noProof="0" dirty="0">
              <a:ln>
                <a:noFill/>
              </a:ln>
              <a:solidFill>
                <a:srgbClr val="000000"/>
              </a:solidFill>
              <a:effectLst/>
              <a:uLnTx/>
              <a:uFillTx/>
              <a:latin typeface="Times New Roman" panose="02020603050405020304"/>
              <a:ea typeface="仿宋_GB2312" pitchFamily="49" charset="-122"/>
              <a:cs typeface="+mn-cs"/>
            </a:endParaRPr>
          </a:p>
        </p:txBody>
      </p:sp>
      <p:sp>
        <p:nvSpPr>
          <p:cNvPr id="101378" name="Text Box 4"/>
          <p:cNvSpPr txBox="1">
            <a:spLocks noChangeArrowheads="1"/>
          </p:cNvSpPr>
          <p:nvPr/>
        </p:nvSpPr>
        <p:spPr bwMode="auto">
          <a:xfrm>
            <a:off x="368300" y="1281113"/>
            <a:ext cx="4695825" cy="958850"/>
          </a:xfrm>
          <a:prstGeom prst="roundRect">
            <a:avLst>
              <a:gd name="adj" fmla="val 12699"/>
            </a:avLst>
          </a:prstGeom>
          <a:no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例:设</a:t>
            </a:r>
            <a:r>
              <a:rPr kumimoji="0" lang="en-US"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n=4,  w={70,50,20,40}</a:t>
            </a:r>
          </a:p>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试设计 </a:t>
            </a:r>
            <a:r>
              <a:rPr kumimoji="0" lang="en-US" altLang="zh-CN" sz="2400" b="0" i="0" u="none" strike="noStrike" kern="1200" cap="none" spc="0" normalizeH="0" baseline="0" noProof="0" dirty="0" err="1">
                <a:ln>
                  <a:noFill/>
                </a:ln>
                <a:solidFill>
                  <a:srgbClr val="000000"/>
                </a:solidFill>
                <a:effectLst/>
                <a:uLnTx/>
                <a:uFillTx/>
                <a:latin typeface="Times New Roman" panose="02020603050405020304"/>
                <a:ea typeface="微软雅黑" panose="020B0503020204020204" pitchFamily="34" charset="-122"/>
                <a:cs typeface="+mn-ea"/>
                <a:sym typeface="+mn-lt"/>
              </a:rPr>
              <a:t>huffman</a:t>
            </a:r>
            <a:r>
              <a:rPr kumimoji="0" lang="en-US"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 code (m=2*4-1=7)</a:t>
            </a:r>
            <a:endParaRPr kumimoji="0" lang="en-US" altLang="zh-CN" sz="28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graphicFrame>
        <p:nvGraphicFramePr>
          <p:cNvPr id="99332" name="表格 99331"/>
          <p:cNvGraphicFramePr/>
          <p:nvPr/>
        </p:nvGraphicFramePr>
        <p:xfrm>
          <a:off x="439738" y="3197225"/>
          <a:ext cx="4040186" cy="3395664"/>
        </p:xfrm>
        <a:graphic>
          <a:graphicData uri="http://schemas.openxmlformats.org/drawingml/2006/table">
            <a:tbl>
              <a:tblPr/>
              <a:tblGrid>
                <a:gridCol w="526992"/>
                <a:gridCol w="936521"/>
                <a:gridCol w="903188"/>
                <a:gridCol w="765090"/>
                <a:gridCol w="908395"/>
              </a:tblGrid>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weight</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parent</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lch</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rch</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1</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70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2</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50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3</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20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4</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40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5</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6</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7</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graphicFrame>
        <p:nvGraphicFramePr>
          <p:cNvPr id="99388" name="表格 99387"/>
          <p:cNvGraphicFramePr/>
          <p:nvPr>
            <p:custDataLst>
              <p:tags r:id="rId1"/>
            </p:custDataLst>
          </p:nvPr>
        </p:nvGraphicFramePr>
        <p:xfrm>
          <a:off x="4635500" y="3201988"/>
          <a:ext cx="4040188" cy="3395719"/>
        </p:xfrm>
        <a:graphic>
          <a:graphicData uri="http://schemas.openxmlformats.org/drawingml/2006/table">
            <a:tbl>
              <a:tblPr/>
              <a:tblGrid>
                <a:gridCol w="527050"/>
                <a:gridCol w="936625"/>
                <a:gridCol w="903288"/>
                <a:gridCol w="765175"/>
                <a:gridCol w="908050"/>
              </a:tblGrid>
              <a:tr h="396875">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solidFill>
                          <a:schemeClr val="bg1"/>
                        </a:solidFill>
                        <a:latin typeface="+mn-lt"/>
                        <a:ea typeface="+mn-ea"/>
                        <a:cs typeface="+mn-ea"/>
                        <a:sym typeface="+mn-lt"/>
                      </a:endParaRP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weight</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parent</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lch</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rch</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1</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highlight>
                            <a:srgbClr val="FFFF00"/>
                          </a:highlight>
                          <a:latin typeface="+mn-lt"/>
                          <a:ea typeface="+mn-ea"/>
                          <a:cs typeface="+mn-ea"/>
                          <a:sym typeface="+mn-lt"/>
                        </a:rPr>
                        <a:t>70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rgbClr val="FF0000"/>
                          </a:solidFill>
                          <a:latin typeface="+mn-lt"/>
                          <a:ea typeface="+mn-ea"/>
                          <a:cs typeface="+mn-ea"/>
                          <a:sym typeface="+mn-lt"/>
                        </a:rPr>
                        <a:t>7</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2</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50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6</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3</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20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5</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4</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40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5</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24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5</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60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6</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3</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4</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6</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highlight>
                            <a:srgbClr val="FFFF00"/>
                          </a:highlight>
                          <a:latin typeface="+mn-lt"/>
                          <a:ea typeface="+mn-ea"/>
                          <a:cs typeface="+mn-ea"/>
                          <a:sym typeface="+mn-lt"/>
                        </a:rPr>
                        <a:t>110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0000"/>
                          </a:solidFill>
                          <a:latin typeface="+mn-lt"/>
                          <a:ea typeface="+mn-ea"/>
                          <a:cs typeface="+mn-ea"/>
                          <a:sym typeface="+mn-lt"/>
                        </a:rPr>
                        <a:t>7</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2</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5</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7</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180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0000"/>
                          </a:solidFill>
                          <a:latin typeface="+mn-lt"/>
                          <a:ea typeface="+mn-ea"/>
                          <a:cs typeface="+mn-ea"/>
                          <a:sym typeface="+mn-lt"/>
                        </a:rPr>
                        <a:t>1</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0000"/>
                          </a:solidFill>
                          <a:latin typeface="+mn-lt"/>
                          <a:ea typeface="+mn-ea"/>
                          <a:cs typeface="+mn-ea"/>
                          <a:sym typeface="+mn-lt"/>
                        </a:rPr>
                        <a:t>6</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grpSp>
        <p:nvGrpSpPr>
          <p:cNvPr id="105588" name="Group 117"/>
          <p:cNvGrpSpPr/>
          <p:nvPr/>
        </p:nvGrpSpPr>
        <p:grpSpPr>
          <a:xfrm>
            <a:off x="6007100" y="739775"/>
            <a:ext cx="2173288" cy="2211388"/>
            <a:chOff x="3439" y="1461"/>
            <a:chExt cx="1094" cy="1393"/>
          </a:xfrm>
        </p:grpSpPr>
        <p:grpSp>
          <p:nvGrpSpPr>
            <p:cNvPr id="105591" name="Group 118"/>
            <p:cNvGrpSpPr/>
            <p:nvPr/>
          </p:nvGrpSpPr>
          <p:grpSpPr>
            <a:xfrm>
              <a:off x="3439" y="1755"/>
              <a:ext cx="248" cy="433"/>
              <a:chOff x="983" y="434"/>
              <a:chExt cx="248" cy="433"/>
            </a:xfrm>
          </p:grpSpPr>
          <p:sp>
            <p:nvSpPr>
              <p:cNvPr id="101493" name="Oval 119"/>
              <p:cNvSpPr>
                <a:spLocks noChangeArrowheads="1"/>
              </p:cNvSpPr>
              <p:nvPr/>
            </p:nvSpPr>
            <p:spPr bwMode="auto">
              <a:xfrm>
                <a:off x="1022" y="689"/>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EFFFF"/>
                    </a:solidFill>
                    <a:effectLst/>
                    <a:uLnTx/>
                    <a:uFillTx/>
                    <a:latin typeface="Times New Roman" panose="02020603050405020304"/>
                    <a:ea typeface="微软雅黑" panose="020B0503020204020204" pitchFamily="34" charset="-122"/>
                    <a:cs typeface="+mn-ea"/>
                    <a:sym typeface="+mn-lt"/>
                  </a:rPr>
                  <a:t>a</a:t>
                </a:r>
              </a:p>
            </p:txBody>
          </p:sp>
          <p:sp>
            <p:nvSpPr>
              <p:cNvPr id="101494" name="Text Box 120"/>
              <p:cNvSpPr txBox="1">
                <a:spLocks noChangeArrowheads="1"/>
              </p:cNvSpPr>
              <p:nvPr/>
            </p:nvSpPr>
            <p:spPr bwMode="auto">
              <a:xfrm>
                <a:off x="983" y="434"/>
                <a:ext cx="24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70</a:t>
                </a:r>
              </a:p>
            </p:txBody>
          </p:sp>
        </p:grpSp>
        <p:grpSp>
          <p:nvGrpSpPr>
            <p:cNvPr id="105592" name="Group 121"/>
            <p:cNvGrpSpPr/>
            <p:nvPr/>
          </p:nvGrpSpPr>
          <p:grpSpPr>
            <a:xfrm>
              <a:off x="3698" y="1805"/>
              <a:ext cx="835" cy="1049"/>
              <a:chOff x="1625" y="2643"/>
              <a:chExt cx="835" cy="1049"/>
            </a:xfrm>
          </p:grpSpPr>
          <p:grpSp>
            <p:nvGrpSpPr>
              <p:cNvPr id="105598" name="Group 122"/>
              <p:cNvGrpSpPr/>
              <p:nvPr/>
            </p:nvGrpSpPr>
            <p:grpSpPr>
              <a:xfrm>
                <a:off x="1625" y="2929"/>
                <a:ext cx="248" cy="441"/>
                <a:chOff x="1300" y="426"/>
                <a:chExt cx="234" cy="441"/>
              </a:xfrm>
            </p:grpSpPr>
            <p:sp>
              <p:nvSpPr>
                <p:cNvPr id="101497" name="Oval 123"/>
                <p:cNvSpPr>
                  <a:spLocks noChangeArrowheads="1"/>
                </p:cNvSpPr>
                <p:nvPr/>
              </p:nvSpPr>
              <p:spPr bwMode="auto">
                <a:xfrm>
                  <a:off x="1321" y="689"/>
                  <a:ext cx="166"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EFFFF"/>
                      </a:solidFill>
                      <a:effectLst/>
                      <a:uLnTx/>
                      <a:uFillTx/>
                      <a:latin typeface="Times New Roman" panose="02020603050405020304"/>
                      <a:ea typeface="微软雅黑" panose="020B0503020204020204" pitchFamily="34" charset="-122"/>
                      <a:cs typeface="+mn-ea"/>
                      <a:sym typeface="+mn-lt"/>
                    </a:rPr>
                    <a:t>b</a:t>
                  </a:r>
                </a:p>
              </p:txBody>
            </p:sp>
            <p:sp>
              <p:nvSpPr>
                <p:cNvPr id="101498" name="Text Box 124"/>
                <p:cNvSpPr txBox="1">
                  <a:spLocks noChangeArrowheads="1"/>
                </p:cNvSpPr>
                <p:nvPr/>
              </p:nvSpPr>
              <p:spPr bwMode="auto">
                <a:xfrm>
                  <a:off x="1300" y="426"/>
                  <a:ext cx="23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50</a:t>
                  </a:r>
                </a:p>
              </p:txBody>
            </p:sp>
          </p:grpSp>
          <p:grpSp>
            <p:nvGrpSpPr>
              <p:cNvPr id="105599" name="Group 125"/>
              <p:cNvGrpSpPr/>
              <p:nvPr/>
            </p:nvGrpSpPr>
            <p:grpSpPr>
              <a:xfrm>
                <a:off x="1836" y="2971"/>
                <a:ext cx="624" cy="721"/>
                <a:chOff x="1606" y="1453"/>
                <a:chExt cx="624" cy="721"/>
              </a:xfrm>
            </p:grpSpPr>
            <p:grpSp>
              <p:nvGrpSpPr>
                <p:cNvPr id="105605" name="Group 126"/>
                <p:cNvGrpSpPr/>
                <p:nvPr/>
              </p:nvGrpSpPr>
              <p:grpSpPr>
                <a:xfrm>
                  <a:off x="1606" y="1729"/>
                  <a:ext cx="248" cy="445"/>
                  <a:chOff x="1599" y="422"/>
                  <a:chExt cx="248" cy="445"/>
                </a:xfrm>
              </p:grpSpPr>
              <p:sp>
                <p:nvSpPr>
                  <p:cNvPr id="101501" name="Oval 127"/>
                  <p:cNvSpPr>
                    <a:spLocks noChangeArrowheads="1"/>
                  </p:cNvSpPr>
                  <p:nvPr/>
                </p:nvSpPr>
                <p:spPr bwMode="auto">
                  <a:xfrm>
                    <a:off x="1620" y="689"/>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rgbClr val="FEFFFF"/>
                        </a:solidFill>
                        <a:effectLst/>
                        <a:uLnTx/>
                        <a:uFillTx/>
                        <a:latin typeface="Times New Roman" panose="02020603050405020304"/>
                        <a:ea typeface="微软雅黑" panose="020B0503020204020204" pitchFamily="34" charset="-122"/>
                        <a:cs typeface="+mn-ea"/>
                        <a:sym typeface="+mn-lt"/>
                      </a:rPr>
                      <a:t>c</a:t>
                    </a:r>
                  </a:p>
                </p:txBody>
              </p:sp>
              <p:sp>
                <p:nvSpPr>
                  <p:cNvPr id="101502" name="Text Box 128"/>
                  <p:cNvSpPr txBox="1">
                    <a:spLocks noChangeArrowheads="1"/>
                  </p:cNvSpPr>
                  <p:nvPr/>
                </p:nvSpPr>
                <p:spPr bwMode="auto">
                  <a:xfrm>
                    <a:off x="1599" y="422"/>
                    <a:ext cx="24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20</a:t>
                    </a:r>
                  </a:p>
                </p:txBody>
              </p:sp>
            </p:grpSp>
            <p:grpSp>
              <p:nvGrpSpPr>
                <p:cNvPr id="105606" name="Group 129"/>
                <p:cNvGrpSpPr/>
                <p:nvPr/>
              </p:nvGrpSpPr>
              <p:grpSpPr>
                <a:xfrm>
                  <a:off x="1982" y="1729"/>
                  <a:ext cx="248" cy="445"/>
                  <a:chOff x="1909" y="422"/>
                  <a:chExt cx="248" cy="445"/>
                </a:xfrm>
              </p:grpSpPr>
              <p:sp>
                <p:nvSpPr>
                  <p:cNvPr id="101504" name="Oval 130"/>
                  <p:cNvSpPr>
                    <a:spLocks noChangeArrowheads="1"/>
                  </p:cNvSpPr>
                  <p:nvPr/>
                </p:nvSpPr>
                <p:spPr bwMode="auto">
                  <a:xfrm>
                    <a:off x="1920" y="689"/>
                    <a:ext cx="165"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rgbClr val="FEFFFF"/>
                        </a:solidFill>
                        <a:effectLst/>
                        <a:uLnTx/>
                        <a:uFillTx/>
                        <a:latin typeface="Times New Roman" panose="02020603050405020304"/>
                        <a:ea typeface="微软雅黑" panose="020B0503020204020204" pitchFamily="34" charset="-122"/>
                        <a:cs typeface="+mn-ea"/>
                        <a:sym typeface="+mn-lt"/>
                      </a:rPr>
                      <a:t>d</a:t>
                    </a:r>
                  </a:p>
                </p:txBody>
              </p:sp>
              <p:sp>
                <p:nvSpPr>
                  <p:cNvPr id="101505" name="Text Box 131"/>
                  <p:cNvSpPr txBox="1">
                    <a:spLocks noChangeArrowheads="1"/>
                  </p:cNvSpPr>
                  <p:nvPr/>
                </p:nvSpPr>
                <p:spPr bwMode="auto">
                  <a:xfrm>
                    <a:off x="1909" y="422"/>
                    <a:ext cx="24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rgbClr val="000000"/>
                        </a:solidFill>
                        <a:effectLst/>
                        <a:uLnTx/>
                        <a:uFillTx/>
                        <a:latin typeface="Times New Roman" panose="02020603050405020304"/>
                        <a:ea typeface="微软雅黑" panose="020B0503020204020204" pitchFamily="34" charset="-122"/>
                        <a:cs typeface="+mn-ea"/>
                        <a:sym typeface="+mn-lt"/>
                      </a:rPr>
                      <a:t>40</a:t>
                    </a:r>
                  </a:p>
                </p:txBody>
              </p:sp>
            </p:grpSp>
            <p:grpSp>
              <p:nvGrpSpPr>
                <p:cNvPr id="105607" name="Group 132"/>
                <p:cNvGrpSpPr/>
                <p:nvPr/>
              </p:nvGrpSpPr>
              <p:grpSpPr>
                <a:xfrm>
                  <a:off x="1816" y="1453"/>
                  <a:ext cx="172" cy="388"/>
                  <a:chOff x="1782" y="1597"/>
                  <a:chExt cx="172" cy="388"/>
                </a:xfrm>
              </p:grpSpPr>
              <p:sp>
                <p:nvSpPr>
                  <p:cNvPr id="101507" name="Oval 133"/>
                  <p:cNvSpPr>
                    <a:spLocks noChangeArrowheads="1"/>
                  </p:cNvSpPr>
                  <p:nvPr/>
                </p:nvSpPr>
                <p:spPr bwMode="auto">
                  <a:xfrm>
                    <a:off x="1782" y="1807"/>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EFFFF"/>
                      </a:solidFill>
                      <a:effectLst/>
                      <a:uLnTx/>
                      <a:uFillTx/>
                      <a:latin typeface="Times New Roman" panose="02020603050405020304"/>
                      <a:ea typeface="微软雅黑" panose="020B0503020204020204" pitchFamily="34" charset="-122"/>
                      <a:cs typeface="+mn-ea"/>
                      <a:sym typeface="+mn-lt"/>
                    </a:endParaRPr>
                  </a:p>
                </p:txBody>
              </p:sp>
              <p:sp>
                <p:nvSpPr>
                  <p:cNvPr id="101508" name="Text Box 134"/>
                  <p:cNvSpPr txBox="1">
                    <a:spLocks noChangeArrowheads="1"/>
                  </p:cNvSpPr>
                  <p:nvPr/>
                </p:nvSpPr>
                <p:spPr bwMode="auto">
                  <a:xfrm>
                    <a:off x="1838" y="1597"/>
                    <a:ext cx="1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Times New Roman" panose="02020603050405020304"/>
                      <a:ea typeface="微软雅黑" panose="020B0503020204020204" pitchFamily="34" charset="-122"/>
                      <a:cs typeface="+mn-ea"/>
                      <a:sym typeface="+mn-lt"/>
                    </a:endParaRPr>
                  </a:p>
                </p:txBody>
              </p:sp>
            </p:grpSp>
            <p:sp>
              <p:nvSpPr>
                <p:cNvPr id="101509" name="Line 135"/>
                <p:cNvSpPr>
                  <a:spLocks noChangeShapeType="1"/>
                </p:cNvSpPr>
                <p:nvPr/>
              </p:nvSpPr>
              <p:spPr bwMode="auto">
                <a:xfrm flipH="1">
                  <a:off x="1767" y="1833"/>
                  <a:ext cx="100" cy="18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sp>
              <p:nvSpPr>
                <p:cNvPr id="101510" name="Line 136"/>
                <p:cNvSpPr>
                  <a:spLocks noChangeShapeType="1"/>
                </p:cNvSpPr>
                <p:nvPr/>
              </p:nvSpPr>
              <p:spPr bwMode="auto">
                <a:xfrm>
                  <a:off x="1922" y="1833"/>
                  <a:ext cx="112" cy="17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grpSp>
          <p:grpSp>
            <p:nvGrpSpPr>
              <p:cNvPr id="105600" name="Group 137"/>
              <p:cNvGrpSpPr/>
              <p:nvPr/>
            </p:nvGrpSpPr>
            <p:grpSpPr>
              <a:xfrm>
                <a:off x="1841" y="2643"/>
                <a:ext cx="176" cy="379"/>
                <a:chOff x="1321" y="488"/>
                <a:chExt cx="167" cy="379"/>
              </a:xfrm>
            </p:grpSpPr>
            <p:sp>
              <p:nvSpPr>
                <p:cNvPr id="101512" name="Oval 138"/>
                <p:cNvSpPr>
                  <a:spLocks noChangeArrowheads="1"/>
                </p:cNvSpPr>
                <p:nvPr/>
              </p:nvSpPr>
              <p:spPr bwMode="auto">
                <a:xfrm>
                  <a:off x="1321" y="689"/>
                  <a:ext cx="168"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EFFFF"/>
                    </a:solidFill>
                    <a:effectLst/>
                    <a:uLnTx/>
                    <a:uFillTx/>
                    <a:latin typeface="Times New Roman" panose="02020603050405020304"/>
                    <a:ea typeface="微软雅黑" panose="020B0503020204020204" pitchFamily="34" charset="-122"/>
                    <a:cs typeface="+mn-ea"/>
                    <a:sym typeface="+mn-lt"/>
                  </a:endParaRPr>
                </a:p>
              </p:txBody>
            </p:sp>
            <p:sp>
              <p:nvSpPr>
                <p:cNvPr id="101513" name="Text Box 139"/>
                <p:cNvSpPr txBox="1">
                  <a:spLocks noChangeArrowheads="1"/>
                </p:cNvSpPr>
                <p:nvPr/>
              </p:nvSpPr>
              <p:spPr bwMode="auto">
                <a:xfrm>
                  <a:off x="1366" y="488"/>
                  <a:ext cx="11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Times New Roman" panose="02020603050405020304"/>
                    <a:ea typeface="微软雅黑" panose="020B0503020204020204" pitchFamily="34" charset="-122"/>
                    <a:cs typeface="+mn-ea"/>
                    <a:sym typeface="+mn-lt"/>
                  </a:endParaRPr>
                </a:p>
              </p:txBody>
            </p:sp>
          </p:grpSp>
          <p:sp>
            <p:nvSpPr>
              <p:cNvPr id="101514" name="Line 140"/>
              <p:cNvSpPr>
                <a:spLocks noChangeShapeType="1"/>
              </p:cNvSpPr>
              <p:nvPr/>
            </p:nvSpPr>
            <p:spPr bwMode="auto">
              <a:xfrm flipH="1">
                <a:off x="1800" y="3011"/>
                <a:ext cx="89"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sp>
            <p:nvSpPr>
              <p:cNvPr id="101515" name="Line 141"/>
              <p:cNvSpPr>
                <a:spLocks noChangeShapeType="1"/>
              </p:cNvSpPr>
              <p:nvPr/>
            </p:nvSpPr>
            <p:spPr bwMode="auto">
              <a:xfrm>
                <a:off x="1978" y="3011"/>
                <a:ext cx="100"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grpSp>
        <p:grpSp>
          <p:nvGrpSpPr>
            <p:cNvPr id="105593" name="Group 142"/>
            <p:cNvGrpSpPr/>
            <p:nvPr/>
          </p:nvGrpSpPr>
          <p:grpSpPr>
            <a:xfrm>
              <a:off x="3697" y="1461"/>
              <a:ext cx="180" cy="390"/>
              <a:chOff x="1022" y="477"/>
              <a:chExt cx="180" cy="390"/>
            </a:xfrm>
          </p:grpSpPr>
          <p:sp>
            <p:nvSpPr>
              <p:cNvPr id="101517" name="Oval 143"/>
              <p:cNvSpPr>
                <a:spLocks noChangeArrowheads="1"/>
              </p:cNvSpPr>
              <p:nvPr/>
            </p:nvSpPr>
            <p:spPr bwMode="auto">
              <a:xfrm>
                <a:off x="1022" y="689"/>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EFFFF"/>
                  </a:solidFill>
                  <a:effectLst/>
                  <a:uLnTx/>
                  <a:uFillTx/>
                  <a:latin typeface="Times New Roman" panose="02020603050405020304"/>
                  <a:ea typeface="微软雅黑" panose="020B0503020204020204" pitchFamily="34" charset="-122"/>
                  <a:cs typeface="+mn-ea"/>
                  <a:sym typeface="+mn-lt"/>
                </a:endParaRPr>
              </a:p>
            </p:txBody>
          </p:sp>
          <p:sp>
            <p:nvSpPr>
              <p:cNvPr id="101518" name="Text Box 144"/>
              <p:cNvSpPr txBox="1">
                <a:spLocks noChangeArrowheads="1"/>
              </p:cNvSpPr>
              <p:nvPr/>
            </p:nvSpPr>
            <p:spPr bwMode="auto">
              <a:xfrm>
                <a:off x="1086" y="477"/>
                <a:ext cx="1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Times New Roman" panose="02020603050405020304"/>
                  <a:ea typeface="微软雅黑" panose="020B0503020204020204" pitchFamily="34" charset="-122"/>
                  <a:cs typeface="+mn-ea"/>
                  <a:sym typeface="+mn-lt"/>
                </a:endParaRPr>
              </a:p>
            </p:txBody>
          </p:sp>
        </p:grpSp>
        <p:sp>
          <p:nvSpPr>
            <p:cNvPr id="101519" name="Line 145"/>
            <p:cNvSpPr>
              <a:spLocks noChangeShapeType="1"/>
            </p:cNvSpPr>
            <p:nvPr/>
          </p:nvSpPr>
          <p:spPr bwMode="auto">
            <a:xfrm flipH="1">
              <a:off x="3623" y="1822"/>
              <a:ext cx="111" cy="21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sp>
          <p:nvSpPr>
            <p:cNvPr id="101520" name="Line 146"/>
            <p:cNvSpPr>
              <a:spLocks noChangeShapeType="1"/>
            </p:cNvSpPr>
            <p:nvPr/>
          </p:nvSpPr>
          <p:spPr bwMode="auto">
            <a:xfrm>
              <a:off x="3812" y="1844"/>
              <a:ext cx="121"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grpSp>
      <p:sp>
        <p:nvSpPr>
          <p:cNvPr id="952467" name="AutoShape 147"/>
          <p:cNvSpPr>
            <a:spLocks noChangeArrowheads="1"/>
          </p:cNvSpPr>
          <p:nvPr/>
        </p:nvSpPr>
        <p:spPr bwMode="auto">
          <a:xfrm>
            <a:off x="3797300" y="2781300"/>
            <a:ext cx="1584325" cy="279400"/>
          </a:xfrm>
          <a:prstGeom prst="curvedDownArrow">
            <a:avLst>
              <a:gd name="adj1" fmla="val 48802"/>
              <a:gd name="adj2" fmla="val 97604"/>
              <a:gd name="adj3" fmla="val 33324"/>
            </a:avLst>
          </a:prstGeom>
          <a:solidFill>
            <a:schemeClr val="accent1">
              <a:lumMod val="60000"/>
              <a:lumOff val="40000"/>
            </a:schemeClr>
          </a:solidFill>
          <a:ln w="9525">
            <a:solidFill>
              <a:schemeClr val="accent1">
                <a:lumMod val="60000"/>
                <a:lumOff val="40000"/>
              </a:schemeClr>
            </a:solidFill>
            <a:miter lim="800000"/>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rgbClr val="000000"/>
              </a:solidFill>
              <a:effectLst/>
              <a:uLnTx/>
              <a:uFillTx/>
              <a:latin typeface="Times New Roman" panose="02020603050405020304"/>
              <a:ea typeface="微软雅黑" panose="020B0503020204020204" pitchFamily="34" charset="-122"/>
              <a:cs typeface="+mn-ea"/>
              <a:sym typeface="+mn-lt"/>
            </a:endParaRPr>
          </a:p>
        </p:txBody>
      </p:sp>
      <p:sp>
        <p:nvSpPr>
          <p:cNvPr id="36" name="Rectangle 3"/>
          <p:cNvSpPr>
            <a:spLocks noChangeArrowheads="1"/>
          </p:cNvSpPr>
          <p:nvPr/>
        </p:nvSpPr>
        <p:spPr bwMode="auto">
          <a:xfrm>
            <a:off x="827088" y="223838"/>
            <a:ext cx="65881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EFFFF"/>
                </a:solidFill>
                <a:effectLst/>
                <a:uLnTx/>
                <a:uFillTx/>
                <a:latin typeface="Times New Roman" panose="02020603050405020304"/>
                <a:ea typeface="微软雅黑" panose="020B0503020204020204" pitchFamily="34" charset="-122"/>
                <a:cs typeface="+mn-cs"/>
                <a:sym typeface="+mn-lt"/>
              </a:rPr>
              <a:t>哈夫曼树构造算法的实现</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99332"/>
                                        </p:tgtEl>
                                        <p:attrNameLst>
                                          <p:attrName>style.visibility</p:attrName>
                                        </p:attrNameLst>
                                      </p:cBhvr>
                                      <p:to>
                                        <p:strVal val="visible"/>
                                      </p:to>
                                    </p:set>
                                    <p:anim calcmode="lin" valueType="num">
                                      <p:cBhvr additive="base">
                                        <p:cTn id="7" dur="500" fill="hold"/>
                                        <p:tgtEl>
                                          <p:spTgt spid="99332"/>
                                        </p:tgtEl>
                                        <p:attrNameLst>
                                          <p:attrName>ppt_x</p:attrName>
                                        </p:attrNameLst>
                                      </p:cBhvr>
                                      <p:tavLst>
                                        <p:tav tm="0">
                                          <p:val>
                                            <p:strVal val="#ppt_x"/>
                                          </p:val>
                                        </p:tav>
                                        <p:tav tm="100000">
                                          <p:val>
                                            <p:strVal val="#ppt_x"/>
                                          </p:val>
                                        </p:tav>
                                      </p:tavLst>
                                    </p:anim>
                                    <p:anim calcmode="lin" valueType="num">
                                      <p:cBhvr additive="base">
                                        <p:cTn id="8" dur="500" fill="hold"/>
                                        <p:tgtEl>
                                          <p:spTgt spid="9933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952467"/>
                                        </p:tgtEl>
                                        <p:attrNameLst>
                                          <p:attrName>style.visibility</p:attrName>
                                        </p:attrNameLst>
                                      </p:cBhvr>
                                      <p:to>
                                        <p:strVal val="visible"/>
                                      </p:to>
                                    </p:set>
                                    <p:anim calcmode="lin" valueType="num">
                                      <p:cBhvr additive="base">
                                        <p:cTn id="13" dur="500" fill="hold"/>
                                        <p:tgtEl>
                                          <p:spTgt spid="952467"/>
                                        </p:tgtEl>
                                        <p:attrNameLst>
                                          <p:attrName>ppt_x</p:attrName>
                                        </p:attrNameLst>
                                      </p:cBhvr>
                                      <p:tavLst>
                                        <p:tav tm="0">
                                          <p:val>
                                            <p:strVal val="#ppt_x"/>
                                          </p:val>
                                        </p:tav>
                                        <p:tav tm="100000">
                                          <p:val>
                                            <p:strVal val="#ppt_x"/>
                                          </p:val>
                                        </p:tav>
                                      </p:tavLst>
                                    </p:anim>
                                    <p:anim calcmode="lin" valueType="num">
                                      <p:cBhvr additive="base">
                                        <p:cTn id="14" dur="500" fill="hold"/>
                                        <p:tgtEl>
                                          <p:spTgt spid="952467"/>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 presetClass="entr" presetSubtype="16" fill="hold" nodeType="clickEffect">
                                  <p:stCondLst>
                                    <p:cond delay="0"/>
                                  </p:stCondLst>
                                  <p:childTnLst>
                                    <p:set>
                                      <p:cBhvr>
                                        <p:cTn id="18" dur="1" fill="hold">
                                          <p:stCondLst>
                                            <p:cond delay="0"/>
                                          </p:stCondLst>
                                        </p:cTn>
                                        <p:tgtEl>
                                          <p:spTgt spid="99388"/>
                                        </p:tgtEl>
                                        <p:attrNameLst>
                                          <p:attrName>style.visibility</p:attrName>
                                        </p:attrNameLst>
                                      </p:cBhvr>
                                      <p:to>
                                        <p:strVal val="visible"/>
                                      </p:to>
                                    </p:set>
                                    <p:animEffect transition="in" filter="box(in)">
                                      <p:cBhvr>
                                        <p:cTn id="19" dur="500"/>
                                        <p:tgtEl>
                                          <p:spTgt spid="993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2467" grpId="0" bldLvl="0" animBg="1"/>
    </p:bldLst>
  </p:timing>
</p:sld>
</file>

<file path=ppt/slides/slide17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6498" name="矩形 2"/>
          <p:cNvSpPr/>
          <p:nvPr/>
        </p:nvSpPr>
        <p:spPr>
          <a:xfrm>
            <a:off x="-36195" y="764540"/>
            <a:ext cx="9144000" cy="5975985"/>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105474" name="圆角矩形 1"/>
          <p:cNvSpPr/>
          <p:nvPr/>
        </p:nvSpPr>
        <p:spPr>
          <a:xfrm>
            <a:off x="5364163" y="1014413"/>
            <a:ext cx="3311525" cy="2136775"/>
          </a:xfrm>
          <a:prstGeom prst="roundRect">
            <a:avLst>
              <a:gd name="adj" fmla="val 6569"/>
            </a:avLst>
          </a:prstGeom>
          <a:no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graphicFrame>
        <p:nvGraphicFramePr>
          <p:cNvPr id="99332" name="表格 99331"/>
          <p:cNvGraphicFramePr/>
          <p:nvPr>
            <p:custDataLst>
              <p:tags r:id="rId1"/>
            </p:custDataLst>
          </p:nvPr>
        </p:nvGraphicFramePr>
        <p:xfrm>
          <a:off x="4859973" y="3068955"/>
          <a:ext cx="4047461" cy="3395664"/>
        </p:xfrm>
        <a:graphic>
          <a:graphicData uri="http://schemas.openxmlformats.org/drawingml/2006/table">
            <a:tbl>
              <a:tblPr/>
              <a:tblGrid>
                <a:gridCol w="526992"/>
                <a:gridCol w="936521"/>
                <a:gridCol w="902970"/>
                <a:gridCol w="765308"/>
                <a:gridCol w="915670"/>
              </a:tblGrid>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weight</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parent</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lch</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rch</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1</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70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2</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50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3</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20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4</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40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5</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6</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7</a:t>
                      </a:r>
                    </a:p>
                  </a:txBody>
                  <a:tcPr marL="91430" marR="91430"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latin typeface="+mn-lt"/>
                        <a:ea typeface="+mn-ea"/>
                        <a:cs typeface="+mn-ea"/>
                        <a:sym typeface="+mn-lt"/>
                      </a:endParaRPr>
                    </a:p>
                  </a:txBody>
                  <a:tcPr marL="91430" marR="91430"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sp>
        <p:nvSpPr>
          <p:cNvPr id="36" name="Rectangle 3"/>
          <p:cNvSpPr>
            <a:spLocks noChangeArrowheads="1"/>
          </p:cNvSpPr>
          <p:nvPr/>
        </p:nvSpPr>
        <p:spPr bwMode="auto">
          <a:xfrm>
            <a:off x="827088" y="223838"/>
            <a:ext cx="65881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哈夫曼树构造算法的实现</a:t>
            </a:r>
          </a:p>
        </p:txBody>
      </p:sp>
      <p:sp>
        <p:nvSpPr>
          <p:cNvPr id="102403" name="Text Box 2"/>
          <p:cNvSpPr txBox="1">
            <a:spLocks noChangeArrowheads="1"/>
          </p:cNvSpPr>
          <p:nvPr/>
        </p:nvSpPr>
        <p:spPr bwMode="auto">
          <a:xfrm>
            <a:off x="0" y="908685"/>
            <a:ext cx="7880985" cy="2891790"/>
          </a:xfrm>
          <a:prstGeom prst="rect">
            <a:avLst/>
          </a:prstGeom>
          <a:noFill/>
          <a:ln>
            <a:noFill/>
          </a:ln>
        </p:spPr>
        <p:txBody>
          <a:bodyPr wrap="squar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void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CreatHuffmanTree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HuffmanTree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HT,int</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n){</a:t>
            </a: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if(n&lt;=1)return;</a:t>
            </a:r>
          </a:p>
          <a:p>
            <a:pPr marL="0" marR="0" lvl="0" indent="0" algn="l" defTabSz="914400" rtl="0" eaLnBrk="1" fontAlgn="base" latinLnBrk="0" hangingPunct="1">
              <a:lnSpc>
                <a:spcPct val="9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m=2*n-1;</a:t>
            </a:r>
          </a:p>
          <a:p>
            <a:pPr marL="0" marR="0" lvl="0" indent="0" algn="l" defTabSz="914400" rtl="0" eaLnBrk="1" fontAlgn="base" latinLnBrk="0" hangingPunct="1">
              <a:lnSpc>
                <a:spcPct val="9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HT=new </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HTNode</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[m+1];</a:t>
            </a:r>
            <a:r>
              <a:rPr kumimoji="0" lang="en-US" altLang="zh-CN" sz="1400" b="0" i="0" u="none" strike="noStrike" kern="1200" cap="none" spc="0" normalizeH="0" baseline="0" noProof="0" dirty="0">
                <a:ln>
                  <a:noFill/>
                </a:ln>
                <a:solidFill>
                  <a:srgbClr val="0000FF"/>
                </a:solidFill>
                <a:effectLst/>
                <a:uLnTx/>
                <a:uFillTx/>
                <a:latin typeface="+mn-lt"/>
                <a:ea typeface="+mn-ea"/>
                <a:cs typeface="+mn-ea"/>
                <a:sym typeface="+mn-lt"/>
              </a:rPr>
              <a:t>//0</a:t>
            </a:r>
            <a:r>
              <a:rPr kumimoji="0" lang="zh-CN" altLang="en-US" sz="1400" b="0" i="0" u="none" strike="noStrike" kern="1200" cap="none" spc="0" normalizeH="0" baseline="0" noProof="0" dirty="0">
                <a:ln>
                  <a:noFill/>
                </a:ln>
                <a:solidFill>
                  <a:srgbClr val="0000FF"/>
                </a:solidFill>
                <a:effectLst/>
                <a:uLnTx/>
                <a:uFillTx/>
                <a:latin typeface="+mn-lt"/>
                <a:ea typeface="+mn-ea"/>
                <a:cs typeface="+mn-ea"/>
                <a:sym typeface="+mn-lt"/>
              </a:rPr>
              <a:t>号单元未用，</a:t>
            </a:r>
            <a:r>
              <a:rPr kumimoji="0" lang="en-US" altLang="zh-CN" sz="1400" b="0" i="0" u="none" strike="noStrike" kern="1200" cap="none" spc="0" normalizeH="0" baseline="0" noProof="0" dirty="0">
                <a:ln>
                  <a:noFill/>
                </a:ln>
                <a:solidFill>
                  <a:srgbClr val="0000FF"/>
                </a:solidFill>
                <a:effectLst/>
                <a:uLnTx/>
                <a:uFillTx/>
                <a:latin typeface="+mn-lt"/>
                <a:ea typeface="+mn-ea"/>
                <a:cs typeface="+mn-ea"/>
                <a:sym typeface="+mn-lt"/>
              </a:rPr>
              <a:t>HT[m]</a:t>
            </a:r>
            <a:r>
              <a:rPr kumimoji="0" lang="zh-CN" altLang="en-US" sz="1400" b="0" i="0" u="none" strike="noStrike" kern="1200" cap="none" spc="0" normalizeH="0" baseline="0" noProof="0" dirty="0">
                <a:ln>
                  <a:noFill/>
                </a:ln>
                <a:solidFill>
                  <a:srgbClr val="0000FF"/>
                </a:solidFill>
                <a:effectLst/>
                <a:uLnTx/>
                <a:uFillTx/>
                <a:latin typeface="+mn-lt"/>
                <a:ea typeface="+mn-ea"/>
                <a:cs typeface="+mn-ea"/>
                <a:sym typeface="+mn-lt"/>
              </a:rPr>
              <a:t>表示根结点</a:t>
            </a:r>
            <a:r>
              <a:rPr kumimoji="0" lang="zh-CN" altLang="en-US" sz="1400" b="0" i="0" u="none" strike="noStrike" kern="1200" cap="none" spc="0" normalizeH="0" baseline="0" noProof="0" dirty="0">
                <a:ln>
                  <a:noFill/>
                </a:ln>
                <a:solidFill>
                  <a:schemeClr val="tx1"/>
                </a:solidFill>
                <a:effectLst/>
                <a:uLnTx/>
                <a:uFillTx/>
                <a:latin typeface="+mn-lt"/>
                <a:ea typeface="+mn-ea"/>
                <a:cs typeface="+mn-ea"/>
                <a:sym typeface="+mn-lt"/>
              </a:rPr>
              <a:t>   </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for(</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=1;i&lt;=m;++</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{HT[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lch</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=0;HT[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rch</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=0;HT[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].parent=0;}</a:t>
            </a:r>
          </a:p>
          <a:p>
            <a:pPr marL="0" marR="0" lvl="0" indent="0" algn="l" defTabSz="914400" rtl="0" eaLnBrk="1" fontAlgn="base" latinLnBrk="0" hangingPunct="1">
              <a:lnSpc>
                <a:spcPct val="9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for(</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=1;i&lt;=n;++</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cin</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&gt;&gt;HT[</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i</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].weight;    </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99332"/>
                                        </p:tgtEl>
                                        <p:attrNameLst>
                                          <p:attrName>style.visibility</p:attrName>
                                        </p:attrNameLst>
                                      </p:cBhvr>
                                      <p:to>
                                        <p:strVal val="visible"/>
                                      </p:to>
                                    </p:set>
                                    <p:anim calcmode="lin" valueType="num">
                                      <p:cBhvr additive="base">
                                        <p:cTn id="7" dur="500" fill="hold"/>
                                        <p:tgtEl>
                                          <p:spTgt spid="99332"/>
                                        </p:tgtEl>
                                        <p:attrNameLst>
                                          <p:attrName>ppt_x</p:attrName>
                                        </p:attrNameLst>
                                      </p:cBhvr>
                                      <p:tavLst>
                                        <p:tav tm="0">
                                          <p:val>
                                            <p:strVal val="#ppt_x"/>
                                          </p:val>
                                        </p:tav>
                                        <p:tav tm="100000">
                                          <p:val>
                                            <p:strVal val="#ppt_x"/>
                                          </p:val>
                                        </p:tav>
                                      </p:tavLst>
                                    </p:anim>
                                    <p:anim calcmode="lin" valueType="num">
                                      <p:cBhvr additive="base">
                                        <p:cTn id="8" dur="500" fill="hold"/>
                                        <p:tgtEl>
                                          <p:spTgt spid="993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6498" name="矩形 2"/>
          <p:cNvSpPr/>
          <p:nvPr/>
        </p:nvSpPr>
        <p:spPr>
          <a:xfrm>
            <a:off x="-36195" y="764540"/>
            <a:ext cx="9144000" cy="5975985"/>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105474" name="圆角矩形 1"/>
          <p:cNvSpPr/>
          <p:nvPr/>
        </p:nvSpPr>
        <p:spPr>
          <a:xfrm>
            <a:off x="5364163" y="1014413"/>
            <a:ext cx="3311525" cy="2136775"/>
          </a:xfrm>
          <a:prstGeom prst="roundRect">
            <a:avLst>
              <a:gd name="adj" fmla="val 6569"/>
            </a:avLst>
          </a:prstGeom>
          <a:no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36" name="Rectangle 3"/>
          <p:cNvSpPr>
            <a:spLocks noChangeArrowheads="1"/>
          </p:cNvSpPr>
          <p:nvPr/>
        </p:nvSpPr>
        <p:spPr bwMode="auto">
          <a:xfrm>
            <a:off x="827088" y="223838"/>
            <a:ext cx="65881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哈夫曼树构造算法的实现</a:t>
            </a:r>
          </a:p>
        </p:txBody>
      </p:sp>
      <p:sp>
        <p:nvSpPr>
          <p:cNvPr id="102403" name="Text Box 2"/>
          <p:cNvSpPr txBox="1">
            <a:spLocks noChangeArrowheads="1"/>
          </p:cNvSpPr>
          <p:nvPr/>
        </p:nvSpPr>
        <p:spPr bwMode="auto">
          <a:xfrm>
            <a:off x="35560" y="908685"/>
            <a:ext cx="7880985" cy="4123055"/>
          </a:xfrm>
          <a:prstGeom prst="rect">
            <a:avLst/>
          </a:prstGeom>
          <a:noFill/>
          <a:ln>
            <a:noFill/>
          </a:ln>
        </p:spPr>
        <p:txBody>
          <a:bodyPr wrap="squar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1600" b="0" i="0" u="none" strike="noStrike" kern="1200" cap="none" spc="0" normalizeH="0" baseline="0" noProof="0">
                <a:ln>
                  <a:noFill/>
                </a:ln>
                <a:solidFill>
                  <a:schemeClr val="tx1"/>
                </a:solidFill>
                <a:effectLst/>
                <a:uLnTx/>
                <a:uFillTx/>
                <a:latin typeface="+mn-lt"/>
                <a:ea typeface="+mn-ea"/>
                <a:cs typeface="+mn-ea"/>
                <a:sym typeface="+mn-lt"/>
              </a:rPr>
              <a:t>for( i=n+1;i&lt;=m;++i) </a:t>
            </a: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1600" b="0" i="0" u="none" strike="noStrike" kern="1200" cap="none" spc="0" normalizeH="0" baseline="0" noProof="0">
                <a:ln>
                  <a:noFill/>
                </a:ln>
                <a:solidFill>
                  <a:schemeClr val="tx1"/>
                </a:solidFill>
                <a:effectLst/>
                <a:uLnTx/>
                <a:uFillTx/>
                <a:latin typeface="+mn-lt"/>
                <a:ea typeface="+mn-ea"/>
                <a:cs typeface="+mn-ea"/>
                <a:sym typeface="+mn-lt"/>
              </a:rPr>
              <a:t>{ Select(HT,i-1, s1, s2);　</a:t>
            </a: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1600" b="0" i="0" u="none" strike="noStrike" kern="1200" cap="none" spc="0" normalizeH="0" baseline="0" noProof="0">
                <a:ln>
                  <a:noFill/>
                </a:ln>
                <a:solidFill>
                  <a:schemeClr val="tx1"/>
                </a:solidFill>
                <a:effectLst/>
                <a:uLnTx/>
                <a:uFillTx/>
                <a:latin typeface="+mn-lt"/>
                <a:ea typeface="+mn-ea"/>
                <a:cs typeface="+mn-ea"/>
                <a:sym typeface="+mn-lt"/>
              </a:rPr>
              <a:t>      //选择两个其双亲域为0</a:t>
            </a: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a:t>
            </a:r>
            <a:r>
              <a:rPr kumimoji="0" lang="en-US" altLang="zh-CN" sz="1600" b="0" i="0" u="none" strike="noStrike" kern="1200" cap="none" spc="0" normalizeH="0" baseline="0" noProof="0">
                <a:ln>
                  <a:noFill/>
                </a:ln>
                <a:solidFill>
                  <a:schemeClr val="tx1"/>
                </a:solidFill>
                <a:effectLst/>
                <a:uLnTx/>
                <a:uFillTx/>
                <a:latin typeface="+mn-lt"/>
                <a:ea typeface="+mn-ea"/>
                <a:cs typeface="+mn-ea"/>
                <a:sym typeface="+mn-lt"/>
              </a:rPr>
              <a:t> 且权值最小的结点</a:t>
            </a:r>
            <a:r>
              <a:rPr kumimoji="0" lang="zh-CN" altLang="en-US" sz="1600" b="0" i="0" u="none" strike="noStrike" kern="1200" cap="none" spc="0" normalizeH="0" baseline="0" noProof="0">
                <a:ln>
                  <a:noFill/>
                </a:ln>
                <a:solidFill>
                  <a:schemeClr val="tx1"/>
                </a:solidFill>
                <a:effectLst/>
                <a:uLnTx/>
                <a:uFillTx/>
                <a:latin typeface="+mn-lt"/>
                <a:ea typeface="+mn-ea"/>
                <a:cs typeface="+mn-ea"/>
                <a:sym typeface="+mn-lt"/>
              </a:rPr>
              <a:t>，</a:t>
            </a:r>
            <a:r>
              <a:rPr kumimoji="0" lang="en-US" altLang="zh-CN" sz="1600" b="0" i="0" u="none" strike="noStrike" kern="1200" cap="none" spc="0" normalizeH="0" baseline="0" noProof="0">
                <a:ln>
                  <a:noFill/>
                </a:ln>
                <a:solidFill>
                  <a:schemeClr val="tx1"/>
                </a:solidFill>
                <a:effectLst/>
                <a:uLnTx/>
                <a:uFillTx/>
                <a:latin typeface="+mn-lt"/>
                <a:ea typeface="+mn-ea"/>
                <a:cs typeface="+mn-ea"/>
                <a:sym typeface="+mn-lt"/>
              </a:rPr>
              <a:t>并返回它们在HT中的序号s1和s2</a:t>
            </a: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1600" b="0" i="0" u="none" strike="noStrike" kern="1200" cap="none" spc="0" normalizeH="0" baseline="0" noProof="0">
                <a:ln>
                  <a:noFill/>
                </a:ln>
                <a:solidFill>
                  <a:schemeClr val="tx1"/>
                </a:solidFill>
                <a:effectLst/>
                <a:uLnTx/>
                <a:uFillTx/>
                <a:latin typeface="+mn-lt"/>
                <a:ea typeface="+mn-ea"/>
                <a:cs typeface="+mn-ea"/>
                <a:sym typeface="+mn-lt"/>
              </a:rPr>
              <a:t>   HT[s1].parent=i;   HT[s2] .parent=i;  </a:t>
            </a: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1600" b="0" i="0" u="none" strike="noStrike" kern="1200" cap="none" spc="0" normalizeH="0" baseline="0" noProof="0">
                <a:ln>
                  <a:noFill/>
                </a:ln>
                <a:solidFill>
                  <a:schemeClr val="tx1"/>
                </a:solidFill>
                <a:effectLst/>
                <a:uLnTx/>
                <a:uFillTx/>
                <a:latin typeface="+mn-lt"/>
                <a:ea typeface="+mn-ea"/>
                <a:cs typeface="+mn-ea"/>
                <a:sym typeface="+mn-lt"/>
              </a:rPr>
              <a:t>     //表示从F中删除s1,s2</a:t>
            </a: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1600" b="0" i="0" u="none" strike="noStrike" kern="1200" cap="none" spc="0" normalizeH="0" baseline="0" noProof="0">
                <a:ln>
                  <a:noFill/>
                </a:ln>
                <a:solidFill>
                  <a:schemeClr val="tx1"/>
                </a:solidFill>
                <a:effectLst/>
                <a:uLnTx/>
                <a:uFillTx/>
                <a:latin typeface="+mn-lt"/>
                <a:ea typeface="+mn-ea"/>
                <a:cs typeface="+mn-ea"/>
                <a:sym typeface="+mn-lt"/>
              </a:rPr>
              <a:t>   HT[i].lch=s1;    HT[i].rch=s2 ; </a:t>
            </a: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1600" b="0" i="0" u="none" strike="noStrike" kern="1200" cap="none" spc="0" normalizeH="0" baseline="0" noProof="0">
                <a:ln>
                  <a:noFill/>
                </a:ln>
                <a:solidFill>
                  <a:schemeClr val="tx1"/>
                </a:solidFill>
                <a:effectLst/>
                <a:uLnTx/>
                <a:uFillTx/>
                <a:latin typeface="+mn-lt"/>
                <a:ea typeface="+mn-ea"/>
                <a:cs typeface="+mn-ea"/>
                <a:sym typeface="+mn-lt"/>
              </a:rPr>
              <a:t>     //s1,s2分别作为i的左右孩子</a:t>
            </a: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1600" b="0" i="0" u="none" strike="noStrike" kern="1200" cap="none" spc="0" normalizeH="0" baseline="0" noProof="0">
                <a:ln>
                  <a:noFill/>
                </a:ln>
                <a:solidFill>
                  <a:schemeClr val="tx1"/>
                </a:solidFill>
                <a:effectLst/>
                <a:uLnTx/>
                <a:uFillTx/>
                <a:latin typeface="+mn-lt"/>
                <a:ea typeface="+mn-ea"/>
                <a:cs typeface="+mn-ea"/>
                <a:sym typeface="+mn-lt"/>
              </a:rPr>
              <a:t>   HT[i].weight=HT[s1].weight + HT[s2] .weight;</a:t>
            </a: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1600" b="0" i="0" u="none" strike="noStrike" kern="1200" cap="none" spc="0" normalizeH="0" baseline="0" noProof="0">
                <a:ln>
                  <a:noFill/>
                </a:ln>
                <a:solidFill>
                  <a:schemeClr val="tx1"/>
                </a:solidFill>
                <a:effectLst/>
                <a:uLnTx/>
                <a:uFillTx/>
                <a:latin typeface="+mn-lt"/>
                <a:ea typeface="+mn-ea"/>
                <a:cs typeface="+mn-ea"/>
                <a:sym typeface="+mn-lt"/>
              </a:rPr>
              <a:t>     //i 的权值为左右孩子权值之和</a:t>
            </a: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1600" b="0" i="0" u="none" strike="noStrike" kern="1200" cap="none" spc="0" normalizeH="0" baseline="0" noProof="0">
                <a:ln>
                  <a:noFill/>
                </a:ln>
                <a:solidFill>
                  <a:schemeClr val="tx1"/>
                </a:solidFill>
                <a:effectLst/>
                <a:uLnTx/>
                <a:uFillTx/>
                <a:latin typeface="+mn-lt"/>
                <a:ea typeface="+mn-ea"/>
                <a:cs typeface="+mn-ea"/>
                <a:sym typeface="+mn-lt"/>
              </a:rPr>
              <a:t>    }</a:t>
            </a: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1600" b="0" i="0" u="none" strike="noStrike" kern="1200" cap="none" spc="0" normalizeH="0" baseline="0" noProof="0">
                <a:ln>
                  <a:noFill/>
                </a:ln>
                <a:solidFill>
                  <a:schemeClr val="tx1"/>
                </a:solidFill>
                <a:effectLst/>
                <a:uLnTx/>
                <a:uFillTx/>
                <a:latin typeface="+mn-lt"/>
                <a:ea typeface="+mn-ea"/>
                <a:cs typeface="+mn-ea"/>
                <a:sym typeface="+mn-lt"/>
              </a:rPr>
              <a:t>}</a:t>
            </a:r>
            <a:r>
              <a:rPr kumimoji="0" lang="en-US" altLang="zh-CN" sz="16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p>
        </p:txBody>
      </p:sp>
      <p:graphicFrame>
        <p:nvGraphicFramePr>
          <p:cNvPr id="2" name="表格 1"/>
          <p:cNvGraphicFramePr/>
          <p:nvPr>
            <p:custDataLst>
              <p:tags r:id="rId1"/>
            </p:custDataLst>
          </p:nvPr>
        </p:nvGraphicFramePr>
        <p:xfrm>
          <a:off x="4635500" y="2420303"/>
          <a:ext cx="4040188" cy="3395709"/>
        </p:xfrm>
        <a:graphic>
          <a:graphicData uri="http://schemas.openxmlformats.org/drawingml/2006/table">
            <a:tbl>
              <a:tblPr/>
              <a:tblGrid>
                <a:gridCol w="527050"/>
                <a:gridCol w="936625"/>
                <a:gridCol w="903288"/>
                <a:gridCol w="765175"/>
                <a:gridCol w="908050"/>
              </a:tblGrid>
              <a:tr h="396875">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solidFill>
                          <a:schemeClr val="bg1"/>
                        </a:solidFill>
                        <a:latin typeface="+mn-lt"/>
                        <a:ea typeface="+mn-ea"/>
                        <a:cs typeface="+mn-ea"/>
                        <a:sym typeface="+mn-lt"/>
                      </a:endParaRP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weight</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parent</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lch</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rch</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1</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70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accent1">
                              <a:lumMod val="75000"/>
                            </a:schemeClr>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2</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50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accent1">
                              <a:lumMod val="75000"/>
                            </a:schemeClr>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3</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rgbClr val="7030A0"/>
                          </a:solidFill>
                          <a:highlight>
                            <a:srgbClr val="FFFF00"/>
                          </a:highlight>
                          <a:latin typeface="+mn-lt"/>
                          <a:ea typeface="+mn-ea"/>
                          <a:cs typeface="+mn-ea"/>
                          <a:sym typeface="+mn-lt"/>
                        </a:rPr>
                        <a:t>20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rgbClr val="FF3300"/>
                          </a:solidFill>
                          <a:latin typeface="+mn-lt"/>
                          <a:ea typeface="+mn-ea"/>
                          <a:cs typeface="+mn-ea"/>
                          <a:sym typeface="+mn-lt"/>
                        </a:rPr>
                        <a:t>5</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4</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accent1">
                              <a:lumMod val="75000"/>
                            </a:schemeClr>
                          </a:solidFill>
                          <a:highlight>
                            <a:srgbClr val="FFFF00"/>
                          </a:highlight>
                          <a:latin typeface="+mn-lt"/>
                          <a:ea typeface="+mn-ea"/>
                          <a:cs typeface="+mn-ea"/>
                          <a:sym typeface="+mn-lt"/>
                        </a:rPr>
                        <a:t>40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5</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5</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60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0000"/>
                          </a:solidFill>
                          <a:latin typeface="+mn-lt"/>
                          <a:ea typeface="+mn-ea"/>
                          <a:cs typeface="+mn-ea"/>
                          <a:sym typeface="+mn-lt"/>
                        </a:rPr>
                        <a:t>3</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0000"/>
                          </a:solidFill>
                          <a:latin typeface="+mn-lt"/>
                          <a:ea typeface="+mn-ea"/>
                          <a:cs typeface="+mn-ea"/>
                          <a:sym typeface="+mn-lt"/>
                        </a:rPr>
                        <a:t>4</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6</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en-US" altLang="zh-CN" sz="2000" dirty="0">
                        <a:solidFill>
                          <a:srgbClr val="FF3300"/>
                        </a:solidFill>
                        <a:latin typeface="+mn-lt"/>
                        <a:ea typeface="+mn-ea"/>
                        <a:cs typeface="+mn-ea"/>
                        <a:sym typeface="+mn-lt"/>
                      </a:endParaRP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7</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en-US" altLang="zh-CN" sz="2000" dirty="0">
                        <a:solidFill>
                          <a:srgbClr val="FF3300"/>
                        </a:solidFill>
                        <a:latin typeface="+mn-lt"/>
                        <a:ea typeface="+mn-ea"/>
                        <a:cs typeface="+mn-ea"/>
                        <a:sym typeface="+mn-lt"/>
                      </a:endParaRP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矩形 2"/>
          <p:cNvSpPr/>
          <p:nvPr/>
        </p:nvSpPr>
        <p:spPr bwMode="auto">
          <a:xfrm>
            <a:off x="0" y="2160588"/>
            <a:ext cx="9144000" cy="4221163"/>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grpSp>
        <p:nvGrpSpPr>
          <p:cNvPr id="2" name="Group 3"/>
          <p:cNvGrpSpPr/>
          <p:nvPr/>
        </p:nvGrpSpPr>
        <p:grpSpPr>
          <a:xfrm>
            <a:off x="1908175" y="2211388"/>
            <a:ext cx="5043488" cy="4021137"/>
            <a:chOff x="2551" y="1790"/>
            <a:chExt cx="3177" cy="2533"/>
          </a:xfrm>
        </p:grpSpPr>
        <p:sp>
          <p:nvSpPr>
            <p:cNvPr id="102405" name="Rectangle 4"/>
            <p:cNvSpPr>
              <a:spLocks noChangeArrowheads="1"/>
            </p:cNvSpPr>
            <p:nvPr/>
          </p:nvSpPr>
          <p:spPr bwMode="auto">
            <a:xfrm>
              <a:off x="2552" y="1830"/>
              <a:ext cx="3112" cy="255"/>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nvGrpSpPr>
            <p:cNvPr id="107537" name="Group 5"/>
            <p:cNvGrpSpPr/>
            <p:nvPr/>
          </p:nvGrpSpPr>
          <p:grpSpPr>
            <a:xfrm>
              <a:off x="2551" y="1790"/>
              <a:ext cx="3177" cy="2533"/>
              <a:chOff x="2551" y="1790"/>
              <a:chExt cx="3177" cy="2533"/>
            </a:xfrm>
          </p:grpSpPr>
          <p:grpSp>
            <p:nvGrpSpPr>
              <p:cNvPr id="107538" name="Group 6"/>
              <p:cNvGrpSpPr/>
              <p:nvPr/>
            </p:nvGrpSpPr>
            <p:grpSpPr>
              <a:xfrm>
                <a:off x="2551" y="1790"/>
                <a:ext cx="3177" cy="2530"/>
                <a:chOff x="2551" y="1790"/>
                <a:chExt cx="3177" cy="2530"/>
              </a:xfrm>
            </p:grpSpPr>
            <p:sp>
              <p:nvSpPr>
                <p:cNvPr id="102408" name="Rectangle 7"/>
                <p:cNvSpPr>
                  <a:spLocks noChangeArrowheads="1"/>
                </p:cNvSpPr>
                <p:nvPr/>
              </p:nvSpPr>
              <p:spPr bwMode="auto">
                <a:xfrm>
                  <a:off x="2551" y="2083"/>
                  <a:ext cx="420" cy="2233"/>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2409" name="Line 8"/>
                <p:cNvSpPr>
                  <a:spLocks noChangeShapeType="1"/>
                </p:cNvSpPr>
                <p:nvPr/>
              </p:nvSpPr>
              <p:spPr bwMode="auto">
                <a:xfrm>
                  <a:off x="5151" y="1831"/>
                  <a:ext cx="0" cy="2485"/>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2410" name="Line 9"/>
                <p:cNvSpPr>
                  <a:spLocks noChangeShapeType="1"/>
                </p:cNvSpPr>
                <p:nvPr/>
              </p:nvSpPr>
              <p:spPr bwMode="auto">
                <a:xfrm>
                  <a:off x="4595" y="1831"/>
                  <a:ext cx="0" cy="248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2411" name="Line 10"/>
                <p:cNvSpPr>
                  <a:spLocks noChangeShapeType="1"/>
                </p:cNvSpPr>
                <p:nvPr/>
              </p:nvSpPr>
              <p:spPr bwMode="auto">
                <a:xfrm>
                  <a:off x="3817" y="1842"/>
                  <a:ext cx="0" cy="2466"/>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2412" name="Line 11"/>
                <p:cNvSpPr>
                  <a:spLocks noChangeShapeType="1"/>
                </p:cNvSpPr>
                <p:nvPr/>
              </p:nvSpPr>
              <p:spPr bwMode="auto">
                <a:xfrm flipV="1">
                  <a:off x="2561" y="3413"/>
                  <a:ext cx="3112"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2413" name="Text Box 12"/>
                <p:cNvSpPr txBox="1">
                  <a:spLocks noChangeArrowheads="1"/>
                </p:cNvSpPr>
                <p:nvPr/>
              </p:nvSpPr>
              <p:spPr bwMode="auto">
                <a:xfrm>
                  <a:off x="2561" y="1790"/>
                  <a:ext cx="316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            </a:t>
                  </a:r>
                  <a:r>
                    <a:rPr kumimoji="0" lang="en-US" altLang="zh-CN" sz="2000" b="0" i="0" u="none" strike="noStrike" kern="1200" cap="none" spc="0" normalizeH="0" baseline="0" noProof="0" dirty="0">
                      <a:ln>
                        <a:noFill/>
                      </a:ln>
                      <a:solidFill>
                        <a:schemeClr val="bg1"/>
                      </a:solidFill>
                      <a:effectLst/>
                      <a:uLnTx/>
                      <a:uFillTx/>
                      <a:latin typeface="+mn-lt"/>
                      <a:ea typeface="+mn-ea"/>
                      <a:cs typeface="+mn-ea"/>
                      <a:sym typeface="+mn-lt"/>
                    </a:rPr>
                    <a:t>weight         parent         </a:t>
                  </a:r>
                  <a:r>
                    <a:rPr kumimoji="0" lang="en-US" altLang="zh-CN" sz="2000" b="0" i="0" u="none" strike="noStrike" kern="1200" cap="none" spc="0" normalizeH="0" baseline="0" noProof="0" dirty="0" err="1">
                      <a:ln>
                        <a:noFill/>
                      </a:ln>
                      <a:solidFill>
                        <a:schemeClr val="bg1"/>
                      </a:solidFill>
                      <a:effectLst/>
                      <a:uLnTx/>
                      <a:uFillTx/>
                      <a:latin typeface="+mn-lt"/>
                      <a:ea typeface="+mn-ea"/>
                      <a:cs typeface="+mn-ea"/>
                      <a:sym typeface="+mn-lt"/>
                    </a:rPr>
                    <a:t>lch</a:t>
                  </a:r>
                  <a:r>
                    <a:rPr kumimoji="0" lang="en-US" altLang="zh-CN" sz="2000" b="0" i="0" u="none" strike="noStrike" kern="1200" cap="none" spc="0" normalizeH="0" baseline="0" noProof="0" dirty="0">
                      <a:ln>
                        <a:noFill/>
                      </a:ln>
                      <a:solidFill>
                        <a:schemeClr val="bg1"/>
                      </a:solidFill>
                      <a:effectLst/>
                      <a:uLnTx/>
                      <a:uFillTx/>
                      <a:latin typeface="+mn-lt"/>
                      <a:ea typeface="+mn-ea"/>
                      <a:cs typeface="+mn-ea"/>
                      <a:sym typeface="+mn-lt"/>
                    </a:rPr>
                    <a:t>         </a:t>
                  </a:r>
                  <a:r>
                    <a:rPr kumimoji="0" lang="en-US" altLang="zh-CN" sz="2000" b="0" i="0" u="none" strike="noStrike" kern="1200" cap="none" spc="0" normalizeH="0" baseline="0" noProof="0" dirty="0" err="1">
                      <a:ln>
                        <a:noFill/>
                      </a:ln>
                      <a:solidFill>
                        <a:schemeClr val="bg1"/>
                      </a:solidFill>
                      <a:effectLst/>
                      <a:uLnTx/>
                      <a:uFillTx/>
                      <a:latin typeface="+mn-lt"/>
                      <a:ea typeface="+mn-ea"/>
                      <a:cs typeface="+mn-ea"/>
                      <a:sym typeface="+mn-lt"/>
                    </a:rPr>
                    <a:t>rch</a:t>
                  </a:r>
                  <a:endParaRPr kumimoji="0" lang="en-US" altLang="zh-CN" sz="2000" b="0"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102414" name="Text Box 13"/>
                <p:cNvSpPr txBox="1">
                  <a:spLocks noChangeArrowheads="1"/>
                </p:cNvSpPr>
                <p:nvPr/>
              </p:nvSpPr>
              <p:spPr bwMode="auto">
                <a:xfrm>
                  <a:off x="2611" y="2187"/>
                  <a:ext cx="322" cy="2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a:t>
                  </a:r>
                  <a:r>
                    <a:rPr kumimoji="0" lang="zh-CN" altLang="en-US" sz="2000" b="0" i="0" u="none" strike="noStrike" kern="1200" cap="none" spc="0" normalizeH="0" baseline="0" noProof="0" dirty="0">
                      <a:ln>
                        <a:noFill/>
                      </a:ln>
                      <a:solidFill>
                        <a:schemeClr val="bg1"/>
                      </a:solidFill>
                      <a:effectLst/>
                      <a:uLnTx/>
                      <a:uFillTx/>
                      <a:latin typeface="+mn-lt"/>
                      <a:ea typeface="+mn-ea"/>
                      <a:cs typeface="+mn-ea"/>
                      <a:sym typeface="+mn-lt"/>
                    </a:rPr>
                    <a:t>８</a:t>
                  </a: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bg1"/>
                      </a:solidFill>
                      <a:effectLst/>
                      <a:uLnTx/>
                      <a:uFillTx/>
                      <a:latin typeface="+mn-lt"/>
                      <a:ea typeface="+mn-ea"/>
                      <a:cs typeface="+mn-ea"/>
                      <a:sym typeface="+mn-lt"/>
                    </a:rPr>
                    <a:t>９</a:t>
                  </a:r>
                  <a:r>
                    <a:rPr kumimoji="0" lang="zh-CN" altLang="en-US" sz="2400" b="0" i="0" u="none" strike="noStrike" kern="1200" cap="none" spc="0" normalizeH="0" baseline="0" noProof="0" dirty="0">
                      <a:ln>
                        <a:noFill/>
                      </a:ln>
                      <a:solidFill>
                        <a:schemeClr val="bg1"/>
                      </a:solidFill>
                      <a:effectLst/>
                      <a:uLnTx/>
                      <a:uFillTx/>
                      <a:latin typeface="+mn-lt"/>
                      <a:ea typeface="+mn-ea"/>
                      <a:cs typeface="+mn-ea"/>
                      <a:sym typeface="+mn-lt"/>
                    </a:rPr>
                    <a:t>．．</a:t>
                  </a:r>
                  <a:r>
                    <a:rPr kumimoji="0" lang="en-US" altLang="zh-CN" sz="2000" b="0" i="0" u="none" strike="noStrike" kern="1200" cap="none" spc="0" normalizeH="0" baseline="0" noProof="0" dirty="0">
                      <a:ln>
                        <a:noFill/>
                      </a:ln>
                      <a:solidFill>
                        <a:schemeClr val="bg1"/>
                      </a:solidFill>
                      <a:effectLst/>
                      <a:uLnTx/>
                      <a:uFillTx/>
                      <a:latin typeface="+mn-lt"/>
                      <a:ea typeface="+mn-ea"/>
                      <a:cs typeface="+mn-ea"/>
                      <a:sym typeface="+mn-lt"/>
                    </a:rPr>
                    <a:t>15</a:t>
                  </a:r>
                  <a:endParaRPr kumimoji="0" lang="en-US" altLang="zh-CN" sz="2400" b="0" i="0" u="none" strike="noStrike" kern="1200" cap="none" spc="0" normalizeH="0" baseline="0" noProof="0" dirty="0">
                    <a:ln>
                      <a:noFill/>
                    </a:ln>
                    <a:solidFill>
                      <a:schemeClr val="bg1"/>
                    </a:solidFill>
                    <a:effectLst/>
                    <a:uLnTx/>
                    <a:uFillTx/>
                    <a:latin typeface="+mn-lt"/>
                    <a:ea typeface="+mn-ea"/>
                    <a:cs typeface="+mn-ea"/>
                    <a:sym typeface="+mn-lt"/>
                  </a:endParaRPr>
                </a:p>
              </p:txBody>
            </p:sp>
            <p:sp>
              <p:nvSpPr>
                <p:cNvPr id="43" name="Line 11"/>
                <p:cNvSpPr>
                  <a:spLocks noChangeShapeType="1"/>
                </p:cNvSpPr>
                <p:nvPr/>
              </p:nvSpPr>
              <p:spPr bwMode="auto">
                <a:xfrm flipV="1">
                  <a:off x="2552" y="4320"/>
                  <a:ext cx="3112"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02415" name="Line 14"/>
              <p:cNvSpPr>
                <a:spLocks noChangeShapeType="1"/>
              </p:cNvSpPr>
              <p:nvPr/>
            </p:nvSpPr>
            <p:spPr bwMode="auto">
              <a:xfrm>
                <a:off x="2972" y="2064"/>
                <a:ext cx="1" cy="2234"/>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44" name="Line 14"/>
              <p:cNvSpPr>
                <a:spLocks noChangeShapeType="1"/>
              </p:cNvSpPr>
              <p:nvPr/>
            </p:nvSpPr>
            <p:spPr bwMode="auto">
              <a:xfrm>
                <a:off x="5666" y="2089"/>
                <a:ext cx="1" cy="2234"/>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sp>
        <p:nvSpPr>
          <p:cNvPr id="948239" name="Text Box 15"/>
          <p:cNvSpPr txBox="1">
            <a:spLocks noChangeArrowheads="1"/>
          </p:cNvSpPr>
          <p:nvPr/>
        </p:nvSpPr>
        <p:spPr bwMode="auto">
          <a:xfrm>
            <a:off x="3025775" y="2697163"/>
            <a:ext cx="501650" cy="2112963"/>
          </a:xfrm>
          <a:prstGeom prst="rect">
            <a:avLst/>
          </a:prstGeom>
          <a:no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9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FF0000"/>
                </a:solidFill>
                <a:effectLst/>
                <a:uLnTx/>
                <a:uFillTx/>
                <a:latin typeface="+mn-lt"/>
                <a:ea typeface="+mn-ea"/>
                <a:cs typeface="+mn-ea"/>
                <a:sym typeface="+mn-lt"/>
              </a:rPr>
              <a:t>5</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FF0000"/>
                </a:solidFill>
                <a:effectLst/>
                <a:uLnTx/>
                <a:uFillTx/>
                <a:latin typeface="+mn-lt"/>
                <a:ea typeface="+mn-ea"/>
                <a:cs typeface="+mn-ea"/>
                <a:sym typeface="+mn-lt"/>
              </a:rPr>
              <a:t>29</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FF0000"/>
                </a:solidFill>
                <a:effectLst/>
                <a:uLnTx/>
                <a:uFillTx/>
                <a:latin typeface="+mn-lt"/>
                <a:ea typeface="+mn-ea"/>
                <a:cs typeface="+mn-ea"/>
                <a:sym typeface="+mn-lt"/>
              </a:rPr>
              <a:t>7</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FF0000"/>
                </a:solidFill>
                <a:effectLst/>
                <a:uLnTx/>
                <a:uFillTx/>
                <a:latin typeface="+mn-lt"/>
                <a:ea typeface="+mn-ea"/>
                <a:cs typeface="+mn-ea"/>
                <a:sym typeface="+mn-lt"/>
              </a:rPr>
              <a:t>8</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FF0000"/>
                </a:solidFill>
                <a:effectLst/>
                <a:uLnTx/>
                <a:uFillTx/>
                <a:latin typeface="+mn-lt"/>
                <a:ea typeface="+mn-ea"/>
                <a:cs typeface="+mn-ea"/>
                <a:sym typeface="+mn-lt"/>
              </a:rPr>
              <a:t>14</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FF0000"/>
                </a:solidFill>
                <a:effectLst/>
                <a:uLnTx/>
                <a:uFillTx/>
                <a:latin typeface="+mn-lt"/>
                <a:ea typeface="+mn-ea"/>
                <a:cs typeface="+mn-ea"/>
                <a:sym typeface="+mn-lt"/>
              </a:rPr>
              <a:t>23</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FF0000"/>
                </a:solidFill>
                <a:effectLst/>
                <a:uLnTx/>
                <a:uFillTx/>
                <a:latin typeface="+mn-lt"/>
                <a:ea typeface="+mn-ea"/>
                <a:cs typeface="+mn-ea"/>
                <a:sym typeface="+mn-lt"/>
              </a:rPr>
              <a:t>3</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FF0000"/>
                </a:solidFill>
                <a:effectLst/>
                <a:uLnTx/>
                <a:uFillTx/>
                <a:latin typeface="+mn-lt"/>
                <a:ea typeface="+mn-ea"/>
                <a:cs typeface="+mn-ea"/>
                <a:sym typeface="+mn-lt"/>
              </a:rPr>
              <a:t>11</a:t>
            </a:r>
          </a:p>
        </p:txBody>
      </p:sp>
      <p:grpSp>
        <p:nvGrpSpPr>
          <p:cNvPr id="5" name="Group 16"/>
          <p:cNvGrpSpPr/>
          <p:nvPr/>
        </p:nvGrpSpPr>
        <p:grpSpPr>
          <a:xfrm>
            <a:off x="4292600" y="2909888"/>
            <a:ext cx="422275" cy="3327400"/>
            <a:chOff x="4063" y="2230"/>
            <a:chExt cx="266" cy="2096"/>
          </a:xfrm>
        </p:grpSpPr>
        <p:sp>
          <p:nvSpPr>
            <p:cNvPr id="102418" name="Text Box 17"/>
            <p:cNvSpPr txBox="1">
              <a:spLocks noChangeArrowheads="1"/>
            </p:cNvSpPr>
            <p:nvPr/>
          </p:nvSpPr>
          <p:spPr bwMode="auto">
            <a:xfrm>
              <a:off x="4063" y="2230"/>
              <a:ext cx="266" cy="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a:ln>
                    <a:noFill/>
                  </a:ln>
                  <a:solidFill>
                    <a:srgbClr val="0000FF"/>
                  </a:solidFill>
                  <a:effectLst/>
                  <a:uLnTx/>
                  <a:uFillTx/>
                  <a:latin typeface="+mn-lt"/>
                  <a:ea typeface="+mn-ea"/>
                  <a:cs typeface="+mn-ea"/>
                  <a:sym typeface="+mn-lt"/>
                </a:rPr>
                <a:t>0 0 0 0 0 0 0 0</a:t>
              </a:r>
              <a:endParaRPr kumimoji="0" lang="en-US" altLang="zh-CN"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2419" name="Text Box 18"/>
            <p:cNvSpPr txBox="1">
              <a:spLocks noChangeArrowheads="1"/>
            </p:cNvSpPr>
            <p:nvPr/>
          </p:nvSpPr>
          <p:spPr bwMode="auto">
            <a:xfrm>
              <a:off x="4083" y="3508"/>
              <a:ext cx="238" cy="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en-US" altLang="zh-CN" sz="1400" b="0" i="0" u="none" strike="noStrike" kern="1200" cap="none" spc="0" normalizeH="0" baseline="0" noProof="0">
                  <a:ln>
                    <a:noFill/>
                  </a:ln>
                  <a:solidFill>
                    <a:srgbClr val="0000FF"/>
                  </a:solidFill>
                  <a:effectLst/>
                  <a:uLnTx/>
                  <a:uFillTx/>
                  <a:latin typeface="+mn-lt"/>
                  <a:ea typeface="+mn-ea"/>
                  <a:cs typeface="+mn-ea"/>
                  <a:sym typeface="+mn-lt"/>
                </a:rPr>
                <a:t>0 0 0 0 0 0 0</a:t>
              </a:r>
              <a:endParaRPr kumimoji="0" lang="en-US" altLang="zh-CN" sz="2400" b="0"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948243" name="Text Box 19"/>
          <p:cNvSpPr txBox="1">
            <a:spLocks noChangeArrowheads="1"/>
          </p:cNvSpPr>
          <p:nvPr/>
        </p:nvSpPr>
        <p:spPr bwMode="auto">
          <a:xfrm>
            <a:off x="1790700" y="1087438"/>
            <a:ext cx="4922838" cy="868363"/>
          </a:xfrm>
          <a:prstGeom prst="rect">
            <a:avLst/>
          </a:prstGeom>
          <a:no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例:设</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n=8,  w={5,29,7,8,14,23,3,11}</a:t>
            </a:r>
          </a:p>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zh-CN" altLang="zh-CN" sz="2400" b="0" i="0" u="none" strike="noStrike" kern="1200" cap="none" spc="0" normalizeH="0" baseline="0" noProof="0" dirty="0">
                <a:ln>
                  <a:noFill/>
                </a:ln>
                <a:solidFill>
                  <a:schemeClr val="tx1"/>
                </a:solidFill>
                <a:effectLst/>
                <a:uLnTx/>
                <a:uFillTx/>
                <a:latin typeface="+mn-lt"/>
                <a:ea typeface="+mn-ea"/>
                <a:cs typeface="+mn-ea"/>
                <a:sym typeface="+mn-lt"/>
              </a:rPr>
              <a:t>试设计 </a:t>
            </a:r>
            <a:r>
              <a:rPr kumimoji="0" lang="en-US" altLang="zh-CN" sz="2400" b="0" i="0" u="none" strike="noStrike" kern="1200" cap="none" spc="0" normalizeH="0" baseline="0" noProof="0" dirty="0" err="1">
                <a:ln>
                  <a:noFill/>
                </a:ln>
                <a:solidFill>
                  <a:schemeClr val="tx1"/>
                </a:solidFill>
                <a:effectLst/>
                <a:uLnTx/>
                <a:uFillTx/>
                <a:latin typeface="+mn-lt"/>
                <a:ea typeface="+mn-ea"/>
                <a:cs typeface="+mn-ea"/>
                <a:sym typeface="+mn-lt"/>
              </a:rPr>
              <a:t>huffman</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 code (m=2*8-1=15)</a:t>
            </a:r>
            <a:endParaRPr kumimoji="0" lang="en-US" altLang="zh-CN" sz="2800" b="0" i="0" u="none" strike="noStrike" kern="1200" cap="none" spc="0" normalizeH="0" baseline="0" noProof="0" dirty="0">
              <a:ln>
                <a:noFill/>
              </a:ln>
              <a:solidFill>
                <a:schemeClr val="tx1"/>
              </a:solidFill>
              <a:effectLst/>
              <a:uLnTx/>
              <a:uFillTx/>
              <a:latin typeface="+mn-lt"/>
              <a:ea typeface="+mn-ea"/>
              <a:cs typeface="+mn-ea"/>
              <a:sym typeface="+mn-lt"/>
            </a:endParaRPr>
          </a:p>
        </p:txBody>
      </p:sp>
      <p:grpSp>
        <p:nvGrpSpPr>
          <p:cNvPr id="6" name="Group 20"/>
          <p:cNvGrpSpPr/>
          <p:nvPr/>
        </p:nvGrpSpPr>
        <p:grpSpPr>
          <a:xfrm>
            <a:off x="6256338" y="2900363"/>
            <a:ext cx="422275" cy="3313112"/>
            <a:chOff x="5300" y="2224"/>
            <a:chExt cx="266" cy="2087"/>
          </a:xfrm>
        </p:grpSpPr>
        <p:sp>
          <p:nvSpPr>
            <p:cNvPr id="102422" name="Text Box 21"/>
            <p:cNvSpPr txBox="1">
              <a:spLocks noChangeArrowheads="1"/>
            </p:cNvSpPr>
            <p:nvPr/>
          </p:nvSpPr>
          <p:spPr bwMode="auto">
            <a:xfrm>
              <a:off x="5300" y="2224"/>
              <a:ext cx="266" cy="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a:ln>
                    <a:noFill/>
                  </a:ln>
                  <a:solidFill>
                    <a:srgbClr val="0000FF"/>
                  </a:solidFill>
                  <a:effectLst/>
                  <a:uLnTx/>
                  <a:uFillTx/>
                  <a:latin typeface="+mn-lt"/>
                  <a:ea typeface="+mn-ea"/>
                  <a:cs typeface="+mn-ea"/>
                  <a:sym typeface="+mn-lt"/>
                </a:rPr>
                <a:t>0 0 0 0 0 0 0 0</a:t>
              </a:r>
              <a:endParaRPr kumimoji="0" lang="en-US" altLang="zh-CN"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2423" name="Text Box 22"/>
            <p:cNvSpPr txBox="1">
              <a:spLocks noChangeArrowheads="1"/>
            </p:cNvSpPr>
            <p:nvPr/>
          </p:nvSpPr>
          <p:spPr bwMode="auto">
            <a:xfrm>
              <a:off x="5323" y="3493"/>
              <a:ext cx="238" cy="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en-US" altLang="zh-CN" sz="1400" b="0" i="0" u="none" strike="noStrike" kern="1200" cap="none" spc="0" normalizeH="0" baseline="0" noProof="0">
                  <a:ln>
                    <a:noFill/>
                  </a:ln>
                  <a:solidFill>
                    <a:srgbClr val="0000FF"/>
                  </a:solidFill>
                  <a:effectLst/>
                  <a:uLnTx/>
                  <a:uFillTx/>
                  <a:latin typeface="+mn-lt"/>
                  <a:ea typeface="+mn-ea"/>
                  <a:cs typeface="+mn-ea"/>
                  <a:sym typeface="+mn-lt"/>
                </a:rPr>
                <a:t>0 0 0 0 0 0 0</a:t>
              </a:r>
              <a:endParaRPr kumimoji="0" lang="en-US" altLang="zh-CN" sz="2400" b="0"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7" name="Group 23"/>
          <p:cNvGrpSpPr/>
          <p:nvPr/>
        </p:nvGrpSpPr>
        <p:grpSpPr>
          <a:xfrm>
            <a:off x="5389563" y="2900363"/>
            <a:ext cx="422275" cy="3313112"/>
            <a:chOff x="5300" y="2224"/>
            <a:chExt cx="266" cy="2087"/>
          </a:xfrm>
        </p:grpSpPr>
        <p:sp>
          <p:nvSpPr>
            <p:cNvPr id="102425" name="Text Box 24"/>
            <p:cNvSpPr txBox="1">
              <a:spLocks noChangeArrowheads="1"/>
            </p:cNvSpPr>
            <p:nvPr/>
          </p:nvSpPr>
          <p:spPr bwMode="auto">
            <a:xfrm>
              <a:off x="5300" y="2224"/>
              <a:ext cx="266" cy="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a:ln>
                    <a:noFill/>
                  </a:ln>
                  <a:solidFill>
                    <a:srgbClr val="0000FF"/>
                  </a:solidFill>
                  <a:effectLst/>
                  <a:uLnTx/>
                  <a:uFillTx/>
                  <a:latin typeface="+mn-lt"/>
                  <a:ea typeface="+mn-ea"/>
                  <a:cs typeface="+mn-ea"/>
                  <a:sym typeface="+mn-lt"/>
                </a:rPr>
                <a:t>0 0 0 0 0 0 0 0</a:t>
              </a:r>
              <a:endParaRPr kumimoji="0" lang="en-US" altLang="zh-CN"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2426" name="Text Box 25"/>
            <p:cNvSpPr txBox="1">
              <a:spLocks noChangeArrowheads="1"/>
            </p:cNvSpPr>
            <p:nvPr/>
          </p:nvSpPr>
          <p:spPr bwMode="auto">
            <a:xfrm>
              <a:off x="5323" y="3493"/>
              <a:ext cx="238" cy="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en-US" altLang="zh-CN" sz="1400" b="0" i="0" u="none" strike="noStrike" kern="1200" cap="none" spc="0" normalizeH="0" baseline="0" noProof="0">
                  <a:ln>
                    <a:noFill/>
                  </a:ln>
                  <a:solidFill>
                    <a:srgbClr val="0000FF"/>
                  </a:solidFill>
                  <a:effectLst/>
                  <a:uLnTx/>
                  <a:uFillTx/>
                  <a:latin typeface="+mn-lt"/>
                  <a:ea typeface="+mn-ea"/>
                  <a:cs typeface="+mn-ea"/>
                  <a:sym typeface="+mn-lt"/>
                </a:rPr>
                <a:t>0 0 0 0 0 0 0</a:t>
              </a:r>
              <a:endParaRPr kumimoji="0" lang="en-US" altLang="zh-CN" sz="2400" b="0"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27" name="Rectangle 3"/>
          <p:cNvSpPr>
            <a:spLocks noChangeArrowheads="1"/>
          </p:cNvSpPr>
          <p:nvPr/>
        </p:nvSpPr>
        <p:spPr bwMode="auto">
          <a:xfrm>
            <a:off x="827088" y="223838"/>
            <a:ext cx="65881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哈夫曼树构造算法的实现</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948243"/>
                                        </p:tgtEl>
                                        <p:attrNameLst>
                                          <p:attrName>style.visibility</p:attrName>
                                        </p:attrNameLst>
                                      </p:cBhvr>
                                      <p:to>
                                        <p:strVal val="visible"/>
                                      </p:to>
                                    </p:set>
                                    <p:anim calcmode="lin" valueType="num">
                                      <p:cBhvr additive="base">
                                        <p:cTn id="7" dur="500" fill="hold"/>
                                        <p:tgtEl>
                                          <p:spTgt spid="948243"/>
                                        </p:tgtEl>
                                        <p:attrNameLst>
                                          <p:attrName>ppt_x</p:attrName>
                                        </p:attrNameLst>
                                      </p:cBhvr>
                                      <p:tavLst>
                                        <p:tav tm="0">
                                          <p:val>
                                            <p:strVal val="1+#ppt_w/2"/>
                                          </p:val>
                                        </p:tav>
                                        <p:tav tm="100000">
                                          <p:val>
                                            <p:strVal val="#ppt_x"/>
                                          </p:val>
                                        </p:tav>
                                      </p:tavLst>
                                    </p:anim>
                                    <p:anim calcmode="lin" valueType="num">
                                      <p:cBhvr additive="base">
                                        <p:cTn id="8" dur="500" fill="hold"/>
                                        <p:tgtEl>
                                          <p:spTgt spid="94824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fade">
                                      <p:cBhvr>
                                        <p:cTn id="13" dur="1000"/>
                                        <p:tgtEl>
                                          <p:spTgt spid="3"/>
                                        </p:tgtEl>
                                      </p:cBhvr>
                                    </p:animEffect>
                                    <p:anim calcmode="lin" valueType="num">
                                      <p:cBhvr>
                                        <p:cTn id="14" dur="1000" fill="hold"/>
                                        <p:tgtEl>
                                          <p:spTgt spid="3"/>
                                        </p:tgtEl>
                                        <p:attrNameLst>
                                          <p:attrName>ppt_x</p:attrName>
                                        </p:attrNameLst>
                                      </p:cBhvr>
                                      <p:tavLst>
                                        <p:tav tm="0">
                                          <p:val>
                                            <p:strVal val="#ppt_x"/>
                                          </p:val>
                                        </p:tav>
                                        <p:tav tm="100000">
                                          <p:val>
                                            <p:strVal val="#ppt_x"/>
                                          </p:val>
                                        </p:tav>
                                      </p:tavLst>
                                    </p:anim>
                                    <p:anim calcmode="lin" valueType="num">
                                      <p:cBhvr>
                                        <p:cTn id="15"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 presetClass="entr" presetSubtype="2" fill="hold" nodeType="clickEffect">
                                  <p:stCondLst>
                                    <p:cond delay="0"/>
                                  </p:stCondLst>
                                  <p:childTnLst>
                                    <p:set>
                                      <p:cBhvr>
                                        <p:cTn id="19" dur="1" fill="hold">
                                          <p:stCondLst>
                                            <p:cond delay="0"/>
                                          </p:stCondLst>
                                        </p:cTn>
                                        <p:tgtEl>
                                          <p:spTgt spid="2"/>
                                        </p:tgtEl>
                                        <p:attrNameLst>
                                          <p:attrName>style.visibility</p:attrName>
                                        </p:attrNameLst>
                                      </p:cBhvr>
                                      <p:to>
                                        <p:strVal val="visible"/>
                                      </p:to>
                                    </p:set>
                                    <p:anim calcmode="lin" valueType="num">
                                      <p:cBhvr additive="base">
                                        <p:cTn id="20" dur="500" fill="hold"/>
                                        <p:tgtEl>
                                          <p:spTgt spid="2"/>
                                        </p:tgtEl>
                                        <p:attrNameLst>
                                          <p:attrName>ppt_x</p:attrName>
                                        </p:attrNameLst>
                                      </p:cBhvr>
                                      <p:tavLst>
                                        <p:tav tm="0">
                                          <p:val>
                                            <p:strVal val="1+#ppt_w/2"/>
                                          </p:val>
                                        </p:tav>
                                        <p:tav tm="100000">
                                          <p:val>
                                            <p:strVal val="#ppt_x"/>
                                          </p:val>
                                        </p:tav>
                                      </p:tavLst>
                                    </p:anim>
                                    <p:anim calcmode="lin" valueType="num">
                                      <p:cBhvr additive="base">
                                        <p:cTn id="21"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 presetClass="entr" presetSubtype="2" fill="hold" nodeType="clickEffect">
                                  <p:stCondLst>
                                    <p:cond delay="0"/>
                                  </p:stCondLst>
                                  <p:childTnLst>
                                    <p:set>
                                      <p:cBhvr>
                                        <p:cTn id="25" dur="1" fill="hold">
                                          <p:stCondLst>
                                            <p:cond delay="0"/>
                                          </p:stCondLst>
                                        </p:cTn>
                                        <p:tgtEl>
                                          <p:spTgt spid="5"/>
                                        </p:tgtEl>
                                        <p:attrNameLst>
                                          <p:attrName>style.visibility</p:attrName>
                                        </p:attrNameLst>
                                      </p:cBhvr>
                                      <p:to>
                                        <p:strVal val="visible"/>
                                      </p:to>
                                    </p:set>
                                    <p:anim calcmode="lin" valueType="num">
                                      <p:cBhvr additive="base">
                                        <p:cTn id="26" dur="500" fill="hold"/>
                                        <p:tgtEl>
                                          <p:spTgt spid="5"/>
                                        </p:tgtEl>
                                        <p:attrNameLst>
                                          <p:attrName>ppt_x</p:attrName>
                                        </p:attrNameLst>
                                      </p:cBhvr>
                                      <p:tavLst>
                                        <p:tav tm="0">
                                          <p:val>
                                            <p:strVal val="1+#ppt_w/2"/>
                                          </p:val>
                                        </p:tav>
                                        <p:tav tm="100000">
                                          <p:val>
                                            <p:strVal val="#ppt_x"/>
                                          </p:val>
                                        </p:tav>
                                      </p:tavLst>
                                    </p:anim>
                                    <p:anim calcmode="lin" valueType="num">
                                      <p:cBhvr additive="base">
                                        <p:cTn id="27"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 presetClass="entr" presetSubtype="2" fill="hold" nodeType="clickEffect">
                                  <p:stCondLst>
                                    <p:cond delay="0"/>
                                  </p:stCondLst>
                                  <p:childTnLst>
                                    <p:set>
                                      <p:cBhvr>
                                        <p:cTn id="31" dur="1" fill="hold">
                                          <p:stCondLst>
                                            <p:cond delay="0"/>
                                          </p:stCondLst>
                                        </p:cTn>
                                        <p:tgtEl>
                                          <p:spTgt spid="7"/>
                                        </p:tgtEl>
                                        <p:attrNameLst>
                                          <p:attrName>style.visibility</p:attrName>
                                        </p:attrNameLst>
                                      </p:cBhvr>
                                      <p:to>
                                        <p:strVal val="visible"/>
                                      </p:to>
                                    </p:set>
                                    <p:anim calcmode="lin" valueType="num">
                                      <p:cBhvr additive="base">
                                        <p:cTn id="32" dur="500" fill="hold"/>
                                        <p:tgtEl>
                                          <p:spTgt spid="7"/>
                                        </p:tgtEl>
                                        <p:attrNameLst>
                                          <p:attrName>ppt_x</p:attrName>
                                        </p:attrNameLst>
                                      </p:cBhvr>
                                      <p:tavLst>
                                        <p:tav tm="0">
                                          <p:val>
                                            <p:strVal val="1+#ppt_w/2"/>
                                          </p:val>
                                        </p:tav>
                                        <p:tav tm="100000">
                                          <p:val>
                                            <p:strVal val="#ppt_x"/>
                                          </p:val>
                                        </p:tav>
                                      </p:tavLst>
                                    </p:anim>
                                    <p:anim calcmode="lin" valueType="num">
                                      <p:cBhvr additive="base">
                                        <p:cTn id="33"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2" presetClass="entr" presetSubtype="2" fill="hold" nodeType="clickEffect">
                                  <p:stCondLst>
                                    <p:cond delay="0"/>
                                  </p:stCondLst>
                                  <p:childTnLst>
                                    <p:set>
                                      <p:cBhvr>
                                        <p:cTn id="37" dur="1" fill="hold">
                                          <p:stCondLst>
                                            <p:cond delay="0"/>
                                          </p:stCondLst>
                                        </p:cTn>
                                        <p:tgtEl>
                                          <p:spTgt spid="6"/>
                                        </p:tgtEl>
                                        <p:attrNameLst>
                                          <p:attrName>style.visibility</p:attrName>
                                        </p:attrNameLst>
                                      </p:cBhvr>
                                      <p:to>
                                        <p:strVal val="visible"/>
                                      </p:to>
                                    </p:set>
                                    <p:anim calcmode="lin" valueType="num">
                                      <p:cBhvr additive="base">
                                        <p:cTn id="38" dur="500" fill="hold"/>
                                        <p:tgtEl>
                                          <p:spTgt spid="6"/>
                                        </p:tgtEl>
                                        <p:attrNameLst>
                                          <p:attrName>ppt_x</p:attrName>
                                        </p:attrNameLst>
                                      </p:cBhvr>
                                      <p:tavLst>
                                        <p:tav tm="0">
                                          <p:val>
                                            <p:strVal val="1+#ppt_w/2"/>
                                          </p:val>
                                        </p:tav>
                                        <p:tav tm="100000">
                                          <p:val>
                                            <p:strVal val="#ppt_x"/>
                                          </p:val>
                                        </p:tav>
                                      </p:tavLst>
                                    </p:anim>
                                    <p:anim calcmode="lin" valueType="num">
                                      <p:cBhvr additive="base">
                                        <p:cTn id="39"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 presetClass="entr" presetSubtype="8" fill="hold" grpId="0" nodeType="clickEffect">
                                  <p:stCondLst>
                                    <p:cond delay="0"/>
                                  </p:stCondLst>
                                  <p:childTnLst>
                                    <p:set>
                                      <p:cBhvr>
                                        <p:cTn id="43" dur="1" fill="hold">
                                          <p:stCondLst>
                                            <p:cond delay="0"/>
                                          </p:stCondLst>
                                        </p:cTn>
                                        <p:tgtEl>
                                          <p:spTgt spid="948239"/>
                                        </p:tgtEl>
                                        <p:attrNameLst>
                                          <p:attrName>style.visibility</p:attrName>
                                        </p:attrNameLst>
                                      </p:cBhvr>
                                      <p:to>
                                        <p:strVal val="visible"/>
                                      </p:to>
                                    </p:set>
                                    <p:anim calcmode="lin" valueType="num">
                                      <p:cBhvr additive="base">
                                        <p:cTn id="44" dur="500" fill="hold"/>
                                        <p:tgtEl>
                                          <p:spTgt spid="948239"/>
                                        </p:tgtEl>
                                        <p:attrNameLst>
                                          <p:attrName>ppt_x</p:attrName>
                                        </p:attrNameLst>
                                      </p:cBhvr>
                                      <p:tavLst>
                                        <p:tav tm="0">
                                          <p:val>
                                            <p:strVal val="0-#ppt_w/2"/>
                                          </p:val>
                                        </p:tav>
                                        <p:tav tm="100000">
                                          <p:val>
                                            <p:strVal val="#ppt_x"/>
                                          </p:val>
                                        </p:tav>
                                      </p:tavLst>
                                    </p:anim>
                                    <p:anim calcmode="lin" valueType="num">
                                      <p:cBhvr additive="base">
                                        <p:cTn id="45" dur="500" fill="hold"/>
                                        <p:tgtEl>
                                          <p:spTgt spid="9482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48239" grpId="0"/>
      <p:bldP spid="948243" grpId="0"/>
    </p:bldLst>
  </p:timing>
</p:sld>
</file>

<file path=ppt/slides/slide1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4450" name="Line 2"/>
          <p:cNvSpPr>
            <a:spLocks noChangeShapeType="1"/>
          </p:cNvSpPr>
          <p:nvPr/>
        </p:nvSpPr>
        <p:spPr bwMode="auto">
          <a:xfrm>
            <a:off x="8240713" y="5622925"/>
            <a:ext cx="0" cy="0"/>
          </a:xfrm>
          <a:prstGeom prst="line">
            <a:avLst/>
          </a:prstGeom>
          <a:noFill/>
          <a:ln w="12700" cap="sq">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4475" name="Rectangle 30"/>
          <p:cNvSpPr>
            <a:spLocks noChangeArrowheads="1"/>
          </p:cNvSpPr>
          <p:nvPr/>
        </p:nvSpPr>
        <p:spPr bwMode="auto">
          <a:xfrm>
            <a:off x="900113" y="955675"/>
            <a:ext cx="662463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构造</a:t>
            </a: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Huffman tree</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后</a:t>
            </a: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,HT</a:t>
            </a:r>
            <a:r>
              <a:rPr kumimoji="0" lang="zh-CN" altLang="en-US" sz="2800" b="0" i="0" u="none" strike="noStrike" kern="1200" cap="none" spc="0" normalizeH="0" baseline="0" noProof="0" dirty="0">
                <a:ln>
                  <a:noFill/>
                </a:ln>
                <a:solidFill>
                  <a:srgbClr val="FF0000"/>
                </a:solidFill>
                <a:effectLst/>
                <a:uLnTx/>
                <a:uFillTx/>
                <a:latin typeface="+mn-lt"/>
                <a:ea typeface="+mn-ea"/>
                <a:cs typeface="+mn-ea"/>
                <a:sym typeface="+mn-lt"/>
              </a:rPr>
              <a:t>为</a:t>
            </a:r>
            <a:r>
              <a:rPr kumimoji="0" lang="en-US" altLang="zh-CN" sz="2800" b="0" i="0" u="none" strike="noStrike" kern="1200" cap="none" spc="0" normalizeH="0" baseline="0" noProof="0" dirty="0">
                <a:ln>
                  <a:noFill/>
                </a:ln>
                <a:solidFill>
                  <a:srgbClr val="FF0000"/>
                </a:solidFill>
                <a:effectLst/>
                <a:uLnTx/>
                <a:uFillTx/>
                <a:latin typeface="+mn-lt"/>
                <a:ea typeface="+mn-ea"/>
                <a:cs typeface="+mn-ea"/>
                <a:sym typeface="+mn-lt"/>
              </a:rPr>
              <a:t>:</a:t>
            </a:r>
          </a:p>
        </p:txBody>
      </p:sp>
      <p:sp>
        <p:nvSpPr>
          <p:cNvPr id="28" name="Rectangle 3"/>
          <p:cNvSpPr>
            <a:spLocks noChangeArrowheads="1"/>
          </p:cNvSpPr>
          <p:nvPr/>
        </p:nvSpPr>
        <p:spPr bwMode="auto">
          <a:xfrm>
            <a:off x="827088" y="223838"/>
            <a:ext cx="65881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哈夫曼树构造算法的实现</a:t>
            </a:r>
          </a:p>
        </p:txBody>
      </p:sp>
      <p:graphicFrame>
        <p:nvGraphicFramePr>
          <p:cNvPr id="2" name="表格 1"/>
          <p:cNvGraphicFramePr>
            <a:graphicFrameLocks noGrp="1"/>
          </p:cNvGraphicFramePr>
          <p:nvPr/>
        </p:nvGraphicFramePr>
        <p:xfrm>
          <a:off x="744538" y="1695450"/>
          <a:ext cx="7775575" cy="4778376"/>
        </p:xfrm>
        <a:graphic>
          <a:graphicData uri="http://schemas.openxmlformats.org/drawingml/2006/table">
            <a:tbl>
              <a:tblPr firstRow="1" bandRow="1">
                <a:tableStyleId>{5C22544A-7EE6-4342-B048-85BDC9FD1C3A}</a:tableStyleId>
              </a:tblPr>
              <a:tblGrid>
                <a:gridCol w="1555115"/>
                <a:gridCol w="1555115"/>
                <a:gridCol w="1555115"/>
                <a:gridCol w="1555115"/>
                <a:gridCol w="1555115"/>
              </a:tblGrid>
              <a:tr h="594565">
                <a:tc>
                  <a:txBody>
                    <a:bodyPr/>
                    <a:lstStyle/>
                    <a:p>
                      <a:endParaRPr lang="zh-CN" altLang="en-US" sz="1800" dirty="0"/>
                    </a:p>
                  </a:txBody>
                  <a:tcPr marL="91431" marR="91431" marT="45713" marB="45713"/>
                </a:tc>
                <a:tc>
                  <a:txBody>
                    <a:bodyPr/>
                    <a:lstStyle/>
                    <a:p>
                      <a:pPr algn="ctr"/>
                      <a:r>
                        <a:rPr lang="en-US" altLang="zh-CN" sz="1800" b="0" dirty="0"/>
                        <a:t>Weight</a:t>
                      </a:r>
                      <a:endParaRPr lang="zh-CN" altLang="en-US" sz="1800" b="0" dirty="0"/>
                    </a:p>
                  </a:txBody>
                  <a:tcPr marL="91431" marR="91431" marT="45713" marB="45713" anchor="ctr"/>
                </a:tc>
                <a:tc>
                  <a:txBody>
                    <a:bodyPr/>
                    <a:lstStyle/>
                    <a:p>
                      <a:pPr algn="ctr"/>
                      <a:r>
                        <a:rPr lang="en-US" altLang="zh-CN" sz="1800" b="0" dirty="0"/>
                        <a:t>Parent</a:t>
                      </a:r>
                      <a:endParaRPr lang="zh-CN" altLang="en-US" sz="1800" b="0" dirty="0"/>
                    </a:p>
                  </a:txBody>
                  <a:tcPr marL="91431" marR="91431" marT="45713" marB="45713" anchor="ctr"/>
                </a:tc>
                <a:tc>
                  <a:txBody>
                    <a:bodyPr/>
                    <a:lstStyle/>
                    <a:p>
                      <a:pPr algn="ctr"/>
                      <a:r>
                        <a:rPr lang="en-US" altLang="zh-CN" sz="1800" b="0" dirty="0" err="1"/>
                        <a:t>Lch</a:t>
                      </a:r>
                      <a:endParaRPr lang="zh-CN" altLang="en-US" sz="1800" b="0" dirty="0"/>
                    </a:p>
                  </a:txBody>
                  <a:tcPr marL="91431" marR="91431" marT="45713" marB="45713" anchor="ctr"/>
                </a:tc>
                <a:tc>
                  <a:txBody>
                    <a:bodyPr/>
                    <a:lstStyle/>
                    <a:p>
                      <a:pPr algn="ctr"/>
                      <a:r>
                        <a:rPr lang="en-US" altLang="zh-CN" sz="1800" b="0" dirty="0" err="1"/>
                        <a:t>rch</a:t>
                      </a:r>
                      <a:endParaRPr lang="zh-CN" altLang="en-US" sz="1800" b="0" dirty="0"/>
                    </a:p>
                  </a:txBody>
                  <a:tcPr marL="91431" marR="91431" marT="45713" marB="45713" anchor="ctr"/>
                </a:tc>
              </a:tr>
              <a:tr h="2023903">
                <a:tc>
                  <a:txBody>
                    <a:bodyPr/>
                    <a:lstStyle/>
                    <a:p>
                      <a:endParaRPr lang="zh-CN" altLang="en-US" sz="1800" dirty="0"/>
                    </a:p>
                  </a:txBody>
                  <a:tcPr marL="91431" marR="91431" marT="45713" marB="45713" vert="eaVert"/>
                </a:tc>
                <a:tc>
                  <a:txBody>
                    <a:bodyPr/>
                    <a:lstStyle/>
                    <a:p>
                      <a:endParaRPr lang="zh-CN" altLang="en-US" sz="1800"/>
                    </a:p>
                  </a:txBody>
                  <a:tcPr marL="91431" marR="91431" marT="45713" marB="45713"/>
                </a:tc>
                <a:tc>
                  <a:txBody>
                    <a:bodyPr/>
                    <a:lstStyle/>
                    <a:p>
                      <a:endParaRPr lang="zh-CN" altLang="en-US" sz="1800"/>
                    </a:p>
                  </a:txBody>
                  <a:tcPr marL="91431" marR="91431" marT="45713" marB="45713"/>
                </a:tc>
                <a:tc>
                  <a:txBody>
                    <a:bodyPr/>
                    <a:lstStyle/>
                    <a:p>
                      <a:endParaRPr lang="zh-CN" altLang="en-US" sz="1800"/>
                    </a:p>
                  </a:txBody>
                  <a:tcPr marL="91431" marR="91431" marT="45713" marB="45713"/>
                </a:tc>
                <a:tc>
                  <a:txBody>
                    <a:bodyPr/>
                    <a:lstStyle/>
                    <a:p>
                      <a:endParaRPr lang="zh-CN" altLang="en-US" sz="1800"/>
                    </a:p>
                  </a:txBody>
                  <a:tcPr marL="91431" marR="91431" marT="45713" marB="45713"/>
                </a:tc>
              </a:tr>
              <a:tr h="2159908">
                <a:tc>
                  <a:txBody>
                    <a:bodyPr/>
                    <a:lstStyle/>
                    <a:p>
                      <a:endParaRPr lang="zh-CN" altLang="en-US" sz="1800"/>
                    </a:p>
                  </a:txBody>
                  <a:tcPr marL="91431" marR="91431" marT="45713" marB="45713"/>
                </a:tc>
                <a:tc>
                  <a:txBody>
                    <a:bodyPr/>
                    <a:lstStyle/>
                    <a:p>
                      <a:endParaRPr lang="zh-CN" altLang="en-US" sz="1800"/>
                    </a:p>
                  </a:txBody>
                  <a:tcPr marL="91431" marR="91431" marT="45713" marB="45713"/>
                </a:tc>
                <a:tc>
                  <a:txBody>
                    <a:bodyPr/>
                    <a:lstStyle/>
                    <a:p>
                      <a:endParaRPr lang="zh-CN" altLang="en-US" sz="1800"/>
                    </a:p>
                  </a:txBody>
                  <a:tcPr marL="91431" marR="91431" marT="45713" marB="45713"/>
                </a:tc>
                <a:tc>
                  <a:txBody>
                    <a:bodyPr/>
                    <a:lstStyle/>
                    <a:p>
                      <a:endParaRPr lang="zh-CN" altLang="en-US" sz="1800"/>
                    </a:p>
                  </a:txBody>
                  <a:tcPr marL="91431" marR="91431" marT="45713" marB="45713"/>
                </a:tc>
                <a:tc>
                  <a:txBody>
                    <a:bodyPr/>
                    <a:lstStyle/>
                    <a:p>
                      <a:endParaRPr lang="zh-CN" altLang="en-US" sz="1800" dirty="0"/>
                    </a:p>
                  </a:txBody>
                  <a:tcPr marL="91431" marR="91431" marT="45713" marB="45713"/>
                </a:tc>
              </a:tr>
            </a:tbl>
          </a:graphicData>
        </a:graphic>
      </p:graphicFrame>
      <p:sp>
        <p:nvSpPr>
          <p:cNvPr id="30" name="Text Box 16"/>
          <p:cNvSpPr txBox="1">
            <a:spLocks noChangeArrowheads="1"/>
          </p:cNvSpPr>
          <p:nvPr/>
        </p:nvSpPr>
        <p:spPr bwMode="auto">
          <a:xfrm>
            <a:off x="1357313" y="2433638"/>
            <a:ext cx="596900" cy="360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．．．８</a:t>
            </a: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1" fontAlgn="base" latinLnBrk="0" hangingPunct="1">
              <a:lnSpc>
                <a:spcPct val="100000"/>
              </a:lnSpc>
              <a:spcBef>
                <a:spcPct val="5000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９．．</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15</a:t>
            </a:r>
          </a:p>
        </p:txBody>
      </p:sp>
      <p:sp>
        <p:nvSpPr>
          <p:cNvPr id="31" name="Text Box 17"/>
          <p:cNvSpPr txBox="1">
            <a:spLocks noChangeArrowheads="1"/>
          </p:cNvSpPr>
          <p:nvPr/>
        </p:nvSpPr>
        <p:spPr bwMode="auto">
          <a:xfrm>
            <a:off x="2913063" y="2276475"/>
            <a:ext cx="882650" cy="2112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9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5</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29</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7</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8</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14</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23</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3</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11</a:t>
            </a:r>
          </a:p>
        </p:txBody>
      </p:sp>
      <p:sp>
        <p:nvSpPr>
          <p:cNvPr id="32" name="Text Box 19"/>
          <p:cNvSpPr txBox="1">
            <a:spLocks noChangeArrowheads="1"/>
          </p:cNvSpPr>
          <p:nvPr/>
        </p:nvSpPr>
        <p:spPr bwMode="auto">
          <a:xfrm>
            <a:off x="4471988" y="2368550"/>
            <a:ext cx="422275" cy="1865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t>9 14101012139 11</a:t>
            </a: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33" name="Text Box 26"/>
          <p:cNvSpPr txBox="1">
            <a:spLocks noChangeArrowheads="1"/>
          </p:cNvSpPr>
          <p:nvPr/>
        </p:nvSpPr>
        <p:spPr bwMode="auto">
          <a:xfrm>
            <a:off x="6024563" y="2382838"/>
            <a:ext cx="422275" cy="1865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t>0 0 0 0 0 0 0 0</a:t>
            </a:r>
            <a:endPar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34" name="Text Box 27"/>
          <p:cNvSpPr txBox="1">
            <a:spLocks noChangeArrowheads="1"/>
          </p:cNvSpPr>
          <p:nvPr/>
        </p:nvSpPr>
        <p:spPr bwMode="auto">
          <a:xfrm>
            <a:off x="7654925" y="2368550"/>
            <a:ext cx="422275" cy="1865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a:ln>
                  <a:noFill/>
                </a:ln>
                <a:solidFill>
                  <a:srgbClr val="0000FF"/>
                </a:solidFill>
                <a:effectLst/>
                <a:uLnTx/>
                <a:uFillTx/>
                <a:latin typeface="+mn-lt"/>
                <a:ea typeface="+mn-ea"/>
                <a:cs typeface="+mn-ea"/>
                <a:sym typeface="+mn-lt"/>
              </a:rPr>
              <a:t>0 0 0 0 0 0 0 0</a:t>
            </a:r>
            <a:endParaRPr kumimoji="0" lang="en-US" altLang="zh-CN" sz="24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35" name="Text Box 18"/>
          <p:cNvSpPr txBox="1">
            <a:spLocks noChangeArrowheads="1"/>
          </p:cNvSpPr>
          <p:nvPr/>
        </p:nvSpPr>
        <p:spPr bwMode="auto">
          <a:xfrm>
            <a:off x="2919413" y="4541838"/>
            <a:ext cx="739775" cy="178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6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t>8</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t>15</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t>19</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t>29</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t>42</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t>58</a:t>
            </a:r>
          </a:p>
          <a:p>
            <a:pPr marL="0" marR="0" lvl="0" indent="0" algn="l" defTabSz="914400" rtl="0" eaLnBrk="1" fontAlgn="base" latinLnBrk="0" hangingPunct="1">
              <a:lnSpc>
                <a:spcPct val="4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t>100</a:t>
            </a:r>
            <a:endPar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36" name="Text Box 20"/>
          <p:cNvSpPr txBox="1">
            <a:spLocks noChangeArrowheads="1"/>
          </p:cNvSpPr>
          <p:nvPr/>
        </p:nvSpPr>
        <p:spPr bwMode="auto">
          <a:xfrm>
            <a:off x="4516438" y="4595813"/>
            <a:ext cx="582613" cy="1643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t>11</a:t>
            </a:r>
            <a:b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br>
            <a: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t>12</a:t>
            </a:r>
            <a:b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br>
            <a: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t>13</a:t>
            </a:r>
            <a:b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br>
            <a: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t>14</a:t>
            </a:r>
            <a:b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br>
            <a: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t>15</a:t>
            </a:r>
            <a:b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br>
            <a: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t>15</a:t>
            </a:r>
            <a:b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br>
            <a: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t>0</a:t>
            </a:r>
            <a:endPar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37" name="Text Box 21"/>
          <p:cNvSpPr txBox="1">
            <a:spLocks noChangeArrowheads="1"/>
          </p:cNvSpPr>
          <p:nvPr/>
        </p:nvSpPr>
        <p:spPr bwMode="auto">
          <a:xfrm>
            <a:off x="6024563" y="4554538"/>
            <a:ext cx="354013"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rgbClr val="0000FF"/>
                </a:solidFill>
                <a:effectLst/>
                <a:uLnTx/>
                <a:uFillTx/>
                <a:latin typeface="+mn-lt"/>
                <a:ea typeface="+mn-ea"/>
                <a:cs typeface="+mn-ea"/>
                <a:sym typeface="+mn-lt"/>
              </a:rPr>
              <a:t>1385</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62</a:t>
            </a:r>
          </a:p>
        </p:txBody>
      </p:sp>
      <p:sp>
        <p:nvSpPr>
          <p:cNvPr id="38" name="Text Box 23"/>
          <p:cNvSpPr txBox="1">
            <a:spLocks noChangeArrowheads="1"/>
          </p:cNvSpPr>
          <p:nvPr/>
        </p:nvSpPr>
        <p:spPr bwMode="auto">
          <a:xfrm>
            <a:off x="7645400" y="4508500"/>
            <a:ext cx="33337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9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rgbClr val="0000FF"/>
                </a:solidFill>
                <a:effectLst/>
                <a:uLnTx/>
                <a:uFillTx/>
                <a:latin typeface="+mn-lt"/>
                <a:ea typeface="+mn-ea"/>
                <a:cs typeface="+mn-ea"/>
                <a:sym typeface="+mn-lt"/>
              </a:rPr>
              <a:t>749</a:t>
            </a:r>
            <a:endPar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39" name="Text Box 24"/>
          <p:cNvSpPr txBox="1">
            <a:spLocks noChangeArrowheads="1"/>
          </p:cNvSpPr>
          <p:nvPr/>
        </p:nvSpPr>
        <p:spPr bwMode="auto">
          <a:xfrm>
            <a:off x="7645400" y="5357813"/>
            <a:ext cx="595313"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en-US" altLang="zh-CN" sz="2000" b="0" i="0" u="none" strike="noStrike" kern="1200" cap="none" spc="0" normalizeH="0" baseline="0" noProof="0" dirty="0">
                <a:ln>
                  <a:noFill/>
                </a:ln>
                <a:solidFill>
                  <a:srgbClr val="0000FF"/>
                </a:solidFill>
                <a:effectLst/>
                <a:uLnTx/>
                <a:uFillTx/>
                <a:latin typeface="+mn-lt"/>
                <a:ea typeface="+mn-ea"/>
                <a:cs typeface="+mn-ea"/>
                <a:sym typeface="+mn-lt"/>
              </a:rPr>
              <a:t>10</a:t>
            </a:r>
            <a:br>
              <a:rPr kumimoji="0" lang="en-US" altLang="zh-CN" sz="2000" b="0" i="0" u="none" strike="noStrike" kern="1200" cap="none" spc="0" normalizeH="0" baseline="0" noProof="0" dirty="0">
                <a:ln>
                  <a:noFill/>
                </a:ln>
                <a:solidFill>
                  <a:srgbClr val="0000FF"/>
                </a:solidFill>
                <a:effectLst/>
                <a:uLnTx/>
                <a:uFillTx/>
                <a:latin typeface="+mn-lt"/>
                <a:ea typeface="+mn-ea"/>
                <a:cs typeface="+mn-ea"/>
                <a:sym typeface="+mn-lt"/>
              </a:rPr>
            </a:br>
            <a:r>
              <a:rPr kumimoji="0" lang="en-US" altLang="zh-CN" sz="2000" b="0" i="0" u="none" strike="noStrike" kern="1200" cap="none" spc="0" normalizeH="0" baseline="0" noProof="0" dirty="0">
                <a:ln>
                  <a:noFill/>
                </a:ln>
                <a:solidFill>
                  <a:srgbClr val="0000FF"/>
                </a:solidFill>
                <a:effectLst/>
                <a:uLnTx/>
                <a:uFillTx/>
                <a:latin typeface="+mn-lt"/>
                <a:ea typeface="+mn-ea"/>
                <a:cs typeface="+mn-ea"/>
                <a:sym typeface="+mn-lt"/>
              </a:rPr>
              <a:t>11</a:t>
            </a:r>
            <a:br>
              <a:rPr kumimoji="0" lang="en-US" altLang="zh-CN" sz="2000" b="0" i="0" u="none" strike="noStrike" kern="1200" cap="none" spc="0" normalizeH="0" baseline="0" noProof="0" dirty="0">
                <a:ln>
                  <a:noFill/>
                </a:ln>
                <a:solidFill>
                  <a:srgbClr val="0000FF"/>
                </a:solidFill>
                <a:effectLst/>
                <a:uLnTx/>
                <a:uFillTx/>
                <a:latin typeface="+mn-lt"/>
                <a:ea typeface="+mn-ea"/>
                <a:cs typeface="+mn-ea"/>
                <a:sym typeface="+mn-lt"/>
              </a:rPr>
            </a:br>
            <a:r>
              <a:rPr kumimoji="0" lang="en-US" altLang="zh-CN" sz="2000" b="0" i="0" u="none" strike="noStrike" kern="1200" cap="none" spc="0" normalizeH="0" baseline="0" noProof="0" dirty="0">
                <a:ln>
                  <a:noFill/>
                </a:ln>
                <a:solidFill>
                  <a:srgbClr val="0000FF"/>
                </a:solidFill>
                <a:effectLst/>
                <a:uLnTx/>
                <a:uFillTx/>
                <a:latin typeface="+mn-lt"/>
                <a:ea typeface="+mn-ea"/>
                <a:cs typeface="+mn-ea"/>
                <a:sym typeface="+mn-lt"/>
              </a:rPr>
              <a:t>12</a:t>
            </a:r>
            <a:br>
              <a:rPr kumimoji="0" lang="en-US" altLang="zh-CN" sz="2000" b="0" i="0" u="none" strike="noStrike" kern="1200" cap="none" spc="0" normalizeH="0" baseline="0" noProof="0" dirty="0">
                <a:ln>
                  <a:noFill/>
                </a:ln>
                <a:solidFill>
                  <a:srgbClr val="0000FF"/>
                </a:solidFill>
                <a:effectLst/>
                <a:uLnTx/>
                <a:uFillTx/>
                <a:latin typeface="+mn-lt"/>
                <a:ea typeface="+mn-ea"/>
                <a:cs typeface="+mn-ea"/>
                <a:sym typeface="+mn-lt"/>
              </a:rPr>
            </a:br>
            <a:r>
              <a:rPr kumimoji="0" lang="en-US" altLang="zh-CN" sz="2000" b="0" i="0" u="none" strike="noStrike" kern="1200" cap="none" spc="0" normalizeH="0" baseline="0" noProof="0" dirty="0">
                <a:ln>
                  <a:noFill/>
                </a:ln>
                <a:solidFill>
                  <a:srgbClr val="0000FF"/>
                </a:solidFill>
                <a:effectLst/>
                <a:uLnTx/>
                <a:uFillTx/>
                <a:latin typeface="+mn-lt"/>
                <a:ea typeface="+mn-ea"/>
                <a:cs typeface="+mn-ea"/>
                <a:sym typeface="+mn-lt"/>
              </a:rPr>
              <a:t>14</a:t>
            </a:r>
            <a:endPar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40" name="Text Box 28"/>
          <p:cNvSpPr txBox="1">
            <a:spLocks noChangeArrowheads="1"/>
          </p:cNvSpPr>
          <p:nvPr/>
        </p:nvSpPr>
        <p:spPr bwMode="auto">
          <a:xfrm>
            <a:off x="6007100" y="6064250"/>
            <a:ext cx="439738"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1" fontAlgn="base" latinLnBrk="0" hangingPunct="1">
              <a:lnSpc>
                <a:spcPct val="80000"/>
              </a:lnSpc>
              <a:spcBef>
                <a:spcPct val="5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rgbClr val="0000FF"/>
                </a:solidFill>
                <a:effectLst/>
                <a:uLnTx/>
                <a:uFillTx/>
                <a:latin typeface="+mn-lt"/>
                <a:ea typeface="+mn-ea"/>
                <a:cs typeface="+mn-ea"/>
                <a:sym typeface="+mn-lt"/>
              </a:rPr>
              <a:t>13</a:t>
            </a:r>
            <a:endPar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17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Rectangle 3"/>
          <p:cNvSpPr>
            <a:spLocks noChangeArrowheads="1"/>
          </p:cNvSpPr>
          <p:nvPr/>
        </p:nvSpPr>
        <p:spPr bwMode="auto">
          <a:xfrm>
            <a:off x="827088" y="223838"/>
            <a:ext cx="65881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哈夫曼编码构造算法的实现</a:t>
            </a:r>
          </a:p>
        </p:txBody>
      </p:sp>
      <p:pic>
        <p:nvPicPr>
          <p:cNvPr id="125955" name="图片 6"/>
          <p:cNvPicPr>
            <a:picLocks noChangeAspect="1"/>
          </p:cNvPicPr>
          <p:nvPr/>
        </p:nvPicPr>
        <p:blipFill>
          <a:blip r:embed="rId2"/>
          <a:stretch>
            <a:fillRect/>
          </a:stretch>
        </p:blipFill>
        <p:spPr>
          <a:xfrm>
            <a:off x="539115" y="1052513"/>
            <a:ext cx="4133850" cy="5419725"/>
          </a:xfrm>
          <a:prstGeom prst="rect">
            <a:avLst/>
          </a:prstGeom>
          <a:noFill/>
          <a:ln w="9525">
            <a:noFill/>
          </a:ln>
        </p:spPr>
      </p:pic>
      <p:pic>
        <p:nvPicPr>
          <p:cNvPr id="125957" name="Picture 3"/>
          <p:cNvPicPr>
            <a:picLocks noChangeAspect="1"/>
          </p:cNvPicPr>
          <p:nvPr/>
        </p:nvPicPr>
        <p:blipFill>
          <a:blip r:embed="rId3"/>
          <a:stretch>
            <a:fillRect/>
          </a:stretch>
        </p:blipFill>
        <p:spPr>
          <a:xfrm>
            <a:off x="5940108" y="1052513"/>
            <a:ext cx="2643187" cy="1979612"/>
          </a:xfrm>
          <a:prstGeom prst="rect">
            <a:avLst/>
          </a:prstGeom>
          <a:noFill/>
          <a:ln w="9525">
            <a:noFill/>
          </a:ln>
        </p:spPr>
      </p:pic>
      <p:pic>
        <p:nvPicPr>
          <p:cNvPr id="125958" name="Picture 4"/>
          <p:cNvPicPr>
            <a:picLocks noChangeAspect="1"/>
          </p:cNvPicPr>
          <p:nvPr/>
        </p:nvPicPr>
        <p:blipFill>
          <a:blip r:embed="rId4"/>
          <a:stretch>
            <a:fillRect/>
          </a:stretch>
        </p:blipFill>
        <p:spPr>
          <a:xfrm>
            <a:off x="5580380" y="3356610"/>
            <a:ext cx="2808288" cy="2911475"/>
          </a:xfrm>
          <a:prstGeom prst="rect">
            <a:avLst/>
          </a:prstGeom>
          <a:noFill/>
          <a:ln w="9525">
            <a:noFill/>
          </a:ln>
        </p:spPr>
      </p:pic>
      <p:sp>
        <p:nvSpPr>
          <p:cNvPr id="125956" name="矩形 7"/>
          <p:cNvSpPr/>
          <p:nvPr/>
        </p:nvSpPr>
        <p:spPr>
          <a:xfrm>
            <a:off x="697865" y="1340485"/>
            <a:ext cx="3816350" cy="2665413"/>
          </a:xfrm>
          <a:prstGeom prst="rect">
            <a:avLst/>
          </a:prstGeom>
          <a:noFill/>
          <a:ln w="41275" cap="flat" cmpd="sng">
            <a:solidFill>
              <a:srgbClr val="FF0000"/>
            </a:solidFill>
            <a:prstDash val="solid"/>
            <a:round/>
            <a:headEnd type="none" w="med" len="med"/>
            <a:tailEnd type="none" w="med" len="med"/>
          </a:ln>
        </p:spPr>
        <p:txBody>
          <a:bodyPr/>
          <a:lstStyle>
            <a:lvl1pPr marL="342900" indent="-342900" algn="l" rtl="0" eaLnBrk="0" fontAlgn="base" hangingPunct="0">
              <a:spcBef>
                <a:spcPct val="20000"/>
              </a:spcBef>
              <a:spcAft>
                <a:spcPct val="0"/>
              </a:spcAft>
              <a:buChar char="•"/>
              <a:defRPr kumimoji="1" sz="3200" b="0">
                <a:solidFill>
                  <a:schemeClr val="tx1"/>
                </a:solidFill>
                <a:latin typeface="+mn-lt"/>
                <a:ea typeface="+mn-ea"/>
                <a:cs typeface="仿宋_GB2312"/>
              </a:defRPr>
            </a:lvl1pPr>
            <a:lvl2pPr marL="742950" indent="-285750" algn="l" rtl="0" eaLnBrk="0" fontAlgn="base" hangingPunct="0">
              <a:spcBef>
                <a:spcPct val="20000"/>
              </a:spcBef>
              <a:spcAft>
                <a:spcPct val="0"/>
              </a:spcAft>
              <a:buChar char="–"/>
              <a:defRPr kumimoji="1" sz="2800">
                <a:solidFill>
                  <a:schemeClr val="tx1"/>
                </a:solidFill>
                <a:latin typeface="+mn-lt"/>
                <a:ea typeface="+mn-ea"/>
                <a:cs typeface="仿宋_GB2312"/>
              </a:defRPr>
            </a:lvl2pPr>
            <a:lvl3pPr marL="1143000" indent="-228600" algn="l" rtl="0" eaLnBrk="0" fontAlgn="base" hangingPunct="0">
              <a:spcBef>
                <a:spcPct val="20000"/>
              </a:spcBef>
              <a:spcAft>
                <a:spcPct val="0"/>
              </a:spcAft>
              <a:buChar char="•"/>
              <a:defRPr kumimoji="1" sz="2400">
                <a:solidFill>
                  <a:schemeClr val="tx1"/>
                </a:solidFill>
                <a:latin typeface="+mn-lt"/>
                <a:ea typeface="+mn-ea"/>
                <a:cs typeface="仿宋_GB2312"/>
              </a:defRPr>
            </a:lvl3pPr>
            <a:lvl4pPr marL="1600200" indent="-228600" algn="l" rtl="0" eaLnBrk="0" fontAlgn="base" hangingPunct="0">
              <a:spcBef>
                <a:spcPct val="20000"/>
              </a:spcBef>
              <a:spcAft>
                <a:spcPct val="0"/>
              </a:spcAft>
              <a:buChar char="–"/>
              <a:defRPr kumimoji="1" sz="2000">
                <a:solidFill>
                  <a:schemeClr val="tx1"/>
                </a:solidFill>
                <a:latin typeface="+mn-lt"/>
                <a:ea typeface="+mn-ea"/>
                <a:cs typeface="仿宋_GB2312"/>
              </a:defRPr>
            </a:lvl4pPr>
            <a:lvl5pPr marL="2057400" indent="-228600" algn="l" rtl="0" eaLnBrk="0" fontAlgn="base" hangingPunct="0">
              <a:spcBef>
                <a:spcPct val="20000"/>
              </a:spcBef>
              <a:spcAft>
                <a:spcPct val="0"/>
              </a:spcAft>
              <a:buChar char="»"/>
              <a:defRPr kumimoji="1" sz="2000">
                <a:solidFill>
                  <a:schemeClr val="tx1"/>
                </a:solidFill>
                <a:latin typeface="+mn-lt"/>
                <a:ea typeface="+mn-ea"/>
                <a:cs typeface="仿宋_GB2312"/>
              </a:defRPr>
            </a:lvl5pPr>
          </a:lstStyle>
          <a:p>
            <a:pPr marL="342900" lvl="0" indent="-342900">
              <a:buNone/>
            </a:pPr>
            <a:endParaRPr lang="zh-CN" altLang="en-US" sz="2800" b="1"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17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Rectangle 3"/>
          <p:cNvSpPr>
            <a:spLocks noChangeArrowheads="1"/>
          </p:cNvSpPr>
          <p:nvPr/>
        </p:nvSpPr>
        <p:spPr bwMode="auto">
          <a:xfrm>
            <a:off x="827088" y="223838"/>
            <a:ext cx="65881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哈夫曼编码构造算法的实现</a:t>
            </a:r>
          </a:p>
        </p:txBody>
      </p:sp>
      <p:grpSp>
        <p:nvGrpSpPr>
          <p:cNvPr id="105588" name="Group 117"/>
          <p:cNvGrpSpPr/>
          <p:nvPr/>
        </p:nvGrpSpPr>
        <p:grpSpPr>
          <a:xfrm>
            <a:off x="6781800" y="777875"/>
            <a:ext cx="2173288" cy="2211388"/>
            <a:chOff x="3439" y="1461"/>
            <a:chExt cx="1094" cy="1393"/>
          </a:xfrm>
        </p:grpSpPr>
        <p:grpSp>
          <p:nvGrpSpPr>
            <p:cNvPr id="105591" name="Group 118"/>
            <p:cNvGrpSpPr/>
            <p:nvPr/>
          </p:nvGrpSpPr>
          <p:grpSpPr>
            <a:xfrm>
              <a:off x="3439" y="1755"/>
              <a:ext cx="248" cy="433"/>
              <a:chOff x="983" y="434"/>
              <a:chExt cx="248" cy="433"/>
            </a:xfrm>
          </p:grpSpPr>
          <p:sp>
            <p:nvSpPr>
              <p:cNvPr id="101493" name="Oval 119"/>
              <p:cNvSpPr>
                <a:spLocks noChangeArrowheads="1"/>
              </p:cNvSpPr>
              <p:nvPr/>
            </p:nvSpPr>
            <p:spPr bwMode="auto">
              <a:xfrm>
                <a:off x="1022" y="689"/>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bg1"/>
                    </a:solidFill>
                    <a:effectLst/>
                    <a:uLnTx/>
                    <a:uFillTx/>
                    <a:latin typeface="+mn-lt"/>
                    <a:ea typeface="+mn-ea"/>
                    <a:cs typeface="+mn-ea"/>
                    <a:sym typeface="+mn-lt"/>
                  </a:rPr>
                  <a:t>a</a:t>
                </a:r>
              </a:p>
            </p:txBody>
          </p:sp>
          <p:sp>
            <p:nvSpPr>
              <p:cNvPr id="101494" name="Text Box 120"/>
              <p:cNvSpPr txBox="1">
                <a:spLocks noChangeArrowheads="1"/>
              </p:cNvSpPr>
              <p:nvPr/>
            </p:nvSpPr>
            <p:spPr bwMode="auto">
              <a:xfrm>
                <a:off x="983" y="434"/>
                <a:ext cx="24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70</a:t>
                </a:r>
              </a:p>
            </p:txBody>
          </p:sp>
        </p:grpSp>
        <p:grpSp>
          <p:nvGrpSpPr>
            <p:cNvPr id="105592" name="Group 121"/>
            <p:cNvGrpSpPr/>
            <p:nvPr/>
          </p:nvGrpSpPr>
          <p:grpSpPr>
            <a:xfrm>
              <a:off x="3698" y="1805"/>
              <a:ext cx="835" cy="1049"/>
              <a:chOff x="1625" y="2643"/>
              <a:chExt cx="835" cy="1049"/>
            </a:xfrm>
          </p:grpSpPr>
          <p:grpSp>
            <p:nvGrpSpPr>
              <p:cNvPr id="105598" name="Group 122"/>
              <p:cNvGrpSpPr/>
              <p:nvPr/>
            </p:nvGrpSpPr>
            <p:grpSpPr>
              <a:xfrm>
                <a:off x="1625" y="2929"/>
                <a:ext cx="248" cy="441"/>
                <a:chOff x="1300" y="426"/>
                <a:chExt cx="234" cy="441"/>
              </a:xfrm>
            </p:grpSpPr>
            <p:sp>
              <p:nvSpPr>
                <p:cNvPr id="101497" name="Oval 123"/>
                <p:cNvSpPr>
                  <a:spLocks noChangeArrowheads="1"/>
                </p:cNvSpPr>
                <p:nvPr/>
              </p:nvSpPr>
              <p:spPr bwMode="auto">
                <a:xfrm>
                  <a:off x="1321" y="689"/>
                  <a:ext cx="166"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bg1"/>
                      </a:solidFill>
                      <a:effectLst/>
                      <a:uLnTx/>
                      <a:uFillTx/>
                      <a:latin typeface="+mn-lt"/>
                      <a:ea typeface="+mn-ea"/>
                      <a:cs typeface="+mn-ea"/>
                      <a:sym typeface="+mn-lt"/>
                    </a:rPr>
                    <a:t>b</a:t>
                  </a:r>
                </a:p>
              </p:txBody>
            </p:sp>
            <p:sp>
              <p:nvSpPr>
                <p:cNvPr id="101498" name="Text Box 124"/>
                <p:cNvSpPr txBox="1">
                  <a:spLocks noChangeArrowheads="1"/>
                </p:cNvSpPr>
                <p:nvPr/>
              </p:nvSpPr>
              <p:spPr bwMode="auto">
                <a:xfrm>
                  <a:off x="1300" y="426"/>
                  <a:ext cx="23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50</a:t>
                  </a:r>
                </a:p>
              </p:txBody>
            </p:sp>
          </p:grpSp>
          <p:grpSp>
            <p:nvGrpSpPr>
              <p:cNvPr id="105599" name="Group 125"/>
              <p:cNvGrpSpPr/>
              <p:nvPr/>
            </p:nvGrpSpPr>
            <p:grpSpPr>
              <a:xfrm>
                <a:off x="1836" y="2971"/>
                <a:ext cx="624" cy="721"/>
                <a:chOff x="1606" y="1453"/>
                <a:chExt cx="624" cy="721"/>
              </a:xfrm>
            </p:grpSpPr>
            <p:grpSp>
              <p:nvGrpSpPr>
                <p:cNvPr id="105605" name="Group 126"/>
                <p:cNvGrpSpPr/>
                <p:nvPr/>
              </p:nvGrpSpPr>
              <p:grpSpPr>
                <a:xfrm>
                  <a:off x="1606" y="1729"/>
                  <a:ext cx="248" cy="445"/>
                  <a:chOff x="1599" y="422"/>
                  <a:chExt cx="248" cy="445"/>
                </a:xfrm>
              </p:grpSpPr>
              <p:sp>
                <p:nvSpPr>
                  <p:cNvPr id="101501" name="Oval 127"/>
                  <p:cNvSpPr>
                    <a:spLocks noChangeArrowheads="1"/>
                  </p:cNvSpPr>
                  <p:nvPr/>
                </p:nvSpPr>
                <p:spPr bwMode="auto">
                  <a:xfrm>
                    <a:off x="1620" y="689"/>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a:ln>
                          <a:noFill/>
                        </a:ln>
                        <a:solidFill>
                          <a:schemeClr val="bg1"/>
                        </a:solidFill>
                        <a:effectLst/>
                        <a:uLnTx/>
                        <a:uFillTx/>
                        <a:latin typeface="+mn-lt"/>
                        <a:ea typeface="+mn-ea"/>
                        <a:cs typeface="+mn-ea"/>
                        <a:sym typeface="+mn-lt"/>
                      </a:rPr>
                      <a:t>c</a:t>
                    </a:r>
                  </a:p>
                </p:txBody>
              </p:sp>
              <p:sp>
                <p:nvSpPr>
                  <p:cNvPr id="101502" name="Text Box 128"/>
                  <p:cNvSpPr txBox="1">
                    <a:spLocks noChangeArrowheads="1"/>
                  </p:cNvSpPr>
                  <p:nvPr/>
                </p:nvSpPr>
                <p:spPr bwMode="auto">
                  <a:xfrm>
                    <a:off x="1599" y="422"/>
                    <a:ext cx="24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20</a:t>
                    </a:r>
                  </a:p>
                </p:txBody>
              </p:sp>
            </p:grpSp>
            <p:grpSp>
              <p:nvGrpSpPr>
                <p:cNvPr id="105606" name="Group 129"/>
                <p:cNvGrpSpPr/>
                <p:nvPr/>
              </p:nvGrpSpPr>
              <p:grpSpPr>
                <a:xfrm>
                  <a:off x="1982" y="1729"/>
                  <a:ext cx="248" cy="445"/>
                  <a:chOff x="1909" y="422"/>
                  <a:chExt cx="248" cy="445"/>
                </a:xfrm>
              </p:grpSpPr>
              <p:sp>
                <p:nvSpPr>
                  <p:cNvPr id="101504" name="Oval 130"/>
                  <p:cNvSpPr>
                    <a:spLocks noChangeArrowheads="1"/>
                  </p:cNvSpPr>
                  <p:nvPr/>
                </p:nvSpPr>
                <p:spPr bwMode="auto">
                  <a:xfrm>
                    <a:off x="1920" y="689"/>
                    <a:ext cx="165"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1" i="0" u="none" strike="noStrike" kern="1200" cap="none" spc="0" normalizeH="0" baseline="0" noProof="0" dirty="0">
                        <a:ln>
                          <a:noFill/>
                        </a:ln>
                        <a:solidFill>
                          <a:schemeClr val="bg1"/>
                        </a:solidFill>
                        <a:effectLst/>
                        <a:uLnTx/>
                        <a:uFillTx/>
                        <a:latin typeface="+mn-lt"/>
                        <a:ea typeface="+mn-ea"/>
                        <a:cs typeface="+mn-ea"/>
                        <a:sym typeface="+mn-lt"/>
                      </a:rPr>
                      <a:t>d</a:t>
                    </a:r>
                  </a:p>
                </p:txBody>
              </p:sp>
              <p:sp>
                <p:nvSpPr>
                  <p:cNvPr id="101505" name="Text Box 131"/>
                  <p:cNvSpPr txBox="1">
                    <a:spLocks noChangeArrowheads="1"/>
                  </p:cNvSpPr>
                  <p:nvPr/>
                </p:nvSpPr>
                <p:spPr bwMode="auto">
                  <a:xfrm>
                    <a:off x="1909" y="422"/>
                    <a:ext cx="24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40</a:t>
                    </a:r>
                  </a:p>
                </p:txBody>
              </p:sp>
            </p:grpSp>
            <p:grpSp>
              <p:nvGrpSpPr>
                <p:cNvPr id="105607" name="Group 132"/>
                <p:cNvGrpSpPr/>
                <p:nvPr/>
              </p:nvGrpSpPr>
              <p:grpSpPr>
                <a:xfrm>
                  <a:off x="1816" y="1453"/>
                  <a:ext cx="172" cy="388"/>
                  <a:chOff x="1782" y="1597"/>
                  <a:chExt cx="172" cy="388"/>
                </a:xfrm>
              </p:grpSpPr>
              <p:sp>
                <p:nvSpPr>
                  <p:cNvPr id="101507" name="Oval 133"/>
                  <p:cNvSpPr>
                    <a:spLocks noChangeArrowheads="1"/>
                  </p:cNvSpPr>
                  <p:nvPr/>
                </p:nvSpPr>
                <p:spPr bwMode="auto">
                  <a:xfrm>
                    <a:off x="1782" y="1807"/>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1508" name="Text Box 134"/>
                  <p:cNvSpPr txBox="1">
                    <a:spLocks noChangeArrowheads="1"/>
                  </p:cNvSpPr>
                  <p:nvPr/>
                </p:nvSpPr>
                <p:spPr bwMode="auto">
                  <a:xfrm>
                    <a:off x="1838" y="1597"/>
                    <a:ext cx="1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mn-lt"/>
                      <a:ea typeface="+mn-ea"/>
                      <a:cs typeface="+mn-ea"/>
                      <a:sym typeface="+mn-lt"/>
                    </a:endParaRPr>
                  </a:p>
                </p:txBody>
              </p:sp>
            </p:grpSp>
            <p:sp>
              <p:nvSpPr>
                <p:cNvPr id="101509" name="Line 135"/>
                <p:cNvSpPr>
                  <a:spLocks noChangeShapeType="1"/>
                </p:cNvSpPr>
                <p:nvPr/>
              </p:nvSpPr>
              <p:spPr bwMode="auto">
                <a:xfrm flipH="1">
                  <a:off x="1767" y="1833"/>
                  <a:ext cx="100" cy="18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1510" name="Line 136"/>
                <p:cNvSpPr>
                  <a:spLocks noChangeShapeType="1"/>
                </p:cNvSpPr>
                <p:nvPr/>
              </p:nvSpPr>
              <p:spPr bwMode="auto">
                <a:xfrm>
                  <a:off x="1922" y="1833"/>
                  <a:ext cx="112" cy="17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05600" name="Group 137"/>
              <p:cNvGrpSpPr/>
              <p:nvPr/>
            </p:nvGrpSpPr>
            <p:grpSpPr>
              <a:xfrm>
                <a:off x="1841" y="2643"/>
                <a:ext cx="176" cy="379"/>
                <a:chOff x="1321" y="488"/>
                <a:chExt cx="167" cy="379"/>
              </a:xfrm>
            </p:grpSpPr>
            <p:sp>
              <p:nvSpPr>
                <p:cNvPr id="101512" name="Oval 138"/>
                <p:cNvSpPr>
                  <a:spLocks noChangeArrowheads="1"/>
                </p:cNvSpPr>
                <p:nvPr/>
              </p:nvSpPr>
              <p:spPr bwMode="auto">
                <a:xfrm>
                  <a:off x="1321" y="689"/>
                  <a:ext cx="168"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1513" name="Text Box 139"/>
                <p:cNvSpPr txBox="1">
                  <a:spLocks noChangeArrowheads="1"/>
                </p:cNvSpPr>
                <p:nvPr/>
              </p:nvSpPr>
              <p:spPr bwMode="auto">
                <a:xfrm>
                  <a:off x="1366" y="488"/>
                  <a:ext cx="11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mn-lt"/>
                    <a:ea typeface="+mn-ea"/>
                    <a:cs typeface="+mn-ea"/>
                    <a:sym typeface="+mn-lt"/>
                  </a:endParaRPr>
                </a:p>
              </p:txBody>
            </p:sp>
          </p:grpSp>
          <p:sp>
            <p:nvSpPr>
              <p:cNvPr id="101514" name="Line 140"/>
              <p:cNvSpPr>
                <a:spLocks noChangeShapeType="1"/>
              </p:cNvSpPr>
              <p:nvPr/>
            </p:nvSpPr>
            <p:spPr bwMode="auto">
              <a:xfrm flipH="1">
                <a:off x="1800" y="3011"/>
                <a:ext cx="89"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1515" name="Line 141"/>
              <p:cNvSpPr>
                <a:spLocks noChangeShapeType="1"/>
              </p:cNvSpPr>
              <p:nvPr/>
            </p:nvSpPr>
            <p:spPr bwMode="auto">
              <a:xfrm>
                <a:off x="1978" y="3011"/>
                <a:ext cx="100"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105593" name="Group 142"/>
            <p:cNvGrpSpPr/>
            <p:nvPr/>
          </p:nvGrpSpPr>
          <p:grpSpPr>
            <a:xfrm>
              <a:off x="3697" y="1461"/>
              <a:ext cx="180" cy="390"/>
              <a:chOff x="1022" y="477"/>
              <a:chExt cx="180" cy="390"/>
            </a:xfrm>
          </p:grpSpPr>
          <p:sp>
            <p:nvSpPr>
              <p:cNvPr id="101517" name="Oval 143"/>
              <p:cNvSpPr>
                <a:spLocks noChangeArrowheads="1"/>
              </p:cNvSpPr>
              <p:nvPr/>
            </p:nvSpPr>
            <p:spPr bwMode="auto">
              <a:xfrm>
                <a:off x="1022" y="689"/>
                <a:ext cx="167" cy="178"/>
              </a:xfrm>
              <a:prstGeom prst="ellipse">
                <a:avLst/>
              </a:prstGeom>
              <a:solidFill>
                <a:schemeClr val="accent1">
                  <a:lumMod val="60000"/>
                  <a:lumOff val="40000"/>
                </a:schemeClr>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chemeClr val="bg1"/>
                  </a:solidFill>
                  <a:effectLst/>
                  <a:uLnTx/>
                  <a:uFillTx/>
                  <a:latin typeface="+mn-lt"/>
                  <a:ea typeface="+mn-ea"/>
                  <a:cs typeface="+mn-ea"/>
                  <a:sym typeface="+mn-lt"/>
                </a:endParaRPr>
              </a:p>
            </p:txBody>
          </p:sp>
          <p:sp>
            <p:nvSpPr>
              <p:cNvPr id="101518" name="Text Box 144"/>
              <p:cNvSpPr txBox="1">
                <a:spLocks noChangeArrowheads="1"/>
              </p:cNvSpPr>
              <p:nvPr/>
            </p:nvSpPr>
            <p:spPr bwMode="auto">
              <a:xfrm>
                <a:off x="1086" y="477"/>
                <a:ext cx="1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endParaRPr kumimoji="0" lang="zh-CN" altLang="zh-CN" sz="2400" b="1" i="0" u="none" strike="noStrike" kern="1200" cap="none" spc="0" normalizeH="0" baseline="0" noProof="0">
                  <a:ln>
                    <a:noFill/>
                  </a:ln>
                  <a:solidFill>
                    <a:srgbClr val="FF0000"/>
                  </a:solidFill>
                  <a:effectLst/>
                  <a:uLnTx/>
                  <a:uFillTx/>
                  <a:latin typeface="+mn-lt"/>
                  <a:ea typeface="+mn-ea"/>
                  <a:cs typeface="+mn-ea"/>
                  <a:sym typeface="+mn-lt"/>
                </a:endParaRPr>
              </a:p>
            </p:txBody>
          </p:sp>
        </p:grpSp>
        <p:sp>
          <p:nvSpPr>
            <p:cNvPr id="101519" name="Line 145"/>
            <p:cNvSpPr>
              <a:spLocks noChangeShapeType="1"/>
            </p:cNvSpPr>
            <p:nvPr/>
          </p:nvSpPr>
          <p:spPr bwMode="auto">
            <a:xfrm flipH="1">
              <a:off x="3623" y="1822"/>
              <a:ext cx="111" cy="21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01520" name="Line 146"/>
            <p:cNvSpPr>
              <a:spLocks noChangeShapeType="1"/>
            </p:cNvSpPr>
            <p:nvPr/>
          </p:nvSpPr>
          <p:spPr bwMode="auto">
            <a:xfrm>
              <a:off x="3812" y="1844"/>
              <a:ext cx="121" cy="2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sp>
        <p:nvSpPr>
          <p:cNvPr id="126981" name="Rectangle 38"/>
          <p:cNvSpPr/>
          <p:nvPr/>
        </p:nvSpPr>
        <p:spPr>
          <a:xfrm>
            <a:off x="4611053" y="1196340"/>
            <a:ext cx="1619250" cy="2074863"/>
          </a:xfrm>
          <a:prstGeom prst="rect">
            <a:avLst/>
          </a:prstGeom>
          <a:solidFill>
            <a:schemeClr val="bg2">
              <a:lumMod val="60000"/>
              <a:lumOff val="40000"/>
            </a:schemeClr>
          </a:solidFill>
          <a:ln w="28575" cmpd="sng">
            <a:solidFill>
              <a:schemeClr val="accent1">
                <a:shade val="50000"/>
              </a:schemeClr>
            </a:solidFill>
            <a:prstDash val="sysDash"/>
          </a:ln>
        </p:spPr>
        <p:txBody>
          <a:bodyPr>
            <a:spAutoFit/>
          </a:bodyPr>
          <a:lstStyle>
            <a:lvl1pPr marL="342900" indent="-342900" algn="l" rtl="0" eaLnBrk="0" fontAlgn="base" hangingPunct="0">
              <a:spcBef>
                <a:spcPct val="20000"/>
              </a:spcBef>
              <a:spcAft>
                <a:spcPct val="0"/>
              </a:spcAft>
              <a:buChar char="•"/>
              <a:defRPr kumimoji="1" sz="3200" b="0">
                <a:solidFill>
                  <a:schemeClr val="tx1"/>
                </a:solidFill>
                <a:latin typeface="+mn-lt"/>
                <a:ea typeface="+mn-ea"/>
                <a:cs typeface="仿宋_GB2312"/>
              </a:defRPr>
            </a:lvl1pPr>
            <a:lvl2pPr marL="742950" indent="-285750" algn="l" rtl="0" eaLnBrk="0" fontAlgn="base" hangingPunct="0">
              <a:spcBef>
                <a:spcPct val="20000"/>
              </a:spcBef>
              <a:spcAft>
                <a:spcPct val="0"/>
              </a:spcAft>
              <a:buChar char="–"/>
              <a:defRPr kumimoji="1" sz="2800">
                <a:solidFill>
                  <a:schemeClr val="tx1"/>
                </a:solidFill>
                <a:latin typeface="+mn-lt"/>
                <a:ea typeface="+mn-ea"/>
                <a:cs typeface="仿宋_GB2312"/>
              </a:defRPr>
            </a:lvl2pPr>
            <a:lvl3pPr marL="1143000" indent="-228600" algn="l" rtl="0" eaLnBrk="0" fontAlgn="base" hangingPunct="0">
              <a:spcBef>
                <a:spcPct val="20000"/>
              </a:spcBef>
              <a:spcAft>
                <a:spcPct val="0"/>
              </a:spcAft>
              <a:buChar char="•"/>
              <a:defRPr kumimoji="1" sz="2400">
                <a:solidFill>
                  <a:schemeClr val="tx1"/>
                </a:solidFill>
                <a:latin typeface="+mn-lt"/>
                <a:ea typeface="+mn-ea"/>
                <a:cs typeface="仿宋_GB2312"/>
              </a:defRPr>
            </a:lvl3pPr>
            <a:lvl4pPr marL="1600200" indent="-228600" algn="l" rtl="0" eaLnBrk="0" fontAlgn="base" hangingPunct="0">
              <a:spcBef>
                <a:spcPct val="20000"/>
              </a:spcBef>
              <a:spcAft>
                <a:spcPct val="0"/>
              </a:spcAft>
              <a:buChar char="–"/>
              <a:defRPr kumimoji="1" sz="2000">
                <a:solidFill>
                  <a:schemeClr val="tx1"/>
                </a:solidFill>
                <a:latin typeface="+mn-lt"/>
                <a:ea typeface="+mn-ea"/>
                <a:cs typeface="仿宋_GB2312"/>
              </a:defRPr>
            </a:lvl4pPr>
            <a:lvl5pPr marL="2057400" indent="-228600" algn="l" rtl="0" eaLnBrk="0" fontAlgn="base" hangingPunct="0">
              <a:spcBef>
                <a:spcPct val="20000"/>
              </a:spcBef>
              <a:spcAft>
                <a:spcPct val="0"/>
              </a:spcAft>
              <a:buChar char="»"/>
              <a:defRPr kumimoji="1" sz="2000">
                <a:solidFill>
                  <a:schemeClr val="tx1"/>
                </a:solidFill>
                <a:latin typeface="+mn-lt"/>
                <a:ea typeface="+mn-ea"/>
                <a:cs typeface="仿宋_GB2312"/>
              </a:defRPr>
            </a:lvl5pPr>
          </a:lstStyle>
          <a:p>
            <a:pPr marL="342900" lvl="0" indent="-342900">
              <a:buNone/>
            </a:pPr>
            <a:r>
              <a:rPr lang="en-US" altLang="zh-CN" sz="2800" b="1" dirty="0"/>
              <a:t>a</a:t>
            </a:r>
            <a:r>
              <a:rPr lang="zh-CN" altLang="en-US" sz="2800" b="1" dirty="0"/>
              <a:t>　 </a:t>
            </a:r>
            <a:r>
              <a:rPr lang="en-US" altLang="zh-CN" sz="2800" b="1" dirty="0"/>
              <a:t>0</a:t>
            </a:r>
          </a:p>
          <a:p>
            <a:pPr marL="342900" lvl="0" indent="-342900">
              <a:buNone/>
            </a:pPr>
            <a:r>
              <a:rPr lang="en-US" altLang="zh-CN" sz="2800" b="1" dirty="0"/>
              <a:t>b </a:t>
            </a:r>
            <a:r>
              <a:rPr lang="zh-CN" altLang="en-US" sz="2800" b="1" dirty="0"/>
              <a:t>　</a:t>
            </a:r>
            <a:r>
              <a:rPr lang="en-US" altLang="zh-CN" sz="2800" b="1" dirty="0"/>
              <a:t>10</a:t>
            </a:r>
          </a:p>
          <a:p>
            <a:pPr marL="342900" lvl="0" indent="-342900">
              <a:buNone/>
            </a:pPr>
            <a:r>
              <a:rPr lang="en-US" altLang="zh-CN" sz="2800" b="1" dirty="0"/>
              <a:t>c </a:t>
            </a:r>
            <a:r>
              <a:rPr lang="zh-CN" altLang="en-US" sz="2800" b="1" dirty="0"/>
              <a:t>　</a:t>
            </a:r>
            <a:r>
              <a:rPr lang="en-US" altLang="zh-CN" sz="2800" b="1" dirty="0"/>
              <a:t>110 </a:t>
            </a:r>
          </a:p>
          <a:p>
            <a:pPr marL="342900" lvl="0" indent="-342900">
              <a:buNone/>
            </a:pPr>
            <a:r>
              <a:rPr lang="en-US" altLang="zh-CN" sz="2800" b="1" dirty="0"/>
              <a:t>d</a:t>
            </a:r>
            <a:r>
              <a:rPr lang="zh-CN" altLang="en-US" sz="2800" b="1" dirty="0"/>
              <a:t>　 </a:t>
            </a:r>
            <a:r>
              <a:rPr lang="en-US" altLang="zh-CN" sz="2800" b="1" dirty="0"/>
              <a:t>111</a:t>
            </a:r>
          </a:p>
        </p:txBody>
      </p:sp>
      <p:sp>
        <p:nvSpPr>
          <p:cNvPr id="126982" name="Text Box 2"/>
          <p:cNvSpPr txBox="1"/>
          <p:nvPr/>
        </p:nvSpPr>
        <p:spPr>
          <a:xfrm>
            <a:off x="-19685" y="4455795"/>
            <a:ext cx="9184005" cy="2402205"/>
          </a:xfrm>
          <a:prstGeom prst="rect">
            <a:avLst/>
          </a:prstGeom>
          <a:solidFill>
            <a:schemeClr val="bg2">
              <a:lumMod val="20000"/>
              <a:lumOff val="80000"/>
            </a:schemeClr>
          </a:solidFill>
          <a:ln w="9525">
            <a:noFill/>
          </a:ln>
        </p:spPr>
        <p:txBody>
          <a:bodyPr wrap="square">
            <a:spAutoFit/>
          </a:bodyPr>
          <a:lstStyle>
            <a:lvl1pPr marL="342900" indent="-342900" algn="l" rtl="0" eaLnBrk="0" fontAlgn="base" hangingPunct="0">
              <a:spcBef>
                <a:spcPct val="20000"/>
              </a:spcBef>
              <a:spcAft>
                <a:spcPct val="0"/>
              </a:spcAft>
              <a:buChar char="•"/>
              <a:defRPr kumimoji="1" sz="3200" b="0">
                <a:solidFill>
                  <a:schemeClr val="tx1"/>
                </a:solidFill>
                <a:latin typeface="+mn-lt"/>
                <a:ea typeface="+mn-ea"/>
                <a:cs typeface="仿宋_GB2312"/>
              </a:defRPr>
            </a:lvl1pPr>
            <a:lvl2pPr marL="742950" indent="-285750" algn="l" rtl="0" eaLnBrk="0" fontAlgn="base" hangingPunct="0">
              <a:spcBef>
                <a:spcPct val="20000"/>
              </a:spcBef>
              <a:spcAft>
                <a:spcPct val="0"/>
              </a:spcAft>
              <a:buChar char="–"/>
              <a:defRPr kumimoji="1" sz="2800">
                <a:solidFill>
                  <a:schemeClr val="tx1"/>
                </a:solidFill>
                <a:latin typeface="+mn-lt"/>
                <a:ea typeface="+mn-ea"/>
                <a:cs typeface="仿宋_GB2312"/>
              </a:defRPr>
            </a:lvl2pPr>
            <a:lvl3pPr marL="1143000" indent="-228600" algn="l" rtl="0" eaLnBrk="0" fontAlgn="base" hangingPunct="0">
              <a:spcBef>
                <a:spcPct val="20000"/>
              </a:spcBef>
              <a:spcAft>
                <a:spcPct val="0"/>
              </a:spcAft>
              <a:buChar char="•"/>
              <a:defRPr kumimoji="1" sz="2400">
                <a:solidFill>
                  <a:schemeClr val="tx1"/>
                </a:solidFill>
                <a:latin typeface="+mn-lt"/>
                <a:ea typeface="+mn-ea"/>
                <a:cs typeface="仿宋_GB2312"/>
              </a:defRPr>
            </a:lvl3pPr>
            <a:lvl4pPr marL="1600200" indent="-228600" algn="l" rtl="0" eaLnBrk="0" fontAlgn="base" hangingPunct="0">
              <a:spcBef>
                <a:spcPct val="20000"/>
              </a:spcBef>
              <a:spcAft>
                <a:spcPct val="0"/>
              </a:spcAft>
              <a:buChar char="–"/>
              <a:defRPr kumimoji="1" sz="2000">
                <a:solidFill>
                  <a:schemeClr val="tx1"/>
                </a:solidFill>
                <a:latin typeface="+mn-lt"/>
                <a:ea typeface="+mn-ea"/>
                <a:cs typeface="仿宋_GB2312"/>
              </a:defRPr>
            </a:lvl4pPr>
            <a:lvl5pPr marL="2057400" indent="-228600" algn="l" rtl="0" eaLnBrk="0" fontAlgn="base" hangingPunct="0">
              <a:spcBef>
                <a:spcPct val="20000"/>
              </a:spcBef>
              <a:spcAft>
                <a:spcPct val="0"/>
              </a:spcAft>
              <a:buChar char="»"/>
              <a:defRPr kumimoji="1" sz="2000">
                <a:solidFill>
                  <a:schemeClr val="tx1"/>
                </a:solidFill>
                <a:latin typeface="+mn-lt"/>
                <a:ea typeface="+mn-ea"/>
                <a:cs typeface="仿宋_GB2312"/>
              </a:defRPr>
            </a:lvl5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noProof="0" dirty="0">
                <a:ln>
                  <a:noFill/>
                </a:ln>
                <a:effectLst/>
                <a:uLnTx/>
                <a:uFillTx/>
                <a:cs typeface="+mn-ea"/>
                <a:sym typeface="+mn-lt"/>
              </a:rPr>
              <a:t>for(</a:t>
            </a:r>
            <a:r>
              <a:rPr kumimoji="0" lang="en-US" altLang="zh-CN" sz="1600" noProof="0" dirty="0" err="1">
                <a:ln>
                  <a:noFill/>
                </a:ln>
                <a:effectLst/>
                <a:uLnTx/>
                <a:uFillTx/>
                <a:cs typeface="+mn-ea"/>
                <a:sym typeface="+mn-lt"/>
              </a:rPr>
              <a:t>i</a:t>
            </a:r>
            <a:r>
              <a:rPr kumimoji="0" lang="en-US" altLang="zh-CN" sz="1600" noProof="0" dirty="0">
                <a:ln>
                  <a:noFill/>
                </a:ln>
                <a:effectLst/>
                <a:uLnTx/>
                <a:uFillTx/>
                <a:cs typeface="+mn-ea"/>
                <a:sym typeface="+mn-lt"/>
              </a:rPr>
              <a:t>=1; </a:t>
            </a:r>
            <a:r>
              <a:rPr kumimoji="0" lang="en-US" altLang="zh-CN" sz="1600" noProof="0" dirty="0" err="1">
                <a:ln>
                  <a:noFill/>
                </a:ln>
                <a:effectLst/>
                <a:uLnTx/>
                <a:uFillTx/>
                <a:cs typeface="+mn-ea"/>
                <a:sym typeface="+mn-lt"/>
              </a:rPr>
              <a:t>i</a:t>
            </a:r>
            <a:r>
              <a:rPr kumimoji="0" lang="en-US" altLang="zh-CN" sz="1600" noProof="0" dirty="0">
                <a:ln>
                  <a:noFill/>
                </a:ln>
                <a:effectLst/>
                <a:uLnTx/>
                <a:uFillTx/>
                <a:cs typeface="+mn-ea"/>
                <a:sym typeface="+mn-lt"/>
              </a:rPr>
              <a:t>&lt;=n; ++</a:t>
            </a:r>
            <a:r>
              <a:rPr kumimoji="0" lang="en-US" altLang="zh-CN" sz="1600" noProof="0" dirty="0" err="1">
                <a:ln>
                  <a:noFill/>
                </a:ln>
                <a:effectLst/>
                <a:uLnTx/>
                <a:uFillTx/>
                <a:cs typeface="+mn-ea"/>
                <a:sym typeface="+mn-lt"/>
              </a:rPr>
              <a:t>i</a:t>
            </a:r>
            <a:r>
              <a:rPr kumimoji="0" lang="en-US" altLang="zh-CN" sz="1600" noProof="0" dirty="0">
                <a:ln>
                  <a:noFill/>
                </a:ln>
                <a:effectLst/>
                <a:uLnTx/>
                <a:uFillTx/>
                <a:cs typeface="+mn-ea"/>
                <a:sym typeface="+mn-lt"/>
              </a:rPr>
              <a:t>){	                                      //</a:t>
            </a:r>
            <a:r>
              <a:rPr kumimoji="0" lang="zh-CN" altLang="en-US" sz="1600" noProof="0" dirty="0">
                <a:ln>
                  <a:noFill/>
                </a:ln>
                <a:effectLst/>
                <a:uLnTx/>
                <a:uFillTx/>
                <a:cs typeface="+mn-ea"/>
                <a:sym typeface="+mn-lt"/>
              </a:rPr>
              <a:t>逐个字符求哈夫曼编码</a:t>
            </a:r>
            <a:endParaRPr kumimoji="0" lang="zh-CN" altLang="en-US" sz="16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1600" noProof="0" dirty="0">
                <a:ln>
                  <a:noFill/>
                </a:ln>
                <a:effectLst/>
                <a:uLnTx/>
                <a:uFillTx/>
                <a:cs typeface="+mn-ea"/>
                <a:sym typeface="+mn-lt"/>
              </a:rPr>
              <a:t>    </a:t>
            </a:r>
            <a:r>
              <a:rPr kumimoji="0" lang="en-US" altLang="zh-CN" sz="1600" noProof="0" dirty="0">
                <a:ln>
                  <a:noFill/>
                </a:ln>
                <a:effectLst/>
                <a:uLnTx/>
                <a:uFillTx/>
                <a:cs typeface="+mn-ea"/>
                <a:sym typeface="+mn-lt"/>
              </a:rPr>
              <a:t>start=n-1; c=</a:t>
            </a:r>
            <a:r>
              <a:rPr kumimoji="0" lang="en-US" altLang="zh-CN" sz="1600" noProof="0" dirty="0" err="1">
                <a:ln>
                  <a:noFill/>
                </a:ln>
                <a:effectLst/>
                <a:uLnTx/>
                <a:uFillTx/>
                <a:cs typeface="+mn-ea"/>
                <a:sym typeface="+mn-lt"/>
              </a:rPr>
              <a:t>i</a:t>
            </a:r>
            <a:r>
              <a:rPr kumimoji="0" lang="en-US" altLang="zh-CN" sz="1600" noProof="0" dirty="0">
                <a:ln>
                  <a:noFill/>
                </a:ln>
                <a:effectLst/>
                <a:uLnTx/>
                <a:uFillTx/>
                <a:cs typeface="+mn-ea"/>
                <a:sym typeface="+mn-lt"/>
              </a:rPr>
              <a:t>; f=HT[</a:t>
            </a:r>
            <a:r>
              <a:rPr kumimoji="0" lang="en-US" altLang="zh-CN" sz="1600" noProof="0" dirty="0" err="1">
                <a:ln>
                  <a:noFill/>
                </a:ln>
                <a:effectLst/>
                <a:uLnTx/>
                <a:uFillTx/>
                <a:cs typeface="+mn-ea"/>
                <a:sym typeface="+mn-lt"/>
              </a:rPr>
              <a:t>i</a:t>
            </a:r>
            <a:r>
              <a:rPr kumimoji="0" lang="en-US" altLang="zh-CN" sz="1600" noProof="0" dirty="0">
                <a:ln>
                  <a:noFill/>
                </a:ln>
                <a:effectLst/>
                <a:uLnTx/>
                <a:uFillTx/>
                <a:cs typeface="+mn-ea"/>
                <a:sym typeface="+mn-lt"/>
              </a:rPr>
              <a:t>].parent;                 			</a:t>
            </a:r>
            <a:endParaRPr kumimoji="0" lang="en-US" altLang="zh-CN" sz="16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noProof="0" dirty="0">
                <a:ln>
                  <a:noFill/>
                </a:ln>
                <a:effectLst/>
                <a:uLnTx/>
                <a:uFillTx/>
                <a:cs typeface="+mn-ea"/>
                <a:sym typeface="+mn-lt"/>
              </a:rPr>
              <a:t>    while(f!=0){	                                     //</a:t>
            </a:r>
            <a:r>
              <a:rPr kumimoji="0" lang="zh-CN" altLang="en-US" sz="1600" noProof="0" dirty="0">
                <a:ln>
                  <a:noFill/>
                </a:ln>
                <a:effectLst/>
                <a:uLnTx/>
                <a:uFillTx/>
                <a:cs typeface="+mn-ea"/>
                <a:sym typeface="+mn-lt"/>
              </a:rPr>
              <a:t>从叶子结点开始向上回溯，直到根结点</a:t>
            </a:r>
            <a:endParaRPr kumimoji="0" lang="zh-CN" altLang="en-US" sz="16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1600" noProof="0" dirty="0">
                <a:ln>
                  <a:noFill/>
                </a:ln>
                <a:effectLst/>
                <a:uLnTx/>
                <a:uFillTx/>
                <a:cs typeface="+mn-ea"/>
                <a:sym typeface="+mn-lt"/>
              </a:rPr>
              <a:t>         </a:t>
            </a:r>
            <a:r>
              <a:rPr kumimoji="0" lang="en-US" altLang="zh-CN" sz="1600" noProof="0" dirty="0">
                <a:ln>
                  <a:noFill/>
                </a:ln>
                <a:effectLst/>
                <a:uLnTx/>
                <a:uFillTx/>
                <a:cs typeface="+mn-ea"/>
                <a:sym typeface="+mn-lt"/>
              </a:rPr>
              <a:t>--start;                          		//</a:t>
            </a:r>
            <a:r>
              <a:rPr kumimoji="0" lang="zh-CN" altLang="en-US" sz="1600" noProof="0" dirty="0">
                <a:ln>
                  <a:noFill/>
                </a:ln>
                <a:effectLst/>
                <a:uLnTx/>
                <a:uFillTx/>
                <a:cs typeface="+mn-ea"/>
                <a:sym typeface="+mn-lt"/>
              </a:rPr>
              <a:t>回溯一次</a:t>
            </a:r>
            <a:r>
              <a:rPr kumimoji="0" lang="en-US" altLang="zh-CN" sz="1600" noProof="0" dirty="0">
                <a:ln>
                  <a:noFill/>
                </a:ln>
                <a:effectLst/>
                <a:uLnTx/>
                <a:uFillTx/>
                <a:cs typeface="+mn-ea"/>
                <a:sym typeface="+mn-lt"/>
              </a:rPr>
              <a:t>start</a:t>
            </a:r>
            <a:r>
              <a:rPr kumimoji="0" lang="zh-CN" altLang="en-US" sz="1600" noProof="0" dirty="0">
                <a:ln>
                  <a:noFill/>
                </a:ln>
                <a:effectLst/>
                <a:uLnTx/>
                <a:uFillTx/>
                <a:cs typeface="+mn-ea"/>
                <a:sym typeface="+mn-lt"/>
              </a:rPr>
              <a:t>向前指一个位置</a:t>
            </a:r>
            <a:endParaRPr kumimoji="0" lang="zh-CN" altLang="en-US" sz="16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1600" noProof="0" dirty="0">
                <a:ln>
                  <a:noFill/>
                </a:ln>
                <a:effectLst/>
                <a:uLnTx/>
                <a:uFillTx/>
                <a:cs typeface="+mn-ea"/>
                <a:sym typeface="+mn-lt"/>
              </a:rPr>
              <a:t>         </a:t>
            </a:r>
            <a:r>
              <a:rPr kumimoji="0" lang="en-US" altLang="zh-CN" sz="1600" noProof="0" dirty="0">
                <a:ln>
                  <a:noFill/>
                </a:ln>
                <a:effectLst/>
                <a:uLnTx/>
                <a:uFillTx/>
                <a:cs typeface="+mn-ea"/>
                <a:sym typeface="+mn-lt"/>
              </a:rPr>
              <a:t>if (HT[f].</a:t>
            </a:r>
            <a:r>
              <a:rPr kumimoji="0" lang="en-US" altLang="zh-CN" sz="1600" noProof="0" dirty="0" err="1">
                <a:ln>
                  <a:noFill/>
                </a:ln>
                <a:effectLst/>
                <a:uLnTx/>
                <a:uFillTx/>
                <a:cs typeface="+mn-ea"/>
                <a:sym typeface="+mn-lt"/>
              </a:rPr>
              <a:t>lchild</a:t>
            </a:r>
            <a:r>
              <a:rPr kumimoji="0" lang="en-US" altLang="zh-CN" sz="1600" noProof="0" dirty="0">
                <a:ln>
                  <a:noFill/>
                </a:ln>
                <a:effectLst/>
                <a:uLnTx/>
                <a:uFillTx/>
                <a:cs typeface="+mn-ea"/>
                <a:sym typeface="+mn-lt"/>
              </a:rPr>
              <a:t>= =c)  cd[start]=’0’;	//</a:t>
            </a:r>
            <a:r>
              <a:rPr kumimoji="0" lang="zh-CN" altLang="en-US" sz="1600" noProof="0" dirty="0">
                <a:ln>
                  <a:noFill/>
                </a:ln>
                <a:effectLst/>
                <a:uLnTx/>
                <a:uFillTx/>
                <a:cs typeface="+mn-ea"/>
                <a:sym typeface="+mn-lt"/>
              </a:rPr>
              <a:t>结点</a:t>
            </a:r>
            <a:r>
              <a:rPr kumimoji="0" lang="en-US" altLang="zh-CN" sz="1600" noProof="0" dirty="0">
                <a:ln>
                  <a:noFill/>
                </a:ln>
                <a:effectLst/>
                <a:uLnTx/>
                <a:uFillTx/>
                <a:cs typeface="+mn-ea"/>
                <a:sym typeface="+mn-lt"/>
              </a:rPr>
              <a:t>c</a:t>
            </a:r>
            <a:r>
              <a:rPr kumimoji="0" lang="zh-CN" altLang="en-US" sz="1600" noProof="0" dirty="0">
                <a:ln>
                  <a:noFill/>
                </a:ln>
                <a:effectLst/>
                <a:uLnTx/>
                <a:uFillTx/>
                <a:cs typeface="+mn-ea"/>
                <a:sym typeface="+mn-lt"/>
              </a:rPr>
              <a:t>是</a:t>
            </a:r>
            <a:r>
              <a:rPr kumimoji="0" lang="en-US" altLang="zh-CN" sz="1600" noProof="0" dirty="0">
                <a:ln>
                  <a:noFill/>
                </a:ln>
                <a:effectLst/>
                <a:uLnTx/>
                <a:uFillTx/>
                <a:cs typeface="+mn-ea"/>
                <a:sym typeface="+mn-lt"/>
              </a:rPr>
              <a:t>f</a:t>
            </a:r>
            <a:r>
              <a:rPr kumimoji="0" lang="zh-CN" altLang="en-US" sz="1600" noProof="0" dirty="0">
                <a:ln>
                  <a:noFill/>
                </a:ln>
                <a:effectLst/>
                <a:uLnTx/>
                <a:uFillTx/>
                <a:cs typeface="+mn-ea"/>
                <a:sym typeface="+mn-lt"/>
              </a:rPr>
              <a:t>的左孩子，则生成代码</a:t>
            </a:r>
            <a:r>
              <a:rPr kumimoji="0" lang="en-US" altLang="zh-CN" sz="1600" noProof="0" dirty="0">
                <a:ln>
                  <a:noFill/>
                </a:ln>
                <a:effectLst/>
                <a:uLnTx/>
                <a:uFillTx/>
                <a:cs typeface="+mn-ea"/>
                <a:sym typeface="+mn-lt"/>
              </a:rPr>
              <a:t>0</a:t>
            </a:r>
            <a:endParaRPr kumimoji="0" lang="en-US" altLang="zh-CN" sz="16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noProof="0" dirty="0">
                <a:ln>
                  <a:noFill/>
                </a:ln>
                <a:effectLst/>
                <a:uLnTx/>
                <a:uFillTx/>
                <a:cs typeface="+mn-ea"/>
                <a:sym typeface="+mn-lt"/>
              </a:rPr>
              <a:t>         else cd[start]=’1’;               		//</a:t>
            </a:r>
            <a:r>
              <a:rPr kumimoji="0" lang="zh-CN" altLang="en-US" sz="1600" noProof="0" dirty="0">
                <a:ln>
                  <a:noFill/>
                </a:ln>
                <a:effectLst/>
                <a:uLnTx/>
                <a:uFillTx/>
                <a:cs typeface="+mn-ea"/>
                <a:sym typeface="+mn-lt"/>
              </a:rPr>
              <a:t>结点</a:t>
            </a:r>
            <a:r>
              <a:rPr kumimoji="0" lang="en-US" altLang="zh-CN" sz="1600" noProof="0" dirty="0">
                <a:ln>
                  <a:noFill/>
                </a:ln>
                <a:effectLst/>
                <a:uLnTx/>
                <a:uFillTx/>
                <a:cs typeface="+mn-ea"/>
                <a:sym typeface="+mn-lt"/>
              </a:rPr>
              <a:t>c</a:t>
            </a:r>
            <a:r>
              <a:rPr kumimoji="0" lang="zh-CN" altLang="en-US" sz="1600" noProof="0" dirty="0">
                <a:ln>
                  <a:noFill/>
                </a:ln>
                <a:effectLst/>
                <a:uLnTx/>
                <a:uFillTx/>
                <a:cs typeface="+mn-ea"/>
                <a:sym typeface="+mn-lt"/>
              </a:rPr>
              <a:t>是</a:t>
            </a:r>
            <a:r>
              <a:rPr kumimoji="0" lang="en-US" altLang="zh-CN" sz="1600" noProof="0" dirty="0">
                <a:ln>
                  <a:noFill/>
                </a:ln>
                <a:effectLst/>
                <a:uLnTx/>
                <a:uFillTx/>
                <a:cs typeface="+mn-ea"/>
                <a:sym typeface="+mn-lt"/>
              </a:rPr>
              <a:t>f</a:t>
            </a:r>
            <a:r>
              <a:rPr kumimoji="0" lang="zh-CN" altLang="en-US" sz="1600" noProof="0" dirty="0">
                <a:ln>
                  <a:noFill/>
                </a:ln>
                <a:effectLst/>
                <a:uLnTx/>
                <a:uFillTx/>
                <a:cs typeface="+mn-ea"/>
                <a:sym typeface="+mn-lt"/>
              </a:rPr>
              <a:t>的右孩子，则生成代码</a:t>
            </a:r>
            <a:r>
              <a:rPr kumimoji="0" lang="en-US" altLang="zh-CN" sz="1600" noProof="0" dirty="0">
                <a:ln>
                  <a:noFill/>
                </a:ln>
                <a:effectLst/>
                <a:uLnTx/>
                <a:uFillTx/>
                <a:cs typeface="+mn-ea"/>
                <a:sym typeface="+mn-lt"/>
              </a:rPr>
              <a:t>1</a:t>
            </a:r>
            <a:endParaRPr kumimoji="0" lang="en-US" altLang="zh-CN" sz="16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600" noProof="0" dirty="0">
                <a:ln>
                  <a:noFill/>
                </a:ln>
                <a:effectLst/>
                <a:uLnTx/>
                <a:uFillTx/>
                <a:cs typeface="+mn-ea"/>
                <a:sym typeface="+mn-lt"/>
              </a:rPr>
              <a:t>         c=f; f=HT[f].parent;             	//</a:t>
            </a:r>
            <a:r>
              <a:rPr kumimoji="0" lang="zh-CN" altLang="en-US" sz="1600" noProof="0" dirty="0">
                <a:ln>
                  <a:noFill/>
                </a:ln>
                <a:effectLst/>
                <a:uLnTx/>
                <a:uFillTx/>
                <a:cs typeface="+mn-ea"/>
                <a:sym typeface="+mn-lt"/>
              </a:rPr>
              <a:t>继续向上回溯</a:t>
            </a:r>
            <a:endParaRPr kumimoji="0" lang="zh-CN" altLang="en-US" sz="1600" b="0" i="0" u="none" strike="noStrike" kern="1200" cap="none" spc="0" normalizeH="0" baseline="0" noProof="0" dirty="0">
              <a:ln>
                <a:noFill/>
              </a:ln>
              <a:solidFill>
                <a:schemeClr val="tx1"/>
              </a:solidFill>
              <a:effectLst/>
              <a:uLnTx/>
              <a:uFillTx/>
              <a:latin typeface="+mn-lt"/>
              <a:ea typeface="+mn-ea"/>
              <a:cs typeface="+mn-ea"/>
              <a:sym typeface="+mn-lt"/>
            </a:endParaRP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1600" noProof="0" dirty="0">
                <a:ln>
                  <a:noFill/>
                </a:ln>
                <a:effectLst/>
                <a:uLnTx/>
                <a:uFillTx/>
                <a:cs typeface="+mn-ea"/>
                <a:sym typeface="+mn-lt"/>
              </a:rPr>
              <a:t>    </a:t>
            </a:r>
            <a:r>
              <a:rPr kumimoji="0" lang="en-US" altLang="zh-CN" sz="1600" noProof="0" dirty="0">
                <a:ln>
                  <a:noFill/>
                </a:ln>
                <a:effectLst/>
                <a:uLnTx/>
                <a:uFillTx/>
                <a:cs typeface="+mn-ea"/>
                <a:sym typeface="+mn-lt"/>
              </a:rPr>
              <a:t>}                                  		 //</a:t>
            </a:r>
            <a:r>
              <a:rPr kumimoji="0" lang="zh-CN" altLang="en-US" sz="1600" noProof="0" dirty="0">
                <a:ln>
                  <a:noFill/>
                </a:ln>
                <a:effectLst/>
                <a:uLnTx/>
                <a:uFillTx/>
                <a:cs typeface="+mn-ea"/>
                <a:sym typeface="+mn-lt"/>
              </a:rPr>
              <a:t>求出第</a:t>
            </a:r>
            <a:r>
              <a:rPr kumimoji="0" lang="en-US" altLang="zh-CN" sz="1600" noProof="0" dirty="0" err="1">
                <a:ln>
                  <a:noFill/>
                </a:ln>
                <a:effectLst/>
                <a:uLnTx/>
                <a:uFillTx/>
                <a:cs typeface="+mn-ea"/>
                <a:sym typeface="+mn-lt"/>
              </a:rPr>
              <a:t>i</a:t>
            </a:r>
            <a:r>
              <a:rPr kumimoji="0" lang="zh-CN" altLang="en-US" sz="1600" noProof="0" dirty="0">
                <a:ln>
                  <a:noFill/>
                </a:ln>
                <a:effectLst/>
                <a:uLnTx/>
                <a:uFillTx/>
                <a:cs typeface="+mn-ea"/>
                <a:sym typeface="+mn-lt"/>
              </a:rPr>
              <a:t>个字符的编码 </a:t>
            </a:r>
            <a:endParaRPr lang="zh-CN" altLang="en-US" sz="1600" b="1" dirty="0"/>
          </a:p>
        </p:txBody>
      </p:sp>
      <p:graphicFrame>
        <p:nvGraphicFramePr>
          <p:cNvPr id="99388" name="表格 99387"/>
          <p:cNvGraphicFramePr/>
          <p:nvPr>
            <p:custDataLst>
              <p:tags r:id="rId1"/>
            </p:custDataLst>
          </p:nvPr>
        </p:nvGraphicFramePr>
        <p:xfrm>
          <a:off x="35560" y="836613"/>
          <a:ext cx="4040188" cy="3395719"/>
        </p:xfrm>
        <a:graphic>
          <a:graphicData uri="http://schemas.openxmlformats.org/drawingml/2006/table">
            <a:tbl>
              <a:tblPr/>
              <a:tblGrid>
                <a:gridCol w="527050"/>
                <a:gridCol w="936625"/>
                <a:gridCol w="903288"/>
                <a:gridCol w="765175"/>
                <a:gridCol w="908050"/>
              </a:tblGrid>
              <a:tr h="396875">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endParaRPr lang="zh-CN" altLang="zh-CN" sz="2000" b="0" dirty="0">
                        <a:solidFill>
                          <a:schemeClr val="bg1"/>
                        </a:solidFill>
                        <a:latin typeface="+mn-lt"/>
                        <a:ea typeface="+mn-ea"/>
                        <a:cs typeface="+mn-ea"/>
                        <a:sym typeface="+mn-lt"/>
                      </a:endParaRP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weight</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parent</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lch</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bg1"/>
                          </a:solidFill>
                          <a:latin typeface="+mn-lt"/>
                          <a:ea typeface="+mn-ea"/>
                          <a:cs typeface="+mn-ea"/>
                          <a:sym typeface="+mn-lt"/>
                        </a:rPr>
                        <a:t>rch</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accent1">
                        <a:lumMod val="60000"/>
                        <a:lumOff val="40000"/>
                      </a:schemeClr>
                    </a:solidFill>
                  </a:tcPr>
                </a:tc>
              </a:tr>
              <a:tr h="3962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1</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highlight>
                            <a:srgbClr val="FFFF00"/>
                          </a:highlight>
                          <a:latin typeface="+mn-lt"/>
                          <a:ea typeface="+mn-ea"/>
                          <a:cs typeface="+mn-ea"/>
                          <a:sym typeface="+mn-lt"/>
                        </a:rPr>
                        <a:t>70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rgbClr val="FF0000"/>
                          </a:solidFill>
                          <a:latin typeface="+mn-lt"/>
                          <a:ea typeface="+mn-ea"/>
                          <a:cs typeface="+mn-ea"/>
                          <a:sym typeface="+mn-lt"/>
                        </a:rPr>
                        <a:t>7</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2</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50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6</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507942">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3</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20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5</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4</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40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5</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24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5</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60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6</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3</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4</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6</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highlight>
                            <a:srgbClr val="FFFF00"/>
                          </a:highlight>
                          <a:latin typeface="+mn-lt"/>
                          <a:ea typeface="+mn-ea"/>
                          <a:cs typeface="+mn-ea"/>
                          <a:sym typeface="+mn-lt"/>
                        </a:rPr>
                        <a:t>110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0000"/>
                          </a:solidFill>
                          <a:latin typeface="+mn-lt"/>
                          <a:ea typeface="+mn-ea"/>
                          <a:cs typeface="+mn-ea"/>
                          <a:sym typeface="+mn-lt"/>
                        </a:rPr>
                        <a:t>7</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2</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5</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396830">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b="0" dirty="0">
                          <a:solidFill>
                            <a:schemeClr val="tx1"/>
                          </a:solidFill>
                          <a:latin typeface="+mn-lt"/>
                          <a:ea typeface="+mn-ea"/>
                          <a:cs typeface="+mn-ea"/>
                          <a:sym typeface="+mn-lt"/>
                        </a:rPr>
                        <a:t>7</a:t>
                      </a:r>
                    </a:p>
                  </a:txBody>
                  <a:tcPr marT="45715" marB="45715">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solidFill>
                      <a:schemeClr val="bg1"/>
                    </a:solid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3300"/>
                          </a:solidFill>
                          <a:latin typeface="+mn-lt"/>
                          <a:ea typeface="+mn-ea"/>
                          <a:cs typeface="+mn-ea"/>
                          <a:sym typeface="+mn-lt"/>
                        </a:rPr>
                        <a:t>180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chemeClr val="tx1"/>
                          </a:solidFill>
                          <a:latin typeface="+mn-lt"/>
                          <a:ea typeface="+mn-ea"/>
                          <a:cs typeface="+mn-ea"/>
                          <a:sym typeface="+mn-lt"/>
                        </a:rPr>
                        <a:t>0</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0000"/>
                          </a:solidFill>
                          <a:latin typeface="+mn-lt"/>
                          <a:ea typeface="+mn-ea"/>
                          <a:cs typeface="+mn-ea"/>
                          <a:sym typeface="+mn-lt"/>
                        </a:rPr>
                        <a:t>1</a:t>
                      </a:r>
                    </a:p>
                  </a:txBody>
                  <a:tcPr marT="45715" marB="45715">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仿宋_GB2312" pitchFamily="49" charset="-122"/>
                          <a:cs typeface="+mn-cs"/>
                        </a:defRPr>
                      </a:lvl5pPr>
                    </a:lstStyle>
                    <a:p>
                      <a:pPr lvl="0" algn="ctr">
                        <a:buNone/>
                      </a:pPr>
                      <a:r>
                        <a:rPr lang="en-US" altLang="zh-CN" sz="2000" dirty="0">
                          <a:solidFill>
                            <a:srgbClr val="FF0000"/>
                          </a:solidFill>
                          <a:latin typeface="+mn-lt"/>
                          <a:ea typeface="+mn-ea"/>
                          <a:cs typeface="+mn-ea"/>
                          <a:sym typeface="+mn-lt"/>
                        </a:rPr>
                        <a:t>6</a:t>
                      </a:r>
                    </a:p>
                  </a:txBody>
                  <a:tcPr marT="45715" marB="45715">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99388"/>
                                        </p:tgtEl>
                                        <p:attrNameLst>
                                          <p:attrName>style.visibility</p:attrName>
                                        </p:attrNameLst>
                                      </p:cBhvr>
                                      <p:to>
                                        <p:strVal val="visible"/>
                                      </p:to>
                                    </p:set>
                                    <p:animEffect transition="in" filter="box(in)">
                                      <p:cBhvr>
                                        <p:cTn id="7" dur="500"/>
                                        <p:tgtEl>
                                          <p:spTgt spid="993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5474" name="Text Box 2"/>
          <p:cNvSpPr txBox="1">
            <a:spLocks noChangeArrowheads="1"/>
          </p:cNvSpPr>
          <p:nvPr/>
        </p:nvSpPr>
        <p:spPr bwMode="auto">
          <a:xfrm>
            <a:off x="0" y="836613"/>
            <a:ext cx="9144000" cy="6014720"/>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void </a:t>
            </a:r>
            <a:r>
              <a:rPr kumimoji="0" lang="en-US" altLang="zh-CN" sz="1800" b="0" i="0" u="none" strike="noStrike" kern="1200" cap="none" spc="0" normalizeH="0" baseline="0" noProof="0" dirty="0" err="1">
                <a:ln>
                  <a:noFill/>
                </a:ln>
                <a:solidFill>
                  <a:schemeClr val="tx1"/>
                </a:solidFill>
                <a:effectLst/>
                <a:uLnTx/>
                <a:uFillTx/>
                <a:latin typeface="+mn-lt"/>
                <a:ea typeface="+mn-ea"/>
                <a:cs typeface="+mn-ea"/>
                <a:sym typeface="+mn-lt"/>
              </a:rPr>
              <a:t>CreatHuffmanCode</a:t>
            </a: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en-US" altLang="zh-CN" sz="1800" b="0" i="0" u="none" strike="noStrike" kern="1200" cap="none" spc="0" normalizeH="0" baseline="0" noProof="0" dirty="0" err="1">
                <a:ln>
                  <a:noFill/>
                </a:ln>
                <a:solidFill>
                  <a:schemeClr val="tx1"/>
                </a:solidFill>
                <a:effectLst/>
                <a:uLnTx/>
                <a:uFillTx/>
                <a:latin typeface="+mn-lt"/>
                <a:ea typeface="+mn-ea"/>
                <a:cs typeface="+mn-ea"/>
                <a:sym typeface="+mn-lt"/>
              </a:rPr>
              <a:t>HuffmanTree</a:t>
            </a: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 HT, </a:t>
            </a:r>
            <a:r>
              <a:rPr kumimoji="0" lang="en-US" altLang="zh-CN" sz="1800" b="0" i="0" u="none" strike="noStrike" kern="1200" cap="none" spc="0" normalizeH="0" baseline="0" noProof="0" dirty="0" err="1">
                <a:ln>
                  <a:noFill/>
                </a:ln>
                <a:solidFill>
                  <a:schemeClr val="tx1"/>
                </a:solidFill>
                <a:effectLst/>
                <a:uLnTx/>
                <a:uFillTx/>
                <a:latin typeface="+mn-lt"/>
                <a:ea typeface="+mn-ea"/>
                <a:cs typeface="+mn-ea"/>
                <a:sym typeface="+mn-lt"/>
              </a:rPr>
              <a:t>HuffmanCode</a:t>
            </a: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 &amp;HC, int n){</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1800" b="0" i="0" u="none" strike="noStrike" kern="1200" cap="none" spc="0" normalizeH="0" baseline="0" noProof="0" dirty="0">
                <a:ln>
                  <a:noFill/>
                </a:ln>
                <a:solidFill>
                  <a:schemeClr val="tx1"/>
                </a:solidFill>
                <a:effectLst/>
                <a:uLnTx/>
                <a:uFillTx/>
                <a:latin typeface="+mn-lt"/>
                <a:ea typeface="+mn-ea"/>
                <a:cs typeface="+mn-ea"/>
                <a:sym typeface="+mn-lt"/>
              </a:rPr>
              <a:t>从叶子到根逆向求每个字符的赫夫曼编码，存储在编码表</a:t>
            </a: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HC</a:t>
            </a:r>
            <a:r>
              <a:rPr kumimoji="0" lang="zh-CN" altLang="en-US" sz="1800" b="0" i="0" u="none" strike="noStrike" kern="1200" cap="none" spc="0" normalizeH="0" baseline="0" noProof="0" dirty="0">
                <a:ln>
                  <a:noFill/>
                </a:ln>
                <a:solidFill>
                  <a:schemeClr val="tx1"/>
                </a:solidFill>
                <a:effectLst/>
                <a:uLnTx/>
                <a:uFillTx/>
                <a:latin typeface="+mn-lt"/>
                <a:ea typeface="+mn-ea"/>
                <a:cs typeface="+mn-ea"/>
                <a:sym typeface="+mn-lt"/>
              </a:rPr>
              <a:t>中</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HC=new char *[n+1];         		//</a:t>
            </a:r>
            <a:r>
              <a:rPr kumimoji="0" lang="zh-CN" altLang="en-US" sz="1800" b="0" i="0" u="none" strike="noStrike" kern="1200" cap="none" spc="0" normalizeH="0" baseline="0" noProof="0" dirty="0">
                <a:ln>
                  <a:noFill/>
                </a:ln>
                <a:solidFill>
                  <a:schemeClr val="tx1"/>
                </a:solidFill>
                <a:effectLst/>
                <a:uLnTx/>
                <a:uFillTx/>
                <a:latin typeface="+mn-lt"/>
                <a:ea typeface="+mn-ea"/>
                <a:cs typeface="+mn-ea"/>
                <a:sym typeface="+mn-lt"/>
              </a:rPr>
              <a:t>分配</a:t>
            </a: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1800" b="0" i="0" u="none" strike="noStrike" kern="1200" cap="none" spc="0" normalizeH="0" baseline="0" noProof="0" dirty="0">
                <a:ln>
                  <a:noFill/>
                </a:ln>
                <a:solidFill>
                  <a:schemeClr val="tx1"/>
                </a:solidFill>
                <a:effectLst/>
                <a:uLnTx/>
                <a:uFillTx/>
                <a:latin typeface="+mn-lt"/>
                <a:ea typeface="+mn-ea"/>
                <a:cs typeface="+mn-ea"/>
                <a:sym typeface="+mn-lt"/>
              </a:rPr>
              <a:t>个字符编码的头指针向量</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cd=new char [n];			//</a:t>
            </a:r>
            <a:r>
              <a:rPr kumimoji="0" lang="zh-CN" altLang="en-US" sz="1800" b="0" i="0" u="none" strike="noStrike" kern="1200" cap="none" spc="0" normalizeH="0" baseline="0" noProof="0" dirty="0">
                <a:ln>
                  <a:noFill/>
                </a:ln>
                <a:solidFill>
                  <a:schemeClr val="tx1"/>
                </a:solidFill>
                <a:effectLst/>
                <a:uLnTx/>
                <a:uFillTx/>
                <a:latin typeface="+mn-lt"/>
                <a:ea typeface="+mn-ea"/>
                <a:cs typeface="+mn-ea"/>
                <a:sym typeface="+mn-lt"/>
              </a:rPr>
              <a:t>分配临时存放编码的动态数组空间</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cd[n-1]=’\0’; 	                                //</a:t>
            </a:r>
            <a:r>
              <a:rPr kumimoji="0" lang="zh-CN" altLang="en-US" sz="1800" b="0" i="0" u="none" strike="noStrike" kern="1200" cap="none" spc="0" normalizeH="0" baseline="0" noProof="0" dirty="0">
                <a:ln>
                  <a:noFill/>
                </a:ln>
                <a:solidFill>
                  <a:schemeClr val="tx1"/>
                </a:solidFill>
                <a:effectLst/>
                <a:uLnTx/>
                <a:uFillTx/>
                <a:latin typeface="+mn-lt"/>
                <a:ea typeface="+mn-ea"/>
                <a:cs typeface="+mn-ea"/>
                <a:sym typeface="+mn-lt"/>
              </a:rPr>
              <a:t>编码结束符</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for(</a:t>
            </a:r>
            <a:r>
              <a:rPr kumimoji="0" lang="en-US" altLang="zh-CN" sz="1800" i="0" u="none" strike="noStrike" kern="1200" cap="none" spc="0" normalizeH="0" baseline="0" noProof="0" dirty="0" err="1">
                <a:ln>
                  <a:noFill/>
                </a:ln>
                <a:solidFill>
                  <a:schemeClr val="accent2">
                    <a:lumMod val="75000"/>
                  </a:schemeClr>
                </a:solidFill>
                <a:effectLst/>
                <a:uLnTx/>
                <a:uFillTx/>
                <a:latin typeface="+mn-lt"/>
                <a:ea typeface="+mn-ea"/>
                <a:cs typeface="+mn-ea"/>
                <a:sym typeface="+mn-lt"/>
              </a:rPr>
              <a:t>i</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=1; </a:t>
            </a:r>
            <a:r>
              <a:rPr kumimoji="0" lang="en-US" altLang="zh-CN" sz="1800" i="0" u="none" strike="noStrike" kern="1200" cap="none" spc="0" normalizeH="0" baseline="0" noProof="0" dirty="0" err="1">
                <a:ln>
                  <a:noFill/>
                </a:ln>
                <a:solidFill>
                  <a:schemeClr val="accent2">
                    <a:lumMod val="75000"/>
                  </a:schemeClr>
                </a:solidFill>
                <a:effectLst/>
                <a:uLnTx/>
                <a:uFillTx/>
                <a:latin typeface="+mn-lt"/>
                <a:ea typeface="+mn-ea"/>
                <a:cs typeface="+mn-ea"/>
                <a:sym typeface="+mn-lt"/>
              </a:rPr>
              <a:t>i</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&lt;=n; ++</a:t>
            </a:r>
            <a:r>
              <a:rPr kumimoji="0" lang="en-US" altLang="zh-CN" sz="1800" i="0" u="none" strike="noStrike" kern="1200" cap="none" spc="0" normalizeH="0" baseline="0" noProof="0" dirty="0" err="1">
                <a:ln>
                  <a:noFill/>
                </a:ln>
                <a:solidFill>
                  <a:schemeClr val="accent2">
                    <a:lumMod val="75000"/>
                  </a:schemeClr>
                </a:solidFill>
                <a:effectLst/>
                <a:uLnTx/>
                <a:uFillTx/>
                <a:latin typeface="+mn-lt"/>
                <a:ea typeface="+mn-ea"/>
                <a:cs typeface="+mn-ea"/>
                <a:sym typeface="+mn-lt"/>
              </a:rPr>
              <a:t>i</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	                //</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逐个字符求哈夫曼编码</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    </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start=n-1; c=</a:t>
            </a:r>
            <a:r>
              <a:rPr kumimoji="0" lang="en-US" altLang="zh-CN" sz="1800" i="0" u="none" strike="noStrike" kern="1200" cap="none" spc="0" normalizeH="0" baseline="0" noProof="0" dirty="0" err="1">
                <a:ln>
                  <a:noFill/>
                </a:ln>
                <a:solidFill>
                  <a:schemeClr val="accent2">
                    <a:lumMod val="75000"/>
                  </a:schemeClr>
                </a:solidFill>
                <a:effectLst/>
                <a:uLnTx/>
                <a:uFillTx/>
                <a:latin typeface="+mn-lt"/>
                <a:ea typeface="+mn-ea"/>
                <a:cs typeface="+mn-ea"/>
                <a:sym typeface="+mn-lt"/>
              </a:rPr>
              <a:t>i</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 f=HT[</a:t>
            </a:r>
            <a:r>
              <a:rPr kumimoji="0" lang="en-US" altLang="zh-CN" sz="1800" i="0" u="none" strike="noStrike" kern="1200" cap="none" spc="0" normalizeH="0" baseline="0" noProof="0" dirty="0" err="1">
                <a:ln>
                  <a:noFill/>
                </a:ln>
                <a:solidFill>
                  <a:schemeClr val="accent2">
                    <a:lumMod val="75000"/>
                  </a:schemeClr>
                </a:solidFill>
                <a:effectLst/>
                <a:uLnTx/>
                <a:uFillTx/>
                <a:latin typeface="+mn-lt"/>
                <a:ea typeface="+mn-ea"/>
                <a:cs typeface="+mn-ea"/>
                <a:sym typeface="+mn-lt"/>
              </a:rPr>
              <a:t>i</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].parent;                 			</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    while(f!=0){	                                                 //</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从叶子结点开始向上回溯，直到根结点</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         </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--start;                          			//</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回溯一次</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start</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向前指一个位置</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         </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if (HT[f].</a:t>
            </a:r>
            <a:r>
              <a:rPr kumimoji="0" lang="en-US" altLang="zh-CN" sz="1800" i="0" u="none" strike="noStrike" kern="1200" cap="none" spc="0" normalizeH="0" baseline="0" noProof="0" dirty="0" err="1">
                <a:ln>
                  <a:noFill/>
                </a:ln>
                <a:solidFill>
                  <a:schemeClr val="accent2">
                    <a:lumMod val="75000"/>
                  </a:schemeClr>
                </a:solidFill>
                <a:effectLst/>
                <a:uLnTx/>
                <a:uFillTx/>
                <a:latin typeface="+mn-lt"/>
                <a:ea typeface="+mn-ea"/>
                <a:cs typeface="+mn-ea"/>
                <a:sym typeface="+mn-lt"/>
              </a:rPr>
              <a:t>lchild</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 =c)  cd[start]=’0’;	//</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结点</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c</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是</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f</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的左孩子，则生成代码</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0</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         else cd[start]=’1’;               		//</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结点</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c</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是</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f</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的右孩子，则生成代码</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1</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         c=f; f=HT[f].parent;             		//</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继续向上回溯</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    </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                                  		                //</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求出第</a:t>
            </a:r>
            <a:r>
              <a:rPr kumimoji="0" lang="en-US" altLang="zh-CN" sz="1800" i="0" u="none" strike="noStrike" kern="1200" cap="none" spc="0" normalizeH="0" baseline="0" noProof="0" dirty="0" err="1">
                <a:ln>
                  <a:noFill/>
                </a:ln>
                <a:solidFill>
                  <a:schemeClr val="accent2">
                    <a:lumMod val="75000"/>
                  </a:schemeClr>
                </a:solidFill>
                <a:effectLst/>
                <a:uLnTx/>
                <a:uFillTx/>
                <a:latin typeface="+mn-lt"/>
                <a:ea typeface="+mn-ea"/>
                <a:cs typeface="+mn-ea"/>
                <a:sym typeface="+mn-lt"/>
              </a:rPr>
              <a:t>i</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个字符的编码      </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    </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HC[</a:t>
            </a:r>
            <a:r>
              <a:rPr kumimoji="0" lang="en-US" altLang="zh-CN" sz="1800" i="0" u="none" strike="noStrike" kern="1200" cap="none" spc="0" normalizeH="0" baseline="0" noProof="0" dirty="0" err="1">
                <a:ln>
                  <a:noFill/>
                </a:ln>
                <a:solidFill>
                  <a:schemeClr val="accent2">
                    <a:lumMod val="75000"/>
                  </a:schemeClr>
                </a:solidFill>
                <a:effectLst/>
                <a:uLnTx/>
                <a:uFillTx/>
                <a:latin typeface="+mn-lt"/>
                <a:ea typeface="+mn-ea"/>
                <a:cs typeface="+mn-ea"/>
                <a:sym typeface="+mn-lt"/>
              </a:rPr>
              <a:t>i</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 new char [n-start];         	                // </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为第</a:t>
            </a:r>
            <a:r>
              <a:rPr kumimoji="0" lang="en-US" altLang="zh-CN" sz="1800" i="0" u="none" strike="noStrike" kern="1200" cap="none" spc="0" normalizeH="0" baseline="0" noProof="0" dirty="0" err="1">
                <a:ln>
                  <a:noFill/>
                </a:ln>
                <a:solidFill>
                  <a:schemeClr val="accent2">
                    <a:lumMod val="75000"/>
                  </a:schemeClr>
                </a:solidFill>
                <a:effectLst/>
                <a:uLnTx/>
                <a:uFillTx/>
                <a:latin typeface="+mn-lt"/>
                <a:ea typeface="+mn-ea"/>
                <a:cs typeface="+mn-ea"/>
                <a:sym typeface="+mn-lt"/>
              </a:rPr>
              <a:t>i</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 </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个字符编码分配空间</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    </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strcpy(HC[</a:t>
            </a:r>
            <a:r>
              <a:rPr kumimoji="0" lang="en-US" altLang="zh-CN" sz="1800" i="0" u="none" strike="noStrike" kern="1200" cap="none" spc="0" normalizeH="0" baseline="0" noProof="0" dirty="0" err="1">
                <a:ln>
                  <a:noFill/>
                </a:ln>
                <a:solidFill>
                  <a:schemeClr val="accent2">
                    <a:lumMod val="75000"/>
                  </a:schemeClr>
                </a:solidFill>
                <a:effectLst/>
                <a:uLnTx/>
                <a:uFillTx/>
                <a:latin typeface="+mn-lt"/>
                <a:ea typeface="+mn-ea"/>
                <a:cs typeface="+mn-ea"/>
                <a:sym typeface="+mn-lt"/>
              </a:rPr>
              <a:t>i</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 &amp;cd[start])</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    </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将求得的编码从临时空间</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cd</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复制到</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HC</a:t>
            </a: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的当前行中</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  </a:t>
            </a:r>
            <a:r>
              <a:rPr kumimoji="0" lang="en-US" altLang="zh-CN" sz="1800" i="0" u="none" strike="noStrike" kern="1200" cap="none" spc="0" normalizeH="0" baseline="0" noProof="0" dirty="0">
                <a:ln>
                  <a:noFill/>
                </a:ln>
                <a:solidFill>
                  <a:schemeClr val="accent2">
                    <a:lumMod val="75000"/>
                  </a:schemeClr>
                </a:solidFill>
                <a:effectLst/>
                <a:uLnTx/>
                <a:uFillTx/>
                <a:latin typeface="+mn-lt"/>
                <a:ea typeface="+mn-ea"/>
                <a:cs typeface="+mn-ea"/>
                <a:sym typeface="+mn-lt"/>
              </a:rPr>
              <a:t>}</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  delete cd;                            	    //</a:t>
            </a:r>
            <a:r>
              <a:rPr kumimoji="0" lang="zh-CN" altLang="en-US" sz="1800" b="0" i="0" u="none" strike="noStrike" kern="1200" cap="none" spc="0" normalizeH="0" baseline="0" noProof="0" dirty="0">
                <a:ln>
                  <a:noFill/>
                </a:ln>
                <a:solidFill>
                  <a:schemeClr val="tx1"/>
                </a:solidFill>
                <a:effectLst/>
                <a:uLnTx/>
                <a:uFillTx/>
                <a:latin typeface="+mn-lt"/>
                <a:ea typeface="+mn-ea"/>
                <a:cs typeface="+mn-ea"/>
                <a:sym typeface="+mn-lt"/>
              </a:rPr>
              <a:t>释放临时空间</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rPr>
              <a:t>} // </a:t>
            </a:r>
            <a:r>
              <a:rPr kumimoji="0" lang="en-US" altLang="zh-CN" sz="1800" b="0" i="0" u="none" strike="noStrike" kern="1200" cap="none" spc="0" normalizeH="0" baseline="0" noProof="0" dirty="0" err="1">
                <a:ln>
                  <a:noFill/>
                </a:ln>
                <a:solidFill>
                  <a:schemeClr val="tx1"/>
                </a:solidFill>
                <a:effectLst/>
                <a:uLnTx/>
                <a:uFillTx/>
                <a:latin typeface="+mn-lt"/>
                <a:ea typeface="+mn-ea"/>
                <a:cs typeface="+mn-ea"/>
                <a:sym typeface="+mn-lt"/>
              </a:rPr>
              <a:t>CreatHuffanCode</a:t>
            </a:r>
            <a:endParaRPr kumimoji="0" lang="en-US" altLang="zh-CN" sz="18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3" name="Rectangle 3"/>
          <p:cNvSpPr>
            <a:spLocks noChangeArrowheads="1"/>
          </p:cNvSpPr>
          <p:nvPr/>
        </p:nvSpPr>
        <p:spPr bwMode="auto">
          <a:xfrm>
            <a:off x="827088" y="223838"/>
            <a:ext cx="65881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哈夫曼编码构造算法的实现</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17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865285" name="Rectangle 5"/>
          <p:cNvSpPr>
            <a:spLocks noChangeArrowheads="1"/>
          </p:cNvSpPr>
          <p:nvPr/>
        </p:nvSpPr>
        <p:spPr bwMode="auto">
          <a:xfrm>
            <a:off x="1246188" y="1195388"/>
            <a:ext cx="7602538" cy="5329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25000"/>
              </a:lnSpc>
              <a:spcBef>
                <a:spcPts val="1000"/>
              </a:spcBef>
              <a:spcAft>
                <a:spcPct val="0"/>
              </a:spcAft>
              <a:buClrTx/>
              <a:buSzTx/>
              <a:buFontTx/>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哈夫曼编码是</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不等长编码。</a:t>
            </a:r>
          </a:p>
          <a:p>
            <a:pPr marL="0" marR="0" lvl="0" indent="0" algn="l" defTabSz="914400" rtl="0" eaLnBrk="0" fontAlgn="base" latinLnBrk="0" hangingPunct="0">
              <a:lnSpc>
                <a:spcPct val="125000"/>
              </a:lnSpc>
              <a:spcBef>
                <a:spcPts val="1000"/>
              </a:spcBef>
              <a:spcAft>
                <a:spcPct val="0"/>
              </a:spcAft>
              <a:buClrTx/>
              <a:buSzTx/>
              <a:buFontTx/>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哈夫曼编码是</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前缀编码</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，即任一字符的编码都不是另一字符编码的前缀。</a:t>
            </a:r>
          </a:p>
          <a:p>
            <a:pPr marL="0" marR="0" lvl="0" indent="0" algn="l" defTabSz="914400" rtl="0" eaLnBrk="0" fontAlgn="base" latinLnBrk="0" hangingPunct="0">
              <a:lnSpc>
                <a:spcPct val="125000"/>
              </a:lnSpc>
              <a:spcBef>
                <a:spcPts val="1000"/>
              </a:spcBef>
              <a:spcAft>
                <a:spcPct val="0"/>
              </a:spcAft>
              <a:buClrTx/>
              <a:buSzTx/>
              <a:buFontTx/>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哈夫曼编码树中没有度为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的结点。若叶子结点的个数为</a:t>
            </a:r>
            <a:r>
              <a:rPr kumimoji="0" lang="en-US" altLang="zh-CN" sz="2400" b="0" i="0" u="none" strike="noStrike" kern="1200" cap="none" spc="0" normalizeH="0" baseline="0" noProof="0" dirty="0">
                <a:ln>
                  <a:noFill/>
                </a:ln>
                <a:solidFill>
                  <a:schemeClr val="tx1"/>
                </a:solidFill>
                <a:effectLst/>
                <a:uLnTx/>
                <a:uFillTx/>
                <a:latin typeface="+mn-lt"/>
                <a:ea typeface="+mn-ea"/>
                <a:cs typeface="+mn-ea"/>
                <a:sym typeface="+mn-lt"/>
              </a:rPr>
              <a:t>n</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，则哈夫曼编码树的</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结点总数为 </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2n-1</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a:t>
            </a:r>
            <a:endPar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endParaRPr>
          </a:p>
          <a:p>
            <a:pPr marL="0" marR="0" lvl="0" indent="0" algn="l" defTabSz="914400" rtl="0" eaLnBrk="0" fontAlgn="base" latinLnBrk="0" hangingPunct="0">
              <a:lnSpc>
                <a:spcPct val="125000"/>
              </a:lnSpc>
              <a:spcBef>
                <a:spcPts val="1000"/>
              </a:spcBef>
              <a:spcAft>
                <a:spcPct val="0"/>
              </a:spcAft>
              <a:buClrTx/>
              <a:buSzTx/>
              <a:buFontTx/>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发送过程：根据由</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哈夫曼树得到的编码表</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送出字符数据</a:t>
            </a:r>
          </a:p>
          <a:p>
            <a:pPr marL="0" marR="0" lvl="0" indent="0" algn="l" defTabSz="914400" rtl="0" eaLnBrk="0" fontAlgn="base" latinLnBrk="0" hangingPunct="0">
              <a:lnSpc>
                <a:spcPct val="125000"/>
              </a:lnSpc>
              <a:spcBef>
                <a:spcPts val="1000"/>
              </a:spcBef>
              <a:spcAft>
                <a:spcPct val="0"/>
              </a:spcAft>
              <a:buClrTx/>
              <a:buSzTx/>
              <a:buFontTx/>
              <a:buNone/>
              <a:defRPr/>
            </a:pP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接收过程：按</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左</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0</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、右</a:t>
            </a:r>
            <a:r>
              <a:rPr kumimoji="0" lang="en-US" altLang="zh-CN" sz="2400" b="0" i="0" u="none" strike="noStrike" kern="1200" cap="none" spc="0" normalizeH="0" baseline="0" noProof="0" dirty="0">
                <a:ln>
                  <a:noFill/>
                </a:ln>
                <a:solidFill>
                  <a:srgbClr val="FF3300"/>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tx1"/>
                </a:solidFill>
                <a:effectLst/>
                <a:uLnTx/>
                <a:uFillTx/>
                <a:latin typeface="+mn-lt"/>
                <a:ea typeface="+mn-ea"/>
                <a:cs typeface="+mn-ea"/>
                <a:sym typeface="+mn-lt"/>
              </a:rPr>
              <a:t>的规定，从根结点走到一个叶结点，完成一个字符的译码。反复此过程，直到接收数据结束。</a:t>
            </a:r>
          </a:p>
        </p:txBody>
      </p:sp>
      <p:sp>
        <p:nvSpPr>
          <p:cNvPr id="106499" name="Rectangle 6"/>
          <p:cNvSpPr>
            <a:spLocks noChangeArrowheads="1"/>
          </p:cNvSpPr>
          <p:nvPr/>
        </p:nvSpPr>
        <p:spPr bwMode="auto">
          <a:xfrm>
            <a:off x="827088" y="207963"/>
            <a:ext cx="45688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哈夫曼编码的几点结论</a:t>
            </a:r>
          </a:p>
        </p:txBody>
      </p:sp>
      <p:grpSp>
        <p:nvGrpSpPr>
          <p:cNvPr id="116740" name="Group 32"/>
          <p:cNvGrpSpPr/>
          <p:nvPr/>
        </p:nvGrpSpPr>
        <p:grpSpPr>
          <a:xfrm>
            <a:off x="468313" y="1974850"/>
            <a:ext cx="538162" cy="539750"/>
            <a:chOff x="6528170" y="3281715"/>
            <a:chExt cx="914400" cy="914400"/>
          </a:xfrm>
        </p:grpSpPr>
        <p:sp>
          <p:nvSpPr>
            <p:cNvPr id="5" name="Rounded Rectangle 8"/>
            <p:cNvSpPr/>
            <p:nvPr/>
          </p:nvSpPr>
          <p:spPr>
            <a:xfrm>
              <a:off x="6528170" y="3281715"/>
              <a:ext cx="914400" cy="914400"/>
            </a:xfrm>
            <a:prstGeom prst="roundRect">
              <a:avLst/>
            </a:prstGeom>
            <a:solidFill>
              <a:srgbClr val="4BACC6"/>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6" name="Group 69"/>
            <p:cNvGrpSpPr/>
            <p:nvPr/>
          </p:nvGrpSpPr>
          <p:grpSpPr>
            <a:xfrm>
              <a:off x="6759757" y="3506346"/>
              <a:ext cx="464344" cy="465138"/>
              <a:chOff x="7287419" y="3505994"/>
              <a:chExt cx="464344" cy="465138"/>
            </a:xfrm>
            <a:solidFill>
              <a:srgbClr val="EEECE1"/>
            </a:solidFill>
          </p:grpSpPr>
          <p:sp>
            <p:nvSpPr>
              <p:cNvPr id="7" name="AutoShape 37"/>
              <p:cNvSpPr/>
              <p:nvPr/>
            </p:nvSpPr>
            <p:spPr bwMode="auto">
              <a:xfrm>
                <a:off x="7287419" y="354965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8" name="AutoShape 38"/>
              <p:cNvSpPr/>
              <p:nvPr/>
            </p:nvSpPr>
            <p:spPr bwMode="auto">
              <a:xfrm>
                <a:off x="7490619" y="373856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9" name="AutoShape 39"/>
              <p:cNvSpPr/>
              <p:nvPr/>
            </p:nvSpPr>
            <p:spPr bwMode="auto">
              <a:xfrm>
                <a:off x="7679532" y="350599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10" name="AutoShape 40"/>
              <p:cNvSpPr/>
              <p:nvPr/>
            </p:nvSpPr>
            <p:spPr bwMode="auto">
              <a:xfrm>
                <a:off x="7403307" y="372427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11" name="AutoShape 41"/>
              <p:cNvSpPr/>
              <p:nvPr/>
            </p:nvSpPr>
            <p:spPr bwMode="auto">
              <a:xfrm>
                <a:off x="7461250" y="382587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12" name="AutoShape 42"/>
              <p:cNvSpPr/>
              <p:nvPr/>
            </p:nvSpPr>
            <p:spPr bwMode="auto">
              <a:xfrm>
                <a:off x="7693819" y="360759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grpSp>
      </p:grpSp>
      <p:grpSp>
        <p:nvGrpSpPr>
          <p:cNvPr id="116741" name="Group 33"/>
          <p:cNvGrpSpPr/>
          <p:nvPr/>
        </p:nvGrpSpPr>
        <p:grpSpPr>
          <a:xfrm>
            <a:off x="454025" y="2962275"/>
            <a:ext cx="539750" cy="539750"/>
            <a:chOff x="6528170" y="4684221"/>
            <a:chExt cx="914400" cy="914400"/>
          </a:xfrm>
        </p:grpSpPr>
        <p:sp>
          <p:nvSpPr>
            <p:cNvPr id="14" name="Rounded Rectangle 9"/>
            <p:cNvSpPr/>
            <p:nvPr/>
          </p:nvSpPr>
          <p:spPr>
            <a:xfrm>
              <a:off x="6528170" y="4684221"/>
              <a:ext cx="914400" cy="914400"/>
            </a:xfrm>
            <a:prstGeom prst="roundRect">
              <a:avLst/>
            </a:prstGeom>
            <a:solidFill>
              <a:srgbClr val="F79646"/>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15" name="Group 76"/>
            <p:cNvGrpSpPr/>
            <p:nvPr/>
          </p:nvGrpSpPr>
          <p:grpSpPr>
            <a:xfrm>
              <a:off x="6748385" y="4909249"/>
              <a:ext cx="464344" cy="464344"/>
              <a:chOff x="7287419" y="2577307"/>
              <a:chExt cx="464344" cy="464344"/>
            </a:xfrm>
            <a:solidFill>
              <a:srgbClr val="EEECE1"/>
            </a:solidFill>
          </p:grpSpPr>
          <p:sp>
            <p:nvSpPr>
              <p:cNvPr id="16" name="AutoShape 56"/>
              <p:cNvSpPr/>
              <p:nvPr/>
            </p:nvSpPr>
            <p:spPr bwMode="auto">
              <a:xfrm>
                <a:off x="7287419" y="2577307"/>
                <a:ext cx="145256"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17" name="AutoShape 57"/>
              <p:cNvSpPr/>
              <p:nvPr/>
            </p:nvSpPr>
            <p:spPr bwMode="auto">
              <a:xfrm>
                <a:off x="7606507" y="2577307"/>
                <a:ext cx="145256"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18" name="AutoShape 58"/>
              <p:cNvSpPr/>
              <p:nvPr/>
            </p:nvSpPr>
            <p:spPr bwMode="auto">
              <a:xfrm>
                <a:off x="7446963" y="2577307"/>
                <a:ext cx="145257"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15416"/>
                    </a:moveTo>
                    <a:cubicBezTo>
                      <a:pt x="16954" y="15452"/>
                      <a:pt x="16923" y="15487"/>
                      <a:pt x="16883" y="15523"/>
                    </a:cubicBezTo>
                    <a:cubicBezTo>
                      <a:pt x="16677" y="15701"/>
                      <a:pt x="16414" y="15870"/>
                      <a:pt x="16066" y="16020"/>
                    </a:cubicBezTo>
                    <a:cubicBezTo>
                      <a:pt x="16057" y="16024"/>
                      <a:pt x="16044" y="16027"/>
                      <a:pt x="16038" y="16031"/>
                    </a:cubicBezTo>
                    <a:cubicBezTo>
                      <a:pt x="15662" y="16192"/>
                      <a:pt x="15214" y="16334"/>
                      <a:pt x="14705" y="16454"/>
                    </a:cubicBezTo>
                    <a:cubicBezTo>
                      <a:pt x="14697" y="16457"/>
                      <a:pt x="14692" y="16458"/>
                      <a:pt x="14686" y="16459"/>
                    </a:cubicBezTo>
                    <a:cubicBezTo>
                      <a:pt x="14163" y="16582"/>
                      <a:pt x="13584" y="16681"/>
                      <a:pt x="12960" y="16749"/>
                    </a:cubicBezTo>
                    <a:cubicBezTo>
                      <a:pt x="12279" y="16826"/>
                      <a:pt x="11560" y="16875"/>
                      <a:pt x="10800" y="16875"/>
                    </a:cubicBezTo>
                    <a:cubicBezTo>
                      <a:pt x="10037" y="16875"/>
                      <a:pt x="9318" y="16826"/>
                      <a:pt x="8640" y="16749"/>
                    </a:cubicBezTo>
                    <a:cubicBezTo>
                      <a:pt x="8016" y="16681"/>
                      <a:pt x="7435" y="16582"/>
                      <a:pt x="6914" y="16459"/>
                    </a:cubicBezTo>
                    <a:cubicBezTo>
                      <a:pt x="6908" y="16458"/>
                      <a:pt x="6901" y="16457"/>
                      <a:pt x="6893" y="16454"/>
                    </a:cubicBezTo>
                    <a:cubicBezTo>
                      <a:pt x="6385" y="16334"/>
                      <a:pt x="5937" y="16192"/>
                      <a:pt x="5562" y="16031"/>
                    </a:cubicBezTo>
                    <a:cubicBezTo>
                      <a:pt x="5553" y="16027"/>
                      <a:pt x="5541" y="16024"/>
                      <a:pt x="5531" y="16020"/>
                    </a:cubicBezTo>
                    <a:cubicBezTo>
                      <a:pt x="5184" y="15870"/>
                      <a:pt x="4921" y="15701"/>
                      <a:pt x="4715" y="15523"/>
                    </a:cubicBezTo>
                    <a:cubicBezTo>
                      <a:pt x="4676" y="15487"/>
                      <a:pt x="4644" y="15452"/>
                      <a:pt x="4612" y="15416"/>
                    </a:cubicBezTo>
                    <a:cubicBezTo>
                      <a:pt x="4437" y="15236"/>
                      <a:pt x="4320" y="15047"/>
                      <a:pt x="4320" y="14850"/>
                    </a:cubicBezTo>
                    <a:cubicBezTo>
                      <a:pt x="4320" y="14650"/>
                      <a:pt x="4437" y="14462"/>
                      <a:pt x="4612" y="14281"/>
                    </a:cubicBezTo>
                    <a:cubicBezTo>
                      <a:pt x="4644" y="14246"/>
                      <a:pt x="4676" y="14210"/>
                      <a:pt x="4715" y="14176"/>
                    </a:cubicBezTo>
                    <a:cubicBezTo>
                      <a:pt x="4921" y="13998"/>
                      <a:pt x="5184" y="13829"/>
                      <a:pt x="5531" y="13677"/>
                    </a:cubicBezTo>
                    <a:cubicBezTo>
                      <a:pt x="5541" y="13674"/>
                      <a:pt x="5553" y="13671"/>
                      <a:pt x="5562" y="13667"/>
                    </a:cubicBezTo>
                    <a:cubicBezTo>
                      <a:pt x="5937" y="13507"/>
                      <a:pt x="6385" y="13364"/>
                      <a:pt x="6893" y="13244"/>
                    </a:cubicBezTo>
                    <a:cubicBezTo>
                      <a:pt x="6901" y="13242"/>
                      <a:pt x="6908" y="13240"/>
                      <a:pt x="6914" y="13238"/>
                    </a:cubicBezTo>
                    <a:cubicBezTo>
                      <a:pt x="7435" y="13117"/>
                      <a:pt x="8016" y="13018"/>
                      <a:pt x="8640" y="12948"/>
                    </a:cubicBezTo>
                    <a:cubicBezTo>
                      <a:pt x="9318" y="12873"/>
                      <a:pt x="10037" y="12825"/>
                      <a:pt x="10800" y="12825"/>
                    </a:cubicBezTo>
                    <a:cubicBezTo>
                      <a:pt x="11560" y="12825"/>
                      <a:pt x="12279" y="12873"/>
                      <a:pt x="12960" y="12948"/>
                    </a:cubicBezTo>
                    <a:cubicBezTo>
                      <a:pt x="13584" y="13018"/>
                      <a:pt x="14163" y="13117"/>
                      <a:pt x="14686" y="13238"/>
                    </a:cubicBezTo>
                    <a:cubicBezTo>
                      <a:pt x="14692" y="13240"/>
                      <a:pt x="14697" y="13242"/>
                      <a:pt x="14705" y="13244"/>
                    </a:cubicBezTo>
                    <a:cubicBezTo>
                      <a:pt x="15214" y="13364"/>
                      <a:pt x="15662" y="13507"/>
                      <a:pt x="16038" y="13667"/>
                    </a:cubicBezTo>
                    <a:cubicBezTo>
                      <a:pt x="16044" y="13671"/>
                      <a:pt x="16057" y="13674"/>
                      <a:pt x="16066" y="13677"/>
                    </a:cubicBezTo>
                    <a:cubicBezTo>
                      <a:pt x="16414" y="13829"/>
                      <a:pt x="16677" y="13998"/>
                      <a:pt x="16883" y="14176"/>
                    </a:cubicBezTo>
                    <a:cubicBezTo>
                      <a:pt x="16923" y="14210"/>
                      <a:pt x="16954" y="14246"/>
                      <a:pt x="16988" y="14281"/>
                    </a:cubicBezTo>
                    <a:cubicBezTo>
                      <a:pt x="17161" y="14462"/>
                      <a:pt x="17280" y="14650"/>
                      <a:pt x="17280" y="14850"/>
                    </a:cubicBezTo>
                    <a:cubicBezTo>
                      <a:pt x="17280" y="15047"/>
                      <a:pt x="17161" y="15236"/>
                      <a:pt x="16988" y="15416"/>
                    </a:cubicBezTo>
                    <a:moveTo>
                      <a:pt x="12960" y="19575"/>
                    </a:moveTo>
                    <a:cubicBezTo>
                      <a:pt x="12960" y="19948"/>
                      <a:pt x="11992" y="20249"/>
                      <a:pt x="10800" y="20249"/>
                    </a:cubicBezTo>
                    <a:cubicBezTo>
                      <a:pt x="9606" y="20249"/>
                      <a:pt x="8640" y="19948"/>
                      <a:pt x="8640" y="19575"/>
                    </a:cubicBezTo>
                    <a:lnTo>
                      <a:pt x="8640" y="18156"/>
                    </a:lnTo>
                    <a:cubicBezTo>
                      <a:pt x="9338" y="18201"/>
                      <a:pt x="10059" y="18225"/>
                      <a:pt x="10800" y="18225"/>
                    </a:cubicBezTo>
                    <a:cubicBezTo>
                      <a:pt x="11541" y="18225"/>
                      <a:pt x="12262" y="18201"/>
                      <a:pt x="12960" y="18156"/>
                    </a:cubicBezTo>
                    <a:cubicBezTo>
                      <a:pt x="12960" y="18156"/>
                      <a:pt x="12960" y="19575"/>
                      <a:pt x="12960" y="19575"/>
                    </a:cubicBezTo>
                    <a:close/>
                    <a:moveTo>
                      <a:pt x="8640" y="2025"/>
                    </a:moveTo>
                    <a:cubicBezTo>
                      <a:pt x="8640" y="1651"/>
                      <a:pt x="9606" y="1350"/>
                      <a:pt x="10800" y="1350"/>
                    </a:cubicBezTo>
                    <a:cubicBezTo>
                      <a:pt x="11992" y="1350"/>
                      <a:pt x="12960" y="1651"/>
                      <a:pt x="12960" y="2025"/>
                    </a:cubicBezTo>
                    <a:lnTo>
                      <a:pt x="12960" y="11542"/>
                    </a:lnTo>
                    <a:cubicBezTo>
                      <a:pt x="12262" y="11498"/>
                      <a:pt x="11541" y="11475"/>
                      <a:pt x="10800" y="11475"/>
                    </a:cubicBezTo>
                    <a:cubicBezTo>
                      <a:pt x="10059" y="11475"/>
                      <a:pt x="9338" y="11498"/>
                      <a:pt x="8640" y="11542"/>
                    </a:cubicBezTo>
                    <a:cubicBezTo>
                      <a:pt x="8640" y="11542"/>
                      <a:pt x="8640" y="2025"/>
                      <a:pt x="8640" y="2025"/>
                    </a:cubicBezTo>
                    <a:close/>
                    <a:moveTo>
                      <a:pt x="17280" y="12164"/>
                    </a:moveTo>
                    <a:lnTo>
                      <a:pt x="17280" y="2025"/>
                    </a:lnTo>
                    <a:cubicBezTo>
                      <a:pt x="17280" y="908"/>
                      <a:pt x="14373" y="0"/>
                      <a:pt x="10800" y="0"/>
                    </a:cubicBezTo>
                    <a:cubicBezTo>
                      <a:pt x="7225" y="0"/>
                      <a:pt x="4320" y="908"/>
                      <a:pt x="4320" y="2025"/>
                    </a:cubicBezTo>
                    <a:lnTo>
                      <a:pt x="4320" y="12164"/>
                    </a:lnTo>
                    <a:cubicBezTo>
                      <a:pt x="1710" y="12781"/>
                      <a:pt x="0" y="13749"/>
                      <a:pt x="0" y="14850"/>
                    </a:cubicBezTo>
                    <a:cubicBezTo>
                      <a:pt x="0" y="15950"/>
                      <a:pt x="1710" y="16918"/>
                      <a:pt x="4320" y="17534"/>
                    </a:cubicBezTo>
                    <a:lnTo>
                      <a:pt x="4320" y="19575"/>
                    </a:lnTo>
                    <a:cubicBezTo>
                      <a:pt x="4320" y="20691"/>
                      <a:pt x="7225" y="21599"/>
                      <a:pt x="10800" y="21599"/>
                    </a:cubicBezTo>
                    <a:cubicBezTo>
                      <a:pt x="14373" y="21599"/>
                      <a:pt x="17280" y="20691"/>
                      <a:pt x="17280" y="19575"/>
                    </a:cubicBezTo>
                    <a:lnTo>
                      <a:pt x="17280" y="17534"/>
                    </a:lnTo>
                    <a:cubicBezTo>
                      <a:pt x="19889" y="16918"/>
                      <a:pt x="21600" y="15950"/>
                      <a:pt x="21600" y="14850"/>
                    </a:cubicBezTo>
                    <a:cubicBezTo>
                      <a:pt x="21600" y="13749"/>
                      <a:pt x="19889" y="12781"/>
                      <a:pt x="17280" y="12164"/>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ea typeface="+mn-ea"/>
                  <a:cs typeface="+mn-cs"/>
                  <a:sym typeface="Gill Sans" charset="0"/>
                </a:endParaRPr>
              </a:p>
            </p:txBody>
          </p:sp>
        </p:grpSp>
      </p:grpSp>
      <p:grpSp>
        <p:nvGrpSpPr>
          <p:cNvPr id="116742" name="Group 31"/>
          <p:cNvGrpSpPr/>
          <p:nvPr/>
        </p:nvGrpSpPr>
        <p:grpSpPr>
          <a:xfrm>
            <a:off x="468313" y="1244600"/>
            <a:ext cx="538162" cy="539750"/>
            <a:chOff x="6528170" y="1885071"/>
            <a:chExt cx="914400" cy="914400"/>
          </a:xfrm>
        </p:grpSpPr>
        <p:sp>
          <p:nvSpPr>
            <p:cNvPr id="20" name="Rounded Rectangle 7"/>
            <p:cNvSpPr/>
            <p:nvPr/>
          </p:nvSpPr>
          <p:spPr>
            <a:xfrm>
              <a:off x="6528170" y="1885071"/>
              <a:ext cx="914400" cy="914400"/>
            </a:xfrm>
            <a:prstGeom prst="roundRect">
              <a:avLst/>
            </a:prstGeom>
            <a:solidFill>
              <a:srgbClr val="8064A2"/>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83"/>
            <p:cNvGrpSpPr/>
            <p:nvPr/>
          </p:nvGrpSpPr>
          <p:grpSpPr>
            <a:xfrm>
              <a:off x="6758963" y="2110099"/>
              <a:ext cx="465138" cy="464344"/>
              <a:chOff x="2581275" y="2582069"/>
              <a:chExt cx="465138" cy="464344"/>
            </a:xfrm>
            <a:solidFill>
              <a:srgbClr val="EEECE1"/>
            </a:solidFill>
          </p:grpSpPr>
          <p:sp>
            <p:nvSpPr>
              <p:cNvPr id="22" name="AutoShape 128"/>
              <p:cNvSpPr/>
              <p:nvPr/>
            </p:nvSpPr>
            <p:spPr bwMode="auto">
              <a:xfrm>
                <a:off x="2581275" y="2582069"/>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23" name="AutoShape 129"/>
              <p:cNvSpPr/>
              <p:nvPr/>
            </p:nvSpPr>
            <p:spPr bwMode="auto">
              <a:xfrm>
                <a:off x="2871788" y="2640013"/>
                <a:ext cx="115888" cy="115888"/>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ea typeface="+mn-ea"/>
                  <a:cs typeface="+mn-cs"/>
                  <a:sym typeface="Gill Sans" charset="0"/>
                </a:endParaRPr>
              </a:p>
            </p:txBody>
          </p:sp>
        </p:grpSp>
      </p:grpSp>
      <p:grpSp>
        <p:nvGrpSpPr>
          <p:cNvPr id="116743" name="Group 32"/>
          <p:cNvGrpSpPr/>
          <p:nvPr/>
        </p:nvGrpSpPr>
        <p:grpSpPr>
          <a:xfrm>
            <a:off x="468313" y="4605338"/>
            <a:ext cx="538162" cy="539750"/>
            <a:chOff x="6528170" y="3281715"/>
            <a:chExt cx="914400" cy="914400"/>
          </a:xfrm>
        </p:grpSpPr>
        <p:sp>
          <p:nvSpPr>
            <p:cNvPr id="25" name="Rounded Rectangle 8"/>
            <p:cNvSpPr/>
            <p:nvPr/>
          </p:nvSpPr>
          <p:spPr>
            <a:xfrm>
              <a:off x="6528170" y="3281715"/>
              <a:ext cx="914400" cy="914400"/>
            </a:xfrm>
            <a:prstGeom prst="roundRect">
              <a:avLst/>
            </a:prstGeom>
            <a:solidFill>
              <a:srgbClr val="4BACC6"/>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26" name="Group 69"/>
            <p:cNvGrpSpPr/>
            <p:nvPr/>
          </p:nvGrpSpPr>
          <p:grpSpPr>
            <a:xfrm>
              <a:off x="6759757" y="3506346"/>
              <a:ext cx="464344" cy="465138"/>
              <a:chOff x="7287419" y="3505994"/>
              <a:chExt cx="464344" cy="465138"/>
            </a:xfrm>
            <a:solidFill>
              <a:srgbClr val="EEECE1"/>
            </a:solidFill>
          </p:grpSpPr>
          <p:sp>
            <p:nvSpPr>
              <p:cNvPr id="27" name="AutoShape 37"/>
              <p:cNvSpPr/>
              <p:nvPr/>
            </p:nvSpPr>
            <p:spPr bwMode="auto">
              <a:xfrm>
                <a:off x="7287419" y="354965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28" name="AutoShape 38"/>
              <p:cNvSpPr/>
              <p:nvPr/>
            </p:nvSpPr>
            <p:spPr bwMode="auto">
              <a:xfrm>
                <a:off x="7490619" y="373856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29" name="AutoShape 39"/>
              <p:cNvSpPr/>
              <p:nvPr/>
            </p:nvSpPr>
            <p:spPr bwMode="auto">
              <a:xfrm>
                <a:off x="7679532" y="350599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30" name="AutoShape 40"/>
              <p:cNvSpPr/>
              <p:nvPr/>
            </p:nvSpPr>
            <p:spPr bwMode="auto">
              <a:xfrm>
                <a:off x="7403307" y="372427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31" name="AutoShape 41"/>
              <p:cNvSpPr/>
              <p:nvPr/>
            </p:nvSpPr>
            <p:spPr bwMode="auto">
              <a:xfrm>
                <a:off x="7461250" y="382587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sp>
            <p:nvSpPr>
              <p:cNvPr id="32" name="AutoShape 42"/>
              <p:cNvSpPr/>
              <p:nvPr/>
            </p:nvSpPr>
            <p:spPr bwMode="auto">
              <a:xfrm>
                <a:off x="7693819" y="360759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sym typeface="Gill Sans" charset="0"/>
                </a:endParaRPr>
              </a:p>
            </p:txBody>
          </p:sp>
        </p:grpSp>
      </p:grpSp>
      <p:grpSp>
        <p:nvGrpSpPr>
          <p:cNvPr id="116744" name="Group 31"/>
          <p:cNvGrpSpPr/>
          <p:nvPr/>
        </p:nvGrpSpPr>
        <p:grpSpPr>
          <a:xfrm>
            <a:off x="468313" y="3887788"/>
            <a:ext cx="538162" cy="539750"/>
            <a:chOff x="6528170" y="1885071"/>
            <a:chExt cx="914400" cy="914400"/>
          </a:xfrm>
        </p:grpSpPr>
        <p:sp>
          <p:nvSpPr>
            <p:cNvPr id="34" name="Rounded Rectangle 7"/>
            <p:cNvSpPr/>
            <p:nvPr/>
          </p:nvSpPr>
          <p:spPr>
            <a:xfrm>
              <a:off x="6528170" y="1885071"/>
              <a:ext cx="914400" cy="914400"/>
            </a:xfrm>
            <a:prstGeom prst="roundRect">
              <a:avLst/>
            </a:prstGeom>
            <a:solidFill>
              <a:srgbClr val="8064A2"/>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GB"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35" name="Group 83"/>
            <p:cNvGrpSpPr/>
            <p:nvPr/>
          </p:nvGrpSpPr>
          <p:grpSpPr>
            <a:xfrm>
              <a:off x="6758963" y="2110099"/>
              <a:ext cx="465138" cy="464344"/>
              <a:chOff x="2581275" y="2582069"/>
              <a:chExt cx="465138" cy="464344"/>
            </a:xfrm>
            <a:solidFill>
              <a:srgbClr val="EEECE1"/>
            </a:solidFill>
          </p:grpSpPr>
          <p:sp>
            <p:nvSpPr>
              <p:cNvPr id="36" name="AutoShape 128"/>
              <p:cNvSpPr/>
              <p:nvPr/>
            </p:nvSpPr>
            <p:spPr bwMode="auto">
              <a:xfrm>
                <a:off x="2581275" y="2582069"/>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ea typeface="+mn-ea"/>
                  <a:cs typeface="+mn-cs"/>
                  <a:sym typeface="Gill Sans" charset="0"/>
                </a:endParaRPr>
              </a:p>
            </p:txBody>
          </p:sp>
          <p:sp>
            <p:nvSpPr>
              <p:cNvPr id="37" name="AutoShape 129"/>
              <p:cNvSpPr/>
              <p:nvPr/>
            </p:nvSpPr>
            <p:spPr bwMode="auto">
              <a:xfrm>
                <a:off x="2871788" y="2640013"/>
                <a:ext cx="115888" cy="115888"/>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auto" latinLnBrk="0" hangingPunct="1">
                  <a:lnSpc>
                    <a:spcPct val="100000"/>
                  </a:lnSpc>
                  <a:spcBef>
                    <a:spcPts val="0"/>
                  </a:spcBef>
                  <a:spcAft>
                    <a:spcPts val="0"/>
                  </a:spcAft>
                  <a:buClrTx/>
                  <a:buSzTx/>
                  <a:buFontTx/>
                  <a:buNone/>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ea typeface="+mn-ea"/>
                  <a:cs typeface="+mn-cs"/>
                  <a:sym typeface="Gill Sans" charset="0"/>
                </a:endParaRPr>
              </a:p>
            </p:txBody>
          </p:sp>
        </p:grpSp>
      </p:grpSp>
      <p:cxnSp>
        <p:nvCxnSpPr>
          <p:cNvPr id="3" name="直接连接符 2"/>
          <p:cNvCxnSpPr/>
          <p:nvPr/>
        </p:nvCxnSpPr>
        <p:spPr bwMode="auto">
          <a:xfrm>
            <a:off x="1246188" y="1749425"/>
            <a:ext cx="7429500" cy="0"/>
          </a:xfrm>
          <a:prstGeom prst="line">
            <a:avLst/>
          </a:prstGeom>
          <a:solidFill>
            <a:schemeClr val="accent1"/>
          </a:solidFill>
          <a:ln w="9525" cap="flat" cmpd="sng" algn="ctr">
            <a:solidFill>
              <a:schemeClr val="bg2">
                <a:lumMod val="20000"/>
                <a:lumOff val="80000"/>
              </a:schemeClr>
            </a:solidFill>
            <a:prstDash val="solid"/>
            <a:round/>
            <a:headEnd type="none" w="med" len="med"/>
            <a:tailEnd type="none" w="med" len="med"/>
          </a:ln>
        </p:spPr>
      </p:cxnSp>
      <p:cxnSp>
        <p:nvCxnSpPr>
          <p:cNvPr id="41" name="直接连接符 40"/>
          <p:cNvCxnSpPr/>
          <p:nvPr/>
        </p:nvCxnSpPr>
        <p:spPr bwMode="auto">
          <a:xfrm>
            <a:off x="1246188" y="2778125"/>
            <a:ext cx="7429500" cy="0"/>
          </a:xfrm>
          <a:prstGeom prst="line">
            <a:avLst/>
          </a:prstGeom>
          <a:solidFill>
            <a:schemeClr val="accent1"/>
          </a:solidFill>
          <a:ln w="9525" cap="flat" cmpd="sng" algn="ctr">
            <a:solidFill>
              <a:schemeClr val="bg2">
                <a:lumMod val="20000"/>
                <a:lumOff val="80000"/>
              </a:schemeClr>
            </a:solidFill>
            <a:prstDash val="solid"/>
            <a:round/>
            <a:headEnd type="none" w="med" len="med"/>
            <a:tailEnd type="none" w="med" len="med"/>
          </a:ln>
        </p:spPr>
      </p:cxnSp>
      <p:cxnSp>
        <p:nvCxnSpPr>
          <p:cNvPr id="42" name="直接连接符 41"/>
          <p:cNvCxnSpPr/>
          <p:nvPr/>
        </p:nvCxnSpPr>
        <p:spPr bwMode="auto">
          <a:xfrm>
            <a:off x="1246188" y="3811588"/>
            <a:ext cx="7429500" cy="0"/>
          </a:xfrm>
          <a:prstGeom prst="line">
            <a:avLst/>
          </a:prstGeom>
          <a:solidFill>
            <a:schemeClr val="accent1"/>
          </a:solidFill>
          <a:ln w="9525" cap="flat" cmpd="sng" algn="ctr">
            <a:solidFill>
              <a:schemeClr val="bg2">
                <a:lumMod val="20000"/>
                <a:lumOff val="80000"/>
              </a:schemeClr>
            </a:solidFill>
            <a:prstDash val="solid"/>
            <a:round/>
            <a:headEnd type="none" w="med" len="med"/>
            <a:tailEnd type="none" w="med" len="med"/>
          </a:ln>
        </p:spPr>
      </p:cxnSp>
      <p:cxnSp>
        <p:nvCxnSpPr>
          <p:cNvPr id="43" name="直接连接符 42"/>
          <p:cNvCxnSpPr/>
          <p:nvPr/>
        </p:nvCxnSpPr>
        <p:spPr bwMode="auto">
          <a:xfrm>
            <a:off x="1246188" y="4416425"/>
            <a:ext cx="7429500" cy="0"/>
          </a:xfrm>
          <a:prstGeom prst="line">
            <a:avLst/>
          </a:prstGeom>
          <a:solidFill>
            <a:schemeClr val="accent1"/>
          </a:solidFill>
          <a:ln w="9525" cap="flat" cmpd="sng" algn="ctr">
            <a:solidFill>
              <a:schemeClr val="bg2">
                <a:lumMod val="20000"/>
                <a:lumOff val="80000"/>
              </a:schemeClr>
            </a:solidFill>
            <a:prstDash val="solid"/>
            <a:round/>
            <a:headEnd type="none" w="med" len="med"/>
            <a:tailEnd type="none" w="med" len="med"/>
          </a:ln>
        </p:spPr>
      </p:cxnSp>
      <p:cxnSp>
        <p:nvCxnSpPr>
          <p:cNvPr id="44" name="直接连接符 43"/>
          <p:cNvCxnSpPr/>
          <p:nvPr/>
        </p:nvCxnSpPr>
        <p:spPr bwMode="auto">
          <a:xfrm>
            <a:off x="1258888" y="5926138"/>
            <a:ext cx="7431088" cy="0"/>
          </a:xfrm>
          <a:prstGeom prst="line">
            <a:avLst/>
          </a:prstGeom>
          <a:solidFill>
            <a:schemeClr val="accent1"/>
          </a:solidFill>
          <a:ln w="9525" cap="flat" cmpd="sng" algn="ctr">
            <a:solidFill>
              <a:schemeClr val="bg2">
                <a:lumMod val="20000"/>
                <a:lumOff val="80000"/>
              </a:schemeClr>
            </a:solidFill>
            <a:prstDash val="solid"/>
            <a:round/>
            <a:headEnd type="none" w="med" len="med"/>
            <a:tailEnd type="none" w="med" len="med"/>
          </a:ln>
        </p:spPr>
      </p:cxn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116742"/>
                                        </p:tgtEl>
                                        <p:attrNameLst>
                                          <p:attrName>style.visibility</p:attrName>
                                        </p:attrNameLst>
                                      </p:cBhvr>
                                      <p:to>
                                        <p:strVal val="visible"/>
                                      </p:to>
                                    </p:set>
                                    <p:animEffect transition="in" filter="box(in)">
                                      <p:cBhvr>
                                        <p:cTn id="7" dur="500"/>
                                        <p:tgtEl>
                                          <p:spTgt spid="116742"/>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865285">
                                            <p:txEl>
                                              <p:pRg st="0" end="0"/>
                                            </p:txEl>
                                          </p:spTgt>
                                        </p:tgtEl>
                                        <p:attrNameLst>
                                          <p:attrName>style.visibility</p:attrName>
                                        </p:attrNameLst>
                                      </p:cBhvr>
                                      <p:to>
                                        <p:strVal val="visible"/>
                                      </p:to>
                                    </p:set>
                                    <p:animEffect transition="in" filter="box(in)">
                                      <p:cBhvr>
                                        <p:cTn id="12" dur="500"/>
                                        <p:tgtEl>
                                          <p:spTgt spid="86528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4" presetClass="entr" presetSubtype="16"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box(in)">
                                      <p:cBhvr>
                                        <p:cTn id="17" dur="500"/>
                                        <p:tgtEl>
                                          <p:spTgt spid="3"/>
                                        </p:tgtEl>
                                      </p:cBhvr>
                                    </p:animEffect>
                                  </p:childTnLst>
                                </p:cTn>
                              </p:par>
                            </p:childTnLst>
                          </p:cTn>
                        </p:par>
                      </p:childTnLst>
                    </p:cTn>
                  </p:par>
                  <p:par>
                    <p:cTn id="18" fill="hold">
                      <p:stCondLst>
                        <p:cond delay="indefinite"/>
                      </p:stCondLst>
                      <p:childTnLst>
                        <p:par>
                          <p:cTn id="19" fill="hold">
                            <p:stCondLst>
                              <p:cond delay="0"/>
                            </p:stCondLst>
                            <p:childTnLst>
                              <p:par>
                                <p:cTn id="20" presetID="4" presetClass="entr" presetSubtype="16" fill="hold" nodeType="clickEffect">
                                  <p:stCondLst>
                                    <p:cond delay="0"/>
                                  </p:stCondLst>
                                  <p:childTnLst>
                                    <p:set>
                                      <p:cBhvr>
                                        <p:cTn id="21" dur="1" fill="hold">
                                          <p:stCondLst>
                                            <p:cond delay="0"/>
                                          </p:stCondLst>
                                        </p:cTn>
                                        <p:tgtEl>
                                          <p:spTgt spid="116740"/>
                                        </p:tgtEl>
                                        <p:attrNameLst>
                                          <p:attrName>style.visibility</p:attrName>
                                        </p:attrNameLst>
                                      </p:cBhvr>
                                      <p:to>
                                        <p:strVal val="visible"/>
                                      </p:to>
                                    </p:set>
                                    <p:animEffect transition="in" filter="box(in)">
                                      <p:cBhvr>
                                        <p:cTn id="22" dur="500"/>
                                        <p:tgtEl>
                                          <p:spTgt spid="116740"/>
                                        </p:tgtEl>
                                      </p:cBhvr>
                                    </p:animEffect>
                                  </p:childTnLst>
                                </p:cTn>
                              </p:par>
                            </p:childTnLst>
                          </p:cTn>
                        </p:par>
                      </p:childTnLst>
                    </p:cTn>
                  </p:par>
                  <p:par>
                    <p:cTn id="23" fill="hold">
                      <p:stCondLst>
                        <p:cond delay="indefinite"/>
                      </p:stCondLst>
                      <p:childTnLst>
                        <p:par>
                          <p:cTn id="24" fill="hold">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865285">
                                            <p:txEl>
                                              <p:pRg st="1" end="1"/>
                                            </p:txEl>
                                          </p:spTgt>
                                        </p:tgtEl>
                                        <p:attrNameLst>
                                          <p:attrName>style.visibility</p:attrName>
                                        </p:attrNameLst>
                                      </p:cBhvr>
                                      <p:to>
                                        <p:strVal val="visible"/>
                                      </p:to>
                                    </p:set>
                                    <p:animEffect transition="in" filter="box(in)">
                                      <p:cBhvr>
                                        <p:cTn id="27" dur="500"/>
                                        <p:tgtEl>
                                          <p:spTgt spid="865285">
                                            <p:txEl>
                                              <p:pRg st="1" end="1"/>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4" presetClass="entr" presetSubtype="16" fill="hold" nodeType="clickEffect">
                                  <p:stCondLst>
                                    <p:cond delay="0"/>
                                  </p:stCondLst>
                                  <p:childTnLst>
                                    <p:set>
                                      <p:cBhvr>
                                        <p:cTn id="31" dur="1" fill="hold">
                                          <p:stCondLst>
                                            <p:cond delay="0"/>
                                          </p:stCondLst>
                                        </p:cTn>
                                        <p:tgtEl>
                                          <p:spTgt spid="41"/>
                                        </p:tgtEl>
                                        <p:attrNameLst>
                                          <p:attrName>style.visibility</p:attrName>
                                        </p:attrNameLst>
                                      </p:cBhvr>
                                      <p:to>
                                        <p:strVal val="visible"/>
                                      </p:to>
                                    </p:set>
                                    <p:animEffect transition="in" filter="box(in)">
                                      <p:cBhvr>
                                        <p:cTn id="32" dur="500"/>
                                        <p:tgtEl>
                                          <p:spTgt spid="41"/>
                                        </p:tgtEl>
                                      </p:cBhvr>
                                    </p:animEffect>
                                  </p:childTnLst>
                                </p:cTn>
                              </p:par>
                            </p:childTnLst>
                          </p:cTn>
                        </p:par>
                      </p:childTnLst>
                    </p:cTn>
                  </p:par>
                  <p:par>
                    <p:cTn id="33" fill="hold">
                      <p:stCondLst>
                        <p:cond delay="indefinite"/>
                      </p:stCondLst>
                      <p:childTnLst>
                        <p:par>
                          <p:cTn id="34" fill="hold">
                            <p:stCondLst>
                              <p:cond delay="0"/>
                            </p:stCondLst>
                            <p:childTnLst>
                              <p:par>
                                <p:cTn id="35" presetID="4" presetClass="entr" presetSubtype="16" fill="hold" nodeType="clickEffect">
                                  <p:stCondLst>
                                    <p:cond delay="0"/>
                                  </p:stCondLst>
                                  <p:childTnLst>
                                    <p:set>
                                      <p:cBhvr>
                                        <p:cTn id="36" dur="1" fill="hold">
                                          <p:stCondLst>
                                            <p:cond delay="0"/>
                                          </p:stCondLst>
                                        </p:cTn>
                                        <p:tgtEl>
                                          <p:spTgt spid="116741"/>
                                        </p:tgtEl>
                                        <p:attrNameLst>
                                          <p:attrName>style.visibility</p:attrName>
                                        </p:attrNameLst>
                                      </p:cBhvr>
                                      <p:to>
                                        <p:strVal val="visible"/>
                                      </p:to>
                                    </p:set>
                                    <p:animEffect transition="in" filter="box(in)">
                                      <p:cBhvr>
                                        <p:cTn id="37" dur="500"/>
                                        <p:tgtEl>
                                          <p:spTgt spid="116741"/>
                                        </p:tgtEl>
                                      </p:cBhvr>
                                    </p:animEffect>
                                  </p:childTnLst>
                                </p:cTn>
                              </p:par>
                            </p:childTnLst>
                          </p:cTn>
                        </p:par>
                      </p:childTnLst>
                    </p:cTn>
                  </p:par>
                  <p:par>
                    <p:cTn id="38" fill="hold">
                      <p:stCondLst>
                        <p:cond delay="indefinite"/>
                      </p:stCondLst>
                      <p:childTnLst>
                        <p:par>
                          <p:cTn id="39" fill="hold">
                            <p:stCondLst>
                              <p:cond delay="0"/>
                            </p:stCondLst>
                            <p:childTnLst>
                              <p:par>
                                <p:cTn id="40" presetID="4" presetClass="entr" presetSubtype="16" fill="hold" grpId="0" nodeType="clickEffect">
                                  <p:stCondLst>
                                    <p:cond delay="0"/>
                                  </p:stCondLst>
                                  <p:childTnLst>
                                    <p:set>
                                      <p:cBhvr>
                                        <p:cTn id="41" dur="1" fill="hold">
                                          <p:stCondLst>
                                            <p:cond delay="0"/>
                                          </p:stCondLst>
                                        </p:cTn>
                                        <p:tgtEl>
                                          <p:spTgt spid="865285">
                                            <p:txEl>
                                              <p:pRg st="2" end="2"/>
                                            </p:txEl>
                                          </p:spTgt>
                                        </p:tgtEl>
                                        <p:attrNameLst>
                                          <p:attrName>style.visibility</p:attrName>
                                        </p:attrNameLst>
                                      </p:cBhvr>
                                      <p:to>
                                        <p:strVal val="visible"/>
                                      </p:to>
                                    </p:set>
                                    <p:animEffect transition="in" filter="box(in)">
                                      <p:cBhvr>
                                        <p:cTn id="42" dur="500"/>
                                        <p:tgtEl>
                                          <p:spTgt spid="865285">
                                            <p:txEl>
                                              <p:pRg st="2" end="2"/>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4" presetClass="entr" presetSubtype="16" fill="hold" nodeType="clickEffect">
                                  <p:stCondLst>
                                    <p:cond delay="0"/>
                                  </p:stCondLst>
                                  <p:childTnLst>
                                    <p:set>
                                      <p:cBhvr>
                                        <p:cTn id="46" dur="1" fill="hold">
                                          <p:stCondLst>
                                            <p:cond delay="0"/>
                                          </p:stCondLst>
                                        </p:cTn>
                                        <p:tgtEl>
                                          <p:spTgt spid="42"/>
                                        </p:tgtEl>
                                        <p:attrNameLst>
                                          <p:attrName>style.visibility</p:attrName>
                                        </p:attrNameLst>
                                      </p:cBhvr>
                                      <p:to>
                                        <p:strVal val="visible"/>
                                      </p:to>
                                    </p:set>
                                    <p:animEffect transition="in" filter="box(in)">
                                      <p:cBhvr>
                                        <p:cTn id="47" dur="500"/>
                                        <p:tgtEl>
                                          <p:spTgt spid="42"/>
                                        </p:tgtEl>
                                      </p:cBhvr>
                                    </p:animEffect>
                                  </p:childTnLst>
                                </p:cTn>
                              </p:par>
                            </p:childTnLst>
                          </p:cTn>
                        </p:par>
                      </p:childTnLst>
                    </p:cTn>
                  </p:par>
                  <p:par>
                    <p:cTn id="48" fill="hold">
                      <p:stCondLst>
                        <p:cond delay="indefinite"/>
                      </p:stCondLst>
                      <p:childTnLst>
                        <p:par>
                          <p:cTn id="49" fill="hold">
                            <p:stCondLst>
                              <p:cond delay="0"/>
                            </p:stCondLst>
                            <p:childTnLst>
                              <p:par>
                                <p:cTn id="50" presetID="4" presetClass="entr" presetSubtype="16" fill="hold" nodeType="clickEffect">
                                  <p:stCondLst>
                                    <p:cond delay="0"/>
                                  </p:stCondLst>
                                  <p:childTnLst>
                                    <p:set>
                                      <p:cBhvr>
                                        <p:cTn id="51" dur="1" fill="hold">
                                          <p:stCondLst>
                                            <p:cond delay="0"/>
                                          </p:stCondLst>
                                        </p:cTn>
                                        <p:tgtEl>
                                          <p:spTgt spid="116744"/>
                                        </p:tgtEl>
                                        <p:attrNameLst>
                                          <p:attrName>style.visibility</p:attrName>
                                        </p:attrNameLst>
                                      </p:cBhvr>
                                      <p:to>
                                        <p:strVal val="visible"/>
                                      </p:to>
                                    </p:set>
                                    <p:animEffect transition="in" filter="box(in)">
                                      <p:cBhvr>
                                        <p:cTn id="52" dur="500"/>
                                        <p:tgtEl>
                                          <p:spTgt spid="116744"/>
                                        </p:tgtEl>
                                      </p:cBhvr>
                                    </p:animEffect>
                                  </p:childTnLst>
                                </p:cTn>
                              </p:par>
                            </p:childTnLst>
                          </p:cTn>
                        </p:par>
                      </p:childTnLst>
                    </p:cTn>
                  </p:par>
                  <p:par>
                    <p:cTn id="53" fill="hold">
                      <p:stCondLst>
                        <p:cond delay="indefinite"/>
                      </p:stCondLst>
                      <p:childTnLst>
                        <p:par>
                          <p:cTn id="54" fill="hold">
                            <p:stCondLst>
                              <p:cond delay="0"/>
                            </p:stCondLst>
                            <p:childTnLst>
                              <p:par>
                                <p:cTn id="55" presetID="4" presetClass="entr" presetSubtype="16" fill="hold" grpId="0" nodeType="clickEffect">
                                  <p:stCondLst>
                                    <p:cond delay="0"/>
                                  </p:stCondLst>
                                  <p:childTnLst>
                                    <p:set>
                                      <p:cBhvr>
                                        <p:cTn id="56" dur="1" fill="hold">
                                          <p:stCondLst>
                                            <p:cond delay="0"/>
                                          </p:stCondLst>
                                        </p:cTn>
                                        <p:tgtEl>
                                          <p:spTgt spid="865285">
                                            <p:txEl>
                                              <p:pRg st="3" end="3"/>
                                            </p:txEl>
                                          </p:spTgt>
                                        </p:tgtEl>
                                        <p:attrNameLst>
                                          <p:attrName>style.visibility</p:attrName>
                                        </p:attrNameLst>
                                      </p:cBhvr>
                                      <p:to>
                                        <p:strVal val="visible"/>
                                      </p:to>
                                    </p:set>
                                    <p:animEffect transition="in" filter="box(in)">
                                      <p:cBhvr>
                                        <p:cTn id="57" dur="500"/>
                                        <p:tgtEl>
                                          <p:spTgt spid="865285">
                                            <p:txEl>
                                              <p:pRg st="3" end="3"/>
                                            </p:txEl>
                                          </p:spTgt>
                                        </p:tgtEl>
                                      </p:cBhvr>
                                    </p:animEffect>
                                  </p:childTnLst>
                                </p:cTn>
                              </p:par>
                            </p:childTnLst>
                          </p:cTn>
                        </p:par>
                      </p:childTnLst>
                    </p:cTn>
                  </p:par>
                  <p:par>
                    <p:cTn id="58" fill="hold">
                      <p:stCondLst>
                        <p:cond delay="indefinite"/>
                      </p:stCondLst>
                      <p:childTnLst>
                        <p:par>
                          <p:cTn id="59" fill="hold">
                            <p:stCondLst>
                              <p:cond delay="0"/>
                            </p:stCondLst>
                            <p:childTnLst>
                              <p:par>
                                <p:cTn id="60" presetID="4" presetClass="entr" presetSubtype="16" fill="hold" nodeType="clickEffect">
                                  <p:stCondLst>
                                    <p:cond delay="0"/>
                                  </p:stCondLst>
                                  <p:childTnLst>
                                    <p:set>
                                      <p:cBhvr>
                                        <p:cTn id="61" dur="1" fill="hold">
                                          <p:stCondLst>
                                            <p:cond delay="0"/>
                                          </p:stCondLst>
                                        </p:cTn>
                                        <p:tgtEl>
                                          <p:spTgt spid="43"/>
                                        </p:tgtEl>
                                        <p:attrNameLst>
                                          <p:attrName>style.visibility</p:attrName>
                                        </p:attrNameLst>
                                      </p:cBhvr>
                                      <p:to>
                                        <p:strVal val="visible"/>
                                      </p:to>
                                    </p:set>
                                    <p:animEffect transition="in" filter="box(in)">
                                      <p:cBhvr>
                                        <p:cTn id="62" dur="500"/>
                                        <p:tgtEl>
                                          <p:spTgt spid="43"/>
                                        </p:tgtEl>
                                      </p:cBhvr>
                                    </p:animEffect>
                                  </p:childTnLst>
                                </p:cTn>
                              </p:par>
                            </p:childTnLst>
                          </p:cTn>
                        </p:par>
                      </p:childTnLst>
                    </p:cTn>
                  </p:par>
                  <p:par>
                    <p:cTn id="63" fill="hold">
                      <p:stCondLst>
                        <p:cond delay="indefinite"/>
                      </p:stCondLst>
                      <p:childTnLst>
                        <p:par>
                          <p:cTn id="64" fill="hold">
                            <p:stCondLst>
                              <p:cond delay="0"/>
                            </p:stCondLst>
                            <p:childTnLst>
                              <p:par>
                                <p:cTn id="65" presetID="4" presetClass="entr" presetSubtype="16" fill="hold" nodeType="clickEffect">
                                  <p:stCondLst>
                                    <p:cond delay="0"/>
                                  </p:stCondLst>
                                  <p:childTnLst>
                                    <p:set>
                                      <p:cBhvr>
                                        <p:cTn id="66" dur="1" fill="hold">
                                          <p:stCondLst>
                                            <p:cond delay="0"/>
                                          </p:stCondLst>
                                        </p:cTn>
                                        <p:tgtEl>
                                          <p:spTgt spid="116743"/>
                                        </p:tgtEl>
                                        <p:attrNameLst>
                                          <p:attrName>style.visibility</p:attrName>
                                        </p:attrNameLst>
                                      </p:cBhvr>
                                      <p:to>
                                        <p:strVal val="visible"/>
                                      </p:to>
                                    </p:set>
                                    <p:animEffect transition="in" filter="box(in)">
                                      <p:cBhvr>
                                        <p:cTn id="67" dur="500"/>
                                        <p:tgtEl>
                                          <p:spTgt spid="116743"/>
                                        </p:tgtEl>
                                      </p:cBhvr>
                                    </p:animEffect>
                                  </p:childTnLst>
                                </p:cTn>
                              </p:par>
                            </p:childTnLst>
                          </p:cTn>
                        </p:par>
                      </p:childTnLst>
                    </p:cTn>
                  </p:par>
                  <p:par>
                    <p:cTn id="68" fill="hold">
                      <p:stCondLst>
                        <p:cond delay="indefinite"/>
                      </p:stCondLst>
                      <p:childTnLst>
                        <p:par>
                          <p:cTn id="69" fill="hold">
                            <p:stCondLst>
                              <p:cond delay="0"/>
                            </p:stCondLst>
                            <p:childTnLst>
                              <p:par>
                                <p:cTn id="70" presetID="4" presetClass="entr" presetSubtype="16" fill="hold" grpId="0" nodeType="clickEffect">
                                  <p:stCondLst>
                                    <p:cond delay="0"/>
                                  </p:stCondLst>
                                  <p:childTnLst>
                                    <p:set>
                                      <p:cBhvr>
                                        <p:cTn id="71" dur="1" fill="hold">
                                          <p:stCondLst>
                                            <p:cond delay="0"/>
                                          </p:stCondLst>
                                        </p:cTn>
                                        <p:tgtEl>
                                          <p:spTgt spid="865285">
                                            <p:txEl>
                                              <p:pRg st="4" end="4"/>
                                            </p:txEl>
                                          </p:spTgt>
                                        </p:tgtEl>
                                        <p:attrNameLst>
                                          <p:attrName>style.visibility</p:attrName>
                                        </p:attrNameLst>
                                      </p:cBhvr>
                                      <p:to>
                                        <p:strVal val="visible"/>
                                      </p:to>
                                    </p:set>
                                    <p:animEffect transition="in" filter="box(in)">
                                      <p:cBhvr>
                                        <p:cTn id="72" dur="500"/>
                                        <p:tgtEl>
                                          <p:spTgt spid="865285">
                                            <p:txEl>
                                              <p:pRg st="4" end="4"/>
                                            </p:txEl>
                                          </p:spTgt>
                                        </p:tgtEl>
                                      </p:cBhvr>
                                    </p:animEffect>
                                  </p:childTnLst>
                                </p:cTn>
                              </p:par>
                            </p:childTnLst>
                          </p:cTn>
                        </p:par>
                      </p:childTnLst>
                    </p:cTn>
                  </p:par>
                  <p:par>
                    <p:cTn id="73" fill="hold">
                      <p:stCondLst>
                        <p:cond delay="indefinite"/>
                      </p:stCondLst>
                      <p:childTnLst>
                        <p:par>
                          <p:cTn id="74" fill="hold">
                            <p:stCondLst>
                              <p:cond delay="0"/>
                            </p:stCondLst>
                            <p:childTnLst>
                              <p:par>
                                <p:cTn id="75" presetID="4" presetClass="entr" presetSubtype="16" fill="hold" nodeType="clickEffect">
                                  <p:stCondLst>
                                    <p:cond delay="0"/>
                                  </p:stCondLst>
                                  <p:childTnLst>
                                    <p:set>
                                      <p:cBhvr>
                                        <p:cTn id="76" dur="1" fill="hold">
                                          <p:stCondLst>
                                            <p:cond delay="0"/>
                                          </p:stCondLst>
                                        </p:cTn>
                                        <p:tgtEl>
                                          <p:spTgt spid="44"/>
                                        </p:tgtEl>
                                        <p:attrNameLst>
                                          <p:attrName>style.visibility</p:attrName>
                                        </p:attrNameLst>
                                      </p:cBhvr>
                                      <p:to>
                                        <p:strVal val="visible"/>
                                      </p:to>
                                    </p:set>
                                    <p:animEffect transition="in" filter="box(in)">
                                      <p:cBhvr>
                                        <p:cTn id="77"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5285" grpId="0" build="p"/>
    </p:bldLst>
  </p:timing>
</p:sld>
</file>

<file path=ppt/slides/slide18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6499" name="Rectangle 6"/>
          <p:cNvSpPr>
            <a:spLocks noChangeArrowheads="1"/>
          </p:cNvSpPr>
          <p:nvPr/>
        </p:nvSpPr>
        <p:spPr bwMode="auto">
          <a:xfrm>
            <a:off x="827088" y="207963"/>
            <a:ext cx="6481216"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rgbClr val="FEFFFF"/>
                </a:solidFill>
                <a:effectLst/>
                <a:uLnTx/>
                <a:uFillTx/>
                <a:latin typeface="Times New Roman" panose="02020603050405020304"/>
                <a:ea typeface="微软雅黑" panose="020B0503020204020204" pitchFamily="34" charset="-122"/>
                <a:cs typeface="+mn-cs"/>
                <a:sym typeface="+mn-lt"/>
              </a:rPr>
              <a:t>哈夫曼树的前沿知识应用</a:t>
            </a:r>
            <a:r>
              <a:rPr kumimoji="0" lang="en-US" altLang="zh-CN" sz="2800" b="0" i="0" u="none" strike="noStrike" kern="1200" cap="none" spc="0" normalizeH="0" baseline="0" noProof="0" dirty="0">
                <a:ln>
                  <a:noFill/>
                </a:ln>
                <a:solidFill>
                  <a:srgbClr val="FEFFFF"/>
                </a:solidFill>
                <a:effectLst/>
                <a:uLnTx/>
                <a:uFillTx/>
                <a:latin typeface="Times New Roman" panose="02020603050405020304"/>
                <a:ea typeface="微软雅黑" panose="020B0503020204020204" pitchFamily="34" charset="-122"/>
                <a:cs typeface="+mn-cs"/>
                <a:sym typeface="+mn-lt"/>
              </a:rPr>
              <a:t>—Word2Vec</a:t>
            </a:r>
            <a:endParaRPr kumimoji="0" lang="zh-CN" altLang="en-US" sz="2800" b="0" i="0" u="none" strike="noStrike" kern="1200" cap="none" spc="0" normalizeH="0" baseline="0" noProof="0" dirty="0">
              <a:ln>
                <a:noFill/>
              </a:ln>
              <a:solidFill>
                <a:srgbClr val="FEFFFF"/>
              </a:solidFill>
              <a:effectLst/>
              <a:uLnTx/>
              <a:uFillTx/>
              <a:latin typeface="Times New Roman" panose="02020603050405020304"/>
              <a:ea typeface="微软雅黑" panose="020B0503020204020204" pitchFamily="34" charset="-122"/>
              <a:cs typeface="+mn-cs"/>
              <a:sym typeface="+mn-lt"/>
            </a:endParaRPr>
          </a:p>
        </p:txBody>
      </p:sp>
      <p:sp>
        <p:nvSpPr>
          <p:cNvPr id="116737" name="矩形 2"/>
          <p:cNvSpPr/>
          <p:nvPr/>
        </p:nvSpPr>
        <p:spPr>
          <a:xfrm>
            <a:off x="86896" y="980728"/>
            <a:ext cx="9144000" cy="2513328"/>
          </a:xfrm>
          <a:prstGeom prst="rect">
            <a:avLst/>
          </a:prstGeom>
          <a:solidFill>
            <a:srgbClr val="EBEBEB"/>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buFont typeface="Wingdings" panose="05000000000000000000" pitchFamily="2" charset="2"/>
              <a:buChar char="u"/>
            </a:pPr>
            <a:r>
              <a:rPr lang="zh-CN" altLang="en-US" sz="2000" dirty="0">
                <a:latin typeface="+mn-ea"/>
                <a:ea typeface="+mn-ea"/>
              </a:rPr>
              <a:t>隐藏层到输出层的映射就是通过哈夫曼树的向下搜索逐步完成的</a:t>
            </a:r>
            <a:endParaRPr lang="en-US" altLang="zh-CN" sz="2000" dirty="0">
              <a:latin typeface="+mn-ea"/>
              <a:ea typeface="+mn-ea"/>
            </a:endParaRPr>
          </a:p>
          <a:p>
            <a:pPr marL="342900" lvl="0" indent="-342900">
              <a:lnSpc>
                <a:spcPct val="100000"/>
              </a:lnSpc>
              <a:spcBef>
                <a:spcPct val="20000"/>
              </a:spcBef>
              <a:buFont typeface="Wingdings" panose="05000000000000000000" pitchFamily="2" charset="2"/>
              <a:buChar char="u"/>
            </a:pPr>
            <a:r>
              <a:rPr lang="zh-CN" altLang="en-US" sz="2000" dirty="0">
                <a:latin typeface="+mn-ea"/>
                <a:ea typeface="+mn-ea"/>
              </a:rPr>
              <a:t>哈夫曼树的所有内部结点类似神经网络隐藏层的神经元</a:t>
            </a:r>
            <a:endParaRPr lang="en-US" altLang="zh-CN" sz="2000" dirty="0">
              <a:latin typeface="+mn-ea"/>
              <a:ea typeface="+mn-ea"/>
            </a:endParaRPr>
          </a:p>
          <a:p>
            <a:pPr marL="342900" indent="-342900">
              <a:lnSpc>
                <a:spcPct val="100000"/>
              </a:lnSpc>
              <a:spcBef>
                <a:spcPct val="20000"/>
              </a:spcBef>
              <a:buFont typeface="Wingdings" panose="05000000000000000000" pitchFamily="2" charset="2"/>
              <a:buChar char="u"/>
            </a:pPr>
            <a:r>
              <a:rPr lang="zh-CN" altLang="en-US" sz="2000" dirty="0">
                <a:solidFill>
                  <a:srgbClr val="FF0000"/>
                </a:solidFill>
                <a:latin typeface="+mn-ea"/>
                <a:ea typeface="+mn-ea"/>
              </a:rPr>
              <a:t>词典确定情况下，通过词频构建哈夫曼树，并获得每个词的哈夫曼编码。</a:t>
            </a:r>
            <a:endParaRPr lang="en-US" altLang="zh-CN" sz="2000" dirty="0">
              <a:solidFill>
                <a:srgbClr val="FF0000"/>
              </a:solidFill>
              <a:latin typeface="+mn-ea"/>
              <a:ea typeface="+mn-ea"/>
            </a:endParaRPr>
          </a:p>
          <a:p>
            <a:pPr marL="342900" indent="-342900">
              <a:lnSpc>
                <a:spcPct val="100000"/>
              </a:lnSpc>
              <a:spcBef>
                <a:spcPct val="20000"/>
              </a:spcBef>
              <a:buFont typeface="Wingdings" panose="05000000000000000000" pitchFamily="2" charset="2"/>
              <a:buChar char="u"/>
            </a:pPr>
            <a:r>
              <a:rPr lang="zh-CN" altLang="en-US" sz="2000" kern="0" dirty="0">
                <a:latin typeface="+mn-ea"/>
                <a:ea typeface="+mn-ea"/>
                <a:cs typeface="+mj-cs"/>
              </a:rPr>
              <a:t>叶节点的每个词对应一个唯一编码，左子树为</a:t>
            </a:r>
            <a:r>
              <a:rPr lang="en-US" altLang="zh-CN" sz="2000" kern="0" dirty="0">
                <a:latin typeface="+mn-ea"/>
                <a:ea typeface="+mn-ea"/>
                <a:cs typeface="+mj-cs"/>
              </a:rPr>
              <a:t>1</a:t>
            </a:r>
            <a:r>
              <a:rPr lang="zh-CN" altLang="en-US" sz="2000" kern="0" dirty="0">
                <a:latin typeface="+mn-ea"/>
                <a:ea typeface="+mn-ea"/>
                <a:cs typeface="+mj-cs"/>
              </a:rPr>
              <a:t>，右子树为</a:t>
            </a:r>
            <a:r>
              <a:rPr lang="en-US" altLang="zh-CN" sz="2000" kern="0" dirty="0">
                <a:latin typeface="+mn-ea"/>
                <a:ea typeface="+mn-ea"/>
                <a:cs typeface="+mj-cs"/>
              </a:rPr>
              <a:t>0</a:t>
            </a:r>
            <a:r>
              <a:rPr lang="zh-CN" altLang="en-US" sz="2000" kern="0" dirty="0">
                <a:latin typeface="+mn-ea"/>
                <a:ea typeface="+mn-ea"/>
                <a:cs typeface="+mj-cs"/>
              </a:rPr>
              <a:t>。</a:t>
            </a:r>
          </a:p>
          <a:p>
            <a:pPr marL="342900" indent="-342900">
              <a:lnSpc>
                <a:spcPct val="100000"/>
              </a:lnSpc>
              <a:spcBef>
                <a:spcPct val="20000"/>
              </a:spcBef>
              <a:buFont typeface="Wingdings" panose="05000000000000000000" pitchFamily="2" charset="2"/>
              <a:buChar char="u"/>
            </a:pPr>
            <a:r>
              <a:rPr lang="zh-CN" altLang="en-US" sz="2000" kern="0" dirty="0">
                <a:latin typeface="+mn-ea"/>
                <a:ea typeface="+mn-ea"/>
                <a:cs typeface="+mj-cs"/>
              </a:rPr>
              <a:t>其实就是用多个独立的二分类代替了</a:t>
            </a:r>
            <a:r>
              <a:rPr lang="en-US" altLang="zh-CN" sz="2000" kern="0" dirty="0" err="1">
                <a:latin typeface="+mn-ea"/>
                <a:ea typeface="+mn-ea"/>
                <a:cs typeface="+mj-cs"/>
              </a:rPr>
              <a:t>softmax</a:t>
            </a:r>
            <a:r>
              <a:rPr lang="zh-CN" altLang="en-US" sz="2000" kern="0" dirty="0">
                <a:latin typeface="+mn-ea"/>
                <a:ea typeface="+mn-ea"/>
                <a:cs typeface="+mj-cs"/>
              </a:rPr>
              <a:t>的作用，假设原来</a:t>
            </a:r>
            <a:r>
              <a:rPr lang="en-US" altLang="zh-CN" sz="2000" kern="0" dirty="0" err="1">
                <a:latin typeface="+mn-ea"/>
                <a:ea typeface="+mn-ea"/>
                <a:cs typeface="+mj-cs"/>
              </a:rPr>
              <a:t>softmax</a:t>
            </a:r>
            <a:r>
              <a:rPr lang="zh-CN" altLang="en-US" sz="2000" kern="0" dirty="0">
                <a:latin typeface="+mn-ea"/>
                <a:ea typeface="+mn-ea"/>
                <a:cs typeface="+mj-cs"/>
              </a:rPr>
              <a:t>计算量为</a:t>
            </a:r>
            <a:r>
              <a:rPr lang="en-US" altLang="zh-CN" sz="2000" kern="0" dirty="0">
                <a:latin typeface="+mn-ea"/>
                <a:ea typeface="+mn-ea"/>
                <a:cs typeface="+mj-cs"/>
              </a:rPr>
              <a:t>V</a:t>
            </a:r>
            <a:r>
              <a:rPr lang="zh-CN" altLang="en-US" sz="2000" kern="0" dirty="0">
                <a:latin typeface="+mn-ea"/>
                <a:ea typeface="+mn-ea"/>
                <a:cs typeface="+mj-cs"/>
              </a:rPr>
              <a:t>，变成了</a:t>
            </a:r>
            <a:r>
              <a:rPr lang="en-US" altLang="zh-CN" sz="2000" kern="0" dirty="0">
                <a:latin typeface="+mn-ea"/>
                <a:ea typeface="+mn-ea"/>
                <a:cs typeface="+mj-cs"/>
              </a:rPr>
              <a:t>Log</a:t>
            </a:r>
            <a:r>
              <a:rPr lang="en-US" altLang="zh-CN" sz="2000" kern="0" baseline="-25000" dirty="0">
                <a:latin typeface="+mn-ea"/>
                <a:ea typeface="+mn-ea"/>
                <a:cs typeface="+mj-cs"/>
              </a:rPr>
              <a:t>2 </a:t>
            </a:r>
            <a:r>
              <a:rPr lang="en-US" altLang="zh-CN" sz="2000" kern="0" dirty="0">
                <a:latin typeface="+mn-ea"/>
                <a:ea typeface="+mn-ea"/>
                <a:cs typeface="+mj-cs"/>
              </a:rPr>
              <a:t>V</a:t>
            </a:r>
            <a:r>
              <a:rPr lang="zh-CN" altLang="en-US" sz="2000" kern="0" dirty="0">
                <a:latin typeface="+mn-ea"/>
                <a:ea typeface="+mn-ea"/>
                <a:cs typeface="+mj-cs"/>
              </a:rPr>
              <a:t>。高频词靠近根结点，可以用更少的时间找到。</a:t>
            </a:r>
          </a:p>
          <a:p>
            <a:pPr marL="342900" indent="-342900">
              <a:lnSpc>
                <a:spcPct val="100000"/>
              </a:lnSpc>
              <a:spcBef>
                <a:spcPct val="20000"/>
              </a:spcBef>
            </a:pPr>
            <a:endParaRPr lang="zh-CN" altLang="en-US" sz="2400" kern="0" dirty="0">
              <a:latin typeface="华文楷体" panose="02010600040101010101" pitchFamily="2" charset="-122"/>
              <a:ea typeface="华文楷体" panose="02010600040101010101" pitchFamily="2" charset="-122"/>
              <a:cs typeface="+mj-cs"/>
            </a:endParaRPr>
          </a:p>
          <a:p>
            <a:pPr marL="342900" lvl="0" indent="-342900">
              <a:lnSpc>
                <a:spcPct val="100000"/>
              </a:lnSpc>
              <a:spcBef>
                <a:spcPct val="20000"/>
              </a:spcBef>
            </a:pPr>
            <a:endParaRPr lang="zh-CN" altLang="en-US" dirty="0">
              <a:ea typeface="仿宋_GB2312" pitchFamily="49" charset="-122"/>
            </a:endParaRPr>
          </a:p>
        </p:txBody>
      </p:sp>
      <p:pic>
        <p:nvPicPr>
          <p:cNvPr id="105" name="图片 104"/>
          <p:cNvPicPr/>
          <p:nvPr>
            <p:custDataLst>
              <p:tags r:id="rId1"/>
            </p:custDataLst>
          </p:nvPr>
        </p:nvPicPr>
        <p:blipFill>
          <a:blip r:embed="rId3"/>
          <a:stretch>
            <a:fillRect/>
          </a:stretch>
        </p:blipFill>
        <p:spPr>
          <a:xfrm>
            <a:off x="64448" y="3933056"/>
            <a:ext cx="4651568" cy="2689645"/>
          </a:xfrm>
          <a:prstGeom prst="rect">
            <a:avLst/>
          </a:prstGeom>
          <a:noFill/>
          <a:ln w="9525">
            <a:noFill/>
          </a:ln>
        </p:spPr>
      </p:pic>
      <p:pic>
        <p:nvPicPr>
          <p:cNvPr id="4" name="图片 3"/>
          <p:cNvPicPr>
            <a:picLocks noChangeAspect="1"/>
          </p:cNvPicPr>
          <p:nvPr/>
        </p:nvPicPr>
        <p:blipFill>
          <a:blip r:embed="rId4"/>
          <a:stretch>
            <a:fillRect/>
          </a:stretch>
        </p:blipFill>
        <p:spPr>
          <a:xfrm>
            <a:off x="4283968" y="3724621"/>
            <a:ext cx="4392488" cy="3196641"/>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18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3668"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chatGPT内部原理之Transformer</a:t>
            </a:r>
          </a:p>
        </p:txBody>
      </p:sp>
      <p:sp>
        <p:nvSpPr>
          <p:cNvPr id="2" name="文本框 1"/>
          <p:cNvSpPr txBox="1"/>
          <p:nvPr/>
        </p:nvSpPr>
        <p:spPr>
          <a:xfrm>
            <a:off x="467360" y="981075"/>
            <a:ext cx="7910195" cy="706755"/>
          </a:xfrm>
          <a:prstGeom prst="rect">
            <a:avLst/>
          </a:prstGeom>
          <a:noFill/>
        </p:spPr>
        <p:txBody>
          <a:bodyPr wrap="square" rtlCol="0" anchor="t">
            <a:spAutoFit/>
          </a:bodyPr>
          <a:lstStyle/>
          <a:p>
            <a:r>
              <a:rPr lang="zh-CN" altLang="en-US" sz="2000">
                <a:highlight>
                  <a:srgbClr val="C0C0C0"/>
                </a:highlight>
              </a:rPr>
              <a:t>Vaswani A, Shazeer N, Parmar N, et al. </a:t>
            </a:r>
            <a:r>
              <a:rPr lang="zh-CN" altLang="en-US" sz="2000">
                <a:solidFill>
                  <a:srgbClr val="FF0000"/>
                </a:solidFill>
                <a:highlight>
                  <a:srgbClr val="C0C0C0"/>
                </a:highlight>
              </a:rPr>
              <a:t>Attention is all you need</a:t>
            </a:r>
            <a:r>
              <a:rPr lang="zh-CN" altLang="en-US" sz="2000">
                <a:highlight>
                  <a:srgbClr val="C0C0C0"/>
                </a:highlight>
              </a:rPr>
              <a:t>[J]. Advances in neural information processing systems, 2017, 30.</a:t>
            </a:r>
          </a:p>
        </p:txBody>
      </p:sp>
      <p:pic>
        <p:nvPicPr>
          <p:cNvPr id="3" name="图片 2"/>
          <p:cNvPicPr>
            <a:picLocks noChangeAspect="1"/>
          </p:cNvPicPr>
          <p:nvPr>
            <p:custDataLst>
              <p:tags r:id="rId1"/>
            </p:custDataLst>
          </p:nvPr>
        </p:nvPicPr>
        <p:blipFill>
          <a:blip r:embed="rId3"/>
          <a:stretch>
            <a:fillRect/>
          </a:stretch>
        </p:blipFill>
        <p:spPr>
          <a:xfrm>
            <a:off x="488315" y="1992630"/>
            <a:ext cx="7890510" cy="400748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18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3668"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chatGPT内部原理之Transformer</a:t>
            </a:r>
          </a:p>
        </p:txBody>
      </p:sp>
      <p:pic>
        <p:nvPicPr>
          <p:cNvPr id="100" name="图片 99"/>
          <p:cNvPicPr/>
          <p:nvPr>
            <p:custDataLst>
              <p:tags r:id="rId1"/>
            </p:custDataLst>
          </p:nvPr>
        </p:nvPicPr>
        <p:blipFill>
          <a:blip r:embed="rId3"/>
          <a:stretch>
            <a:fillRect/>
          </a:stretch>
        </p:blipFill>
        <p:spPr>
          <a:xfrm>
            <a:off x="1259840" y="2172970"/>
            <a:ext cx="6560185" cy="4481830"/>
          </a:xfrm>
          <a:prstGeom prst="rect">
            <a:avLst/>
          </a:prstGeom>
          <a:noFill/>
          <a:ln w="9525">
            <a:noFill/>
          </a:ln>
        </p:spPr>
      </p:pic>
      <p:sp>
        <p:nvSpPr>
          <p:cNvPr id="2" name="文本框 1"/>
          <p:cNvSpPr txBox="1"/>
          <p:nvPr/>
        </p:nvSpPr>
        <p:spPr>
          <a:xfrm>
            <a:off x="467360" y="981075"/>
            <a:ext cx="7910195" cy="706755"/>
          </a:xfrm>
          <a:prstGeom prst="rect">
            <a:avLst/>
          </a:prstGeom>
          <a:noFill/>
        </p:spPr>
        <p:txBody>
          <a:bodyPr wrap="square" rtlCol="0" anchor="t">
            <a:spAutoFit/>
          </a:bodyPr>
          <a:lstStyle/>
          <a:p>
            <a:r>
              <a:rPr lang="zh-CN" altLang="en-US" sz="2000">
                <a:highlight>
                  <a:srgbClr val="C0C0C0"/>
                </a:highlight>
              </a:rPr>
              <a:t>Vaswani A, Shazeer N, Parmar N, et al. </a:t>
            </a:r>
            <a:r>
              <a:rPr lang="zh-CN" altLang="en-US" sz="2000">
                <a:solidFill>
                  <a:srgbClr val="FF0000"/>
                </a:solidFill>
                <a:highlight>
                  <a:srgbClr val="C0C0C0"/>
                </a:highlight>
              </a:rPr>
              <a:t>Attention is all you need</a:t>
            </a:r>
            <a:r>
              <a:rPr lang="zh-CN" altLang="en-US" sz="2000">
                <a:highlight>
                  <a:srgbClr val="C0C0C0"/>
                </a:highlight>
              </a:rPr>
              <a:t>[J]. Advances in neural information processing systems, 2017, 30.</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18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3668"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chatGPT内部原理之Transformer</a:t>
            </a:r>
          </a:p>
        </p:txBody>
      </p:sp>
      <p:pic>
        <p:nvPicPr>
          <p:cNvPr id="2" name="图片 1"/>
          <p:cNvPicPr>
            <a:picLocks noChangeAspect="1"/>
          </p:cNvPicPr>
          <p:nvPr>
            <p:custDataLst>
              <p:tags r:id="rId1"/>
            </p:custDataLst>
          </p:nvPr>
        </p:nvPicPr>
        <p:blipFill>
          <a:blip r:embed="rId4"/>
          <a:stretch>
            <a:fillRect/>
          </a:stretch>
        </p:blipFill>
        <p:spPr>
          <a:xfrm>
            <a:off x="76200" y="1052830"/>
            <a:ext cx="8899525" cy="3950335"/>
          </a:xfrm>
          <a:prstGeom prst="rect">
            <a:avLst/>
          </a:prstGeom>
        </p:spPr>
      </p:pic>
      <p:pic>
        <p:nvPicPr>
          <p:cNvPr id="3" name="图片 2"/>
          <p:cNvPicPr>
            <a:picLocks noChangeAspect="1"/>
          </p:cNvPicPr>
          <p:nvPr>
            <p:custDataLst>
              <p:tags r:id="rId2"/>
            </p:custDataLst>
          </p:nvPr>
        </p:nvPicPr>
        <p:blipFill>
          <a:blip r:embed="rId5"/>
          <a:stretch>
            <a:fillRect/>
          </a:stretch>
        </p:blipFill>
        <p:spPr>
          <a:xfrm>
            <a:off x="1548130" y="5229225"/>
            <a:ext cx="6371590" cy="124206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1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3668"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chatGPT内部原理之Transformer</a:t>
            </a:r>
          </a:p>
        </p:txBody>
      </p:sp>
      <p:sp>
        <p:nvSpPr>
          <p:cNvPr id="4" name="文本框 3"/>
          <p:cNvSpPr txBox="1"/>
          <p:nvPr>
            <p:custDataLst>
              <p:tags r:id="rId1"/>
            </p:custDataLst>
          </p:nvPr>
        </p:nvSpPr>
        <p:spPr>
          <a:xfrm>
            <a:off x="270510" y="774700"/>
            <a:ext cx="8231505" cy="738505"/>
          </a:xfrm>
          <a:prstGeom prst="rect">
            <a:avLst/>
          </a:prstGeom>
          <a:noFill/>
        </p:spPr>
        <p:txBody>
          <a:bodyPr wrap="square" rtlCol="0" anchor="t">
            <a:noAutofit/>
          </a:bodyPr>
          <a:lstStyle/>
          <a:p>
            <a:r>
              <a:rPr lang="zh-CN" altLang="en-US" sz="2400">
                <a:solidFill>
                  <a:srgbClr val="FF0000"/>
                </a:solidFill>
                <a:highlight>
                  <a:srgbClr val="C0C0C0"/>
                </a:highlight>
              </a:rPr>
              <a:t>The animal </a:t>
            </a:r>
            <a:r>
              <a:rPr lang="zh-CN" altLang="en-US" sz="2400">
                <a:highlight>
                  <a:srgbClr val="C0C0C0"/>
                </a:highlight>
              </a:rPr>
              <a:t>didn’t cross the street because </a:t>
            </a:r>
            <a:r>
              <a:rPr lang="zh-CN" altLang="en-US" sz="2400">
                <a:solidFill>
                  <a:srgbClr val="FF0000"/>
                </a:solidFill>
                <a:highlight>
                  <a:srgbClr val="C0C0C0"/>
                </a:highlight>
              </a:rPr>
              <a:t>it</a:t>
            </a:r>
            <a:r>
              <a:rPr lang="zh-CN" altLang="en-US" sz="2400">
                <a:highlight>
                  <a:srgbClr val="C0C0C0"/>
                </a:highlight>
              </a:rPr>
              <a:t> was too tired</a:t>
            </a:r>
          </a:p>
          <a:p>
            <a:endParaRPr lang="zh-CN" altLang="en-US" sz="2000">
              <a:highlight>
                <a:srgbClr val="C0C0C0"/>
              </a:highlight>
            </a:endParaRPr>
          </a:p>
          <a:p>
            <a:r>
              <a:rPr lang="zh-CN" altLang="en-US" sz="2400">
                <a:solidFill>
                  <a:schemeClr val="tx1"/>
                </a:solidFill>
                <a:highlight>
                  <a:srgbClr val="C0C0C0"/>
                </a:highlight>
                <a:sym typeface="+mn-ea"/>
              </a:rPr>
              <a:t>The animal </a:t>
            </a:r>
            <a:r>
              <a:rPr lang="zh-CN" altLang="en-US" sz="2400">
                <a:highlight>
                  <a:srgbClr val="C0C0C0"/>
                </a:highlight>
                <a:sym typeface="+mn-ea"/>
              </a:rPr>
              <a:t>didn’t cross the </a:t>
            </a:r>
            <a:r>
              <a:rPr lang="zh-CN" altLang="en-US" sz="2400">
                <a:solidFill>
                  <a:srgbClr val="FF0000"/>
                </a:solidFill>
                <a:highlight>
                  <a:srgbClr val="C0C0C0"/>
                </a:highlight>
                <a:sym typeface="+mn-ea"/>
              </a:rPr>
              <a:t>street</a:t>
            </a:r>
            <a:r>
              <a:rPr lang="zh-CN" altLang="en-US" sz="2400">
                <a:highlight>
                  <a:srgbClr val="C0C0C0"/>
                </a:highlight>
                <a:sym typeface="+mn-ea"/>
              </a:rPr>
              <a:t> because </a:t>
            </a:r>
            <a:r>
              <a:rPr lang="zh-CN" altLang="en-US" sz="2400">
                <a:solidFill>
                  <a:srgbClr val="FF0000"/>
                </a:solidFill>
                <a:highlight>
                  <a:srgbClr val="C0C0C0"/>
                </a:highlight>
                <a:sym typeface="+mn-ea"/>
              </a:rPr>
              <a:t>it</a:t>
            </a:r>
            <a:r>
              <a:rPr lang="zh-CN" altLang="en-US" sz="2400">
                <a:highlight>
                  <a:srgbClr val="C0C0C0"/>
                </a:highlight>
                <a:sym typeface="+mn-ea"/>
              </a:rPr>
              <a:t> was too </a:t>
            </a:r>
            <a:r>
              <a:rPr lang="en-US" altLang="zh-CN" sz="2400">
                <a:highlight>
                  <a:srgbClr val="C0C0C0"/>
                </a:highlight>
                <a:sym typeface="+mn-ea"/>
              </a:rPr>
              <a:t>narrow</a:t>
            </a:r>
            <a:endParaRPr lang="zh-CN" altLang="en-US" sz="2400">
              <a:highlight>
                <a:srgbClr val="C0C0C0"/>
              </a:highlight>
            </a:endParaRPr>
          </a:p>
          <a:p>
            <a:endParaRPr lang="zh-CN" altLang="en-US" sz="2400">
              <a:highlight>
                <a:srgbClr val="C0C0C0"/>
              </a:highlight>
            </a:endParaRPr>
          </a:p>
        </p:txBody>
      </p:sp>
      <p:pic>
        <p:nvPicPr>
          <p:cNvPr id="5" name="图片 4"/>
          <p:cNvPicPr>
            <a:picLocks noChangeAspect="1"/>
          </p:cNvPicPr>
          <p:nvPr>
            <p:custDataLst>
              <p:tags r:id="rId2"/>
            </p:custDataLst>
          </p:nvPr>
        </p:nvPicPr>
        <p:blipFill>
          <a:blip r:embed="rId4"/>
          <a:stretch>
            <a:fillRect/>
          </a:stretch>
        </p:blipFill>
        <p:spPr>
          <a:xfrm>
            <a:off x="899795" y="1844675"/>
            <a:ext cx="6898005" cy="462534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1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15362"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grpSp>
        <p:nvGrpSpPr>
          <p:cNvPr id="4" name="组合 3"/>
          <p:cNvGrpSpPr/>
          <p:nvPr/>
        </p:nvGrpSpPr>
        <p:grpSpPr>
          <a:xfrm>
            <a:off x="1500505" y="1774825"/>
            <a:ext cx="6143625" cy="5023485"/>
            <a:chOff x="2363" y="3247"/>
            <a:chExt cx="9675" cy="7911"/>
          </a:xfrm>
        </p:grpSpPr>
        <p:sp>
          <p:nvSpPr>
            <p:cNvPr id="3" name="矩形: 圆角 16"/>
            <p:cNvSpPr>
              <a:spLocks noChangeArrowheads="1"/>
            </p:cNvSpPr>
            <p:nvPr/>
          </p:nvSpPr>
          <p:spPr bwMode="auto">
            <a:xfrm>
              <a:off x="3850" y="8897"/>
              <a:ext cx="8188" cy="795"/>
            </a:xfrm>
            <a:prstGeom prst="roundRect">
              <a:avLst>
                <a:gd name="adj" fmla="val 16667"/>
              </a:avLst>
            </a:prstGeom>
            <a:solidFill>
              <a:srgbClr val="9476B6"/>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2363" y="8897"/>
              <a:ext cx="1323" cy="795"/>
            </a:xfrm>
            <a:prstGeom prst="roundRect">
              <a:avLst>
                <a:gd name="adj" fmla="val 16667"/>
              </a:avLst>
            </a:pr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4" name="文本框 13"/>
            <p:cNvSpPr txBox="1"/>
            <p:nvPr/>
          </p:nvSpPr>
          <p:spPr>
            <a:xfrm>
              <a:off x="2550" y="3247"/>
              <a:ext cx="1135" cy="7892"/>
            </a:xfrm>
            <a:prstGeom prst="rect">
              <a:avLst/>
            </a:prstGeom>
            <a:noFill/>
          </p:spPr>
          <p:txBody>
            <a:bodyPr>
              <a:noAutofit/>
            </a:bodyPr>
            <a:lstStyle/>
            <a:p>
              <a:pPr marR="0" defTabSz="914400">
                <a:lnSpc>
                  <a:spcPct val="150000"/>
                </a:lnSpc>
                <a:buClrTx/>
                <a:buSzTx/>
                <a:buFontTx/>
                <a:buNone/>
                <a:defRPr/>
              </a:pPr>
              <a:r>
                <a:rPr kumimoji="0" lang="en-US" altLang="zh-CN" sz="2200" b="0" kern="1200" cap="none" spc="0" normalizeH="0" baseline="0" noProof="0" dirty="0">
                  <a:solidFill>
                    <a:schemeClr val="tx1"/>
                  </a:solidFill>
                  <a:latin typeface="+mn-lt"/>
                  <a:ea typeface="+mn-ea"/>
                  <a:cs typeface="+mn-ea"/>
                  <a:sym typeface="+mn-lt"/>
                </a:rPr>
                <a:t>5.1</a:t>
              </a:r>
              <a:endParaRPr kumimoji="0" lang="zh-CN" altLang="en-US" sz="2200" b="0" kern="1200" cap="none" spc="0" normalizeH="0" baseline="0" noProof="0" dirty="0">
                <a:solidFill>
                  <a:schemeClr val="tx1"/>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5.2</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5.3</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5.4</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5.5</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5.6</a:t>
              </a: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5.7</a:t>
              </a:r>
            </a:p>
            <a:p>
              <a:pPr marR="0" defTabSz="914400">
                <a:lnSpc>
                  <a:spcPct val="150000"/>
                </a:lnSpc>
                <a:buClrTx/>
                <a:buSzTx/>
                <a:buFontTx/>
                <a:buNone/>
                <a:defRPr/>
              </a:pPr>
              <a:r>
                <a:rPr kumimoji="0" lang="en-US" altLang="zh-CN" sz="2200" b="0" kern="1200" cap="none" spc="0" normalizeH="0" baseline="0" noProof="0" dirty="0">
                  <a:solidFill>
                    <a:schemeClr val="bg1"/>
                  </a:solidFill>
                  <a:latin typeface="+mn-lt"/>
                  <a:ea typeface="+mn-ea"/>
                  <a:cs typeface="+mn-ea"/>
                  <a:sym typeface="+mn-lt"/>
                </a:rPr>
                <a:t>5.8</a:t>
              </a:r>
              <a:endParaRPr kumimoji="0" lang="en-US" altLang="zh-CN"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5.9</a:t>
              </a: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5.10</a:t>
              </a:r>
            </a:p>
          </p:txBody>
        </p:sp>
        <p:sp>
          <p:nvSpPr>
            <p:cNvPr id="15" name="文本框 14"/>
            <p:cNvSpPr txBox="1"/>
            <p:nvPr/>
          </p:nvSpPr>
          <p:spPr>
            <a:xfrm>
              <a:off x="3870" y="3247"/>
              <a:ext cx="7265" cy="7911"/>
            </a:xfrm>
            <a:prstGeom prst="rect">
              <a:avLst/>
            </a:prstGeom>
            <a:noFill/>
          </p:spPr>
          <p:txBody>
            <a:bodyPr wrap="square">
              <a:noAutofit/>
            </a:bodyPr>
            <a:lstStyle/>
            <a:p>
              <a:pPr marR="0" defTabSz="914400">
                <a:lnSpc>
                  <a:spcPct val="150000"/>
                </a:lnSpc>
                <a:buClrTx/>
                <a:buSzTx/>
                <a:buFont typeface="Arial" panose="020B0604020202020204" pitchFamily="34" charset="0"/>
                <a:buNone/>
                <a:defRPr/>
              </a:pPr>
              <a:r>
                <a:rPr kumimoji="0" lang="zh-CN" altLang="en-US" sz="2200" b="0" kern="1200" cap="none" spc="0" normalizeH="0" baseline="0" noProof="0" dirty="0">
                  <a:solidFill>
                    <a:schemeClr val="tx1"/>
                  </a:solidFill>
                  <a:latin typeface="+mn-lt"/>
                  <a:ea typeface="+mn-ea"/>
                  <a:cs typeface="+mn-ea"/>
                  <a:sym typeface="+mn-lt"/>
                </a:rPr>
                <a:t>树和二叉树的定义</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案例引入</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树和二叉树的抽象数据类型定义</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二叉树的性质和存储结构</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遍历二叉树和线索二叉树</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树和森林</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哈夫曼树及其应用</a:t>
              </a:r>
            </a:p>
            <a:p>
              <a:pPr marR="0" defTabSz="914400">
                <a:lnSpc>
                  <a:spcPct val="150000"/>
                </a:lnSpc>
                <a:buClrTx/>
                <a:buSzTx/>
                <a:buFontTx/>
                <a:buNone/>
                <a:defRPr/>
              </a:pPr>
              <a:r>
                <a:rPr lang="zh-CN" altLang="en-US" sz="2200" b="0" noProof="0" dirty="0">
                  <a:solidFill>
                    <a:schemeClr val="bg1"/>
                  </a:solidFill>
                  <a:latin typeface="+mn-lt"/>
                  <a:ea typeface="+mn-ea"/>
                  <a:cs typeface="+mn-ea"/>
                  <a:sym typeface="+mn-lt"/>
                </a:rPr>
                <a:t>并查集及其应用</a:t>
              </a:r>
            </a:p>
            <a:p>
              <a:pPr marR="0" defTabSz="914400">
                <a:lnSpc>
                  <a:spcPct val="150000"/>
                </a:lnSpc>
                <a:buClrTx/>
                <a:buSzTx/>
                <a:buFontTx/>
                <a:buNone/>
                <a:defRPr/>
              </a:pPr>
              <a:r>
                <a:rPr lang="zh-CN" altLang="en-US" sz="2200" b="0" noProof="0" dirty="0">
                  <a:solidFill>
                    <a:srgbClr val="000000">
                      <a:lumMod val="95000"/>
                      <a:lumOff val="5000"/>
                    </a:srgbClr>
                  </a:solidFill>
                  <a:latin typeface="+mn-lt"/>
                  <a:ea typeface="+mn-ea"/>
                  <a:cs typeface="+mn-ea"/>
                  <a:sym typeface="+mn-lt"/>
                </a:rPr>
                <a:t>案例分析与实现</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LeetCode 算法练习题	</a:t>
              </a:r>
            </a:p>
          </p:txBody>
        </p:sp>
      </p:gr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1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圆角矩形 2"/>
          <p:cNvSpPr/>
          <p:nvPr/>
        </p:nvSpPr>
        <p:spPr bwMode="auto">
          <a:xfrm>
            <a:off x="683895" y="1988820"/>
            <a:ext cx="7856220" cy="3429635"/>
          </a:xfrm>
          <a:prstGeom prst="roundRect">
            <a:avLst>
              <a:gd name="adj" fmla="val 3331"/>
            </a:avLst>
          </a:prstGeom>
          <a:solidFill>
            <a:schemeClr val="bg2">
              <a:lumMod val="20000"/>
              <a:lumOff val="80000"/>
            </a:schemeClr>
          </a:solidFill>
          <a:ln w="9525" cap="flat" cmpd="sng" algn="ctr">
            <a:noFill/>
            <a:prstDash val="solid"/>
            <a:round/>
            <a:headEnd type="none" w="med" len="med"/>
            <a:tailEnd type="none" w="med" len="med"/>
          </a:ln>
        </p:spPr>
        <p:txBody>
          <a:bodyPr/>
          <a:lstStyle/>
          <a:p>
            <a:pPr marR="0" lvl="0" indent="711200" algn="just" defTabSz="914400" rtl="0">
              <a:lnSpc>
                <a:spcPct val="125000"/>
              </a:lnSpc>
              <a:spcBef>
                <a:spcPts val="0"/>
              </a:spcBef>
              <a:spcAft>
                <a:spcPct val="0"/>
              </a:spcAft>
              <a:buClrTx/>
              <a:buSzTx/>
              <a:buFont typeface="Wingdings" panose="05000000000000000000" charset="0"/>
              <a:defRPr/>
              <a:extLst>
                <a:ext uri="{35155182-B16C-46BC-9424-99874614C6A1}">
                  <wpsdc:indentchars xmlns:wpsdc="http://www.wps.cn/officeDocument/2017/drawingmlCustomData" xmlns="" val="200" checksum="3773799597"/>
                </a:ext>
              </a:extLst>
            </a:pPr>
            <a:r>
              <a:rPr kumimoji="1" sz="2800" b="0" i="0" baseline="0" noProof="0">
                <a:ln>
                  <a:noFill/>
                </a:ln>
                <a:solidFill>
                  <a:schemeClr val="tx1"/>
                </a:solidFill>
                <a:effectLst/>
                <a:uLnTx/>
                <a:uFillTx/>
                <a:ea typeface="微软雅黑" panose="020B0503020204020204" pitchFamily="34" charset="-122"/>
                <a:cs typeface="+mn-ea"/>
              </a:rPr>
              <a:t>在一些应用问题中，需将</a:t>
            </a:r>
            <a:r>
              <a:rPr kumimoji="1" sz="2800" b="0" i="1" baseline="0" noProof="0">
                <a:ln>
                  <a:noFill/>
                </a:ln>
                <a:solidFill>
                  <a:schemeClr val="tx1"/>
                </a:solidFill>
                <a:effectLst/>
                <a:uLnTx/>
                <a:uFillTx/>
                <a:ea typeface="微软雅黑" panose="020B0503020204020204" pitchFamily="34" charset="-122"/>
                <a:cs typeface="+mn-ea"/>
              </a:rPr>
              <a:t>n</a:t>
            </a:r>
            <a:r>
              <a:rPr kumimoji="1" sz="2800" b="0" i="0" baseline="0" noProof="0">
                <a:ln>
                  <a:noFill/>
                </a:ln>
                <a:solidFill>
                  <a:schemeClr val="tx1"/>
                </a:solidFill>
                <a:effectLst/>
                <a:uLnTx/>
                <a:uFillTx/>
                <a:ea typeface="微软雅黑" panose="020B0503020204020204" pitchFamily="34" charset="-122"/>
                <a:cs typeface="+mn-ea"/>
              </a:rPr>
              <a:t>个不同的元素划分</a:t>
            </a:r>
            <a:r>
              <a:rPr kumimoji="1" lang="zh-CN" sz="2800" b="0" i="0" baseline="0" noProof="0">
                <a:ln>
                  <a:noFill/>
                </a:ln>
                <a:solidFill>
                  <a:schemeClr val="tx1"/>
                </a:solidFill>
                <a:effectLst/>
                <a:uLnTx/>
                <a:uFillTx/>
                <a:ea typeface="微软雅黑" panose="020B0503020204020204" pitchFamily="34" charset="-122"/>
                <a:cs typeface="+mn-ea"/>
              </a:rPr>
              <a:t>为若干个</a:t>
            </a:r>
            <a:r>
              <a:rPr kumimoji="1" sz="2800" b="0" i="0" baseline="0" noProof="0">
                <a:ln>
                  <a:noFill/>
                </a:ln>
                <a:solidFill>
                  <a:schemeClr val="tx1"/>
                </a:solidFill>
                <a:effectLst/>
                <a:uLnTx/>
                <a:uFillTx/>
                <a:ea typeface="微软雅黑" panose="020B0503020204020204" pitchFamily="34" charset="-122"/>
                <a:cs typeface="+mn-ea"/>
              </a:rPr>
              <a:t>不相交的集合。</a:t>
            </a:r>
            <a:r>
              <a:rPr kumimoji="1" lang="zh-CN" sz="2800" b="0" i="0" baseline="0" noProof="0">
                <a:ln>
                  <a:noFill/>
                </a:ln>
                <a:solidFill>
                  <a:schemeClr val="tx1"/>
                </a:solidFill>
                <a:effectLst/>
                <a:uLnTx/>
                <a:uFillTx/>
                <a:ea typeface="微软雅黑" panose="020B0503020204020204" pitchFamily="34" charset="-122"/>
                <a:cs typeface="+mn-ea"/>
              </a:rPr>
              <a:t>初始</a:t>
            </a:r>
            <a:r>
              <a:rPr kumimoji="1" sz="2800" b="0" i="0" baseline="0" noProof="0">
                <a:ln>
                  <a:noFill/>
                </a:ln>
                <a:solidFill>
                  <a:schemeClr val="tx1"/>
                </a:solidFill>
                <a:effectLst/>
                <a:uLnTx/>
                <a:uFillTx/>
                <a:ea typeface="微软雅黑" panose="020B0503020204020204" pitchFamily="34" charset="-122"/>
                <a:cs typeface="+mn-ea"/>
              </a:rPr>
              <a:t>时，每个元素</a:t>
            </a:r>
            <a:r>
              <a:rPr kumimoji="1" lang="zh-CN" sz="2800" b="0" i="0" baseline="0" noProof="0">
                <a:ln>
                  <a:noFill/>
                </a:ln>
                <a:solidFill>
                  <a:schemeClr val="tx1"/>
                </a:solidFill>
                <a:effectLst/>
                <a:uLnTx/>
                <a:uFillTx/>
                <a:ea typeface="微软雅黑" panose="020B0503020204020204" pitchFamily="34" charset="-122"/>
                <a:cs typeface="+mn-ea"/>
              </a:rPr>
              <a:t>各</a:t>
            </a:r>
            <a:r>
              <a:rPr kumimoji="1" sz="2800" b="0" i="0" baseline="0" noProof="0">
                <a:ln>
                  <a:noFill/>
                </a:ln>
                <a:solidFill>
                  <a:schemeClr val="tx1"/>
                </a:solidFill>
                <a:effectLst/>
                <a:uLnTx/>
                <a:uFillTx/>
                <a:ea typeface="微软雅黑" panose="020B0503020204020204" pitchFamily="34" charset="-122"/>
                <a:cs typeface="+mn-ea"/>
              </a:rPr>
              <a:t>自</a:t>
            </a:r>
            <a:r>
              <a:rPr kumimoji="1" lang="zh-CN" sz="2800" b="0" i="0" baseline="0" noProof="0">
                <a:ln>
                  <a:noFill/>
                </a:ln>
                <a:solidFill>
                  <a:schemeClr val="tx1"/>
                </a:solidFill>
                <a:effectLst/>
                <a:uLnTx/>
                <a:uFillTx/>
                <a:ea typeface="微软雅黑" panose="020B0503020204020204" pitchFamily="34" charset="-122"/>
                <a:cs typeface="+mn-ea"/>
              </a:rPr>
              <a:t>构成</a:t>
            </a:r>
            <a:r>
              <a:rPr kumimoji="1" sz="2800" b="0" i="0" baseline="0" noProof="0">
                <a:ln>
                  <a:noFill/>
                </a:ln>
                <a:solidFill>
                  <a:schemeClr val="tx1"/>
                </a:solidFill>
                <a:effectLst/>
                <a:uLnTx/>
                <a:uFillTx/>
                <a:ea typeface="微软雅黑" panose="020B0503020204020204" pitchFamily="34" charset="-122"/>
                <a:cs typeface="+mn-ea"/>
              </a:rPr>
              <a:t>一个单</a:t>
            </a:r>
            <a:r>
              <a:rPr kumimoji="1" lang="zh-CN" sz="2800" b="0" i="0" baseline="0" noProof="0">
                <a:ln>
                  <a:noFill/>
                </a:ln>
                <a:solidFill>
                  <a:schemeClr val="tx1"/>
                </a:solidFill>
                <a:effectLst/>
                <a:uLnTx/>
                <a:uFillTx/>
                <a:ea typeface="微软雅黑" panose="020B0503020204020204" pitchFamily="34" charset="-122"/>
                <a:cs typeface="+mn-ea"/>
              </a:rPr>
              <a:t>独的</a:t>
            </a:r>
            <a:r>
              <a:rPr kumimoji="1" sz="2800" b="0" i="0" baseline="0" noProof="0">
                <a:ln>
                  <a:noFill/>
                </a:ln>
                <a:solidFill>
                  <a:schemeClr val="tx1"/>
                </a:solidFill>
                <a:effectLst/>
                <a:uLnTx/>
                <a:uFillTx/>
                <a:ea typeface="微软雅黑" panose="020B0503020204020204" pitchFamily="34" charset="-122"/>
                <a:cs typeface="+mn-ea"/>
              </a:rPr>
              <a:t>集合，然后</a:t>
            </a:r>
            <a:r>
              <a:rPr kumimoji="1" lang="zh-CN" sz="2800" b="0" i="0" baseline="0" noProof="0">
                <a:ln>
                  <a:noFill/>
                </a:ln>
                <a:solidFill>
                  <a:schemeClr val="tx1"/>
                </a:solidFill>
                <a:effectLst/>
                <a:uLnTx/>
                <a:uFillTx/>
                <a:ea typeface="微软雅黑" panose="020B0503020204020204" pitchFamily="34" charset="-122"/>
                <a:cs typeface="+mn-ea"/>
              </a:rPr>
              <a:t>按照特定的规则，</a:t>
            </a:r>
            <a:r>
              <a:rPr kumimoji="1" sz="2800" b="0" i="0" baseline="0" noProof="0">
                <a:ln>
                  <a:noFill/>
                </a:ln>
                <a:solidFill>
                  <a:schemeClr val="tx1"/>
                </a:solidFill>
                <a:effectLst/>
                <a:uLnTx/>
                <a:uFillTx/>
                <a:ea typeface="微软雅黑" panose="020B0503020204020204" pitchFamily="34" charset="-122"/>
                <a:cs typeface="+mn-ea"/>
              </a:rPr>
              <a:t>将属于同一组元素的集合合并。其间要反复</a:t>
            </a:r>
            <a:r>
              <a:rPr kumimoji="1" lang="zh-CN" sz="2800" b="0" i="0" baseline="0" noProof="0">
                <a:ln>
                  <a:noFill/>
                </a:ln>
                <a:solidFill>
                  <a:schemeClr val="tx1"/>
                </a:solidFill>
                <a:effectLst/>
                <a:uLnTx/>
                <a:uFillTx/>
                <a:ea typeface="微软雅黑" panose="020B0503020204020204" pitchFamily="34" charset="-122"/>
                <a:cs typeface="+mn-ea"/>
              </a:rPr>
              <a:t>执行查询和合并两种关键操作</a:t>
            </a:r>
            <a:r>
              <a:rPr kumimoji="1" sz="2800" b="0" i="0" baseline="0" noProof="0">
                <a:ln>
                  <a:noFill/>
                </a:ln>
                <a:solidFill>
                  <a:schemeClr val="tx1"/>
                </a:solidFill>
                <a:effectLst/>
                <a:uLnTx/>
                <a:uFillTx/>
                <a:ea typeface="微软雅黑" panose="020B0503020204020204" pitchFamily="34" charset="-122"/>
                <a:cs typeface="+mn-ea"/>
              </a:rPr>
              <a:t>。适合于描述这类问题的抽象数据类型称为并查集。</a:t>
            </a:r>
          </a:p>
        </p:txBody>
      </p:sp>
      <p:sp>
        <p:nvSpPr>
          <p:cNvPr id="113668"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并查集的定义</a:t>
            </a:r>
          </a:p>
        </p:txBody>
      </p:sp>
      <p:pic>
        <p:nvPicPr>
          <p:cNvPr id="5" name="图片 4" descr="星星"/>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a:off x="395605" y="1556385"/>
            <a:ext cx="914400" cy="91440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1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圆角矩形 2"/>
          <p:cNvSpPr/>
          <p:nvPr/>
        </p:nvSpPr>
        <p:spPr bwMode="auto">
          <a:xfrm>
            <a:off x="719455" y="3789045"/>
            <a:ext cx="7856220" cy="2231390"/>
          </a:xfrm>
          <a:prstGeom prst="roundRect">
            <a:avLst>
              <a:gd name="adj" fmla="val 3331"/>
            </a:avLst>
          </a:prstGeom>
          <a:solidFill>
            <a:schemeClr val="bg2">
              <a:lumMod val="20000"/>
              <a:lumOff val="80000"/>
            </a:schemeClr>
          </a:solidFill>
          <a:ln w="9525" cap="flat" cmpd="sng" algn="ctr">
            <a:noFill/>
            <a:prstDash val="solid"/>
            <a:round/>
            <a:headEnd type="none" w="med" len="med"/>
            <a:tailEnd type="none" w="med" len="med"/>
          </a:ln>
        </p:spPr>
        <p:txBody>
          <a:bodyPr/>
          <a:lstStyle/>
          <a:p>
            <a:pPr marL="457200" marR="0" lvl="0" indent="-457200" algn="just" defTabSz="914400" rtl="0">
              <a:lnSpc>
                <a:spcPct val="125000"/>
              </a:lnSpc>
              <a:spcBef>
                <a:spcPts val="0"/>
              </a:spcBef>
              <a:spcAft>
                <a:spcPct val="0"/>
              </a:spcAft>
              <a:buClrTx/>
              <a:buSzTx/>
              <a:buFont typeface="Wingdings" panose="05000000000000000000" charset="0"/>
              <a:buChar char="Ø"/>
              <a:defRPr/>
            </a:pPr>
            <a:r>
              <a:rPr kumimoji="1" lang="zh-CN" altLang="en-US" sz="2800" b="0" i="0" u="none" strike="noStrike" kern="1200" cap="none" spc="0" normalizeH="0" baseline="0" noProof="0">
                <a:ln>
                  <a:noFill/>
                </a:ln>
                <a:solidFill>
                  <a:srgbClr val="FF0000"/>
                </a:solidFill>
                <a:effectLst/>
                <a:uLnTx/>
                <a:uFillTx/>
                <a:latin typeface="+mn-ea"/>
                <a:ea typeface="+mn-ea"/>
                <a:cs typeface="+mn-cs"/>
              </a:rPr>
              <a:t>查找（</a:t>
            </a:r>
            <a:r>
              <a:rPr kumimoji="1" lang="en-US" altLang="zh-CN" sz="2800" b="0" i="0" u="none" strike="noStrike" kern="1200" cap="none" spc="0" normalizeH="0" baseline="0" noProof="0">
                <a:ln>
                  <a:noFill/>
                </a:ln>
                <a:solidFill>
                  <a:srgbClr val="FF0000"/>
                </a:solidFill>
                <a:effectLst/>
                <a:uLnTx/>
                <a:uFillTx/>
                <a:latin typeface="+mn-ea"/>
                <a:ea typeface="+mn-ea"/>
                <a:cs typeface="+mn-cs"/>
              </a:rPr>
              <a:t>Find)</a:t>
            </a:r>
          </a:p>
          <a:p>
            <a:pPr marR="0" lvl="0" indent="711200" algn="just" defTabSz="914400" rtl="0">
              <a:lnSpc>
                <a:spcPct val="125000"/>
              </a:lnSpc>
              <a:spcBef>
                <a:spcPts val="0"/>
              </a:spcBef>
              <a:spcAft>
                <a:spcPct val="0"/>
              </a:spcAft>
              <a:buClrTx/>
              <a:buSzTx/>
              <a:defRPr/>
              <a:extLst>
                <a:ext uri="{35155182-B16C-46BC-9424-99874614C6A1}">
                  <wpsdc:indentchars xmlns:wpsdc="http://www.wps.cn/officeDocument/2017/drawingmlCustomData" xmlns="" val="200" checksum="3773799597"/>
                </a:ext>
              </a:extLst>
            </a:pPr>
            <a:r>
              <a:rPr kumimoji="1" lang="zh-CN" altLang="en-US" sz="2800" b="0" i="0" u="none" strike="noStrike" kern="1200" cap="none" spc="0" normalizeH="0" baseline="0" noProof="0">
                <a:ln>
                  <a:noFill/>
                </a:ln>
                <a:solidFill>
                  <a:schemeClr val="tx1"/>
                </a:solidFill>
                <a:effectLst/>
                <a:uLnTx/>
                <a:uFillTx/>
                <a:latin typeface="+mn-ea"/>
                <a:ea typeface="+mn-ea"/>
                <a:cs typeface="+mn-cs"/>
              </a:rPr>
              <a:t>用于确定某一元素所属的集合</a:t>
            </a:r>
            <a:endParaRPr kumimoji="1" lang="en-US" altLang="zh-CN" sz="2800" b="0" i="0" u="none" strike="noStrike" kern="1200" cap="none" spc="0" normalizeH="0" baseline="0" noProof="0">
              <a:ln>
                <a:noFill/>
              </a:ln>
              <a:solidFill>
                <a:schemeClr val="tx1"/>
              </a:solidFill>
              <a:effectLst/>
              <a:uLnTx/>
              <a:uFillTx/>
              <a:latin typeface="+mn-ea"/>
              <a:ea typeface="+mn-ea"/>
              <a:cs typeface="+mn-cs"/>
            </a:endParaRPr>
          </a:p>
          <a:p>
            <a:pPr marL="457200" marR="0" lvl="0" indent="-457200" algn="just" defTabSz="914400" rtl="0">
              <a:lnSpc>
                <a:spcPct val="125000"/>
              </a:lnSpc>
              <a:spcBef>
                <a:spcPts val="0"/>
              </a:spcBef>
              <a:spcAft>
                <a:spcPct val="0"/>
              </a:spcAft>
              <a:buClrTx/>
              <a:buSzTx/>
              <a:buFont typeface="Wingdings" panose="05000000000000000000" charset="0"/>
              <a:buChar char="Ø"/>
              <a:defRPr/>
            </a:pPr>
            <a:r>
              <a:rPr kumimoji="1" lang="zh-CN" altLang="en-US" sz="2800" b="0" i="0" u="none" strike="noStrike" kern="1200" cap="none" spc="0" normalizeH="0" baseline="0" noProof="0">
                <a:ln>
                  <a:noFill/>
                </a:ln>
                <a:solidFill>
                  <a:srgbClr val="FF0000"/>
                </a:solidFill>
                <a:effectLst/>
                <a:uLnTx/>
                <a:uFillTx/>
                <a:latin typeface="+mn-ea"/>
                <a:ea typeface="+mn-ea"/>
                <a:cs typeface="+mn-cs"/>
              </a:rPr>
              <a:t>合并（</a:t>
            </a:r>
            <a:r>
              <a:rPr kumimoji="1" lang="en-US" altLang="zh-CN" sz="2800" b="0" i="0" u="none" strike="noStrike" kern="1200" cap="none" spc="0" normalizeH="0" baseline="0" noProof="0">
                <a:ln>
                  <a:noFill/>
                </a:ln>
                <a:solidFill>
                  <a:srgbClr val="FF0000"/>
                </a:solidFill>
                <a:effectLst/>
                <a:uLnTx/>
                <a:uFillTx/>
                <a:latin typeface="+mn-ea"/>
                <a:ea typeface="+mn-ea"/>
                <a:cs typeface="+mn-cs"/>
              </a:rPr>
              <a:t>Union</a:t>
            </a:r>
            <a:r>
              <a:rPr kumimoji="1" lang="zh-CN" altLang="en-US" sz="2800" b="0" i="0" u="none" strike="noStrike" kern="1200" cap="none" spc="0" normalizeH="0" baseline="0" noProof="0">
                <a:ln>
                  <a:noFill/>
                </a:ln>
                <a:solidFill>
                  <a:srgbClr val="FF0000"/>
                </a:solidFill>
                <a:effectLst/>
                <a:uLnTx/>
                <a:uFillTx/>
                <a:latin typeface="+mn-ea"/>
                <a:ea typeface="+mn-ea"/>
                <a:cs typeface="+mn-cs"/>
              </a:rPr>
              <a:t>）</a:t>
            </a:r>
            <a:endParaRPr kumimoji="1" lang="en-US" altLang="zh-CN" sz="2800" b="0" i="0" u="none" strike="noStrike" kern="1200" cap="none" spc="0" normalizeH="0" baseline="0" noProof="0">
              <a:ln>
                <a:noFill/>
              </a:ln>
              <a:solidFill>
                <a:srgbClr val="FF0000"/>
              </a:solidFill>
              <a:effectLst/>
              <a:uLnTx/>
              <a:uFillTx/>
              <a:latin typeface="+mn-ea"/>
              <a:ea typeface="+mn-ea"/>
              <a:cs typeface="+mn-cs"/>
            </a:endParaRPr>
          </a:p>
          <a:p>
            <a:pPr marR="0" lvl="0" indent="711200" algn="just" defTabSz="914400" rtl="0">
              <a:lnSpc>
                <a:spcPct val="125000"/>
              </a:lnSpc>
              <a:spcBef>
                <a:spcPts val="0"/>
              </a:spcBef>
              <a:buClrTx/>
              <a:buSzTx/>
              <a:buFontTx/>
              <a:defRPr/>
              <a:extLst>
                <a:ext uri="{35155182-B16C-46BC-9424-99874614C6A1}">
                  <wpsdc:indentchars xmlns:wpsdc="http://www.wps.cn/officeDocument/2017/drawingmlCustomData" xmlns="" val="200" checksum="3773799597"/>
                </a:ext>
              </a:extLst>
            </a:pPr>
            <a:r>
              <a:rPr kumimoji="1" lang="zh-CN" altLang="en-US" sz="2800" b="0" i="0" u="none" strike="noStrike" kern="1200" cap="none" spc="0" normalizeH="0" baseline="0" noProof="0">
                <a:ln>
                  <a:noFill/>
                </a:ln>
                <a:solidFill>
                  <a:schemeClr val="tx1"/>
                </a:solidFill>
                <a:effectLst/>
                <a:uLnTx/>
                <a:uFillTx/>
                <a:latin typeface="+mn-ea"/>
                <a:ea typeface="+mn-ea"/>
                <a:cs typeface="+mn-cs"/>
              </a:rPr>
              <a:t>将一个集合并入另一个集合</a:t>
            </a:r>
          </a:p>
        </p:txBody>
      </p:sp>
      <p:sp>
        <p:nvSpPr>
          <p:cNvPr id="113668"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并查集的定义</a:t>
            </a:r>
          </a:p>
        </p:txBody>
      </p:sp>
      <p:sp>
        <p:nvSpPr>
          <p:cNvPr id="4" name="文本框 3"/>
          <p:cNvSpPr txBox="1"/>
          <p:nvPr/>
        </p:nvSpPr>
        <p:spPr>
          <a:xfrm>
            <a:off x="719773" y="1412875"/>
            <a:ext cx="7855585" cy="2245360"/>
          </a:xfrm>
          <a:prstGeom prst="rect">
            <a:avLst/>
          </a:prstGeom>
          <a:noFill/>
        </p:spPr>
        <p:txBody>
          <a:bodyPr wrap="square" rtlCol="0">
            <a:spAutoFit/>
          </a:bodyPr>
          <a:lstStyle/>
          <a:p>
            <a:pPr indent="711200" algn="just">
              <a:lnSpc>
                <a:spcPct val="125000"/>
              </a:lnSpc>
              <a:extLst>
                <a:ext uri="{35155182-B16C-46BC-9424-99874614C6A1}">
                  <wpsdc:indentchars xmlns:wpsdc="http://www.wps.cn/officeDocument/2017/drawingmlCustomData" xmlns="" val="200" checksum="3773799597"/>
                </a:ext>
              </a:extLst>
            </a:pPr>
            <a:r>
              <a:rPr kumimoji="1" lang="zh-CN" altLang="en-US" b="0" noProof="0">
                <a:ln>
                  <a:noFill/>
                </a:ln>
                <a:solidFill>
                  <a:srgbClr val="FF0000"/>
                </a:solidFill>
                <a:effectLst/>
                <a:uLnTx/>
                <a:uFillTx/>
                <a:latin typeface="+mn-ea"/>
                <a:ea typeface="+mn-ea"/>
                <a:sym typeface="+mn-ea"/>
              </a:rPr>
              <a:t>并查集</a:t>
            </a:r>
            <a:r>
              <a:rPr kumimoji="1" lang="zh-CN" altLang="en-US" b="0" noProof="0">
                <a:ln>
                  <a:noFill/>
                </a:ln>
                <a:solidFill>
                  <a:srgbClr val="FF0000"/>
                </a:solidFill>
                <a:effectLst/>
                <a:uLnTx/>
                <a:uFillTx/>
                <a:sym typeface="+mn-ea"/>
              </a:rPr>
              <a:t>（Union-find Set），</a:t>
            </a:r>
            <a:r>
              <a:rPr kumimoji="1" lang="zh-CN" altLang="en-US" b="0" noProof="0">
                <a:ln>
                  <a:noFill/>
                </a:ln>
                <a:effectLst/>
                <a:uLnTx/>
                <a:uFillTx/>
                <a:latin typeface="+mn-ea"/>
                <a:ea typeface="+mn-ea"/>
                <a:sym typeface="+mn-ea"/>
              </a:rPr>
              <a:t>亦称为不相交集合，核心在于动态维护元素的归属关系。支持查找和合并两种关键操作，采用树结构表示元素及其所属子集的关系。</a:t>
            </a:r>
            <a:endParaRPr lang="zh-CN" alt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1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3668"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并查集的定义</a:t>
            </a:r>
          </a:p>
        </p:txBody>
      </p:sp>
      <mc:AlternateContent xmlns:mc="http://schemas.openxmlformats.org/markup-compatibility/2006" xmlns:a14="http://schemas.microsoft.com/office/drawing/2010/main">
        <mc:Choice Requires="a14">
          <p:sp>
            <p:nvSpPr>
              <p:cNvPr id="4" name="文本框 3"/>
              <p:cNvSpPr txBox="1"/>
              <p:nvPr/>
            </p:nvSpPr>
            <p:spPr>
              <a:xfrm>
                <a:off x="719773" y="1412875"/>
                <a:ext cx="7855585" cy="4399915"/>
              </a:xfrm>
              <a:prstGeom prst="rect">
                <a:avLst/>
              </a:prstGeom>
              <a:noFill/>
            </p:spPr>
            <p:txBody>
              <a:bodyPr wrap="square" rtlCol="0">
                <a:spAutoFit/>
              </a:bodyPr>
              <a:lstStyle/>
              <a:p>
                <a:pPr indent="711200" algn="just">
                  <a:lnSpc>
                    <a:spcPct val="125000"/>
                  </a:lnSpc>
                  <a:extLst>
                    <a:ext uri="{35155182-B16C-46BC-9424-99874614C6A1}">
                      <wpsdc:indentchars xmlns:wpsdc="http://www.wps.cn/officeDocument/2017/drawingmlCustomData" xmlns="" val="200" checksum="3773799597"/>
                    </a:ext>
                  </a:extLst>
                </a:pPr>
                <a:r>
                  <a:rPr kumimoji="1" lang="zh-CN" altLang="en-US" b="0" noProof="0">
                    <a:ln>
                      <a:noFill/>
                    </a:ln>
                    <a:effectLst/>
                    <a:uLnTx/>
                    <a:uFillTx/>
                    <a:ea typeface="微软雅黑" panose="020B0503020204020204" pitchFamily="34" charset="-122"/>
                    <a:cs typeface="微软雅黑" panose="020B0503020204020204" pitchFamily="34" charset="-122"/>
                    <a:sym typeface="+mn-ea"/>
                  </a:rPr>
                  <a:t>在同一集合内的元素构成一个</a:t>
                </a:r>
                <a:r>
                  <a:rPr kumimoji="1" lang="zh-CN" altLang="en-US" b="0" noProof="0">
                    <a:ln>
                      <a:noFill/>
                    </a:ln>
                    <a:solidFill>
                      <a:srgbClr val="FF0000"/>
                    </a:solidFill>
                    <a:effectLst/>
                    <a:uLnTx/>
                    <a:uFillTx/>
                    <a:ea typeface="微软雅黑" panose="020B0503020204020204" pitchFamily="34" charset="-122"/>
                    <a:cs typeface="微软雅黑" panose="020B0503020204020204" pitchFamily="34" charset="-122"/>
                    <a:sym typeface="+mn-ea"/>
                  </a:rPr>
                  <a:t>等价类</a:t>
                </a:r>
                <a:r>
                  <a:rPr kumimoji="1" lang="zh-CN" altLang="en-US" b="0" noProof="0">
                    <a:ln>
                      <a:noFill/>
                    </a:ln>
                    <a:effectLst/>
                    <a:uLnTx/>
                    <a:uFillTx/>
                    <a:ea typeface="微软雅黑" panose="020B0503020204020204" pitchFamily="34" charset="-122"/>
                    <a:cs typeface="微软雅黑" panose="020B0503020204020204" pitchFamily="34" charset="-122"/>
                    <a:sym typeface="+mn-ea"/>
                  </a:rPr>
                  <a:t>，彼此之间具有等价关系 （用符号</a:t>
                </a:r>
                <a14:m>
                  <m:oMath xmlns:m="http://schemas.openxmlformats.org/officeDocument/2006/math">
                    <m:r>
                      <a:rPr kumimoji="1" lang="en-US" altLang="zh-CN" i="1" noProof="0">
                        <a:ln>
                          <a:noFill/>
                        </a:ln>
                        <a:effectLst/>
                        <a:uLnTx/>
                        <a:uFillTx/>
                        <a:latin typeface="Cambria Math" panose="02040503050406030204" charset="0"/>
                        <a:ea typeface="MS Mincho" charset="0"/>
                        <a:cs typeface="Cambria Math" panose="02040503050406030204" charset="0"/>
                        <a:sym typeface="+mn-ea"/>
                      </a:rPr>
                      <m:t>“≡”</m:t>
                    </m:r>
                  </m:oMath>
                </a14:m>
                <a:r>
                  <a:rPr kumimoji="1" lang="zh-CN" altLang="en-US" b="0" noProof="0">
                    <a:ln>
                      <a:noFill/>
                    </a:ln>
                    <a:effectLst/>
                    <a:uLnTx/>
                    <a:uFillTx/>
                    <a:ea typeface="微软雅黑" panose="020B0503020204020204" pitchFamily="34" charset="-122"/>
                    <a:cs typeface="Cambria Math" panose="02040503050406030204" charset="0"/>
                    <a:sym typeface="+mn-ea"/>
                  </a:rPr>
                  <a:t>表示）</a:t>
                </a:r>
                <a:r>
                  <a:rPr kumimoji="1" lang="zh-CN" altLang="en-US" b="0" noProof="0">
                    <a:ln>
                      <a:noFill/>
                    </a:ln>
                    <a:effectLst/>
                    <a:uLnTx/>
                    <a:uFillTx/>
                    <a:ea typeface="微软雅黑" panose="020B0503020204020204" pitchFamily="34" charset="-122"/>
                    <a:cs typeface="微软雅黑" panose="020B0503020204020204" pitchFamily="34" charset="-122"/>
                    <a:sym typeface="+mn-ea"/>
                  </a:rPr>
                  <a:t>；而不同集合内的元素则不具备这种等价性。</a:t>
                </a:r>
              </a:p>
              <a:p>
                <a:pPr indent="711200" algn="just">
                  <a:lnSpc>
                    <a:spcPct val="125000"/>
                  </a:lnSpc>
                  <a:extLst>
                    <a:ext uri="{35155182-B16C-46BC-9424-99874614C6A1}">
                      <wpsdc:indentchars xmlns:wpsdc="http://www.wps.cn/officeDocument/2017/drawingmlCustomData" xmlns="" val="200" checksum="3773799597"/>
                    </a:ext>
                  </a:extLst>
                </a:pPr>
                <a:r>
                  <a:rPr kumimoji="1" lang="zh-CN" altLang="en-US" b="0" noProof="0">
                    <a:ln>
                      <a:noFill/>
                    </a:ln>
                    <a:effectLst/>
                    <a:uLnTx/>
                    <a:uFillTx/>
                    <a:ea typeface="微软雅黑" panose="020B0503020204020204" pitchFamily="34" charset="-122"/>
                    <a:cs typeface="微软雅黑" panose="020B0503020204020204" pitchFamily="34" charset="-122"/>
                    <a:sym typeface="+mn-ea"/>
                  </a:rPr>
                  <a:t>对于某一集合中的任意元素</a:t>
                </a:r>
                <a14:m>
                  <m:oMath xmlns:m="http://schemas.openxmlformats.org/officeDocument/2006/math">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𝑥</m:t>
                    </m:r>
                    <m:r>
                      <a:rPr kumimoji="1" lang="en-US" altLang="zh-CN" b="0" i="1" noProof="0">
                        <a:ln>
                          <a:noFill/>
                        </a:ln>
                        <a:effectLst/>
                        <a:uLnTx/>
                        <a:uFillTx/>
                        <a:latin typeface="Cambria Math" panose="02040503050406030204" charset="0"/>
                        <a:ea typeface="MS Mincho" charset="0"/>
                        <a:cs typeface="Cambria Math" panose="02040503050406030204" charset="0"/>
                        <a:sym typeface="+mn-ea"/>
                      </a:rPr>
                      <m:t>、</m:t>
                    </m:r>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𝑦</m:t>
                    </m:r>
                    <m:r>
                      <a:rPr kumimoji="1" lang="en-US" altLang="zh-CN" b="0" i="1" noProof="0">
                        <a:ln>
                          <a:noFill/>
                        </a:ln>
                        <a:effectLst/>
                        <a:uLnTx/>
                        <a:uFillTx/>
                        <a:latin typeface="Cambria Math" panose="02040503050406030204" charset="0"/>
                        <a:ea typeface="MS Mincho" charset="0"/>
                        <a:cs typeface="Cambria Math" panose="02040503050406030204" charset="0"/>
                        <a:sym typeface="+mn-ea"/>
                      </a:rPr>
                      <m:t>、</m:t>
                    </m:r>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𝑧</m:t>
                    </m:r>
                  </m:oMath>
                </a14:m>
                <a:r>
                  <a:rPr kumimoji="1" lang="zh-CN" altLang="en-US" b="0" noProof="0">
                    <a:ln>
                      <a:noFill/>
                    </a:ln>
                    <a:effectLst/>
                    <a:uLnTx/>
                    <a:uFillTx/>
                    <a:ea typeface="微软雅黑" panose="020B0503020204020204" pitchFamily="34" charset="-122"/>
                    <a:cs typeface="Cambria Math" panose="02040503050406030204" charset="0"/>
                    <a:sym typeface="+mn-ea"/>
                  </a:rPr>
                  <a:t>，均满足以下</a:t>
                </a:r>
                <a:r>
                  <a:rPr kumimoji="1" lang="en-US" altLang="zh-CN" b="0" noProof="0">
                    <a:ln>
                      <a:noFill/>
                    </a:ln>
                    <a:effectLst/>
                    <a:uLnTx/>
                    <a:uFillTx/>
                    <a:ea typeface="微软雅黑" panose="020B0503020204020204" pitchFamily="34" charset="-122"/>
                    <a:cs typeface="Cambria Math" panose="02040503050406030204" charset="0"/>
                    <a:sym typeface="+mn-ea"/>
                  </a:rPr>
                  <a:t>3</a:t>
                </a:r>
                <a:r>
                  <a:rPr kumimoji="1" lang="zh-CN" altLang="en-US" b="0" noProof="0">
                    <a:ln>
                      <a:noFill/>
                    </a:ln>
                    <a:effectLst/>
                    <a:uLnTx/>
                    <a:uFillTx/>
                    <a:ea typeface="微软雅黑" panose="020B0503020204020204" pitchFamily="34" charset="-122"/>
                    <a:cs typeface="Cambria Math" panose="02040503050406030204" charset="0"/>
                    <a:sym typeface="+mn-ea"/>
                  </a:rPr>
                  <a:t>个性质：</a:t>
                </a:r>
              </a:p>
              <a:p>
                <a:pPr marL="514350" indent="-514350" algn="just">
                  <a:lnSpc>
                    <a:spcPct val="125000"/>
                  </a:lnSpc>
                  <a:buFont typeface="+mj-lt"/>
                  <a:buAutoNum type="arabicPeriod"/>
                </a:pPr>
                <a:r>
                  <a:rPr kumimoji="1" lang="zh-CN" altLang="en-US" b="0" noProof="0">
                    <a:ln>
                      <a:noFill/>
                    </a:ln>
                    <a:effectLst/>
                    <a:uLnTx/>
                    <a:uFillTx/>
                    <a:ea typeface="微软雅黑" panose="020B0503020204020204" pitchFamily="34" charset="-122"/>
                    <a:cs typeface="Cambria Math" panose="02040503050406030204" charset="0"/>
                    <a:sym typeface="+mn-ea"/>
                  </a:rPr>
                  <a:t>自反性：</a:t>
                </a:r>
                <a14:m>
                  <m:oMath xmlns:m="http://schemas.openxmlformats.org/officeDocument/2006/math">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𝑥</m:t>
                    </m:r>
                    <m:r>
                      <a:rPr kumimoji="1" lang="en-US" altLang="zh-CN" i="1" noProof="0">
                        <a:ln>
                          <a:noFill/>
                        </a:ln>
                        <a:effectLst/>
                        <a:uLnTx/>
                        <a:uFillTx/>
                        <a:latin typeface="Cambria Math" panose="02040503050406030204" charset="0"/>
                        <a:ea typeface="MS Mincho" charset="0"/>
                        <a:cs typeface="Cambria Math" panose="02040503050406030204" charset="0"/>
                        <a:sym typeface="+mn-ea"/>
                      </a:rPr>
                      <m:t>≡</m:t>
                    </m:r>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𝑥</m:t>
                    </m:r>
                  </m:oMath>
                </a14:m>
                <a:r>
                  <a:rPr kumimoji="1" lang="zh-CN" altLang="en-US" b="0" noProof="0">
                    <a:ln>
                      <a:noFill/>
                    </a:ln>
                    <a:effectLst/>
                    <a:uLnTx/>
                    <a:uFillTx/>
                    <a:ea typeface="微软雅黑" panose="020B0503020204020204" pitchFamily="34" charset="-122"/>
                    <a:cs typeface="Cambria Math" panose="02040503050406030204" charset="0"/>
                    <a:sym typeface="+mn-ea"/>
                  </a:rPr>
                  <a:t>（即等于自身）；</a:t>
                </a:r>
              </a:p>
              <a:p>
                <a:pPr marL="514350" indent="-514350" algn="just">
                  <a:lnSpc>
                    <a:spcPct val="125000"/>
                  </a:lnSpc>
                  <a:buFont typeface="+mj-lt"/>
                  <a:buAutoNum type="arabicPeriod"/>
                </a:pPr>
                <a:r>
                  <a:rPr kumimoji="1" lang="zh-CN" altLang="en-US" b="0" noProof="0">
                    <a:ln>
                      <a:noFill/>
                    </a:ln>
                    <a:effectLst/>
                    <a:uLnTx/>
                    <a:uFillTx/>
                    <a:ea typeface="微软雅黑" panose="020B0503020204020204" pitchFamily="34" charset="-122"/>
                    <a:cs typeface="Cambria Math" panose="02040503050406030204" charset="0"/>
                    <a:sym typeface="+mn-ea"/>
                  </a:rPr>
                  <a:t>对称性：若</a:t>
                </a:r>
                <a14:m>
                  <m:oMath xmlns:m="http://schemas.openxmlformats.org/officeDocument/2006/math">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𝑥</m:t>
                    </m:r>
                    <m:r>
                      <a:rPr kumimoji="1" lang="en-US" altLang="zh-CN" i="1" noProof="0">
                        <a:ln>
                          <a:noFill/>
                        </a:ln>
                        <a:effectLst/>
                        <a:uLnTx/>
                        <a:uFillTx/>
                        <a:latin typeface="Cambria Math" panose="02040503050406030204" charset="0"/>
                        <a:ea typeface="MS Mincho" charset="0"/>
                        <a:cs typeface="Cambria Math" panose="02040503050406030204" charset="0"/>
                        <a:sym typeface="+mn-ea"/>
                      </a:rPr>
                      <m:t>≡</m:t>
                    </m:r>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𝑦</m:t>
                    </m:r>
                  </m:oMath>
                </a14:m>
                <a:r>
                  <a:rPr kumimoji="1" lang="zh-CN" altLang="en-US" b="0" noProof="0">
                    <a:ln>
                      <a:noFill/>
                    </a:ln>
                    <a:effectLst/>
                    <a:uLnTx/>
                    <a:uFillTx/>
                    <a:ea typeface="微软雅黑" panose="020B0503020204020204" pitchFamily="34" charset="-122"/>
                    <a:cs typeface="Cambria Math" panose="02040503050406030204" charset="0"/>
                    <a:sym typeface="+mn-ea"/>
                  </a:rPr>
                  <a:t>，则</a:t>
                </a:r>
                <a14:m>
                  <m:oMath xmlns:m="http://schemas.openxmlformats.org/officeDocument/2006/math">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𝑦</m:t>
                    </m:r>
                    <m:r>
                      <a:rPr kumimoji="1" lang="en-US" altLang="zh-CN" i="1" noProof="0">
                        <a:ln>
                          <a:noFill/>
                        </a:ln>
                        <a:effectLst/>
                        <a:uLnTx/>
                        <a:uFillTx/>
                        <a:latin typeface="Cambria Math" panose="02040503050406030204" charset="0"/>
                        <a:ea typeface="MS Mincho" charset="0"/>
                        <a:cs typeface="Cambria Math" panose="02040503050406030204" charset="0"/>
                        <a:sym typeface="+mn-ea"/>
                      </a:rPr>
                      <m:t>≡</m:t>
                    </m:r>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𝑥</m:t>
                    </m:r>
                  </m:oMath>
                </a14:m>
                <a:r>
                  <a:rPr kumimoji="1" lang="zh-CN" altLang="en-US" b="0" noProof="0">
                    <a:ln>
                      <a:noFill/>
                    </a:ln>
                    <a:effectLst/>
                    <a:uLnTx/>
                    <a:uFillTx/>
                    <a:ea typeface="微软雅黑" panose="020B0503020204020204" pitchFamily="34" charset="-122"/>
                    <a:cs typeface="Cambria Math" panose="02040503050406030204" charset="0"/>
                    <a:sym typeface="+mn-ea"/>
                  </a:rPr>
                  <a:t>；</a:t>
                </a:r>
              </a:p>
              <a:p>
                <a:pPr marL="514350" indent="-514350" algn="just">
                  <a:lnSpc>
                    <a:spcPct val="125000"/>
                  </a:lnSpc>
                  <a:buFont typeface="+mj-lt"/>
                  <a:buAutoNum type="arabicPeriod"/>
                </a:pPr>
                <a:r>
                  <a:rPr kumimoji="1" lang="zh-CN" altLang="en-US" b="0" noProof="0">
                    <a:ln>
                      <a:noFill/>
                    </a:ln>
                    <a:effectLst/>
                    <a:uLnTx/>
                    <a:uFillTx/>
                    <a:ea typeface="微软雅黑" panose="020B0503020204020204" pitchFamily="34" charset="-122"/>
                    <a:cs typeface="Cambria Math" panose="02040503050406030204" charset="0"/>
                    <a:sym typeface="+mn-ea"/>
                  </a:rPr>
                  <a:t>传递性：若</a:t>
                </a:r>
                <a14:m>
                  <m:oMath xmlns:m="http://schemas.openxmlformats.org/officeDocument/2006/math">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𝑥</m:t>
                    </m:r>
                    <m:r>
                      <a:rPr kumimoji="1" lang="en-US" altLang="zh-CN" i="1" noProof="0">
                        <a:ln>
                          <a:noFill/>
                        </a:ln>
                        <a:effectLst/>
                        <a:uLnTx/>
                        <a:uFillTx/>
                        <a:latin typeface="Cambria Math" panose="02040503050406030204" charset="0"/>
                        <a:ea typeface="MS Mincho" charset="0"/>
                        <a:cs typeface="Cambria Math" panose="02040503050406030204" charset="0"/>
                        <a:sym typeface="+mn-ea"/>
                      </a:rPr>
                      <m:t>≡</m:t>
                    </m:r>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𝑦</m:t>
                    </m:r>
                  </m:oMath>
                </a14:m>
                <a:r>
                  <a:rPr kumimoji="1" lang="zh-CN" altLang="en-US" b="0" noProof="0">
                    <a:ln>
                      <a:noFill/>
                    </a:ln>
                    <a:effectLst/>
                    <a:uLnTx/>
                    <a:uFillTx/>
                    <a:ea typeface="微软雅黑" panose="020B0503020204020204" pitchFamily="34" charset="-122"/>
                    <a:cs typeface="Cambria Math" panose="02040503050406030204" charset="0"/>
                    <a:sym typeface="+mn-ea"/>
                  </a:rPr>
                  <a:t>且</a:t>
                </a:r>
                <a14:m>
                  <m:oMath xmlns:m="http://schemas.openxmlformats.org/officeDocument/2006/math">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𝑦</m:t>
                    </m:r>
                    <m:r>
                      <a:rPr kumimoji="1" lang="en-US" altLang="zh-CN" i="1" noProof="0">
                        <a:ln>
                          <a:noFill/>
                        </a:ln>
                        <a:effectLst/>
                        <a:uLnTx/>
                        <a:uFillTx/>
                        <a:latin typeface="Cambria Math" panose="02040503050406030204" charset="0"/>
                        <a:ea typeface="MS Mincho" charset="0"/>
                        <a:cs typeface="Cambria Math" panose="02040503050406030204" charset="0"/>
                        <a:sym typeface="+mn-ea"/>
                      </a:rPr>
                      <m:t>≡</m:t>
                    </m:r>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𝑧</m:t>
                    </m:r>
                  </m:oMath>
                </a14:m>
                <a:r>
                  <a:rPr kumimoji="1" lang="zh-CN" altLang="en-US" b="0" noProof="0">
                    <a:ln>
                      <a:noFill/>
                    </a:ln>
                    <a:effectLst/>
                    <a:uLnTx/>
                    <a:uFillTx/>
                    <a:ea typeface="微软雅黑" panose="020B0503020204020204" pitchFamily="34" charset="-122"/>
                    <a:cs typeface="Cambria Math" panose="02040503050406030204" charset="0"/>
                    <a:sym typeface="+mn-ea"/>
                  </a:rPr>
                  <a:t>，则</a:t>
                </a:r>
                <a14:m>
                  <m:oMath xmlns:m="http://schemas.openxmlformats.org/officeDocument/2006/math">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𝑥</m:t>
                    </m:r>
                    <m:r>
                      <a:rPr kumimoji="1" lang="en-US" altLang="zh-CN" i="1" noProof="0">
                        <a:ln>
                          <a:noFill/>
                        </a:ln>
                        <a:effectLst/>
                        <a:uLnTx/>
                        <a:uFillTx/>
                        <a:latin typeface="Cambria Math" panose="02040503050406030204" charset="0"/>
                        <a:ea typeface="MS Mincho" charset="0"/>
                        <a:cs typeface="Cambria Math" panose="02040503050406030204" charset="0"/>
                        <a:sym typeface="+mn-ea"/>
                      </a:rPr>
                      <m:t>≡</m:t>
                    </m:r>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𝑧</m:t>
                    </m:r>
                  </m:oMath>
                </a14:m>
                <a:r>
                  <a:rPr kumimoji="1" lang="zh-CN" altLang="en-US" b="0" noProof="0">
                    <a:ln>
                      <a:noFill/>
                    </a:ln>
                    <a:effectLst/>
                    <a:uLnTx/>
                    <a:uFillTx/>
                    <a:ea typeface="微软雅黑" panose="020B0503020204020204" pitchFamily="34" charset="-122"/>
                    <a:cs typeface="Cambria Math" panose="02040503050406030204" charset="0"/>
                    <a:sym typeface="+mn-ea"/>
                  </a:rPr>
                  <a:t>；</a:t>
                </a:r>
              </a:p>
            </p:txBody>
          </p:sp>
        </mc:Choice>
        <mc:Fallback xmlns="">
          <p:sp>
            <p:nvSpPr>
              <p:cNvPr id="4" name="文本框 3"/>
              <p:cNvSpPr txBox="1">
                <a:spLocks noRot="1" noChangeAspect="1" noMove="1" noResize="1" noEditPoints="1" noAdjustHandles="1" noChangeArrowheads="1" noChangeShapeType="1" noTextEdit="1"/>
              </p:cNvSpPr>
              <p:nvPr/>
            </p:nvSpPr>
            <p:spPr>
              <a:xfrm>
                <a:off x="719773" y="1412875"/>
                <a:ext cx="7855585" cy="4399915"/>
              </a:xfrm>
              <a:prstGeom prst="rect">
                <a:avLst/>
              </a:prstGeom>
              <a:blipFill rotWithShape="1">
                <a:blip r:embed="rId2"/>
                <a:stretch>
                  <a:fillRect l="-4" r="4"/>
                </a:stretch>
              </a:blipFill>
            </p:spPr>
            <p:txBody>
              <a:bodyPr/>
              <a:lstStyle/>
              <a:p>
                <a:r>
                  <a:rPr lang="zh-CN" altLang="en-US">
                    <a:noFill/>
                  </a:rPr>
                  <a:t> </a:t>
                </a:r>
              </a:p>
            </p:txBody>
          </p:sp>
        </mc:Fallback>
      </mc:AlternateContent>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1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3668"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并查集的应用</a:t>
            </a:r>
            <a:endParaRPr lang="en-US" altLang="zh-CN" sz="2800" dirty="0">
              <a:solidFill>
                <a:schemeClr val="bg1"/>
              </a:solidFill>
              <a:sym typeface="+mn-lt"/>
            </a:endParaRPr>
          </a:p>
        </p:txBody>
      </p:sp>
      <p:sp>
        <p:nvSpPr>
          <p:cNvPr id="4" name="文本框 3"/>
          <p:cNvSpPr txBox="1"/>
          <p:nvPr/>
        </p:nvSpPr>
        <p:spPr>
          <a:xfrm>
            <a:off x="729298" y="1196975"/>
            <a:ext cx="7855585" cy="2245360"/>
          </a:xfrm>
          <a:prstGeom prst="rect">
            <a:avLst/>
          </a:prstGeom>
          <a:noFill/>
        </p:spPr>
        <p:txBody>
          <a:bodyPr wrap="square" rtlCol="0">
            <a:spAutoFit/>
          </a:bodyPr>
          <a:lstStyle/>
          <a:p>
            <a:pPr indent="711200" algn="just">
              <a:lnSpc>
                <a:spcPct val="125000"/>
              </a:lnSpc>
              <a:extLst>
                <a:ext uri="{35155182-B16C-46BC-9424-99874614C6A1}">
                  <wpsdc:indentchars xmlns:wpsdc="http://www.wps.cn/officeDocument/2017/drawingmlCustomData" xmlns="" val="200" checksum="3773799597"/>
                </a:ext>
              </a:extLst>
            </a:pPr>
            <a:r>
              <a:rPr kumimoji="1" b="0" noProof="0">
                <a:ln>
                  <a:noFill/>
                </a:ln>
                <a:effectLst/>
                <a:uLnTx/>
                <a:uFillTx/>
                <a:ea typeface="微软雅黑" panose="020B0503020204020204" pitchFamily="34" charset="-122"/>
                <a:cs typeface="Times New Roman" panose="02020603050405020304" pitchFamily="18" charset="0"/>
                <a:sym typeface="+mn-ea"/>
              </a:rPr>
              <a:t>例如，判断10个人(编号0-9)之间是否存在亲戚关系。已知1与2、5与6、3与4、1与4、5与8之间存在亲戚关系，判断2与3之间是否存在亲戚关系。</a:t>
            </a:r>
          </a:p>
        </p:txBody>
      </p:sp>
      <p:sp>
        <p:nvSpPr>
          <p:cNvPr id="2" name="圆角矩形 1"/>
          <p:cNvSpPr/>
          <p:nvPr/>
        </p:nvSpPr>
        <p:spPr>
          <a:xfrm>
            <a:off x="3851910" y="5733415"/>
            <a:ext cx="900430" cy="360045"/>
          </a:xfrm>
          <a:prstGeom prst="roundRect">
            <a:avLst/>
          </a:prstGeom>
          <a:solidFill>
            <a:schemeClr val="accent1"/>
          </a:solidFill>
          <a:ln w="9525" cap="flat" cmpd="sng" algn="ctr">
            <a:noFill/>
            <a:prstDash val="solid"/>
            <a:round/>
            <a:headEnd type="none" w="med" len="med"/>
            <a:tailEnd type="none" w="med" len="med"/>
          </a:ln>
        </p:spPr>
        <p:txBody>
          <a:bodyPr vert="horz" wrap="square" lIns="91440" tIns="45720" rIns="91440" bIns="45720" numCol="1"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graphicFrame>
        <p:nvGraphicFramePr>
          <p:cNvPr id="3" name="表格 2"/>
          <p:cNvGraphicFramePr/>
          <p:nvPr/>
        </p:nvGraphicFramePr>
        <p:xfrm>
          <a:off x="845185" y="3442335"/>
          <a:ext cx="7604760" cy="2834640"/>
        </p:xfrm>
        <a:graphic>
          <a:graphicData uri="http://schemas.openxmlformats.org/drawingml/2006/table">
            <a:tbl>
              <a:tblPr firstRow="1" bandRow="1">
                <a:tableStyleId>{5C22544A-7EE6-4342-B048-85BDC9FD1C3A}</a:tableStyleId>
              </a:tblPr>
              <a:tblGrid>
                <a:gridCol w="2468245"/>
                <a:gridCol w="5136515"/>
              </a:tblGrid>
              <a:tr h="381000">
                <a:tc>
                  <a:txBody>
                    <a:bodyPr/>
                    <a:lstStyle/>
                    <a:p>
                      <a:pPr algn="ctr"/>
                      <a:r>
                        <a:rPr lang="zh-CN" altLang="en-US" sz="2400"/>
                        <a:t>输入关系</a:t>
                      </a:r>
                    </a:p>
                  </a:txBody>
                  <a:tcPr anchor="ctr"/>
                </a:tc>
                <a:tc>
                  <a:txBody>
                    <a:bodyPr/>
                    <a:lstStyle/>
                    <a:p>
                      <a:pPr algn="ctr">
                        <a:buNone/>
                      </a:pPr>
                      <a:r>
                        <a:rPr lang="zh-CN" altLang="en-US" sz="2400"/>
                        <a:t>集合</a:t>
                      </a:r>
                    </a:p>
                  </a:txBody>
                  <a:tcPr/>
                </a:tc>
              </a:tr>
              <a:tr h="381000">
                <a:tc>
                  <a:txBody>
                    <a:bodyPr/>
                    <a:lstStyle/>
                    <a:p>
                      <a:pPr algn="ctr"/>
                      <a:r>
                        <a:rPr lang="zh-CN" altLang="en-US" sz="2000">
                          <a:latin typeface="Times New Roman" panose="02020603050405020304" pitchFamily="18" charset="0"/>
                          <a:ea typeface="微软雅黑" panose="020B0503020204020204" pitchFamily="34" charset="-122"/>
                        </a:rPr>
                        <a:t>初始状态</a:t>
                      </a:r>
                    </a:p>
                  </a:txBody>
                  <a:tcPr anchor="ctr"/>
                </a:tc>
                <a:tc>
                  <a:txBody>
                    <a:bodyPr/>
                    <a:lstStyle/>
                    <a:p>
                      <a:pPr>
                        <a:buNone/>
                      </a:pPr>
                      <a:r>
                        <a:rPr lang="zh-CN" altLang="en-US" sz="2000"/>
                        <a:t>{0},{1},{2},{3},{4},{5},{6},{7},{8},{9}</a:t>
                      </a:r>
                    </a:p>
                  </a:txBody>
                  <a:tcPr/>
                </a:tc>
              </a:tr>
              <a:tr h="381000">
                <a:tc>
                  <a:txBody>
                    <a:bodyPr/>
                    <a:lstStyle/>
                    <a:p>
                      <a:pPr algn="ctr"/>
                      <a:r>
                        <a:rPr lang="en-US" altLang="zh-CN" sz="2000">
                          <a:latin typeface="Times New Roman" panose="02020603050405020304" pitchFamily="18" charset="0"/>
                          <a:ea typeface="微软雅黑" panose="020B0503020204020204" pitchFamily="34" charset="-122"/>
                          <a:cs typeface="Times New Roman" panose="02020603050405020304" pitchFamily="18" charset="0"/>
                        </a:rPr>
                        <a:t>1 2</a:t>
                      </a:r>
                    </a:p>
                  </a:txBody>
                  <a:tcPr anchor="ctr"/>
                </a:tc>
                <a:tc>
                  <a:txBody>
                    <a:bodyPr/>
                    <a:lstStyle/>
                    <a:p>
                      <a:pPr>
                        <a:buNone/>
                      </a:pPr>
                      <a:r>
                        <a:rPr lang="zh-CN" altLang="en-US" sz="2000"/>
                        <a:t>{0},</a:t>
                      </a:r>
                      <a:r>
                        <a:rPr lang="zh-CN" altLang="en-US" sz="2000">
                          <a:solidFill>
                            <a:srgbClr val="FF0000"/>
                          </a:solidFill>
                        </a:rPr>
                        <a:t>{1,2}</a:t>
                      </a:r>
                      <a:r>
                        <a:rPr lang="zh-CN" altLang="en-US" sz="2000"/>
                        <a:t>,{3},{4},{5},{6},{7},{8},{9}</a:t>
                      </a:r>
                    </a:p>
                  </a:txBody>
                  <a:tcPr/>
                </a:tc>
              </a:tr>
              <a:tr h="396240">
                <a:tc>
                  <a:txBody>
                    <a:bodyPr/>
                    <a:lstStyle/>
                    <a:p>
                      <a:pPr algn="ctr"/>
                      <a:r>
                        <a:rPr lang="en-US" altLang="zh-CN" sz="2000">
                          <a:latin typeface="Times New Roman" panose="02020603050405020304" pitchFamily="18" charset="0"/>
                          <a:ea typeface="微软雅黑" panose="020B0503020204020204" pitchFamily="34" charset="-122"/>
                          <a:cs typeface="Times New Roman" panose="02020603050405020304" pitchFamily="18" charset="0"/>
                        </a:rPr>
                        <a:t>5 6</a:t>
                      </a:r>
                    </a:p>
                  </a:txBody>
                  <a:tcPr anchor="ctr"/>
                </a:tc>
                <a:tc>
                  <a:txBody>
                    <a:bodyPr/>
                    <a:lstStyle/>
                    <a:p>
                      <a:pPr>
                        <a:buNone/>
                      </a:pPr>
                      <a:r>
                        <a:rPr lang="zh-CN" altLang="en-US" sz="2000"/>
                        <a:t>{0},{1,2},{3},{4},</a:t>
                      </a:r>
                      <a:r>
                        <a:rPr lang="zh-CN" altLang="en-US" sz="2000">
                          <a:solidFill>
                            <a:srgbClr val="FF0000"/>
                          </a:solidFill>
                        </a:rPr>
                        <a:t>{5,6},</a:t>
                      </a:r>
                      <a:r>
                        <a:rPr lang="zh-CN" altLang="en-US" sz="2000"/>
                        <a:t>{7},{8},{9}</a:t>
                      </a:r>
                    </a:p>
                  </a:txBody>
                  <a:tcPr/>
                </a:tc>
              </a:tr>
              <a:tr h="381000">
                <a:tc>
                  <a:txBody>
                    <a:bodyPr/>
                    <a:lstStyle/>
                    <a:p>
                      <a:pPr algn="ctr"/>
                      <a:r>
                        <a:rPr lang="en-US" altLang="zh-CN" sz="2000">
                          <a:latin typeface="Times New Roman" panose="02020603050405020304" pitchFamily="18" charset="0"/>
                          <a:ea typeface="微软雅黑" panose="020B0503020204020204" pitchFamily="34" charset="-122"/>
                          <a:cs typeface="Times New Roman" panose="02020603050405020304" pitchFamily="18" charset="0"/>
                        </a:rPr>
                        <a:t>3 4</a:t>
                      </a:r>
                    </a:p>
                  </a:txBody>
                  <a:tcPr anchor="ctr"/>
                </a:tc>
                <a:tc>
                  <a:txBody>
                    <a:bodyPr/>
                    <a:lstStyle/>
                    <a:p>
                      <a:pPr>
                        <a:buNone/>
                      </a:pPr>
                      <a:r>
                        <a:rPr lang="zh-CN" altLang="en-US" sz="2000"/>
                        <a:t>{0},{1,2},</a:t>
                      </a:r>
                      <a:r>
                        <a:rPr lang="zh-CN" altLang="en-US" sz="2000">
                          <a:solidFill>
                            <a:srgbClr val="FF0000"/>
                          </a:solidFill>
                        </a:rPr>
                        <a:t>{3,4}</a:t>
                      </a:r>
                      <a:r>
                        <a:rPr lang="zh-CN" altLang="en-US" sz="2000"/>
                        <a:t>,{5,6},{7},{8},{9}</a:t>
                      </a:r>
                    </a:p>
                  </a:txBody>
                  <a:tcPr/>
                </a:tc>
              </a:tr>
              <a:tr h="381000">
                <a:tc>
                  <a:txBody>
                    <a:bodyPr/>
                    <a:lstStyle/>
                    <a:p>
                      <a:pPr algn="ctr"/>
                      <a:r>
                        <a:rPr lang="en-US" altLang="zh-CN" sz="2000">
                          <a:latin typeface="Times New Roman" panose="02020603050405020304" pitchFamily="18" charset="0"/>
                          <a:ea typeface="微软雅黑" panose="020B0503020204020204" pitchFamily="34" charset="-122"/>
                          <a:cs typeface="Times New Roman" panose="02020603050405020304" pitchFamily="18" charset="0"/>
                        </a:rPr>
                        <a:t>1 4</a:t>
                      </a:r>
                    </a:p>
                  </a:txBody>
                  <a:tcPr anchor="ctr"/>
                </a:tc>
                <a:tc>
                  <a:txBody>
                    <a:bodyPr/>
                    <a:lstStyle/>
                    <a:p>
                      <a:pPr>
                        <a:buNone/>
                      </a:pPr>
                      <a:r>
                        <a:rPr lang="zh-CN" altLang="en-US" sz="2000"/>
                        <a:t>{0},</a:t>
                      </a:r>
                      <a:r>
                        <a:rPr lang="zh-CN" altLang="en-US" sz="2000">
                          <a:solidFill>
                            <a:srgbClr val="FF0000"/>
                          </a:solidFill>
                        </a:rPr>
                        <a:t>{1,2,3,4}</a:t>
                      </a:r>
                      <a:r>
                        <a:rPr lang="zh-CN" altLang="en-US" sz="2000"/>
                        <a:t>,{5,6},{7},{8},{9}</a:t>
                      </a:r>
                    </a:p>
                  </a:txBody>
                  <a:tcPr/>
                </a:tc>
              </a:tr>
              <a:tr h="381000">
                <a:tc>
                  <a:txBody>
                    <a:bodyPr/>
                    <a:lstStyle/>
                    <a:p>
                      <a:pPr algn="ctr"/>
                      <a:r>
                        <a:rPr lang="en-US" altLang="zh-CN" sz="2000">
                          <a:latin typeface="Times New Roman" panose="02020603050405020304" pitchFamily="18" charset="0"/>
                          <a:ea typeface="微软雅黑" panose="020B0503020204020204" pitchFamily="34" charset="-122"/>
                          <a:cs typeface="Times New Roman" panose="02020603050405020304" pitchFamily="18" charset="0"/>
                        </a:rPr>
                        <a:t>5 8</a:t>
                      </a:r>
                    </a:p>
                  </a:txBody>
                  <a:tcPr anchor="ctr"/>
                </a:tc>
                <a:tc>
                  <a:txBody>
                    <a:bodyPr/>
                    <a:lstStyle/>
                    <a:p>
                      <a:pPr>
                        <a:buNone/>
                      </a:pPr>
                      <a:r>
                        <a:rPr lang="zh-CN" altLang="en-US" sz="2000"/>
                        <a:t>{0},{1,2,3,4},</a:t>
                      </a:r>
                      <a:r>
                        <a:rPr lang="zh-CN" altLang="en-US" sz="2000">
                          <a:solidFill>
                            <a:srgbClr val="FF0000"/>
                          </a:solidFill>
                        </a:rPr>
                        <a:t>{5,6,8}</a:t>
                      </a:r>
                      <a:r>
                        <a:rPr lang="zh-CN" altLang="en-US" sz="2000"/>
                        <a:t>,{7},{9}</a:t>
                      </a:r>
                    </a:p>
                  </a:txBody>
                  <a:tcPr/>
                </a:tc>
              </a:tr>
            </a:tbl>
          </a:graphicData>
        </a:graphic>
      </p:graphicFrame>
      <p:pic>
        <p:nvPicPr>
          <p:cNvPr id="8" name="图片 7" descr="对勾对号"/>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a:off x="3923665" y="5445760"/>
            <a:ext cx="753745" cy="75374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3668"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并查集的实现</a:t>
            </a:r>
            <a:endParaRPr lang="en-US" altLang="zh-CN" sz="2800" dirty="0">
              <a:solidFill>
                <a:schemeClr val="bg1"/>
              </a:solidFill>
              <a:sym typeface="+mn-lt"/>
            </a:endParaRPr>
          </a:p>
        </p:txBody>
      </p:sp>
      <p:sp>
        <p:nvSpPr>
          <p:cNvPr id="4" name="文本框 3"/>
          <p:cNvSpPr txBox="1"/>
          <p:nvPr/>
        </p:nvSpPr>
        <p:spPr>
          <a:xfrm>
            <a:off x="675958" y="1413510"/>
            <a:ext cx="7855585" cy="2245360"/>
          </a:xfrm>
          <a:prstGeom prst="rect">
            <a:avLst/>
          </a:prstGeom>
          <a:noFill/>
        </p:spPr>
        <p:txBody>
          <a:bodyPr wrap="square" rtlCol="0">
            <a:spAutoFit/>
          </a:bodyPr>
          <a:lstStyle/>
          <a:p>
            <a:pPr indent="711200" algn="just">
              <a:lnSpc>
                <a:spcPct val="125000"/>
              </a:lnSpc>
              <a:extLst>
                <a:ext uri="{35155182-B16C-46BC-9424-99874614C6A1}">
                  <wpsdc:indentchars xmlns:wpsdc="http://www.wps.cn/officeDocument/2017/drawingmlCustomData" xmlns="" val="200" checksum="3773799597"/>
                </a:ext>
              </a:extLst>
            </a:pPr>
            <a:r>
              <a:rPr kumimoji="1" b="0" noProof="0">
                <a:ln>
                  <a:noFill/>
                </a:ln>
                <a:effectLst/>
                <a:uLnTx/>
                <a:uFillTx/>
                <a:ea typeface="微软雅黑" panose="020B0503020204020204" pitchFamily="34" charset="-122"/>
                <a:cs typeface="Times New Roman" panose="02020603050405020304" pitchFamily="18" charset="0"/>
                <a:sym typeface="+mn-ea"/>
              </a:rPr>
              <a:t>并查集数据结构的实现方法有多种，可以使用数组、链表或树等。在这些方法中，</a:t>
            </a:r>
            <a:r>
              <a:rPr kumimoji="1" b="0" noProof="0">
                <a:ln>
                  <a:noFill/>
                </a:ln>
                <a:solidFill>
                  <a:srgbClr val="FF0000"/>
                </a:solidFill>
                <a:effectLst/>
                <a:uLnTx/>
                <a:uFillTx/>
                <a:ea typeface="微软雅黑" panose="020B0503020204020204" pitchFamily="34" charset="-122"/>
                <a:cs typeface="Times New Roman" panose="02020603050405020304" pitchFamily="18" charset="0"/>
                <a:sym typeface="+mn-ea"/>
              </a:rPr>
              <a:t>树的双亲表示法</a:t>
            </a:r>
            <a:r>
              <a:rPr kumimoji="1" b="0" noProof="0">
                <a:ln>
                  <a:noFill/>
                </a:ln>
                <a:solidFill>
                  <a:schemeClr val="tx1"/>
                </a:solidFill>
                <a:effectLst/>
                <a:uLnTx/>
                <a:uFillTx/>
                <a:ea typeface="微软雅黑" panose="020B0503020204020204" pitchFamily="34" charset="-122"/>
                <a:cs typeface="Times New Roman" panose="02020603050405020304" pitchFamily="18" charset="0"/>
                <a:sym typeface="+mn-ea"/>
              </a:rPr>
              <a:t>可以直观有效地表示元素与其所属子集的关系，</a:t>
            </a:r>
            <a:r>
              <a:rPr kumimoji="1" b="0" noProof="0">
                <a:ln>
                  <a:noFill/>
                </a:ln>
                <a:effectLst/>
                <a:uLnTx/>
                <a:uFillTx/>
                <a:ea typeface="微软雅黑" panose="020B0503020204020204" pitchFamily="34" charset="-122"/>
                <a:cs typeface="Times New Roman" panose="02020603050405020304" pitchFamily="18" charset="0"/>
                <a:sym typeface="+mn-ea"/>
              </a:rPr>
              <a:t>是一种常用的并查集实现方法</a:t>
            </a:r>
            <a:r>
              <a:rPr kumimoji="1" lang="zh-CN" b="0" noProof="0">
                <a:ln>
                  <a:noFill/>
                </a:ln>
                <a:effectLst/>
                <a:uLnTx/>
                <a:uFillTx/>
                <a:ea typeface="微软雅黑" panose="020B0503020204020204" pitchFamily="34" charset="-122"/>
                <a:cs typeface="Times New Roman" panose="02020603050405020304" pitchFamily="18" charset="0"/>
                <a:sym typeface="+mn-ea"/>
              </a:rPr>
              <a:t>。</a:t>
            </a:r>
            <a:endParaRPr kumimoji="1" b="0" noProof="0">
              <a:ln>
                <a:noFill/>
              </a:ln>
              <a:effectLst/>
              <a:uLnTx/>
              <a:uFillTx/>
              <a:ea typeface="微软雅黑" panose="020B0503020204020204" pitchFamily="34" charset="-122"/>
              <a:cs typeface="Times New Roman" panose="02020603050405020304" pitchFamily="18" charset="0"/>
              <a:sym typeface="+mn-ea"/>
            </a:endParaRPr>
          </a:p>
        </p:txBody>
      </p:sp>
      <p:sp>
        <p:nvSpPr>
          <p:cNvPr id="5" name="文本框 4"/>
          <p:cNvSpPr txBox="1"/>
          <p:nvPr/>
        </p:nvSpPr>
        <p:spPr>
          <a:xfrm>
            <a:off x="755650" y="3861435"/>
            <a:ext cx="7741285" cy="1383665"/>
          </a:xfrm>
          <a:prstGeom prst="rect">
            <a:avLst/>
          </a:prstGeom>
          <a:solidFill>
            <a:schemeClr val="accent1">
              <a:lumMod val="20000"/>
              <a:lumOff val="80000"/>
            </a:schemeClr>
          </a:solidFill>
        </p:spPr>
        <p:txBody>
          <a:bodyPr wrap="square" rtlCol="0">
            <a:spAutoFit/>
          </a:bodyPr>
          <a:lstStyle/>
          <a:p>
            <a:r>
              <a:rPr kumimoji="1" b="0" noProof="0">
                <a:ln>
                  <a:noFill/>
                </a:ln>
                <a:solidFill>
                  <a:srgbClr val="FF0000"/>
                </a:solidFill>
                <a:effectLst/>
                <a:uLnTx/>
                <a:uFillTx/>
                <a:ea typeface="微软雅黑" panose="020B0503020204020204" pitchFamily="34" charset="-122"/>
                <a:cs typeface="Times New Roman" panose="02020603050405020304" pitchFamily="18" charset="0"/>
                <a:sym typeface="+mn-ea"/>
              </a:rPr>
              <a:t>树的双亲表示法</a:t>
            </a:r>
            <a:r>
              <a:rPr kumimoji="1" lang="zh-CN" b="0" noProof="0">
                <a:ln>
                  <a:noFill/>
                </a:ln>
                <a:effectLst/>
                <a:uLnTx/>
                <a:uFillTx/>
                <a:ea typeface="微软雅黑" panose="020B0503020204020204" pitchFamily="34" charset="-122"/>
                <a:cs typeface="Times New Roman" panose="02020603050405020304" pitchFamily="18" charset="0"/>
                <a:sym typeface="+mn-ea"/>
              </a:rPr>
              <a:t>将每个集合表示为一棵树，树的每个结点代表集合中的一个单元素，而所</a:t>
            </a:r>
            <a:r>
              <a:rPr kumimoji="1" b="0" noProof="0">
                <a:ln>
                  <a:noFill/>
                </a:ln>
                <a:effectLst/>
                <a:uLnTx/>
                <a:uFillTx/>
                <a:ea typeface="微软雅黑" panose="020B0503020204020204" pitchFamily="34" charset="-122"/>
                <a:cs typeface="Times New Roman" panose="02020603050405020304" pitchFamily="18" charset="0"/>
                <a:sym typeface="+mn-ea"/>
              </a:rPr>
              <a:t>有集合的全集合则构成一个森林。</a:t>
            </a:r>
            <a:endParaRPr lang="zh-CN" alt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3668"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并查集的实现</a:t>
            </a:r>
            <a:endParaRPr lang="en-US" altLang="zh-CN" sz="2800" dirty="0">
              <a:solidFill>
                <a:schemeClr val="bg1"/>
              </a:solidFill>
              <a:sym typeface="+mn-lt"/>
            </a:endParaRPr>
          </a:p>
        </p:txBody>
      </p:sp>
      <p:sp>
        <p:nvSpPr>
          <p:cNvPr id="4" name="文本框 3"/>
          <p:cNvSpPr txBox="1"/>
          <p:nvPr/>
        </p:nvSpPr>
        <p:spPr>
          <a:xfrm>
            <a:off x="628491" y="838835"/>
            <a:ext cx="7855585" cy="1706880"/>
          </a:xfrm>
          <a:prstGeom prst="rect">
            <a:avLst/>
          </a:prstGeom>
          <a:noFill/>
        </p:spPr>
        <p:txBody>
          <a:bodyPr wrap="square" rtlCol="0">
            <a:spAutoFit/>
          </a:bodyPr>
          <a:lstStyle/>
          <a:p>
            <a:pPr marL="457200" indent="-457200" algn="just">
              <a:lnSpc>
                <a:spcPct val="125000"/>
              </a:lnSpc>
              <a:buFont typeface="Wingdings" panose="05000000000000000000" charset="0"/>
              <a:buChar char="Ø"/>
            </a:pPr>
            <a:r>
              <a:rPr kumimoji="1" lang="zh-CN" b="0" noProof="0">
                <a:ln>
                  <a:noFill/>
                </a:ln>
                <a:effectLst/>
                <a:uLnTx/>
                <a:uFillTx/>
                <a:ea typeface="微软雅黑" panose="020B0503020204020204" pitchFamily="34" charset="-122"/>
                <a:cs typeface="Times New Roman" panose="02020603050405020304" pitchFamily="18" charset="0"/>
                <a:sym typeface="+mn-ea"/>
              </a:rPr>
              <a:t>并查集的初始化</a:t>
            </a:r>
          </a:p>
          <a:p>
            <a:pPr indent="711200" algn="just">
              <a:lnSpc>
                <a:spcPct val="125000"/>
              </a:lnSpc>
              <a:buFont typeface="Wingdings" panose="05000000000000000000" charset="0"/>
              <a:extLst>
                <a:ext uri="{35155182-B16C-46BC-9424-99874614C6A1}">
                  <wpsdc:indentchars xmlns:wpsdc="http://www.wps.cn/officeDocument/2017/drawingmlCustomData" xmlns="" val="200" checksum="3773799597"/>
                </a:ext>
              </a:extLst>
            </a:pPr>
            <a:r>
              <a:rPr kumimoji="1" lang="zh-CN" b="0" noProof="0">
                <a:ln>
                  <a:noFill/>
                </a:ln>
                <a:effectLst/>
                <a:uLnTx/>
                <a:uFillTx/>
                <a:ea typeface="微软雅黑" panose="020B0503020204020204" pitchFamily="34" charset="-122"/>
                <a:cs typeface="Times New Roman" panose="02020603050405020304" pitchFamily="18" charset="0"/>
                <a:sym typeface="+mn-ea"/>
              </a:rPr>
              <a:t>初始化时，每个元素构成一个单独的集合，每个元素的父结点指针指向自身（即-1）。</a:t>
            </a:r>
          </a:p>
        </p:txBody>
      </p:sp>
      <p:sp>
        <p:nvSpPr>
          <p:cNvPr id="3" name="文本框 2"/>
          <p:cNvSpPr txBox="1"/>
          <p:nvPr/>
        </p:nvSpPr>
        <p:spPr>
          <a:xfrm>
            <a:off x="627856" y="2738755"/>
            <a:ext cx="7856855" cy="1630045"/>
          </a:xfrm>
          <a:prstGeom prst="rect">
            <a:avLst/>
          </a:prstGeom>
          <a:solidFill>
            <a:schemeClr val="bg2">
              <a:lumMod val="20000"/>
              <a:lumOff val="80000"/>
            </a:schemeClr>
          </a:solidFill>
        </p:spPr>
        <p:txBody>
          <a:bodyPr wrap="square" rtlCol="0">
            <a:spAutoFit/>
          </a:bodyPr>
          <a:lstStyle/>
          <a:p>
            <a:r>
              <a:rPr lang="zh-CN" altLang="en-US" sz="2000" b="0">
                <a:latin typeface="+mn-lt"/>
                <a:ea typeface="+mn-ea"/>
                <a:cs typeface="+mn-lt"/>
              </a:rPr>
              <a:t>void Init_UFSet(int UFSet[],</a:t>
            </a:r>
            <a:r>
              <a:rPr lang="en-US" altLang="zh-CN" sz="2000" b="0">
                <a:latin typeface="+mn-lt"/>
                <a:ea typeface="+mn-ea"/>
                <a:cs typeface="+mn-lt"/>
              </a:rPr>
              <a:t> </a:t>
            </a:r>
            <a:r>
              <a:rPr lang="zh-CN" altLang="en-US" sz="2000" b="0">
                <a:latin typeface="+mn-lt"/>
                <a:ea typeface="+mn-ea"/>
                <a:cs typeface="+mn-lt"/>
              </a:rPr>
              <a:t>int size)</a:t>
            </a:r>
          </a:p>
          <a:p>
            <a:r>
              <a:rPr lang="zh-CN" altLang="en-US" sz="2000" b="0">
                <a:latin typeface="+mn-lt"/>
                <a:ea typeface="+mn-ea"/>
                <a:cs typeface="+mn-lt"/>
              </a:rPr>
              <a:t>{//初始化并查集</a:t>
            </a:r>
          </a:p>
          <a:p>
            <a:pPr lvl="1"/>
            <a:r>
              <a:rPr lang="zh-CN" altLang="en-US" sz="2000" b="0">
                <a:latin typeface="+mn-lt"/>
                <a:ea typeface="+mn-ea"/>
                <a:cs typeface="+mn-lt"/>
              </a:rPr>
              <a:t> for(int i = 0; i&lt;size; i++)</a:t>
            </a:r>
          </a:p>
          <a:p>
            <a:pPr lvl="1"/>
            <a:r>
              <a:rPr lang="zh-CN" altLang="en-US" sz="2000" b="0">
                <a:latin typeface="+mn-lt"/>
                <a:ea typeface="+mn-ea"/>
                <a:cs typeface="+mn-lt"/>
              </a:rPr>
              <a:t> UFSet[i] = -1; //每个由单个元素组成的集合</a:t>
            </a:r>
          </a:p>
          <a:p>
            <a:r>
              <a:rPr lang="zh-CN" altLang="en-US" sz="2000" b="0">
                <a:latin typeface="+mn-lt"/>
                <a:ea typeface="+mn-ea"/>
                <a:cs typeface="+mn-lt"/>
              </a:rPr>
              <a:t>}</a:t>
            </a:r>
          </a:p>
        </p:txBody>
      </p:sp>
      <p:pic>
        <p:nvPicPr>
          <p:cNvPr id="6" name="图片 5"/>
          <p:cNvPicPr>
            <a:picLocks noChangeAspect="1"/>
          </p:cNvPicPr>
          <p:nvPr/>
        </p:nvPicPr>
        <p:blipFill>
          <a:blip r:embed="rId2"/>
          <a:stretch>
            <a:fillRect/>
          </a:stretch>
        </p:blipFill>
        <p:spPr>
          <a:xfrm>
            <a:off x="1907540" y="4437380"/>
            <a:ext cx="5067300" cy="218122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3668"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并查集的实现</a:t>
            </a:r>
            <a:endParaRPr lang="en-US" altLang="zh-CN" sz="2800" dirty="0">
              <a:solidFill>
                <a:schemeClr val="bg1"/>
              </a:solidFill>
              <a:sym typeface="+mn-lt"/>
            </a:endParaRPr>
          </a:p>
        </p:txBody>
      </p:sp>
      <p:sp>
        <p:nvSpPr>
          <p:cNvPr id="4" name="文本框 3"/>
          <p:cNvSpPr txBox="1"/>
          <p:nvPr/>
        </p:nvSpPr>
        <p:spPr>
          <a:xfrm>
            <a:off x="644208" y="908685"/>
            <a:ext cx="7855585" cy="2245360"/>
          </a:xfrm>
          <a:prstGeom prst="rect">
            <a:avLst/>
          </a:prstGeom>
          <a:noFill/>
        </p:spPr>
        <p:txBody>
          <a:bodyPr wrap="square" rtlCol="0">
            <a:spAutoFit/>
          </a:bodyPr>
          <a:lstStyle/>
          <a:p>
            <a:pPr marL="457200" indent="-457200" algn="just">
              <a:lnSpc>
                <a:spcPct val="125000"/>
              </a:lnSpc>
              <a:buFont typeface="Wingdings" panose="05000000000000000000" charset="0"/>
              <a:buChar char="Ø"/>
            </a:pPr>
            <a:r>
              <a:rPr kumimoji="1" lang="zh-CN" b="0" noProof="0">
                <a:ln>
                  <a:noFill/>
                </a:ln>
                <a:effectLst/>
                <a:uLnTx/>
                <a:uFillTx/>
                <a:ea typeface="微软雅黑" panose="020B0503020204020204" pitchFamily="34" charset="-122"/>
                <a:cs typeface="Times New Roman" panose="02020603050405020304" pitchFamily="18" charset="0"/>
                <a:sym typeface="+mn-ea"/>
              </a:rPr>
              <a:t>并查集的查找</a:t>
            </a:r>
          </a:p>
          <a:p>
            <a:pPr indent="711200" algn="just">
              <a:lnSpc>
                <a:spcPct val="125000"/>
              </a:lnSpc>
              <a:buFont typeface="Wingdings" panose="05000000000000000000" charset="0"/>
              <a:extLst>
                <a:ext uri="{35155182-B16C-46BC-9424-99874614C6A1}">
                  <wpsdc:indentchars xmlns:wpsdc="http://www.wps.cn/officeDocument/2017/drawingmlCustomData" xmlns="" val="200" checksum="3773799597"/>
                </a:ext>
              </a:extLst>
            </a:pPr>
            <a:r>
              <a:rPr kumimoji="1" lang="zh-CN" b="0" noProof="0">
                <a:ln>
                  <a:noFill/>
                </a:ln>
                <a:effectLst/>
                <a:uLnTx/>
                <a:uFillTx/>
                <a:ea typeface="微软雅黑" panose="020B0503020204020204" pitchFamily="34" charset="-122"/>
                <a:cs typeface="Times New Roman" panose="02020603050405020304" pitchFamily="18" charset="0"/>
                <a:sym typeface="+mn-ea"/>
              </a:rPr>
              <a:t>查找操作是从待查元素 </a:t>
            </a:r>
            <a:r>
              <a:rPr kumimoji="1" lang="zh-CN" b="0" i="1" noProof="0">
                <a:ln>
                  <a:noFill/>
                </a:ln>
                <a:effectLst/>
                <a:uLnTx/>
                <a:uFillTx/>
                <a:ea typeface="微软雅黑" panose="020B0503020204020204" pitchFamily="34" charset="-122"/>
                <a:cs typeface="Times New Roman" panose="02020603050405020304" pitchFamily="18" charset="0"/>
                <a:sym typeface="+mn-ea"/>
              </a:rPr>
              <a:t>x</a:t>
            </a:r>
            <a:r>
              <a:rPr kumimoji="1" lang="zh-CN" b="0" noProof="0">
                <a:ln>
                  <a:noFill/>
                </a:ln>
                <a:effectLst/>
                <a:uLnTx/>
                <a:uFillTx/>
                <a:ea typeface="微软雅黑" panose="020B0503020204020204" pitchFamily="34" charset="-122"/>
                <a:cs typeface="Times New Roman" panose="02020603050405020304" pitchFamily="18" charset="0"/>
                <a:sym typeface="+mn-ea"/>
              </a:rPr>
              <a:t> 出发，沿着双亲指针向上查找，直到找到根结点（双亲指针为负值的结点）。</a:t>
            </a:r>
          </a:p>
        </p:txBody>
      </p:sp>
      <p:sp>
        <p:nvSpPr>
          <p:cNvPr id="3" name="文本框 2"/>
          <p:cNvSpPr txBox="1"/>
          <p:nvPr/>
        </p:nvSpPr>
        <p:spPr>
          <a:xfrm>
            <a:off x="611505" y="3213100"/>
            <a:ext cx="7807960" cy="1938020"/>
          </a:xfrm>
          <a:prstGeom prst="rect">
            <a:avLst/>
          </a:prstGeom>
          <a:solidFill>
            <a:schemeClr val="bg2">
              <a:lumMod val="20000"/>
              <a:lumOff val="80000"/>
            </a:schemeClr>
          </a:solidFill>
        </p:spPr>
        <p:txBody>
          <a:bodyPr wrap="square" rtlCol="0">
            <a:spAutoFit/>
          </a:bodyPr>
          <a:lstStyle/>
          <a:p>
            <a:r>
              <a:rPr lang="zh-CN" altLang="en-US" sz="2000" b="0">
                <a:latin typeface="+mn-lt"/>
                <a:ea typeface="+mn-ea"/>
                <a:cs typeface="+mn-lt"/>
              </a:rPr>
              <a:t>int Find_UFSet(int UFSet[],</a:t>
            </a:r>
            <a:r>
              <a:rPr lang="en-US" altLang="zh-CN" sz="2000" b="0">
                <a:latin typeface="+mn-lt"/>
                <a:ea typeface="+mn-ea"/>
                <a:cs typeface="+mn-lt"/>
              </a:rPr>
              <a:t> </a:t>
            </a:r>
            <a:r>
              <a:rPr lang="zh-CN" altLang="en-US" sz="2000" b="0">
                <a:latin typeface="+mn-lt"/>
                <a:ea typeface="+mn-ea"/>
                <a:cs typeface="+mn-lt"/>
              </a:rPr>
              <a:t>int x)</a:t>
            </a:r>
          </a:p>
          <a:p>
            <a:r>
              <a:rPr lang="zh-CN" altLang="en-US" sz="2000" b="0">
                <a:latin typeface="+mn-lt"/>
                <a:ea typeface="+mn-ea"/>
                <a:cs typeface="+mn-lt"/>
              </a:rPr>
              <a:t>{//查找元素x所属的集合 </a:t>
            </a:r>
          </a:p>
          <a:p>
            <a:pPr lvl="1"/>
            <a:r>
              <a:rPr lang="zh-CN" altLang="en-US" sz="2000" b="0">
                <a:latin typeface="+mn-lt"/>
                <a:ea typeface="+mn-ea"/>
                <a:cs typeface="+mn-lt"/>
              </a:rPr>
              <a:t>while(UFSet[x] &gt;= 0) //循环寻找元素x的根 </a:t>
            </a:r>
          </a:p>
          <a:p>
            <a:pPr lvl="1" indent="457200"/>
            <a:r>
              <a:rPr lang="zh-CN" altLang="en-US" sz="2000" b="0">
                <a:latin typeface="+mn-lt"/>
                <a:ea typeface="+mn-ea"/>
                <a:cs typeface="+mn-lt"/>
              </a:rPr>
              <a:t>x = UFSet[x]; </a:t>
            </a:r>
          </a:p>
          <a:p>
            <a:pPr lvl="1"/>
            <a:r>
              <a:rPr lang="zh-CN" altLang="en-US" sz="2000" b="0">
                <a:latin typeface="+mn-lt"/>
                <a:ea typeface="+mn-ea"/>
                <a:cs typeface="+mn-lt"/>
              </a:rPr>
              <a:t>return x; </a:t>
            </a:r>
          </a:p>
          <a:p>
            <a:r>
              <a:rPr lang="zh-CN" altLang="en-US" sz="2000" b="0">
                <a:latin typeface="+mn-lt"/>
                <a:ea typeface="+mn-ea"/>
                <a:cs typeface="+mn-lt"/>
              </a:rPr>
              <a:t>}</a:t>
            </a:r>
          </a:p>
        </p:txBody>
      </p:sp>
      <p:pic>
        <p:nvPicPr>
          <p:cNvPr id="6" name="图片 5"/>
          <p:cNvPicPr>
            <a:picLocks noChangeAspect="1"/>
          </p:cNvPicPr>
          <p:nvPr/>
        </p:nvPicPr>
        <p:blipFill>
          <a:blip r:embed="rId2"/>
          <a:stretch>
            <a:fillRect/>
          </a:stretch>
        </p:blipFill>
        <p:spPr>
          <a:xfrm>
            <a:off x="4787900" y="4221480"/>
            <a:ext cx="3014345" cy="2402840"/>
          </a:xfrm>
          <a:prstGeom prst="rect">
            <a:avLst/>
          </a:prstGeom>
        </p:spPr>
      </p:pic>
      <p:sp>
        <p:nvSpPr>
          <p:cNvPr id="7" name="文本框 6"/>
          <p:cNvSpPr txBox="1"/>
          <p:nvPr/>
        </p:nvSpPr>
        <p:spPr>
          <a:xfrm>
            <a:off x="1115695" y="5487035"/>
            <a:ext cx="3451860" cy="521970"/>
          </a:xfrm>
          <a:prstGeom prst="rect">
            <a:avLst/>
          </a:prstGeom>
          <a:solidFill>
            <a:schemeClr val="accent1">
              <a:lumMod val="20000"/>
              <a:lumOff val="80000"/>
            </a:schemeClr>
          </a:solidFill>
        </p:spPr>
        <p:txBody>
          <a:bodyPr wrap="square" rtlCol="0">
            <a:spAutoFit/>
          </a:bodyPr>
          <a:lstStyle/>
          <a:p>
            <a:pPr algn="ctr"/>
            <a:r>
              <a:rPr lang="zh-CN" altLang="en-US" b="0">
                <a:ea typeface="微软雅黑" panose="020B0503020204020204" pitchFamily="34" charset="-122"/>
                <a:cs typeface="Times New Roman" panose="02020603050405020304" pitchFamily="18" charset="0"/>
              </a:rPr>
              <a:t>查找结点</a:t>
            </a:r>
            <a:r>
              <a:rPr lang="en-US" altLang="zh-CN" b="0">
                <a:ea typeface="微软雅黑" panose="020B0503020204020204" pitchFamily="34" charset="-122"/>
                <a:cs typeface="Times New Roman" panose="02020603050405020304" pitchFamily="18" charset="0"/>
              </a:rPr>
              <a:t>2</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Lst>
  </p:timing>
</p:sld>
</file>

<file path=ppt/slides/slide19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3668"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并查集的实现</a:t>
            </a:r>
            <a:endParaRPr lang="en-US" altLang="zh-CN" sz="2800" dirty="0">
              <a:solidFill>
                <a:schemeClr val="bg1"/>
              </a:solidFill>
              <a:sym typeface="+mn-lt"/>
            </a:endParaRPr>
          </a:p>
        </p:txBody>
      </p:sp>
      <p:sp>
        <p:nvSpPr>
          <p:cNvPr id="4" name="文本框 3"/>
          <p:cNvSpPr txBox="1"/>
          <p:nvPr/>
        </p:nvSpPr>
        <p:spPr>
          <a:xfrm>
            <a:off x="644208" y="908685"/>
            <a:ext cx="7855585" cy="2245360"/>
          </a:xfrm>
          <a:prstGeom prst="rect">
            <a:avLst/>
          </a:prstGeom>
          <a:noFill/>
        </p:spPr>
        <p:txBody>
          <a:bodyPr wrap="square" rtlCol="0">
            <a:spAutoFit/>
          </a:bodyPr>
          <a:lstStyle/>
          <a:p>
            <a:pPr marL="457200" indent="-457200" algn="just" hangingPunct="1">
              <a:lnSpc>
                <a:spcPct val="125000"/>
              </a:lnSpc>
              <a:buFont typeface="Wingdings" panose="05000000000000000000" charset="0"/>
              <a:buChar char="Ø"/>
            </a:pPr>
            <a:r>
              <a:rPr kumimoji="1" lang="zh-CN" b="0" noProof="0">
                <a:ln>
                  <a:noFill/>
                </a:ln>
                <a:effectLst/>
                <a:uLnTx/>
                <a:uFillTx/>
                <a:ea typeface="微软雅黑" panose="020B0503020204020204" pitchFamily="34" charset="-122"/>
                <a:cs typeface="Times New Roman" panose="02020603050405020304" pitchFamily="18" charset="0"/>
                <a:sym typeface="+mn-ea"/>
              </a:rPr>
              <a:t>并查集的合并</a:t>
            </a:r>
          </a:p>
          <a:p>
            <a:pPr indent="711200" algn="just" hangingPunct="1">
              <a:lnSpc>
                <a:spcPct val="125000"/>
              </a:lnSpc>
              <a:buFont typeface="Wingdings" panose="05000000000000000000" charset="0"/>
              <a:extLst>
                <a:ext uri="{35155182-B16C-46BC-9424-99874614C6A1}">
                  <wpsdc:indentchars xmlns:wpsdc="http://www.wps.cn/officeDocument/2017/drawingmlCustomData" xmlns="" val="200" checksum="3773799597"/>
                </a:ext>
              </a:extLst>
            </a:pPr>
            <a:r>
              <a:rPr kumimoji="1" lang="zh-CN" b="0" noProof="0">
                <a:ln>
                  <a:noFill/>
                </a:ln>
                <a:effectLst/>
                <a:uLnTx/>
                <a:uFillTx/>
                <a:ea typeface="微软雅黑" panose="020B0503020204020204" pitchFamily="34" charset="-122"/>
                <a:cs typeface="Times New Roman" panose="02020603050405020304" pitchFamily="18" charset="0"/>
                <a:sym typeface="+mn-ea"/>
              </a:rPr>
              <a:t>利用查找操作分别</a:t>
            </a:r>
            <a:r>
              <a:rPr kumimoji="1" lang="zh-CN" b="0" noProof="0">
                <a:ln>
                  <a:noFill/>
                </a:ln>
                <a:solidFill>
                  <a:srgbClr val="FF0000"/>
                </a:solidFill>
                <a:effectLst/>
                <a:uLnTx/>
                <a:uFillTx/>
                <a:ea typeface="微软雅黑" panose="020B0503020204020204" pitchFamily="34" charset="-122"/>
                <a:cs typeface="Times New Roman" panose="02020603050405020304" pitchFamily="18" charset="0"/>
                <a:sym typeface="+mn-ea"/>
              </a:rPr>
              <a:t>找到两个结点的根结点</a:t>
            </a:r>
            <a:r>
              <a:rPr kumimoji="1" lang="zh-CN" b="0" noProof="0">
                <a:ln>
                  <a:noFill/>
                </a:ln>
                <a:effectLst/>
                <a:uLnTx/>
                <a:uFillTx/>
                <a:ea typeface="微软雅黑" panose="020B0503020204020204" pitchFamily="34" charset="-122"/>
                <a:cs typeface="Times New Roman" panose="02020603050405020304" pitchFamily="18" charset="0"/>
                <a:sym typeface="+mn-ea"/>
              </a:rPr>
              <a:t> Root1 和 Root2，若两个结点</a:t>
            </a:r>
            <a:r>
              <a:rPr kumimoji="1" lang="zh-CN" b="0" noProof="0">
                <a:ln>
                  <a:noFill/>
                </a:ln>
                <a:solidFill>
                  <a:srgbClr val="FF0000"/>
                </a:solidFill>
                <a:effectLst/>
                <a:uLnTx/>
                <a:uFillTx/>
                <a:ea typeface="微软雅黑" panose="020B0503020204020204" pitchFamily="34" charset="-122"/>
                <a:cs typeface="Times New Roman" panose="02020603050405020304" pitchFamily="18" charset="0"/>
                <a:sym typeface="+mn-ea"/>
              </a:rPr>
              <a:t>不属于同一集合</a:t>
            </a:r>
            <a:r>
              <a:rPr kumimoji="1" lang="zh-CN" b="0" noProof="0">
                <a:ln>
                  <a:noFill/>
                </a:ln>
                <a:effectLst/>
                <a:uLnTx/>
                <a:uFillTx/>
                <a:ea typeface="微软雅黑" panose="020B0503020204020204" pitchFamily="34" charset="-122"/>
                <a:cs typeface="Times New Roman" panose="02020603050405020304" pitchFamily="18" charset="0"/>
                <a:sym typeface="+mn-ea"/>
              </a:rPr>
              <a:t>，则将根结点 Root2 链接到另一个根结点 Root1 下。</a:t>
            </a:r>
          </a:p>
        </p:txBody>
      </p:sp>
      <p:sp>
        <p:nvSpPr>
          <p:cNvPr id="3" name="文本框 2"/>
          <p:cNvSpPr txBox="1"/>
          <p:nvPr/>
        </p:nvSpPr>
        <p:spPr>
          <a:xfrm>
            <a:off x="692150" y="3141345"/>
            <a:ext cx="7807960" cy="3476625"/>
          </a:xfrm>
          <a:prstGeom prst="rect">
            <a:avLst/>
          </a:prstGeom>
          <a:solidFill>
            <a:schemeClr val="bg2">
              <a:lumMod val="20000"/>
              <a:lumOff val="80000"/>
            </a:schemeClr>
          </a:solidFill>
        </p:spPr>
        <p:txBody>
          <a:bodyPr wrap="square" rtlCol="0">
            <a:spAutoFit/>
          </a:bodyPr>
          <a:lstStyle/>
          <a:p>
            <a:r>
              <a:rPr sz="2000" b="0">
                <a:latin typeface="+mn-lt"/>
                <a:ea typeface="+mn-ea"/>
                <a:cs typeface="+mn-lt"/>
              </a:rPr>
              <a:t>void Union_UFSet(int UFSet[],</a:t>
            </a:r>
            <a:r>
              <a:rPr lang="en-US" sz="2000" b="0">
                <a:latin typeface="+mn-lt"/>
                <a:ea typeface="+mn-ea"/>
                <a:cs typeface="+mn-lt"/>
              </a:rPr>
              <a:t> </a:t>
            </a:r>
            <a:r>
              <a:rPr sz="2000" b="0">
                <a:latin typeface="+mn-lt"/>
                <a:ea typeface="+mn-ea"/>
                <a:cs typeface="+mn-lt"/>
              </a:rPr>
              <a:t>int Root1, int Root2)</a:t>
            </a:r>
          </a:p>
          <a:p>
            <a:r>
              <a:rPr sz="2000" b="0">
                <a:latin typeface="+mn-lt"/>
                <a:ea typeface="+mn-ea"/>
                <a:cs typeface="+mn-lt"/>
              </a:rPr>
              <a:t>{//将两个子集合并</a:t>
            </a:r>
          </a:p>
          <a:p>
            <a:pPr indent="457200"/>
            <a:r>
              <a:rPr sz="2000" b="0">
                <a:latin typeface="+mn-lt"/>
                <a:ea typeface="+mn-ea"/>
                <a:cs typeface="+mn-lt"/>
              </a:rPr>
              <a:t>Root1 = </a:t>
            </a:r>
            <a:r>
              <a:rPr lang="zh-CN" altLang="en-US" sz="2000" b="0">
                <a:latin typeface="+mn-lt"/>
                <a:ea typeface="+mn-ea"/>
                <a:cs typeface="+mn-lt"/>
                <a:sym typeface="+mn-ea"/>
              </a:rPr>
              <a:t>Find_UFSet</a:t>
            </a:r>
            <a:r>
              <a:rPr sz="2000" b="0">
                <a:latin typeface="+mn-lt"/>
                <a:ea typeface="+mn-ea"/>
                <a:cs typeface="+mn-lt"/>
              </a:rPr>
              <a:t>(UFSet,</a:t>
            </a:r>
            <a:r>
              <a:rPr lang="en-US" sz="2000" b="0">
                <a:latin typeface="+mn-lt"/>
                <a:ea typeface="+mn-ea"/>
                <a:cs typeface="+mn-lt"/>
              </a:rPr>
              <a:t> </a:t>
            </a:r>
            <a:r>
              <a:rPr sz="2000" b="0">
                <a:latin typeface="+mn-lt"/>
                <a:ea typeface="+mn-ea"/>
                <a:cs typeface="+mn-lt"/>
              </a:rPr>
              <a:t>Root1);</a:t>
            </a:r>
          </a:p>
          <a:p>
            <a:pPr lvl="1"/>
            <a:r>
              <a:rPr sz="2000" b="0">
                <a:latin typeface="+mn-lt"/>
                <a:ea typeface="+mn-ea"/>
                <a:cs typeface="+mn-lt"/>
              </a:rPr>
              <a:t>Root2 = </a:t>
            </a:r>
            <a:r>
              <a:rPr lang="zh-CN" altLang="en-US" sz="2000" b="0">
                <a:latin typeface="+mn-lt"/>
                <a:ea typeface="+mn-ea"/>
                <a:cs typeface="+mn-lt"/>
                <a:sym typeface="+mn-ea"/>
              </a:rPr>
              <a:t>Find_UFSet</a:t>
            </a:r>
            <a:r>
              <a:rPr sz="2000" b="0">
                <a:latin typeface="+mn-lt"/>
                <a:ea typeface="+mn-ea"/>
                <a:cs typeface="+mn-lt"/>
              </a:rPr>
              <a:t>(UFSet,</a:t>
            </a:r>
            <a:r>
              <a:rPr lang="en-US" sz="2000" b="0">
                <a:latin typeface="+mn-lt"/>
                <a:ea typeface="+mn-ea"/>
                <a:cs typeface="+mn-lt"/>
              </a:rPr>
              <a:t> </a:t>
            </a:r>
            <a:r>
              <a:rPr sz="2000" b="0">
                <a:latin typeface="+mn-lt"/>
                <a:ea typeface="+mn-ea"/>
                <a:cs typeface="+mn-lt"/>
              </a:rPr>
              <a:t>Root2);</a:t>
            </a:r>
          </a:p>
          <a:p>
            <a:pPr lvl="1"/>
            <a:r>
              <a:rPr sz="2000" b="0">
                <a:latin typeface="+mn-lt"/>
                <a:ea typeface="+mn-ea"/>
                <a:cs typeface="+mn-lt"/>
              </a:rPr>
              <a:t>if (Root1 == Root2) return;</a:t>
            </a:r>
          </a:p>
          <a:p>
            <a:pPr lvl="1"/>
            <a:r>
              <a:rPr sz="2000" b="0">
                <a:latin typeface="+mn-lt"/>
                <a:ea typeface="+mn-ea"/>
                <a:cs typeface="+mn-lt"/>
              </a:rPr>
              <a:t>else</a:t>
            </a:r>
          </a:p>
          <a:p>
            <a:pPr indent="457200"/>
            <a:r>
              <a:rPr sz="2000" b="0">
                <a:latin typeface="+mn-lt"/>
                <a:ea typeface="+mn-ea"/>
                <a:cs typeface="+mn-lt"/>
              </a:rPr>
              <a:t>{</a:t>
            </a:r>
          </a:p>
          <a:p>
            <a:pPr marL="457200" lvl="1" indent="457200"/>
            <a:r>
              <a:rPr sz="2000" b="0">
                <a:latin typeface="+mn-lt"/>
                <a:ea typeface="+mn-ea"/>
                <a:cs typeface="+mn-lt"/>
              </a:rPr>
              <a:t>UFSet[Root1] += UFSet[Root2];</a:t>
            </a:r>
          </a:p>
          <a:p>
            <a:r>
              <a:rPr sz="2000" b="0">
                <a:latin typeface="+mn-lt"/>
                <a:ea typeface="+mn-ea"/>
                <a:cs typeface="+mn-lt"/>
              </a:rPr>
              <a:t> </a:t>
            </a:r>
            <a:r>
              <a:rPr lang="en-US" sz="2000" b="0">
                <a:latin typeface="+mn-lt"/>
                <a:ea typeface="+mn-ea"/>
                <a:cs typeface="+mn-lt"/>
              </a:rPr>
              <a:t>	</a:t>
            </a:r>
            <a:r>
              <a:rPr sz="2000" b="0">
                <a:latin typeface="+mn-lt"/>
                <a:ea typeface="+mn-ea"/>
                <a:cs typeface="+mn-lt"/>
              </a:rPr>
              <a:t>UFSet[Root2] = Root1; //将根Root2链接到另一根Root1下面</a:t>
            </a:r>
          </a:p>
          <a:p>
            <a:pPr indent="457200"/>
            <a:r>
              <a:rPr sz="2000" b="0">
                <a:latin typeface="+mn-lt"/>
                <a:ea typeface="+mn-ea"/>
                <a:cs typeface="+mn-lt"/>
              </a:rPr>
              <a:t>}</a:t>
            </a:r>
          </a:p>
          <a:p>
            <a:r>
              <a:rPr sz="2000" b="0">
                <a:latin typeface="+mn-lt"/>
                <a:ea typeface="+mn-ea"/>
                <a:cs typeface="+mn-lt"/>
              </a:rPr>
              <a:t>}</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3668"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并查集的实现</a:t>
            </a:r>
            <a:endParaRPr lang="en-US" altLang="zh-CN" sz="2800" dirty="0">
              <a:solidFill>
                <a:schemeClr val="bg1"/>
              </a:solidFill>
              <a:sym typeface="+mn-lt"/>
            </a:endParaRPr>
          </a:p>
        </p:txBody>
      </p:sp>
      <p:sp>
        <p:nvSpPr>
          <p:cNvPr id="4" name="文本框 3"/>
          <p:cNvSpPr txBox="1"/>
          <p:nvPr/>
        </p:nvSpPr>
        <p:spPr>
          <a:xfrm>
            <a:off x="644208" y="908685"/>
            <a:ext cx="7855585" cy="2245360"/>
          </a:xfrm>
          <a:prstGeom prst="rect">
            <a:avLst/>
          </a:prstGeom>
          <a:noFill/>
        </p:spPr>
        <p:txBody>
          <a:bodyPr wrap="square" rtlCol="0">
            <a:spAutoFit/>
          </a:bodyPr>
          <a:lstStyle/>
          <a:p>
            <a:pPr marL="457200" indent="-457200" algn="just" hangingPunct="1">
              <a:lnSpc>
                <a:spcPct val="125000"/>
              </a:lnSpc>
              <a:buFont typeface="Wingdings" panose="05000000000000000000" charset="0"/>
              <a:buChar char="Ø"/>
            </a:pPr>
            <a:r>
              <a:rPr kumimoji="1" lang="zh-CN" b="0" noProof="0">
                <a:ln>
                  <a:noFill/>
                </a:ln>
                <a:effectLst/>
                <a:uLnTx/>
                <a:uFillTx/>
                <a:ea typeface="微软雅黑" panose="020B0503020204020204" pitchFamily="34" charset="-122"/>
                <a:cs typeface="Times New Roman" panose="02020603050405020304" pitchFamily="18" charset="0"/>
                <a:sym typeface="+mn-ea"/>
              </a:rPr>
              <a:t>并查集的合并</a:t>
            </a:r>
          </a:p>
          <a:p>
            <a:pPr indent="711200" algn="just" hangingPunct="1">
              <a:lnSpc>
                <a:spcPct val="125000"/>
              </a:lnSpc>
              <a:buFont typeface="Wingdings" panose="05000000000000000000" charset="0"/>
              <a:extLst>
                <a:ext uri="{35155182-B16C-46BC-9424-99874614C6A1}">
                  <wpsdc:indentchars xmlns:wpsdc="http://www.wps.cn/officeDocument/2017/drawingmlCustomData" xmlns="" val="200" checksum="3773799597"/>
                </a:ext>
              </a:extLst>
            </a:pPr>
            <a:r>
              <a:rPr kumimoji="1" lang="zh-CN" b="0" noProof="0">
                <a:ln>
                  <a:noFill/>
                </a:ln>
                <a:effectLst/>
                <a:uLnTx/>
                <a:uFillTx/>
                <a:ea typeface="微软雅黑" panose="020B0503020204020204" pitchFamily="34" charset="-122"/>
                <a:cs typeface="Times New Roman" panose="02020603050405020304" pitchFamily="18" charset="0"/>
                <a:sym typeface="+mn-ea"/>
              </a:rPr>
              <a:t>利用查找操作分别</a:t>
            </a:r>
            <a:r>
              <a:rPr kumimoji="1" lang="zh-CN" b="0" noProof="0">
                <a:ln>
                  <a:noFill/>
                </a:ln>
                <a:solidFill>
                  <a:srgbClr val="FF0000"/>
                </a:solidFill>
                <a:effectLst/>
                <a:uLnTx/>
                <a:uFillTx/>
                <a:ea typeface="微软雅黑" panose="020B0503020204020204" pitchFamily="34" charset="-122"/>
                <a:cs typeface="Times New Roman" panose="02020603050405020304" pitchFamily="18" charset="0"/>
                <a:sym typeface="+mn-ea"/>
              </a:rPr>
              <a:t>找到两个结点的根结点</a:t>
            </a:r>
            <a:r>
              <a:rPr kumimoji="1" lang="zh-CN" b="0" noProof="0">
                <a:ln>
                  <a:noFill/>
                </a:ln>
                <a:effectLst/>
                <a:uLnTx/>
                <a:uFillTx/>
                <a:ea typeface="微软雅黑" panose="020B0503020204020204" pitchFamily="34" charset="-122"/>
                <a:cs typeface="Times New Roman" panose="02020603050405020304" pitchFamily="18" charset="0"/>
                <a:sym typeface="+mn-ea"/>
              </a:rPr>
              <a:t> Root1 和 Root2，若两个结点</a:t>
            </a:r>
            <a:r>
              <a:rPr kumimoji="1" lang="zh-CN" b="0" noProof="0">
                <a:ln>
                  <a:noFill/>
                </a:ln>
                <a:solidFill>
                  <a:srgbClr val="FF0000"/>
                </a:solidFill>
                <a:effectLst/>
                <a:uLnTx/>
                <a:uFillTx/>
                <a:ea typeface="微软雅黑" panose="020B0503020204020204" pitchFamily="34" charset="-122"/>
                <a:cs typeface="Times New Roman" panose="02020603050405020304" pitchFamily="18" charset="0"/>
                <a:sym typeface="+mn-ea"/>
              </a:rPr>
              <a:t>不属于同一集合</a:t>
            </a:r>
            <a:r>
              <a:rPr kumimoji="1" lang="zh-CN" b="0" noProof="0">
                <a:ln>
                  <a:noFill/>
                </a:ln>
                <a:effectLst/>
                <a:uLnTx/>
                <a:uFillTx/>
                <a:ea typeface="微软雅黑" panose="020B0503020204020204" pitchFamily="34" charset="-122"/>
                <a:cs typeface="Times New Roman" panose="02020603050405020304" pitchFamily="18" charset="0"/>
                <a:sym typeface="+mn-ea"/>
              </a:rPr>
              <a:t>，则将根结点 Root2 链接到另一个根结点 Root1 下。</a:t>
            </a:r>
          </a:p>
        </p:txBody>
      </p:sp>
      <p:sp>
        <p:nvSpPr>
          <p:cNvPr id="7" name="文本框 6"/>
          <p:cNvSpPr txBox="1"/>
          <p:nvPr/>
        </p:nvSpPr>
        <p:spPr>
          <a:xfrm>
            <a:off x="2846705" y="5661660"/>
            <a:ext cx="3451860" cy="521970"/>
          </a:xfrm>
          <a:prstGeom prst="rect">
            <a:avLst/>
          </a:prstGeom>
          <a:solidFill>
            <a:schemeClr val="accent1">
              <a:lumMod val="20000"/>
              <a:lumOff val="80000"/>
            </a:schemeClr>
          </a:solidFill>
        </p:spPr>
        <p:txBody>
          <a:bodyPr wrap="square" rtlCol="0">
            <a:spAutoFit/>
          </a:bodyPr>
          <a:lstStyle/>
          <a:p>
            <a:pPr algn="ctr"/>
            <a:r>
              <a:rPr lang="zh-CN" altLang="en-US" b="0">
                <a:ea typeface="微软雅黑" panose="020B0503020204020204" pitchFamily="34" charset="-122"/>
                <a:cs typeface="Times New Roman" panose="02020603050405020304" pitchFamily="18" charset="0"/>
              </a:rPr>
              <a:t>合并结点</a:t>
            </a:r>
            <a:r>
              <a:rPr lang="en-US" altLang="zh-CN" b="0">
                <a:ea typeface="微软雅黑" panose="020B0503020204020204" pitchFamily="34" charset="-122"/>
                <a:cs typeface="Times New Roman" panose="02020603050405020304" pitchFamily="18" charset="0"/>
              </a:rPr>
              <a:t>1</a:t>
            </a:r>
            <a:r>
              <a:rPr lang="zh-CN" altLang="en-US" b="0">
                <a:ea typeface="微软雅黑" panose="020B0503020204020204" pitchFamily="34" charset="-122"/>
                <a:cs typeface="Times New Roman" panose="02020603050405020304" pitchFamily="18" charset="0"/>
              </a:rPr>
              <a:t>和</a:t>
            </a:r>
            <a:r>
              <a:rPr lang="en-US" altLang="zh-CN" b="0">
                <a:ea typeface="微软雅黑" panose="020B0503020204020204" pitchFamily="34" charset="-122"/>
                <a:cs typeface="Times New Roman" panose="02020603050405020304" pitchFamily="18" charset="0"/>
              </a:rPr>
              <a:t>3</a:t>
            </a:r>
          </a:p>
        </p:txBody>
      </p:sp>
      <p:pic>
        <p:nvPicPr>
          <p:cNvPr id="2" name="图片 1"/>
          <p:cNvPicPr>
            <a:picLocks noChangeAspect="1"/>
          </p:cNvPicPr>
          <p:nvPr/>
        </p:nvPicPr>
        <p:blipFill>
          <a:blip r:embed="rId2"/>
          <a:stretch>
            <a:fillRect/>
          </a:stretch>
        </p:blipFill>
        <p:spPr>
          <a:xfrm>
            <a:off x="683895" y="3154045"/>
            <a:ext cx="3692525" cy="2011680"/>
          </a:xfrm>
          <a:prstGeom prst="rect">
            <a:avLst/>
          </a:prstGeom>
        </p:spPr>
      </p:pic>
      <p:pic>
        <p:nvPicPr>
          <p:cNvPr id="5" name="图片 4"/>
          <p:cNvPicPr>
            <a:picLocks noChangeAspect="1"/>
          </p:cNvPicPr>
          <p:nvPr/>
        </p:nvPicPr>
        <p:blipFill>
          <a:blip r:embed="rId3"/>
          <a:stretch>
            <a:fillRect/>
          </a:stretch>
        </p:blipFill>
        <p:spPr>
          <a:xfrm>
            <a:off x="5359400" y="3154045"/>
            <a:ext cx="3140710" cy="2397125"/>
          </a:xfrm>
          <a:prstGeom prst="rect">
            <a:avLst/>
          </a:prstGeom>
        </p:spPr>
      </p:pic>
      <p:sp>
        <p:nvSpPr>
          <p:cNvPr id="8" name="右箭头 7"/>
          <p:cNvSpPr/>
          <p:nvPr/>
        </p:nvSpPr>
        <p:spPr>
          <a:xfrm>
            <a:off x="4578350" y="4447540"/>
            <a:ext cx="693420" cy="205740"/>
          </a:xfrm>
          <a:prstGeom prst="rightArrow">
            <a:avLst/>
          </a:prstGeom>
          <a:solidFill>
            <a:schemeClr val="accent1"/>
          </a:solidFill>
          <a:ln w="9525" cap="flat" cmpd="sng" algn="ctr">
            <a:noFill/>
            <a:prstDash val="solid"/>
            <a:round/>
            <a:headEnd type="none" w="med" len="med"/>
            <a:tailEnd type="none" w="med" len="med"/>
          </a:ln>
        </p:spPr>
        <p:txBody>
          <a:bodyPr vert="horz" wrap="square" lIns="91440" tIns="45720" rIns="91440" bIns="45720" numCol="1"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ldLvl="0" animBg="1"/>
      <p:bldP spid="7" grpId="1" animBg="1"/>
    </p:bldLst>
  </p:timing>
</p:sld>
</file>

<file path=ppt/slides/slide19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3668"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并查集的实现</a:t>
            </a:r>
            <a:endParaRPr lang="en-US" altLang="zh-CN" sz="2800" dirty="0">
              <a:solidFill>
                <a:schemeClr val="bg1"/>
              </a:solidFill>
              <a:sym typeface="+mn-lt"/>
            </a:endParaRPr>
          </a:p>
        </p:txBody>
      </p:sp>
      <mc:AlternateContent xmlns:mc="http://schemas.openxmlformats.org/markup-compatibility/2006" xmlns:a14="http://schemas.microsoft.com/office/drawing/2010/main">
        <mc:Choice Requires="a14">
          <p:sp>
            <p:nvSpPr>
              <p:cNvPr id="4" name="文本框 3"/>
              <p:cNvSpPr txBox="1"/>
              <p:nvPr/>
            </p:nvSpPr>
            <p:spPr>
              <a:xfrm>
                <a:off x="644208" y="908685"/>
                <a:ext cx="7855585" cy="2265045"/>
              </a:xfrm>
              <a:prstGeom prst="rect">
                <a:avLst/>
              </a:prstGeom>
              <a:noFill/>
            </p:spPr>
            <p:txBody>
              <a:bodyPr wrap="square" rtlCol="0">
                <a:spAutoFit/>
              </a:bodyPr>
              <a:lstStyle/>
              <a:p>
                <a:pPr marL="457200" indent="-457200" algn="just" hangingPunct="1">
                  <a:lnSpc>
                    <a:spcPct val="125000"/>
                  </a:lnSpc>
                  <a:buFont typeface="Wingdings" panose="05000000000000000000" charset="0"/>
                  <a:buChar char="Ø"/>
                </a:pPr>
                <a:r>
                  <a:rPr kumimoji="1" lang="zh-CN" b="0" noProof="0">
                    <a:ln>
                      <a:noFill/>
                    </a:ln>
                    <a:effectLst/>
                    <a:uLnTx/>
                    <a:uFillTx/>
                    <a:ea typeface="微软雅黑" panose="020B0503020204020204" pitchFamily="34" charset="-122"/>
                    <a:cs typeface="Times New Roman" panose="02020603050405020304" pitchFamily="18" charset="0"/>
                    <a:sym typeface="+mn-ea"/>
                  </a:rPr>
                  <a:t>并查集的优化</a:t>
                </a:r>
              </a:p>
              <a:p>
                <a:pPr indent="711200" algn="just" hangingPunct="1">
                  <a:lnSpc>
                    <a:spcPct val="125000"/>
                  </a:lnSpc>
                  <a:buFont typeface="Wingdings" panose="05000000000000000000" charset="0"/>
                  <a:extLst>
                    <a:ext uri="{35155182-B16C-46BC-9424-99874614C6A1}">
                      <wpsdc:indentchars xmlns:wpsdc="http://www.wps.cn/officeDocument/2017/drawingmlCustomData" xmlns="" val="200" checksum="3773799597"/>
                    </a:ext>
                  </a:extLst>
                </a:pPr>
                <a:r>
                  <a:rPr kumimoji="1" lang="zh-CN" b="0" noProof="0">
                    <a:ln>
                      <a:noFill/>
                    </a:ln>
                    <a:effectLst/>
                    <a:uLnTx/>
                    <a:uFillTx/>
                    <a:ea typeface="微软雅黑" panose="020B0503020204020204" pitchFamily="34" charset="-122"/>
                    <a:cs typeface="Times New Roman" panose="02020603050405020304" pitchFamily="18" charset="0"/>
                    <a:sym typeface="+mn-ea"/>
                  </a:rPr>
                  <a:t>并查集的查找和合并操作效率较低，尤其在树退化为链状时，查找操作的时间复杂度为</a:t>
                </a:r>
                <a14:m>
                  <m:oMath xmlns:m="http://schemas.openxmlformats.org/officeDocument/2006/math">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𝑂</m:t>
                    </m:r>
                    <m:d>
                      <m:dPr>
                        <m:ctrlPr>
                          <a:rPr kumimoji="1" lang="en-US" altLang="zh-CN" b="0" i="1" noProof="0">
                            <a:ln>
                              <a:noFill/>
                            </a:ln>
                            <a:effectLst/>
                            <a:uLnTx/>
                            <a:uFillTx/>
                            <a:latin typeface="Cambria Math"/>
                            <a:ea typeface="微软雅黑" panose="020B0503020204020204" pitchFamily="34" charset="-122"/>
                            <a:cs typeface="Cambria Math" panose="02040503050406030204" charset="0"/>
                            <a:sym typeface="+mn-ea"/>
                          </a:rPr>
                        </m:ctrlPr>
                      </m:dPr>
                      <m:e>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𝑖</m:t>
                        </m:r>
                      </m:e>
                    </m:d>
                  </m:oMath>
                </a14:m>
                <a:r>
                  <a:rPr kumimoji="1" lang="zh-CN" altLang="en-US" b="0" noProof="0">
                    <a:ln>
                      <a:noFill/>
                    </a:ln>
                    <a:effectLst/>
                    <a:uLnTx/>
                    <a:uFillTx/>
                    <a:latin typeface="Cambria Math" panose="02040503050406030204" charset="0"/>
                    <a:ea typeface="微软雅黑" panose="020B0503020204020204" pitchFamily="34" charset="-122"/>
                    <a:cs typeface="Cambria Math" panose="02040503050406030204" charset="0"/>
                    <a:sym typeface="+mn-ea"/>
                  </a:rPr>
                  <a:t>，完成</a:t>
                </a:r>
                <a14:m>
                  <m:oMath xmlns:m="http://schemas.openxmlformats.org/officeDocument/2006/math">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𝑛</m:t>
                    </m:r>
                  </m:oMath>
                </a14:m>
                <a:r>
                  <a:rPr kumimoji="1" lang="zh-CN" altLang="en-US" b="0" noProof="0">
                    <a:ln>
                      <a:noFill/>
                    </a:ln>
                    <a:effectLst/>
                    <a:uLnTx/>
                    <a:uFillTx/>
                    <a:latin typeface="Cambria Math" panose="02040503050406030204" charset="0"/>
                    <a:ea typeface="微软雅黑" panose="020B0503020204020204" pitchFamily="34" charset="-122"/>
                    <a:cs typeface="Cambria Math" panose="02040503050406030204" charset="0"/>
                    <a:sym typeface="+mn-ea"/>
                  </a:rPr>
                  <a:t>次查找的总时间复杂度为</a:t>
                </a:r>
                <a14:m>
                  <m:oMath xmlns:m="http://schemas.openxmlformats.org/officeDocument/2006/math">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𝑂</m:t>
                    </m:r>
                    <m:d>
                      <m:dPr>
                        <m:ctrlPr>
                          <a:rPr kumimoji="1" lang="en-US" altLang="zh-CN" b="0" i="1" noProof="0">
                            <a:ln>
                              <a:noFill/>
                            </a:ln>
                            <a:effectLst/>
                            <a:uLnTx/>
                            <a:uFillTx/>
                            <a:latin typeface="Cambria Math"/>
                            <a:ea typeface="微软雅黑" panose="020B0503020204020204" pitchFamily="34" charset="-122"/>
                            <a:cs typeface="Cambria Math" panose="02040503050406030204" charset="0"/>
                            <a:sym typeface="+mn-ea"/>
                          </a:rPr>
                        </m:ctrlPr>
                      </m:dPr>
                      <m:e>
                        <m:sSup>
                          <m:sSupPr>
                            <m:ctrlPr>
                              <a:rPr kumimoji="1" lang="en-US" altLang="zh-CN" b="0" i="1" noProof="0">
                                <a:ln>
                                  <a:noFill/>
                                </a:ln>
                                <a:effectLst/>
                                <a:uLnTx/>
                                <a:uFillTx/>
                                <a:latin typeface="Cambria Math"/>
                                <a:ea typeface="微软雅黑" panose="020B0503020204020204" pitchFamily="34" charset="-122"/>
                                <a:cs typeface="Cambria Math" panose="02040503050406030204" charset="0"/>
                                <a:sym typeface="+mn-ea"/>
                              </a:rPr>
                            </m:ctrlPr>
                          </m:sSupPr>
                          <m:e>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𝑛</m:t>
                            </m:r>
                          </m:e>
                          <m:sup>
                            <m:r>
                              <a:rPr kumimoji="1" lang="en-US" altLang="zh-CN" b="0" i="1" noProof="0">
                                <a:ln>
                                  <a:noFill/>
                                </a:ln>
                                <a:effectLst/>
                                <a:uLnTx/>
                                <a:uFillTx/>
                                <a:latin typeface="Cambria Math" panose="02040503050406030204" charset="0"/>
                                <a:ea typeface="微软雅黑" panose="020B0503020204020204" pitchFamily="34" charset="-122"/>
                                <a:cs typeface="Cambria Math" panose="02040503050406030204" charset="0"/>
                                <a:sym typeface="+mn-ea"/>
                              </a:rPr>
                              <m:t>2</m:t>
                            </m:r>
                          </m:sup>
                        </m:sSup>
                      </m:e>
                    </m:d>
                  </m:oMath>
                </a14:m>
                <a:endParaRPr kumimoji="1" lang="zh-CN" altLang="en-US" b="0" noProof="0">
                  <a:ln>
                    <a:noFill/>
                  </a:ln>
                  <a:effectLst/>
                  <a:uLnTx/>
                  <a:uFillTx/>
                  <a:latin typeface="Cambria Math" panose="02040503050406030204" charset="0"/>
                  <a:ea typeface="微软雅黑" panose="020B0503020204020204" pitchFamily="34" charset="-122"/>
                  <a:cs typeface="Cambria Math" panose="02040503050406030204" charset="0"/>
                  <a:sym typeface="+mn-ea"/>
                </a:endParaRPr>
              </a:p>
            </p:txBody>
          </p:sp>
        </mc:Choice>
        <mc:Fallback xmlns="">
          <p:sp>
            <p:nvSpPr>
              <p:cNvPr id="4" name="文本框 3"/>
              <p:cNvSpPr txBox="1">
                <a:spLocks noRot="1" noChangeAspect="1" noMove="1" noResize="1" noEditPoints="1" noAdjustHandles="1" noChangeArrowheads="1" noChangeShapeType="1" noTextEdit="1"/>
              </p:cNvSpPr>
              <p:nvPr/>
            </p:nvSpPr>
            <p:spPr>
              <a:xfrm>
                <a:off x="644208" y="908685"/>
                <a:ext cx="7855585" cy="2265045"/>
              </a:xfrm>
              <a:prstGeom prst="rect">
                <a:avLst/>
              </a:prstGeom>
              <a:blipFill rotWithShape="1">
                <a:blip r:embed="rId2"/>
                <a:stretch>
                  <a:fillRect l="-4" r="4"/>
                </a:stretch>
              </a:blipFill>
            </p:spPr>
            <p:txBody>
              <a:bodyPr/>
              <a:lstStyle/>
              <a:p>
                <a:r>
                  <a:rPr lang="zh-CN" altLang="en-US">
                    <a:noFill/>
                  </a:rPr>
                  <a:t> </a:t>
                </a:r>
              </a:p>
            </p:txBody>
          </p:sp>
        </mc:Fallback>
      </mc:AlternateContent>
      <p:pic>
        <p:nvPicPr>
          <p:cNvPr id="6" name="图片 5"/>
          <p:cNvPicPr>
            <a:picLocks noChangeAspect="1"/>
          </p:cNvPicPr>
          <p:nvPr/>
        </p:nvPicPr>
        <p:blipFill>
          <a:blip r:embed="rId3"/>
          <a:stretch>
            <a:fillRect/>
          </a:stretch>
        </p:blipFill>
        <p:spPr>
          <a:xfrm>
            <a:off x="971550" y="3860800"/>
            <a:ext cx="3171825" cy="1219200"/>
          </a:xfrm>
          <a:prstGeom prst="rect">
            <a:avLst/>
          </a:prstGeom>
        </p:spPr>
      </p:pic>
      <p:pic>
        <p:nvPicPr>
          <p:cNvPr id="7" name="图片 6"/>
          <p:cNvPicPr>
            <a:picLocks noChangeAspect="1"/>
          </p:cNvPicPr>
          <p:nvPr/>
        </p:nvPicPr>
        <p:blipFill>
          <a:blip r:embed="rId4"/>
          <a:stretch>
            <a:fillRect/>
          </a:stretch>
        </p:blipFill>
        <p:spPr>
          <a:xfrm>
            <a:off x="5220335" y="3284855"/>
            <a:ext cx="2781300" cy="330517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3668"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并查集的实现</a:t>
            </a:r>
            <a:endParaRPr lang="en-US" altLang="zh-CN" sz="2800" dirty="0">
              <a:solidFill>
                <a:schemeClr val="bg1"/>
              </a:solidFill>
              <a:sym typeface="+mn-lt"/>
            </a:endParaRPr>
          </a:p>
        </p:txBody>
      </p:sp>
      <p:sp>
        <p:nvSpPr>
          <p:cNvPr id="4" name="文本框 3"/>
          <p:cNvSpPr txBox="1"/>
          <p:nvPr/>
        </p:nvSpPr>
        <p:spPr>
          <a:xfrm>
            <a:off x="644208" y="1410970"/>
            <a:ext cx="7855585" cy="2245360"/>
          </a:xfrm>
          <a:prstGeom prst="rect">
            <a:avLst/>
          </a:prstGeom>
          <a:noFill/>
        </p:spPr>
        <p:txBody>
          <a:bodyPr wrap="square" rtlCol="0">
            <a:spAutoFit/>
          </a:bodyPr>
          <a:lstStyle/>
          <a:p>
            <a:pPr marL="457200" indent="-457200" algn="just" hangingPunct="1">
              <a:lnSpc>
                <a:spcPct val="125000"/>
              </a:lnSpc>
              <a:buFont typeface="Wingdings" panose="05000000000000000000" charset="0"/>
              <a:buChar char="Ø"/>
            </a:pPr>
            <a:r>
              <a:rPr kumimoji="1" lang="zh-CN" b="0" noProof="0">
                <a:ln>
                  <a:noFill/>
                </a:ln>
                <a:effectLst/>
                <a:uLnTx/>
                <a:uFillTx/>
                <a:ea typeface="微软雅黑" panose="020B0503020204020204" pitchFamily="34" charset="-122"/>
                <a:cs typeface="Times New Roman" panose="02020603050405020304" pitchFamily="18" charset="0"/>
                <a:sym typeface="+mn-ea"/>
              </a:rPr>
              <a:t>并查集的优化</a:t>
            </a:r>
          </a:p>
          <a:p>
            <a:pPr indent="711200" algn="just" hangingPunct="1">
              <a:lnSpc>
                <a:spcPct val="125000"/>
              </a:lnSpc>
              <a:buFont typeface="Wingdings" panose="05000000000000000000" charset="0"/>
              <a:extLst>
                <a:ext uri="{35155182-B16C-46BC-9424-99874614C6A1}">
                  <wpsdc:indentchars xmlns:wpsdc="http://www.wps.cn/officeDocument/2017/drawingmlCustomData" xmlns="" val="200" checksum="3773799597"/>
                </a:ext>
              </a:extLst>
            </a:pPr>
            <a:r>
              <a:rPr kumimoji="1" lang="zh-CN" b="0" noProof="0">
                <a:ln>
                  <a:noFill/>
                </a:ln>
                <a:effectLst/>
                <a:uLnTx/>
                <a:uFillTx/>
                <a:ea typeface="微软雅黑" panose="020B0503020204020204" pitchFamily="34" charset="-122"/>
                <a:cs typeface="Times New Roman" panose="02020603050405020304" pitchFamily="18" charset="0"/>
                <a:sym typeface="+mn-ea"/>
              </a:rPr>
              <a:t>路径压缩是一种优化方法，将查找路径上的结点直接指向根结点，降低树的深度，提高查找效率。</a:t>
            </a:r>
          </a:p>
        </p:txBody>
      </p:sp>
      <p:sp>
        <p:nvSpPr>
          <p:cNvPr id="3" name="文本框 2"/>
          <p:cNvSpPr txBox="1"/>
          <p:nvPr/>
        </p:nvSpPr>
        <p:spPr>
          <a:xfrm>
            <a:off x="683895" y="3714750"/>
            <a:ext cx="7807960" cy="2245360"/>
          </a:xfrm>
          <a:prstGeom prst="rect">
            <a:avLst/>
          </a:prstGeom>
          <a:solidFill>
            <a:schemeClr val="bg2">
              <a:lumMod val="20000"/>
              <a:lumOff val="80000"/>
            </a:schemeClr>
          </a:solidFill>
        </p:spPr>
        <p:txBody>
          <a:bodyPr wrap="square" rtlCol="0">
            <a:spAutoFit/>
          </a:bodyPr>
          <a:lstStyle/>
          <a:p>
            <a:r>
              <a:rPr sz="2000" b="0">
                <a:latin typeface="+mn-lt"/>
                <a:ea typeface="+mn-ea"/>
                <a:cs typeface="+mn-lt"/>
              </a:rPr>
              <a:t>int CompressionFind(int UFSet[],int x) </a:t>
            </a:r>
          </a:p>
          <a:p>
            <a:r>
              <a:rPr sz="2000" b="0">
                <a:latin typeface="+mn-lt"/>
                <a:ea typeface="+mn-ea"/>
                <a:cs typeface="+mn-lt"/>
              </a:rPr>
              <a:t> {//递归实现路径压缩</a:t>
            </a:r>
          </a:p>
          <a:p>
            <a:pPr indent="457200"/>
            <a:r>
              <a:rPr sz="2000" b="0">
                <a:latin typeface="+mn-lt"/>
                <a:ea typeface="+mn-ea"/>
                <a:cs typeface="+mn-lt"/>
              </a:rPr>
              <a:t>if(UFSet[x]＜0) //找到根结点</a:t>
            </a:r>
          </a:p>
          <a:p>
            <a:pPr marL="457200" lvl="1" indent="457200"/>
            <a:r>
              <a:rPr sz="2000" b="0">
                <a:latin typeface="+mn-lt"/>
                <a:ea typeface="+mn-ea"/>
                <a:cs typeface="+mn-lt"/>
              </a:rPr>
              <a:t>return x;</a:t>
            </a:r>
          </a:p>
          <a:p>
            <a:pPr indent="457200"/>
            <a:r>
              <a:rPr sz="2000" b="0">
                <a:latin typeface="+mn-lt"/>
                <a:ea typeface="+mn-ea"/>
                <a:cs typeface="+mn-lt"/>
              </a:rPr>
              <a:t>return UFSet[x]=CompressionFind(UFSet,UFSet[x]); </a:t>
            </a:r>
          </a:p>
          <a:p>
            <a:pPr indent="457200"/>
            <a:r>
              <a:rPr sz="2000" b="0">
                <a:latin typeface="+mn-lt"/>
                <a:ea typeface="+mn-ea"/>
                <a:cs typeface="+mn-lt"/>
              </a:rPr>
              <a:t>// 路径压缩，提高查找效率 </a:t>
            </a:r>
          </a:p>
          <a:p>
            <a:r>
              <a:rPr sz="2000" b="0">
                <a:latin typeface="+mn-lt"/>
                <a:ea typeface="+mn-ea"/>
                <a:cs typeface="+mn-lt"/>
              </a:rPr>
              <a:t>}</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3668"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并查集的实现</a:t>
            </a:r>
            <a:endParaRPr lang="en-US" altLang="zh-CN" sz="2800" dirty="0">
              <a:solidFill>
                <a:schemeClr val="bg1"/>
              </a:solidFill>
              <a:sym typeface="+mn-lt"/>
            </a:endParaRPr>
          </a:p>
        </p:txBody>
      </p:sp>
      <p:sp>
        <p:nvSpPr>
          <p:cNvPr id="4" name="文本框 3"/>
          <p:cNvSpPr txBox="1"/>
          <p:nvPr/>
        </p:nvSpPr>
        <p:spPr>
          <a:xfrm>
            <a:off x="611188" y="999490"/>
            <a:ext cx="7855585" cy="2245360"/>
          </a:xfrm>
          <a:prstGeom prst="rect">
            <a:avLst/>
          </a:prstGeom>
          <a:noFill/>
        </p:spPr>
        <p:txBody>
          <a:bodyPr wrap="square" rtlCol="0">
            <a:spAutoFit/>
          </a:bodyPr>
          <a:lstStyle/>
          <a:p>
            <a:pPr marL="457200" indent="-457200" algn="just" hangingPunct="1">
              <a:lnSpc>
                <a:spcPct val="125000"/>
              </a:lnSpc>
              <a:buFont typeface="Wingdings" panose="05000000000000000000" charset="0"/>
              <a:buChar char="Ø"/>
            </a:pPr>
            <a:r>
              <a:rPr kumimoji="1" lang="zh-CN" b="0" noProof="0">
                <a:ln>
                  <a:noFill/>
                </a:ln>
                <a:effectLst/>
                <a:uLnTx/>
                <a:uFillTx/>
                <a:ea typeface="微软雅黑" panose="020B0503020204020204" pitchFamily="34" charset="-122"/>
                <a:cs typeface="Times New Roman" panose="02020603050405020304" pitchFamily="18" charset="0"/>
                <a:sym typeface="+mn-ea"/>
              </a:rPr>
              <a:t>并查集的优化</a:t>
            </a:r>
          </a:p>
          <a:p>
            <a:pPr indent="711200" algn="just" hangingPunct="1">
              <a:lnSpc>
                <a:spcPct val="125000"/>
              </a:lnSpc>
              <a:buFont typeface="Wingdings" panose="05000000000000000000" charset="0"/>
              <a:extLst>
                <a:ext uri="{35155182-B16C-46BC-9424-99874614C6A1}">
                  <wpsdc:indentchars xmlns:wpsdc="http://www.wps.cn/officeDocument/2017/drawingmlCustomData" xmlns="" val="200" checksum="3773799597"/>
                </a:ext>
              </a:extLst>
            </a:pPr>
            <a:r>
              <a:rPr kumimoji="1" lang="zh-CN" b="0" noProof="0">
                <a:ln>
                  <a:noFill/>
                </a:ln>
                <a:effectLst/>
                <a:uLnTx/>
                <a:uFillTx/>
                <a:ea typeface="微软雅黑" panose="020B0503020204020204" pitchFamily="34" charset="-122"/>
                <a:cs typeface="Times New Roman" panose="02020603050405020304" pitchFamily="18" charset="0"/>
                <a:sym typeface="+mn-ea"/>
              </a:rPr>
              <a:t>路径压缩是一种优化方法，将查找路径上的结点直接指向根结点，降低树的深度，提高查找效率。</a:t>
            </a:r>
          </a:p>
        </p:txBody>
      </p:sp>
      <p:pic>
        <p:nvPicPr>
          <p:cNvPr id="2" name="图片 1"/>
          <p:cNvPicPr>
            <a:picLocks noChangeAspect="1"/>
          </p:cNvPicPr>
          <p:nvPr/>
        </p:nvPicPr>
        <p:blipFill>
          <a:blip r:embed="rId2"/>
          <a:stretch>
            <a:fillRect/>
          </a:stretch>
        </p:blipFill>
        <p:spPr>
          <a:xfrm>
            <a:off x="611505" y="3244850"/>
            <a:ext cx="3900805" cy="2948305"/>
          </a:xfrm>
          <a:prstGeom prst="rect">
            <a:avLst/>
          </a:prstGeom>
        </p:spPr>
      </p:pic>
      <p:pic>
        <p:nvPicPr>
          <p:cNvPr id="5" name="图片 4"/>
          <p:cNvPicPr>
            <a:picLocks noChangeAspect="1"/>
          </p:cNvPicPr>
          <p:nvPr/>
        </p:nvPicPr>
        <p:blipFill>
          <a:blip r:embed="rId3"/>
          <a:stretch>
            <a:fillRect/>
          </a:stretch>
        </p:blipFill>
        <p:spPr>
          <a:xfrm>
            <a:off x="4758690" y="3245485"/>
            <a:ext cx="3876675" cy="2936240"/>
          </a:xfrm>
          <a:prstGeom prst="rect">
            <a:avLst/>
          </a:prstGeom>
        </p:spPr>
      </p:pic>
      <p:sp>
        <p:nvSpPr>
          <p:cNvPr id="7" name="文本框 6"/>
          <p:cNvSpPr txBox="1"/>
          <p:nvPr/>
        </p:nvSpPr>
        <p:spPr>
          <a:xfrm>
            <a:off x="2771775" y="6181725"/>
            <a:ext cx="3451860" cy="521970"/>
          </a:xfrm>
          <a:prstGeom prst="rect">
            <a:avLst/>
          </a:prstGeom>
          <a:solidFill>
            <a:schemeClr val="accent1">
              <a:lumMod val="20000"/>
              <a:lumOff val="80000"/>
            </a:schemeClr>
          </a:solidFill>
        </p:spPr>
        <p:txBody>
          <a:bodyPr wrap="square" rtlCol="0">
            <a:spAutoFit/>
          </a:bodyPr>
          <a:lstStyle/>
          <a:p>
            <a:pPr algn="ctr"/>
            <a:r>
              <a:rPr lang="zh-CN" altLang="en-US" b="0">
                <a:ea typeface="微软雅黑" panose="020B0503020204020204" pitchFamily="34" charset="-122"/>
                <a:cs typeface="Times New Roman" panose="02020603050405020304" pitchFamily="18" charset="0"/>
              </a:rPr>
              <a:t>优化查找结点</a:t>
            </a:r>
            <a:r>
              <a:rPr lang="en-US" altLang="zh-CN" b="0">
                <a:ea typeface="微软雅黑" panose="020B0503020204020204" pitchFamily="34" charset="-122"/>
                <a:cs typeface="Times New Roman" panose="02020603050405020304" pitchFamily="18" charset="0"/>
              </a:rPr>
              <a:t>3</a:t>
            </a:r>
          </a:p>
        </p:txBody>
      </p:sp>
      <p:sp>
        <p:nvSpPr>
          <p:cNvPr id="8" name="右箭头 7"/>
          <p:cNvSpPr/>
          <p:nvPr/>
        </p:nvSpPr>
        <p:spPr>
          <a:xfrm>
            <a:off x="4192270" y="5012690"/>
            <a:ext cx="693420" cy="205740"/>
          </a:xfrm>
          <a:prstGeom prst="rightArrow">
            <a:avLst/>
          </a:prstGeom>
          <a:solidFill>
            <a:schemeClr val="accent1"/>
          </a:solidFill>
          <a:ln w="9525" cap="flat" cmpd="sng" algn="ctr">
            <a:noFill/>
            <a:prstDash val="solid"/>
            <a:round/>
            <a:headEnd type="none" w="med" len="med"/>
            <a:tailEnd type="none" w="med" len="med"/>
          </a:ln>
        </p:spPr>
        <p:txBody>
          <a:bodyPr vert="horz" wrap="square" lIns="91440" tIns="45720" rIns="91440" bIns="45720" numCol="1"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ldLvl="0" animBg="1"/>
      <p:bldP spid="7" grpId="1" animBg="1"/>
    </p:bldLst>
  </p:timing>
</p:sld>
</file>

<file path=ppt/slides/slide19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3668"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并查集的实现</a:t>
            </a:r>
            <a:endParaRPr lang="en-US" altLang="zh-CN" sz="2800" dirty="0">
              <a:solidFill>
                <a:schemeClr val="bg1"/>
              </a:solidFill>
              <a:sym typeface="+mn-lt"/>
            </a:endParaRPr>
          </a:p>
        </p:txBody>
      </p:sp>
      <p:sp>
        <p:nvSpPr>
          <p:cNvPr id="4" name="文本框 3"/>
          <p:cNvSpPr txBox="1"/>
          <p:nvPr/>
        </p:nvSpPr>
        <p:spPr>
          <a:xfrm>
            <a:off x="611188" y="999490"/>
            <a:ext cx="7855585" cy="2245360"/>
          </a:xfrm>
          <a:prstGeom prst="rect">
            <a:avLst/>
          </a:prstGeom>
          <a:noFill/>
        </p:spPr>
        <p:txBody>
          <a:bodyPr wrap="square" rtlCol="0">
            <a:spAutoFit/>
          </a:bodyPr>
          <a:lstStyle/>
          <a:p>
            <a:pPr marL="457200" indent="-457200" algn="just" hangingPunct="1">
              <a:lnSpc>
                <a:spcPct val="125000"/>
              </a:lnSpc>
              <a:buFont typeface="Wingdings" panose="05000000000000000000" charset="0"/>
              <a:buChar char="Ø"/>
            </a:pPr>
            <a:r>
              <a:rPr kumimoji="1" lang="zh-CN" b="0" noProof="0">
                <a:ln>
                  <a:noFill/>
                </a:ln>
                <a:effectLst/>
                <a:uLnTx/>
                <a:uFillTx/>
                <a:ea typeface="微软雅黑" panose="020B0503020204020204" pitchFamily="34" charset="-122"/>
                <a:cs typeface="Times New Roman" panose="02020603050405020304" pitchFamily="18" charset="0"/>
                <a:sym typeface="+mn-ea"/>
              </a:rPr>
              <a:t>并查集的优化</a:t>
            </a:r>
          </a:p>
          <a:p>
            <a:pPr indent="711200" algn="just" hangingPunct="1">
              <a:lnSpc>
                <a:spcPct val="125000"/>
              </a:lnSpc>
              <a:buFont typeface="Wingdings" panose="05000000000000000000" charset="0"/>
              <a:extLst>
                <a:ext uri="{35155182-B16C-46BC-9424-99874614C6A1}">
                  <wpsdc:indentchars xmlns:wpsdc="http://www.wps.cn/officeDocument/2017/drawingmlCustomData" xmlns="" val="200" checksum="3773799597"/>
                </a:ext>
              </a:extLst>
            </a:pPr>
            <a:r>
              <a:rPr kumimoji="1" lang="zh-CN" b="0" noProof="0">
                <a:ln>
                  <a:noFill/>
                </a:ln>
                <a:effectLst/>
                <a:uLnTx/>
                <a:uFillTx/>
                <a:ea typeface="微软雅黑" panose="020B0503020204020204" pitchFamily="34" charset="-122"/>
                <a:cs typeface="Times New Roman" panose="02020603050405020304" pitchFamily="18" charset="0"/>
                <a:sym typeface="+mn-ea"/>
              </a:rPr>
              <a:t>路径压缩是一种优化方法，将查找路径上的结点直接指向根结点，降低树的深度，提高查找效率。</a:t>
            </a:r>
          </a:p>
        </p:txBody>
      </p:sp>
      <p:sp>
        <p:nvSpPr>
          <p:cNvPr id="7" name="文本框 6"/>
          <p:cNvSpPr txBox="1"/>
          <p:nvPr/>
        </p:nvSpPr>
        <p:spPr>
          <a:xfrm>
            <a:off x="2391410" y="6181725"/>
            <a:ext cx="3451860" cy="521970"/>
          </a:xfrm>
          <a:prstGeom prst="rect">
            <a:avLst/>
          </a:prstGeom>
          <a:solidFill>
            <a:schemeClr val="accent1">
              <a:lumMod val="20000"/>
              <a:lumOff val="80000"/>
            </a:schemeClr>
          </a:solidFill>
        </p:spPr>
        <p:txBody>
          <a:bodyPr wrap="square" rtlCol="0">
            <a:spAutoFit/>
          </a:bodyPr>
          <a:lstStyle/>
          <a:p>
            <a:pPr algn="ctr"/>
            <a:r>
              <a:rPr lang="zh-CN" altLang="en-US" b="0">
                <a:ea typeface="微软雅黑" panose="020B0503020204020204" pitchFamily="34" charset="-122"/>
                <a:cs typeface="Times New Roman" panose="02020603050405020304" pitchFamily="18" charset="0"/>
              </a:rPr>
              <a:t>路径压缩后的树</a:t>
            </a:r>
            <a:endParaRPr lang="en-US" altLang="zh-CN" b="0">
              <a:ea typeface="微软雅黑" panose="020B0503020204020204" pitchFamily="34" charset="-122"/>
              <a:cs typeface="Times New Roman" panose="02020603050405020304" pitchFamily="18" charset="0"/>
            </a:endParaRPr>
          </a:p>
        </p:txBody>
      </p:sp>
      <p:pic>
        <p:nvPicPr>
          <p:cNvPr id="3" name="图片 2"/>
          <p:cNvPicPr>
            <a:picLocks noChangeAspect="1"/>
          </p:cNvPicPr>
          <p:nvPr/>
        </p:nvPicPr>
        <p:blipFill>
          <a:blip r:embed="rId2"/>
          <a:stretch>
            <a:fillRect/>
          </a:stretch>
        </p:blipFill>
        <p:spPr>
          <a:xfrm>
            <a:off x="1697990" y="3212465"/>
            <a:ext cx="4838700" cy="2790825"/>
          </a:xfrm>
          <a:prstGeom prst="rect">
            <a:avLst/>
          </a:prstGeom>
        </p:spPr>
      </p:pic>
      <p:grpSp>
        <p:nvGrpSpPr>
          <p:cNvPr id="10" name="组合 9"/>
          <p:cNvGrpSpPr/>
          <p:nvPr/>
        </p:nvGrpSpPr>
        <p:grpSpPr>
          <a:xfrm>
            <a:off x="5652135" y="3789045"/>
            <a:ext cx="3371850" cy="2879090"/>
            <a:chOff x="8901" y="5967"/>
            <a:chExt cx="5310" cy="4534"/>
          </a:xfrm>
        </p:grpSpPr>
        <p:sp>
          <p:nvSpPr>
            <p:cNvPr id="6" name="爆炸形 2 5"/>
            <p:cNvSpPr/>
            <p:nvPr/>
          </p:nvSpPr>
          <p:spPr>
            <a:xfrm>
              <a:off x="8901" y="5967"/>
              <a:ext cx="5310" cy="4534"/>
            </a:xfrm>
            <a:prstGeom prst="irregularSeal2">
              <a:avLst/>
            </a:prstGeom>
            <a:solidFill>
              <a:schemeClr val="accent1">
                <a:lumMod val="60000"/>
                <a:lumOff val="40000"/>
              </a:schemeClr>
            </a:solidFill>
            <a:ln w="9525" cap="flat" cmpd="sng" algn="ctr">
              <a:noFill/>
              <a:prstDash val="solid"/>
              <a:round/>
              <a:headEnd type="none" w="med" len="med"/>
              <a:tailEnd type="none" w="med" len="med"/>
            </a:ln>
          </p:spPr>
          <p:txBody>
            <a:bodyPr vert="horz" wrap="square" lIns="91440" tIns="45720" rIns="91440" bIns="45720" numCol="1"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endParaRPr>
            </a:p>
          </p:txBody>
        </p:sp>
        <mc:AlternateContent xmlns:mc="http://schemas.openxmlformats.org/markup-compatibility/2006" xmlns:a14="http://schemas.microsoft.com/office/drawing/2010/main">
          <mc:Choice Requires="a14">
            <p:sp>
              <p:nvSpPr>
                <p:cNvPr id="9" name="文本框 8"/>
                <p:cNvSpPr txBox="1"/>
                <p:nvPr/>
              </p:nvSpPr>
              <p:spPr>
                <a:xfrm>
                  <a:off x="9695" y="7554"/>
                  <a:ext cx="3453" cy="1446"/>
                </a:xfrm>
                <a:prstGeom prst="rect">
                  <a:avLst/>
                </a:prstGeom>
                <a:noFill/>
              </p:spPr>
              <p:txBody>
                <a:bodyPr wrap="square" rtlCol="0">
                  <a:noAutofit/>
                </a:bodyPr>
                <a:lstStyle/>
                <a:p>
                  <a:pPr algn="just" hangingPunct="1"/>
                  <a:r>
                    <a:rPr kumimoji="1" lang="zh-CN" altLang="en-US" sz="2000" b="0" smtClean="0">
                      <a:ln>
                        <a:noFill/>
                      </a:ln>
                      <a:solidFill>
                        <a:schemeClr val="bg1"/>
                      </a:solidFill>
                      <a:effectLst/>
                      <a:latin typeface="微软雅黑" panose="020B0503020204020204" pitchFamily="34" charset="-122"/>
                      <a:ea typeface="微软雅黑" panose="020B0503020204020204" pitchFamily="34" charset="-122"/>
                      <a:sym typeface="+mn-ea"/>
                    </a:rPr>
                    <a:t>对路径压缩后的树进行查找操作，时间复杂度为</a:t>
                  </a:r>
                  <a14:m>
                    <m:oMath xmlns:m="http://schemas.openxmlformats.org/officeDocument/2006/math">
                      <m:r>
                        <a:rPr kumimoji="1" lang="en-US" altLang="zh-CN" sz="2000" b="0" i="1" noProof="0">
                          <a:ln>
                            <a:noFill/>
                          </a:ln>
                          <a:solidFill>
                            <a:schemeClr val="bg1"/>
                          </a:solidFill>
                          <a:effectLst/>
                          <a:uLnTx/>
                          <a:uFillTx/>
                          <a:latin typeface="Cambria Math" panose="02040503050406030204" charset="0"/>
                          <a:ea typeface="微软雅黑" panose="020B0503020204020204" pitchFamily="34" charset="-122"/>
                          <a:cs typeface="Cambria Math" panose="02040503050406030204" charset="0"/>
                          <a:sym typeface="+mn-ea"/>
                        </a:rPr>
                        <m:t>𝑂</m:t>
                      </m:r>
                      <m:d>
                        <m:dPr>
                          <m:ctrlPr>
                            <a:rPr kumimoji="1" lang="en-US" altLang="zh-CN" sz="2000" b="0" i="1" noProof="0">
                              <a:ln>
                                <a:noFill/>
                              </a:ln>
                              <a:solidFill>
                                <a:schemeClr val="bg1"/>
                              </a:solidFill>
                              <a:effectLst/>
                              <a:uLnTx/>
                              <a:uFillTx/>
                              <a:latin typeface="Cambria Math"/>
                              <a:ea typeface="微软雅黑" panose="020B0503020204020204" pitchFamily="34" charset="-122"/>
                              <a:cs typeface="Cambria Math" panose="02040503050406030204" charset="0"/>
                              <a:sym typeface="+mn-ea"/>
                            </a:rPr>
                          </m:ctrlPr>
                        </m:dPr>
                        <m:e>
                          <m:r>
                            <a:rPr kumimoji="1" lang="en-US" altLang="zh-CN" sz="2000" b="0" i="1" noProof="0">
                              <a:ln>
                                <a:noFill/>
                              </a:ln>
                              <a:solidFill>
                                <a:schemeClr val="bg1"/>
                              </a:solidFill>
                              <a:effectLst/>
                              <a:uLnTx/>
                              <a:uFillTx/>
                              <a:latin typeface="Cambria Math" panose="02040503050406030204" charset="0"/>
                              <a:ea typeface="微软雅黑" panose="020B0503020204020204" pitchFamily="34" charset="-122"/>
                              <a:cs typeface="Cambria Math" panose="02040503050406030204" charset="0"/>
                              <a:sym typeface="+mn-ea"/>
                            </a:rPr>
                            <m:t>1</m:t>
                          </m:r>
                        </m:e>
                      </m:d>
                    </m:oMath>
                  </a14:m>
                  <a:endParaRPr kumimoji="1" lang="en-US" altLang="zh-CN" sz="2000" b="0" i="1" noProof="0">
                    <a:ln>
                      <a:noFill/>
                    </a:ln>
                    <a:solidFill>
                      <a:schemeClr val="bg1"/>
                    </a:solidFill>
                    <a:effectLst/>
                    <a:uLnTx/>
                    <a:uFillTx/>
                    <a:latin typeface="Cambria Math" panose="02040503050406030204" charset="0"/>
                    <a:ea typeface="微软雅黑" panose="020B0503020204020204" pitchFamily="34" charset="-122"/>
                    <a:cs typeface="Cambria Math" panose="02040503050406030204" charset="0"/>
                    <a:sym typeface="+mn-ea"/>
                  </a:endParaRPr>
                </a:p>
              </p:txBody>
            </p:sp>
          </mc:Choice>
          <mc:Fallback xmlns="">
            <p:sp>
              <p:nvSpPr>
                <p:cNvPr id="9" name="文本框 8"/>
                <p:cNvSpPr txBox="1">
                  <a:spLocks noRot="1" noChangeAspect="1" noMove="1" noResize="1" noEditPoints="1" noAdjustHandles="1" noChangeArrowheads="1" noChangeShapeType="1" noTextEdit="1"/>
                </p:cNvSpPr>
                <p:nvPr/>
              </p:nvSpPr>
              <p:spPr>
                <a:xfrm>
                  <a:off x="9695" y="7554"/>
                  <a:ext cx="3453" cy="1446"/>
                </a:xfrm>
                <a:prstGeom prst="rect">
                  <a:avLst/>
                </a:prstGeom>
                <a:blipFill rotWithShape="1">
                  <a:blip r:embed="rId3"/>
                </a:blipFill>
              </p:spPr>
              <p:txBody>
                <a:bodyPr/>
                <a:lstStyle/>
                <a:p>
                  <a:r>
                    <a:rPr lang="zh-CN" altLang="en-US">
                      <a:noFill/>
                    </a:rPr>
                    <a:t> </a:t>
                  </a:r>
                </a:p>
              </p:txBody>
            </p:sp>
          </mc:Fallback>
        </mc:AlternateContent>
      </p:gr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ldLvl="0" animBg="1"/>
      <p:bldP spid="7" grpId="1" animBg="1"/>
    </p:bldLst>
  </p:timing>
</p:sld>
</file>

<file path=ppt/slides/slide19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15362"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grpSp>
        <p:nvGrpSpPr>
          <p:cNvPr id="4" name="组合 3"/>
          <p:cNvGrpSpPr/>
          <p:nvPr/>
        </p:nvGrpSpPr>
        <p:grpSpPr>
          <a:xfrm>
            <a:off x="1500505" y="1774825"/>
            <a:ext cx="6143625" cy="5023485"/>
            <a:chOff x="2363" y="3247"/>
            <a:chExt cx="9675" cy="7911"/>
          </a:xfrm>
        </p:grpSpPr>
        <p:sp>
          <p:nvSpPr>
            <p:cNvPr id="3" name="矩形: 圆角 16"/>
            <p:cNvSpPr>
              <a:spLocks noChangeArrowheads="1"/>
            </p:cNvSpPr>
            <p:nvPr/>
          </p:nvSpPr>
          <p:spPr bwMode="auto">
            <a:xfrm>
              <a:off x="3850" y="9688"/>
              <a:ext cx="8188" cy="795"/>
            </a:xfrm>
            <a:prstGeom prst="roundRect">
              <a:avLst>
                <a:gd name="adj" fmla="val 16667"/>
              </a:avLst>
            </a:prstGeom>
            <a:solidFill>
              <a:srgbClr val="9476B6"/>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2363" y="9688"/>
              <a:ext cx="1323" cy="795"/>
            </a:xfrm>
            <a:prstGeom prst="roundRect">
              <a:avLst>
                <a:gd name="adj" fmla="val 16667"/>
              </a:avLst>
            </a:pr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4" name="文本框 13"/>
            <p:cNvSpPr txBox="1"/>
            <p:nvPr/>
          </p:nvSpPr>
          <p:spPr>
            <a:xfrm>
              <a:off x="2550" y="3247"/>
              <a:ext cx="1135" cy="7892"/>
            </a:xfrm>
            <a:prstGeom prst="rect">
              <a:avLst/>
            </a:prstGeom>
            <a:noFill/>
          </p:spPr>
          <p:txBody>
            <a:bodyPr>
              <a:noAutofit/>
            </a:bodyPr>
            <a:lstStyle/>
            <a:p>
              <a:pPr marR="0" defTabSz="914400">
                <a:lnSpc>
                  <a:spcPct val="150000"/>
                </a:lnSpc>
                <a:buClrTx/>
                <a:buSzTx/>
                <a:buFontTx/>
                <a:buNone/>
                <a:defRPr/>
              </a:pPr>
              <a:r>
                <a:rPr kumimoji="0" lang="en-US" altLang="zh-CN" sz="2200" b="0" kern="1200" cap="none" spc="0" normalizeH="0" baseline="0" noProof="0" dirty="0">
                  <a:solidFill>
                    <a:schemeClr val="tx1"/>
                  </a:solidFill>
                  <a:latin typeface="+mn-lt"/>
                  <a:ea typeface="+mn-ea"/>
                  <a:cs typeface="+mn-ea"/>
                  <a:sym typeface="+mn-lt"/>
                </a:rPr>
                <a:t>5.1</a:t>
              </a:r>
              <a:endParaRPr kumimoji="0" lang="zh-CN" altLang="en-US" sz="2200" b="0" kern="1200" cap="none" spc="0" normalizeH="0" baseline="0" noProof="0" dirty="0">
                <a:solidFill>
                  <a:schemeClr val="tx1"/>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5.2</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5.3</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5.4</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5.5</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5.6</a:t>
              </a: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5.7</a:t>
              </a: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5.8</a:t>
              </a:r>
            </a:p>
            <a:p>
              <a:pPr marR="0" defTabSz="914400">
                <a:lnSpc>
                  <a:spcPct val="150000"/>
                </a:lnSpc>
                <a:buClrTx/>
                <a:buSzTx/>
                <a:buFontTx/>
                <a:buNone/>
                <a:defRPr/>
              </a:pPr>
              <a:r>
                <a:rPr kumimoji="0" lang="en-US" altLang="zh-CN" sz="2200" b="0" kern="1200" cap="none" spc="0" normalizeH="0" baseline="0" noProof="0" dirty="0">
                  <a:solidFill>
                    <a:schemeClr val="bg1"/>
                  </a:solidFill>
                  <a:latin typeface="+mn-lt"/>
                  <a:ea typeface="+mn-ea"/>
                  <a:cs typeface="+mn-ea"/>
                  <a:sym typeface="+mn-lt"/>
                </a:rPr>
                <a:t>5.9</a:t>
              </a: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5.10</a:t>
              </a:r>
            </a:p>
          </p:txBody>
        </p:sp>
        <p:sp>
          <p:nvSpPr>
            <p:cNvPr id="15" name="文本框 14"/>
            <p:cNvSpPr txBox="1"/>
            <p:nvPr/>
          </p:nvSpPr>
          <p:spPr>
            <a:xfrm>
              <a:off x="3870" y="3247"/>
              <a:ext cx="7265" cy="7911"/>
            </a:xfrm>
            <a:prstGeom prst="rect">
              <a:avLst/>
            </a:prstGeom>
            <a:noFill/>
          </p:spPr>
          <p:txBody>
            <a:bodyPr wrap="square">
              <a:noAutofit/>
            </a:bodyPr>
            <a:lstStyle/>
            <a:p>
              <a:pPr marR="0" defTabSz="914400">
                <a:lnSpc>
                  <a:spcPct val="150000"/>
                </a:lnSpc>
                <a:buClrTx/>
                <a:buSzTx/>
                <a:buFont typeface="Arial" panose="020B0604020202020204" pitchFamily="34" charset="0"/>
                <a:buNone/>
                <a:defRPr/>
              </a:pPr>
              <a:r>
                <a:rPr kumimoji="0" lang="zh-CN" altLang="en-US" sz="2200" b="0" kern="1200" cap="none" spc="0" normalizeH="0" baseline="0" noProof="0" dirty="0">
                  <a:solidFill>
                    <a:schemeClr val="tx1"/>
                  </a:solidFill>
                  <a:latin typeface="+mn-lt"/>
                  <a:ea typeface="+mn-ea"/>
                  <a:cs typeface="+mn-ea"/>
                  <a:sym typeface="+mn-lt"/>
                </a:rPr>
                <a:t>树和二叉树的定义</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案例引入</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树和二叉树的抽象数据类型定义</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二叉树的性质和存储结构</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遍历二叉树和线索二叉树</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树和森林</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哈夫曼树及其应用</a:t>
              </a:r>
            </a:p>
            <a:p>
              <a:pPr marR="0" defTabSz="914400">
                <a:lnSpc>
                  <a:spcPct val="150000"/>
                </a:lnSpc>
                <a:buClrTx/>
                <a:buSzTx/>
                <a:buFontTx/>
                <a:buNone/>
                <a:defRPr/>
              </a:pPr>
              <a:r>
                <a:rPr lang="zh-CN" altLang="en-US" sz="2200" b="0" noProof="0" dirty="0">
                  <a:solidFill>
                    <a:srgbClr val="000000">
                      <a:lumMod val="95000"/>
                      <a:lumOff val="5000"/>
                    </a:srgbClr>
                  </a:solidFill>
                  <a:latin typeface="+mn-lt"/>
                  <a:ea typeface="+mn-ea"/>
                  <a:cs typeface="+mn-ea"/>
                  <a:sym typeface="+mn-lt"/>
                </a:rPr>
                <a:t>并查集及其应用</a:t>
              </a:r>
            </a:p>
            <a:p>
              <a:pPr marR="0" defTabSz="914400">
                <a:lnSpc>
                  <a:spcPct val="150000"/>
                </a:lnSpc>
                <a:buClrTx/>
                <a:buSzTx/>
                <a:buFontTx/>
                <a:buNone/>
                <a:defRPr/>
              </a:pPr>
              <a:r>
                <a:rPr lang="zh-CN" altLang="en-US" sz="2200" b="0" noProof="0" dirty="0">
                  <a:solidFill>
                    <a:schemeClr val="bg1"/>
                  </a:solidFill>
                  <a:latin typeface="+mn-lt"/>
                  <a:ea typeface="+mn-ea"/>
                  <a:cs typeface="+mn-ea"/>
                  <a:sym typeface="+mn-lt"/>
                </a:rPr>
                <a:t>案例分析与实现</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LeetCode 算法练习题	</a:t>
              </a:r>
            </a:p>
          </p:txBody>
        </p:sp>
      </p:gr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圆角矩形 2"/>
          <p:cNvSpPr/>
          <p:nvPr/>
        </p:nvSpPr>
        <p:spPr bwMode="auto">
          <a:xfrm>
            <a:off x="576262" y="1724025"/>
            <a:ext cx="5363890" cy="3505175"/>
          </a:xfrm>
          <a:prstGeom prst="roundRect">
            <a:avLst>
              <a:gd name="adj" fmla="val 3331"/>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113668"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利用二叉树求解表达式的值</a:t>
            </a:r>
          </a:p>
        </p:txBody>
      </p:sp>
      <p:sp>
        <p:nvSpPr>
          <p:cNvPr id="7" name="Text Box 5"/>
          <p:cNvSpPr txBox="1">
            <a:spLocks noChangeArrowheads="1"/>
          </p:cNvSpPr>
          <p:nvPr/>
        </p:nvSpPr>
        <p:spPr bwMode="auto">
          <a:xfrm>
            <a:off x="684212" y="1781175"/>
            <a:ext cx="5039916" cy="3703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1" indent="-342900" algn="l" defTabSz="914400" rtl="0" eaLnBrk="0" fontAlgn="base" latinLnBrk="0" hangingPunct="0">
              <a:lnSpc>
                <a:spcPct val="125000"/>
              </a:lnSpc>
              <a:spcBef>
                <a:spcPct val="20000"/>
              </a:spcBef>
              <a:spcAft>
                <a:spcPct val="0"/>
              </a:spcAft>
              <a:buClr>
                <a:srgbClr val="FF0000"/>
              </a:buClr>
              <a:buSzTx/>
              <a:buFont typeface="Wingdings" panose="05000000000000000000" pitchFamily="2" charset="2"/>
              <a:buChar char="ü"/>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运算符栈</a:t>
            </a:r>
            <a:r>
              <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rPr>
              <a:t>OPTR</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，来暂存已经扫描到的还未处理的运算符。</a:t>
            </a:r>
            <a:endPar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endParaRPr>
          </a:p>
          <a:p>
            <a:pPr marL="0" lvl="1" indent="-342900">
              <a:lnSpc>
                <a:spcPct val="125000"/>
              </a:lnSpc>
              <a:spcBef>
                <a:spcPct val="20000"/>
              </a:spcBef>
              <a:buClr>
                <a:srgbClr val="FF0000"/>
              </a:buClr>
              <a:buFont typeface="Wingdings" panose="05000000000000000000" pitchFamily="2" charset="2"/>
              <a:buChar char="ü"/>
              <a:defRPr/>
            </a:pPr>
            <a:r>
              <a:rPr lang="zh-CN" altLang="en-US" sz="2000" b="0" dirty="0">
                <a:latin typeface="+mn-lt"/>
                <a:ea typeface="+mn-ea"/>
                <a:cs typeface="+mn-ea"/>
                <a:sym typeface="+mn-lt"/>
              </a:rPr>
              <a:t>每两个操作数和一个运算符就可以建立一棵表达式二叉树，而该二叉树又可以作为另一个运算符结点的一棵子树。</a:t>
            </a:r>
            <a:endPar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endParaRPr>
          </a:p>
          <a:p>
            <a:pPr marL="0" lvl="1" indent="-342900">
              <a:lnSpc>
                <a:spcPct val="125000"/>
              </a:lnSpc>
              <a:spcBef>
                <a:spcPct val="20000"/>
              </a:spcBef>
              <a:buClr>
                <a:srgbClr val="FF0000"/>
              </a:buClr>
              <a:buFont typeface="Wingdings" panose="05000000000000000000" pitchFamily="2" charset="2"/>
              <a:buChar char="ü"/>
              <a:defRPr/>
            </a:pPr>
            <a:r>
              <a:rPr lang="zh-CN" altLang="en-US" sz="2000" b="0" dirty="0">
                <a:latin typeface="+mn-lt"/>
                <a:ea typeface="+mn-ea"/>
                <a:cs typeface="+mn-ea"/>
                <a:sym typeface="+mn-lt"/>
              </a:rPr>
              <a:t>表达式树栈</a:t>
            </a:r>
            <a:r>
              <a:rPr lang="en-US" altLang="zh-CN" sz="2000" b="0" dirty="0">
                <a:solidFill>
                  <a:srgbClr val="FF0000"/>
                </a:solidFill>
                <a:latin typeface="+mn-lt"/>
                <a:ea typeface="+mn-ea"/>
                <a:cs typeface="+mn-ea"/>
                <a:sym typeface="+mn-lt"/>
              </a:rPr>
              <a:t>EXPT</a:t>
            </a:r>
            <a:r>
              <a:rPr lang="zh-CN" altLang="en-US" sz="2000" b="0" dirty="0">
                <a:latin typeface="+mn-lt"/>
                <a:ea typeface="+mn-ea"/>
                <a:cs typeface="+mn-ea"/>
                <a:sym typeface="+mn-lt"/>
              </a:rPr>
              <a:t>，来暂存已建立好的表达式树的根结点，以便其作为另一个运算符结点的子树而被引用。</a:t>
            </a:r>
          </a:p>
          <a:p>
            <a:pPr marL="0" marR="0" lvl="1" indent="-342900" algn="l" defTabSz="914400" rtl="0" eaLnBrk="0" fontAlgn="base" latinLnBrk="0" hangingPunct="0">
              <a:lnSpc>
                <a:spcPct val="125000"/>
              </a:lnSpc>
              <a:spcBef>
                <a:spcPct val="20000"/>
              </a:spcBef>
              <a:spcAft>
                <a:spcPct val="0"/>
              </a:spcAft>
              <a:buClr>
                <a:srgbClr val="FF0000"/>
              </a:buClr>
              <a:buSzTx/>
              <a:buFont typeface="Wingdings" panose="05000000000000000000" pitchFamily="2" charset="2"/>
              <a:buChar char="ü"/>
              <a:defRPr/>
            </a:pPr>
            <a:endPar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endParaRPr>
          </a:p>
        </p:txBody>
      </p:sp>
      <p:pic>
        <p:nvPicPr>
          <p:cNvPr id="2" name="Picture 1" descr="0609"/>
          <p:cNvPicPr>
            <a:picLocks noChangeAspect="1"/>
          </p:cNvPicPr>
          <p:nvPr/>
        </p:nvPicPr>
        <p:blipFill>
          <a:blip r:embed="rId2">
            <a:clrChange>
              <a:clrFrom>
                <a:srgbClr val="FFFFFF"/>
              </a:clrFrom>
              <a:clrTo>
                <a:srgbClr val="FFFFFF">
                  <a:alpha val="0"/>
                </a:srgbClr>
              </a:clrTo>
            </a:clrChange>
          </a:blip>
          <a:stretch>
            <a:fillRect/>
          </a:stretch>
        </p:blipFill>
        <p:spPr>
          <a:xfrm>
            <a:off x="6564313" y="1736725"/>
            <a:ext cx="2028825" cy="3260725"/>
          </a:xfrm>
          <a:prstGeom prst="rect">
            <a:avLst/>
          </a:prstGeom>
          <a:noFill/>
          <a:ln w="9525">
            <a:noFill/>
          </a:ln>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矩形 3"/>
          <p:cNvSpPr/>
          <p:nvPr/>
        </p:nvSpPr>
        <p:spPr bwMode="auto">
          <a:xfrm>
            <a:off x="0" y="1989138"/>
            <a:ext cx="7020272" cy="4032250"/>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114691" name="矩形 1"/>
          <p:cNvSpPr/>
          <p:nvPr/>
        </p:nvSpPr>
        <p:spPr>
          <a:xfrm>
            <a:off x="0" y="1125538"/>
            <a:ext cx="4179888" cy="503237"/>
          </a:xfrm>
          <a:prstGeom prst="rect">
            <a:avLst/>
          </a:prstGeom>
          <a:solidFill>
            <a:schemeClr val="accent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108546" name="Text Box 5"/>
          <p:cNvSpPr txBox="1">
            <a:spLocks noChangeArrowheads="1"/>
          </p:cNvSpPr>
          <p:nvPr/>
        </p:nvSpPr>
        <p:spPr bwMode="auto">
          <a:xfrm>
            <a:off x="0" y="1125538"/>
            <a:ext cx="7020272" cy="4461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chemeClr val="bg1"/>
                </a:solidFill>
                <a:effectLst/>
                <a:uLnTx/>
                <a:uFillTx/>
                <a:latin typeface="+mn-lt"/>
                <a:ea typeface="+mn-ea"/>
                <a:cs typeface="+mn-ea"/>
                <a:sym typeface="+mn-lt"/>
              </a:rPr>
              <a:t>表达式树的创建</a:t>
            </a:r>
            <a:r>
              <a:rPr kumimoji="0" lang="en-US" altLang="zh-CN" sz="2200" b="0" i="0" u="none" strike="noStrike" kern="1200" cap="none" spc="0" normalizeH="0" baseline="0" noProof="0" dirty="0">
                <a:ln>
                  <a:noFill/>
                </a:ln>
                <a:solidFill>
                  <a:schemeClr val="bg1"/>
                </a:solidFill>
                <a:effectLst/>
                <a:uLnTx/>
                <a:uFillTx/>
                <a:latin typeface="+mn-lt"/>
                <a:ea typeface="+mn-ea"/>
                <a:cs typeface="+mn-ea"/>
                <a:sym typeface="+mn-lt"/>
              </a:rPr>
              <a:t>---【</a:t>
            </a:r>
            <a:r>
              <a:rPr kumimoji="0" lang="zh-CN" altLang="en-US" sz="2200" b="0" i="0" u="none" strike="noStrike" kern="1200" cap="none" spc="0" normalizeH="0" baseline="0" noProof="0" dirty="0">
                <a:ln>
                  <a:noFill/>
                </a:ln>
                <a:solidFill>
                  <a:schemeClr val="bg1"/>
                </a:solidFill>
                <a:effectLst/>
                <a:uLnTx/>
                <a:uFillTx/>
                <a:latin typeface="+mn-lt"/>
                <a:ea typeface="+mn-ea"/>
                <a:cs typeface="+mn-ea"/>
                <a:sym typeface="+mn-lt"/>
              </a:rPr>
              <a:t>算法步骤</a:t>
            </a:r>
            <a:r>
              <a:rPr kumimoji="0" lang="en-US" altLang="zh-CN" sz="2200" b="0" i="0" u="none" strike="noStrike" kern="1200" cap="none" spc="0" normalizeH="0" baseline="0" noProof="0" dirty="0">
                <a:ln>
                  <a:noFill/>
                </a:ln>
                <a:solidFill>
                  <a:schemeClr val="bg1"/>
                </a:solidFill>
                <a:effectLst/>
                <a:uLnTx/>
                <a:uFillTx/>
                <a:latin typeface="+mn-lt"/>
                <a:ea typeface="+mn-ea"/>
                <a:cs typeface="+mn-ea"/>
                <a:sym typeface="+mn-lt"/>
              </a:rPr>
              <a:t>】</a:t>
            </a:r>
          </a:p>
          <a:p>
            <a:pPr marL="0" marR="0" lvl="0" indent="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endParaRPr kumimoji="0" lang="en-US" altLang="zh-CN" sz="2200" b="0" i="0" u="none" strike="noStrike" kern="1200" cap="none" spc="0" normalizeH="0" baseline="0" noProof="0" dirty="0">
              <a:ln>
                <a:noFill/>
              </a:ln>
              <a:solidFill>
                <a:schemeClr val="bg1"/>
              </a:solidFill>
              <a:effectLst/>
              <a:uLnTx/>
              <a:uFillTx/>
              <a:latin typeface="+mn-lt"/>
              <a:ea typeface="+mn-ea"/>
              <a:cs typeface="+mn-ea"/>
              <a:sym typeface="+mn-lt"/>
            </a:endParaRPr>
          </a:p>
          <a:p>
            <a:pPr marL="0" marR="0" lvl="0" indent="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rgbClr val="FF0000"/>
                </a:solidFill>
                <a:effectLst/>
                <a:uLnTx/>
                <a:uFillTx/>
                <a:latin typeface="+mn-lt"/>
                <a:ea typeface="+mn-ea"/>
                <a:cs typeface="+mn-ea"/>
                <a:sym typeface="+mn-lt"/>
              </a:rPr>
              <a:t>① </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初始化</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OPTR</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栈和</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EXPT</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栈， “</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”压入</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OPTR</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栈。</a:t>
            </a:r>
          </a:p>
          <a:p>
            <a:pPr marL="355600" marR="0" lvl="0" indent="-35560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200" b="0" i="0" u="none" strike="noStrike" kern="1200" cap="none" spc="0" normalizeH="0" baseline="0" noProof="0" dirty="0">
                <a:ln>
                  <a:noFill/>
                </a:ln>
                <a:solidFill>
                  <a:srgbClr val="FF0000"/>
                </a:solidFill>
                <a:effectLst/>
                <a:uLnTx/>
                <a:uFillTx/>
                <a:latin typeface="+mn-lt"/>
                <a:ea typeface="+mn-ea"/>
                <a:cs typeface="+mn-ea"/>
                <a:sym typeface="+mn-lt"/>
              </a:rPr>
              <a:t>②</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读入第一个字符</a:t>
            </a:r>
            <a:r>
              <a:rPr kumimoji="0" lang="en-US" altLang="zh-CN" sz="2200" b="0" i="0" u="none" strike="noStrike" kern="1200" cap="none" spc="0" normalizeH="0" baseline="0" noProof="0" dirty="0" err="1">
                <a:ln>
                  <a:noFill/>
                </a:ln>
                <a:solidFill>
                  <a:schemeClr val="tx1"/>
                </a:solidFill>
                <a:effectLst/>
                <a:uLnTx/>
                <a:uFillTx/>
                <a:latin typeface="+mn-lt"/>
                <a:ea typeface="+mn-ea"/>
                <a:cs typeface="+mn-ea"/>
                <a:sym typeface="+mn-lt"/>
              </a:rPr>
              <a:t>ch</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，如果表达式没有扫描完毕至“</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”或</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OPTR</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的栈顶元素不为“</a:t>
            </a:r>
            <a:r>
              <a:rPr kumimoji="0" lang="en-US" altLang="zh-CN" sz="2200" b="0" i="0" u="none" strike="noStrike" kern="1200" cap="none" spc="0" normalizeH="0" baseline="0" noProof="0" dirty="0">
                <a:ln>
                  <a:noFill/>
                </a:ln>
                <a:solidFill>
                  <a:schemeClr val="tx1"/>
                </a:solidFill>
                <a:effectLst/>
                <a:uLnTx/>
                <a:uFillTx/>
                <a:latin typeface="+mn-lt"/>
                <a:ea typeface="+mn-ea"/>
                <a:cs typeface="+mn-ea"/>
                <a:sym typeface="+mn-lt"/>
              </a:rPr>
              <a:t>#</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”时，则循环执行以下操作：</a:t>
            </a:r>
          </a:p>
          <a:p>
            <a:pPr marL="457200" marR="0" lvl="1" indent="0" algn="l" defTabSz="914400" rtl="0" eaLnBrk="0" fontAlgn="base" latinLnBrk="0" hangingPunct="0">
              <a:lnSpc>
                <a:spcPct val="125000"/>
              </a:lnSpc>
              <a:spcBef>
                <a:spcPct val="20000"/>
              </a:spcBef>
              <a:spcAft>
                <a:spcPct val="0"/>
              </a:spcAft>
              <a:buClrTx/>
              <a:buSzTx/>
              <a:buFont typeface="Wingdings" panose="05000000000000000000" pitchFamily="2" charset="2"/>
              <a:buChar char="l"/>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  若</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ch</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不是运算符，则以</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ch</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为根</a:t>
            </a:r>
            <a:r>
              <a:rPr kumimoji="0" lang="zh-CN" altLang="en-US" sz="2000" b="0" i="0" u="none" strike="noStrike" kern="1200" cap="none" spc="0" normalizeH="0" baseline="0" noProof="0" dirty="0">
                <a:ln>
                  <a:noFill/>
                </a:ln>
                <a:solidFill>
                  <a:srgbClr val="FF0000"/>
                </a:solidFill>
                <a:effectLst/>
                <a:uLnTx/>
                <a:uFillTx/>
                <a:latin typeface="+mn-lt"/>
                <a:ea typeface="+mn-ea"/>
                <a:cs typeface="+mn-ea"/>
                <a:sym typeface="+mn-lt"/>
              </a:rPr>
              <a:t>创建一棵只有根结点的树</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 且将该树根结点压入</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EXPT</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栈，读入下一字符</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ch</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a:t>
            </a:r>
          </a:p>
          <a:p>
            <a:pPr marL="457200" marR="0" lvl="1" indent="0" algn="l" defTabSz="914400" rtl="0" eaLnBrk="0" fontAlgn="base" latinLnBrk="0" hangingPunct="0">
              <a:lnSpc>
                <a:spcPct val="125000"/>
              </a:lnSpc>
              <a:spcBef>
                <a:spcPct val="20000"/>
              </a:spcBef>
              <a:spcAft>
                <a:spcPct val="0"/>
              </a:spcAft>
              <a:buClrTx/>
              <a:buSzTx/>
              <a:buFont typeface="Wingdings" panose="05000000000000000000" pitchFamily="2" charset="2"/>
              <a:buChar char="l"/>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  若</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ch</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是运算符，则根据</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OPTR</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的栈顶元素和</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ch</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的优先级比较结果，做不同的处理：</a:t>
            </a:r>
          </a:p>
        </p:txBody>
      </p:sp>
      <p:sp>
        <p:nvSpPr>
          <p:cNvPr id="114693"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利用二叉树求解表达式的值</a:t>
            </a:r>
          </a:p>
        </p:txBody>
      </p:sp>
      <p:pic>
        <p:nvPicPr>
          <p:cNvPr id="2" name="Picture 1" descr="0609"/>
          <p:cNvPicPr>
            <a:picLocks noChangeAspect="1"/>
          </p:cNvPicPr>
          <p:nvPr/>
        </p:nvPicPr>
        <p:blipFill>
          <a:blip r:embed="rId2">
            <a:clrChange>
              <a:clrFrom>
                <a:srgbClr val="FFFFFF"/>
              </a:clrFrom>
              <a:clrTo>
                <a:srgbClr val="FFFFFF">
                  <a:alpha val="0"/>
                </a:srgbClr>
              </a:clrTo>
            </a:clrChange>
          </a:blip>
          <a:stretch>
            <a:fillRect/>
          </a:stretch>
        </p:blipFill>
        <p:spPr>
          <a:xfrm>
            <a:off x="7020272" y="788664"/>
            <a:ext cx="2028825" cy="3260725"/>
          </a:xfrm>
          <a:prstGeom prst="rect">
            <a:avLst/>
          </a:prstGeom>
          <a:noFill/>
          <a:ln w="9525">
            <a:noFill/>
          </a:ln>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矩形 3"/>
          <p:cNvSpPr/>
          <p:nvPr/>
        </p:nvSpPr>
        <p:spPr bwMode="auto">
          <a:xfrm>
            <a:off x="0" y="1341438"/>
            <a:ext cx="6804248" cy="5183906"/>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4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108546" name="Text Box 5"/>
          <p:cNvSpPr txBox="1">
            <a:spLocks noChangeArrowheads="1"/>
          </p:cNvSpPr>
          <p:nvPr/>
        </p:nvSpPr>
        <p:spPr bwMode="auto">
          <a:xfrm>
            <a:off x="468630" y="1484630"/>
            <a:ext cx="6335395" cy="4207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2" indent="0" algn="l" defTabSz="914400" rtl="0" eaLnBrk="0" fontAlgn="base" latinLnBrk="0" hangingPunct="0">
              <a:lnSpc>
                <a:spcPct val="125000"/>
              </a:lnSpc>
              <a:spcBef>
                <a:spcPts val="1200"/>
              </a:spcBef>
              <a:spcAft>
                <a:spcPct val="0"/>
              </a:spcAft>
              <a:buClr>
                <a:srgbClr val="FF0000"/>
              </a:buClr>
              <a:buSzTx/>
              <a:buFont typeface="Wingdings" panose="05000000000000000000" pitchFamily="2" charset="2"/>
              <a:buChar char="Ø"/>
              <a:defRPr/>
            </a:pP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小于，则ch压OPTR栈，读入下一字符ch；</a:t>
            </a:r>
          </a:p>
          <a:p>
            <a:pPr marL="0" marR="0" lvl="2" indent="0" algn="l" defTabSz="914400" rtl="0" eaLnBrk="0" fontAlgn="base" latinLnBrk="0" hangingPunct="0">
              <a:lnSpc>
                <a:spcPct val="125000"/>
              </a:lnSpc>
              <a:spcBef>
                <a:spcPts val="1200"/>
              </a:spcBef>
              <a:spcAft>
                <a:spcPct val="0"/>
              </a:spcAft>
              <a:buClr>
                <a:srgbClr val="FF0000"/>
              </a:buClr>
              <a:buSzTx/>
              <a:buFont typeface="Wingdings" panose="05000000000000000000" pitchFamily="2" charset="2"/>
              <a:buChar char="Ø"/>
              <a:defRPr/>
            </a:pP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大于，则弹出OPTR栈顶运算符，从EXPT栈弹出两个表达式子树的根结点，以该运算符为根结点，以EXPT栈中弹出的第二个子树作为左子树，以EXPT栈中弹出的第一个子树作为右子树，</a:t>
            </a:r>
            <a:r>
              <a:rPr kumimoji="0" lang="zh-CN" altLang="en-US" sz="2200" b="0" i="0" u="none" strike="noStrike" kern="1200" cap="none" spc="0" normalizeH="0" baseline="0" noProof="0" dirty="0">
                <a:ln>
                  <a:noFill/>
                </a:ln>
                <a:solidFill>
                  <a:srgbClr val="FF0000"/>
                </a:solidFill>
                <a:effectLst/>
                <a:uLnTx/>
                <a:uFillTx/>
                <a:latin typeface="+mn-lt"/>
                <a:ea typeface="+mn-ea"/>
                <a:cs typeface="+mn-ea"/>
                <a:sym typeface="+mn-lt"/>
              </a:rPr>
              <a:t>创建一棵新二叉树</a:t>
            </a: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，并将该树根结点压入EXPT栈；</a:t>
            </a:r>
          </a:p>
          <a:p>
            <a:pPr marL="0" marR="0" lvl="2" indent="0" algn="l" defTabSz="914400" rtl="0" eaLnBrk="0" fontAlgn="base" latinLnBrk="0" hangingPunct="0">
              <a:lnSpc>
                <a:spcPct val="125000"/>
              </a:lnSpc>
              <a:spcBef>
                <a:spcPts val="1200"/>
              </a:spcBef>
              <a:spcAft>
                <a:spcPct val="0"/>
              </a:spcAft>
              <a:buClr>
                <a:srgbClr val="FF0000"/>
              </a:buClr>
              <a:buSzTx/>
              <a:buFont typeface="Wingdings" panose="05000000000000000000" pitchFamily="2" charset="2"/>
              <a:buChar char="Ø"/>
              <a:defRPr/>
            </a:pPr>
            <a:r>
              <a:rPr kumimoji="0" lang="zh-CN" altLang="en-US" sz="2200" b="0" i="0" u="none" strike="noStrike" kern="1200" cap="none" spc="0" normalizeH="0" baseline="0" noProof="0" dirty="0">
                <a:ln>
                  <a:noFill/>
                </a:ln>
                <a:solidFill>
                  <a:schemeClr val="tx1"/>
                </a:solidFill>
                <a:effectLst/>
                <a:uLnTx/>
                <a:uFillTx/>
                <a:latin typeface="+mn-lt"/>
                <a:ea typeface="+mn-ea"/>
                <a:cs typeface="+mn-ea"/>
                <a:sym typeface="+mn-lt"/>
              </a:rPr>
              <a:t>等于，则OPTR的栈顶元素是“(”且ch是“)”，这时弹出OPTR栈顶的“(”，括号匹配成功，读入下一字符ch。</a:t>
            </a:r>
          </a:p>
        </p:txBody>
      </p:sp>
      <p:sp>
        <p:nvSpPr>
          <p:cNvPr id="115716"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利用二叉树求解表达式的值</a:t>
            </a:r>
          </a:p>
        </p:txBody>
      </p:sp>
      <p:pic>
        <p:nvPicPr>
          <p:cNvPr id="3" name="Picture 1" descr="0609"/>
          <p:cNvPicPr>
            <a:picLocks noChangeAspect="1"/>
          </p:cNvPicPr>
          <p:nvPr/>
        </p:nvPicPr>
        <p:blipFill>
          <a:blip r:embed="rId2">
            <a:clrChange>
              <a:clrFrom>
                <a:srgbClr val="FFFFFF"/>
              </a:clrFrom>
              <a:clrTo>
                <a:srgbClr val="FFFFFF">
                  <a:alpha val="0"/>
                </a:srgbClr>
              </a:clrTo>
            </a:clrChange>
          </a:blip>
          <a:stretch>
            <a:fillRect/>
          </a:stretch>
        </p:blipFill>
        <p:spPr>
          <a:xfrm>
            <a:off x="7020272" y="788664"/>
            <a:ext cx="2028825" cy="3260725"/>
          </a:xfrm>
          <a:prstGeom prst="rect">
            <a:avLst/>
          </a:prstGeom>
          <a:noFill/>
          <a:ln w="9525">
            <a:noFill/>
          </a:ln>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5716"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利用二叉树求解表达式的值</a:t>
            </a:r>
          </a:p>
        </p:txBody>
      </p:sp>
      <p:pic>
        <p:nvPicPr>
          <p:cNvPr id="5" name="图片 4"/>
          <p:cNvPicPr>
            <a:picLocks noChangeAspect="1"/>
          </p:cNvPicPr>
          <p:nvPr>
            <p:custDataLst>
              <p:tags r:id="rId1"/>
            </p:custDataLst>
          </p:nvPr>
        </p:nvPicPr>
        <p:blipFill>
          <a:blip r:embed="rId3"/>
          <a:stretch>
            <a:fillRect/>
          </a:stretch>
        </p:blipFill>
        <p:spPr>
          <a:xfrm>
            <a:off x="251460" y="908685"/>
            <a:ext cx="6572885" cy="5741670"/>
          </a:xfrm>
          <a:prstGeom prst="rect">
            <a:avLst/>
          </a:prstGeom>
        </p:spPr>
      </p:pic>
      <p:pic>
        <p:nvPicPr>
          <p:cNvPr id="3" name="Picture 1" descr="0609"/>
          <p:cNvPicPr>
            <a:picLocks noChangeAspect="1"/>
          </p:cNvPicPr>
          <p:nvPr/>
        </p:nvPicPr>
        <p:blipFill>
          <a:blip r:embed="rId4">
            <a:clrChange>
              <a:clrFrom>
                <a:srgbClr val="FFFFFF"/>
              </a:clrFrom>
              <a:clrTo>
                <a:srgbClr val="FFFFFF">
                  <a:alpha val="0"/>
                </a:srgbClr>
              </a:clrTo>
            </a:clrChange>
          </a:blip>
          <a:stretch>
            <a:fillRect/>
          </a:stretch>
        </p:blipFill>
        <p:spPr>
          <a:xfrm>
            <a:off x="7020272" y="788664"/>
            <a:ext cx="2028825" cy="3260725"/>
          </a:xfrm>
          <a:prstGeom prst="rect">
            <a:avLst/>
          </a:prstGeom>
          <a:noFill/>
          <a:ln w="9525">
            <a:noFill/>
          </a:ln>
        </p:spPr>
      </p:pic>
      <p:sp>
        <p:nvSpPr>
          <p:cNvPr id="2" name="圆角矩形标注 1"/>
          <p:cNvSpPr/>
          <p:nvPr/>
        </p:nvSpPr>
        <p:spPr>
          <a:xfrm>
            <a:off x="1547495" y="692785"/>
            <a:ext cx="5616575" cy="1232535"/>
          </a:xfrm>
          <a:prstGeom prst="wedgeRoundRectCallout">
            <a:avLst>
              <a:gd name="adj1" fmla="val -47230"/>
              <a:gd name="adj2" fmla="val 108990"/>
              <a:gd name="adj3" fmla="val 16667"/>
            </a:avLst>
          </a:prstGeom>
          <a:blipFill>
            <a:blip r:embed="rId5"/>
            <a:tile tx="0" ty="0" sx="100000" sy="100000" flip="none" algn="tl"/>
          </a:blipFill>
          <a:ln w="9525">
            <a:noFill/>
          </a:ln>
        </p:spPr>
        <p:txBody>
          <a:bodyPr/>
          <a:lstStyle>
            <a:lvl1pPr marL="342900" indent="-342900" algn="l" rtl="0" eaLnBrk="0" fontAlgn="base" hangingPunct="0">
              <a:spcBef>
                <a:spcPct val="20000"/>
              </a:spcBef>
              <a:spcAft>
                <a:spcPct val="0"/>
              </a:spcAft>
              <a:buChar char="•"/>
              <a:defRPr kumimoji="1" sz="3200" b="0">
                <a:solidFill>
                  <a:schemeClr val="tx1"/>
                </a:solidFill>
                <a:latin typeface="+mn-lt"/>
                <a:ea typeface="+mn-ea"/>
                <a:cs typeface="仿宋_GB2312"/>
              </a:defRPr>
            </a:lvl1pPr>
            <a:lvl2pPr marL="742950" indent="-285750" algn="l" rtl="0" eaLnBrk="0" fontAlgn="base" hangingPunct="0">
              <a:spcBef>
                <a:spcPct val="20000"/>
              </a:spcBef>
              <a:spcAft>
                <a:spcPct val="0"/>
              </a:spcAft>
              <a:buChar char="–"/>
              <a:defRPr kumimoji="1" sz="2800">
                <a:solidFill>
                  <a:schemeClr val="tx1"/>
                </a:solidFill>
                <a:latin typeface="+mn-lt"/>
                <a:ea typeface="+mn-ea"/>
                <a:cs typeface="仿宋_GB2312"/>
              </a:defRPr>
            </a:lvl2pPr>
            <a:lvl3pPr marL="1143000" indent="-228600" algn="l" rtl="0" eaLnBrk="0" fontAlgn="base" hangingPunct="0">
              <a:spcBef>
                <a:spcPct val="20000"/>
              </a:spcBef>
              <a:spcAft>
                <a:spcPct val="0"/>
              </a:spcAft>
              <a:buChar char="•"/>
              <a:defRPr kumimoji="1" sz="2400">
                <a:solidFill>
                  <a:schemeClr val="tx1"/>
                </a:solidFill>
                <a:latin typeface="+mn-lt"/>
                <a:ea typeface="+mn-ea"/>
                <a:cs typeface="仿宋_GB2312"/>
              </a:defRPr>
            </a:lvl3pPr>
            <a:lvl4pPr marL="1600200" indent="-228600" algn="l" rtl="0" eaLnBrk="0" fontAlgn="base" hangingPunct="0">
              <a:spcBef>
                <a:spcPct val="20000"/>
              </a:spcBef>
              <a:spcAft>
                <a:spcPct val="0"/>
              </a:spcAft>
              <a:buChar char="–"/>
              <a:defRPr kumimoji="1" sz="2000">
                <a:solidFill>
                  <a:schemeClr val="tx1"/>
                </a:solidFill>
                <a:latin typeface="+mn-lt"/>
                <a:ea typeface="+mn-ea"/>
                <a:cs typeface="仿宋_GB2312"/>
              </a:defRPr>
            </a:lvl4pPr>
            <a:lvl5pPr marL="2057400" indent="-228600" algn="l" rtl="0" eaLnBrk="0" fontAlgn="base" hangingPunct="0">
              <a:spcBef>
                <a:spcPct val="20000"/>
              </a:spcBef>
              <a:spcAft>
                <a:spcPct val="0"/>
              </a:spcAft>
              <a:buChar char="»"/>
              <a:defRPr kumimoji="1" sz="2000">
                <a:solidFill>
                  <a:schemeClr val="tx1"/>
                </a:solidFill>
                <a:latin typeface="+mn-lt"/>
                <a:ea typeface="+mn-ea"/>
                <a:cs typeface="仿宋_GB2312"/>
              </a:defRPr>
            </a:lvl5pPr>
          </a:lstStyle>
          <a:p>
            <a:pPr marL="342900" lvl="0" indent="-342900">
              <a:buNone/>
            </a:pPr>
            <a:r>
              <a:rPr lang="en-US" altLang="zh-CN" sz="1600" b="1" dirty="0"/>
              <a:t>void CreateExpTree(BiTree &amp;T,BiTree a,BiTree b,char ch)</a:t>
            </a:r>
          </a:p>
          <a:p>
            <a:pPr marL="342900" lvl="0" indent="-342900">
              <a:buNone/>
            </a:pPr>
            <a:r>
              <a:rPr lang="en-US" altLang="zh-CN" sz="2000" b="1" dirty="0">
                <a:solidFill>
                  <a:srgbClr val="FF0000"/>
                </a:solidFill>
              </a:rPr>
              <a:t>{    T=new BiTNode;</a:t>
            </a:r>
          </a:p>
          <a:p>
            <a:pPr marL="342900" lvl="0" indent="-342900">
              <a:buNone/>
            </a:pPr>
            <a:r>
              <a:rPr lang="en-US" altLang="zh-CN" sz="2000" b="1" dirty="0">
                <a:solidFill>
                  <a:srgbClr val="FF0000"/>
                </a:solidFill>
              </a:rPr>
              <a:t>	T-&gt;data=ch;	T-&gt;lchild=a; T-&gt;rchild=b;}</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ldLvl="0" animBg="1"/>
    </p:bldLst>
  </p:timing>
</p:sld>
</file>

<file path=ppt/slides/slide20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矩形 1"/>
          <p:cNvSpPr/>
          <p:nvPr/>
        </p:nvSpPr>
        <p:spPr bwMode="auto">
          <a:xfrm>
            <a:off x="0" y="1989138"/>
            <a:ext cx="6228184" cy="4319588"/>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chemeClr val="tx1"/>
              </a:solidFill>
              <a:effectLst/>
              <a:uLnTx/>
              <a:uFillTx/>
              <a:latin typeface="Times New Roman" panose="02020603050405020304" pitchFamily="18" charset="0"/>
              <a:ea typeface="仿宋_GB2312" pitchFamily="49" charset="-122"/>
              <a:cs typeface="+mn-cs"/>
            </a:endParaRPr>
          </a:p>
        </p:txBody>
      </p:sp>
      <p:sp>
        <p:nvSpPr>
          <p:cNvPr id="116739" name="矩形 3"/>
          <p:cNvSpPr/>
          <p:nvPr/>
        </p:nvSpPr>
        <p:spPr>
          <a:xfrm>
            <a:off x="0" y="1176338"/>
            <a:ext cx="4932363" cy="503237"/>
          </a:xfrm>
          <a:prstGeom prst="rect">
            <a:avLst/>
          </a:prstGeom>
          <a:solidFill>
            <a:schemeClr val="accent1"/>
          </a:solidFill>
          <a:ln w="9525">
            <a:noFill/>
          </a:ln>
        </p:spPr>
        <p:txBody>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marL="342900" lvl="0" indent="-342900">
              <a:lnSpc>
                <a:spcPct val="100000"/>
              </a:lnSpc>
              <a:spcBef>
                <a:spcPct val="20000"/>
              </a:spcBef>
            </a:pPr>
            <a:endParaRPr lang="zh-CN" altLang="en-US" sz="2800" dirty="0">
              <a:ea typeface="仿宋_GB2312" pitchFamily="49" charset="-122"/>
            </a:endParaRPr>
          </a:p>
        </p:txBody>
      </p:sp>
      <p:sp>
        <p:nvSpPr>
          <p:cNvPr id="109570" name="Text Box 5"/>
          <p:cNvSpPr txBox="1">
            <a:spLocks noChangeArrowheads="1"/>
          </p:cNvSpPr>
          <p:nvPr/>
        </p:nvSpPr>
        <p:spPr bwMode="auto">
          <a:xfrm>
            <a:off x="250825" y="1196975"/>
            <a:ext cx="5833343" cy="4504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bg1"/>
                </a:solidFill>
                <a:effectLst/>
                <a:uLnTx/>
                <a:uFillTx/>
                <a:latin typeface="+mn-lt"/>
                <a:ea typeface="+mn-ea"/>
                <a:cs typeface="+mn-ea"/>
                <a:sym typeface="+mn-lt"/>
              </a:rPr>
              <a:t>表达式树的求值</a:t>
            </a:r>
            <a:r>
              <a:rPr kumimoji="0" lang="en-US" altLang="zh-CN" sz="2000" b="0" i="0" u="none" strike="noStrike" kern="1200" cap="none" spc="0" normalizeH="0" baseline="0" noProof="0" dirty="0">
                <a:ln>
                  <a:noFill/>
                </a:ln>
                <a:solidFill>
                  <a:schemeClr val="bg1"/>
                </a:solidFill>
                <a:effectLst/>
                <a:uLnTx/>
                <a:uFillTx/>
                <a:latin typeface="+mn-lt"/>
                <a:ea typeface="+mn-ea"/>
                <a:cs typeface="+mn-ea"/>
                <a:sym typeface="+mn-lt"/>
              </a:rPr>
              <a:t>---【</a:t>
            </a:r>
            <a:r>
              <a:rPr kumimoji="0" lang="zh-CN" altLang="en-US" sz="2000" b="0" i="0" u="none" strike="noStrike" kern="1200" cap="none" spc="0" normalizeH="0" baseline="0" noProof="0" dirty="0">
                <a:ln>
                  <a:noFill/>
                </a:ln>
                <a:solidFill>
                  <a:schemeClr val="bg1"/>
                </a:solidFill>
                <a:effectLst/>
                <a:uLnTx/>
                <a:uFillTx/>
                <a:latin typeface="+mn-lt"/>
                <a:ea typeface="+mn-ea"/>
                <a:cs typeface="+mn-ea"/>
                <a:sym typeface="+mn-lt"/>
              </a:rPr>
              <a:t>算法步骤</a:t>
            </a:r>
            <a:r>
              <a:rPr kumimoji="0" lang="en-US" altLang="zh-CN" sz="2000" b="0" i="0" u="none" strike="noStrike" kern="1200" cap="none" spc="0" normalizeH="0" baseline="0" noProof="0" dirty="0">
                <a:ln>
                  <a:noFill/>
                </a:ln>
                <a:solidFill>
                  <a:schemeClr val="bg1"/>
                </a:solidFill>
                <a:effectLst/>
                <a:uLnTx/>
                <a:uFillTx/>
                <a:latin typeface="+mn-lt"/>
                <a:ea typeface="+mn-ea"/>
                <a:cs typeface="+mn-ea"/>
                <a:sym typeface="+mn-lt"/>
              </a:rPr>
              <a:t>】</a:t>
            </a:r>
          </a:p>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en-US" altLang="zh-CN" sz="2000" b="0" i="0" u="none" strike="noStrike" kern="1200" cap="none" spc="0" normalizeH="0" baseline="0" noProof="0" dirty="0">
              <a:ln>
                <a:noFill/>
              </a:ln>
              <a:solidFill>
                <a:srgbClr val="FF0000"/>
              </a:solidFill>
              <a:effectLst/>
              <a:uLnTx/>
              <a:uFillTx/>
              <a:latin typeface="+mn-lt"/>
              <a:ea typeface="+mn-ea"/>
              <a:cs typeface="+mn-ea"/>
              <a:sym typeface="+mn-lt"/>
            </a:endParaRPr>
          </a:p>
          <a:p>
            <a:pPr marL="355600" marR="0" lvl="0" indent="-35560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① 设</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lvalue</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和</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rvalue</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记录左子树和右子树的值，初始均为</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0</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a:t>
            </a:r>
          </a:p>
          <a:p>
            <a:pPr marL="355600" marR="0" lvl="0" indent="-355600" algn="l" defTabSz="914400" rtl="0" eaLnBrk="0" fontAlgn="base" latinLnBrk="0" hangingPunct="0">
              <a:lnSpc>
                <a:spcPct val="125000"/>
              </a:lnSpc>
              <a:spcBef>
                <a:spcPct val="2000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②</a:t>
            </a:r>
            <a:r>
              <a:rPr kumimoji="0" lang="en-US" altLang="zh-CN" sz="2000" b="0" i="0" u="none" strike="noStrike" kern="1200" cap="none" spc="0" normalizeH="0" baseline="0" noProof="0" dirty="0">
                <a:ln>
                  <a:noFill/>
                </a:ln>
                <a:solidFill>
                  <a:schemeClr val="tx1"/>
                </a:solidFill>
                <a:effectLst/>
                <a:uLnTx/>
                <a:uFillTx/>
                <a:latin typeface="+mn-lt"/>
                <a:ea typeface="+mn-ea"/>
                <a:cs typeface="+mn-ea"/>
                <a:sym typeface="+mn-lt"/>
              </a:rPr>
              <a:t> </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如果当前结点为叶子（结点为操作数），则返回该结点的数值，否则（结点为运算符）执行以下操作：</a:t>
            </a:r>
          </a:p>
          <a:p>
            <a:pPr marL="457200" marR="0" lvl="1" indent="0" algn="l" defTabSz="914400" rtl="0" eaLnBrk="0" fontAlgn="base" latinLnBrk="0" hangingPunct="0">
              <a:lnSpc>
                <a:spcPct val="125000"/>
              </a:lnSpc>
              <a:spcBef>
                <a:spcPct val="20000"/>
              </a:spcBef>
              <a:spcAft>
                <a:spcPct val="0"/>
              </a:spcAft>
              <a:buClrTx/>
              <a:buSzTx/>
              <a:buFont typeface="Wingdings" panose="05000000000000000000" pitchFamily="2" charset="2"/>
              <a:buChar char="l"/>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递归计算左子树的值记为</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lvalue</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a:t>
            </a:r>
          </a:p>
          <a:p>
            <a:pPr marL="720725" marR="0" lvl="1" indent="-263525" algn="l" defTabSz="914400" rtl="0" eaLnBrk="0" fontAlgn="base" latinLnBrk="0" hangingPunct="0">
              <a:lnSpc>
                <a:spcPct val="125000"/>
              </a:lnSpc>
              <a:spcBef>
                <a:spcPct val="20000"/>
              </a:spcBef>
              <a:spcAft>
                <a:spcPct val="0"/>
              </a:spcAft>
              <a:buClrTx/>
              <a:buSzTx/>
              <a:buFont typeface="Wingdings" panose="05000000000000000000" pitchFamily="2" charset="2"/>
              <a:buChar char="l"/>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递归计算右子树的值记为</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rvalue</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a:t>
            </a:r>
          </a:p>
          <a:p>
            <a:pPr marL="720725" marR="0" lvl="1" indent="-263525" algn="l" defTabSz="914400" rtl="0" eaLnBrk="0" fontAlgn="base" latinLnBrk="0" hangingPunct="0">
              <a:lnSpc>
                <a:spcPct val="125000"/>
              </a:lnSpc>
              <a:spcBef>
                <a:spcPct val="20000"/>
              </a:spcBef>
              <a:spcAft>
                <a:spcPct val="0"/>
              </a:spcAft>
              <a:buClrTx/>
              <a:buSzTx/>
              <a:buFont typeface="Wingdings" panose="05000000000000000000" pitchFamily="2" charset="2"/>
              <a:buChar char="l"/>
              <a:defRPr/>
            </a:pP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根据当前结点运算符的类型，将</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lvalue</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和</a:t>
            </a:r>
            <a:r>
              <a:rPr kumimoji="0" lang="en-US" altLang="zh-CN" sz="2000" b="0" i="0" u="none" strike="noStrike" kern="1200" cap="none" spc="0" normalizeH="0" baseline="0" noProof="0" dirty="0" err="1">
                <a:ln>
                  <a:noFill/>
                </a:ln>
                <a:solidFill>
                  <a:schemeClr val="tx1"/>
                </a:solidFill>
                <a:effectLst/>
                <a:uLnTx/>
                <a:uFillTx/>
                <a:latin typeface="+mn-lt"/>
                <a:ea typeface="+mn-ea"/>
                <a:cs typeface="+mn-ea"/>
                <a:sym typeface="+mn-lt"/>
              </a:rPr>
              <a:t>rvalue</a:t>
            </a:r>
            <a:r>
              <a:rPr kumimoji="0" lang="zh-CN" altLang="en-US" sz="2000" b="0" i="0" u="none" strike="noStrike" kern="1200" cap="none" spc="0" normalizeH="0" baseline="0" noProof="0" dirty="0">
                <a:ln>
                  <a:noFill/>
                </a:ln>
                <a:solidFill>
                  <a:schemeClr val="tx1"/>
                </a:solidFill>
                <a:effectLst/>
                <a:uLnTx/>
                <a:uFillTx/>
                <a:latin typeface="+mn-lt"/>
                <a:ea typeface="+mn-ea"/>
                <a:cs typeface="+mn-ea"/>
                <a:sym typeface="+mn-lt"/>
              </a:rPr>
              <a:t>进行相应运算并返回。</a:t>
            </a:r>
          </a:p>
        </p:txBody>
      </p:sp>
      <p:sp>
        <p:nvSpPr>
          <p:cNvPr id="116741"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利用二叉树求解表达式的值</a:t>
            </a:r>
          </a:p>
        </p:txBody>
      </p:sp>
      <p:pic>
        <p:nvPicPr>
          <p:cNvPr id="3" name="Picture 1" descr="0609"/>
          <p:cNvPicPr>
            <a:picLocks noChangeAspect="1"/>
          </p:cNvPicPr>
          <p:nvPr/>
        </p:nvPicPr>
        <p:blipFill>
          <a:blip r:embed="rId2">
            <a:clrChange>
              <a:clrFrom>
                <a:srgbClr val="FFFFFF"/>
              </a:clrFrom>
              <a:clrTo>
                <a:srgbClr val="FFFFFF">
                  <a:alpha val="0"/>
                </a:srgbClr>
              </a:clrTo>
            </a:clrChange>
          </a:blip>
          <a:stretch>
            <a:fillRect/>
          </a:stretch>
        </p:blipFill>
        <p:spPr>
          <a:xfrm>
            <a:off x="7020272" y="788664"/>
            <a:ext cx="2028825" cy="3260725"/>
          </a:xfrm>
          <a:prstGeom prst="rect">
            <a:avLst/>
          </a:prstGeom>
          <a:noFill/>
          <a:ln w="9525">
            <a:noFill/>
          </a:ln>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6741" name="Rectangle 154"/>
          <p:cNvSpPr txBox="1"/>
          <p:nvPr/>
        </p:nvSpPr>
        <p:spPr>
          <a:xfrm>
            <a:off x="866775" y="188913"/>
            <a:ext cx="6500813" cy="554037"/>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sz="2800" dirty="0">
                <a:solidFill>
                  <a:schemeClr val="bg1"/>
                </a:solidFill>
                <a:sym typeface="+mn-lt"/>
              </a:rPr>
              <a:t>利用二叉树求解表达式的值</a:t>
            </a:r>
          </a:p>
        </p:txBody>
      </p:sp>
      <p:pic>
        <p:nvPicPr>
          <p:cNvPr id="3" name="Picture 1" descr="0609"/>
          <p:cNvPicPr>
            <a:picLocks noChangeAspect="1"/>
          </p:cNvPicPr>
          <p:nvPr/>
        </p:nvPicPr>
        <p:blipFill>
          <a:blip r:embed="rId3">
            <a:clrChange>
              <a:clrFrom>
                <a:srgbClr val="FFFFFF"/>
              </a:clrFrom>
              <a:clrTo>
                <a:srgbClr val="FFFFFF">
                  <a:alpha val="0"/>
                </a:srgbClr>
              </a:clrTo>
            </a:clrChange>
          </a:blip>
          <a:stretch>
            <a:fillRect/>
          </a:stretch>
        </p:blipFill>
        <p:spPr>
          <a:xfrm>
            <a:off x="7020272" y="788664"/>
            <a:ext cx="2028825" cy="3260725"/>
          </a:xfrm>
          <a:prstGeom prst="rect">
            <a:avLst/>
          </a:prstGeom>
          <a:noFill/>
          <a:ln w="9525">
            <a:noFill/>
          </a:ln>
        </p:spPr>
      </p:pic>
      <p:pic>
        <p:nvPicPr>
          <p:cNvPr id="5" name="图片 4"/>
          <p:cNvPicPr>
            <a:picLocks noChangeAspect="1"/>
          </p:cNvPicPr>
          <p:nvPr>
            <p:custDataLst>
              <p:tags r:id="rId1"/>
            </p:custDataLst>
          </p:nvPr>
        </p:nvPicPr>
        <p:blipFill>
          <a:blip r:embed="rId4"/>
          <a:stretch>
            <a:fillRect/>
          </a:stretch>
        </p:blipFill>
        <p:spPr>
          <a:xfrm>
            <a:off x="251460" y="1484630"/>
            <a:ext cx="6328410" cy="4660900"/>
          </a:xfrm>
          <a:prstGeom prst="rect">
            <a:avLst/>
          </a:prstGeom>
        </p:spPr>
      </p:pic>
      <p:sp>
        <p:nvSpPr>
          <p:cNvPr id="6" name="矩形 5"/>
          <p:cNvSpPr/>
          <p:nvPr/>
        </p:nvSpPr>
        <p:spPr>
          <a:xfrm>
            <a:off x="611505" y="4243705"/>
            <a:ext cx="2874010" cy="742315"/>
          </a:xfrm>
          <a:prstGeom prst="rect">
            <a:avLst/>
          </a:prstGeom>
          <a:noFill/>
          <a:ln w="28575" cap="flat" cmpd="sng" algn="ctr">
            <a:solidFill>
              <a:srgbClr val="FF0066"/>
            </a:solidFill>
            <a:prstDash val="solid"/>
            <a:round/>
            <a:headEnd type="none" w="med" len="med"/>
            <a:tailEnd type="none" w="med" len="med"/>
          </a:ln>
        </p:spPr>
        <p:txBody>
          <a:bodyPr vert="horz" wrap="square" lIns="91440" tIns="45720" rIns="91440" bIns="45720" numCol="1"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endParaRPr kumimoji="1" lang="zh-CN" altLang="en-US" sz="2800" b="0" i="0" u="none" strike="noStrike" cap="none" normalizeH="0" baseline="0">
              <a:ln>
                <a:noFill/>
              </a:ln>
              <a:solidFill>
                <a:schemeClr val="tx1"/>
              </a:solidFill>
              <a:effectLst/>
              <a:latin typeface="Times New Roman" panose="02020603050405020304" pitchFamily="18" charset="0"/>
              <a:ea typeface="仿宋_GB2312" pitchFamily="49" charset="-122"/>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15362" name="图片 9"/>
          <p:cNvPicPr>
            <a:picLocks noChangeAspect="1"/>
          </p:cNvPicPr>
          <p:nvPr/>
        </p:nvPicPr>
        <p:blipFill>
          <a:blip r:embed="rId2"/>
          <a:srcRect l="1575"/>
          <a:stretch>
            <a:fillRect/>
          </a:stretch>
        </p:blipFill>
        <p:spPr>
          <a:xfrm>
            <a:off x="0" y="1588"/>
            <a:ext cx="9124950" cy="1831975"/>
          </a:xfrm>
          <a:prstGeom prst="rect">
            <a:avLst/>
          </a:prstGeom>
          <a:noFill/>
          <a:ln w="9525">
            <a:noFill/>
          </a:ln>
        </p:spPr>
      </p:pic>
      <p:sp>
        <p:nvSpPr>
          <p:cNvPr id="8" name="矩形 7"/>
          <p:cNvSpPr/>
          <p:nvPr/>
        </p:nvSpPr>
        <p:spPr bwMode="auto">
          <a:xfrm>
            <a:off x="9525" y="1588"/>
            <a:ext cx="9151938" cy="2024063"/>
          </a:xfrm>
          <a:prstGeom prst="rect">
            <a:avLst/>
          </a:prstGeom>
          <a:solidFill>
            <a:schemeClr val="tx1">
              <a:alpha val="50000"/>
            </a:schemeClr>
          </a:solidFill>
          <a:ln w="12700" cap="flat" cmpd="sng" algn="ctr">
            <a:no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 name="Shape 26"/>
          <p:cNvSpPr/>
          <p:nvPr/>
        </p:nvSpPr>
        <p:spPr>
          <a:xfrm flipH="1">
            <a:off x="-36512" y="774700"/>
            <a:ext cx="9207500"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3" name="文本框 12"/>
          <p:cNvSpPr txBox="1"/>
          <p:nvPr/>
        </p:nvSpPr>
        <p:spPr>
          <a:xfrm>
            <a:off x="558800" y="331788"/>
            <a:ext cx="2573338" cy="647700"/>
          </a:xfrm>
          <a:prstGeom prst="rect">
            <a:avLst/>
          </a:prstGeom>
          <a:noFill/>
        </p:spPr>
        <p:txBody>
          <a:bodyPr>
            <a:spAutoFit/>
          </a:bodyPr>
          <a:lstStyle/>
          <a:p>
            <a:pPr marR="0" algn="dist" defTabSz="914400">
              <a:buClrTx/>
              <a:buSzTx/>
              <a:buFontTx/>
              <a:buNone/>
              <a:defRPr/>
            </a:pPr>
            <a:r>
              <a:rPr kumimoji="0" lang="zh-CN" altLang="en-US" sz="3600" b="0" kern="1200" cap="none" spc="0" normalizeH="0" baseline="0" noProof="0" dirty="0">
                <a:solidFill>
                  <a:srgbClr val="FEFFFF"/>
                </a:solidFill>
                <a:latin typeface="+mn-lt"/>
                <a:ea typeface="+mn-ea"/>
                <a:cs typeface="+mn-ea"/>
                <a:sym typeface="+mn-lt"/>
              </a:rPr>
              <a:t>目录导航</a:t>
            </a:r>
          </a:p>
        </p:txBody>
      </p:sp>
      <p:grpSp>
        <p:nvGrpSpPr>
          <p:cNvPr id="4" name="组合 3"/>
          <p:cNvGrpSpPr/>
          <p:nvPr/>
        </p:nvGrpSpPr>
        <p:grpSpPr>
          <a:xfrm>
            <a:off x="1500505" y="1703070"/>
            <a:ext cx="6143625" cy="5097145"/>
            <a:chOff x="2363" y="3134"/>
            <a:chExt cx="9675" cy="8027"/>
          </a:xfrm>
        </p:grpSpPr>
        <p:sp>
          <p:nvSpPr>
            <p:cNvPr id="3" name="矩形: 圆角 16"/>
            <p:cNvSpPr>
              <a:spLocks noChangeArrowheads="1"/>
            </p:cNvSpPr>
            <p:nvPr/>
          </p:nvSpPr>
          <p:spPr bwMode="auto">
            <a:xfrm>
              <a:off x="3850" y="10366"/>
              <a:ext cx="8188" cy="795"/>
            </a:xfrm>
            <a:prstGeom prst="roundRect">
              <a:avLst>
                <a:gd name="adj" fmla="val 16667"/>
              </a:avLst>
            </a:prstGeom>
            <a:solidFill>
              <a:srgbClr val="9476B6"/>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1267" name="矩形: 圆角 15"/>
            <p:cNvSpPr>
              <a:spLocks noChangeArrowheads="1"/>
            </p:cNvSpPr>
            <p:nvPr/>
          </p:nvSpPr>
          <p:spPr bwMode="auto">
            <a:xfrm>
              <a:off x="2363" y="10366"/>
              <a:ext cx="1323" cy="795"/>
            </a:xfrm>
            <a:prstGeom prst="roundRect">
              <a:avLst>
                <a:gd name="adj" fmla="val 16667"/>
              </a:avLst>
            </a:prstGeom>
            <a:solidFill>
              <a:schemeClr val="accent1"/>
            </a:solidFill>
            <a:ln>
              <a:noFill/>
            </a:ln>
            <a:extLst>
              <a:ext uri="{91240B29-F687-4F45-9708-019B960494DF}">
                <a14:hiddenLine xmlns:a14="http://schemas.microsoft.com/office/drawing/2010/main" w="9525">
                  <a:solidFill>
                    <a:srgbClr val="000000"/>
                  </a:solidFill>
                  <a:round/>
                </a14:hiddenLine>
              </a:ext>
            </a:extLst>
          </p:spPr>
          <p:txBody>
            <a:bodyPr/>
            <a:lstStyle>
              <a:lvl1pPr marL="342900" indent="-342900">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marL="342900" marR="0" lvl="0" indent="-342900" algn="l" defTabSz="914400" rtl="0" eaLnBrk="0" fontAlgn="base" latinLnBrk="0" hangingPunct="0">
                <a:lnSpc>
                  <a:spcPct val="100000"/>
                </a:lnSpc>
                <a:spcBef>
                  <a:spcPct val="20000"/>
                </a:spcBef>
                <a:spcAft>
                  <a:spcPct val="0"/>
                </a:spcAft>
                <a:buClrTx/>
                <a:buSzTx/>
                <a:buFontTx/>
                <a:buNone/>
                <a:defRPr/>
              </a:pPr>
              <a:endParaRPr kumimoji="1" lang="zh-CN" altLang="en-US" sz="2800" b="0" i="0" u="none" strike="noStrike" kern="1200" cap="none" spc="0" normalizeH="0" baseline="0" noProof="0">
                <a:ln>
                  <a:noFill/>
                </a:ln>
                <a:solidFill>
                  <a:srgbClr val="000000"/>
                </a:solidFill>
                <a:effectLst/>
                <a:uLnTx/>
                <a:uFillTx/>
                <a:latin typeface="+mn-lt"/>
                <a:ea typeface="+mn-ea"/>
                <a:cs typeface="+mn-ea"/>
                <a:sym typeface="+mn-lt"/>
              </a:endParaRPr>
            </a:p>
          </p:txBody>
        </p:sp>
        <p:sp>
          <p:nvSpPr>
            <p:cNvPr id="14" name="文本框 13"/>
            <p:cNvSpPr txBox="1"/>
            <p:nvPr/>
          </p:nvSpPr>
          <p:spPr>
            <a:xfrm>
              <a:off x="2550" y="3134"/>
              <a:ext cx="1135" cy="7892"/>
            </a:xfrm>
            <a:prstGeom prst="rect">
              <a:avLst/>
            </a:prstGeom>
            <a:noFill/>
          </p:spPr>
          <p:txBody>
            <a:bodyPr>
              <a:noAutofit/>
            </a:bodyPr>
            <a:lstStyle/>
            <a:p>
              <a:pPr marR="0" defTabSz="914400">
                <a:lnSpc>
                  <a:spcPct val="150000"/>
                </a:lnSpc>
                <a:buClrTx/>
                <a:buSzTx/>
                <a:buFontTx/>
                <a:buNone/>
                <a:defRPr/>
              </a:pPr>
              <a:r>
                <a:rPr kumimoji="0" lang="en-US" altLang="zh-CN" sz="2200" b="0" kern="1200" cap="none" spc="0" normalizeH="0" baseline="0" noProof="0" dirty="0">
                  <a:solidFill>
                    <a:schemeClr val="tx1"/>
                  </a:solidFill>
                  <a:latin typeface="+mn-lt"/>
                  <a:ea typeface="+mn-ea"/>
                  <a:cs typeface="+mn-ea"/>
                  <a:sym typeface="+mn-lt"/>
                </a:rPr>
                <a:t>5.1</a:t>
              </a:r>
              <a:endParaRPr kumimoji="0" lang="zh-CN" altLang="en-US" sz="2200" b="0" kern="1200" cap="none" spc="0" normalizeH="0" baseline="0" noProof="0" dirty="0">
                <a:solidFill>
                  <a:schemeClr val="tx1"/>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5.2</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5.3</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5.4</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5.5</a:t>
              </a:r>
              <a:endParaRPr kumimoji="0" lang="zh-CN" altLang="en-US" sz="2200" b="0" kern="1200" cap="none" spc="0" normalizeH="0" baseline="0" noProof="0" dirty="0">
                <a:solidFill>
                  <a:srgbClr val="000000">
                    <a:lumMod val="95000"/>
                    <a:lumOff val="5000"/>
                  </a:srgbClr>
                </a:solidFill>
                <a:latin typeface="+mn-lt"/>
                <a:ea typeface="+mn-ea"/>
                <a:cs typeface="+mn-ea"/>
                <a:sym typeface="+mn-lt"/>
              </a:endParaRP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5.6</a:t>
              </a: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5.7</a:t>
              </a: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5.8</a:t>
              </a:r>
            </a:p>
            <a:p>
              <a:pPr marR="0" defTabSz="914400">
                <a:lnSpc>
                  <a:spcPct val="150000"/>
                </a:lnSpc>
                <a:buClrTx/>
                <a:buSzTx/>
                <a:buFontTx/>
                <a:buNone/>
                <a:defRPr/>
              </a:pPr>
              <a:r>
                <a:rPr kumimoji="0" lang="en-US" altLang="zh-CN" sz="2200" b="0" kern="1200" cap="none" spc="0" normalizeH="0" baseline="0" noProof="0" dirty="0">
                  <a:solidFill>
                    <a:srgbClr val="000000">
                      <a:lumMod val="95000"/>
                      <a:lumOff val="5000"/>
                    </a:srgbClr>
                  </a:solidFill>
                  <a:latin typeface="+mn-lt"/>
                  <a:ea typeface="+mn-ea"/>
                  <a:cs typeface="+mn-ea"/>
                  <a:sym typeface="+mn-lt"/>
                </a:rPr>
                <a:t>5.9</a:t>
              </a:r>
            </a:p>
            <a:p>
              <a:pPr marR="0" defTabSz="914400">
                <a:lnSpc>
                  <a:spcPct val="150000"/>
                </a:lnSpc>
                <a:buClrTx/>
                <a:buSzTx/>
                <a:buFontTx/>
                <a:buNone/>
                <a:defRPr/>
              </a:pPr>
              <a:r>
                <a:rPr kumimoji="0" lang="en-US" altLang="zh-CN" sz="2200" b="0" kern="1200" cap="none" spc="0" normalizeH="0" baseline="0" noProof="0" dirty="0">
                  <a:solidFill>
                    <a:schemeClr val="bg1"/>
                  </a:solidFill>
                  <a:latin typeface="+mn-lt"/>
                  <a:ea typeface="+mn-ea"/>
                  <a:cs typeface="+mn-ea"/>
                  <a:sym typeface="+mn-lt"/>
                </a:rPr>
                <a:t>5.10</a:t>
              </a:r>
            </a:p>
          </p:txBody>
        </p:sp>
        <p:sp>
          <p:nvSpPr>
            <p:cNvPr id="15" name="文本框 14"/>
            <p:cNvSpPr txBox="1"/>
            <p:nvPr/>
          </p:nvSpPr>
          <p:spPr>
            <a:xfrm>
              <a:off x="3870" y="3134"/>
              <a:ext cx="7265" cy="7911"/>
            </a:xfrm>
            <a:prstGeom prst="rect">
              <a:avLst/>
            </a:prstGeom>
            <a:noFill/>
          </p:spPr>
          <p:txBody>
            <a:bodyPr wrap="square">
              <a:noAutofit/>
            </a:bodyPr>
            <a:lstStyle/>
            <a:p>
              <a:pPr marR="0" defTabSz="914400">
                <a:lnSpc>
                  <a:spcPct val="150000"/>
                </a:lnSpc>
                <a:buClrTx/>
                <a:buSzTx/>
                <a:buFont typeface="Arial" panose="020B0604020202020204" pitchFamily="34" charset="0"/>
                <a:buNone/>
                <a:defRPr/>
              </a:pPr>
              <a:r>
                <a:rPr kumimoji="0" lang="zh-CN" altLang="en-US" sz="2200" b="0" kern="1200" cap="none" spc="0" normalizeH="0" baseline="0" noProof="0" dirty="0">
                  <a:solidFill>
                    <a:schemeClr val="tx1"/>
                  </a:solidFill>
                  <a:latin typeface="+mn-lt"/>
                  <a:ea typeface="+mn-ea"/>
                  <a:cs typeface="+mn-ea"/>
                  <a:sym typeface="+mn-lt"/>
                </a:rPr>
                <a:t>树和二叉树的定义</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案例引入</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树和二叉树的抽象数据类型定义</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二叉树的性质和存储结构</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遍历二叉树和线索二叉树</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树和森林</a:t>
              </a:r>
            </a:p>
            <a:p>
              <a:pPr marR="0" defTabSz="914400">
                <a:lnSpc>
                  <a:spcPct val="150000"/>
                </a:lnSpc>
                <a:buClrTx/>
                <a:buSzTx/>
                <a:buFontTx/>
                <a:buNone/>
                <a:defRPr/>
              </a:pPr>
              <a:r>
                <a:rPr kumimoji="0" lang="zh-CN" altLang="en-US" sz="2200" b="0" kern="1200" cap="none" spc="0" normalizeH="0" baseline="0" noProof="0" dirty="0">
                  <a:solidFill>
                    <a:srgbClr val="000000">
                      <a:lumMod val="95000"/>
                      <a:lumOff val="5000"/>
                    </a:srgbClr>
                  </a:solidFill>
                  <a:latin typeface="+mn-lt"/>
                  <a:ea typeface="+mn-ea"/>
                  <a:cs typeface="+mn-ea"/>
                  <a:sym typeface="+mn-lt"/>
                </a:rPr>
                <a:t>哈夫曼树及其应用</a:t>
              </a:r>
            </a:p>
            <a:p>
              <a:pPr marR="0" defTabSz="914400">
                <a:lnSpc>
                  <a:spcPct val="150000"/>
                </a:lnSpc>
                <a:buClrTx/>
                <a:buSzTx/>
                <a:buFontTx/>
                <a:buNone/>
                <a:defRPr/>
              </a:pPr>
              <a:r>
                <a:rPr lang="zh-CN" altLang="en-US" sz="2200" b="0" noProof="0" dirty="0">
                  <a:solidFill>
                    <a:srgbClr val="000000">
                      <a:lumMod val="95000"/>
                      <a:lumOff val="5000"/>
                    </a:srgbClr>
                  </a:solidFill>
                  <a:latin typeface="+mn-lt"/>
                  <a:ea typeface="+mn-ea"/>
                  <a:cs typeface="+mn-ea"/>
                  <a:sym typeface="+mn-lt"/>
                </a:rPr>
                <a:t>并查集及其应用</a:t>
              </a:r>
            </a:p>
            <a:p>
              <a:pPr marR="0" defTabSz="914400">
                <a:lnSpc>
                  <a:spcPct val="150000"/>
                </a:lnSpc>
                <a:buClrTx/>
                <a:buSzTx/>
                <a:buFontTx/>
                <a:buNone/>
                <a:defRPr/>
              </a:pPr>
              <a:r>
                <a:rPr lang="zh-CN" altLang="en-US" sz="2200" b="0" noProof="0" dirty="0">
                  <a:solidFill>
                    <a:srgbClr val="000000">
                      <a:lumMod val="95000"/>
                      <a:lumOff val="5000"/>
                    </a:srgbClr>
                  </a:solidFill>
                  <a:latin typeface="+mn-lt"/>
                  <a:ea typeface="+mn-ea"/>
                  <a:cs typeface="+mn-ea"/>
                  <a:sym typeface="+mn-lt"/>
                </a:rPr>
                <a:t>案例分析与实现</a:t>
              </a:r>
            </a:p>
            <a:p>
              <a:pPr marR="0" defTabSz="914400">
                <a:lnSpc>
                  <a:spcPct val="150000"/>
                </a:lnSpc>
                <a:buClrTx/>
                <a:buSzTx/>
                <a:buFontTx/>
                <a:buNone/>
                <a:defRPr/>
              </a:pPr>
              <a:r>
                <a:rPr kumimoji="0" lang="zh-CN" altLang="en-US" sz="2200" b="0" kern="1200" cap="none" spc="0" normalizeH="0" baseline="0" noProof="0" dirty="0">
                  <a:solidFill>
                    <a:schemeClr val="bg1"/>
                  </a:solidFill>
                  <a:latin typeface="+mn-lt"/>
                  <a:ea typeface="+mn-ea"/>
                  <a:cs typeface="+mn-ea"/>
                  <a:sym typeface="+mn-lt"/>
                </a:rPr>
                <a:t>LeetCode 算法练习题</a:t>
              </a:r>
              <a:r>
                <a:rPr kumimoji="0" lang="zh-CN" altLang="en-US" sz="2200" b="0" kern="1200" cap="none" spc="0" normalizeH="0" baseline="0" noProof="0" dirty="0">
                  <a:solidFill>
                    <a:srgbClr val="000000">
                      <a:lumMod val="95000"/>
                      <a:lumOff val="5000"/>
                    </a:srgbClr>
                  </a:solidFill>
                  <a:latin typeface="+mn-lt"/>
                  <a:ea typeface="+mn-ea"/>
                  <a:cs typeface="+mn-ea"/>
                  <a:sym typeface="+mn-lt"/>
                </a:rPr>
                <a:t>	</a:t>
              </a:r>
            </a:p>
          </p:txBody>
        </p:sp>
      </p:grpSp>
      <p:sp>
        <p:nvSpPr>
          <p:cNvPr id="2" name="矩形 1"/>
          <p:cNvSpPr/>
          <p:nvPr/>
        </p:nvSpPr>
        <p:spPr>
          <a:xfrm>
            <a:off x="3276600" y="457200"/>
            <a:ext cx="1458913" cy="522288"/>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800" b="0" i="0" u="none" strike="noStrike" kern="1200" cap="none" spc="0" normalizeH="0" baseline="0" noProof="0" dirty="0">
                <a:ln>
                  <a:noFill/>
                </a:ln>
                <a:solidFill>
                  <a:srgbClr val="FEFFFF"/>
                </a:solidFill>
                <a:effectLst/>
                <a:uLnTx/>
                <a:uFillTx/>
                <a:latin typeface="+mn-lt"/>
                <a:ea typeface="+mn-ea"/>
                <a:cs typeface="+mn-ea"/>
                <a:sym typeface="+mn-lt"/>
              </a:rPr>
              <a:t>Contents</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5.1】 LeetCode 872 叶子相似的树</a:t>
            </a:r>
          </a:p>
        </p:txBody>
      </p:sp>
      <p:sp>
        <p:nvSpPr>
          <p:cNvPr id="180227" name="矩形 5"/>
          <p:cNvSpPr>
            <a:spLocks noChangeArrowheads="1"/>
          </p:cNvSpPr>
          <p:nvPr/>
        </p:nvSpPr>
        <p:spPr bwMode="auto">
          <a:xfrm>
            <a:off x="0" y="98234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【问题描述】</a:t>
            </a:r>
          </a:p>
        </p:txBody>
      </p:sp>
      <p:sp>
        <p:nvSpPr>
          <p:cNvPr id="2" name="圆角矩形 1"/>
          <p:cNvSpPr/>
          <p:nvPr/>
        </p:nvSpPr>
        <p:spPr>
          <a:xfrm>
            <a:off x="431165" y="1987550"/>
            <a:ext cx="4074160" cy="4023360"/>
          </a:xfrm>
          <a:prstGeom prst="roundRect">
            <a:avLst>
              <a:gd name="adj" fmla="val 6741"/>
            </a:avLst>
          </a:prstGeom>
          <a:solidFill>
            <a:srgbClr val="EAEAEA"/>
          </a:solidFill>
        </p:spPr>
        <p:txBody>
          <a:bodyPr wrap="square">
            <a:no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给定两棵根结点分别为 root1 和 root2 的树，判断两棵树是否叶相似，如果是，则返回 true，否则返回 false。叶相似是指两棵二叉树的叶值序列相同，叶值序列为一棵二叉树上所有叶子从左向右顺序排列形成的序列。例如，</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右</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图所示二叉树的叶值序列为 (6, 7, 4, 9, 8)。</a:t>
            </a:r>
          </a:p>
        </p:txBody>
      </p:sp>
      <p:pic>
        <p:nvPicPr>
          <p:cNvPr id="4" name="图片 3"/>
          <p:cNvPicPr>
            <a:picLocks noChangeAspect="1"/>
          </p:cNvPicPr>
          <p:nvPr/>
        </p:nvPicPr>
        <p:blipFill>
          <a:blip r:embed="rId3"/>
          <a:srcRect r="17318"/>
          <a:stretch>
            <a:fillRect/>
          </a:stretch>
        </p:blipFill>
        <p:spPr>
          <a:xfrm>
            <a:off x="4787900" y="2609850"/>
            <a:ext cx="4006215" cy="296608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5.1】 LeetCode 872 叶子相似的树</a:t>
            </a:r>
          </a:p>
        </p:txBody>
      </p:sp>
      <p:sp>
        <p:nvSpPr>
          <p:cNvPr id="180227" name="矩形 5"/>
          <p:cNvSpPr>
            <a:spLocks noChangeArrowheads="1"/>
          </p:cNvSpPr>
          <p:nvPr/>
        </p:nvSpPr>
        <p:spPr bwMode="auto">
          <a:xfrm>
            <a:off x="0" y="1125855"/>
            <a:ext cx="328104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【输入输出示例】</a:t>
            </a:r>
          </a:p>
        </p:txBody>
      </p:sp>
      <p:sp>
        <p:nvSpPr>
          <p:cNvPr id="3" name="圆角矩形 2"/>
          <p:cNvSpPr/>
          <p:nvPr/>
        </p:nvSpPr>
        <p:spPr>
          <a:xfrm>
            <a:off x="611505" y="2277745"/>
            <a:ext cx="3729355" cy="3555424"/>
          </a:xfrm>
          <a:prstGeom prst="roundRect">
            <a:avLst>
              <a:gd name="adj" fmla="val 6741"/>
            </a:avLst>
          </a:prstGeom>
          <a:solidFill>
            <a:srgbClr val="EAEAEA"/>
          </a:solid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输入 ：</a:t>
            </a:r>
          </a:p>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root1 = [3, 5, 1, 6, 2, 9, 8, NULL, NULL, 7, 4]</a:t>
            </a:r>
          </a:p>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root2 = [3, 5, 1, 6, 7, 4, 2, NULL, NULL, NULL, NULL, NULL, NULL, 9, 8]</a:t>
            </a:r>
          </a:p>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根结点分别 root1 和 root2 的二叉树</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右</a:t>
            </a: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图所示。</a:t>
            </a:r>
          </a:p>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输出 ：true</a:t>
            </a:r>
          </a:p>
        </p:txBody>
      </p:sp>
      <p:pic>
        <p:nvPicPr>
          <p:cNvPr id="2" name="图片 1"/>
          <p:cNvPicPr>
            <a:picLocks noChangeAspect="1"/>
          </p:cNvPicPr>
          <p:nvPr/>
        </p:nvPicPr>
        <p:blipFill>
          <a:blip r:embed="rId3"/>
          <a:stretch>
            <a:fillRect/>
          </a:stretch>
        </p:blipFill>
        <p:spPr>
          <a:xfrm>
            <a:off x="5281930" y="1052830"/>
            <a:ext cx="2687320" cy="2397760"/>
          </a:xfrm>
          <a:prstGeom prst="rect">
            <a:avLst/>
          </a:prstGeom>
        </p:spPr>
      </p:pic>
      <p:pic>
        <p:nvPicPr>
          <p:cNvPr id="4" name="图片 3"/>
          <p:cNvPicPr>
            <a:picLocks noChangeAspect="1"/>
          </p:cNvPicPr>
          <p:nvPr/>
        </p:nvPicPr>
        <p:blipFill>
          <a:blip r:embed="rId4"/>
          <a:srcRect r="9135"/>
          <a:stretch>
            <a:fillRect/>
          </a:stretch>
        </p:blipFill>
        <p:spPr>
          <a:xfrm>
            <a:off x="5363845" y="3933190"/>
            <a:ext cx="3010535" cy="225234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5.1】 LeetCode 872 叶子相似的树</a:t>
            </a:r>
          </a:p>
        </p:txBody>
      </p:sp>
      <p:sp>
        <p:nvSpPr>
          <p:cNvPr id="180227" name="矩形 5"/>
          <p:cNvSpPr>
            <a:spLocks noChangeArrowheads="1"/>
          </p:cNvSpPr>
          <p:nvPr/>
        </p:nvSpPr>
        <p:spPr bwMode="auto">
          <a:xfrm>
            <a:off x="0" y="1341120"/>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【问题分析】</a:t>
            </a:r>
          </a:p>
        </p:txBody>
      </p:sp>
      <p:sp>
        <p:nvSpPr>
          <p:cNvPr id="4" name="圆角矩形 3"/>
          <p:cNvSpPr/>
          <p:nvPr/>
        </p:nvSpPr>
        <p:spPr>
          <a:xfrm>
            <a:off x="683260" y="2493010"/>
            <a:ext cx="7640955" cy="2786557"/>
          </a:xfrm>
          <a:prstGeom prst="roundRect">
            <a:avLst>
              <a:gd name="adj" fmla="val 6741"/>
            </a:avLst>
          </a:prstGeom>
          <a:solidFill>
            <a:srgbClr val="EAEAEA"/>
          </a:solidFill>
        </p:spPr>
        <p:txBody>
          <a:bodyPr wrap="square">
            <a:spAutoFit/>
          </a:bodyPr>
          <a:lstStyle/>
          <a:p>
            <a:pPr marL="342900" marR="0" lvl="0" indent="-3429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判断两棵树是否为空，若为空，则返回 true </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endPar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endParaRPr>
          </a:p>
          <a:p>
            <a:pPr marL="342900" marR="0" lvl="0" indent="-3429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否则利用先序遍历方法遍历二叉树，分别得到两棵二叉树的叶值序列，然后判断两棵树的叶值序列是否相同。</a:t>
            </a:r>
          </a:p>
          <a:p>
            <a:pPr marL="342900" marR="0" lvl="0" indent="-3429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若不相等，则两棵二叉树一定不是叶相似的 </a:t>
            </a:r>
            <a:r>
              <a:rPr kumimoji="1" lang="zh-CN" altLang="en-US" sz="2400" b="0" i="0" u="none" strike="noStrike" kern="1200" cap="none" spc="0" normalizeH="0" baseline="0" noProof="0" dirty="0">
                <a:ln>
                  <a:noFill/>
                </a:ln>
                <a:solidFill>
                  <a:schemeClr val="tx1"/>
                </a:solidFill>
                <a:effectLst/>
                <a:uLnTx/>
                <a:uFillTx/>
                <a:latin typeface="+mn-lt"/>
                <a:ea typeface="+mn-ea"/>
                <a:cs typeface="+mn-ea"/>
                <a:sym typeface="+mn-lt"/>
              </a:rPr>
              <a:t>。</a:t>
            </a:r>
          </a:p>
          <a:p>
            <a:pPr marL="342900" marR="0" lvl="0" indent="-3429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lang="en-US" altLang="zh-CN" sz="2400" b="0" i="0" u="none" strike="noStrike" kern="1200" cap="none" spc="0" normalizeH="0" baseline="0" noProof="0" dirty="0">
                <a:ln>
                  <a:noFill/>
                </a:ln>
                <a:solidFill>
                  <a:schemeClr val="tx1"/>
                </a:solidFill>
                <a:effectLst/>
                <a:uLnTx/>
                <a:uFillTx/>
                <a:latin typeface="+mn-lt"/>
                <a:ea typeface="+mn-ea"/>
                <a:cs typeface="+mn-ea"/>
                <a:sym typeface="+mn-lt"/>
              </a:rPr>
              <a:t>若相等，则遍历两个叶值序列，判断其中的值是否完全相同，以判定两棵二叉树是否叶相似。</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5.1】 LeetCode 872 叶子相似的树</a:t>
            </a:r>
            <a:endParaRPr lang="en-US" altLang="zh-CN" dirty="0">
              <a:solidFill>
                <a:schemeClr val="bg1"/>
              </a:solidFill>
              <a:sym typeface="+mn-lt"/>
            </a:endParaRPr>
          </a:p>
        </p:txBody>
      </p:sp>
      <p:sp>
        <p:nvSpPr>
          <p:cNvPr id="180227" name="矩形 5"/>
          <p:cNvSpPr>
            <a:spLocks noChangeArrowheads="1"/>
          </p:cNvSpPr>
          <p:nvPr/>
        </p:nvSpPr>
        <p:spPr bwMode="auto">
          <a:xfrm>
            <a:off x="0" y="1054100"/>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【算法步骤】</a:t>
            </a:r>
          </a:p>
        </p:txBody>
      </p:sp>
      <p:sp>
        <p:nvSpPr>
          <p:cNvPr id="3" name="圆角矩形 2"/>
          <p:cNvSpPr/>
          <p:nvPr/>
        </p:nvSpPr>
        <p:spPr>
          <a:xfrm>
            <a:off x="395605" y="1845310"/>
            <a:ext cx="8398510" cy="4574751"/>
          </a:xfrm>
          <a:prstGeom prst="roundRect">
            <a:avLst>
              <a:gd name="adj" fmla="val 6741"/>
            </a:avLst>
          </a:prstGeom>
          <a:solidFill>
            <a:srgbClr val="EAEAEA"/>
          </a:solid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① 若 root1 不为空，利用先序遍历方法遍历二叉树得到叶值序列 seq1。</a:t>
            </a:r>
          </a:p>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② 若 root2 不为空，利用先序遍历方法遍历二叉树得到叶值序列 seq2。</a:t>
            </a:r>
          </a:p>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③ 若叶值序列长度 seq1Size 不等于 seq2Size，返回 false。</a:t>
            </a:r>
          </a:p>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④ 若叶值序列长度 seq1Size 等于 seq2Size，遍历叶值序列 seq1 和 seq2，若 seq1[i] 不等于seq2[i]，返回 false。</a:t>
            </a:r>
          </a:p>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⑤ 若不符合以上情况，返回 true。</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5.1】 LeetCode 872 叶子相似的树</a:t>
            </a:r>
          </a:p>
        </p:txBody>
      </p:sp>
      <p:sp>
        <p:nvSpPr>
          <p:cNvPr id="180227" name="矩形 5"/>
          <p:cNvSpPr>
            <a:spLocks noChangeArrowheads="1"/>
          </p:cNvSpPr>
          <p:nvPr/>
        </p:nvSpPr>
        <p:spPr bwMode="auto">
          <a:xfrm>
            <a:off x="0" y="112585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【算法描述】</a:t>
            </a:r>
          </a:p>
        </p:txBody>
      </p:sp>
      <p:pic>
        <p:nvPicPr>
          <p:cNvPr id="2" name="图片 1"/>
          <p:cNvPicPr>
            <a:picLocks noChangeAspect="1"/>
          </p:cNvPicPr>
          <p:nvPr/>
        </p:nvPicPr>
        <p:blipFill>
          <a:blip r:embed="rId2"/>
          <a:stretch>
            <a:fillRect/>
          </a:stretch>
        </p:blipFill>
        <p:spPr>
          <a:xfrm>
            <a:off x="279400" y="2277110"/>
            <a:ext cx="8585200" cy="363029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5.1】 LeetCode 872 叶子相似的树</a:t>
            </a:r>
          </a:p>
        </p:txBody>
      </p:sp>
      <p:sp>
        <p:nvSpPr>
          <p:cNvPr id="180227" name="矩形 5"/>
          <p:cNvSpPr>
            <a:spLocks noChangeArrowheads="1"/>
          </p:cNvSpPr>
          <p:nvPr/>
        </p:nvSpPr>
        <p:spPr bwMode="auto">
          <a:xfrm>
            <a:off x="0" y="112585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【算法描述】</a:t>
            </a:r>
          </a:p>
        </p:txBody>
      </p:sp>
      <p:pic>
        <p:nvPicPr>
          <p:cNvPr id="3" name="图片 2"/>
          <p:cNvPicPr>
            <a:picLocks noChangeAspect="1"/>
          </p:cNvPicPr>
          <p:nvPr/>
        </p:nvPicPr>
        <p:blipFill>
          <a:blip r:embed="rId2"/>
          <a:stretch>
            <a:fillRect/>
          </a:stretch>
        </p:blipFill>
        <p:spPr>
          <a:xfrm>
            <a:off x="395605" y="2009775"/>
            <a:ext cx="8409305" cy="435229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5.1】 LeetCode 872 叶子相似的树</a:t>
            </a:r>
          </a:p>
        </p:txBody>
      </p:sp>
      <p:sp>
        <p:nvSpPr>
          <p:cNvPr id="180227" name="矩形 5"/>
          <p:cNvSpPr>
            <a:spLocks noChangeArrowheads="1"/>
          </p:cNvSpPr>
          <p:nvPr/>
        </p:nvSpPr>
        <p:spPr bwMode="auto">
          <a:xfrm>
            <a:off x="0" y="1341120"/>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【算法分析】</a:t>
            </a:r>
          </a:p>
        </p:txBody>
      </p:sp>
      <p:sp>
        <p:nvSpPr>
          <p:cNvPr id="3" name="圆角矩形 2"/>
          <p:cNvSpPr/>
          <p:nvPr/>
        </p:nvSpPr>
        <p:spPr>
          <a:xfrm>
            <a:off x="394970" y="2710180"/>
            <a:ext cx="8398510" cy="2337668"/>
          </a:xfrm>
          <a:prstGeom prst="roundRect">
            <a:avLst>
              <a:gd name="adj" fmla="val 6741"/>
            </a:avLst>
          </a:prstGeom>
          <a:solidFill>
            <a:srgbClr val="EAEAEA"/>
          </a:solid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800" b="0" i="0" u="none" strike="noStrike" kern="1200" cap="none" spc="0" normalizeH="0" noProof="0" dirty="0">
                <a:ln>
                  <a:noFill/>
                </a:ln>
                <a:solidFill>
                  <a:schemeClr val="tx1"/>
                </a:solidFill>
                <a:effectLst/>
                <a:uLnTx/>
                <a:uFillTx/>
                <a:latin typeface="+mn-lt"/>
                <a:ea typeface="+mn-ea"/>
                <a:cs typeface="+mn-ea"/>
                <a:sym typeface="+mn-lt"/>
              </a:rPr>
              <a:t>算法需要遍历两棵二叉树，假设两棵树的结点个数分别是 n</a:t>
            </a:r>
            <a:r>
              <a:rPr kumimoji="1" lang="en-US" altLang="zh-CN" sz="2800" b="0" i="0" u="none" strike="noStrike" kern="1200" cap="none" spc="0" normalizeH="0" baseline="-25000" noProof="0" dirty="0">
                <a:ln>
                  <a:noFill/>
                </a:ln>
                <a:solidFill>
                  <a:schemeClr val="tx1"/>
                </a:solidFill>
                <a:effectLst/>
                <a:uLnTx/>
                <a:uFillTx/>
                <a:latin typeface="+mn-lt"/>
                <a:ea typeface="+mn-ea"/>
                <a:cs typeface="+mn-ea"/>
                <a:sym typeface="+mn-lt"/>
              </a:rPr>
              <a:t>1</a:t>
            </a:r>
            <a:r>
              <a:rPr kumimoji="1" lang="en-US" altLang="zh-CN" sz="2800" b="0" i="0" u="none" strike="noStrike" kern="1200" cap="none" spc="0" normalizeH="0" noProof="0" dirty="0">
                <a:ln>
                  <a:noFill/>
                </a:ln>
                <a:solidFill>
                  <a:schemeClr val="tx1"/>
                </a:solidFill>
                <a:effectLst/>
                <a:uLnTx/>
                <a:uFillTx/>
                <a:latin typeface="+mn-lt"/>
                <a:ea typeface="+mn-ea"/>
                <a:cs typeface="+mn-ea"/>
                <a:sym typeface="+mn-lt"/>
              </a:rPr>
              <a:t> 和 n</a:t>
            </a:r>
            <a:r>
              <a:rPr kumimoji="1" lang="en-US" altLang="zh-CN" sz="2800" b="0" i="0" u="none" strike="noStrike" kern="1200" cap="none" spc="0" normalizeH="0" baseline="-25000" noProof="0" dirty="0">
                <a:ln>
                  <a:noFill/>
                </a:ln>
                <a:solidFill>
                  <a:schemeClr val="tx1"/>
                </a:solidFill>
                <a:effectLst/>
                <a:uLnTx/>
                <a:uFillTx/>
                <a:latin typeface="+mn-lt"/>
                <a:ea typeface="+mn-ea"/>
                <a:cs typeface="+mn-ea"/>
                <a:sym typeface="+mn-lt"/>
              </a:rPr>
              <a:t>2</a:t>
            </a:r>
            <a:r>
              <a:rPr kumimoji="1" lang="en-US" altLang="zh-CN" sz="2800" b="0" i="0" u="none" strike="noStrike" kern="1200" cap="none" spc="0" normalizeH="0" noProof="0" dirty="0">
                <a:ln>
                  <a:noFill/>
                </a:ln>
                <a:solidFill>
                  <a:schemeClr val="tx1"/>
                </a:solidFill>
                <a:effectLst/>
                <a:uLnTx/>
                <a:uFillTx/>
                <a:latin typeface="+mn-lt"/>
                <a:ea typeface="+mn-ea"/>
                <a:cs typeface="+mn-ea"/>
                <a:sym typeface="+mn-lt"/>
              </a:rPr>
              <a:t>，则时间复杂度为O(max(n</a:t>
            </a:r>
            <a:r>
              <a:rPr kumimoji="1" lang="en-US" altLang="zh-CN" sz="2800" b="0" i="0" u="none" strike="noStrike" kern="1200" cap="none" spc="0" normalizeH="0" baseline="-25000" noProof="0" dirty="0">
                <a:ln>
                  <a:noFill/>
                </a:ln>
                <a:solidFill>
                  <a:schemeClr val="tx1"/>
                </a:solidFill>
                <a:effectLst/>
                <a:uLnTx/>
                <a:uFillTx/>
                <a:latin typeface="+mn-lt"/>
                <a:ea typeface="+mn-ea"/>
                <a:cs typeface="+mn-ea"/>
                <a:sym typeface="+mn-lt"/>
              </a:rPr>
              <a:t>1</a:t>
            </a:r>
            <a:r>
              <a:rPr kumimoji="1" lang="en-US" altLang="zh-CN" sz="2800" b="0" i="0" u="none" strike="noStrike" kern="1200" cap="none" spc="0" normalizeH="0" noProof="0" dirty="0">
                <a:ln>
                  <a:noFill/>
                </a:ln>
                <a:solidFill>
                  <a:schemeClr val="tx1"/>
                </a:solidFill>
                <a:effectLst/>
                <a:uLnTx/>
                <a:uFillTx/>
                <a:latin typeface="+mn-lt"/>
                <a:ea typeface="+mn-ea"/>
                <a:cs typeface="+mn-ea"/>
                <a:sym typeface="+mn-lt"/>
              </a:rPr>
              <a:t>, n</a:t>
            </a:r>
            <a:r>
              <a:rPr kumimoji="1" lang="en-US" altLang="zh-CN" sz="2800" b="0" i="0" u="none" strike="noStrike" kern="1200" cap="none" spc="0" normalizeH="0" baseline="-25000" noProof="0" dirty="0">
                <a:ln>
                  <a:noFill/>
                </a:ln>
                <a:solidFill>
                  <a:schemeClr val="tx1"/>
                </a:solidFill>
                <a:effectLst/>
                <a:uLnTx/>
                <a:uFillTx/>
                <a:latin typeface="+mn-lt"/>
                <a:ea typeface="+mn-ea"/>
                <a:cs typeface="+mn-ea"/>
                <a:sym typeface="+mn-lt"/>
              </a:rPr>
              <a:t>2</a:t>
            </a:r>
            <a:r>
              <a:rPr kumimoji="1" lang="en-US" altLang="zh-CN" sz="2800" b="0" i="0" u="none" strike="noStrike" kern="1200" cap="none" spc="0" normalizeH="0" noProof="0" dirty="0">
                <a:ln>
                  <a:noFill/>
                </a:ln>
                <a:solidFill>
                  <a:schemeClr val="tx1"/>
                </a:solidFill>
                <a:effectLst/>
                <a:uLnTx/>
                <a:uFillTx/>
                <a:latin typeface="+mn-lt"/>
                <a:ea typeface="+mn-ea"/>
                <a:cs typeface="+mn-ea"/>
                <a:sym typeface="+mn-lt"/>
              </a:rPr>
              <a:t>)) ；空间复杂度取决于存储叶值序列的空间和先序遍历过程中所使用的栈空间，空间复杂度亦为 O(max(n</a:t>
            </a:r>
            <a:r>
              <a:rPr kumimoji="1" lang="en-US" altLang="zh-CN" sz="2800" b="0" i="0" u="none" strike="noStrike" kern="1200" cap="none" spc="0" normalizeH="0" baseline="-25000" noProof="0" dirty="0">
                <a:ln>
                  <a:noFill/>
                </a:ln>
                <a:solidFill>
                  <a:schemeClr val="tx1"/>
                </a:solidFill>
                <a:effectLst/>
                <a:uLnTx/>
                <a:uFillTx/>
                <a:latin typeface="+mn-lt"/>
                <a:ea typeface="+mn-ea"/>
                <a:cs typeface="+mn-ea"/>
                <a:sym typeface="+mn-lt"/>
              </a:rPr>
              <a:t>1</a:t>
            </a:r>
            <a:r>
              <a:rPr kumimoji="1" lang="en-US" altLang="zh-CN" sz="2800" b="0" i="0" u="none" strike="noStrike" kern="1200" cap="none" spc="0" normalizeH="0" noProof="0" dirty="0">
                <a:ln>
                  <a:noFill/>
                </a:ln>
                <a:solidFill>
                  <a:schemeClr val="tx1"/>
                </a:solidFill>
                <a:effectLst/>
                <a:uLnTx/>
                <a:uFillTx/>
                <a:latin typeface="+mn-lt"/>
                <a:ea typeface="+mn-ea"/>
                <a:cs typeface="+mn-ea"/>
                <a:sym typeface="+mn-lt"/>
              </a:rPr>
              <a:t>, n</a:t>
            </a:r>
            <a:r>
              <a:rPr kumimoji="1" lang="en-US" altLang="zh-CN" sz="2800" b="0" i="0" u="none" strike="noStrike" kern="1200" cap="none" spc="0" normalizeH="0" baseline="-25000" noProof="0" dirty="0">
                <a:ln>
                  <a:noFill/>
                </a:ln>
                <a:solidFill>
                  <a:schemeClr val="tx1"/>
                </a:solidFill>
                <a:effectLst/>
                <a:uLnTx/>
                <a:uFillTx/>
                <a:latin typeface="+mn-lt"/>
                <a:ea typeface="+mn-ea"/>
                <a:cs typeface="+mn-ea"/>
                <a:sym typeface="+mn-lt"/>
              </a:rPr>
              <a:t>2</a:t>
            </a:r>
            <a:r>
              <a:rPr kumimoji="1" lang="en-US" altLang="zh-CN" sz="2800" b="0" i="0" u="none" strike="noStrike" kern="1200" cap="none" spc="0" normalizeH="0" noProof="0" dirty="0">
                <a:ln>
                  <a:noFill/>
                </a:ln>
                <a:solidFill>
                  <a:schemeClr val="tx1"/>
                </a:solidFill>
                <a:effectLst/>
                <a:uLnTx/>
                <a:uFillTx/>
                <a:latin typeface="+mn-lt"/>
                <a:ea typeface="+mn-ea"/>
                <a:cs typeface="+mn-ea"/>
                <a:sym typeface="+mn-lt"/>
              </a:rPr>
              <a:t>))。</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5.2】LeetCode 113 路径总和 Ⅱ</a:t>
            </a:r>
          </a:p>
        </p:txBody>
      </p:sp>
      <p:sp>
        <p:nvSpPr>
          <p:cNvPr id="180227" name="矩形 5"/>
          <p:cNvSpPr>
            <a:spLocks noChangeArrowheads="1"/>
          </p:cNvSpPr>
          <p:nvPr/>
        </p:nvSpPr>
        <p:spPr bwMode="auto">
          <a:xfrm>
            <a:off x="0" y="1054100"/>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【问题描述】</a:t>
            </a:r>
          </a:p>
        </p:txBody>
      </p:sp>
      <p:sp>
        <p:nvSpPr>
          <p:cNvPr id="2" name="圆角矩形 1"/>
          <p:cNvSpPr/>
          <p:nvPr/>
        </p:nvSpPr>
        <p:spPr>
          <a:xfrm>
            <a:off x="431165" y="1772920"/>
            <a:ext cx="8194675" cy="1599565"/>
          </a:xfrm>
          <a:prstGeom prst="roundRect">
            <a:avLst>
              <a:gd name="adj" fmla="val 6741"/>
            </a:avLst>
          </a:prstGeom>
          <a:solidFill>
            <a:srgbClr val="EAEAEA"/>
          </a:solidFill>
        </p:spPr>
        <p:txBody>
          <a:bodyPr wrap="square">
            <a:no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给定一个根结点为 root 的二叉树和一个整数目标和 targetSum，找出所有从根结点到叶子结点路径总和等于给定目标和的路径。</a:t>
            </a:r>
          </a:p>
        </p:txBody>
      </p:sp>
      <p:sp>
        <p:nvSpPr>
          <p:cNvPr id="3" name="矩形 5"/>
          <p:cNvSpPr>
            <a:spLocks noChangeArrowheads="1"/>
          </p:cNvSpPr>
          <p:nvPr/>
        </p:nvSpPr>
        <p:spPr bwMode="auto">
          <a:xfrm>
            <a:off x="0" y="3646170"/>
            <a:ext cx="328104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【输入输出示例】</a:t>
            </a:r>
          </a:p>
        </p:txBody>
      </p:sp>
      <p:sp>
        <p:nvSpPr>
          <p:cNvPr id="5" name="圆角矩形 4"/>
          <p:cNvSpPr/>
          <p:nvPr/>
        </p:nvSpPr>
        <p:spPr>
          <a:xfrm>
            <a:off x="431165" y="4441825"/>
            <a:ext cx="8218805" cy="1511935"/>
          </a:xfrm>
          <a:prstGeom prst="roundRect">
            <a:avLst>
              <a:gd name="adj" fmla="val 6741"/>
            </a:avLst>
          </a:prstGeom>
          <a:solidFill>
            <a:srgbClr val="EAEAEA"/>
          </a:solidFill>
        </p:spPr>
        <p:txBody>
          <a:bodyPr wrap="square">
            <a:no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输入 ：root = [5, 4, 8, 11, NULL, 13, 4, 7, 2, NULL, NULL, 5, 1]，targetSum = 22</a:t>
            </a:r>
          </a:p>
          <a:p>
            <a:pPr marL="0" marR="0" lvl="0" indent="0" algn="l" defTabSz="914400" rtl="0" eaLnBrk="1" fontAlgn="base" latinLnBrk="0" hangingPunct="1">
              <a:lnSpc>
                <a:spcPct val="100000"/>
              </a:lnSpc>
              <a:spcBef>
                <a:spcPct val="0"/>
              </a:spcBef>
              <a:spcAft>
                <a:spcPct val="0"/>
              </a:spcAft>
              <a:buClrTx/>
              <a:buSzTx/>
              <a:buFontTx/>
              <a:buNone/>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输出 ：[[5, 4, 11, 2],[5, 8, 4, 5]]</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5.2】LeetCode 113 路径总和 Ⅱ</a:t>
            </a:r>
          </a:p>
        </p:txBody>
      </p:sp>
      <p:sp>
        <p:nvSpPr>
          <p:cNvPr id="180227" name="矩形 5"/>
          <p:cNvSpPr>
            <a:spLocks noChangeArrowheads="1"/>
          </p:cNvSpPr>
          <p:nvPr/>
        </p:nvSpPr>
        <p:spPr bwMode="auto">
          <a:xfrm>
            <a:off x="0" y="1341120"/>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【问题分析】</a:t>
            </a:r>
          </a:p>
        </p:txBody>
      </p:sp>
      <p:sp>
        <p:nvSpPr>
          <p:cNvPr id="4" name="圆角矩形 3"/>
          <p:cNvSpPr/>
          <p:nvPr/>
        </p:nvSpPr>
        <p:spPr>
          <a:xfrm>
            <a:off x="683260" y="2493010"/>
            <a:ext cx="7640955" cy="2337168"/>
          </a:xfrm>
          <a:prstGeom prst="roundRect">
            <a:avLst>
              <a:gd name="adj" fmla="val 6741"/>
            </a:avLst>
          </a:prstGeom>
          <a:solidFill>
            <a:srgbClr val="EAEAEA"/>
          </a:solidFill>
        </p:spPr>
        <p:txBody>
          <a:bodyPr wrap="square">
            <a:spAutoFit/>
          </a:bodyPr>
          <a:lstStyle/>
          <a:p>
            <a:pPr marL="342900" marR="0" lvl="0" indent="-3429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采用先序遍历的方式递归遍历二叉树</a:t>
            </a:r>
            <a:r>
              <a:rPr kumimoji="1" lang="zh-CN" b="0" i="0" u="none" strike="noStrike" kern="1200" cap="none" spc="0" normalizeH="0" baseline="0" noProof="0" dirty="0">
                <a:ln>
                  <a:noFill/>
                </a:ln>
                <a:solidFill>
                  <a:schemeClr val="tx1"/>
                </a:solidFill>
                <a:effectLst/>
                <a:uLnTx/>
                <a:uFillTx/>
                <a:latin typeface="+mn-lt"/>
                <a:ea typeface="+mn-ea"/>
                <a:cs typeface="+mn-ea"/>
                <a:sym typeface="+mn-lt"/>
              </a:rPr>
              <a:t>。</a:t>
            </a:r>
            <a:endParaRPr kumimoji="1" b="0" i="0" u="none" strike="noStrike" kern="1200" cap="none" spc="0" normalizeH="0" baseline="0" noProof="0" dirty="0">
              <a:ln>
                <a:noFill/>
              </a:ln>
              <a:solidFill>
                <a:schemeClr val="tx1"/>
              </a:solidFill>
              <a:effectLst/>
              <a:uLnTx/>
              <a:uFillTx/>
              <a:latin typeface="+mn-lt"/>
              <a:ea typeface="+mn-ea"/>
              <a:cs typeface="+mn-ea"/>
              <a:sym typeface="+mn-lt"/>
            </a:endParaRPr>
          </a:p>
          <a:p>
            <a:pPr marL="342900" marR="0" lvl="0" indent="-3429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枚举每条从根结点到叶子结点的路径</a:t>
            </a:r>
            <a:r>
              <a:rPr kumimoji="1" lang="zh-CN" b="0" i="0" u="none" strike="noStrike" kern="1200" cap="none" spc="0" normalizeH="0" baseline="0" noProof="0" dirty="0">
                <a:ln>
                  <a:noFill/>
                </a:ln>
                <a:solidFill>
                  <a:schemeClr val="tx1"/>
                </a:solidFill>
                <a:effectLst/>
                <a:uLnTx/>
                <a:uFillTx/>
                <a:latin typeface="+mn-lt"/>
                <a:ea typeface="+mn-ea"/>
                <a:cs typeface="+mn-ea"/>
                <a:sym typeface="+mn-lt"/>
              </a:rPr>
              <a:t>。</a:t>
            </a:r>
            <a:endParaRPr kumimoji="1" b="0" i="0" u="none" strike="noStrike" kern="1200" cap="none" spc="0" normalizeH="0" baseline="0" noProof="0" dirty="0">
              <a:ln>
                <a:noFill/>
              </a:ln>
              <a:solidFill>
                <a:schemeClr val="tx1"/>
              </a:solidFill>
              <a:effectLst/>
              <a:uLnTx/>
              <a:uFillTx/>
              <a:latin typeface="+mn-lt"/>
              <a:ea typeface="+mn-ea"/>
              <a:cs typeface="+mn-ea"/>
              <a:sym typeface="+mn-lt"/>
            </a:endParaRPr>
          </a:p>
          <a:p>
            <a:pPr marL="342900" marR="0" lvl="0" indent="-3429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当遍历到叶子结点，且路径和等于目标和时，则找到了一条满足条件的路径</a:t>
            </a:r>
            <a:r>
              <a:rPr kumimoji="1" lang="zh-CN" b="0" i="0" u="none" strike="noStrike" kern="1200" cap="none" spc="0" normalizeH="0" baseline="0" noProof="0" dirty="0">
                <a:ln>
                  <a:noFill/>
                </a:ln>
                <a:solidFill>
                  <a:schemeClr val="tx1"/>
                </a:solidFill>
                <a:effectLst/>
                <a:uLnTx/>
                <a:uFillTx/>
                <a:latin typeface="+mn-lt"/>
                <a:ea typeface="+mn-ea"/>
                <a:cs typeface="+mn-ea"/>
                <a:sym typeface="+mn-lt"/>
              </a:rPr>
              <a:t>。</a:t>
            </a:r>
            <a:endParaRPr kumimoji="1" b="0" i="0" u="none" strike="noStrike" kern="1200" cap="none" spc="0" normalizeH="0" baseline="0" noProof="0" dirty="0">
              <a:ln>
                <a:noFill/>
              </a:ln>
              <a:solidFill>
                <a:schemeClr val="tx1"/>
              </a:solidFill>
              <a:effectLst/>
              <a:uLnTx/>
              <a:uFillTx/>
              <a:latin typeface="+mn-lt"/>
              <a:ea typeface="+mn-ea"/>
              <a:cs typeface="+mn-ea"/>
              <a:sym typeface="+mn-lt"/>
            </a:endParaRPr>
          </a:p>
          <a:p>
            <a:pPr marL="342900" marR="0" lvl="0" indent="-3429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最后返回所有路径即可。</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5.2】LeetCode 113 路径总和 Ⅱ</a:t>
            </a:r>
            <a:endParaRPr lang="en-US" altLang="zh-CN" dirty="0">
              <a:solidFill>
                <a:schemeClr val="bg1"/>
              </a:solidFill>
              <a:sym typeface="+mn-lt"/>
            </a:endParaRPr>
          </a:p>
        </p:txBody>
      </p:sp>
      <p:sp>
        <p:nvSpPr>
          <p:cNvPr id="180227" name="矩形 5"/>
          <p:cNvSpPr>
            <a:spLocks noChangeArrowheads="1"/>
          </p:cNvSpPr>
          <p:nvPr/>
        </p:nvSpPr>
        <p:spPr bwMode="auto">
          <a:xfrm>
            <a:off x="0" y="98234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【算法步骤】</a:t>
            </a:r>
          </a:p>
        </p:txBody>
      </p:sp>
      <p:sp>
        <p:nvSpPr>
          <p:cNvPr id="3" name="圆角矩形 2"/>
          <p:cNvSpPr/>
          <p:nvPr/>
        </p:nvSpPr>
        <p:spPr>
          <a:xfrm>
            <a:off x="395605" y="1630045"/>
            <a:ext cx="8398510" cy="5029688"/>
          </a:xfrm>
          <a:prstGeom prst="roundRect">
            <a:avLst>
              <a:gd name="adj" fmla="val 6741"/>
            </a:avLst>
          </a:prstGeom>
          <a:solidFill>
            <a:srgbClr val="EAEAEA"/>
          </a:solid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① 利用先序遍历方法记录从根结点到叶子结点的每条路径，记录路径和等于目标和的所有路径。具体实现步骤如下 ：</a:t>
            </a:r>
          </a:p>
          <a:p>
            <a:pPr marL="457200" marR="0" lvl="0" indent="-4572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若 root 为空，二叉树遍历结束 ；</a:t>
            </a:r>
          </a:p>
          <a:p>
            <a:pPr marL="457200" marR="0" lvl="0" indent="-4572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若 root 不为空，path 存储路径上结点的值，targetnum 等于 targetnum 减去当前结点的值 ；</a:t>
            </a:r>
          </a:p>
          <a:p>
            <a:pPr marL="457200" marR="0" lvl="0" indent="-4572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若 root 的左、右子树均为空，且 targetSum 等于 0，说明路径总和等于给定目标和，将当前路径写入 ret ；</a:t>
            </a:r>
          </a:p>
          <a:p>
            <a:pPr marL="457200" marR="0" lvl="0" indent="-4572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递归遍历左子树和右子树。</a:t>
            </a:r>
          </a:p>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② 返回所有路径 ret。</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5.2】LeetCode 113 路径总和 Ⅱ</a:t>
            </a:r>
          </a:p>
        </p:txBody>
      </p:sp>
      <p:sp>
        <p:nvSpPr>
          <p:cNvPr id="180227" name="矩形 5"/>
          <p:cNvSpPr>
            <a:spLocks noChangeArrowheads="1"/>
          </p:cNvSpPr>
          <p:nvPr/>
        </p:nvSpPr>
        <p:spPr bwMode="auto">
          <a:xfrm>
            <a:off x="0" y="909320"/>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【算法描述】</a:t>
            </a:r>
          </a:p>
        </p:txBody>
      </p:sp>
      <p:pic>
        <p:nvPicPr>
          <p:cNvPr id="3" name="图片 2"/>
          <p:cNvPicPr>
            <a:picLocks noChangeAspect="1"/>
          </p:cNvPicPr>
          <p:nvPr/>
        </p:nvPicPr>
        <p:blipFill>
          <a:blip r:embed="rId2"/>
          <a:stretch>
            <a:fillRect/>
          </a:stretch>
        </p:blipFill>
        <p:spPr>
          <a:xfrm>
            <a:off x="755650" y="1557655"/>
            <a:ext cx="7820660" cy="2386330"/>
          </a:xfrm>
          <a:prstGeom prst="rect">
            <a:avLst/>
          </a:prstGeom>
        </p:spPr>
      </p:pic>
      <p:pic>
        <p:nvPicPr>
          <p:cNvPr id="4" name="图片 3"/>
          <p:cNvPicPr>
            <a:picLocks noChangeAspect="1"/>
          </p:cNvPicPr>
          <p:nvPr/>
        </p:nvPicPr>
        <p:blipFill>
          <a:blip r:embed="rId3"/>
          <a:stretch>
            <a:fillRect/>
          </a:stretch>
        </p:blipFill>
        <p:spPr>
          <a:xfrm>
            <a:off x="783590" y="3948430"/>
            <a:ext cx="7777480" cy="283781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5.2】LeetCode 113 路径总和 Ⅱ</a:t>
            </a:r>
          </a:p>
        </p:txBody>
      </p:sp>
      <p:sp>
        <p:nvSpPr>
          <p:cNvPr id="180227" name="矩形 5"/>
          <p:cNvSpPr>
            <a:spLocks noChangeArrowheads="1"/>
          </p:cNvSpPr>
          <p:nvPr/>
        </p:nvSpPr>
        <p:spPr bwMode="auto">
          <a:xfrm>
            <a:off x="0" y="112585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【算法描述】</a:t>
            </a:r>
          </a:p>
        </p:txBody>
      </p:sp>
      <p:pic>
        <p:nvPicPr>
          <p:cNvPr id="2" name="图片 1"/>
          <p:cNvPicPr>
            <a:picLocks noChangeAspect="1"/>
          </p:cNvPicPr>
          <p:nvPr/>
        </p:nvPicPr>
        <p:blipFill>
          <a:blip r:embed="rId2"/>
          <a:stretch>
            <a:fillRect/>
          </a:stretch>
        </p:blipFill>
        <p:spPr>
          <a:xfrm>
            <a:off x="251460" y="2137410"/>
            <a:ext cx="8667750" cy="364045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5.2】LeetCode 113 路径总和 Ⅱ</a:t>
            </a:r>
          </a:p>
        </p:txBody>
      </p:sp>
      <p:sp>
        <p:nvSpPr>
          <p:cNvPr id="180227" name="矩形 5"/>
          <p:cNvSpPr>
            <a:spLocks noChangeArrowheads="1"/>
          </p:cNvSpPr>
          <p:nvPr/>
        </p:nvSpPr>
        <p:spPr bwMode="auto">
          <a:xfrm>
            <a:off x="0" y="1341120"/>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【算法分析】</a:t>
            </a:r>
          </a:p>
        </p:txBody>
      </p:sp>
      <p:sp>
        <p:nvSpPr>
          <p:cNvPr id="3" name="圆角矩形 2"/>
          <p:cNvSpPr/>
          <p:nvPr/>
        </p:nvSpPr>
        <p:spPr>
          <a:xfrm>
            <a:off x="394970" y="2351405"/>
            <a:ext cx="8398510" cy="3235476"/>
          </a:xfrm>
          <a:prstGeom prst="roundRect">
            <a:avLst>
              <a:gd name="adj" fmla="val 6741"/>
            </a:avLst>
          </a:prstGeom>
          <a:solidFill>
            <a:srgbClr val="EAEAEA"/>
          </a:solid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800" b="0" i="0" u="none" strike="noStrike" kern="1200" cap="none" spc="0" normalizeH="0" noProof="0" dirty="0">
                <a:ln>
                  <a:noFill/>
                </a:ln>
                <a:solidFill>
                  <a:schemeClr val="tx1"/>
                </a:solidFill>
                <a:effectLst/>
                <a:uLnTx/>
                <a:uFillTx/>
                <a:latin typeface="+mn-lt"/>
                <a:ea typeface="+mn-ea"/>
                <a:cs typeface="+mn-ea"/>
                <a:sym typeface="+mn-lt"/>
              </a:rPr>
              <a:t>在最坏情况下，树的上半部分为链状，下半部分为完全二叉树，并且从根结点到每个叶子结点的路径都符合题目要求，此时，路径的数目为 O(n)，并且每条路径的结点个数也为 O(n)，因此时间复杂度为 O(n</a:t>
            </a:r>
            <a:r>
              <a:rPr kumimoji="1" lang="en-US" altLang="zh-CN" sz="2800" b="0" i="0" u="none" strike="noStrike" kern="1200" cap="none" spc="0" normalizeH="0" baseline="30000" noProof="0" dirty="0">
                <a:ln>
                  <a:noFill/>
                </a:ln>
                <a:solidFill>
                  <a:schemeClr val="tx1"/>
                </a:solidFill>
                <a:effectLst/>
                <a:uLnTx/>
                <a:uFillTx/>
                <a:latin typeface="+mn-lt"/>
                <a:ea typeface="+mn-ea"/>
                <a:cs typeface="+mn-ea"/>
                <a:sym typeface="+mn-lt"/>
              </a:rPr>
              <a:t>2</a:t>
            </a:r>
            <a:r>
              <a:rPr kumimoji="1" lang="en-US" altLang="zh-CN" sz="2800" b="0" i="0" u="none" strike="noStrike" kern="1200" cap="none" spc="0" normalizeH="0" noProof="0" dirty="0">
                <a:ln>
                  <a:noFill/>
                </a:ln>
                <a:solidFill>
                  <a:schemeClr val="tx1"/>
                </a:solidFill>
                <a:effectLst/>
                <a:uLnTx/>
                <a:uFillTx/>
                <a:latin typeface="+mn-lt"/>
                <a:ea typeface="+mn-ea"/>
                <a:cs typeface="+mn-ea"/>
                <a:sym typeface="+mn-lt"/>
              </a:rPr>
              <a:t>) ；空间复杂度主要取决于递归时栈空间的开销，栈中元素个数不会超过树的结点数，因此空间复杂度为 O(n)。</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5.3】LeetCode 515 在每个树行中找最大值</a:t>
            </a:r>
          </a:p>
        </p:txBody>
      </p:sp>
      <p:sp>
        <p:nvSpPr>
          <p:cNvPr id="180227" name="矩形 5"/>
          <p:cNvSpPr>
            <a:spLocks noChangeArrowheads="1"/>
          </p:cNvSpPr>
          <p:nvPr/>
        </p:nvSpPr>
        <p:spPr bwMode="auto">
          <a:xfrm>
            <a:off x="0" y="1054100"/>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【问题描述】</a:t>
            </a:r>
          </a:p>
        </p:txBody>
      </p:sp>
      <p:sp>
        <p:nvSpPr>
          <p:cNvPr id="2" name="圆角矩形 1"/>
          <p:cNvSpPr/>
          <p:nvPr/>
        </p:nvSpPr>
        <p:spPr>
          <a:xfrm>
            <a:off x="431165" y="1772920"/>
            <a:ext cx="7744460" cy="974090"/>
          </a:xfrm>
          <a:prstGeom prst="roundRect">
            <a:avLst>
              <a:gd name="adj" fmla="val 6741"/>
            </a:avLst>
          </a:prstGeom>
          <a:solidFill>
            <a:srgbClr val="EAEAEA"/>
          </a:solidFill>
        </p:spPr>
        <p:txBody>
          <a:bodyPr wrap="square">
            <a:no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给定一棵根结点为 root 的二叉树，请找出该二叉</a:t>
            </a:r>
          </a:p>
          <a:p>
            <a:pPr marL="0" marR="0" lvl="0" indent="0" algn="l" defTabSz="914400" rtl="0" eaLnBrk="1" fontAlgn="base" latinLnBrk="0" hangingPunct="1">
              <a:lnSpc>
                <a:spcPct val="100000"/>
              </a:lnSpc>
              <a:spcBef>
                <a:spcPct val="0"/>
              </a:spcBef>
              <a:spcAft>
                <a:spcPct val="0"/>
              </a:spcAft>
              <a:buClrTx/>
              <a:buSzTx/>
              <a:buFontTx/>
              <a:buNone/>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树中每层的最大值。</a:t>
            </a:r>
          </a:p>
        </p:txBody>
      </p:sp>
      <p:sp>
        <p:nvSpPr>
          <p:cNvPr id="3" name="矩形 5"/>
          <p:cNvSpPr>
            <a:spLocks noChangeArrowheads="1"/>
          </p:cNvSpPr>
          <p:nvPr/>
        </p:nvSpPr>
        <p:spPr bwMode="auto">
          <a:xfrm>
            <a:off x="0" y="2928620"/>
            <a:ext cx="328104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【输入输出示例】</a:t>
            </a:r>
          </a:p>
        </p:txBody>
      </p:sp>
      <p:sp>
        <p:nvSpPr>
          <p:cNvPr id="5" name="圆角矩形 4"/>
          <p:cNvSpPr/>
          <p:nvPr/>
        </p:nvSpPr>
        <p:spPr>
          <a:xfrm>
            <a:off x="431165" y="3719195"/>
            <a:ext cx="3443605" cy="2762885"/>
          </a:xfrm>
          <a:prstGeom prst="roundRect">
            <a:avLst>
              <a:gd name="adj" fmla="val 6741"/>
            </a:avLst>
          </a:prstGeom>
          <a:solidFill>
            <a:srgbClr val="EAEAEA"/>
          </a:solidFill>
        </p:spPr>
        <p:txBody>
          <a:bodyPr wrap="square">
            <a:no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输入 : root = [1, 3, 2, 5, 3, NULL, 9]</a:t>
            </a:r>
          </a:p>
          <a:p>
            <a:pPr marL="0" marR="0" lvl="0" indent="0" algn="l" defTabSz="914400" rtl="0" eaLnBrk="1" fontAlgn="base" latinLnBrk="0" hangingPunct="1">
              <a:lnSpc>
                <a:spcPct val="100000"/>
              </a:lnSpc>
              <a:spcBef>
                <a:spcPct val="0"/>
              </a:spcBef>
              <a:spcAft>
                <a:spcPct val="0"/>
              </a:spcAft>
              <a:buClrTx/>
              <a:buSzTx/>
              <a:buFontTx/>
              <a:buNone/>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输出 : [1, 3, 9]</a:t>
            </a:r>
          </a:p>
          <a:p>
            <a:pPr marL="0" marR="0" lvl="0" indent="0" algn="l" defTabSz="914400" rtl="0" eaLnBrk="1" fontAlgn="base" latinLnBrk="0" hangingPunct="1">
              <a:lnSpc>
                <a:spcPct val="100000"/>
              </a:lnSpc>
              <a:spcBef>
                <a:spcPct val="0"/>
              </a:spcBef>
              <a:spcAft>
                <a:spcPct val="0"/>
              </a:spcAft>
              <a:buClrTx/>
              <a:buSzTx/>
              <a:buFontTx/>
              <a:buNone/>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该二叉树每行最大值</a:t>
            </a:r>
            <a:r>
              <a:rPr kumimoji="1" lang="zh-CN" b="0" i="0" u="none" strike="noStrike" kern="1200" cap="none" spc="0" normalizeH="0" baseline="0" noProof="0" dirty="0">
                <a:ln>
                  <a:noFill/>
                </a:ln>
                <a:solidFill>
                  <a:schemeClr val="tx1"/>
                </a:solidFill>
                <a:effectLst/>
                <a:uLnTx/>
                <a:uFillTx/>
                <a:latin typeface="+mn-lt"/>
                <a:ea typeface="+mn-ea"/>
                <a:cs typeface="+mn-ea"/>
                <a:sym typeface="+mn-lt"/>
              </a:rPr>
              <a:t>右</a:t>
            </a:r>
            <a:r>
              <a:rPr kumimoji="1" b="0" i="0" u="none" strike="noStrike" kern="1200" cap="none" spc="0" normalizeH="0" baseline="0" noProof="0" dirty="0">
                <a:ln>
                  <a:noFill/>
                </a:ln>
                <a:solidFill>
                  <a:schemeClr val="tx1"/>
                </a:solidFill>
                <a:effectLst/>
                <a:uLnTx/>
                <a:uFillTx/>
                <a:latin typeface="+mn-lt"/>
                <a:ea typeface="+mn-ea"/>
                <a:cs typeface="+mn-ea"/>
                <a:sym typeface="+mn-lt"/>
              </a:rPr>
              <a:t>图所示。</a:t>
            </a:r>
          </a:p>
        </p:txBody>
      </p:sp>
      <p:pic>
        <p:nvPicPr>
          <p:cNvPr id="4" name="图片 3"/>
          <p:cNvPicPr>
            <a:picLocks noChangeAspect="1"/>
          </p:cNvPicPr>
          <p:nvPr/>
        </p:nvPicPr>
        <p:blipFill>
          <a:blip r:embed="rId3"/>
          <a:stretch>
            <a:fillRect/>
          </a:stretch>
        </p:blipFill>
        <p:spPr>
          <a:xfrm>
            <a:off x="4211955" y="3852545"/>
            <a:ext cx="4226560" cy="249618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5.3】LeetCode 515 在每个树行中找最大值</a:t>
            </a:r>
          </a:p>
        </p:txBody>
      </p:sp>
      <p:sp>
        <p:nvSpPr>
          <p:cNvPr id="180227" name="矩形 5"/>
          <p:cNvSpPr>
            <a:spLocks noChangeArrowheads="1"/>
          </p:cNvSpPr>
          <p:nvPr/>
        </p:nvSpPr>
        <p:spPr bwMode="auto">
          <a:xfrm>
            <a:off x="0" y="1341120"/>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【问题分析】</a:t>
            </a:r>
          </a:p>
        </p:txBody>
      </p:sp>
      <p:sp>
        <p:nvSpPr>
          <p:cNvPr id="4" name="圆角矩形 3"/>
          <p:cNvSpPr/>
          <p:nvPr/>
        </p:nvSpPr>
        <p:spPr>
          <a:xfrm>
            <a:off x="683260" y="2277745"/>
            <a:ext cx="7640955" cy="3683652"/>
          </a:xfrm>
          <a:prstGeom prst="roundRect">
            <a:avLst>
              <a:gd name="adj" fmla="val 6741"/>
            </a:avLst>
          </a:prstGeom>
          <a:solidFill>
            <a:srgbClr val="EAEAEA"/>
          </a:solidFill>
        </p:spPr>
        <p:txBody>
          <a:bodyPr wrap="square">
            <a:spAutoFit/>
          </a:bodyPr>
          <a:lstStyle/>
          <a:p>
            <a:pPr marL="342900" marR="0" lvl="0" indent="-3429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判断二叉树是否为空</a:t>
            </a:r>
            <a:r>
              <a:rPr kumimoji="1" lang="zh-CN" b="0" i="0" u="none" strike="noStrike" kern="1200" cap="none" spc="0" normalizeH="0" baseline="0" noProof="0" dirty="0">
                <a:ln>
                  <a:noFill/>
                </a:ln>
                <a:solidFill>
                  <a:schemeClr val="tx1"/>
                </a:solidFill>
                <a:effectLst/>
                <a:uLnTx/>
                <a:uFillTx/>
                <a:latin typeface="+mn-lt"/>
                <a:ea typeface="+mn-ea"/>
                <a:cs typeface="+mn-ea"/>
                <a:sym typeface="+mn-lt"/>
              </a:rPr>
              <a:t>。</a:t>
            </a:r>
          </a:p>
          <a:p>
            <a:pPr marL="342900" marR="0" lvl="0" indent="-3429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若为空，则返回 NULL</a:t>
            </a:r>
            <a:r>
              <a:rPr kumimoji="1" lang="zh-CN" b="0" i="0" u="none" strike="noStrike" kern="1200" cap="none" spc="0" normalizeH="0" baseline="0" noProof="0" dirty="0">
                <a:ln>
                  <a:noFill/>
                </a:ln>
                <a:solidFill>
                  <a:schemeClr val="tx1"/>
                </a:solidFill>
                <a:effectLst/>
                <a:uLnTx/>
                <a:uFillTx/>
                <a:latin typeface="+mn-lt"/>
                <a:ea typeface="+mn-ea"/>
                <a:cs typeface="+mn-ea"/>
                <a:sym typeface="+mn-lt"/>
              </a:rPr>
              <a:t>。</a:t>
            </a:r>
          </a:p>
          <a:p>
            <a:pPr marL="342900" marR="0" lvl="0" indent="-3429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lang="zh-CN" b="0" i="0" u="none" strike="noStrike" kern="1200" cap="none" spc="0" normalizeH="0" baseline="0" noProof="0" dirty="0">
                <a:ln>
                  <a:noFill/>
                </a:ln>
                <a:solidFill>
                  <a:schemeClr val="tx1"/>
                </a:solidFill>
                <a:effectLst/>
                <a:uLnTx/>
                <a:uFillTx/>
                <a:latin typeface="+mn-lt"/>
                <a:ea typeface="+mn-ea"/>
                <a:cs typeface="+mn-ea"/>
                <a:sym typeface="+mn-lt"/>
              </a:rPr>
              <a:t>若不为空，</a:t>
            </a:r>
            <a:r>
              <a:rPr kumimoji="1" b="0" i="0" u="none" strike="noStrike" kern="1200" cap="none" spc="0" normalizeH="0" baseline="0" noProof="0" dirty="0">
                <a:ln>
                  <a:noFill/>
                </a:ln>
                <a:solidFill>
                  <a:schemeClr val="tx1"/>
                </a:solidFill>
                <a:effectLst/>
                <a:uLnTx/>
                <a:uFillTx/>
                <a:latin typeface="+mn-lt"/>
                <a:ea typeface="+mn-ea"/>
                <a:cs typeface="+mn-ea"/>
                <a:sym typeface="+mn-lt"/>
              </a:rPr>
              <a:t>利用先序遍历方法递归遍历二叉树，并使用变量 curHeight 标记遍历到的当前结点的高度。</a:t>
            </a:r>
          </a:p>
          <a:p>
            <a:pPr marL="342900" marR="0" lvl="0" indent="-3429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b="0" i="0" u="none" strike="noStrike" kern="1200" cap="none" spc="0" normalizeH="0" baseline="0" noProof="0" dirty="0">
                <a:ln>
                  <a:noFill/>
                </a:ln>
                <a:solidFill>
                  <a:schemeClr val="tx1"/>
                </a:solidFill>
                <a:effectLst/>
                <a:uLnTx/>
                <a:uFillTx/>
                <a:latin typeface="+mn-lt"/>
                <a:ea typeface="+mn-ea"/>
                <a:cs typeface="+mn-ea"/>
                <a:sym typeface="+mn-lt"/>
              </a:rPr>
              <a:t>若当前结点为 curHeigh 层第一个结点，则直接写入 res，否则判断是否要更新该层结点的最大值。</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5.3】LeetCode 515 在每个树行中找最大值</a:t>
            </a:r>
            <a:endParaRPr lang="en-US" altLang="zh-CN" dirty="0">
              <a:solidFill>
                <a:schemeClr val="bg1"/>
              </a:solidFill>
              <a:sym typeface="+mn-lt"/>
            </a:endParaRPr>
          </a:p>
        </p:txBody>
      </p:sp>
      <p:sp>
        <p:nvSpPr>
          <p:cNvPr id="180227" name="矩形 5"/>
          <p:cNvSpPr>
            <a:spLocks noChangeArrowheads="1"/>
          </p:cNvSpPr>
          <p:nvPr/>
        </p:nvSpPr>
        <p:spPr bwMode="auto">
          <a:xfrm>
            <a:off x="0" y="98234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【算法步骤】</a:t>
            </a:r>
          </a:p>
        </p:txBody>
      </p:sp>
      <p:sp>
        <p:nvSpPr>
          <p:cNvPr id="3" name="圆角矩形 2"/>
          <p:cNvSpPr/>
          <p:nvPr/>
        </p:nvSpPr>
        <p:spPr>
          <a:xfrm>
            <a:off x="395605" y="1630045"/>
            <a:ext cx="8398510" cy="4580797"/>
          </a:xfrm>
          <a:prstGeom prst="roundRect">
            <a:avLst>
              <a:gd name="adj" fmla="val 6741"/>
            </a:avLst>
          </a:prstGeom>
          <a:solidFill>
            <a:srgbClr val="EAEAEA"/>
          </a:solid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① 若树为空，返回 NULL。</a:t>
            </a:r>
          </a:p>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② 利用先序遍历方法递归遍历二叉树，curHeight 标记遍历到的当前结点的高度。具体实现步骤如下 ：</a:t>
            </a:r>
          </a:p>
          <a:p>
            <a:pPr marL="457200" marR="0" lvl="0" indent="-4572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当遍历到 curHeight 层第一个结点时，直接写入 res ；</a:t>
            </a:r>
          </a:p>
          <a:p>
            <a:pPr marL="457200" marR="0" lvl="0" indent="-4572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当前结点不是 curHeight 层第一个结点时，判断是否更新该层结点的最大值 ；</a:t>
            </a:r>
          </a:p>
          <a:p>
            <a:pPr marL="457200" marR="0" lvl="0" indent="-4572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递归遍历当前结点的左子树 ；</a:t>
            </a:r>
          </a:p>
          <a:p>
            <a:pPr marL="457200" marR="0" lvl="0" indent="-457200" algn="l" defTabSz="914400" rtl="0" eaLnBrk="1" fontAlgn="base" latinLnBrk="0" hangingPunct="1">
              <a:lnSpc>
                <a:spcPct val="100000"/>
              </a:lnSpc>
              <a:spcBef>
                <a:spcPct val="0"/>
              </a:spcBef>
              <a:spcAft>
                <a:spcPct val="0"/>
              </a:spcAft>
              <a:buClrTx/>
              <a:buSzTx/>
              <a:buFont typeface="Wingdings" panose="05000000000000000000" charset="0"/>
              <a:buChar char="n"/>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递归遍历当前结点的右子树。</a:t>
            </a:r>
          </a:p>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800" b="0" i="0" u="none" strike="noStrike" kern="1200" cap="none" spc="0" normalizeH="0" baseline="0" noProof="0" dirty="0">
                <a:ln>
                  <a:noFill/>
                </a:ln>
                <a:solidFill>
                  <a:schemeClr val="tx1"/>
                </a:solidFill>
                <a:effectLst/>
                <a:uLnTx/>
                <a:uFillTx/>
                <a:latin typeface="+mn-lt"/>
                <a:ea typeface="+mn-ea"/>
                <a:cs typeface="+mn-ea"/>
                <a:sym typeface="+mn-lt"/>
              </a:rPr>
              <a:t>③ 返回每层的最大值集合 res。</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5.3】LeetCode 515 在每个树行中找最大值</a:t>
            </a:r>
          </a:p>
        </p:txBody>
      </p:sp>
      <p:sp>
        <p:nvSpPr>
          <p:cNvPr id="180227" name="矩形 5"/>
          <p:cNvSpPr>
            <a:spLocks noChangeArrowheads="1"/>
          </p:cNvSpPr>
          <p:nvPr/>
        </p:nvSpPr>
        <p:spPr bwMode="auto">
          <a:xfrm>
            <a:off x="0" y="112585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【算法描述】</a:t>
            </a:r>
          </a:p>
        </p:txBody>
      </p:sp>
      <p:pic>
        <p:nvPicPr>
          <p:cNvPr id="3" name="图片 2"/>
          <p:cNvPicPr>
            <a:picLocks noChangeAspect="1"/>
          </p:cNvPicPr>
          <p:nvPr/>
        </p:nvPicPr>
        <p:blipFill>
          <a:blip r:embed="rId2"/>
          <a:stretch>
            <a:fillRect/>
          </a:stretch>
        </p:blipFill>
        <p:spPr>
          <a:xfrm>
            <a:off x="354330" y="2205355"/>
            <a:ext cx="8552815" cy="369316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5.3】LeetCode 515 在每个树行中找最大值</a:t>
            </a:r>
          </a:p>
        </p:txBody>
      </p:sp>
      <p:sp>
        <p:nvSpPr>
          <p:cNvPr id="180227" name="矩形 5"/>
          <p:cNvSpPr>
            <a:spLocks noChangeArrowheads="1"/>
          </p:cNvSpPr>
          <p:nvPr/>
        </p:nvSpPr>
        <p:spPr bwMode="auto">
          <a:xfrm>
            <a:off x="0" y="112585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【算法描述】</a:t>
            </a:r>
          </a:p>
        </p:txBody>
      </p:sp>
      <p:pic>
        <p:nvPicPr>
          <p:cNvPr id="2" name="图片 1"/>
          <p:cNvPicPr>
            <a:picLocks noChangeAspect="1"/>
          </p:cNvPicPr>
          <p:nvPr/>
        </p:nvPicPr>
        <p:blipFill>
          <a:blip r:embed="rId2"/>
          <a:stretch>
            <a:fillRect/>
          </a:stretch>
        </p:blipFill>
        <p:spPr>
          <a:xfrm>
            <a:off x="467360" y="2421255"/>
            <a:ext cx="8152765" cy="341058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9445" name="Rectangle 154"/>
          <p:cNvSpPr txBox="1"/>
          <p:nvPr/>
        </p:nvSpPr>
        <p:spPr>
          <a:xfrm>
            <a:off x="611505" y="188595"/>
            <a:ext cx="8038465" cy="609600"/>
          </a:xfrm>
          <a:prstGeom prst="rect">
            <a:avLst/>
          </a:prstGeom>
          <a:noFill/>
          <a:ln w="9525">
            <a:noFill/>
          </a:ln>
        </p:spPr>
        <p:txBody>
          <a:bodyPr anchor="ctr" anchorCtr="0"/>
          <a:lstStyle>
            <a:lvl1pPr indent="538480"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a:lnSpc>
                <a:spcPct val="100000"/>
              </a:lnSpc>
            </a:pPr>
            <a:r>
              <a:rPr lang="zh-CN" altLang="en-US" dirty="0">
                <a:solidFill>
                  <a:schemeClr val="bg1"/>
                </a:solidFill>
                <a:sym typeface="+mn-lt"/>
              </a:rPr>
              <a:t>【算法练习题 5.3】LeetCode 515 在每个树行中找最大值</a:t>
            </a:r>
          </a:p>
        </p:txBody>
      </p:sp>
      <p:sp>
        <p:nvSpPr>
          <p:cNvPr id="180227" name="矩形 5"/>
          <p:cNvSpPr>
            <a:spLocks noChangeArrowheads="1"/>
          </p:cNvSpPr>
          <p:nvPr/>
        </p:nvSpPr>
        <p:spPr bwMode="auto">
          <a:xfrm>
            <a:off x="0" y="1412875"/>
            <a:ext cx="2524125" cy="521970"/>
          </a:xfrm>
          <a:prstGeom prst="rect">
            <a:avLst/>
          </a:prstGeom>
          <a:solidFill>
            <a:srgbClr val="9476B6"/>
          </a:solidFill>
          <a:ln>
            <a:noFill/>
          </a:ln>
        </p:spPr>
        <p:txBody>
          <a:bodyPr wrap="squar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Tx/>
              <a:buSzTx/>
              <a:buFontTx/>
              <a:buNone/>
              <a:defRPr/>
            </a:pPr>
            <a:r>
              <a:rPr kumimoji="0" lang="zh-CN" altLang="en-US" sz="2800" b="0" i="0" u="none" strike="noStrike" kern="1200" cap="none" spc="0" normalizeH="0" baseline="0" noProof="0" dirty="0">
                <a:ln>
                  <a:noFill/>
                </a:ln>
                <a:solidFill>
                  <a:schemeClr val="bg1"/>
                </a:solidFill>
                <a:effectLst/>
                <a:uLnTx/>
                <a:uFillTx/>
                <a:latin typeface="+mn-lt"/>
                <a:ea typeface="+mn-ea"/>
                <a:cs typeface="+mn-ea"/>
                <a:sym typeface="+mn-lt"/>
              </a:rPr>
              <a:t>【算法分析】</a:t>
            </a:r>
          </a:p>
        </p:txBody>
      </p:sp>
      <p:sp>
        <p:nvSpPr>
          <p:cNvPr id="3" name="圆角矩形 2"/>
          <p:cNvSpPr/>
          <p:nvPr/>
        </p:nvSpPr>
        <p:spPr>
          <a:xfrm>
            <a:off x="394970" y="2638425"/>
            <a:ext cx="8398510" cy="1887506"/>
          </a:xfrm>
          <a:prstGeom prst="roundRect">
            <a:avLst>
              <a:gd name="adj" fmla="val 6741"/>
            </a:avLst>
          </a:prstGeom>
          <a:solidFill>
            <a:srgbClr val="EAEAEA"/>
          </a:solid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2800" b="0" i="0" u="none" strike="noStrike" kern="1200" cap="none" spc="0" normalizeH="0" noProof="0" dirty="0">
                <a:ln>
                  <a:noFill/>
                </a:ln>
                <a:solidFill>
                  <a:schemeClr val="tx1"/>
                </a:solidFill>
                <a:effectLst/>
                <a:uLnTx/>
                <a:uFillTx/>
                <a:latin typeface="+mn-lt"/>
                <a:ea typeface="+mn-ea"/>
                <a:cs typeface="+mn-ea"/>
                <a:sym typeface="+mn-lt"/>
              </a:rPr>
              <a:t>二叉树的每个结点会被访问一次且只会被访问一次，时间复杂度为 O(n) ；空间复杂度主要取决于递归时栈空间的开销，栈中元素个数不会超过树的结点数，因此空间复杂度为 O(n)。</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29797" name="AutoShape 5"/>
          <p:cNvSpPr/>
          <p:nvPr/>
        </p:nvSpPr>
        <p:spPr bwMode="auto">
          <a:xfrm>
            <a:off x="3419475" y="1219200"/>
            <a:ext cx="271463" cy="3517900"/>
          </a:xfrm>
          <a:prstGeom prst="leftBrace">
            <a:avLst>
              <a:gd name="adj1" fmla="val 100251"/>
              <a:gd name="adj2" fmla="val 50000"/>
            </a:avLst>
          </a:prstGeom>
          <a:noFill/>
          <a:ln w="381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29798" name="Rectangle 6"/>
          <p:cNvSpPr>
            <a:spLocks noChangeArrowheads="1"/>
          </p:cNvSpPr>
          <p:nvPr/>
        </p:nvSpPr>
        <p:spPr bwMode="auto">
          <a:xfrm>
            <a:off x="3790950" y="1079500"/>
            <a:ext cx="23828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1</a:t>
            </a: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、定义和</a:t>
            </a: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性质</a:t>
            </a:r>
          </a:p>
        </p:txBody>
      </p:sp>
      <p:sp>
        <p:nvSpPr>
          <p:cNvPr id="929799" name="Rectangle 7"/>
          <p:cNvSpPr>
            <a:spLocks noChangeArrowheads="1"/>
          </p:cNvSpPr>
          <p:nvPr/>
        </p:nvSpPr>
        <p:spPr bwMode="auto">
          <a:xfrm>
            <a:off x="3681413" y="1881188"/>
            <a:ext cx="23193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dirty="0">
                <a:ln>
                  <a:noFill/>
                </a:ln>
                <a:solidFill>
                  <a:schemeClr val="hlink"/>
                </a:solidFill>
                <a:effectLst/>
                <a:uLnTx/>
                <a:uFillTx/>
                <a:latin typeface="+mn-lt"/>
                <a:ea typeface="+mn-ea"/>
                <a:cs typeface="+mn-ea"/>
                <a:sym typeface="+mn-lt"/>
              </a:rPr>
              <a:t>2</a:t>
            </a:r>
            <a:r>
              <a:rPr kumimoji="0" lang="zh-CN" altLang="en-US" sz="2400" b="0" i="0" u="none" strike="noStrike" kern="1200" cap="none" spc="0" normalizeH="0" baseline="0" noProof="0" dirty="0">
                <a:ln>
                  <a:noFill/>
                </a:ln>
                <a:solidFill>
                  <a:schemeClr val="hlink"/>
                </a:solidFill>
                <a:effectLst/>
                <a:uLnTx/>
                <a:uFillTx/>
                <a:latin typeface="+mn-lt"/>
                <a:ea typeface="+mn-ea"/>
                <a:cs typeface="+mn-ea"/>
                <a:sym typeface="+mn-lt"/>
              </a:rPr>
              <a:t>、存储结构</a:t>
            </a:r>
          </a:p>
        </p:txBody>
      </p:sp>
      <p:sp>
        <p:nvSpPr>
          <p:cNvPr id="929800" name="Rectangle 8"/>
          <p:cNvSpPr>
            <a:spLocks noChangeArrowheads="1"/>
          </p:cNvSpPr>
          <p:nvPr/>
        </p:nvSpPr>
        <p:spPr bwMode="auto">
          <a:xfrm>
            <a:off x="3776663" y="3379788"/>
            <a:ext cx="1566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hlink"/>
                </a:solidFill>
                <a:effectLst/>
                <a:uLnTx/>
                <a:uFillTx/>
                <a:latin typeface="+mn-lt"/>
                <a:ea typeface="+mn-ea"/>
                <a:cs typeface="+mn-ea"/>
                <a:sym typeface="+mn-lt"/>
              </a:rPr>
              <a:t>3</a:t>
            </a:r>
            <a:r>
              <a:rPr kumimoji="0" lang="zh-CN" altLang="en-US" sz="2400" b="0" i="0" u="none" strike="noStrike" kern="1200" cap="none" spc="0" normalizeH="0" baseline="0" noProof="0">
                <a:ln>
                  <a:noFill/>
                </a:ln>
                <a:solidFill>
                  <a:schemeClr val="hlink"/>
                </a:solidFill>
                <a:effectLst/>
                <a:uLnTx/>
                <a:uFillTx/>
                <a:latin typeface="+mn-lt"/>
                <a:ea typeface="+mn-ea"/>
                <a:cs typeface="+mn-ea"/>
                <a:sym typeface="+mn-lt"/>
              </a:rPr>
              <a:t>、</a:t>
            </a:r>
            <a:r>
              <a:rPr kumimoji="0" lang="zh-CN" altLang="en-US" sz="2400" b="0" i="0" u="none" strike="noStrike" kern="1200" cap="none" spc="0" normalizeH="0" baseline="0" noProof="0">
                <a:ln>
                  <a:noFill/>
                </a:ln>
                <a:solidFill>
                  <a:srgbClr val="FF3300"/>
                </a:solidFill>
                <a:effectLst/>
                <a:uLnTx/>
                <a:uFillTx/>
                <a:latin typeface="+mn-lt"/>
                <a:ea typeface="+mn-ea"/>
                <a:cs typeface="+mn-ea"/>
                <a:sym typeface="+mn-lt"/>
              </a:rPr>
              <a:t>遍历</a:t>
            </a:r>
          </a:p>
        </p:txBody>
      </p:sp>
      <p:sp>
        <p:nvSpPr>
          <p:cNvPr id="929801" name="Rectangle 9"/>
          <p:cNvSpPr>
            <a:spLocks noChangeArrowheads="1"/>
          </p:cNvSpPr>
          <p:nvPr/>
        </p:nvSpPr>
        <p:spPr bwMode="auto">
          <a:xfrm>
            <a:off x="3783013" y="4484688"/>
            <a:ext cx="30083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en-US" altLang="zh-CN" sz="2400" b="0" i="0" u="none" strike="noStrike" kern="1200" cap="none" spc="0" normalizeH="0" baseline="0" noProof="0">
                <a:ln>
                  <a:noFill/>
                </a:ln>
                <a:solidFill>
                  <a:schemeClr val="hlink"/>
                </a:solidFill>
                <a:effectLst/>
                <a:uLnTx/>
                <a:uFillTx/>
                <a:latin typeface="+mn-lt"/>
                <a:ea typeface="+mn-ea"/>
                <a:cs typeface="+mn-ea"/>
                <a:sym typeface="+mn-lt"/>
              </a:rPr>
              <a:t>4</a:t>
            </a:r>
            <a:r>
              <a:rPr kumimoji="0" lang="zh-CN" altLang="en-US" sz="2400" b="0" i="0" u="none" strike="noStrike" kern="1200" cap="none" spc="0" normalizeH="0" baseline="0" noProof="0">
                <a:ln>
                  <a:noFill/>
                </a:ln>
                <a:solidFill>
                  <a:schemeClr val="hlink"/>
                </a:solidFill>
                <a:effectLst/>
                <a:uLnTx/>
                <a:uFillTx/>
                <a:latin typeface="+mn-lt"/>
                <a:ea typeface="+mn-ea"/>
                <a:cs typeface="+mn-ea"/>
                <a:sym typeface="+mn-lt"/>
              </a:rPr>
              <a:t>、线索化：线索树</a:t>
            </a:r>
          </a:p>
        </p:txBody>
      </p:sp>
      <p:grpSp>
        <p:nvGrpSpPr>
          <p:cNvPr id="2" name="Group 10"/>
          <p:cNvGrpSpPr/>
          <p:nvPr/>
        </p:nvGrpSpPr>
        <p:grpSpPr>
          <a:xfrm>
            <a:off x="5673725" y="1628775"/>
            <a:ext cx="1622425" cy="1057275"/>
            <a:chOff x="3896" y="1609"/>
            <a:chExt cx="838" cy="666"/>
          </a:xfrm>
        </p:grpSpPr>
        <p:sp>
          <p:nvSpPr>
            <p:cNvPr id="110600" name="AutoShape 11"/>
            <p:cNvSpPr/>
            <p:nvPr/>
          </p:nvSpPr>
          <p:spPr bwMode="auto">
            <a:xfrm>
              <a:off x="3896" y="1696"/>
              <a:ext cx="184" cy="472"/>
            </a:xfrm>
            <a:prstGeom prst="leftBrace">
              <a:avLst>
                <a:gd name="adj1" fmla="val 21353"/>
                <a:gd name="adj2" fmla="val 50000"/>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601" name="Rectangle 12"/>
            <p:cNvSpPr>
              <a:spLocks noChangeArrowheads="1"/>
            </p:cNvSpPr>
            <p:nvPr/>
          </p:nvSpPr>
          <p:spPr bwMode="auto">
            <a:xfrm>
              <a:off x="4095" y="1609"/>
              <a:ext cx="62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hlink"/>
                  </a:solidFill>
                  <a:effectLst/>
                  <a:uLnTx/>
                  <a:uFillTx/>
                  <a:latin typeface="+mn-lt"/>
                  <a:ea typeface="+mn-ea"/>
                  <a:cs typeface="+mn-ea"/>
                  <a:sym typeface="+mn-lt"/>
                </a:rPr>
                <a:t>顺序结构</a:t>
              </a:r>
            </a:p>
          </p:txBody>
        </p:sp>
        <p:sp>
          <p:nvSpPr>
            <p:cNvPr id="110602" name="Rectangle 13"/>
            <p:cNvSpPr>
              <a:spLocks noChangeArrowheads="1"/>
            </p:cNvSpPr>
            <p:nvPr/>
          </p:nvSpPr>
          <p:spPr bwMode="auto">
            <a:xfrm>
              <a:off x="4111" y="2025"/>
              <a:ext cx="62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0" i="0" u="none" strike="noStrike" kern="1200" cap="none" spc="0" normalizeH="0" baseline="0" noProof="0" dirty="0">
                  <a:ln>
                    <a:noFill/>
                  </a:ln>
                  <a:solidFill>
                    <a:schemeClr val="hlink"/>
                  </a:solidFill>
                  <a:effectLst/>
                  <a:uLnTx/>
                  <a:uFillTx/>
                  <a:latin typeface="+mn-lt"/>
                  <a:ea typeface="+mn-ea"/>
                  <a:cs typeface="+mn-ea"/>
                  <a:sym typeface="+mn-lt"/>
                </a:rPr>
                <a:t>链式结构</a:t>
              </a:r>
            </a:p>
          </p:txBody>
        </p:sp>
      </p:grpSp>
      <p:grpSp>
        <p:nvGrpSpPr>
          <p:cNvPr id="3" name="Group 14"/>
          <p:cNvGrpSpPr/>
          <p:nvPr/>
        </p:nvGrpSpPr>
        <p:grpSpPr>
          <a:xfrm>
            <a:off x="7185025" y="2073275"/>
            <a:ext cx="1635125" cy="811213"/>
            <a:chOff x="4768" y="1889"/>
            <a:chExt cx="699" cy="511"/>
          </a:xfrm>
        </p:grpSpPr>
        <p:sp>
          <p:nvSpPr>
            <p:cNvPr id="110604" name="AutoShape 15"/>
            <p:cNvSpPr/>
            <p:nvPr/>
          </p:nvSpPr>
          <p:spPr bwMode="auto">
            <a:xfrm>
              <a:off x="4768" y="1984"/>
              <a:ext cx="184" cy="344"/>
            </a:xfrm>
            <a:prstGeom prst="leftBrace">
              <a:avLst>
                <a:gd name="adj1" fmla="val 15562"/>
                <a:gd name="adj2" fmla="val 50000"/>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605" name="Rectangle 16"/>
            <p:cNvSpPr>
              <a:spLocks noChangeArrowheads="1"/>
            </p:cNvSpPr>
            <p:nvPr/>
          </p:nvSpPr>
          <p:spPr bwMode="auto">
            <a:xfrm>
              <a:off x="4995" y="1889"/>
              <a:ext cx="47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1800" b="0" i="0" u="none" strike="noStrike" kern="1200" cap="none" spc="0" normalizeH="0" baseline="0" noProof="0" dirty="0">
                  <a:ln>
                    <a:noFill/>
                  </a:ln>
                  <a:solidFill>
                    <a:srgbClr val="FF3300"/>
                  </a:solidFill>
                  <a:effectLst/>
                  <a:uLnTx/>
                  <a:uFillTx/>
                  <a:latin typeface="+mn-lt"/>
                  <a:ea typeface="+mn-ea"/>
                  <a:cs typeface="+mn-ea"/>
                  <a:sym typeface="+mn-lt"/>
                </a:rPr>
                <a:t>二叉链表</a:t>
              </a:r>
            </a:p>
          </p:txBody>
        </p:sp>
        <p:sp>
          <p:nvSpPr>
            <p:cNvPr id="110606" name="Rectangle 17"/>
            <p:cNvSpPr>
              <a:spLocks noChangeArrowheads="1"/>
            </p:cNvSpPr>
            <p:nvPr/>
          </p:nvSpPr>
          <p:spPr bwMode="auto">
            <a:xfrm>
              <a:off x="4995" y="2169"/>
              <a:ext cx="47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1800" b="0" i="0" u="none" strike="noStrike" kern="1200" cap="none" spc="0" normalizeH="0" baseline="0" noProof="0" dirty="0">
                  <a:ln>
                    <a:noFill/>
                  </a:ln>
                  <a:solidFill>
                    <a:schemeClr val="hlink"/>
                  </a:solidFill>
                  <a:effectLst/>
                  <a:uLnTx/>
                  <a:uFillTx/>
                  <a:latin typeface="+mn-lt"/>
                  <a:ea typeface="+mn-ea"/>
                  <a:cs typeface="+mn-ea"/>
                  <a:sym typeface="+mn-lt"/>
                </a:rPr>
                <a:t>三叉链表</a:t>
              </a:r>
            </a:p>
          </p:txBody>
        </p:sp>
      </p:grpSp>
      <p:grpSp>
        <p:nvGrpSpPr>
          <p:cNvPr id="4" name="Group 23"/>
          <p:cNvGrpSpPr/>
          <p:nvPr/>
        </p:nvGrpSpPr>
        <p:grpSpPr>
          <a:xfrm>
            <a:off x="554038" y="1422400"/>
            <a:ext cx="2763837" cy="2032000"/>
            <a:chOff x="920" y="1416"/>
            <a:chExt cx="1600" cy="1280"/>
          </a:xfrm>
        </p:grpSpPr>
        <p:sp>
          <p:nvSpPr>
            <p:cNvPr id="110608" name="Oval 24"/>
            <p:cNvSpPr>
              <a:spLocks noChangeArrowheads="1"/>
            </p:cNvSpPr>
            <p:nvPr/>
          </p:nvSpPr>
          <p:spPr bwMode="auto">
            <a:xfrm>
              <a:off x="1400" y="1416"/>
              <a:ext cx="505" cy="504"/>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1" i="0" u="none" strike="noStrike" kern="1200" cap="none" spc="0" normalizeH="0" baseline="0" noProof="0" dirty="0">
                  <a:ln>
                    <a:noFill/>
                  </a:ln>
                  <a:solidFill>
                    <a:schemeClr val="bg1"/>
                  </a:solidFill>
                  <a:effectLst/>
                  <a:uLnTx/>
                  <a:uFillTx/>
                  <a:latin typeface="+mn-lt"/>
                  <a:ea typeface="+mn-ea"/>
                  <a:cs typeface="+mn-ea"/>
                  <a:sym typeface="+mn-lt"/>
                </a:rPr>
                <a:t>树</a:t>
              </a:r>
            </a:p>
          </p:txBody>
        </p:sp>
        <p:sp>
          <p:nvSpPr>
            <p:cNvPr id="110609" name="Oval 25"/>
            <p:cNvSpPr>
              <a:spLocks noChangeArrowheads="1"/>
            </p:cNvSpPr>
            <p:nvPr/>
          </p:nvSpPr>
          <p:spPr bwMode="auto">
            <a:xfrm>
              <a:off x="2016" y="2160"/>
              <a:ext cx="504" cy="496"/>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1800" b="1" i="0" u="none" strike="noStrike" kern="1200" cap="none" spc="0" normalizeH="0" baseline="0" noProof="0" dirty="0">
                  <a:ln>
                    <a:noFill/>
                  </a:ln>
                  <a:solidFill>
                    <a:schemeClr val="bg1"/>
                  </a:solidFill>
                  <a:effectLst/>
                  <a:uLnTx/>
                  <a:uFillTx/>
                  <a:latin typeface="+mn-lt"/>
                  <a:ea typeface="+mn-ea"/>
                  <a:cs typeface="+mn-ea"/>
                  <a:sym typeface="+mn-lt"/>
                </a:rPr>
                <a:t>二叉树</a:t>
              </a:r>
            </a:p>
          </p:txBody>
        </p:sp>
        <p:sp>
          <p:nvSpPr>
            <p:cNvPr id="110610" name="Oval 26"/>
            <p:cNvSpPr>
              <a:spLocks noChangeArrowheads="1"/>
            </p:cNvSpPr>
            <p:nvPr/>
          </p:nvSpPr>
          <p:spPr bwMode="auto">
            <a:xfrm>
              <a:off x="920" y="2192"/>
              <a:ext cx="512" cy="504"/>
            </a:xfrm>
            <a:prstGeom prst="ellipse">
              <a:avLst/>
            </a:prstGeom>
            <a:solidFill>
              <a:schemeClr val="accent1"/>
            </a:solidFill>
            <a:ln w="9525">
              <a:solidFill>
                <a:schemeClr val="tx1"/>
              </a:solidFill>
              <a:round/>
            </a:ln>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1" i="0" u="none" strike="noStrike" kern="1200" cap="none" spc="0" normalizeH="0" baseline="0" noProof="0" dirty="0">
                  <a:ln>
                    <a:noFill/>
                  </a:ln>
                  <a:solidFill>
                    <a:schemeClr val="bg1"/>
                  </a:solidFill>
                  <a:effectLst/>
                  <a:uLnTx/>
                  <a:uFillTx/>
                  <a:latin typeface="+mn-lt"/>
                  <a:ea typeface="+mn-ea"/>
                  <a:cs typeface="+mn-ea"/>
                  <a:sym typeface="+mn-lt"/>
                </a:rPr>
                <a:t>森林</a:t>
              </a:r>
            </a:p>
          </p:txBody>
        </p:sp>
        <p:sp>
          <p:nvSpPr>
            <p:cNvPr id="110611" name="Line 27"/>
            <p:cNvSpPr>
              <a:spLocks noChangeShapeType="1"/>
            </p:cNvSpPr>
            <p:nvPr/>
          </p:nvSpPr>
          <p:spPr bwMode="auto">
            <a:xfrm>
              <a:off x="1840" y="1856"/>
              <a:ext cx="256" cy="312"/>
            </a:xfrm>
            <a:prstGeom prst="line">
              <a:avLst/>
            </a:prstGeom>
            <a:noFill/>
            <a:ln w="381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612" name="Line 28"/>
            <p:cNvSpPr>
              <a:spLocks noChangeShapeType="1"/>
            </p:cNvSpPr>
            <p:nvPr/>
          </p:nvSpPr>
          <p:spPr bwMode="auto">
            <a:xfrm flipH="1">
              <a:off x="1312" y="1904"/>
              <a:ext cx="232" cy="296"/>
            </a:xfrm>
            <a:prstGeom prst="line">
              <a:avLst/>
            </a:prstGeom>
            <a:noFill/>
            <a:ln w="381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613" name="Line 29"/>
            <p:cNvSpPr>
              <a:spLocks noChangeShapeType="1"/>
            </p:cNvSpPr>
            <p:nvPr/>
          </p:nvSpPr>
          <p:spPr bwMode="auto">
            <a:xfrm flipV="1">
              <a:off x="1504" y="2440"/>
              <a:ext cx="448" cy="0"/>
            </a:xfrm>
            <a:prstGeom prst="line">
              <a:avLst/>
            </a:prstGeom>
            <a:noFill/>
            <a:ln w="381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grpSp>
      <p:grpSp>
        <p:nvGrpSpPr>
          <p:cNvPr id="5" name="Group 30"/>
          <p:cNvGrpSpPr/>
          <p:nvPr/>
        </p:nvGrpSpPr>
        <p:grpSpPr>
          <a:xfrm>
            <a:off x="5124450" y="2911475"/>
            <a:ext cx="1590675" cy="1412875"/>
            <a:chOff x="3488" y="2297"/>
            <a:chExt cx="824" cy="890"/>
          </a:xfrm>
        </p:grpSpPr>
        <p:sp>
          <p:nvSpPr>
            <p:cNvPr id="110615" name="AutoShape 31"/>
            <p:cNvSpPr/>
            <p:nvPr/>
          </p:nvSpPr>
          <p:spPr bwMode="auto">
            <a:xfrm>
              <a:off x="3488" y="2384"/>
              <a:ext cx="184" cy="744"/>
            </a:xfrm>
            <a:prstGeom prst="leftBrace">
              <a:avLst>
                <a:gd name="adj1" fmla="val 33658"/>
                <a:gd name="adj2" fmla="val 50000"/>
              </a:avLst>
            </a:prstGeom>
            <a:noFill/>
            <a:ln w="2857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zh-CN" altLang="en-US" sz="2800" b="0"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616" name="Rectangle 32"/>
            <p:cNvSpPr>
              <a:spLocks noChangeArrowheads="1"/>
            </p:cNvSpPr>
            <p:nvPr/>
          </p:nvSpPr>
          <p:spPr bwMode="auto">
            <a:xfrm>
              <a:off x="3686" y="2609"/>
              <a:ext cx="62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0" i="0" u="none" strike="noStrike" kern="1200" cap="none" spc="0" normalizeH="0" baseline="0" noProof="0">
                  <a:ln>
                    <a:noFill/>
                  </a:ln>
                  <a:solidFill>
                    <a:schemeClr val="hlink"/>
                  </a:solidFill>
                  <a:effectLst/>
                  <a:uLnTx/>
                  <a:uFillTx/>
                  <a:latin typeface="+mn-lt"/>
                  <a:ea typeface="+mn-ea"/>
                  <a:cs typeface="+mn-ea"/>
                  <a:sym typeface="+mn-lt"/>
                </a:rPr>
                <a:t>中序遍历</a:t>
              </a:r>
            </a:p>
          </p:txBody>
        </p:sp>
        <p:sp>
          <p:nvSpPr>
            <p:cNvPr id="110617" name="Rectangle 33"/>
            <p:cNvSpPr>
              <a:spLocks noChangeArrowheads="1"/>
            </p:cNvSpPr>
            <p:nvPr/>
          </p:nvSpPr>
          <p:spPr bwMode="auto">
            <a:xfrm>
              <a:off x="3686" y="2937"/>
              <a:ext cx="62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0" i="0" u="none" strike="noStrike" kern="1200" cap="none" spc="0" normalizeH="0" baseline="0" noProof="0">
                  <a:ln>
                    <a:noFill/>
                  </a:ln>
                  <a:solidFill>
                    <a:schemeClr val="hlink"/>
                  </a:solidFill>
                  <a:effectLst/>
                  <a:uLnTx/>
                  <a:uFillTx/>
                  <a:latin typeface="+mn-lt"/>
                  <a:ea typeface="+mn-ea"/>
                  <a:cs typeface="+mn-ea"/>
                  <a:sym typeface="+mn-lt"/>
                </a:rPr>
                <a:t>后序遍历</a:t>
              </a:r>
            </a:p>
          </p:txBody>
        </p:sp>
        <p:sp>
          <p:nvSpPr>
            <p:cNvPr id="110618" name="Rectangle 34"/>
            <p:cNvSpPr>
              <a:spLocks noChangeArrowheads="1"/>
            </p:cNvSpPr>
            <p:nvPr/>
          </p:nvSpPr>
          <p:spPr bwMode="auto">
            <a:xfrm>
              <a:off x="3686" y="2297"/>
              <a:ext cx="62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000" b="0" i="0" u="none" strike="noStrike" kern="1200" cap="none" spc="0" normalizeH="0" baseline="0" noProof="0">
                  <a:ln>
                    <a:noFill/>
                  </a:ln>
                  <a:solidFill>
                    <a:schemeClr val="hlink"/>
                  </a:solidFill>
                  <a:effectLst/>
                  <a:uLnTx/>
                  <a:uFillTx/>
                  <a:latin typeface="+mn-lt"/>
                  <a:ea typeface="+mn-ea"/>
                  <a:cs typeface="+mn-ea"/>
                  <a:sym typeface="+mn-lt"/>
                </a:rPr>
                <a:t>先序遍历</a:t>
              </a:r>
            </a:p>
          </p:txBody>
        </p:sp>
      </p:grpSp>
      <p:grpSp>
        <p:nvGrpSpPr>
          <p:cNvPr id="6" name="Group 35"/>
          <p:cNvGrpSpPr/>
          <p:nvPr/>
        </p:nvGrpSpPr>
        <p:grpSpPr>
          <a:xfrm>
            <a:off x="2284413" y="3454400"/>
            <a:ext cx="1419225" cy="1978025"/>
            <a:chOff x="1886" y="2696"/>
            <a:chExt cx="741" cy="1246"/>
          </a:xfrm>
        </p:grpSpPr>
        <p:sp>
          <p:nvSpPr>
            <p:cNvPr id="110620" name="Line 36"/>
            <p:cNvSpPr>
              <a:spLocks noChangeShapeType="1"/>
            </p:cNvSpPr>
            <p:nvPr/>
          </p:nvSpPr>
          <p:spPr bwMode="auto">
            <a:xfrm>
              <a:off x="2248" y="2696"/>
              <a:ext cx="0" cy="936"/>
            </a:xfrm>
            <a:prstGeom prst="line">
              <a:avLst/>
            </a:prstGeom>
            <a:noFill/>
            <a:ln w="38100">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110621" name="Rectangle 37"/>
            <p:cNvSpPr>
              <a:spLocks noChangeArrowheads="1"/>
            </p:cNvSpPr>
            <p:nvPr/>
          </p:nvSpPr>
          <p:spPr bwMode="auto">
            <a:xfrm>
              <a:off x="1886" y="3648"/>
              <a:ext cx="741" cy="294"/>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哈夫曼树</a:t>
              </a:r>
            </a:p>
          </p:txBody>
        </p:sp>
      </p:grpSp>
      <p:sp>
        <p:nvSpPr>
          <p:cNvPr id="929830" name="Line 38"/>
          <p:cNvSpPr>
            <a:spLocks noChangeShapeType="1"/>
          </p:cNvSpPr>
          <p:nvPr/>
        </p:nvSpPr>
        <p:spPr bwMode="auto">
          <a:xfrm>
            <a:off x="2992438" y="5448300"/>
            <a:ext cx="0" cy="533400"/>
          </a:xfrm>
          <a:prstGeom prst="line">
            <a:avLst/>
          </a:prstGeom>
          <a:noFill/>
          <a:ln w="38100">
            <a:solidFill>
              <a:schemeClr val="tx1"/>
            </a:solidFill>
            <a:rou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base" latinLnBrk="0" hangingPunct="1">
              <a:lnSpc>
                <a:spcPct val="100000"/>
              </a:lnSpc>
              <a:spcBef>
                <a:spcPct val="20000"/>
              </a:spcBef>
              <a:spcAft>
                <a:spcPct val="0"/>
              </a:spcAft>
              <a:buClrTx/>
              <a:buSzTx/>
              <a:buFont typeface="Arial" panose="020B0604020202020204" pitchFamily="34" charset="0"/>
              <a:buNone/>
              <a:defRPr/>
            </a:pPr>
            <a:endParaRPr kumimoji="0" lang="zh-CN" altLang="en-US" sz="2800" b="1" i="0" u="none" strike="noStrike" kern="1200" cap="none" spc="0" normalizeH="0" baseline="0" noProof="0">
              <a:ln>
                <a:noFill/>
              </a:ln>
              <a:solidFill>
                <a:schemeClr val="tx1"/>
              </a:solidFill>
              <a:effectLst/>
              <a:uLnTx/>
              <a:uFillTx/>
              <a:latin typeface="+mn-lt"/>
              <a:ea typeface="+mn-ea"/>
              <a:cs typeface="+mn-ea"/>
              <a:sym typeface="+mn-lt"/>
            </a:endParaRPr>
          </a:p>
        </p:txBody>
      </p:sp>
      <p:sp>
        <p:nvSpPr>
          <p:cNvPr id="929831" name="Rectangle 39"/>
          <p:cNvSpPr>
            <a:spLocks noChangeArrowheads="1"/>
          </p:cNvSpPr>
          <p:nvPr/>
        </p:nvSpPr>
        <p:spPr bwMode="auto">
          <a:xfrm>
            <a:off x="2124075" y="5981700"/>
            <a:ext cx="1725613" cy="466725"/>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spAutoFit/>
          </a:bodyPr>
          <a:lstStyle>
            <a:lvl1pPr>
              <a:defRPr sz="2800" b="1">
                <a:solidFill>
                  <a:schemeClr val="tx1"/>
                </a:solidFill>
                <a:latin typeface="Times New Roman" panose="02020603050405020304" pitchFamily="18" charset="0"/>
                <a:ea typeface="仿宋_GB2312" pitchFamily="49" charset="-122"/>
              </a:defRPr>
            </a:lvl1pPr>
            <a:lvl2pPr>
              <a:defRPr sz="2800" b="1">
                <a:solidFill>
                  <a:schemeClr val="tx1"/>
                </a:solidFill>
                <a:latin typeface="Times New Roman" panose="02020603050405020304" pitchFamily="18" charset="0"/>
                <a:ea typeface="仿宋_GB2312" pitchFamily="49" charset="-122"/>
              </a:defRPr>
            </a:lvl2pPr>
            <a:lvl3pPr>
              <a:defRPr sz="2800" b="1">
                <a:solidFill>
                  <a:schemeClr val="tx1"/>
                </a:solidFill>
                <a:latin typeface="Times New Roman" panose="02020603050405020304" pitchFamily="18" charset="0"/>
                <a:ea typeface="仿宋_GB2312" pitchFamily="49" charset="-122"/>
              </a:defRPr>
            </a:lvl3pPr>
            <a:lvl4pPr>
              <a:defRPr sz="2800" b="1">
                <a:solidFill>
                  <a:schemeClr val="tx1"/>
                </a:solidFill>
                <a:latin typeface="Times New Roman" panose="02020603050405020304" pitchFamily="18" charset="0"/>
                <a:ea typeface="仿宋_GB2312" pitchFamily="49" charset="-122"/>
              </a:defRPr>
            </a:lvl4pPr>
            <a:lvl5pPr>
              <a:defRPr sz="2800" b="1">
                <a:solidFill>
                  <a:schemeClr val="tx1"/>
                </a:solidFill>
                <a:latin typeface="Times New Roman" panose="02020603050405020304" pitchFamily="18" charset="0"/>
                <a:ea typeface="仿宋_GB2312" pitchFamily="49"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仿宋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defRPr/>
            </a:pPr>
            <a:r>
              <a:rPr kumimoji="0" lang="zh-CN" altLang="en-US" sz="2400" b="0" i="0" u="none" strike="noStrike" kern="1200" cap="none" spc="0" normalizeH="0" baseline="0" noProof="0" dirty="0">
                <a:ln>
                  <a:noFill/>
                </a:ln>
                <a:solidFill>
                  <a:srgbClr val="FF3300"/>
                </a:solidFill>
                <a:effectLst/>
                <a:uLnTx/>
                <a:uFillTx/>
                <a:latin typeface="+mn-lt"/>
                <a:ea typeface="+mn-ea"/>
                <a:cs typeface="+mn-ea"/>
                <a:sym typeface="+mn-lt"/>
              </a:rPr>
              <a:t>哈夫曼编码</a:t>
            </a:r>
          </a:p>
        </p:txBody>
      </p:sp>
      <p:sp>
        <p:nvSpPr>
          <p:cNvPr id="929833" name="Comment 41"/>
          <p:cNvSpPr>
            <a:spLocks noChangeArrowheads="1"/>
          </p:cNvSpPr>
          <p:nvPr/>
        </p:nvSpPr>
        <p:spPr bwMode="auto">
          <a:xfrm>
            <a:off x="900113" y="215900"/>
            <a:ext cx="16764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小结</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3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ox(ou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929797"/>
                                        </p:tgtEl>
                                        <p:attrNameLst>
                                          <p:attrName>style.visibility</p:attrName>
                                        </p:attrNameLst>
                                      </p:cBhvr>
                                      <p:to>
                                        <p:strVal val="visible"/>
                                      </p:to>
                                    </p:set>
                                    <p:animEffect transition="in" filter="wipe(up)">
                                      <p:cBhvr>
                                        <p:cTn id="12" dur="500"/>
                                        <p:tgtEl>
                                          <p:spTgt spid="929797"/>
                                        </p:tgtEl>
                                      </p:cBhvr>
                                    </p:animEffect>
                                  </p:childTnLst>
                                </p:cTn>
                              </p:par>
                            </p:childTnLst>
                          </p:cTn>
                        </p:par>
                        <p:par>
                          <p:cTn id="13" fill="hold">
                            <p:stCondLst>
                              <p:cond delay="500"/>
                            </p:stCondLst>
                            <p:childTnLst>
                              <p:par>
                                <p:cTn id="14" presetID="1" presetClass="entr" presetSubtype="0" fill="hold" grpId="0" nodeType="afterEffect">
                                  <p:stCondLst>
                                    <p:cond delay="0"/>
                                  </p:stCondLst>
                                  <p:childTnLst>
                                    <p:set>
                                      <p:cBhvr>
                                        <p:cTn id="15" dur="1" fill="hold">
                                          <p:stCondLst>
                                            <p:cond delay="499"/>
                                          </p:stCondLst>
                                        </p:cTn>
                                        <p:tgtEl>
                                          <p:spTgt spid="929798"/>
                                        </p:tgtEl>
                                        <p:attrNameLst>
                                          <p:attrName>style.visibility</p:attrName>
                                        </p:attrNameLst>
                                      </p:cBhvr>
                                      <p:to>
                                        <p:strVal val="visible"/>
                                      </p:to>
                                    </p:se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499"/>
                                          </p:stCondLst>
                                        </p:cTn>
                                        <p:tgtEl>
                                          <p:spTgt spid="929799"/>
                                        </p:tgtEl>
                                        <p:attrNameLst>
                                          <p:attrName>style.visibility</p:attrName>
                                        </p:attrNameLst>
                                      </p:cBhvr>
                                      <p:to>
                                        <p:strVal val="visible"/>
                                      </p:to>
                                    </p:set>
                                  </p:childTnLst>
                                </p:cTn>
                              </p:par>
                            </p:childTnLst>
                          </p:cTn>
                        </p:par>
                        <p:par>
                          <p:cTn id="19" fill="hold">
                            <p:stCondLst>
                              <p:cond delay="1500"/>
                            </p:stCondLst>
                            <p:childTnLst>
                              <p:par>
                                <p:cTn id="20" presetID="1" presetClass="entr" presetSubtype="0" fill="hold" grpId="0" nodeType="afterEffect">
                                  <p:stCondLst>
                                    <p:cond delay="0"/>
                                  </p:stCondLst>
                                  <p:childTnLst>
                                    <p:set>
                                      <p:cBhvr>
                                        <p:cTn id="21" dur="1" fill="hold">
                                          <p:stCondLst>
                                            <p:cond delay="499"/>
                                          </p:stCondLst>
                                        </p:cTn>
                                        <p:tgtEl>
                                          <p:spTgt spid="929800"/>
                                        </p:tgtEl>
                                        <p:attrNameLst>
                                          <p:attrName>style.visibility</p:attrName>
                                        </p:attrNameLst>
                                      </p:cBhvr>
                                      <p:to>
                                        <p:strVal val="visible"/>
                                      </p:to>
                                    </p:set>
                                  </p:childTnLst>
                                </p:cTn>
                              </p:par>
                            </p:childTnLst>
                          </p:cTn>
                        </p:par>
                        <p:par>
                          <p:cTn id="22" fill="hold">
                            <p:stCondLst>
                              <p:cond delay="2000"/>
                            </p:stCondLst>
                            <p:childTnLst>
                              <p:par>
                                <p:cTn id="23" presetID="1" presetClass="entr" presetSubtype="0" fill="hold" grpId="0" nodeType="afterEffect">
                                  <p:stCondLst>
                                    <p:cond delay="0"/>
                                  </p:stCondLst>
                                  <p:childTnLst>
                                    <p:set>
                                      <p:cBhvr>
                                        <p:cTn id="24" dur="1" fill="hold">
                                          <p:stCondLst>
                                            <p:cond delay="499"/>
                                          </p:stCondLst>
                                        </p:cTn>
                                        <p:tgtEl>
                                          <p:spTgt spid="92980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2" presetClass="entr" presetSubtype="1" fill="hold" nodeType="clickEffect">
                                  <p:stCondLst>
                                    <p:cond delay="0"/>
                                  </p:stCondLst>
                                  <p:childTnLst>
                                    <p:set>
                                      <p:cBhvr>
                                        <p:cTn id="28" dur="1" fill="hold">
                                          <p:stCondLst>
                                            <p:cond delay="0"/>
                                          </p:stCondLst>
                                        </p:cTn>
                                        <p:tgtEl>
                                          <p:spTgt spid="2"/>
                                        </p:tgtEl>
                                        <p:attrNameLst>
                                          <p:attrName>style.visibility</p:attrName>
                                        </p:attrNameLst>
                                      </p:cBhvr>
                                      <p:to>
                                        <p:strVal val="visible"/>
                                      </p:to>
                                    </p:set>
                                    <p:animEffect transition="in" filter="wipe(up)">
                                      <p:cBhvr>
                                        <p:cTn id="29" dur="500"/>
                                        <p:tgtEl>
                                          <p:spTgt spid="2"/>
                                        </p:tgtEl>
                                      </p:cBhvr>
                                    </p:animEffect>
                                  </p:childTnLst>
                                </p:cTn>
                              </p:par>
                            </p:childTnLst>
                          </p:cTn>
                        </p:par>
                        <p:par>
                          <p:cTn id="30" fill="hold">
                            <p:stCondLst>
                              <p:cond delay="500"/>
                            </p:stCondLst>
                            <p:childTnLst>
                              <p:par>
                                <p:cTn id="31" presetID="22" presetClass="entr" presetSubtype="1" fill="hold" nodeType="after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wipe(up)">
                                      <p:cBhvr>
                                        <p:cTn id="33" dur="500"/>
                                        <p:tgtEl>
                                          <p:spTgt spid="3"/>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1" fill="hold" nodeType="clickEffect">
                                  <p:stCondLst>
                                    <p:cond delay="0"/>
                                  </p:stCondLst>
                                  <p:childTnLst>
                                    <p:set>
                                      <p:cBhvr>
                                        <p:cTn id="37" dur="1" fill="hold">
                                          <p:stCondLst>
                                            <p:cond delay="0"/>
                                          </p:stCondLst>
                                        </p:cTn>
                                        <p:tgtEl>
                                          <p:spTgt spid="5"/>
                                        </p:tgtEl>
                                        <p:attrNameLst>
                                          <p:attrName>style.visibility</p:attrName>
                                        </p:attrNameLst>
                                      </p:cBhvr>
                                      <p:to>
                                        <p:strVal val="visible"/>
                                      </p:to>
                                    </p:set>
                                    <p:animEffect transition="in" filter="wipe(up)">
                                      <p:cBhvr>
                                        <p:cTn id="38" dur="500"/>
                                        <p:tgtEl>
                                          <p:spTgt spid="5"/>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wipe(up)">
                                      <p:cBhvr>
                                        <p:cTn id="43" dur="500"/>
                                        <p:tgtEl>
                                          <p:spTgt spid="6"/>
                                        </p:tgtEl>
                                      </p:cBhvr>
                                    </p:animEffect>
                                  </p:childTnLst>
                                </p:cTn>
                              </p:par>
                            </p:childTnLst>
                          </p:cTn>
                        </p:par>
                        <p:par>
                          <p:cTn id="44" fill="hold">
                            <p:stCondLst>
                              <p:cond delay="500"/>
                            </p:stCondLst>
                            <p:childTnLst>
                              <p:par>
                                <p:cTn id="45" presetID="22" presetClass="entr" presetSubtype="1" fill="hold" nodeType="afterEffect">
                                  <p:stCondLst>
                                    <p:cond delay="0"/>
                                  </p:stCondLst>
                                  <p:childTnLst>
                                    <p:set>
                                      <p:cBhvr>
                                        <p:cTn id="46" dur="1" fill="hold">
                                          <p:stCondLst>
                                            <p:cond delay="0"/>
                                          </p:stCondLst>
                                        </p:cTn>
                                        <p:tgtEl>
                                          <p:spTgt spid="929830"/>
                                        </p:tgtEl>
                                        <p:attrNameLst>
                                          <p:attrName>style.visibility</p:attrName>
                                        </p:attrNameLst>
                                      </p:cBhvr>
                                      <p:to>
                                        <p:strVal val="visible"/>
                                      </p:to>
                                    </p:set>
                                    <p:animEffect transition="in" filter="wipe(up)">
                                      <p:cBhvr>
                                        <p:cTn id="47" dur="500"/>
                                        <p:tgtEl>
                                          <p:spTgt spid="929830"/>
                                        </p:tgtEl>
                                      </p:cBhvr>
                                    </p:animEffect>
                                  </p:childTnLst>
                                </p:cTn>
                              </p:par>
                            </p:childTnLst>
                          </p:cTn>
                        </p:par>
                        <p:par>
                          <p:cTn id="48" fill="hold">
                            <p:stCondLst>
                              <p:cond delay="1000"/>
                            </p:stCondLst>
                            <p:childTnLst>
                              <p:par>
                                <p:cTn id="49" presetID="22" presetClass="entr" presetSubtype="1" fill="hold" grpId="0" nodeType="afterEffect">
                                  <p:stCondLst>
                                    <p:cond delay="0"/>
                                  </p:stCondLst>
                                  <p:childTnLst>
                                    <p:set>
                                      <p:cBhvr>
                                        <p:cTn id="50" dur="1" fill="hold">
                                          <p:stCondLst>
                                            <p:cond delay="0"/>
                                          </p:stCondLst>
                                        </p:cTn>
                                        <p:tgtEl>
                                          <p:spTgt spid="929831"/>
                                        </p:tgtEl>
                                        <p:attrNameLst>
                                          <p:attrName>style.visibility</p:attrName>
                                        </p:attrNameLst>
                                      </p:cBhvr>
                                      <p:to>
                                        <p:strVal val="visible"/>
                                      </p:to>
                                    </p:set>
                                    <p:animEffect transition="in" filter="wipe(up)">
                                      <p:cBhvr>
                                        <p:cTn id="51" dur="500"/>
                                        <p:tgtEl>
                                          <p:spTgt spid="9298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9797" grpId="0" animBg="1"/>
      <p:bldP spid="929798" grpId="0"/>
      <p:bldP spid="929799" grpId="0"/>
      <p:bldP spid="929800" grpId="0"/>
      <p:bldP spid="929801" grpId="0"/>
      <p:bldP spid="929831"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9747" name="Rectangle 3"/>
          <p:cNvSpPr>
            <a:spLocks noChangeArrowheads="1"/>
          </p:cNvSpPr>
          <p:nvPr/>
        </p:nvSpPr>
        <p:spPr bwMode="auto">
          <a:xfrm>
            <a:off x="971550" y="1413867"/>
            <a:ext cx="7875588" cy="3743325"/>
          </a:xfrm>
          <a:prstGeom prst="rect">
            <a:avLst/>
          </a:prstGeom>
          <a:noFill/>
          <a:ln w="9525">
            <a:noFill/>
            <a:miter lim="800000"/>
          </a:ln>
          <a:effectLst/>
        </p:spPr>
        <p:txBody>
          <a:bodyPr/>
          <a:lstStyle/>
          <a:p>
            <a:pPr marL="457200" marR="0" lvl="0" indent="0" algn="l" defTabSz="914400" rtl="0" eaLnBrk="0" fontAlgn="base" latinLnBrk="0" hangingPunct="0">
              <a:lnSpc>
                <a:spcPct val="125000"/>
              </a:lnSpc>
              <a:spcBef>
                <a:spcPct val="20000"/>
              </a:spcBef>
              <a:spcAft>
                <a:spcPct val="0"/>
              </a:spcAft>
              <a:buClrTx/>
              <a:buSzTx/>
              <a:buFontTx/>
              <a:buNone/>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掌握二叉树的基本概念、</a:t>
            </a: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性质</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和存储结构。</a:t>
            </a:r>
          </a:p>
          <a:p>
            <a:pPr marL="457200" marR="0" lvl="0" indent="0" algn="l" defTabSz="914400" rtl="0" eaLnBrk="0" fontAlgn="base" latinLnBrk="0" hangingPunct="0">
              <a:lnSpc>
                <a:spcPct val="125000"/>
              </a:lnSpc>
              <a:spcBef>
                <a:spcPct val="20000"/>
              </a:spcBef>
              <a:spcAft>
                <a:spcPct val="0"/>
              </a:spcAft>
              <a:buClrTx/>
              <a:buSzTx/>
              <a:buFontTx/>
              <a:buNone/>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掌握二叉树的</a:t>
            </a:r>
            <a:r>
              <a:rPr kumimoji="1" lang="zh-CN" altLang="en-US" sz="2800" b="0" i="0" u="none" strike="noStrike" kern="1200" cap="none" spc="0" normalizeH="0" baseline="0" noProof="0" dirty="0">
                <a:ln>
                  <a:noFill/>
                </a:ln>
                <a:solidFill>
                  <a:srgbClr val="FF3300"/>
                </a:solidFill>
                <a:effectLst/>
                <a:uLnTx/>
                <a:uFillTx/>
                <a:latin typeface="+mn-lt"/>
                <a:ea typeface="+mn-ea"/>
                <a:cs typeface="+mn-ea"/>
                <a:sym typeface="+mn-lt"/>
              </a:rPr>
              <a:t>前、中、后序遍历算法并能够灵活运用。</a:t>
            </a:r>
          </a:p>
          <a:p>
            <a:pPr marL="457200" marR="0" lvl="0" indent="0" algn="l" defTabSz="914400" rtl="0" eaLnBrk="0" fontAlgn="base" latinLnBrk="0" hangingPunct="0">
              <a:lnSpc>
                <a:spcPct val="125000"/>
              </a:lnSpc>
              <a:spcBef>
                <a:spcPct val="20000"/>
              </a:spcBef>
              <a:spcAft>
                <a:spcPct val="0"/>
              </a:spcAft>
              <a:buClrTx/>
              <a:buSzTx/>
              <a:buFontTx/>
              <a:buNone/>
              <a:defRPr/>
            </a:pPr>
            <a:r>
              <a:rPr kumimoji="1" lang="zh-CN" altLang="en-US" sz="2800" b="0" i="0" u="none" strike="noStrike" kern="1200" cap="none" spc="0" normalizeH="0" baseline="0" noProof="0" dirty="0" smtClean="0">
                <a:ln>
                  <a:noFill/>
                </a:ln>
                <a:solidFill>
                  <a:srgbClr val="000000"/>
                </a:solidFill>
                <a:effectLst/>
                <a:uLnTx/>
                <a:uFillTx/>
                <a:latin typeface="+mn-lt"/>
                <a:ea typeface="+mn-ea"/>
                <a:cs typeface="+mn-ea"/>
                <a:sym typeface="+mn-lt"/>
              </a:rPr>
              <a:t>掌握：</a:t>
            </a:r>
            <a:r>
              <a:rPr kumimoji="1" lang="zh-CN" altLang="en-US" sz="2800" b="0" i="0" u="none" strike="noStrike" kern="1200" cap="none" spc="0" normalizeH="0" baseline="0" noProof="0" dirty="0" smtClean="0">
                <a:ln>
                  <a:noFill/>
                </a:ln>
                <a:solidFill>
                  <a:srgbClr val="C00000"/>
                </a:solidFill>
                <a:effectLst/>
                <a:uLnTx/>
                <a:uFillTx/>
                <a:latin typeface="+mn-lt"/>
                <a:ea typeface="+mn-ea"/>
                <a:cs typeface="+mn-ea"/>
                <a:sym typeface="+mn-lt"/>
              </a:rPr>
              <a:t>二叉搜索树</a:t>
            </a:r>
            <a:r>
              <a:rPr kumimoji="1" lang="zh-CN" altLang="en-US" sz="2800" b="0" i="0" u="none" strike="noStrike" kern="1200" cap="none" spc="0" normalizeH="0" baseline="0" noProof="0" dirty="0" smtClean="0">
                <a:ln>
                  <a:noFill/>
                </a:ln>
                <a:solidFill>
                  <a:schemeClr val="tx1"/>
                </a:solidFill>
                <a:effectLst/>
                <a:uLnTx/>
                <a:uFillTx/>
                <a:latin typeface="+mn-lt"/>
                <a:ea typeface="+mn-ea"/>
                <a:cs typeface="+mn-ea"/>
                <a:sym typeface="+mn-lt"/>
              </a:rPr>
              <a:t>的构建与结点删除算法</a:t>
            </a: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a:t>
            </a:r>
          </a:p>
          <a:p>
            <a:pPr marL="457200" marR="0" lvl="0" indent="0" algn="l" defTabSz="914400" rtl="0" eaLnBrk="0" fontAlgn="base" latinLnBrk="0" hangingPunct="0">
              <a:lnSpc>
                <a:spcPct val="125000"/>
              </a:lnSpc>
              <a:spcBef>
                <a:spcPct val="20000"/>
              </a:spcBef>
              <a:spcAft>
                <a:spcPct val="0"/>
              </a:spcAft>
              <a:buClrTx/>
              <a:buSzTx/>
              <a:buFontTx/>
              <a:buNone/>
              <a:defRPr/>
            </a:pPr>
            <a:r>
              <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rPr>
              <a:t>掌握：森林与二叉树的转换，树的遍历方法 </a:t>
            </a:r>
            <a:r>
              <a:rPr kumimoji="1" lang="zh-CN" altLang="en-US" sz="2800" b="0" i="0" u="none" strike="noStrike" kern="1200" cap="none" spc="0" normalizeH="0" baseline="0" noProof="0" dirty="0" smtClean="0">
                <a:ln>
                  <a:noFill/>
                </a:ln>
                <a:solidFill>
                  <a:schemeClr val="tx1"/>
                </a:solidFill>
                <a:effectLst/>
                <a:uLnTx/>
                <a:uFillTx/>
                <a:latin typeface="+mn-lt"/>
                <a:ea typeface="+mn-ea"/>
                <a:cs typeface="+mn-ea"/>
                <a:sym typeface="+mn-lt"/>
              </a:rPr>
              <a:t>。</a:t>
            </a:r>
            <a:endParaRPr kumimoji="1" lang="en-US" altLang="zh-CN" sz="2800" b="0" i="0" u="none" strike="noStrike" kern="1200" cap="none" spc="0" normalizeH="0" baseline="0" noProof="0" dirty="0" smtClean="0">
              <a:ln>
                <a:noFill/>
              </a:ln>
              <a:solidFill>
                <a:schemeClr val="tx1"/>
              </a:solidFill>
              <a:effectLst/>
              <a:uLnTx/>
              <a:uFillTx/>
              <a:latin typeface="+mn-lt"/>
              <a:ea typeface="+mn-ea"/>
              <a:cs typeface="+mn-ea"/>
              <a:sym typeface="+mn-lt"/>
            </a:endParaRPr>
          </a:p>
          <a:p>
            <a:pPr marL="457200" marR="0" lvl="0" indent="0" algn="l" defTabSz="914400" rtl="0" eaLnBrk="0" fontAlgn="base" latinLnBrk="0" hangingPunct="0">
              <a:lnSpc>
                <a:spcPct val="125000"/>
              </a:lnSpc>
              <a:spcBef>
                <a:spcPct val="20000"/>
              </a:spcBef>
              <a:spcAft>
                <a:spcPct val="0"/>
              </a:spcAft>
              <a:buClrTx/>
              <a:buSzTx/>
              <a:buFontTx/>
              <a:buNone/>
              <a:defRPr/>
            </a:pPr>
            <a:r>
              <a:rPr kumimoji="1" lang="zh-CN" altLang="en-US" b="0" dirty="0" smtClean="0">
                <a:latin typeface="+mn-lt"/>
                <a:ea typeface="+mn-ea"/>
                <a:cs typeface="+mn-ea"/>
                <a:sym typeface="+mn-lt"/>
              </a:rPr>
              <a:t>掌握：</a:t>
            </a:r>
            <a:r>
              <a:rPr kumimoji="1" lang="zh-CN" altLang="en-US" b="0" dirty="0" smtClean="0">
                <a:solidFill>
                  <a:srgbClr val="6C4C8F"/>
                </a:solidFill>
                <a:latin typeface="+mn-lt"/>
                <a:ea typeface="+mn-ea"/>
                <a:cs typeface="+mn-ea"/>
                <a:sym typeface="+mn-lt"/>
              </a:rPr>
              <a:t>堆</a:t>
            </a:r>
            <a:r>
              <a:rPr kumimoji="1" lang="zh-CN" altLang="en-US" b="0" dirty="0" smtClean="0">
                <a:latin typeface="+mn-lt"/>
                <a:ea typeface="+mn-ea"/>
                <a:cs typeface="+mn-ea"/>
                <a:sym typeface="+mn-lt"/>
              </a:rPr>
              <a:t>的建立与调整算法</a:t>
            </a:r>
            <a:endParaRPr kumimoji="1" lang="zh-CN" altLang="en-US" sz="2800" b="0" i="0" u="none" strike="noStrike" kern="1200" cap="none" spc="0" normalizeH="0" baseline="0" noProof="0" dirty="0">
              <a:ln>
                <a:noFill/>
              </a:ln>
              <a:solidFill>
                <a:schemeClr val="tx1"/>
              </a:solidFill>
              <a:effectLst/>
              <a:uLnTx/>
              <a:uFillTx/>
              <a:latin typeface="+mn-lt"/>
              <a:ea typeface="+mn-ea"/>
              <a:cs typeface="+mn-ea"/>
              <a:sym typeface="+mn-lt"/>
            </a:endParaRPr>
          </a:p>
        </p:txBody>
      </p:sp>
      <p:sp>
        <p:nvSpPr>
          <p:cNvPr id="799748" name="Comment 4"/>
          <p:cNvSpPr>
            <a:spLocks noChangeArrowheads="1"/>
          </p:cNvSpPr>
          <p:nvPr/>
        </p:nvSpPr>
        <p:spPr bwMode="auto">
          <a:xfrm>
            <a:off x="827088" y="198438"/>
            <a:ext cx="167640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defRPr/>
            </a:pPr>
            <a:r>
              <a:rPr kumimoji="0" lang="zh-CN" altLang="en-US" sz="2800" b="0" i="0" u="none" strike="noStrike" kern="1200" cap="none" spc="0" normalizeH="0" baseline="0" noProof="0" dirty="0">
                <a:ln>
                  <a:noFill/>
                </a:ln>
                <a:solidFill>
                  <a:schemeClr val="bg1"/>
                </a:solidFill>
                <a:effectLst/>
                <a:uLnTx/>
                <a:uFillTx/>
                <a:latin typeface="+mj-lt"/>
                <a:ea typeface="微软雅黑" panose="020B0503020204020204" pitchFamily="34" charset="-122"/>
                <a:cs typeface="+mj-cs"/>
                <a:sym typeface="+mn-lt"/>
              </a:rPr>
              <a:t>小结</a:t>
            </a:r>
          </a:p>
        </p:txBody>
      </p:sp>
      <p:grpSp>
        <p:nvGrpSpPr>
          <p:cNvPr id="118788" name="组合 15"/>
          <p:cNvGrpSpPr/>
          <p:nvPr/>
        </p:nvGrpSpPr>
        <p:grpSpPr>
          <a:xfrm>
            <a:off x="661988" y="1362075"/>
            <a:ext cx="579437" cy="627063"/>
            <a:chOff x="6242320" y="1105727"/>
            <a:chExt cx="579005" cy="626656"/>
          </a:xfrm>
        </p:grpSpPr>
        <p:sp>
          <p:nvSpPr>
            <p:cNvPr id="118802" name="TextBox 6"/>
            <p:cNvSpPr txBox="1"/>
            <p:nvPr/>
          </p:nvSpPr>
          <p:spPr>
            <a:xfrm>
              <a:off x="6327224" y="1105727"/>
              <a:ext cx="448425" cy="492443"/>
            </a:xfrm>
            <a:prstGeom prst="rect">
              <a:avLst/>
            </a:prstGeom>
            <a:noFill/>
            <a:ln w="9525">
              <a:noFill/>
            </a:ln>
          </p:spPr>
          <p:txBody>
            <a:bodyPr lIns="0" tIns="0" rIns="0" bIns="0"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pPr>
              <a:r>
                <a:rPr lang="en-US" altLang="zh-CN" sz="3200" dirty="0">
                  <a:solidFill>
                    <a:srgbClr val="FF9900"/>
                  </a:solidFill>
                  <a:latin typeface="Impact" panose="020B0806030902050204" pitchFamily="34" charset="0"/>
                </a:rPr>
                <a:t>01</a:t>
              </a:r>
              <a:endParaRPr lang="zh-CN" altLang="en-US" sz="3200" dirty="0">
                <a:solidFill>
                  <a:srgbClr val="FF9900"/>
                </a:solidFill>
                <a:latin typeface="微软雅黑" panose="020B0503020204020204" pitchFamily="34" charset="-122"/>
              </a:endParaRPr>
            </a:p>
          </p:txBody>
        </p:sp>
        <p:sp>
          <p:nvSpPr>
            <p:cNvPr id="118803" name="文本框 22"/>
            <p:cNvSpPr txBox="1"/>
            <p:nvPr/>
          </p:nvSpPr>
          <p:spPr>
            <a:xfrm>
              <a:off x="6242320" y="1516939"/>
              <a:ext cx="579005" cy="215444"/>
            </a:xfrm>
            <a:prstGeom prst="rect">
              <a:avLst/>
            </a:prstGeom>
            <a:noFill/>
            <a:ln w="9525">
              <a:noFill/>
            </a:ln>
          </p:spPr>
          <p:txBody>
            <a:bodyPr wrap="none">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buNone/>
              </a:pPr>
              <a:r>
                <a:rPr lang="en-US" altLang="zh-CN" sz="800" b="1" dirty="0">
                  <a:solidFill>
                    <a:srgbClr val="818181"/>
                  </a:solidFill>
                  <a:latin typeface="Leelawadee" panose="020B0502040204020203" pitchFamily="34" charset="-34"/>
                  <a:ea typeface="宋体" panose="02010600030101010101" pitchFamily="2" charset="-122"/>
                </a:rPr>
                <a:t>OPTION</a:t>
              </a:r>
              <a:endParaRPr lang="zh-CN" altLang="en-US" sz="800" b="1" dirty="0">
                <a:solidFill>
                  <a:srgbClr val="818181"/>
                </a:solidFill>
                <a:latin typeface="Leelawadee" panose="020B0502040204020203" pitchFamily="34" charset="-34"/>
                <a:ea typeface="宋体" panose="02010600030101010101" pitchFamily="2" charset="-122"/>
              </a:endParaRPr>
            </a:p>
          </p:txBody>
        </p:sp>
      </p:grpSp>
      <p:grpSp>
        <p:nvGrpSpPr>
          <p:cNvPr id="118789" name="组合 18"/>
          <p:cNvGrpSpPr/>
          <p:nvPr/>
        </p:nvGrpSpPr>
        <p:grpSpPr>
          <a:xfrm>
            <a:off x="661988" y="2204865"/>
            <a:ext cx="579437" cy="631819"/>
            <a:chOff x="6242320" y="2534969"/>
            <a:chExt cx="579005" cy="631756"/>
          </a:xfrm>
        </p:grpSpPr>
        <p:sp>
          <p:nvSpPr>
            <p:cNvPr id="118800" name="TextBox 6"/>
            <p:cNvSpPr txBox="1"/>
            <p:nvPr/>
          </p:nvSpPr>
          <p:spPr>
            <a:xfrm>
              <a:off x="6327224" y="2534969"/>
              <a:ext cx="448425" cy="492443"/>
            </a:xfrm>
            <a:prstGeom prst="rect">
              <a:avLst/>
            </a:prstGeom>
            <a:noFill/>
            <a:ln w="9525">
              <a:noFill/>
            </a:ln>
          </p:spPr>
          <p:txBody>
            <a:bodyPr lIns="0" tIns="0" rIns="0" bIns="0"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pPr>
              <a:r>
                <a:rPr lang="en-US" altLang="zh-CN" sz="3200" dirty="0">
                  <a:solidFill>
                    <a:srgbClr val="01ACBE"/>
                  </a:solidFill>
                  <a:latin typeface="Impact" panose="020B0806030902050204" pitchFamily="34" charset="0"/>
                </a:rPr>
                <a:t>02</a:t>
              </a:r>
              <a:endParaRPr lang="zh-CN" altLang="en-US" sz="3200" dirty="0">
                <a:solidFill>
                  <a:srgbClr val="01ACBE"/>
                </a:solidFill>
                <a:latin typeface="微软雅黑" panose="020B0503020204020204" pitchFamily="34" charset="-122"/>
              </a:endParaRPr>
            </a:p>
          </p:txBody>
        </p:sp>
        <p:sp>
          <p:nvSpPr>
            <p:cNvPr id="118801" name="文本框 23"/>
            <p:cNvSpPr txBox="1"/>
            <p:nvPr/>
          </p:nvSpPr>
          <p:spPr>
            <a:xfrm>
              <a:off x="6242320" y="2951281"/>
              <a:ext cx="579005" cy="215444"/>
            </a:xfrm>
            <a:prstGeom prst="rect">
              <a:avLst/>
            </a:prstGeom>
            <a:noFill/>
            <a:ln w="9525">
              <a:noFill/>
            </a:ln>
          </p:spPr>
          <p:txBody>
            <a:bodyPr wrap="none">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buNone/>
              </a:pPr>
              <a:r>
                <a:rPr lang="en-US" altLang="zh-CN" sz="800" b="1" dirty="0">
                  <a:solidFill>
                    <a:srgbClr val="818181"/>
                  </a:solidFill>
                  <a:latin typeface="Leelawadee" panose="020B0502040204020203" pitchFamily="34" charset="-34"/>
                  <a:ea typeface="宋体" panose="02010600030101010101" pitchFamily="2" charset="-122"/>
                </a:rPr>
                <a:t>OPTION</a:t>
              </a:r>
              <a:endParaRPr lang="zh-CN" altLang="en-US" sz="800" b="1" dirty="0">
                <a:solidFill>
                  <a:srgbClr val="818181"/>
                </a:solidFill>
                <a:latin typeface="Leelawadee" panose="020B0502040204020203" pitchFamily="34" charset="-34"/>
                <a:ea typeface="宋体" panose="02010600030101010101" pitchFamily="2" charset="-122"/>
              </a:endParaRPr>
            </a:p>
          </p:txBody>
        </p:sp>
      </p:grpSp>
      <p:grpSp>
        <p:nvGrpSpPr>
          <p:cNvPr id="118790" name="组合 21"/>
          <p:cNvGrpSpPr/>
          <p:nvPr/>
        </p:nvGrpSpPr>
        <p:grpSpPr>
          <a:xfrm>
            <a:off x="661988" y="3240355"/>
            <a:ext cx="579437" cy="620692"/>
            <a:chOff x="6242320" y="4186916"/>
            <a:chExt cx="579005" cy="620474"/>
          </a:xfrm>
        </p:grpSpPr>
        <p:sp>
          <p:nvSpPr>
            <p:cNvPr id="118798" name="TextBox 6"/>
            <p:cNvSpPr txBox="1"/>
            <p:nvPr/>
          </p:nvSpPr>
          <p:spPr>
            <a:xfrm>
              <a:off x="6327224" y="4186916"/>
              <a:ext cx="448425" cy="492443"/>
            </a:xfrm>
            <a:prstGeom prst="rect">
              <a:avLst/>
            </a:prstGeom>
            <a:noFill/>
            <a:ln w="9525">
              <a:noFill/>
            </a:ln>
          </p:spPr>
          <p:txBody>
            <a:bodyPr lIns="0" tIns="0" rIns="0" bIns="0"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pPr>
              <a:r>
                <a:rPr lang="en-US" altLang="zh-CN" sz="3200" dirty="0">
                  <a:solidFill>
                    <a:srgbClr val="C00000"/>
                  </a:solidFill>
                  <a:latin typeface="Impact" panose="020B0806030902050204" pitchFamily="34" charset="0"/>
                </a:rPr>
                <a:t>03</a:t>
              </a:r>
              <a:endParaRPr lang="zh-CN" altLang="en-US" sz="3200" dirty="0">
                <a:solidFill>
                  <a:srgbClr val="C00000"/>
                </a:solidFill>
                <a:latin typeface="微软雅黑" panose="020B0503020204020204" pitchFamily="34" charset="-122"/>
              </a:endParaRPr>
            </a:p>
          </p:txBody>
        </p:sp>
        <p:sp>
          <p:nvSpPr>
            <p:cNvPr id="118799" name="文本框 24"/>
            <p:cNvSpPr txBox="1"/>
            <p:nvPr/>
          </p:nvSpPr>
          <p:spPr>
            <a:xfrm>
              <a:off x="6242320" y="4591946"/>
              <a:ext cx="579005" cy="215444"/>
            </a:xfrm>
            <a:prstGeom prst="rect">
              <a:avLst/>
            </a:prstGeom>
            <a:noFill/>
            <a:ln w="9525">
              <a:noFill/>
            </a:ln>
          </p:spPr>
          <p:txBody>
            <a:bodyPr wrap="none">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buNone/>
              </a:pPr>
              <a:r>
                <a:rPr lang="en-US" altLang="zh-CN" sz="800" b="1" dirty="0">
                  <a:solidFill>
                    <a:srgbClr val="818181"/>
                  </a:solidFill>
                  <a:latin typeface="Leelawadee" panose="020B0502040204020203" pitchFamily="34" charset="-34"/>
                  <a:ea typeface="宋体" panose="02010600030101010101" pitchFamily="2" charset="-122"/>
                </a:rPr>
                <a:t>OPTION</a:t>
              </a:r>
              <a:endParaRPr lang="zh-CN" altLang="en-US" sz="800" b="1" dirty="0">
                <a:solidFill>
                  <a:srgbClr val="818181"/>
                </a:solidFill>
                <a:latin typeface="Leelawadee" panose="020B0502040204020203" pitchFamily="34" charset="-34"/>
                <a:ea typeface="宋体" panose="02010600030101010101" pitchFamily="2" charset="-122"/>
              </a:endParaRPr>
            </a:p>
          </p:txBody>
        </p:sp>
      </p:grpSp>
      <p:grpSp>
        <p:nvGrpSpPr>
          <p:cNvPr id="118791" name="组合 24"/>
          <p:cNvGrpSpPr/>
          <p:nvPr/>
        </p:nvGrpSpPr>
        <p:grpSpPr>
          <a:xfrm>
            <a:off x="661988" y="3861047"/>
            <a:ext cx="579437" cy="609579"/>
            <a:chOff x="6250444" y="5471711"/>
            <a:chExt cx="579005" cy="609205"/>
          </a:xfrm>
        </p:grpSpPr>
        <p:sp>
          <p:nvSpPr>
            <p:cNvPr id="118796" name="TextBox 6"/>
            <p:cNvSpPr txBox="1"/>
            <p:nvPr/>
          </p:nvSpPr>
          <p:spPr>
            <a:xfrm>
              <a:off x="6327224" y="5471711"/>
              <a:ext cx="448425" cy="492443"/>
            </a:xfrm>
            <a:prstGeom prst="rect">
              <a:avLst/>
            </a:prstGeom>
            <a:noFill/>
            <a:ln w="9525">
              <a:noFill/>
            </a:ln>
          </p:spPr>
          <p:txBody>
            <a:bodyPr lIns="0" tIns="0" rIns="0" bIns="0"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pPr>
              <a:r>
                <a:rPr lang="en-US" altLang="zh-CN" sz="3200" dirty="0">
                  <a:solidFill>
                    <a:srgbClr val="960096"/>
                  </a:solidFill>
                  <a:latin typeface="Impact" panose="020B0806030902050204" pitchFamily="34" charset="0"/>
                </a:rPr>
                <a:t>04</a:t>
              </a:r>
              <a:endParaRPr lang="zh-CN" altLang="en-US" sz="3200" dirty="0">
                <a:solidFill>
                  <a:srgbClr val="960096"/>
                </a:solidFill>
                <a:latin typeface="微软雅黑" panose="020B0503020204020204" pitchFamily="34" charset="-122"/>
              </a:endParaRPr>
            </a:p>
          </p:txBody>
        </p:sp>
        <p:sp>
          <p:nvSpPr>
            <p:cNvPr id="118797" name="文本框 25"/>
            <p:cNvSpPr txBox="1"/>
            <p:nvPr/>
          </p:nvSpPr>
          <p:spPr>
            <a:xfrm>
              <a:off x="6250444" y="5865472"/>
              <a:ext cx="579005" cy="215444"/>
            </a:xfrm>
            <a:prstGeom prst="rect">
              <a:avLst/>
            </a:prstGeom>
            <a:noFill/>
            <a:ln w="9525">
              <a:noFill/>
            </a:ln>
          </p:spPr>
          <p:txBody>
            <a:bodyPr wrap="none">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buNone/>
              </a:pPr>
              <a:r>
                <a:rPr lang="en-US" altLang="zh-CN" sz="800" b="1" dirty="0">
                  <a:solidFill>
                    <a:srgbClr val="818181"/>
                  </a:solidFill>
                  <a:latin typeface="Leelawadee" panose="020B0502040204020203" pitchFamily="34" charset="-34"/>
                  <a:ea typeface="宋体" panose="02010600030101010101" pitchFamily="2" charset="-122"/>
                </a:rPr>
                <a:t>OPTION</a:t>
              </a:r>
              <a:endParaRPr lang="zh-CN" altLang="en-US" sz="800" b="1" dirty="0">
                <a:solidFill>
                  <a:srgbClr val="818181"/>
                </a:solidFill>
                <a:latin typeface="Leelawadee" panose="020B0502040204020203" pitchFamily="34" charset="-34"/>
                <a:ea typeface="宋体" panose="02010600030101010101" pitchFamily="2" charset="-122"/>
              </a:endParaRPr>
            </a:p>
          </p:txBody>
        </p:sp>
      </p:grpSp>
      <p:grpSp>
        <p:nvGrpSpPr>
          <p:cNvPr id="118792" name="组合 27"/>
          <p:cNvGrpSpPr/>
          <p:nvPr/>
        </p:nvGrpSpPr>
        <p:grpSpPr>
          <a:xfrm>
            <a:off x="615950" y="4509120"/>
            <a:ext cx="579438" cy="631833"/>
            <a:chOff x="6242320" y="2446871"/>
            <a:chExt cx="579005" cy="631770"/>
          </a:xfrm>
        </p:grpSpPr>
        <p:sp>
          <p:nvSpPr>
            <p:cNvPr id="118794" name="TextBox 6"/>
            <p:cNvSpPr txBox="1"/>
            <p:nvPr/>
          </p:nvSpPr>
          <p:spPr>
            <a:xfrm>
              <a:off x="6327224" y="2446871"/>
              <a:ext cx="448425" cy="492443"/>
            </a:xfrm>
            <a:prstGeom prst="rect">
              <a:avLst/>
            </a:prstGeom>
            <a:noFill/>
            <a:ln w="9525">
              <a:noFill/>
            </a:ln>
          </p:spPr>
          <p:txBody>
            <a:bodyPr wrap="square" lIns="0" tIns="0" rIns="0" bIns="0" anchor="ctr" anchorCtr="0">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pPr>
              <a:r>
                <a:rPr lang="en-US" altLang="zh-CN" sz="3200" dirty="0">
                  <a:solidFill>
                    <a:srgbClr val="01ACBE"/>
                  </a:solidFill>
                  <a:latin typeface="Impact" panose="020B0806030902050204" pitchFamily="34" charset="0"/>
                </a:rPr>
                <a:t>05</a:t>
              </a:r>
              <a:endParaRPr lang="zh-CN" altLang="en-US" sz="3200" dirty="0">
                <a:solidFill>
                  <a:srgbClr val="01ACBE"/>
                </a:solidFill>
                <a:latin typeface="微软雅黑" panose="020B0503020204020204" pitchFamily="34" charset="-122"/>
              </a:endParaRPr>
            </a:p>
          </p:txBody>
        </p:sp>
        <p:sp>
          <p:nvSpPr>
            <p:cNvPr id="118795" name="文本框 23"/>
            <p:cNvSpPr txBox="1"/>
            <p:nvPr/>
          </p:nvSpPr>
          <p:spPr>
            <a:xfrm>
              <a:off x="6242320" y="2863197"/>
              <a:ext cx="579005" cy="215444"/>
            </a:xfrm>
            <a:prstGeom prst="rect">
              <a:avLst/>
            </a:prstGeom>
            <a:noFill/>
            <a:ln w="9525">
              <a:noFill/>
            </a:ln>
          </p:spPr>
          <p:txBody>
            <a:bodyPr wrap="none">
              <a:spAutoFit/>
            </a:bodyPr>
            <a:lstStyle>
              <a:lvl1pPr indent="538480" algn="l" rtl="0" eaLnBrk="0" fontAlgn="base" hangingPunct="0">
                <a:lnSpc>
                  <a:spcPct val="130000"/>
                </a:lnSpc>
                <a:spcBef>
                  <a:spcPct val="0"/>
                </a:spcBef>
                <a:spcAft>
                  <a:spcPct val="0"/>
                </a:spcAft>
                <a:defRPr sz="2400" b="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stStyle>
            <a:p>
              <a:pPr lvl="0" indent="0" eaLnBrk="1" hangingPunct="1">
                <a:lnSpc>
                  <a:spcPct val="100000"/>
                </a:lnSpc>
                <a:buNone/>
              </a:pPr>
              <a:r>
                <a:rPr lang="en-US" altLang="zh-CN" sz="800" b="1" dirty="0">
                  <a:solidFill>
                    <a:srgbClr val="818181"/>
                  </a:solidFill>
                  <a:latin typeface="Leelawadee" panose="020B0502040204020203" pitchFamily="34" charset="-34"/>
                  <a:ea typeface="宋体" panose="02010600030101010101" pitchFamily="2" charset="-122"/>
                </a:rPr>
                <a:t>OPTION</a:t>
              </a:r>
              <a:endParaRPr lang="zh-CN" altLang="en-US" sz="800" b="1" dirty="0">
                <a:solidFill>
                  <a:srgbClr val="818181"/>
                </a:solidFill>
                <a:latin typeface="Leelawadee" panose="020B0502040204020203" pitchFamily="34" charset="-34"/>
                <a:ea typeface="宋体" panose="02010600030101010101" pitchFamily="2" charset="-122"/>
              </a:endParaRPr>
            </a:p>
          </p:txBody>
        </p:sp>
      </p:grpSp>
      <p:sp>
        <p:nvSpPr>
          <p:cNvPr id="31" name="Shape 26"/>
          <p:cNvSpPr/>
          <p:nvPr/>
        </p:nvSpPr>
        <p:spPr>
          <a:xfrm flipH="1">
            <a:off x="0" y="5607050"/>
            <a:ext cx="9140825" cy="12509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marL="0" marR="0" lvl="0" indent="0" algn="l" defTabSz="914400" rtl="0" eaLnBrk="0" fontAlgn="base" latinLnBrk="0" hangingPunct="0">
              <a:lnSpc>
                <a:spcPct val="100000"/>
              </a:lnSpc>
              <a:spcBef>
                <a:spcPct val="0"/>
              </a:spcBef>
              <a:spcAft>
                <a:spcPct val="0"/>
              </a:spcAft>
              <a:buClrTx/>
              <a:buSzTx/>
              <a:buFontTx/>
              <a:buNone/>
              <a:defRPr/>
            </a:pPr>
            <a:endParaRPr kumimoji="0" sz="1015" b="0" i="0" u="none" strike="noStrike" kern="1200" cap="none" spc="0" normalizeH="0" baseline="0" noProof="0">
              <a:ln>
                <a:noFill/>
              </a:ln>
              <a:solidFill>
                <a:srgbClr val="000000"/>
              </a:solidFill>
              <a:effectLst/>
              <a:uLnTx/>
              <a:uFillTx/>
              <a:latin typeface="+mn-lt"/>
              <a:ea typeface="+mn-ea"/>
              <a:cs typeface="+mn-ea"/>
              <a:sym typeface="+mn-lt"/>
            </a:endParaRPr>
          </a:p>
        </p:txBody>
      </p:sp>
      <p:cxnSp>
        <p:nvCxnSpPr>
          <p:cNvPr id="2" name="直接连接符 1"/>
          <p:cNvCxnSpPr/>
          <p:nvPr/>
        </p:nvCxnSpPr>
        <p:spPr bwMode="auto">
          <a:xfrm>
            <a:off x="0" y="4470626"/>
            <a:ext cx="9144000" cy="0"/>
          </a:xfrm>
          <a:prstGeom prst="line">
            <a:avLst/>
          </a:prstGeom>
          <a:solidFill>
            <a:schemeClr val="accent1"/>
          </a:solidFill>
          <a:ln w="28575" cap="flat" cmpd="sng" algn="ctr">
            <a:solidFill>
              <a:schemeClr val="tx1">
                <a:lumMod val="50000"/>
                <a:lumOff val="50000"/>
              </a:schemeClr>
            </a:solidFill>
            <a:prstDash val="dash"/>
            <a:round/>
            <a:headEnd type="none" w="med" len="med"/>
            <a:tailEnd type="none" w="med" len="med"/>
          </a:ln>
        </p:spPr>
      </p:cxnSp>
      <p:cxnSp>
        <p:nvCxnSpPr>
          <p:cNvPr id="3" name="直接连接符 2"/>
          <p:cNvCxnSpPr/>
          <p:nvPr/>
        </p:nvCxnSpPr>
        <p:spPr bwMode="auto">
          <a:xfrm>
            <a:off x="-3175" y="1981137"/>
            <a:ext cx="9144000" cy="0"/>
          </a:xfrm>
          <a:prstGeom prst="line">
            <a:avLst/>
          </a:prstGeom>
          <a:solidFill>
            <a:schemeClr val="accent1"/>
          </a:solidFill>
          <a:ln w="28575" cap="flat" cmpd="sng" algn="ctr">
            <a:solidFill>
              <a:schemeClr val="tx1">
                <a:lumMod val="50000"/>
                <a:lumOff val="50000"/>
              </a:schemeClr>
            </a:solidFill>
            <a:prstDash val="dash"/>
            <a:round/>
            <a:headEnd type="none" w="med" len="med"/>
            <a:tailEnd type="none" w="med" len="med"/>
          </a:ln>
        </p:spPr>
      </p:cxnSp>
      <p:cxnSp>
        <p:nvCxnSpPr>
          <p:cNvPr id="4" name="直接连接符 3"/>
          <p:cNvCxnSpPr/>
          <p:nvPr/>
        </p:nvCxnSpPr>
        <p:spPr bwMode="auto">
          <a:xfrm>
            <a:off x="-3175" y="3068960"/>
            <a:ext cx="9144000" cy="0"/>
          </a:xfrm>
          <a:prstGeom prst="line">
            <a:avLst/>
          </a:prstGeom>
          <a:solidFill>
            <a:schemeClr val="accent1"/>
          </a:solidFill>
          <a:ln w="28575" cap="flat" cmpd="sng" algn="ctr">
            <a:solidFill>
              <a:schemeClr val="tx1">
                <a:lumMod val="50000"/>
                <a:lumOff val="50000"/>
              </a:schemeClr>
            </a:solidFill>
            <a:prstDash val="dash"/>
            <a:round/>
            <a:headEnd type="none" w="med" len="med"/>
            <a:tailEnd type="none" w="med" len="med"/>
          </a:ln>
        </p:spPr>
      </p:cxnSp>
      <p:cxnSp>
        <p:nvCxnSpPr>
          <p:cNvPr id="5" name="直接连接符 4"/>
          <p:cNvCxnSpPr/>
          <p:nvPr/>
        </p:nvCxnSpPr>
        <p:spPr bwMode="auto">
          <a:xfrm>
            <a:off x="-3175" y="3861047"/>
            <a:ext cx="9144000" cy="0"/>
          </a:xfrm>
          <a:prstGeom prst="line">
            <a:avLst/>
          </a:prstGeom>
          <a:solidFill>
            <a:schemeClr val="accent1"/>
          </a:solidFill>
          <a:ln w="28575" cap="flat" cmpd="sng" algn="ctr">
            <a:solidFill>
              <a:schemeClr val="tx1">
                <a:lumMod val="50000"/>
                <a:lumOff val="50000"/>
              </a:schemeClr>
            </a:solidFill>
            <a:prstDash val="dash"/>
            <a:round/>
            <a:headEnd type="none" w="med" len="med"/>
            <a:tailEnd type="none" w="med" len="med"/>
          </a:ln>
        </p:spPr>
      </p:cxnSp>
    </p:spTree>
  </p:cSld>
  <p:clrMapOvr>
    <a:masterClrMapping/>
  </p:clrMapOvr>
  <p:transition>
    <p:check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1000"/>
                                        <p:tgtEl>
                                          <p:spTgt spid="31"/>
                                        </p:tgtEl>
                                      </p:cBhvr>
                                    </p:animEffect>
                                    <p:anim calcmode="lin" valueType="num">
                                      <p:cBhvr>
                                        <p:cTn id="8" dur="1000" fill="hold"/>
                                        <p:tgtEl>
                                          <p:spTgt spid="31"/>
                                        </p:tgtEl>
                                        <p:attrNameLst>
                                          <p:attrName>ppt_x</p:attrName>
                                        </p:attrNameLst>
                                      </p:cBhvr>
                                      <p:tavLst>
                                        <p:tav tm="0">
                                          <p:val>
                                            <p:strVal val="#ppt_x"/>
                                          </p:val>
                                        </p:tav>
                                        <p:tav tm="100000">
                                          <p:val>
                                            <p:strVal val="#ppt_x"/>
                                          </p:val>
                                        </p:tav>
                                      </p:tavLst>
                                    </p:anim>
                                    <p:anim calcmode="lin" valueType="num">
                                      <p:cBhvr>
                                        <p:cTn id="9" dur="10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ags/tag1.xml><?xml version="1.0" encoding="utf-8"?>
<p:tagLst xmlns:a="http://schemas.openxmlformats.org/drawingml/2006/main" xmlns:r="http://schemas.openxmlformats.org/officeDocument/2006/relationships" xmlns:p="http://schemas.openxmlformats.org/presentationml/2006/main">
  <p:tag name="COMMONDATA" val="eyJoZGlkIjoiZjVkOTI0N2RmY2Y5N2E1NTAxMjZhMTY0ODI3NzZjZTEifQ=="/>
  <p:tag name="commondata" val="eyJoZGlkIjoiZjhkMjM2ZGM2ZmEyYjQ3YmNmOTBkMTVhNzBmNjcyNmMifQ=="/>
  <p:tag name="resource_record_key" val="{&quot;10&quot;:[21548227,50027491,21555167]}"/>
</p:tagLst>
</file>

<file path=ppt/tags/tag2.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3.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4.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5.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6.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7.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8.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9.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10.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1.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2.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13.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4.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15.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6.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7.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8.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9.xml><?xml version="1.0" encoding="utf-8"?>
<p:tagLst xmlns:a="http://schemas.openxmlformats.org/drawingml/2006/main" xmlns:r="http://schemas.openxmlformats.org/officeDocument/2006/relationships" xmlns:p="http://schemas.openxmlformats.org/presentationml/2006/main">
  <p:tag name="RAINPROBLEM" val="FillBlank"/>
  <p:tag name="PROBLEMBLANKKEYWORD" val="填空"/>
  <p:tag name="PROBLEMSCORE" val="1.0"/>
  <p:tag name="PROBLEMBLANK" val="[{&quot;num&quot;:1,&quot;caseSensitive&quot;:false,&quot;fuzzyMatch&quot;:false,&quot;Score&quot;:1.0,&quot;answers&quot;:[&quot;J&quot;]}]"/>
</p:tagLst>
</file>

<file path=ppt/tags/tag20.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21.xml><?xml version="1.0" encoding="utf-8"?>
<p:tagLst xmlns:a="http://schemas.openxmlformats.org/drawingml/2006/main" xmlns:r="http://schemas.openxmlformats.org/officeDocument/2006/relationships" xmlns:p="http://schemas.openxmlformats.org/presentationml/2006/main">
  <p:tag name="RAINPROBLEM" val="ProblemSubmit"/>
  <p:tag name="RAINPROBLEMTYPE" val="FillBlank"/>
</p:tagLst>
</file>

<file path=ppt/tags/tag22.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23.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FillBlank"/>
</p:tagLst>
</file>

<file path=ppt/tags/tag24.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25.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26.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27.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28.xml><?xml version="1.0" encoding="utf-8"?>
<p:tagLst xmlns:a="http://schemas.openxmlformats.org/drawingml/2006/main" xmlns:r="http://schemas.openxmlformats.org/officeDocument/2006/relationships" xmlns:p="http://schemas.openxmlformats.org/presentationml/2006/main">
  <p:tag name="KSO_WM_UNIT_PLACING_PICTURE_USER_VIEWPORT" val="{&quot;height&quot;:3855,&quot;width&quot;:12982.500787401576}"/>
</p:tagLst>
</file>

<file path=ppt/tags/tag29.xml><?xml version="1.0" encoding="utf-8"?>
<p:tagLst xmlns:a="http://schemas.openxmlformats.org/drawingml/2006/main" xmlns:r="http://schemas.openxmlformats.org/officeDocument/2006/relationships" xmlns:p="http://schemas.openxmlformats.org/presentationml/2006/main">
  <p:tag name="KSO_WM_UNIT_PLACING_PICTURE_USER_VIEWPORT" val="{&quot;height&quot;:4310,&quot;width&quot;:9412.499212598424}"/>
</p:tagLst>
</file>

<file path=ppt/tags/tag30.xml><?xml version="1.0" encoding="utf-8"?>
<p:tagLst xmlns:a="http://schemas.openxmlformats.org/drawingml/2006/main" xmlns:r="http://schemas.openxmlformats.org/officeDocument/2006/relationships" xmlns:p="http://schemas.openxmlformats.org/presentationml/2006/main">
  <p:tag name="KSO_WM_UNIT_PLACING_PICTURE_USER_VIEWPORT" val="{&quot;height&quot;:4537.499212598425,&quot;width&quot;:3544.4460634227453}"/>
</p:tagLst>
</file>

<file path=ppt/tags/tag31.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32.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33.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34.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35.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36.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37.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38.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39.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40.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41.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42.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43.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44.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45.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46.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47.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48.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49.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50.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51.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52.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53.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54.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55.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56.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57.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58.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59.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60.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61.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62.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63.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64.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65.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66.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67.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68.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69.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70.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71.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72.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73.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74.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75.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76.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77.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78.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79.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80.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81.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82.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83.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84.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85.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86.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87.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88.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89.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90.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91.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92.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93.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94.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95.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96.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97.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98.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99.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100.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101.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02.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03.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04.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05.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06.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07.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108.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09.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110.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11.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112.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13.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14.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15.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16.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117.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118.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19.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20.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21.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22.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23.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24.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125.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26.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127.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28.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129.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30.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31.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32.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33.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134.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135.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36.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37.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38.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39.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40.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141.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42.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43.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144.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45.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146.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47.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48.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49.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50.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151.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152.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53.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54.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55.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156.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157.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58.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59.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60.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161.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62.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163.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64.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65.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66.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67.xml><?xml version="1.0" encoding="utf-8"?>
<p:tagLst xmlns:a="http://schemas.openxmlformats.org/drawingml/2006/main" xmlns:r="http://schemas.openxmlformats.org/officeDocument/2006/relationships" xmlns:p="http://schemas.openxmlformats.org/presentationml/2006/main">
  <p:tag name="KSO_WM_UNIT_TABLE_BEAUTIFY" val="smartTable{ef443f47-3dad-4edb-9c63-4bb1be556c47}"/>
</p:tagLst>
</file>

<file path=ppt/tags/tag168.xml><?xml version="1.0" encoding="utf-8"?>
<p:tagLst xmlns:a="http://schemas.openxmlformats.org/drawingml/2006/main" xmlns:r="http://schemas.openxmlformats.org/officeDocument/2006/relationships" xmlns:p="http://schemas.openxmlformats.org/presentationml/2006/main">
  <p:tag name="KSO_WM_UNIT_TABLE_BEAUTIFY" val="smartTable{0095eb9f-db3e-4d05-898a-f8687ec80ebe}"/>
</p:tagLst>
</file>

<file path=ppt/tags/tag169.xml><?xml version="1.0" encoding="utf-8"?>
<p:tagLst xmlns:a="http://schemas.openxmlformats.org/drawingml/2006/main" xmlns:r="http://schemas.openxmlformats.org/officeDocument/2006/relationships" xmlns:p="http://schemas.openxmlformats.org/presentationml/2006/main">
  <p:tag name="KSO_WM_UNIT_TABLE_BEAUTIFY" val="smartTable{0095eb9f-db3e-4d05-898a-f8687ec80ebe}"/>
</p:tagLst>
</file>

<file path=ppt/tags/tag170.xml><?xml version="1.0" encoding="utf-8"?>
<p:tagLst xmlns:a="http://schemas.openxmlformats.org/drawingml/2006/main" xmlns:r="http://schemas.openxmlformats.org/officeDocument/2006/relationships" xmlns:p="http://schemas.openxmlformats.org/presentationml/2006/main">
  <p:tag name="KSO_WM_UNIT_TABLE_BEAUTIFY" val="smartTable{0095eb9f-db3e-4d05-898a-f8687ec80ebe}"/>
</p:tagLst>
</file>

<file path=ppt/tags/tag171.xml><?xml version="1.0" encoding="utf-8"?>
<p:tagLst xmlns:a="http://schemas.openxmlformats.org/drawingml/2006/main" xmlns:r="http://schemas.openxmlformats.org/officeDocument/2006/relationships" xmlns:p="http://schemas.openxmlformats.org/presentationml/2006/main">
  <p:tag name="KSO_WM_UNIT_TABLE_BEAUTIFY" val="smartTable{ef443f47-3dad-4edb-9c63-4bb1be556c47}"/>
</p:tagLst>
</file>

<file path=ppt/tags/tag172.xml><?xml version="1.0" encoding="utf-8"?>
<p:tagLst xmlns:a="http://schemas.openxmlformats.org/drawingml/2006/main" xmlns:r="http://schemas.openxmlformats.org/officeDocument/2006/relationships" xmlns:p="http://schemas.openxmlformats.org/presentationml/2006/main">
  <p:tag name="KSO_WM_UNIT_TABLE_BEAUTIFY" val="smartTable{0095eb9f-db3e-4d05-898a-f8687ec80ebe}"/>
</p:tagLst>
</file>

<file path=ppt/tags/tag173.xml><?xml version="1.0" encoding="utf-8"?>
<p:tagLst xmlns:a="http://schemas.openxmlformats.org/drawingml/2006/main" xmlns:r="http://schemas.openxmlformats.org/officeDocument/2006/relationships" xmlns:p="http://schemas.openxmlformats.org/presentationml/2006/main">
  <p:tag name="KSO_WM_UNIT_TABLE_BEAUTIFY" val="smartTable{0095eb9f-db3e-4d05-898a-f8687ec80ebe}"/>
</p:tagLst>
</file>

<file path=ppt/tags/tag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xml><?xml version="1.0" encoding="utf-8"?>
<p:tagLst xmlns:a="http://schemas.openxmlformats.org/drawingml/2006/main" xmlns:r="http://schemas.openxmlformats.org/officeDocument/2006/relationships" xmlns:p="http://schemas.openxmlformats.org/presentationml/2006/main">
  <p:tag name="KSO_WM_BEAUTIFY_FLAG" val=""/>
</p:tagLst>
</file>

<file path=ppt/theme/theme1.xml><?xml version="1.0" encoding="utf-8"?>
<a:theme xmlns:a="http://schemas.openxmlformats.org/drawingml/2006/main" name="1_默认设计模板">
  <a:themeElements>
    <a:clrScheme name="自定义 33">
      <a:dk1>
        <a:srgbClr val="000000"/>
      </a:dk1>
      <a:lt1>
        <a:srgbClr val="FEFFFF"/>
      </a:lt1>
      <a:dk2>
        <a:srgbClr val="000000"/>
      </a:dk2>
      <a:lt2>
        <a:srgbClr val="969696"/>
      </a:lt2>
      <a:accent1>
        <a:srgbClr val="6C4C8F"/>
      </a:accent1>
      <a:accent2>
        <a:srgbClr val="3333CC"/>
      </a:accent2>
      <a:accent3>
        <a:srgbClr val="FEFFFF"/>
      </a:accent3>
      <a:accent4>
        <a:srgbClr val="000000"/>
      </a:accent4>
      <a:accent5>
        <a:srgbClr val="AAE2CA"/>
      </a:accent5>
      <a:accent6>
        <a:srgbClr val="2D2DB9"/>
      </a:accent6>
      <a:hlink>
        <a:srgbClr val="0000FF"/>
      </a:hlink>
      <a:folHlink>
        <a:srgbClr val="003366"/>
      </a:folHlink>
    </a:clrScheme>
    <a:fontScheme name="zrfpac5l">
      <a:majorFont>
        <a:latin typeface="Times New Roman"/>
        <a:ea typeface="Microsoft YaHei"/>
        <a:cs typeface=""/>
      </a:majorFont>
      <a:minorFont>
        <a:latin typeface="Times New Roman"/>
        <a:ea typeface="Microsoft YaHei"/>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noFill/>
          <a:prstDash val="solid"/>
          <a:round/>
          <a:headEnd type="none" w="med" len="med"/>
          <a:tailEnd type="none" w="med" len="med"/>
        </a:ln>
      </a:spPr>
      <a:bodyPr vert="horz" wrap="square" lIns="91440" tIns="45720" rIns="91440" bIns="45720" numCol="1" anchor="t" anchorCtr="0" compatLnSpc="1"/>
      <a:lstStyle>
        <a:defPPr marL="342900" marR="0" indent="-342900" algn="l" defTabSz="914400" rtl="0" eaLnBrk="0" fontAlgn="base" latinLnBrk="0" hangingPunct="0">
          <a:lnSpc>
            <a:spcPct val="100000"/>
          </a:lnSpc>
          <a:spcBef>
            <a:spcPct val="20000"/>
          </a:spcBef>
          <a:spcAft>
            <a:spcPct val="0"/>
          </a:spcAft>
          <a:buClrTx/>
          <a:buSzTx/>
          <a:buFontTx/>
          <a:buNone/>
          <a:def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defRPr>
        </a:defPPr>
      </a:lstStyle>
    </a:spDef>
    <a:lnDef>
      <a:spPr bwMode="auto">
        <a:xfrm>
          <a:off x="0" y="0"/>
          <a:ext cx="1" cy="1"/>
        </a:xfrm>
        <a:custGeom>
          <a:avLst/>
          <a:gdLst/>
          <a:ahLst/>
          <a:cxnLst/>
          <a:rect l="0" t="0" r="0" b="0"/>
          <a:pathLst/>
        </a:custGeom>
        <a:solidFill>
          <a:schemeClr val="accent1"/>
        </a:solidFill>
        <a:ln w="9525" cap="flat" cmpd="sng" algn="ctr">
          <a:noFill/>
          <a:prstDash val="solid"/>
          <a:round/>
          <a:headEnd type="none" w="med" len="med"/>
          <a:tailEnd type="none" w="med" len="med"/>
        </a:ln>
      </a:spPr>
      <a:bodyPr vert="horz" wrap="square" lIns="91440" tIns="45720" rIns="91440" bIns="45720" numCol="1" anchor="t" anchorCtr="0" compatLnSpc="1"/>
      <a:lstStyle>
        <a:defPPr marL="342900" marR="0" indent="-342900" algn="l" defTabSz="914400" rtl="0" eaLnBrk="0" fontAlgn="base" latinLnBrk="0" hangingPunct="0">
          <a:lnSpc>
            <a:spcPct val="100000"/>
          </a:lnSpc>
          <a:spcBef>
            <a:spcPct val="20000"/>
          </a:spcBef>
          <a:spcAft>
            <a:spcPct val="0"/>
          </a:spcAft>
          <a:buClrTx/>
          <a:buSzTx/>
          <a:buFontTx/>
          <a:buNone/>
          <a:def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defRPr>
        </a:defPPr>
      </a:lstStyle>
    </a:lnDef>
  </a:objectDefaults>
  <a:extraClrSchemeLst>
    <a:extraClrScheme>
      <a:clrScheme name="默认设计模板 1">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33"/>
        </a:hlink>
        <a:folHlink>
          <a:srgbClr val="969696"/>
        </a:folHlink>
      </a:clrScheme>
      <a:clrMap bg1="dk2" tx1="lt1" bg2="dk1" tx2="lt2" accent1="accent1" accent2="accent2" accent3="accent3" accent4="accent4" accent5="accent5" accent6="accent6" hlink="hlink" folHlink="folHlink"/>
    </a:extraClrScheme>
    <a:extraClrScheme>
      <a:clrScheme name="默认设计模板 3">
        <a:dk1>
          <a:srgbClr val="000000"/>
        </a:dk1>
        <a:lt1>
          <a:srgbClr val="FFFFCC"/>
        </a:lt1>
        <a:dk2>
          <a:srgbClr val="999933"/>
        </a:dk2>
        <a:lt2>
          <a:srgbClr val="808000"/>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FF"/>
        </a:lt1>
        <a:dk2>
          <a:srgbClr val="000000"/>
        </a:dk2>
        <a:lt2>
          <a:srgbClr val="9F9F9F"/>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默认设计模板 6">
        <a:dk1>
          <a:srgbClr val="000000"/>
        </a:dk1>
        <a:lt1>
          <a:srgbClr val="FFFFFF"/>
        </a:lt1>
        <a:dk2>
          <a:srgbClr val="000000"/>
        </a:dk2>
        <a:lt2>
          <a:srgbClr val="868686"/>
        </a:lt2>
        <a:accent1>
          <a:srgbClr val="CBCBCB"/>
        </a:accent1>
        <a:accent2>
          <a:srgbClr val="0066FF"/>
        </a:accent2>
        <a:accent3>
          <a:srgbClr val="FFFFFF"/>
        </a:accent3>
        <a:accent4>
          <a:srgbClr val="000000"/>
        </a:accent4>
        <a:accent5>
          <a:srgbClr val="E2E2E2"/>
        </a:accent5>
        <a:accent6>
          <a:srgbClr val="005CE7"/>
        </a:accent6>
        <a:hlink>
          <a:srgbClr val="FF0033"/>
        </a:hlink>
        <a:folHlink>
          <a:srgbClr val="009900"/>
        </a:folHlink>
      </a:clrScheme>
      <a:clrMap bg1="lt1" tx1="dk1" bg2="lt2" tx2="dk2" accent1="accent1" accent2="accent2" accent3="accent3" accent4="accent4" accent5="accent5" accent6="accent6" hlink="hlink" folHlink="folHlink"/>
    </a:extraClrScheme>
    <a:extraClrScheme>
      <a:clrScheme name="默认设计模板 7">
        <a:dk1>
          <a:srgbClr val="000000"/>
        </a:dk1>
        <a:lt1>
          <a:srgbClr val="FFFFFF"/>
        </a:lt1>
        <a:dk2>
          <a:srgbClr val="000000"/>
        </a:dk2>
        <a:lt2>
          <a:srgbClr val="969696"/>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2_默认设计模板">
  <a:themeElements>
    <a:clrScheme name="自定义 33">
      <a:dk1>
        <a:srgbClr val="000000"/>
      </a:dk1>
      <a:lt1>
        <a:srgbClr val="FEFFFF"/>
      </a:lt1>
      <a:dk2>
        <a:srgbClr val="000000"/>
      </a:dk2>
      <a:lt2>
        <a:srgbClr val="969696"/>
      </a:lt2>
      <a:accent1>
        <a:srgbClr val="6C4C8F"/>
      </a:accent1>
      <a:accent2>
        <a:srgbClr val="3333CC"/>
      </a:accent2>
      <a:accent3>
        <a:srgbClr val="FEFFFF"/>
      </a:accent3>
      <a:accent4>
        <a:srgbClr val="000000"/>
      </a:accent4>
      <a:accent5>
        <a:srgbClr val="AAE2CA"/>
      </a:accent5>
      <a:accent6>
        <a:srgbClr val="2D2DB9"/>
      </a:accent6>
      <a:hlink>
        <a:srgbClr val="0000FF"/>
      </a:hlink>
      <a:folHlink>
        <a:srgbClr val="003366"/>
      </a:folHlink>
    </a:clrScheme>
    <a:fontScheme name="zrfpac5l">
      <a:majorFont>
        <a:latin typeface="Times New Roman"/>
        <a:ea typeface="Microsoft YaHei"/>
        <a:cs typeface=""/>
      </a:majorFont>
      <a:minorFont>
        <a:latin typeface="Times New Roman"/>
        <a:ea typeface="Microsoft YaHei"/>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noFill/>
          <a:prstDash val="solid"/>
          <a:round/>
          <a:headEnd type="none" w="med" len="med"/>
          <a:tailEnd type="none" w="med" len="med"/>
        </a:ln>
      </a:spPr>
      <a:bodyPr vert="horz" wrap="square" lIns="91440" tIns="45720" rIns="91440" bIns="45720" numCol="1" anchor="t" anchorCtr="0" compatLnSpc="1"/>
      <a:lstStyle>
        <a:defPPr marL="342900" marR="0" indent="-342900" algn="l" defTabSz="914400" rtl="0" eaLnBrk="0" fontAlgn="base" latinLnBrk="0" hangingPunct="0">
          <a:lnSpc>
            <a:spcPct val="100000"/>
          </a:lnSpc>
          <a:spcBef>
            <a:spcPct val="20000"/>
          </a:spcBef>
          <a:spcAft>
            <a:spcPct val="0"/>
          </a:spcAft>
          <a:buClrTx/>
          <a:buSzTx/>
          <a:buFontTx/>
          <a:buNone/>
          <a:def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defRPr>
        </a:defPPr>
      </a:lstStyle>
    </a:spDef>
    <a:lnDef>
      <a:spPr bwMode="auto">
        <a:xfrm>
          <a:off x="0" y="0"/>
          <a:ext cx="1" cy="1"/>
        </a:xfrm>
        <a:custGeom>
          <a:avLst/>
          <a:gdLst/>
          <a:ahLst/>
          <a:cxnLst/>
          <a:rect l="0" t="0" r="0" b="0"/>
          <a:pathLst/>
        </a:custGeom>
        <a:solidFill>
          <a:schemeClr val="accent1"/>
        </a:solidFill>
        <a:ln w="9525" cap="flat" cmpd="sng" algn="ctr">
          <a:noFill/>
          <a:prstDash val="solid"/>
          <a:round/>
          <a:headEnd type="none" w="med" len="med"/>
          <a:tailEnd type="none" w="med" len="med"/>
        </a:ln>
      </a:spPr>
      <a:bodyPr vert="horz" wrap="square" lIns="91440" tIns="45720" rIns="91440" bIns="45720" numCol="1" anchor="t" anchorCtr="0" compatLnSpc="1"/>
      <a:lstStyle>
        <a:defPPr marL="342900" marR="0" indent="-342900" algn="l" defTabSz="914400" rtl="0" eaLnBrk="0" fontAlgn="base" latinLnBrk="0" hangingPunct="0">
          <a:lnSpc>
            <a:spcPct val="100000"/>
          </a:lnSpc>
          <a:spcBef>
            <a:spcPct val="20000"/>
          </a:spcBef>
          <a:spcAft>
            <a:spcPct val="0"/>
          </a:spcAft>
          <a:buClrTx/>
          <a:buSzTx/>
          <a:buFontTx/>
          <a:buNone/>
          <a:def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itchFamily="49" charset="-122"/>
          </a:defRPr>
        </a:defPPr>
      </a:lstStyle>
    </a:lnDef>
  </a:objectDefaults>
  <a:extraClrSchemeLst>
    <a:extraClrScheme>
      <a:clrScheme name="默认设计模板 1">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33"/>
        </a:hlink>
        <a:folHlink>
          <a:srgbClr val="969696"/>
        </a:folHlink>
      </a:clrScheme>
      <a:clrMap bg1="dk2" tx1="lt1" bg2="dk1" tx2="lt2" accent1="accent1" accent2="accent2" accent3="accent3" accent4="accent4" accent5="accent5" accent6="accent6" hlink="hlink" folHlink="folHlink"/>
    </a:extraClrScheme>
    <a:extraClrScheme>
      <a:clrScheme name="默认设计模板 3">
        <a:dk1>
          <a:srgbClr val="000000"/>
        </a:dk1>
        <a:lt1>
          <a:srgbClr val="FFFFCC"/>
        </a:lt1>
        <a:dk2>
          <a:srgbClr val="999933"/>
        </a:dk2>
        <a:lt2>
          <a:srgbClr val="808000"/>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FF"/>
        </a:lt1>
        <a:dk2>
          <a:srgbClr val="000000"/>
        </a:dk2>
        <a:lt2>
          <a:srgbClr val="9F9F9F"/>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默认设计模板 6">
        <a:dk1>
          <a:srgbClr val="000000"/>
        </a:dk1>
        <a:lt1>
          <a:srgbClr val="FFFFFF"/>
        </a:lt1>
        <a:dk2>
          <a:srgbClr val="000000"/>
        </a:dk2>
        <a:lt2>
          <a:srgbClr val="868686"/>
        </a:lt2>
        <a:accent1>
          <a:srgbClr val="CBCBCB"/>
        </a:accent1>
        <a:accent2>
          <a:srgbClr val="0066FF"/>
        </a:accent2>
        <a:accent3>
          <a:srgbClr val="FFFFFF"/>
        </a:accent3>
        <a:accent4>
          <a:srgbClr val="000000"/>
        </a:accent4>
        <a:accent5>
          <a:srgbClr val="E2E2E2"/>
        </a:accent5>
        <a:accent6>
          <a:srgbClr val="005CE7"/>
        </a:accent6>
        <a:hlink>
          <a:srgbClr val="FF0033"/>
        </a:hlink>
        <a:folHlink>
          <a:srgbClr val="009900"/>
        </a:folHlink>
      </a:clrScheme>
      <a:clrMap bg1="lt1" tx1="dk1" bg2="lt2" tx2="dk2" accent1="accent1" accent2="accent2" accent3="accent3" accent4="accent4" accent5="accent5" accent6="accent6" hlink="hlink" folHlink="folHlink"/>
    </a:extraClrScheme>
    <a:extraClrScheme>
      <a:clrScheme name="默认设计模板 7">
        <a:dk1>
          <a:srgbClr val="000000"/>
        </a:dk1>
        <a:lt1>
          <a:srgbClr val="FFFFFF"/>
        </a:lt1>
        <a:dk2>
          <a:srgbClr val="000000"/>
        </a:dk2>
        <a:lt2>
          <a:srgbClr val="969696"/>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3.xml><?xml version="1.0" encoding="utf-8"?>
<a:theme xmlns:a="http://schemas.openxmlformats.org/drawingml/2006/main" name="Office 主题">
  <a:themeElements>
    <a:clrScheme name="">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4.xml><?xml version="1.0" encoding="utf-8"?>
<a:theme xmlns:a="http://schemas.openxmlformats.org/drawingml/2006/main" name="Office 主题">
  <a:themeElements>
    <a:clrScheme name="">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605</TotalTime>
  <Words>16086</Words>
  <Application>Microsoft Office PowerPoint</Application>
  <PresentationFormat>全屏显示(4:3)</PresentationFormat>
  <Paragraphs>3341</Paragraphs>
  <Slides>227</Slides>
  <Notes>9</Notes>
  <HiddenSlides>104</HiddenSlides>
  <MMClips>0</MMClips>
  <ScaleCrop>false</ScaleCrop>
  <HeadingPairs>
    <vt:vector size="6" baseType="variant">
      <vt:variant>
        <vt:lpstr>主题</vt:lpstr>
      </vt:variant>
      <vt:variant>
        <vt:i4>2</vt:i4>
      </vt:variant>
      <vt:variant>
        <vt:lpstr>嵌入 OLE 服务器</vt:lpstr>
      </vt:variant>
      <vt:variant>
        <vt:i4>6</vt:i4>
      </vt:variant>
      <vt:variant>
        <vt:lpstr>幻灯片标题</vt:lpstr>
      </vt:variant>
      <vt:variant>
        <vt:i4>227</vt:i4>
      </vt:variant>
    </vt:vector>
  </HeadingPairs>
  <TitlesOfParts>
    <vt:vector size="235" baseType="lpstr">
      <vt:lpstr>1_默认设计模板</vt:lpstr>
      <vt:lpstr>2_默认设计模板</vt:lpstr>
      <vt:lpstr>Visio.Drawing.5</vt:lpstr>
      <vt:lpstr>Microsoft 公式 3.0</vt:lpstr>
      <vt:lpstr>Visio</vt:lpstr>
      <vt:lpstr>Photoshop.Image.5</vt:lpstr>
      <vt:lpstr>剪辑</vt:lpstr>
      <vt:lpstr>公式</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画出以下二叉树对应的中序线索二叉树。</vt:lpstr>
      <vt:lpstr>PowerPoint 演示文稿</vt:lpstr>
      <vt:lpstr>PowerPoint 演示文稿</vt:lpstr>
      <vt:lpstr>PowerPoint 演示文稿</vt:lpstr>
      <vt:lpstr>树的存储结构</vt:lpstr>
      <vt:lpstr>PowerPoint 演示文稿</vt:lpstr>
      <vt:lpstr>PowerPoint 演示文稿</vt:lpstr>
      <vt:lpstr>PowerPoint 演示文稿</vt:lpstr>
      <vt:lpstr>PowerPoint 演示文稿</vt:lpstr>
      <vt:lpstr>PowerPoint 演示文稿</vt:lpstr>
      <vt:lpstr>树的存储结构－孩子兄弟表示法－二叉链表表示法</vt:lpstr>
      <vt:lpstr>森林与二叉树的转换</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树和森林的遍历</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Microsoft</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lx</dc:creator>
  <cp:lastModifiedBy>wyw-office</cp:lastModifiedBy>
  <cp:revision>106</cp:revision>
  <dcterms:created xsi:type="dcterms:W3CDTF">2018-11-02T06:03:00Z</dcterms:created>
  <dcterms:modified xsi:type="dcterms:W3CDTF">2025-05-06T01:13:59Z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CD2D3071C4414C4CBB0B568D634DFAFD_12</vt:lpwstr>
  </property>
  <property fmtid="{D5CDD505-2E9C-101B-9397-08002B2CF9AE}" pid="3" name="KSOProductBuildVer">
    <vt:lpwstr>2052-12.1.0.17857</vt:lpwstr>
  </property>
</Properties>
</file>