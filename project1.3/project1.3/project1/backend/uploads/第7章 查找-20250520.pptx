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tmp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wav" ContentType="audio/x-wav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media/audio3.wav" ContentType="audio/wav"/>
  <Override PartName="/ppt/media/audio4.wav" ContentType="audio/wav"/>
  <Override PartName="/ppt/media/audio5.wav" ContentType="audio/wav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6" r:id="rId2"/>
  </p:sldMasterIdLst>
  <p:notesMasterIdLst>
    <p:notesMasterId r:id="rId77"/>
  </p:notesMasterIdLst>
  <p:handoutMasterIdLst>
    <p:handoutMasterId r:id="rId78"/>
  </p:handoutMasterIdLst>
  <p:sldIdLst>
    <p:sldId id="1261" r:id="rId3"/>
    <p:sldId id="970" r:id="rId4"/>
    <p:sldId id="1263" r:id="rId5"/>
    <p:sldId id="1262" r:id="rId6"/>
    <p:sldId id="1145" r:id="rId7"/>
    <p:sldId id="1087" r:id="rId8"/>
    <p:sldId id="2108" r:id="rId9"/>
    <p:sldId id="1005" r:id="rId10"/>
    <p:sldId id="1089" r:id="rId11"/>
    <p:sldId id="1090" r:id="rId12"/>
    <p:sldId id="1091" r:id="rId13"/>
    <p:sldId id="1092" r:id="rId14"/>
    <p:sldId id="1093" r:id="rId15"/>
    <p:sldId id="1124" r:id="rId16"/>
    <p:sldId id="1096" r:id="rId17"/>
    <p:sldId id="1098" r:id="rId18"/>
    <p:sldId id="1099" r:id="rId19"/>
    <p:sldId id="1095" r:id="rId20"/>
    <p:sldId id="1163" r:id="rId21"/>
    <p:sldId id="1126" r:id="rId22"/>
    <p:sldId id="1151" r:id="rId23"/>
    <p:sldId id="1102" r:id="rId24"/>
    <p:sldId id="1128" r:id="rId25"/>
    <p:sldId id="1104" r:id="rId26"/>
    <p:sldId id="1097" r:id="rId27"/>
    <p:sldId id="2110" r:id="rId28"/>
    <p:sldId id="2111" r:id="rId29"/>
    <p:sldId id="2116" r:id="rId30"/>
    <p:sldId id="1683" r:id="rId31"/>
    <p:sldId id="1115" r:id="rId32"/>
    <p:sldId id="1055" r:id="rId33"/>
    <p:sldId id="1117" r:id="rId34"/>
    <p:sldId id="2117" r:id="rId35"/>
    <p:sldId id="2118" r:id="rId36"/>
    <p:sldId id="1058" r:id="rId37"/>
    <p:sldId id="1059" r:id="rId38"/>
    <p:sldId id="1060" r:id="rId39"/>
    <p:sldId id="1118" r:id="rId40"/>
    <p:sldId id="868" r:id="rId41"/>
    <p:sldId id="1082" r:id="rId42"/>
    <p:sldId id="870" r:id="rId43"/>
    <p:sldId id="871" r:id="rId44"/>
    <p:sldId id="1061" r:id="rId45"/>
    <p:sldId id="2119" r:id="rId46"/>
    <p:sldId id="2120" r:id="rId47"/>
    <p:sldId id="2121" r:id="rId48"/>
    <p:sldId id="1085" r:id="rId49"/>
    <p:sldId id="2123" r:id="rId50"/>
    <p:sldId id="2125" r:id="rId51"/>
    <p:sldId id="2126" r:id="rId52"/>
    <p:sldId id="2127" r:id="rId53"/>
    <p:sldId id="2129" r:id="rId54"/>
    <p:sldId id="1144" r:id="rId55"/>
    <p:sldId id="2138" r:id="rId56"/>
    <p:sldId id="1152" r:id="rId57"/>
    <p:sldId id="873" r:id="rId58"/>
    <p:sldId id="1154" r:id="rId59"/>
    <p:sldId id="1121" r:id="rId60"/>
    <p:sldId id="2130" r:id="rId61"/>
    <p:sldId id="874" r:id="rId62"/>
    <p:sldId id="967" r:id="rId63"/>
    <p:sldId id="1120" r:id="rId64"/>
    <p:sldId id="1123" r:id="rId65"/>
    <p:sldId id="875" r:id="rId66"/>
    <p:sldId id="1119" r:id="rId67"/>
    <p:sldId id="1122" r:id="rId68"/>
    <p:sldId id="2132" r:id="rId69"/>
    <p:sldId id="2133" r:id="rId70"/>
    <p:sldId id="2134" r:id="rId71"/>
    <p:sldId id="2135" r:id="rId72"/>
    <p:sldId id="2136" r:id="rId73"/>
    <p:sldId id="2137" r:id="rId74"/>
    <p:sldId id="2131" r:id="rId75"/>
    <p:sldId id="921" r:id="rId76"/>
  </p:sldIdLst>
  <p:sldSz cx="9144000" cy="6858000" type="screen4x3"/>
  <p:notesSz cx="6858000" cy="9144000"/>
  <p:custDataLst>
    <p:tags r:id="rId79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楷体_GB2312" panose="02010609030101010101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楷体_GB2312" panose="02010609030101010101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楷体_GB2312" panose="02010609030101010101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楷体_GB2312" panose="02010609030101010101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楷体_GB2312" panose="02010609030101010101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楷体_GB2312" panose="02010609030101010101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楷体_GB2312" panose="02010609030101010101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楷体_GB2312" panose="02010609030101010101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楷体_GB2312" panose="02010609030101010101" charset="-122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15" userDrawn="1">
          <p15:clr>
            <a:srgbClr val="A4A3A4"/>
          </p15:clr>
        </p15:guide>
        <p15:guide id="2" pos="289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uhan ❤" initials="M❤" lastIdx="1" clrIdx="0"/>
  <p:cmAuthor id="1643296238" name="崔金满" initials="崔" lastIdx="4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834A8"/>
    <a:srgbClr val="6C4C8F"/>
    <a:srgbClr val="7030A0"/>
    <a:srgbClr val="FF3300"/>
    <a:srgbClr val="FCCCFA"/>
    <a:srgbClr val="FA9EF6"/>
    <a:srgbClr val="76AEDD"/>
    <a:srgbClr val="EBEBEB"/>
    <a:srgbClr val="CCCCFF"/>
    <a:srgbClr val="C050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178"/>
    <p:restoredTop sz="86554" autoAdjust="0"/>
  </p:normalViewPr>
  <p:slideViewPr>
    <p:cSldViewPr snapToObjects="1" showGuides="1">
      <p:cViewPr varScale="1">
        <p:scale>
          <a:sx n="77" d="100"/>
          <a:sy n="77" d="100"/>
        </p:scale>
        <p:origin x="-1740" y="-84"/>
      </p:cViewPr>
      <p:guideLst>
        <p:guide orient="horz" pos="2115"/>
        <p:guide pos="289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tableStyles" Target="tableStyles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tags" Target="tags/tag1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82" Type="http://schemas.openxmlformats.org/officeDocument/2006/relationships/viewProps" Target="viewProps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commentAuthors" Target="commentAuthor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handoutMaster" Target="handoutMasters/handoutMaster1.xml"/><Relationship Id="rId8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96B2411-DC16-462C-9978-AF5F0BCC8F89}" type="doc">
      <dgm:prSet loTypeId="urn:microsoft.com/office/officeart/2008/layout/HorizontalMultiLevelHierarchy#1" loCatId="hierarchy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zh-CN" altLang="en-US"/>
        </a:p>
      </dgm:t>
    </dgm:pt>
    <dgm:pt modelId="{24ABB9F3-0A4C-4320-8978-27F6643618DF}">
      <dgm:prSet phldrT="[文本]"/>
      <dgm:spPr/>
      <dgm:t>
        <a:bodyPr/>
        <a:lstStyle/>
        <a:p>
          <a:r>
            <a:rPr lang="en-US" altLang="zh-CN" dirty="0">
              <a:latin typeface="+mn-lt"/>
              <a:ea typeface="+mn-ea"/>
              <a:cs typeface="+mn-ea"/>
              <a:sym typeface="+mn-lt"/>
            </a:rPr>
            <a:t> </a:t>
          </a:r>
          <a:r>
            <a:rPr lang="zh-CN" altLang="en-US" dirty="0">
              <a:latin typeface="+mn-lt"/>
              <a:ea typeface="+mn-ea"/>
              <a:cs typeface="+mn-ea"/>
              <a:sym typeface="+mn-lt"/>
            </a:rPr>
            <a:t>数据结构</a:t>
          </a:r>
        </a:p>
      </dgm:t>
    </dgm:pt>
    <dgm:pt modelId="{01C08DA1-FEE9-4773-8B0C-E5EF8025317F}" type="parTrans" cxnId="{AC5F77F5-9582-42BD-ACE4-E3483A890931}">
      <dgm:prSet/>
      <dgm:spPr/>
      <dgm:t>
        <a:bodyPr/>
        <a:lstStyle/>
        <a:p>
          <a:endParaRPr lang="zh-CN" altLang="en-US"/>
        </a:p>
      </dgm:t>
    </dgm:pt>
    <dgm:pt modelId="{A4B68712-60F4-4A17-9D91-735F1D6DBDDE}" type="sibTrans" cxnId="{AC5F77F5-9582-42BD-ACE4-E3483A890931}">
      <dgm:prSet/>
      <dgm:spPr/>
      <dgm:t>
        <a:bodyPr/>
        <a:lstStyle/>
        <a:p>
          <a:endParaRPr lang="zh-CN" altLang="en-US"/>
        </a:p>
      </dgm:t>
    </dgm:pt>
    <dgm:pt modelId="{62A2BA7D-8D73-46D2-B136-DC236B0FA708}">
      <dgm:prSet phldrT="[文本]"/>
      <dgm:spPr/>
      <dgm:t>
        <a:bodyPr/>
        <a:lstStyle/>
        <a:p>
          <a:r>
            <a:rPr lang="zh-CN" altLang="en-US" dirty="0">
              <a:latin typeface="+mn-lt"/>
              <a:ea typeface="+mn-ea"/>
              <a:cs typeface="+mn-ea"/>
              <a:sym typeface="+mn-lt"/>
            </a:rPr>
            <a:t>逻辑结构</a:t>
          </a:r>
        </a:p>
      </dgm:t>
    </dgm:pt>
    <dgm:pt modelId="{322AE856-1454-4EB0-8E7B-1956A64D7956}" type="parTrans" cxnId="{D5B4F5C4-8289-4180-A14D-6E6BCB7A2C2A}">
      <dgm:prSet/>
      <dgm:spPr/>
      <dgm:t>
        <a:bodyPr/>
        <a:lstStyle/>
        <a:p>
          <a:endParaRPr lang="zh-CN" altLang="en-US"/>
        </a:p>
      </dgm:t>
    </dgm:pt>
    <dgm:pt modelId="{FD20E2D8-245C-41E1-ADB8-F57985263646}" type="sibTrans" cxnId="{D5B4F5C4-8289-4180-A14D-6E6BCB7A2C2A}">
      <dgm:prSet/>
      <dgm:spPr/>
      <dgm:t>
        <a:bodyPr/>
        <a:lstStyle/>
        <a:p>
          <a:endParaRPr lang="zh-CN" altLang="en-US"/>
        </a:p>
      </dgm:t>
    </dgm:pt>
    <dgm:pt modelId="{9F70255F-1144-4F29-843D-01180F586314}">
      <dgm:prSet phldrT="[文本]"/>
      <dgm:spPr/>
      <dgm:t>
        <a:bodyPr/>
        <a:lstStyle/>
        <a:p>
          <a:r>
            <a:rPr lang="zh-CN" altLang="en-US" dirty="0">
              <a:latin typeface="+mn-lt"/>
              <a:ea typeface="+mn-ea"/>
              <a:cs typeface="+mn-ea"/>
              <a:sym typeface="+mn-lt"/>
            </a:rPr>
            <a:t>线性结构（线性表、栈、队、串、数组）</a:t>
          </a:r>
        </a:p>
      </dgm:t>
    </dgm:pt>
    <dgm:pt modelId="{45A05C54-EC53-4281-B2F4-C80D41EFE07C}" type="parTrans" cxnId="{40C07515-0F69-457F-A4F1-41492883AD57}">
      <dgm:prSet/>
      <dgm:spPr/>
      <dgm:t>
        <a:bodyPr/>
        <a:lstStyle/>
        <a:p>
          <a:endParaRPr lang="zh-CN" altLang="en-US"/>
        </a:p>
      </dgm:t>
    </dgm:pt>
    <dgm:pt modelId="{95FCA461-EF95-4B27-9EB4-52F68A9E18B9}" type="sibTrans" cxnId="{40C07515-0F69-457F-A4F1-41492883AD57}">
      <dgm:prSet/>
      <dgm:spPr/>
      <dgm:t>
        <a:bodyPr/>
        <a:lstStyle/>
        <a:p>
          <a:endParaRPr lang="zh-CN" altLang="en-US"/>
        </a:p>
      </dgm:t>
    </dgm:pt>
    <dgm:pt modelId="{A9C91238-9E54-42D7-9BB7-AF4E30A08069}">
      <dgm:prSet phldrT="[文本]"/>
      <dgm:spPr/>
      <dgm:t>
        <a:bodyPr/>
        <a:lstStyle/>
        <a:p>
          <a:r>
            <a:rPr lang="zh-CN" altLang="en-US" dirty="0">
              <a:latin typeface="+mn-lt"/>
              <a:ea typeface="+mn-ea"/>
              <a:cs typeface="+mn-ea"/>
              <a:sym typeface="+mn-lt"/>
            </a:rPr>
            <a:t>非线性结构</a:t>
          </a:r>
        </a:p>
      </dgm:t>
    </dgm:pt>
    <dgm:pt modelId="{33DE039D-9933-463A-9860-574540D8AD0B}" type="parTrans" cxnId="{F55D3BA9-EF1C-4BF7-927E-A8F54F923458}">
      <dgm:prSet/>
      <dgm:spPr/>
      <dgm:t>
        <a:bodyPr/>
        <a:lstStyle/>
        <a:p>
          <a:endParaRPr lang="zh-CN" altLang="en-US"/>
        </a:p>
      </dgm:t>
    </dgm:pt>
    <dgm:pt modelId="{AFDB399E-5A55-40CA-8604-F179D5729E7A}" type="sibTrans" cxnId="{F55D3BA9-EF1C-4BF7-927E-A8F54F923458}">
      <dgm:prSet/>
      <dgm:spPr/>
      <dgm:t>
        <a:bodyPr/>
        <a:lstStyle/>
        <a:p>
          <a:endParaRPr lang="zh-CN" altLang="en-US"/>
        </a:p>
      </dgm:t>
    </dgm:pt>
    <dgm:pt modelId="{F07FD081-7676-420C-9189-03B4DE6D5DCE}">
      <dgm:prSet phldrT="[文本]"/>
      <dgm:spPr/>
      <dgm:t>
        <a:bodyPr/>
        <a:lstStyle/>
        <a:p>
          <a:r>
            <a:rPr lang="zh-CN" altLang="en-US" dirty="0">
              <a:latin typeface="+mn-lt"/>
              <a:ea typeface="+mn-ea"/>
              <a:cs typeface="+mn-ea"/>
              <a:sym typeface="+mn-lt"/>
            </a:rPr>
            <a:t>物理（存储结构）</a:t>
          </a:r>
        </a:p>
      </dgm:t>
    </dgm:pt>
    <dgm:pt modelId="{89DC8932-717E-47A0-934A-E60AD133CB73}" type="parTrans" cxnId="{296E1FA2-4A46-43FE-B219-B644963BCFBC}">
      <dgm:prSet/>
      <dgm:spPr/>
      <dgm:t>
        <a:bodyPr/>
        <a:lstStyle/>
        <a:p>
          <a:endParaRPr lang="zh-CN" altLang="en-US"/>
        </a:p>
      </dgm:t>
    </dgm:pt>
    <dgm:pt modelId="{6435B591-DB6B-4091-8ACE-C954DF441291}" type="sibTrans" cxnId="{296E1FA2-4A46-43FE-B219-B644963BCFBC}">
      <dgm:prSet/>
      <dgm:spPr/>
      <dgm:t>
        <a:bodyPr/>
        <a:lstStyle/>
        <a:p>
          <a:endParaRPr lang="zh-CN" altLang="en-US"/>
        </a:p>
      </dgm:t>
    </dgm:pt>
    <dgm:pt modelId="{0BCA741C-3E4D-467A-8AC8-A3AA66A637AE}">
      <dgm:prSet phldrT="[文本]"/>
      <dgm:spPr/>
      <dgm:t>
        <a:bodyPr/>
        <a:lstStyle/>
        <a:p>
          <a:r>
            <a:rPr lang="zh-CN" altLang="en-US" dirty="0">
              <a:latin typeface="+mn-lt"/>
              <a:ea typeface="+mn-ea"/>
              <a:cs typeface="+mn-ea"/>
              <a:sym typeface="+mn-lt"/>
            </a:rPr>
            <a:t>顺序结构</a:t>
          </a:r>
        </a:p>
      </dgm:t>
    </dgm:pt>
    <dgm:pt modelId="{E0E6FC69-0F7C-4A1D-9183-905A330339FC}" type="parTrans" cxnId="{9A006125-848A-4B59-8C89-9EBD74EC432C}">
      <dgm:prSet/>
      <dgm:spPr/>
      <dgm:t>
        <a:bodyPr/>
        <a:lstStyle/>
        <a:p>
          <a:endParaRPr lang="zh-CN" altLang="en-US"/>
        </a:p>
      </dgm:t>
    </dgm:pt>
    <dgm:pt modelId="{071CECA6-B2F3-4C3A-A741-FB5F89F1BF2E}" type="sibTrans" cxnId="{9A006125-848A-4B59-8C89-9EBD74EC432C}">
      <dgm:prSet/>
      <dgm:spPr/>
      <dgm:t>
        <a:bodyPr/>
        <a:lstStyle/>
        <a:p>
          <a:endParaRPr lang="zh-CN" altLang="en-US"/>
        </a:p>
      </dgm:t>
    </dgm:pt>
    <dgm:pt modelId="{0A1C0214-6986-445B-974F-C041BA440A6D}">
      <dgm:prSet phldrT="[文本]"/>
      <dgm:spPr/>
      <dgm:t>
        <a:bodyPr/>
        <a:lstStyle/>
        <a:p>
          <a:r>
            <a:rPr lang="zh-CN" altLang="en-US" dirty="0">
              <a:latin typeface="+mn-lt"/>
              <a:ea typeface="+mn-ea"/>
              <a:cs typeface="+mn-ea"/>
              <a:sym typeface="+mn-lt"/>
            </a:rPr>
            <a:t>数据运算</a:t>
          </a:r>
        </a:p>
      </dgm:t>
    </dgm:pt>
    <dgm:pt modelId="{72BDCEB5-E6AE-4365-815F-A51C5742A8A8}" type="parTrans" cxnId="{AE33949D-BF3F-4665-9D99-7DAF22D4CC37}">
      <dgm:prSet/>
      <dgm:spPr/>
      <dgm:t>
        <a:bodyPr/>
        <a:lstStyle/>
        <a:p>
          <a:endParaRPr lang="zh-CN" altLang="en-US"/>
        </a:p>
      </dgm:t>
    </dgm:pt>
    <dgm:pt modelId="{E6F456E1-1933-4257-A113-FFE85CEC0672}" type="sibTrans" cxnId="{AE33949D-BF3F-4665-9D99-7DAF22D4CC37}">
      <dgm:prSet/>
      <dgm:spPr/>
      <dgm:t>
        <a:bodyPr/>
        <a:lstStyle/>
        <a:p>
          <a:endParaRPr lang="zh-CN" altLang="en-US"/>
        </a:p>
      </dgm:t>
    </dgm:pt>
    <dgm:pt modelId="{947A5A78-3570-43EA-AA72-DAC2D211AE96}">
      <dgm:prSet phldrT="[文本]"/>
      <dgm:spPr/>
      <dgm:t>
        <a:bodyPr/>
        <a:lstStyle/>
        <a:p>
          <a:r>
            <a:rPr lang="zh-CN" altLang="en-US" dirty="0">
              <a:latin typeface="+mn-lt"/>
              <a:ea typeface="+mn-ea"/>
              <a:cs typeface="+mn-ea"/>
              <a:sym typeface="+mn-lt"/>
            </a:rPr>
            <a:t>插入运算</a:t>
          </a:r>
        </a:p>
      </dgm:t>
    </dgm:pt>
    <dgm:pt modelId="{010BCBD2-FC60-4715-8051-86E36A5D1451}" type="parTrans" cxnId="{17E07136-E228-4AF5-B33A-7149A12F452B}">
      <dgm:prSet/>
      <dgm:spPr/>
      <dgm:t>
        <a:bodyPr/>
        <a:lstStyle/>
        <a:p>
          <a:endParaRPr lang="zh-CN" altLang="en-US"/>
        </a:p>
      </dgm:t>
    </dgm:pt>
    <dgm:pt modelId="{06E578C1-E816-4160-86AC-62751CBB6E04}" type="sibTrans" cxnId="{17E07136-E228-4AF5-B33A-7149A12F452B}">
      <dgm:prSet/>
      <dgm:spPr/>
      <dgm:t>
        <a:bodyPr/>
        <a:lstStyle/>
        <a:p>
          <a:endParaRPr lang="zh-CN" altLang="en-US"/>
        </a:p>
      </dgm:t>
    </dgm:pt>
    <dgm:pt modelId="{95DBCDB5-E3A4-4E67-A92F-CE5F7DE4B5C9}">
      <dgm:prSet phldrT="[文本]"/>
      <dgm:spPr/>
      <dgm:t>
        <a:bodyPr/>
        <a:lstStyle/>
        <a:p>
          <a:r>
            <a:rPr lang="zh-CN" altLang="en-US" dirty="0">
              <a:latin typeface="+mn-lt"/>
              <a:ea typeface="+mn-ea"/>
              <a:cs typeface="+mn-ea"/>
              <a:sym typeface="+mn-lt"/>
            </a:rPr>
            <a:t>删除运算</a:t>
          </a:r>
        </a:p>
      </dgm:t>
    </dgm:pt>
    <dgm:pt modelId="{CAADDDF4-22B9-4AB9-B14A-73D6A4190C29}" type="parTrans" cxnId="{A6E20741-A655-4F16-BFAA-9D6557BB2986}">
      <dgm:prSet/>
      <dgm:spPr/>
      <dgm:t>
        <a:bodyPr/>
        <a:lstStyle/>
        <a:p>
          <a:endParaRPr lang="zh-CN" altLang="en-US"/>
        </a:p>
      </dgm:t>
    </dgm:pt>
    <dgm:pt modelId="{BBB1C1F9-E2BE-4E34-AC3A-E75CC598C77A}" type="sibTrans" cxnId="{A6E20741-A655-4F16-BFAA-9D6557BB2986}">
      <dgm:prSet/>
      <dgm:spPr/>
      <dgm:t>
        <a:bodyPr/>
        <a:lstStyle/>
        <a:p>
          <a:endParaRPr lang="zh-CN" altLang="en-US"/>
        </a:p>
      </dgm:t>
    </dgm:pt>
    <dgm:pt modelId="{C1C726F4-AEB5-4009-9843-9E4515BCBF71}">
      <dgm:prSet phldrT="[文本]"/>
      <dgm:spPr/>
      <dgm:t>
        <a:bodyPr/>
        <a:lstStyle/>
        <a:p>
          <a:r>
            <a:rPr lang="zh-CN" altLang="en-US" dirty="0">
              <a:latin typeface="+mn-lt"/>
              <a:ea typeface="+mn-ea"/>
              <a:cs typeface="+mn-ea"/>
              <a:sym typeface="+mn-lt"/>
            </a:rPr>
            <a:t>修改运算</a:t>
          </a:r>
        </a:p>
      </dgm:t>
    </dgm:pt>
    <dgm:pt modelId="{CFA8C15B-5792-4413-9850-8AC322B9698D}" type="parTrans" cxnId="{9287EC5C-4B2C-408B-8BF6-4C534DEBB794}">
      <dgm:prSet/>
      <dgm:spPr/>
      <dgm:t>
        <a:bodyPr/>
        <a:lstStyle/>
        <a:p>
          <a:endParaRPr lang="zh-CN" altLang="en-US"/>
        </a:p>
      </dgm:t>
    </dgm:pt>
    <dgm:pt modelId="{676602C0-0CD2-4A1C-909A-3C9E911C216A}" type="sibTrans" cxnId="{9287EC5C-4B2C-408B-8BF6-4C534DEBB794}">
      <dgm:prSet/>
      <dgm:spPr/>
      <dgm:t>
        <a:bodyPr/>
        <a:lstStyle/>
        <a:p>
          <a:endParaRPr lang="zh-CN" altLang="en-US"/>
        </a:p>
      </dgm:t>
    </dgm:pt>
    <dgm:pt modelId="{D3BB87B3-22F9-436F-8A56-1C6AB20AFD61}">
      <dgm:prSet phldrT="[文本]"/>
      <dgm:spPr>
        <a:solidFill>
          <a:srgbClr val="FF3300"/>
        </a:solidFill>
      </dgm:spPr>
      <dgm:t>
        <a:bodyPr/>
        <a:lstStyle/>
        <a:p>
          <a:r>
            <a:rPr lang="zh-CN" altLang="en-US" dirty="0">
              <a:latin typeface="+mn-lt"/>
              <a:ea typeface="+mn-ea"/>
              <a:cs typeface="+mn-ea"/>
              <a:sym typeface="+mn-lt"/>
            </a:rPr>
            <a:t>查找运算</a:t>
          </a:r>
        </a:p>
      </dgm:t>
    </dgm:pt>
    <dgm:pt modelId="{BD3704C6-1205-414D-B1DF-AED863789C79}" type="parTrans" cxnId="{73E92908-ED11-4216-B3EB-229A4FC53D06}">
      <dgm:prSet/>
      <dgm:spPr/>
      <dgm:t>
        <a:bodyPr/>
        <a:lstStyle/>
        <a:p>
          <a:endParaRPr lang="zh-CN" altLang="en-US"/>
        </a:p>
      </dgm:t>
    </dgm:pt>
    <dgm:pt modelId="{D49D89F6-1C1A-4B27-ACA1-CE5069C412CC}" type="sibTrans" cxnId="{73E92908-ED11-4216-B3EB-229A4FC53D06}">
      <dgm:prSet/>
      <dgm:spPr/>
      <dgm:t>
        <a:bodyPr/>
        <a:lstStyle/>
        <a:p>
          <a:endParaRPr lang="zh-CN" altLang="en-US"/>
        </a:p>
      </dgm:t>
    </dgm:pt>
    <dgm:pt modelId="{BFC78336-DCF1-485D-99A1-CC216F34237C}">
      <dgm:prSet phldrT="[文本]"/>
      <dgm:spPr/>
      <dgm:t>
        <a:bodyPr/>
        <a:lstStyle/>
        <a:p>
          <a:r>
            <a:rPr lang="zh-CN" altLang="en-US" dirty="0">
              <a:latin typeface="+mn-lt"/>
              <a:ea typeface="+mn-ea"/>
              <a:cs typeface="+mn-ea"/>
              <a:sym typeface="+mn-lt"/>
            </a:rPr>
            <a:t>排序运算</a:t>
          </a:r>
        </a:p>
      </dgm:t>
    </dgm:pt>
    <dgm:pt modelId="{26D4C600-7029-477E-81DD-6BF7C63ED123}" type="parTrans" cxnId="{70917B87-7E58-450D-9AAA-D86B7ADD7494}">
      <dgm:prSet/>
      <dgm:spPr/>
      <dgm:t>
        <a:bodyPr/>
        <a:lstStyle/>
        <a:p>
          <a:endParaRPr lang="zh-CN" altLang="en-US"/>
        </a:p>
      </dgm:t>
    </dgm:pt>
    <dgm:pt modelId="{FF19E1F4-FBAA-45C8-8CAE-CCBE8F5C0F2A}" type="sibTrans" cxnId="{70917B87-7E58-450D-9AAA-D86B7ADD7494}">
      <dgm:prSet/>
      <dgm:spPr/>
      <dgm:t>
        <a:bodyPr/>
        <a:lstStyle/>
        <a:p>
          <a:endParaRPr lang="zh-CN" altLang="en-US"/>
        </a:p>
      </dgm:t>
    </dgm:pt>
    <dgm:pt modelId="{3452061E-13E2-4C73-B349-3157FA323C6E}">
      <dgm:prSet phldrT="[文本]"/>
      <dgm:spPr/>
      <dgm:t>
        <a:bodyPr/>
        <a:lstStyle/>
        <a:p>
          <a:r>
            <a:rPr lang="zh-CN" altLang="en-US" dirty="0">
              <a:latin typeface="+mn-lt"/>
              <a:ea typeface="+mn-ea"/>
              <a:cs typeface="+mn-ea"/>
              <a:sym typeface="+mn-lt"/>
            </a:rPr>
            <a:t>链式结构</a:t>
          </a:r>
        </a:p>
      </dgm:t>
    </dgm:pt>
    <dgm:pt modelId="{FA0F6768-6ADD-4998-8126-5156401B56C5}" type="parTrans" cxnId="{A7E40DCD-E4F8-495B-B78B-5B80CC994453}">
      <dgm:prSet/>
      <dgm:spPr/>
      <dgm:t>
        <a:bodyPr/>
        <a:lstStyle/>
        <a:p>
          <a:endParaRPr lang="zh-CN" altLang="en-US"/>
        </a:p>
      </dgm:t>
    </dgm:pt>
    <dgm:pt modelId="{1DB61ECA-5877-4B4A-BBAF-AB85EEE5C820}" type="sibTrans" cxnId="{A7E40DCD-E4F8-495B-B78B-5B80CC994453}">
      <dgm:prSet/>
      <dgm:spPr/>
      <dgm:t>
        <a:bodyPr/>
        <a:lstStyle/>
        <a:p>
          <a:endParaRPr lang="zh-CN" altLang="en-US"/>
        </a:p>
      </dgm:t>
    </dgm:pt>
    <dgm:pt modelId="{3AF04ED5-E5AD-4777-8ACC-EFCF492EC822}">
      <dgm:prSet phldrT="[文本]"/>
      <dgm:spPr/>
      <dgm:t>
        <a:bodyPr/>
        <a:lstStyle/>
        <a:p>
          <a:r>
            <a:rPr lang="zh-CN" altLang="en-US" dirty="0">
              <a:latin typeface="+mn-lt"/>
              <a:ea typeface="+mn-ea"/>
              <a:cs typeface="+mn-ea"/>
              <a:sym typeface="+mn-lt"/>
            </a:rPr>
            <a:t>树结构</a:t>
          </a:r>
        </a:p>
      </dgm:t>
    </dgm:pt>
    <dgm:pt modelId="{F2CF2EA7-0A59-4E9F-9E7B-1C3472EFBE30}" type="parTrans" cxnId="{4FD3993C-E1C6-41D6-AC8F-05465D6EAB00}">
      <dgm:prSet/>
      <dgm:spPr/>
      <dgm:t>
        <a:bodyPr/>
        <a:lstStyle/>
        <a:p>
          <a:endParaRPr lang="zh-CN" altLang="en-US"/>
        </a:p>
      </dgm:t>
    </dgm:pt>
    <dgm:pt modelId="{1996C344-5E33-48C0-A17B-14D827431330}" type="sibTrans" cxnId="{4FD3993C-E1C6-41D6-AC8F-05465D6EAB00}">
      <dgm:prSet/>
      <dgm:spPr/>
      <dgm:t>
        <a:bodyPr/>
        <a:lstStyle/>
        <a:p>
          <a:endParaRPr lang="zh-CN" altLang="en-US"/>
        </a:p>
      </dgm:t>
    </dgm:pt>
    <dgm:pt modelId="{40253CA6-B570-4847-A2BC-722A0D26E6C8}">
      <dgm:prSet phldrT="[文本]"/>
      <dgm:spPr/>
      <dgm:t>
        <a:bodyPr/>
        <a:lstStyle/>
        <a:p>
          <a:r>
            <a:rPr lang="zh-CN" altLang="en-US" dirty="0">
              <a:latin typeface="+mn-lt"/>
              <a:ea typeface="+mn-ea"/>
              <a:cs typeface="+mn-ea"/>
              <a:sym typeface="+mn-lt"/>
            </a:rPr>
            <a:t>图结构</a:t>
          </a:r>
        </a:p>
      </dgm:t>
    </dgm:pt>
    <dgm:pt modelId="{D57216AA-580C-40F0-8F61-7730FD1080D2}" type="parTrans" cxnId="{59018CCE-3725-4E2C-943A-CB99775F9C8E}">
      <dgm:prSet/>
      <dgm:spPr/>
      <dgm:t>
        <a:bodyPr/>
        <a:lstStyle/>
        <a:p>
          <a:endParaRPr lang="zh-CN" altLang="en-US"/>
        </a:p>
      </dgm:t>
    </dgm:pt>
    <dgm:pt modelId="{CC32A772-B908-4FCC-8634-BE4F5FCEA3EF}" type="sibTrans" cxnId="{59018CCE-3725-4E2C-943A-CB99775F9C8E}">
      <dgm:prSet/>
      <dgm:spPr/>
      <dgm:t>
        <a:bodyPr/>
        <a:lstStyle/>
        <a:p>
          <a:endParaRPr lang="zh-CN" altLang="en-US"/>
        </a:p>
      </dgm:t>
    </dgm:pt>
    <dgm:pt modelId="{EBB9B033-CD08-4943-B447-4E08F84400B0}" type="pres">
      <dgm:prSet presAssocID="{A96B2411-DC16-462C-9978-AF5F0BCC8F89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E892AAAD-A825-4B10-9758-883271F9D088}" type="pres">
      <dgm:prSet presAssocID="{24ABB9F3-0A4C-4320-8978-27F6643618DF}" presName="root1" presStyleCnt="0"/>
      <dgm:spPr/>
    </dgm:pt>
    <dgm:pt modelId="{289364D4-62C3-4470-8C7F-B490175B1EE6}" type="pres">
      <dgm:prSet presAssocID="{24ABB9F3-0A4C-4320-8978-27F6643618DF}" presName="LevelOneTextNode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AB687326-620A-4BEA-A12E-3614CCC95DC6}" type="pres">
      <dgm:prSet presAssocID="{24ABB9F3-0A4C-4320-8978-27F6643618DF}" presName="level2hierChild" presStyleCnt="0"/>
      <dgm:spPr/>
    </dgm:pt>
    <dgm:pt modelId="{0BBCAC59-83FF-4F39-9477-11267436B0BC}" type="pres">
      <dgm:prSet presAssocID="{322AE856-1454-4EB0-8E7B-1956A64D7956}" presName="conn2-1" presStyleLbl="parChTrans1D2" presStyleIdx="0" presStyleCnt="3"/>
      <dgm:spPr/>
      <dgm:t>
        <a:bodyPr/>
        <a:lstStyle/>
        <a:p>
          <a:endParaRPr lang="zh-CN" altLang="en-US"/>
        </a:p>
      </dgm:t>
    </dgm:pt>
    <dgm:pt modelId="{4FB9D346-12E8-4565-A57F-1E70A54AB37A}" type="pres">
      <dgm:prSet presAssocID="{322AE856-1454-4EB0-8E7B-1956A64D7956}" presName="connTx" presStyleLbl="parChTrans1D2" presStyleIdx="0" presStyleCnt="3"/>
      <dgm:spPr/>
      <dgm:t>
        <a:bodyPr/>
        <a:lstStyle/>
        <a:p>
          <a:endParaRPr lang="zh-CN" altLang="en-US"/>
        </a:p>
      </dgm:t>
    </dgm:pt>
    <dgm:pt modelId="{9BB060E6-CACC-4D6C-8182-F0667B0EB18F}" type="pres">
      <dgm:prSet presAssocID="{62A2BA7D-8D73-46D2-B136-DC236B0FA708}" presName="root2" presStyleCnt="0"/>
      <dgm:spPr/>
    </dgm:pt>
    <dgm:pt modelId="{16ECAC38-518A-47EE-8BD4-9FD0840D4B82}" type="pres">
      <dgm:prSet presAssocID="{62A2BA7D-8D73-46D2-B136-DC236B0FA708}" presName="LevelTwoTextNode" presStyleLbl="node2" presStyleIdx="0" presStyleCnt="3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F10A83BA-18F8-4CD4-8FFA-EA8A7998F352}" type="pres">
      <dgm:prSet presAssocID="{62A2BA7D-8D73-46D2-B136-DC236B0FA708}" presName="level3hierChild" presStyleCnt="0"/>
      <dgm:spPr/>
    </dgm:pt>
    <dgm:pt modelId="{D6AC20A8-F52C-41E7-A11F-5A4B1B60A714}" type="pres">
      <dgm:prSet presAssocID="{45A05C54-EC53-4281-B2F4-C80D41EFE07C}" presName="conn2-1" presStyleLbl="parChTrans1D3" presStyleIdx="0" presStyleCnt="9"/>
      <dgm:spPr/>
      <dgm:t>
        <a:bodyPr/>
        <a:lstStyle/>
        <a:p>
          <a:endParaRPr lang="zh-CN" altLang="en-US"/>
        </a:p>
      </dgm:t>
    </dgm:pt>
    <dgm:pt modelId="{A6D64D25-24C5-4595-AB80-243F592B6452}" type="pres">
      <dgm:prSet presAssocID="{45A05C54-EC53-4281-B2F4-C80D41EFE07C}" presName="connTx" presStyleLbl="parChTrans1D3" presStyleIdx="0" presStyleCnt="9"/>
      <dgm:spPr/>
      <dgm:t>
        <a:bodyPr/>
        <a:lstStyle/>
        <a:p>
          <a:endParaRPr lang="zh-CN" altLang="en-US"/>
        </a:p>
      </dgm:t>
    </dgm:pt>
    <dgm:pt modelId="{6211BB73-91AE-4A15-A420-7A4E9ECA8E25}" type="pres">
      <dgm:prSet presAssocID="{9F70255F-1144-4F29-843D-01180F586314}" presName="root2" presStyleCnt="0"/>
      <dgm:spPr/>
    </dgm:pt>
    <dgm:pt modelId="{CA2411B4-EC87-4940-826C-689EAF2ADD5C}" type="pres">
      <dgm:prSet presAssocID="{9F70255F-1144-4F29-843D-01180F586314}" presName="LevelTwoTextNode" presStyleLbl="node3" presStyleIdx="0" presStyleCnt="9" custScaleX="300581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63805E67-E20B-4BA7-AD7A-374F73298136}" type="pres">
      <dgm:prSet presAssocID="{9F70255F-1144-4F29-843D-01180F586314}" presName="level3hierChild" presStyleCnt="0"/>
      <dgm:spPr/>
    </dgm:pt>
    <dgm:pt modelId="{11163C56-239A-4C48-B1C2-C82990B2F389}" type="pres">
      <dgm:prSet presAssocID="{33DE039D-9933-463A-9860-574540D8AD0B}" presName="conn2-1" presStyleLbl="parChTrans1D3" presStyleIdx="1" presStyleCnt="9"/>
      <dgm:spPr/>
      <dgm:t>
        <a:bodyPr/>
        <a:lstStyle/>
        <a:p>
          <a:endParaRPr lang="zh-CN" altLang="en-US"/>
        </a:p>
      </dgm:t>
    </dgm:pt>
    <dgm:pt modelId="{F2FB7FDD-C506-4276-87AC-E4FC2DDB5C5C}" type="pres">
      <dgm:prSet presAssocID="{33DE039D-9933-463A-9860-574540D8AD0B}" presName="connTx" presStyleLbl="parChTrans1D3" presStyleIdx="1" presStyleCnt="9"/>
      <dgm:spPr/>
      <dgm:t>
        <a:bodyPr/>
        <a:lstStyle/>
        <a:p>
          <a:endParaRPr lang="zh-CN" altLang="en-US"/>
        </a:p>
      </dgm:t>
    </dgm:pt>
    <dgm:pt modelId="{F457594A-1A0C-4620-83FB-6F0840E10DC5}" type="pres">
      <dgm:prSet presAssocID="{A9C91238-9E54-42D7-9BB7-AF4E30A08069}" presName="root2" presStyleCnt="0"/>
      <dgm:spPr/>
    </dgm:pt>
    <dgm:pt modelId="{0848E00F-8704-4377-B25A-DAD92674F808}" type="pres">
      <dgm:prSet presAssocID="{A9C91238-9E54-42D7-9BB7-AF4E30A08069}" presName="LevelTwoTextNode" presStyleLbl="node3" presStyleIdx="1" presStyleCnt="9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18B9ACD7-2A61-4D16-BE3B-25C65660251C}" type="pres">
      <dgm:prSet presAssocID="{A9C91238-9E54-42D7-9BB7-AF4E30A08069}" presName="level3hierChild" presStyleCnt="0"/>
      <dgm:spPr/>
    </dgm:pt>
    <dgm:pt modelId="{69AA4998-02A8-4314-8274-A97EFEE58F69}" type="pres">
      <dgm:prSet presAssocID="{F2CF2EA7-0A59-4E9F-9E7B-1C3472EFBE30}" presName="conn2-1" presStyleLbl="parChTrans1D4" presStyleIdx="0" presStyleCnt="2"/>
      <dgm:spPr/>
      <dgm:t>
        <a:bodyPr/>
        <a:lstStyle/>
        <a:p>
          <a:endParaRPr lang="zh-CN" altLang="en-US"/>
        </a:p>
      </dgm:t>
    </dgm:pt>
    <dgm:pt modelId="{301822AC-A6EE-4545-8AD2-F56DBBD97D9A}" type="pres">
      <dgm:prSet presAssocID="{F2CF2EA7-0A59-4E9F-9E7B-1C3472EFBE30}" presName="connTx" presStyleLbl="parChTrans1D4" presStyleIdx="0" presStyleCnt="2"/>
      <dgm:spPr/>
      <dgm:t>
        <a:bodyPr/>
        <a:lstStyle/>
        <a:p>
          <a:endParaRPr lang="zh-CN" altLang="en-US"/>
        </a:p>
      </dgm:t>
    </dgm:pt>
    <dgm:pt modelId="{D1F1356F-B9D5-4F6A-AF40-316158F4A0D9}" type="pres">
      <dgm:prSet presAssocID="{3AF04ED5-E5AD-4777-8ACC-EFCF492EC822}" presName="root2" presStyleCnt="0"/>
      <dgm:spPr/>
    </dgm:pt>
    <dgm:pt modelId="{27C1DD5A-4DE1-4D34-BF99-B55763485F5F}" type="pres">
      <dgm:prSet presAssocID="{3AF04ED5-E5AD-4777-8ACC-EFCF492EC822}" presName="LevelTwoTextNode" presStyleLbl="node4" presStyleIdx="0" presStyleCnt="2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7B628AA7-26CF-4A40-8C41-E93C5359937D}" type="pres">
      <dgm:prSet presAssocID="{3AF04ED5-E5AD-4777-8ACC-EFCF492EC822}" presName="level3hierChild" presStyleCnt="0"/>
      <dgm:spPr/>
    </dgm:pt>
    <dgm:pt modelId="{A0B08AE4-A3EB-4176-8117-5034F0469192}" type="pres">
      <dgm:prSet presAssocID="{D57216AA-580C-40F0-8F61-7730FD1080D2}" presName="conn2-1" presStyleLbl="parChTrans1D4" presStyleIdx="1" presStyleCnt="2"/>
      <dgm:spPr/>
      <dgm:t>
        <a:bodyPr/>
        <a:lstStyle/>
        <a:p>
          <a:endParaRPr lang="zh-CN" altLang="en-US"/>
        </a:p>
      </dgm:t>
    </dgm:pt>
    <dgm:pt modelId="{FCCC415B-ED9E-4CEF-8C12-62727E57DA9C}" type="pres">
      <dgm:prSet presAssocID="{D57216AA-580C-40F0-8F61-7730FD1080D2}" presName="connTx" presStyleLbl="parChTrans1D4" presStyleIdx="1" presStyleCnt="2"/>
      <dgm:spPr/>
      <dgm:t>
        <a:bodyPr/>
        <a:lstStyle/>
        <a:p>
          <a:endParaRPr lang="zh-CN" altLang="en-US"/>
        </a:p>
      </dgm:t>
    </dgm:pt>
    <dgm:pt modelId="{4483668A-7693-4533-8452-E7440134718B}" type="pres">
      <dgm:prSet presAssocID="{40253CA6-B570-4847-A2BC-722A0D26E6C8}" presName="root2" presStyleCnt="0"/>
      <dgm:spPr/>
    </dgm:pt>
    <dgm:pt modelId="{AC3483A0-DE79-4A15-92B8-B4F1A7EC42C8}" type="pres">
      <dgm:prSet presAssocID="{40253CA6-B570-4847-A2BC-722A0D26E6C8}" presName="LevelTwoTextNode" presStyleLbl="node4" presStyleIdx="1" presStyleCnt="2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CF32361E-299F-413A-8690-D458709D9C99}" type="pres">
      <dgm:prSet presAssocID="{40253CA6-B570-4847-A2BC-722A0D26E6C8}" presName="level3hierChild" presStyleCnt="0"/>
      <dgm:spPr/>
    </dgm:pt>
    <dgm:pt modelId="{07DFF6C3-18DC-4F08-A374-1DB056B939F6}" type="pres">
      <dgm:prSet presAssocID="{89DC8932-717E-47A0-934A-E60AD133CB73}" presName="conn2-1" presStyleLbl="parChTrans1D2" presStyleIdx="1" presStyleCnt="3"/>
      <dgm:spPr/>
      <dgm:t>
        <a:bodyPr/>
        <a:lstStyle/>
        <a:p>
          <a:endParaRPr lang="zh-CN" altLang="en-US"/>
        </a:p>
      </dgm:t>
    </dgm:pt>
    <dgm:pt modelId="{40DA70A5-E0F2-4C19-993B-0A0424BD0B58}" type="pres">
      <dgm:prSet presAssocID="{89DC8932-717E-47A0-934A-E60AD133CB73}" presName="connTx" presStyleLbl="parChTrans1D2" presStyleIdx="1" presStyleCnt="3"/>
      <dgm:spPr/>
      <dgm:t>
        <a:bodyPr/>
        <a:lstStyle/>
        <a:p>
          <a:endParaRPr lang="zh-CN" altLang="en-US"/>
        </a:p>
      </dgm:t>
    </dgm:pt>
    <dgm:pt modelId="{EC219274-1169-4F21-90EA-835A2CF6062C}" type="pres">
      <dgm:prSet presAssocID="{F07FD081-7676-420C-9189-03B4DE6D5DCE}" presName="root2" presStyleCnt="0"/>
      <dgm:spPr/>
    </dgm:pt>
    <dgm:pt modelId="{10DC5356-5669-4EEB-80DA-45642DEE7761}" type="pres">
      <dgm:prSet presAssocID="{F07FD081-7676-420C-9189-03B4DE6D5DCE}" presName="LevelTwoTextNode" presStyleLbl="node2" presStyleIdx="1" presStyleCnt="3" custScaleX="216482" custLinFactNeighborX="285" custLinFactNeighborY="16557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96D25839-24B3-4F14-82F3-6368B67A16E9}" type="pres">
      <dgm:prSet presAssocID="{F07FD081-7676-420C-9189-03B4DE6D5DCE}" presName="level3hierChild" presStyleCnt="0"/>
      <dgm:spPr/>
    </dgm:pt>
    <dgm:pt modelId="{52A35EE1-0E39-47B0-AE12-EB8FFA76665A}" type="pres">
      <dgm:prSet presAssocID="{E0E6FC69-0F7C-4A1D-9183-905A330339FC}" presName="conn2-1" presStyleLbl="parChTrans1D3" presStyleIdx="2" presStyleCnt="9"/>
      <dgm:spPr/>
      <dgm:t>
        <a:bodyPr/>
        <a:lstStyle/>
        <a:p>
          <a:endParaRPr lang="zh-CN" altLang="en-US"/>
        </a:p>
      </dgm:t>
    </dgm:pt>
    <dgm:pt modelId="{E0B4A03F-785C-47E8-BEFF-2F1F52773277}" type="pres">
      <dgm:prSet presAssocID="{E0E6FC69-0F7C-4A1D-9183-905A330339FC}" presName="connTx" presStyleLbl="parChTrans1D3" presStyleIdx="2" presStyleCnt="9"/>
      <dgm:spPr/>
      <dgm:t>
        <a:bodyPr/>
        <a:lstStyle/>
        <a:p>
          <a:endParaRPr lang="zh-CN" altLang="en-US"/>
        </a:p>
      </dgm:t>
    </dgm:pt>
    <dgm:pt modelId="{79DD4578-5B5B-42C8-9322-0A1456EB85D4}" type="pres">
      <dgm:prSet presAssocID="{0BCA741C-3E4D-467A-8AC8-A3AA66A637AE}" presName="root2" presStyleCnt="0"/>
      <dgm:spPr/>
    </dgm:pt>
    <dgm:pt modelId="{E58AE112-5951-4214-B14C-1E473817C495}" type="pres">
      <dgm:prSet presAssocID="{0BCA741C-3E4D-467A-8AC8-A3AA66A637AE}" presName="LevelTwoTextNode" presStyleLbl="node3" presStyleIdx="2" presStyleCnt="9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BC1271E5-6B44-450B-BE26-564DEC01A0B5}" type="pres">
      <dgm:prSet presAssocID="{0BCA741C-3E4D-467A-8AC8-A3AA66A637AE}" presName="level3hierChild" presStyleCnt="0"/>
      <dgm:spPr/>
    </dgm:pt>
    <dgm:pt modelId="{DA4320B4-8809-490D-ACD4-776D5DDD8293}" type="pres">
      <dgm:prSet presAssocID="{FA0F6768-6ADD-4998-8126-5156401B56C5}" presName="conn2-1" presStyleLbl="parChTrans1D3" presStyleIdx="3" presStyleCnt="9"/>
      <dgm:spPr/>
      <dgm:t>
        <a:bodyPr/>
        <a:lstStyle/>
        <a:p>
          <a:endParaRPr lang="zh-CN" altLang="en-US"/>
        </a:p>
      </dgm:t>
    </dgm:pt>
    <dgm:pt modelId="{8EB98DCE-7A3C-418C-811E-6069410364A0}" type="pres">
      <dgm:prSet presAssocID="{FA0F6768-6ADD-4998-8126-5156401B56C5}" presName="connTx" presStyleLbl="parChTrans1D3" presStyleIdx="3" presStyleCnt="9"/>
      <dgm:spPr/>
      <dgm:t>
        <a:bodyPr/>
        <a:lstStyle/>
        <a:p>
          <a:endParaRPr lang="zh-CN" altLang="en-US"/>
        </a:p>
      </dgm:t>
    </dgm:pt>
    <dgm:pt modelId="{325D50E6-5220-4365-BBA5-F0EE8050A3AD}" type="pres">
      <dgm:prSet presAssocID="{3452061E-13E2-4C73-B349-3157FA323C6E}" presName="root2" presStyleCnt="0"/>
      <dgm:spPr/>
    </dgm:pt>
    <dgm:pt modelId="{437AD372-5396-4AAF-A11C-855FAA6DC816}" type="pres">
      <dgm:prSet presAssocID="{3452061E-13E2-4C73-B349-3157FA323C6E}" presName="LevelTwoTextNode" presStyleLbl="node3" presStyleIdx="3" presStyleCnt="9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D36F4B51-D544-4923-88F7-3868E84598EE}" type="pres">
      <dgm:prSet presAssocID="{3452061E-13E2-4C73-B349-3157FA323C6E}" presName="level3hierChild" presStyleCnt="0"/>
      <dgm:spPr/>
    </dgm:pt>
    <dgm:pt modelId="{46CACD35-3C43-4183-BD88-C64874869325}" type="pres">
      <dgm:prSet presAssocID="{72BDCEB5-E6AE-4365-815F-A51C5742A8A8}" presName="conn2-1" presStyleLbl="parChTrans1D2" presStyleIdx="2" presStyleCnt="3"/>
      <dgm:spPr/>
      <dgm:t>
        <a:bodyPr/>
        <a:lstStyle/>
        <a:p>
          <a:endParaRPr lang="zh-CN" altLang="en-US"/>
        </a:p>
      </dgm:t>
    </dgm:pt>
    <dgm:pt modelId="{1E173077-E60E-4E81-AA74-C71226B0D2D0}" type="pres">
      <dgm:prSet presAssocID="{72BDCEB5-E6AE-4365-815F-A51C5742A8A8}" presName="connTx" presStyleLbl="parChTrans1D2" presStyleIdx="2" presStyleCnt="3"/>
      <dgm:spPr/>
      <dgm:t>
        <a:bodyPr/>
        <a:lstStyle/>
        <a:p>
          <a:endParaRPr lang="zh-CN" altLang="en-US"/>
        </a:p>
      </dgm:t>
    </dgm:pt>
    <dgm:pt modelId="{A40E54BB-D207-4712-89DF-D8A550BE5484}" type="pres">
      <dgm:prSet presAssocID="{0A1C0214-6986-445B-974F-C041BA440A6D}" presName="root2" presStyleCnt="0"/>
      <dgm:spPr/>
    </dgm:pt>
    <dgm:pt modelId="{75D98B10-7C46-43A8-A348-FA1A95366FD3}" type="pres">
      <dgm:prSet presAssocID="{0A1C0214-6986-445B-974F-C041BA440A6D}" presName="LevelTwoTextNode" presStyleLbl="node2" presStyleIdx="2" presStyleCnt="3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03879F0D-0B54-422F-99CD-9F022EA2CBFE}" type="pres">
      <dgm:prSet presAssocID="{0A1C0214-6986-445B-974F-C041BA440A6D}" presName="level3hierChild" presStyleCnt="0"/>
      <dgm:spPr/>
    </dgm:pt>
    <dgm:pt modelId="{CD44D7E2-BD0D-4DDC-A4D3-34C167473DA1}" type="pres">
      <dgm:prSet presAssocID="{010BCBD2-FC60-4715-8051-86E36A5D1451}" presName="conn2-1" presStyleLbl="parChTrans1D3" presStyleIdx="4" presStyleCnt="9"/>
      <dgm:spPr/>
      <dgm:t>
        <a:bodyPr/>
        <a:lstStyle/>
        <a:p>
          <a:endParaRPr lang="zh-CN" altLang="en-US"/>
        </a:p>
      </dgm:t>
    </dgm:pt>
    <dgm:pt modelId="{689C2128-4506-405E-9734-2FB10753292D}" type="pres">
      <dgm:prSet presAssocID="{010BCBD2-FC60-4715-8051-86E36A5D1451}" presName="connTx" presStyleLbl="parChTrans1D3" presStyleIdx="4" presStyleCnt="9"/>
      <dgm:spPr/>
      <dgm:t>
        <a:bodyPr/>
        <a:lstStyle/>
        <a:p>
          <a:endParaRPr lang="zh-CN" altLang="en-US"/>
        </a:p>
      </dgm:t>
    </dgm:pt>
    <dgm:pt modelId="{A1DB6E1C-C973-498F-96B4-7E0DEC8D9616}" type="pres">
      <dgm:prSet presAssocID="{947A5A78-3570-43EA-AA72-DAC2D211AE96}" presName="root2" presStyleCnt="0"/>
      <dgm:spPr/>
    </dgm:pt>
    <dgm:pt modelId="{323B10B6-089B-46BF-B6F0-7A307630A7CC}" type="pres">
      <dgm:prSet presAssocID="{947A5A78-3570-43EA-AA72-DAC2D211AE96}" presName="LevelTwoTextNode" presStyleLbl="node3" presStyleIdx="4" presStyleCnt="9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DF8F8C95-4269-478E-B792-B4314DB4AD31}" type="pres">
      <dgm:prSet presAssocID="{947A5A78-3570-43EA-AA72-DAC2D211AE96}" presName="level3hierChild" presStyleCnt="0"/>
      <dgm:spPr/>
    </dgm:pt>
    <dgm:pt modelId="{B6EA75C3-BDA9-4698-B87E-2F64C78807DE}" type="pres">
      <dgm:prSet presAssocID="{CAADDDF4-22B9-4AB9-B14A-73D6A4190C29}" presName="conn2-1" presStyleLbl="parChTrans1D3" presStyleIdx="5" presStyleCnt="9"/>
      <dgm:spPr/>
      <dgm:t>
        <a:bodyPr/>
        <a:lstStyle/>
        <a:p>
          <a:endParaRPr lang="zh-CN" altLang="en-US"/>
        </a:p>
      </dgm:t>
    </dgm:pt>
    <dgm:pt modelId="{441D21E9-9AA6-4EDE-8CE0-54246757344E}" type="pres">
      <dgm:prSet presAssocID="{CAADDDF4-22B9-4AB9-B14A-73D6A4190C29}" presName="connTx" presStyleLbl="parChTrans1D3" presStyleIdx="5" presStyleCnt="9"/>
      <dgm:spPr/>
      <dgm:t>
        <a:bodyPr/>
        <a:lstStyle/>
        <a:p>
          <a:endParaRPr lang="zh-CN" altLang="en-US"/>
        </a:p>
      </dgm:t>
    </dgm:pt>
    <dgm:pt modelId="{48E83874-7F5A-4482-BB99-1A00BFEFD450}" type="pres">
      <dgm:prSet presAssocID="{95DBCDB5-E3A4-4E67-A92F-CE5F7DE4B5C9}" presName="root2" presStyleCnt="0"/>
      <dgm:spPr/>
    </dgm:pt>
    <dgm:pt modelId="{BBC49AC0-467B-4772-A63F-64647B771549}" type="pres">
      <dgm:prSet presAssocID="{95DBCDB5-E3A4-4E67-A92F-CE5F7DE4B5C9}" presName="LevelTwoTextNode" presStyleLbl="node3" presStyleIdx="5" presStyleCnt="9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867483EA-1063-4CBD-A8EF-D0683D7D5603}" type="pres">
      <dgm:prSet presAssocID="{95DBCDB5-E3A4-4E67-A92F-CE5F7DE4B5C9}" presName="level3hierChild" presStyleCnt="0"/>
      <dgm:spPr/>
    </dgm:pt>
    <dgm:pt modelId="{997CC87B-5037-4CB1-BA79-A2E2C62ED436}" type="pres">
      <dgm:prSet presAssocID="{CFA8C15B-5792-4413-9850-8AC322B9698D}" presName="conn2-1" presStyleLbl="parChTrans1D3" presStyleIdx="6" presStyleCnt="9"/>
      <dgm:spPr/>
      <dgm:t>
        <a:bodyPr/>
        <a:lstStyle/>
        <a:p>
          <a:endParaRPr lang="zh-CN" altLang="en-US"/>
        </a:p>
      </dgm:t>
    </dgm:pt>
    <dgm:pt modelId="{6C4E92F7-E260-4C0E-BBB8-1F84919A2399}" type="pres">
      <dgm:prSet presAssocID="{CFA8C15B-5792-4413-9850-8AC322B9698D}" presName="connTx" presStyleLbl="parChTrans1D3" presStyleIdx="6" presStyleCnt="9"/>
      <dgm:spPr/>
      <dgm:t>
        <a:bodyPr/>
        <a:lstStyle/>
        <a:p>
          <a:endParaRPr lang="zh-CN" altLang="en-US"/>
        </a:p>
      </dgm:t>
    </dgm:pt>
    <dgm:pt modelId="{EED1F873-747E-4231-B7F7-BC5D31AAA3F4}" type="pres">
      <dgm:prSet presAssocID="{C1C726F4-AEB5-4009-9843-9E4515BCBF71}" presName="root2" presStyleCnt="0"/>
      <dgm:spPr/>
    </dgm:pt>
    <dgm:pt modelId="{5DD6F8E7-104E-40D3-8159-931158D7758D}" type="pres">
      <dgm:prSet presAssocID="{C1C726F4-AEB5-4009-9843-9E4515BCBF71}" presName="LevelTwoTextNode" presStyleLbl="node3" presStyleIdx="6" presStyleCnt="9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C4E7F7E6-B033-48C4-A2DE-224DB6D74432}" type="pres">
      <dgm:prSet presAssocID="{C1C726F4-AEB5-4009-9843-9E4515BCBF71}" presName="level3hierChild" presStyleCnt="0"/>
      <dgm:spPr/>
    </dgm:pt>
    <dgm:pt modelId="{940E049A-F7DF-4595-939D-66553F85181E}" type="pres">
      <dgm:prSet presAssocID="{BD3704C6-1205-414D-B1DF-AED863789C79}" presName="conn2-1" presStyleLbl="parChTrans1D3" presStyleIdx="7" presStyleCnt="9"/>
      <dgm:spPr/>
      <dgm:t>
        <a:bodyPr/>
        <a:lstStyle/>
        <a:p>
          <a:endParaRPr lang="zh-CN" altLang="en-US"/>
        </a:p>
      </dgm:t>
    </dgm:pt>
    <dgm:pt modelId="{5B6352D3-1EC8-4287-AB47-C7F43D988A64}" type="pres">
      <dgm:prSet presAssocID="{BD3704C6-1205-414D-B1DF-AED863789C79}" presName="connTx" presStyleLbl="parChTrans1D3" presStyleIdx="7" presStyleCnt="9"/>
      <dgm:spPr/>
      <dgm:t>
        <a:bodyPr/>
        <a:lstStyle/>
        <a:p>
          <a:endParaRPr lang="zh-CN" altLang="en-US"/>
        </a:p>
      </dgm:t>
    </dgm:pt>
    <dgm:pt modelId="{3F786E89-3D53-4729-AFAA-3346D5515EF1}" type="pres">
      <dgm:prSet presAssocID="{D3BB87B3-22F9-436F-8A56-1C6AB20AFD61}" presName="root2" presStyleCnt="0"/>
      <dgm:spPr/>
    </dgm:pt>
    <dgm:pt modelId="{AA38CFE2-47E6-4A3D-A9CB-3E0E2C8B38EC}" type="pres">
      <dgm:prSet presAssocID="{D3BB87B3-22F9-436F-8A56-1C6AB20AFD61}" presName="LevelTwoTextNode" presStyleLbl="node3" presStyleIdx="7" presStyleCnt="9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9981BB44-5CCE-47DD-9BF5-8FB8046EED1B}" type="pres">
      <dgm:prSet presAssocID="{D3BB87B3-22F9-436F-8A56-1C6AB20AFD61}" presName="level3hierChild" presStyleCnt="0"/>
      <dgm:spPr/>
    </dgm:pt>
    <dgm:pt modelId="{D0B25EBF-EF06-464B-BE67-4FCEDFE94839}" type="pres">
      <dgm:prSet presAssocID="{26D4C600-7029-477E-81DD-6BF7C63ED123}" presName="conn2-1" presStyleLbl="parChTrans1D3" presStyleIdx="8" presStyleCnt="9"/>
      <dgm:spPr/>
      <dgm:t>
        <a:bodyPr/>
        <a:lstStyle/>
        <a:p>
          <a:endParaRPr lang="zh-CN" altLang="en-US"/>
        </a:p>
      </dgm:t>
    </dgm:pt>
    <dgm:pt modelId="{D2239582-DAB6-47F8-A47A-5B2F17D417CC}" type="pres">
      <dgm:prSet presAssocID="{26D4C600-7029-477E-81DD-6BF7C63ED123}" presName="connTx" presStyleLbl="parChTrans1D3" presStyleIdx="8" presStyleCnt="9"/>
      <dgm:spPr/>
      <dgm:t>
        <a:bodyPr/>
        <a:lstStyle/>
        <a:p>
          <a:endParaRPr lang="zh-CN" altLang="en-US"/>
        </a:p>
      </dgm:t>
    </dgm:pt>
    <dgm:pt modelId="{CA90F339-1B7F-4795-A860-830AE55FB4C0}" type="pres">
      <dgm:prSet presAssocID="{BFC78336-DCF1-485D-99A1-CC216F34237C}" presName="root2" presStyleCnt="0"/>
      <dgm:spPr/>
    </dgm:pt>
    <dgm:pt modelId="{77A6741B-87B7-4DC4-8875-E859A9D33FDA}" type="pres">
      <dgm:prSet presAssocID="{BFC78336-DCF1-485D-99A1-CC216F34237C}" presName="LevelTwoTextNode" presStyleLbl="node3" presStyleIdx="8" presStyleCnt="9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9A7861CA-76AA-45ED-8665-CE95340C1638}" type="pres">
      <dgm:prSet presAssocID="{BFC78336-DCF1-485D-99A1-CC216F34237C}" presName="level3hierChild" presStyleCnt="0"/>
      <dgm:spPr/>
    </dgm:pt>
  </dgm:ptLst>
  <dgm:cxnLst>
    <dgm:cxn modelId="{43341E29-7804-446C-A8A0-EE614A413E27}" type="presOf" srcId="{26D4C600-7029-477E-81DD-6BF7C63ED123}" destId="{D0B25EBF-EF06-464B-BE67-4FCEDFE94839}" srcOrd="0" destOrd="0" presId="urn:microsoft.com/office/officeart/2008/layout/HorizontalMultiLevelHierarchy#1"/>
    <dgm:cxn modelId="{E12DF939-1B90-4547-ABF0-796E0B15561A}" type="presOf" srcId="{9F70255F-1144-4F29-843D-01180F586314}" destId="{CA2411B4-EC87-4940-826C-689EAF2ADD5C}" srcOrd="0" destOrd="0" presId="urn:microsoft.com/office/officeart/2008/layout/HorizontalMultiLevelHierarchy#1"/>
    <dgm:cxn modelId="{40C07515-0F69-457F-A4F1-41492883AD57}" srcId="{62A2BA7D-8D73-46D2-B136-DC236B0FA708}" destId="{9F70255F-1144-4F29-843D-01180F586314}" srcOrd="0" destOrd="0" parTransId="{45A05C54-EC53-4281-B2F4-C80D41EFE07C}" sibTransId="{95FCA461-EF95-4B27-9EB4-52F68A9E18B9}"/>
    <dgm:cxn modelId="{9C2EB39C-3925-4C87-A849-C19D5EB02535}" type="presOf" srcId="{D3BB87B3-22F9-436F-8A56-1C6AB20AFD61}" destId="{AA38CFE2-47E6-4A3D-A9CB-3E0E2C8B38EC}" srcOrd="0" destOrd="0" presId="urn:microsoft.com/office/officeart/2008/layout/HorizontalMultiLevelHierarchy#1"/>
    <dgm:cxn modelId="{C5ECD4EC-2C45-40DD-A980-EFA864B99E00}" type="presOf" srcId="{F07FD081-7676-420C-9189-03B4DE6D5DCE}" destId="{10DC5356-5669-4EEB-80DA-45642DEE7761}" srcOrd="0" destOrd="0" presId="urn:microsoft.com/office/officeart/2008/layout/HorizontalMultiLevelHierarchy#1"/>
    <dgm:cxn modelId="{C8E6D60C-ED24-4D93-9EC1-1D5694B97BC8}" type="presOf" srcId="{947A5A78-3570-43EA-AA72-DAC2D211AE96}" destId="{323B10B6-089B-46BF-B6F0-7A307630A7CC}" srcOrd="0" destOrd="0" presId="urn:microsoft.com/office/officeart/2008/layout/HorizontalMultiLevelHierarchy#1"/>
    <dgm:cxn modelId="{9C492121-BEDD-4235-BFAB-2B939588BA39}" type="presOf" srcId="{45A05C54-EC53-4281-B2F4-C80D41EFE07C}" destId="{D6AC20A8-F52C-41E7-A11F-5A4B1B60A714}" srcOrd="0" destOrd="0" presId="urn:microsoft.com/office/officeart/2008/layout/HorizontalMultiLevelHierarchy#1"/>
    <dgm:cxn modelId="{D9CEE9EB-F15C-47F4-87A5-497A940A11F8}" type="presOf" srcId="{E0E6FC69-0F7C-4A1D-9183-905A330339FC}" destId="{E0B4A03F-785C-47E8-BEFF-2F1F52773277}" srcOrd="1" destOrd="0" presId="urn:microsoft.com/office/officeart/2008/layout/HorizontalMultiLevelHierarchy#1"/>
    <dgm:cxn modelId="{ABE21ED7-111A-474A-AD1E-0CF051CD27F3}" type="presOf" srcId="{0A1C0214-6986-445B-974F-C041BA440A6D}" destId="{75D98B10-7C46-43A8-A348-FA1A95366FD3}" srcOrd="0" destOrd="0" presId="urn:microsoft.com/office/officeart/2008/layout/HorizontalMultiLevelHierarchy#1"/>
    <dgm:cxn modelId="{13A5326C-D412-4ABF-82F4-7CC2B3656477}" type="presOf" srcId="{010BCBD2-FC60-4715-8051-86E36A5D1451}" destId="{CD44D7E2-BD0D-4DDC-A4D3-34C167473DA1}" srcOrd="0" destOrd="0" presId="urn:microsoft.com/office/officeart/2008/layout/HorizontalMultiLevelHierarchy#1"/>
    <dgm:cxn modelId="{E3BF23E7-BFB5-429F-AC6B-B499B1E91DED}" type="presOf" srcId="{45A05C54-EC53-4281-B2F4-C80D41EFE07C}" destId="{A6D64D25-24C5-4595-AB80-243F592B6452}" srcOrd="1" destOrd="0" presId="urn:microsoft.com/office/officeart/2008/layout/HorizontalMultiLevelHierarchy#1"/>
    <dgm:cxn modelId="{296E1FA2-4A46-43FE-B219-B644963BCFBC}" srcId="{24ABB9F3-0A4C-4320-8978-27F6643618DF}" destId="{F07FD081-7676-420C-9189-03B4DE6D5DCE}" srcOrd="1" destOrd="0" parTransId="{89DC8932-717E-47A0-934A-E60AD133CB73}" sibTransId="{6435B591-DB6B-4091-8ACE-C954DF441291}"/>
    <dgm:cxn modelId="{F55D3BA9-EF1C-4BF7-927E-A8F54F923458}" srcId="{62A2BA7D-8D73-46D2-B136-DC236B0FA708}" destId="{A9C91238-9E54-42D7-9BB7-AF4E30A08069}" srcOrd="1" destOrd="0" parTransId="{33DE039D-9933-463A-9860-574540D8AD0B}" sibTransId="{AFDB399E-5A55-40CA-8604-F179D5729E7A}"/>
    <dgm:cxn modelId="{70917B87-7E58-450D-9AAA-D86B7ADD7494}" srcId="{0A1C0214-6986-445B-974F-C041BA440A6D}" destId="{BFC78336-DCF1-485D-99A1-CC216F34237C}" srcOrd="4" destOrd="0" parTransId="{26D4C600-7029-477E-81DD-6BF7C63ED123}" sibTransId="{FF19E1F4-FBAA-45C8-8CAE-CCBE8F5C0F2A}"/>
    <dgm:cxn modelId="{A6E20741-A655-4F16-BFAA-9D6557BB2986}" srcId="{0A1C0214-6986-445B-974F-C041BA440A6D}" destId="{95DBCDB5-E3A4-4E67-A92F-CE5F7DE4B5C9}" srcOrd="1" destOrd="0" parTransId="{CAADDDF4-22B9-4AB9-B14A-73D6A4190C29}" sibTransId="{BBB1C1F9-E2BE-4E34-AC3A-E75CC598C77A}"/>
    <dgm:cxn modelId="{5F0BD4E0-C5E8-433D-AD01-1113C62666C6}" type="presOf" srcId="{33DE039D-9933-463A-9860-574540D8AD0B}" destId="{F2FB7FDD-C506-4276-87AC-E4FC2DDB5C5C}" srcOrd="1" destOrd="0" presId="urn:microsoft.com/office/officeart/2008/layout/HorizontalMultiLevelHierarchy#1"/>
    <dgm:cxn modelId="{4519ADF2-C0A7-4171-9E4B-7975AB92F387}" type="presOf" srcId="{D57216AA-580C-40F0-8F61-7730FD1080D2}" destId="{FCCC415B-ED9E-4CEF-8C12-62727E57DA9C}" srcOrd="1" destOrd="0" presId="urn:microsoft.com/office/officeart/2008/layout/HorizontalMultiLevelHierarchy#1"/>
    <dgm:cxn modelId="{EEB7CDBA-5194-43EC-BD1B-61B82E1D0F65}" type="presOf" srcId="{72BDCEB5-E6AE-4365-815F-A51C5742A8A8}" destId="{1E173077-E60E-4E81-AA74-C71226B0D2D0}" srcOrd="1" destOrd="0" presId="urn:microsoft.com/office/officeart/2008/layout/HorizontalMultiLevelHierarchy#1"/>
    <dgm:cxn modelId="{5AE1DD3C-94D0-4D14-8341-9FB81A2D2606}" type="presOf" srcId="{F2CF2EA7-0A59-4E9F-9E7B-1C3472EFBE30}" destId="{301822AC-A6EE-4545-8AD2-F56DBBD97D9A}" srcOrd="1" destOrd="0" presId="urn:microsoft.com/office/officeart/2008/layout/HorizontalMultiLevelHierarchy#1"/>
    <dgm:cxn modelId="{E5296DD8-614E-4213-8785-8A7E50159FB6}" type="presOf" srcId="{89DC8932-717E-47A0-934A-E60AD133CB73}" destId="{07DFF6C3-18DC-4F08-A374-1DB056B939F6}" srcOrd="0" destOrd="0" presId="urn:microsoft.com/office/officeart/2008/layout/HorizontalMultiLevelHierarchy#1"/>
    <dgm:cxn modelId="{D5B4F5C4-8289-4180-A14D-6E6BCB7A2C2A}" srcId="{24ABB9F3-0A4C-4320-8978-27F6643618DF}" destId="{62A2BA7D-8D73-46D2-B136-DC236B0FA708}" srcOrd="0" destOrd="0" parTransId="{322AE856-1454-4EB0-8E7B-1956A64D7956}" sibTransId="{FD20E2D8-245C-41E1-ADB8-F57985263646}"/>
    <dgm:cxn modelId="{8F6F4756-FE92-4A55-8E08-B4C941C88DEC}" type="presOf" srcId="{D57216AA-580C-40F0-8F61-7730FD1080D2}" destId="{A0B08AE4-A3EB-4176-8117-5034F0469192}" srcOrd="0" destOrd="0" presId="urn:microsoft.com/office/officeart/2008/layout/HorizontalMultiLevelHierarchy#1"/>
    <dgm:cxn modelId="{8F556E79-69DE-4A0E-85EA-7D2090C96D00}" type="presOf" srcId="{33DE039D-9933-463A-9860-574540D8AD0B}" destId="{11163C56-239A-4C48-B1C2-C82990B2F389}" srcOrd="0" destOrd="0" presId="urn:microsoft.com/office/officeart/2008/layout/HorizontalMultiLevelHierarchy#1"/>
    <dgm:cxn modelId="{634EEE12-10B8-4715-AB7B-EB6240DA603C}" type="presOf" srcId="{322AE856-1454-4EB0-8E7B-1956A64D7956}" destId="{4FB9D346-12E8-4565-A57F-1E70A54AB37A}" srcOrd="1" destOrd="0" presId="urn:microsoft.com/office/officeart/2008/layout/HorizontalMultiLevelHierarchy#1"/>
    <dgm:cxn modelId="{B2DB81B4-7945-4F17-B111-02DC9A47995A}" type="presOf" srcId="{A96B2411-DC16-462C-9978-AF5F0BCC8F89}" destId="{EBB9B033-CD08-4943-B447-4E08F84400B0}" srcOrd="0" destOrd="0" presId="urn:microsoft.com/office/officeart/2008/layout/HorizontalMultiLevelHierarchy#1"/>
    <dgm:cxn modelId="{21C042A3-09FA-4E23-808E-D9B28AAF0DB1}" type="presOf" srcId="{3452061E-13E2-4C73-B349-3157FA323C6E}" destId="{437AD372-5396-4AAF-A11C-855FAA6DC816}" srcOrd="0" destOrd="0" presId="urn:microsoft.com/office/officeart/2008/layout/HorizontalMultiLevelHierarchy#1"/>
    <dgm:cxn modelId="{4FD3993C-E1C6-41D6-AC8F-05465D6EAB00}" srcId="{A9C91238-9E54-42D7-9BB7-AF4E30A08069}" destId="{3AF04ED5-E5AD-4777-8ACC-EFCF492EC822}" srcOrd="0" destOrd="0" parTransId="{F2CF2EA7-0A59-4E9F-9E7B-1C3472EFBE30}" sibTransId="{1996C344-5E33-48C0-A17B-14D827431330}"/>
    <dgm:cxn modelId="{4A95413C-9B2D-4984-970E-C8FD93616A78}" type="presOf" srcId="{F2CF2EA7-0A59-4E9F-9E7B-1C3472EFBE30}" destId="{69AA4998-02A8-4314-8274-A97EFEE58F69}" srcOrd="0" destOrd="0" presId="urn:microsoft.com/office/officeart/2008/layout/HorizontalMultiLevelHierarchy#1"/>
    <dgm:cxn modelId="{C7F97FAA-9E90-40F5-B74C-54E1D758D3A0}" type="presOf" srcId="{89DC8932-717E-47A0-934A-E60AD133CB73}" destId="{40DA70A5-E0F2-4C19-993B-0A0424BD0B58}" srcOrd="1" destOrd="0" presId="urn:microsoft.com/office/officeart/2008/layout/HorizontalMultiLevelHierarchy#1"/>
    <dgm:cxn modelId="{59018CCE-3725-4E2C-943A-CB99775F9C8E}" srcId="{A9C91238-9E54-42D7-9BB7-AF4E30A08069}" destId="{40253CA6-B570-4847-A2BC-722A0D26E6C8}" srcOrd="1" destOrd="0" parTransId="{D57216AA-580C-40F0-8F61-7730FD1080D2}" sibTransId="{CC32A772-B908-4FCC-8634-BE4F5FCEA3EF}"/>
    <dgm:cxn modelId="{95C5B873-E281-4DC7-AA36-8683A432F685}" type="presOf" srcId="{BD3704C6-1205-414D-B1DF-AED863789C79}" destId="{940E049A-F7DF-4595-939D-66553F85181E}" srcOrd="0" destOrd="0" presId="urn:microsoft.com/office/officeart/2008/layout/HorizontalMultiLevelHierarchy#1"/>
    <dgm:cxn modelId="{FF618C28-48E4-4DF2-AD31-29E9AA74FFD7}" type="presOf" srcId="{CAADDDF4-22B9-4AB9-B14A-73D6A4190C29}" destId="{441D21E9-9AA6-4EDE-8CE0-54246757344E}" srcOrd="1" destOrd="0" presId="urn:microsoft.com/office/officeart/2008/layout/HorizontalMultiLevelHierarchy#1"/>
    <dgm:cxn modelId="{6AD09AC2-76BD-4D9E-A68A-38CD8A25F1D5}" type="presOf" srcId="{E0E6FC69-0F7C-4A1D-9183-905A330339FC}" destId="{52A35EE1-0E39-47B0-AE12-EB8FFA76665A}" srcOrd="0" destOrd="0" presId="urn:microsoft.com/office/officeart/2008/layout/HorizontalMultiLevelHierarchy#1"/>
    <dgm:cxn modelId="{9287EC5C-4B2C-408B-8BF6-4C534DEBB794}" srcId="{0A1C0214-6986-445B-974F-C041BA440A6D}" destId="{C1C726F4-AEB5-4009-9843-9E4515BCBF71}" srcOrd="2" destOrd="0" parTransId="{CFA8C15B-5792-4413-9850-8AC322B9698D}" sibTransId="{676602C0-0CD2-4A1C-909A-3C9E911C216A}"/>
    <dgm:cxn modelId="{D2A55B05-302C-44EA-988A-0223E8AB69A1}" type="presOf" srcId="{C1C726F4-AEB5-4009-9843-9E4515BCBF71}" destId="{5DD6F8E7-104E-40D3-8159-931158D7758D}" srcOrd="0" destOrd="0" presId="urn:microsoft.com/office/officeart/2008/layout/HorizontalMultiLevelHierarchy#1"/>
    <dgm:cxn modelId="{A3CD5893-8E0E-4C22-A6B9-B34CD21A5B5C}" type="presOf" srcId="{BD3704C6-1205-414D-B1DF-AED863789C79}" destId="{5B6352D3-1EC8-4287-AB47-C7F43D988A64}" srcOrd="1" destOrd="0" presId="urn:microsoft.com/office/officeart/2008/layout/HorizontalMultiLevelHierarchy#1"/>
    <dgm:cxn modelId="{73E92908-ED11-4216-B3EB-229A4FC53D06}" srcId="{0A1C0214-6986-445B-974F-C041BA440A6D}" destId="{D3BB87B3-22F9-436F-8A56-1C6AB20AFD61}" srcOrd="3" destOrd="0" parTransId="{BD3704C6-1205-414D-B1DF-AED863789C79}" sibTransId="{D49D89F6-1C1A-4B27-ACA1-CE5069C412CC}"/>
    <dgm:cxn modelId="{C57E8A96-E34B-4BEA-B478-8C9CAE8082B9}" type="presOf" srcId="{BFC78336-DCF1-485D-99A1-CC216F34237C}" destId="{77A6741B-87B7-4DC4-8875-E859A9D33FDA}" srcOrd="0" destOrd="0" presId="urn:microsoft.com/office/officeart/2008/layout/HorizontalMultiLevelHierarchy#1"/>
    <dgm:cxn modelId="{D50D31AB-5BB1-47DD-A127-82653D019FD4}" type="presOf" srcId="{CAADDDF4-22B9-4AB9-B14A-73D6A4190C29}" destId="{B6EA75C3-BDA9-4698-B87E-2F64C78807DE}" srcOrd="0" destOrd="0" presId="urn:microsoft.com/office/officeart/2008/layout/HorizontalMultiLevelHierarchy#1"/>
    <dgm:cxn modelId="{C897763E-7A5A-4191-B2E6-E1A19AB34A94}" type="presOf" srcId="{CFA8C15B-5792-4413-9850-8AC322B9698D}" destId="{6C4E92F7-E260-4C0E-BBB8-1F84919A2399}" srcOrd="1" destOrd="0" presId="urn:microsoft.com/office/officeart/2008/layout/HorizontalMultiLevelHierarchy#1"/>
    <dgm:cxn modelId="{AE33949D-BF3F-4665-9D99-7DAF22D4CC37}" srcId="{24ABB9F3-0A4C-4320-8978-27F6643618DF}" destId="{0A1C0214-6986-445B-974F-C041BA440A6D}" srcOrd="2" destOrd="0" parTransId="{72BDCEB5-E6AE-4365-815F-A51C5742A8A8}" sibTransId="{E6F456E1-1933-4257-A113-FFE85CEC0672}"/>
    <dgm:cxn modelId="{8A37BAF8-B9CF-4DF5-BBF6-44DFFAEC2C55}" type="presOf" srcId="{322AE856-1454-4EB0-8E7B-1956A64D7956}" destId="{0BBCAC59-83FF-4F39-9477-11267436B0BC}" srcOrd="0" destOrd="0" presId="urn:microsoft.com/office/officeart/2008/layout/HorizontalMultiLevelHierarchy#1"/>
    <dgm:cxn modelId="{A7E40DCD-E4F8-495B-B78B-5B80CC994453}" srcId="{F07FD081-7676-420C-9189-03B4DE6D5DCE}" destId="{3452061E-13E2-4C73-B349-3157FA323C6E}" srcOrd="1" destOrd="0" parTransId="{FA0F6768-6ADD-4998-8126-5156401B56C5}" sibTransId="{1DB61ECA-5877-4B4A-BBAF-AB85EEE5C820}"/>
    <dgm:cxn modelId="{087F2350-8740-4E05-BB44-F195BD71864E}" type="presOf" srcId="{40253CA6-B570-4847-A2BC-722A0D26E6C8}" destId="{AC3483A0-DE79-4A15-92B8-B4F1A7EC42C8}" srcOrd="0" destOrd="0" presId="urn:microsoft.com/office/officeart/2008/layout/HorizontalMultiLevelHierarchy#1"/>
    <dgm:cxn modelId="{59FE41CC-3742-4524-9638-998D7EB753A1}" type="presOf" srcId="{FA0F6768-6ADD-4998-8126-5156401B56C5}" destId="{8EB98DCE-7A3C-418C-811E-6069410364A0}" srcOrd="1" destOrd="0" presId="urn:microsoft.com/office/officeart/2008/layout/HorizontalMultiLevelHierarchy#1"/>
    <dgm:cxn modelId="{C59CB577-887A-45BA-BC7D-B835254802D8}" type="presOf" srcId="{FA0F6768-6ADD-4998-8126-5156401B56C5}" destId="{DA4320B4-8809-490D-ACD4-776D5DDD8293}" srcOrd="0" destOrd="0" presId="urn:microsoft.com/office/officeart/2008/layout/HorizontalMultiLevelHierarchy#1"/>
    <dgm:cxn modelId="{E7951749-4AFB-47FF-94BD-354244834FA9}" type="presOf" srcId="{CFA8C15B-5792-4413-9850-8AC322B9698D}" destId="{997CC87B-5037-4CB1-BA79-A2E2C62ED436}" srcOrd="0" destOrd="0" presId="urn:microsoft.com/office/officeart/2008/layout/HorizontalMultiLevelHierarchy#1"/>
    <dgm:cxn modelId="{D63169DB-0AC9-452B-9347-A146DE7E33C2}" type="presOf" srcId="{3AF04ED5-E5AD-4777-8ACC-EFCF492EC822}" destId="{27C1DD5A-4DE1-4D34-BF99-B55763485F5F}" srcOrd="0" destOrd="0" presId="urn:microsoft.com/office/officeart/2008/layout/HorizontalMultiLevelHierarchy#1"/>
    <dgm:cxn modelId="{F3BD5E8B-1D62-477B-A7C0-297D6A710FA3}" type="presOf" srcId="{A9C91238-9E54-42D7-9BB7-AF4E30A08069}" destId="{0848E00F-8704-4377-B25A-DAD92674F808}" srcOrd="0" destOrd="0" presId="urn:microsoft.com/office/officeart/2008/layout/HorizontalMultiLevelHierarchy#1"/>
    <dgm:cxn modelId="{ED5BC758-A8A2-474C-A469-70ADA03C9146}" type="presOf" srcId="{26D4C600-7029-477E-81DD-6BF7C63ED123}" destId="{D2239582-DAB6-47F8-A47A-5B2F17D417CC}" srcOrd="1" destOrd="0" presId="urn:microsoft.com/office/officeart/2008/layout/HorizontalMultiLevelHierarchy#1"/>
    <dgm:cxn modelId="{F25E7011-9BEB-427D-B593-544015F3CE32}" type="presOf" srcId="{95DBCDB5-E3A4-4E67-A92F-CE5F7DE4B5C9}" destId="{BBC49AC0-467B-4772-A63F-64647B771549}" srcOrd="0" destOrd="0" presId="urn:microsoft.com/office/officeart/2008/layout/HorizontalMultiLevelHierarchy#1"/>
    <dgm:cxn modelId="{A47DD7EF-202D-49CD-B49D-B42CED9A8849}" type="presOf" srcId="{72BDCEB5-E6AE-4365-815F-A51C5742A8A8}" destId="{46CACD35-3C43-4183-BD88-C64874869325}" srcOrd="0" destOrd="0" presId="urn:microsoft.com/office/officeart/2008/layout/HorizontalMultiLevelHierarchy#1"/>
    <dgm:cxn modelId="{AC5F77F5-9582-42BD-ACE4-E3483A890931}" srcId="{A96B2411-DC16-462C-9978-AF5F0BCC8F89}" destId="{24ABB9F3-0A4C-4320-8978-27F6643618DF}" srcOrd="0" destOrd="0" parTransId="{01C08DA1-FEE9-4773-8B0C-E5EF8025317F}" sibTransId="{A4B68712-60F4-4A17-9D91-735F1D6DBDDE}"/>
    <dgm:cxn modelId="{9A006125-848A-4B59-8C89-9EBD74EC432C}" srcId="{F07FD081-7676-420C-9189-03B4DE6D5DCE}" destId="{0BCA741C-3E4D-467A-8AC8-A3AA66A637AE}" srcOrd="0" destOrd="0" parTransId="{E0E6FC69-0F7C-4A1D-9183-905A330339FC}" sibTransId="{071CECA6-B2F3-4C3A-A741-FB5F89F1BF2E}"/>
    <dgm:cxn modelId="{DF32A8BD-BC0C-4DBC-BA6C-275B3CE49FE5}" type="presOf" srcId="{62A2BA7D-8D73-46D2-B136-DC236B0FA708}" destId="{16ECAC38-518A-47EE-8BD4-9FD0840D4B82}" srcOrd="0" destOrd="0" presId="urn:microsoft.com/office/officeart/2008/layout/HorizontalMultiLevelHierarchy#1"/>
    <dgm:cxn modelId="{D657C89D-A46D-452E-9C4F-1C4CAE18971F}" type="presOf" srcId="{24ABB9F3-0A4C-4320-8978-27F6643618DF}" destId="{289364D4-62C3-4470-8C7F-B490175B1EE6}" srcOrd="0" destOrd="0" presId="urn:microsoft.com/office/officeart/2008/layout/HorizontalMultiLevelHierarchy#1"/>
    <dgm:cxn modelId="{17E07136-E228-4AF5-B33A-7149A12F452B}" srcId="{0A1C0214-6986-445B-974F-C041BA440A6D}" destId="{947A5A78-3570-43EA-AA72-DAC2D211AE96}" srcOrd="0" destOrd="0" parTransId="{010BCBD2-FC60-4715-8051-86E36A5D1451}" sibTransId="{06E578C1-E816-4160-86AC-62751CBB6E04}"/>
    <dgm:cxn modelId="{F4B383A7-3C74-4AB2-A65F-4C76DCB07DD1}" type="presOf" srcId="{010BCBD2-FC60-4715-8051-86E36A5D1451}" destId="{689C2128-4506-405E-9734-2FB10753292D}" srcOrd="1" destOrd="0" presId="urn:microsoft.com/office/officeart/2008/layout/HorizontalMultiLevelHierarchy#1"/>
    <dgm:cxn modelId="{36DE1C43-29F1-4DB9-B26D-6E55C6907DD7}" type="presOf" srcId="{0BCA741C-3E4D-467A-8AC8-A3AA66A637AE}" destId="{E58AE112-5951-4214-B14C-1E473817C495}" srcOrd="0" destOrd="0" presId="urn:microsoft.com/office/officeart/2008/layout/HorizontalMultiLevelHierarchy#1"/>
    <dgm:cxn modelId="{B4570803-047F-475A-BF6B-321CA0C85682}" type="presParOf" srcId="{EBB9B033-CD08-4943-B447-4E08F84400B0}" destId="{E892AAAD-A825-4B10-9758-883271F9D088}" srcOrd="0" destOrd="0" presId="urn:microsoft.com/office/officeart/2008/layout/HorizontalMultiLevelHierarchy#1"/>
    <dgm:cxn modelId="{2E92B7DB-830C-4EA4-A712-8633C1F0B92F}" type="presParOf" srcId="{E892AAAD-A825-4B10-9758-883271F9D088}" destId="{289364D4-62C3-4470-8C7F-B490175B1EE6}" srcOrd="0" destOrd="0" presId="urn:microsoft.com/office/officeart/2008/layout/HorizontalMultiLevelHierarchy#1"/>
    <dgm:cxn modelId="{779BC2CE-4651-4541-B015-21CA71FEAC6D}" type="presParOf" srcId="{E892AAAD-A825-4B10-9758-883271F9D088}" destId="{AB687326-620A-4BEA-A12E-3614CCC95DC6}" srcOrd="1" destOrd="0" presId="urn:microsoft.com/office/officeart/2008/layout/HorizontalMultiLevelHierarchy#1"/>
    <dgm:cxn modelId="{84D8E75D-795D-4FC3-9423-9256A4AB1D66}" type="presParOf" srcId="{AB687326-620A-4BEA-A12E-3614CCC95DC6}" destId="{0BBCAC59-83FF-4F39-9477-11267436B0BC}" srcOrd="0" destOrd="0" presId="urn:microsoft.com/office/officeart/2008/layout/HorizontalMultiLevelHierarchy#1"/>
    <dgm:cxn modelId="{4F146087-FE82-488D-940F-C821B0C6754B}" type="presParOf" srcId="{0BBCAC59-83FF-4F39-9477-11267436B0BC}" destId="{4FB9D346-12E8-4565-A57F-1E70A54AB37A}" srcOrd="0" destOrd="0" presId="urn:microsoft.com/office/officeart/2008/layout/HorizontalMultiLevelHierarchy#1"/>
    <dgm:cxn modelId="{83ECDF82-9A6A-4F9B-B685-96ACD4EDA16B}" type="presParOf" srcId="{AB687326-620A-4BEA-A12E-3614CCC95DC6}" destId="{9BB060E6-CACC-4D6C-8182-F0667B0EB18F}" srcOrd="1" destOrd="0" presId="urn:microsoft.com/office/officeart/2008/layout/HorizontalMultiLevelHierarchy#1"/>
    <dgm:cxn modelId="{12609E53-0FD0-4671-8ABC-E5219FCCA08A}" type="presParOf" srcId="{9BB060E6-CACC-4D6C-8182-F0667B0EB18F}" destId="{16ECAC38-518A-47EE-8BD4-9FD0840D4B82}" srcOrd="0" destOrd="0" presId="urn:microsoft.com/office/officeart/2008/layout/HorizontalMultiLevelHierarchy#1"/>
    <dgm:cxn modelId="{98D6DEB7-1390-4AC3-901A-4560F4DCD852}" type="presParOf" srcId="{9BB060E6-CACC-4D6C-8182-F0667B0EB18F}" destId="{F10A83BA-18F8-4CD4-8FFA-EA8A7998F352}" srcOrd="1" destOrd="0" presId="urn:microsoft.com/office/officeart/2008/layout/HorizontalMultiLevelHierarchy#1"/>
    <dgm:cxn modelId="{0C2C89EE-2EC5-4945-8656-6C08E2E9A499}" type="presParOf" srcId="{F10A83BA-18F8-4CD4-8FFA-EA8A7998F352}" destId="{D6AC20A8-F52C-41E7-A11F-5A4B1B60A714}" srcOrd="0" destOrd="0" presId="urn:microsoft.com/office/officeart/2008/layout/HorizontalMultiLevelHierarchy#1"/>
    <dgm:cxn modelId="{ABAEC773-A40A-427C-BED4-A3780973C22F}" type="presParOf" srcId="{D6AC20A8-F52C-41E7-A11F-5A4B1B60A714}" destId="{A6D64D25-24C5-4595-AB80-243F592B6452}" srcOrd="0" destOrd="0" presId="urn:microsoft.com/office/officeart/2008/layout/HorizontalMultiLevelHierarchy#1"/>
    <dgm:cxn modelId="{EE844006-FD34-433A-8312-5B3A39A78EED}" type="presParOf" srcId="{F10A83BA-18F8-4CD4-8FFA-EA8A7998F352}" destId="{6211BB73-91AE-4A15-A420-7A4E9ECA8E25}" srcOrd="1" destOrd="0" presId="urn:microsoft.com/office/officeart/2008/layout/HorizontalMultiLevelHierarchy#1"/>
    <dgm:cxn modelId="{B3F9F360-C215-462F-862D-60C0497DE7F2}" type="presParOf" srcId="{6211BB73-91AE-4A15-A420-7A4E9ECA8E25}" destId="{CA2411B4-EC87-4940-826C-689EAF2ADD5C}" srcOrd="0" destOrd="0" presId="urn:microsoft.com/office/officeart/2008/layout/HorizontalMultiLevelHierarchy#1"/>
    <dgm:cxn modelId="{1713122D-0012-4F16-BB40-840A5B7C1F4D}" type="presParOf" srcId="{6211BB73-91AE-4A15-A420-7A4E9ECA8E25}" destId="{63805E67-E20B-4BA7-AD7A-374F73298136}" srcOrd="1" destOrd="0" presId="urn:microsoft.com/office/officeart/2008/layout/HorizontalMultiLevelHierarchy#1"/>
    <dgm:cxn modelId="{C6760867-2656-4D66-8281-2CA125C09F5B}" type="presParOf" srcId="{F10A83BA-18F8-4CD4-8FFA-EA8A7998F352}" destId="{11163C56-239A-4C48-B1C2-C82990B2F389}" srcOrd="2" destOrd="0" presId="urn:microsoft.com/office/officeart/2008/layout/HorizontalMultiLevelHierarchy#1"/>
    <dgm:cxn modelId="{28D3BAA7-817D-4F5E-B1B7-17A53D5C929D}" type="presParOf" srcId="{11163C56-239A-4C48-B1C2-C82990B2F389}" destId="{F2FB7FDD-C506-4276-87AC-E4FC2DDB5C5C}" srcOrd="0" destOrd="0" presId="urn:microsoft.com/office/officeart/2008/layout/HorizontalMultiLevelHierarchy#1"/>
    <dgm:cxn modelId="{51802606-A7D6-4046-B5C4-370DC04F897A}" type="presParOf" srcId="{F10A83BA-18F8-4CD4-8FFA-EA8A7998F352}" destId="{F457594A-1A0C-4620-83FB-6F0840E10DC5}" srcOrd="3" destOrd="0" presId="urn:microsoft.com/office/officeart/2008/layout/HorizontalMultiLevelHierarchy#1"/>
    <dgm:cxn modelId="{70A69D17-151A-422E-9514-42D3E571D0D5}" type="presParOf" srcId="{F457594A-1A0C-4620-83FB-6F0840E10DC5}" destId="{0848E00F-8704-4377-B25A-DAD92674F808}" srcOrd="0" destOrd="0" presId="urn:microsoft.com/office/officeart/2008/layout/HorizontalMultiLevelHierarchy#1"/>
    <dgm:cxn modelId="{E0FAC78C-230B-4C23-AFD6-850D5C5A3AAF}" type="presParOf" srcId="{F457594A-1A0C-4620-83FB-6F0840E10DC5}" destId="{18B9ACD7-2A61-4D16-BE3B-25C65660251C}" srcOrd="1" destOrd="0" presId="urn:microsoft.com/office/officeart/2008/layout/HorizontalMultiLevelHierarchy#1"/>
    <dgm:cxn modelId="{C38B3712-1B8B-43EB-A73D-3FCFFC96A827}" type="presParOf" srcId="{18B9ACD7-2A61-4D16-BE3B-25C65660251C}" destId="{69AA4998-02A8-4314-8274-A97EFEE58F69}" srcOrd="0" destOrd="0" presId="urn:microsoft.com/office/officeart/2008/layout/HorizontalMultiLevelHierarchy#1"/>
    <dgm:cxn modelId="{56416FA9-BA93-48A5-BF20-5CAFACE0EBEE}" type="presParOf" srcId="{69AA4998-02A8-4314-8274-A97EFEE58F69}" destId="{301822AC-A6EE-4545-8AD2-F56DBBD97D9A}" srcOrd="0" destOrd="0" presId="urn:microsoft.com/office/officeart/2008/layout/HorizontalMultiLevelHierarchy#1"/>
    <dgm:cxn modelId="{73E86469-0A23-43C6-B55B-2C32B176C5DA}" type="presParOf" srcId="{18B9ACD7-2A61-4D16-BE3B-25C65660251C}" destId="{D1F1356F-B9D5-4F6A-AF40-316158F4A0D9}" srcOrd="1" destOrd="0" presId="urn:microsoft.com/office/officeart/2008/layout/HorizontalMultiLevelHierarchy#1"/>
    <dgm:cxn modelId="{49FF397A-60C1-4DDC-8C4A-EB7BD85FF49D}" type="presParOf" srcId="{D1F1356F-B9D5-4F6A-AF40-316158F4A0D9}" destId="{27C1DD5A-4DE1-4D34-BF99-B55763485F5F}" srcOrd="0" destOrd="0" presId="urn:microsoft.com/office/officeart/2008/layout/HorizontalMultiLevelHierarchy#1"/>
    <dgm:cxn modelId="{CF706163-8D0E-485A-B42B-E71C94275F70}" type="presParOf" srcId="{D1F1356F-B9D5-4F6A-AF40-316158F4A0D9}" destId="{7B628AA7-26CF-4A40-8C41-E93C5359937D}" srcOrd="1" destOrd="0" presId="urn:microsoft.com/office/officeart/2008/layout/HorizontalMultiLevelHierarchy#1"/>
    <dgm:cxn modelId="{2AA73F5C-B375-4D12-BA96-74B289321D77}" type="presParOf" srcId="{18B9ACD7-2A61-4D16-BE3B-25C65660251C}" destId="{A0B08AE4-A3EB-4176-8117-5034F0469192}" srcOrd="2" destOrd="0" presId="urn:microsoft.com/office/officeart/2008/layout/HorizontalMultiLevelHierarchy#1"/>
    <dgm:cxn modelId="{06C963F6-EDCD-4791-9735-3C24DDB02A2E}" type="presParOf" srcId="{A0B08AE4-A3EB-4176-8117-5034F0469192}" destId="{FCCC415B-ED9E-4CEF-8C12-62727E57DA9C}" srcOrd="0" destOrd="0" presId="urn:microsoft.com/office/officeart/2008/layout/HorizontalMultiLevelHierarchy#1"/>
    <dgm:cxn modelId="{732699C0-3ABA-416E-9D3D-92F4602554CE}" type="presParOf" srcId="{18B9ACD7-2A61-4D16-BE3B-25C65660251C}" destId="{4483668A-7693-4533-8452-E7440134718B}" srcOrd="3" destOrd="0" presId="urn:microsoft.com/office/officeart/2008/layout/HorizontalMultiLevelHierarchy#1"/>
    <dgm:cxn modelId="{EAEC84A4-CEB1-4806-BC29-29E7184FC162}" type="presParOf" srcId="{4483668A-7693-4533-8452-E7440134718B}" destId="{AC3483A0-DE79-4A15-92B8-B4F1A7EC42C8}" srcOrd="0" destOrd="0" presId="urn:microsoft.com/office/officeart/2008/layout/HorizontalMultiLevelHierarchy#1"/>
    <dgm:cxn modelId="{51192265-25F5-49DC-BEA4-2ED1B6BBADA8}" type="presParOf" srcId="{4483668A-7693-4533-8452-E7440134718B}" destId="{CF32361E-299F-413A-8690-D458709D9C99}" srcOrd="1" destOrd="0" presId="urn:microsoft.com/office/officeart/2008/layout/HorizontalMultiLevelHierarchy#1"/>
    <dgm:cxn modelId="{FDD70CAE-D5AA-449F-8D39-B2139DD7D8B4}" type="presParOf" srcId="{AB687326-620A-4BEA-A12E-3614CCC95DC6}" destId="{07DFF6C3-18DC-4F08-A374-1DB056B939F6}" srcOrd="2" destOrd="0" presId="urn:microsoft.com/office/officeart/2008/layout/HorizontalMultiLevelHierarchy#1"/>
    <dgm:cxn modelId="{5ABF8B92-6790-4BCF-A995-CD4E29EB8085}" type="presParOf" srcId="{07DFF6C3-18DC-4F08-A374-1DB056B939F6}" destId="{40DA70A5-E0F2-4C19-993B-0A0424BD0B58}" srcOrd="0" destOrd="0" presId="urn:microsoft.com/office/officeart/2008/layout/HorizontalMultiLevelHierarchy#1"/>
    <dgm:cxn modelId="{3F73FD95-F478-4546-BD0E-76170837BB47}" type="presParOf" srcId="{AB687326-620A-4BEA-A12E-3614CCC95DC6}" destId="{EC219274-1169-4F21-90EA-835A2CF6062C}" srcOrd="3" destOrd="0" presId="urn:microsoft.com/office/officeart/2008/layout/HorizontalMultiLevelHierarchy#1"/>
    <dgm:cxn modelId="{EA3554FD-1072-46AB-999C-34508374880B}" type="presParOf" srcId="{EC219274-1169-4F21-90EA-835A2CF6062C}" destId="{10DC5356-5669-4EEB-80DA-45642DEE7761}" srcOrd="0" destOrd="0" presId="urn:microsoft.com/office/officeart/2008/layout/HorizontalMultiLevelHierarchy#1"/>
    <dgm:cxn modelId="{5DA90592-BAB6-4D90-B86B-227B3C2208BF}" type="presParOf" srcId="{EC219274-1169-4F21-90EA-835A2CF6062C}" destId="{96D25839-24B3-4F14-82F3-6368B67A16E9}" srcOrd="1" destOrd="0" presId="urn:microsoft.com/office/officeart/2008/layout/HorizontalMultiLevelHierarchy#1"/>
    <dgm:cxn modelId="{509F51D7-F440-4F92-9134-B6493A93F03D}" type="presParOf" srcId="{96D25839-24B3-4F14-82F3-6368B67A16E9}" destId="{52A35EE1-0E39-47B0-AE12-EB8FFA76665A}" srcOrd="0" destOrd="0" presId="urn:microsoft.com/office/officeart/2008/layout/HorizontalMultiLevelHierarchy#1"/>
    <dgm:cxn modelId="{8BD2C1DE-1FB8-4ACE-A4F4-8D14E05A7B15}" type="presParOf" srcId="{52A35EE1-0E39-47B0-AE12-EB8FFA76665A}" destId="{E0B4A03F-785C-47E8-BEFF-2F1F52773277}" srcOrd="0" destOrd="0" presId="urn:microsoft.com/office/officeart/2008/layout/HorizontalMultiLevelHierarchy#1"/>
    <dgm:cxn modelId="{A0BF03B5-411D-4638-9425-0E8936C721CD}" type="presParOf" srcId="{96D25839-24B3-4F14-82F3-6368B67A16E9}" destId="{79DD4578-5B5B-42C8-9322-0A1456EB85D4}" srcOrd="1" destOrd="0" presId="urn:microsoft.com/office/officeart/2008/layout/HorizontalMultiLevelHierarchy#1"/>
    <dgm:cxn modelId="{D9E255F1-0544-4DF7-9AB4-1EDD6B30408A}" type="presParOf" srcId="{79DD4578-5B5B-42C8-9322-0A1456EB85D4}" destId="{E58AE112-5951-4214-B14C-1E473817C495}" srcOrd="0" destOrd="0" presId="urn:microsoft.com/office/officeart/2008/layout/HorizontalMultiLevelHierarchy#1"/>
    <dgm:cxn modelId="{01540591-1AE7-4A60-82DA-70F1FF708554}" type="presParOf" srcId="{79DD4578-5B5B-42C8-9322-0A1456EB85D4}" destId="{BC1271E5-6B44-450B-BE26-564DEC01A0B5}" srcOrd="1" destOrd="0" presId="urn:microsoft.com/office/officeart/2008/layout/HorizontalMultiLevelHierarchy#1"/>
    <dgm:cxn modelId="{FA335D66-ACE4-481A-A0A0-69CB42A1C93C}" type="presParOf" srcId="{96D25839-24B3-4F14-82F3-6368B67A16E9}" destId="{DA4320B4-8809-490D-ACD4-776D5DDD8293}" srcOrd="2" destOrd="0" presId="urn:microsoft.com/office/officeart/2008/layout/HorizontalMultiLevelHierarchy#1"/>
    <dgm:cxn modelId="{0D75E314-76A2-4823-8D03-17F4E3A375B8}" type="presParOf" srcId="{DA4320B4-8809-490D-ACD4-776D5DDD8293}" destId="{8EB98DCE-7A3C-418C-811E-6069410364A0}" srcOrd="0" destOrd="0" presId="urn:microsoft.com/office/officeart/2008/layout/HorizontalMultiLevelHierarchy#1"/>
    <dgm:cxn modelId="{59A3C0A1-987C-477D-9C4C-01670DCA2864}" type="presParOf" srcId="{96D25839-24B3-4F14-82F3-6368B67A16E9}" destId="{325D50E6-5220-4365-BBA5-F0EE8050A3AD}" srcOrd="3" destOrd="0" presId="urn:microsoft.com/office/officeart/2008/layout/HorizontalMultiLevelHierarchy#1"/>
    <dgm:cxn modelId="{0B361DA5-4D4C-4034-8292-EB68290710ED}" type="presParOf" srcId="{325D50E6-5220-4365-BBA5-F0EE8050A3AD}" destId="{437AD372-5396-4AAF-A11C-855FAA6DC816}" srcOrd="0" destOrd="0" presId="urn:microsoft.com/office/officeart/2008/layout/HorizontalMultiLevelHierarchy#1"/>
    <dgm:cxn modelId="{B84C7EC1-6BB6-4B4B-A077-2515E2C5DCE8}" type="presParOf" srcId="{325D50E6-5220-4365-BBA5-F0EE8050A3AD}" destId="{D36F4B51-D544-4923-88F7-3868E84598EE}" srcOrd="1" destOrd="0" presId="urn:microsoft.com/office/officeart/2008/layout/HorizontalMultiLevelHierarchy#1"/>
    <dgm:cxn modelId="{96B55B52-8D43-4BB2-B4A2-D89F3367C860}" type="presParOf" srcId="{AB687326-620A-4BEA-A12E-3614CCC95DC6}" destId="{46CACD35-3C43-4183-BD88-C64874869325}" srcOrd="4" destOrd="0" presId="urn:microsoft.com/office/officeart/2008/layout/HorizontalMultiLevelHierarchy#1"/>
    <dgm:cxn modelId="{160E255E-B7BD-4C19-AABD-6DF7EC0E01FB}" type="presParOf" srcId="{46CACD35-3C43-4183-BD88-C64874869325}" destId="{1E173077-E60E-4E81-AA74-C71226B0D2D0}" srcOrd="0" destOrd="0" presId="urn:microsoft.com/office/officeart/2008/layout/HorizontalMultiLevelHierarchy#1"/>
    <dgm:cxn modelId="{10460B10-F4B3-4858-8727-9E5F00538B20}" type="presParOf" srcId="{AB687326-620A-4BEA-A12E-3614CCC95DC6}" destId="{A40E54BB-D207-4712-89DF-D8A550BE5484}" srcOrd="5" destOrd="0" presId="urn:microsoft.com/office/officeart/2008/layout/HorizontalMultiLevelHierarchy#1"/>
    <dgm:cxn modelId="{3D2EDD4E-C309-4124-BF60-608CE9B7887C}" type="presParOf" srcId="{A40E54BB-D207-4712-89DF-D8A550BE5484}" destId="{75D98B10-7C46-43A8-A348-FA1A95366FD3}" srcOrd="0" destOrd="0" presId="urn:microsoft.com/office/officeart/2008/layout/HorizontalMultiLevelHierarchy#1"/>
    <dgm:cxn modelId="{E671C4EF-585A-47C3-9929-F052CA646D29}" type="presParOf" srcId="{A40E54BB-D207-4712-89DF-D8A550BE5484}" destId="{03879F0D-0B54-422F-99CD-9F022EA2CBFE}" srcOrd="1" destOrd="0" presId="urn:microsoft.com/office/officeart/2008/layout/HorizontalMultiLevelHierarchy#1"/>
    <dgm:cxn modelId="{75DF938A-B3C8-4412-ABA5-AE6D1CDBC5C0}" type="presParOf" srcId="{03879F0D-0B54-422F-99CD-9F022EA2CBFE}" destId="{CD44D7E2-BD0D-4DDC-A4D3-34C167473DA1}" srcOrd="0" destOrd="0" presId="urn:microsoft.com/office/officeart/2008/layout/HorizontalMultiLevelHierarchy#1"/>
    <dgm:cxn modelId="{5B886C44-FE66-454C-834E-C07AF88CD814}" type="presParOf" srcId="{CD44D7E2-BD0D-4DDC-A4D3-34C167473DA1}" destId="{689C2128-4506-405E-9734-2FB10753292D}" srcOrd="0" destOrd="0" presId="urn:microsoft.com/office/officeart/2008/layout/HorizontalMultiLevelHierarchy#1"/>
    <dgm:cxn modelId="{4BC2AC4D-DA43-40B9-8389-F8F5346704FA}" type="presParOf" srcId="{03879F0D-0B54-422F-99CD-9F022EA2CBFE}" destId="{A1DB6E1C-C973-498F-96B4-7E0DEC8D9616}" srcOrd="1" destOrd="0" presId="urn:microsoft.com/office/officeart/2008/layout/HorizontalMultiLevelHierarchy#1"/>
    <dgm:cxn modelId="{88962318-01E4-4DED-B930-39F453B3A5C1}" type="presParOf" srcId="{A1DB6E1C-C973-498F-96B4-7E0DEC8D9616}" destId="{323B10B6-089B-46BF-B6F0-7A307630A7CC}" srcOrd="0" destOrd="0" presId="urn:microsoft.com/office/officeart/2008/layout/HorizontalMultiLevelHierarchy#1"/>
    <dgm:cxn modelId="{DDB1D267-5E5C-4B01-8729-35388E62A424}" type="presParOf" srcId="{A1DB6E1C-C973-498F-96B4-7E0DEC8D9616}" destId="{DF8F8C95-4269-478E-B792-B4314DB4AD31}" srcOrd="1" destOrd="0" presId="urn:microsoft.com/office/officeart/2008/layout/HorizontalMultiLevelHierarchy#1"/>
    <dgm:cxn modelId="{5A6DAF3F-1533-43B6-95DF-4B0504A16A59}" type="presParOf" srcId="{03879F0D-0B54-422F-99CD-9F022EA2CBFE}" destId="{B6EA75C3-BDA9-4698-B87E-2F64C78807DE}" srcOrd="2" destOrd="0" presId="urn:microsoft.com/office/officeart/2008/layout/HorizontalMultiLevelHierarchy#1"/>
    <dgm:cxn modelId="{2B4FF4A5-9CC4-41D5-A806-E46B34E48073}" type="presParOf" srcId="{B6EA75C3-BDA9-4698-B87E-2F64C78807DE}" destId="{441D21E9-9AA6-4EDE-8CE0-54246757344E}" srcOrd="0" destOrd="0" presId="urn:microsoft.com/office/officeart/2008/layout/HorizontalMultiLevelHierarchy#1"/>
    <dgm:cxn modelId="{E89F5D2E-64F9-408A-8703-616D1B24CB1E}" type="presParOf" srcId="{03879F0D-0B54-422F-99CD-9F022EA2CBFE}" destId="{48E83874-7F5A-4482-BB99-1A00BFEFD450}" srcOrd="3" destOrd="0" presId="urn:microsoft.com/office/officeart/2008/layout/HorizontalMultiLevelHierarchy#1"/>
    <dgm:cxn modelId="{BB10BD2B-950D-4C1D-BF3F-CF7166B9C680}" type="presParOf" srcId="{48E83874-7F5A-4482-BB99-1A00BFEFD450}" destId="{BBC49AC0-467B-4772-A63F-64647B771549}" srcOrd="0" destOrd="0" presId="urn:microsoft.com/office/officeart/2008/layout/HorizontalMultiLevelHierarchy#1"/>
    <dgm:cxn modelId="{7E2CF785-81A8-403E-BA58-7DDE63B51DF5}" type="presParOf" srcId="{48E83874-7F5A-4482-BB99-1A00BFEFD450}" destId="{867483EA-1063-4CBD-A8EF-D0683D7D5603}" srcOrd="1" destOrd="0" presId="urn:microsoft.com/office/officeart/2008/layout/HorizontalMultiLevelHierarchy#1"/>
    <dgm:cxn modelId="{80CC1425-9B21-47E9-B8D1-B164FF9DA484}" type="presParOf" srcId="{03879F0D-0B54-422F-99CD-9F022EA2CBFE}" destId="{997CC87B-5037-4CB1-BA79-A2E2C62ED436}" srcOrd="4" destOrd="0" presId="urn:microsoft.com/office/officeart/2008/layout/HorizontalMultiLevelHierarchy#1"/>
    <dgm:cxn modelId="{D6286767-983A-4EEA-869E-CD4282C46CBB}" type="presParOf" srcId="{997CC87B-5037-4CB1-BA79-A2E2C62ED436}" destId="{6C4E92F7-E260-4C0E-BBB8-1F84919A2399}" srcOrd="0" destOrd="0" presId="urn:microsoft.com/office/officeart/2008/layout/HorizontalMultiLevelHierarchy#1"/>
    <dgm:cxn modelId="{9D57E3D9-B0D2-4D9D-B3C6-56EDF05BC531}" type="presParOf" srcId="{03879F0D-0B54-422F-99CD-9F022EA2CBFE}" destId="{EED1F873-747E-4231-B7F7-BC5D31AAA3F4}" srcOrd="5" destOrd="0" presId="urn:microsoft.com/office/officeart/2008/layout/HorizontalMultiLevelHierarchy#1"/>
    <dgm:cxn modelId="{81B1084E-9E85-47B8-9E95-9BCE7B9029D6}" type="presParOf" srcId="{EED1F873-747E-4231-B7F7-BC5D31AAA3F4}" destId="{5DD6F8E7-104E-40D3-8159-931158D7758D}" srcOrd="0" destOrd="0" presId="urn:microsoft.com/office/officeart/2008/layout/HorizontalMultiLevelHierarchy#1"/>
    <dgm:cxn modelId="{2E1143DD-0ABB-4409-95D2-B2F8A975D1E9}" type="presParOf" srcId="{EED1F873-747E-4231-B7F7-BC5D31AAA3F4}" destId="{C4E7F7E6-B033-48C4-A2DE-224DB6D74432}" srcOrd="1" destOrd="0" presId="urn:microsoft.com/office/officeart/2008/layout/HorizontalMultiLevelHierarchy#1"/>
    <dgm:cxn modelId="{5BD1A3AA-684D-4D0E-8314-0996A374104C}" type="presParOf" srcId="{03879F0D-0B54-422F-99CD-9F022EA2CBFE}" destId="{940E049A-F7DF-4595-939D-66553F85181E}" srcOrd="6" destOrd="0" presId="urn:microsoft.com/office/officeart/2008/layout/HorizontalMultiLevelHierarchy#1"/>
    <dgm:cxn modelId="{48CE0663-42B0-4C62-8DBE-1D37B808B489}" type="presParOf" srcId="{940E049A-F7DF-4595-939D-66553F85181E}" destId="{5B6352D3-1EC8-4287-AB47-C7F43D988A64}" srcOrd="0" destOrd="0" presId="urn:microsoft.com/office/officeart/2008/layout/HorizontalMultiLevelHierarchy#1"/>
    <dgm:cxn modelId="{97736B21-A683-41B3-B8DB-D81EEA94782D}" type="presParOf" srcId="{03879F0D-0B54-422F-99CD-9F022EA2CBFE}" destId="{3F786E89-3D53-4729-AFAA-3346D5515EF1}" srcOrd="7" destOrd="0" presId="urn:microsoft.com/office/officeart/2008/layout/HorizontalMultiLevelHierarchy#1"/>
    <dgm:cxn modelId="{FA7BE401-5426-45DB-AB8C-5725AF00FB74}" type="presParOf" srcId="{3F786E89-3D53-4729-AFAA-3346D5515EF1}" destId="{AA38CFE2-47E6-4A3D-A9CB-3E0E2C8B38EC}" srcOrd="0" destOrd="0" presId="urn:microsoft.com/office/officeart/2008/layout/HorizontalMultiLevelHierarchy#1"/>
    <dgm:cxn modelId="{D1FEBA7C-9A43-4DB0-947F-99D2421E3348}" type="presParOf" srcId="{3F786E89-3D53-4729-AFAA-3346D5515EF1}" destId="{9981BB44-5CCE-47DD-9BF5-8FB8046EED1B}" srcOrd="1" destOrd="0" presId="urn:microsoft.com/office/officeart/2008/layout/HorizontalMultiLevelHierarchy#1"/>
    <dgm:cxn modelId="{8988DCC7-FBD1-4FC9-AB34-D69CCF42A6F0}" type="presParOf" srcId="{03879F0D-0B54-422F-99CD-9F022EA2CBFE}" destId="{D0B25EBF-EF06-464B-BE67-4FCEDFE94839}" srcOrd="8" destOrd="0" presId="urn:microsoft.com/office/officeart/2008/layout/HorizontalMultiLevelHierarchy#1"/>
    <dgm:cxn modelId="{14034B54-ABA7-4817-8217-2CF4BF3F4F8D}" type="presParOf" srcId="{D0B25EBF-EF06-464B-BE67-4FCEDFE94839}" destId="{D2239582-DAB6-47F8-A47A-5B2F17D417CC}" srcOrd="0" destOrd="0" presId="urn:microsoft.com/office/officeart/2008/layout/HorizontalMultiLevelHierarchy#1"/>
    <dgm:cxn modelId="{C0719676-41A8-48C6-A5FF-BC5C6301A623}" type="presParOf" srcId="{03879F0D-0B54-422F-99CD-9F022EA2CBFE}" destId="{CA90F339-1B7F-4795-A860-830AE55FB4C0}" srcOrd="9" destOrd="0" presId="urn:microsoft.com/office/officeart/2008/layout/HorizontalMultiLevelHierarchy#1"/>
    <dgm:cxn modelId="{97F5C0B2-1090-4068-8EE7-956A02F73CA3}" type="presParOf" srcId="{CA90F339-1B7F-4795-A860-830AE55FB4C0}" destId="{77A6741B-87B7-4DC4-8875-E859A9D33FDA}" srcOrd="0" destOrd="0" presId="urn:microsoft.com/office/officeart/2008/layout/HorizontalMultiLevelHierarchy#1"/>
    <dgm:cxn modelId="{6792A82E-3141-41C7-ADC1-BDBE0F20D05E}" type="presParOf" srcId="{CA90F339-1B7F-4795-A860-830AE55FB4C0}" destId="{9A7861CA-76AA-45ED-8665-CE95340C1638}" srcOrd="1" destOrd="0" presId="urn:microsoft.com/office/officeart/2008/layout/HorizontalMultiLevelHierarchy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B25EBF-EF06-464B-BE67-4FCEDFE94839}">
      <dsp:nvSpPr>
        <dsp:cNvPr id="0" name=""/>
        <dsp:cNvSpPr/>
      </dsp:nvSpPr>
      <dsp:spPr>
        <a:xfrm>
          <a:off x="2747012" y="4754480"/>
          <a:ext cx="361558" cy="137788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80779" y="0"/>
              </a:lnTo>
              <a:lnTo>
                <a:pt x="180779" y="1377888"/>
              </a:lnTo>
              <a:lnTo>
                <a:pt x="361558" y="1377888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500" kern="1200"/>
        </a:p>
      </dsp:txBody>
      <dsp:txXfrm>
        <a:off x="2892177" y="5407811"/>
        <a:ext cx="71226" cy="71226"/>
      </dsp:txXfrm>
    </dsp:sp>
    <dsp:sp modelId="{940E049A-F7DF-4595-939D-66553F85181E}">
      <dsp:nvSpPr>
        <dsp:cNvPr id="0" name=""/>
        <dsp:cNvSpPr/>
      </dsp:nvSpPr>
      <dsp:spPr>
        <a:xfrm>
          <a:off x="2747012" y="4754480"/>
          <a:ext cx="361558" cy="68894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80779" y="0"/>
              </a:lnTo>
              <a:lnTo>
                <a:pt x="180779" y="688944"/>
              </a:lnTo>
              <a:lnTo>
                <a:pt x="361558" y="688944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500" kern="1200"/>
        </a:p>
      </dsp:txBody>
      <dsp:txXfrm>
        <a:off x="2908339" y="5079501"/>
        <a:ext cx="38902" cy="38902"/>
      </dsp:txXfrm>
    </dsp:sp>
    <dsp:sp modelId="{997CC87B-5037-4CB1-BA79-A2E2C62ED436}">
      <dsp:nvSpPr>
        <dsp:cNvPr id="0" name=""/>
        <dsp:cNvSpPr/>
      </dsp:nvSpPr>
      <dsp:spPr>
        <a:xfrm>
          <a:off x="2747012" y="4708760"/>
          <a:ext cx="36155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61558" y="45720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500" kern="1200"/>
        </a:p>
      </dsp:txBody>
      <dsp:txXfrm>
        <a:off x="2918752" y="4745441"/>
        <a:ext cx="18077" cy="18077"/>
      </dsp:txXfrm>
    </dsp:sp>
    <dsp:sp modelId="{B6EA75C3-BDA9-4698-B87E-2F64C78807DE}">
      <dsp:nvSpPr>
        <dsp:cNvPr id="0" name=""/>
        <dsp:cNvSpPr/>
      </dsp:nvSpPr>
      <dsp:spPr>
        <a:xfrm>
          <a:off x="2747012" y="4065536"/>
          <a:ext cx="361558" cy="688944"/>
        </a:xfrm>
        <a:custGeom>
          <a:avLst/>
          <a:gdLst/>
          <a:ahLst/>
          <a:cxnLst/>
          <a:rect l="0" t="0" r="0" b="0"/>
          <a:pathLst>
            <a:path>
              <a:moveTo>
                <a:pt x="0" y="688944"/>
              </a:moveTo>
              <a:lnTo>
                <a:pt x="180779" y="688944"/>
              </a:lnTo>
              <a:lnTo>
                <a:pt x="180779" y="0"/>
              </a:lnTo>
              <a:lnTo>
                <a:pt x="361558" y="0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500" kern="1200"/>
        </a:p>
      </dsp:txBody>
      <dsp:txXfrm>
        <a:off x="2908339" y="4390557"/>
        <a:ext cx="38902" cy="38902"/>
      </dsp:txXfrm>
    </dsp:sp>
    <dsp:sp modelId="{CD44D7E2-BD0D-4DDC-A4D3-34C167473DA1}">
      <dsp:nvSpPr>
        <dsp:cNvPr id="0" name=""/>
        <dsp:cNvSpPr/>
      </dsp:nvSpPr>
      <dsp:spPr>
        <a:xfrm>
          <a:off x="2747012" y="3376592"/>
          <a:ext cx="361558" cy="1377888"/>
        </a:xfrm>
        <a:custGeom>
          <a:avLst/>
          <a:gdLst/>
          <a:ahLst/>
          <a:cxnLst/>
          <a:rect l="0" t="0" r="0" b="0"/>
          <a:pathLst>
            <a:path>
              <a:moveTo>
                <a:pt x="0" y="1377888"/>
              </a:moveTo>
              <a:lnTo>
                <a:pt x="180779" y="1377888"/>
              </a:lnTo>
              <a:lnTo>
                <a:pt x="180779" y="0"/>
              </a:lnTo>
              <a:lnTo>
                <a:pt x="361558" y="0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500" kern="1200"/>
        </a:p>
      </dsp:txBody>
      <dsp:txXfrm>
        <a:off x="2892177" y="4029923"/>
        <a:ext cx="71226" cy="71226"/>
      </dsp:txXfrm>
    </dsp:sp>
    <dsp:sp modelId="{46CACD35-3C43-4183-BD88-C64874869325}">
      <dsp:nvSpPr>
        <dsp:cNvPr id="0" name=""/>
        <dsp:cNvSpPr/>
      </dsp:nvSpPr>
      <dsp:spPr>
        <a:xfrm>
          <a:off x="577664" y="2773765"/>
          <a:ext cx="361558" cy="198071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80779" y="0"/>
              </a:lnTo>
              <a:lnTo>
                <a:pt x="180779" y="1980715"/>
              </a:lnTo>
              <a:lnTo>
                <a:pt x="361558" y="1980715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700" kern="1200"/>
        </a:p>
      </dsp:txBody>
      <dsp:txXfrm>
        <a:off x="708106" y="3713787"/>
        <a:ext cx="100672" cy="100672"/>
      </dsp:txXfrm>
    </dsp:sp>
    <dsp:sp modelId="{DA4320B4-8809-490D-ACD4-776D5DDD8293}">
      <dsp:nvSpPr>
        <dsp:cNvPr id="0" name=""/>
        <dsp:cNvSpPr/>
      </dsp:nvSpPr>
      <dsp:spPr>
        <a:xfrm>
          <a:off x="4857914" y="2778902"/>
          <a:ext cx="356405" cy="25321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78202" y="0"/>
              </a:lnTo>
              <a:lnTo>
                <a:pt x="178202" y="253217"/>
              </a:lnTo>
              <a:lnTo>
                <a:pt x="356405" y="253217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500" kern="1200"/>
        </a:p>
      </dsp:txBody>
      <dsp:txXfrm>
        <a:off x="5025187" y="2894581"/>
        <a:ext cx="21860" cy="21860"/>
      </dsp:txXfrm>
    </dsp:sp>
    <dsp:sp modelId="{52A35EE1-0E39-47B0-AE12-EB8FFA76665A}">
      <dsp:nvSpPr>
        <dsp:cNvPr id="0" name=""/>
        <dsp:cNvSpPr/>
      </dsp:nvSpPr>
      <dsp:spPr>
        <a:xfrm>
          <a:off x="4857914" y="2343175"/>
          <a:ext cx="356405" cy="435726"/>
        </a:xfrm>
        <a:custGeom>
          <a:avLst/>
          <a:gdLst/>
          <a:ahLst/>
          <a:cxnLst/>
          <a:rect l="0" t="0" r="0" b="0"/>
          <a:pathLst>
            <a:path>
              <a:moveTo>
                <a:pt x="0" y="435726"/>
              </a:moveTo>
              <a:lnTo>
                <a:pt x="178202" y="435726"/>
              </a:lnTo>
              <a:lnTo>
                <a:pt x="178202" y="0"/>
              </a:lnTo>
              <a:lnTo>
                <a:pt x="356405" y="0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500" kern="1200"/>
        </a:p>
      </dsp:txBody>
      <dsp:txXfrm>
        <a:off x="5022044" y="2546965"/>
        <a:ext cx="28146" cy="28146"/>
      </dsp:txXfrm>
    </dsp:sp>
    <dsp:sp modelId="{07DFF6C3-18DC-4F08-A374-1DB056B939F6}">
      <dsp:nvSpPr>
        <dsp:cNvPr id="0" name=""/>
        <dsp:cNvSpPr/>
      </dsp:nvSpPr>
      <dsp:spPr>
        <a:xfrm>
          <a:off x="577664" y="2728045"/>
          <a:ext cx="36671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183355" y="45720"/>
              </a:lnTo>
              <a:lnTo>
                <a:pt x="183355" y="50856"/>
              </a:lnTo>
              <a:lnTo>
                <a:pt x="366710" y="50856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500" kern="1200"/>
        </a:p>
      </dsp:txBody>
      <dsp:txXfrm>
        <a:off x="751850" y="2764597"/>
        <a:ext cx="18337" cy="18337"/>
      </dsp:txXfrm>
    </dsp:sp>
    <dsp:sp modelId="{A0B08AE4-A3EB-4176-8117-5034F0469192}">
      <dsp:nvSpPr>
        <dsp:cNvPr id="0" name=""/>
        <dsp:cNvSpPr/>
      </dsp:nvSpPr>
      <dsp:spPr>
        <a:xfrm>
          <a:off x="4916360" y="1309759"/>
          <a:ext cx="361558" cy="34447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80779" y="0"/>
              </a:lnTo>
              <a:lnTo>
                <a:pt x="180779" y="344472"/>
              </a:lnTo>
              <a:lnTo>
                <a:pt x="361558" y="34447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500" kern="1200"/>
        </a:p>
      </dsp:txBody>
      <dsp:txXfrm>
        <a:off x="5084654" y="1469510"/>
        <a:ext cx="24969" cy="24969"/>
      </dsp:txXfrm>
    </dsp:sp>
    <dsp:sp modelId="{69AA4998-02A8-4314-8274-A97EFEE58F69}">
      <dsp:nvSpPr>
        <dsp:cNvPr id="0" name=""/>
        <dsp:cNvSpPr/>
      </dsp:nvSpPr>
      <dsp:spPr>
        <a:xfrm>
          <a:off x="4916360" y="965286"/>
          <a:ext cx="361558" cy="344472"/>
        </a:xfrm>
        <a:custGeom>
          <a:avLst/>
          <a:gdLst/>
          <a:ahLst/>
          <a:cxnLst/>
          <a:rect l="0" t="0" r="0" b="0"/>
          <a:pathLst>
            <a:path>
              <a:moveTo>
                <a:pt x="0" y="344472"/>
              </a:moveTo>
              <a:lnTo>
                <a:pt x="180779" y="344472"/>
              </a:lnTo>
              <a:lnTo>
                <a:pt x="180779" y="0"/>
              </a:lnTo>
              <a:lnTo>
                <a:pt x="361558" y="0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500" kern="1200"/>
        </a:p>
      </dsp:txBody>
      <dsp:txXfrm>
        <a:off x="5084654" y="1125038"/>
        <a:ext cx="24969" cy="24969"/>
      </dsp:txXfrm>
    </dsp:sp>
    <dsp:sp modelId="{11163C56-239A-4C48-B1C2-C82990B2F389}">
      <dsp:nvSpPr>
        <dsp:cNvPr id="0" name=""/>
        <dsp:cNvSpPr/>
      </dsp:nvSpPr>
      <dsp:spPr>
        <a:xfrm>
          <a:off x="2747012" y="793050"/>
          <a:ext cx="361558" cy="51670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80779" y="0"/>
              </a:lnTo>
              <a:lnTo>
                <a:pt x="180779" y="516708"/>
              </a:lnTo>
              <a:lnTo>
                <a:pt x="361558" y="516708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500" kern="1200"/>
        </a:p>
      </dsp:txBody>
      <dsp:txXfrm>
        <a:off x="2912025" y="1035638"/>
        <a:ext cx="31532" cy="31532"/>
      </dsp:txXfrm>
    </dsp:sp>
    <dsp:sp modelId="{D6AC20A8-F52C-41E7-A11F-5A4B1B60A714}">
      <dsp:nvSpPr>
        <dsp:cNvPr id="0" name=""/>
        <dsp:cNvSpPr/>
      </dsp:nvSpPr>
      <dsp:spPr>
        <a:xfrm>
          <a:off x="2747012" y="276342"/>
          <a:ext cx="361558" cy="516708"/>
        </a:xfrm>
        <a:custGeom>
          <a:avLst/>
          <a:gdLst/>
          <a:ahLst/>
          <a:cxnLst/>
          <a:rect l="0" t="0" r="0" b="0"/>
          <a:pathLst>
            <a:path>
              <a:moveTo>
                <a:pt x="0" y="516708"/>
              </a:moveTo>
              <a:lnTo>
                <a:pt x="180779" y="516708"/>
              </a:lnTo>
              <a:lnTo>
                <a:pt x="180779" y="0"/>
              </a:lnTo>
              <a:lnTo>
                <a:pt x="361558" y="0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500" kern="1200"/>
        </a:p>
      </dsp:txBody>
      <dsp:txXfrm>
        <a:off x="2912025" y="518930"/>
        <a:ext cx="31532" cy="31532"/>
      </dsp:txXfrm>
    </dsp:sp>
    <dsp:sp modelId="{0BBCAC59-83FF-4F39-9477-11267436B0BC}">
      <dsp:nvSpPr>
        <dsp:cNvPr id="0" name=""/>
        <dsp:cNvSpPr/>
      </dsp:nvSpPr>
      <dsp:spPr>
        <a:xfrm>
          <a:off x="577664" y="793050"/>
          <a:ext cx="361558" cy="1980715"/>
        </a:xfrm>
        <a:custGeom>
          <a:avLst/>
          <a:gdLst/>
          <a:ahLst/>
          <a:cxnLst/>
          <a:rect l="0" t="0" r="0" b="0"/>
          <a:pathLst>
            <a:path>
              <a:moveTo>
                <a:pt x="0" y="1980715"/>
              </a:moveTo>
              <a:lnTo>
                <a:pt x="180779" y="1980715"/>
              </a:lnTo>
              <a:lnTo>
                <a:pt x="180779" y="0"/>
              </a:lnTo>
              <a:lnTo>
                <a:pt x="361558" y="0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700" kern="1200"/>
        </a:p>
      </dsp:txBody>
      <dsp:txXfrm>
        <a:off x="708106" y="1733072"/>
        <a:ext cx="100672" cy="100672"/>
      </dsp:txXfrm>
    </dsp:sp>
    <dsp:sp modelId="{289364D4-62C3-4470-8C7F-B490175B1EE6}">
      <dsp:nvSpPr>
        <dsp:cNvPr id="0" name=""/>
        <dsp:cNvSpPr/>
      </dsp:nvSpPr>
      <dsp:spPr>
        <a:xfrm rot="16200000">
          <a:off x="-1148322" y="2498188"/>
          <a:ext cx="2900818" cy="5511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2500" kern="1200" dirty="0">
              <a:latin typeface="+mn-lt"/>
              <a:ea typeface="+mn-ea"/>
              <a:cs typeface="+mn-ea"/>
              <a:sym typeface="+mn-lt"/>
            </a:rPr>
            <a:t> </a:t>
          </a:r>
          <a:r>
            <a:rPr lang="zh-CN" altLang="en-US" sz="2500" kern="1200" dirty="0">
              <a:latin typeface="+mn-lt"/>
              <a:ea typeface="+mn-ea"/>
              <a:cs typeface="+mn-ea"/>
              <a:sym typeface="+mn-lt"/>
            </a:rPr>
            <a:t>数据结构</a:t>
          </a:r>
        </a:p>
      </dsp:txBody>
      <dsp:txXfrm>
        <a:off x="-1148322" y="2498188"/>
        <a:ext cx="2900818" cy="551155"/>
      </dsp:txXfrm>
    </dsp:sp>
    <dsp:sp modelId="{16ECAC38-518A-47EE-8BD4-9FD0840D4B82}">
      <dsp:nvSpPr>
        <dsp:cNvPr id="0" name=""/>
        <dsp:cNvSpPr/>
      </dsp:nvSpPr>
      <dsp:spPr>
        <a:xfrm>
          <a:off x="939222" y="517472"/>
          <a:ext cx="1807790" cy="5511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300" kern="1200" dirty="0">
              <a:latin typeface="+mn-lt"/>
              <a:ea typeface="+mn-ea"/>
              <a:cs typeface="+mn-ea"/>
              <a:sym typeface="+mn-lt"/>
            </a:rPr>
            <a:t>逻辑结构</a:t>
          </a:r>
        </a:p>
      </dsp:txBody>
      <dsp:txXfrm>
        <a:off x="939222" y="517472"/>
        <a:ext cx="1807790" cy="551155"/>
      </dsp:txXfrm>
    </dsp:sp>
    <dsp:sp modelId="{CA2411B4-EC87-4940-826C-689EAF2ADD5C}">
      <dsp:nvSpPr>
        <dsp:cNvPr id="0" name=""/>
        <dsp:cNvSpPr/>
      </dsp:nvSpPr>
      <dsp:spPr>
        <a:xfrm>
          <a:off x="3108570" y="764"/>
          <a:ext cx="5433873" cy="5511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300" kern="1200" dirty="0">
              <a:latin typeface="+mn-lt"/>
              <a:ea typeface="+mn-ea"/>
              <a:cs typeface="+mn-ea"/>
              <a:sym typeface="+mn-lt"/>
            </a:rPr>
            <a:t>线性结构（线性表、栈、队、串、数组）</a:t>
          </a:r>
        </a:p>
      </dsp:txBody>
      <dsp:txXfrm>
        <a:off x="3108570" y="764"/>
        <a:ext cx="5433873" cy="551155"/>
      </dsp:txXfrm>
    </dsp:sp>
    <dsp:sp modelId="{0848E00F-8704-4377-B25A-DAD92674F808}">
      <dsp:nvSpPr>
        <dsp:cNvPr id="0" name=""/>
        <dsp:cNvSpPr/>
      </dsp:nvSpPr>
      <dsp:spPr>
        <a:xfrm>
          <a:off x="3108570" y="1034181"/>
          <a:ext cx="1807790" cy="5511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300" kern="1200" dirty="0">
              <a:latin typeface="+mn-lt"/>
              <a:ea typeface="+mn-ea"/>
              <a:cs typeface="+mn-ea"/>
              <a:sym typeface="+mn-lt"/>
            </a:rPr>
            <a:t>非线性结构</a:t>
          </a:r>
        </a:p>
      </dsp:txBody>
      <dsp:txXfrm>
        <a:off x="3108570" y="1034181"/>
        <a:ext cx="1807790" cy="551155"/>
      </dsp:txXfrm>
    </dsp:sp>
    <dsp:sp modelId="{27C1DD5A-4DE1-4D34-BF99-B55763485F5F}">
      <dsp:nvSpPr>
        <dsp:cNvPr id="0" name=""/>
        <dsp:cNvSpPr/>
      </dsp:nvSpPr>
      <dsp:spPr>
        <a:xfrm>
          <a:off x="5277918" y="689709"/>
          <a:ext cx="1807790" cy="5511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300" kern="1200" dirty="0">
              <a:latin typeface="+mn-lt"/>
              <a:ea typeface="+mn-ea"/>
              <a:cs typeface="+mn-ea"/>
              <a:sym typeface="+mn-lt"/>
            </a:rPr>
            <a:t>树结构</a:t>
          </a:r>
        </a:p>
      </dsp:txBody>
      <dsp:txXfrm>
        <a:off x="5277918" y="689709"/>
        <a:ext cx="1807790" cy="551155"/>
      </dsp:txXfrm>
    </dsp:sp>
    <dsp:sp modelId="{AC3483A0-DE79-4A15-92B8-B4F1A7EC42C8}">
      <dsp:nvSpPr>
        <dsp:cNvPr id="0" name=""/>
        <dsp:cNvSpPr/>
      </dsp:nvSpPr>
      <dsp:spPr>
        <a:xfrm>
          <a:off x="5277918" y="1378653"/>
          <a:ext cx="1807790" cy="5511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300" kern="1200" dirty="0">
              <a:latin typeface="+mn-lt"/>
              <a:ea typeface="+mn-ea"/>
              <a:cs typeface="+mn-ea"/>
              <a:sym typeface="+mn-lt"/>
            </a:rPr>
            <a:t>图结构</a:t>
          </a:r>
        </a:p>
      </dsp:txBody>
      <dsp:txXfrm>
        <a:off x="5277918" y="1378653"/>
        <a:ext cx="1807790" cy="551155"/>
      </dsp:txXfrm>
    </dsp:sp>
    <dsp:sp modelId="{10DC5356-5669-4EEB-80DA-45642DEE7761}">
      <dsp:nvSpPr>
        <dsp:cNvPr id="0" name=""/>
        <dsp:cNvSpPr/>
      </dsp:nvSpPr>
      <dsp:spPr>
        <a:xfrm>
          <a:off x="944374" y="2503324"/>
          <a:ext cx="3913539" cy="5511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200" kern="1200" dirty="0">
              <a:latin typeface="+mn-lt"/>
              <a:ea typeface="+mn-ea"/>
              <a:cs typeface="+mn-ea"/>
              <a:sym typeface="+mn-lt"/>
            </a:rPr>
            <a:t>物理（存储结构）</a:t>
          </a:r>
        </a:p>
      </dsp:txBody>
      <dsp:txXfrm>
        <a:off x="944374" y="2503324"/>
        <a:ext cx="3913539" cy="551155"/>
      </dsp:txXfrm>
    </dsp:sp>
    <dsp:sp modelId="{E58AE112-5951-4214-B14C-1E473817C495}">
      <dsp:nvSpPr>
        <dsp:cNvPr id="0" name=""/>
        <dsp:cNvSpPr/>
      </dsp:nvSpPr>
      <dsp:spPr>
        <a:xfrm>
          <a:off x="5214320" y="2067597"/>
          <a:ext cx="1807790" cy="5511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200" kern="1200" dirty="0">
              <a:latin typeface="+mn-lt"/>
              <a:ea typeface="+mn-ea"/>
              <a:cs typeface="+mn-ea"/>
              <a:sym typeface="+mn-lt"/>
            </a:rPr>
            <a:t>顺序结构</a:t>
          </a:r>
        </a:p>
      </dsp:txBody>
      <dsp:txXfrm>
        <a:off x="5214320" y="2067597"/>
        <a:ext cx="1807790" cy="551155"/>
      </dsp:txXfrm>
    </dsp:sp>
    <dsp:sp modelId="{437AD372-5396-4AAF-A11C-855FAA6DC816}">
      <dsp:nvSpPr>
        <dsp:cNvPr id="0" name=""/>
        <dsp:cNvSpPr/>
      </dsp:nvSpPr>
      <dsp:spPr>
        <a:xfrm>
          <a:off x="5214320" y="2756542"/>
          <a:ext cx="1807790" cy="5511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200" kern="1200" dirty="0">
              <a:latin typeface="+mn-lt"/>
              <a:ea typeface="+mn-ea"/>
              <a:cs typeface="+mn-ea"/>
              <a:sym typeface="+mn-lt"/>
            </a:rPr>
            <a:t>链式结构</a:t>
          </a:r>
        </a:p>
      </dsp:txBody>
      <dsp:txXfrm>
        <a:off x="5214320" y="2756542"/>
        <a:ext cx="1807790" cy="551155"/>
      </dsp:txXfrm>
    </dsp:sp>
    <dsp:sp modelId="{75D98B10-7C46-43A8-A348-FA1A95366FD3}">
      <dsp:nvSpPr>
        <dsp:cNvPr id="0" name=""/>
        <dsp:cNvSpPr/>
      </dsp:nvSpPr>
      <dsp:spPr>
        <a:xfrm>
          <a:off x="939222" y="4478903"/>
          <a:ext cx="1807790" cy="5511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200" kern="1200" dirty="0">
              <a:latin typeface="+mn-lt"/>
              <a:ea typeface="+mn-ea"/>
              <a:cs typeface="+mn-ea"/>
              <a:sym typeface="+mn-lt"/>
            </a:rPr>
            <a:t>数据运算</a:t>
          </a:r>
        </a:p>
      </dsp:txBody>
      <dsp:txXfrm>
        <a:off x="939222" y="4478903"/>
        <a:ext cx="1807790" cy="551155"/>
      </dsp:txXfrm>
    </dsp:sp>
    <dsp:sp modelId="{323B10B6-089B-46BF-B6F0-7A307630A7CC}">
      <dsp:nvSpPr>
        <dsp:cNvPr id="0" name=""/>
        <dsp:cNvSpPr/>
      </dsp:nvSpPr>
      <dsp:spPr>
        <a:xfrm>
          <a:off x="3108570" y="3101014"/>
          <a:ext cx="1807790" cy="5511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200" kern="1200" dirty="0">
              <a:latin typeface="+mn-lt"/>
              <a:ea typeface="+mn-ea"/>
              <a:cs typeface="+mn-ea"/>
              <a:sym typeface="+mn-lt"/>
            </a:rPr>
            <a:t>插入运算</a:t>
          </a:r>
        </a:p>
      </dsp:txBody>
      <dsp:txXfrm>
        <a:off x="3108570" y="3101014"/>
        <a:ext cx="1807790" cy="551155"/>
      </dsp:txXfrm>
    </dsp:sp>
    <dsp:sp modelId="{BBC49AC0-467B-4772-A63F-64647B771549}">
      <dsp:nvSpPr>
        <dsp:cNvPr id="0" name=""/>
        <dsp:cNvSpPr/>
      </dsp:nvSpPr>
      <dsp:spPr>
        <a:xfrm>
          <a:off x="3108570" y="3789958"/>
          <a:ext cx="1807790" cy="5511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200" kern="1200" dirty="0">
              <a:latin typeface="+mn-lt"/>
              <a:ea typeface="+mn-ea"/>
              <a:cs typeface="+mn-ea"/>
              <a:sym typeface="+mn-lt"/>
            </a:rPr>
            <a:t>删除运算</a:t>
          </a:r>
        </a:p>
      </dsp:txBody>
      <dsp:txXfrm>
        <a:off x="3108570" y="3789958"/>
        <a:ext cx="1807790" cy="551155"/>
      </dsp:txXfrm>
    </dsp:sp>
    <dsp:sp modelId="{5DD6F8E7-104E-40D3-8159-931158D7758D}">
      <dsp:nvSpPr>
        <dsp:cNvPr id="0" name=""/>
        <dsp:cNvSpPr/>
      </dsp:nvSpPr>
      <dsp:spPr>
        <a:xfrm>
          <a:off x="3108570" y="4478903"/>
          <a:ext cx="1807790" cy="5511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200" kern="1200" dirty="0">
              <a:latin typeface="+mn-lt"/>
              <a:ea typeface="+mn-ea"/>
              <a:cs typeface="+mn-ea"/>
              <a:sym typeface="+mn-lt"/>
            </a:rPr>
            <a:t>修改运算</a:t>
          </a:r>
        </a:p>
      </dsp:txBody>
      <dsp:txXfrm>
        <a:off x="3108570" y="4478903"/>
        <a:ext cx="1807790" cy="551155"/>
      </dsp:txXfrm>
    </dsp:sp>
    <dsp:sp modelId="{AA38CFE2-47E6-4A3D-A9CB-3E0E2C8B38EC}">
      <dsp:nvSpPr>
        <dsp:cNvPr id="0" name=""/>
        <dsp:cNvSpPr/>
      </dsp:nvSpPr>
      <dsp:spPr>
        <a:xfrm>
          <a:off x="3108570" y="5167847"/>
          <a:ext cx="1807790" cy="551155"/>
        </a:xfrm>
        <a:prstGeom prst="rect">
          <a:avLst/>
        </a:prstGeom>
        <a:solidFill>
          <a:srgbClr val="FF33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200" kern="1200" dirty="0">
              <a:latin typeface="+mn-lt"/>
              <a:ea typeface="+mn-ea"/>
              <a:cs typeface="+mn-ea"/>
              <a:sym typeface="+mn-lt"/>
            </a:rPr>
            <a:t>查找运算</a:t>
          </a:r>
        </a:p>
      </dsp:txBody>
      <dsp:txXfrm>
        <a:off x="3108570" y="5167847"/>
        <a:ext cx="1807790" cy="551155"/>
      </dsp:txXfrm>
    </dsp:sp>
    <dsp:sp modelId="{77A6741B-87B7-4DC4-8875-E859A9D33FDA}">
      <dsp:nvSpPr>
        <dsp:cNvPr id="0" name=""/>
        <dsp:cNvSpPr/>
      </dsp:nvSpPr>
      <dsp:spPr>
        <a:xfrm>
          <a:off x="3108570" y="5856791"/>
          <a:ext cx="1807790" cy="5511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200" kern="1200" dirty="0">
              <a:latin typeface="+mn-lt"/>
              <a:ea typeface="+mn-ea"/>
              <a:cs typeface="+mn-ea"/>
              <a:sym typeface="+mn-lt"/>
            </a:rPr>
            <a:t>排序运算</a:t>
          </a:r>
        </a:p>
      </dsp:txBody>
      <dsp:txXfrm>
        <a:off x="3108570" y="5856791"/>
        <a:ext cx="1807790" cy="55115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HorizontalMultiLevelHierarchy#1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midR"/>
                        <dgm:param type="endPts" val="midL"/>
                      </dgm:alg>
                    </dgm:if>
                    <dgm:else name="Name18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midL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spcBef>
                <a:spcPct val="0"/>
              </a:spcBef>
              <a:buFontTx/>
              <a:buNone/>
              <a:defRPr kumimoji="1" sz="1200" b="0">
                <a:ea typeface="仿宋_GB2312" panose="02010609030101010101" pitchFamily="49" charset="-122"/>
                <a:cs typeface="+mn-cs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仿宋_GB2312" panose="02010609030101010101" pitchFamily="49" charset="-122"/>
              <a:cs typeface="+mn-cs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spcBef>
                <a:spcPct val="0"/>
              </a:spcBef>
              <a:buFontTx/>
              <a:buNone/>
              <a:defRPr kumimoji="1" sz="1200" b="0">
                <a:ea typeface="仿宋_GB2312" panose="02010609030101010101" pitchFamily="49" charset="-122"/>
                <a:cs typeface="+mn-cs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仿宋_GB2312" panose="02010609030101010101" pitchFamily="49" charset="-122"/>
              <a:cs typeface="+mn-cs"/>
            </a:endParaRP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spcBef>
                <a:spcPct val="0"/>
              </a:spcBef>
              <a:buFontTx/>
              <a:buNone/>
              <a:defRPr kumimoji="1" sz="1200" b="0">
                <a:ea typeface="仿宋_GB2312" panose="02010609030101010101" pitchFamily="49" charset="-122"/>
                <a:cs typeface="+mn-cs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仿宋_GB2312" panose="02010609030101010101" pitchFamily="49" charset="-122"/>
              <a:cs typeface="+mn-cs"/>
            </a:endParaRPr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/>
          <a:p>
            <a:pPr lvl="0" algn="r" eaLnBrk="1" fontAlgn="base" hangingPunct="1">
              <a:buNone/>
            </a:pPr>
            <a:fld id="{9A0DB2DC-4C9A-4742-B13C-FB6460FD3503}" type="slidenum">
              <a:rPr lang="en-US" altLang="zh-CN" sz="1200" b="0" strike="noStrike" noProof="1" dirty="0">
                <a:latin typeface="Times New Roman" panose="02020603050405020304" pitchFamily="18" charset="0"/>
                <a:ea typeface="仿宋_GB2312" panose="02010609030101010101" pitchFamily="49" charset="-122"/>
                <a:cs typeface="+mn-cs"/>
              </a:rPr>
              <a:t>‹#›</a:t>
            </a:fld>
            <a:endParaRPr lang="en-US" altLang="zh-CN" sz="1200" b="0" strike="noStrike" noProof="1">
              <a:ea typeface="仿宋_GB2312" panose="0201060903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spcBef>
                <a:spcPct val="0"/>
              </a:spcBef>
              <a:buFontTx/>
              <a:buNone/>
              <a:defRPr kumimoji="1" sz="1200" b="0">
                <a:ea typeface="仿宋_GB2312" panose="02010609030101010101" pitchFamily="49" charset="-122"/>
                <a:cs typeface="+mn-cs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仿宋_GB2312" panose="02010609030101010101" pitchFamily="49" charset="-122"/>
              <a:cs typeface="+mn-cs"/>
            </a:endParaRP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spcBef>
                <a:spcPct val="0"/>
              </a:spcBef>
              <a:buFontTx/>
              <a:buNone/>
              <a:defRPr kumimoji="1" sz="1200" b="0">
                <a:ea typeface="仿宋_GB2312" panose="02010609030101010101" pitchFamily="49" charset="-122"/>
                <a:cs typeface="+mn-cs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仿宋_GB2312" panose="02010609030101010101" pitchFamily="49" charset="-122"/>
              <a:cs typeface="+mn-cs"/>
            </a:endParaRPr>
          </a:p>
        </p:txBody>
      </p:sp>
      <p:sp>
        <p:nvSpPr>
          <p:cNvPr id="21508" name="Rectangle 4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anose="02010609030101010101" pitchFamily="49" charset="-122"/>
                <a:cs typeface="仿宋_GB2312" panose="02010609030101010101" pitchFamily="49" charset="-122"/>
              </a:rPr>
              <a:t>单击以编辑母版文本样式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anose="02010609030101010101" pitchFamily="49" charset="-122"/>
                <a:cs typeface="仿宋_GB2312" panose="02010609030101010101" pitchFamily="49" charset="-122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anose="02010609030101010101" pitchFamily="49" charset="-122"/>
                <a:cs typeface="仿宋_GB2312" panose="02010609030101010101" pitchFamily="49" charset="-122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anose="02010609030101010101" pitchFamily="49" charset="-122"/>
                <a:cs typeface="仿宋_GB2312" panose="02010609030101010101" pitchFamily="49" charset="-122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anose="02010609030101010101" pitchFamily="49" charset="-122"/>
                <a:cs typeface="仿宋_GB2312" panose="02010609030101010101" pitchFamily="49" charset="-122"/>
              </a:rPr>
              <a:t>第五级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spcBef>
                <a:spcPct val="0"/>
              </a:spcBef>
              <a:buFontTx/>
              <a:buNone/>
              <a:defRPr kumimoji="1" sz="1200" b="0">
                <a:ea typeface="仿宋_GB2312" panose="02010609030101010101" pitchFamily="49" charset="-122"/>
                <a:cs typeface="+mn-cs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仿宋_GB2312" panose="02010609030101010101" pitchFamily="49" charset="-122"/>
              <a:cs typeface="+mn-cs"/>
            </a:endParaRPr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/>
          <a:p>
            <a:pPr lvl="0" algn="r" eaLnBrk="1" fontAlgn="base" hangingPunct="1">
              <a:buNone/>
            </a:pPr>
            <a:fld id="{9A0DB2DC-4C9A-4742-B13C-FB6460FD3503}" type="slidenum">
              <a:rPr lang="en-US" altLang="zh-CN" sz="1200" b="0" strike="noStrike" noProof="1" dirty="0">
                <a:latin typeface="Times New Roman" panose="02020603050405020304" pitchFamily="18" charset="0"/>
                <a:ea typeface="仿宋_GB2312" panose="02010609030101010101" pitchFamily="49" charset="-122"/>
                <a:cs typeface="+mn-cs"/>
              </a:rPr>
              <a:t>‹#›</a:t>
            </a:fld>
            <a:endParaRPr lang="en-US" altLang="zh-CN" sz="1200" b="0" strike="noStrike" noProof="1">
              <a:ea typeface="仿宋_GB2312" panose="0201060903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03643052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仿宋_GB2312" panose="02010609030101010101" pitchFamily="49" charset="-122"/>
        <a:cs typeface="仿宋_GB2312" panose="02010609030101010101" pitchFamily="49" charset="-122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仿宋_GB2312" panose="02010609030101010101" pitchFamily="49" charset="-122"/>
        <a:cs typeface="仿宋_GB2312" panose="02010609030101010101" pitchFamily="49" charset="-122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仿宋_GB2312" panose="02010609030101010101" pitchFamily="49" charset="-122"/>
        <a:cs typeface="仿宋_GB2312" panose="02010609030101010101" pitchFamily="49" charset="-122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仿宋_GB2312" panose="02010609030101010101" pitchFamily="49" charset="-122"/>
        <a:cs typeface="仿宋_GB2312" panose="02010609030101010101" pitchFamily="49" charset="-122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仿宋_GB2312" panose="02010609030101010101" pitchFamily="49" charset="-122"/>
        <a:cs typeface="仿宋_GB2312" panose="02010609030101010101" pitchFamily="49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 b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fld>
            <a:endParaRPr lang="en-US" altLang="zh-CN" sz="1200" b="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554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3555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lstStyle/>
          <a:p>
            <a:pPr lvl="0"/>
            <a:endParaRPr lang="zh-CN" alt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 b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fld>
            <a:endParaRPr lang="en-US" altLang="zh-CN" sz="1200" b="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626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6627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lstStyle/>
          <a:p>
            <a:pPr lvl="0"/>
            <a:endParaRPr lang="zh-CN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直接连接符 9"/>
          <p:cNvSpPr/>
          <p:nvPr userDrawn="1"/>
        </p:nvSpPr>
        <p:spPr>
          <a:xfrm>
            <a:off x="0" y="6357938"/>
            <a:ext cx="9144000" cy="71437"/>
          </a:xfrm>
          <a:prstGeom prst="line">
            <a:avLst/>
          </a:prstGeom>
          <a:ln w="9525">
            <a:noFill/>
          </a:ln>
        </p:spPr>
      </p:sp>
      <p:sp>
        <p:nvSpPr>
          <p:cNvPr id="16" name="矩形 15"/>
          <p:cNvSpPr/>
          <p:nvPr/>
        </p:nvSpPr>
        <p:spPr>
          <a:xfrm>
            <a:off x="0" y="190500"/>
            <a:ext cx="9144000" cy="536575"/>
          </a:xfrm>
          <a:prstGeom prst="rect">
            <a:avLst/>
          </a:prstGeom>
          <a:solidFill>
            <a:srgbClr val="6C4C8F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0" y="727075"/>
            <a:ext cx="9144000" cy="7143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844171" y="235957"/>
            <a:ext cx="6400800" cy="456739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10" name="内容占位符 2"/>
          <p:cNvSpPr>
            <a:spLocks noGrp="1"/>
          </p:cNvSpPr>
          <p:nvPr>
            <p:ph idx="1" hasCustomPrompt="1"/>
          </p:nvPr>
        </p:nvSpPr>
        <p:spPr>
          <a:xfrm>
            <a:off x="496888" y="1116013"/>
            <a:ext cx="8251825" cy="5472112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</p:txBody>
      </p:sp>
      <p:grpSp>
        <p:nvGrpSpPr>
          <p:cNvPr id="18" name="组合 17"/>
          <p:cNvGrpSpPr/>
          <p:nvPr/>
        </p:nvGrpSpPr>
        <p:grpSpPr>
          <a:xfrm>
            <a:off x="115634" y="404660"/>
            <a:ext cx="617410" cy="174609"/>
            <a:chOff x="384175" y="480608"/>
            <a:chExt cx="348872" cy="98663"/>
          </a:xfrm>
          <a:solidFill>
            <a:srgbClr val="76AEDD"/>
          </a:solidFill>
        </p:grpSpPr>
        <p:sp>
          <p:nvSpPr>
            <p:cNvPr id="19" name="等腰三角形 18">
              <a:hlinkClick r:id="" action="ppaction://hlinkshowjump?jump=previousslide"/>
            </p:cNvPr>
            <p:cNvSpPr/>
            <p:nvPr/>
          </p:nvSpPr>
          <p:spPr>
            <a:xfrm rot="5400000" flipH="1">
              <a:off x="3727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等腰三角形 19">
              <a:hlinkClick r:id="" action="ppaction://hlinkshowjump?jump=previousslide"/>
            </p:cNvPr>
            <p:cNvSpPr/>
            <p:nvPr/>
          </p:nvSpPr>
          <p:spPr>
            <a:xfrm rot="5400000" flipH="1">
              <a:off x="5124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等腰三角形 20">
              <a:hlinkClick r:id="" action="ppaction://hlinkshowjump?jump=previousslide"/>
            </p:cNvPr>
            <p:cNvSpPr/>
            <p:nvPr/>
          </p:nvSpPr>
          <p:spPr>
            <a:xfrm rot="5400000" flipH="1">
              <a:off x="64580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0" y="190500"/>
            <a:ext cx="9144000" cy="536575"/>
          </a:xfrm>
          <a:prstGeom prst="rect">
            <a:avLst/>
          </a:prstGeom>
          <a:solidFill>
            <a:srgbClr val="6C4C8F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0" y="727075"/>
            <a:ext cx="9144000" cy="7143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4171" y="235957"/>
            <a:ext cx="6400800" cy="456739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</p:txBody>
      </p:sp>
      <p:grpSp>
        <p:nvGrpSpPr>
          <p:cNvPr id="17" name="组合 16"/>
          <p:cNvGrpSpPr/>
          <p:nvPr/>
        </p:nvGrpSpPr>
        <p:grpSpPr>
          <a:xfrm>
            <a:off x="115634" y="404660"/>
            <a:ext cx="617410" cy="174609"/>
            <a:chOff x="384175" y="480608"/>
            <a:chExt cx="348872" cy="98663"/>
          </a:xfrm>
          <a:solidFill>
            <a:srgbClr val="76AEDD"/>
          </a:solidFill>
        </p:grpSpPr>
        <p:sp>
          <p:nvSpPr>
            <p:cNvPr id="18" name="等腰三角形 17">
              <a:hlinkClick r:id="" action="ppaction://hlinkshowjump?jump=previousslide"/>
            </p:cNvPr>
            <p:cNvSpPr/>
            <p:nvPr/>
          </p:nvSpPr>
          <p:spPr>
            <a:xfrm rot="5400000" flipH="1">
              <a:off x="3727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等腰三角形 18">
              <a:hlinkClick r:id="" action="ppaction://hlinkshowjump?jump=previousslide"/>
            </p:cNvPr>
            <p:cNvSpPr/>
            <p:nvPr/>
          </p:nvSpPr>
          <p:spPr>
            <a:xfrm rot="5400000" flipH="1">
              <a:off x="5124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等腰三角形 19">
              <a:hlinkClick r:id="" action="ppaction://hlinkshowjump?jump=previousslide"/>
            </p:cNvPr>
            <p:cNvSpPr/>
            <p:nvPr/>
          </p:nvSpPr>
          <p:spPr>
            <a:xfrm rot="5400000" flipH="1">
              <a:off x="64580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0" y="190500"/>
            <a:ext cx="9144000" cy="536575"/>
          </a:xfrm>
          <a:prstGeom prst="rect">
            <a:avLst/>
          </a:prstGeom>
          <a:solidFill>
            <a:srgbClr val="6C4C8F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0" y="727075"/>
            <a:ext cx="9144000" cy="7143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148" name="直接连接符 9"/>
          <p:cNvSpPr/>
          <p:nvPr userDrawn="1"/>
        </p:nvSpPr>
        <p:spPr>
          <a:xfrm>
            <a:off x="0" y="6357938"/>
            <a:ext cx="9144000" cy="71437"/>
          </a:xfrm>
          <a:prstGeom prst="line">
            <a:avLst/>
          </a:prstGeom>
          <a:ln w="9525">
            <a:noFill/>
          </a:ln>
        </p:spPr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grpSp>
        <p:nvGrpSpPr>
          <p:cNvPr id="17" name="组合 16"/>
          <p:cNvGrpSpPr/>
          <p:nvPr/>
        </p:nvGrpSpPr>
        <p:grpSpPr>
          <a:xfrm>
            <a:off x="115634" y="404660"/>
            <a:ext cx="617410" cy="174609"/>
            <a:chOff x="384175" y="480608"/>
            <a:chExt cx="348872" cy="98663"/>
          </a:xfrm>
          <a:solidFill>
            <a:srgbClr val="76AEDD"/>
          </a:solidFill>
        </p:grpSpPr>
        <p:sp>
          <p:nvSpPr>
            <p:cNvPr id="18" name="等腰三角形 17">
              <a:hlinkClick r:id="" action="ppaction://hlinkshowjump?jump=previousslide"/>
            </p:cNvPr>
            <p:cNvSpPr/>
            <p:nvPr/>
          </p:nvSpPr>
          <p:spPr>
            <a:xfrm rot="5400000" flipH="1">
              <a:off x="3727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等腰三角形 18">
              <a:hlinkClick r:id="" action="ppaction://hlinkshowjump?jump=previousslide"/>
            </p:cNvPr>
            <p:cNvSpPr/>
            <p:nvPr/>
          </p:nvSpPr>
          <p:spPr>
            <a:xfrm rot="5400000" flipH="1">
              <a:off x="5124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等腰三角形 19">
              <a:hlinkClick r:id="" action="ppaction://hlinkshowjump?jump=previousslide"/>
            </p:cNvPr>
            <p:cNvSpPr/>
            <p:nvPr/>
          </p:nvSpPr>
          <p:spPr>
            <a:xfrm rot="5400000" flipH="1">
              <a:off x="64580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0" y="190500"/>
            <a:ext cx="9144000" cy="536575"/>
          </a:xfrm>
          <a:prstGeom prst="rect">
            <a:avLst/>
          </a:prstGeom>
          <a:solidFill>
            <a:srgbClr val="6C4C8F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0" y="727075"/>
            <a:ext cx="9144000" cy="7143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7" name="标题 1"/>
          <p:cNvSpPr>
            <a:spLocks noGrp="1"/>
          </p:cNvSpPr>
          <p:nvPr>
            <p:ph type="title"/>
          </p:nvPr>
        </p:nvSpPr>
        <p:spPr>
          <a:xfrm>
            <a:off x="844171" y="235957"/>
            <a:ext cx="6400800" cy="456739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18" name="内容占位符 2"/>
          <p:cNvSpPr>
            <a:spLocks noGrp="1"/>
          </p:cNvSpPr>
          <p:nvPr>
            <p:ph idx="1" hasCustomPrompt="1"/>
          </p:nvPr>
        </p:nvSpPr>
        <p:spPr>
          <a:xfrm>
            <a:off x="496888" y="1116013"/>
            <a:ext cx="8251825" cy="5472112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</p:txBody>
      </p:sp>
      <p:grpSp>
        <p:nvGrpSpPr>
          <p:cNvPr id="2" name="组合 16"/>
          <p:cNvGrpSpPr/>
          <p:nvPr/>
        </p:nvGrpSpPr>
        <p:grpSpPr>
          <a:xfrm>
            <a:off x="115634" y="404660"/>
            <a:ext cx="617410" cy="174609"/>
            <a:chOff x="384175" y="480608"/>
            <a:chExt cx="348872" cy="98663"/>
          </a:xfrm>
          <a:solidFill>
            <a:srgbClr val="76AEDD"/>
          </a:solidFill>
        </p:grpSpPr>
        <p:sp>
          <p:nvSpPr>
            <p:cNvPr id="3" name="等腰三角形 2">
              <a:hlinkClick r:id="" action="ppaction://hlinkshowjump?jump=previousslide"/>
            </p:cNvPr>
            <p:cNvSpPr/>
            <p:nvPr/>
          </p:nvSpPr>
          <p:spPr>
            <a:xfrm rot="5400000" flipH="1">
              <a:off x="3727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等腰三角形 18">
              <a:hlinkClick r:id="" action="ppaction://hlinkshowjump?jump=previousslide"/>
            </p:cNvPr>
            <p:cNvSpPr/>
            <p:nvPr/>
          </p:nvSpPr>
          <p:spPr>
            <a:xfrm rot="5400000" flipH="1">
              <a:off x="5124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等腰三角形 19">
              <a:hlinkClick r:id="" action="ppaction://hlinkshowjump?jump=previousslide"/>
            </p:cNvPr>
            <p:cNvSpPr/>
            <p:nvPr/>
          </p:nvSpPr>
          <p:spPr>
            <a:xfrm rot="5400000" flipH="1">
              <a:off x="64580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49288" y="609600"/>
            <a:ext cx="7983537" cy="5565775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直接连接符 9"/>
          <p:cNvSpPr/>
          <p:nvPr userDrawn="1"/>
        </p:nvSpPr>
        <p:spPr>
          <a:xfrm>
            <a:off x="0" y="6357938"/>
            <a:ext cx="9144000" cy="71437"/>
          </a:xfrm>
          <a:prstGeom prst="line">
            <a:avLst/>
          </a:prstGeom>
          <a:ln w="9525"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1_空白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直接连接符 9"/>
          <p:cNvSpPr/>
          <p:nvPr userDrawn="1"/>
        </p:nvSpPr>
        <p:spPr>
          <a:xfrm>
            <a:off x="0" y="6357938"/>
            <a:ext cx="9144000" cy="71437"/>
          </a:xfrm>
          <a:prstGeom prst="line">
            <a:avLst/>
          </a:prstGeom>
          <a:ln w="9525"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直接连接符 9"/>
          <p:cNvSpPr/>
          <p:nvPr userDrawn="1"/>
        </p:nvSpPr>
        <p:spPr>
          <a:xfrm>
            <a:off x="0" y="6357938"/>
            <a:ext cx="9144000" cy="71437"/>
          </a:xfrm>
          <a:prstGeom prst="line">
            <a:avLst/>
          </a:prstGeom>
          <a:ln w="9525">
            <a:noFill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0" y="190500"/>
            <a:ext cx="9144000" cy="536575"/>
          </a:xfrm>
          <a:prstGeom prst="rect">
            <a:avLst/>
          </a:prstGeom>
          <a:solidFill>
            <a:srgbClr val="6C4C8F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0" y="727075"/>
            <a:ext cx="9144000" cy="7143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4171" y="235957"/>
            <a:ext cx="6400800" cy="456739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</p:txBody>
      </p:sp>
      <p:grpSp>
        <p:nvGrpSpPr>
          <p:cNvPr id="17" name="组合 16"/>
          <p:cNvGrpSpPr/>
          <p:nvPr/>
        </p:nvGrpSpPr>
        <p:grpSpPr>
          <a:xfrm>
            <a:off x="115634" y="404660"/>
            <a:ext cx="617410" cy="174609"/>
            <a:chOff x="384175" y="480608"/>
            <a:chExt cx="348872" cy="98663"/>
          </a:xfrm>
          <a:solidFill>
            <a:srgbClr val="76AEDD"/>
          </a:solidFill>
        </p:grpSpPr>
        <p:sp>
          <p:nvSpPr>
            <p:cNvPr id="18" name="等腰三角形 17">
              <a:hlinkClick r:id="" action="ppaction://hlinkshowjump?jump=previousslide"/>
            </p:cNvPr>
            <p:cNvSpPr/>
            <p:nvPr/>
          </p:nvSpPr>
          <p:spPr>
            <a:xfrm rot="5400000" flipH="1">
              <a:off x="3727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等腰三角形 18">
              <a:hlinkClick r:id="" action="ppaction://hlinkshowjump?jump=previousslide"/>
            </p:cNvPr>
            <p:cNvSpPr/>
            <p:nvPr/>
          </p:nvSpPr>
          <p:spPr>
            <a:xfrm rot="5400000" flipH="1">
              <a:off x="5124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等腰三角形 19">
              <a:hlinkClick r:id="" action="ppaction://hlinkshowjump?jump=previousslide"/>
            </p:cNvPr>
            <p:cNvSpPr/>
            <p:nvPr/>
          </p:nvSpPr>
          <p:spPr>
            <a:xfrm rot="5400000" flipH="1">
              <a:off x="64580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0" y="190500"/>
            <a:ext cx="9144000" cy="536575"/>
          </a:xfrm>
          <a:prstGeom prst="rect">
            <a:avLst/>
          </a:prstGeom>
          <a:solidFill>
            <a:srgbClr val="6C4C8F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0" y="727075"/>
            <a:ext cx="9144000" cy="7143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292" name="直接连接符 9"/>
          <p:cNvSpPr/>
          <p:nvPr userDrawn="1"/>
        </p:nvSpPr>
        <p:spPr>
          <a:xfrm>
            <a:off x="0" y="6357938"/>
            <a:ext cx="9144000" cy="71437"/>
          </a:xfrm>
          <a:prstGeom prst="line">
            <a:avLst/>
          </a:prstGeom>
          <a:ln w="9525">
            <a:noFill/>
          </a:ln>
        </p:spPr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grpSp>
        <p:nvGrpSpPr>
          <p:cNvPr id="17" name="组合 16"/>
          <p:cNvGrpSpPr/>
          <p:nvPr/>
        </p:nvGrpSpPr>
        <p:grpSpPr>
          <a:xfrm>
            <a:off x="115634" y="404660"/>
            <a:ext cx="617410" cy="174609"/>
            <a:chOff x="384175" y="480608"/>
            <a:chExt cx="348872" cy="98663"/>
          </a:xfrm>
          <a:solidFill>
            <a:srgbClr val="76AEDD"/>
          </a:solidFill>
        </p:grpSpPr>
        <p:sp>
          <p:nvSpPr>
            <p:cNvPr id="18" name="等腰三角形 17">
              <a:hlinkClick r:id="" action="ppaction://hlinkshowjump?jump=previousslide"/>
            </p:cNvPr>
            <p:cNvSpPr/>
            <p:nvPr/>
          </p:nvSpPr>
          <p:spPr>
            <a:xfrm rot="5400000" flipH="1">
              <a:off x="3727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等腰三角形 18">
              <a:hlinkClick r:id="" action="ppaction://hlinkshowjump?jump=previousslide"/>
            </p:cNvPr>
            <p:cNvSpPr/>
            <p:nvPr/>
          </p:nvSpPr>
          <p:spPr>
            <a:xfrm rot="5400000" flipH="1">
              <a:off x="5124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等腰三角形 19">
              <a:hlinkClick r:id="" action="ppaction://hlinkshowjump?jump=previousslide"/>
            </p:cNvPr>
            <p:cNvSpPr/>
            <p:nvPr/>
          </p:nvSpPr>
          <p:spPr>
            <a:xfrm rot="5400000" flipH="1">
              <a:off x="64580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直接连接符 9"/>
          <p:cNvSpPr/>
          <p:nvPr userDrawn="1"/>
        </p:nvSpPr>
        <p:spPr>
          <a:xfrm>
            <a:off x="0" y="6357938"/>
            <a:ext cx="9144000" cy="71437"/>
          </a:xfrm>
          <a:prstGeom prst="line">
            <a:avLst/>
          </a:prstGeom>
          <a:ln w="9525">
            <a:noFill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/>
          </p:cNvSpPr>
          <p:nvPr>
            <p:ph type="body"/>
          </p:nvPr>
        </p:nvSpPr>
        <p:spPr>
          <a:xfrm>
            <a:off x="496888" y="1116013"/>
            <a:ext cx="8251825" cy="5472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zh-CN" altLang="en-US" dirty="0"/>
              <a:t>单击以编辑母版文本样式</a:t>
            </a:r>
          </a:p>
        </p:txBody>
      </p:sp>
      <p:cxnSp>
        <p:nvCxnSpPr>
          <p:cNvPr id="1027" name="直接连接符 9"/>
          <p:cNvCxnSpPr/>
          <p:nvPr userDrawn="1"/>
        </p:nvCxnSpPr>
        <p:spPr>
          <a:xfrm>
            <a:off x="0" y="6357938"/>
            <a:ext cx="9144000" cy="71437"/>
          </a:xfrm>
          <a:prstGeom prst="line">
            <a:avLst/>
          </a:prstGeom>
          <a:ln w="9525">
            <a:noFill/>
          </a:ln>
        </p:spPr>
      </p:cxnSp>
      <p:sp>
        <p:nvSpPr>
          <p:cNvPr id="10" name="矩形 9"/>
          <p:cNvSpPr/>
          <p:nvPr/>
        </p:nvSpPr>
        <p:spPr>
          <a:xfrm>
            <a:off x="0" y="190500"/>
            <a:ext cx="9144000" cy="536575"/>
          </a:xfrm>
          <a:prstGeom prst="rect">
            <a:avLst/>
          </a:prstGeom>
          <a:solidFill>
            <a:srgbClr val="6C4C8F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0" y="727075"/>
            <a:ext cx="9144000" cy="7143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15634" y="404660"/>
            <a:ext cx="617410" cy="174609"/>
            <a:chOff x="384175" y="480608"/>
            <a:chExt cx="348872" cy="98663"/>
          </a:xfrm>
          <a:solidFill>
            <a:srgbClr val="76AEDD"/>
          </a:solidFill>
        </p:grpSpPr>
        <p:sp>
          <p:nvSpPr>
            <p:cNvPr id="12" name="等腰三角形 11">
              <a:hlinkClick r:id="" action="ppaction://hlinkshowjump?jump=previousslide"/>
            </p:cNvPr>
            <p:cNvSpPr/>
            <p:nvPr/>
          </p:nvSpPr>
          <p:spPr>
            <a:xfrm rot="5400000" flipH="1">
              <a:off x="3727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等腰三角形 12">
              <a:hlinkClick r:id="" action="ppaction://hlinkshowjump?jump=previousslide"/>
            </p:cNvPr>
            <p:cNvSpPr/>
            <p:nvPr/>
          </p:nvSpPr>
          <p:spPr>
            <a:xfrm rot="5400000" flipH="1">
              <a:off x="5124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等腰三角形 13">
              <a:hlinkClick r:id="" action="ppaction://hlinkshowjump?jump=previousslide"/>
            </p:cNvPr>
            <p:cNvSpPr/>
            <p:nvPr/>
          </p:nvSpPr>
          <p:spPr>
            <a:xfrm rot="5400000" flipH="1">
              <a:off x="64580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031" name="Rectangle 2"/>
          <p:cNvSpPr>
            <a:spLocks noGrp="1"/>
          </p:cNvSpPr>
          <p:nvPr>
            <p:ph type="title"/>
          </p:nvPr>
        </p:nvSpPr>
        <p:spPr>
          <a:xfrm>
            <a:off x="844550" y="260350"/>
            <a:ext cx="6400800" cy="4572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en-US" altLang="zh-CN" dirty="0"/>
              <a:t>单击以编辑</a:t>
            </a:r>
            <a:r>
              <a:rPr lang="en-US" altLang="en-US" dirty="0"/>
              <a:t>母版标题样式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+mj-lt"/>
          <a:ea typeface="微软雅黑" panose="020B0503020204020204" pitchFamily="34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微软雅黑" panose="020B0503020204020204" pitchFamily="34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微软雅黑" panose="020B0503020204020204" pitchFamily="34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微软雅黑" panose="020B0503020204020204" pitchFamily="34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微软雅黑" panose="020B0503020204020204" pitchFamily="34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仿宋_GB2312" panose="02010609030101010101" pitchFamily="49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仿宋_GB2312" panose="02010609030101010101" pitchFamily="49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仿宋_GB2312" panose="02010609030101010101" pitchFamily="49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仿宋_GB2312" panose="02010609030101010101" pitchFamily="49" charset="-122"/>
        </a:defRPr>
      </a:lvl9pPr>
    </p:titleStyle>
    <p:bodyStyle>
      <a:lvl1pPr indent="538480" algn="l" rtl="0" eaLnBrk="0" fontAlgn="base" hangingPunct="0">
        <a:lnSpc>
          <a:spcPct val="130000"/>
        </a:lnSpc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微软雅黑" panose="020B0503020204020204" pitchFamily="34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微软雅黑" panose="020B0503020204020204" pitchFamily="34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微软雅黑" panose="020B0503020204020204" pitchFamily="34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微软雅黑" panose="020B0503020204020204" pitchFamily="34" charset="-122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3"/>
          <p:cNvSpPr>
            <a:spLocks noGrp="1"/>
          </p:cNvSpPr>
          <p:nvPr>
            <p:ph type="body"/>
          </p:nvPr>
        </p:nvSpPr>
        <p:spPr>
          <a:xfrm>
            <a:off x="496888" y="1116013"/>
            <a:ext cx="8251825" cy="5472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zh-CN" altLang="en-US" dirty="0"/>
              <a:t>单击以编辑母版文本样式</a:t>
            </a:r>
          </a:p>
        </p:txBody>
      </p:sp>
      <p:cxnSp>
        <p:nvCxnSpPr>
          <p:cNvPr id="2051" name="直接连接符 9"/>
          <p:cNvCxnSpPr/>
          <p:nvPr userDrawn="1"/>
        </p:nvCxnSpPr>
        <p:spPr>
          <a:xfrm>
            <a:off x="0" y="6357938"/>
            <a:ext cx="9144000" cy="71437"/>
          </a:xfrm>
          <a:prstGeom prst="line">
            <a:avLst/>
          </a:prstGeom>
          <a:ln w="9525">
            <a:noFill/>
          </a:ln>
        </p:spPr>
      </p:cxnSp>
      <p:sp>
        <p:nvSpPr>
          <p:cNvPr id="10" name="矩形 9"/>
          <p:cNvSpPr/>
          <p:nvPr/>
        </p:nvSpPr>
        <p:spPr>
          <a:xfrm>
            <a:off x="0" y="190500"/>
            <a:ext cx="9144000" cy="536575"/>
          </a:xfrm>
          <a:prstGeom prst="rect">
            <a:avLst/>
          </a:prstGeom>
          <a:solidFill>
            <a:srgbClr val="6C4C8F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0" y="727075"/>
            <a:ext cx="9144000" cy="7143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15634" y="404660"/>
            <a:ext cx="617410" cy="174609"/>
            <a:chOff x="384175" y="480608"/>
            <a:chExt cx="348872" cy="98663"/>
          </a:xfrm>
          <a:solidFill>
            <a:srgbClr val="76AEDD"/>
          </a:solidFill>
        </p:grpSpPr>
        <p:sp>
          <p:nvSpPr>
            <p:cNvPr id="12" name="等腰三角形 11">
              <a:hlinkClick r:id="" action="ppaction://hlinkshowjump?jump=previousslide"/>
            </p:cNvPr>
            <p:cNvSpPr/>
            <p:nvPr/>
          </p:nvSpPr>
          <p:spPr>
            <a:xfrm rot="5400000" flipH="1">
              <a:off x="3727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等腰三角形 12">
              <a:hlinkClick r:id="" action="ppaction://hlinkshowjump?jump=previousslide"/>
            </p:cNvPr>
            <p:cNvSpPr/>
            <p:nvPr/>
          </p:nvSpPr>
          <p:spPr>
            <a:xfrm rot="5400000" flipH="1">
              <a:off x="5124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等腰三角形 13">
              <a:hlinkClick r:id="" action="ppaction://hlinkshowjump?jump=previousslide"/>
            </p:cNvPr>
            <p:cNvSpPr/>
            <p:nvPr/>
          </p:nvSpPr>
          <p:spPr>
            <a:xfrm rot="5400000" flipH="1">
              <a:off x="64580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2055" name="Rectangle 2"/>
          <p:cNvSpPr>
            <a:spLocks noGrp="1"/>
          </p:cNvSpPr>
          <p:nvPr>
            <p:ph type="title"/>
          </p:nvPr>
        </p:nvSpPr>
        <p:spPr>
          <a:xfrm>
            <a:off x="844550" y="260350"/>
            <a:ext cx="6400800" cy="4572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en-US" altLang="zh-CN" dirty="0"/>
              <a:t>单击以编辑</a:t>
            </a:r>
            <a:r>
              <a:rPr lang="en-US" altLang="en-US" dirty="0"/>
              <a:t>母版标题样式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+mj-lt"/>
          <a:ea typeface="微软雅黑" panose="020B0503020204020204" pitchFamily="34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微软雅黑" panose="020B0503020204020204" pitchFamily="34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微软雅黑" panose="020B0503020204020204" pitchFamily="34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微软雅黑" panose="020B0503020204020204" pitchFamily="34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微软雅黑" panose="020B0503020204020204" pitchFamily="34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仿宋_GB2312" panose="02010609030101010101" pitchFamily="49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仿宋_GB2312" panose="02010609030101010101" pitchFamily="49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仿宋_GB2312" panose="02010609030101010101" pitchFamily="49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仿宋_GB2312" panose="02010609030101010101" pitchFamily="49" charset="-122"/>
        </a:defRPr>
      </a:lvl9pPr>
    </p:titleStyle>
    <p:bodyStyle>
      <a:lvl1pPr indent="538480" algn="l" rtl="0" eaLnBrk="0" fontAlgn="base" hangingPunct="0">
        <a:lnSpc>
          <a:spcPct val="130000"/>
        </a:lnSpc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微软雅黑" panose="020B0503020204020204" pitchFamily="34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微软雅黑" panose="020B0503020204020204" pitchFamily="34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微软雅黑" panose="020B0503020204020204" pitchFamily="34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微软雅黑" panose="020B0503020204020204" pitchFamily="34" charset="-122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3.w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hyperlink" Target="http://image.baidu.com/i?ct=503316480&amp;z=&amp;tn=baiduimagedetail&amp;word=%CE%CA%BA%C5%CD%BC%C6%AC&amp;in=28424&amp;cl=2&amp;lm=-1&amp;pn=1&amp;rn=1&amp;di=54091058538&amp;ln=2000&amp;fr=ala1&amp;fmq=&amp;ic=&amp;s=&amp;se=&amp;sme=0&amp;tab=&amp;width=&amp;height=&amp;face=" TargetMode="Externa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audio" Target="../media/audio3.wav"/><Relationship Id="rId7" Type="http://schemas.openxmlformats.org/officeDocument/2006/relationships/image" Target="../media/image5.wmf"/><Relationship Id="rId2" Type="http://schemas.openxmlformats.org/officeDocument/2006/relationships/slideLayout" Target="../slideLayouts/slideLayout9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6.jpeg"/><Relationship Id="rId4" Type="http://schemas.openxmlformats.org/officeDocument/2006/relationships/audio" Target="../media/audio4.wav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audio" Target="../media/audio5.wav"/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6.wav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" Target="slide35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" Target="slide56.xml"/><Relationship Id="rId2" Type="http://schemas.openxmlformats.org/officeDocument/2006/relationships/slide" Target="slide42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" Target="slide42.xml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tags" Target="../tags/tag14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17" Type="http://schemas.openxmlformats.org/officeDocument/2006/relationships/tags" Target="../tags/tag18.xml"/><Relationship Id="rId2" Type="http://schemas.openxmlformats.org/officeDocument/2006/relationships/tags" Target="../tags/tag3.xml"/><Relationship Id="rId16" Type="http://schemas.openxmlformats.org/officeDocument/2006/relationships/tags" Target="../tags/tag17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5" Type="http://schemas.openxmlformats.org/officeDocument/2006/relationships/tags" Target="../tags/tag6.xml"/><Relationship Id="rId15" Type="http://schemas.openxmlformats.org/officeDocument/2006/relationships/tags" Target="../tags/tag16.xml"/><Relationship Id="rId10" Type="http://schemas.openxmlformats.org/officeDocument/2006/relationships/tags" Target="../tags/tag11.xml"/><Relationship Id="rId19" Type="http://schemas.openxmlformats.org/officeDocument/2006/relationships/image" Target="../media/image8.tmp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tags" Target="../tags/tag15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tags" Target="../tags/tag26.xml"/><Relationship Id="rId13" Type="http://schemas.openxmlformats.org/officeDocument/2006/relationships/tags" Target="../tags/tag31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21.xml"/><Relationship Id="rId7" Type="http://schemas.openxmlformats.org/officeDocument/2006/relationships/tags" Target="../tags/tag25.xml"/><Relationship Id="rId12" Type="http://schemas.openxmlformats.org/officeDocument/2006/relationships/tags" Target="../tags/tag30.xml"/><Relationship Id="rId17" Type="http://schemas.openxmlformats.org/officeDocument/2006/relationships/tags" Target="../tags/tag35.xml"/><Relationship Id="rId2" Type="http://schemas.openxmlformats.org/officeDocument/2006/relationships/tags" Target="../tags/tag20.xml"/><Relationship Id="rId16" Type="http://schemas.openxmlformats.org/officeDocument/2006/relationships/tags" Target="../tags/tag34.xml"/><Relationship Id="rId1" Type="http://schemas.openxmlformats.org/officeDocument/2006/relationships/tags" Target="../tags/tag19.xml"/><Relationship Id="rId6" Type="http://schemas.openxmlformats.org/officeDocument/2006/relationships/tags" Target="../tags/tag24.xml"/><Relationship Id="rId11" Type="http://schemas.openxmlformats.org/officeDocument/2006/relationships/tags" Target="../tags/tag29.xml"/><Relationship Id="rId5" Type="http://schemas.openxmlformats.org/officeDocument/2006/relationships/tags" Target="../tags/tag23.xml"/><Relationship Id="rId15" Type="http://schemas.openxmlformats.org/officeDocument/2006/relationships/tags" Target="../tags/tag33.xml"/><Relationship Id="rId10" Type="http://schemas.openxmlformats.org/officeDocument/2006/relationships/tags" Target="../tags/tag28.xml"/><Relationship Id="rId19" Type="http://schemas.openxmlformats.org/officeDocument/2006/relationships/image" Target="../media/image8.tmp"/><Relationship Id="rId4" Type="http://schemas.openxmlformats.org/officeDocument/2006/relationships/tags" Target="../tags/tag22.xml"/><Relationship Id="rId9" Type="http://schemas.openxmlformats.org/officeDocument/2006/relationships/tags" Target="../tags/tag27.xml"/><Relationship Id="rId14" Type="http://schemas.openxmlformats.org/officeDocument/2006/relationships/tags" Target="../tags/tag3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tags" Target="../tags/tag43.xml"/><Relationship Id="rId13" Type="http://schemas.openxmlformats.org/officeDocument/2006/relationships/tags" Target="../tags/tag48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38.xml"/><Relationship Id="rId7" Type="http://schemas.openxmlformats.org/officeDocument/2006/relationships/tags" Target="../tags/tag42.xml"/><Relationship Id="rId12" Type="http://schemas.openxmlformats.org/officeDocument/2006/relationships/tags" Target="../tags/tag47.xml"/><Relationship Id="rId17" Type="http://schemas.openxmlformats.org/officeDocument/2006/relationships/tags" Target="../tags/tag52.xml"/><Relationship Id="rId2" Type="http://schemas.openxmlformats.org/officeDocument/2006/relationships/tags" Target="../tags/tag37.xml"/><Relationship Id="rId16" Type="http://schemas.openxmlformats.org/officeDocument/2006/relationships/tags" Target="../tags/tag51.xml"/><Relationship Id="rId20" Type="http://schemas.openxmlformats.org/officeDocument/2006/relationships/image" Target="../media/image8.tmp"/><Relationship Id="rId1" Type="http://schemas.openxmlformats.org/officeDocument/2006/relationships/tags" Target="../tags/tag36.xml"/><Relationship Id="rId6" Type="http://schemas.openxmlformats.org/officeDocument/2006/relationships/tags" Target="../tags/tag41.xml"/><Relationship Id="rId11" Type="http://schemas.openxmlformats.org/officeDocument/2006/relationships/tags" Target="../tags/tag46.xml"/><Relationship Id="rId5" Type="http://schemas.openxmlformats.org/officeDocument/2006/relationships/tags" Target="../tags/tag40.xml"/><Relationship Id="rId15" Type="http://schemas.openxmlformats.org/officeDocument/2006/relationships/tags" Target="../tags/tag50.xml"/><Relationship Id="rId10" Type="http://schemas.openxmlformats.org/officeDocument/2006/relationships/tags" Target="../tags/tag45.xml"/><Relationship Id="rId19" Type="http://schemas.openxmlformats.org/officeDocument/2006/relationships/image" Target="../media/image10.png"/><Relationship Id="rId4" Type="http://schemas.openxmlformats.org/officeDocument/2006/relationships/tags" Target="../tags/tag39.xml"/><Relationship Id="rId9" Type="http://schemas.openxmlformats.org/officeDocument/2006/relationships/tags" Target="../tags/tag44.xml"/><Relationship Id="rId14" Type="http://schemas.openxmlformats.org/officeDocument/2006/relationships/tags" Target="../tags/tag49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" Target="slide41.xml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tags" Target="../tags/tag60.xml"/><Relationship Id="rId13" Type="http://schemas.openxmlformats.org/officeDocument/2006/relationships/tags" Target="../tags/tag65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55.xml"/><Relationship Id="rId7" Type="http://schemas.openxmlformats.org/officeDocument/2006/relationships/tags" Target="../tags/tag59.xml"/><Relationship Id="rId12" Type="http://schemas.openxmlformats.org/officeDocument/2006/relationships/tags" Target="../tags/tag64.xml"/><Relationship Id="rId17" Type="http://schemas.openxmlformats.org/officeDocument/2006/relationships/tags" Target="../tags/tag69.xml"/><Relationship Id="rId2" Type="http://schemas.openxmlformats.org/officeDocument/2006/relationships/tags" Target="../tags/tag54.xml"/><Relationship Id="rId16" Type="http://schemas.openxmlformats.org/officeDocument/2006/relationships/tags" Target="../tags/tag68.xml"/><Relationship Id="rId1" Type="http://schemas.openxmlformats.org/officeDocument/2006/relationships/tags" Target="../tags/tag53.xml"/><Relationship Id="rId6" Type="http://schemas.openxmlformats.org/officeDocument/2006/relationships/tags" Target="../tags/tag58.xml"/><Relationship Id="rId11" Type="http://schemas.openxmlformats.org/officeDocument/2006/relationships/tags" Target="../tags/tag63.xml"/><Relationship Id="rId5" Type="http://schemas.openxmlformats.org/officeDocument/2006/relationships/tags" Target="../tags/tag57.xml"/><Relationship Id="rId15" Type="http://schemas.openxmlformats.org/officeDocument/2006/relationships/tags" Target="../tags/tag67.xml"/><Relationship Id="rId10" Type="http://schemas.openxmlformats.org/officeDocument/2006/relationships/tags" Target="../tags/tag62.xml"/><Relationship Id="rId19" Type="http://schemas.openxmlformats.org/officeDocument/2006/relationships/image" Target="../media/image8.tmp"/><Relationship Id="rId4" Type="http://schemas.openxmlformats.org/officeDocument/2006/relationships/tags" Target="../tags/tag56.xml"/><Relationship Id="rId9" Type="http://schemas.openxmlformats.org/officeDocument/2006/relationships/tags" Target="../tags/tag61.xml"/><Relationship Id="rId14" Type="http://schemas.openxmlformats.org/officeDocument/2006/relationships/tags" Target="../tags/tag66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11.wmf"/><Relationship Id="rId4" Type="http://schemas.openxmlformats.org/officeDocument/2006/relationships/oleObject" Target="../embeddings/oleObject4.bin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2.wmf"/><Relationship Id="rId5" Type="http://schemas.openxmlformats.org/officeDocument/2006/relationships/oleObject" Target="../embeddings/oleObject5.bin"/><Relationship Id="rId4" Type="http://schemas.openxmlformats.org/officeDocument/2006/relationships/audio" Target="../media/audio2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13.wmf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14.wmf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tags" Target="../tags/tag77.xml"/><Relationship Id="rId13" Type="http://schemas.openxmlformats.org/officeDocument/2006/relationships/tags" Target="../tags/tag82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72.xml"/><Relationship Id="rId7" Type="http://schemas.openxmlformats.org/officeDocument/2006/relationships/tags" Target="../tags/tag76.xml"/><Relationship Id="rId12" Type="http://schemas.openxmlformats.org/officeDocument/2006/relationships/tags" Target="../tags/tag81.xml"/><Relationship Id="rId17" Type="http://schemas.openxmlformats.org/officeDocument/2006/relationships/tags" Target="../tags/tag86.xml"/><Relationship Id="rId2" Type="http://schemas.openxmlformats.org/officeDocument/2006/relationships/tags" Target="../tags/tag71.xml"/><Relationship Id="rId16" Type="http://schemas.openxmlformats.org/officeDocument/2006/relationships/tags" Target="../tags/tag85.xml"/><Relationship Id="rId1" Type="http://schemas.openxmlformats.org/officeDocument/2006/relationships/tags" Target="../tags/tag70.xml"/><Relationship Id="rId6" Type="http://schemas.openxmlformats.org/officeDocument/2006/relationships/tags" Target="../tags/tag75.xml"/><Relationship Id="rId11" Type="http://schemas.openxmlformats.org/officeDocument/2006/relationships/tags" Target="../tags/tag80.xml"/><Relationship Id="rId5" Type="http://schemas.openxmlformats.org/officeDocument/2006/relationships/tags" Target="../tags/tag74.xml"/><Relationship Id="rId15" Type="http://schemas.openxmlformats.org/officeDocument/2006/relationships/tags" Target="../tags/tag84.xml"/><Relationship Id="rId10" Type="http://schemas.openxmlformats.org/officeDocument/2006/relationships/tags" Target="../tags/tag79.xml"/><Relationship Id="rId19" Type="http://schemas.openxmlformats.org/officeDocument/2006/relationships/image" Target="../media/image8.tmp"/><Relationship Id="rId4" Type="http://schemas.openxmlformats.org/officeDocument/2006/relationships/tags" Target="../tags/tag73.xml"/><Relationship Id="rId9" Type="http://schemas.openxmlformats.org/officeDocument/2006/relationships/tags" Target="../tags/tag78.xml"/><Relationship Id="rId14" Type="http://schemas.openxmlformats.org/officeDocument/2006/relationships/tags" Target="../tags/tag83.xml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tags" Target="../tags/tag94.xml"/><Relationship Id="rId13" Type="http://schemas.openxmlformats.org/officeDocument/2006/relationships/tags" Target="../tags/tag99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89.xml"/><Relationship Id="rId7" Type="http://schemas.openxmlformats.org/officeDocument/2006/relationships/tags" Target="../tags/tag93.xml"/><Relationship Id="rId12" Type="http://schemas.openxmlformats.org/officeDocument/2006/relationships/tags" Target="../tags/tag98.xml"/><Relationship Id="rId17" Type="http://schemas.openxmlformats.org/officeDocument/2006/relationships/tags" Target="../tags/tag103.xml"/><Relationship Id="rId2" Type="http://schemas.openxmlformats.org/officeDocument/2006/relationships/tags" Target="../tags/tag88.xml"/><Relationship Id="rId16" Type="http://schemas.openxmlformats.org/officeDocument/2006/relationships/tags" Target="../tags/tag102.xml"/><Relationship Id="rId1" Type="http://schemas.openxmlformats.org/officeDocument/2006/relationships/tags" Target="../tags/tag87.xml"/><Relationship Id="rId6" Type="http://schemas.openxmlformats.org/officeDocument/2006/relationships/tags" Target="../tags/tag92.xml"/><Relationship Id="rId11" Type="http://schemas.openxmlformats.org/officeDocument/2006/relationships/tags" Target="../tags/tag97.xml"/><Relationship Id="rId5" Type="http://schemas.openxmlformats.org/officeDocument/2006/relationships/tags" Target="../tags/tag91.xml"/><Relationship Id="rId15" Type="http://schemas.openxmlformats.org/officeDocument/2006/relationships/tags" Target="../tags/tag101.xml"/><Relationship Id="rId10" Type="http://schemas.openxmlformats.org/officeDocument/2006/relationships/tags" Target="../tags/tag96.xml"/><Relationship Id="rId19" Type="http://schemas.openxmlformats.org/officeDocument/2006/relationships/image" Target="../media/image8.tmp"/><Relationship Id="rId4" Type="http://schemas.openxmlformats.org/officeDocument/2006/relationships/tags" Target="../tags/tag90.xml"/><Relationship Id="rId9" Type="http://schemas.openxmlformats.org/officeDocument/2006/relationships/tags" Target="../tags/tag95.xml"/><Relationship Id="rId14" Type="http://schemas.openxmlformats.org/officeDocument/2006/relationships/tags" Target="../tags/tag100.xml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tags" Target="../tags/tag111.xml"/><Relationship Id="rId13" Type="http://schemas.openxmlformats.org/officeDocument/2006/relationships/tags" Target="../tags/tag116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106.xml"/><Relationship Id="rId7" Type="http://schemas.openxmlformats.org/officeDocument/2006/relationships/tags" Target="../tags/tag110.xml"/><Relationship Id="rId12" Type="http://schemas.openxmlformats.org/officeDocument/2006/relationships/tags" Target="../tags/tag115.xml"/><Relationship Id="rId17" Type="http://schemas.openxmlformats.org/officeDocument/2006/relationships/tags" Target="../tags/tag120.xml"/><Relationship Id="rId2" Type="http://schemas.openxmlformats.org/officeDocument/2006/relationships/tags" Target="../tags/tag105.xml"/><Relationship Id="rId16" Type="http://schemas.openxmlformats.org/officeDocument/2006/relationships/tags" Target="../tags/tag119.xml"/><Relationship Id="rId1" Type="http://schemas.openxmlformats.org/officeDocument/2006/relationships/tags" Target="../tags/tag104.xml"/><Relationship Id="rId6" Type="http://schemas.openxmlformats.org/officeDocument/2006/relationships/tags" Target="../tags/tag109.xml"/><Relationship Id="rId11" Type="http://schemas.openxmlformats.org/officeDocument/2006/relationships/tags" Target="../tags/tag114.xml"/><Relationship Id="rId5" Type="http://schemas.openxmlformats.org/officeDocument/2006/relationships/tags" Target="../tags/tag108.xml"/><Relationship Id="rId15" Type="http://schemas.openxmlformats.org/officeDocument/2006/relationships/tags" Target="../tags/tag118.xml"/><Relationship Id="rId10" Type="http://schemas.openxmlformats.org/officeDocument/2006/relationships/tags" Target="../tags/tag113.xml"/><Relationship Id="rId19" Type="http://schemas.openxmlformats.org/officeDocument/2006/relationships/image" Target="../media/image8.tmp"/><Relationship Id="rId4" Type="http://schemas.openxmlformats.org/officeDocument/2006/relationships/tags" Target="../tags/tag107.xml"/><Relationship Id="rId9" Type="http://schemas.openxmlformats.org/officeDocument/2006/relationships/tags" Target="../tags/tag112.xml"/><Relationship Id="rId14" Type="http://schemas.openxmlformats.org/officeDocument/2006/relationships/tags" Target="../tags/tag117.xml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tags" Target="../tags/tag128.xml"/><Relationship Id="rId13" Type="http://schemas.openxmlformats.org/officeDocument/2006/relationships/tags" Target="../tags/tag133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123.xml"/><Relationship Id="rId7" Type="http://schemas.openxmlformats.org/officeDocument/2006/relationships/tags" Target="../tags/tag127.xml"/><Relationship Id="rId12" Type="http://schemas.openxmlformats.org/officeDocument/2006/relationships/tags" Target="../tags/tag132.xml"/><Relationship Id="rId17" Type="http://schemas.openxmlformats.org/officeDocument/2006/relationships/tags" Target="../tags/tag137.xml"/><Relationship Id="rId2" Type="http://schemas.openxmlformats.org/officeDocument/2006/relationships/tags" Target="../tags/tag122.xml"/><Relationship Id="rId16" Type="http://schemas.openxmlformats.org/officeDocument/2006/relationships/tags" Target="../tags/tag136.xml"/><Relationship Id="rId1" Type="http://schemas.openxmlformats.org/officeDocument/2006/relationships/tags" Target="../tags/tag121.xml"/><Relationship Id="rId6" Type="http://schemas.openxmlformats.org/officeDocument/2006/relationships/tags" Target="../tags/tag126.xml"/><Relationship Id="rId11" Type="http://schemas.openxmlformats.org/officeDocument/2006/relationships/tags" Target="../tags/tag131.xml"/><Relationship Id="rId5" Type="http://schemas.openxmlformats.org/officeDocument/2006/relationships/tags" Target="../tags/tag125.xml"/><Relationship Id="rId15" Type="http://schemas.openxmlformats.org/officeDocument/2006/relationships/tags" Target="../tags/tag135.xml"/><Relationship Id="rId10" Type="http://schemas.openxmlformats.org/officeDocument/2006/relationships/tags" Target="../tags/tag130.xml"/><Relationship Id="rId19" Type="http://schemas.openxmlformats.org/officeDocument/2006/relationships/image" Target="../media/image8.tmp"/><Relationship Id="rId4" Type="http://schemas.openxmlformats.org/officeDocument/2006/relationships/tags" Target="../tags/tag124.xml"/><Relationship Id="rId9" Type="http://schemas.openxmlformats.org/officeDocument/2006/relationships/tags" Target="../tags/tag129.xml"/><Relationship Id="rId14" Type="http://schemas.openxmlformats.org/officeDocument/2006/relationships/tags" Target="../tags/tag134.xml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tags" Target="../tags/tag145.xml"/><Relationship Id="rId13" Type="http://schemas.openxmlformats.org/officeDocument/2006/relationships/tags" Target="../tags/tag150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140.xml"/><Relationship Id="rId7" Type="http://schemas.openxmlformats.org/officeDocument/2006/relationships/tags" Target="../tags/tag144.xml"/><Relationship Id="rId12" Type="http://schemas.openxmlformats.org/officeDocument/2006/relationships/tags" Target="../tags/tag149.xml"/><Relationship Id="rId17" Type="http://schemas.openxmlformats.org/officeDocument/2006/relationships/tags" Target="../tags/tag154.xml"/><Relationship Id="rId2" Type="http://schemas.openxmlformats.org/officeDocument/2006/relationships/tags" Target="../tags/tag139.xml"/><Relationship Id="rId16" Type="http://schemas.openxmlformats.org/officeDocument/2006/relationships/tags" Target="../tags/tag153.xml"/><Relationship Id="rId1" Type="http://schemas.openxmlformats.org/officeDocument/2006/relationships/tags" Target="../tags/tag138.xml"/><Relationship Id="rId6" Type="http://schemas.openxmlformats.org/officeDocument/2006/relationships/tags" Target="../tags/tag143.xml"/><Relationship Id="rId11" Type="http://schemas.openxmlformats.org/officeDocument/2006/relationships/tags" Target="../tags/tag148.xml"/><Relationship Id="rId5" Type="http://schemas.openxmlformats.org/officeDocument/2006/relationships/tags" Target="../tags/tag142.xml"/><Relationship Id="rId15" Type="http://schemas.openxmlformats.org/officeDocument/2006/relationships/tags" Target="../tags/tag152.xml"/><Relationship Id="rId10" Type="http://schemas.openxmlformats.org/officeDocument/2006/relationships/tags" Target="../tags/tag147.xml"/><Relationship Id="rId19" Type="http://schemas.openxmlformats.org/officeDocument/2006/relationships/image" Target="../media/image8.tmp"/><Relationship Id="rId4" Type="http://schemas.openxmlformats.org/officeDocument/2006/relationships/tags" Target="../tags/tag141.xml"/><Relationship Id="rId9" Type="http://schemas.openxmlformats.org/officeDocument/2006/relationships/tags" Target="../tags/tag146.xml"/><Relationship Id="rId14" Type="http://schemas.openxmlformats.org/officeDocument/2006/relationships/tags" Target="../tags/tag151.xml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tags" Target="../tags/tag162.xml"/><Relationship Id="rId13" Type="http://schemas.openxmlformats.org/officeDocument/2006/relationships/tags" Target="../tags/tag167.xml"/><Relationship Id="rId18" Type="http://schemas.openxmlformats.org/officeDocument/2006/relationships/tags" Target="../tags/tag172.xml"/><Relationship Id="rId3" Type="http://schemas.openxmlformats.org/officeDocument/2006/relationships/tags" Target="../tags/tag157.xml"/><Relationship Id="rId7" Type="http://schemas.openxmlformats.org/officeDocument/2006/relationships/tags" Target="../tags/tag161.xml"/><Relationship Id="rId12" Type="http://schemas.openxmlformats.org/officeDocument/2006/relationships/tags" Target="../tags/tag166.xml"/><Relationship Id="rId17" Type="http://schemas.openxmlformats.org/officeDocument/2006/relationships/tags" Target="../tags/tag171.xml"/><Relationship Id="rId2" Type="http://schemas.openxmlformats.org/officeDocument/2006/relationships/tags" Target="../tags/tag156.xml"/><Relationship Id="rId16" Type="http://schemas.openxmlformats.org/officeDocument/2006/relationships/tags" Target="../tags/tag170.xml"/><Relationship Id="rId20" Type="http://schemas.openxmlformats.org/officeDocument/2006/relationships/image" Target="../media/image8.tmp"/><Relationship Id="rId1" Type="http://schemas.openxmlformats.org/officeDocument/2006/relationships/tags" Target="../tags/tag155.xml"/><Relationship Id="rId6" Type="http://schemas.openxmlformats.org/officeDocument/2006/relationships/tags" Target="../tags/tag160.xml"/><Relationship Id="rId11" Type="http://schemas.openxmlformats.org/officeDocument/2006/relationships/tags" Target="../tags/tag165.xml"/><Relationship Id="rId5" Type="http://schemas.openxmlformats.org/officeDocument/2006/relationships/tags" Target="../tags/tag159.xml"/><Relationship Id="rId15" Type="http://schemas.openxmlformats.org/officeDocument/2006/relationships/tags" Target="../tags/tag169.xml"/><Relationship Id="rId10" Type="http://schemas.openxmlformats.org/officeDocument/2006/relationships/tags" Target="../tags/tag164.xml"/><Relationship Id="rId19" Type="http://schemas.openxmlformats.org/officeDocument/2006/relationships/slideLayout" Target="../slideLayouts/slideLayout7.xml"/><Relationship Id="rId4" Type="http://schemas.openxmlformats.org/officeDocument/2006/relationships/tags" Target="../tags/tag158.xml"/><Relationship Id="rId9" Type="http://schemas.openxmlformats.org/officeDocument/2006/relationships/tags" Target="../tags/tag163.xml"/><Relationship Id="rId14" Type="http://schemas.openxmlformats.org/officeDocument/2006/relationships/tags" Target="../tags/tag168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alpha val="90195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矩形: 圆角 2"/>
          <p:cNvSpPr>
            <a:spLocks noChangeArrowheads="1"/>
          </p:cNvSpPr>
          <p:nvPr/>
        </p:nvSpPr>
        <p:spPr bwMode="auto">
          <a:xfrm>
            <a:off x="3179763" y="3141663"/>
            <a:ext cx="5640388" cy="57943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/>
          <a:lstStyle>
            <a:lvl1pPr marL="342900" indent="-342900">
              <a:lnSpc>
                <a:spcPct val="130000"/>
              </a:lnSpc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0" y="514350"/>
            <a:ext cx="9144000" cy="881063"/>
          </a:xfrm>
          <a:prstGeom prst="rect">
            <a:avLst/>
          </a:prstGeom>
          <a:solidFill>
            <a:srgbClr val="6C4C8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3" name="矩形 22"/>
          <p:cNvSpPr/>
          <p:nvPr/>
        </p:nvSpPr>
        <p:spPr bwMode="auto">
          <a:xfrm>
            <a:off x="0" y="1519238"/>
            <a:ext cx="9144000" cy="53975"/>
          </a:xfrm>
          <a:prstGeom prst="rect">
            <a:avLst/>
          </a:prstGeom>
          <a:solidFill>
            <a:srgbClr val="6C4C8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22534" name="图片 1"/>
          <p:cNvPicPr>
            <a:picLocks noChangeAspect="1"/>
          </p:cNvPicPr>
          <p:nvPr/>
        </p:nvPicPr>
        <p:blipFill>
          <a:blip r:embed="rId3"/>
          <a:srcRect l="36591" t="61440" r="36745" b="14038"/>
          <a:stretch>
            <a:fillRect/>
          </a:stretch>
        </p:blipFill>
        <p:spPr>
          <a:xfrm>
            <a:off x="511175" y="2382838"/>
            <a:ext cx="2282825" cy="29352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9" name="矩形 28"/>
          <p:cNvSpPr/>
          <p:nvPr/>
        </p:nvSpPr>
        <p:spPr bwMode="auto">
          <a:xfrm>
            <a:off x="0" y="6121400"/>
            <a:ext cx="9155113" cy="604838"/>
          </a:xfrm>
          <a:prstGeom prst="rect">
            <a:avLst/>
          </a:prstGeom>
          <a:solidFill>
            <a:srgbClr val="76AED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4" name="Rectangle 24"/>
          <p:cNvSpPr txBox="1">
            <a:spLocks noChangeArrowheads="1"/>
          </p:cNvSpPr>
          <p:nvPr/>
        </p:nvSpPr>
        <p:spPr bwMode="auto">
          <a:xfrm>
            <a:off x="3294063" y="3074988"/>
            <a:ext cx="2554288" cy="714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defTabSz="914400" eaLnBrk="0" hangingPunct="0">
              <a:buClrTx/>
              <a:buSzTx/>
              <a:buFontTx/>
              <a:buNone/>
              <a:defRPr/>
            </a:pPr>
            <a:r>
              <a:rPr kumimoji="0" lang="zh-CN" altLang="en-US" sz="3600" b="0" kern="1200" cap="none" spc="0" normalizeH="0" baseline="0" noProof="0" dirty="0">
                <a:solidFill>
                  <a:srgbClr val="FEFFFF"/>
                </a:solidFill>
                <a:latin typeface="+mn-lt"/>
                <a:ea typeface="+mn-ea"/>
                <a:cs typeface="+mn-ea"/>
                <a:sym typeface="+mn-lt"/>
              </a:rPr>
              <a:t>查找</a:t>
            </a:r>
            <a:endParaRPr kumimoji="1" lang="zh-CN" altLang="en-US" sz="4800" i="1" kern="0" cap="none" spc="0" normalizeH="0" baseline="0" noProof="0" dirty="0">
              <a:solidFill>
                <a:srgbClr val="6C4C8F">
                  <a:lumMod val="50000"/>
                </a:srgb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2542" name="Rectangle 24"/>
          <p:cNvSpPr txBox="1"/>
          <p:nvPr/>
        </p:nvSpPr>
        <p:spPr>
          <a:xfrm>
            <a:off x="3119438" y="2352675"/>
            <a:ext cx="2554287" cy="71437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eaLnBrk="0" hangingPunct="0">
              <a:buClrTx/>
              <a:buFontTx/>
            </a:pPr>
            <a:r>
              <a:rPr lang="zh-CN" altLang="en-US" sz="3600" b="0" dirty="0">
                <a:solidFill>
                  <a:srgbClr val="FEFFFF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第</a:t>
            </a:r>
            <a:r>
              <a:rPr lang="en-US" altLang="zh-CN" sz="3600" b="0" dirty="0">
                <a:solidFill>
                  <a:srgbClr val="FEFFFF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7</a:t>
            </a:r>
            <a:r>
              <a:rPr lang="zh-CN" altLang="en-US" sz="3600" b="0" dirty="0">
                <a:solidFill>
                  <a:srgbClr val="FEFFFF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章</a:t>
            </a:r>
            <a:endParaRPr lang="zh-CN" altLang="en-US" sz="4800" b="0" dirty="0">
              <a:solidFill>
                <a:srgbClr val="362648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20" name="Rectangle 24"/>
          <p:cNvSpPr txBox="1">
            <a:spLocks noChangeArrowheads="1"/>
          </p:cNvSpPr>
          <p:nvPr/>
        </p:nvSpPr>
        <p:spPr bwMode="auto">
          <a:xfrm>
            <a:off x="300038" y="641350"/>
            <a:ext cx="8843963" cy="714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defTabSz="914400" eaLnBrk="0" hangingPunct="0">
              <a:buClrTx/>
              <a:buSzTx/>
              <a:buFontTx/>
              <a:buNone/>
              <a:defRPr/>
            </a:pPr>
            <a:r>
              <a:rPr kumimoji="0" lang="zh-CN" altLang="en-US" sz="4000" b="0" kern="1200" cap="none" spc="0" normalizeH="0" baseline="0" noProof="0" dirty="0">
                <a:solidFill>
                  <a:srgbClr val="FEFFFF"/>
                </a:solidFill>
                <a:latin typeface="+mn-lt"/>
                <a:ea typeface="+mn-ea"/>
                <a:cs typeface="+mn-ea"/>
                <a:sym typeface="+mn-lt"/>
              </a:rPr>
              <a:t>数据结构</a:t>
            </a:r>
            <a:endParaRPr kumimoji="1" lang="zh-CN" altLang="en-US" sz="5400" i="1" kern="0" cap="none" spc="0" normalizeH="0" baseline="0" noProof="0" dirty="0">
              <a:solidFill>
                <a:srgbClr val="6C4C8F">
                  <a:lumMod val="50000"/>
                </a:srgb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graphicFrame>
        <p:nvGraphicFramePr>
          <p:cNvPr id="5" name="图示 4"/>
          <p:cNvGraphicFramePr/>
          <p:nvPr/>
        </p:nvGraphicFramePr>
        <p:xfrm>
          <a:off x="251519" y="260648"/>
          <a:ext cx="8568952" cy="64087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矩形 50"/>
          <p:cNvSpPr/>
          <p:nvPr/>
        </p:nvSpPr>
        <p:spPr bwMode="auto">
          <a:xfrm>
            <a:off x="0" y="1727200"/>
            <a:ext cx="9144000" cy="53975"/>
          </a:xfrm>
          <a:prstGeom prst="rect">
            <a:avLst/>
          </a:prstGeom>
          <a:solidFill>
            <a:srgbClr val="6C4C8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9476B6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25602" name="图片 2"/>
          <p:cNvPicPr>
            <a:picLocks noChangeAspect="1"/>
          </p:cNvPicPr>
          <p:nvPr/>
        </p:nvPicPr>
        <p:blipFill>
          <a:blip r:embed="rId3"/>
          <a:srcRect l="1575" t="11116"/>
          <a:stretch>
            <a:fillRect/>
          </a:stretch>
        </p:blipFill>
        <p:spPr>
          <a:xfrm>
            <a:off x="-4762" y="0"/>
            <a:ext cx="9124950" cy="16271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3" name="矩形 62"/>
          <p:cNvSpPr/>
          <p:nvPr/>
        </p:nvSpPr>
        <p:spPr bwMode="auto">
          <a:xfrm>
            <a:off x="23813" y="9525"/>
            <a:ext cx="9151938" cy="1609725"/>
          </a:xfrm>
          <a:prstGeom prst="rect">
            <a:avLst/>
          </a:prstGeom>
          <a:solidFill>
            <a:schemeClr val="tx1">
              <a:alpha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64" name="Shape 26"/>
          <p:cNvSpPr/>
          <p:nvPr/>
        </p:nvSpPr>
        <p:spPr>
          <a:xfrm flipH="1">
            <a:off x="0" y="5607050"/>
            <a:ext cx="9140825" cy="12509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120000"/>
                </a:moveTo>
                <a:lnTo>
                  <a:pt x="0" y="102222"/>
                </a:lnTo>
                <a:lnTo>
                  <a:pt x="583" y="102222"/>
                </a:lnTo>
                <a:lnTo>
                  <a:pt x="583" y="89777"/>
                </a:lnTo>
                <a:lnTo>
                  <a:pt x="4166" y="89777"/>
                </a:lnTo>
                <a:lnTo>
                  <a:pt x="4166" y="79111"/>
                </a:lnTo>
                <a:lnTo>
                  <a:pt x="6416" y="79111"/>
                </a:lnTo>
                <a:lnTo>
                  <a:pt x="6416" y="91111"/>
                </a:lnTo>
                <a:lnTo>
                  <a:pt x="7625" y="91111"/>
                </a:lnTo>
                <a:lnTo>
                  <a:pt x="7625" y="79111"/>
                </a:lnTo>
                <a:lnTo>
                  <a:pt x="8958" y="79111"/>
                </a:lnTo>
                <a:lnTo>
                  <a:pt x="8958" y="45333"/>
                </a:lnTo>
                <a:lnTo>
                  <a:pt x="9541" y="45333"/>
                </a:lnTo>
                <a:lnTo>
                  <a:pt x="9541" y="39111"/>
                </a:lnTo>
                <a:lnTo>
                  <a:pt x="10958" y="39111"/>
                </a:lnTo>
                <a:lnTo>
                  <a:pt x="10958" y="45333"/>
                </a:lnTo>
                <a:lnTo>
                  <a:pt x="11583" y="45333"/>
                </a:lnTo>
                <a:lnTo>
                  <a:pt x="11583" y="76000"/>
                </a:lnTo>
                <a:lnTo>
                  <a:pt x="12083" y="76000"/>
                </a:lnTo>
                <a:lnTo>
                  <a:pt x="12083" y="95555"/>
                </a:lnTo>
                <a:lnTo>
                  <a:pt x="13250" y="95555"/>
                </a:lnTo>
                <a:lnTo>
                  <a:pt x="13250" y="60000"/>
                </a:lnTo>
                <a:lnTo>
                  <a:pt x="14041" y="60000"/>
                </a:lnTo>
                <a:lnTo>
                  <a:pt x="14041" y="45333"/>
                </a:lnTo>
                <a:lnTo>
                  <a:pt x="14583" y="45333"/>
                </a:lnTo>
                <a:lnTo>
                  <a:pt x="14583" y="27555"/>
                </a:lnTo>
                <a:lnTo>
                  <a:pt x="14958" y="27555"/>
                </a:lnTo>
                <a:lnTo>
                  <a:pt x="14958" y="14222"/>
                </a:lnTo>
                <a:lnTo>
                  <a:pt x="15333" y="14222"/>
                </a:lnTo>
                <a:lnTo>
                  <a:pt x="15333" y="0"/>
                </a:lnTo>
                <a:lnTo>
                  <a:pt x="15958" y="0"/>
                </a:lnTo>
                <a:lnTo>
                  <a:pt x="15958" y="13777"/>
                </a:lnTo>
                <a:lnTo>
                  <a:pt x="16416" y="13777"/>
                </a:lnTo>
                <a:lnTo>
                  <a:pt x="16416" y="24888"/>
                </a:lnTo>
                <a:lnTo>
                  <a:pt x="16791" y="24888"/>
                </a:lnTo>
                <a:lnTo>
                  <a:pt x="16791" y="46222"/>
                </a:lnTo>
                <a:lnTo>
                  <a:pt x="17333" y="46222"/>
                </a:lnTo>
                <a:lnTo>
                  <a:pt x="17333" y="61333"/>
                </a:lnTo>
                <a:lnTo>
                  <a:pt x="17916" y="61333"/>
                </a:lnTo>
                <a:lnTo>
                  <a:pt x="17916" y="101333"/>
                </a:lnTo>
                <a:lnTo>
                  <a:pt x="18875" y="101333"/>
                </a:lnTo>
                <a:lnTo>
                  <a:pt x="18875" y="92000"/>
                </a:lnTo>
                <a:lnTo>
                  <a:pt x="20958" y="92000"/>
                </a:lnTo>
                <a:lnTo>
                  <a:pt x="20958" y="96444"/>
                </a:lnTo>
                <a:lnTo>
                  <a:pt x="21750" y="96444"/>
                </a:lnTo>
                <a:lnTo>
                  <a:pt x="21750" y="54666"/>
                </a:lnTo>
                <a:lnTo>
                  <a:pt x="22333" y="54666"/>
                </a:lnTo>
                <a:lnTo>
                  <a:pt x="22333" y="42666"/>
                </a:lnTo>
                <a:lnTo>
                  <a:pt x="24166" y="42666"/>
                </a:lnTo>
                <a:lnTo>
                  <a:pt x="24166" y="53777"/>
                </a:lnTo>
                <a:lnTo>
                  <a:pt x="24583" y="56888"/>
                </a:lnTo>
                <a:lnTo>
                  <a:pt x="24583" y="85777"/>
                </a:lnTo>
                <a:lnTo>
                  <a:pt x="25291" y="85777"/>
                </a:lnTo>
                <a:lnTo>
                  <a:pt x="25291" y="79555"/>
                </a:lnTo>
                <a:lnTo>
                  <a:pt x="27125" y="79555"/>
                </a:lnTo>
                <a:lnTo>
                  <a:pt x="27125" y="86222"/>
                </a:lnTo>
                <a:lnTo>
                  <a:pt x="28208" y="86222"/>
                </a:lnTo>
                <a:lnTo>
                  <a:pt x="28208" y="92000"/>
                </a:lnTo>
                <a:lnTo>
                  <a:pt x="29416" y="92000"/>
                </a:lnTo>
                <a:lnTo>
                  <a:pt x="29416" y="83555"/>
                </a:lnTo>
                <a:lnTo>
                  <a:pt x="30250" y="83555"/>
                </a:lnTo>
                <a:lnTo>
                  <a:pt x="30250" y="65777"/>
                </a:lnTo>
                <a:lnTo>
                  <a:pt x="35041" y="65777"/>
                </a:lnTo>
                <a:lnTo>
                  <a:pt x="35041" y="83555"/>
                </a:lnTo>
                <a:lnTo>
                  <a:pt x="35875" y="83555"/>
                </a:lnTo>
                <a:lnTo>
                  <a:pt x="35875" y="65777"/>
                </a:lnTo>
                <a:lnTo>
                  <a:pt x="39916" y="65777"/>
                </a:lnTo>
                <a:lnTo>
                  <a:pt x="39916" y="72888"/>
                </a:lnTo>
                <a:lnTo>
                  <a:pt x="41041" y="72888"/>
                </a:lnTo>
                <a:lnTo>
                  <a:pt x="41041" y="99555"/>
                </a:lnTo>
                <a:lnTo>
                  <a:pt x="42583" y="99555"/>
                </a:lnTo>
                <a:lnTo>
                  <a:pt x="42583" y="76888"/>
                </a:lnTo>
                <a:lnTo>
                  <a:pt x="45250" y="56000"/>
                </a:lnTo>
                <a:lnTo>
                  <a:pt x="47875" y="76888"/>
                </a:lnTo>
                <a:lnTo>
                  <a:pt x="47875" y="88888"/>
                </a:lnTo>
                <a:lnTo>
                  <a:pt x="48666" y="88888"/>
                </a:lnTo>
                <a:lnTo>
                  <a:pt x="48666" y="104000"/>
                </a:lnTo>
                <a:lnTo>
                  <a:pt x="49208" y="104000"/>
                </a:lnTo>
                <a:lnTo>
                  <a:pt x="49208" y="73333"/>
                </a:lnTo>
                <a:lnTo>
                  <a:pt x="51500" y="73333"/>
                </a:lnTo>
                <a:lnTo>
                  <a:pt x="51500" y="85777"/>
                </a:lnTo>
                <a:lnTo>
                  <a:pt x="53708" y="85777"/>
                </a:lnTo>
                <a:lnTo>
                  <a:pt x="53708" y="94666"/>
                </a:lnTo>
                <a:lnTo>
                  <a:pt x="54500" y="94666"/>
                </a:lnTo>
                <a:lnTo>
                  <a:pt x="54500" y="85777"/>
                </a:lnTo>
                <a:lnTo>
                  <a:pt x="57125" y="85777"/>
                </a:lnTo>
                <a:lnTo>
                  <a:pt x="57125" y="102222"/>
                </a:lnTo>
                <a:lnTo>
                  <a:pt x="57625" y="102222"/>
                </a:lnTo>
                <a:lnTo>
                  <a:pt x="57625" y="104888"/>
                </a:lnTo>
                <a:lnTo>
                  <a:pt x="58875" y="104888"/>
                </a:lnTo>
                <a:lnTo>
                  <a:pt x="58875" y="94222"/>
                </a:lnTo>
                <a:lnTo>
                  <a:pt x="61666" y="94222"/>
                </a:lnTo>
                <a:lnTo>
                  <a:pt x="61666" y="89777"/>
                </a:lnTo>
                <a:lnTo>
                  <a:pt x="62250" y="89777"/>
                </a:lnTo>
                <a:lnTo>
                  <a:pt x="62250" y="84000"/>
                </a:lnTo>
                <a:lnTo>
                  <a:pt x="62833" y="84000"/>
                </a:lnTo>
                <a:lnTo>
                  <a:pt x="62833" y="88888"/>
                </a:lnTo>
                <a:lnTo>
                  <a:pt x="63500" y="88888"/>
                </a:lnTo>
                <a:lnTo>
                  <a:pt x="63500" y="83111"/>
                </a:lnTo>
                <a:lnTo>
                  <a:pt x="64999" y="83111"/>
                </a:lnTo>
                <a:lnTo>
                  <a:pt x="64999" y="88444"/>
                </a:lnTo>
                <a:lnTo>
                  <a:pt x="65666" y="88444"/>
                </a:lnTo>
                <a:lnTo>
                  <a:pt x="65666" y="103111"/>
                </a:lnTo>
                <a:lnTo>
                  <a:pt x="66916" y="103111"/>
                </a:lnTo>
                <a:lnTo>
                  <a:pt x="66916" y="82666"/>
                </a:lnTo>
                <a:lnTo>
                  <a:pt x="69375" y="82666"/>
                </a:lnTo>
                <a:lnTo>
                  <a:pt x="69375" y="88888"/>
                </a:lnTo>
                <a:lnTo>
                  <a:pt x="70416" y="88888"/>
                </a:lnTo>
                <a:lnTo>
                  <a:pt x="70416" y="46222"/>
                </a:lnTo>
                <a:lnTo>
                  <a:pt x="71500" y="35111"/>
                </a:lnTo>
                <a:lnTo>
                  <a:pt x="72458" y="45777"/>
                </a:lnTo>
                <a:lnTo>
                  <a:pt x="72458" y="103111"/>
                </a:lnTo>
                <a:lnTo>
                  <a:pt x="73583" y="103111"/>
                </a:lnTo>
                <a:lnTo>
                  <a:pt x="73583" y="47555"/>
                </a:lnTo>
                <a:lnTo>
                  <a:pt x="76916" y="47555"/>
                </a:lnTo>
                <a:lnTo>
                  <a:pt x="76916" y="97777"/>
                </a:lnTo>
                <a:lnTo>
                  <a:pt x="77541" y="97777"/>
                </a:lnTo>
                <a:lnTo>
                  <a:pt x="77541" y="85777"/>
                </a:lnTo>
                <a:lnTo>
                  <a:pt x="79000" y="85777"/>
                </a:lnTo>
                <a:lnTo>
                  <a:pt x="79000" y="92888"/>
                </a:lnTo>
                <a:lnTo>
                  <a:pt x="82000" y="92888"/>
                </a:lnTo>
                <a:lnTo>
                  <a:pt x="82000" y="102222"/>
                </a:lnTo>
                <a:lnTo>
                  <a:pt x="84333" y="102222"/>
                </a:lnTo>
                <a:lnTo>
                  <a:pt x="84333" y="88000"/>
                </a:lnTo>
                <a:lnTo>
                  <a:pt x="85583" y="88000"/>
                </a:lnTo>
                <a:lnTo>
                  <a:pt x="85583" y="96000"/>
                </a:lnTo>
                <a:lnTo>
                  <a:pt x="86500" y="96000"/>
                </a:lnTo>
                <a:lnTo>
                  <a:pt x="86500" y="91111"/>
                </a:lnTo>
                <a:lnTo>
                  <a:pt x="87791" y="91111"/>
                </a:lnTo>
                <a:lnTo>
                  <a:pt x="87791" y="84888"/>
                </a:lnTo>
                <a:lnTo>
                  <a:pt x="89375" y="84888"/>
                </a:lnTo>
                <a:lnTo>
                  <a:pt x="89375" y="100888"/>
                </a:lnTo>
                <a:lnTo>
                  <a:pt x="90541" y="100888"/>
                </a:lnTo>
                <a:lnTo>
                  <a:pt x="90541" y="63111"/>
                </a:lnTo>
                <a:lnTo>
                  <a:pt x="92458" y="63555"/>
                </a:lnTo>
                <a:lnTo>
                  <a:pt x="92458" y="84444"/>
                </a:lnTo>
                <a:lnTo>
                  <a:pt x="93750" y="84444"/>
                </a:lnTo>
                <a:lnTo>
                  <a:pt x="93750" y="97333"/>
                </a:lnTo>
                <a:lnTo>
                  <a:pt x="95375" y="97333"/>
                </a:lnTo>
                <a:lnTo>
                  <a:pt x="95375" y="83111"/>
                </a:lnTo>
                <a:lnTo>
                  <a:pt x="96500" y="83111"/>
                </a:lnTo>
                <a:lnTo>
                  <a:pt x="96500" y="77333"/>
                </a:lnTo>
                <a:lnTo>
                  <a:pt x="98000" y="77333"/>
                </a:lnTo>
                <a:lnTo>
                  <a:pt x="98000" y="81333"/>
                </a:lnTo>
                <a:lnTo>
                  <a:pt x="99041" y="81333"/>
                </a:lnTo>
                <a:lnTo>
                  <a:pt x="99041" y="75111"/>
                </a:lnTo>
                <a:lnTo>
                  <a:pt x="101000" y="59555"/>
                </a:lnTo>
                <a:lnTo>
                  <a:pt x="102916" y="75111"/>
                </a:lnTo>
                <a:lnTo>
                  <a:pt x="102916" y="96444"/>
                </a:lnTo>
                <a:lnTo>
                  <a:pt x="103250" y="96444"/>
                </a:lnTo>
                <a:lnTo>
                  <a:pt x="103250" y="92000"/>
                </a:lnTo>
                <a:lnTo>
                  <a:pt x="104750" y="92000"/>
                </a:lnTo>
                <a:lnTo>
                  <a:pt x="104750" y="111111"/>
                </a:lnTo>
                <a:lnTo>
                  <a:pt x="105125" y="111111"/>
                </a:lnTo>
                <a:lnTo>
                  <a:pt x="105125" y="101777"/>
                </a:lnTo>
                <a:lnTo>
                  <a:pt x="106291" y="101777"/>
                </a:lnTo>
                <a:lnTo>
                  <a:pt x="106291" y="81777"/>
                </a:lnTo>
                <a:lnTo>
                  <a:pt x="107791" y="81777"/>
                </a:lnTo>
                <a:lnTo>
                  <a:pt x="107791" y="101777"/>
                </a:lnTo>
                <a:lnTo>
                  <a:pt x="107833" y="101777"/>
                </a:lnTo>
                <a:lnTo>
                  <a:pt x="107833" y="93777"/>
                </a:lnTo>
                <a:lnTo>
                  <a:pt x="108583" y="93777"/>
                </a:lnTo>
                <a:lnTo>
                  <a:pt x="108583" y="89777"/>
                </a:lnTo>
                <a:lnTo>
                  <a:pt x="110166" y="89777"/>
                </a:lnTo>
                <a:lnTo>
                  <a:pt x="110166" y="103111"/>
                </a:lnTo>
                <a:lnTo>
                  <a:pt x="110416" y="103111"/>
                </a:lnTo>
                <a:lnTo>
                  <a:pt x="110416" y="93777"/>
                </a:lnTo>
                <a:lnTo>
                  <a:pt x="110625" y="93777"/>
                </a:lnTo>
                <a:lnTo>
                  <a:pt x="110625" y="76444"/>
                </a:lnTo>
                <a:lnTo>
                  <a:pt x="111416" y="76444"/>
                </a:lnTo>
                <a:lnTo>
                  <a:pt x="111416" y="68444"/>
                </a:lnTo>
                <a:lnTo>
                  <a:pt x="111833" y="68444"/>
                </a:lnTo>
                <a:lnTo>
                  <a:pt x="111833" y="64000"/>
                </a:lnTo>
                <a:lnTo>
                  <a:pt x="112916" y="64000"/>
                </a:lnTo>
                <a:lnTo>
                  <a:pt x="112916" y="68444"/>
                </a:lnTo>
                <a:lnTo>
                  <a:pt x="113375" y="68444"/>
                </a:lnTo>
                <a:lnTo>
                  <a:pt x="113375" y="91555"/>
                </a:lnTo>
                <a:lnTo>
                  <a:pt x="113416" y="91555"/>
                </a:lnTo>
                <a:lnTo>
                  <a:pt x="113416" y="91555"/>
                </a:lnTo>
                <a:lnTo>
                  <a:pt x="114666" y="91555"/>
                </a:lnTo>
                <a:lnTo>
                  <a:pt x="114666" y="79555"/>
                </a:lnTo>
                <a:lnTo>
                  <a:pt x="115250" y="79555"/>
                </a:lnTo>
                <a:lnTo>
                  <a:pt x="115250" y="68444"/>
                </a:lnTo>
                <a:lnTo>
                  <a:pt x="115625" y="68444"/>
                </a:lnTo>
                <a:lnTo>
                  <a:pt x="115625" y="55111"/>
                </a:lnTo>
                <a:lnTo>
                  <a:pt x="115916" y="55111"/>
                </a:lnTo>
                <a:lnTo>
                  <a:pt x="115916" y="44888"/>
                </a:lnTo>
                <a:lnTo>
                  <a:pt x="116250" y="44888"/>
                </a:lnTo>
                <a:lnTo>
                  <a:pt x="116250" y="34222"/>
                </a:lnTo>
                <a:lnTo>
                  <a:pt x="116666" y="34222"/>
                </a:lnTo>
                <a:lnTo>
                  <a:pt x="116666" y="44444"/>
                </a:lnTo>
                <a:lnTo>
                  <a:pt x="117000" y="44444"/>
                </a:lnTo>
                <a:lnTo>
                  <a:pt x="117000" y="52888"/>
                </a:lnTo>
                <a:lnTo>
                  <a:pt x="117333" y="52888"/>
                </a:lnTo>
                <a:lnTo>
                  <a:pt x="117333" y="68888"/>
                </a:lnTo>
                <a:lnTo>
                  <a:pt x="117708" y="68888"/>
                </a:lnTo>
                <a:lnTo>
                  <a:pt x="117708" y="80444"/>
                </a:lnTo>
                <a:lnTo>
                  <a:pt x="118166" y="80444"/>
                </a:lnTo>
                <a:lnTo>
                  <a:pt x="118166" y="92000"/>
                </a:lnTo>
                <a:lnTo>
                  <a:pt x="120000" y="9200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</p:spPr>
        <p:txBody>
          <a:bodyPr lIns="68569" tIns="34275" rIns="68569" bIns="34275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015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854075" y="2368550"/>
            <a:ext cx="8266113" cy="2166747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熟练掌握顺序表和有序表（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折半查找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）的查找算法及其性能分析方法</a:t>
            </a:r>
          </a:p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熟练掌握哈希函数（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除留余数法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）的构造</a:t>
            </a:r>
          </a:p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熟练掌握哈希函数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解决冲突的方法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及其特点</a:t>
            </a:r>
          </a:p>
        </p:txBody>
      </p:sp>
      <p:grpSp>
        <p:nvGrpSpPr>
          <p:cNvPr id="25606" name="组合 28"/>
          <p:cNvGrpSpPr/>
          <p:nvPr/>
        </p:nvGrpSpPr>
        <p:grpSpPr>
          <a:xfrm>
            <a:off x="236538" y="2349500"/>
            <a:ext cx="590550" cy="627063"/>
            <a:chOff x="6242320" y="1105727"/>
            <a:chExt cx="589786" cy="626517"/>
          </a:xfrm>
        </p:grpSpPr>
        <p:sp>
          <p:nvSpPr>
            <p:cNvPr id="12310" name="TextBox 6"/>
            <p:cNvSpPr txBox="1">
              <a:spLocks noChangeArrowheads="1"/>
            </p:cNvSpPr>
            <p:nvPr/>
          </p:nvSpPr>
          <p:spPr bwMode="auto">
            <a:xfrm>
              <a:off x="6327934" y="1105727"/>
              <a:ext cx="447096" cy="491696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ctr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FF9900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01</a:t>
              </a:r>
              <a:endPara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2311" name="文本框 22"/>
            <p:cNvSpPr txBox="1">
              <a:spLocks noChangeArrowheads="1"/>
            </p:cNvSpPr>
            <p:nvPr/>
          </p:nvSpPr>
          <p:spPr bwMode="auto">
            <a:xfrm>
              <a:off x="6242320" y="1516532"/>
              <a:ext cx="589786" cy="215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00" b="1" i="0" u="none" strike="noStrike" kern="1200" cap="none" spc="0" normalizeH="0" baseline="0" noProof="0">
                  <a:ln>
                    <a:noFill/>
                  </a:ln>
                  <a:solidFill>
                    <a:srgbClr val="81818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OPTION</a:t>
              </a:r>
              <a:endParaRPr kumimoji="0" lang="zh-CN" altLang="en-US" sz="800" b="1" i="0" u="none" strike="noStrike" kern="1200" cap="none" spc="0" normalizeH="0" baseline="0" noProof="0">
                <a:ln>
                  <a:noFill/>
                </a:ln>
                <a:solidFill>
                  <a:srgbClr val="81818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25609" name="组合 45"/>
          <p:cNvGrpSpPr/>
          <p:nvPr/>
        </p:nvGrpSpPr>
        <p:grpSpPr>
          <a:xfrm>
            <a:off x="236538" y="3429000"/>
            <a:ext cx="590550" cy="631825"/>
            <a:chOff x="6242320" y="2373233"/>
            <a:chExt cx="589786" cy="631741"/>
          </a:xfrm>
        </p:grpSpPr>
        <p:sp>
          <p:nvSpPr>
            <p:cNvPr id="12308" name="TextBox 6"/>
            <p:cNvSpPr txBox="1">
              <a:spLocks noChangeArrowheads="1"/>
            </p:cNvSpPr>
            <p:nvPr/>
          </p:nvSpPr>
          <p:spPr bwMode="auto">
            <a:xfrm>
              <a:off x="6327934" y="2373233"/>
              <a:ext cx="447096" cy="492060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ctr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6C4C8F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02</a:t>
              </a:r>
              <a:endPara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6C4C8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2309" name="文本框 23"/>
            <p:cNvSpPr txBox="1">
              <a:spLocks noChangeArrowheads="1"/>
            </p:cNvSpPr>
            <p:nvPr/>
          </p:nvSpPr>
          <p:spPr bwMode="auto">
            <a:xfrm>
              <a:off x="6242320" y="2789103"/>
              <a:ext cx="589786" cy="21587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00" b="1" i="0" u="none" strike="noStrike" kern="1200" cap="none" spc="0" normalizeH="0" baseline="0" noProof="0">
                  <a:ln>
                    <a:noFill/>
                  </a:ln>
                  <a:solidFill>
                    <a:srgbClr val="81818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OPTION</a:t>
              </a:r>
              <a:endParaRPr kumimoji="0" lang="zh-CN" altLang="en-US" sz="800" b="1" i="0" u="none" strike="noStrike" kern="1200" cap="none" spc="0" normalizeH="0" baseline="0" noProof="0">
                <a:ln>
                  <a:noFill/>
                </a:ln>
                <a:solidFill>
                  <a:srgbClr val="81818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25612" name="组合 48"/>
          <p:cNvGrpSpPr/>
          <p:nvPr/>
        </p:nvGrpSpPr>
        <p:grpSpPr>
          <a:xfrm>
            <a:off x="236538" y="4005263"/>
            <a:ext cx="590550" cy="620712"/>
            <a:chOff x="6242320" y="3640739"/>
            <a:chExt cx="589786" cy="620418"/>
          </a:xfrm>
        </p:grpSpPr>
        <p:sp>
          <p:nvSpPr>
            <p:cNvPr id="12306" name="TextBox 6"/>
            <p:cNvSpPr txBox="1">
              <a:spLocks noChangeArrowheads="1"/>
            </p:cNvSpPr>
            <p:nvPr/>
          </p:nvSpPr>
          <p:spPr bwMode="auto">
            <a:xfrm>
              <a:off x="6327934" y="3640739"/>
              <a:ext cx="447096" cy="491892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ctr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76AEDD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03</a:t>
              </a:r>
              <a:endPara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76AEDD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2307" name="文本框 24"/>
            <p:cNvSpPr txBox="1">
              <a:spLocks noChangeArrowheads="1"/>
            </p:cNvSpPr>
            <p:nvPr/>
          </p:nvSpPr>
          <p:spPr bwMode="auto">
            <a:xfrm>
              <a:off x="6242320" y="4045359"/>
              <a:ext cx="589786" cy="21579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00" b="1" i="0" u="none" strike="noStrike" kern="1200" cap="none" spc="0" normalizeH="0" baseline="0" noProof="0">
                  <a:ln>
                    <a:noFill/>
                  </a:ln>
                  <a:solidFill>
                    <a:srgbClr val="81818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OPTION</a:t>
              </a:r>
              <a:endParaRPr kumimoji="0" lang="zh-CN" altLang="en-US" sz="800" b="1" i="0" u="none" strike="noStrike" kern="1200" cap="none" spc="0" normalizeH="0" baseline="0" noProof="0">
                <a:ln>
                  <a:noFill/>
                </a:ln>
                <a:solidFill>
                  <a:srgbClr val="81818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25621" name="组合 3"/>
          <p:cNvGrpSpPr/>
          <p:nvPr/>
        </p:nvGrpSpPr>
        <p:grpSpPr>
          <a:xfrm>
            <a:off x="3684588" y="336550"/>
            <a:ext cx="1830387" cy="1831975"/>
            <a:chOff x="3117668" y="234317"/>
            <a:chExt cx="2127323" cy="2127323"/>
          </a:xfrm>
        </p:grpSpPr>
        <p:sp>
          <p:nvSpPr>
            <p:cNvPr id="46" name="椭圆 45"/>
            <p:cNvSpPr/>
            <p:nvPr/>
          </p:nvSpPr>
          <p:spPr>
            <a:xfrm>
              <a:off x="3117668" y="234317"/>
              <a:ext cx="2127323" cy="2127323"/>
            </a:xfrm>
            <a:prstGeom prst="ellipse">
              <a:avLst/>
            </a:prstGeom>
            <a:solidFill>
              <a:schemeClr val="tx1">
                <a:alpha val="3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7" name="椭圆 46"/>
            <p:cNvSpPr/>
            <p:nvPr/>
          </p:nvSpPr>
          <p:spPr>
            <a:xfrm>
              <a:off x="3372208" y="482505"/>
              <a:ext cx="1630947" cy="163094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glow rad="165100">
                <a:schemeClr val="tx1">
                  <a:alpha val="27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grpSp>
          <p:nvGrpSpPr>
            <p:cNvPr id="25624" name="组合 47"/>
            <p:cNvGrpSpPr/>
            <p:nvPr/>
          </p:nvGrpSpPr>
          <p:grpSpPr>
            <a:xfrm>
              <a:off x="3250509" y="768989"/>
              <a:ext cx="1800200" cy="1001573"/>
              <a:chOff x="3896925" y="1033243"/>
              <a:chExt cx="1350150" cy="751179"/>
            </a:xfrm>
          </p:grpSpPr>
          <p:sp>
            <p:nvSpPr>
              <p:cNvPr id="49" name="TextBox 7"/>
              <p:cNvSpPr txBox="1"/>
              <p:nvPr/>
            </p:nvSpPr>
            <p:spPr>
              <a:xfrm>
                <a:off x="4256708" y="1399568"/>
                <a:ext cx="690504" cy="384356"/>
              </a:xfrm>
              <a:prstGeom prst="rect">
                <a:avLst/>
              </a:prstGeom>
              <a:noFill/>
            </p:spPr>
            <p:txBody>
              <a:bodyPr lIns="0" tIns="0" rIns="0" bIns="0" anchor="b">
                <a:normAutofit/>
              </a:bodyPr>
              <a:lstStyle/>
              <a:p>
                <a:pPr marR="0" algn="dist" defTabSz="914400" eaLnBrk="0" hangingPunct="0">
                  <a:buClrTx/>
                  <a:buSzTx/>
                  <a:buFontTx/>
                  <a:buNone/>
                  <a:defRPr/>
                </a:pPr>
                <a:r>
                  <a:rPr kumimoji="0" lang="en-US" altLang="zh-CN" sz="2135" b="0" kern="1200" cap="none" spc="0" normalizeH="0" baseline="0" noProof="0" dirty="0">
                    <a:solidFill>
                      <a:srgbClr val="000000"/>
                    </a:solidFill>
                    <a:latin typeface="+mn-lt"/>
                    <a:ea typeface="+mn-ea"/>
                    <a:cs typeface="+mn-ea"/>
                    <a:sym typeface="+mn-lt"/>
                  </a:rPr>
                  <a:t>target</a:t>
                </a:r>
              </a:p>
            </p:txBody>
          </p:sp>
          <p:sp>
            <p:nvSpPr>
              <p:cNvPr id="50" name="Rectangle 9"/>
              <p:cNvSpPr/>
              <p:nvPr/>
            </p:nvSpPr>
            <p:spPr>
              <a:xfrm>
                <a:off x="3896926" y="1033186"/>
                <a:ext cx="1350565" cy="69267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3735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rPr>
                  <a:t>目标</a:t>
                </a: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49" name="图片 9"/>
          <p:cNvPicPr>
            <a:picLocks noChangeAspect="1"/>
          </p:cNvPicPr>
          <p:nvPr/>
        </p:nvPicPr>
        <p:blipFill>
          <a:blip r:embed="rId2"/>
          <a:srcRect l="1575"/>
          <a:stretch>
            <a:fillRect/>
          </a:stretch>
        </p:blipFill>
        <p:spPr>
          <a:xfrm>
            <a:off x="0" y="1588"/>
            <a:ext cx="9124950" cy="18319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266" name="矩形: 圆角 16"/>
          <p:cNvSpPr>
            <a:spLocks noChangeArrowheads="1"/>
          </p:cNvSpPr>
          <p:nvPr/>
        </p:nvSpPr>
        <p:spPr bwMode="auto">
          <a:xfrm>
            <a:off x="2830513" y="2879725"/>
            <a:ext cx="4432300" cy="504825"/>
          </a:xfrm>
          <a:prstGeom prst="roundRect">
            <a:avLst>
              <a:gd name="adj" fmla="val 16667"/>
            </a:avLst>
          </a:prstGeom>
          <a:solidFill>
            <a:srgbClr val="9476B6"/>
          </a:solidFill>
          <a:ln>
            <a:noFill/>
          </a:ln>
        </p:spPr>
        <p:txBody>
          <a:bodyPr/>
          <a:lstStyle>
            <a:lvl1pPr marL="342900" indent="-3429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pitchFamily="49" charset="-122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1267" name="矩形: 圆角 15"/>
          <p:cNvSpPr>
            <a:spLocks noChangeArrowheads="1"/>
          </p:cNvSpPr>
          <p:nvPr/>
        </p:nvSpPr>
        <p:spPr bwMode="auto">
          <a:xfrm>
            <a:off x="1885950" y="2879725"/>
            <a:ext cx="839788" cy="50482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/>
          <a:lstStyle>
            <a:lvl1pPr marL="342900" indent="-3429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pitchFamily="49" charset="-122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9525" y="1588"/>
            <a:ext cx="9151938" cy="2024063"/>
          </a:xfrm>
          <a:prstGeom prst="rect">
            <a:avLst/>
          </a:prstGeom>
          <a:solidFill>
            <a:schemeClr val="tx1">
              <a:alpha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" name="Shape 26"/>
          <p:cNvSpPr/>
          <p:nvPr/>
        </p:nvSpPr>
        <p:spPr>
          <a:xfrm flipH="1">
            <a:off x="-36512" y="774700"/>
            <a:ext cx="9207500" cy="126047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120000"/>
                </a:moveTo>
                <a:lnTo>
                  <a:pt x="0" y="102222"/>
                </a:lnTo>
                <a:lnTo>
                  <a:pt x="583" y="102222"/>
                </a:lnTo>
                <a:lnTo>
                  <a:pt x="583" y="89777"/>
                </a:lnTo>
                <a:lnTo>
                  <a:pt x="4166" y="89777"/>
                </a:lnTo>
                <a:lnTo>
                  <a:pt x="4166" y="79111"/>
                </a:lnTo>
                <a:lnTo>
                  <a:pt x="6416" y="79111"/>
                </a:lnTo>
                <a:lnTo>
                  <a:pt x="6416" y="91111"/>
                </a:lnTo>
                <a:lnTo>
                  <a:pt x="7625" y="91111"/>
                </a:lnTo>
                <a:lnTo>
                  <a:pt x="7625" y="79111"/>
                </a:lnTo>
                <a:lnTo>
                  <a:pt x="8958" y="79111"/>
                </a:lnTo>
                <a:lnTo>
                  <a:pt x="8958" y="45333"/>
                </a:lnTo>
                <a:lnTo>
                  <a:pt x="9541" y="45333"/>
                </a:lnTo>
                <a:lnTo>
                  <a:pt x="9541" y="39111"/>
                </a:lnTo>
                <a:lnTo>
                  <a:pt x="10958" y="39111"/>
                </a:lnTo>
                <a:lnTo>
                  <a:pt x="10958" y="45333"/>
                </a:lnTo>
                <a:lnTo>
                  <a:pt x="11583" y="45333"/>
                </a:lnTo>
                <a:lnTo>
                  <a:pt x="11583" y="76000"/>
                </a:lnTo>
                <a:lnTo>
                  <a:pt x="12083" y="76000"/>
                </a:lnTo>
                <a:lnTo>
                  <a:pt x="12083" y="95555"/>
                </a:lnTo>
                <a:lnTo>
                  <a:pt x="13250" y="95555"/>
                </a:lnTo>
                <a:lnTo>
                  <a:pt x="13250" y="60000"/>
                </a:lnTo>
                <a:lnTo>
                  <a:pt x="14041" y="60000"/>
                </a:lnTo>
                <a:lnTo>
                  <a:pt x="14041" y="45333"/>
                </a:lnTo>
                <a:lnTo>
                  <a:pt x="14583" y="45333"/>
                </a:lnTo>
                <a:lnTo>
                  <a:pt x="14583" y="27555"/>
                </a:lnTo>
                <a:lnTo>
                  <a:pt x="14958" y="27555"/>
                </a:lnTo>
                <a:lnTo>
                  <a:pt x="14958" y="14222"/>
                </a:lnTo>
                <a:lnTo>
                  <a:pt x="15333" y="14222"/>
                </a:lnTo>
                <a:lnTo>
                  <a:pt x="15333" y="0"/>
                </a:lnTo>
                <a:lnTo>
                  <a:pt x="15958" y="0"/>
                </a:lnTo>
                <a:lnTo>
                  <a:pt x="15958" y="13777"/>
                </a:lnTo>
                <a:lnTo>
                  <a:pt x="16416" y="13777"/>
                </a:lnTo>
                <a:lnTo>
                  <a:pt x="16416" y="24888"/>
                </a:lnTo>
                <a:lnTo>
                  <a:pt x="16791" y="24888"/>
                </a:lnTo>
                <a:lnTo>
                  <a:pt x="16791" y="46222"/>
                </a:lnTo>
                <a:lnTo>
                  <a:pt x="17333" y="46222"/>
                </a:lnTo>
                <a:lnTo>
                  <a:pt x="17333" y="61333"/>
                </a:lnTo>
                <a:lnTo>
                  <a:pt x="17916" y="61333"/>
                </a:lnTo>
                <a:lnTo>
                  <a:pt x="17916" y="101333"/>
                </a:lnTo>
                <a:lnTo>
                  <a:pt x="18875" y="101333"/>
                </a:lnTo>
                <a:lnTo>
                  <a:pt x="18875" y="92000"/>
                </a:lnTo>
                <a:lnTo>
                  <a:pt x="20958" y="92000"/>
                </a:lnTo>
                <a:lnTo>
                  <a:pt x="20958" y="96444"/>
                </a:lnTo>
                <a:lnTo>
                  <a:pt x="21750" y="96444"/>
                </a:lnTo>
                <a:lnTo>
                  <a:pt x="21750" y="54666"/>
                </a:lnTo>
                <a:lnTo>
                  <a:pt x="22333" y="54666"/>
                </a:lnTo>
                <a:lnTo>
                  <a:pt x="22333" y="42666"/>
                </a:lnTo>
                <a:lnTo>
                  <a:pt x="24166" y="42666"/>
                </a:lnTo>
                <a:lnTo>
                  <a:pt x="24166" y="53777"/>
                </a:lnTo>
                <a:lnTo>
                  <a:pt x="24583" y="56888"/>
                </a:lnTo>
                <a:lnTo>
                  <a:pt x="24583" y="85777"/>
                </a:lnTo>
                <a:lnTo>
                  <a:pt x="25291" y="85777"/>
                </a:lnTo>
                <a:lnTo>
                  <a:pt x="25291" y="79555"/>
                </a:lnTo>
                <a:lnTo>
                  <a:pt x="27125" y="79555"/>
                </a:lnTo>
                <a:lnTo>
                  <a:pt x="27125" y="86222"/>
                </a:lnTo>
                <a:lnTo>
                  <a:pt x="28208" y="86222"/>
                </a:lnTo>
                <a:lnTo>
                  <a:pt x="28208" y="92000"/>
                </a:lnTo>
                <a:lnTo>
                  <a:pt x="29416" y="92000"/>
                </a:lnTo>
                <a:lnTo>
                  <a:pt x="29416" y="83555"/>
                </a:lnTo>
                <a:lnTo>
                  <a:pt x="30250" y="83555"/>
                </a:lnTo>
                <a:lnTo>
                  <a:pt x="30250" y="65777"/>
                </a:lnTo>
                <a:lnTo>
                  <a:pt x="35041" y="65777"/>
                </a:lnTo>
                <a:lnTo>
                  <a:pt x="35041" y="83555"/>
                </a:lnTo>
                <a:lnTo>
                  <a:pt x="35875" y="83555"/>
                </a:lnTo>
                <a:lnTo>
                  <a:pt x="35875" y="65777"/>
                </a:lnTo>
                <a:lnTo>
                  <a:pt x="39916" y="65777"/>
                </a:lnTo>
                <a:lnTo>
                  <a:pt x="39916" y="72888"/>
                </a:lnTo>
                <a:lnTo>
                  <a:pt x="41041" y="72888"/>
                </a:lnTo>
                <a:lnTo>
                  <a:pt x="41041" y="99555"/>
                </a:lnTo>
                <a:lnTo>
                  <a:pt x="42583" y="99555"/>
                </a:lnTo>
                <a:lnTo>
                  <a:pt x="42583" y="76888"/>
                </a:lnTo>
                <a:lnTo>
                  <a:pt x="45250" y="56000"/>
                </a:lnTo>
                <a:lnTo>
                  <a:pt x="47875" y="76888"/>
                </a:lnTo>
                <a:lnTo>
                  <a:pt x="47875" y="88888"/>
                </a:lnTo>
                <a:lnTo>
                  <a:pt x="48666" y="88888"/>
                </a:lnTo>
                <a:lnTo>
                  <a:pt x="48666" y="104000"/>
                </a:lnTo>
                <a:lnTo>
                  <a:pt x="49208" y="104000"/>
                </a:lnTo>
                <a:lnTo>
                  <a:pt x="49208" y="73333"/>
                </a:lnTo>
                <a:lnTo>
                  <a:pt x="51500" y="73333"/>
                </a:lnTo>
                <a:lnTo>
                  <a:pt x="51500" y="85777"/>
                </a:lnTo>
                <a:lnTo>
                  <a:pt x="53708" y="85777"/>
                </a:lnTo>
                <a:lnTo>
                  <a:pt x="53708" y="94666"/>
                </a:lnTo>
                <a:lnTo>
                  <a:pt x="54500" y="94666"/>
                </a:lnTo>
                <a:lnTo>
                  <a:pt x="54500" y="85777"/>
                </a:lnTo>
                <a:lnTo>
                  <a:pt x="57125" y="85777"/>
                </a:lnTo>
                <a:lnTo>
                  <a:pt x="57125" y="102222"/>
                </a:lnTo>
                <a:lnTo>
                  <a:pt x="57625" y="102222"/>
                </a:lnTo>
                <a:lnTo>
                  <a:pt x="57625" y="104888"/>
                </a:lnTo>
                <a:lnTo>
                  <a:pt x="58875" y="104888"/>
                </a:lnTo>
                <a:lnTo>
                  <a:pt x="58875" y="94222"/>
                </a:lnTo>
                <a:lnTo>
                  <a:pt x="61666" y="94222"/>
                </a:lnTo>
                <a:lnTo>
                  <a:pt x="61666" y="89777"/>
                </a:lnTo>
                <a:lnTo>
                  <a:pt x="62250" y="89777"/>
                </a:lnTo>
                <a:lnTo>
                  <a:pt x="62250" y="84000"/>
                </a:lnTo>
                <a:lnTo>
                  <a:pt x="62833" y="84000"/>
                </a:lnTo>
                <a:lnTo>
                  <a:pt x="62833" y="88888"/>
                </a:lnTo>
                <a:lnTo>
                  <a:pt x="63500" y="88888"/>
                </a:lnTo>
                <a:lnTo>
                  <a:pt x="63500" y="83111"/>
                </a:lnTo>
                <a:lnTo>
                  <a:pt x="64999" y="83111"/>
                </a:lnTo>
                <a:lnTo>
                  <a:pt x="64999" y="88444"/>
                </a:lnTo>
                <a:lnTo>
                  <a:pt x="65666" y="88444"/>
                </a:lnTo>
                <a:lnTo>
                  <a:pt x="65666" y="103111"/>
                </a:lnTo>
                <a:lnTo>
                  <a:pt x="66916" y="103111"/>
                </a:lnTo>
                <a:lnTo>
                  <a:pt x="66916" y="82666"/>
                </a:lnTo>
                <a:lnTo>
                  <a:pt x="69375" y="82666"/>
                </a:lnTo>
                <a:lnTo>
                  <a:pt x="69375" y="88888"/>
                </a:lnTo>
                <a:lnTo>
                  <a:pt x="70416" y="88888"/>
                </a:lnTo>
                <a:lnTo>
                  <a:pt x="70416" y="46222"/>
                </a:lnTo>
                <a:lnTo>
                  <a:pt x="71500" y="35111"/>
                </a:lnTo>
                <a:lnTo>
                  <a:pt x="72458" y="45777"/>
                </a:lnTo>
                <a:lnTo>
                  <a:pt x="72458" y="103111"/>
                </a:lnTo>
                <a:lnTo>
                  <a:pt x="73583" y="103111"/>
                </a:lnTo>
                <a:lnTo>
                  <a:pt x="73583" y="47555"/>
                </a:lnTo>
                <a:lnTo>
                  <a:pt x="76916" y="47555"/>
                </a:lnTo>
                <a:lnTo>
                  <a:pt x="76916" y="97777"/>
                </a:lnTo>
                <a:lnTo>
                  <a:pt x="77541" y="97777"/>
                </a:lnTo>
                <a:lnTo>
                  <a:pt x="77541" y="85777"/>
                </a:lnTo>
                <a:lnTo>
                  <a:pt x="79000" y="85777"/>
                </a:lnTo>
                <a:lnTo>
                  <a:pt x="79000" y="92888"/>
                </a:lnTo>
                <a:lnTo>
                  <a:pt x="82000" y="92888"/>
                </a:lnTo>
                <a:lnTo>
                  <a:pt x="82000" y="102222"/>
                </a:lnTo>
                <a:lnTo>
                  <a:pt x="84333" y="102222"/>
                </a:lnTo>
                <a:lnTo>
                  <a:pt x="84333" y="88000"/>
                </a:lnTo>
                <a:lnTo>
                  <a:pt x="85583" y="88000"/>
                </a:lnTo>
                <a:lnTo>
                  <a:pt x="85583" y="96000"/>
                </a:lnTo>
                <a:lnTo>
                  <a:pt x="86500" y="96000"/>
                </a:lnTo>
                <a:lnTo>
                  <a:pt x="86500" y="91111"/>
                </a:lnTo>
                <a:lnTo>
                  <a:pt x="87791" y="91111"/>
                </a:lnTo>
                <a:lnTo>
                  <a:pt x="87791" y="84888"/>
                </a:lnTo>
                <a:lnTo>
                  <a:pt x="89375" y="84888"/>
                </a:lnTo>
                <a:lnTo>
                  <a:pt x="89375" y="100888"/>
                </a:lnTo>
                <a:lnTo>
                  <a:pt x="90541" y="100888"/>
                </a:lnTo>
                <a:lnTo>
                  <a:pt x="90541" y="63111"/>
                </a:lnTo>
                <a:lnTo>
                  <a:pt x="92458" y="63555"/>
                </a:lnTo>
                <a:lnTo>
                  <a:pt x="92458" y="84444"/>
                </a:lnTo>
                <a:lnTo>
                  <a:pt x="93750" y="84444"/>
                </a:lnTo>
                <a:lnTo>
                  <a:pt x="93750" y="97333"/>
                </a:lnTo>
                <a:lnTo>
                  <a:pt x="95375" y="97333"/>
                </a:lnTo>
                <a:lnTo>
                  <a:pt x="95375" y="83111"/>
                </a:lnTo>
                <a:lnTo>
                  <a:pt x="96500" y="83111"/>
                </a:lnTo>
                <a:lnTo>
                  <a:pt x="96500" y="77333"/>
                </a:lnTo>
                <a:lnTo>
                  <a:pt x="98000" y="77333"/>
                </a:lnTo>
                <a:lnTo>
                  <a:pt x="98000" y="81333"/>
                </a:lnTo>
                <a:lnTo>
                  <a:pt x="99041" y="81333"/>
                </a:lnTo>
                <a:lnTo>
                  <a:pt x="99041" y="75111"/>
                </a:lnTo>
                <a:lnTo>
                  <a:pt x="101000" y="59555"/>
                </a:lnTo>
                <a:lnTo>
                  <a:pt x="102916" y="75111"/>
                </a:lnTo>
                <a:lnTo>
                  <a:pt x="102916" y="96444"/>
                </a:lnTo>
                <a:lnTo>
                  <a:pt x="103250" y="96444"/>
                </a:lnTo>
                <a:lnTo>
                  <a:pt x="103250" y="92000"/>
                </a:lnTo>
                <a:lnTo>
                  <a:pt x="104750" y="92000"/>
                </a:lnTo>
                <a:lnTo>
                  <a:pt x="104750" y="111111"/>
                </a:lnTo>
                <a:lnTo>
                  <a:pt x="105125" y="111111"/>
                </a:lnTo>
                <a:lnTo>
                  <a:pt x="105125" y="101777"/>
                </a:lnTo>
                <a:lnTo>
                  <a:pt x="106291" y="101777"/>
                </a:lnTo>
                <a:lnTo>
                  <a:pt x="106291" y="81777"/>
                </a:lnTo>
                <a:lnTo>
                  <a:pt x="107791" y="81777"/>
                </a:lnTo>
                <a:lnTo>
                  <a:pt x="107791" y="101777"/>
                </a:lnTo>
                <a:lnTo>
                  <a:pt x="107833" y="101777"/>
                </a:lnTo>
                <a:lnTo>
                  <a:pt x="107833" y="93777"/>
                </a:lnTo>
                <a:lnTo>
                  <a:pt x="108583" y="93777"/>
                </a:lnTo>
                <a:lnTo>
                  <a:pt x="108583" y="89777"/>
                </a:lnTo>
                <a:lnTo>
                  <a:pt x="110166" y="89777"/>
                </a:lnTo>
                <a:lnTo>
                  <a:pt x="110166" y="103111"/>
                </a:lnTo>
                <a:lnTo>
                  <a:pt x="110416" y="103111"/>
                </a:lnTo>
                <a:lnTo>
                  <a:pt x="110416" y="93777"/>
                </a:lnTo>
                <a:lnTo>
                  <a:pt x="110625" y="93777"/>
                </a:lnTo>
                <a:lnTo>
                  <a:pt x="110625" y="76444"/>
                </a:lnTo>
                <a:lnTo>
                  <a:pt x="111416" y="76444"/>
                </a:lnTo>
                <a:lnTo>
                  <a:pt x="111416" y="68444"/>
                </a:lnTo>
                <a:lnTo>
                  <a:pt x="111833" y="68444"/>
                </a:lnTo>
                <a:lnTo>
                  <a:pt x="111833" y="64000"/>
                </a:lnTo>
                <a:lnTo>
                  <a:pt x="112916" y="64000"/>
                </a:lnTo>
                <a:lnTo>
                  <a:pt x="112916" y="68444"/>
                </a:lnTo>
                <a:lnTo>
                  <a:pt x="113375" y="68444"/>
                </a:lnTo>
                <a:lnTo>
                  <a:pt x="113375" y="91555"/>
                </a:lnTo>
                <a:lnTo>
                  <a:pt x="113416" y="91555"/>
                </a:lnTo>
                <a:lnTo>
                  <a:pt x="113416" y="91555"/>
                </a:lnTo>
                <a:lnTo>
                  <a:pt x="114666" y="91555"/>
                </a:lnTo>
                <a:lnTo>
                  <a:pt x="114666" y="79555"/>
                </a:lnTo>
                <a:lnTo>
                  <a:pt x="115250" y="79555"/>
                </a:lnTo>
                <a:lnTo>
                  <a:pt x="115250" y="68444"/>
                </a:lnTo>
                <a:lnTo>
                  <a:pt x="115625" y="68444"/>
                </a:lnTo>
                <a:lnTo>
                  <a:pt x="115625" y="55111"/>
                </a:lnTo>
                <a:lnTo>
                  <a:pt x="115916" y="55111"/>
                </a:lnTo>
                <a:lnTo>
                  <a:pt x="115916" y="44888"/>
                </a:lnTo>
                <a:lnTo>
                  <a:pt x="116250" y="44888"/>
                </a:lnTo>
                <a:lnTo>
                  <a:pt x="116250" y="34222"/>
                </a:lnTo>
                <a:lnTo>
                  <a:pt x="116666" y="34222"/>
                </a:lnTo>
                <a:lnTo>
                  <a:pt x="116666" y="44444"/>
                </a:lnTo>
                <a:lnTo>
                  <a:pt x="117000" y="44444"/>
                </a:lnTo>
                <a:lnTo>
                  <a:pt x="117000" y="52888"/>
                </a:lnTo>
                <a:lnTo>
                  <a:pt x="117333" y="52888"/>
                </a:lnTo>
                <a:lnTo>
                  <a:pt x="117333" y="68888"/>
                </a:lnTo>
                <a:lnTo>
                  <a:pt x="117708" y="68888"/>
                </a:lnTo>
                <a:lnTo>
                  <a:pt x="117708" y="80444"/>
                </a:lnTo>
                <a:lnTo>
                  <a:pt x="118166" y="80444"/>
                </a:lnTo>
                <a:lnTo>
                  <a:pt x="118166" y="92000"/>
                </a:lnTo>
                <a:lnTo>
                  <a:pt x="120000" y="9200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bg1"/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</p:spPr>
        <p:txBody>
          <a:bodyPr lIns="68569" tIns="34275" rIns="68569" bIns="34275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015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7654" name="文本框 12"/>
          <p:cNvSpPr txBox="1"/>
          <p:nvPr/>
        </p:nvSpPr>
        <p:spPr>
          <a:xfrm>
            <a:off x="558800" y="331788"/>
            <a:ext cx="2573338" cy="6477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dist" eaLnBrk="0" hangingPunct="0">
              <a:buClrTx/>
              <a:buFontTx/>
            </a:pPr>
            <a:r>
              <a:rPr lang="zh-CN" altLang="en-US" sz="3600" b="0" dirty="0">
                <a:solidFill>
                  <a:srgbClr val="FEFFFF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目录导航</a:t>
            </a:r>
          </a:p>
        </p:txBody>
      </p:sp>
      <p:sp>
        <p:nvSpPr>
          <p:cNvPr id="27655" name="文本框 13"/>
          <p:cNvSpPr txBox="1"/>
          <p:nvPr/>
        </p:nvSpPr>
        <p:spPr>
          <a:xfrm>
            <a:off x="2005013" y="2808288"/>
            <a:ext cx="720725" cy="2308324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0" hangingPunct="0">
              <a:lnSpc>
                <a:spcPct val="150000"/>
              </a:lnSpc>
              <a:buClrTx/>
              <a:buFontTx/>
            </a:pPr>
            <a:r>
              <a:rPr lang="en-US" altLang="zh-CN" sz="2400" b="0" dirty="0">
                <a:solidFill>
                  <a:srgbClr val="FEFFFF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7.1</a:t>
            </a:r>
            <a:endParaRPr lang="zh-CN" altLang="en-US" sz="2400" b="0" dirty="0">
              <a:solidFill>
                <a:srgbClr val="FEFFFF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 eaLnBrk="0" hangingPunct="0">
              <a:lnSpc>
                <a:spcPct val="150000"/>
              </a:lnSpc>
              <a:buClrTx/>
              <a:buFontTx/>
            </a:pPr>
            <a:r>
              <a:rPr lang="en-US" altLang="zh-CN" sz="2400" b="0" dirty="0">
                <a:solidFill>
                  <a:srgbClr val="0D0D0D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7.2</a:t>
            </a:r>
            <a:endParaRPr lang="zh-CN" altLang="en-US" sz="2400" b="0" dirty="0">
              <a:solidFill>
                <a:srgbClr val="0D0D0D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 eaLnBrk="0" hangingPunct="0">
              <a:lnSpc>
                <a:spcPct val="150000"/>
              </a:lnSpc>
              <a:buClrTx/>
              <a:buFontTx/>
            </a:pPr>
            <a:r>
              <a:rPr lang="en-US" altLang="zh-CN" sz="2400" b="0" dirty="0">
                <a:solidFill>
                  <a:srgbClr val="0D0D0D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7.3</a:t>
            </a:r>
            <a:endParaRPr lang="zh-CN" altLang="en-US" sz="2400" b="0" dirty="0">
              <a:solidFill>
                <a:srgbClr val="0D0D0D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 eaLnBrk="0" hangingPunct="0">
              <a:lnSpc>
                <a:spcPct val="150000"/>
              </a:lnSpc>
              <a:buClrTx/>
              <a:buFontTx/>
            </a:pPr>
            <a:endParaRPr lang="en-US" altLang="zh-CN" sz="2400" b="0" dirty="0">
              <a:solidFill>
                <a:srgbClr val="0D0D0D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27656" name="文本框 14"/>
          <p:cNvSpPr txBox="1"/>
          <p:nvPr/>
        </p:nvSpPr>
        <p:spPr>
          <a:xfrm>
            <a:off x="2843213" y="2808288"/>
            <a:ext cx="4129087" cy="1754326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0" hangingPunct="0">
              <a:lnSpc>
                <a:spcPct val="150000"/>
              </a:lnSpc>
              <a:buClrTx/>
              <a:buFontTx/>
            </a:pPr>
            <a:r>
              <a:rPr lang="zh-CN" altLang="en-US" sz="2400" b="0" dirty="0">
                <a:solidFill>
                  <a:srgbClr val="0D0D0D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　</a:t>
            </a:r>
            <a:r>
              <a:rPr lang="zh-CN" altLang="en-US" sz="24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查找的基本概念</a:t>
            </a:r>
          </a:p>
          <a:p>
            <a:pPr eaLnBrk="0" hangingPunct="0">
              <a:lnSpc>
                <a:spcPct val="150000"/>
              </a:lnSpc>
              <a:buClrTx/>
              <a:buFontTx/>
            </a:pPr>
            <a:r>
              <a:rPr lang="zh-CN" altLang="en-US" sz="2400" b="0" dirty="0">
                <a:solidFill>
                  <a:srgbClr val="0D0D0D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　线性表的查找</a:t>
            </a:r>
          </a:p>
          <a:p>
            <a:pPr eaLnBrk="0" hangingPunct="0">
              <a:lnSpc>
                <a:spcPct val="150000"/>
              </a:lnSpc>
              <a:buClrTx/>
              <a:buFontTx/>
            </a:pPr>
            <a:r>
              <a:rPr lang="zh-CN" altLang="en-US" sz="2400" b="0" dirty="0">
                <a:solidFill>
                  <a:srgbClr val="0D0D0D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　哈希表的查找</a:t>
            </a:r>
          </a:p>
        </p:txBody>
      </p:sp>
      <p:sp>
        <p:nvSpPr>
          <p:cNvPr id="2" name="矩形 1"/>
          <p:cNvSpPr/>
          <p:nvPr/>
        </p:nvSpPr>
        <p:spPr>
          <a:xfrm>
            <a:off x="3276600" y="457200"/>
            <a:ext cx="1458913" cy="5222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Contents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矩形 1"/>
          <p:cNvSpPr>
            <a:spLocks noChangeArrowheads="1"/>
          </p:cNvSpPr>
          <p:nvPr/>
        </p:nvSpPr>
        <p:spPr bwMode="auto">
          <a:xfrm>
            <a:off x="0" y="2162175"/>
            <a:ext cx="9144000" cy="3930650"/>
          </a:xfrm>
          <a:prstGeom prst="rect">
            <a:avLst/>
          </a:prstGeom>
          <a:solidFill>
            <a:srgbClr val="CCCCFF"/>
          </a:solidFill>
          <a:ln>
            <a:noFill/>
          </a:ln>
        </p:spPr>
        <p:txBody>
          <a:bodyPr/>
          <a:lstStyle>
            <a:lvl1pPr marL="342900" indent="-342900">
              <a:lnSpc>
                <a:spcPct val="130000"/>
              </a:lnSpc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4341" name="Rectangle 7"/>
          <p:cNvSpPr>
            <a:spLocks noChangeArrowheads="1"/>
          </p:cNvSpPr>
          <p:nvPr/>
        </p:nvSpPr>
        <p:spPr bwMode="auto">
          <a:xfrm>
            <a:off x="344488" y="2306638"/>
            <a:ext cx="8569325" cy="37861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marL="342900" indent="-3429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查找表：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由同一类型的数据元素（或记录）构成的集合</a:t>
            </a:r>
          </a:p>
          <a:p>
            <a:pPr marL="342900" marR="0" lvl="0" indent="-342900" algn="l" defTabSz="914400" rtl="0" eaLnBrk="0" fontAlgn="base" latinLnBrk="0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静态查找表：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查找的同时对查找表不做修改操作（如插入和删除）</a:t>
            </a:r>
          </a:p>
          <a:p>
            <a:pPr marL="342900" marR="0" lvl="0" indent="-342900" algn="l" defTabSz="914400" rtl="0" eaLnBrk="0" fontAlgn="base" latinLnBrk="0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动态查找表：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查找的同时对查找表具有修改操作</a:t>
            </a:r>
          </a:p>
          <a:p>
            <a:pPr marL="342900" marR="0" lvl="0" indent="-342900" algn="l" defTabSz="914400" rtl="0" eaLnBrk="0" fontAlgn="base" latinLnBrk="0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关键字：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记录中某个数据项的值，可用来识别一个记录</a:t>
            </a:r>
          </a:p>
          <a:p>
            <a:pPr marL="342900" marR="0" lvl="0" indent="-342900" algn="l" defTabSz="914400" rtl="0" eaLnBrk="0" fontAlgn="base" latinLnBrk="0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主关键字：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唯一标识数据元素</a:t>
            </a:r>
          </a:p>
          <a:p>
            <a:pPr marL="342900" marR="0" lvl="0" indent="-342900" algn="l" defTabSz="914400" rtl="0" eaLnBrk="0" fontAlgn="base" latinLnBrk="0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次关键字：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可以标识若干个数据元素</a:t>
            </a:r>
          </a:p>
        </p:txBody>
      </p:sp>
      <p:sp>
        <p:nvSpPr>
          <p:cNvPr id="1055752" name="AutoShape 8"/>
          <p:cNvSpPr>
            <a:spLocks noChangeArrowheads="1"/>
          </p:cNvSpPr>
          <p:nvPr/>
        </p:nvSpPr>
        <p:spPr bwMode="auto">
          <a:xfrm>
            <a:off x="5435600" y="1314450"/>
            <a:ext cx="2808288" cy="550863"/>
          </a:xfrm>
          <a:prstGeom prst="wedgeRoundRectCallout">
            <a:avLst>
              <a:gd name="adj1" fmla="val -73781"/>
              <a:gd name="adj2" fmla="val 101345"/>
              <a:gd name="adj3" fmla="val 16667"/>
            </a:avLst>
          </a:prstGeom>
          <a:solidFill>
            <a:schemeClr val="accent1">
              <a:lumMod val="60000"/>
              <a:lumOff val="40000"/>
            </a:schemeClr>
          </a:solidFill>
          <a:ln w="9525">
            <a:noFill/>
            <a:miter lim="800000"/>
          </a:ln>
        </p:spPr>
        <p:txBody>
          <a:bodyPr anchor="ctr"/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是一种数据结构</a:t>
            </a:r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844550" y="236538"/>
            <a:ext cx="6400800" cy="455613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查找的基本概念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557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557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575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164" name="Rectangle 4"/>
          <p:cNvSpPr>
            <a:spLocks noChangeArrowheads="1"/>
          </p:cNvSpPr>
          <p:nvPr/>
        </p:nvSpPr>
        <p:spPr bwMode="auto">
          <a:xfrm>
            <a:off x="358775" y="1951038"/>
            <a:ext cx="4429125" cy="1477963"/>
          </a:xfrm>
          <a:prstGeom prst="rect">
            <a:avLst/>
          </a:prstGeom>
          <a:noFill/>
          <a:ln>
            <a:solidFill>
              <a:schemeClr val="bg2">
                <a:lumMod val="60000"/>
                <a:lumOff val="40000"/>
              </a:schemeClr>
            </a:solidFill>
          </a:ln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关键字的平均比较次数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，也称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平均搜索长度</a:t>
            </a:r>
            <a:r>
              <a:rPr kumimoji="0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ASL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(</a:t>
            </a:r>
            <a:r>
              <a:rPr kumimoji="0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Average Search Length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)</a:t>
            </a:r>
          </a:p>
        </p:txBody>
      </p:sp>
      <p:sp>
        <p:nvSpPr>
          <p:cNvPr id="988165" name="Rectangle 5"/>
          <p:cNvSpPr>
            <a:spLocks noChangeArrowheads="1"/>
          </p:cNvSpPr>
          <p:nvPr/>
        </p:nvSpPr>
        <p:spPr bwMode="auto">
          <a:xfrm>
            <a:off x="358775" y="3824288"/>
            <a:ext cx="8462963" cy="134778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>
            <a:spAutoFit/>
          </a:bodyPr>
          <a:lstStyle>
            <a:lvl1pPr marL="342900" indent="-3429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n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：记录的个数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pi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：查找第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个记录的概率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(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通常认为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pi =1/n )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ci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：找到第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个记录所需的比较次数</a:t>
            </a:r>
          </a:p>
        </p:txBody>
      </p:sp>
      <p:graphicFrame>
        <p:nvGraphicFramePr>
          <p:cNvPr id="988166" name="Object 6"/>
          <p:cNvGraphicFramePr/>
          <p:nvPr/>
        </p:nvGraphicFramePr>
        <p:xfrm>
          <a:off x="4752975" y="1951038"/>
          <a:ext cx="4068763" cy="1477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9" r:id="rId3" imgW="862965" imgH="431800" progId="Equation.3">
                  <p:embed/>
                </p:oleObj>
              </mc:Choice>
              <mc:Fallback>
                <p:oleObj r:id="rId3" imgW="862965" imgH="4318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752975" y="1951038"/>
                        <a:ext cx="4068763" cy="1477962"/>
                      </a:xfrm>
                      <a:prstGeom prst="rect">
                        <a:avLst/>
                      </a:prstGeom>
                      <a:solidFill>
                        <a:srgbClr val="CCCCFF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5" name="Rectangle 7"/>
          <p:cNvSpPr>
            <a:spLocks noChangeArrowheads="1"/>
          </p:cNvSpPr>
          <p:nvPr/>
        </p:nvSpPr>
        <p:spPr bwMode="auto">
          <a:xfrm>
            <a:off x="827088" y="201613"/>
            <a:ext cx="4167188" cy="51593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查找算法的评价指标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988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881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881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881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881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8164" grpId="0" animBg="1"/>
      <p:bldP spid="98816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49" name="图片 9"/>
          <p:cNvPicPr>
            <a:picLocks noChangeAspect="1"/>
          </p:cNvPicPr>
          <p:nvPr/>
        </p:nvPicPr>
        <p:blipFill>
          <a:blip r:embed="rId2"/>
          <a:srcRect l="1575"/>
          <a:stretch>
            <a:fillRect/>
          </a:stretch>
        </p:blipFill>
        <p:spPr>
          <a:xfrm>
            <a:off x="0" y="1588"/>
            <a:ext cx="9124950" cy="18319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266" name="矩形: 圆角 16"/>
          <p:cNvSpPr>
            <a:spLocks noChangeArrowheads="1"/>
          </p:cNvSpPr>
          <p:nvPr/>
        </p:nvSpPr>
        <p:spPr bwMode="auto">
          <a:xfrm>
            <a:off x="2830513" y="3453765"/>
            <a:ext cx="4432300" cy="504825"/>
          </a:xfrm>
          <a:prstGeom prst="roundRect">
            <a:avLst>
              <a:gd name="adj" fmla="val 16667"/>
            </a:avLst>
          </a:prstGeom>
          <a:solidFill>
            <a:srgbClr val="9476B6"/>
          </a:solidFill>
          <a:ln>
            <a:noFill/>
          </a:ln>
        </p:spPr>
        <p:txBody>
          <a:bodyPr/>
          <a:lstStyle>
            <a:lvl1pPr marL="342900" indent="-3429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pitchFamily="49" charset="-122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1267" name="矩形: 圆角 15"/>
          <p:cNvSpPr>
            <a:spLocks noChangeArrowheads="1"/>
          </p:cNvSpPr>
          <p:nvPr/>
        </p:nvSpPr>
        <p:spPr bwMode="auto">
          <a:xfrm>
            <a:off x="1885950" y="3453765"/>
            <a:ext cx="839788" cy="50482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/>
          <a:lstStyle>
            <a:lvl1pPr marL="342900" indent="-3429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pitchFamily="49" charset="-122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9525" y="1588"/>
            <a:ext cx="9151938" cy="2024063"/>
          </a:xfrm>
          <a:prstGeom prst="rect">
            <a:avLst/>
          </a:prstGeom>
          <a:solidFill>
            <a:schemeClr val="tx1">
              <a:alpha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" name="Shape 26"/>
          <p:cNvSpPr/>
          <p:nvPr/>
        </p:nvSpPr>
        <p:spPr>
          <a:xfrm flipH="1">
            <a:off x="-36512" y="774700"/>
            <a:ext cx="9207500" cy="126047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120000"/>
                </a:moveTo>
                <a:lnTo>
                  <a:pt x="0" y="102222"/>
                </a:lnTo>
                <a:lnTo>
                  <a:pt x="583" y="102222"/>
                </a:lnTo>
                <a:lnTo>
                  <a:pt x="583" y="89777"/>
                </a:lnTo>
                <a:lnTo>
                  <a:pt x="4166" y="89777"/>
                </a:lnTo>
                <a:lnTo>
                  <a:pt x="4166" y="79111"/>
                </a:lnTo>
                <a:lnTo>
                  <a:pt x="6416" y="79111"/>
                </a:lnTo>
                <a:lnTo>
                  <a:pt x="6416" y="91111"/>
                </a:lnTo>
                <a:lnTo>
                  <a:pt x="7625" y="91111"/>
                </a:lnTo>
                <a:lnTo>
                  <a:pt x="7625" y="79111"/>
                </a:lnTo>
                <a:lnTo>
                  <a:pt x="8958" y="79111"/>
                </a:lnTo>
                <a:lnTo>
                  <a:pt x="8958" y="45333"/>
                </a:lnTo>
                <a:lnTo>
                  <a:pt x="9541" y="45333"/>
                </a:lnTo>
                <a:lnTo>
                  <a:pt x="9541" y="39111"/>
                </a:lnTo>
                <a:lnTo>
                  <a:pt x="10958" y="39111"/>
                </a:lnTo>
                <a:lnTo>
                  <a:pt x="10958" y="45333"/>
                </a:lnTo>
                <a:lnTo>
                  <a:pt x="11583" y="45333"/>
                </a:lnTo>
                <a:lnTo>
                  <a:pt x="11583" y="76000"/>
                </a:lnTo>
                <a:lnTo>
                  <a:pt x="12083" y="76000"/>
                </a:lnTo>
                <a:lnTo>
                  <a:pt x="12083" y="95555"/>
                </a:lnTo>
                <a:lnTo>
                  <a:pt x="13250" y="95555"/>
                </a:lnTo>
                <a:lnTo>
                  <a:pt x="13250" y="60000"/>
                </a:lnTo>
                <a:lnTo>
                  <a:pt x="14041" y="60000"/>
                </a:lnTo>
                <a:lnTo>
                  <a:pt x="14041" y="45333"/>
                </a:lnTo>
                <a:lnTo>
                  <a:pt x="14583" y="45333"/>
                </a:lnTo>
                <a:lnTo>
                  <a:pt x="14583" y="27555"/>
                </a:lnTo>
                <a:lnTo>
                  <a:pt x="14958" y="27555"/>
                </a:lnTo>
                <a:lnTo>
                  <a:pt x="14958" y="14222"/>
                </a:lnTo>
                <a:lnTo>
                  <a:pt x="15333" y="14222"/>
                </a:lnTo>
                <a:lnTo>
                  <a:pt x="15333" y="0"/>
                </a:lnTo>
                <a:lnTo>
                  <a:pt x="15958" y="0"/>
                </a:lnTo>
                <a:lnTo>
                  <a:pt x="15958" y="13777"/>
                </a:lnTo>
                <a:lnTo>
                  <a:pt x="16416" y="13777"/>
                </a:lnTo>
                <a:lnTo>
                  <a:pt x="16416" y="24888"/>
                </a:lnTo>
                <a:lnTo>
                  <a:pt x="16791" y="24888"/>
                </a:lnTo>
                <a:lnTo>
                  <a:pt x="16791" y="46222"/>
                </a:lnTo>
                <a:lnTo>
                  <a:pt x="17333" y="46222"/>
                </a:lnTo>
                <a:lnTo>
                  <a:pt x="17333" y="61333"/>
                </a:lnTo>
                <a:lnTo>
                  <a:pt x="17916" y="61333"/>
                </a:lnTo>
                <a:lnTo>
                  <a:pt x="17916" y="101333"/>
                </a:lnTo>
                <a:lnTo>
                  <a:pt x="18875" y="101333"/>
                </a:lnTo>
                <a:lnTo>
                  <a:pt x="18875" y="92000"/>
                </a:lnTo>
                <a:lnTo>
                  <a:pt x="20958" y="92000"/>
                </a:lnTo>
                <a:lnTo>
                  <a:pt x="20958" y="96444"/>
                </a:lnTo>
                <a:lnTo>
                  <a:pt x="21750" y="96444"/>
                </a:lnTo>
                <a:lnTo>
                  <a:pt x="21750" y="54666"/>
                </a:lnTo>
                <a:lnTo>
                  <a:pt x="22333" y="54666"/>
                </a:lnTo>
                <a:lnTo>
                  <a:pt x="22333" y="42666"/>
                </a:lnTo>
                <a:lnTo>
                  <a:pt x="24166" y="42666"/>
                </a:lnTo>
                <a:lnTo>
                  <a:pt x="24166" y="53777"/>
                </a:lnTo>
                <a:lnTo>
                  <a:pt x="24583" y="56888"/>
                </a:lnTo>
                <a:lnTo>
                  <a:pt x="24583" y="85777"/>
                </a:lnTo>
                <a:lnTo>
                  <a:pt x="25291" y="85777"/>
                </a:lnTo>
                <a:lnTo>
                  <a:pt x="25291" y="79555"/>
                </a:lnTo>
                <a:lnTo>
                  <a:pt x="27125" y="79555"/>
                </a:lnTo>
                <a:lnTo>
                  <a:pt x="27125" y="86222"/>
                </a:lnTo>
                <a:lnTo>
                  <a:pt x="28208" y="86222"/>
                </a:lnTo>
                <a:lnTo>
                  <a:pt x="28208" y="92000"/>
                </a:lnTo>
                <a:lnTo>
                  <a:pt x="29416" y="92000"/>
                </a:lnTo>
                <a:lnTo>
                  <a:pt x="29416" y="83555"/>
                </a:lnTo>
                <a:lnTo>
                  <a:pt x="30250" y="83555"/>
                </a:lnTo>
                <a:lnTo>
                  <a:pt x="30250" y="65777"/>
                </a:lnTo>
                <a:lnTo>
                  <a:pt x="35041" y="65777"/>
                </a:lnTo>
                <a:lnTo>
                  <a:pt x="35041" y="83555"/>
                </a:lnTo>
                <a:lnTo>
                  <a:pt x="35875" y="83555"/>
                </a:lnTo>
                <a:lnTo>
                  <a:pt x="35875" y="65777"/>
                </a:lnTo>
                <a:lnTo>
                  <a:pt x="39916" y="65777"/>
                </a:lnTo>
                <a:lnTo>
                  <a:pt x="39916" y="72888"/>
                </a:lnTo>
                <a:lnTo>
                  <a:pt x="41041" y="72888"/>
                </a:lnTo>
                <a:lnTo>
                  <a:pt x="41041" y="99555"/>
                </a:lnTo>
                <a:lnTo>
                  <a:pt x="42583" y="99555"/>
                </a:lnTo>
                <a:lnTo>
                  <a:pt x="42583" y="76888"/>
                </a:lnTo>
                <a:lnTo>
                  <a:pt x="45250" y="56000"/>
                </a:lnTo>
                <a:lnTo>
                  <a:pt x="47875" y="76888"/>
                </a:lnTo>
                <a:lnTo>
                  <a:pt x="47875" y="88888"/>
                </a:lnTo>
                <a:lnTo>
                  <a:pt x="48666" y="88888"/>
                </a:lnTo>
                <a:lnTo>
                  <a:pt x="48666" y="104000"/>
                </a:lnTo>
                <a:lnTo>
                  <a:pt x="49208" y="104000"/>
                </a:lnTo>
                <a:lnTo>
                  <a:pt x="49208" y="73333"/>
                </a:lnTo>
                <a:lnTo>
                  <a:pt x="51500" y="73333"/>
                </a:lnTo>
                <a:lnTo>
                  <a:pt x="51500" y="85777"/>
                </a:lnTo>
                <a:lnTo>
                  <a:pt x="53708" y="85777"/>
                </a:lnTo>
                <a:lnTo>
                  <a:pt x="53708" y="94666"/>
                </a:lnTo>
                <a:lnTo>
                  <a:pt x="54500" y="94666"/>
                </a:lnTo>
                <a:lnTo>
                  <a:pt x="54500" y="85777"/>
                </a:lnTo>
                <a:lnTo>
                  <a:pt x="57125" y="85777"/>
                </a:lnTo>
                <a:lnTo>
                  <a:pt x="57125" y="102222"/>
                </a:lnTo>
                <a:lnTo>
                  <a:pt x="57625" y="102222"/>
                </a:lnTo>
                <a:lnTo>
                  <a:pt x="57625" y="104888"/>
                </a:lnTo>
                <a:lnTo>
                  <a:pt x="58875" y="104888"/>
                </a:lnTo>
                <a:lnTo>
                  <a:pt x="58875" y="94222"/>
                </a:lnTo>
                <a:lnTo>
                  <a:pt x="61666" y="94222"/>
                </a:lnTo>
                <a:lnTo>
                  <a:pt x="61666" y="89777"/>
                </a:lnTo>
                <a:lnTo>
                  <a:pt x="62250" y="89777"/>
                </a:lnTo>
                <a:lnTo>
                  <a:pt x="62250" y="84000"/>
                </a:lnTo>
                <a:lnTo>
                  <a:pt x="62833" y="84000"/>
                </a:lnTo>
                <a:lnTo>
                  <a:pt x="62833" y="88888"/>
                </a:lnTo>
                <a:lnTo>
                  <a:pt x="63500" y="88888"/>
                </a:lnTo>
                <a:lnTo>
                  <a:pt x="63500" y="83111"/>
                </a:lnTo>
                <a:lnTo>
                  <a:pt x="64999" y="83111"/>
                </a:lnTo>
                <a:lnTo>
                  <a:pt x="64999" y="88444"/>
                </a:lnTo>
                <a:lnTo>
                  <a:pt x="65666" y="88444"/>
                </a:lnTo>
                <a:lnTo>
                  <a:pt x="65666" y="103111"/>
                </a:lnTo>
                <a:lnTo>
                  <a:pt x="66916" y="103111"/>
                </a:lnTo>
                <a:lnTo>
                  <a:pt x="66916" y="82666"/>
                </a:lnTo>
                <a:lnTo>
                  <a:pt x="69375" y="82666"/>
                </a:lnTo>
                <a:lnTo>
                  <a:pt x="69375" y="88888"/>
                </a:lnTo>
                <a:lnTo>
                  <a:pt x="70416" y="88888"/>
                </a:lnTo>
                <a:lnTo>
                  <a:pt x="70416" y="46222"/>
                </a:lnTo>
                <a:lnTo>
                  <a:pt x="71500" y="35111"/>
                </a:lnTo>
                <a:lnTo>
                  <a:pt x="72458" y="45777"/>
                </a:lnTo>
                <a:lnTo>
                  <a:pt x="72458" y="103111"/>
                </a:lnTo>
                <a:lnTo>
                  <a:pt x="73583" y="103111"/>
                </a:lnTo>
                <a:lnTo>
                  <a:pt x="73583" y="47555"/>
                </a:lnTo>
                <a:lnTo>
                  <a:pt x="76916" y="47555"/>
                </a:lnTo>
                <a:lnTo>
                  <a:pt x="76916" y="97777"/>
                </a:lnTo>
                <a:lnTo>
                  <a:pt x="77541" y="97777"/>
                </a:lnTo>
                <a:lnTo>
                  <a:pt x="77541" y="85777"/>
                </a:lnTo>
                <a:lnTo>
                  <a:pt x="79000" y="85777"/>
                </a:lnTo>
                <a:lnTo>
                  <a:pt x="79000" y="92888"/>
                </a:lnTo>
                <a:lnTo>
                  <a:pt x="82000" y="92888"/>
                </a:lnTo>
                <a:lnTo>
                  <a:pt x="82000" y="102222"/>
                </a:lnTo>
                <a:lnTo>
                  <a:pt x="84333" y="102222"/>
                </a:lnTo>
                <a:lnTo>
                  <a:pt x="84333" y="88000"/>
                </a:lnTo>
                <a:lnTo>
                  <a:pt x="85583" y="88000"/>
                </a:lnTo>
                <a:lnTo>
                  <a:pt x="85583" y="96000"/>
                </a:lnTo>
                <a:lnTo>
                  <a:pt x="86500" y="96000"/>
                </a:lnTo>
                <a:lnTo>
                  <a:pt x="86500" y="91111"/>
                </a:lnTo>
                <a:lnTo>
                  <a:pt x="87791" y="91111"/>
                </a:lnTo>
                <a:lnTo>
                  <a:pt x="87791" y="84888"/>
                </a:lnTo>
                <a:lnTo>
                  <a:pt x="89375" y="84888"/>
                </a:lnTo>
                <a:lnTo>
                  <a:pt x="89375" y="100888"/>
                </a:lnTo>
                <a:lnTo>
                  <a:pt x="90541" y="100888"/>
                </a:lnTo>
                <a:lnTo>
                  <a:pt x="90541" y="63111"/>
                </a:lnTo>
                <a:lnTo>
                  <a:pt x="92458" y="63555"/>
                </a:lnTo>
                <a:lnTo>
                  <a:pt x="92458" y="84444"/>
                </a:lnTo>
                <a:lnTo>
                  <a:pt x="93750" y="84444"/>
                </a:lnTo>
                <a:lnTo>
                  <a:pt x="93750" y="97333"/>
                </a:lnTo>
                <a:lnTo>
                  <a:pt x="95375" y="97333"/>
                </a:lnTo>
                <a:lnTo>
                  <a:pt x="95375" y="83111"/>
                </a:lnTo>
                <a:lnTo>
                  <a:pt x="96500" y="83111"/>
                </a:lnTo>
                <a:lnTo>
                  <a:pt x="96500" y="77333"/>
                </a:lnTo>
                <a:lnTo>
                  <a:pt x="98000" y="77333"/>
                </a:lnTo>
                <a:lnTo>
                  <a:pt x="98000" y="81333"/>
                </a:lnTo>
                <a:lnTo>
                  <a:pt x="99041" y="81333"/>
                </a:lnTo>
                <a:lnTo>
                  <a:pt x="99041" y="75111"/>
                </a:lnTo>
                <a:lnTo>
                  <a:pt x="101000" y="59555"/>
                </a:lnTo>
                <a:lnTo>
                  <a:pt x="102916" y="75111"/>
                </a:lnTo>
                <a:lnTo>
                  <a:pt x="102916" y="96444"/>
                </a:lnTo>
                <a:lnTo>
                  <a:pt x="103250" y="96444"/>
                </a:lnTo>
                <a:lnTo>
                  <a:pt x="103250" y="92000"/>
                </a:lnTo>
                <a:lnTo>
                  <a:pt x="104750" y="92000"/>
                </a:lnTo>
                <a:lnTo>
                  <a:pt x="104750" y="111111"/>
                </a:lnTo>
                <a:lnTo>
                  <a:pt x="105125" y="111111"/>
                </a:lnTo>
                <a:lnTo>
                  <a:pt x="105125" y="101777"/>
                </a:lnTo>
                <a:lnTo>
                  <a:pt x="106291" y="101777"/>
                </a:lnTo>
                <a:lnTo>
                  <a:pt x="106291" y="81777"/>
                </a:lnTo>
                <a:lnTo>
                  <a:pt x="107791" y="81777"/>
                </a:lnTo>
                <a:lnTo>
                  <a:pt x="107791" y="101777"/>
                </a:lnTo>
                <a:lnTo>
                  <a:pt x="107833" y="101777"/>
                </a:lnTo>
                <a:lnTo>
                  <a:pt x="107833" y="93777"/>
                </a:lnTo>
                <a:lnTo>
                  <a:pt x="108583" y="93777"/>
                </a:lnTo>
                <a:lnTo>
                  <a:pt x="108583" y="89777"/>
                </a:lnTo>
                <a:lnTo>
                  <a:pt x="110166" y="89777"/>
                </a:lnTo>
                <a:lnTo>
                  <a:pt x="110166" y="103111"/>
                </a:lnTo>
                <a:lnTo>
                  <a:pt x="110416" y="103111"/>
                </a:lnTo>
                <a:lnTo>
                  <a:pt x="110416" y="93777"/>
                </a:lnTo>
                <a:lnTo>
                  <a:pt x="110625" y="93777"/>
                </a:lnTo>
                <a:lnTo>
                  <a:pt x="110625" y="76444"/>
                </a:lnTo>
                <a:lnTo>
                  <a:pt x="111416" y="76444"/>
                </a:lnTo>
                <a:lnTo>
                  <a:pt x="111416" y="68444"/>
                </a:lnTo>
                <a:lnTo>
                  <a:pt x="111833" y="68444"/>
                </a:lnTo>
                <a:lnTo>
                  <a:pt x="111833" y="64000"/>
                </a:lnTo>
                <a:lnTo>
                  <a:pt x="112916" y="64000"/>
                </a:lnTo>
                <a:lnTo>
                  <a:pt x="112916" y="68444"/>
                </a:lnTo>
                <a:lnTo>
                  <a:pt x="113375" y="68444"/>
                </a:lnTo>
                <a:lnTo>
                  <a:pt x="113375" y="91555"/>
                </a:lnTo>
                <a:lnTo>
                  <a:pt x="113416" y="91555"/>
                </a:lnTo>
                <a:lnTo>
                  <a:pt x="113416" y="91555"/>
                </a:lnTo>
                <a:lnTo>
                  <a:pt x="114666" y="91555"/>
                </a:lnTo>
                <a:lnTo>
                  <a:pt x="114666" y="79555"/>
                </a:lnTo>
                <a:lnTo>
                  <a:pt x="115250" y="79555"/>
                </a:lnTo>
                <a:lnTo>
                  <a:pt x="115250" y="68444"/>
                </a:lnTo>
                <a:lnTo>
                  <a:pt x="115625" y="68444"/>
                </a:lnTo>
                <a:lnTo>
                  <a:pt x="115625" y="55111"/>
                </a:lnTo>
                <a:lnTo>
                  <a:pt x="115916" y="55111"/>
                </a:lnTo>
                <a:lnTo>
                  <a:pt x="115916" y="44888"/>
                </a:lnTo>
                <a:lnTo>
                  <a:pt x="116250" y="44888"/>
                </a:lnTo>
                <a:lnTo>
                  <a:pt x="116250" y="34222"/>
                </a:lnTo>
                <a:lnTo>
                  <a:pt x="116666" y="34222"/>
                </a:lnTo>
                <a:lnTo>
                  <a:pt x="116666" y="44444"/>
                </a:lnTo>
                <a:lnTo>
                  <a:pt x="117000" y="44444"/>
                </a:lnTo>
                <a:lnTo>
                  <a:pt x="117000" y="52888"/>
                </a:lnTo>
                <a:lnTo>
                  <a:pt x="117333" y="52888"/>
                </a:lnTo>
                <a:lnTo>
                  <a:pt x="117333" y="68888"/>
                </a:lnTo>
                <a:lnTo>
                  <a:pt x="117708" y="68888"/>
                </a:lnTo>
                <a:lnTo>
                  <a:pt x="117708" y="80444"/>
                </a:lnTo>
                <a:lnTo>
                  <a:pt x="118166" y="80444"/>
                </a:lnTo>
                <a:lnTo>
                  <a:pt x="118166" y="92000"/>
                </a:lnTo>
                <a:lnTo>
                  <a:pt x="120000" y="9200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bg1"/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</p:spPr>
        <p:txBody>
          <a:bodyPr lIns="68569" tIns="34275" rIns="68569" bIns="34275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015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7654" name="文本框 12"/>
          <p:cNvSpPr txBox="1"/>
          <p:nvPr/>
        </p:nvSpPr>
        <p:spPr>
          <a:xfrm>
            <a:off x="558800" y="331788"/>
            <a:ext cx="2573338" cy="6477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dist" eaLnBrk="0" hangingPunct="0">
              <a:buClrTx/>
              <a:buFontTx/>
            </a:pPr>
            <a:r>
              <a:rPr lang="zh-CN" altLang="en-US" sz="3600" b="0" dirty="0">
                <a:solidFill>
                  <a:srgbClr val="FEFFFF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目录导航</a:t>
            </a:r>
          </a:p>
        </p:txBody>
      </p:sp>
      <p:sp>
        <p:nvSpPr>
          <p:cNvPr id="27655" name="文本框 13"/>
          <p:cNvSpPr txBox="1"/>
          <p:nvPr/>
        </p:nvSpPr>
        <p:spPr>
          <a:xfrm>
            <a:off x="2005013" y="2808288"/>
            <a:ext cx="720725" cy="1754326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0" hangingPunct="0">
              <a:lnSpc>
                <a:spcPct val="150000"/>
              </a:lnSpc>
              <a:buClrTx/>
              <a:buFontTx/>
            </a:pPr>
            <a:r>
              <a: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7.1</a:t>
            </a:r>
            <a:endParaRPr lang="zh-CN" altLang="en-US" sz="2400" b="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 eaLnBrk="0" hangingPunct="0">
              <a:lnSpc>
                <a:spcPct val="150000"/>
              </a:lnSpc>
              <a:buClrTx/>
              <a:buFontTx/>
            </a:pPr>
            <a:r>
              <a:rPr lang="en-US" altLang="zh-CN" sz="24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7.2</a:t>
            </a:r>
            <a:endParaRPr lang="zh-CN" altLang="en-US" sz="2400" b="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 eaLnBrk="0" hangingPunct="0">
              <a:lnSpc>
                <a:spcPct val="150000"/>
              </a:lnSpc>
              <a:buClrTx/>
              <a:buFontTx/>
            </a:pPr>
            <a:r>
              <a:rPr lang="en-US" altLang="zh-CN" sz="2400" b="0" dirty="0" smtClean="0">
                <a:solidFill>
                  <a:srgbClr val="0D0D0D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7.3</a:t>
            </a:r>
            <a:endParaRPr lang="zh-CN" altLang="en-US" sz="2400" b="0" dirty="0">
              <a:solidFill>
                <a:srgbClr val="0D0D0D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27656" name="文本框 14"/>
          <p:cNvSpPr txBox="1"/>
          <p:nvPr/>
        </p:nvSpPr>
        <p:spPr>
          <a:xfrm>
            <a:off x="2843213" y="2808288"/>
            <a:ext cx="4129087" cy="2308324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0" hangingPunct="0">
              <a:lnSpc>
                <a:spcPct val="150000"/>
              </a:lnSpc>
              <a:buClrTx/>
              <a:buFontTx/>
            </a:pPr>
            <a:r>
              <a:rPr lang="zh-CN" altLang="en-US" sz="2400" b="0" dirty="0">
                <a:solidFill>
                  <a:srgbClr val="0D0D0D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　</a:t>
            </a: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查找的基本概念</a:t>
            </a:r>
            <a:endParaRPr lang="zh-CN" altLang="en-US" sz="2400" b="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 eaLnBrk="0" hangingPunct="0">
              <a:lnSpc>
                <a:spcPct val="150000"/>
              </a:lnSpc>
              <a:buClrTx/>
              <a:buFontTx/>
            </a:pPr>
            <a:r>
              <a:rPr lang="zh-CN" altLang="en-US" sz="2400" b="0" dirty="0">
                <a:solidFill>
                  <a:srgbClr val="0D0D0D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　</a:t>
            </a:r>
            <a:r>
              <a:rPr lang="zh-CN" altLang="en-US" sz="24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线性表的查找</a:t>
            </a:r>
            <a:endParaRPr lang="zh-CN" altLang="en-US" sz="2400" b="0" dirty="0">
              <a:solidFill>
                <a:srgbClr val="0D0D0D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 eaLnBrk="0" hangingPunct="0">
              <a:lnSpc>
                <a:spcPct val="150000"/>
              </a:lnSpc>
              <a:buClrTx/>
              <a:buFontTx/>
            </a:pPr>
            <a:r>
              <a:rPr lang="zh-CN" altLang="en-US" sz="2400" b="0" dirty="0">
                <a:solidFill>
                  <a:srgbClr val="0D0D0D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　</a:t>
            </a:r>
            <a:r>
              <a:rPr lang="zh-CN" altLang="en-US" sz="2400" b="0" dirty="0" smtClean="0">
                <a:solidFill>
                  <a:srgbClr val="0D0D0D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哈</a:t>
            </a:r>
            <a:r>
              <a:rPr lang="zh-CN" altLang="en-US" sz="2400" b="0" dirty="0">
                <a:solidFill>
                  <a:srgbClr val="0D0D0D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希表的查找</a:t>
            </a:r>
          </a:p>
          <a:p>
            <a:pPr eaLnBrk="0" hangingPunct="0">
              <a:lnSpc>
                <a:spcPct val="150000"/>
              </a:lnSpc>
              <a:buClrTx/>
              <a:buFontTx/>
            </a:pPr>
            <a:r>
              <a:rPr lang="zh-CN" altLang="en-US" sz="2400" b="0" dirty="0">
                <a:solidFill>
                  <a:srgbClr val="0D0D0D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 </a:t>
            </a:r>
            <a:r>
              <a:rPr lang="en-US" altLang="zh-CN" sz="2400" b="0" dirty="0">
                <a:solidFill>
                  <a:srgbClr val="0D0D0D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   </a:t>
            </a:r>
            <a:endParaRPr lang="zh-CN" altLang="en-US" sz="2400" b="0" dirty="0">
              <a:solidFill>
                <a:srgbClr val="0D0D0D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276600" y="457200"/>
            <a:ext cx="1458913" cy="5222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Contents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4"/>
          <p:cNvSpPr>
            <a:spLocks noChangeArrowheads="1"/>
          </p:cNvSpPr>
          <p:nvPr/>
        </p:nvSpPr>
        <p:spPr bwMode="auto">
          <a:xfrm>
            <a:off x="887413" y="142875"/>
            <a:ext cx="6156325" cy="6858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线性表的查找</a:t>
            </a:r>
          </a:p>
        </p:txBody>
      </p:sp>
      <p:grpSp>
        <p:nvGrpSpPr>
          <p:cNvPr id="31746" name="组合 3"/>
          <p:cNvGrpSpPr/>
          <p:nvPr/>
        </p:nvGrpSpPr>
        <p:grpSpPr>
          <a:xfrm>
            <a:off x="396875" y="2527300"/>
            <a:ext cx="2209800" cy="2246313"/>
            <a:chOff x="1198662" y="1665926"/>
            <a:chExt cx="4286400" cy="4356156"/>
          </a:xfrm>
        </p:grpSpPr>
        <p:sp>
          <p:nvSpPr>
            <p:cNvPr id="34" name="泪滴形 24"/>
            <p:cNvSpPr/>
            <p:nvPr/>
          </p:nvSpPr>
          <p:spPr bwMode="auto">
            <a:xfrm rot="10800000" flipH="1">
              <a:off x="1429611" y="1942996"/>
              <a:ext cx="1770602" cy="1773248"/>
            </a:xfrm>
            <a:custGeom>
              <a:avLst/>
              <a:gdLst>
                <a:gd name="T0" fmla="*/ 679134 w 1680168"/>
                <a:gd name="T1" fmla="*/ 1503514 h 1680168"/>
                <a:gd name="T2" fmla="*/ 176653 w 1680168"/>
                <a:gd name="T3" fmla="*/ 1001034 h 1680168"/>
                <a:gd name="T4" fmla="*/ 679134 w 1680168"/>
                <a:gd name="T5" fmla="*/ 498554 h 1680168"/>
                <a:gd name="T6" fmla="*/ 1181615 w 1680168"/>
                <a:gd name="T7" fmla="*/ 1001034 h 1680168"/>
                <a:gd name="T8" fmla="*/ 679134 w 1680168"/>
                <a:gd name="T9" fmla="*/ 1503514 h 1680168"/>
                <a:gd name="T10" fmla="*/ 840084 w 1680168"/>
                <a:gd name="T11" fmla="*/ 1680168 h 1680168"/>
                <a:gd name="T12" fmla="*/ 1680168 w 1680168"/>
                <a:gd name="T13" fmla="*/ 840084 h 1680168"/>
                <a:gd name="T14" fmla="*/ 1680168 w 1680168"/>
                <a:gd name="T15" fmla="*/ 0 h 1680168"/>
                <a:gd name="T16" fmla="*/ 840084 w 1680168"/>
                <a:gd name="T17" fmla="*/ 0 h 1680168"/>
                <a:gd name="T18" fmla="*/ 0 w 1680168"/>
                <a:gd name="T19" fmla="*/ 840084 h 1680168"/>
                <a:gd name="T20" fmla="*/ 840084 w 1680168"/>
                <a:gd name="T21" fmla="*/ 1680168 h 1680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680168" h="1680168">
                  <a:moveTo>
                    <a:pt x="679134" y="1503514"/>
                  </a:moveTo>
                  <a:cubicBezTo>
                    <a:pt x="401621" y="1503514"/>
                    <a:pt x="176653" y="1278546"/>
                    <a:pt x="176653" y="1001034"/>
                  </a:cubicBezTo>
                  <a:cubicBezTo>
                    <a:pt x="176653" y="723522"/>
                    <a:pt x="401621" y="498554"/>
                    <a:pt x="679134" y="498554"/>
                  </a:cubicBezTo>
                  <a:cubicBezTo>
                    <a:pt x="956647" y="498554"/>
                    <a:pt x="1181615" y="723522"/>
                    <a:pt x="1181615" y="1001034"/>
                  </a:cubicBezTo>
                  <a:cubicBezTo>
                    <a:pt x="1181615" y="1278546"/>
                    <a:pt x="956647" y="1503514"/>
                    <a:pt x="679134" y="1503514"/>
                  </a:cubicBezTo>
                  <a:close/>
                  <a:moveTo>
                    <a:pt x="840084" y="1680168"/>
                  </a:moveTo>
                  <a:cubicBezTo>
                    <a:pt x="1304050" y="1680168"/>
                    <a:pt x="1680168" y="1304050"/>
                    <a:pt x="1680168" y="840084"/>
                  </a:cubicBezTo>
                  <a:lnTo>
                    <a:pt x="1680168" y="0"/>
                  </a:lnTo>
                  <a:lnTo>
                    <a:pt x="840084" y="0"/>
                  </a:lnTo>
                  <a:cubicBezTo>
                    <a:pt x="376118" y="0"/>
                    <a:pt x="0" y="376118"/>
                    <a:pt x="0" y="840084"/>
                  </a:cubicBezTo>
                  <a:cubicBezTo>
                    <a:pt x="0" y="1304050"/>
                    <a:pt x="376118" y="1680168"/>
                    <a:pt x="840084" y="1680168"/>
                  </a:cubicBezTo>
                  <a:close/>
                </a:path>
              </a:pathLst>
            </a:custGeom>
            <a:solidFill>
              <a:srgbClr val="65A5D9"/>
            </a:solidFill>
            <a:ln>
              <a:noFill/>
            </a:ln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5" name="泪滴形 38"/>
            <p:cNvSpPr/>
            <p:nvPr/>
          </p:nvSpPr>
          <p:spPr bwMode="auto">
            <a:xfrm>
              <a:off x="1198662" y="3762423"/>
              <a:ext cx="1979998" cy="1982589"/>
            </a:xfrm>
            <a:custGeom>
              <a:avLst/>
              <a:gdLst>
                <a:gd name="T0" fmla="*/ 811275 w 1879944"/>
                <a:gd name="T1" fmla="*/ 455670 h 1880638"/>
                <a:gd name="T2" fmla="*/ 198108 w 1879944"/>
                <a:gd name="T3" fmla="*/ 1069063 h 1880638"/>
                <a:gd name="T4" fmla="*/ 811275 w 1879944"/>
                <a:gd name="T5" fmla="*/ 1682456 h 1880638"/>
                <a:gd name="T6" fmla="*/ 1424442 w 1879944"/>
                <a:gd name="T7" fmla="*/ 1069063 h 1880638"/>
                <a:gd name="T8" fmla="*/ 811275 w 1879944"/>
                <a:gd name="T9" fmla="*/ 455670 h 1880638"/>
                <a:gd name="T10" fmla="*/ 939973 w 1879944"/>
                <a:gd name="T11" fmla="*/ 0 h 1880638"/>
                <a:gd name="T12" fmla="*/ 1879944 w 1879944"/>
                <a:gd name="T13" fmla="*/ 0 h 1880638"/>
                <a:gd name="T14" fmla="*/ 1879944 w 1879944"/>
                <a:gd name="T15" fmla="*/ 940319 h 1880638"/>
                <a:gd name="T16" fmla="*/ 939972 w 1879944"/>
                <a:gd name="T17" fmla="*/ 1880638 h 1880638"/>
                <a:gd name="T18" fmla="*/ 0 w 1879944"/>
                <a:gd name="T19" fmla="*/ 940319 h 1880638"/>
                <a:gd name="T20" fmla="*/ 1 w 1879944"/>
                <a:gd name="T21" fmla="*/ 940319 h 1880638"/>
                <a:gd name="T22" fmla="*/ 939973 w 1879944"/>
                <a:gd name="T23" fmla="*/ 0 h 18806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79944" h="1880638">
                  <a:moveTo>
                    <a:pt x="811275" y="455670"/>
                  </a:moveTo>
                  <a:cubicBezTo>
                    <a:pt x="472632" y="455670"/>
                    <a:pt x="198108" y="730295"/>
                    <a:pt x="198108" y="1069063"/>
                  </a:cubicBezTo>
                  <a:cubicBezTo>
                    <a:pt x="198108" y="1407831"/>
                    <a:pt x="472632" y="1682456"/>
                    <a:pt x="811275" y="1682456"/>
                  </a:cubicBezTo>
                  <a:cubicBezTo>
                    <a:pt x="1149918" y="1682456"/>
                    <a:pt x="1424442" y="1407831"/>
                    <a:pt x="1424442" y="1069063"/>
                  </a:cubicBezTo>
                  <a:cubicBezTo>
                    <a:pt x="1424442" y="730295"/>
                    <a:pt x="1149918" y="455670"/>
                    <a:pt x="811275" y="455670"/>
                  </a:cubicBezTo>
                  <a:close/>
                  <a:moveTo>
                    <a:pt x="939973" y="0"/>
                  </a:moveTo>
                  <a:lnTo>
                    <a:pt x="1879944" y="0"/>
                  </a:lnTo>
                  <a:lnTo>
                    <a:pt x="1879944" y="940319"/>
                  </a:lnTo>
                  <a:cubicBezTo>
                    <a:pt x="1879944" y="1459643"/>
                    <a:pt x="1459104" y="1880638"/>
                    <a:pt x="939972" y="1880638"/>
                  </a:cubicBezTo>
                  <a:cubicBezTo>
                    <a:pt x="420840" y="1880638"/>
                    <a:pt x="0" y="1459643"/>
                    <a:pt x="0" y="940319"/>
                  </a:cubicBezTo>
                  <a:lnTo>
                    <a:pt x="1" y="940319"/>
                  </a:lnTo>
                  <a:cubicBezTo>
                    <a:pt x="1" y="420995"/>
                    <a:pt x="420841" y="0"/>
                    <a:pt x="939973" y="0"/>
                  </a:cubicBezTo>
                  <a:close/>
                </a:path>
              </a:pathLst>
            </a:custGeom>
            <a:solidFill>
              <a:srgbClr val="6C4C8F"/>
            </a:solidFill>
            <a:ln>
              <a:noFill/>
            </a:ln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6" name="泪滴形 34"/>
            <p:cNvSpPr/>
            <p:nvPr/>
          </p:nvSpPr>
          <p:spPr bwMode="auto">
            <a:xfrm rot="16200000" flipH="1">
              <a:off x="3225097" y="1665671"/>
              <a:ext cx="2050317" cy="2050821"/>
            </a:xfrm>
            <a:custGeom>
              <a:avLst/>
              <a:gdLst>
                <a:gd name="T0" fmla="*/ 205247 w 1947680"/>
                <a:gd name="T1" fmla="*/ 1146936 h 1946960"/>
                <a:gd name="T2" fmla="*/ 800320 w 1947680"/>
                <a:gd name="T3" fmla="*/ 552082 h 1946960"/>
                <a:gd name="T4" fmla="*/ 1395393 w 1947680"/>
                <a:gd name="T5" fmla="*/ 1146936 h 1946960"/>
                <a:gd name="T6" fmla="*/ 800320 w 1947680"/>
                <a:gd name="T7" fmla="*/ 1741790 h 1946960"/>
                <a:gd name="T8" fmla="*/ 205247 w 1947680"/>
                <a:gd name="T9" fmla="*/ 1146936 h 1946960"/>
                <a:gd name="T10" fmla="*/ 0 w 1947680"/>
                <a:gd name="T11" fmla="*/ 973480 h 1946960"/>
                <a:gd name="T12" fmla="*/ 973840 w 1947680"/>
                <a:gd name="T13" fmla="*/ 1946960 h 1946960"/>
                <a:gd name="T14" fmla="*/ 1947680 w 1947680"/>
                <a:gd name="T15" fmla="*/ 973480 h 1946960"/>
                <a:gd name="T16" fmla="*/ 1947680 w 1947680"/>
                <a:gd name="T17" fmla="*/ 0 h 1946960"/>
                <a:gd name="T18" fmla="*/ 973841 w 1947680"/>
                <a:gd name="T19" fmla="*/ 0 h 1946960"/>
                <a:gd name="T20" fmla="*/ 1 w 1947680"/>
                <a:gd name="T21" fmla="*/ 973480 h 1946960"/>
                <a:gd name="T22" fmla="*/ 0 w 1947680"/>
                <a:gd name="T23" fmla="*/ 973480 h 19469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947680" h="1946960">
                  <a:moveTo>
                    <a:pt x="205247" y="1146936"/>
                  </a:moveTo>
                  <a:cubicBezTo>
                    <a:pt x="205247" y="818407"/>
                    <a:pt x="471670" y="552082"/>
                    <a:pt x="800320" y="552082"/>
                  </a:cubicBezTo>
                  <a:cubicBezTo>
                    <a:pt x="1128970" y="552082"/>
                    <a:pt x="1395393" y="818407"/>
                    <a:pt x="1395393" y="1146936"/>
                  </a:cubicBezTo>
                  <a:cubicBezTo>
                    <a:pt x="1395393" y="1475465"/>
                    <a:pt x="1128970" y="1741790"/>
                    <a:pt x="800320" y="1741790"/>
                  </a:cubicBezTo>
                  <a:cubicBezTo>
                    <a:pt x="471670" y="1741790"/>
                    <a:pt x="205247" y="1475465"/>
                    <a:pt x="205247" y="1146936"/>
                  </a:cubicBezTo>
                  <a:close/>
                  <a:moveTo>
                    <a:pt x="0" y="973480"/>
                  </a:moveTo>
                  <a:cubicBezTo>
                    <a:pt x="0" y="1511118"/>
                    <a:pt x="436003" y="1946960"/>
                    <a:pt x="973840" y="1946960"/>
                  </a:cubicBezTo>
                  <a:cubicBezTo>
                    <a:pt x="1511677" y="1946960"/>
                    <a:pt x="1947680" y="1511118"/>
                    <a:pt x="1947680" y="973480"/>
                  </a:cubicBezTo>
                  <a:lnTo>
                    <a:pt x="1947680" y="0"/>
                  </a:lnTo>
                  <a:lnTo>
                    <a:pt x="973841" y="0"/>
                  </a:lnTo>
                  <a:cubicBezTo>
                    <a:pt x="436004" y="0"/>
                    <a:pt x="1" y="435842"/>
                    <a:pt x="1" y="973480"/>
                  </a:cubicBezTo>
                  <a:lnTo>
                    <a:pt x="0" y="973480"/>
                  </a:lnTo>
                  <a:close/>
                </a:path>
              </a:pathLst>
            </a:custGeom>
            <a:solidFill>
              <a:srgbClr val="000000">
                <a:lumMod val="50000"/>
                <a:lumOff val="50000"/>
              </a:srgbClr>
            </a:solidFill>
            <a:ln>
              <a:noFill/>
            </a:ln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7" name="泪滴形 36"/>
            <p:cNvSpPr/>
            <p:nvPr/>
          </p:nvSpPr>
          <p:spPr bwMode="auto">
            <a:xfrm flipH="1">
              <a:off x="3224848" y="3762423"/>
              <a:ext cx="2260214" cy="2259659"/>
            </a:xfrm>
            <a:custGeom>
              <a:avLst/>
              <a:gdLst>
                <a:gd name="T0" fmla="*/ 875297 w 2146050"/>
                <a:gd name="T1" fmla="*/ 621837 h 2146844"/>
                <a:gd name="T2" fmla="*/ 1524443 w 2146050"/>
                <a:gd name="T3" fmla="*/ 1271223 h 2146844"/>
                <a:gd name="T4" fmla="*/ 875297 w 2146050"/>
                <a:gd name="T5" fmla="*/ 1920609 h 2146844"/>
                <a:gd name="T6" fmla="*/ 226151 w 2146050"/>
                <a:gd name="T7" fmla="*/ 1271223 h 2146844"/>
                <a:gd name="T8" fmla="*/ 875297 w 2146050"/>
                <a:gd name="T9" fmla="*/ 621837 h 2146844"/>
                <a:gd name="T10" fmla="*/ 2146050 w 2146050"/>
                <a:gd name="T11" fmla="*/ 0 h 2146844"/>
                <a:gd name="T12" fmla="*/ 1073025 w 2146050"/>
                <a:gd name="T13" fmla="*/ 0 h 2146844"/>
                <a:gd name="T14" fmla="*/ 0 w 2146050"/>
                <a:gd name="T15" fmla="*/ 1073422 h 2146844"/>
                <a:gd name="T16" fmla="*/ 1073025 w 2146050"/>
                <a:gd name="T17" fmla="*/ 2146844 h 2146844"/>
                <a:gd name="T18" fmla="*/ 2146050 w 2146050"/>
                <a:gd name="T19" fmla="*/ 1073422 h 2146844"/>
                <a:gd name="T20" fmla="*/ 2146050 w 2146050"/>
                <a:gd name="T21" fmla="*/ 0 h 21468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146050" h="2146844">
                  <a:moveTo>
                    <a:pt x="875297" y="621837"/>
                  </a:moveTo>
                  <a:cubicBezTo>
                    <a:pt x="1233810" y="621837"/>
                    <a:pt x="1524443" y="912577"/>
                    <a:pt x="1524443" y="1271223"/>
                  </a:cubicBezTo>
                  <a:cubicBezTo>
                    <a:pt x="1524443" y="1629869"/>
                    <a:pt x="1233810" y="1920609"/>
                    <a:pt x="875297" y="1920609"/>
                  </a:cubicBezTo>
                  <a:cubicBezTo>
                    <a:pt x="516784" y="1920609"/>
                    <a:pt x="226151" y="1629869"/>
                    <a:pt x="226151" y="1271223"/>
                  </a:cubicBezTo>
                  <a:cubicBezTo>
                    <a:pt x="226151" y="912577"/>
                    <a:pt x="516784" y="621837"/>
                    <a:pt x="875297" y="621837"/>
                  </a:cubicBezTo>
                  <a:close/>
                  <a:moveTo>
                    <a:pt x="2146050" y="0"/>
                  </a:moveTo>
                  <a:lnTo>
                    <a:pt x="1073025" y="0"/>
                  </a:lnTo>
                  <a:cubicBezTo>
                    <a:pt x="480410" y="0"/>
                    <a:pt x="0" y="480587"/>
                    <a:pt x="0" y="1073422"/>
                  </a:cubicBezTo>
                  <a:cubicBezTo>
                    <a:pt x="0" y="1666257"/>
                    <a:pt x="480410" y="2146844"/>
                    <a:pt x="1073025" y="2146844"/>
                  </a:cubicBezTo>
                  <a:cubicBezTo>
                    <a:pt x="1665640" y="2146844"/>
                    <a:pt x="2146050" y="1666257"/>
                    <a:pt x="2146050" y="1073422"/>
                  </a:cubicBezTo>
                  <a:lnTo>
                    <a:pt x="2146050" y="0"/>
                  </a:lnTo>
                  <a:close/>
                </a:path>
              </a:pathLst>
            </a:custGeom>
            <a:solidFill>
              <a:srgbClr val="9476B6"/>
            </a:solidFill>
            <a:ln>
              <a:noFill/>
            </a:ln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9476B6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31751" name="组合 16"/>
          <p:cNvGrpSpPr/>
          <p:nvPr/>
        </p:nvGrpSpPr>
        <p:grpSpPr>
          <a:xfrm>
            <a:off x="3352800" y="2276475"/>
            <a:ext cx="657225" cy="663575"/>
            <a:chOff x="4929188" y="1303338"/>
            <a:chExt cx="501650" cy="506412"/>
          </a:xfrm>
        </p:grpSpPr>
        <p:sp>
          <p:nvSpPr>
            <p:cNvPr id="39" name="Freeform 6"/>
            <p:cNvSpPr/>
            <p:nvPr/>
          </p:nvSpPr>
          <p:spPr bwMode="auto">
            <a:xfrm>
              <a:off x="4929188" y="1303338"/>
              <a:ext cx="501650" cy="506412"/>
            </a:xfrm>
            <a:custGeom>
              <a:avLst/>
              <a:gdLst>
                <a:gd name="T0" fmla="*/ 134 w 134"/>
                <a:gd name="T1" fmla="*/ 36 h 135"/>
                <a:gd name="T2" fmla="*/ 134 w 134"/>
                <a:gd name="T3" fmla="*/ 98 h 135"/>
                <a:gd name="T4" fmla="*/ 98 w 134"/>
                <a:gd name="T5" fmla="*/ 135 h 135"/>
                <a:gd name="T6" fmla="*/ 36 w 134"/>
                <a:gd name="T7" fmla="*/ 135 h 135"/>
                <a:gd name="T8" fmla="*/ 0 w 134"/>
                <a:gd name="T9" fmla="*/ 98 h 135"/>
                <a:gd name="T10" fmla="*/ 0 w 134"/>
                <a:gd name="T11" fmla="*/ 36 h 135"/>
                <a:gd name="T12" fmla="*/ 36 w 134"/>
                <a:gd name="T13" fmla="*/ 0 h 135"/>
                <a:gd name="T14" fmla="*/ 134 w 134"/>
                <a:gd name="T15" fmla="*/ 0 h 135"/>
                <a:gd name="T16" fmla="*/ 134 w 134"/>
                <a:gd name="T17" fmla="*/ 36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4" h="135">
                  <a:moveTo>
                    <a:pt x="134" y="36"/>
                  </a:moveTo>
                  <a:cubicBezTo>
                    <a:pt x="134" y="98"/>
                    <a:pt x="134" y="98"/>
                    <a:pt x="134" y="98"/>
                  </a:cubicBezTo>
                  <a:cubicBezTo>
                    <a:pt x="134" y="118"/>
                    <a:pt x="118" y="135"/>
                    <a:pt x="98" y="135"/>
                  </a:cubicBezTo>
                  <a:cubicBezTo>
                    <a:pt x="36" y="135"/>
                    <a:pt x="36" y="135"/>
                    <a:pt x="36" y="135"/>
                  </a:cubicBezTo>
                  <a:cubicBezTo>
                    <a:pt x="16" y="135"/>
                    <a:pt x="0" y="118"/>
                    <a:pt x="0" y="98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0" y="16"/>
                    <a:pt x="16" y="0"/>
                    <a:pt x="36" y="0"/>
                  </a:cubicBezTo>
                  <a:cubicBezTo>
                    <a:pt x="134" y="0"/>
                    <a:pt x="134" y="0"/>
                    <a:pt x="134" y="0"/>
                  </a:cubicBezTo>
                  <a:lnTo>
                    <a:pt x="134" y="36"/>
                  </a:lnTo>
                  <a:close/>
                </a:path>
              </a:pathLst>
            </a:custGeom>
            <a:solidFill>
              <a:srgbClr val="65A5D9"/>
            </a:solidFill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0" name="Freeform 7"/>
            <p:cNvSpPr/>
            <p:nvPr/>
          </p:nvSpPr>
          <p:spPr bwMode="auto">
            <a:xfrm>
              <a:off x="4995833" y="1359068"/>
              <a:ext cx="371996" cy="205957"/>
            </a:xfrm>
            <a:custGeom>
              <a:avLst/>
              <a:gdLst>
                <a:gd name="T0" fmla="*/ 97 w 99"/>
                <a:gd name="T1" fmla="*/ 44 h 55"/>
                <a:gd name="T2" fmla="*/ 50 w 99"/>
                <a:gd name="T3" fmla="*/ 0 h 55"/>
                <a:gd name="T4" fmla="*/ 3 w 99"/>
                <a:gd name="T5" fmla="*/ 44 h 55"/>
                <a:gd name="T6" fmla="*/ 3 w 99"/>
                <a:gd name="T7" fmla="*/ 53 h 55"/>
                <a:gd name="T8" fmla="*/ 8 w 99"/>
                <a:gd name="T9" fmla="*/ 55 h 55"/>
                <a:gd name="T10" fmla="*/ 12 w 99"/>
                <a:gd name="T11" fmla="*/ 53 h 55"/>
                <a:gd name="T12" fmla="*/ 50 w 99"/>
                <a:gd name="T13" fmla="*/ 18 h 55"/>
                <a:gd name="T14" fmla="*/ 87 w 99"/>
                <a:gd name="T15" fmla="*/ 53 h 55"/>
                <a:gd name="T16" fmla="*/ 92 w 99"/>
                <a:gd name="T17" fmla="*/ 55 h 55"/>
                <a:gd name="T18" fmla="*/ 97 w 99"/>
                <a:gd name="T19" fmla="*/ 53 h 55"/>
                <a:gd name="T20" fmla="*/ 97 w 99"/>
                <a:gd name="T21" fmla="*/ 44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9" h="55">
                  <a:moveTo>
                    <a:pt x="97" y="44"/>
                  </a:moveTo>
                  <a:cubicBezTo>
                    <a:pt x="50" y="0"/>
                    <a:pt x="50" y="0"/>
                    <a:pt x="50" y="0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1" y="46"/>
                    <a:pt x="0" y="50"/>
                    <a:pt x="3" y="53"/>
                  </a:cubicBezTo>
                  <a:cubicBezTo>
                    <a:pt x="4" y="54"/>
                    <a:pt x="6" y="55"/>
                    <a:pt x="8" y="55"/>
                  </a:cubicBezTo>
                  <a:cubicBezTo>
                    <a:pt x="9" y="55"/>
                    <a:pt x="11" y="54"/>
                    <a:pt x="12" y="53"/>
                  </a:cubicBezTo>
                  <a:cubicBezTo>
                    <a:pt x="50" y="18"/>
                    <a:pt x="50" y="18"/>
                    <a:pt x="50" y="18"/>
                  </a:cubicBezTo>
                  <a:cubicBezTo>
                    <a:pt x="87" y="53"/>
                    <a:pt x="87" y="53"/>
                    <a:pt x="87" y="53"/>
                  </a:cubicBezTo>
                  <a:cubicBezTo>
                    <a:pt x="89" y="54"/>
                    <a:pt x="90" y="55"/>
                    <a:pt x="92" y="55"/>
                  </a:cubicBezTo>
                  <a:cubicBezTo>
                    <a:pt x="94" y="55"/>
                    <a:pt x="96" y="54"/>
                    <a:pt x="97" y="53"/>
                  </a:cubicBezTo>
                  <a:cubicBezTo>
                    <a:pt x="99" y="50"/>
                    <a:pt x="99" y="46"/>
                    <a:pt x="97" y="44"/>
                  </a:cubicBezTo>
                  <a:close/>
                </a:path>
              </a:pathLst>
            </a:custGeom>
            <a:solidFill>
              <a:srgbClr val="ECECEB"/>
            </a:solidFill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1" name="Freeform 8"/>
            <p:cNvSpPr/>
            <p:nvPr/>
          </p:nvSpPr>
          <p:spPr bwMode="auto">
            <a:xfrm>
              <a:off x="5056418" y="1446296"/>
              <a:ext cx="255671" cy="265322"/>
            </a:xfrm>
            <a:custGeom>
              <a:avLst/>
              <a:gdLst>
                <a:gd name="T0" fmla="*/ 0 w 68"/>
                <a:gd name="T1" fmla="*/ 32 h 71"/>
                <a:gd name="T2" fmla="*/ 0 w 68"/>
                <a:gd name="T3" fmla="*/ 68 h 71"/>
                <a:gd name="T4" fmla="*/ 5 w 68"/>
                <a:gd name="T5" fmla="*/ 71 h 71"/>
                <a:gd name="T6" fmla="*/ 22 w 68"/>
                <a:gd name="T7" fmla="*/ 71 h 71"/>
                <a:gd name="T8" fmla="*/ 22 w 68"/>
                <a:gd name="T9" fmla="*/ 44 h 71"/>
                <a:gd name="T10" fmla="*/ 46 w 68"/>
                <a:gd name="T11" fmla="*/ 44 h 71"/>
                <a:gd name="T12" fmla="*/ 46 w 68"/>
                <a:gd name="T13" fmla="*/ 71 h 71"/>
                <a:gd name="T14" fmla="*/ 63 w 68"/>
                <a:gd name="T15" fmla="*/ 71 h 71"/>
                <a:gd name="T16" fmla="*/ 68 w 68"/>
                <a:gd name="T17" fmla="*/ 68 h 71"/>
                <a:gd name="T18" fmla="*/ 68 w 68"/>
                <a:gd name="T19" fmla="*/ 32 h 71"/>
                <a:gd name="T20" fmla="*/ 34 w 68"/>
                <a:gd name="T21" fmla="*/ 0 h 71"/>
                <a:gd name="T22" fmla="*/ 0 w 68"/>
                <a:gd name="T23" fmla="*/ 32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8" h="71">
                  <a:moveTo>
                    <a:pt x="0" y="32"/>
                  </a:moveTo>
                  <a:cubicBezTo>
                    <a:pt x="0" y="68"/>
                    <a:pt x="0" y="68"/>
                    <a:pt x="0" y="68"/>
                  </a:cubicBezTo>
                  <a:cubicBezTo>
                    <a:pt x="0" y="70"/>
                    <a:pt x="2" y="71"/>
                    <a:pt x="5" y="71"/>
                  </a:cubicBezTo>
                  <a:cubicBezTo>
                    <a:pt x="22" y="71"/>
                    <a:pt x="22" y="71"/>
                    <a:pt x="22" y="71"/>
                  </a:cubicBezTo>
                  <a:cubicBezTo>
                    <a:pt x="22" y="44"/>
                    <a:pt x="22" y="44"/>
                    <a:pt x="22" y="44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46" y="71"/>
                    <a:pt x="46" y="71"/>
                    <a:pt x="46" y="71"/>
                  </a:cubicBezTo>
                  <a:cubicBezTo>
                    <a:pt x="63" y="71"/>
                    <a:pt x="63" y="71"/>
                    <a:pt x="63" y="71"/>
                  </a:cubicBezTo>
                  <a:cubicBezTo>
                    <a:pt x="66" y="71"/>
                    <a:pt x="68" y="70"/>
                    <a:pt x="68" y="68"/>
                  </a:cubicBezTo>
                  <a:cubicBezTo>
                    <a:pt x="68" y="32"/>
                    <a:pt x="68" y="32"/>
                    <a:pt x="68" y="32"/>
                  </a:cubicBezTo>
                  <a:cubicBezTo>
                    <a:pt x="34" y="0"/>
                    <a:pt x="34" y="0"/>
                    <a:pt x="34" y="0"/>
                  </a:cubicBezTo>
                  <a:lnTo>
                    <a:pt x="0" y="32"/>
                  </a:lnTo>
                  <a:close/>
                </a:path>
              </a:pathLst>
            </a:custGeom>
            <a:solidFill>
              <a:srgbClr val="ECECEB"/>
            </a:solidFill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31755" name="组合 20"/>
          <p:cNvGrpSpPr/>
          <p:nvPr/>
        </p:nvGrpSpPr>
        <p:grpSpPr>
          <a:xfrm>
            <a:off x="3346450" y="3847133"/>
            <a:ext cx="663575" cy="661987"/>
            <a:chOff x="1339850" y="2163763"/>
            <a:chExt cx="506413" cy="506412"/>
          </a:xfrm>
        </p:grpSpPr>
        <p:sp>
          <p:nvSpPr>
            <p:cNvPr id="43" name="Freeform 13"/>
            <p:cNvSpPr/>
            <p:nvPr/>
          </p:nvSpPr>
          <p:spPr bwMode="auto">
            <a:xfrm>
              <a:off x="1339850" y="2163763"/>
              <a:ext cx="506413" cy="506412"/>
            </a:xfrm>
            <a:custGeom>
              <a:avLst/>
              <a:gdLst>
                <a:gd name="T0" fmla="*/ 135 w 135"/>
                <a:gd name="T1" fmla="*/ 36 h 135"/>
                <a:gd name="T2" fmla="*/ 135 w 135"/>
                <a:gd name="T3" fmla="*/ 98 h 135"/>
                <a:gd name="T4" fmla="*/ 98 w 135"/>
                <a:gd name="T5" fmla="*/ 135 h 135"/>
                <a:gd name="T6" fmla="*/ 37 w 135"/>
                <a:gd name="T7" fmla="*/ 135 h 135"/>
                <a:gd name="T8" fmla="*/ 0 w 135"/>
                <a:gd name="T9" fmla="*/ 98 h 135"/>
                <a:gd name="T10" fmla="*/ 0 w 135"/>
                <a:gd name="T11" fmla="*/ 36 h 135"/>
                <a:gd name="T12" fmla="*/ 37 w 135"/>
                <a:gd name="T13" fmla="*/ 0 h 135"/>
                <a:gd name="T14" fmla="*/ 135 w 135"/>
                <a:gd name="T15" fmla="*/ 0 h 135"/>
                <a:gd name="T16" fmla="*/ 135 w 135"/>
                <a:gd name="T17" fmla="*/ 36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5" h="135">
                  <a:moveTo>
                    <a:pt x="135" y="36"/>
                  </a:moveTo>
                  <a:cubicBezTo>
                    <a:pt x="135" y="98"/>
                    <a:pt x="135" y="98"/>
                    <a:pt x="135" y="98"/>
                  </a:cubicBezTo>
                  <a:cubicBezTo>
                    <a:pt x="135" y="118"/>
                    <a:pt x="118" y="135"/>
                    <a:pt x="98" y="135"/>
                  </a:cubicBezTo>
                  <a:cubicBezTo>
                    <a:pt x="37" y="135"/>
                    <a:pt x="37" y="135"/>
                    <a:pt x="37" y="135"/>
                  </a:cubicBezTo>
                  <a:cubicBezTo>
                    <a:pt x="16" y="135"/>
                    <a:pt x="0" y="118"/>
                    <a:pt x="0" y="98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0" y="16"/>
                    <a:pt x="16" y="0"/>
                    <a:pt x="37" y="0"/>
                  </a:cubicBezTo>
                  <a:cubicBezTo>
                    <a:pt x="135" y="0"/>
                    <a:pt x="135" y="0"/>
                    <a:pt x="135" y="0"/>
                  </a:cubicBezTo>
                  <a:lnTo>
                    <a:pt x="135" y="36"/>
                  </a:lnTo>
                  <a:close/>
                </a:path>
              </a:pathLst>
            </a:custGeom>
            <a:solidFill>
              <a:srgbClr val="000000">
                <a:lumMod val="50000"/>
                <a:lumOff val="50000"/>
              </a:srgbClr>
            </a:solidFill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4" name="Freeform 14"/>
            <p:cNvSpPr/>
            <p:nvPr/>
          </p:nvSpPr>
          <p:spPr bwMode="auto">
            <a:xfrm>
              <a:off x="1499770" y="2276704"/>
              <a:ext cx="176881" cy="104440"/>
            </a:xfrm>
            <a:custGeom>
              <a:avLst/>
              <a:gdLst>
                <a:gd name="T0" fmla="*/ 111 w 111"/>
                <a:gd name="T1" fmla="*/ 0 h 66"/>
                <a:gd name="T2" fmla="*/ 55 w 111"/>
                <a:gd name="T3" fmla="*/ 0 h 66"/>
                <a:gd name="T4" fmla="*/ 55 w 111"/>
                <a:gd name="T5" fmla="*/ 54 h 66"/>
                <a:gd name="T6" fmla="*/ 14 w 111"/>
                <a:gd name="T7" fmla="*/ 54 h 66"/>
                <a:gd name="T8" fmla="*/ 14 w 111"/>
                <a:gd name="T9" fmla="*/ 0 h 66"/>
                <a:gd name="T10" fmla="*/ 0 w 111"/>
                <a:gd name="T11" fmla="*/ 0 h 66"/>
                <a:gd name="T12" fmla="*/ 0 w 111"/>
                <a:gd name="T13" fmla="*/ 66 h 66"/>
                <a:gd name="T14" fmla="*/ 111 w 111"/>
                <a:gd name="T15" fmla="*/ 66 h 66"/>
                <a:gd name="T16" fmla="*/ 111 w 111"/>
                <a:gd name="T17" fmla="*/ 0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1" h="66">
                  <a:moveTo>
                    <a:pt x="111" y="0"/>
                  </a:moveTo>
                  <a:lnTo>
                    <a:pt x="55" y="0"/>
                  </a:lnTo>
                  <a:lnTo>
                    <a:pt x="55" y="54"/>
                  </a:lnTo>
                  <a:lnTo>
                    <a:pt x="14" y="54"/>
                  </a:lnTo>
                  <a:lnTo>
                    <a:pt x="14" y="0"/>
                  </a:lnTo>
                  <a:lnTo>
                    <a:pt x="0" y="0"/>
                  </a:lnTo>
                  <a:lnTo>
                    <a:pt x="0" y="66"/>
                  </a:lnTo>
                  <a:lnTo>
                    <a:pt x="111" y="66"/>
                  </a:lnTo>
                  <a:lnTo>
                    <a:pt x="111" y="0"/>
                  </a:lnTo>
                  <a:close/>
                </a:path>
              </a:pathLst>
            </a:custGeom>
            <a:solidFill>
              <a:srgbClr val="ECECEB"/>
            </a:solidFill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5" name="Freeform 15"/>
            <p:cNvSpPr>
              <a:spLocks noEditPoints="1"/>
            </p:cNvSpPr>
            <p:nvPr/>
          </p:nvSpPr>
          <p:spPr bwMode="auto">
            <a:xfrm>
              <a:off x="1447675" y="2276704"/>
              <a:ext cx="289552" cy="278102"/>
            </a:xfrm>
            <a:custGeom>
              <a:avLst/>
              <a:gdLst>
                <a:gd name="T0" fmla="*/ 72 w 77"/>
                <a:gd name="T1" fmla="*/ 0 h 74"/>
                <a:gd name="T2" fmla="*/ 64 w 77"/>
                <a:gd name="T3" fmla="*/ 0 h 74"/>
                <a:gd name="T4" fmla="*/ 64 w 77"/>
                <a:gd name="T5" fmla="*/ 31 h 74"/>
                <a:gd name="T6" fmla="*/ 10 w 77"/>
                <a:gd name="T7" fmla="*/ 31 h 74"/>
                <a:gd name="T8" fmla="*/ 10 w 77"/>
                <a:gd name="T9" fmla="*/ 0 h 74"/>
                <a:gd name="T10" fmla="*/ 5 w 77"/>
                <a:gd name="T11" fmla="*/ 0 h 74"/>
                <a:gd name="T12" fmla="*/ 0 w 77"/>
                <a:gd name="T13" fmla="*/ 6 h 74"/>
                <a:gd name="T14" fmla="*/ 0 w 77"/>
                <a:gd name="T15" fmla="*/ 68 h 74"/>
                <a:gd name="T16" fmla="*/ 5 w 77"/>
                <a:gd name="T17" fmla="*/ 74 h 74"/>
                <a:gd name="T18" fmla="*/ 72 w 77"/>
                <a:gd name="T19" fmla="*/ 74 h 74"/>
                <a:gd name="T20" fmla="*/ 77 w 77"/>
                <a:gd name="T21" fmla="*/ 68 h 74"/>
                <a:gd name="T22" fmla="*/ 77 w 77"/>
                <a:gd name="T23" fmla="*/ 6 h 74"/>
                <a:gd name="T24" fmla="*/ 72 w 77"/>
                <a:gd name="T25" fmla="*/ 0 h 74"/>
                <a:gd name="T26" fmla="*/ 38 w 77"/>
                <a:gd name="T27" fmla="*/ 65 h 74"/>
                <a:gd name="T28" fmla="*/ 22 w 77"/>
                <a:gd name="T29" fmla="*/ 49 h 74"/>
                <a:gd name="T30" fmla="*/ 38 w 77"/>
                <a:gd name="T31" fmla="*/ 33 h 74"/>
                <a:gd name="T32" fmla="*/ 54 w 77"/>
                <a:gd name="T33" fmla="*/ 49 h 74"/>
                <a:gd name="T34" fmla="*/ 38 w 77"/>
                <a:gd name="T35" fmla="*/ 65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77" h="74">
                  <a:moveTo>
                    <a:pt x="72" y="0"/>
                  </a:moveTo>
                  <a:cubicBezTo>
                    <a:pt x="64" y="0"/>
                    <a:pt x="64" y="0"/>
                    <a:pt x="64" y="0"/>
                  </a:cubicBezTo>
                  <a:cubicBezTo>
                    <a:pt x="64" y="31"/>
                    <a:pt x="64" y="31"/>
                    <a:pt x="64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" y="0"/>
                    <a:pt x="0" y="3"/>
                    <a:pt x="0" y="6"/>
                  </a:cubicBezTo>
                  <a:cubicBezTo>
                    <a:pt x="0" y="68"/>
                    <a:pt x="0" y="68"/>
                    <a:pt x="0" y="68"/>
                  </a:cubicBezTo>
                  <a:cubicBezTo>
                    <a:pt x="0" y="72"/>
                    <a:pt x="2" y="74"/>
                    <a:pt x="5" y="74"/>
                  </a:cubicBezTo>
                  <a:cubicBezTo>
                    <a:pt x="72" y="74"/>
                    <a:pt x="72" y="74"/>
                    <a:pt x="72" y="74"/>
                  </a:cubicBezTo>
                  <a:cubicBezTo>
                    <a:pt x="75" y="74"/>
                    <a:pt x="77" y="72"/>
                    <a:pt x="77" y="68"/>
                  </a:cubicBezTo>
                  <a:cubicBezTo>
                    <a:pt x="77" y="6"/>
                    <a:pt x="77" y="6"/>
                    <a:pt x="77" y="6"/>
                  </a:cubicBezTo>
                  <a:cubicBezTo>
                    <a:pt x="77" y="3"/>
                    <a:pt x="75" y="0"/>
                    <a:pt x="72" y="0"/>
                  </a:cubicBezTo>
                  <a:close/>
                  <a:moveTo>
                    <a:pt x="38" y="65"/>
                  </a:moveTo>
                  <a:cubicBezTo>
                    <a:pt x="29" y="65"/>
                    <a:pt x="22" y="58"/>
                    <a:pt x="22" y="49"/>
                  </a:cubicBezTo>
                  <a:cubicBezTo>
                    <a:pt x="22" y="40"/>
                    <a:pt x="29" y="33"/>
                    <a:pt x="38" y="33"/>
                  </a:cubicBezTo>
                  <a:cubicBezTo>
                    <a:pt x="46" y="33"/>
                    <a:pt x="54" y="40"/>
                    <a:pt x="54" y="49"/>
                  </a:cubicBezTo>
                  <a:cubicBezTo>
                    <a:pt x="54" y="58"/>
                    <a:pt x="46" y="65"/>
                    <a:pt x="38" y="65"/>
                  </a:cubicBezTo>
                  <a:close/>
                </a:path>
              </a:pathLst>
            </a:custGeom>
            <a:solidFill>
              <a:srgbClr val="ECECEB"/>
            </a:solidFill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6" name="Oval 16"/>
            <p:cNvSpPr>
              <a:spLocks noChangeArrowheads="1"/>
            </p:cNvSpPr>
            <p:nvPr/>
          </p:nvSpPr>
          <p:spPr bwMode="auto">
            <a:xfrm>
              <a:off x="1549442" y="2418791"/>
              <a:ext cx="82383" cy="82580"/>
            </a:xfrm>
            <a:prstGeom prst="ellipse">
              <a:avLst/>
            </a:prstGeom>
            <a:solidFill>
              <a:srgbClr val="ECECEB"/>
            </a:solidFill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23559" name="Text Box 11"/>
          <p:cNvSpPr txBox="1">
            <a:spLocks noChangeArrowheads="1"/>
          </p:cNvSpPr>
          <p:nvPr/>
        </p:nvSpPr>
        <p:spPr bwMode="auto">
          <a:xfrm>
            <a:off x="4198938" y="2346325"/>
            <a:ext cx="4117975" cy="46196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lnSpc>
                <a:spcPct val="130000"/>
              </a:lnSpc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一、顺序查找（线性查找）</a:t>
            </a:r>
          </a:p>
        </p:txBody>
      </p:sp>
      <p:sp>
        <p:nvSpPr>
          <p:cNvPr id="23560" name="Text Box 11"/>
          <p:cNvSpPr txBox="1">
            <a:spLocks noChangeArrowheads="1"/>
          </p:cNvSpPr>
          <p:nvPr/>
        </p:nvSpPr>
        <p:spPr bwMode="auto">
          <a:xfrm>
            <a:off x="4198938" y="3916983"/>
            <a:ext cx="4549775" cy="46196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lnSpc>
                <a:spcPct val="130000"/>
              </a:lnSpc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二、折半查找（二分或折半查找）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4"/>
          <p:cNvSpPr>
            <a:spLocks noChangeArrowheads="1"/>
          </p:cNvSpPr>
          <p:nvPr/>
        </p:nvSpPr>
        <p:spPr bwMode="auto">
          <a:xfrm>
            <a:off x="933450" y="201613"/>
            <a:ext cx="3092450" cy="51593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顺序查找</a:t>
            </a:r>
          </a:p>
        </p:txBody>
      </p:sp>
      <p:sp>
        <p:nvSpPr>
          <p:cNvPr id="17412" name="Rectangle 41"/>
          <p:cNvSpPr>
            <a:spLocks noChangeArrowheads="1"/>
          </p:cNvSpPr>
          <p:nvPr/>
        </p:nvSpPr>
        <p:spPr bwMode="auto">
          <a:xfrm>
            <a:off x="0" y="1676400"/>
            <a:ext cx="4787900" cy="3427413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9pPr>
          </a:lstStyle>
          <a:p>
            <a:pPr marL="0" marR="0" lvl="3" indent="0" algn="l" defTabSz="914400" rtl="0" eaLnBrk="0" fontAlgn="base" latinLnBrk="0" hangingPunct="0">
              <a:lnSpc>
                <a:spcPct val="125000"/>
              </a:lnSpc>
              <a:spcBef>
                <a:spcPts val="2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应用范围：</a:t>
            </a:r>
          </a:p>
          <a:p>
            <a:pPr marL="0" marR="0" lvl="3" indent="0" algn="l" defTabSz="914400" rtl="0" eaLnBrk="0" fontAlgn="base" latinLnBrk="0" hangingPunct="0">
              <a:lnSpc>
                <a:spcPct val="125000"/>
              </a:lnSpc>
              <a:spcBef>
                <a:spcPts val="2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顺序表或线性链表表示的静态查找表</a:t>
            </a:r>
          </a:p>
          <a:p>
            <a:pPr marL="0" marR="0" lvl="3" indent="0" algn="l" defTabSz="914400" rtl="0" eaLnBrk="0" fontAlgn="base" latinLnBrk="0" hangingPunct="0">
              <a:lnSpc>
                <a:spcPct val="125000"/>
              </a:lnSpc>
              <a:spcBef>
                <a:spcPts val="2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表内元素之间无序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3" indent="0" algn="l" defTabSz="914400" rtl="0" eaLnBrk="0" fontAlgn="base" latinLnBrk="0" hangingPunct="0">
              <a:lnSpc>
                <a:spcPct val="125000"/>
              </a:lnSpc>
              <a:spcBef>
                <a:spcPts val="2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3" indent="0" algn="l" defTabSz="914400" rtl="0" eaLnBrk="0" fontAlgn="base" latinLnBrk="0" hangingPunct="0">
              <a:lnSpc>
                <a:spcPct val="125000"/>
              </a:lnSpc>
              <a:spcBef>
                <a:spcPts val="2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3" name="矩形 12"/>
          <p:cNvSpPr/>
          <p:nvPr/>
        </p:nvSpPr>
        <p:spPr bwMode="auto">
          <a:xfrm>
            <a:off x="4932363" y="1671638"/>
            <a:ext cx="4211638" cy="3432175"/>
          </a:xfrm>
          <a:prstGeom prst="rect">
            <a:avLst/>
          </a:prstGeom>
          <a:solidFill>
            <a:srgbClr val="6C4C8F">
              <a:lumMod val="20000"/>
              <a:lumOff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6" name="Shape 26"/>
          <p:cNvSpPr/>
          <p:nvPr/>
        </p:nvSpPr>
        <p:spPr>
          <a:xfrm flipH="1">
            <a:off x="0" y="5607050"/>
            <a:ext cx="9140825" cy="12509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120000"/>
                </a:moveTo>
                <a:lnTo>
                  <a:pt x="0" y="102222"/>
                </a:lnTo>
                <a:lnTo>
                  <a:pt x="583" y="102222"/>
                </a:lnTo>
                <a:lnTo>
                  <a:pt x="583" y="89777"/>
                </a:lnTo>
                <a:lnTo>
                  <a:pt x="4166" y="89777"/>
                </a:lnTo>
                <a:lnTo>
                  <a:pt x="4166" y="79111"/>
                </a:lnTo>
                <a:lnTo>
                  <a:pt x="6416" y="79111"/>
                </a:lnTo>
                <a:lnTo>
                  <a:pt x="6416" y="91111"/>
                </a:lnTo>
                <a:lnTo>
                  <a:pt x="7625" y="91111"/>
                </a:lnTo>
                <a:lnTo>
                  <a:pt x="7625" y="79111"/>
                </a:lnTo>
                <a:lnTo>
                  <a:pt x="8958" y="79111"/>
                </a:lnTo>
                <a:lnTo>
                  <a:pt x="8958" y="45333"/>
                </a:lnTo>
                <a:lnTo>
                  <a:pt x="9541" y="45333"/>
                </a:lnTo>
                <a:lnTo>
                  <a:pt x="9541" y="39111"/>
                </a:lnTo>
                <a:lnTo>
                  <a:pt x="10958" y="39111"/>
                </a:lnTo>
                <a:lnTo>
                  <a:pt x="10958" y="45333"/>
                </a:lnTo>
                <a:lnTo>
                  <a:pt x="11583" y="45333"/>
                </a:lnTo>
                <a:lnTo>
                  <a:pt x="11583" y="76000"/>
                </a:lnTo>
                <a:lnTo>
                  <a:pt x="12083" y="76000"/>
                </a:lnTo>
                <a:lnTo>
                  <a:pt x="12083" y="95555"/>
                </a:lnTo>
                <a:lnTo>
                  <a:pt x="13250" y="95555"/>
                </a:lnTo>
                <a:lnTo>
                  <a:pt x="13250" y="60000"/>
                </a:lnTo>
                <a:lnTo>
                  <a:pt x="14041" y="60000"/>
                </a:lnTo>
                <a:lnTo>
                  <a:pt x="14041" y="45333"/>
                </a:lnTo>
                <a:lnTo>
                  <a:pt x="14583" y="45333"/>
                </a:lnTo>
                <a:lnTo>
                  <a:pt x="14583" y="27555"/>
                </a:lnTo>
                <a:lnTo>
                  <a:pt x="14958" y="27555"/>
                </a:lnTo>
                <a:lnTo>
                  <a:pt x="14958" y="14222"/>
                </a:lnTo>
                <a:lnTo>
                  <a:pt x="15333" y="14222"/>
                </a:lnTo>
                <a:lnTo>
                  <a:pt x="15333" y="0"/>
                </a:lnTo>
                <a:lnTo>
                  <a:pt x="15958" y="0"/>
                </a:lnTo>
                <a:lnTo>
                  <a:pt x="15958" y="13777"/>
                </a:lnTo>
                <a:lnTo>
                  <a:pt x="16416" y="13777"/>
                </a:lnTo>
                <a:lnTo>
                  <a:pt x="16416" y="24888"/>
                </a:lnTo>
                <a:lnTo>
                  <a:pt x="16791" y="24888"/>
                </a:lnTo>
                <a:lnTo>
                  <a:pt x="16791" y="46222"/>
                </a:lnTo>
                <a:lnTo>
                  <a:pt x="17333" y="46222"/>
                </a:lnTo>
                <a:lnTo>
                  <a:pt x="17333" y="61333"/>
                </a:lnTo>
                <a:lnTo>
                  <a:pt x="17916" y="61333"/>
                </a:lnTo>
                <a:lnTo>
                  <a:pt x="17916" y="101333"/>
                </a:lnTo>
                <a:lnTo>
                  <a:pt x="18875" y="101333"/>
                </a:lnTo>
                <a:lnTo>
                  <a:pt x="18875" y="92000"/>
                </a:lnTo>
                <a:lnTo>
                  <a:pt x="20958" y="92000"/>
                </a:lnTo>
                <a:lnTo>
                  <a:pt x="20958" y="96444"/>
                </a:lnTo>
                <a:lnTo>
                  <a:pt x="21750" y="96444"/>
                </a:lnTo>
                <a:lnTo>
                  <a:pt x="21750" y="54666"/>
                </a:lnTo>
                <a:lnTo>
                  <a:pt x="22333" y="54666"/>
                </a:lnTo>
                <a:lnTo>
                  <a:pt x="22333" y="42666"/>
                </a:lnTo>
                <a:lnTo>
                  <a:pt x="24166" y="42666"/>
                </a:lnTo>
                <a:lnTo>
                  <a:pt x="24166" y="53777"/>
                </a:lnTo>
                <a:lnTo>
                  <a:pt x="24583" y="56888"/>
                </a:lnTo>
                <a:lnTo>
                  <a:pt x="24583" y="85777"/>
                </a:lnTo>
                <a:lnTo>
                  <a:pt x="25291" y="85777"/>
                </a:lnTo>
                <a:lnTo>
                  <a:pt x="25291" y="79555"/>
                </a:lnTo>
                <a:lnTo>
                  <a:pt x="27125" y="79555"/>
                </a:lnTo>
                <a:lnTo>
                  <a:pt x="27125" y="86222"/>
                </a:lnTo>
                <a:lnTo>
                  <a:pt x="28208" y="86222"/>
                </a:lnTo>
                <a:lnTo>
                  <a:pt x="28208" y="92000"/>
                </a:lnTo>
                <a:lnTo>
                  <a:pt x="29416" y="92000"/>
                </a:lnTo>
                <a:lnTo>
                  <a:pt x="29416" y="83555"/>
                </a:lnTo>
                <a:lnTo>
                  <a:pt x="30250" y="83555"/>
                </a:lnTo>
                <a:lnTo>
                  <a:pt x="30250" y="65777"/>
                </a:lnTo>
                <a:lnTo>
                  <a:pt x="35041" y="65777"/>
                </a:lnTo>
                <a:lnTo>
                  <a:pt x="35041" y="83555"/>
                </a:lnTo>
                <a:lnTo>
                  <a:pt x="35875" y="83555"/>
                </a:lnTo>
                <a:lnTo>
                  <a:pt x="35875" y="65777"/>
                </a:lnTo>
                <a:lnTo>
                  <a:pt x="39916" y="65777"/>
                </a:lnTo>
                <a:lnTo>
                  <a:pt x="39916" y="72888"/>
                </a:lnTo>
                <a:lnTo>
                  <a:pt x="41041" y="72888"/>
                </a:lnTo>
                <a:lnTo>
                  <a:pt x="41041" y="99555"/>
                </a:lnTo>
                <a:lnTo>
                  <a:pt x="42583" y="99555"/>
                </a:lnTo>
                <a:lnTo>
                  <a:pt x="42583" y="76888"/>
                </a:lnTo>
                <a:lnTo>
                  <a:pt x="45250" y="56000"/>
                </a:lnTo>
                <a:lnTo>
                  <a:pt x="47875" y="76888"/>
                </a:lnTo>
                <a:lnTo>
                  <a:pt x="47875" y="88888"/>
                </a:lnTo>
                <a:lnTo>
                  <a:pt x="48666" y="88888"/>
                </a:lnTo>
                <a:lnTo>
                  <a:pt x="48666" y="104000"/>
                </a:lnTo>
                <a:lnTo>
                  <a:pt x="49208" y="104000"/>
                </a:lnTo>
                <a:lnTo>
                  <a:pt x="49208" y="73333"/>
                </a:lnTo>
                <a:lnTo>
                  <a:pt x="51500" y="73333"/>
                </a:lnTo>
                <a:lnTo>
                  <a:pt x="51500" y="85777"/>
                </a:lnTo>
                <a:lnTo>
                  <a:pt x="53708" y="85777"/>
                </a:lnTo>
                <a:lnTo>
                  <a:pt x="53708" y="94666"/>
                </a:lnTo>
                <a:lnTo>
                  <a:pt x="54500" y="94666"/>
                </a:lnTo>
                <a:lnTo>
                  <a:pt x="54500" y="85777"/>
                </a:lnTo>
                <a:lnTo>
                  <a:pt x="57125" y="85777"/>
                </a:lnTo>
                <a:lnTo>
                  <a:pt x="57125" y="102222"/>
                </a:lnTo>
                <a:lnTo>
                  <a:pt x="57625" y="102222"/>
                </a:lnTo>
                <a:lnTo>
                  <a:pt x="57625" y="104888"/>
                </a:lnTo>
                <a:lnTo>
                  <a:pt x="58875" y="104888"/>
                </a:lnTo>
                <a:lnTo>
                  <a:pt x="58875" y="94222"/>
                </a:lnTo>
                <a:lnTo>
                  <a:pt x="61666" y="94222"/>
                </a:lnTo>
                <a:lnTo>
                  <a:pt x="61666" y="89777"/>
                </a:lnTo>
                <a:lnTo>
                  <a:pt x="62250" y="89777"/>
                </a:lnTo>
                <a:lnTo>
                  <a:pt x="62250" y="84000"/>
                </a:lnTo>
                <a:lnTo>
                  <a:pt x="62833" y="84000"/>
                </a:lnTo>
                <a:lnTo>
                  <a:pt x="62833" y="88888"/>
                </a:lnTo>
                <a:lnTo>
                  <a:pt x="63500" y="88888"/>
                </a:lnTo>
                <a:lnTo>
                  <a:pt x="63500" y="83111"/>
                </a:lnTo>
                <a:lnTo>
                  <a:pt x="64999" y="83111"/>
                </a:lnTo>
                <a:lnTo>
                  <a:pt x="64999" y="88444"/>
                </a:lnTo>
                <a:lnTo>
                  <a:pt x="65666" y="88444"/>
                </a:lnTo>
                <a:lnTo>
                  <a:pt x="65666" y="103111"/>
                </a:lnTo>
                <a:lnTo>
                  <a:pt x="66916" y="103111"/>
                </a:lnTo>
                <a:lnTo>
                  <a:pt x="66916" y="82666"/>
                </a:lnTo>
                <a:lnTo>
                  <a:pt x="69375" y="82666"/>
                </a:lnTo>
                <a:lnTo>
                  <a:pt x="69375" y="88888"/>
                </a:lnTo>
                <a:lnTo>
                  <a:pt x="70416" y="88888"/>
                </a:lnTo>
                <a:lnTo>
                  <a:pt x="70416" y="46222"/>
                </a:lnTo>
                <a:lnTo>
                  <a:pt x="71500" y="35111"/>
                </a:lnTo>
                <a:lnTo>
                  <a:pt x="72458" y="45777"/>
                </a:lnTo>
                <a:lnTo>
                  <a:pt x="72458" y="103111"/>
                </a:lnTo>
                <a:lnTo>
                  <a:pt x="73583" y="103111"/>
                </a:lnTo>
                <a:lnTo>
                  <a:pt x="73583" y="47555"/>
                </a:lnTo>
                <a:lnTo>
                  <a:pt x="76916" y="47555"/>
                </a:lnTo>
                <a:lnTo>
                  <a:pt x="76916" y="97777"/>
                </a:lnTo>
                <a:lnTo>
                  <a:pt x="77541" y="97777"/>
                </a:lnTo>
                <a:lnTo>
                  <a:pt x="77541" y="85777"/>
                </a:lnTo>
                <a:lnTo>
                  <a:pt x="79000" y="85777"/>
                </a:lnTo>
                <a:lnTo>
                  <a:pt x="79000" y="92888"/>
                </a:lnTo>
                <a:lnTo>
                  <a:pt x="82000" y="92888"/>
                </a:lnTo>
                <a:lnTo>
                  <a:pt x="82000" y="102222"/>
                </a:lnTo>
                <a:lnTo>
                  <a:pt x="84333" y="102222"/>
                </a:lnTo>
                <a:lnTo>
                  <a:pt x="84333" y="88000"/>
                </a:lnTo>
                <a:lnTo>
                  <a:pt x="85583" y="88000"/>
                </a:lnTo>
                <a:lnTo>
                  <a:pt x="85583" y="96000"/>
                </a:lnTo>
                <a:lnTo>
                  <a:pt x="86500" y="96000"/>
                </a:lnTo>
                <a:lnTo>
                  <a:pt x="86500" y="91111"/>
                </a:lnTo>
                <a:lnTo>
                  <a:pt x="87791" y="91111"/>
                </a:lnTo>
                <a:lnTo>
                  <a:pt x="87791" y="84888"/>
                </a:lnTo>
                <a:lnTo>
                  <a:pt x="89375" y="84888"/>
                </a:lnTo>
                <a:lnTo>
                  <a:pt x="89375" y="100888"/>
                </a:lnTo>
                <a:lnTo>
                  <a:pt x="90541" y="100888"/>
                </a:lnTo>
                <a:lnTo>
                  <a:pt x="90541" y="63111"/>
                </a:lnTo>
                <a:lnTo>
                  <a:pt x="92458" y="63555"/>
                </a:lnTo>
                <a:lnTo>
                  <a:pt x="92458" y="84444"/>
                </a:lnTo>
                <a:lnTo>
                  <a:pt x="93750" y="84444"/>
                </a:lnTo>
                <a:lnTo>
                  <a:pt x="93750" y="97333"/>
                </a:lnTo>
                <a:lnTo>
                  <a:pt x="95375" y="97333"/>
                </a:lnTo>
                <a:lnTo>
                  <a:pt x="95375" y="83111"/>
                </a:lnTo>
                <a:lnTo>
                  <a:pt x="96500" y="83111"/>
                </a:lnTo>
                <a:lnTo>
                  <a:pt x="96500" y="77333"/>
                </a:lnTo>
                <a:lnTo>
                  <a:pt x="98000" y="77333"/>
                </a:lnTo>
                <a:lnTo>
                  <a:pt x="98000" y="81333"/>
                </a:lnTo>
                <a:lnTo>
                  <a:pt x="99041" y="81333"/>
                </a:lnTo>
                <a:lnTo>
                  <a:pt x="99041" y="75111"/>
                </a:lnTo>
                <a:lnTo>
                  <a:pt x="101000" y="59555"/>
                </a:lnTo>
                <a:lnTo>
                  <a:pt x="102916" y="75111"/>
                </a:lnTo>
                <a:lnTo>
                  <a:pt x="102916" y="96444"/>
                </a:lnTo>
                <a:lnTo>
                  <a:pt x="103250" y="96444"/>
                </a:lnTo>
                <a:lnTo>
                  <a:pt x="103250" y="92000"/>
                </a:lnTo>
                <a:lnTo>
                  <a:pt x="104750" y="92000"/>
                </a:lnTo>
                <a:lnTo>
                  <a:pt x="104750" y="111111"/>
                </a:lnTo>
                <a:lnTo>
                  <a:pt x="105125" y="111111"/>
                </a:lnTo>
                <a:lnTo>
                  <a:pt x="105125" y="101777"/>
                </a:lnTo>
                <a:lnTo>
                  <a:pt x="106291" y="101777"/>
                </a:lnTo>
                <a:lnTo>
                  <a:pt x="106291" y="81777"/>
                </a:lnTo>
                <a:lnTo>
                  <a:pt x="107791" y="81777"/>
                </a:lnTo>
                <a:lnTo>
                  <a:pt x="107791" y="101777"/>
                </a:lnTo>
                <a:lnTo>
                  <a:pt x="107833" y="101777"/>
                </a:lnTo>
                <a:lnTo>
                  <a:pt x="107833" y="93777"/>
                </a:lnTo>
                <a:lnTo>
                  <a:pt x="108583" y="93777"/>
                </a:lnTo>
                <a:lnTo>
                  <a:pt x="108583" y="89777"/>
                </a:lnTo>
                <a:lnTo>
                  <a:pt x="110166" y="89777"/>
                </a:lnTo>
                <a:lnTo>
                  <a:pt x="110166" y="103111"/>
                </a:lnTo>
                <a:lnTo>
                  <a:pt x="110416" y="103111"/>
                </a:lnTo>
                <a:lnTo>
                  <a:pt x="110416" y="93777"/>
                </a:lnTo>
                <a:lnTo>
                  <a:pt x="110625" y="93777"/>
                </a:lnTo>
                <a:lnTo>
                  <a:pt x="110625" y="76444"/>
                </a:lnTo>
                <a:lnTo>
                  <a:pt x="111416" y="76444"/>
                </a:lnTo>
                <a:lnTo>
                  <a:pt x="111416" y="68444"/>
                </a:lnTo>
                <a:lnTo>
                  <a:pt x="111833" y="68444"/>
                </a:lnTo>
                <a:lnTo>
                  <a:pt x="111833" y="64000"/>
                </a:lnTo>
                <a:lnTo>
                  <a:pt x="112916" y="64000"/>
                </a:lnTo>
                <a:lnTo>
                  <a:pt x="112916" y="68444"/>
                </a:lnTo>
                <a:lnTo>
                  <a:pt x="113375" y="68444"/>
                </a:lnTo>
                <a:lnTo>
                  <a:pt x="113375" y="91555"/>
                </a:lnTo>
                <a:lnTo>
                  <a:pt x="113416" y="91555"/>
                </a:lnTo>
                <a:lnTo>
                  <a:pt x="113416" y="91555"/>
                </a:lnTo>
                <a:lnTo>
                  <a:pt x="114666" y="91555"/>
                </a:lnTo>
                <a:lnTo>
                  <a:pt x="114666" y="79555"/>
                </a:lnTo>
                <a:lnTo>
                  <a:pt x="115250" y="79555"/>
                </a:lnTo>
                <a:lnTo>
                  <a:pt x="115250" y="68444"/>
                </a:lnTo>
                <a:lnTo>
                  <a:pt x="115625" y="68444"/>
                </a:lnTo>
                <a:lnTo>
                  <a:pt x="115625" y="55111"/>
                </a:lnTo>
                <a:lnTo>
                  <a:pt x="115916" y="55111"/>
                </a:lnTo>
                <a:lnTo>
                  <a:pt x="115916" y="44888"/>
                </a:lnTo>
                <a:lnTo>
                  <a:pt x="116250" y="44888"/>
                </a:lnTo>
                <a:lnTo>
                  <a:pt x="116250" y="34222"/>
                </a:lnTo>
                <a:lnTo>
                  <a:pt x="116666" y="34222"/>
                </a:lnTo>
                <a:lnTo>
                  <a:pt x="116666" y="44444"/>
                </a:lnTo>
                <a:lnTo>
                  <a:pt x="117000" y="44444"/>
                </a:lnTo>
                <a:lnTo>
                  <a:pt x="117000" y="52888"/>
                </a:lnTo>
                <a:lnTo>
                  <a:pt x="117333" y="52888"/>
                </a:lnTo>
                <a:lnTo>
                  <a:pt x="117333" y="68888"/>
                </a:lnTo>
                <a:lnTo>
                  <a:pt x="117708" y="68888"/>
                </a:lnTo>
                <a:lnTo>
                  <a:pt x="117708" y="80444"/>
                </a:lnTo>
                <a:lnTo>
                  <a:pt x="118166" y="80444"/>
                </a:lnTo>
                <a:lnTo>
                  <a:pt x="118166" y="92000"/>
                </a:lnTo>
                <a:lnTo>
                  <a:pt x="120000" y="9200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000000">
              <a:lumMod val="50000"/>
              <a:lumOff val="50000"/>
            </a:srgbClr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</p:spPr>
        <p:txBody>
          <a:bodyPr lIns="68569" tIns="34275" rIns="68569" bIns="34275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015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2" name="Group 44"/>
          <p:cNvGrpSpPr/>
          <p:nvPr/>
        </p:nvGrpSpPr>
        <p:grpSpPr>
          <a:xfrm>
            <a:off x="4994275" y="1844675"/>
            <a:ext cx="3997325" cy="2789238"/>
            <a:chOff x="25" y="1497"/>
            <a:chExt cx="2518" cy="1757"/>
          </a:xfrm>
        </p:grpSpPr>
        <p:sp>
          <p:nvSpPr>
            <p:cNvPr id="17414" name="Rectangle 42"/>
            <p:cNvSpPr>
              <a:spLocks noChangeArrowheads="1"/>
            </p:cNvSpPr>
            <p:nvPr/>
          </p:nvSpPr>
          <p:spPr bwMode="auto">
            <a:xfrm>
              <a:off x="126" y="2033"/>
              <a:ext cx="2417" cy="1221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typedef </a:t>
              </a:r>
              <a:r>
                <a:rPr kumimoji="0" lang="en-US" altLang="zh-CN" sz="2400" b="0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struct</a:t>
              </a: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 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{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     </a:t>
              </a:r>
              <a:r>
                <a:rPr kumimoji="0" lang="en-US" altLang="zh-CN" sz="2400" b="0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ElemType</a:t>
              </a: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   *R; //</a:t>
              </a: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表基址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     int          length;     //</a:t>
              </a: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表长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}</a:t>
              </a:r>
              <a:r>
                <a:rPr kumimoji="0" lang="en-US" altLang="zh-CN" sz="2400" b="0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SSTable</a:t>
              </a: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;</a:t>
              </a:r>
            </a:p>
          </p:txBody>
        </p:sp>
        <p:sp>
          <p:nvSpPr>
            <p:cNvPr id="17415" name="Rectangle 43"/>
            <p:cNvSpPr>
              <a:spLocks noChangeArrowheads="1"/>
            </p:cNvSpPr>
            <p:nvPr/>
          </p:nvSpPr>
          <p:spPr bwMode="auto">
            <a:xfrm>
              <a:off x="25" y="1497"/>
              <a:ext cx="1647" cy="327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9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顺序表的表示</a:t>
              </a:r>
            </a:p>
          </p:txBody>
        </p:sp>
      </p:grpSp>
      <p:sp>
        <p:nvSpPr>
          <p:cNvPr id="24583" name="矩形 2"/>
          <p:cNvSpPr>
            <a:spLocks noChangeArrowheads="1"/>
          </p:cNvSpPr>
          <p:nvPr/>
        </p:nvSpPr>
        <p:spPr bwMode="auto">
          <a:xfrm>
            <a:off x="6350" y="4298950"/>
            <a:ext cx="4787900" cy="1127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>
            <a:lvl1pPr marL="342900" indent="-342900">
              <a:lnSpc>
                <a:spcPct val="130000"/>
              </a:lnSpc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4584" name="矩形 17"/>
          <p:cNvSpPr>
            <a:spLocks noChangeArrowheads="1"/>
          </p:cNvSpPr>
          <p:nvPr/>
        </p:nvSpPr>
        <p:spPr bwMode="auto">
          <a:xfrm>
            <a:off x="6350" y="4662488"/>
            <a:ext cx="4787900" cy="1143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>
            <a:lvl1pPr marL="342900" indent="-342900">
              <a:lnSpc>
                <a:spcPct val="130000"/>
              </a:lnSpc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矩形 1"/>
          <p:cNvSpPr>
            <a:spLocks noChangeArrowheads="1"/>
          </p:cNvSpPr>
          <p:nvPr/>
        </p:nvSpPr>
        <p:spPr bwMode="auto">
          <a:xfrm>
            <a:off x="0" y="4440238"/>
            <a:ext cx="9144000" cy="2157413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txBody>
          <a:bodyPr/>
          <a:lstStyle>
            <a:lvl1pPr marL="342900" indent="-342900">
              <a:lnSpc>
                <a:spcPct val="130000"/>
              </a:lnSpc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8434" name="Rectangle 4"/>
          <p:cNvSpPr>
            <a:spLocks noChangeArrowheads="1"/>
          </p:cNvSpPr>
          <p:nvPr/>
        </p:nvSpPr>
        <p:spPr bwMode="auto">
          <a:xfrm>
            <a:off x="425450" y="1069975"/>
            <a:ext cx="8153400" cy="32131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int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LocateELem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(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SqList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L,ElemType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e)</a:t>
            </a:r>
          </a:p>
          <a:p>
            <a:pPr marL="342900" marR="0" lvl="0" indent="-342900" algn="l" defTabSz="914400" rtl="0" eaLnBrk="0" fontAlgn="base" latinLnBrk="0" hangingPunct="0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{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</a:t>
            </a:r>
          </a:p>
          <a:p>
            <a:pPr marL="457200" marR="0" lvl="1" indent="0" algn="l" defTabSz="914400" rtl="0" eaLnBrk="0" fontAlgn="base" latinLnBrk="0" hangingPunct="0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for (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=0;i&lt;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L.length;i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++)</a:t>
            </a:r>
          </a:p>
          <a:p>
            <a:pPr marL="457200" marR="0" lvl="1" indent="0" algn="l" defTabSz="914400" rtl="0" eaLnBrk="0" fontAlgn="base" latinLnBrk="0" hangingPunct="0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if (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L.elem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[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]==e) return i+1;                </a:t>
            </a:r>
          </a:p>
          <a:p>
            <a:pPr marL="457200" marR="0" lvl="1" indent="0" algn="l" defTabSz="914400" rtl="0" eaLnBrk="0" fontAlgn="base" latinLnBrk="0" hangingPunct="0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return 0;</a:t>
            </a:r>
          </a:p>
          <a:p>
            <a:pPr marL="342900" marR="0" lvl="0" indent="-342900" algn="l" defTabSz="914400" rtl="0" eaLnBrk="0" fontAlgn="base" latinLnBrk="0" hangingPunct="0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}</a:t>
            </a:r>
          </a:p>
        </p:txBody>
      </p:sp>
      <p:sp>
        <p:nvSpPr>
          <p:cNvPr id="991237" name="Rectangle 5"/>
          <p:cNvSpPr>
            <a:spLocks noChangeArrowheads="1"/>
          </p:cNvSpPr>
          <p:nvPr/>
        </p:nvSpPr>
        <p:spPr bwMode="auto">
          <a:xfrm>
            <a:off x="395288" y="4581525"/>
            <a:ext cx="8153400" cy="17732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改进：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把待查关键字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key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存入表头（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“哨兵”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），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从后向前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逐个比较，可免去查找过程中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每一步都要检测是否查找完毕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，加快速度。</a:t>
            </a:r>
          </a:p>
        </p:txBody>
      </p:sp>
      <p:sp>
        <p:nvSpPr>
          <p:cNvPr id="18436" name="Rectangle 6"/>
          <p:cNvSpPr>
            <a:spLocks noChangeArrowheads="1"/>
          </p:cNvSpPr>
          <p:nvPr/>
        </p:nvSpPr>
        <p:spPr bwMode="auto">
          <a:xfrm>
            <a:off x="900113" y="219075"/>
            <a:ext cx="7993063" cy="51593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在顺序表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L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中查找值为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e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的数据元素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912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912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123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0" y="1341438"/>
            <a:ext cx="9144000" cy="5183187"/>
            <a:chOff x="0" y="1341438"/>
            <a:chExt cx="9144000" cy="5183187"/>
          </a:xfrm>
        </p:grpSpPr>
        <p:sp>
          <p:nvSpPr>
            <p:cNvPr id="26626" name="矩形 1"/>
            <p:cNvSpPr>
              <a:spLocks noChangeArrowheads="1"/>
            </p:cNvSpPr>
            <p:nvPr/>
          </p:nvSpPr>
          <p:spPr bwMode="auto">
            <a:xfrm>
              <a:off x="0" y="1341438"/>
              <a:ext cx="9144000" cy="4824412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/>
            <a:lstStyle>
              <a:lvl1pPr marL="342900" indent="-342900">
                <a:lnSpc>
                  <a:spcPct val="130000"/>
                </a:lnSpc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9pPr>
            </a:lstStyle>
            <a:p>
              <a:pPr marL="342900" marR="0" lvl="0" indent="-34290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" name="矩形 5"/>
            <p:cNvSpPr/>
            <p:nvPr/>
          </p:nvSpPr>
          <p:spPr bwMode="auto">
            <a:xfrm>
              <a:off x="0" y="6381750"/>
              <a:ext cx="9144000" cy="142875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pPr marL="342900" marR="0" lvl="0" indent="-34290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992262" name="Rectangle 6"/>
          <p:cNvSpPr>
            <a:spLocks noChangeArrowheads="1"/>
          </p:cNvSpPr>
          <p:nvPr/>
        </p:nvSpPr>
        <p:spPr bwMode="auto">
          <a:xfrm>
            <a:off x="611188" y="1412875"/>
            <a:ext cx="8137525" cy="46561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571500" indent="-5715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9pPr>
          </a:lstStyle>
          <a:p>
            <a:pPr marL="571500" marR="0" lvl="0" indent="-571500" algn="l" defTabSz="914400" rtl="0" eaLnBrk="1" fontAlgn="base" latinLnBrk="0" hangingPunct="1">
              <a:lnSpc>
                <a:spcPct val="12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int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Search_Seq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(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SSTable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ST ,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KeyType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key )</a:t>
            </a:r>
          </a:p>
          <a:p>
            <a:pPr marL="571500" marR="0" lvl="0" indent="-571500" algn="l" defTabSz="914400" rtl="0" eaLnBrk="1" fontAlgn="base" latinLnBrk="0" hangingPunct="1">
              <a:lnSpc>
                <a:spcPct val="12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{</a:t>
            </a:r>
          </a:p>
          <a:p>
            <a:pPr marL="571500" marR="0" lvl="0" indent="-57150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//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若成功返回其位置信息，否则返回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0</a:t>
            </a:r>
          </a:p>
          <a:p>
            <a:pPr marL="571500" marR="0" lvl="0" indent="-57150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ST.R[0].key =key;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</a:t>
            </a:r>
          </a:p>
          <a:p>
            <a:pPr marL="571500" marR="0" lvl="0" indent="-57150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for(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=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ST.length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;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ST.R[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].key!=key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;  - -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)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;</a:t>
            </a:r>
          </a:p>
          <a:p>
            <a:pPr marL="571500" marR="0" lvl="0" indent="-57150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//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不用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for(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=n;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&gt;0; - -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)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或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for(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=1;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&lt;=n;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++)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</a:t>
            </a:r>
          </a:p>
          <a:p>
            <a:pPr marL="571500" marR="0" lvl="0" indent="-571500" algn="l" defTabSz="914400" rtl="0" eaLnBrk="1" fontAlgn="base" latinLnBrk="0" hangingPunct="1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return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;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hlink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571500" marR="0" lvl="0" indent="-571500" algn="l" defTabSz="914400" rtl="0" eaLnBrk="1" fontAlgn="base" latinLnBrk="0" hangingPunct="1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}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hlink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" name="Rectangle 6"/>
          <p:cNvSpPr>
            <a:spLocks noChangeArrowheads="1"/>
          </p:cNvSpPr>
          <p:nvPr/>
        </p:nvSpPr>
        <p:spPr bwMode="auto">
          <a:xfrm>
            <a:off x="900113" y="219075"/>
            <a:ext cx="7993063" cy="51593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在顺序表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L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中查找值为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e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的数据元素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22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22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22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22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22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22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22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5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22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2262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4"/>
          <p:cNvSpPr>
            <a:spLocks noChangeArrowheads="1"/>
          </p:cNvSpPr>
          <p:nvPr/>
        </p:nvSpPr>
        <p:spPr bwMode="auto">
          <a:xfrm>
            <a:off x="501650" y="1052513"/>
            <a:ext cx="8642350" cy="115252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空间复杂度：一个辅助空间。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时间复杂度：</a:t>
            </a:r>
          </a:p>
        </p:txBody>
      </p:sp>
      <p:sp>
        <p:nvSpPr>
          <p:cNvPr id="20483" name="Rectangle 5"/>
          <p:cNvSpPr>
            <a:spLocks noChangeArrowheads="1"/>
          </p:cNvSpPr>
          <p:nvPr/>
        </p:nvSpPr>
        <p:spPr bwMode="auto">
          <a:xfrm>
            <a:off x="900113" y="223838"/>
            <a:ext cx="4460875" cy="51593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顺序查找的性能分析</a:t>
            </a:r>
          </a:p>
        </p:txBody>
      </p:sp>
      <p:grpSp>
        <p:nvGrpSpPr>
          <p:cNvPr id="35843" name="组合 19"/>
          <p:cNvGrpSpPr/>
          <p:nvPr/>
        </p:nvGrpSpPr>
        <p:grpSpPr>
          <a:xfrm>
            <a:off x="887413" y="2559050"/>
            <a:ext cx="3251200" cy="3802063"/>
            <a:chOff x="222841" y="2217316"/>
            <a:chExt cx="2846585" cy="3802750"/>
          </a:xfrm>
        </p:grpSpPr>
        <p:sp>
          <p:nvSpPr>
            <p:cNvPr id="17" name="íṡľíḍè-Rectangle 22"/>
            <p:cNvSpPr/>
            <p:nvPr/>
          </p:nvSpPr>
          <p:spPr>
            <a:xfrm>
              <a:off x="222841" y="2217316"/>
              <a:ext cx="2846585" cy="1900581"/>
            </a:xfrm>
            <a:prstGeom prst="rect">
              <a:avLst/>
            </a:prstGeom>
            <a:solidFill>
              <a:srgbClr val="6C4C8F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" name="íṡľíḍè-Freeform: Shape 23"/>
            <p:cNvSpPr/>
            <p:nvPr/>
          </p:nvSpPr>
          <p:spPr>
            <a:xfrm rot="10800000">
              <a:off x="222841" y="3987699"/>
              <a:ext cx="2846585" cy="382656"/>
            </a:xfrm>
            <a:custGeom>
              <a:avLst/>
              <a:gdLst>
                <a:gd name="connsiteX0" fmla="*/ 1901372 w 1901372"/>
                <a:gd name="connsiteY0" fmla="*/ 370114 h 370114"/>
                <a:gd name="connsiteX1" fmla="*/ 0 w 1901372"/>
                <a:gd name="connsiteY1" fmla="*/ 370114 h 370114"/>
                <a:gd name="connsiteX2" fmla="*/ 0 w 1901372"/>
                <a:gd name="connsiteY2" fmla="*/ 239486 h 370114"/>
                <a:gd name="connsiteX3" fmla="*/ 639355 w 1901372"/>
                <a:gd name="connsiteY3" fmla="*/ 239486 h 370114"/>
                <a:gd name="connsiteX4" fmla="*/ 950686 w 1901372"/>
                <a:gd name="connsiteY4" fmla="*/ 0 h 370114"/>
                <a:gd name="connsiteX5" fmla="*/ 1262017 w 1901372"/>
                <a:gd name="connsiteY5" fmla="*/ 239486 h 370114"/>
                <a:gd name="connsiteX6" fmla="*/ 1901372 w 1901372"/>
                <a:gd name="connsiteY6" fmla="*/ 239486 h 370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01372" h="370114">
                  <a:moveTo>
                    <a:pt x="1901372" y="370114"/>
                  </a:moveTo>
                  <a:lnTo>
                    <a:pt x="0" y="370114"/>
                  </a:lnTo>
                  <a:lnTo>
                    <a:pt x="0" y="239486"/>
                  </a:lnTo>
                  <a:lnTo>
                    <a:pt x="639355" y="239486"/>
                  </a:lnTo>
                  <a:lnTo>
                    <a:pt x="950686" y="0"/>
                  </a:lnTo>
                  <a:lnTo>
                    <a:pt x="1262017" y="239486"/>
                  </a:lnTo>
                  <a:lnTo>
                    <a:pt x="1901372" y="239486"/>
                  </a:lnTo>
                  <a:close/>
                </a:path>
              </a:pathLst>
            </a:custGeom>
            <a:solidFill>
              <a:srgbClr val="6C4C8F">
                <a:lumMod val="7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" name="îŝḷîḓé-TextBox 33"/>
            <p:cNvSpPr txBox="1"/>
            <p:nvPr/>
          </p:nvSpPr>
          <p:spPr bwMode="auto">
            <a:xfrm>
              <a:off x="222842" y="4506304"/>
              <a:ext cx="2846584" cy="151376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0" tIns="0" rIns="0" bIns="0"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marL="0" marR="0" lvl="1" indent="0" algn="ctr" defTabSz="91440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6C4C8F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1) </a:t>
              </a:r>
              <a:r>
                <a:rPr kumimoji="0" lang="zh-CN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6C4C8F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查找成功时的平均查找长度</a:t>
              </a:r>
            </a:p>
            <a:p>
              <a:pPr marL="0" marR="0" lvl="1" indent="0" algn="ctr" defTabSz="91440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6C4C8F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  设表中各记录查找概率相等</a:t>
              </a:r>
            </a:p>
            <a:p>
              <a:pPr marL="0" marR="0" lvl="1" indent="0" algn="ctr" defTabSz="91440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6C4C8F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    </a:t>
              </a: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ASLs(n)=(1+2+ ... +n)/n =(n+1)/2</a:t>
              </a:r>
            </a:p>
          </p:txBody>
        </p:sp>
      </p:grpSp>
      <p:grpSp>
        <p:nvGrpSpPr>
          <p:cNvPr id="35847" name="组合 25"/>
          <p:cNvGrpSpPr/>
          <p:nvPr/>
        </p:nvGrpSpPr>
        <p:grpSpPr>
          <a:xfrm>
            <a:off x="5208588" y="2559050"/>
            <a:ext cx="3249612" cy="3297238"/>
            <a:chOff x="3869066" y="2217316"/>
            <a:chExt cx="3041481" cy="3297326"/>
          </a:xfrm>
        </p:grpSpPr>
        <p:sp>
          <p:nvSpPr>
            <p:cNvPr id="21" name="íṡľíḍè-Rectangle 18"/>
            <p:cNvSpPr/>
            <p:nvPr/>
          </p:nvSpPr>
          <p:spPr>
            <a:xfrm>
              <a:off x="3869066" y="2217316"/>
              <a:ext cx="3041481" cy="1901876"/>
            </a:xfrm>
            <a:prstGeom prst="rect">
              <a:avLst/>
            </a:prstGeom>
            <a:solidFill>
              <a:srgbClr val="76AEDD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" name="íṡľíḍè-Freeform: Shape 19"/>
            <p:cNvSpPr/>
            <p:nvPr/>
          </p:nvSpPr>
          <p:spPr>
            <a:xfrm rot="10800000">
              <a:off x="3869066" y="3992188"/>
              <a:ext cx="3041481" cy="369898"/>
            </a:xfrm>
            <a:custGeom>
              <a:avLst/>
              <a:gdLst>
                <a:gd name="connsiteX0" fmla="*/ 1901372 w 1901372"/>
                <a:gd name="connsiteY0" fmla="*/ 370114 h 370114"/>
                <a:gd name="connsiteX1" fmla="*/ 0 w 1901372"/>
                <a:gd name="connsiteY1" fmla="*/ 370114 h 370114"/>
                <a:gd name="connsiteX2" fmla="*/ 0 w 1901372"/>
                <a:gd name="connsiteY2" fmla="*/ 239486 h 370114"/>
                <a:gd name="connsiteX3" fmla="*/ 639355 w 1901372"/>
                <a:gd name="connsiteY3" fmla="*/ 239486 h 370114"/>
                <a:gd name="connsiteX4" fmla="*/ 950686 w 1901372"/>
                <a:gd name="connsiteY4" fmla="*/ 0 h 370114"/>
                <a:gd name="connsiteX5" fmla="*/ 1262017 w 1901372"/>
                <a:gd name="connsiteY5" fmla="*/ 239486 h 370114"/>
                <a:gd name="connsiteX6" fmla="*/ 1901372 w 1901372"/>
                <a:gd name="connsiteY6" fmla="*/ 239486 h 370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01372" h="370114">
                  <a:moveTo>
                    <a:pt x="1901372" y="370114"/>
                  </a:moveTo>
                  <a:lnTo>
                    <a:pt x="0" y="370114"/>
                  </a:lnTo>
                  <a:lnTo>
                    <a:pt x="0" y="239486"/>
                  </a:lnTo>
                  <a:lnTo>
                    <a:pt x="639355" y="239486"/>
                  </a:lnTo>
                  <a:lnTo>
                    <a:pt x="950686" y="0"/>
                  </a:lnTo>
                  <a:lnTo>
                    <a:pt x="1262017" y="239486"/>
                  </a:lnTo>
                  <a:lnTo>
                    <a:pt x="1901372" y="239486"/>
                  </a:lnTo>
                  <a:close/>
                </a:path>
              </a:pathLst>
            </a:custGeom>
            <a:solidFill>
              <a:srgbClr val="4D96D3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îŝḷîḓé-TextBox 34"/>
            <p:cNvSpPr txBox="1"/>
            <p:nvPr/>
          </p:nvSpPr>
          <p:spPr bwMode="auto">
            <a:xfrm>
              <a:off x="3869066" y="4505393"/>
              <a:ext cx="3041481" cy="100924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0" tIns="0" rIns="0" bIns="0"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marL="0" marR="0" lvl="1" indent="0" algn="ctr" defTabSz="91440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2)</a:t>
              </a:r>
              <a:r>
                <a:rPr kumimoji="0" lang="zh-CN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查找不成功时的平均</a:t>
              </a:r>
              <a:endPara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  <a:p>
              <a:pPr marL="0" marR="0" lvl="1" indent="0" algn="ctr" defTabSz="91440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查找长度    </a:t>
              </a:r>
              <a:r>
                <a:rPr kumimoji="0" lang="en-US" altLang="zh-CN" sz="24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ASLf</a:t>
              </a: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 =n+1</a:t>
              </a:r>
            </a:p>
          </p:txBody>
        </p:sp>
      </p:grpSp>
      <p:sp>
        <p:nvSpPr>
          <p:cNvPr id="24" name="îŝḷîḓé-Freeform: Shape 42"/>
          <p:cNvSpPr/>
          <p:nvPr/>
        </p:nvSpPr>
        <p:spPr bwMode="auto">
          <a:xfrm>
            <a:off x="2024063" y="3017838"/>
            <a:ext cx="942975" cy="944563"/>
          </a:xfrm>
          <a:custGeom>
            <a:avLst/>
            <a:gdLst>
              <a:gd name="T0" fmla="*/ 184 w 260"/>
              <a:gd name="T1" fmla="*/ 106 h 260"/>
              <a:gd name="T2" fmla="*/ 193 w 260"/>
              <a:gd name="T3" fmla="*/ 143 h 260"/>
              <a:gd name="T4" fmla="*/ 117 w 260"/>
              <a:gd name="T5" fmla="*/ 219 h 260"/>
              <a:gd name="T6" fmla="*/ 42 w 260"/>
              <a:gd name="T7" fmla="*/ 143 h 260"/>
              <a:gd name="T8" fmla="*/ 117 w 260"/>
              <a:gd name="T9" fmla="*/ 66 h 260"/>
              <a:gd name="T10" fmla="*/ 154 w 260"/>
              <a:gd name="T11" fmla="*/ 76 h 260"/>
              <a:gd name="T12" fmla="*/ 183 w 260"/>
              <a:gd name="T13" fmla="*/ 46 h 260"/>
              <a:gd name="T14" fmla="*/ 117 w 260"/>
              <a:gd name="T15" fmla="*/ 25 h 260"/>
              <a:gd name="T16" fmla="*/ 0 w 260"/>
              <a:gd name="T17" fmla="*/ 143 h 260"/>
              <a:gd name="T18" fmla="*/ 117 w 260"/>
              <a:gd name="T19" fmla="*/ 260 h 260"/>
              <a:gd name="T20" fmla="*/ 233 w 260"/>
              <a:gd name="T21" fmla="*/ 143 h 260"/>
              <a:gd name="T22" fmla="*/ 213 w 260"/>
              <a:gd name="T23" fmla="*/ 77 h 260"/>
              <a:gd name="T24" fmla="*/ 184 w 260"/>
              <a:gd name="T25" fmla="*/ 106 h 260"/>
              <a:gd name="T26" fmla="*/ 225 w 260"/>
              <a:gd name="T27" fmla="*/ 35 h 260"/>
              <a:gd name="T28" fmla="*/ 225 w 260"/>
              <a:gd name="T29" fmla="*/ 35 h 260"/>
              <a:gd name="T30" fmla="*/ 225 w 260"/>
              <a:gd name="T31" fmla="*/ 0 h 260"/>
              <a:gd name="T32" fmla="*/ 203 w 260"/>
              <a:gd name="T33" fmla="*/ 23 h 260"/>
              <a:gd name="T34" fmla="*/ 203 w 260"/>
              <a:gd name="T35" fmla="*/ 46 h 260"/>
              <a:gd name="T36" fmla="*/ 139 w 260"/>
              <a:gd name="T37" fmla="*/ 111 h 260"/>
              <a:gd name="T38" fmla="*/ 117 w 260"/>
              <a:gd name="T39" fmla="*/ 104 h 260"/>
              <a:gd name="T40" fmla="*/ 79 w 260"/>
              <a:gd name="T41" fmla="*/ 143 h 260"/>
              <a:gd name="T42" fmla="*/ 117 w 260"/>
              <a:gd name="T43" fmla="*/ 181 h 260"/>
              <a:gd name="T44" fmla="*/ 155 w 260"/>
              <a:gd name="T45" fmla="*/ 143 h 260"/>
              <a:gd name="T46" fmla="*/ 150 w 260"/>
              <a:gd name="T47" fmla="*/ 123 h 260"/>
              <a:gd name="T48" fmla="*/ 215 w 260"/>
              <a:gd name="T49" fmla="*/ 58 h 260"/>
              <a:gd name="T50" fmla="*/ 237 w 260"/>
              <a:gd name="T51" fmla="*/ 58 h 260"/>
              <a:gd name="T52" fmla="*/ 260 w 260"/>
              <a:gd name="T53" fmla="*/ 35 h 260"/>
              <a:gd name="T54" fmla="*/ 225 w 260"/>
              <a:gd name="T55" fmla="*/ 35 h 2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60" h="260">
                <a:moveTo>
                  <a:pt x="184" y="106"/>
                </a:moveTo>
                <a:cubicBezTo>
                  <a:pt x="190" y="117"/>
                  <a:pt x="193" y="129"/>
                  <a:pt x="193" y="143"/>
                </a:cubicBezTo>
                <a:cubicBezTo>
                  <a:pt x="193" y="185"/>
                  <a:pt x="159" y="219"/>
                  <a:pt x="117" y="219"/>
                </a:cubicBezTo>
                <a:cubicBezTo>
                  <a:pt x="76" y="219"/>
                  <a:pt x="42" y="185"/>
                  <a:pt x="42" y="143"/>
                </a:cubicBezTo>
                <a:cubicBezTo>
                  <a:pt x="42" y="100"/>
                  <a:pt x="76" y="66"/>
                  <a:pt x="117" y="66"/>
                </a:cubicBezTo>
                <a:cubicBezTo>
                  <a:pt x="131" y="66"/>
                  <a:pt x="143" y="70"/>
                  <a:pt x="154" y="76"/>
                </a:cubicBezTo>
                <a:cubicBezTo>
                  <a:pt x="183" y="46"/>
                  <a:pt x="183" y="46"/>
                  <a:pt x="183" y="46"/>
                </a:cubicBezTo>
                <a:cubicBezTo>
                  <a:pt x="165" y="33"/>
                  <a:pt x="141" y="25"/>
                  <a:pt x="117" y="25"/>
                </a:cubicBezTo>
                <a:cubicBezTo>
                  <a:pt x="52" y="25"/>
                  <a:pt x="0" y="78"/>
                  <a:pt x="0" y="143"/>
                </a:cubicBezTo>
                <a:cubicBezTo>
                  <a:pt x="0" y="207"/>
                  <a:pt x="52" y="260"/>
                  <a:pt x="117" y="260"/>
                </a:cubicBezTo>
                <a:cubicBezTo>
                  <a:pt x="181" y="260"/>
                  <a:pt x="233" y="207"/>
                  <a:pt x="233" y="143"/>
                </a:cubicBezTo>
                <a:cubicBezTo>
                  <a:pt x="233" y="118"/>
                  <a:pt x="226" y="96"/>
                  <a:pt x="213" y="77"/>
                </a:cubicBezTo>
                <a:cubicBezTo>
                  <a:pt x="184" y="106"/>
                  <a:pt x="184" y="106"/>
                  <a:pt x="184" y="106"/>
                </a:cubicBezTo>
                <a:close/>
                <a:moveTo>
                  <a:pt x="225" y="35"/>
                </a:moveTo>
                <a:cubicBezTo>
                  <a:pt x="225" y="35"/>
                  <a:pt x="225" y="35"/>
                  <a:pt x="225" y="35"/>
                </a:cubicBezTo>
                <a:cubicBezTo>
                  <a:pt x="225" y="0"/>
                  <a:pt x="225" y="0"/>
                  <a:pt x="225" y="0"/>
                </a:cubicBezTo>
                <a:cubicBezTo>
                  <a:pt x="203" y="23"/>
                  <a:pt x="203" y="23"/>
                  <a:pt x="203" y="23"/>
                </a:cubicBezTo>
                <a:cubicBezTo>
                  <a:pt x="203" y="46"/>
                  <a:pt x="203" y="46"/>
                  <a:pt x="203" y="46"/>
                </a:cubicBezTo>
                <a:cubicBezTo>
                  <a:pt x="139" y="111"/>
                  <a:pt x="139" y="111"/>
                  <a:pt x="139" y="111"/>
                </a:cubicBezTo>
                <a:cubicBezTo>
                  <a:pt x="133" y="106"/>
                  <a:pt x="125" y="104"/>
                  <a:pt x="117" y="104"/>
                </a:cubicBezTo>
                <a:cubicBezTo>
                  <a:pt x="96" y="104"/>
                  <a:pt x="79" y="121"/>
                  <a:pt x="79" y="143"/>
                </a:cubicBezTo>
                <a:cubicBezTo>
                  <a:pt x="79" y="164"/>
                  <a:pt x="96" y="181"/>
                  <a:pt x="117" y="181"/>
                </a:cubicBezTo>
                <a:cubicBezTo>
                  <a:pt x="138" y="181"/>
                  <a:pt x="155" y="164"/>
                  <a:pt x="155" y="143"/>
                </a:cubicBezTo>
                <a:cubicBezTo>
                  <a:pt x="155" y="136"/>
                  <a:pt x="154" y="129"/>
                  <a:pt x="150" y="123"/>
                </a:cubicBezTo>
                <a:cubicBezTo>
                  <a:pt x="215" y="58"/>
                  <a:pt x="215" y="58"/>
                  <a:pt x="215" y="58"/>
                </a:cubicBezTo>
                <a:cubicBezTo>
                  <a:pt x="237" y="58"/>
                  <a:pt x="237" y="58"/>
                  <a:pt x="237" y="58"/>
                </a:cubicBezTo>
                <a:cubicBezTo>
                  <a:pt x="260" y="35"/>
                  <a:pt x="260" y="35"/>
                  <a:pt x="260" y="35"/>
                </a:cubicBezTo>
                <a:cubicBezTo>
                  <a:pt x="225" y="35"/>
                  <a:pt x="225" y="35"/>
                  <a:pt x="225" y="35"/>
                </a:cubicBezTo>
                <a:close/>
              </a:path>
            </a:pathLst>
          </a:custGeom>
          <a:solidFill>
            <a:srgbClr val="FEFFFF"/>
          </a:solidFill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5" name="îŝḷîḓé-Freeform: Shape 44"/>
          <p:cNvSpPr/>
          <p:nvPr/>
        </p:nvSpPr>
        <p:spPr bwMode="auto">
          <a:xfrm>
            <a:off x="6375400" y="3111500"/>
            <a:ext cx="850900" cy="850900"/>
          </a:xfrm>
          <a:custGeom>
            <a:avLst/>
            <a:gdLst>
              <a:gd name="T0" fmla="*/ 187 w 228"/>
              <a:gd name="T1" fmla="*/ 114 h 240"/>
              <a:gd name="T2" fmla="*/ 114 w 228"/>
              <a:gd name="T3" fmla="*/ 40 h 240"/>
              <a:gd name="T4" fmla="*/ 40 w 228"/>
              <a:gd name="T5" fmla="*/ 114 h 240"/>
              <a:gd name="T6" fmla="*/ 68 w 228"/>
              <a:gd name="T7" fmla="*/ 171 h 240"/>
              <a:gd name="T8" fmla="*/ 74 w 228"/>
              <a:gd name="T9" fmla="*/ 173 h 240"/>
              <a:gd name="T10" fmla="*/ 81 w 228"/>
              <a:gd name="T11" fmla="*/ 169 h 240"/>
              <a:gd name="T12" fmla="*/ 79 w 228"/>
              <a:gd name="T13" fmla="*/ 156 h 240"/>
              <a:gd name="T14" fmla="*/ 59 w 228"/>
              <a:gd name="T15" fmla="*/ 114 h 240"/>
              <a:gd name="T16" fmla="*/ 114 w 228"/>
              <a:gd name="T17" fmla="*/ 59 h 240"/>
              <a:gd name="T18" fmla="*/ 169 w 228"/>
              <a:gd name="T19" fmla="*/ 114 h 240"/>
              <a:gd name="T20" fmla="*/ 152 w 228"/>
              <a:gd name="T21" fmla="*/ 153 h 240"/>
              <a:gd name="T22" fmla="*/ 151 w 228"/>
              <a:gd name="T23" fmla="*/ 166 h 240"/>
              <a:gd name="T24" fmla="*/ 165 w 228"/>
              <a:gd name="T25" fmla="*/ 167 h 240"/>
              <a:gd name="T26" fmla="*/ 187 w 228"/>
              <a:gd name="T27" fmla="*/ 114 h 240"/>
              <a:gd name="T28" fmla="*/ 116 w 228"/>
              <a:gd name="T29" fmla="*/ 79 h 240"/>
              <a:gd name="T30" fmla="*/ 81 w 228"/>
              <a:gd name="T31" fmla="*/ 114 h 240"/>
              <a:gd name="T32" fmla="*/ 101 w 228"/>
              <a:gd name="T33" fmla="*/ 144 h 240"/>
              <a:gd name="T34" fmla="*/ 101 w 228"/>
              <a:gd name="T35" fmla="*/ 226 h 240"/>
              <a:gd name="T36" fmla="*/ 115 w 228"/>
              <a:gd name="T37" fmla="*/ 240 h 240"/>
              <a:gd name="T38" fmla="*/ 129 w 228"/>
              <a:gd name="T39" fmla="*/ 226 h 240"/>
              <a:gd name="T40" fmla="*/ 129 w 228"/>
              <a:gd name="T41" fmla="*/ 145 h 240"/>
              <a:gd name="T42" fmla="*/ 150 w 228"/>
              <a:gd name="T43" fmla="*/ 114 h 240"/>
              <a:gd name="T44" fmla="*/ 116 w 228"/>
              <a:gd name="T45" fmla="*/ 79 h 240"/>
              <a:gd name="T46" fmla="*/ 114 w 228"/>
              <a:gd name="T47" fmla="*/ 0 h 240"/>
              <a:gd name="T48" fmla="*/ 0 w 228"/>
              <a:gd name="T49" fmla="*/ 114 h 240"/>
              <a:gd name="T50" fmla="*/ 52 w 228"/>
              <a:gd name="T51" fmla="*/ 209 h 240"/>
              <a:gd name="T52" fmla="*/ 57 w 228"/>
              <a:gd name="T53" fmla="*/ 211 h 240"/>
              <a:gd name="T54" fmla="*/ 65 w 228"/>
              <a:gd name="T55" fmla="*/ 206 h 240"/>
              <a:gd name="T56" fmla="*/ 62 w 228"/>
              <a:gd name="T57" fmla="*/ 193 h 240"/>
              <a:gd name="T58" fmla="*/ 19 w 228"/>
              <a:gd name="T59" fmla="*/ 114 h 240"/>
              <a:gd name="T60" fmla="*/ 114 w 228"/>
              <a:gd name="T61" fmla="*/ 18 h 240"/>
              <a:gd name="T62" fmla="*/ 209 w 228"/>
              <a:gd name="T63" fmla="*/ 114 h 240"/>
              <a:gd name="T64" fmla="*/ 168 w 228"/>
              <a:gd name="T65" fmla="*/ 192 h 240"/>
              <a:gd name="T66" fmla="*/ 165 w 228"/>
              <a:gd name="T67" fmla="*/ 205 h 240"/>
              <a:gd name="T68" fmla="*/ 178 w 228"/>
              <a:gd name="T69" fmla="*/ 208 h 240"/>
              <a:gd name="T70" fmla="*/ 228 w 228"/>
              <a:gd name="T71" fmla="*/ 114 h 240"/>
              <a:gd name="T72" fmla="*/ 114 w 228"/>
              <a:gd name="T73" fmla="*/ 0 h 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228" h="240">
                <a:moveTo>
                  <a:pt x="187" y="114"/>
                </a:moveTo>
                <a:cubicBezTo>
                  <a:pt x="187" y="73"/>
                  <a:pt x="154" y="40"/>
                  <a:pt x="114" y="40"/>
                </a:cubicBezTo>
                <a:cubicBezTo>
                  <a:pt x="73" y="40"/>
                  <a:pt x="40" y="73"/>
                  <a:pt x="40" y="114"/>
                </a:cubicBezTo>
                <a:cubicBezTo>
                  <a:pt x="40" y="136"/>
                  <a:pt x="50" y="157"/>
                  <a:pt x="68" y="171"/>
                </a:cubicBezTo>
                <a:cubicBezTo>
                  <a:pt x="69" y="172"/>
                  <a:pt x="71" y="173"/>
                  <a:pt x="74" y="173"/>
                </a:cubicBezTo>
                <a:cubicBezTo>
                  <a:pt x="76" y="173"/>
                  <a:pt x="79" y="171"/>
                  <a:pt x="81" y="169"/>
                </a:cubicBezTo>
                <a:cubicBezTo>
                  <a:pt x="84" y="165"/>
                  <a:pt x="83" y="159"/>
                  <a:pt x="79" y="156"/>
                </a:cubicBezTo>
                <a:cubicBezTo>
                  <a:pt x="67" y="146"/>
                  <a:pt x="59" y="130"/>
                  <a:pt x="59" y="114"/>
                </a:cubicBezTo>
                <a:cubicBezTo>
                  <a:pt x="59" y="83"/>
                  <a:pt x="84" y="59"/>
                  <a:pt x="114" y="59"/>
                </a:cubicBezTo>
                <a:cubicBezTo>
                  <a:pt x="144" y="59"/>
                  <a:pt x="169" y="83"/>
                  <a:pt x="169" y="114"/>
                </a:cubicBezTo>
                <a:cubicBezTo>
                  <a:pt x="169" y="129"/>
                  <a:pt x="163" y="143"/>
                  <a:pt x="152" y="153"/>
                </a:cubicBezTo>
                <a:cubicBezTo>
                  <a:pt x="148" y="157"/>
                  <a:pt x="148" y="163"/>
                  <a:pt x="151" y="166"/>
                </a:cubicBezTo>
                <a:cubicBezTo>
                  <a:pt x="155" y="170"/>
                  <a:pt x="161" y="170"/>
                  <a:pt x="165" y="167"/>
                </a:cubicBezTo>
                <a:cubicBezTo>
                  <a:pt x="179" y="153"/>
                  <a:pt x="187" y="134"/>
                  <a:pt x="187" y="114"/>
                </a:cubicBezTo>
                <a:close/>
                <a:moveTo>
                  <a:pt x="116" y="79"/>
                </a:moveTo>
                <a:cubicBezTo>
                  <a:pt x="97" y="79"/>
                  <a:pt x="81" y="95"/>
                  <a:pt x="81" y="114"/>
                </a:cubicBezTo>
                <a:cubicBezTo>
                  <a:pt x="81" y="127"/>
                  <a:pt x="89" y="139"/>
                  <a:pt x="101" y="144"/>
                </a:cubicBezTo>
                <a:cubicBezTo>
                  <a:pt x="101" y="226"/>
                  <a:pt x="101" y="226"/>
                  <a:pt x="101" y="226"/>
                </a:cubicBezTo>
                <a:cubicBezTo>
                  <a:pt x="101" y="233"/>
                  <a:pt x="107" y="240"/>
                  <a:pt x="115" y="240"/>
                </a:cubicBezTo>
                <a:cubicBezTo>
                  <a:pt x="123" y="240"/>
                  <a:pt x="129" y="233"/>
                  <a:pt x="129" y="226"/>
                </a:cubicBezTo>
                <a:cubicBezTo>
                  <a:pt x="129" y="145"/>
                  <a:pt x="129" y="145"/>
                  <a:pt x="129" y="145"/>
                </a:cubicBezTo>
                <a:cubicBezTo>
                  <a:pt x="141" y="140"/>
                  <a:pt x="150" y="128"/>
                  <a:pt x="150" y="114"/>
                </a:cubicBezTo>
                <a:cubicBezTo>
                  <a:pt x="150" y="95"/>
                  <a:pt x="134" y="79"/>
                  <a:pt x="116" y="79"/>
                </a:cubicBezTo>
                <a:close/>
                <a:moveTo>
                  <a:pt x="114" y="0"/>
                </a:moveTo>
                <a:cubicBezTo>
                  <a:pt x="51" y="0"/>
                  <a:pt x="0" y="51"/>
                  <a:pt x="0" y="114"/>
                </a:cubicBezTo>
                <a:cubicBezTo>
                  <a:pt x="0" y="152"/>
                  <a:pt x="19" y="188"/>
                  <a:pt x="52" y="209"/>
                </a:cubicBezTo>
                <a:cubicBezTo>
                  <a:pt x="54" y="210"/>
                  <a:pt x="55" y="211"/>
                  <a:pt x="57" y="211"/>
                </a:cubicBezTo>
                <a:cubicBezTo>
                  <a:pt x="60" y="211"/>
                  <a:pt x="63" y="209"/>
                  <a:pt x="65" y="206"/>
                </a:cubicBezTo>
                <a:cubicBezTo>
                  <a:pt x="68" y="202"/>
                  <a:pt x="67" y="196"/>
                  <a:pt x="62" y="193"/>
                </a:cubicBezTo>
                <a:cubicBezTo>
                  <a:pt x="35" y="176"/>
                  <a:pt x="19" y="146"/>
                  <a:pt x="19" y="114"/>
                </a:cubicBezTo>
                <a:cubicBezTo>
                  <a:pt x="19" y="61"/>
                  <a:pt x="61" y="18"/>
                  <a:pt x="114" y="18"/>
                </a:cubicBezTo>
                <a:cubicBezTo>
                  <a:pt x="166" y="18"/>
                  <a:pt x="209" y="61"/>
                  <a:pt x="209" y="114"/>
                </a:cubicBezTo>
                <a:cubicBezTo>
                  <a:pt x="209" y="145"/>
                  <a:pt x="194" y="174"/>
                  <a:pt x="168" y="192"/>
                </a:cubicBezTo>
                <a:cubicBezTo>
                  <a:pt x="163" y="195"/>
                  <a:pt x="162" y="201"/>
                  <a:pt x="165" y="205"/>
                </a:cubicBezTo>
                <a:cubicBezTo>
                  <a:pt x="168" y="209"/>
                  <a:pt x="174" y="211"/>
                  <a:pt x="178" y="208"/>
                </a:cubicBezTo>
                <a:cubicBezTo>
                  <a:pt x="209" y="186"/>
                  <a:pt x="228" y="151"/>
                  <a:pt x="228" y="114"/>
                </a:cubicBezTo>
                <a:cubicBezTo>
                  <a:pt x="228" y="51"/>
                  <a:pt x="177" y="0"/>
                  <a:pt x="114" y="0"/>
                </a:cubicBezTo>
                <a:close/>
              </a:path>
            </a:pathLst>
          </a:custGeom>
          <a:solidFill>
            <a:srgbClr val="FEFFFF"/>
          </a:solidFill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4"/>
          <p:cNvSpPr>
            <a:spLocks noChangeArrowheads="1"/>
          </p:cNvSpPr>
          <p:nvPr/>
        </p:nvSpPr>
        <p:spPr bwMode="auto">
          <a:xfrm>
            <a:off x="1754188" y="1772816"/>
            <a:ext cx="7167563" cy="266382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算法简单，对表结构无要求（顺序和链式）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n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很大时查找效率较低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改进措施：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非等概率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查找时，可按照查找概率进行排序。</a:t>
            </a:r>
          </a:p>
        </p:txBody>
      </p:sp>
      <p:sp>
        <p:nvSpPr>
          <p:cNvPr id="21507" name="Rectangle 5"/>
          <p:cNvSpPr>
            <a:spLocks noChangeArrowheads="1"/>
          </p:cNvSpPr>
          <p:nvPr/>
        </p:nvSpPr>
        <p:spPr bwMode="auto">
          <a:xfrm>
            <a:off x="827088" y="212725"/>
            <a:ext cx="4387850" cy="51593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顺序查找算法有特点</a:t>
            </a:r>
          </a:p>
        </p:txBody>
      </p:sp>
      <p:grpSp>
        <p:nvGrpSpPr>
          <p:cNvPr id="36867" name="组合 16"/>
          <p:cNvGrpSpPr/>
          <p:nvPr/>
        </p:nvGrpSpPr>
        <p:grpSpPr>
          <a:xfrm>
            <a:off x="663575" y="1984375"/>
            <a:ext cx="657225" cy="663575"/>
            <a:chOff x="4929188" y="1303338"/>
            <a:chExt cx="501650" cy="506412"/>
          </a:xfrm>
        </p:grpSpPr>
        <p:sp>
          <p:nvSpPr>
            <p:cNvPr id="5" name="Freeform 6"/>
            <p:cNvSpPr/>
            <p:nvPr/>
          </p:nvSpPr>
          <p:spPr bwMode="auto">
            <a:xfrm>
              <a:off x="4929188" y="1303338"/>
              <a:ext cx="501650" cy="506412"/>
            </a:xfrm>
            <a:custGeom>
              <a:avLst/>
              <a:gdLst>
                <a:gd name="T0" fmla="*/ 134 w 134"/>
                <a:gd name="T1" fmla="*/ 36 h 135"/>
                <a:gd name="T2" fmla="*/ 134 w 134"/>
                <a:gd name="T3" fmla="*/ 98 h 135"/>
                <a:gd name="T4" fmla="*/ 98 w 134"/>
                <a:gd name="T5" fmla="*/ 135 h 135"/>
                <a:gd name="T6" fmla="*/ 36 w 134"/>
                <a:gd name="T7" fmla="*/ 135 h 135"/>
                <a:gd name="T8" fmla="*/ 0 w 134"/>
                <a:gd name="T9" fmla="*/ 98 h 135"/>
                <a:gd name="T10" fmla="*/ 0 w 134"/>
                <a:gd name="T11" fmla="*/ 36 h 135"/>
                <a:gd name="T12" fmla="*/ 36 w 134"/>
                <a:gd name="T13" fmla="*/ 0 h 135"/>
                <a:gd name="T14" fmla="*/ 134 w 134"/>
                <a:gd name="T15" fmla="*/ 0 h 135"/>
                <a:gd name="T16" fmla="*/ 134 w 134"/>
                <a:gd name="T17" fmla="*/ 36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4" h="135">
                  <a:moveTo>
                    <a:pt x="134" y="36"/>
                  </a:moveTo>
                  <a:cubicBezTo>
                    <a:pt x="134" y="98"/>
                    <a:pt x="134" y="98"/>
                    <a:pt x="134" y="98"/>
                  </a:cubicBezTo>
                  <a:cubicBezTo>
                    <a:pt x="134" y="118"/>
                    <a:pt x="118" y="135"/>
                    <a:pt x="98" y="135"/>
                  </a:cubicBezTo>
                  <a:cubicBezTo>
                    <a:pt x="36" y="135"/>
                    <a:pt x="36" y="135"/>
                    <a:pt x="36" y="135"/>
                  </a:cubicBezTo>
                  <a:cubicBezTo>
                    <a:pt x="16" y="135"/>
                    <a:pt x="0" y="118"/>
                    <a:pt x="0" y="98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0" y="16"/>
                    <a:pt x="16" y="0"/>
                    <a:pt x="36" y="0"/>
                  </a:cubicBezTo>
                  <a:cubicBezTo>
                    <a:pt x="134" y="0"/>
                    <a:pt x="134" y="0"/>
                    <a:pt x="134" y="0"/>
                  </a:cubicBezTo>
                  <a:lnTo>
                    <a:pt x="134" y="36"/>
                  </a:lnTo>
                  <a:close/>
                </a:path>
              </a:pathLst>
            </a:custGeom>
            <a:solidFill>
              <a:srgbClr val="65A5D9"/>
            </a:solidFill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" name="Freeform 7"/>
            <p:cNvSpPr/>
            <p:nvPr/>
          </p:nvSpPr>
          <p:spPr bwMode="auto">
            <a:xfrm>
              <a:off x="4995833" y="1359068"/>
              <a:ext cx="371996" cy="205957"/>
            </a:xfrm>
            <a:custGeom>
              <a:avLst/>
              <a:gdLst>
                <a:gd name="T0" fmla="*/ 97 w 99"/>
                <a:gd name="T1" fmla="*/ 44 h 55"/>
                <a:gd name="T2" fmla="*/ 50 w 99"/>
                <a:gd name="T3" fmla="*/ 0 h 55"/>
                <a:gd name="T4" fmla="*/ 3 w 99"/>
                <a:gd name="T5" fmla="*/ 44 h 55"/>
                <a:gd name="T6" fmla="*/ 3 w 99"/>
                <a:gd name="T7" fmla="*/ 53 h 55"/>
                <a:gd name="T8" fmla="*/ 8 w 99"/>
                <a:gd name="T9" fmla="*/ 55 h 55"/>
                <a:gd name="T10" fmla="*/ 12 w 99"/>
                <a:gd name="T11" fmla="*/ 53 h 55"/>
                <a:gd name="T12" fmla="*/ 50 w 99"/>
                <a:gd name="T13" fmla="*/ 18 h 55"/>
                <a:gd name="T14" fmla="*/ 87 w 99"/>
                <a:gd name="T15" fmla="*/ 53 h 55"/>
                <a:gd name="T16" fmla="*/ 92 w 99"/>
                <a:gd name="T17" fmla="*/ 55 h 55"/>
                <a:gd name="T18" fmla="*/ 97 w 99"/>
                <a:gd name="T19" fmla="*/ 53 h 55"/>
                <a:gd name="T20" fmla="*/ 97 w 99"/>
                <a:gd name="T21" fmla="*/ 44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9" h="55">
                  <a:moveTo>
                    <a:pt x="97" y="44"/>
                  </a:moveTo>
                  <a:cubicBezTo>
                    <a:pt x="50" y="0"/>
                    <a:pt x="50" y="0"/>
                    <a:pt x="50" y="0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1" y="46"/>
                    <a:pt x="0" y="50"/>
                    <a:pt x="3" y="53"/>
                  </a:cubicBezTo>
                  <a:cubicBezTo>
                    <a:pt x="4" y="54"/>
                    <a:pt x="6" y="55"/>
                    <a:pt x="8" y="55"/>
                  </a:cubicBezTo>
                  <a:cubicBezTo>
                    <a:pt x="9" y="55"/>
                    <a:pt x="11" y="54"/>
                    <a:pt x="12" y="53"/>
                  </a:cubicBezTo>
                  <a:cubicBezTo>
                    <a:pt x="50" y="18"/>
                    <a:pt x="50" y="18"/>
                    <a:pt x="50" y="18"/>
                  </a:cubicBezTo>
                  <a:cubicBezTo>
                    <a:pt x="87" y="53"/>
                    <a:pt x="87" y="53"/>
                    <a:pt x="87" y="53"/>
                  </a:cubicBezTo>
                  <a:cubicBezTo>
                    <a:pt x="89" y="54"/>
                    <a:pt x="90" y="55"/>
                    <a:pt x="92" y="55"/>
                  </a:cubicBezTo>
                  <a:cubicBezTo>
                    <a:pt x="94" y="55"/>
                    <a:pt x="96" y="54"/>
                    <a:pt x="97" y="53"/>
                  </a:cubicBezTo>
                  <a:cubicBezTo>
                    <a:pt x="99" y="50"/>
                    <a:pt x="99" y="46"/>
                    <a:pt x="97" y="44"/>
                  </a:cubicBezTo>
                  <a:close/>
                </a:path>
              </a:pathLst>
            </a:custGeom>
            <a:solidFill>
              <a:srgbClr val="ECECEB"/>
            </a:solidFill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7" name="Freeform 8"/>
            <p:cNvSpPr/>
            <p:nvPr/>
          </p:nvSpPr>
          <p:spPr bwMode="auto">
            <a:xfrm>
              <a:off x="5056418" y="1446296"/>
              <a:ext cx="255671" cy="265322"/>
            </a:xfrm>
            <a:custGeom>
              <a:avLst/>
              <a:gdLst>
                <a:gd name="T0" fmla="*/ 0 w 68"/>
                <a:gd name="T1" fmla="*/ 32 h 71"/>
                <a:gd name="T2" fmla="*/ 0 w 68"/>
                <a:gd name="T3" fmla="*/ 68 h 71"/>
                <a:gd name="T4" fmla="*/ 5 w 68"/>
                <a:gd name="T5" fmla="*/ 71 h 71"/>
                <a:gd name="T6" fmla="*/ 22 w 68"/>
                <a:gd name="T7" fmla="*/ 71 h 71"/>
                <a:gd name="T8" fmla="*/ 22 w 68"/>
                <a:gd name="T9" fmla="*/ 44 h 71"/>
                <a:gd name="T10" fmla="*/ 46 w 68"/>
                <a:gd name="T11" fmla="*/ 44 h 71"/>
                <a:gd name="T12" fmla="*/ 46 w 68"/>
                <a:gd name="T13" fmla="*/ 71 h 71"/>
                <a:gd name="T14" fmla="*/ 63 w 68"/>
                <a:gd name="T15" fmla="*/ 71 h 71"/>
                <a:gd name="T16" fmla="*/ 68 w 68"/>
                <a:gd name="T17" fmla="*/ 68 h 71"/>
                <a:gd name="T18" fmla="*/ 68 w 68"/>
                <a:gd name="T19" fmla="*/ 32 h 71"/>
                <a:gd name="T20" fmla="*/ 34 w 68"/>
                <a:gd name="T21" fmla="*/ 0 h 71"/>
                <a:gd name="T22" fmla="*/ 0 w 68"/>
                <a:gd name="T23" fmla="*/ 32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8" h="71">
                  <a:moveTo>
                    <a:pt x="0" y="32"/>
                  </a:moveTo>
                  <a:cubicBezTo>
                    <a:pt x="0" y="68"/>
                    <a:pt x="0" y="68"/>
                    <a:pt x="0" y="68"/>
                  </a:cubicBezTo>
                  <a:cubicBezTo>
                    <a:pt x="0" y="70"/>
                    <a:pt x="2" y="71"/>
                    <a:pt x="5" y="71"/>
                  </a:cubicBezTo>
                  <a:cubicBezTo>
                    <a:pt x="22" y="71"/>
                    <a:pt x="22" y="71"/>
                    <a:pt x="22" y="71"/>
                  </a:cubicBezTo>
                  <a:cubicBezTo>
                    <a:pt x="22" y="44"/>
                    <a:pt x="22" y="44"/>
                    <a:pt x="22" y="44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46" y="71"/>
                    <a:pt x="46" y="71"/>
                    <a:pt x="46" y="71"/>
                  </a:cubicBezTo>
                  <a:cubicBezTo>
                    <a:pt x="63" y="71"/>
                    <a:pt x="63" y="71"/>
                    <a:pt x="63" y="71"/>
                  </a:cubicBezTo>
                  <a:cubicBezTo>
                    <a:pt x="66" y="71"/>
                    <a:pt x="68" y="70"/>
                    <a:pt x="68" y="68"/>
                  </a:cubicBezTo>
                  <a:cubicBezTo>
                    <a:pt x="68" y="32"/>
                    <a:pt x="68" y="32"/>
                    <a:pt x="68" y="32"/>
                  </a:cubicBezTo>
                  <a:cubicBezTo>
                    <a:pt x="34" y="0"/>
                    <a:pt x="34" y="0"/>
                    <a:pt x="34" y="0"/>
                  </a:cubicBezTo>
                  <a:lnTo>
                    <a:pt x="0" y="32"/>
                  </a:lnTo>
                  <a:close/>
                </a:path>
              </a:pathLst>
            </a:custGeom>
            <a:solidFill>
              <a:srgbClr val="ECECEB"/>
            </a:solidFill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36871" name="组合 20"/>
          <p:cNvGrpSpPr/>
          <p:nvPr/>
        </p:nvGrpSpPr>
        <p:grpSpPr>
          <a:xfrm>
            <a:off x="657225" y="3016250"/>
            <a:ext cx="663575" cy="661988"/>
            <a:chOff x="1339850" y="2163763"/>
            <a:chExt cx="506413" cy="506412"/>
          </a:xfrm>
        </p:grpSpPr>
        <p:sp>
          <p:nvSpPr>
            <p:cNvPr id="9" name="Freeform 13"/>
            <p:cNvSpPr/>
            <p:nvPr/>
          </p:nvSpPr>
          <p:spPr bwMode="auto">
            <a:xfrm>
              <a:off x="1339850" y="2163763"/>
              <a:ext cx="506413" cy="506412"/>
            </a:xfrm>
            <a:custGeom>
              <a:avLst/>
              <a:gdLst>
                <a:gd name="T0" fmla="*/ 135 w 135"/>
                <a:gd name="T1" fmla="*/ 36 h 135"/>
                <a:gd name="T2" fmla="*/ 135 w 135"/>
                <a:gd name="T3" fmla="*/ 98 h 135"/>
                <a:gd name="T4" fmla="*/ 98 w 135"/>
                <a:gd name="T5" fmla="*/ 135 h 135"/>
                <a:gd name="T6" fmla="*/ 37 w 135"/>
                <a:gd name="T7" fmla="*/ 135 h 135"/>
                <a:gd name="T8" fmla="*/ 0 w 135"/>
                <a:gd name="T9" fmla="*/ 98 h 135"/>
                <a:gd name="T10" fmla="*/ 0 w 135"/>
                <a:gd name="T11" fmla="*/ 36 h 135"/>
                <a:gd name="T12" fmla="*/ 37 w 135"/>
                <a:gd name="T13" fmla="*/ 0 h 135"/>
                <a:gd name="T14" fmla="*/ 135 w 135"/>
                <a:gd name="T15" fmla="*/ 0 h 135"/>
                <a:gd name="T16" fmla="*/ 135 w 135"/>
                <a:gd name="T17" fmla="*/ 36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5" h="135">
                  <a:moveTo>
                    <a:pt x="135" y="36"/>
                  </a:moveTo>
                  <a:cubicBezTo>
                    <a:pt x="135" y="98"/>
                    <a:pt x="135" y="98"/>
                    <a:pt x="135" y="98"/>
                  </a:cubicBezTo>
                  <a:cubicBezTo>
                    <a:pt x="135" y="118"/>
                    <a:pt x="118" y="135"/>
                    <a:pt x="98" y="135"/>
                  </a:cubicBezTo>
                  <a:cubicBezTo>
                    <a:pt x="37" y="135"/>
                    <a:pt x="37" y="135"/>
                    <a:pt x="37" y="135"/>
                  </a:cubicBezTo>
                  <a:cubicBezTo>
                    <a:pt x="16" y="135"/>
                    <a:pt x="0" y="118"/>
                    <a:pt x="0" y="98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0" y="16"/>
                    <a:pt x="16" y="0"/>
                    <a:pt x="37" y="0"/>
                  </a:cubicBezTo>
                  <a:cubicBezTo>
                    <a:pt x="135" y="0"/>
                    <a:pt x="135" y="0"/>
                    <a:pt x="135" y="0"/>
                  </a:cubicBezTo>
                  <a:lnTo>
                    <a:pt x="135" y="36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0" name="Freeform 14"/>
            <p:cNvSpPr/>
            <p:nvPr/>
          </p:nvSpPr>
          <p:spPr bwMode="auto">
            <a:xfrm>
              <a:off x="1499770" y="2276704"/>
              <a:ext cx="176881" cy="104440"/>
            </a:xfrm>
            <a:custGeom>
              <a:avLst/>
              <a:gdLst>
                <a:gd name="T0" fmla="*/ 111 w 111"/>
                <a:gd name="T1" fmla="*/ 0 h 66"/>
                <a:gd name="T2" fmla="*/ 55 w 111"/>
                <a:gd name="T3" fmla="*/ 0 h 66"/>
                <a:gd name="T4" fmla="*/ 55 w 111"/>
                <a:gd name="T5" fmla="*/ 54 h 66"/>
                <a:gd name="T6" fmla="*/ 14 w 111"/>
                <a:gd name="T7" fmla="*/ 54 h 66"/>
                <a:gd name="T8" fmla="*/ 14 w 111"/>
                <a:gd name="T9" fmla="*/ 0 h 66"/>
                <a:gd name="T10" fmla="*/ 0 w 111"/>
                <a:gd name="T11" fmla="*/ 0 h 66"/>
                <a:gd name="T12" fmla="*/ 0 w 111"/>
                <a:gd name="T13" fmla="*/ 66 h 66"/>
                <a:gd name="T14" fmla="*/ 111 w 111"/>
                <a:gd name="T15" fmla="*/ 66 h 66"/>
                <a:gd name="T16" fmla="*/ 111 w 111"/>
                <a:gd name="T17" fmla="*/ 0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1" h="66">
                  <a:moveTo>
                    <a:pt x="111" y="0"/>
                  </a:moveTo>
                  <a:lnTo>
                    <a:pt x="55" y="0"/>
                  </a:lnTo>
                  <a:lnTo>
                    <a:pt x="55" y="54"/>
                  </a:lnTo>
                  <a:lnTo>
                    <a:pt x="14" y="54"/>
                  </a:lnTo>
                  <a:lnTo>
                    <a:pt x="14" y="0"/>
                  </a:lnTo>
                  <a:lnTo>
                    <a:pt x="0" y="0"/>
                  </a:lnTo>
                  <a:lnTo>
                    <a:pt x="0" y="66"/>
                  </a:lnTo>
                  <a:lnTo>
                    <a:pt x="111" y="66"/>
                  </a:lnTo>
                  <a:lnTo>
                    <a:pt x="111" y="0"/>
                  </a:lnTo>
                  <a:close/>
                </a:path>
              </a:pathLst>
            </a:custGeom>
            <a:solidFill>
              <a:srgbClr val="ECECEB"/>
            </a:solidFill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" name="Freeform 15"/>
            <p:cNvSpPr>
              <a:spLocks noEditPoints="1"/>
            </p:cNvSpPr>
            <p:nvPr/>
          </p:nvSpPr>
          <p:spPr bwMode="auto">
            <a:xfrm>
              <a:off x="1447675" y="2276704"/>
              <a:ext cx="289552" cy="278101"/>
            </a:xfrm>
            <a:custGeom>
              <a:avLst/>
              <a:gdLst>
                <a:gd name="T0" fmla="*/ 72 w 77"/>
                <a:gd name="T1" fmla="*/ 0 h 74"/>
                <a:gd name="T2" fmla="*/ 64 w 77"/>
                <a:gd name="T3" fmla="*/ 0 h 74"/>
                <a:gd name="T4" fmla="*/ 64 w 77"/>
                <a:gd name="T5" fmla="*/ 31 h 74"/>
                <a:gd name="T6" fmla="*/ 10 w 77"/>
                <a:gd name="T7" fmla="*/ 31 h 74"/>
                <a:gd name="T8" fmla="*/ 10 w 77"/>
                <a:gd name="T9" fmla="*/ 0 h 74"/>
                <a:gd name="T10" fmla="*/ 5 w 77"/>
                <a:gd name="T11" fmla="*/ 0 h 74"/>
                <a:gd name="T12" fmla="*/ 0 w 77"/>
                <a:gd name="T13" fmla="*/ 6 h 74"/>
                <a:gd name="T14" fmla="*/ 0 w 77"/>
                <a:gd name="T15" fmla="*/ 68 h 74"/>
                <a:gd name="T16" fmla="*/ 5 w 77"/>
                <a:gd name="T17" fmla="*/ 74 h 74"/>
                <a:gd name="T18" fmla="*/ 72 w 77"/>
                <a:gd name="T19" fmla="*/ 74 h 74"/>
                <a:gd name="T20" fmla="*/ 77 w 77"/>
                <a:gd name="T21" fmla="*/ 68 h 74"/>
                <a:gd name="T22" fmla="*/ 77 w 77"/>
                <a:gd name="T23" fmla="*/ 6 h 74"/>
                <a:gd name="T24" fmla="*/ 72 w 77"/>
                <a:gd name="T25" fmla="*/ 0 h 74"/>
                <a:gd name="T26" fmla="*/ 38 w 77"/>
                <a:gd name="T27" fmla="*/ 65 h 74"/>
                <a:gd name="T28" fmla="*/ 22 w 77"/>
                <a:gd name="T29" fmla="*/ 49 h 74"/>
                <a:gd name="T30" fmla="*/ 38 w 77"/>
                <a:gd name="T31" fmla="*/ 33 h 74"/>
                <a:gd name="T32" fmla="*/ 54 w 77"/>
                <a:gd name="T33" fmla="*/ 49 h 74"/>
                <a:gd name="T34" fmla="*/ 38 w 77"/>
                <a:gd name="T35" fmla="*/ 65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77" h="74">
                  <a:moveTo>
                    <a:pt x="72" y="0"/>
                  </a:moveTo>
                  <a:cubicBezTo>
                    <a:pt x="64" y="0"/>
                    <a:pt x="64" y="0"/>
                    <a:pt x="64" y="0"/>
                  </a:cubicBezTo>
                  <a:cubicBezTo>
                    <a:pt x="64" y="31"/>
                    <a:pt x="64" y="31"/>
                    <a:pt x="64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" y="0"/>
                    <a:pt x="0" y="3"/>
                    <a:pt x="0" y="6"/>
                  </a:cubicBezTo>
                  <a:cubicBezTo>
                    <a:pt x="0" y="68"/>
                    <a:pt x="0" y="68"/>
                    <a:pt x="0" y="68"/>
                  </a:cubicBezTo>
                  <a:cubicBezTo>
                    <a:pt x="0" y="72"/>
                    <a:pt x="2" y="74"/>
                    <a:pt x="5" y="74"/>
                  </a:cubicBezTo>
                  <a:cubicBezTo>
                    <a:pt x="72" y="74"/>
                    <a:pt x="72" y="74"/>
                    <a:pt x="72" y="74"/>
                  </a:cubicBezTo>
                  <a:cubicBezTo>
                    <a:pt x="75" y="74"/>
                    <a:pt x="77" y="72"/>
                    <a:pt x="77" y="68"/>
                  </a:cubicBezTo>
                  <a:cubicBezTo>
                    <a:pt x="77" y="6"/>
                    <a:pt x="77" y="6"/>
                    <a:pt x="77" y="6"/>
                  </a:cubicBezTo>
                  <a:cubicBezTo>
                    <a:pt x="77" y="3"/>
                    <a:pt x="75" y="0"/>
                    <a:pt x="72" y="0"/>
                  </a:cubicBezTo>
                  <a:close/>
                  <a:moveTo>
                    <a:pt x="38" y="65"/>
                  </a:moveTo>
                  <a:cubicBezTo>
                    <a:pt x="29" y="65"/>
                    <a:pt x="22" y="58"/>
                    <a:pt x="22" y="49"/>
                  </a:cubicBezTo>
                  <a:cubicBezTo>
                    <a:pt x="22" y="40"/>
                    <a:pt x="29" y="33"/>
                    <a:pt x="38" y="33"/>
                  </a:cubicBezTo>
                  <a:cubicBezTo>
                    <a:pt x="46" y="33"/>
                    <a:pt x="54" y="40"/>
                    <a:pt x="54" y="49"/>
                  </a:cubicBezTo>
                  <a:cubicBezTo>
                    <a:pt x="54" y="58"/>
                    <a:pt x="46" y="65"/>
                    <a:pt x="38" y="65"/>
                  </a:cubicBezTo>
                  <a:close/>
                </a:path>
              </a:pathLst>
            </a:custGeom>
            <a:solidFill>
              <a:srgbClr val="ECECEB"/>
            </a:solidFill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2" name="Oval 16"/>
            <p:cNvSpPr>
              <a:spLocks noChangeArrowheads="1"/>
            </p:cNvSpPr>
            <p:nvPr/>
          </p:nvSpPr>
          <p:spPr bwMode="auto">
            <a:xfrm>
              <a:off x="1549442" y="2418790"/>
              <a:ext cx="82383" cy="82580"/>
            </a:xfrm>
            <a:prstGeom prst="ellipse">
              <a:avLst/>
            </a:prstGeom>
            <a:solidFill>
              <a:srgbClr val="ECECEB"/>
            </a:solidFill>
            <a:ln>
              <a:noFill/>
            </a:ln>
          </p:spPr>
          <p:txBody>
            <a:bodyPr/>
            <a:lstStyle>
              <a:lvl1pPr>
                <a:lnSpc>
                  <a:spcPct val="130000"/>
                </a:lnSpc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36876" name="组合 25"/>
          <p:cNvGrpSpPr/>
          <p:nvPr/>
        </p:nvGrpSpPr>
        <p:grpSpPr>
          <a:xfrm>
            <a:off x="663575" y="3894138"/>
            <a:ext cx="657225" cy="663575"/>
            <a:chOff x="5093055" y="2766720"/>
            <a:chExt cx="501650" cy="506413"/>
          </a:xfrm>
        </p:grpSpPr>
        <p:sp>
          <p:nvSpPr>
            <p:cNvPr id="14" name="Freeform 21"/>
            <p:cNvSpPr/>
            <p:nvPr/>
          </p:nvSpPr>
          <p:spPr bwMode="auto">
            <a:xfrm>
              <a:off x="5093055" y="2766720"/>
              <a:ext cx="501650" cy="506413"/>
            </a:xfrm>
            <a:custGeom>
              <a:avLst/>
              <a:gdLst>
                <a:gd name="T0" fmla="*/ 134 w 134"/>
                <a:gd name="T1" fmla="*/ 37 h 135"/>
                <a:gd name="T2" fmla="*/ 134 w 134"/>
                <a:gd name="T3" fmla="*/ 98 h 135"/>
                <a:gd name="T4" fmla="*/ 98 w 134"/>
                <a:gd name="T5" fmla="*/ 135 h 135"/>
                <a:gd name="T6" fmla="*/ 36 w 134"/>
                <a:gd name="T7" fmla="*/ 135 h 135"/>
                <a:gd name="T8" fmla="*/ 0 w 134"/>
                <a:gd name="T9" fmla="*/ 98 h 135"/>
                <a:gd name="T10" fmla="*/ 0 w 134"/>
                <a:gd name="T11" fmla="*/ 37 h 135"/>
                <a:gd name="T12" fmla="*/ 36 w 134"/>
                <a:gd name="T13" fmla="*/ 0 h 135"/>
                <a:gd name="T14" fmla="*/ 134 w 134"/>
                <a:gd name="T15" fmla="*/ 0 h 135"/>
                <a:gd name="T16" fmla="*/ 134 w 134"/>
                <a:gd name="T17" fmla="*/ 37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4" h="135">
                  <a:moveTo>
                    <a:pt x="134" y="37"/>
                  </a:moveTo>
                  <a:cubicBezTo>
                    <a:pt x="134" y="98"/>
                    <a:pt x="134" y="98"/>
                    <a:pt x="134" y="98"/>
                  </a:cubicBezTo>
                  <a:cubicBezTo>
                    <a:pt x="134" y="118"/>
                    <a:pt x="118" y="135"/>
                    <a:pt x="98" y="135"/>
                  </a:cubicBezTo>
                  <a:cubicBezTo>
                    <a:pt x="36" y="135"/>
                    <a:pt x="36" y="135"/>
                    <a:pt x="36" y="135"/>
                  </a:cubicBezTo>
                  <a:cubicBezTo>
                    <a:pt x="16" y="135"/>
                    <a:pt x="0" y="118"/>
                    <a:pt x="0" y="98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6"/>
                    <a:pt x="16" y="0"/>
                    <a:pt x="36" y="0"/>
                  </a:cubicBezTo>
                  <a:cubicBezTo>
                    <a:pt x="134" y="0"/>
                    <a:pt x="134" y="0"/>
                    <a:pt x="134" y="0"/>
                  </a:cubicBezTo>
                  <a:lnTo>
                    <a:pt x="134" y="37"/>
                  </a:lnTo>
                  <a:close/>
                </a:path>
              </a:pathLst>
            </a:custGeom>
            <a:solidFill>
              <a:srgbClr val="9476B6"/>
            </a:solidFill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5" name="Oval 22"/>
            <p:cNvSpPr>
              <a:spLocks noChangeArrowheads="1"/>
            </p:cNvSpPr>
            <p:nvPr/>
          </p:nvSpPr>
          <p:spPr bwMode="auto">
            <a:xfrm>
              <a:off x="5200898" y="3069599"/>
              <a:ext cx="98149" cy="99344"/>
            </a:xfrm>
            <a:prstGeom prst="ellipse">
              <a:avLst/>
            </a:prstGeom>
            <a:solidFill>
              <a:srgbClr val="ECECEB"/>
            </a:solidFill>
            <a:ln>
              <a:noFill/>
            </a:ln>
          </p:spPr>
          <p:txBody>
            <a:bodyPr/>
            <a:lstStyle>
              <a:lvl1pPr>
                <a:lnSpc>
                  <a:spcPct val="130000"/>
                </a:lnSpc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6" name="Freeform 23"/>
            <p:cNvSpPr/>
            <p:nvPr/>
          </p:nvSpPr>
          <p:spPr bwMode="auto">
            <a:xfrm>
              <a:off x="5211803" y="2970254"/>
              <a:ext cx="181757" cy="179304"/>
            </a:xfrm>
            <a:custGeom>
              <a:avLst/>
              <a:gdLst>
                <a:gd name="T0" fmla="*/ 6 w 48"/>
                <a:gd name="T1" fmla="*/ 0 h 48"/>
                <a:gd name="T2" fmla="*/ 0 w 48"/>
                <a:gd name="T3" fmla="*/ 7 h 48"/>
                <a:gd name="T4" fmla="*/ 6 w 48"/>
                <a:gd name="T5" fmla="*/ 13 h 48"/>
                <a:gd name="T6" fmla="*/ 35 w 48"/>
                <a:gd name="T7" fmla="*/ 42 h 48"/>
                <a:gd name="T8" fmla="*/ 42 w 48"/>
                <a:gd name="T9" fmla="*/ 48 h 48"/>
                <a:gd name="T10" fmla="*/ 48 w 48"/>
                <a:gd name="T11" fmla="*/ 42 h 48"/>
                <a:gd name="T12" fmla="*/ 6 w 48"/>
                <a:gd name="T13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48">
                  <a:moveTo>
                    <a:pt x="6" y="0"/>
                  </a:moveTo>
                  <a:cubicBezTo>
                    <a:pt x="3" y="0"/>
                    <a:pt x="0" y="3"/>
                    <a:pt x="0" y="7"/>
                  </a:cubicBezTo>
                  <a:cubicBezTo>
                    <a:pt x="0" y="10"/>
                    <a:pt x="3" y="13"/>
                    <a:pt x="6" y="13"/>
                  </a:cubicBezTo>
                  <a:cubicBezTo>
                    <a:pt x="22" y="13"/>
                    <a:pt x="35" y="26"/>
                    <a:pt x="35" y="42"/>
                  </a:cubicBezTo>
                  <a:cubicBezTo>
                    <a:pt x="35" y="45"/>
                    <a:pt x="38" y="48"/>
                    <a:pt x="42" y="48"/>
                  </a:cubicBezTo>
                  <a:cubicBezTo>
                    <a:pt x="45" y="48"/>
                    <a:pt x="48" y="45"/>
                    <a:pt x="48" y="42"/>
                  </a:cubicBezTo>
                  <a:cubicBezTo>
                    <a:pt x="48" y="19"/>
                    <a:pt x="29" y="0"/>
                    <a:pt x="6" y="0"/>
                  </a:cubicBezTo>
                  <a:close/>
                </a:path>
              </a:pathLst>
            </a:custGeom>
            <a:solidFill>
              <a:srgbClr val="ECECEB"/>
            </a:solidFill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7" name="Freeform 24"/>
            <p:cNvSpPr/>
            <p:nvPr/>
          </p:nvSpPr>
          <p:spPr bwMode="auto">
            <a:xfrm>
              <a:off x="5211803" y="2870910"/>
              <a:ext cx="278694" cy="278648"/>
            </a:xfrm>
            <a:custGeom>
              <a:avLst/>
              <a:gdLst>
                <a:gd name="T0" fmla="*/ 6 w 74"/>
                <a:gd name="T1" fmla="*/ 0 h 74"/>
                <a:gd name="T2" fmla="*/ 0 w 74"/>
                <a:gd name="T3" fmla="*/ 7 h 74"/>
                <a:gd name="T4" fmla="*/ 6 w 74"/>
                <a:gd name="T5" fmla="*/ 13 h 74"/>
                <a:gd name="T6" fmla="*/ 61 w 74"/>
                <a:gd name="T7" fmla="*/ 68 h 74"/>
                <a:gd name="T8" fmla="*/ 68 w 74"/>
                <a:gd name="T9" fmla="*/ 74 h 74"/>
                <a:gd name="T10" fmla="*/ 74 w 74"/>
                <a:gd name="T11" fmla="*/ 68 h 74"/>
                <a:gd name="T12" fmla="*/ 6 w 74"/>
                <a:gd name="T13" fmla="*/ 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4" h="74">
                  <a:moveTo>
                    <a:pt x="6" y="0"/>
                  </a:moveTo>
                  <a:cubicBezTo>
                    <a:pt x="3" y="0"/>
                    <a:pt x="0" y="3"/>
                    <a:pt x="0" y="7"/>
                  </a:cubicBezTo>
                  <a:cubicBezTo>
                    <a:pt x="0" y="10"/>
                    <a:pt x="3" y="13"/>
                    <a:pt x="6" y="13"/>
                  </a:cubicBezTo>
                  <a:cubicBezTo>
                    <a:pt x="37" y="13"/>
                    <a:pt x="61" y="38"/>
                    <a:pt x="61" y="68"/>
                  </a:cubicBezTo>
                  <a:cubicBezTo>
                    <a:pt x="61" y="71"/>
                    <a:pt x="64" y="74"/>
                    <a:pt x="68" y="74"/>
                  </a:cubicBezTo>
                  <a:cubicBezTo>
                    <a:pt x="71" y="74"/>
                    <a:pt x="74" y="71"/>
                    <a:pt x="74" y="68"/>
                  </a:cubicBezTo>
                  <a:cubicBezTo>
                    <a:pt x="74" y="30"/>
                    <a:pt x="44" y="0"/>
                    <a:pt x="6" y="0"/>
                  </a:cubicBezTo>
                  <a:close/>
                </a:path>
              </a:pathLst>
            </a:custGeom>
            <a:solidFill>
              <a:srgbClr val="ECECEB"/>
            </a:solidFill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21" name="Shape 26"/>
          <p:cNvSpPr/>
          <p:nvPr/>
        </p:nvSpPr>
        <p:spPr>
          <a:xfrm flipH="1">
            <a:off x="0" y="5607050"/>
            <a:ext cx="9140825" cy="12509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120000"/>
                </a:moveTo>
                <a:lnTo>
                  <a:pt x="0" y="102222"/>
                </a:lnTo>
                <a:lnTo>
                  <a:pt x="583" y="102222"/>
                </a:lnTo>
                <a:lnTo>
                  <a:pt x="583" y="89777"/>
                </a:lnTo>
                <a:lnTo>
                  <a:pt x="4166" y="89777"/>
                </a:lnTo>
                <a:lnTo>
                  <a:pt x="4166" y="79111"/>
                </a:lnTo>
                <a:lnTo>
                  <a:pt x="6416" y="79111"/>
                </a:lnTo>
                <a:lnTo>
                  <a:pt x="6416" y="91111"/>
                </a:lnTo>
                <a:lnTo>
                  <a:pt x="7625" y="91111"/>
                </a:lnTo>
                <a:lnTo>
                  <a:pt x="7625" y="79111"/>
                </a:lnTo>
                <a:lnTo>
                  <a:pt x="8958" y="79111"/>
                </a:lnTo>
                <a:lnTo>
                  <a:pt x="8958" y="45333"/>
                </a:lnTo>
                <a:lnTo>
                  <a:pt x="9541" y="45333"/>
                </a:lnTo>
                <a:lnTo>
                  <a:pt x="9541" y="39111"/>
                </a:lnTo>
                <a:lnTo>
                  <a:pt x="10958" y="39111"/>
                </a:lnTo>
                <a:lnTo>
                  <a:pt x="10958" y="45333"/>
                </a:lnTo>
                <a:lnTo>
                  <a:pt x="11583" y="45333"/>
                </a:lnTo>
                <a:lnTo>
                  <a:pt x="11583" y="76000"/>
                </a:lnTo>
                <a:lnTo>
                  <a:pt x="12083" y="76000"/>
                </a:lnTo>
                <a:lnTo>
                  <a:pt x="12083" y="95555"/>
                </a:lnTo>
                <a:lnTo>
                  <a:pt x="13250" y="95555"/>
                </a:lnTo>
                <a:lnTo>
                  <a:pt x="13250" y="60000"/>
                </a:lnTo>
                <a:lnTo>
                  <a:pt x="14041" y="60000"/>
                </a:lnTo>
                <a:lnTo>
                  <a:pt x="14041" y="45333"/>
                </a:lnTo>
                <a:lnTo>
                  <a:pt x="14583" y="45333"/>
                </a:lnTo>
                <a:lnTo>
                  <a:pt x="14583" y="27555"/>
                </a:lnTo>
                <a:lnTo>
                  <a:pt x="14958" y="27555"/>
                </a:lnTo>
                <a:lnTo>
                  <a:pt x="14958" y="14222"/>
                </a:lnTo>
                <a:lnTo>
                  <a:pt x="15333" y="14222"/>
                </a:lnTo>
                <a:lnTo>
                  <a:pt x="15333" y="0"/>
                </a:lnTo>
                <a:lnTo>
                  <a:pt x="15958" y="0"/>
                </a:lnTo>
                <a:lnTo>
                  <a:pt x="15958" y="13777"/>
                </a:lnTo>
                <a:lnTo>
                  <a:pt x="16416" y="13777"/>
                </a:lnTo>
                <a:lnTo>
                  <a:pt x="16416" y="24888"/>
                </a:lnTo>
                <a:lnTo>
                  <a:pt x="16791" y="24888"/>
                </a:lnTo>
                <a:lnTo>
                  <a:pt x="16791" y="46222"/>
                </a:lnTo>
                <a:lnTo>
                  <a:pt x="17333" y="46222"/>
                </a:lnTo>
                <a:lnTo>
                  <a:pt x="17333" y="61333"/>
                </a:lnTo>
                <a:lnTo>
                  <a:pt x="17916" y="61333"/>
                </a:lnTo>
                <a:lnTo>
                  <a:pt x="17916" y="101333"/>
                </a:lnTo>
                <a:lnTo>
                  <a:pt x="18875" y="101333"/>
                </a:lnTo>
                <a:lnTo>
                  <a:pt x="18875" y="92000"/>
                </a:lnTo>
                <a:lnTo>
                  <a:pt x="20958" y="92000"/>
                </a:lnTo>
                <a:lnTo>
                  <a:pt x="20958" y="96444"/>
                </a:lnTo>
                <a:lnTo>
                  <a:pt x="21750" y="96444"/>
                </a:lnTo>
                <a:lnTo>
                  <a:pt x="21750" y="54666"/>
                </a:lnTo>
                <a:lnTo>
                  <a:pt x="22333" y="54666"/>
                </a:lnTo>
                <a:lnTo>
                  <a:pt x="22333" y="42666"/>
                </a:lnTo>
                <a:lnTo>
                  <a:pt x="24166" y="42666"/>
                </a:lnTo>
                <a:lnTo>
                  <a:pt x="24166" y="53777"/>
                </a:lnTo>
                <a:lnTo>
                  <a:pt x="24583" y="56888"/>
                </a:lnTo>
                <a:lnTo>
                  <a:pt x="24583" y="85777"/>
                </a:lnTo>
                <a:lnTo>
                  <a:pt x="25291" y="85777"/>
                </a:lnTo>
                <a:lnTo>
                  <a:pt x="25291" y="79555"/>
                </a:lnTo>
                <a:lnTo>
                  <a:pt x="27125" y="79555"/>
                </a:lnTo>
                <a:lnTo>
                  <a:pt x="27125" y="86222"/>
                </a:lnTo>
                <a:lnTo>
                  <a:pt x="28208" y="86222"/>
                </a:lnTo>
                <a:lnTo>
                  <a:pt x="28208" y="92000"/>
                </a:lnTo>
                <a:lnTo>
                  <a:pt x="29416" y="92000"/>
                </a:lnTo>
                <a:lnTo>
                  <a:pt x="29416" y="83555"/>
                </a:lnTo>
                <a:lnTo>
                  <a:pt x="30250" y="83555"/>
                </a:lnTo>
                <a:lnTo>
                  <a:pt x="30250" y="65777"/>
                </a:lnTo>
                <a:lnTo>
                  <a:pt x="35041" y="65777"/>
                </a:lnTo>
                <a:lnTo>
                  <a:pt x="35041" y="83555"/>
                </a:lnTo>
                <a:lnTo>
                  <a:pt x="35875" y="83555"/>
                </a:lnTo>
                <a:lnTo>
                  <a:pt x="35875" y="65777"/>
                </a:lnTo>
                <a:lnTo>
                  <a:pt x="39916" y="65777"/>
                </a:lnTo>
                <a:lnTo>
                  <a:pt x="39916" y="72888"/>
                </a:lnTo>
                <a:lnTo>
                  <a:pt x="41041" y="72888"/>
                </a:lnTo>
                <a:lnTo>
                  <a:pt x="41041" y="99555"/>
                </a:lnTo>
                <a:lnTo>
                  <a:pt x="42583" y="99555"/>
                </a:lnTo>
                <a:lnTo>
                  <a:pt x="42583" y="76888"/>
                </a:lnTo>
                <a:lnTo>
                  <a:pt x="45250" y="56000"/>
                </a:lnTo>
                <a:lnTo>
                  <a:pt x="47875" y="76888"/>
                </a:lnTo>
                <a:lnTo>
                  <a:pt x="47875" y="88888"/>
                </a:lnTo>
                <a:lnTo>
                  <a:pt x="48666" y="88888"/>
                </a:lnTo>
                <a:lnTo>
                  <a:pt x="48666" y="104000"/>
                </a:lnTo>
                <a:lnTo>
                  <a:pt x="49208" y="104000"/>
                </a:lnTo>
                <a:lnTo>
                  <a:pt x="49208" y="73333"/>
                </a:lnTo>
                <a:lnTo>
                  <a:pt x="51500" y="73333"/>
                </a:lnTo>
                <a:lnTo>
                  <a:pt x="51500" y="85777"/>
                </a:lnTo>
                <a:lnTo>
                  <a:pt x="53708" y="85777"/>
                </a:lnTo>
                <a:lnTo>
                  <a:pt x="53708" y="94666"/>
                </a:lnTo>
                <a:lnTo>
                  <a:pt x="54500" y="94666"/>
                </a:lnTo>
                <a:lnTo>
                  <a:pt x="54500" y="85777"/>
                </a:lnTo>
                <a:lnTo>
                  <a:pt x="57125" y="85777"/>
                </a:lnTo>
                <a:lnTo>
                  <a:pt x="57125" y="102222"/>
                </a:lnTo>
                <a:lnTo>
                  <a:pt x="57625" y="102222"/>
                </a:lnTo>
                <a:lnTo>
                  <a:pt x="57625" y="104888"/>
                </a:lnTo>
                <a:lnTo>
                  <a:pt x="58875" y="104888"/>
                </a:lnTo>
                <a:lnTo>
                  <a:pt x="58875" y="94222"/>
                </a:lnTo>
                <a:lnTo>
                  <a:pt x="61666" y="94222"/>
                </a:lnTo>
                <a:lnTo>
                  <a:pt x="61666" y="89777"/>
                </a:lnTo>
                <a:lnTo>
                  <a:pt x="62250" y="89777"/>
                </a:lnTo>
                <a:lnTo>
                  <a:pt x="62250" y="84000"/>
                </a:lnTo>
                <a:lnTo>
                  <a:pt x="62833" y="84000"/>
                </a:lnTo>
                <a:lnTo>
                  <a:pt x="62833" y="88888"/>
                </a:lnTo>
                <a:lnTo>
                  <a:pt x="63500" y="88888"/>
                </a:lnTo>
                <a:lnTo>
                  <a:pt x="63500" y="83111"/>
                </a:lnTo>
                <a:lnTo>
                  <a:pt x="64999" y="83111"/>
                </a:lnTo>
                <a:lnTo>
                  <a:pt x="64999" y="88444"/>
                </a:lnTo>
                <a:lnTo>
                  <a:pt x="65666" y="88444"/>
                </a:lnTo>
                <a:lnTo>
                  <a:pt x="65666" y="103111"/>
                </a:lnTo>
                <a:lnTo>
                  <a:pt x="66916" y="103111"/>
                </a:lnTo>
                <a:lnTo>
                  <a:pt x="66916" y="82666"/>
                </a:lnTo>
                <a:lnTo>
                  <a:pt x="69375" y="82666"/>
                </a:lnTo>
                <a:lnTo>
                  <a:pt x="69375" y="88888"/>
                </a:lnTo>
                <a:lnTo>
                  <a:pt x="70416" y="88888"/>
                </a:lnTo>
                <a:lnTo>
                  <a:pt x="70416" y="46222"/>
                </a:lnTo>
                <a:lnTo>
                  <a:pt x="71500" y="35111"/>
                </a:lnTo>
                <a:lnTo>
                  <a:pt x="72458" y="45777"/>
                </a:lnTo>
                <a:lnTo>
                  <a:pt x="72458" y="103111"/>
                </a:lnTo>
                <a:lnTo>
                  <a:pt x="73583" y="103111"/>
                </a:lnTo>
                <a:lnTo>
                  <a:pt x="73583" y="47555"/>
                </a:lnTo>
                <a:lnTo>
                  <a:pt x="76916" y="47555"/>
                </a:lnTo>
                <a:lnTo>
                  <a:pt x="76916" y="97777"/>
                </a:lnTo>
                <a:lnTo>
                  <a:pt x="77541" y="97777"/>
                </a:lnTo>
                <a:lnTo>
                  <a:pt x="77541" y="85777"/>
                </a:lnTo>
                <a:lnTo>
                  <a:pt x="79000" y="85777"/>
                </a:lnTo>
                <a:lnTo>
                  <a:pt x="79000" y="92888"/>
                </a:lnTo>
                <a:lnTo>
                  <a:pt x="82000" y="92888"/>
                </a:lnTo>
                <a:lnTo>
                  <a:pt x="82000" y="102222"/>
                </a:lnTo>
                <a:lnTo>
                  <a:pt x="84333" y="102222"/>
                </a:lnTo>
                <a:lnTo>
                  <a:pt x="84333" y="88000"/>
                </a:lnTo>
                <a:lnTo>
                  <a:pt x="85583" y="88000"/>
                </a:lnTo>
                <a:lnTo>
                  <a:pt x="85583" y="96000"/>
                </a:lnTo>
                <a:lnTo>
                  <a:pt x="86500" y="96000"/>
                </a:lnTo>
                <a:lnTo>
                  <a:pt x="86500" y="91111"/>
                </a:lnTo>
                <a:lnTo>
                  <a:pt x="87791" y="91111"/>
                </a:lnTo>
                <a:lnTo>
                  <a:pt x="87791" y="84888"/>
                </a:lnTo>
                <a:lnTo>
                  <a:pt x="89375" y="84888"/>
                </a:lnTo>
                <a:lnTo>
                  <a:pt x="89375" y="100888"/>
                </a:lnTo>
                <a:lnTo>
                  <a:pt x="90541" y="100888"/>
                </a:lnTo>
                <a:lnTo>
                  <a:pt x="90541" y="63111"/>
                </a:lnTo>
                <a:lnTo>
                  <a:pt x="92458" y="63555"/>
                </a:lnTo>
                <a:lnTo>
                  <a:pt x="92458" y="84444"/>
                </a:lnTo>
                <a:lnTo>
                  <a:pt x="93750" y="84444"/>
                </a:lnTo>
                <a:lnTo>
                  <a:pt x="93750" y="97333"/>
                </a:lnTo>
                <a:lnTo>
                  <a:pt x="95375" y="97333"/>
                </a:lnTo>
                <a:lnTo>
                  <a:pt x="95375" y="83111"/>
                </a:lnTo>
                <a:lnTo>
                  <a:pt x="96500" y="83111"/>
                </a:lnTo>
                <a:lnTo>
                  <a:pt x="96500" y="77333"/>
                </a:lnTo>
                <a:lnTo>
                  <a:pt x="98000" y="77333"/>
                </a:lnTo>
                <a:lnTo>
                  <a:pt x="98000" y="81333"/>
                </a:lnTo>
                <a:lnTo>
                  <a:pt x="99041" y="81333"/>
                </a:lnTo>
                <a:lnTo>
                  <a:pt x="99041" y="75111"/>
                </a:lnTo>
                <a:lnTo>
                  <a:pt x="101000" y="59555"/>
                </a:lnTo>
                <a:lnTo>
                  <a:pt x="102916" y="75111"/>
                </a:lnTo>
                <a:lnTo>
                  <a:pt x="102916" y="96444"/>
                </a:lnTo>
                <a:lnTo>
                  <a:pt x="103250" y="96444"/>
                </a:lnTo>
                <a:lnTo>
                  <a:pt x="103250" y="92000"/>
                </a:lnTo>
                <a:lnTo>
                  <a:pt x="104750" y="92000"/>
                </a:lnTo>
                <a:lnTo>
                  <a:pt x="104750" y="111111"/>
                </a:lnTo>
                <a:lnTo>
                  <a:pt x="105125" y="111111"/>
                </a:lnTo>
                <a:lnTo>
                  <a:pt x="105125" y="101777"/>
                </a:lnTo>
                <a:lnTo>
                  <a:pt x="106291" y="101777"/>
                </a:lnTo>
                <a:lnTo>
                  <a:pt x="106291" y="81777"/>
                </a:lnTo>
                <a:lnTo>
                  <a:pt x="107791" y="81777"/>
                </a:lnTo>
                <a:lnTo>
                  <a:pt x="107791" y="101777"/>
                </a:lnTo>
                <a:lnTo>
                  <a:pt x="107833" y="101777"/>
                </a:lnTo>
                <a:lnTo>
                  <a:pt x="107833" y="93777"/>
                </a:lnTo>
                <a:lnTo>
                  <a:pt x="108583" y="93777"/>
                </a:lnTo>
                <a:lnTo>
                  <a:pt x="108583" y="89777"/>
                </a:lnTo>
                <a:lnTo>
                  <a:pt x="110166" y="89777"/>
                </a:lnTo>
                <a:lnTo>
                  <a:pt x="110166" y="103111"/>
                </a:lnTo>
                <a:lnTo>
                  <a:pt x="110416" y="103111"/>
                </a:lnTo>
                <a:lnTo>
                  <a:pt x="110416" y="93777"/>
                </a:lnTo>
                <a:lnTo>
                  <a:pt x="110625" y="93777"/>
                </a:lnTo>
                <a:lnTo>
                  <a:pt x="110625" y="76444"/>
                </a:lnTo>
                <a:lnTo>
                  <a:pt x="111416" y="76444"/>
                </a:lnTo>
                <a:lnTo>
                  <a:pt x="111416" y="68444"/>
                </a:lnTo>
                <a:lnTo>
                  <a:pt x="111833" y="68444"/>
                </a:lnTo>
                <a:lnTo>
                  <a:pt x="111833" y="64000"/>
                </a:lnTo>
                <a:lnTo>
                  <a:pt x="112916" y="64000"/>
                </a:lnTo>
                <a:lnTo>
                  <a:pt x="112916" y="68444"/>
                </a:lnTo>
                <a:lnTo>
                  <a:pt x="113375" y="68444"/>
                </a:lnTo>
                <a:lnTo>
                  <a:pt x="113375" y="91555"/>
                </a:lnTo>
                <a:lnTo>
                  <a:pt x="113416" y="91555"/>
                </a:lnTo>
                <a:lnTo>
                  <a:pt x="113416" y="91555"/>
                </a:lnTo>
                <a:lnTo>
                  <a:pt x="114666" y="91555"/>
                </a:lnTo>
                <a:lnTo>
                  <a:pt x="114666" y="79555"/>
                </a:lnTo>
                <a:lnTo>
                  <a:pt x="115250" y="79555"/>
                </a:lnTo>
                <a:lnTo>
                  <a:pt x="115250" y="68444"/>
                </a:lnTo>
                <a:lnTo>
                  <a:pt x="115625" y="68444"/>
                </a:lnTo>
                <a:lnTo>
                  <a:pt x="115625" y="55111"/>
                </a:lnTo>
                <a:lnTo>
                  <a:pt x="115916" y="55111"/>
                </a:lnTo>
                <a:lnTo>
                  <a:pt x="115916" y="44888"/>
                </a:lnTo>
                <a:lnTo>
                  <a:pt x="116250" y="44888"/>
                </a:lnTo>
                <a:lnTo>
                  <a:pt x="116250" y="34222"/>
                </a:lnTo>
                <a:lnTo>
                  <a:pt x="116666" y="34222"/>
                </a:lnTo>
                <a:lnTo>
                  <a:pt x="116666" y="44444"/>
                </a:lnTo>
                <a:lnTo>
                  <a:pt x="117000" y="44444"/>
                </a:lnTo>
                <a:lnTo>
                  <a:pt x="117000" y="52888"/>
                </a:lnTo>
                <a:lnTo>
                  <a:pt x="117333" y="52888"/>
                </a:lnTo>
                <a:lnTo>
                  <a:pt x="117333" y="68888"/>
                </a:lnTo>
                <a:lnTo>
                  <a:pt x="117708" y="68888"/>
                </a:lnTo>
                <a:lnTo>
                  <a:pt x="117708" y="80444"/>
                </a:lnTo>
                <a:lnTo>
                  <a:pt x="118166" y="80444"/>
                </a:lnTo>
                <a:lnTo>
                  <a:pt x="118166" y="92000"/>
                </a:lnTo>
                <a:lnTo>
                  <a:pt x="120000" y="9200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000000">
              <a:lumMod val="50000"/>
              <a:lumOff val="50000"/>
            </a:srgbClr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</p:spPr>
        <p:txBody>
          <a:bodyPr lIns="68569" tIns="34275" rIns="68569" bIns="34275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015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4"/>
          <p:cNvSpPr>
            <a:spLocks noChangeArrowheads="1"/>
          </p:cNvSpPr>
          <p:nvPr/>
        </p:nvSpPr>
        <p:spPr bwMode="auto">
          <a:xfrm>
            <a:off x="611188" y="1471613"/>
            <a:ext cx="7994650" cy="1822450"/>
          </a:xfrm>
          <a:prstGeom prst="roundRect">
            <a:avLst>
              <a:gd name="adj" fmla="val 11963"/>
            </a:avLst>
          </a:prstGeom>
          <a:solidFill>
            <a:srgbClr val="EBEBEB"/>
          </a:solidFill>
          <a:ln w="57150">
            <a:noFill/>
            <a:miter lim="800000"/>
          </a:ln>
        </p:spPr>
        <p:txBody>
          <a:bodyPr anchor="ctr"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n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个数存在一维数组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A[1..n]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中，在进行顺序查找时，这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n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个数的排列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有序或无序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其平均查找长度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ASL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不同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。 </a:t>
            </a:r>
          </a:p>
        </p:txBody>
      </p:sp>
      <p:sp>
        <p:nvSpPr>
          <p:cNvPr id="22531" name="Rectangle 5"/>
          <p:cNvSpPr>
            <a:spLocks noChangeArrowheads="1"/>
          </p:cNvSpPr>
          <p:nvPr/>
        </p:nvSpPr>
        <p:spPr bwMode="auto">
          <a:xfrm>
            <a:off x="827088" y="125413"/>
            <a:ext cx="4067175" cy="6858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练习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: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判断对错</a:t>
            </a:r>
          </a:p>
        </p:txBody>
      </p:sp>
      <p:sp>
        <p:nvSpPr>
          <p:cNvPr id="1032198" name="Rectangle 6"/>
          <p:cNvSpPr>
            <a:spLocks noChangeArrowheads="1"/>
          </p:cNvSpPr>
          <p:nvPr/>
        </p:nvSpPr>
        <p:spPr bwMode="auto">
          <a:xfrm>
            <a:off x="652463" y="3573463"/>
            <a:ext cx="7993063" cy="2354263"/>
          </a:xfrm>
          <a:prstGeom prst="roundRect">
            <a:avLst>
              <a:gd name="adj" fmla="val 9275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anchor="ctr"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查找概率相等时，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ASL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相同；</a:t>
            </a:r>
          </a:p>
          <a:p>
            <a:pPr marL="0" marR="0" lvl="0" indent="0" algn="l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查找概率不等时，如果从前向后查找，则按查找概率由大到小排列的有序表其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ASL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要比无序表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ASL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小。 </a:t>
            </a:r>
          </a:p>
        </p:txBody>
      </p:sp>
      <p:grpSp>
        <p:nvGrpSpPr>
          <p:cNvPr id="2" name="Group 8"/>
          <p:cNvGrpSpPr/>
          <p:nvPr/>
        </p:nvGrpSpPr>
        <p:grpSpPr>
          <a:xfrm>
            <a:off x="7283450" y="2025650"/>
            <a:ext cx="884238" cy="822325"/>
            <a:chOff x="1428" y="1188"/>
            <a:chExt cx="1704" cy="1368"/>
          </a:xfrm>
        </p:grpSpPr>
        <p:sp>
          <p:nvSpPr>
            <p:cNvPr id="22534" name="Line 9"/>
            <p:cNvSpPr>
              <a:spLocks noChangeShapeType="1"/>
            </p:cNvSpPr>
            <p:nvPr/>
          </p:nvSpPr>
          <p:spPr bwMode="auto">
            <a:xfrm>
              <a:off x="1440" y="1188"/>
              <a:ext cx="1643" cy="1368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25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535" name="Line 10"/>
            <p:cNvSpPr>
              <a:spLocks noChangeShapeType="1"/>
            </p:cNvSpPr>
            <p:nvPr/>
          </p:nvSpPr>
          <p:spPr bwMode="auto">
            <a:xfrm flipH="1">
              <a:off x="1428" y="1283"/>
              <a:ext cx="1704" cy="1178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25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1032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219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矩形 2"/>
          <p:cNvSpPr>
            <a:spLocks noChangeArrowheads="1"/>
          </p:cNvSpPr>
          <p:nvPr/>
        </p:nvSpPr>
        <p:spPr bwMode="auto">
          <a:xfrm>
            <a:off x="0" y="2349500"/>
            <a:ext cx="9144000" cy="4406900"/>
          </a:xfrm>
          <a:prstGeom prst="rect">
            <a:avLst/>
          </a:prstGeom>
          <a:solidFill>
            <a:srgbClr val="CCCCFF"/>
          </a:solidFill>
          <a:ln>
            <a:noFill/>
          </a:ln>
        </p:spPr>
        <p:txBody>
          <a:bodyPr/>
          <a:lstStyle>
            <a:lvl1pPr marL="342900" indent="-3429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2" name="Group 5"/>
          <p:cNvGrpSpPr/>
          <p:nvPr/>
        </p:nvGrpSpPr>
        <p:grpSpPr>
          <a:xfrm>
            <a:off x="415925" y="3281363"/>
            <a:ext cx="6461125" cy="625475"/>
            <a:chOff x="961" y="1653"/>
            <a:chExt cx="4070" cy="394"/>
          </a:xfrm>
        </p:grpSpPr>
        <p:grpSp>
          <p:nvGrpSpPr>
            <p:cNvPr id="38915" name="Group 6"/>
            <p:cNvGrpSpPr/>
            <p:nvPr/>
          </p:nvGrpSpPr>
          <p:grpSpPr>
            <a:xfrm>
              <a:off x="961" y="1657"/>
              <a:ext cx="356" cy="390"/>
              <a:chOff x="975" y="1167"/>
              <a:chExt cx="356" cy="390"/>
            </a:xfrm>
          </p:grpSpPr>
          <p:sp>
            <p:nvSpPr>
              <p:cNvPr id="23556" name="Line 7"/>
              <p:cNvSpPr>
                <a:spLocks noChangeShapeType="1"/>
              </p:cNvSpPr>
              <p:nvPr/>
            </p:nvSpPr>
            <p:spPr bwMode="auto">
              <a:xfrm flipV="1">
                <a:off x="1122" y="1167"/>
                <a:ext cx="0" cy="2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3557" name="Text Box 8"/>
              <p:cNvSpPr txBox="1">
                <a:spLocks noChangeArrowheads="1"/>
              </p:cNvSpPr>
              <p:nvPr/>
            </p:nvSpPr>
            <p:spPr bwMode="auto">
              <a:xfrm>
                <a:off x="975" y="1307"/>
                <a:ext cx="356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1pPr>
                <a:lvl2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2pPr>
                <a:lvl3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3pPr>
                <a:lvl4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4pPr>
                <a:lvl5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rPr>
                  <a:t>low</a:t>
                </a:r>
              </a:p>
            </p:txBody>
          </p:sp>
        </p:grpSp>
        <p:grpSp>
          <p:nvGrpSpPr>
            <p:cNvPr id="38918" name="Group 9"/>
            <p:cNvGrpSpPr/>
            <p:nvPr/>
          </p:nvGrpSpPr>
          <p:grpSpPr>
            <a:xfrm>
              <a:off x="4613" y="1653"/>
              <a:ext cx="418" cy="390"/>
              <a:chOff x="975" y="1167"/>
              <a:chExt cx="418" cy="390"/>
            </a:xfrm>
          </p:grpSpPr>
          <p:sp>
            <p:nvSpPr>
              <p:cNvPr id="23559" name="Line 10"/>
              <p:cNvSpPr>
                <a:spLocks noChangeShapeType="1"/>
              </p:cNvSpPr>
              <p:nvPr/>
            </p:nvSpPr>
            <p:spPr bwMode="auto">
              <a:xfrm flipV="1">
                <a:off x="1122" y="1167"/>
                <a:ext cx="0" cy="2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3560" name="Text Box 11"/>
              <p:cNvSpPr txBox="1">
                <a:spLocks noChangeArrowheads="1"/>
              </p:cNvSpPr>
              <p:nvPr/>
            </p:nvSpPr>
            <p:spPr bwMode="auto">
              <a:xfrm>
                <a:off x="975" y="1307"/>
                <a:ext cx="418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1pPr>
                <a:lvl2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2pPr>
                <a:lvl3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3pPr>
                <a:lvl4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4pPr>
                <a:lvl5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rPr>
                  <a:t>high</a:t>
                </a:r>
              </a:p>
            </p:txBody>
          </p:sp>
        </p:grpSp>
      </p:grpSp>
      <p:grpSp>
        <p:nvGrpSpPr>
          <p:cNvPr id="5" name="Group 12"/>
          <p:cNvGrpSpPr/>
          <p:nvPr/>
        </p:nvGrpSpPr>
        <p:grpSpPr>
          <a:xfrm>
            <a:off x="3286125" y="3246438"/>
            <a:ext cx="606425" cy="619125"/>
            <a:chOff x="975" y="1167"/>
            <a:chExt cx="382" cy="390"/>
          </a:xfrm>
        </p:grpSpPr>
        <p:sp>
          <p:nvSpPr>
            <p:cNvPr id="23562" name="Line 13"/>
            <p:cNvSpPr>
              <a:spLocks noChangeShapeType="1"/>
            </p:cNvSpPr>
            <p:nvPr/>
          </p:nvSpPr>
          <p:spPr bwMode="auto">
            <a:xfrm flipV="1">
              <a:off x="1122" y="1167"/>
              <a:ext cx="0" cy="2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563" name="Text Box 14"/>
            <p:cNvSpPr txBox="1">
              <a:spLocks noChangeArrowheads="1"/>
            </p:cNvSpPr>
            <p:nvPr/>
          </p:nvSpPr>
          <p:spPr bwMode="auto">
            <a:xfrm>
              <a:off x="975" y="1307"/>
              <a:ext cx="382" cy="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mid</a:t>
              </a:r>
            </a:p>
          </p:txBody>
        </p:sp>
      </p:grpSp>
      <p:grpSp>
        <p:nvGrpSpPr>
          <p:cNvPr id="6" name="Group 15"/>
          <p:cNvGrpSpPr/>
          <p:nvPr/>
        </p:nvGrpSpPr>
        <p:grpSpPr>
          <a:xfrm>
            <a:off x="479425" y="2532063"/>
            <a:ext cx="8020050" cy="755650"/>
            <a:chOff x="1001" y="1181"/>
            <a:chExt cx="5052" cy="476"/>
          </a:xfrm>
        </p:grpSpPr>
        <p:grpSp>
          <p:nvGrpSpPr>
            <p:cNvPr id="38925" name="Group 16"/>
            <p:cNvGrpSpPr/>
            <p:nvPr/>
          </p:nvGrpSpPr>
          <p:grpSpPr>
            <a:xfrm>
              <a:off x="1001" y="1181"/>
              <a:ext cx="3916" cy="476"/>
              <a:chOff x="1015" y="691"/>
              <a:chExt cx="3916" cy="476"/>
            </a:xfrm>
          </p:grpSpPr>
          <p:sp>
            <p:nvSpPr>
              <p:cNvPr id="23567" name="Text Box 18"/>
              <p:cNvSpPr txBox="1">
                <a:spLocks noChangeArrowheads="1"/>
              </p:cNvSpPr>
              <p:nvPr/>
            </p:nvSpPr>
            <p:spPr bwMode="auto">
              <a:xfrm>
                <a:off x="1015" y="691"/>
                <a:ext cx="3916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1pPr>
                <a:lvl2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2pPr>
                <a:lvl3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3pPr>
                <a:lvl4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4pPr>
                <a:lvl5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rPr>
                  <a:t>1       2       3       4       5       6        7        8       9      10     11</a:t>
                </a:r>
              </a:p>
            </p:txBody>
          </p:sp>
          <p:sp>
            <p:nvSpPr>
              <p:cNvPr id="23568" name="Rectangle 19"/>
              <p:cNvSpPr>
                <a:spLocks noChangeArrowheads="1"/>
              </p:cNvSpPr>
              <p:nvPr/>
            </p:nvSpPr>
            <p:spPr bwMode="auto">
              <a:xfrm>
                <a:off x="1033" y="912"/>
                <a:ext cx="3879" cy="255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1pPr>
                <a:lvl2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2pPr>
                <a:lvl3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3pPr>
                <a:lvl4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4pPr>
                <a:lvl5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rPr>
                  <a:t>5      13     19     21     37     56      64      75     80     88     92</a:t>
                </a:r>
              </a:p>
            </p:txBody>
          </p:sp>
          <p:sp>
            <p:nvSpPr>
              <p:cNvPr id="23569" name="Line 20"/>
              <p:cNvSpPr>
                <a:spLocks noChangeShapeType="1"/>
              </p:cNvSpPr>
              <p:nvPr/>
            </p:nvSpPr>
            <p:spPr bwMode="auto">
              <a:xfrm>
                <a:off x="1300" y="911"/>
                <a:ext cx="0" cy="2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3570" name="Line 21"/>
              <p:cNvSpPr>
                <a:spLocks noChangeShapeType="1"/>
              </p:cNvSpPr>
              <p:nvPr/>
            </p:nvSpPr>
            <p:spPr bwMode="auto">
              <a:xfrm>
                <a:off x="1664" y="911"/>
                <a:ext cx="0" cy="2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3571" name="Line 22"/>
              <p:cNvSpPr>
                <a:spLocks noChangeShapeType="1"/>
              </p:cNvSpPr>
              <p:nvPr/>
            </p:nvSpPr>
            <p:spPr bwMode="auto">
              <a:xfrm>
                <a:off x="2028" y="911"/>
                <a:ext cx="0" cy="2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3572" name="Line 23"/>
              <p:cNvSpPr>
                <a:spLocks noChangeShapeType="1"/>
              </p:cNvSpPr>
              <p:nvPr/>
            </p:nvSpPr>
            <p:spPr bwMode="auto">
              <a:xfrm>
                <a:off x="2392" y="911"/>
                <a:ext cx="0" cy="2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3573" name="Line 24"/>
              <p:cNvSpPr>
                <a:spLocks noChangeShapeType="1"/>
              </p:cNvSpPr>
              <p:nvPr/>
            </p:nvSpPr>
            <p:spPr bwMode="auto">
              <a:xfrm>
                <a:off x="2756" y="911"/>
                <a:ext cx="0" cy="2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3574" name="Line 25"/>
              <p:cNvSpPr>
                <a:spLocks noChangeShapeType="1"/>
              </p:cNvSpPr>
              <p:nvPr/>
            </p:nvSpPr>
            <p:spPr bwMode="auto">
              <a:xfrm>
                <a:off x="3120" y="911"/>
                <a:ext cx="0" cy="2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3575" name="Line 26"/>
              <p:cNvSpPr>
                <a:spLocks noChangeShapeType="1"/>
              </p:cNvSpPr>
              <p:nvPr/>
            </p:nvSpPr>
            <p:spPr bwMode="auto">
              <a:xfrm>
                <a:off x="3484" y="911"/>
                <a:ext cx="0" cy="2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3576" name="Line 27"/>
              <p:cNvSpPr>
                <a:spLocks noChangeShapeType="1"/>
              </p:cNvSpPr>
              <p:nvPr/>
            </p:nvSpPr>
            <p:spPr bwMode="auto">
              <a:xfrm>
                <a:off x="3848" y="911"/>
                <a:ext cx="0" cy="2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3577" name="Line 28"/>
              <p:cNvSpPr>
                <a:spLocks noChangeShapeType="1"/>
              </p:cNvSpPr>
              <p:nvPr/>
            </p:nvSpPr>
            <p:spPr bwMode="auto">
              <a:xfrm>
                <a:off x="4212" y="911"/>
                <a:ext cx="0" cy="2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3578" name="Line 29"/>
              <p:cNvSpPr>
                <a:spLocks noChangeShapeType="1"/>
              </p:cNvSpPr>
              <p:nvPr/>
            </p:nvSpPr>
            <p:spPr bwMode="auto">
              <a:xfrm>
                <a:off x="4576" y="911"/>
                <a:ext cx="0" cy="2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p:sp>
          <p:nvSpPr>
            <p:cNvPr id="23579" name="AutoShape 30"/>
            <p:cNvSpPr>
              <a:spLocks noChangeArrowheads="1"/>
            </p:cNvSpPr>
            <p:nvPr/>
          </p:nvSpPr>
          <p:spPr bwMode="auto">
            <a:xfrm>
              <a:off x="5031" y="1313"/>
              <a:ext cx="1022" cy="233"/>
            </a:xfrm>
            <a:prstGeom prst="wedgeEllipseCallout">
              <a:avLst>
                <a:gd name="adj1" fmla="val -43750"/>
                <a:gd name="adj2" fmla="val 7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找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21</a:t>
              </a:r>
            </a:p>
          </p:txBody>
        </p:sp>
      </p:grpSp>
      <p:grpSp>
        <p:nvGrpSpPr>
          <p:cNvPr id="8" name="Group 31"/>
          <p:cNvGrpSpPr/>
          <p:nvPr/>
        </p:nvGrpSpPr>
        <p:grpSpPr>
          <a:xfrm>
            <a:off x="444500" y="3973513"/>
            <a:ext cx="6280150" cy="1385887"/>
            <a:chOff x="979" y="2089"/>
            <a:chExt cx="3956" cy="873"/>
          </a:xfrm>
        </p:grpSpPr>
        <p:sp>
          <p:nvSpPr>
            <p:cNvPr id="23581" name="Text Box 32"/>
            <p:cNvSpPr txBox="1">
              <a:spLocks noChangeArrowheads="1"/>
            </p:cNvSpPr>
            <p:nvPr/>
          </p:nvSpPr>
          <p:spPr bwMode="auto">
            <a:xfrm>
              <a:off x="1019" y="2089"/>
              <a:ext cx="3916" cy="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1       2       3       4       5       6        7        8       9      10     11</a:t>
              </a:r>
            </a:p>
          </p:txBody>
        </p:sp>
        <p:sp>
          <p:nvSpPr>
            <p:cNvPr id="23582" name="Rectangle 33"/>
            <p:cNvSpPr>
              <a:spLocks noChangeArrowheads="1"/>
            </p:cNvSpPr>
            <p:nvPr/>
          </p:nvSpPr>
          <p:spPr bwMode="auto">
            <a:xfrm>
              <a:off x="1037" y="2310"/>
              <a:ext cx="3879" cy="25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5      13     19     21     37     56      64      75     80     88     92</a:t>
              </a:r>
            </a:p>
          </p:txBody>
        </p:sp>
        <p:sp>
          <p:nvSpPr>
            <p:cNvPr id="23583" name="Line 34"/>
            <p:cNvSpPr>
              <a:spLocks noChangeShapeType="1"/>
            </p:cNvSpPr>
            <p:nvPr/>
          </p:nvSpPr>
          <p:spPr bwMode="auto">
            <a:xfrm>
              <a:off x="1304" y="2309"/>
              <a:ext cx="0" cy="2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584" name="Line 35"/>
            <p:cNvSpPr>
              <a:spLocks noChangeShapeType="1"/>
            </p:cNvSpPr>
            <p:nvPr/>
          </p:nvSpPr>
          <p:spPr bwMode="auto">
            <a:xfrm>
              <a:off x="1668" y="2309"/>
              <a:ext cx="0" cy="2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585" name="Line 36"/>
            <p:cNvSpPr>
              <a:spLocks noChangeShapeType="1"/>
            </p:cNvSpPr>
            <p:nvPr/>
          </p:nvSpPr>
          <p:spPr bwMode="auto">
            <a:xfrm>
              <a:off x="2032" y="2309"/>
              <a:ext cx="0" cy="2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586" name="Line 37"/>
            <p:cNvSpPr>
              <a:spLocks noChangeShapeType="1"/>
            </p:cNvSpPr>
            <p:nvPr/>
          </p:nvSpPr>
          <p:spPr bwMode="auto">
            <a:xfrm>
              <a:off x="2396" y="2309"/>
              <a:ext cx="0" cy="2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587" name="Line 38"/>
            <p:cNvSpPr>
              <a:spLocks noChangeShapeType="1"/>
            </p:cNvSpPr>
            <p:nvPr/>
          </p:nvSpPr>
          <p:spPr bwMode="auto">
            <a:xfrm>
              <a:off x="2760" y="2309"/>
              <a:ext cx="0" cy="2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588" name="Line 39"/>
            <p:cNvSpPr>
              <a:spLocks noChangeShapeType="1"/>
            </p:cNvSpPr>
            <p:nvPr/>
          </p:nvSpPr>
          <p:spPr bwMode="auto">
            <a:xfrm>
              <a:off x="3124" y="2309"/>
              <a:ext cx="0" cy="2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589" name="Line 40"/>
            <p:cNvSpPr>
              <a:spLocks noChangeShapeType="1"/>
            </p:cNvSpPr>
            <p:nvPr/>
          </p:nvSpPr>
          <p:spPr bwMode="auto">
            <a:xfrm>
              <a:off x="3488" y="2309"/>
              <a:ext cx="0" cy="2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590" name="Line 41"/>
            <p:cNvSpPr>
              <a:spLocks noChangeShapeType="1"/>
            </p:cNvSpPr>
            <p:nvPr/>
          </p:nvSpPr>
          <p:spPr bwMode="auto">
            <a:xfrm>
              <a:off x="3852" y="2309"/>
              <a:ext cx="0" cy="2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591" name="Line 42"/>
            <p:cNvSpPr>
              <a:spLocks noChangeShapeType="1"/>
            </p:cNvSpPr>
            <p:nvPr/>
          </p:nvSpPr>
          <p:spPr bwMode="auto">
            <a:xfrm>
              <a:off x="4216" y="2309"/>
              <a:ext cx="0" cy="2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592" name="Line 43"/>
            <p:cNvSpPr>
              <a:spLocks noChangeShapeType="1"/>
            </p:cNvSpPr>
            <p:nvPr/>
          </p:nvSpPr>
          <p:spPr bwMode="auto">
            <a:xfrm>
              <a:off x="4580" y="2309"/>
              <a:ext cx="0" cy="2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grpSp>
          <p:nvGrpSpPr>
            <p:cNvPr id="38952" name="Group 44"/>
            <p:cNvGrpSpPr/>
            <p:nvPr/>
          </p:nvGrpSpPr>
          <p:grpSpPr>
            <a:xfrm>
              <a:off x="979" y="2565"/>
              <a:ext cx="356" cy="390"/>
              <a:chOff x="975" y="1167"/>
              <a:chExt cx="356" cy="390"/>
            </a:xfrm>
          </p:grpSpPr>
          <p:sp>
            <p:nvSpPr>
              <p:cNvPr id="23594" name="Line 45"/>
              <p:cNvSpPr>
                <a:spLocks noChangeShapeType="1"/>
              </p:cNvSpPr>
              <p:nvPr/>
            </p:nvSpPr>
            <p:spPr bwMode="auto">
              <a:xfrm flipV="1">
                <a:off x="1122" y="1167"/>
                <a:ext cx="0" cy="2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3595" name="Text Box 46"/>
              <p:cNvSpPr txBox="1">
                <a:spLocks noChangeArrowheads="1"/>
              </p:cNvSpPr>
              <p:nvPr/>
            </p:nvSpPr>
            <p:spPr bwMode="auto">
              <a:xfrm>
                <a:off x="975" y="1307"/>
                <a:ext cx="356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1pPr>
                <a:lvl2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2pPr>
                <a:lvl3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3pPr>
                <a:lvl4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4pPr>
                <a:lvl5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rPr>
                  <a:t>low</a:t>
                </a:r>
              </a:p>
            </p:txBody>
          </p:sp>
        </p:grpSp>
        <p:grpSp>
          <p:nvGrpSpPr>
            <p:cNvPr id="38955" name="Group 47"/>
            <p:cNvGrpSpPr/>
            <p:nvPr/>
          </p:nvGrpSpPr>
          <p:grpSpPr>
            <a:xfrm>
              <a:off x="2419" y="2572"/>
              <a:ext cx="418" cy="390"/>
              <a:chOff x="975" y="1167"/>
              <a:chExt cx="418" cy="390"/>
            </a:xfrm>
          </p:grpSpPr>
          <p:sp>
            <p:nvSpPr>
              <p:cNvPr id="23597" name="Line 48"/>
              <p:cNvSpPr>
                <a:spLocks noChangeShapeType="1"/>
              </p:cNvSpPr>
              <p:nvPr/>
            </p:nvSpPr>
            <p:spPr bwMode="auto">
              <a:xfrm flipV="1">
                <a:off x="1122" y="1167"/>
                <a:ext cx="0" cy="2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3598" name="Text Box 49"/>
              <p:cNvSpPr txBox="1">
                <a:spLocks noChangeArrowheads="1"/>
              </p:cNvSpPr>
              <p:nvPr/>
            </p:nvSpPr>
            <p:spPr bwMode="auto">
              <a:xfrm>
                <a:off x="975" y="1307"/>
                <a:ext cx="418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1pPr>
                <a:lvl2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2pPr>
                <a:lvl3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3pPr>
                <a:lvl4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4pPr>
                <a:lvl5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rPr>
                  <a:t>high</a:t>
                </a:r>
              </a:p>
            </p:txBody>
          </p:sp>
        </p:grpSp>
        <p:grpSp>
          <p:nvGrpSpPr>
            <p:cNvPr id="38958" name="Group 50"/>
            <p:cNvGrpSpPr/>
            <p:nvPr/>
          </p:nvGrpSpPr>
          <p:grpSpPr>
            <a:xfrm>
              <a:off x="1709" y="2572"/>
              <a:ext cx="382" cy="390"/>
              <a:chOff x="975" y="1167"/>
              <a:chExt cx="382" cy="390"/>
            </a:xfrm>
          </p:grpSpPr>
          <p:sp>
            <p:nvSpPr>
              <p:cNvPr id="23600" name="Line 51"/>
              <p:cNvSpPr>
                <a:spLocks noChangeShapeType="1"/>
              </p:cNvSpPr>
              <p:nvPr/>
            </p:nvSpPr>
            <p:spPr bwMode="auto">
              <a:xfrm flipV="1">
                <a:off x="1122" y="1167"/>
                <a:ext cx="0" cy="2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3601" name="Text Box 52"/>
              <p:cNvSpPr txBox="1">
                <a:spLocks noChangeArrowheads="1"/>
              </p:cNvSpPr>
              <p:nvPr/>
            </p:nvSpPr>
            <p:spPr bwMode="auto">
              <a:xfrm>
                <a:off x="975" y="1307"/>
                <a:ext cx="382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1pPr>
                <a:lvl2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2pPr>
                <a:lvl3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3pPr>
                <a:lvl4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4pPr>
                <a:lvl5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rPr>
                  <a:t>mid</a:t>
                </a:r>
              </a:p>
            </p:txBody>
          </p:sp>
        </p:grpSp>
      </p:grpSp>
      <p:grpSp>
        <p:nvGrpSpPr>
          <p:cNvPr id="12" name="Group 53"/>
          <p:cNvGrpSpPr/>
          <p:nvPr/>
        </p:nvGrpSpPr>
        <p:grpSpPr>
          <a:xfrm>
            <a:off x="519113" y="5308600"/>
            <a:ext cx="6216650" cy="1373188"/>
            <a:chOff x="1026" y="2930"/>
            <a:chExt cx="3916" cy="865"/>
          </a:xfrm>
        </p:grpSpPr>
        <p:sp>
          <p:nvSpPr>
            <p:cNvPr id="23603" name="Text Box 54"/>
            <p:cNvSpPr txBox="1">
              <a:spLocks noChangeArrowheads="1"/>
            </p:cNvSpPr>
            <p:nvPr/>
          </p:nvSpPr>
          <p:spPr bwMode="auto">
            <a:xfrm>
              <a:off x="1026" y="2930"/>
              <a:ext cx="3916" cy="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1       2       3       4       5       6        7        8       9      10     11</a:t>
              </a:r>
            </a:p>
          </p:txBody>
        </p:sp>
        <p:grpSp>
          <p:nvGrpSpPr>
            <p:cNvPr id="38963" name="Group 55"/>
            <p:cNvGrpSpPr/>
            <p:nvPr/>
          </p:nvGrpSpPr>
          <p:grpSpPr>
            <a:xfrm>
              <a:off x="1044" y="3150"/>
              <a:ext cx="3879" cy="645"/>
              <a:chOff x="1058" y="2660"/>
              <a:chExt cx="3879" cy="645"/>
            </a:xfrm>
          </p:grpSpPr>
          <p:sp>
            <p:nvSpPr>
              <p:cNvPr id="23605" name="Rectangle 56"/>
              <p:cNvSpPr>
                <a:spLocks noChangeArrowheads="1"/>
              </p:cNvSpPr>
              <p:nvPr/>
            </p:nvSpPr>
            <p:spPr bwMode="auto">
              <a:xfrm>
                <a:off x="1058" y="2661"/>
                <a:ext cx="3879" cy="255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1pPr>
                <a:lvl2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2pPr>
                <a:lvl3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3pPr>
                <a:lvl4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4pPr>
                <a:lvl5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rPr>
                  <a:t>5      13     19     </a:t>
                </a:r>
                <a:r>
                  <a:rPr kumimoji="0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rPr>
                  <a:t>21</a:t>
                </a:r>
                <a:r>
                  <a:rPr kumimoji="0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rPr>
                  <a:t>     37     56      64      75     80     88     92</a:t>
                </a:r>
              </a:p>
            </p:txBody>
          </p:sp>
          <p:sp>
            <p:nvSpPr>
              <p:cNvPr id="23606" name="Line 57"/>
              <p:cNvSpPr>
                <a:spLocks noChangeShapeType="1"/>
              </p:cNvSpPr>
              <p:nvPr/>
            </p:nvSpPr>
            <p:spPr bwMode="auto">
              <a:xfrm>
                <a:off x="1325" y="2660"/>
                <a:ext cx="0" cy="2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3607" name="Line 58"/>
              <p:cNvSpPr>
                <a:spLocks noChangeShapeType="1"/>
              </p:cNvSpPr>
              <p:nvPr/>
            </p:nvSpPr>
            <p:spPr bwMode="auto">
              <a:xfrm>
                <a:off x="1689" y="2660"/>
                <a:ext cx="0" cy="2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3608" name="Line 59"/>
              <p:cNvSpPr>
                <a:spLocks noChangeShapeType="1"/>
              </p:cNvSpPr>
              <p:nvPr/>
            </p:nvSpPr>
            <p:spPr bwMode="auto">
              <a:xfrm>
                <a:off x="2053" y="2660"/>
                <a:ext cx="0" cy="2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3609" name="Line 60"/>
              <p:cNvSpPr>
                <a:spLocks noChangeShapeType="1"/>
              </p:cNvSpPr>
              <p:nvPr/>
            </p:nvSpPr>
            <p:spPr bwMode="auto">
              <a:xfrm>
                <a:off x="2417" y="2660"/>
                <a:ext cx="0" cy="2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3610" name="Line 61"/>
              <p:cNvSpPr>
                <a:spLocks noChangeShapeType="1"/>
              </p:cNvSpPr>
              <p:nvPr/>
            </p:nvSpPr>
            <p:spPr bwMode="auto">
              <a:xfrm>
                <a:off x="2781" y="2660"/>
                <a:ext cx="0" cy="2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3611" name="Line 62"/>
              <p:cNvSpPr>
                <a:spLocks noChangeShapeType="1"/>
              </p:cNvSpPr>
              <p:nvPr/>
            </p:nvSpPr>
            <p:spPr bwMode="auto">
              <a:xfrm>
                <a:off x="3145" y="2660"/>
                <a:ext cx="0" cy="2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3612" name="Line 63"/>
              <p:cNvSpPr>
                <a:spLocks noChangeShapeType="1"/>
              </p:cNvSpPr>
              <p:nvPr/>
            </p:nvSpPr>
            <p:spPr bwMode="auto">
              <a:xfrm>
                <a:off x="3509" y="2660"/>
                <a:ext cx="0" cy="2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3613" name="Line 64"/>
              <p:cNvSpPr>
                <a:spLocks noChangeShapeType="1"/>
              </p:cNvSpPr>
              <p:nvPr/>
            </p:nvSpPr>
            <p:spPr bwMode="auto">
              <a:xfrm>
                <a:off x="3873" y="2660"/>
                <a:ext cx="0" cy="2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3614" name="Line 65"/>
              <p:cNvSpPr>
                <a:spLocks noChangeShapeType="1"/>
              </p:cNvSpPr>
              <p:nvPr/>
            </p:nvSpPr>
            <p:spPr bwMode="auto">
              <a:xfrm>
                <a:off x="4237" y="2660"/>
                <a:ext cx="0" cy="2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3615" name="Line 66"/>
              <p:cNvSpPr>
                <a:spLocks noChangeShapeType="1"/>
              </p:cNvSpPr>
              <p:nvPr/>
            </p:nvSpPr>
            <p:spPr bwMode="auto">
              <a:xfrm>
                <a:off x="4601" y="2660"/>
                <a:ext cx="0" cy="2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grpSp>
            <p:nvGrpSpPr>
              <p:cNvPr id="38975" name="Group 67"/>
              <p:cNvGrpSpPr/>
              <p:nvPr/>
            </p:nvGrpSpPr>
            <p:grpSpPr>
              <a:xfrm>
                <a:off x="1932" y="2915"/>
                <a:ext cx="356" cy="390"/>
                <a:chOff x="975" y="1167"/>
                <a:chExt cx="356" cy="390"/>
              </a:xfrm>
            </p:grpSpPr>
            <p:sp>
              <p:nvSpPr>
                <p:cNvPr id="23617" name="Line 68"/>
                <p:cNvSpPr>
                  <a:spLocks noChangeShapeType="1"/>
                </p:cNvSpPr>
                <p:nvPr/>
              </p:nvSpPr>
              <p:spPr bwMode="auto">
                <a:xfrm flipV="1">
                  <a:off x="1122" y="1167"/>
                  <a:ext cx="0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tailEnd type="triangle" w="med" len="med"/>
                </a:ln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23618" name="Text Box 69"/>
                <p:cNvSpPr txBox="1">
                  <a:spLocks noChangeArrowheads="1"/>
                </p:cNvSpPr>
                <p:nvPr/>
              </p:nvSpPr>
              <p:spPr bwMode="auto">
                <a:xfrm>
                  <a:off x="975" y="1307"/>
                  <a:ext cx="356" cy="2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>
                  <a:lvl1pPr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anose="02010609030101010101" charset="-122"/>
                    </a:defRPr>
                  </a:lvl1pPr>
                  <a:lvl2pPr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anose="02010609030101010101" charset="-122"/>
                    </a:defRPr>
                  </a:lvl2pPr>
                  <a:lvl3pPr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anose="02010609030101010101" charset="-122"/>
                    </a:defRPr>
                  </a:lvl3pPr>
                  <a:lvl4pPr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anose="02010609030101010101" charset="-122"/>
                    </a:defRPr>
                  </a:lvl4pPr>
                  <a:lvl5pPr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anose="02010609030101010101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anose="02010609030101010101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anose="02010609030101010101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anose="02010609030101010101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anose="02010609030101010101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r>
                    <a:rPr kumimoji="0" lang="en-US" altLang="zh-CN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+mn-lt"/>
                      <a:ea typeface="+mn-ea"/>
                      <a:cs typeface="+mn-ea"/>
                      <a:sym typeface="+mn-lt"/>
                    </a:rPr>
                    <a:t>low</a:t>
                  </a:r>
                </a:p>
              </p:txBody>
            </p:sp>
          </p:grpSp>
          <p:grpSp>
            <p:nvGrpSpPr>
              <p:cNvPr id="38978" name="Group 70"/>
              <p:cNvGrpSpPr/>
              <p:nvPr/>
            </p:nvGrpSpPr>
            <p:grpSpPr>
              <a:xfrm>
                <a:off x="2507" y="2912"/>
                <a:ext cx="418" cy="390"/>
                <a:chOff x="975" y="1167"/>
                <a:chExt cx="418" cy="390"/>
              </a:xfrm>
            </p:grpSpPr>
            <p:sp>
              <p:nvSpPr>
                <p:cNvPr id="23620" name="Line 71"/>
                <p:cNvSpPr>
                  <a:spLocks noChangeShapeType="1"/>
                </p:cNvSpPr>
                <p:nvPr/>
              </p:nvSpPr>
              <p:spPr bwMode="auto">
                <a:xfrm flipV="1">
                  <a:off x="1122" y="1167"/>
                  <a:ext cx="0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tailEnd type="triangle" w="med" len="med"/>
                </a:ln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23621" name="Text Box 72"/>
                <p:cNvSpPr txBox="1">
                  <a:spLocks noChangeArrowheads="1"/>
                </p:cNvSpPr>
                <p:nvPr/>
              </p:nvSpPr>
              <p:spPr bwMode="auto">
                <a:xfrm>
                  <a:off x="975" y="1307"/>
                  <a:ext cx="418" cy="2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>
                  <a:lvl1pPr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anose="02010609030101010101" charset="-122"/>
                    </a:defRPr>
                  </a:lvl1pPr>
                  <a:lvl2pPr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anose="02010609030101010101" charset="-122"/>
                    </a:defRPr>
                  </a:lvl2pPr>
                  <a:lvl3pPr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anose="02010609030101010101" charset="-122"/>
                    </a:defRPr>
                  </a:lvl3pPr>
                  <a:lvl4pPr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anose="02010609030101010101" charset="-122"/>
                    </a:defRPr>
                  </a:lvl4pPr>
                  <a:lvl5pPr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anose="02010609030101010101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anose="02010609030101010101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anose="02010609030101010101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anose="02010609030101010101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anose="02010609030101010101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r>
                    <a:rPr kumimoji="0" lang="en-US" altLang="zh-CN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+mn-lt"/>
                      <a:ea typeface="+mn-ea"/>
                      <a:cs typeface="+mn-ea"/>
                      <a:sym typeface="+mn-lt"/>
                    </a:rPr>
                    <a:t>high</a:t>
                  </a:r>
                </a:p>
              </p:txBody>
            </p:sp>
          </p:grpSp>
          <p:grpSp>
            <p:nvGrpSpPr>
              <p:cNvPr id="38981" name="Group 73"/>
              <p:cNvGrpSpPr/>
              <p:nvPr/>
            </p:nvGrpSpPr>
            <p:grpSpPr>
              <a:xfrm>
                <a:off x="2185" y="2912"/>
                <a:ext cx="382" cy="390"/>
                <a:chOff x="975" y="1167"/>
                <a:chExt cx="382" cy="390"/>
              </a:xfrm>
            </p:grpSpPr>
            <p:sp>
              <p:nvSpPr>
                <p:cNvPr id="23623" name="Line 74"/>
                <p:cNvSpPr>
                  <a:spLocks noChangeShapeType="1"/>
                </p:cNvSpPr>
                <p:nvPr/>
              </p:nvSpPr>
              <p:spPr bwMode="auto">
                <a:xfrm flipV="1">
                  <a:off x="1122" y="1167"/>
                  <a:ext cx="0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tailEnd type="triangle" w="med" len="med"/>
                </a:ln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23624" name="Text Box 75"/>
                <p:cNvSpPr txBox="1">
                  <a:spLocks noChangeArrowheads="1"/>
                </p:cNvSpPr>
                <p:nvPr/>
              </p:nvSpPr>
              <p:spPr bwMode="auto">
                <a:xfrm>
                  <a:off x="975" y="1307"/>
                  <a:ext cx="382" cy="2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>
                  <a:lvl1pPr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anose="02010609030101010101" charset="-122"/>
                    </a:defRPr>
                  </a:lvl1pPr>
                  <a:lvl2pPr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anose="02010609030101010101" charset="-122"/>
                    </a:defRPr>
                  </a:lvl2pPr>
                  <a:lvl3pPr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anose="02010609030101010101" charset="-122"/>
                    </a:defRPr>
                  </a:lvl3pPr>
                  <a:lvl4pPr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anose="02010609030101010101" charset="-122"/>
                    </a:defRPr>
                  </a:lvl4pPr>
                  <a:lvl5pPr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anose="02010609030101010101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anose="02010609030101010101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anose="02010609030101010101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anose="02010609030101010101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anose="02010609030101010101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r>
                    <a:rPr kumimoji="0" lang="en-US" altLang="zh-CN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+mn-lt"/>
                      <a:ea typeface="+mn-ea"/>
                      <a:cs typeface="+mn-ea"/>
                      <a:sym typeface="+mn-lt"/>
                    </a:rPr>
                    <a:t>mid</a:t>
                  </a:r>
                </a:p>
              </p:txBody>
            </p:sp>
          </p:grpSp>
        </p:grpSp>
      </p:grpSp>
      <p:sp>
        <p:nvSpPr>
          <p:cNvPr id="23625" name="Rectangle 80"/>
          <p:cNvSpPr>
            <a:spLocks noChangeArrowheads="1"/>
          </p:cNvSpPr>
          <p:nvPr/>
        </p:nvSpPr>
        <p:spPr bwMode="auto">
          <a:xfrm>
            <a:off x="822325" y="204788"/>
            <a:ext cx="3092450" cy="51593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折半查找</a:t>
            </a:r>
          </a:p>
        </p:txBody>
      </p:sp>
      <p:sp>
        <p:nvSpPr>
          <p:cNvPr id="23626" name="Rectangle 81"/>
          <p:cNvSpPr>
            <a:spLocks noChangeArrowheads="1"/>
          </p:cNvSpPr>
          <p:nvPr/>
        </p:nvSpPr>
        <p:spPr bwMode="auto">
          <a:xfrm>
            <a:off x="415925" y="865188"/>
            <a:ext cx="8283575" cy="1400175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若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k==R[mid].key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，查找成功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若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k&lt;R[mid].key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，则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high=mid-1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若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k&gt;R[mid].key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，则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low=mid+1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矩形 73"/>
          <p:cNvSpPr>
            <a:spLocks noChangeArrowheads="1"/>
          </p:cNvSpPr>
          <p:nvPr/>
        </p:nvSpPr>
        <p:spPr bwMode="auto">
          <a:xfrm>
            <a:off x="0" y="2565400"/>
            <a:ext cx="9144000" cy="4191000"/>
          </a:xfrm>
          <a:prstGeom prst="rect">
            <a:avLst/>
          </a:prstGeom>
          <a:solidFill>
            <a:srgbClr val="CCCCFF"/>
          </a:solidFill>
          <a:ln>
            <a:noFill/>
          </a:ln>
        </p:spPr>
        <p:txBody>
          <a:bodyPr/>
          <a:lstStyle>
            <a:lvl1pPr marL="342900" indent="-3429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2" name="Group 4"/>
          <p:cNvGrpSpPr/>
          <p:nvPr/>
        </p:nvGrpSpPr>
        <p:grpSpPr>
          <a:xfrm>
            <a:off x="-333375" y="2686050"/>
            <a:ext cx="9043988" cy="1374775"/>
            <a:chOff x="542" y="691"/>
            <a:chExt cx="5696" cy="866"/>
          </a:xfrm>
        </p:grpSpPr>
        <p:grpSp>
          <p:nvGrpSpPr>
            <p:cNvPr id="39939" name="Group 5"/>
            <p:cNvGrpSpPr/>
            <p:nvPr/>
          </p:nvGrpSpPr>
          <p:grpSpPr>
            <a:xfrm>
              <a:off x="542" y="691"/>
              <a:ext cx="4389" cy="476"/>
              <a:chOff x="542" y="691"/>
              <a:chExt cx="4389" cy="476"/>
            </a:xfrm>
          </p:grpSpPr>
          <p:sp>
            <p:nvSpPr>
              <p:cNvPr id="24580" name="Text Box 6"/>
              <p:cNvSpPr txBox="1">
                <a:spLocks noChangeArrowheads="1"/>
              </p:cNvSpPr>
              <p:nvPr/>
            </p:nvSpPr>
            <p:spPr bwMode="auto">
              <a:xfrm>
                <a:off x="542" y="806"/>
                <a:ext cx="156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1pPr>
                <a:lvl2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2pPr>
                <a:lvl3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3pPr>
                <a:lvl4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4pPr>
                <a:lvl5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rPr>
                  <a:t> </a:t>
                </a:r>
              </a:p>
            </p:txBody>
          </p:sp>
          <p:sp>
            <p:nvSpPr>
              <p:cNvPr id="24581" name="Text Box 7"/>
              <p:cNvSpPr txBox="1">
                <a:spLocks noChangeArrowheads="1"/>
              </p:cNvSpPr>
              <p:nvPr/>
            </p:nvSpPr>
            <p:spPr bwMode="auto">
              <a:xfrm>
                <a:off x="1015" y="691"/>
                <a:ext cx="3916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1pPr>
                <a:lvl2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2pPr>
                <a:lvl3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3pPr>
                <a:lvl4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4pPr>
                <a:lvl5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rPr>
                  <a:t>1       2       3       4       5       6        7        8       9      10     11</a:t>
                </a:r>
              </a:p>
            </p:txBody>
          </p:sp>
          <p:sp>
            <p:nvSpPr>
              <p:cNvPr id="24582" name="Rectangle 8"/>
              <p:cNvSpPr>
                <a:spLocks noChangeArrowheads="1"/>
              </p:cNvSpPr>
              <p:nvPr/>
            </p:nvSpPr>
            <p:spPr bwMode="auto">
              <a:xfrm>
                <a:off x="1033" y="912"/>
                <a:ext cx="3879" cy="255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1pPr>
                <a:lvl2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2pPr>
                <a:lvl3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3pPr>
                <a:lvl4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4pPr>
                <a:lvl5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rPr>
                  <a:t>5      13     19     21     37     56      64      75     80     88     92</a:t>
                </a:r>
              </a:p>
            </p:txBody>
          </p:sp>
          <p:sp>
            <p:nvSpPr>
              <p:cNvPr id="24583" name="Line 9"/>
              <p:cNvSpPr>
                <a:spLocks noChangeShapeType="1"/>
              </p:cNvSpPr>
              <p:nvPr/>
            </p:nvSpPr>
            <p:spPr bwMode="auto">
              <a:xfrm>
                <a:off x="1300" y="911"/>
                <a:ext cx="0" cy="2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4584" name="Line 10"/>
              <p:cNvSpPr>
                <a:spLocks noChangeShapeType="1"/>
              </p:cNvSpPr>
              <p:nvPr/>
            </p:nvSpPr>
            <p:spPr bwMode="auto">
              <a:xfrm>
                <a:off x="1664" y="911"/>
                <a:ext cx="0" cy="2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4585" name="Line 11"/>
              <p:cNvSpPr>
                <a:spLocks noChangeShapeType="1"/>
              </p:cNvSpPr>
              <p:nvPr/>
            </p:nvSpPr>
            <p:spPr bwMode="auto">
              <a:xfrm>
                <a:off x="2028" y="911"/>
                <a:ext cx="0" cy="2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4586" name="Line 12"/>
              <p:cNvSpPr>
                <a:spLocks noChangeShapeType="1"/>
              </p:cNvSpPr>
              <p:nvPr/>
            </p:nvSpPr>
            <p:spPr bwMode="auto">
              <a:xfrm>
                <a:off x="2392" y="911"/>
                <a:ext cx="0" cy="2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4587" name="Line 13"/>
              <p:cNvSpPr>
                <a:spLocks noChangeShapeType="1"/>
              </p:cNvSpPr>
              <p:nvPr/>
            </p:nvSpPr>
            <p:spPr bwMode="auto">
              <a:xfrm>
                <a:off x="2763" y="911"/>
                <a:ext cx="0" cy="2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4588" name="Line 14"/>
              <p:cNvSpPr>
                <a:spLocks noChangeShapeType="1"/>
              </p:cNvSpPr>
              <p:nvPr/>
            </p:nvSpPr>
            <p:spPr bwMode="auto">
              <a:xfrm>
                <a:off x="3127" y="911"/>
                <a:ext cx="0" cy="2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4589" name="Line 15"/>
              <p:cNvSpPr>
                <a:spLocks noChangeShapeType="1"/>
              </p:cNvSpPr>
              <p:nvPr/>
            </p:nvSpPr>
            <p:spPr bwMode="auto">
              <a:xfrm>
                <a:off x="3484" y="911"/>
                <a:ext cx="0" cy="2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4590" name="Line 16"/>
              <p:cNvSpPr>
                <a:spLocks noChangeShapeType="1"/>
              </p:cNvSpPr>
              <p:nvPr/>
            </p:nvSpPr>
            <p:spPr bwMode="auto">
              <a:xfrm>
                <a:off x="3848" y="911"/>
                <a:ext cx="0" cy="2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4591" name="Line 17"/>
              <p:cNvSpPr>
                <a:spLocks noChangeShapeType="1"/>
              </p:cNvSpPr>
              <p:nvPr/>
            </p:nvSpPr>
            <p:spPr bwMode="auto">
              <a:xfrm>
                <a:off x="4212" y="911"/>
                <a:ext cx="0" cy="2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4592" name="Line 18"/>
              <p:cNvSpPr>
                <a:spLocks noChangeShapeType="1"/>
              </p:cNvSpPr>
              <p:nvPr/>
            </p:nvSpPr>
            <p:spPr bwMode="auto">
              <a:xfrm>
                <a:off x="4576" y="911"/>
                <a:ext cx="0" cy="2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p:grpSp>
          <p:nvGrpSpPr>
            <p:cNvPr id="39953" name="Group 19"/>
            <p:cNvGrpSpPr/>
            <p:nvPr/>
          </p:nvGrpSpPr>
          <p:grpSpPr>
            <a:xfrm>
              <a:off x="975" y="1167"/>
              <a:ext cx="356" cy="390"/>
              <a:chOff x="975" y="1167"/>
              <a:chExt cx="356" cy="390"/>
            </a:xfrm>
          </p:grpSpPr>
          <p:sp>
            <p:nvSpPr>
              <p:cNvPr id="24594" name="Line 20"/>
              <p:cNvSpPr>
                <a:spLocks noChangeShapeType="1"/>
              </p:cNvSpPr>
              <p:nvPr/>
            </p:nvSpPr>
            <p:spPr bwMode="auto">
              <a:xfrm flipV="1">
                <a:off x="1122" y="1167"/>
                <a:ext cx="0" cy="2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4595" name="Text Box 21"/>
              <p:cNvSpPr txBox="1">
                <a:spLocks noChangeArrowheads="1"/>
              </p:cNvSpPr>
              <p:nvPr/>
            </p:nvSpPr>
            <p:spPr bwMode="auto">
              <a:xfrm>
                <a:off x="975" y="1307"/>
                <a:ext cx="356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1pPr>
                <a:lvl2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2pPr>
                <a:lvl3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3pPr>
                <a:lvl4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4pPr>
                <a:lvl5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rPr>
                  <a:t>low</a:t>
                </a:r>
              </a:p>
            </p:txBody>
          </p:sp>
        </p:grpSp>
        <p:grpSp>
          <p:nvGrpSpPr>
            <p:cNvPr id="39956" name="Group 22"/>
            <p:cNvGrpSpPr/>
            <p:nvPr/>
          </p:nvGrpSpPr>
          <p:grpSpPr>
            <a:xfrm>
              <a:off x="4627" y="1163"/>
              <a:ext cx="418" cy="390"/>
              <a:chOff x="975" y="1167"/>
              <a:chExt cx="418" cy="390"/>
            </a:xfrm>
          </p:grpSpPr>
          <p:sp>
            <p:nvSpPr>
              <p:cNvPr id="24597" name="Line 23"/>
              <p:cNvSpPr>
                <a:spLocks noChangeShapeType="1"/>
              </p:cNvSpPr>
              <p:nvPr/>
            </p:nvSpPr>
            <p:spPr bwMode="auto">
              <a:xfrm flipV="1">
                <a:off x="1122" y="1167"/>
                <a:ext cx="0" cy="2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4598" name="Text Box 24"/>
              <p:cNvSpPr txBox="1">
                <a:spLocks noChangeArrowheads="1"/>
              </p:cNvSpPr>
              <p:nvPr/>
            </p:nvSpPr>
            <p:spPr bwMode="auto">
              <a:xfrm>
                <a:off x="975" y="1307"/>
                <a:ext cx="418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1pPr>
                <a:lvl2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2pPr>
                <a:lvl3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3pPr>
                <a:lvl4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4pPr>
                <a:lvl5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rPr>
                  <a:t>high</a:t>
                </a:r>
              </a:p>
            </p:txBody>
          </p:sp>
        </p:grpSp>
        <p:grpSp>
          <p:nvGrpSpPr>
            <p:cNvPr id="39959" name="Group 25"/>
            <p:cNvGrpSpPr/>
            <p:nvPr/>
          </p:nvGrpSpPr>
          <p:grpSpPr>
            <a:xfrm>
              <a:off x="2783" y="1141"/>
              <a:ext cx="382" cy="390"/>
              <a:chOff x="975" y="1167"/>
              <a:chExt cx="382" cy="390"/>
            </a:xfrm>
          </p:grpSpPr>
          <p:sp>
            <p:nvSpPr>
              <p:cNvPr id="24600" name="Line 26"/>
              <p:cNvSpPr>
                <a:spLocks noChangeShapeType="1"/>
              </p:cNvSpPr>
              <p:nvPr/>
            </p:nvSpPr>
            <p:spPr bwMode="auto">
              <a:xfrm flipV="1">
                <a:off x="1122" y="1167"/>
                <a:ext cx="0" cy="2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4601" name="Text Box 27"/>
              <p:cNvSpPr txBox="1">
                <a:spLocks noChangeArrowheads="1"/>
              </p:cNvSpPr>
              <p:nvPr/>
            </p:nvSpPr>
            <p:spPr bwMode="auto">
              <a:xfrm>
                <a:off x="975" y="1307"/>
                <a:ext cx="382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1pPr>
                <a:lvl2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2pPr>
                <a:lvl3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3pPr>
                <a:lvl4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4pPr>
                <a:lvl5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rPr>
                  <a:t>mid</a:t>
                </a:r>
              </a:p>
            </p:txBody>
          </p:sp>
        </p:grpSp>
        <p:sp>
          <p:nvSpPr>
            <p:cNvPr id="24602" name="AutoShape 28"/>
            <p:cNvSpPr>
              <a:spLocks noChangeArrowheads="1"/>
            </p:cNvSpPr>
            <p:nvPr/>
          </p:nvSpPr>
          <p:spPr bwMode="auto">
            <a:xfrm>
              <a:off x="5216" y="825"/>
              <a:ext cx="1022" cy="233"/>
            </a:xfrm>
            <a:prstGeom prst="wedgeEllipseCallout">
              <a:avLst>
                <a:gd name="adj1" fmla="val -43750"/>
                <a:gd name="adj2" fmla="val 7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找</a:t>
              </a: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70</a:t>
              </a:r>
            </a:p>
          </p:txBody>
        </p:sp>
      </p:grpSp>
      <p:grpSp>
        <p:nvGrpSpPr>
          <p:cNvPr id="7" name="Group 29"/>
          <p:cNvGrpSpPr/>
          <p:nvPr/>
        </p:nvGrpSpPr>
        <p:grpSpPr>
          <a:xfrm>
            <a:off x="393700" y="3970338"/>
            <a:ext cx="6380163" cy="1368425"/>
            <a:chOff x="933" y="1410"/>
            <a:chExt cx="4018" cy="862"/>
          </a:xfrm>
        </p:grpSpPr>
        <p:sp>
          <p:nvSpPr>
            <p:cNvPr id="24604" name="Text Box 30"/>
            <p:cNvSpPr txBox="1">
              <a:spLocks noChangeArrowheads="1"/>
            </p:cNvSpPr>
            <p:nvPr/>
          </p:nvSpPr>
          <p:spPr bwMode="auto">
            <a:xfrm>
              <a:off x="933" y="1410"/>
              <a:ext cx="3916" cy="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1       2       3       4       5       6        7        8       9      10     11</a:t>
              </a:r>
            </a:p>
          </p:txBody>
        </p:sp>
        <p:sp>
          <p:nvSpPr>
            <p:cNvPr id="24605" name="Rectangle 31"/>
            <p:cNvSpPr>
              <a:spLocks noChangeArrowheads="1"/>
            </p:cNvSpPr>
            <p:nvPr/>
          </p:nvSpPr>
          <p:spPr bwMode="auto">
            <a:xfrm>
              <a:off x="951" y="1631"/>
              <a:ext cx="3879" cy="25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5      13     19     21     37     56      64      75     80     88     92</a:t>
              </a:r>
            </a:p>
          </p:txBody>
        </p:sp>
        <p:sp>
          <p:nvSpPr>
            <p:cNvPr id="24606" name="Line 32"/>
            <p:cNvSpPr>
              <a:spLocks noChangeShapeType="1"/>
            </p:cNvSpPr>
            <p:nvPr/>
          </p:nvSpPr>
          <p:spPr bwMode="auto">
            <a:xfrm>
              <a:off x="1218" y="1630"/>
              <a:ext cx="0" cy="2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4607" name="Line 33"/>
            <p:cNvSpPr>
              <a:spLocks noChangeShapeType="1"/>
            </p:cNvSpPr>
            <p:nvPr/>
          </p:nvSpPr>
          <p:spPr bwMode="auto">
            <a:xfrm>
              <a:off x="1582" y="1630"/>
              <a:ext cx="0" cy="2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4608" name="Line 34"/>
            <p:cNvSpPr>
              <a:spLocks noChangeShapeType="1"/>
            </p:cNvSpPr>
            <p:nvPr/>
          </p:nvSpPr>
          <p:spPr bwMode="auto">
            <a:xfrm>
              <a:off x="1946" y="1630"/>
              <a:ext cx="0" cy="2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4609" name="Line 35"/>
            <p:cNvSpPr>
              <a:spLocks noChangeShapeType="1"/>
            </p:cNvSpPr>
            <p:nvPr/>
          </p:nvSpPr>
          <p:spPr bwMode="auto">
            <a:xfrm>
              <a:off x="2310" y="1630"/>
              <a:ext cx="0" cy="2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4610" name="Line 36"/>
            <p:cNvSpPr>
              <a:spLocks noChangeShapeType="1"/>
            </p:cNvSpPr>
            <p:nvPr/>
          </p:nvSpPr>
          <p:spPr bwMode="auto">
            <a:xfrm>
              <a:off x="2674" y="1630"/>
              <a:ext cx="0" cy="2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4611" name="Line 37"/>
            <p:cNvSpPr>
              <a:spLocks noChangeShapeType="1"/>
            </p:cNvSpPr>
            <p:nvPr/>
          </p:nvSpPr>
          <p:spPr bwMode="auto">
            <a:xfrm>
              <a:off x="3038" y="1630"/>
              <a:ext cx="0" cy="2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4612" name="Line 38"/>
            <p:cNvSpPr>
              <a:spLocks noChangeShapeType="1"/>
            </p:cNvSpPr>
            <p:nvPr/>
          </p:nvSpPr>
          <p:spPr bwMode="auto">
            <a:xfrm>
              <a:off x="3402" y="1630"/>
              <a:ext cx="0" cy="2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4613" name="Line 39"/>
            <p:cNvSpPr>
              <a:spLocks noChangeShapeType="1"/>
            </p:cNvSpPr>
            <p:nvPr/>
          </p:nvSpPr>
          <p:spPr bwMode="auto">
            <a:xfrm>
              <a:off x="3766" y="1630"/>
              <a:ext cx="0" cy="2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4614" name="Line 40"/>
            <p:cNvSpPr>
              <a:spLocks noChangeShapeType="1"/>
            </p:cNvSpPr>
            <p:nvPr/>
          </p:nvSpPr>
          <p:spPr bwMode="auto">
            <a:xfrm>
              <a:off x="4130" y="1630"/>
              <a:ext cx="0" cy="2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4615" name="Line 41"/>
            <p:cNvSpPr>
              <a:spLocks noChangeShapeType="1"/>
            </p:cNvSpPr>
            <p:nvPr/>
          </p:nvSpPr>
          <p:spPr bwMode="auto">
            <a:xfrm>
              <a:off x="4494" y="1630"/>
              <a:ext cx="0" cy="2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grpSp>
          <p:nvGrpSpPr>
            <p:cNvPr id="39976" name="Group 42"/>
            <p:cNvGrpSpPr/>
            <p:nvPr/>
          </p:nvGrpSpPr>
          <p:grpSpPr>
            <a:xfrm>
              <a:off x="3060" y="1875"/>
              <a:ext cx="356" cy="390"/>
              <a:chOff x="975" y="1167"/>
              <a:chExt cx="356" cy="390"/>
            </a:xfrm>
          </p:grpSpPr>
          <p:sp>
            <p:nvSpPr>
              <p:cNvPr id="24617" name="Line 43"/>
              <p:cNvSpPr>
                <a:spLocks noChangeShapeType="1"/>
              </p:cNvSpPr>
              <p:nvPr/>
            </p:nvSpPr>
            <p:spPr bwMode="auto">
              <a:xfrm flipV="1">
                <a:off x="1122" y="1167"/>
                <a:ext cx="0" cy="2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4618" name="Text Box 44"/>
              <p:cNvSpPr txBox="1">
                <a:spLocks noChangeArrowheads="1"/>
              </p:cNvSpPr>
              <p:nvPr/>
            </p:nvSpPr>
            <p:spPr bwMode="auto">
              <a:xfrm>
                <a:off x="975" y="1307"/>
                <a:ext cx="356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1pPr>
                <a:lvl2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2pPr>
                <a:lvl3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3pPr>
                <a:lvl4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4pPr>
                <a:lvl5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rPr>
                  <a:t>low</a:t>
                </a:r>
              </a:p>
            </p:txBody>
          </p:sp>
        </p:grpSp>
        <p:grpSp>
          <p:nvGrpSpPr>
            <p:cNvPr id="39979" name="Group 45"/>
            <p:cNvGrpSpPr/>
            <p:nvPr/>
          </p:nvGrpSpPr>
          <p:grpSpPr>
            <a:xfrm>
              <a:off x="4533" y="1882"/>
              <a:ext cx="418" cy="390"/>
              <a:chOff x="975" y="1167"/>
              <a:chExt cx="418" cy="390"/>
            </a:xfrm>
          </p:grpSpPr>
          <p:sp>
            <p:nvSpPr>
              <p:cNvPr id="24620" name="Line 46"/>
              <p:cNvSpPr>
                <a:spLocks noChangeShapeType="1"/>
              </p:cNvSpPr>
              <p:nvPr/>
            </p:nvSpPr>
            <p:spPr bwMode="auto">
              <a:xfrm flipV="1">
                <a:off x="1122" y="1167"/>
                <a:ext cx="0" cy="2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4621" name="Text Box 47"/>
              <p:cNvSpPr txBox="1">
                <a:spLocks noChangeArrowheads="1"/>
              </p:cNvSpPr>
              <p:nvPr/>
            </p:nvSpPr>
            <p:spPr bwMode="auto">
              <a:xfrm>
                <a:off x="975" y="1307"/>
                <a:ext cx="418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1pPr>
                <a:lvl2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2pPr>
                <a:lvl3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3pPr>
                <a:lvl4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4pPr>
                <a:lvl5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rPr>
                  <a:t>high</a:t>
                </a:r>
              </a:p>
            </p:txBody>
          </p:sp>
        </p:grpSp>
        <p:grpSp>
          <p:nvGrpSpPr>
            <p:cNvPr id="39982" name="Group 48"/>
            <p:cNvGrpSpPr/>
            <p:nvPr/>
          </p:nvGrpSpPr>
          <p:grpSpPr>
            <a:xfrm>
              <a:off x="3835" y="1882"/>
              <a:ext cx="382" cy="390"/>
              <a:chOff x="975" y="1167"/>
              <a:chExt cx="382" cy="390"/>
            </a:xfrm>
          </p:grpSpPr>
          <p:sp>
            <p:nvSpPr>
              <p:cNvPr id="24623" name="Line 49"/>
              <p:cNvSpPr>
                <a:spLocks noChangeShapeType="1"/>
              </p:cNvSpPr>
              <p:nvPr/>
            </p:nvSpPr>
            <p:spPr bwMode="auto">
              <a:xfrm flipV="1">
                <a:off x="1122" y="1167"/>
                <a:ext cx="0" cy="2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4624" name="Text Box 50"/>
              <p:cNvSpPr txBox="1">
                <a:spLocks noChangeArrowheads="1"/>
              </p:cNvSpPr>
              <p:nvPr/>
            </p:nvSpPr>
            <p:spPr bwMode="auto">
              <a:xfrm>
                <a:off x="975" y="1307"/>
                <a:ext cx="382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1pPr>
                <a:lvl2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2pPr>
                <a:lvl3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3pPr>
                <a:lvl4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4pPr>
                <a:lvl5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rPr>
                  <a:t>mid</a:t>
                </a:r>
              </a:p>
            </p:txBody>
          </p:sp>
        </p:grpSp>
      </p:grpSp>
      <p:grpSp>
        <p:nvGrpSpPr>
          <p:cNvPr id="11" name="Group 72"/>
          <p:cNvGrpSpPr/>
          <p:nvPr/>
        </p:nvGrpSpPr>
        <p:grpSpPr>
          <a:xfrm>
            <a:off x="436563" y="5313363"/>
            <a:ext cx="6216650" cy="1368425"/>
            <a:chOff x="974" y="2406"/>
            <a:chExt cx="3916" cy="862"/>
          </a:xfrm>
        </p:grpSpPr>
        <p:sp>
          <p:nvSpPr>
            <p:cNvPr id="24626" name="Text Box 73"/>
            <p:cNvSpPr txBox="1">
              <a:spLocks noChangeArrowheads="1"/>
            </p:cNvSpPr>
            <p:nvPr/>
          </p:nvSpPr>
          <p:spPr bwMode="auto">
            <a:xfrm>
              <a:off x="974" y="2406"/>
              <a:ext cx="3916" cy="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1       2       3       4       5       6        7        8       9      10     11</a:t>
              </a:r>
            </a:p>
          </p:txBody>
        </p:sp>
        <p:sp>
          <p:nvSpPr>
            <p:cNvPr id="24627" name="Rectangle 74"/>
            <p:cNvSpPr>
              <a:spLocks noChangeArrowheads="1"/>
            </p:cNvSpPr>
            <p:nvPr/>
          </p:nvSpPr>
          <p:spPr bwMode="auto">
            <a:xfrm>
              <a:off x="992" y="2627"/>
              <a:ext cx="3879" cy="25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5      13     19     21     37     56      64      75     80     88     92</a:t>
              </a:r>
            </a:p>
          </p:txBody>
        </p:sp>
        <p:sp>
          <p:nvSpPr>
            <p:cNvPr id="24628" name="Line 75"/>
            <p:cNvSpPr>
              <a:spLocks noChangeShapeType="1"/>
            </p:cNvSpPr>
            <p:nvPr/>
          </p:nvSpPr>
          <p:spPr bwMode="auto">
            <a:xfrm>
              <a:off x="1259" y="2626"/>
              <a:ext cx="0" cy="2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4629" name="Line 76"/>
            <p:cNvSpPr>
              <a:spLocks noChangeShapeType="1"/>
            </p:cNvSpPr>
            <p:nvPr/>
          </p:nvSpPr>
          <p:spPr bwMode="auto">
            <a:xfrm>
              <a:off x="1623" y="2626"/>
              <a:ext cx="0" cy="2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4630" name="Line 77"/>
            <p:cNvSpPr>
              <a:spLocks noChangeShapeType="1"/>
            </p:cNvSpPr>
            <p:nvPr/>
          </p:nvSpPr>
          <p:spPr bwMode="auto">
            <a:xfrm>
              <a:off x="1987" y="2626"/>
              <a:ext cx="0" cy="2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4631" name="Line 78"/>
            <p:cNvSpPr>
              <a:spLocks noChangeShapeType="1"/>
            </p:cNvSpPr>
            <p:nvPr/>
          </p:nvSpPr>
          <p:spPr bwMode="auto">
            <a:xfrm>
              <a:off x="2351" y="2626"/>
              <a:ext cx="0" cy="2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4632" name="Line 79"/>
            <p:cNvSpPr>
              <a:spLocks noChangeShapeType="1"/>
            </p:cNvSpPr>
            <p:nvPr/>
          </p:nvSpPr>
          <p:spPr bwMode="auto">
            <a:xfrm>
              <a:off x="2715" y="2626"/>
              <a:ext cx="0" cy="2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4633" name="Line 80"/>
            <p:cNvSpPr>
              <a:spLocks noChangeShapeType="1"/>
            </p:cNvSpPr>
            <p:nvPr/>
          </p:nvSpPr>
          <p:spPr bwMode="auto">
            <a:xfrm>
              <a:off x="3079" y="2626"/>
              <a:ext cx="0" cy="2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4634" name="Line 81"/>
            <p:cNvSpPr>
              <a:spLocks noChangeShapeType="1"/>
            </p:cNvSpPr>
            <p:nvPr/>
          </p:nvSpPr>
          <p:spPr bwMode="auto">
            <a:xfrm>
              <a:off x="3443" y="2626"/>
              <a:ext cx="0" cy="2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4635" name="Line 82"/>
            <p:cNvSpPr>
              <a:spLocks noChangeShapeType="1"/>
            </p:cNvSpPr>
            <p:nvPr/>
          </p:nvSpPr>
          <p:spPr bwMode="auto">
            <a:xfrm>
              <a:off x="3807" y="2626"/>
              <a:ext cx="0" cy="2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4636" name="Line 83"/>
            <p:cNvSpPr>
              <a:spLocks noChangeShapeType="1"/>
            </p:cNvSpPr>
            <p:nvPr/>
          </p:nvSpPr>
          <p:spPr bwMode="auto">
            <a:xfrm>
              <a:off x="4171" y="2626"/>
              <a:ext cx="0" cy="2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4637" name="Line 84"/>
            <p:cNvSpPr>
              <a:spLocks noChangeShapeType="1"/>
            </p:cNvSpPr>
            <p:nvPr/>
          </p:nvSpPr>
          <p:spPr bwMode="auto">
            <a:xfrm>
              <a:off x="4535" y="2626"/>
              <a:ext cx="0" cy="2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grpSp>
          <p:nvGrpSpPr>
            <p:cNvPr id="39998" name="Group 85"/>
            <p:cNvGrpSpPr/>
            <p:nvPr/>
          </p:nvGrpSpPr>
          <p:grpSpPr>
            <a:xfrm>
              <a:off x="3001" y="2860"/>
              <a:ext cx="356" cy="390"/>
              <a:chOff x="975" y="1167"/>
              <a:chExt cx="356" cy="390"/>
            </a:xfrm>
          </p:grpSpPr>
          <p:sp>
            <p:nvSpPr>
              <p:cNvPr id="24639" name="Line 86"/>
              <p:cNvSpPr>
                <a:spLocks noChangeShapeType="1"/>
              </p:cNvSpPr>
              <p:nvPr/>
            </p:nvSpPr>
            <p:spPr bwMode="auto">
              <a:xfrm flipV="1">
                <a:off x="1122" y="1167"/>
                <a:ext cx="0" cy="2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4640" name="Text Box 87"/>
              <p:cNvSpPr txBox="1">
                <a:spLocks noChangeArrowheads="1"/>
              </p:cNvSpPr>
              <p:nvPr/>
            </p:nvSpPr>
            <p:spPr bwMode="auto">
              <a:xfrm>
                <a:off x="975" y="1307"/>
                <a:ext cx="356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1pPr>
                <a:lvl2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2pPr>
                <a:lvl3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3pPr>
                <a:lvl4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4pPr>
                <a:lvl5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rPr>
                  <a:t>low</a:t>
                </a:r>
              </a:p>
            </p:txBody>
          </p:sp>
        </p:grpSp>
        <p:grpSp>
          <p:nvGrpSpPr>
            <p:cNvPr id="40001" name="Group 88"/>
            <p:cNvGrpSpPr/>
            <p:nvPr/>
          </p:nvGrpSpPr>
          <p:grpSpPr>
            <a:xfrm>
              <a:off x="3607" y="2878"/>
              <a:ext cx="418" cy="390"/>
              <a:chOff x="975" y="1167"/>
              <a:chExt cx="418" cy="390"/>
            </a:xfrm>
          </p:grpSpPr>
          <p:sp>
            <p:nvSpPr>
              <p:cNvPr id="24642" name="Line 89"/>
              <p:cNvSpPr>
                <a:spLocks noChangeShapeType="1"/>
              </p:cNvSpPr>
              <p:nvPr/>
            </p:nvSpPr>
            <p:spPr bwMode="auto">
              <a:xfrm flipV="1">
                <a:off x="1122" y="1167"/>
                <a:ext cx="0" cy="2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4643" name="Text Box 90"/>
              <p:cNvSpPr txBox="1">
                <a:spLocks noChangeArrowheads="1"/>
              </p:cNvSpPr>
              <p:nvPr/>
            </p:nvSpPr>
            <p:spPr bwMode="auto">
              <a:xfrm>
                <a:off x="975" y="1307"/>
                <a:ext cx="418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1pPr>
                <a:lvl2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2pPr>
                <a:lvl3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3pPr>
                <a:lvl4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4pPr>
                <a:lvl5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rPr>
                  <a:t>high</a:t>
                </a:r>
              </a:p>
            </p:txBody>
          </p:sp>
        </p:grpSp>
        <p:grpSp>
          <p:nvGrpSpPr>
            <p:cNvPr id="40004" name="Group 91"/>
            <p:cNvGrpSpPr/>
            <p:nvPr/>
          </p:nvGrpSpPr>
          <p:grpSpPr>
            <a:xfrm>
              <a:off x="3276" y="2856"/>
              <a:ext cx="382" cy="390"/>
              <a:chOff x="975" y="1167"/>
              <a:chExt cx="382" cy="390"/>
            </a:xfrm>
          </p:grpSpPr>
          <p:sp>
            <p:nvSpPr>
              <p:cNvPr id="24645" name="Line 92"/>
              <p:cNvSpPr>
                <a:spLocks noChangeShapeType="1"/>
              </p:cNvSpPr>
              <p:nvPr/>
            </p:nvSpPr>
            <p:spPr bwMode="auto">
              <a:xfrm flipV="1">
                <a:off x="1122" y="1167"/>
                <a:ext cx="0" cy="2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4646" name="Text Box 93"/>
              <p:cNvSpPr txBox="1">
                <a:spLocks noChangeArrowheads="1"/>
              </p:cNvSpPr>
              <p:nvPr/>
            </p:nvSpPr>
            <p:spPr bwMode="auto">
              <a:xfrm>
                <a:off x="975" y="1307"/>
                <a:ext cx="382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1pPr>
                <a:lvl2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2pPr>
                <a:lvl3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3pPr>
                <a:lvl4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4pPr>
                <a:lvl5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rPr>
                  <a:t>mid</a:t>
                </a:r>
              </a:p>
            </p:txBody>
          </p:sp>
        </p:grpSp>
      </p:grpSp>
      <p:sp>
        <p:nvSpPr>
          <p:cNvPr id="24647" name="Rectangle 101"/>
          <p:cNvSpPr>
            <a:spLocks noChangeArrowheads="1"/>
          </p:cNvSpPr>
          <p:nvPr/>
        </p:nvSpPr>
        <p:spPr bwMode="auto">
          <a:xfrm>
            <a:off x="446088" y="1003300"/>
            <a:ext cx="5048250" cy="1400175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若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k==R[mid].key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，查找成功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若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k&lt;R[mid].key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，则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high=mid-1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若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k&gt;R[mid].key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，则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low=mid+1</a:t>
            </a:r>
          </a:p>
        </p:txBody>
      </p:sp>
      <p:sp>
        <p:nvSpPr>
          <p:cNvPr id="73" name="Rectangle 80"/>
          <p:cNvSpPr>
            <a:spLocks noChangeArrowheads="1"/>
          </p:cNvSpPr>
          <p:nvPr/>
        </p:nvSpPr>
        <p:spPr bwMode="auto">
          <a:xfrm>
            <a:off x="822325" y="204788"/>
            <a:ext cx="3092450" cy="51593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折半查找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/>
          <p:cNvGrpSpPr/>
          <p:nvPr/>
        </p:nvGrpSpPr>
        <p:grpSpPr>
          <a:xfrm>
            <a:off x="1417638" y="3500438"/>
            <a:ext cx="6216650" cy="1385887"/>
            <a:chOff x="934" y="786"/>
            <a:chExt cx="3916" cy="873"/>
          </a:xfrm>
        </p:grpSpPr>
        <p:sp>
          <p:nvSpPr>
            <p:cNvPr id="25603" name="Text Box 5"/>
            <p:cNvSpPr txBox="1">
              <a:spLocks noChangeArrowheads="1"/>
            </p:cNvSpPr>
            <p:nvPr/>
          </p:nvSpPr>
          <p:spPr bwMode="auto">
            <a:xfrm>
              <a:off x="934" y="786"/>
              <a:ext cx="3916" cy="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1       2       3       4       5       6        7        8       9      10     11</a:t>
              </a:r>
            </a:p>
          </p:txBody>
        </p:sp>
        <p:sp>
          <p:nvSpPr>
            <p:cNvPr id="25604" name="Rectangle 6"/>
            <p:cNvSpPr>
              <a:spLocks noChangeArrowheads="1"/>
            </p:cNvSpPr>
            <p:nvPr/>
          </p:nvSpPr>
          <p:spPr bwMode="auto">
            <a:xfrm>
              <a:off x="952" y="1007"/>
              <a:ext cx="3879" cy="255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5      13     19     21     37     56      64      75     80     88     92</a:t>
              </a:r>
            </a:p>
          </p:txBody>
        </p:sp>
        <p:sp>
          <p:nvSpPr>
            <p:cNvPr id="25605" name="Line 7"/>
            <p:cNvSpPr>
              <a:spLocks noChangeShapeType="1"/>
            </p:cNvSpPr>
            <p:nvPr/>
          </p:nvSpPr>
          <p:spPr bwMode="auto">
            <a:xfrm>
              <a:off x="1219" y="1006"/>
              <a:ext cx="0" cy="2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5606" name="Line 8"/>
            <p:cNvSpPr>
              <a:spLocks noChangeShapeType="1"/>
            </p:cNvSpPr>
            <p:nvPr/>
          </p:nvSpPr>
          <p:spPr bwMode="auto">
            <a:xfrm>
              <a:off x="1583" y="1006"/>
              <a:ext cx="0" cy="2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5607" name="Line 9"/>
            <p:cNvSpPr>
              <a:spLocks noChangeShapeType="1"/>
            </p:cNvSpPr>
            <p:nvPr/>
          </p:nvSpPr>
          <p:spPr bwMode="auto">
            <a:xfrm>
              <a:off x="1947" y="1006"/>
              <a:ext cx="0" cy="2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5608" name="Line 10"/>
            <p:cNvSpPr>
              <a:spLocks noChangeShapeType="1"/>
            </p:cNvSpPr>
            <p:nvPr/>
          </p:nvSpPr>
          <p:spPr bwMode="auto">
            <a:xfrm>
              <a:off x="2311" y="1006"/>
              <a:ext cx="0" cy="2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5609" name="Line 11"/>
            <p:cNvSpPr>
              <a:spLocks noChangeShapeType="1"/>
            </p:cNvSpPr>
            <p:nvPr/>
          </p:nvSpPr>
          <p:spPr bwMode="auto">
            <a:xfrm>
              <a:off x="2675" y="1006"/>
              <a:ext cx="0" cy="2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5610" name="Line 12"/>
            <p:cNvSpPr>
              <a:spLocks noChangeShapeType="1"/>
            </p:cNvSpPr>
            <p:nvPr/>
          </p:nvSpPr>
          <p:spPr bwMode="auto">
            <a:xfrm>
              <a:off x="3039" y="1006"/>
              <a:ext cx="0" cy="2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5611" name="Line 13"/>
            <p:cNvSpPr>
              <a:spLocks noChangeShapeType="1"/>
            </p:cNvSpPr>
            <p:nvPr/>
          </p:nvSpPr>
          <p:spPr bwMode="auto">
            <a:xfrm>
              <a:off x="3403" y="1006"/>
              <a:ext cx="0" cy="2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5612" name="Line 14"/>
            <p:cNvSpPr>
              <a:spLocks noChangeShapeType="1"/>
            </p:cNvSpPr>
            <p:nvPr/>
          </p:nvSpPr>
          <p:spPr bwMode="auto">
            <a:xfrm>
              <a:off x="3767" y="1006"/>
              <a:ext cx="0" cy="2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5613" name="Line 15"/>
            <p:cNvSpPr>
              <a:spLocks noChangeShapeType="1"/>
            </p:cNvSpPr>
            <p:nvPr/>
          </p:nvSpPr>
          <p:spPr bwMode="auto">
            <a:xfrm>
              <a:off x="4131" y="1006"/>
              <a:ext cx="0" cy="2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5614" name="Line 16"/>
            <p:cNvSpPr>
              <a:spLocks noChangeShapeType="1"/>
            </p:cNvSpPr>
            <p:nvPr/>
          </p:nvSpPr>
          <p:spPr bwMode="auto">
            <a:xfrm>
              <a:off x="4495" y="1006"/>
              <a:ext cx="0" cy="2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grpSp>
          <p:nvGrpSpPr>
            <p:cNvPr id="40974" name="Group 17"/>
            <p:cNvGrpSpPr/>
            <p:nvPr/>
          </p:nvGrpSpPr>
          <p:grpSpPr>
            <a:xfrm>
              <a:off x="3411" y="1251"/>
              <a:ext cx="356" cy="408"/>
              <a:chOff x="1003" y="1167"/>
              <a:chExt cx="356" cy="408"/>
            </a:xfrm>
          </p:grpSpPr>
          <p:sp>
            <p:nvSpPr>
              <p:cNvPr id="25616" name="Line 18"/>
              <p:cNvSpPr>
                <a:spLocks noChangeShapeType="1"/>
              </p:cNvSpPr>
              <p:nvPr/>
            </p:nvSpPr>
            <p:spPr bwMode="auto">
              <a:xfrm flipV="1">
                <a:off x="1122" y="1167"/>
                <a:ext cx="0" cy="222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tailEnd type="triangle" w="med" len="med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5617" name="Text Box 19"/>
              <p:cNvSpPr txBox="1">
                <a:spLocks noChangeArrowheads="1"/>
              </p:cNvSpPr>
              <p:nvPr/>
            </p:nvSpPr>
            <p:spPr bwMode="auto">
              <a:xfrm>
                <a:off x="1003" y="1325"/>
                <a:ext cx="356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1pPr>
                <a:lvl2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2pPr>
                <a:lvl3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3pPr>
                <a:lvl4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4pPr>
                <a:lvl5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rPr>
                  <a:t>low</a:t>
                </a:r>
              </a:p>
            </p:txBody>
          </p:sp>
        </p:grpSp>
        <p:grpSp>
          <p:nvGrpSpPr>
            <p:cNvPr id="40977" name="Group 20"/>
            <p:cNvGrpSpPr/>
            <p:nvPr/>
          </p:nvGrpSpPr>
          <p:grpSpPr>
            <a:xfrm>
              <a:off x="3010" y="1269"/>
              <a:ext cx="418" cy="390"/>
              <a:chOff x="975" y="1167"/>
              <a:chExt cx="418" cy="390"/>
            </a:xfrm>
          </p:grpSpPr>
          <p:sp>
            <p:nvSpPr>
              <p:cNvPr id="25619" name="Line 21"/>
              <p:cNvSpPr>
                <a:spLocks noChangeShapeType="1"/>
              </p:cNvSpPr>
              <p:nvPr/>
            </p:nvSpPr>
            <p:spPr bwMode="auto">
              <a:xfrm flipV="1">
                <a:off x="1122" y="1167"/>
                <a:ext cx="0" cy="222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tailEnd type="triangle" w="med" len="med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5620" name="Text Box 22"/>
              <p:cNvSpPr txBox="1">
                <a:spLocks noChangeArrowheads="1"/>
              </p:cNvSpPr>
              <p:nvPr/>
            </p:nvSpPr>
            <p:spPr bwMode="auto">
              <a:xfrm>
                <a:off x="975" y="1307"/>
                <a:ext cx="418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1pPr>
                <a:lvl2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2pPr>
                <a:lvl3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3pPr>
                <a:lvl4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4pPr>
                <a:lvl5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rPr>
                  <a:t>high</a:t>
                </a:r>
              </a:p>
            </p:txBody>
          </p:sp>
        </p:grpSp>
      </p:grpSp>
      <p:grpSp>
        <p:nvGrpSpPr>
          <p:cNvPr id="5" name="Group 61"/>
          <p:cNvGrpSpPr/>
          <p:nvPr/>
        </p:nvGrpSpPr>
        <p:grpSpPr>
          <a:xfrm>
            <a:off x="1387475" y="1628775"/>
            <a:ext cx="6216650" cy="1674813"/>
            <a:chOff x="1040" y="2784"/>
            <a:chExt cx="3916" cy="1055"/>
          </a:xfrm>
        </p:grpSpPr>
        <p:sp>
          <p:nvSpPr>
            <p:cNvPr id="25622" name="Text Box 62"/>
            <p:cNvSpPr txBox="1">
              <a:spLocks noChangeArrowheads="1"/>
            </p:cNvSpPr>
            <p:nvPr/>
          </p:nvSpPr>
          <p:spPr bwMode="auto">
            <a:xfrm>
              <a:off x="1040" y="2784"/>
              <a:ext cx="3916" cy="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1       2       3       4       5       6        7        8       9      10     11</a:t>
              </a:r>
            </a:p>
          </p:txBody>
        </p:sp>
        <p:sp>
          <p:nvSpPr>
            <p:cNvPr id="25623" name="Rectangle 63"/>
            <p:cNvSpPr>
              <a:spLocks noChangeArrowheads="1"/>
            </p:cNvSpPr>
            <p:nvPr/>
          </p:nvSpPr>
          <p:spPr bwMode="auto">
            <a:xfrm>
              <a:off x="1058" y="3005"/>
              <a:ext cx="3879" cy="255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5      13     19     21     37     56      64      75     80     88     92</a:t>
              </a:r>
            </a:p>
          </p:txBody>
        </p:sp>
        <p:sp>
          <p:nvSpPr>
            <p:cNvPr id="25624" name="Line 64"/>
            <p:cNvSpPr>
              <a:spLocks noChangeShapeType="1"/>
            </p:cNvSpPr>
            <p:nvPr/>
          </p:nvSpPr>
          <p:spPr bwMode="auto">
            <a:xfrm>
              <a:off x="1325" y="3004"/>
              <a:ext cx="0" cy="2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5625" name="Line 65"/>
            <p:cNvSpPr>
              <a:spLocks noChangeShapeType="1"/>
            </p:cNvSpPr>
            <p:nvPr/>
          </p:nvSpPr>
          <p:spPr bwMode="auto">
            <a:xfrm>
              <a:off x="1689" y="3004"/>
              <a:ext cx="0" cy="2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5626" name="Line 66"/>
            <p:cNvSpPr>
              <a:spLocks noChangeShapeType="1"/>
            </p:cNvSpPr>
            <p:nvPr/>
          </p:nvSpPr>
          <p:spPr bwMode="auto">
            <a:xfrm>
              <a:off x="2053" y="3004"/>
              <a:ext cx="0" cy="2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5627" name="Line 67"/>
            <p:cNvSpPr>
              <a:spLocks noChangeShapeType="1"/>
            </p:cNvSpPr>
            <p:nvPr/>
          </p:nvSpPr>
          <p:spPr bwMode="auto">
            <a:xfrm>
              <a:off x="2417" y="3004"/>
              <a:ext cx="0" cy="2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5628" name="Line 68"/>
            <p:cNvSpPr>
              <a:spLocks noChangeShapeType="1"/>
            </p:cNvSpPr>
            <p:nvPr/>
          </p:nvSpPr>
          <p:spPr bwMode="auto">
            <a:xfrm>
              <a:off x="2781" y="3004"/>
              <a:ext cx="0" cy="2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5629" name="Line 69"/>
            <p:cNvSpPr>
              <a:spLocks noChangeShapeType="1"/>
            </p:cNvSpPr>
            <p:nvPr/>
          </p:nvSpPr>
          <p:spPr bwMode="auto">
            <a:xfrm>
              <a:off x="3145" y="3004"/>
              <a:ext cx="0" cy="2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5630" name="Line 70"/>
            <p:cNvSpPr>
              <a:spLocks noChangeShapeType="1"/>
            </p:cNvSpPr>
            <p:nvPr/>
          </p:nvSpPr>
          <p:spPr bwMode="auto">
            <a:xfrm>
              <a:off x="3509" y="3004"/>
              <a:ext cx="0" cy="2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5631" name="Line 71"/>
            <p:cNvSpPr>
              <a:spLocks noChangeShapeType="1"/>
            </p:cNvSpPr>
            <p:nvPr/>
          </p:nvSpPr>
          <p:spPr bwMode="auto">
            <a:xfrm>
              <a:off x="3873" y="3004"/>
              <a:ext cx="0" cy="2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5632" name="Line 72"/>
            <p:cNvSpPr>
              <a:spLocks noChangeShapeType="1"/>
            </p:cNvSpPr>
            <p:nvPr/>
          </p:nvSpPr>
          <p:spPr bwMode="auto">
            <a:xfrm>
              <a:off x="4237" y="3004"/>
              <a:ext cx="0" cy="2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5633" name="Line 73"/>
            <p:cNvSpPr>
              <a:spLocks noChangeShapeType="1"/>
            </p:cNvSpPr>
            <p:nvPr/>
          </p:nvSpPr>
          <p:spPr bwMode="auto">
            <a:xfrm>
              <a:off x="4601" y="3004"/>
              <a:ext cx="0" cy="2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grpSp>
          <p:nvGrpSpPr>
            <p:cNvPr id="40993" name="Group 74"/>
            <p:cNvGrpSpPr/>
            <p:nvPr/>
          </p:nvGrpSpPr>
          <p:grpSpPr>
            <a:xfrm>
              <a:off x="3344" y="3249"/>
              <a:ext cx="356" cy="398"/>
              <a:chOff x="919" y="1167"/>
              <a:chExt cx="356" cy="398"/>
            </a:xfrm>
          </p:grpSpPr>
          <p:sp>
            <p:nvSpPr>
              <p:cNvPr id="25635" name="Line 75"/>
              <p:cNvSpPr>
                <a:spLocks noChangeShapeType="1"/>
              </p:cNvSpPr>
              <p:nvPr/>
            </p:nvSpPr>
            <p:spPr bwMode="auto">
              <a:xfrm flipV="1">
                <a:off x="1122" y="1167"/>
                <a:ext cx="0" cy="222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tailEnd type="triangle" w="med" len="med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5636" name="Text Box 76"/>
              <p:cNvSpPr txBox="1">
                <a:spLocks noChangeArrowheads="1"/>
              </p:cNvSpPr>
              <p:nvPr/>
            </p:nvSpPr>
            <p:spPr bwMode="auto">
              <a:xfrm>
                <a:off x="919" y="1315"/>
                <a:ext cx="356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1pPr>
                <a:lvl2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2pPr>
                <a:lvl3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3pPr>
                <a:lvl4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4pPr>
                <a:lvl5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rPr>
                  <a:t>low</a:t>
                </a:r>
              </a:p>
            </p:txBody>
          </p:sp>
        </p:grpSp>
        <p:grpSp>
          <p:nvGrpSpPr>
            <p:cNvPr id="40996" name="Group 77"/>
            <p:cNvGrpSpPr/>
            <p:nvPr/>
          </p:nvGrpSpPr>
          <p:grpSpPr>
            <a:xfrm>
              <a:off x="3704" y="3256"/>
              <a:ext cx="418" cy="390"/>
              <a:chOff x="1006" y="1167"/>
              <a:chExt cx="418" cy="390"/>
            </a:xfrm>
          </p:grpSpPr>
          <p:sp>
            <p:nvSpPr>
              <p:cNvPr id="25638" name="Line 78"/>
              <p:cNvSpPr>
                <a:spLocks noChangeShapeType="1"/>
              </p:cNvSpPr>
              <p:nvPr/>
            </p:nvSpPr>
            <p:spPr bwMode="auto">
              <a:xfrm flipV="1">
                <a:off x="1122" y="1167"/>
                <a:ext cx="0" cy="222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tailEnd type="triangle" w="med" len="med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5639" name="Text Box 79"/>
              <p:cNvSpPr txBox="1">
                <a:spLocks noChangeArrowheads="1"/>
              </p:cNvSpPr>
              <p:nvPr/>
            </p:nvSpPr>
            <p:spPr bwMode="auto">
              <a:xfrm>
                <a:off x="1006" y="1307"/>
                <a:ext cx="418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1pPr>
                <a:lvl2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2pPr>
                <a:lvl3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3pPr>
                <a:lvl4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4pPr>
                <a:lvl5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rPr>
                  <a:t>high</a:t>
                </a:r>
              </a:p>
            </p:txBody>
          </p:sp>
        </p:grpSp>
        <p:sp>
          <p:nvSpPr>
            <p:cNvPr id="25640" name="Line 80"/>
            <p:cNvSpPr>
              <a:spLocks noChangeShapeType="1"/>
            </p:cNvSpPr>
            <p:nvPr/>
          </p:nvSpPr>
          <p:spPr bwMode="auto">
            <a:xfrm flipV="1">
              <a:off x="3688" y="3234"/>
              <a:ext cx="1" cy="40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tailEnd type="triangl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5641" name="Text Box 81"/>
            <p:cNvSpPr txBox="1">
              <a:spLocks noChangeArrowheads="1"/>
            </p:cNvSpPr>
            <p:nvPr/>
          </p:nvSpPr>
          <p:spPr bwMode="auto">
            <a:xfrm>
              <a:off x="3509" y="3589"/>
              <a:ext cx="382" cy="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mid</a:t>
              </a:r>
            </a:p>
          </p:txBody>
        </p:sp>
      </p:grpSp>
      <p:sp>
        <p:nvSpPr>
          <p:cNvPr id="1000530" name="Rectangle 82"/>
          <p:cNvSpPr>
            <a:spLocks noChangeArrowheads="1"/>
          </p:cNvSpPr>
          <p:nvPr/>
        </p:nvSpPr>
        <p:spPr bwMode="auto">
          <a:xfrm>
            <a:off x="833438" y="215900"/>
            <a:ext cx="4451350" cy="51911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直至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low&gt;high</a:t>
            </a:r>
            <a:r>
              <a:rPr kumimoji="0" lang="zh-CN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时，查找失败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4" name="Shape 26"/>
          <p:cNvSpPr/>
          <p:nvPr/>
        </p:nvSpPr>
        <p:spPr>
          <a:xfrm flipH="1">
            <a:off x="0" y="5607050"/>
            <a:ext cx="9140825" cy="12509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120000"/>
                </a:moveTo>
                <a:lnTo>
                  <a:pt x="0" y="102222"/>
                </a:lnTo>
                <a:lnTo>
                  <a:pt x="583" y="102222"/>
                </a:lnTo>
                <a:lnTo>
                  <a:pt x="583" y="89777"/>
                </a:lnTo>
                <a:lnTo>
                  <a:pt x="4166" y="89777"/>
                </a:lnTo>
                <a:lnTo>
                  <a:pt x="4166" y="79111"/>
                </a:lnTo>
                <a:lnTo>
                  <a:pt x="6416" y="79111"/>
                </a:lnTo>
                <a:lnTo>
                  <a:pt x="6416" y="91111"/>
                </a:lnTo>
                <a:lnTo>
                  <a:pt x="7625" y="91111"/>
                </a:lnTo>
                <a:lnTo>
                  <a:pt x="7625" y="79111"/>
                </a:lnTo>
                <a:lnTo>
                  <a:pt x="8958" y="79111"/>
                </a:lnTo>
                <a:lnTo>
                  <a:pt x="8958" y="45333"/>
                </a:lnTo>
                <a:lnTo>
                  <a:pt x="9541" y="45333"/>
                </a:lnTo>
                <a:lnTo>
                  <a:pt x="9541" y="39111"/>
                </a:lnTo>
                <a:lnTo>
                  <a:pt x="10958" y="39111"/>
                </a:lnTo>
                <a:lnTo>
                  <a:pt x="10958" y="45333"/>
                </a:lnTo>
                <a:lnTo>
                  <a:pt x="11583" y="45333"/>
                </a:lnTo>
                <a:lnTo>
                  <a:pt x="11583" y="76000"/>
                </a:lnTo>
                <a:lnTo>
                  <a:pt x="12083" y="76000"/>
                </a:lnTo>
                <a:lnTo>
                  <a:pt x="12083" y="95555"/>
                </a:lnTo>
                <a:lnTo>
                  <a:pt x="13250" y="95555"/>
                </a:lnTo>
                <a:lnTo>
                  <a:pt x="13250" y="60000"/>
                </a:lnTo>
                <a:lnTo>
                  <a:pt x="14041" y="60000"/>
                </a:lnTo>
                <a:lnTo>
                  <a:pt x="14041" y="45333"/>
                </a:lnTo>
                <a:lnTo>
                  <a:pt x="14583" y="45333"/>
                </a:lnTo>
                <a:lnTo>
                  <a:pt x="14583" y="27555"/>
                </a:lnTo>
                <a:lnTo>
                  <a:pt x="14958" y="27555"/>
                </a:lnTo>
                <a:lnTo>
                  <a:pt x="14958" y="14222"/>
                </a:lnTo>
                <a:lnTo>
                  <a:pt x="15333" y="14222"/>
                </a:lnTo>
                <a:lnTo>
                  <a:pt x="15333" y="0"/>
                </a:lnTo>
                <a:lnTo>
                  <a:pt x="15958" y="0"/>
                </a:lnTo>
                <a:lnTo>
                  <a:pt x="15958" y="13777"/>
                </a:lnTo>
                <a:lnTo>
                  <a:pt x="16416" y="13777"/>
                </a:lnTo>
                <a:lnTo>
                  <a:pt x="16416" y="24888"/>
                </a:lnTo>
                <a:lnTo>
                  <a:pt x="16791" y="24888"/>
                </a:lnTo>
                <a:lnTo>
                  <a:pt x="16791" y="46222"/>
                </a:lnTo>
                <a:lnTo>
                  <a:pt x="17333" y="46222"/>
                </a:lnTo>
                <a:lnTo>
                  <a:pt x="17333" y="61333"/>
                </a:lnTo>
                <a:lnTo>
                  <a:pt x="17916" y="61333"/>
                </a:lnTo>
                <a:lnTo>
                  <a:pt x="17916" y="101333"/>
                </a:lnTo>
                <a:lnTo>
                  <a:pt x="18875" y="101333"/>
                </a:lnTo>
                <a:lnTo>
                  <a:pt x="18875" y="92000"/>
                </a:lnTo>
                <a:lnTo>
                  <a:pt x="20958" y="92000"/>
                </a:lnTo>
                <a:lnTo>
                  <a:pt x="20958" y="96444"/>
                </a:lnTo>
                <a:lnTo>
                  <a:pt x="21750" y="96444"/>
                </a:lnTo>
                <a:lnTo>
                  <a:pt x="21750" y="54666"/>
                </a:lnTo>
                <a:lnTo>
                  <a:pt x="22333" y="54666"/>
                </a:lnTo>
                <a:lnTo>
                  <a:pt x="22333" y="42666"/>
                </a:lnTo>
                <a:lnTo>
                  <a:pt x="24166" y="42666"/>
                </a:lnTo>
                <a:lnTo>
                  <a:pt x="24166" y="53777"/>
                </a:lnTo>
                <a:lnTo>
                  <a:pt x="24583" y="56888"/>
                </a:lnTo>
                <a:lnTo>
                  <a:pt x="24583" y="85777"/>
                </a:lnTo>
                <a:lnTo>
                  <a:pt x="25291" y="85777"/>
                </a:lnTo>
                <a:lnTo>
                  <a:pt x="25291" y="79555"/>
                </a:lnTo>
                <a:lnTo>
                  <a:pt x="27125" y="79555"/>
                </a:lnTo>
                <a:lnTo>
                  <a:pt x="27125" y="86222"/>
                </a:lnTo>
                <a:lnTo>
                  <a:pt x="28208" y="86222"/>
                </a:lnTo>
                <a:lnTo>
                  <a:pt x="28208" y="92000"/>
                </a:lnTo>
                <a:lnTo>
                  <a:pt x="29416" y="92000"/>
                </a:lnTo>
                <a:lnTo>
                  <a:pt x="29416" y="83555"/>
                </a:lnTo>
                <a:lnTo>
                  <a:pt x="30250" y="83555"/>
                </a:lnTo>
                <a:lnTo>
                  <a:pt x="30250" y="65777"/>
                </a:lnTo>
                <a:lnTo>
                  <a:pt x="35041" y="65777"/>
                </a:lnTo>
                <a:lnTo>
                  <a:pt x="35041" y="83555"/>
                </a:lnTo>
                <a:lnTo>
                  <a:pt x="35875" y="83555"/>
                </a:lnTo>
                <a:lnTo>
                  <a:pt x="35875" y="65777"/>
                </a:lnTo>
                <a:lnTo>
                  <a:pt x="39916" y="65777"/>
                </a:lnTo>
                <a:lnTo>
                  <a:pt x="39916" y="72888"/>
                </a:lnTo>
                <a:lnTo>
                  <a:pt x="41041" y="72888"/>
                </a:lnTo>
                <a:lnTo>
                  <a:pt x="41041" y="99555"/>
                </a:lnTo>
                <a:lnTo>
                  <a:pt x="42583" y="99555"/>
                </a:lnTo>
                <a:lnTo>
                  <a:pt x="42583" y="76888"/>
                </a:lnTo>
                <a:lnTo>
                  <a:pt x="45250" y="56000"/>
                </a:lnTo>
                <a:lnTo>
                  <a:pt x="47875" y="76888"/>
                </a:lnTo>
                <a:lnTo>
                  <a:pt x="47875" y="88888"/>
                </a:lnTo>
                <a:lnTo>
                  <a:pt x="48666" y="88888"/>
                </a:lnTo>
                <a:lnTo>
                  <a:pt x="48666" y="104000"/>
                </a:lnTo>
                <a:lnTo>
                  <a:pt x="49208" y="104000"/>
                </a:lnTo>
                <a:lnTo>
                  <a:pt x="49208" y="73333"/>
                </a:lnTo>
                <a:lnTo>
                  <a:pt x="51500" y="73333"/>
                </a:lnTo>
                <a:lnTo>
                  <a:pt x="51500" y="85777"/>
                </a:lnTo>
                <a:lnTo>
                  <a:pt x="53708" y="85777"/>
                </a:lnTo>
                <a:lnTo>
                  <a:pt x="53708" y="94666"/>
                </a:lnTo>
                <a:lnTo>
                  <a:pt x="54500" y="94666"/>
                </a:lnTo>
                <a:lnTo>
                  <a:pt x="54500" y="85777"/>
                </a:lnTo>
                <a:lnTo>
                  <a:pt x="57125" y="85777"/>
                </a:lnTo>
                <a:lnTo>
                  <a:pt x="57125" y="102222"/>
                </a:lnTo>
                <a:lnTo>
                  <a:pt x="57625" y="102222"/>
                </a:lnTo>
                <a:lnTo>
                  <a:pt x="57625" y="104888"/>
                </a:lnTo>
                <a:lnTo>
                  <a:pt x="58875" y="104888"/>
                </a:lnTo>
                <a:lnTo>
                  <a:pt x="58875" y="94222"/>
                </a:lnTo>
                <a:lnTo>
                  <a:pt x="61666" y="94222"/>
                </a:lnTo>
                <a:lnTo>
                  <a:pt x="61666" y="89777"/>
                </a:lnTo>
                <a:lnTo>
                  <a:pt x="62250" y="89777"/>
                </a:lnTo>
                <a:lnTo>
                  <a:pt x="62250" y="84000"/>
                </a:lnTo>
                <a:lnTo>
                  <a:pt x="62833" y="84000"/>
                </a:lnTo>
                <a:lnTo>
                  <a:pt x="62833" y="88888"/>
                </a:lnTo>
                <a:lnTo>
                  <a:pt x="63500" y="88888"/>
                </a:lnTo>
                <a:lnTo>
                  <a:pt x="63500" y="83111"/>
                </a:lnTo>
                <a:lnTo>
                  <a:pt x="64999" y="83111"/>
                </a:lnTo>
                <a:lnTo>
                  <a:pt x="64999" y="88444"/>
                </a:lnTo>
                <a:lnTo>
                  <a:pt x="65666" y="88444"/>
                </a:lnTo>
                <a:lnTo>
                  <a:pt x="65666" y="103111"/>
                </a:lnTo>
                <a:lnTo>
                  <a:pt x="66916" y="103111"/>
                </a:lnTo>
                <a:lnTo>
                  <a:pt x="66916" y="82666"/>
                </a:lnTo>
                <a:lnTo>
                  <a:pt x="69375" y="82666"/>
                </a:lnTo>
                <a:lnTo>
                  <a:pt x="69375" y="88888"/>
                </a:lnTo>
                <a:lnTo>
                  <a:pt x="70416" y="88888"/>
                </a:lnTo>
                <a:lnTo>
                  <a:pt x="70416" y="46222"/>
                </a:lnTo>
                <a:lnTo>
                  <a:pt x="71500" y="35111"/>
                </a:lnTo>
                <a:lnTo>
                  <a:pt x="72458" y="45777"/>
                </a:lnTo>
                <a:lnTo>
                  <a:pt x="72458" y="103111"/>
                </a:lnTo>
                <a:lnTo>
                  <a:pt x="73583" y="103111"/>
                </a:lnTo>
                <a:lnTo>
                  <a:pt x="73583" y="47555"/>
                </a:lnTo>
                <a:lnTo>
                  <a:pt x="76916" y="47555"/>
                </a:lnTo>
                <a:lnTo>
                  <a:pt x="76916" y="97777"/>
                </a:lnTo>
                <a:lnTo>
                  <a:pt x="77541" y="97777"/>
                </a:lnTo>
                <a:lnTo>
                  <a:pt x="77541" y="85777"/>
                </a:lnTo>
                <a:lnTo>
                  <a:pt x="79000" y="85777"/>
                </a:lnTo>
                <a:lnTo>
                  <a:pt x="79000" y="92888"/>
                </a:lnTo>
                <a:lnTo>
                  <a:pt x="82000" y="92888"/>
                </a:lnTo>
                <a:lnTo>
                  <a:pt x="82000" y="102222"/>
                </a:lnTo>
                <a:lnTo>
                  <a:pt x="84333" y="102222"/>
                </a:lnTo>
                <a:lnTo>
                  <a:pt x="84333" y="88000"/>
                </a:lnTo>
                <a:lnTo>
                  <a:pt x="85583" y="88000"/>
                </a:lnTo>
                <a:lnTo>
                  <a:pt x="85583" y="96000"/>
                </a:lnTo>
                <a:lnTo>
                  <a:pt x="86500" y="96000"/>
                </a:lnTo>
                <a:lnTo>
                  <a:pt x="86500" y="91111"/>
                </a:lnTo>
                <a:lnTo>
                  <a:pt x="87791" y="91111"/>
                </a:lnTo>
                <a:lnTo>
                  <a:pt x="87791" y="84888"/>
                </a:lnTo>
                <a:lnTo>
                  <a:pt x="89375" y="84888"/>
                </a:lnTo>
                <a:lnTo>
                  <a:pt x="89375" y="100888"/>
                </a:lnTo>
                <a:lnTo>
                  <a:pt x="90541" y="100888"/>
                </a:lnTo>
                <a:lnTo>
                  <a:pt x="90541" y="63111"/>
                </a:lnTo>
                <a:lnTo>
                  <a:pt x="92458" y="63555"/>
                </a:lnTo>
                <a:lnTo>
                  <a:pt x="92458" y="84444"/>
                </a:lnTo>
                <a:lnTo>
                  <a:pt x="93750" y="84444"/>
                </a:lnTo>
                <a:lnTo>
                  <a:pt x="93750" y="97333"/>
                </a:lnTo>
                <a:lnTo>
                  <a:pt x="95375" y="97333"/>
                </a:lnTo>
                <a:lnTo>
                  <a:pt x="95375" y="83111"/>
                </a:lnTo>
                <a:lnTo>
                  <a:pt x="96500" y="83111"/>
                </a:lnTo>
                <a:lnTo>
                  <a:pt x="96500" y="77333"/>
                </a:lnTo>
                <a:lnTo>
                  <a:pt x="98000" y="77333"/>
                </a:lnTo>
                <a:lnTo>
                  <a:pt x="98000" y="81333"/>
                </a:lnTo>
                <a:lnTo>
                  <a:pt x="99041" y="81333"/>
                </a:lnTo>
                <a:lnTo>
                  <a:pt x="99041" y="75111"/>
                </a:lnTo>
                <a:lnTo>
                  <a:pt x="101000" y="59555"/>
                </a:lnTo>
                <a:lnTo>
                  <a:pt x="102916" y="75111"/>
                </a:lnTo>
                <a:lnTo>
                  <a:pt x="102916" y="96444"/>
                </a:lnTo>
                <a:lnTo>
                  <a:pt x="103250" y="96444"/>
                </a:lnTo>
                <a:lnTo>
                  <a:pt x="103250" y="92000"/>
                </a:lnTo>
                <a:lnTo>
                  <a:pt x="104750" y="92000"/>
                </a:lnTo>
                <a:lnTo>
                  <a:pt x="104750" y="111111"/>
                </a:lnTo>
                <a:lnTo>
                  <a:pt x="105125" y="111111"/>
                </a:lnTo>
                <a:lnTo>
                  <a:pt x="105125" y="101777"/>
                </a:lnTo>
                <a:lnTo>
                  <a:pt x="106291" y="101777"/>
                </a:lnTo>
                <a:lnTo>
                  <a:pt x="106291" y="81777"/>
                </a:lnTo>
                <a:lnTo>
                  <a:pt x="107791" y="81777"/>
                </a:lnTo>
                <a:lnTo>
                  <a:pt x="107791" y="101777"/>
                </a:lnTo>
                <a:lnTo>
                  <a:pt x="107833" y="101777"/>
                </a:lnTo>
                <a:lnTo>
                  <a:pt x="107833" y="93777"/>
                </a:lnTo>
                <a:lnTo>
                  <a:pt x="108583" y="93777"/>
                </a:lnTo>
                <a:lnTo>
                  <a:pt x="108583" y="89777"/>
                </a:lnTo>
                <a:lnTo>
                  <a:pt x="110166" y="89777"/>
                </a:lnTo>
                <a:lnTo>
                  <a:pt x="110166" y="103111"/>
                </a:lnTo>
                <a:lnTo>
                  <a:pt x="110416" y="103111"/>
                </a:lnTo>
                <a:lnTo>
                  <a:pt x="110416" y="93777"/>
                </a:lnTo>
                <a:lnTo>
                  <a:pt x="110625" y="93777"/>
                </a:lnTo>
                <a:lnTo>
                  <a:pt x="110625" y="76444"/>
                </a:lnTo>
                <a:lnTo>
                  <a:pt x="111416" y="76444"/>
                </a:lnTo>
                <a:lnTo>
                  <a:pt x="111416" y="68444"/>
                </a:lnTo>
                <a:lnTo>
                  <a:pt x="111833" y="68444"/>
                </a:lnTo>
                <a:lnTo>
                  <a:pt x="111833" y="64000"/>
                </a:lnTo>
                <a:lnTo>
                  <a:pt x="112916" y="64000"/>
                </a:lnTo>
                <a:lnTo>
                  <a:pt x="112916" y="68444"/>
                </a:lnTo>
                <a:lnTo>
                  <a:pt x="113375" y="68444"/>
                </a:lnTo>
                <a:lnTo>
                  <a:pt x="113375" y="91555"/>
                </a:lnTo>
                <a:lnTo>
                  <a:pt x="113416" y="91555"/>
                </a:lnTo>
                <a:lnTo>
                  <a:pt x="113416" y="91555"/>
                </a:lnTo>
                <a:lnTo>
                  <a:pt x="114666" y="91555"/>
                </a:lnTo>
                <a:lnTo>
                  <a:pt x="114666" y="79555"/>
                </a:lnTo>
                <a:lnTo>
                  <a:pt x="115250" y="79555"/>
                </a:lnTo>
                <a:lnTo>
                  <a:pt x="115250" y="68444"/>
                </a:lnTo>
                <a:lnTo>
                  <a:pt x="115625" y="68444"/>
                </a:lnTo>
                <a:lnTo>
                  <a:pt x="115625" y="55111"/>
                </a:lnTo>
                <a:lnTo>
                  <a:pt x="115916" y="55111"/>
                </a:lnTo>
                <a:lnTo>
                  <a:pt x="115916" y="44888"/>
                </a:lnTo>
                <a:lnTo>
                  <a:pt x="116250" y="44888"/>
                </a:lnTo>
                <a:lnTo>
                  <a:pt x="116250" y="34222"/>
                </a:lnTo>
                <a:lnTo>
                  <a:pt x="116666" y="34222"/>
                </a:lnTo>
                <a:lnTo>
                  <a:pt x="116666" y="44444"/>
                </a:lnTo>
                <a:lnTo>
                  <a:pt x="117000" y="44444"/>
                </a:lnTo>
                <a:lnTo>
                  <a:pt x="117000" y="52888"/>
                </a:lnTo>
                <a:lnTo>
                  <a:pt x="117333" y="52888"/>
                </a:lnTo>
                <a:lnTo>
                  <a:pt x="117333" y="68888"/>
                </a:lnTo>
                <a:lnTo>
                  <a:pt x="117708" y="68888"/>
                </a:lnTo>
                <a:lnTo>
                  <a:pt x="117708" y="80444"/>
                </a:lnTo>
                <a:lnTo>
                  <a:pt x="118166" y="80444"/>
                </a:lnTo>
                <a:lnTo>
                  <a:pt x="118166" y="92000"/>
                </a:lnTo>
                <a:lnTo>
                  <a:pt x="120000" y="9200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000000">
              <a:lumMod val="50000"/>
              <a:lumOff val="50000"/>
            </a:srgbClr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</p:spPr>
        <p:txBody>
          <a:bodyPr lIns="68569" tIns="34275" rIns="68569" bIns="34275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015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5"/>
          <p:cNvSpPr>
            <a:spLocks noChangeArrowheads="1"/>
          </p:cNvSpPr>
          <p:nvPr/>
        </p:nvSpPr>
        <p:spPr bwMode="auto">
          <a:xfrm>
            <a:off x="887413" y="206375"/>
            <a:ext cx="6837363" cy="51593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折半查找（非递归算法）</a:t>
            </a:r>
          </a:p>
        </p:txBody>
      </p:sp>
      <p:sp>
        <p:nvSpPr>
          <p:cNvPr id="38" name="矩形: 圆角 30"/>
          <p:cNvSpPr/>
          <p:nvPr/>
        </p:nvSpPr>
        <p:spPr bwMode="auto">
          <a:xfrm>
            <a:off x="390525" y="3402013"/>
            <a:ext cx="725488" cy="661988"/>
          </a:xfrm>
          <a:prstGeom prst="roundRect">
            <a:avLst/>
          </a:prstGeom>
          <a:solidFill>
            <a:srgbClr val="969696">
              <a:lumMod val="20000"/>
              <a:lumOff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9" name="矩形: 圆角 29"/>
          <p:cNvSpPr/>
          <p:nvPr/>
        </p:nvSpPr>
        <p:spPr bwMode="auto">
          <a:xfrm>
            <a:off x="390525" y="2455863"/>
            <a:ext cx="725488" cy="661988"/>
          </a:xfrm>
          <a:prstGeom prst="roundRect">
            <a:avLst/>
          </a:prstGeom>
          <a:solidFill>
            <a:srgbClr val="969696">
              <a:lumMod val="20000"/>
              <a:lumOff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0" name="矩形: 圆角 6"/>
          <p:cNvSpPr/>
          <p:nvPr/>
        </p:nvSpPr>
        <p:spPr bwMode="auto">
          <a:xfrm>
            <a:off x="390525" y="1495425"/>
            <a:ext cx="725488" cy="661988"/>
          </a:xfrm>
          <a:prstGeom prst="roundRect">
            <a:avLst/>
          </a:prstGeom>
          <a:solidFill>
            <a:srgbClr val="969696">
              <a:lumMod val="20000"/>
              <a:lumOff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4" name="Rectangle 1114"/>
          <p:cNvSpPr>
            <a:spLocks noChangeArrowheads="1"/>
          </p:cNvSpPr>
          <p:nvPr/>
        </p:nvSpPr>
        <p:spPr bwMode="auto">
          <a:xfrm>
            <a:off x="1403350" y="1412875"/>
            <a:ext cx="7508875" cy="83185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设表长为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n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，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low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、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high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和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mid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分别指向待查元素所在区间的上界、下界和中点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,k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为给定值</a:t>
            </a:r>
          </a:p>
        </p:txBody>
      </p:sp>
      <p:grpSp>
        <p:nvGrpSpPr>
          <p:cNvPr id="41990" name="组合 28"/>
          <p:cNvGrpSpPr/>
          <p:nvPr/>
        </p:nvGrpSpPr>
        <p:grpSpPr>
          <a:xfrm>
            <a:off x="423863" y="1538288"/>
            <a:ext cx="590550" cy="627062"/>
            <a:chOff x="6242320" y="1105887"/>
            <a:chExt cx="589786" cy="626357"/>
          </a:xfrm>
        </p:grpSpPr>
        <p:sp>
          <p:nvSpPr>
            <p:cNvPr id="46" name="TextBox 6"/>
            <p:cNvSpPr txBox="1">
              <a:spLocks noChangeArrowheads="1"/>
            </p:cNvSpPr>
            <p:nvPr/>
          </p:nvSpPr>
          <p:spPr bwMode="auto">
            <a:xfrm>
              <a:off x="6327934" y="1105887"/>
              <a:ext cx="475634" cy="491572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ctr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FF9900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01</a:t>
              </a:r>
              <a:endPara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7" name="文本框 22"/>
            <p:cNvSpPr txBox="1">
              <a:spLocks noChangeArrowheads="1"/>
            </p:cNvSpPr>
            <p:nvPr/>
          </p:nvSpPr>
          <p:spPr bwMode="auto">
            <a:xfrm>
              <a:off x="6242320" y="1516587"/>
              <a:ext cx="589786" cy="215657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00" b="1" i="0" u="none" strike="noStrike" kern="1200" cap="none" spc="0" normalizeH="0" baseline="0" noProof="0">
                  <a:ln>
                    <a:noFill/>
                  </a:ln>
                  <a:solidFill>
                    <a:srgbClr val="81818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OPTION</a:t>
              </a:r>
              <a:endParaRPr kumimoji="0" lang="zh-CN" altLang="en-US" sz="800" b="1" i="0" u="none" strike="noStrike" kern="1200" cap="none" spc="0" normalizeH="0" baseline="0" noProof="0">
                <a:ln>
                  <a:noFill/>
                </a:ln>
                <a:solidFill>
                  <a:srgbClr val="81818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41993" name="组合 45"/>
          <p:cNvGrpSpPr/>
          <p:nvPr/>
        </p:nvGrpSpPr>
        <p:grpSpPr>
          <a:xfrm>
            <a:off x="441325" y="2495550"/>
            <a:ext cx="590550" cy="631825"/>
            <a:chOff x="6242320" y="2373259"/>
            <a:chExt cx="589786" cy="631715"/>
          </a:xfrm>
        </p:grpSpPr>
        <p:sp>
          <p:nvSpPr>
            <p:cNvPr id="49" name="TextBox 6"/>
            <p:cNvSpPr txBox="1">
              <a:spLocks noChangeArrowheads="1"/>
            </p:cNvSpPr>
            <p:nvPr/>
          </p:nvSpPr>
          <p:spPr bwMode="auto">
            <a:xfrm>
              <a:off x="6327934" y="2373259"/>
              <a:ext cx="458194" cy="492039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ctr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6C4C8F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02</a:t>
              </a:r>
              <a:endPara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6C4C8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0" name="文本框 23"/>
            <p:cNvSpPr txBox="1">
              <a:spLocks noChangeArrowheads="1"/>
            </p:cNvSpPr>
            <p:nvPr/>
          </p:nvSpPr>
          <p:spPr bwMode="auto">
            <a:xfrm>
              <a:off x="6242320" y="2789112"/>
              <a:ext cx="589786" cy="21586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00" b="1" i="0" u="none" strike="noStrike" kern="1200" cap="none" spc="0" normalizeH="0" baseline="0" noProof="0">
                  <a:ln>
                    <a:noFill/>
                  </a:ln>
                  <a:solidFill>
                    <a:srgbClr val="81818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OPTION</a:t>
              </a:r>
              <a:endParaRPr kumimoji="0" lang="zh-CN" altLang="en-US" sz="800" b="1" i="0" u="none" strike="noStrike" kern="1200" cap="none" spc="0" normalizeH="0" baseline="0" noProof="0">
                <a:ln>
                  <a:noFill/>
                </a:ln>
                <a:solidFill>
                  <a:srgbClr val="81818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41996" name="组合 48"/>
          <p:cNvGrpSpPr/>
          <p:nvPr/>
        </p:nvGrpSpPr>
        <p:grpSpPr>
          <a:xfrm>
            <a:off x="395288" y="3433763"/>
            <a:ext cx="590550" cy="620712"/>
            <a:chOff x="6242320" y="3640826"/>
            <a:chExt cx="589786" cy="620331"/>
          </a:xfrm>
        </p:grpSpPr>
        <p:sp>
          <p:nvSpPr>
            <p:cNvPr id="52" name="TextBox 6"/>
            <p:cNvSpPr txBox="1">
              <a:spLocks noChangeArrowheads="1"/>
            </p:cNvSpPr>
            <p:nvPr/>
          </p:nvSpPr>
          <p:spPr bwMode="auto">
            <a:xfrm>
              <a:off x="6327934" y="3640826"/>
              <a:ext cx="504172" cy="491823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ctr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76AEDD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03</a:t>
              </a:r>
              <a:endPara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76AEDD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3" name="文本框 24"/>
            <p:cNvSpPr txBox="1">
              <a:spLocks noChangeArrowheads="1"/>
            </p:cNvSpPr>
            <p:nvPr/>
          </p:nvSpPr>
          <p:spPr bwMode="auto">
            <a:xfrm>
              <a:off x="6242320" y="4045390"/>
              <a:ext cx="589786" cy="215767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00" b="1" i="0" u="none" strike="noStrike" kern="1200" cap="none" spc="0" normalizeH="0" baseline="0" noProof="0">
                  <a:ln>
                    <a:noFill/>
                  </a:ln>
                  <a:solidFill>
                    <a:srgbClr val="81818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OPTION</a:t>
              </a:r>
              <a:endParaRPr kumimoji="0" lang="zh-CN" altLang="en-US" sz="800" b="1" i="0" u="none" strike="noStrike" kern="1200" cap="none" spc="0" normalizeH="0" baseline="0" noProof="0">
                <a:ln>
                  <a:noFill/>
                </a:ln>
                <a:solidFill>
                  <a:srgbClr val="81818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cxnSp>
        <p:nvCxnSpPr>
          <p:cNvPr id="41999" name="直接连接符 53"/>
          <p:cNvCxnSpPr/>
          <p:nvPr/>
        </p:nvCxnSpPr>
        <p:spPr>
          <a:xfrm>
            <a:off x="509588" y="2312988"/>
            <a:ext cx="8166100" cy="0"/>
          </a:xfrm>
          <a:prstGeom prst="line">
            <a:avLst/>
          </a:prstGeom>
          <a:ln w="9525" cap="flat" cmpd="sng">
            <a:solidFill>
              <a:srgbClr val="7F7F7F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55" name="Rectangle 1105"/>
          <p:cNvSpPr>
            <a:spLocks noChangeArrowheads="1"/>
          </p:cNvSpPr>
          <p:nvPr/>
        </p:nvSpPr>
        <p:spPr bwMode="auto">
          <a:xfrm>
            <a:off x="1403350" y="2562225"/>
            <a:ext cx="7516813" cy="42386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初始时，令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low=1,high=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n,mid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=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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(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low+high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)/2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</a:t>
            </a:r>
          </a:p>
        </p:txBody>
      </p:sp>
      <p:sp>
        <p:nvSpPr>
          <p:cNvPr id="56" name="Rectangle 1106"/>
          <p:cNvSpPr>
            <a:spLocks noChangeArrowheads="1"/>
          </p:cNvSpPr>
          <p:nvPr/>
        </p:nvSpPr>
        <p:spPr bwMode="auto">
          <a:xfrm>
            <a:off x="1403350" y="3516313"/>
            <a:ext cx="7445375" cy="1547813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让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k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与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mid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指向的记录比较</a:t>
            </a: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若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k==R[mid].key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，查找成功</a:t>
            </a: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若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k&lt;R[mid].key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，则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high=mid-1</a:t>
            </a: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若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k&gt;R[mid].key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，则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low=mid+1</a:t>
            </a:r>
          </a:p>
        </p:txBody>
      </p:sp>
      <p:cxnSp>
        <p:nvCxnSpPr>
          <p:cNvPr id="42002" name="直接连接符 56"/>
          <p:cNvCxnSpPr/>
          <p:nvPr/>
        </p:nvCxnSpPr>
        <p:spPr>
          <a:xfrm>
            <a:off x="509588" y="3241675"/>
            <a:ext cx="8094662" cy="0"/>
          </a:xfrm>
          <a:prstGeom prst="line">
            <a:avLst/>
          </a:prstGeom>
          <a:ln w="9525" cap="flat" cmpd="sng">
            <a:solidFill>
              <a:srgbClr val="7F7F7F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42003" name="直接连接符 57"/>
          <p:cNvCxnSpPr/>
          <p:nvPr/>
        </p:nvCxnSpPr>
        <p:spPr>
          <a:xfrm>
            <a:off x="509588" y="5156200"/>
            <a:ext cx="8094662" cy="0"/>
          </a:xfrm>
          <a:prstGeom prst="line">
            <a:avLst/>
          </a:prstGeom>
          <a:ln w="9525" cap="flat" cmpd="sng">
            <a:solidFill>
              <a:srgbClr val="7F7F7F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59" name="矩形: 圆角 36"/>
          <p:cNvSpPr/>
          <p:nvPr/>
        </p:nvSpPr>
        <p:spPr bwMode="auto">
          <a:xfrm>
            <a:off x="390525" y="5248275"/>
            <a:ext cx="725488" cy="660400"/>
          </a:xfrm>
          <a:prstGeom prst="roundRect">
            <a:avLst/>
          </a:prstGeom>
          <a:solidFill>
            <a:srgbClr val="969696">
              <a:lumMod val="20000"/>
              <a:lumOff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42005" name="组合 48"/>
          <p:cNvGrpSpPr/>
          <p:nvPr/>
        </p:nvGrpSpPr>
        <p:grpSpPr>
          <a:xfrm>
            <a:off x="395288" y="5280025"/>
            <a:ext cx="590550" cy="620713"/>
            <a:chOff x="6242320" y="3640826"/>
            <a:chExt cx="589786" cy="620331"/>
          </a:xfrm>
        </p:grpSpPr>
        <p:sp>
          <p:nvSpPr>
            <p:cNvPr id="62" name="TextBox 6"/>
            <p:cNvSpPr txBox="1">
              <a:spLocks noChangeArrowheads="1"/>
            </p:cNvSpPr>
            <p:nvPr/>
          </p:nvSpPr>
          <p:spPr bwMode="auto">
            <a:xfrm>
              <a:off x="6327934" y="3640826"/>
              <a:ext cx="504172" cy="491822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ctr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04</a:t>
              </a:r>
              <a:endPara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3" name="文本框 24"/>
            <p:cNvSpPr txBox="1">
              <a:spLocks noChangeArrowheads="1"/>
            </p:cNvSpPr>
            <p:nvPr/>
          </p:nvSpPr>
          <p:spPr bwMode="auto">
            <a:xfrm>
              <a:off x="6242320" y="4045390"/>
              <a:ext cx="589786" cy="215767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00" b="1" i="0" u="none" strike="noStrike" kern="1200" cap="none" spc="0" normalizeH="0" baseline="0" noProof="0">
                  <a:ln>
                    <a:noFill/>
                  </a:ln>
                  <a:solidFill>
                    <a:srgbClr val="81818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OPTION</a:t>
              </a:r>
              <a:endParaRPr kumimoji="0" lang="zh-CN" altLang="en-US" sz="800" b="1" i="0" u="none" strike="noStrike" kern="1200" cap="none" spc="0" normalizeH="0" baseline="0" noProof="0">
                <a:ln>
                  <a:noFill/>
                </a:ln>
                <a:solidFill>
                  <a:srgbClr val="81818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64" name="Rectangle 1106"/>
          <p:cNvSpPr>
            <a:spLocks noChangeArrowheads="1"/>
          </p:cNvSpPr>
          <p:nvPr/>
        </p:nvSpPr>
        <p:spPr bwMode="auto">
          <a:xfrm>
            <a:off x="1403350" y="5373688"/>
            <a:ext cx="7445375" cy="3683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重复上述操作，直至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low&gt;high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时，查找失败</a:t>
            </a:r>
          </a:p>
        </p:txBody>
      </p:sp>
      <p:cxnSp>
        <p:nvCxnSpPr>
          <p:cNvPr id="42009" name="直接连接符 64"/>
          <p:cNvCxnSpPr/>
          <p:nvPr/>
        </p:nvCxnSpPr>
        <p:spPr>
          <a:xfrm>
            <a:off x="509588" y="6021388"/>
            <a:ext cx="8094662" cy="0"/>
          </a:xfrm>
          <a:prstGeom prst="line">
            <a:avLst/>
          </a:prstGeom>
          <a:ln w="9525" cap="flat" cmpd="sng">
            <a:solidFill>
              <a:srgbClr val="7F7F7F"/>
            </a:solidFill>
            <a:prstDash val="dash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矩形 1"/>
          <p:cNvSpPr>
            <a:spLocks noChangeArrowheads="1"/>
          </p:cNvSpPr>
          <p:nvPr/>
        </p:nvSpPr>
        <p:spPr bwMode="auto">
          <a:xfrm>
            <a:off x="0" y="1196975"/>
            <a:ext cx="9144000" cy="5184775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txBody>
          <a:bodyPr/>
          <a:lstStyle>
            <a:lvl1pPr marL="342900" indent="-3429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7650" name="Rectangle 4"/>
          <p:cNvSpPr>
            <a:spLocks noChangeArrowheads="1"/>
          </p:cNvSpPr>
          <p:nvPr/>
        </p:nvSpPr>
        <p:spPr bwMode="auto">
          <a:xfrm>
            <a:off x="381000" y="1196975"/>
            <a:ext cx="8458200" cy="51847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int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Search_Bin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(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SSTable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ST,KeyType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key)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{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	//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若找到，则函数值为该元素在表中的位置，否则为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0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low=1;high=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ST.length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;						 while(low&lt;=high){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  mid=(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low+high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)/2;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  if(key==ST.R[mid].key) return mid;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  else if(key&lt;ST.R[mid].key) high=mid-1;    //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前一子表查找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else low=mid+1;                       		    //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后一子表查找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}									    return 0;		//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表中不存在待查元素</a:t>
            </a:r>
            <a:endParaRPr kumimoji="0" lang="zh-CN" altLang="de-DE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de-DE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}										 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7651" name="Rectangle 5"/>
          <p:cNvSpPr>
            <a:spLocks noChangeArrowheads="1"/>
          </p:cNvSpPr>
          <p:nvPr/>
        </p:nvSpPr>
        <p:spPr bwMode="auto">
          <a:xfrm>
            <a:off x="669925" y="173038"/>
            <a:ext cx="6223000" cy="606425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【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算法描述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】-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算法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7.3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矩形 4"/>
          <p:cNvSpPr>
            <a:spLocks noChangeArrowheads="1"/>
          </p:cNvSpPr>
          <p:nvPr/>
        </p:nvSpPr>
        <p:spPr bwMode="auto">
          <a:xfrm>
            <a:off x="0" y="1196975"/>
            <a:ext cx="9144000" cy="5040313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txBody>
          <a:bodyPr/>
          <a:lstStyle>
            <a:lvl1pPr marL="342900" indent="-3429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8674" name="Rectangle 4"/>
          <p:cNvSpPr>
            <a:spLocks noChangeArrowheads="1"/>
          </p:cNvSpPr>
          <p:nvPr/>
        </p:nvSpPr>
        <p:spPr bwMode="auto">
          <a:xfrm>
            <a:off x="900113" y="185738"/>
            <a:ext cx="6837363" cy="51593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折半查找（递归算法）</a:t>
            </a:r>
          </a:p>
        </p:txBody>
      </p:sp>
      <p:sp>
        <p:nvSpPr>
          <p:cNvPr id="1035269" name="Rectangle 5"/>
          <p:cNvSpPr>
            <a:spLocks noChangeArrowheads="1"/>
          </p:cNvSpPr>
          <p:nvPr/>
        </p:nvSpPr>
        <p:spPr bwMode="auto">
          <a:xfrm>
            <a:off x="-180975" y="1196975"/>
            <a:ext cx="9144000" cy="47529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9pPr>
          </a:lstStyle>
          <a:p>
            <a:pPr marL="1143000" marR="0" lvl="2" indent="-228600" algn="l" defTabSz="914400" rtl="0" eaLnBrk="0" fontAlgn="base" latinLnBrk="0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int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Search_Bin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(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SSTable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ST,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keyType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key, int low, int high) </a:t>
            </a:r>
          </a:p>
          <a:p>
            <a:pPr marL="1143000" marR="0" lvl="2" indent="-228600" algn="l" defTabSz="914400" rtl="0" eaLnBrk="0" fontAlgn="base" latinLnBrk="0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{ </a:t>
            </a:r>
          </a:p>
          <a:p>
            <a:pPr marL="1143000" marR="0" lvl="2" indent="-228600" algn="l" defTabSz="914400" rtl="0" eaLnBrk="0" fontAlgn="base" latinLnBrk="0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if(low&gt;high) return 0;   //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查找不到时返回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0 </a:t>
            </a:r>
          </a:p>
          <a:p>
            <a:pPr marL="1143000" marR="0" lvl="2" indent="-228600" algn="l" defTabSz="914400" rtl="0" eaLnBrk="0" fontAlgn="base" latinLnBrk="0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mid=(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low+high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)/2; </a:t>
            </a:r>
          </a:p>
          <a:p>
            <a:pPr marL="1143000" marR="0" lvl="2" indent="-228600" algn="l" defTabSz="914400" rtl="0" eaLnBrk="0" fontAlgn="base" latinLnBrk="0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if(key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等于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ST.elem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[mid].key)  return mid; </a:t>
            </a:r>
          </a:p>
          <a:p>
            <a:pPr marL="1143000" marR="0" lvl="2" indent="-228600" algn="l" defTabSz="914400" rtl="0" eaLnBrk="0" fontAlgn="base" latinLnBrk="0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else if(key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小于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ST.elem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[mid].key)  </a:t>
            </a:r>
          </a:p>
          <a:p>
            <a:pPr marL="1143000" marR="0" lvl="2" indent="-228600" algn="l" defTabSz="914400" rtl="0" eaLnBrk="0" fontAlgn="base" latinLnBrk="0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……..//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递归</a:t>
            </a:r>
          </a:p>
          <a:p>
            <a:pPr marL="1143000" marR="0" lvl="2" indent="-228600" algn="l" defTabSz="914400" rtl="0" eaLnBrk="0" fontAlgn="base" latinLnBrk="0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else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…….  //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递归</a:t>
            </a:r>
          </a:p>
          <a:p>
            <a:pPr marL="1143000" marR="0" lvl="2" indent="-228600" algn="l" defTabSz="914400" rtl="0" eaLnBrk="0" fontAlgn="base" latinLnBrk="0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}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</a:t>
            </a:r>
          </a:p>
        </p:txBody>
      </p:sp>
      <p:sp>
        <p:nvSpPr>
          <p:cNvPr id="35845" name="矩形 1"/>
          <p:cNvSpPr>
            <a:spLocks noChangeArrowheads="1"/>
          </p:cNvSpPr>
          <p:nvPr/>
        </p:nvSpPr>
        <p:spPr bwMode="auto">
          <a:xfrm>
            <a:off x="7866063" y="5229225"/>
            <a:ext cx="1258888" cy="460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>
            <a:lvl1pPr marL="342900" indent="-3429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5846" name="矩形 6"/>
          <p:cNvSpPr>
            <a:spLocks noChangeArrowheads="1"/>
          </p:cNvSpPr>
          <p:nvPr/>
        </p:nvSpPr>
        <p:spPr bwMode="auto">
          <a:xfrm>
            <a:off x="7866063" y="5413375"/>
            <a:ext cx="1258888" cy="460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>
            <a:lvl1pPr marL="342900" indent="-3429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5847" name="矩形 7"/>
          <p:cNvSpPr>
            <a:spLocks noChangeArrowheads="1"/>
          </p:cNvSpPr>
          <p:nvPr/>
        </p:nvSpPr>
        <p:spPr bwMode="auto">
          <a:xfrm>
            <a:off x="7866063" y="5578475"/>
            <a:ext cx="1258888" cy="460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>
            <a:lvl1pPr marL="342900" indent="-3429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5848" name="矩形 8"/>
          <p:cNvSpPr>
            <a:spLocks noChangeArrowheads="1"/>
          </p:cNvSpPr>
          <p:nvPr/>
        </p:nvSpPr>
        <p:spPr bwMode="auto">
          <a:xfrm>
            <a:off x="7866063" y="5756275"/>
            <a:ext cx="1258888" cy="460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>
            <a:lvl1pPr marL="342900" indent="-3429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5849" name="矩形 9"/>
          <p:cNvSpPr>
            <a:spLocks noChangeArrowheads="1"/>
          </p:cNvSpPr>
          <p:nvPr/>
        </p:nvSpPr>
        <p:spPr bwMode="auto">
          <a:xfrm>
            <a:off x="7866063" y="5935663"/>
            <a:ext cx="1258888" cy="444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>
            <a:lvl1pPr marL="342900" indent="-3429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2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352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352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2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352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352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2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352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352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2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352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352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2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352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352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26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3526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3526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26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3526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3526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26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03526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03526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26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03526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03526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5269" grpId="0" build="p" bldLvl="5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矩形 1"/>
          <p:cNvSpPr>
            <a:spLocks noChangeArrowheads="1"/>
          </p:cNvSpPr>
          <p:nvPr/>
        </p:nvSpPr>
        <p:spPr bwMode="auto">
          <a:xfrm>
            <a:off x="274638" y="3509963"/>
            <a:ext cx="6543675" cy="2535238"/>
          </a:xfrm>
          <a:prstGeom prst="rect">
            <a:avLst/>
          </a:prstGeom>
          <a:solidFill>
            <a:srgbClr val="CCCCFF"/>
          </a:solidFill>
          <a:ln>
            <a:noFill/>
          </a:ln>
        </p:spPr>
        <p:txBody>
          <a:bodyPr/>
          <a:lstStyle>
            <a:lvl1pPr marL="342900" indent="-3429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9698" name="Rectangle 4"/>
          <p:cNvSpPr>
            <a:spLocks noChangeArrowheads="1"/>
          </p:cNvSpPr>
          <p:nvPr/>
        </p:nvSpPr>
        <p:spPr bwMode="auto">
          <a:xfrm>
            <a:off x="598488" y="3576638"/>
            <a:ext cx="5830888" cy="2400300"/>
          </a:xfrm>
          <a:prstGeom prst="rect">
            <a:avLst/>
          </a:prstGeom>
          <a:noFill/>
          <a:ln w="57150">
            <a:noFill/>
            <a:miter lim="800000"/>
          </a:ln>
        </p:spPr>
        <p:txBody>
          <a:bodyPr anchor="ctr"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Given the numbers 1 to 1000, what is the minimum number of guesses needed to find a specific number, if you are given the hint "higher" or "lower" for each guess you make ??</a:t>
            </a:r>
          </a:p>
        </p:txBody>
      </p:sp>
      <p:pic>
        <p:nvPicPr>
          <p:cNvPr id="45059" name="Picture 6" descr="u=1769637838,3343432434&amp;fm=3&amp;gp=0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375" y="3509963"/>
            <a:ext cx="2535238" cy="2535237"/>
          </a:xfrm>
          <a:prstGeom prst="rect">
            <a:avLst/>
          </a:prstGeom>
          <a:solidFill>
            <a:srgbClr val="CCCCFF"/>
          </a:solidFill>
          <a:ln w="9525" cap="flat" cmpd="sng">
            <a:solidFill>
              <a:srgbClr val="CCCCFF"/>
            </a:solidFill>
            <a:prstDash val="solid"/>
            <a:miter/>
            <a:headEnd type="none" w="med" len="med"/>
            <a:tailEnd type="none" w="med" len="med"/>
          </a:ln>
        </p:spPr>
      </p:pic>
      <p:sp>
        <p:nvSpPr>
          <p:cNvPr id="29700" name="AutoShape 7"/>
          <p:cNvSpPr>
            <a:spLocks noChangeArrowheads="1"/>
          </p:cNvSpPr>
          <p:nvPr/>
        </p:nvSpPr>
        <p:spPr bwMode="auto">
          <a:xfrm>
            <a:off x="3492500" y="1074738"/>
            <a:ext cx="4751388" cy="1803400"/>
          </a:xfrm>
          <a:prstGeom prst="cloudCallout">
            <a:avLst>
              <a:gd name="adj1" fmla="val 31981"/>
              <a:gd name="adj2" fmla="val 80676"/>
            </a:avLst>
          </a:prstGeom>
          <a:solidFill>
            <a:srgbClr val="CC99FF"/>
          </a:solidFill>
          <a:ln>
            <a:noFill/>
          </a:ln>
        </p:spPr>
        <p:txBody>
          <a:bodyPr anchor="ctr"/>
          <a:lstStyle>
            <a:lvl1pPr marL="342900" indent="-3429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9pPr>
          </a:lstStyle>
          <a:p>
            <a:pPr marL="342900" marR="0" lvl="0" indent="-342900" algn="ctr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Facebook </a:t>
            </a:r>
          </a:p>
          <a:p>
            <a:pPr marL="342900" marR="0" lvl="0" indent="-34290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- Software Engineer position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900113" y="185738"/>
            <a:ext cx="6837363" cy="51593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折半查找（递归算法）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矩形 1"/>
          <p:cNvSpPr>
            <a:spLocks noChangeArrowheads="1"/>
          </p:cNvSpPr>
          <p:nvPr/>
        </p:nvSpPr>
        <p:spPr bwMode="auto">
          <a:xfrm>
            <a:off x="0" y="1844675"/>
            <a:ext cx="9144000" cy="3600450"/>
          </a:xfrm>
          <a:prstGeom prst="rect">
            <a:avLst/>
          </a:prstGeom>
          <a:solidFill>
            <a:srgbClr val="CCCCFF"/>
          </a:solidFill>
          <a:ln>
            <a:noFill/>
          </a:ln>
        </p:spPr>
        <p:txBody>
          <a:bodyPr/>
          <a:lstStyle>
            <a:lvl1pPr marL="342900" indent="-3429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46082" name="Group 5"/>
          <p:cNvGrpSpPr/>
          <p:nvPr/>
        </p:nvGrpSpPr>
        <p:grpSpPr>
          <a:xfrm>
            <a:off x="685800" y="2011363"/>
            <a:ext cx="8001000" cy="3362325"/>
            <a:chOff x="480" y="360"/>
            <a:chExt cx="5040" cy="2118"/>
          </a:xfrm>
        </p:grpSpPr>
        <p:sp>
          <p:nvSpPr>
            <p:cNvPr id="30723" name="Oval 6"/>
            <p:cNvSpPr>
              <a:spLocks noChangeArrowheads="1"/>
            </p:cNvSpPr>
            <p:nvPr/>
          </p:nvSpPr>
          <p:spPr bwMode="auto">
            <a:xfrm>
              <a:off x="2544" y="408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0724" name="Oval 7"/>
            <p:cNvSpPr>
              <a:spLocks noChangeArrowheads="1"/>
            </p:cNvSpPr>
            <p:nvPr/>
          </p:nvSpPr>
          <p:spPr bwMode="auto">
            <a:xfrm>
              <a:off x="1440" y="696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0725" name="Oval 8"/>
            <p:cNvSpPr>
              <a:spLocks noChangeArrowheads="1"/>
            </p:cNvSpPr>
            <p:nvPr/>
          </p:nvSpPr>
          <p:spPr bwMode="auto">
            <a:xfrm>
              <a:off x="3696" y="696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0726" name="Oval 9"/>
            <p:cNvSpPr>
              <a:spLocks noChangeArrowheads="1"/>
            </p:cNvSpPr>
            <p:nvPr/>
          </p:nvSpPr>
          <p:spPr bwMode="auto">
            <a:xfrm>
              <a:off x="864" y="984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0727" name="Oval 10"/>
            <p:cNvSpPr>
              <a:spLocks noChangeArrowheads="1"/>
            </p:cNvSpPr>
            <p:nvPr/>
          </p:nvSpPr>
          <p:spPr bwMode="auto">
            <a:xfrm>
              <a:off x="1968" y="984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0728" name="Oval 11"/>
            <p:cNvSpPr>
              <a:spLocks noChangeArrowheads="1"/>
            </p:cNvSpPr>
            <p:nvPr/>
          </p:nvSpPr>
          <p:spPr bwMode="auto">
            <a:xfrm>
              <a:off x="3120" y="984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0729" name="Oval 12"/>
            <p:cNvSpPr>
              <a:spLocks noChangeArrowheads="1"/>
            </p:cNvSpPr>
            <p:nvPr/>
          </p:nvSpPr>
          <p:spPr bwMode="auto">
            <a:xfrm>
              <a:off x="4368" y="984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0730" name="Text Box 13"/>
            <p:cNvSpPr txBox="1">
              <a:spLocks noChangeArrowheads="1"/>
            </p:cNvSpPr>
            <p:nvPr/>
          </p:nvSpPr>
          <p:spPr bwMode="auto">
            <a:xfrm>
              <a:off x="480" y="1416"/>
              <a:ext cx="384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  -1</a:t>
              </a:r>
            </a:p>
          </p:txBody>
        </p:sp>
        <p:sp>
          <p:nvSpPr>
            <p:cNvPr id="30731" name="Oval 14"/>
            <p:cNvSpPr>
              <a:spLocks noChangeArrowheads="1"/>
            </p:cNvSpPr>
            <p:nvPr/>
          </p:nvSpPr>
          <p:spPr bwMode="auto">
            <a:xfrm>
              <a:off x="1056" y="1416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0732" name="Text Box 15"/>
            <p:cNvSpPr txBox="1">
              <a:spLocks noChangeArrowheads="1"/>
            </p:cNvSpPr>
            <p:nvPr/>
          </p:nvSpPr>
          <p:spPr bwMode="auto">
            <a:xfrm>
              <a:off x="1536" y="1416"/>
              <a:ext cx="432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3-4</a:t>
              </a:r>
            </a:p>
          </p:txBody>
        </p:sp>
        <p:sp>
          <p:nvSpPr>
            <p:cNvPr id="30733" name="Oval 16"/>
            <p:cNvSpPr>
              <a:spLocks noChangeArrowheads="1"/>
            </p:cNvSpPr>
            <p:nvPr/>
          </p:nvSpPr>
          <p:spPr bwMode="auto">
            <a:xfrm>
              <a:off x="2256" y="1464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0734" name="Text Box 17"/>
            <p:cNvSpPr txBox="1">
              <a:spLocks noChangeArrowheads="1"/>
            </p:cNvSpPr>
            <p:nvPr/>
          </p:nvSpPr>
          <p:spPr bwMode="auto">
            <a:xfrm>
              <a:off x="2784" y="1464"/>
              <a:ext cx="480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6-7</a:t>
              </a:r>
            </a:p>
          </p:txBody>
        </p:sp>
        <p:sp>
          <p:nvSpPr>
            <p:cNvPr id="30735" name="Oval 18"/>
            <p:cNvSpPr>
              <a:spLocks noChangeArrowheads="1"/>
            </p:cNvSpPr>
            <p:nvPr/>
          </p:nvSpPr>
          <p:spPr bwMode="auto">
            <a:xfrm>
              <a:off x="3504" y="1464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0736" name="Text Box 19"/>
            <p:cNvSpPr txBox="1">
              <a:spLocks noChangeArrowheads="1"/>
            </p:cNvSpPr>
            <p:nvPr/>
          </p:nvSpPr>
          <p:spPr bwMode="auto">
            <a:xfrm>
              <a:off x="3888" y="1464"/>
              <a:ext cx="480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9-10</a:t>
              </a:r>
            </a:p>
          </p:txBody>
        </p:sp>
        <p:sp>
          <p:nvSpPr>
            <p:cNvPr id="30737" name="Oval 20"/>
            <p:cNvSpPr>
              <a:spLocks noChangeArrowheads="1"/>
            </p:cNvSpPr>
            <p:nvPr/>
          </p:nvSpPr>
          <p:spPr bwMode="auto">
            <a:xfrm>
              <a:off x="4704" y="1464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0738" name="Text Box 21"/>
            <p:cNvSpPr txBox="1">
              <a:spLocks noChangeArrowheads="1"/>
            </p:cNvSpPr>
            <p:nvPr/>
          </p:nvSpPr>
          <p:spPr bwMode="auto">
            <a:xfrm>
              <a:off x="576" y="1896"/>
              <a:ext cx="432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1-2</a:t>
              </a:r>
            </a:p>
          </p:txBody>
        </p:sp>
        <p:sp>
          <p:nvSpPr>
            <p:cNvPr id="30739" name="Text Box 22"/>
            <p:cNvSpPr txBox="1">
              <a:spLocks noChangeArrowheads="1"/>
            </p:cNvSpPr>
            <p:nvPr/>
          </p:nvSpPr>
          <p:spPr bwMode="auto">
            <a:xfrm>
              <a:off x="1152" y="1896"/>
              <a:ext cx="384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2-3</a:t>
              </a:r>
            </a:p>
          </p:txBody>
        </p:sp>
        <p:sp>
          <p:nvSpPr>
            <p:cNvPr id="30740" name="Text Box 23"/>
            <p:cNvSpPr txBox="1">
              <a:spLocks noChangeArrowheads="1"/>
            </p:cNvSpPr>
            <p:nvPr/>
          </p:nvSpPr>
          <p:spPr bwMode="auto">
            <a:xfrm>
              <a:off x="1824" y="1896"/>
              <a:ext cx="432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4-5</a:t>
              </a:r>
            </a:p>
          </p:txBody>
        </p:sp>
        <p:sp>
          <p:nvSpPr>
            <p:cNvPr id="30741" name="Text Box 24"/>
            <p:cNvSpPr txBox="1">
              <a:spLocks noChangeArrowheads="1"/>
            </p:cNvSpPr>
            <p:nvPr/>
          </p:nvSpPr>
          <p:spPr bwMode="auto">
            <a:xfrm>
              <a:off x="2352" y="1896"/>
              <a:ext cx="432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5-6</a:t>
              </a:r>
            </a:p>
          </p:txBody>
        </p:sp>
        <p:sp>
          <p:nvSpPr>
            <p:cNvPr id="30742" name="Text Box 25"/>
            <p:cNvSpPr txBox="1">
              <a:spLocks noChangeArrowheads="1"/>
            </p:cNvSpPr>
            <p:nvPr/>
          </p:nvSpPr>
          <p:spPr bwMode="auto">
            <a:xfrm>
              <a:off x="3024" y="1896"/>
              <a:ext cx="432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7-8</a:t>
              </a:r>
            </a:p>
          </p:txBody>
        </p:sp>
        <p:sp>
          <p:nvSpPr>
            <p:cNvPr id="30743" name="Text Box 26"/>
            <p:cNvSpPr txBox="1">
              <a:spLocks noChangeArrowheads="1"/>
            </p:cNvSpPr>
            <p:nvPr/>
          </p:nvSpPr>
          <p:spPr bwMode="auto">
            <a:xfrm>
              <a:off x="3648" y="1896"/>
              <a:ext cx="432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8-9</a:t>
              </a:r>
            </a:p>
          </p:txBody>
        </p:sp>
        <p:sp>
          <p:nvSpPr>
            <p:cNvPr id="30744" name="Text Box 27"/>
            <p:cNvSpPr txBox="1">
              <a:spLocks noChangeArrowheads="1"/>
            </p:cNvSpPr>
            <p:nvPr/>
          </p:nvSpPr>
          <p:spPr bwMode="auto">
            <a:xfrm>
              <a:off x="4224" y="1896"/>
              <a:ext cx="624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10-11</a:t>
              </a:r>
            </a:p>
          </p:txBody>
        </p:sp>
        <p:sp>
          <p:nvSpPr>
            <p:cNvPr id="30745" name="Text Box 28"/>
            <p:cNvSpPr txBox="1">
              <a:spLocks noChangeArrowheads="1"/>
            </p:cNvSpPr>
            <p:nvPr/>
          </p:nvSpPr>
          <p:spPr bwMode="auto">
            <a:xfrm>
              <a:off x="4992" y="1896"/>
              <a:ext cx="432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11-</a:t>
              </a:r>
            </a:p>
          </p:txBody>
        </p:sp>
        <p:sp>
          <p:nvSpPr>
            <p:cNvPr id="30746" name="Line 29"/>
            <p:cNvSpPr>
              <a:spLocks noChangeShapeType="1"/>
            </p:cNvSpPr>
            <p:nvPr/>
          </p:nvSpPr>
          <p:spPr bwMode="auto">
            <a:xfrm flipH="1">
              <a:off x="1680" y="552"/>
              <a:ext cx="864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0747" name="Line 30"/>
            <p:cNvSpPr>
              <a:spLocks noChangeShapeType="1"/>
            </p:cNvSpPr>
            <p:nvPr/>
          </p:nvSpPr>
          <p:spPr bwMode="auto">
            <a:xfrm>
              <a:off x="2784" y="552"/>
              <a:ext cx="91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0748" name="Text Box 31"/>
            <p:cNvSpPr txBox="1">
              <a:spLocks noChangeArrowheads="1"/>
            </p:cNvSpPr>
            <p:nvPr/>
          </p:nvSpPr>
          <p:spPr bwMode="auto">
            <a:xfrm>
              <a:off x="2544" y="408"/>
              <a:ext cx="288" cy="288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6</a:t>
              </a:r>
            </a:p>
          </p:txBody>
        </p:sp>
        <p:sp>
          <p:nvSpPr>
            <p:cNvPr id="30749" name="Text Box 32"/>
            <p:cNvSpPr txBox="1">
              <a:spLocks noChangeArrowheads="1"/>
            </p:cNvSpPr>
            <p:nvPr/>
          </p:nvSpPr>
          <p:spPr bwMode="auto">
            <a:xfrm>
              <a:off x="1456" y="664"/>
              <a:ext cx="288" cy="288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3</a:t>
              </a:r>
            </a:p>
          </p:txBody>
        </p:sp>
        <p:sp>
          <p:nvSpPr>
            <p:cNvPr id="30750" name="Text Box 33"/>
            <p:cNvSpPr txBox="1">
              <a:spLocks noChangeArrowheads="1"/>
            </p:cNvSpPr>
            <p:nvPr/>
          </p:nvSpPr>
          <p:spPr bwMode="auto">
            <a:xfrm>
              <a:off x="3744" y="696"/>
              <a:ext cx="384" cy="288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9</a:t>
              </a:r>
            </a:p>
          </p:txBody>
        </p:sp>
        <p:sp>
          <p:nvSpPr>
            <p:cNvPr id="30751" name="Text Box 34"/>
            <p:cNvSpPr txBox="1">
              <a:spLocks noChangeArrowheads="1"/>
            </p:cNvSpPr>
            <p:nvPr/>
          </p:nvSpPr>
          <p:spPr bwMode="auto">
            <a:xfrm>
              <a:off x="887" y="962"/>
              <a:ext cx="218" cy="291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1</a:t>
              </a:r>
            </a:p>
          </p:txBody>
        </p:sp>
        <p:sp>
          <p:nvSpPr>
            <p:cNvPr id="30752" name="Text Box 35"/>
            <p:cNvSpPr txBox="1">
              <a:spLocks noChangeArrowheads="1"/>
            </p:cNvSpPr>
            <p:nvPr/>
          </p:nvSpPr>
          <p:spPr bwMode="auto">
            <a:xfrm>
              <a:off x="1976" y="952"/>
              <a:ext cx="288" cy="288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4</a:t>
              </a:r>
            </a:p>
          </p:txBody>
        </p:sp>
        <p:sp>
          <p:nvSpPr>
            <p:cNvPr id="30753" name="Text Box 36"/>
            <p:cNvSpPr txBox="1">
              <a:spLocks noChangeArrowheads="1"/>
            </p:cNvSpPr>
            <p:nvPr/>
          </p:nvSpPr>
          <p:spPr bwMode="auto">
            <a:xfrm>
              <a:off x="3120" y="984"/>
              <a:ext cx="288" cy="288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7</a:t>
              </a:r>
            </a:p>
          </p:txBody>
        </p:sp>
        <p:sp>
          <p:nvSpPr>
            <p:cNvPr id="30754" name="Text Box 37"/>
            <p:cNvSpPr txBox="1">
              <a:spLocks noChangeArrowheads="1"/>
            </p:cNvSpPr>
            <p:nvPr/>
          </p:nvSpPr>
          <p:spPr bwMode="auto">
            <a:xfrm>
              <a:off x="4336" y="960"/>
              <a:ext cx="384" cy="288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10</a:t>
              </a:r>
            </a:p>
          </p:txBody>
        </p:sp>
        <p:sp>
          <p:nvSpPr>
            <p:cNvPr id="30755" name="Text Box 38"/>
            <p:cNvSpPr txBox="1">
              <a:spLocks noChangeArrowheads="1"/>
            </p:cNvSpPr>
            <p:nvPr/>
          </p:nvSpPr>
          <p:spPr bwMode="auto">
            <a:xfrm>
              <a:off x="1056" y="1416"/>
              <a:ext cx="240" cy="288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2</a:t>
              </a:r>
            </a:p>
          </p:txBody>
        </p:sp>
        <p:sp>
          <p:nvSpPr>
            <p:cNvPr id="30756" name="Text Box 39"/>
            <p:cNvSpPr txBox="1">
              <a:spLocks noChangeArrowheads="1"/>
            </p:cNvSpPr>
            <p:nvPr/>
          </p:nvSpPr>
          <p:spPr bwMode="auto">
            <a:xfrm>
              <a:off x="2280" y="1432"/>
              <a:ext cx="336" cy="288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5</a:t>
              </a:r>
            </a:p>
          </p:txBody>
        </p:sp>
        <p:sp>
          <p:nvSpPr>
            <p:cNvPr id="30757" name="Text Box 40"/>
            <p:cNvSpPr txBox="1">
              <a:spLocks noChangeArrowheads="1"/>
            </p:cNvSpPr>
            <p:nvPr/>
          </p:nvSpPr>
          <p:spPr bwMode="auto">
            <a:xfrm>
              <a:off x="3504" y="1464"/>
              <a:ext cx="336" cy="288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8</a:t>
              </a:r>
            </a:p>
          </p:txBody>
        </p:sp>
        <p:sp>
          <p:nvSpPr>
            <p:cNvPr id="30758" name="Text Box 41"/>
            <p:cNvSpPr txBox="1">
              <a:spLocks noChangeArrowheads="1"/>
            </p:cNvSpPr>
            <p:nvPr/>
          </p:nvSpPr>
          <p:spPr bwMode="auto">
            <a:xfrm>
              <a:off x="4656" y="1464"/>
              <a:ext cx="336" cy="288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11</a:t>
              </a:r>
            </a:p>
          </p:txBody>
        </p:sp>
        <p:sp>
          <p:nvSpPr>
            <p:cNvPr id="30759" name="Line 42"/>
            <p:cNvSpPr>
              <a:spLocks noChangeShapeType="1"/>
            </p:cNvSpPr>
            <p:nvPr/>
          </p:nvSpPr>
          <p:spPr bwMode="auto">
            <a:xfrm flipH="1">
              <a:off x="1008" y="840"/>
              <a:ext cx="432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0760" name="Line 43"/>
            <p:cNvSpPr>
              <a:spLocks noChangeShapeType="1"/>
            </p:cNvSpPr>
            <p:nvPr/>
          </p:nvSpPr>
          <p:spPr bwMode="auto">
            <a:xfrm>
              <a:off x="1680" y="888"/>
              <a:ext cx="384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0761" name="Line 44"/>
            <p:cNvSpPr>
              <a:spLocks noChangeShapeType="1"/>
            </p:cNvSpPr>
            <p:nvPr/>
          </p:nvSpPr>
          <p:spPr bwMode="auto">
            <a:xfrm flipH="1">
              <a:off x="3264" y="792"/>
              <a:ext cx="43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0762" name="Line 45"/>
            <p:cNvSpPr>
              <a:spLocks noChangeShapeType="1"/>
            </p:cNvSpPr>
            <p:nvPr/>
          </p:nvSpPr>
          <p:spPr bwMode="auto">
            <a:xfrm>
              <a:off x="3936" y="840"/>
              <a:ext cx="528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0763" name="Line 46"/>
            <p:cNvSpPr>
              <a:spLocks noChangeShapeType="1"/>
            </p:cNvSpPr>
            <p:nvPr/>
          </p:nvSpPr>
          <p:spPr bwMode="auto">
            <a:xfrm flipH="1">
              <a:off x="624" y="1176"/>
              <a:ext cx="24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0764" name="Line 47"/>
            <p:cNvSpPr>
              <a:spLocks noChangeShapeType="1"/>
            </p:cNvSpPr>
            <p:nvPr/>
          </p:nvSpPr>
          <p:spPr bwMode="auto">
            <a:xfrm>
              <a:off x="1008" y="1224"/>
              <a:ext cx="19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0765" name="Line 48"/>
            <p:cNvSpPr>
              <a:spLocks noChangeShapeType="1"/>
            </p:cNvSpPr>
            <p:nvPr/>
          </p:nvSpPr>
          <p:spPr bwMode="auto">
            <a:xfrm flipH="1">
              <a:off x="1776" y="1224"/>
              <a:ext cx="288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0766" name="Line 49"/>
            <p:cNvSpPr>
              <a:spLocks noChangeShapeType="1"/>
            </p:cNvSpPr>
            <p:nvPr/>
          </p:nvSpPr>
          <p:spPr bwMode="auto">
            <a:xfrm>
              <a:off x="2112" y="1224"/>
              <a:ext cx="288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0767" name="Line 50"/>
            <p:cNvSpPr>
              <a:spLocks noChangeShapeType="1"/>
            </p:cNvSpPr>
            <p:nvPr/>
          </p:nvSpPr>
          <p:spPr bwMode="auto">
            <a:xfrm flipH="1">
              <a:off x="3024" y="1224"/>
              <a:ext cx="144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0768" name="Line 51"/>
            <p:cNvSpPr>
              <a:spLocks noChangeShapeType="1"/>
            </p:cNvSpPr>
            <p:nvPr/>
          </p:nvSpPr>
          <p:spPr bwMode="auto">
            <a:xfrm>
              <a:off x="3264" y="1224"/>
              <a:ext cx="384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0769" name="Line 52"/>
            <p:cNvSpPr>
              <a:spLocks noChangeShapeType="1"/>
            </p:cNvSpPr>
            <p:nvPr/>
          </p:nvSpPr>
          <p:spPr bwMode="auto">
            <a:xfrm flipH="1">
              <a:off x="4080" y="1224"/>
              <a:ext cx="384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0770" name="Line 53"/>
            <p:cNvSpPr>
              <a:spLocks noChangeShapeType="1"/>
            </p:cNvSpPr>
            <p:nvPr/>
          </p:nvSpPr>
          <p:spPr bwMode="auto">
            <a:xfrm>
              <a:off x="4512" y="1224"/>
              <a:ext cx="33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0771" name="Line 54"/>
            <p:cNvSpPr>
              <a:spLocks noChangeShapeType="1"/>
            </p:cNvSpPr>
            <p:nvPr/>
          </p:nvSpPr>
          <p:spPr bwMode="auto">
            <a:xfrm flipH="1">
              <a:off x="864" y="1656"/>
              <a:ext cx="24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0772" name="Line 55"/>
            <p:cNvSpPr>
              <a:spLocks noChangeShapeType="1"/>
            </p:cNvSpPr>
            <p:nvPr/>
          </p:nvSpPr>
          <p:spPr bwMode="auto">
            <a:xfrm>
              <a:off x="1200" y="1656"/>
              <a:ext cx="144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0773" name="Line 56"/>
            <p:cNvSpPr>
              <a:spLocks noChangeShapeType="1"/>
            </p:cNvSpPr>
            <p:nvPr/>
          </p:nvSpPr>
          <p:spPr bwMode="auto">
            <a:xfrm flipH="1">
              <a:off x="2016" y="1704"/>
              <a:ext cx="288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0774" name="Line 57"/>
            <p:cNvSpPr>
              <a:spLocks noChangeShapeType="1"/>
            </p:cNvSpPr>
            <p:nvPr/>
          </p:nvSpPr>
          <p:spPr bwMode="auto">
            <a:xfrm>
              <a:off x="2400" y="1704"/>
              <a:ext cx="19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0775" name="Line 58"/>
            <p:cNvSpPr>
              <a:spLocks noChangeShapeType="1"/>
            </p:cNvSpPr>
            <p:nvPr/>
          </p:nvSpPr>
          <p:spPr bwMode="auto">
            <a:xfrm flipH="1">
              <a:off x="3216" y="1704"/>
              <a:ext cx="336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0776" name="Line 59"/>
            <p:cNvSpPr>
              <a:spLocks noChangeShapeType="1"/>
            </p:cNvSpPr>
            <p:nvPr/>
          </p:nvSpPr>
          <p:spPr bwMode="auto">
            <a:xfrm>
              <a:off x="3648" y="1704"/>
              <a:ext cx="24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0777" name="Line 60"/>
            <p:cNvSpPr>
              <a:spLocks noChangeShapeType="1"/>
            </p:cNvSpPr>
            <p:nvPr/>
          </p:nvSpPr>
          <p:spPr bwMode="auto">
            <a:xfrm flipH="1">
              <a:off x="4512" y="1704"/>
              <a:ext cx="24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0778" name="Line 61"/>
            <p:cNvSpPr>
              <a:spLocks noChangeShapeType="1"/>
            </p:cNvSpPr>
            <p:nvPr/>
          </p:nvSpPr>
          <p:spPr bwMode="auto">
            <a:xfrm>
              <a:off x="4848" y="1704"/>
              <a:ext cx="384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0779" name="Line 62"/>
            <p:cNvSpPr>
              <a:spLocks noChangeShapeType="1"/>
            </p:cNvSpPr>
            <p:nvPr/>
          </p:nvSpPr>
          <p:spPr bwMode="auto">
            <a:xfrm>
              <a:off x="2880" y="504"/>
              <a:ext cx="2256" cy="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0780" name="Line 63"/>
            <p:cNvSpPr>
              <a:spLocks noChangeShapeType="1"/>
            </p:cNvSpPr>
            <p:nvPr/>
          </p:nvSpPr>
          <p:spPr bwMode="auto">
            <a:xfrm>
              <a:off x="3984" y="744"/>
              <a:ext cx="1152" cy="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0781" name="Line 64"/>
            <p:cNvSpPr>
              <a:spLocks noChangeShapeType="1"/>
            </p:cNvSpPr>
            <p:nvPr/>
          </p:nvSpPr>
          <p:spPr bwMode="auto">
            <a:xfrm>
              <a:off x="4944" y="1560"/>
              <a:ext cx="288" cy="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0782" name="Text Box 65"/>
            <p:cNvSpPr txBox="1">
              <a:spLocks noChangeArrowheads="1"/>
            </p:cNvSpPr>
            <p:nvPr/>
          </p:nvSpPr>
          <p:spPr bwMode="auto">
            <a:xfrm>
              <a:off x="5136" y="360"/>
              <a:ext cx="288" cy="288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1</a:t>
              </a:r>
            </a:p>
          </p:txBody>
        </p:sp>
        <p:sp>
          <p:nvSpPr>
            <p:cNvPr id="30783" name="Text Box 66"/>
            <p:cNvSpPr txBox="1">
              <a:spLocks noChangeArrowheads="1"/>
            </p:cNvSpPr>
            <p:nvPr/>
          </p:nvSpPr>
          <p:spPr bwMode="auto">
            <a:xfrm>
              <a:off x="5136" y="552"/>
              <a:ext cx="336" cy="288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2</a:t>
              </a:r>
            </a:p>
          </p:txBody>
        </p:sp>
        <p:sp>
          <p:nvSpPr>
            <p:cNvPr id="30784" name="Text Box 67"/>
            <p:cNvSpPr txBox="1">
              <a:spLocks noChangeArrowheads="1"/>
            </p:cNvSpPr>
            <p:nvPr/>
          </p:nvSpPr>
          <p:spPr bwMode="auto">
            <a:xfrm>
              <a:off x="5136" y="1416"/>
              <a:ext cx="288" cy="288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h</a:t>
              </a:r>
            </a:p>
          </p:txBody>
        </p:sp>
        <p:sp>
          <p:nvSpPr>
            <p:cNvPr id="30785" name="Text Box 68"/>
            <p:cNvSpPr txBox="1">
              <a:spLocks noChangeArrowheads="1"/>
            </p:cNvSpPr>
            <p:nvPr/>
          </p:nvSpPr>
          <p:spPr bwMode="auto">
            <a:xfrm>
              <a:off x="4896" y="2228"/>
              <a:ext cx="624" cy="250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外结点</a:t>
              </a:r>
            </a:p>
          </p:txBody>
        </p:sp>
        <p:sp>
          <p:nvSpPr>
            <p:cNvPr id="30786" name="Text Box 69"/>
            <p:cNvSpPr txBox="1">
              <a:spLocks noChangeArrowheads="1"/>
            </p:cNvSpPr>
            <p:nvPr/>
          </p:nvSpPr>
          <p:spPr bwMode="auto">
            <a:xfrm>
              <a:off x="4680" y="976"/>
              <a:ext cx="624" cy="250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内结点</a:t>
              </a:r>
            </a:p>
          </p:txBody>
        </p:sp>
        <p:sp>
          <p:nvSpPr>
            <p:cNvPr id="30787" name="Text Box 70"/>
            <p:cNvSpPr txBox="1">
              <a:spLocks noChangeArrowheads="1"/>
            </p:cNvSpPr>
            <p:nvPr/>
          </p:nvSpPr>
          <p:spPr bwMode="auto">
            <a:xfrm>
              <a:off x="2928" y="552"/>
              <a:ext cx="432" cy="288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&gt;</a:t>
              </a:r>
            </a:p>
          </p:txBody>
        </p:sp>
        <p:sp>
          <p:nvSpPr>
            <p:cNvPr id="30788" name="Text Box 71"/>
            <p:cNvSpPr txBox="1">
              <a:spLocks noChangeArrowheads="1"/>
            </p:cNvSpPr>
            <p:nvPr/>
          </p:nvSpPr>
          <p:spPr bwMode="auto">
            <a:xfrm>
              <a:off x="2160" y="552"/>
              <a:ext cx="288" cy="288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&lt;</a:t>
              </a:r>
            </a:p>
          </p:txBody>
        </p:sp>
        <p:sp>
          <p:nvSpPr>
            <p:cNvPr id="30789" name="Text Box 72"/>
            <p:cNvSpPr txBox="1">
              <a:spLocks noChangeArrowheads="1"/>
            </p:cNvSpPr>
            <p:nvPr/>
          </p:nvSpPr>
          <p:spPr bwMode="auto">
            <a:xfrm>
              <a:off x="2592" y="552"/>
              <a:ext cx="336" cy="288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=</a:t>
              </a:r>
            </a:p>
          </p:txBody>
        </p:sp>
      </p:grpSp>
      <p:sp>
        <p:nvSpPr>
          <p:cNvPr id="30790" name="Rectangle 73"/>
          <p:cNvSpPr>
            <a:spLocks noChangeArrowheads="1"/>
          </p:cNvSpPr>
          <p:nvPr/>
        </p:nvSpPr>
        <p:spPr bwMode="auto">
          <a:xfrm>
            <a:off x="801688" y="203200"/>
            <a:ext cx="7427913" cy="51593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折半查找的性能分析－判定树</a:t>
            </a:r>
          </a:p>
        </p:txBody>
      </p:sp>
      <p:grpSp>
        <p:nvGrpSpPr>
          <p:cNvPr id="46151" name="Group 111"/>
          <p:cNvGrpSpPr/>
          <p:nvPr/>
        </p:nvGrpSpPr>
        <p:grpSpPr>
          <a:xfrm>
            <a:off x="-30162" y="950913"/>
            <a:ext cx="6216650" cy="755650"/>
            <a:chOff x="797" y="448"/>
            <a:chExt cx="3916" cy="476"/>
          </a:xfrm>
        </p:grpSpPr>
        <p:sp>
          <p:nvSpPr>
            <p:cNvPr id="30792" name="Text Box 99"/>
            <p:cNvSpPr txBox="1">
              <a:spLocks noChangeArrowheads="1"/>
            </p:cNvSpPr>
            <p:nvPr/>
          </p:nvSpPr>
          <p:spPr bwMode="auto">
            <a:xfrm>
              <a:off x="797" y="448"/>
              <a:ext cx="3916" cy="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1       2       3       4       5       6        7        8       9      10     11</a:t>
              </a:r>
            </a:p>
          </p:txBody>
        </p:sp>
        <p:sp>
          <p:nvSpPr>
            <p:cNvPr id="30793" name="Rectangle 100"/>
            <p:cNvSpPr>
              <a:spLocks noChangeArrowheads="1"/>
            </p:cNvSpPr>
            <p:nvPr/>
          </p:nvSpPr>
          <p:spPr bwMode="auto">
            <a:xfrm>
              <a:off x="815" y="669"/>
              <a:ext cx="3879" cy="255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5      13     19     21     37     56      64      75     80     88     92</a:t>
              </a:r>
            </a:p>
          </p:txBody>
        </p:sp>
        <p:sp>
          <p:nvSpPr>
            <p:cNvPr id="30794" name="Line 101"/>
            <p:cNvSpPr>
              <a:spLocks noChangeShapeType="1"/>
            </p:cNvSpPr>
            <p:nvPr/>
          </p:nvSpPr>
          <p:spPr bwMode="auto">
            <a:xfrm>
              <a:off x="1082" y="668"/>
              <a:ext cx="0" cy="2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0795" name="Line 102"/>
            <p:cNvSpPr>
              <a:spLocks noChangeShapeType="1"/>
            </p:cNvSpPr>
            <p:nvPr/>
          </p:nvSpPr>
          <p:spPr bwMode="auto">
            <a:xfrm>
              <a:off x="1446" y="668"/>
              <a:ext cx="0" cy="2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0796" name="Line 103"/>
            <p:cNvSpPr>
              <a:spLocks noChangeShapeType="1"/>
            </p:cNvSpPr>
            <p:nvPr/>
          </p:nvSpPr>
          <p:spPr bwMode="auto">
            <a:xfrm>
              <a:off x="1810" y="668"/>
              <a:ext cx="0" cy="2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0797" name="Line 104"/>
            <p:cNvSpPr>
              <a:spLocks noChangeShapeType="1"/>
            </p:cNvSpPr>
            <p:nvPr/>
          </p:nvSpPr>
          <p:spPr bwMode="auto">
            <a:xfrm>
              <a:off x="2174" y="668"/>
              <a:ext cx="0" cy="2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0798" name="Line 105"/>
            <p:cNvSpPr>
              <a:spLocks noChangeShapeType="1"/>
            </p:cNvSpPr>
            <p:nvPr/>
          </p:nvSpPr>
          <p:spPr bwMode="auto">
            <a:xfrm>
              <a:off x="2538" y="668"/>
              <a:ext cx="0" cy="2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0799" name="Line 106"/>
            <p:cNvSpPr>
              <a:spLocks noChangeShapeType="1"/>
            </p:cNvSpPr>
            <p:nvPr/>
          </p:nvSpPr>
          <p:spPr bwMode="auto">
            <a:xfrm>
              <a:off x="2902" y="668"/>
              <a:ext cx="0" cy="2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0800" name="Line 107"/>
            <p:cNvSpPr>
              <a:spLocks noChangeShapeType="1"/>
            </p:cNvSpPr>
            <p:nvPr/>
          </p:nvSpPr>
          <p:spPr bwMode="auto">
            <a:xfrm>
              <a:off x="3266" y="668"/>
              <a:ext cx="0" cy="2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0801" name="Line 108"/>
            <p:cNvSpPr>
              <a:spLocks noChangeShapeType="1"/>
            </p:cNvSpPr>
            <p:nvPr/>
          </p:nvSpPr>
          <p:spPr bwMode="auto">
            <a:xfrm>
              <a:off x="3630" y="668"/>
              <a:ext cx="0" cy="2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0802" name="Line 109"/>
            <p:cNvSpPr>
              <a:spLocks noChangeShapeType="1"/>
            </p:cNvSpPr>
            <p:nvPr/>
          </p:nvSpPr>
          <p:spPr bwMode="auto">
            <a:xfrm>
              <a:off x="3994" y="668"/>
              <a:ext cx="0" cy="2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0803" name="Line 110"/>
            <p:cNvSpPr>
              <a:spLocks noChangeShapeType="1"/>
            </p:cNvSpPr>
            <p:nvPr/>
          </p:nvSpPr>
          <p:spPr bwMode="auto">
            <a:xfrm>
              <a:off x="4358" y="668"/>
              <a:ext cx="0" cy="2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1004658" name="Text Box 114"/>
          <p:cNvSpPr txBox="1">
            <a:spLocks noChangeArrowheads="1"/>
          </p:cNvSpPr>
          <p:nvPr/>
        </p:nvSpPr>
        <p:spPr bwMode="auto">
          <a:xfrm>
            <a:off x="0" y="5591175"/>
            <a:ext cx="9144000" cy="9731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9pPr>
          </a:lstStyle>
          <a:p>
            <a:pPr marL="0" marR="0" lvl="0" indent="629920" algn="l" defTabSz="914400" rtl="0" eaLnBrk="1" fontAlgn="base" latinLnBrk="0" hangingPunct="1">
              <a:lnSpc>
                <a:spcPct val="12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若所有结点的空指针域设置为一个指向一个方形结点的指针，称方形结点为判定树的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外部结点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；对应的，圆形结点为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内部结点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6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0046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4658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矩形 1"/>
          <p:cNvSpPr>
            <a:spLocks noChangeArrowheads="1"/>
          </p:cNvSpPr>
          <p:nvPr/>
        </p:nvSpPr>
        <p:spPr bwMode="auto">
          <a:xfrm>
            <a:off x="0" y="2133600"/>
            <a:ext cx="9144000" cy="3671888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txBody>
          <a:bodyPr/>
          <a:lstStyle>
            <a:lvl1pPr marL="342900" indent="-3429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47106" name="Group 4"/>
          <p:cNvGrpSpPr/>
          <p:nvPr/>
        </p:nvGrpSpPr>
        <p:grpSpPr>
          <a:xfrm>
            <a:off x="425450" y="2278063"/>
            <a:ext cx="8001000" cy="3417887"/>
            <a:chOff x="480" y="360"/>
            <a:chExt cx="5040" cy="2153"/>
          </a:xfrm>
        </p:grpSpPr>
        <p:sp>
          <p:nvSpPr>
            <p:cNvPr id="31747" name="Oval 5"/>
            <p:cNvSpPr>
              <a:spLocks noChangeArrowheads="1"/>
            </p:cNvSpPr>
            <p:nvPr/>
          </p:nvSpPr>
          <p:spPr bwMode="auto">
            <a:xfrm>
              <a:off x="2544" y="408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1748" name="Oval 6"/>
            <p:cNvSpPr>
              <a:spLocks noChangeArrowheads="1"/>
            </p:cNvSpPr>
            <p:nvPr/>
          </p:nvSpPr>
          <p:spPr bwMode="auto">
            <a:xfrm>
              <a:off x="1440" y="696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1749" name="Oval 7"/>
            <p:cNvSpPr>
              <a:spLocks noChangeArrowheads="1"/>
            </p:cNvSpPr>
            <p:nvPr/>
          </p:nvSpPr>
          <p:spPr bwMode="auto">
            <a:xfrm>
              <a:off x="3696" y="696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1750" name="Oval 8"/>
            <p:cNvSpPr>
              <a:spLocks noChangeArrowheads="1"/>
            </p:cNvSpPr>
            <p:nvPr/>
          </p:nvSpPr>
          <p:spPr bwMode="auto">
            <a:xfrm>
              <a:off x="864" y="984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1751" name="Oval 9"/>
            <p:cNvSpPr>
              <a:spLocks noChangeArrowheads="1"/>
            </p:cNvSpPr>
            <p:nvPr/>
          </p:nvSpPr>
          <p:spPr bwMode="auto">
            <a:xfrm>
              <a:off x="1968" y="984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1752" name="Oval 10"/>
            <p:cNvSpPr>
              <a:spLocks noChangeArrowheads="1"/>
            </p:cNvSpPr>
            <p:nvPr/>
          </p:nvSpPr>
          <p:spPr bwMode="auto">
            <a:xfrm>
              <a:off x="3120" y="984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1753" name="Oval 11"/>
            <p:cNvSpPr>
              <a:spLocks noChangeArrowheads="1"/>
            </p:cNvSpPr>
            <p:nvPr/>
          </p:nvSpPr>
          <p:spPr bwMode="auto">
            <a:xfrm>
              <a:off x="4368" y="984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1754" name="Text Box 12"/>
            <p:cNvSpPr txBox="1">
              <a:spLocks noChangeArrowheads="1"/>
            </p:cNvSpPr>
            <p:nvPr/>
          </p:nvSpPr>
          <p:spPr bwMode="auto">
            <a:xfrm>
              <a:off x="480" y="1416"/>
              <a:ext cx="384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  -1</a:t>
              </a:r>
            </a:p>
          </p:txBody>
        </p:sp>
        <p:sp>
          <p:nvSpPr>
            <p:cNvPr id="31755" name="Oval 13"/>
            <p:cNvSpPr>
              <a:spLocks noChangeArrowheads="1"/>
            </p:cNvSpPr>
            <p:nvPr/>
          </p:nvSpPr>
          <p:spPr bwMode="auto">
            <a:xfrm>
              <a:off x="1056" y="1416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1756" name="Text Box 14"/>
            <p:cNvSpPr txBox="1">
              <a:spLocks noChangeArrowheads="1"/>
            </p:cNvSpPr>
            <p:nvPr/>
          </p:nvSpPr>
          <p:spPr bwMode="auto">
            <a:xfrm>
              <a:off x="1536" y="1416"/>
              <a:ext cx="432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3-4</a:t>
              </a:r>
            </a:p>
          </p:txBody>
        </p:sp>
        <p:sp>
          <p:nvSpPr>
            <p:cNvPr id="31757" name="Oval 15"/>
            <p:cNvSpPr>
              <a:spLocks noChangeArrowheads="1"/>
            </p:cNvSpPr>
            <p:nvPr/>
          </p:nvSpPr>
          <p:spPr bwMode="auto">
            <a:xfrm>
              <a:off x="2256" y="1464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1758" name="Text Box 16"/>
            <p:cNvSpPr txBox="1">
              <a:spLocks noChangeArrowheads="1"/>
            </p:cNvSpPr>
            <p:nvPr/>
          </p:nvSpPr>
          <p:spPr bwMode="auto">
            <a:xfrm>
              <a:off x="2784" y="1464"/>
              <a:ext cx="480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6-7</a:t>
              </a:r>
            </a:p>
          </p:txBody>
        </p:sp>
        <p:sp>
          <p:nvSpPr>
            <p:cNvPr id="31759" name="Oval 17"/>
            <p:cNvSpPr>
              <a:spLocks noChangeArrowheads="1"/>
            </p:cNvSpPr>
            <p:nvPr/>
          </p:nvSpPr>
          <p:spPr bwMode="auto">
            <a:xfrm>
              <a:off x="3504" y="1464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1760" name="Text Box 18"/>
            <p:cNvSpPr txBox="1">
              <a:spLocks noChangeArrowheads="1"/>
            </p:cNvSpPr>
            <p:nvPr/>
          </p:nvSpPr>
          <p:spPr bwMode="auto">
            <a:xfrm>
              <a:off x="3888" y="1464"/>
              <a:ext cx="480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9-10</a:t>
              </a:r>
            </a:p>
          </p:txBody>
        </p:sp>
        <p:sp>
          <p:nvSpPr>
            <p:cNvPr id="31761" name="Oval 19"/>
            <p:cNvSpPr>
              <a:spLocks noChangeArrowheads="1"/>
            </p:cNvSpPr>
            <p:nvPr/>
          </p:nvSpPr>
          <p:spPr bwMode="auto">
            <a:xfrm>
              <a:off x="4704" y="1464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1762" name="Text Box 20"/>
            <p:cNvSpPr txBox="1">
              <a:spLocks noChangeArrowheads="1"/>
            </p:cNvSpPr>
            <p:nvPr/>
          </p:nvSpPr>
          <p:spPr bwMode="auto">
            <a:xfrm>
              <a:off x="576" y="1896"/>
              <a:ext cx="432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1-2</a:t>
              </a:r>
            </a:p>
          </p:txBody>
        </p:sp>
        <p:sp>
          <p:nvSpPr>
            <p:cNvPr id="31763" name="Text Box 21"/>
            <p:cNvSpPr txBox="1">
              <a:spLocks noChangeArrowheads="1"/>
            </p:cNvSpPr>
            <p:nvPr/>
          </p:nvSpPr>
          <p:spPr bwMode="auto">
            <a:xfrm>
              <a:off x="1152" y="1896"/>
              <a:ext cx="384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2-3</a:t>
              </a:r>
            </a:p>
          </p:txBody>
        </p:sp>
        <p:sp>
          <p:nvSpPr>
            <p:cNvPr id="31764" name="Text Box 22"/>
            <p:cNvSpPr txBox="1">
              <a:spLocks noChangeArrowheads="1"/>
            </p:cNvSpPr>
            <p:nvPr/>
          </p:nvSpPr>
          <p:spPr bwMode="auto">
            <a:xfrm>
              <a:off x="1824" y="1896"/>
              <a:ext cx="432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4-5</a:t>
              </a:r>
            </a:p>
          </p:txBody>
        </p:sp>
        <p:sp>
          <p:nvSpPr>
            <p:cNvPr id="31765" name="Text Box 23"/>
            <p:cNvSpPr txBox="1">
              <a:spLocks noChangeArrowheads="1"/>
            </p:cNvSpPr>
            <p:nvPr/>
          </p:nvSpPr>
          <p:spPr bwMode="auto">
            <a:xfrm>
              <a:off x="2352" y="1896"/>
              <a:ext cx="432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5-6</a:t>
              </a:r>
            </a:p>
          </p:txBody>
        </p:sp>
        <p:sp>
          <p:nvSpPr>
            <p:cNvPr id="31766" name="Text Box 24"/>
            <p:cNvSpPr txBox="1">
              <a:spLocks noChangeArrowheads="1"/>
            </p:cNvSpPr>
            <p:nvPr/>
          </p:nvSpPr>
          <p:spPr bwMode="auto">
            <a:xfrm>
              <a:off x="3024" y="1896"/>
              <a:ext cx="432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7-8</a:t>
              </a:r>
            </a:p>
          </p:txBody>
        </p:sp>
        <p:sp>
          <p:nvSpPr>
            <p:cNvPr id="31767" name="Text Box 25"/>
            <p:cNvSpPr txBox="1">
              <a:spLocks noChangeArrowheads="1"/>
            </p:cNvSpPr>
            <p:nvPr/>
          </p:nvSpPr>
          <p:spPr bwMode="auto">
            <a:xfrm>
              <a:off x="3648" y="1896"/>
              <a:ext cx="432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8-9</a:t>
              </a:r>
            </a:p>
          </p:txBody>
        </p:sp>
        <p:sp>
          <p:nvSpPr>
            <p:cNvPr id="31768" name="Text Box 26"/>
            <p:cNvSpPr txBox="1">
              <a:spLocks noChangeArrowheads="1"/>
            </p:cNvSpPr>
            <p:nvPr/>
          </p:nvSpPr>
          <p:spPr bwMode="auto">
            <a:xfrm>
              <a:off x="4224" y="1896"/>
              <a:ext cx="624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10-11</a:t>
              </a:r>
            </a:p>
          </p:txBody>
        </p:sp>
        <p:sp>
          <p:nvSpPr>
            <p:cNvPr id="31769" name="Text Box 27"/>
            <p:cNvSpPr txBox="1">
              <a:spLocks noChangeArrowheads="1"/>
            </p:cNvSpPr>
            <p:nvPr/>
          </p:nvSpPr>
          <p:spPr bwMode="auto">
            <a:xfrm>
              <a:off x="4992" y="1896"/>
              <a:ext cx="432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11-</a:t>
              </a:r>
            </a:p>
          </p:txBody>
        </p:sp>
        <p:sp>
          <p:nvSpPr>
            <p:cNvPr id="31770" name="Line 28"/>
            <p:cNvSpPr>
              <a:spLocks noChangeShapeType="1"/>
            </p:cNvSpPr>
            <p:nvPr/>
          </p:nvSpPr>
          <p:spPr bwMode="auto">
            <a:xfrm flipH="1">
              <a:off x="1680" y="552"/>
              <a:ext cx="864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1771" name="Line 29"/>
            <p:cNvSpPr>
              <a:spLocks noChangeShapeType="1"/>
            </p:cNvSpPr>
            <p:nvPr/>
          </p:nvSpPr>
          <p:spPr bwMode="auto">
            <a:xfrm>
              <a:off x="2784" y="552"/>
              <a:ext cx="91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1772" name="Text Box 30"/>
            <p:cNvSpPr txBox="1">
              <a:spLocks noChangeArrowheads="1"/>
            </p:cNvSpPr>
            <p:nvPr/>
          </p:nvSpPr>
          <p:spPr bwMode="auto">
            <a:xfrm>
              <a:off x="2560" y="376"/>
              <a:ext cx="288" cy="288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6</a:t>
              </a:r>
            </a:p>
          </p:txBody>
        </p:sp>
        <p:sp>
          <p:nvSpPr>
            <p:cNvPr id="31773" name="Text Box 31"/>
            <p:cNvSpPr txBox="1">
              <a:spLocks noChangeArrowheads="1"/>
            </p:cNvSpPr>
            <p:nvPr/>
          </p:nvSpPr>
          <p:spPr bwMode="auto">
            <a:xfrm>
              <a:off x="1472" y="664"/>
              <a:ext cx="288" cy="288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3</a:t>
              </a:r>
            </a:p>
          </p:txBody>
        </p:sp>
        <p:sp>
          <p:nvSpPr>
            <p:cNvPr id="31774" name="Text Box 32"/>
            <p:cNvSpPr txBox="1">
              <a:spLocks noChangeArrowheads="1"/>
            </p:cNvSpPr>
            <p:nvPr/>
          </p:nvSpPr>
          <p:spPr bwMode="auto">
            <a:xfrm>
              <a:off x="3720" y="656"/>
              <a:ext cx="384" cy="288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9</a:t>
              </a:r>
            </a:p>
          </p:txBody>
        </p:sp>
        <p:sp>
          <p:nvSpPr>
            <p:cNvPr id="31775" name="Text Box 33"/>
            <p:cNvSpPr txBox="1">
              <a:spLocks noChangeArrowheads="1"/>
            </p:cNvSpPr>
            <p:nvPr/>
          </p:nvSpPr>
          <p:spPr bwMode="auto">
            <a:xfrm>
              <a:off x="888" y="952"/>
              <a:ext cx="240" cy="288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1</a:t>
              </a:r>
            </a:p>
          </p:txBody>
        </p:sp>
        <p:sp>
          <p:nvSpPr>
            <p:cNvPr id="31776" name="Text Box 34"/>
            <p:cNvSpPr txBox="1">
              <a:spLocks noChangeArrowheads="1"/>
            </p:cNvSpPr>
            <p:nvPr/>
          </p:nvSpPr>
          <p:spPr bwMode="auto">
            <a:xfrm>
              <a:off x="1982" y="960"/>
              <a:ext cx="288" cy="288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4</a:t>
              </a:r>
            </a:p>
          </p:txBody>
        </p:sp>
        <p:sp>
          <p:nvSpPr>
            <p:cNvPr id="31777" name="Text Box 35"/>
            <p:cNvSpPr txBox="1">
              <a:spLocks noChangeArrowheads="1"/>
            </p:cNvSpPr>
            <p:nvPr/>
          </p:nvSpPr>
          <p:spPr bwMode="auto">
            <a:xfrm>
              <a:off x="3128" y="960"/>
              <a:ext cx="288" cy="288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7</a:t>
              </a:r>
            </a:p>
          </p:txBody>
        </p:sp>
        <p:sp>
          <p:nvSpPr>
            <p:cNvPr id="31778" name="Text Box 36"/>
            <p:cNvSpPr txBox="1">
              <a:spLocks noChangeArrowheads="1"/>
            </p:cNvSpPr>
            <p:nvPr/>
          </p:nvSpPr>
          <p:spPr bwMode="auto">
            <a:xfrm>
              <a:off x="4336" y="949"/>
              <a:ext cx="336" cy="291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10</a:t>
              </a:r>
            </a:p>
          </p:txBody>
        </p:sp>
        <p:sp>
          <p:nvSpPr>
            <p:cNvPr id="31779" name="Text Box 37"/>
            <p:cNvSpPr txBox="1">
              <a:spLocks noChangeArrowheads="1"/>
            </p:cNvSpPr>
            <p:nvPr/>
          </p:nvSpPr>
          <p:spPr bwMode="auto">
            <a:xfrm>
              <a:off x="1056" y="1416"/>
              <a:ext cx="240" cy="288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2</a:t>
              </a:r>
            </a:p>
          </p:txBody>
        </p:sp>
        <p:sp>
          <p:nvSpPr>
            <p:cNvPr id="31780" name="Text Box 38"/>
            <p:cNvSpPr txBox="1">
              <a:spLocks noChangeArrowheads="1"/>
            </p:cNvSpPr>
            <p:nvPr/>
          </p:nvSpPr>
          <p:spPr bwMode="auto">
            <a:xfrm>
              <a:off x="2256" y="1416"/>
              <a:ext cx="336" cy="288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5</a:t>
              </a:r>
            </a:p>
          </p:txBody>
        </p:sp>
        <p:sp>
          <p:nvSpPr>
            <p:cNvPr id="31781" name="Text Box 39"/>
            <p:cNvSpPr txBox="1">
              <a:spLocks noChangeArrowheads="1"/>
            </p:cNvSpPr>
            <p:nvPr/>
          </p:nvSpPr>
          <p:spPr bwMode="auto">
            <a:xfrm>
              <a:off x="3528" y="1440"/>
              <a:ext cx="336" cy="288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8</a:t>
              </a:r>
            </a:p>
          </p:txBody>
        </p:sp>
        <p:sp>
          <p:nvSpPr>
            <p:cNvPr id="31782" name="Text Box 40"/>
            <p:cNvSpPr txBox="1">
              <a:spLocks noChangeArrowheads="1"/>
            </p:cNvSpPr>
            <p:nvPr/>
          </p:nvSpPr>
          <p:spPr bwMode="auto">
            <a:xfrm>
              <a:off x="4656" y="1464"/>
              <a:ext cx="336" cy="288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11</a:t>
              </a:r>
            </a:p>
          </p:txBody>
        </p:sp>
        <p:sp>
          <p:nvSpPr>
            <p:cNvPr id="31783" name="Line 41"/>
            <p:cNvSpPr>
              <a:spLocks noChangeShapeType="1"/>
            </p:cNvSpPr>
            <p:nvPr/>
          </p:nvSpPr>
          <p:spPr bwMode="auto">
            <a:xfrm flipH="1">
              <a:off x="1008" y="840"/>
              <a:ext cx="432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1784" name="Line 42"/>
            <p:cNvSpPr>
              <a:spLocks noChangeShapeType="1"/>
            </p:cNvSpPr>
            <p:nvPr/>
          </p:nvSpPr>
          <p:spPr bwMode="auto">
            <a:xfrm>
              <a:off x="1680" y="888"/>
              <a:ext cx="384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1785" name="Line 43"/>
            <p:cNvSpPr>
              <a:spLocks noChangeShapeType="1"/>
            </p:cNvSpPr>
            <p:nvPr/>
          </p:nvSpPr>
          <p:spPr bwMode="auto">
            <a:xfrm flipH="1">
              <a:off x="3264" y="792"/>
              <a:ext cx="43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1786" name="Line 44"/>
            <p:cNvSpPr>
              <a:spLocks noChangeShapeType="1"/>
            </p:cNvSpPr>
            <p:nvPr/>
          </p:nvSpPr>
          <p:spPr bwMode="auto">
            <a:xfrm>
              <a:off x="3936" y="840"/>
              <a:ext cx="528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1787" name="Line 45"/>
            <p:cNvSpPr>
              <a:spLocks noChangeShapeType="1"/>
            </p:cNvSpPr>
            <p:nvPr/>
          </p:nvSpPr>
          <p:spPr bwMode="auto">
            <a:xfrm flipH="1">
              <a:off x="624" y="1176"/>
              <a:ext cx="24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1788" name="Line 46"/>
            <p:cNvSpPr>
              <a:spLocks noChangeShapeType="1"/>
            </p:cNvSpPr>
            <p:nvPr/>
          </p:nvSpPr>
          <p:spPr bwMode="auto">
            <a:xfrm>
              <a:off x="1008" y="1224"/>
              <a:ext cx="19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1789" name="Line 47"/>
            <p:cNvSpPr>
              <a:spLocks noChangeShapeType="1"/>
            </p:cNvSpPr>
            <p:nvPr/>
          </p:nvSpPr>
          <p:spPr bwMode="auto">
            <a:xfrm flipH="1">
              <a:off x="1776" y="1224"/>
              <a:ext cx="288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1790" name="Line 48"/>
            <p:cNvSpPr>
              <a:spLocks noChangeShapeType="1"/>
            </p:cNvSpPr>
            <p:nvPr/>
          </p:nvSpPr>
          <p:spPr bwMode="auto">
            <a:xfrm>
              <a:off x="2112" y="1224"/>
              <a:ext cx="288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1791" name="Line 49"/>
            <p:cNvSpPr>
              <a:spLocks noChangeShapeType="1"/>
            </p:cNvSpPr>
            <p:nvPr/>
          </p:nvSpPr>
          <p:spPr bwMode="auto">
            <a:xfrm flipH="1">
              <a:off x="3024" y="1224"/>
              <a:ext cx="144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1792" name="Line 50"/>
            <p:cNvSpPr>
              <a:spLocks noChangeShapeType="1"/>
            </p:cNvSpPr>
            <p:nvPr/>
          </p:nvSpPr>
          <p:spPr bwMode="auto">
            <a:xfrm>
              <a:off x="3264" y="1224"/>
              <a:ext cx="384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1793" name="Line 51"/>
            <p:cNvSpPr>
              <a:spLocks noChangeShapeType="1"/>
            </p:cNvSpPr>
            <p:nvPr/>
          </p:nvSpPr>
          <p:spPr bwMode="auto">
            <a:xfrm flipH="1">
              <a:off x="4080" y="1224"/>
              <a:ext cx="384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1794" name="Line 52"/>
            <p:cNvSpPr>
              <a:spLocks noChangeShapeType="1"/>
            </p:cNvSpPr>
            <p:nvPr/>
          </p:nvSpPr>
          <p:spPr bwMode="auto">
            <a:xfrm>
              <a:off x="4512" y="1224"/>
              <a:ext cx="33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1795" name="Line 53"/>
            <p:cNvSpPr>
              <a:spLocks noChangeShapeType="1"/>
            </p:cNvSpPr>
            <p:nvPr/>
          </p:nvSpPr>
          <p:spPr bwMode="auto">
            <a:xfrm flipH="1">
              <a:off x="864" y="1656"/>
              <a:ext cx="24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1796" name="Line 54"/>
            <p:cNvSpPr>
              <a:spLocks noChangeShapeType="1"/>
            </p:cNvSpPr>
            <p:nvPr/>
          </p:nvSpPr>
          <p:spPr bwMode="auto">
            <a:xfrm>
              <a:off x="1200" y="1656"/>
              <a:ext cx="144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1797" name="Line 55"/>
            <p:cNvSpPr>
              <a:spLocks noChangeShapeType="1"/>
            </p:cNvSpPr>
            <p:nvPr/>
          </p:nvSpPr>
          <p:spPr bwMode="auto">
            <a:xfrm flipH="1">
              <a:off x="2016" y="1704"/>
              <a:ext cx="288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1798" name="Line 56"/>
            <p:cNvSpPr>
              <a:spLocks noChangeShapeType="1"/>
            </p:cNvSpPr>
            <p:nvPr/>
          </p:nvSpPr>
          <p:spPr bwMode="auto">
            <a:xfrm>
              <a:off x="2400" y="1704"/>
              <a:ext cx="19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1799" name="Line 57"/>
            <p:cNvSpPr>
              <a:spLocks noChangeShapeType="1"/>
            </p:cNvSpPr>
            <p:nvPr/>
          </p:nvSpPr>
          <p:spPr bwMode="auto">
            <a:xfrm flipH="1">
              <a:off x="3216" y="1704"/>
              <a:ext cx="336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1800" name="Line 58"/>
            <p:cNvSpPr>
              <a:spLocks noChangeShapeType="1"/>
            </p:cNvSpPr>
            <p:nvPr/>
          </p:nvSpPr>
          <p:spPr bwMode="auto">
            <a:xfrm>
              <a:off x="3648" y="1704"/>
              <a:ext cx="24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1801" name="Line 59"/>
            <p:cNvSpPr>
              <a:spLocks noChangeShapeType="1"/>
            </p:cNvSpPr>
            <p:nvPr/>
          </p:nvSpPr>
          <p:spPr bwMode="auto">
            <a:xfrm flipH="1">
              <a:off x="4512" y="1704"/>
              <a:ext cx="24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1802" name="Line 60"/>
            <p:cNvSpPr>
              <a:spLocks noChangeShapeType="1"/>
            </p:cNvSpPr>
            <p:nvPr/>
          </p:nvSpPr>
          <p:spPr bwMode="auto">
            <a:xfrm>
              <a:off x="4848" y="1704"/>
              <a:ext cx="384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1803" name="Line 61"/>
            <p:cNvSpPr>
              <a:spLocks noChangeShapeType="1"/>
            </p:cNvSpPr>
            <p:nvPr/>
          </p:nvSpPr>
          <p:spPr bwMode="auto">
            <a:xfrm>
              <a:off x="2880" y="504"/>
              <a:ext cx="2256" cy="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1804" name="Line 62"/>
            <p:cNvSpPr>
              <a:spLocks noChangeShapeType="1"/>
            </p:cNvSpPr>
            <p:nvPr/>
          </p:nvSpPr>
          <p:spPr bwMode="auto">
            <a:xfrm>
              <a:off x="3984" y="744"/>
              <a:ext cx="1152" cy="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1805" name="Line 63"/>
            <p:cNvSpPr>
              <a:spLocks noChangeShapeType="1"/>
            </p:cNvSpPr>
            <p:nvPr/>
          </p:nvSpPr>
          <p:spPr bwMode="auto">
            <a:xfrm>
              <a:off x="4944" y="1560"/>
              <a:ext cx="288" cy="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1806" name="Text Box 64"/>
            <p:cNvSpPr txBox="1">
              <a:spLocks noChangeArrowheads="1"/>
            </p:cNvSpPr>
            <p:nvPr/>
          </p:nvSpPr>
          <p:spPr bwMode="auto">
            <a:xfrm>
              <a:off x="5136" y="360"/>
              <a:ext cx="288" cy="288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1</a:t>
              </a:r>
            </a:p>
          </p:txBody>
        </p:sp>
        <p:sp>
          <p:nvSpPr>
            <p:cNvPr id="31807" name="Text Box 65"/>
            <p:cNvSpPr txBox="1">
              <a:spLocks noChangeArrowheads="1"/>
            </p:cNvSpPr>
            <p:nvPr/>
          </p:nvSpPr>
          <p:spPr bwMode="auto">
            <a:xfrm>
              <a:off x="5136" y="552"/>
              <a:ext cx="336" cy="288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2</a:t>
              </a:r>
            </a:p>
          </p:txBody>
        </p:sp>
        <p:sp>
          <p:nvSpPr>
            <p:cNvPr id="31808" name="Text Box 66"/>
            <p:cNvSpPr txBox="1">
              <a:spLocks noChangeArrowheads="1"/>
            </p:cNvSpPr>
            <p:nvPr/>
          </p:nvSpPr>
          <p:spPr bwMode="auto">
            <a:xfrm>
              <a:off x="5136" y="1416"/>
              <a:ext cx="288" cy="288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h</a:t>
              </a:r>
            </a:p>
          </p:txBody>
        </p:sp>
        <p:sp>
          <p:nvSpPr>
            <p:cNvPr id="31809" name="Text Box 67"/>
            <p:cNvSpPr txBox="1">
              <a:spLocks noChangeArrowheads="1"/>
            </p:cNvSpPr>
            <p:nvPr/>
          </p:nvSpPr>
          <p:spPr bwMode="auto">
            <a:xfrm>
              <a:off x="4896" y="2263"/>
              <a:ext cx="624" cy="250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外结点</a:t>
              </a:r>
            </a:p>
          </p:txBody>
        </p:sp>
        <p:sp>
          <p:nvSpPr>
            <p:cNvPr id="31810" name="Text Box 68"/>
            <p:cNvSpPr txBox="1">
              <a:spLocks noChangeArrowheads="1"/>
            </p:cNvSpPr>
            <p:nvPr/>
          </p:nvSpPr>
          <p:spPr bwMode="auto">
            <a:xfrm>
              <a:off x="4644" y="984"/>
              <a:ext cx="624" cy="250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内结点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1811" name="Text Box 69"/>
            <p:cNvSpPr txBox="1">
              <a:spLocks noChangeArrowheads="1"/>
            </p:cNvSpPr>
            <p:nvPr/>
          </p:nvSpPr>
          <p:spPr bwMode="auto">
            <a:xfrm>
              <a:off x="2912" y="583"/>
              <a:ext cx="432" cy="288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&gt;</a:t>
              </a:r>
              <a:endPara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1812" name="Text Box 70"/>
            <p:cNvSpPr txBox="1">
              <a:spLocks noChangeArrowheads="1"/>
            </p:cNvSpPr>
            <p:nvPr/>
          </p:nvSpPr>
          <p:spPr bwMode="auto">
            <a:xfrm>
              <a:off x="2160" y="584"/>
              <a:ext cx="288" cy="288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&lt;</a:t>
              </a:r>
            </a:p>
          </p:txBody>
        </p:sp>
        <p:sp>
          <p:nvSpPr>
            <p:cNvPr id="31813" name="Text Box 71"/>
            <p:cNvSpPr txBox="1">
              <a:spLocks noChangeArrowheads="1"/>
            </p:cNvSpPr>
            <p:nvPr/>
          </p:nvSpPr>
          <p:spPr bwMode="auto">
            <a:xfrm>
              <a:off x="2560" y="576"/>
              <a:ext cx="336" cy="288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=</a:t>
              </a:r>
            </a:p>
          </p:txBody>
        </p:sp>
      </p:grpSp>
      <p:sp>
        <p:nvSpPr>
          <p:cNvPr id="31814" name="Rectangle 72"/>
          <p:cNvSpPr>
            <a:spLocks noChangeArrowheads="1"/>
          </p:cNvSpPr>
          <p:nvPr/>
        </p:nvSpPr>
        <p:spPr bwMode="auto">
          <a:xfrm>
            <a:off x="0" y="6011863"/>
            <a:ext cx="9144000" cy="522288"/>
          </a:xfrm>
          <a:prstGeom prst="rect">
            <a:avLst/>
          </a:prstGeom>
          <a:solidFill>
            <a:schemeClr val="accent1">
              <a:lumMod val="75000"/>
            </a:schemeClr>
          </a:solidFill>
          <a:ln w="38100">
            <a:noFill/>
            <a:miter lim="800000"/>
          </a:ln>
        </p:spPr>
        <p:txBody>
          <a:bodyPr anchor="ctr"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ASL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＝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1/11*(1*1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＋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2×2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＋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4×3+4*4 )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＝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33/11=3</a:t>
            </a:r>
          </a:p>
        </p:txBody>
      </p:sp>
      <p:sp>
        <p:nvSpPr>
          <p:cNvPr id="31815" name="Rectangle 73"/>
          <p:cNvSpPr>
            <a:spLocks noChangeArrowheads="1"/>
          </p:cNvSpPr>
          <p:nvPr/>
        </p:nvSpPr>
        <p:spPr bwMode="auto">
          <a:xfrm>
            <a:off x="876300" y="252413"/>
            <a:ext cx="6680200" cy="485775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练习</a:t>
            </a:r>
          </a:p>
        </p:txBody>
      </p:sp>
      <p:sp>
        <p:nvSpPr>
          <p:cNvPr id="73" name="Rectangle 73"/>
          <p:cNvSpPr>
            <a:spLocks noChangeArrowheads="1"/>
          </p:cNvSpPr>
          <p:nvPr/>
        </p:nvSpPr>
        <p:spPr bwMode="auto">
          <a:xfrm>
            <a:off x="247650" y="939800"/>
            <a:ext cx="8661400" cy="9842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假定每个元素的查找概率相等，求查找成功时的平均查找长度。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矩形 73"/>
          <p:cNvSpPr>
            <a:spLocks noChangeArrowheads="1"/>
          </p:cNvSpPr>
          <p:nvPr/>
        </p:nvSpPr>
        <p:spPr bwMode="auto">
          <a:xfrm>
            <a:off x="0" y="1096963"/>
            <a:ext cx="9144000" cy="3671888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txBody>
          <a:bodyPr/>
          <a:lstStyle>
            <a:lvl1pPr marL="342900" indent="-3429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006597" name="Text Box 5"/>
          <p:cNvSpPr txBox="1">
            <a:spLocks noChangeArrowheads="1"/>
          </p:cNvSpPr>
          <p:nvPr/>
        </p:nvSpPr>
        <p:spPr bwMode="auto">
          <a:xfrm>
            <a:off x="152400" y="4987925"/>
            <a:ext cx="8839200" cy="17541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查找成功时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比较次数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：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为该结点在判定树上的层次数，不超过树的深度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d =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楷体_GB2312" panose="02010609030101010101" charset="-122"/>
                <a:ea typeface="楷体_GB2312" panose="02010609030101010101" charset="-122"/>
                <a:cs typeface="+mn-cs"/>
              </a:rPr>
              <a:t>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楷体_GB2312" panose="02010609030101010101" charset="-122"/>
                <a:ea typeface="楷体_GB2312" panose="02010609030101010101" charset="-122"/>
                <a:cs typeface="+mn-cs"/>
                <a:sym typeface="Symbol" panose="05050102010706020507" pitchFamily="18" charset="2"/>
              </a:rPr>
              <a:t>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log</a:t>
            </a:r>
            <a:r>
              <a:rPr kumimoji="0" lang="en-US" altLang="zh-CN" sz="2400" b="0" i="0" u="none" strike="noStrike" kern="1200" cap="none" spc="0" normalizeH="0" baseline="-2500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2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n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楷体_GB2312" panose="02010609030101010101" charset="-122"/>
                <a:ea typeface="楷体_GB2312" panose="02010609030101010101" charset="-122"/>
                <a:cs typeface="+mn-cs"/>
                <a:sym typeface="Symbol" panose="05050102010706020507" pitchFamily="18" charset="2"/>
              </a:rPr>
              <a:t>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+ 1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查找不成功的过程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就是走了一条从根结点到外部结点的路径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d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或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d-1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。</a:t>
            </a:r>
          </a:p>
        </p:txBody>
      </p:sp>
      <p:grpSp>
        <p:nvGrpSpPr>
          <p:cNvPr id="48131" name="Group 7"/>
          <p:cNvGrpSpPr/>
          <p:nvPr/>
        </p:nvGrpSpPr>
        <p:grpSpPr>
          <a:xfrm>
            <a:off x="647700" y="1257300"/>
            <a:ext cx="8039100" cy="3395663"/>
            <a:chOff x="480" y="360"/>
            <a:chExt cx="5064" cy="2139"/>
          </a:xfrm>
        </p:grpSpPr>
        <p:sp>
          <p:nvSpPr>
            <p:cNvPr id="32773" name="Oval 8"/>
            <p:cNvSpPr>
              <a:spLocks noChangeArrowheads="1"/>
            </p:cNvSpPr>
            <p:nvPr/>
          </p:nvSpPr>
          <p:spPr bwMode="auto">
            <a:xfrm>
              <a:off x="2544" y="408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2774" name="Oval 9"/>
            <p:cNvSpPr>
              <a:spLocks noChangeArrowheads="1"/>
            </p:cNvSpPr>
            <p:nvPr/>
          </p:nvSpPr>
          <p:spPr bwMode="auto">
            <a:xfrm>
              <a:off x="1440" y="696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2775" name="Oval 10"/>
            <p:cNvSpPr>
              <a:spLocks noChangeArrowheads="1"/>
            </p:cNvSpPr>
            <p:nvPr/>
          </p:nvSpPr>
          <p:spPr bwMode="auto">
            <a:xfrm>
              <a:off x="3696" y="696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2776" name="Oval 11"/>
            <p:cNvSpPr>
              <a:spLocks noChangeArrowheads="1"/>
            </p:cNvSpPr>
            <p:nvPr/>
          </p:nvSpPr>
          <p:spPr bwMode="auto">
            <a:xfrm>
              <a:off x="864" y="984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2777" name="Oval 12"/>
            <p:cNvSpPr>
              <a:spLocks noChangeArrowheads="1"/>
            </p:cNvSpPr>
            <p:nvPr/>
          </p:nvSpPr>
          <p:spPr bwMode="auto">
            <a:xfrm>
              <a:off x="1968" y="984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2778" name="Oval 13"/>
            <p:cNvSpPr>
              <a:spLocks noChangeArrowheads="1"/>
            </p:cNvSpPr>
            <p:nvPr/>
          </p:nvSpPr>
          <p:spPr bwMode="auto">
            <a:xfrm>
              <a:off x="3120" y="984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2779" name="Oval 14"/>
            <p:cNvSpPr>
              <a:spLocks noChangeArrowheads="1"/>
            </p:cNvSpPr>
            <p:nvPr/>
          </p:nvSpPr>
          <p:spPr bwMode="auto">
            <a:xfrm>
              <a:off x="4368" y="984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2780" name="Text Box 15"/>
            <p:cNvSpPr txBox="1">
              <a:spLocks noChangeArrowheads="1"/>
            </p:cNvSpPr>
            <p:nvPr/>
          </p:nvSpPr>
          <p:spPr bwMode="auto">
            <a:xfrm>
              <a:off x="480" y="1416"/>
              <a:ext cx="384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  -1</a:t>
              </a:r>
            </a:p>
          </p:txBody>
        </p:sp>
        <p:sp>
          <p:nvSpPr>
            <p:cNvPr id="32781" name="Oval 16"/>
            <p:cNvSpPr>
              <a:spLocks noChangeArrowheads="1"/>
            </p:cNvSpPr>
            <p:nvPr/>
          </p:nvSpPr>
          <p:spPr bwMode="auto">
            <a:xfrm>
              <a:off x="1056" y="1416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2782" name="Text Box 17"/>
            <p:cNvSpPr txBox="1">
              <a:spLocks noChangeArrowheads="1"/>
            </p:cNvSpPr>
            <p:nvPr/>
          </p:nvSpPr>
          <p:spPr bwMode="auto">
            <a:xfrm>
              <a:off x="1536" y="1416"/>
              <a:ext cx="432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3-4</a:t>
              </a:r>
            </a:p>
          </p:txBody>
        </p:sp>
        <p:sp>
          <p:nvSpPr>
            <p:cNvPr id="32783" name="Oval 18"/>
            <p:cNvSpPr>
              <a:spLocks noChangeArrowheads="1"/>
            </p:cNvSpPr>
            <p:nvPr/>
          </p:nvSpPr>
          <p:spPr bwMode="auto">
            <a:xfrm>
              <a:off x="2256" y="1464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2784" name="Text Box 19"/>
            <p:cNvSpPr txBox="1">
              <a:spLocks noChangeArrowheads="1"/>
            </p:cNvSpPr>
            <p:nvPr/>
          </p:nvSpPr>
          <p:spPr bwMode="auto">
            <a:xfrm>
              <a:off x="2784" y="1464"/>
              <a:ext cx="480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6-7</a:t>
              </a:r>
            </a:p>
          </p:txBody>
        </p:sp>
        <p:sp>
          <p:nvSpPr>
            <p:cNvPr id="32785" name="Oval 20"/>
            <p:cNvSpPr>
              <a:spLocks noChangeArrowheads="1"/>
            </p:cNvSpPr>
            <p:nvPr/>
          </p:nvSpPr>
          <p:spPr bwMode="auto">
            <a:xfrm>
              <a:off x="3504" y="1464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2786" name="Text Box 21"/>
            <p:cNvSpPr txBox="1">
              <a:spLocks noChangeArrowheads="1"/>
            </p:cNvSpPr>
            <p:nvPr/>
          </p:nvSpPr>
          <p:spPr bwMode="auto">
            <a:xfrm>
              <a:off x="3888" y="1464"/>
              <a:ext cx="480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9-10</a:t>
              </a:r>
            </a:p>
          </p:txBody>
        </p:sp>
        <p:sp>
          <p:nvSpPr>
            <p:cNvPr id="32787" name="Oval 22"/>
            <p:cNvSpPr>
              <a:spLocks noChangeArrowheads="1"/>
            </p:cNvSpPr>
            <p:nvPr/>
          </p:nvSpPr>
          <p:spPr bwMode="auto">
            <a:xfrm>
              <a:off x="4704" y="1464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2788" name="Text Box 23"/>
            <p:cNvSpPr txBox="1">
              <a:spLocks noChangeArrowheads="1"/>
            </p:cNvSpPr>
            <p:nvPr/>
          </p:nvSpPr>
          <p:spPr bwMode="auto">
            <a:xfrm>
              <a:off x="576" y="1896"/>
              <a:ext cx="432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1-2</a:t>
              </a:r>
            </a:p>
          </p:txBody>
        </p:sp>
        <p:sp>
          <p:nvSpPr>
            <p:cNvPr id="32789" name="Text Box 24"/>
            <p:cNvSpPr txBox="1">
              <a:spLocks noChangeArrowheads="1"/>
            </p:cNvSpPr>
            <p:nvPr/>
          </p:nvSpPr>
          <p:spPr bwMode="auto">
            <a:xfrm>
              <a:off x="1152" y="1896"/>
              <a:ext cx="384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2-3</a:t>
              </a:r>
            </a:p>
          </p:txBody>
        </p:sp>
        <p:sp>
          <p:nvSpPr>
            <p:cNvPr id="32790" name="Text Box 25"/>
            <p:cNvSpPr txBox="1">
              <a:spLocks noChangeArrowheads="1"/>
            </p:cNvSpPr>
            <p:nvPr/>
          </p:nvSpPr>
          <p:spPr bwMode="auto">
            <a:xfrm>
              <a:off x="1824" y="1896"/>
              <a:ext cx="432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4-5</a:t>
              </a:r>
            </a:p>
          </p:txBody>
        </p:sp>
        <p:sp>
          <p:nvSpPr>
            <p:cNvPr id="32791" name="Text Box 26"/>
            <p:cNvSpPr txBox="1">
              <a:spLocks noChangeArrowheads="1"/>
            </p:cNvSpPr>
            <p:nvPr/>
          </p:nvSpPr>
          <p:spPr bwMode="auto">
            <a:xfrm>
              <a:off x="2352" y="1896"/>
              <a:ext cx="432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5-6</a:t>
              </a:r>
            </a:p>
          </p:txBody>
        </p:sp>
        <p:sp>
          <p:nvSpPr>
            <p:cNvPr id="32792" name="Text Box 27"/>
            <p:cNvSpPr txBox="1">
              <a:spLocks noChangeArrowheads="1"/>
            </p:cNvSpPr>
            <p:nvPr/>
          </p:nvSpPr>
          <p:spPr bwMode="auto">
            <a:xfrm>
              <a:off x="3024" y="1896"/>
              <a:ext cx="432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7-8</a:t>
              </a:r>
            </a:p>
          </p:txBody>
        </p:sp>
        <p:sp>
          <p:nvSpPr>
            <p:cNvPr id="32793" name="Text Box 28"/>
            <p:cNvSpPr txBox="1">
              <a:spLocks noChangeArrowheads="1"/>
            </p:cNvSpPr>
            <p:nvPr/>
          </p:nvSpPr>
          <p:spPr bwMode="auto">
            <a:xfrm>
              <a:off x="3648" y="1896"/>
              <a:ext cx="432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8-9</a:t>
              </a:r>
            </a:p>
          </p:txBody>
        </p:sp>
        <p:sp>
          <p:nvSpPr>
            <p:cNvPr id="32794" name="Text Box 29"/>
            <p:cNvSpPr txBox="1">
              <a:spLocks noChangeArrowheads="1"/>
            </p:cNvSpPr>
            <p:nvPr/>
          </p:nvSpPr>
          <p:spPr bwMode="auto">
            <a:xfrm>
              <a:off x="4224" y="1896"/>
              <a:ext cx="624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10-11</a:t>
              </a:r>
            </a:p>
          </p:txBody>
        </p:sp>
        <p:sp>
          <p:nvSpPr>
            <p:cNvPr id="32795" name="Text Box 30"/>
            <p:cNvSpPr txBox="1">
              <a:spLocks noChangeArrowheads="1"/>
            </p:cNvSpPr>
            <p:nvPr/>
          </p:nvSpPr>
          <p:spPr bwMode="auto">
            <a:xfrm>
              <a:off x="4992" y="1896"/>
              <a:ext cx="432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11-</a:t>
              </a:r>
            </a:p>
          </p:txBody>
        </p:sp>
        <p:sp>
          <p:nvSpPr>
            <p:cNvPr id="32796" name="Line 31"/>
            <p:cNvSpPr>
              <a:spLocks noChangeShapeType="1"/>
            </p:cNvSpPr>
            <p:nvPr/>
          </p:nvSpPr>
          <p:spPr bwMode="auto">
            <a:xfrm flipH="1">
              <a:off x="1680" y="552"/>
              <a:ext cx="864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2797" name="Line 32"/>
            <p:cNvSpPr>
              <a:spLocks noChangeShapeType="1"/>
            </p:cNvSpPr>
            <p:nvPr/>
          </p:nvSpPr>
          <p:spPr bwMode="auto">
            <a:xfrm>
              <a:off x="2784" y="552"/>
              <a:ext cx="91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2798" name="Text Box 33"/>
            <p:cNvSpPr txBox="1">
              <a:spLocks noChangeArrowheads="1"/>
            </p:cNvSpPr>
            <p:nvPr/>
          </p:nvSpPr>
          <p:spPr bwMode="auto">
            <a:xfrm>
              <a:off x="2544" y="408"/>
              <a:ext cx="288" cy="288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6</a:t>
              </a:r>
            </a:p>
          </p:txBody>
        </p:sp>
        <p:sp>
          <p:nvSpPr>
            <p:cNvPr id="32799" name="Text Box 34"/>
            <p:cNvSpPr txBox="1">
              <a:spLocks noChangeArrowheads="1"/>
            </p:cNvSpPr>
            <p:nvPr/>
          </p:nvSpPr>
          <p:spPr bwMode="auto">
            <a:xfrm>
              <a:off x="1440" y="696"/>
              <a:ext cx="288" cy="288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3</a:t>
              </a:r>
            </a:p>
          </p:txBody>
        </p:sp>
        <p:sp>
          <p:nvSpPr>
            <p:cNvPr id="32800" name="Text Box 35"/>
            <p:cNvSpPr txBox="1">
              <a:spLocks noChangeArrowheads="1"/>
            </p:cNvSpPr>
            <p:nvPr/>
          </p:nvSpPr>
          <p:spPr bwMode="auto">
            <a:xfrm>
              <a:off x="3744" y="696"/>
              <a:ext cx="384" cy="288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9</a:t>
              </a:r>
            </a:p>
          </p:txBody>
        </p:sp>
        <p:sp>
          <p:nvSpPr>
            <p:cNvPr id="32801" name="Text Box 36"/>
            <p:cNvSpPr txBox="1">
              <a:spLocks noChangeArrowheads="1"/>
            </p:cNvSpPr>
            <p:nvPr/>
          </p:nvSpPr>
          <p:spPr bwMode="auto">
            <a:xfrm>
              <a:off x="912" y="984"/>
              <a:ext cx="336" cy="288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1</a:t>
              </a:r>
            </a:p>
          </p:txBody>
        </p:sp>
        <p:sp>
          <p:nvSpPr>
            <p:cNvPr id="32802" name="Text Box 37"/>
            <p:cNvSpPr txBox="1">
              <a:spLocks noChangeArrowheads="1"/>
            </p:cNvSpPr>
            <p:nvPr/>
          </p:nvSpPr>
          <p:spPr bwMode="auto">
            <a:xfrm>
              <a:off x="1968" y="984"/>
              <a:ext cx="288" cy="288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4</a:t>
              </a:r>
            </a:p>
          </p:txBody>
        </p:sp>
        <p:sp>
          <p:nvSpPr>
            <p:cNvPr id="32803" name="Text Box 38"/>
            <p:cNvSpPr txBox="1">
              <a:spLocks noChangeArrowheads="1"/>
            </p:cNvSpPr>
            <p:nvPr/>
          </p:nvSpPr>
          <p:spPr bwMode="auto">
            <a:xfrm>
              <a:off x="3120" y="984"/>
              <a:ext cx="288" cy="288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7</a:t>
              </a:r>
            </a:p>
          </p:txBody>
        </p:sp>
        <p:sp>
          <p:nvSpPr>
            <p:cNvPr id="32804" name="Text Box 39"/>
            <p:cNvSpPr txBox="1">
              <a:spLocks noChangeArrowheads="1"/>
            </p:cNvSpPr>
            <p:nvPr/>
          </p:nvSpPr>
          <p:spPr bwMode="auto">
            <a:xfrm>
              <a:off x="4320" y="984"/>
              <a:ext cx="384" cy="288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10</a:t>
              </a:r>
            </a:p>
          </p:txBody>
        </p:sp>
        <p:sp>
          <p:nvSpPr>
            <p:cNvPr id="32805" name="Text Box 40"/>
            <p:cNvSpPr txBox="1">
              <a:spLocks noChangeArrowheads="1"/>
            </p:cNvSpPr>
            <p:nvPr/>
          </p:nvSpPr>
          <p:spPr bwMode="auto">
            <a:xfrm>
              <a:off x="1056" y="1416"/>
              <a:ext cx="240" cy="288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2</a:t>
              </a:r>
            </a:p>
          </p:txBody>
        </p:sp>
        <p:sp>
          <p:nvSpPr>
            <p:cNvPr id="32806" name="Text Box 41"/>
            <p:cNvSpPr txBox="1">
              <a:spLocks noChangeArrowheads="1"/>
            </p:cNvSpPr>
            <p:nvPr/>
          </p:nvSpPr>
          <p:spPr bwMode="auto">
            <a:xfrm>
              <a:off x="2256" y="1416"/>
              <a:ext cx="336" cy="288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5</a:t>
              </a:r>
            </a:p>
          </p:txBody>
        </p:sp>
        <p:sp>
          <p:nvSpPr>
            <p:cNvPr id="32807" name="Text Box 42"/>
            <p:cNvSpPr txBox="1">
              <a:spLocks noChangeArrowheads="1"/>
            </p:cNvSpPr>
            <p:nvPr/>
          </p:nvSpPr>
          <p:spPr bwMode="auto">
            <a:xfrm>
              <a:off x="3504" y="1464"/>
              <a:ext cx="336" cy="288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8</a:t>
              </a:r>
            </a:p>
          </p:txBody>
        </p:sp>
        <p:sp>
          <p:nvSpPr>
            <p:cNvPr id="32808" name="Text Box 43"/>
            <p:cNvSpPr txBox="1">
              <a:spLocks noChangeArrowheads="1"/>
            </p:cNvSpPr>
            <p:nvPr/>
          </p:nvSpPr>
          <p:spPr bwMode="auto">
            <a:xfrm>
              <a:off x="4656" y="1464"/>
              <a:ext cx="336" cy="288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11</a:t>
              </a:r>
            </a:p>
          </p:txBody>
        </p:sp>
        <p:sp>
          <p:nvSpPr>
            <p:cNvPr id="32809" name="Line 44"/>
            <p:cNvSpPr>
              <a:spLocks noChangeShapeType="1"/>
            </p:cNvSpPr>
            <p:nvPr/>
          </p:nvSpPr>
          <p:spPr bwMode="auto">
            <a:xfrm flipH="1">
              <a:off x="1008" y="840"/>
              <a:ext cx="432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2810" name="Line 45"/>
            <p:cNvSpPr>
              <a:spLocks noChangeShapeType="1"/>
            </p:cNvSpPr>
            <p:nvPr/>
          </p:nvSpPr>
          <p:spPr bwMode="auto">
            <a:xfrm>
              <a:off x="1680" y="888"/>
              <a:ext cx="384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2811" name="Line 46"/>
            <p:cNvSpPr>
              <a:spLocks noChangeShapeType="1"/>
            </p:cNvSpPr>
            <p:nvPr/>
          </p:nvSpPr>
          <p:spPr bwMode="auto">
            <a:xfrm flipH="1">
              <a:off x="3264" y="792"/>
              <a:ext cx="43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2812" name="Line 47"/>
            <p:cNvSpPr>
              <a:spLocks noChangeShapeType="1"/>
            </p:cNvSpPr>
            <p:nvPr/>
          </p:nvSpPr>
          <p:spPr bwMode="auto">
            <a:xfrm>
              <a:off x="3936" y="840"/>
              <a:ext cx="528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2813" name="Line 48"/>
            <p:cNvSpPr>
              <a:spLocks noChangeShapeType="1"/>
            </p:cNvSpPr>
            <p:nvPr/>
          </p:nvSpPr>
          <p:spPr bwMode="auto">
            <a:xfrm flipH="1">
              <a:off x="624" y="1176"/>
              <a:ext cx="24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2814" name="Line 49"/>
            <p:cNvSpPr>
              <a:spLocks noChangeShapeType="1"/>
            </p:cNvSpPr>
            <p:nvPr/>
          </p:nvSpPr>
          <p:spPr bwMode="auto">
            <a:xfrm>
              <a:off x="1008" y="1224"/>
              <a:ext cx="19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2815" name="Line 50"/>
            <p:cNvSpPr>
              <a:spLocks noChangeShapeType="1"/>
            </p:cNvSpPr>
            <p:nvPr/>
          </p:nvSpPr>
          <p:spPr bwMode="auto">
            <a:xfrm flipH="1">
              <a:off x="1776" y="1224"/>
              <a:ext cx="288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2816" name="Line 51"/>
            <p:cNvSpPr>
              <a:spLocks noChangeShapeType="1"/>
            </p:cNvSpPr>
            <p:nvPr/>
          </p:nvSpPr>
          <p:spPr bwMode="auto">
            <a:xfrm>
              <a:off x="2112" y="1224"/>
              <a:ext cx="288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2817" name="Line 52"/>
            <p:cNvSpPr>
              <a:spLocks noChangeShapeType="1"/>
            </p:cNvSpPr>
            <p:nvPr/>
          </p:nvSpPr>
          <p:spPr bwMode="auto">
            <a:xfrm flipH="1">
              <a:off x="3024" y="1224"/>
              <a:ext cx="144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2818" name="Line 53"/>
            <p:cNvSpPr>
              <a:spLocks noChangeShapeType="1"/>
            </p:cNvSpPr>
            <p:nvPr/>
          </p:nvSpPr>
          <p:spPr bwMode="auto">
            <a:xfrm>
              <a:off x="3264" y="1224"/>
              <a:ext cx="384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2819" name="Line 54"/>
            <p:cNvSpPr>
              <a:spLocks noChangeShapeType="1"/>
            </p:cNvSpPr>
            <p:nvPr/>
          </p:nvSpPr>
          <p:spPr bwMode="auto">
            <a:xfrm flipH="1">
              <a:off x="4080" y="1224"/>
              <a:ext cx="384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2820" name="Line 55"/>
            <p:cNvSpPr>
              <a:spLocks noChangeShapeType="1"/>
            </p:cNvSpPr>
            <p:nvPr/>
          </p:nvSpPr>
          <p:spPr bwMode="auto">
            <a:xfrm>
              <a:off x="4512" y="1224"/>
              <a:ext cx="33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2821" name="Line 56"/>
            <p:cNvSpPr>
              <a:spLocks noChangeShapeType="1"/>
            </p:cNvSpPr>
            <p:nvPr/>
          </p:nvSpPr>
          <p:spPr bwMode="auto">
            <a:xfrm flipH="1">
              <a:off x="864" y="1656"/>
              <a:ext cx="24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2822" name="Line 57"/>
            <p:cNvSpPr>
              <a:spLocks noChangeShapeType="1"/>
            </p:cNvSpPr>
            <p:nvPr/>
          </p:nvSpPr>
          <p:spPr bwMode="auto">
            <a:xfrm>
              <a:off x="1200" y="1656"/>
              <a:ext cx="144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2823" name="Line 58"/>
            <p:cNvSpPr>
              <a:spLocks noChangeShapeType="1"/>
            </p:cNvSpPr>
            <p:nvPr/>
          </p:nvSpPr>
          <p:spPr bwMode="auto">
            <a:xfrm flipH="1">
              <a:off x="2016" y="1704"/>
              <a:ext cx="288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2824" name="Line 59"/>
            <p:cNvSpPr>
              <a:spLocks noChangeShapeType="1"/>
            </p:cNvSpPr>
            <p:nvPr/>
          </p:nvSpPr>
          <p:spPr bwMode="auto">
            <a:xfrm>
              <a:off x="2400" y="1704"/>
              <a:ext cx="19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2825" name="Line 60"/>
            <p:cNvSpPr>
              <a:spLocks noChangeShapeType="1"/>
            </p:cNvSpPr>
            <p:nvPr/>
          </p:nvSpPr>
          <p:spPr bwMode="auto">
            <a:xfrm flipH="1">
              <a:off x="3216" y="1704"/>
              <a:ext cx="336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2826" name="Line 61"/>
            <p:cNvSpPr>
              <a:spLocks noChangeShapeType="1"/>
            </p:cNvSpPr>
            <p:nvPr/>
          </p:nvSpPr>
          <p:spPr bwMode="auto">
            <a:xfrm>
              <a:off x="3648" y="1704"/>
              <a:ext cx="24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2827" name="Line 62"/>
            <p:cNvSpPr>
              <a:spLocks noChangeShapeType="1"/>
            </p:cNvSpPr>
            <p:nvPr/>
          </p:nvSpPr>
          <p:spPr bwMode="auto">
            <a:xfrm flipH="1">
              <a:off x="4512" y="1704"/>
              <a:ext cx="24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2828" name="Line 63"/>
            <p:cNvSpPr>
              <a:spLocks noChangeShapeType="1"/>
            </p:cNvSpPr>
            <p:nvPr/>
          </p:nvSpPr>
          <p:spPr bwMode="auto">
            <a:xfrm>
              <a:off x="4848" y="1704"/>
              <a:ext cx="384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2829" name="Line 64"/>
            <p:cNvSpPr>
              <a:spLocks noChangeShapeType="1"/>
            </p:cNvSpPr>
            <p:nvPr/>
          </p:nvSpPr>
          <p:spPr bwMode="auto">
            <a:xfrm>
              <a:off x="2880" y="504"/>
              <a:ext cx="2256" cy="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2830" name="Line 65"/>
            <p:cNvSpPr>
              <a:spLocks noChangeShapeType="1"/>
            </p:cNvSpPr>
            <p:nvPr/>
          </p:nvSpPr>
          <p:spPr bwMode="auto">
            <a:xfrm>
              <a:off x="3984" y="744"/>
              <a:ext cx="1152" cy="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2831" name="Line 66"/>
            <p:cNvSpPr>
              <a:spLocks noChangeShapeType="1"/>
            </p:cNvSpPr>
            <p:nvPr/>
          </p:nvSpPr>
          <p:spPr bwMode="auto">
            <a:xfrm>
              <a:off x="4944" y="1560"/>
              <a:ext cx="288" cy="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2832" name="Text Box 67"/>
            <p:cNvSpPr txBox="1">
              <a:spLocks noChangeArrowheads="1"/>
            </p:cNvSpPr>
            <p:nvPr/>
          </p:nvSpPr>
          <p:spPr bwMode="auto">
            <a:xfrm>
              <a:off x="5136" y="360"/>
              <a:ext cx="288" cy="288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1</a:t>
              </a:r>
            </a:p>
          </p:txBody>
        </p:sp>
        <p:sp>
          <p:nvSpPr>
            <p:cNvPr id="32833" name="Text Box 68"/>
            <p:cNvSpPr txBox="1">
              <a:spLocks noChangeArrowheads="1"/>
            </p:cNvSpPr>
            <p:nvPr/>
          </p:nvSpPr>
          <p:spPr bwMode="auto">
            <a:xfrm>
              <a:off x="5136" y="552"/>
              <a:ext cx="336" cy="288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2</a:t>
              </a:r>
            </a:p>
          </p:txBody>
        </p:sp>
        <p:sp>
          <p:nvSpPr>
            <p:cNvPr id="32834" name="Text Box 69"/>
            <p:cNvSpPr txBox="1">
              <a:spLocks noChangeArrowheads="1"/>
            </p:cNvSpPr>
            <p:nvPr/>
          </p:nvSpPr>
          <p:spPr bwMode="auto">
            <a:xfrm>
              <a:off x="5136" y="1416"/>
              <a:ext cx="288" cy="288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h</a:t>
              </a:r>
            </a:p>
          </p:txBody>
        </p:sp>
        <p:sp>
          <p:nvSpPr>
            <p:cNvPr id="32835" name="Text Box 70"/>
            <p:cNvSpPr txBox="1">
              <a:spLocks noChangeArrowheads="1"/>
            </p:cNvSpPr>
            <p:nvPr/>
          </p:nvSpPr>
          <p:spPr bwMode="auto">
            <a:xfrm>
              <a:off x="4920" y="2249"/>
              <a:ext cx="624" cy="250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外结点</a:t>
              </a:r>
            </a:p>
          </p:txBody>
        </p:sp>
        <p:sp>
          <p:nvSpPr>
            <p:cNvPr id="32836" name="Text Box 71"/>
            <p:cNvSpPr txBox="1">
              <a:spLocks noChangeArrowheads="1"/>
            </p:cNvSpPr>
            <p:nvPr/>
          </p:nvSpPr>
          <p:spPr bwMode="auto">
            <a:xfrm>
              <a:off x="4656" y="967"/>
              <a:ext cx="624" cy="250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内结点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2837" name="Text Box 72"/>
            <p:cNvSpPr txBox="1">
              <a:spLocks noChangeArrowheads="1"/>
            </p:cNvSpPr>
            <p:nvPr/>
          </p:nvSpPr>
          <p:spPr bwMode="auto">
            <a:xfrm>
              <a:off x="2928" y="552"/>
              <a:ext cx="432" cy="288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&gt;</a:t>
              </a:r>
              <a:endPara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2838" name="Text Box 73"/>
            <p:cNvSpPr txBox="1">
              <a:spLocks noChangeArrowheads="1"/>
            </p:cNvSpPr>
            <p:nvPr/>
          </p:nvSpPr>
          <p:spPr bwMode="auto">
            <a:xfrm>
              <a:off x="2160" y="552"/>
              <a:ext cx="288" cy="288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&lt;</a:t>
              </a:r>
            </a:p>
          </p:txBody>
        </p:sp>
        <p:sp>
          <p:nvSpPr>
            <p:cNvPr id="32839" name="Text Box 74"/>
            <p:cNvSpPr txBox="1">
              <a:spLocks noChangeArrowheads="1"/>
            </p:cNvSpPr>
            <p:nvPr/>
          </p:nvSpPr>
          <p:spPr bwMode="auto">
            <a:xfrm>
              <a:off x="2592" y="552"/>
              <a:ext cx="336" cy="288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=</a:t>
              </a:r>
            </a:p>
          </p:txBody>
        </p:sp>
      </p:grpSp>
      <p:sp>
        <p:nvSpPr>
          <p:cNvPr id="73" name="Rectangle 73"/>
          <p:cNvSpPr>
            <a:spLocks noChangeArrowheads="1"/>
          </p:cNvSpPr>
          <p:nvPr/>
        </p:nvSpPr>
        <p:spPr bwMode="auto">
          <a:xfrm>
            <a:off x="876300" y="252413"/>
            <a:ext cx="6680200" cy="485775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练习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5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0065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5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10065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6597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5"/>
          <p:cNvSpPr>
            <a:spLocks noChangeArrowheads="1"/>
          </p:cNvSpPr>
          <p:nvPr/>
        </p:nvSpPr>
        <p:spPr bwMode="auto">
          <a:xfrm>
            <a:off x="900113" y="211138"/>
            <a:ext cx="7427913" cy="51593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折半查找的性能分析</a:t>
            </a:r>
          </a:p>
        </p:txBody>
      </p:sp>
      <p:grpSp>
        <p:nvGrpSpPr>
          <p:cNvPr id="49154" name="Group 61"/>
          <p:cNvGrpSpPr/>
          <p:nvPr/>
        </p:nvGrpSpPr>
        <p:grpSpPr>
          <a:xfrm>
            <a:off x="795338" y="2130425"/>
            <a:ext cx="830262" cy="831850"/>
            <a:chOff x="6518563" y="1579415"/>
            <a:chExt cx="831273" cy="831273"/>
          </a:xfrm>
        </p:grpSpPr>
        <p:sp>
          <p:nvSpPr>
            <p:cNvPr id="5" name="Rounded Rectangle 12"/>
            <p:cNvSpPr/>
            <p:nvPr/>
          </p:nvSpPr>
          <p:spPr>
            <a:xfrm>
              <a:off x="6518563" y="1579415"/>
              <a:ext cx="831273" cy="831273"/>
            </a:xfrm>
            <a:prstGeom prst="roundRect">
              <a:avLst/>
            </a:prstGeom>
            <a:solidFill>
              <a:srgbClr val="C0504D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grpSp>
          <p:nvGrpSpPr>
            <p:cNvPr id="6" name="Group 19"/>
            <p:cNvGrpSpPr/>
            <p:nvPr/>
          </p:nvGrpSpPr>
          <p:grpSpPr>
            <a:xfrm>
              <a:off x="6702027" y="1790527"/>
              <a:ext cx="464344" cy="465138"/>
              <a:chOff x="9145588" y="4435475"/>
              <a:chExt cx="464344" cy="465138"/>
            </a:xfrm>
            <a:solidFill>
              <a:srgbClr val="EEECE1"/>
            </a:solidFill>
          </p:grpSpPr>
          <p:sp>
            <p:nvSpPr>
              <p:cNvPr id="7" name="AutoShape 7"/>
              <p:cNvSpPr/>
              <p:nvPr/>
            </p:nvSpPr>
            <p:spPr bwMode="auto">
              <a:xfrm>
                <a:off x="9145588" y="4435475"/>
                <a:ext cx="464344" cy="465138"/>
              </a:xfrm>
              <a:custGeom>
                <a:avLst/>
                <a:gdLst>
                  <a:gd name="T0" fmla="+- 0 10800 1271"/>
                  <a:gd name="T1" fmla="*/ T0 w 19058"/>
                  <a:gd name="T2" fmla="+- 0 10799 1270"/>
                  <a:gd name="T3" fmla="*/ 10799 h 19059"/>
                  <a:gd name="T4" fmla="+- 0 10800 1271"/>
                  <a:gd name="T5" fmla="*/ T4 w 19058"/>
                  <a:gd name="T6" fmla="+- 0 10799 1270"/>
                  <a:gd name="T7" fmla="*/ 10799 h 19059"/>
                  <a:gd name="T8" fmla="+- 0 10800 1271"/>
                  <a:gd name="T9" fmla="*/ T8 w 19058"/>
                  <a:gd name="T10" fmla="+- 0 10799 1270"/>
                  <a:gd name="T11" fmla="*/ 10799 h 19059"/>
                  <a:gd name="T12" fmla="+- 0 10800 1271"/>
                  <a:gd name="T13" fmla="*/ T12 w 19058"/>
                  <a:gd name="T14" fmla="+- 0 10799 1270"/>
                  <a:gd name="T15" fmla="*/ 10799 h 19059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</a:cxnLst>
                <a:rect l="0" t="0" r="r" b="b"/>
                <a:pathLst>
                  <a:path w="19058" h="19059">
                    <a:moveTo>
                      <a:pt x="6430" y="17268"/>
                    </a:moveTo>
                    <a:cubicBezTo>
                      <a:pt x="2162" y="15559"/>
                      <a:pt x="82" y="10698"/>
                      <a:pt x="1790" y="6431"/>
                    </a:cubicBezTo>
                    <a:cubicBezTo>
                      <a:pt x="3499" y="2164"/>
                      <a:pt x="8360" y="81"/>
                      <a:pt x="12627" y="1791"/>
                    </a:cubicBezTo>
                    <a:cubicBezTo>
                      <a:pt x="16894" y="3499"/>
                      <a:pt x="18975" y="8361"/>
                      <a:pt x="17267" y="12628"/>
                    </a:cubicBezTo>
                    <a:cubicBezTo>
                      <a:pt x="15558" y="16895"/>
                      <a:pt x="10696" y="18976"/>
                      <a:pt x="6430" y="17268"/>
                    </a:cubicBezTo>
                    <a:moveTo>
                      <a:pt x="13070" y="685"/>
                    </a:moveTo>
                    <a:cubicBezTo>
                      <a:pt x="8186" y="-1270"/>
                      <a:pt x="2641" y="1103"/>
                      <a:pt x="685" y="5987"/>
                    </a:cubicBezTo>
                    <a:cubicBezTo>
                      <a:pt x="-1271" y="10872"/>
                      <a:pt x="1103" y="16418"/>
                      <a:pt x="5987" y="18373"/>
                    </a:cubicBezTo>
                    <a:cubicBezTo>
                      <a:pt x="10871" y="20330"/>
                      <a:pt x="16416" y="17955"/>
                      <a:pt x="18373" y="13071"/>
                    </a:cubicBezTo>
                    <a:cubicBezTo>
                      <a:pt x="20329" y="8186"/>
                      <a:pt x="17954" y="2641"/>
                      <a:pt x="13070" y="685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lIns="19050" tIns="19050" rIns="19050" bIns="19050" anchor="ctr"/>
              <a:lstStyle/>
              <a:p>
                <a:pPr marL="0" marR="0" lvl="0" indent="0" algn="ctr" defTabSz="228600" rtl="0" eaLnBrk="1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8" name="AutoShape 8"/>
              <p:cNvSpPr/>
              <p:nvPr/>
            </p:nvSpPr>
            <p:spPr bwMode="auto">
              <a:xfrm>
                <a:off x="9348788" y="4638675"/>
                <a:ext cx="57944" cy="57944"/>
              </a:xfrm>
              <a:custGeom>
                <a:avLst/>
                <a:gdLst>
                  <a:gd name="T0" fmla="+- 0 10801 1272"/>
                  <a:gd name="T1" fmla="*/ T0 w 19059"/>
                  <a:gd name="T2" fmla="+- 0 10800 1272"/>
                  <a:gd name="T3" fmla="*/ 10800 h 19056"/>
                  <a:gd name="T4" fmla="+- 0 10801 1272"/>
                  <a:gd name="T5" fmla="*/ T4 w 19059"/>
                  <a:gd name="T6" fmla="+- 0 10800 1272"/>
                  <a:gd name="T7" fmla="*/ 10800 h 19056"/>
                  <a:gd name="T8" fmla="+- 0 10801 1272"/>
                  <a:gd name="T9" fmla="*/ T8 w 19059"/>
                  <a:gd name="T10" fmla="+- 0 10800 1272"/>
                  <a:gd name="T11" fmla="*/ 10800 h 19056"/>
                  <a:gd name="T12" fmla="+- 0 10801 1272"/>
                  <a:gd name="T13" fmla="*/ T12 w 19059"/>
                  <a:gd name="T14" fmla="+- 0 10800 1272"/>
                  <a:gd name="T15" fmla="*/ 10800 h 1905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</a:cxnLst>
                <a:rect l="0" t="0" r="r" b="b"/>
                <a:pathLst>
                  <a:path w="19059" h="19056">
                    <a:moveTo>
                      <a:pt x="7753" y="13951"/>
                    </a:moveTo>
                    <a:cubicBezTo>
                      <a:pt x="5315" y="12969"/>
                      <a:pt x="4129" y="10197"/>
                      <a:pt x="5101" y="7755"/>
                    </a:cubicBezTo>
                    <a:cubicBezTo>
                      <a:pt x="6083" y="5323"/>
                      <a:pt x="8860" y="4132"/>
                      <a:pt x="11298" y="5104"/>
                    </a:cubicBezTo>
                    <a:cubicBezTo>
                      <a:pt x="13735" y="6081"/>
                      <a:pt x="14926" y="8858"/>
                      <a:pt x="13949" y="11300"/>
                    </a:cubicBezTo>
                    <a:cubicBezTo>
                      <a:pt x="12972" y="13737"/>
                      <a:pt x="10195" y="14923"/>
                      <a:pt x="7753" y="13951"/>
                    </a:cubicBezTo>
                    <a:moveTo>
                      <a:pt x="13070" y="686"/>
                    </a:moveTo>
                    <a:cubicBezTo>
                      <a:pt x="8190" y="-1272"/>
                      <a:pt x="2640" y="1104"/>
                      <a:pt x="686" y="5988"/>
                    </a:cubicBezTo>
                    <a:cubicBezTo>
                      <a:pt x="-1272" y="10872"/>
                      <a:pt x="1105" y="16416"/>
                      <a:pt x="5985" y="18369"/>
                    </a:cubicBezTo>
                    <a:cubicBezTo>
                      <a:pt x="10870" y="20328"/>
                      <a:pt x="16415" y="17951"/>
                      <a:pt x="18374" y="13072"/>
                    </a:cubicBezTo>
                    <a:cubicBezTo>
                      <a:pt x="20328" y="8188"/>
                      <a:pt x="17960" y="2644"/>
                      <a:pt x="13070" y="686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lIns="19050" tIns="19050" rIns="19050" bIns="19050" anchor="ctr"/>
              <a:lstStyle/>
              <a:p>
                <a:pPr marL="0" marR="0" lvl="0" indent="0" algn="ctr" defTabSz="228600" rtl="0" eaLnBrk="1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9" name="AutoShape 9"/>
              <p:cNvSpPr/>
              <p:nvPr/>
            </p:nvSpPr>
            <p:spPr bwMode="auto">
              <a:xfrm>
                <a:off x="9290050" y="4580732"/>
                <a:ext cx="174625" cy="174625"/>
              </a:xfrm>
              <a:custGeom>
                <a:avLst/>
                <a:gdLst>
                  <a:gd name="T0" fmla="+- 0 10800 1271"/>
                  <a:gd name="T1" fmla="*/ T0 w 19059"/>
                  <a:gd name="T2" fmla="+- 0 10800 1271"/>
                  <a:gd name="T3" fmla="*/ 10800 h 19058"/>
                  <a:gd name="T4" fmla="+- 0 10800 1271"/>
                  <a:gd name="T5" fmla="*/ T4 w 19059"/>
                  <a:gd name="T6" fmla="+- 0 10800 1271"/>
                  <a:gd name="T7" fmla="*/ 10800 h 19058"/>
                  <a:gd name="T8" fmla="+- 0 10800 1271"/>
                  <a:gd name="T9" fmla="*/ T8 w 19059"/>
                  <a:gd name="T10" fmla="+- 0 10800 1271"/>
                  <a:gd name="T11" fmla="*/ 10800 h 19058"/>
                  <a:gd name="T12" fmla="+- 0 10800 1271"/>
                  <a:gd name="T13" fmla="*/ T12 w 19059"/>
                  <a:gd name="T14" fmla="+- 0 10800 1271"/>
                  <a:gd name="T15" fmla="*/ 10800 h 19058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</a:cxnLst>
                <a:rect l="0" t="0" r="r" b="b"/>
                <a:pathLst>
                  <a:path w="19059" h="19058">
                    <a:moveTo>
                      <a:pt x="7169" y="15424"/>
                    </a:moveTo>
                    <a:cubicBezTo>
                      <a:pt x="3916" y="14123"/>
                      <a:pt x="2331" y="10417"/>
                      <a:pt x="3632" y="7167"/>
                    </a:cubicBezTo>
                    <a:cubicBezTo>
                      <a:pt x="4934" y="3917"/>
                      <a:pt x="8638" y="2331"/>
                      <a:pt x="11889" y="3632"/>
                    </a:cubicBezTo>
                    <a:cubicBezTo>
                      <a:pt x="15141" y="4934"/>
                      <a:pt x="16728" y="8640"/>
                      <a:pt x="15425" y="11890"/>
                    </a:cubicBezTo>
                    <a:cubicBezTo>
                      <a:pt x="14124" y="15140"/>
                      <a:pt x="10419" y="16728"/>
                      <a:pt x="7169" y="15424"/>
                    </a:cubicBezTo>
                    <a:moveTo>
                      <a:pt x="13071" y="685"/>
                    </a:moveTo>
                    <a:cubicBezTo>
                      <a:pt x="8186" y="-1271"/>
                      <a:pt x="2639" y="1104"/>
                      <a:pt x="686" y="5987"/>
                    </a:cubicBezTo>
                    <a:cubicBezTo>
                      <a:pt x="-1271" y="10871"/>
                      <a:pt x="1104" y="16416"/>
                      <a:pt x="5987" y="18372"/>
                    </a:cubicBezTo>
                    <a:cubicBezTo>
                      <a:pt x="10874" y="20329"/>
                      <a:pt x="16418" y="17955"/>
                      <a:pt x="18375" y="13070"/>
                    </a:cubicBezTo>
                    <a:cubicBezTo>
                      <a:pt x="20328" y="8186"/>
                      <a:pt x="17956" y="2641"/>
                      <a:pt x="13071" y="685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lIns="19050" tIns="19050" rIns="19050" bIns="19050" anchor="ctr"/>
              <a:lstStyle/>
              <a:p>
                <a:pPr marL="0" marR="0" lvl="0" indent="0" algn="ctr" defTabSz="228600" rtl="0" eaLnBrk="1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0" name="AutoShape 10"/>
              <p:cNvSpPr/>
              <p:nvPr/>
            </p:nvSpPr>
            <p:spPr bwMode="auto">
              <a:xfrm>
                <a:off x="9406732" y="4696619"/>
                <a:ext cx="72231" cy="74613"/>
              </a:xfrm>
              <a:custGeom>
                <a:avLst/>
                <a:gdLst>
                  <a:gd name="T0" fmla="+- 0 10804 288"/>
                  <a:gd name="T1" fmla="*/ T0 w 21033"/>
                  <a:gd name="T2" fmla="+- 0 10798 277"/>
                  <a:gd name="T3" fmla="*/ 10798 h 21043"/>
                  <a:gd name="T4" fmla="+- 0 10804 288"/>
                  <a:gd name="T5" fmla="*/ T4 w 21033"/>
                  <a:gd name="T6" fmla="+- 0 10798 277"/>
                  <a:gd name="T7" fmla="*/ 10798 h 21043"/>
                  <a:gd name="T8" fmla="+- 0 10804 288"/>
                  <a:gd name="T9" fmla="*/ T8 w 21033"/>
                  <a:gd name="T10" fmla="+- 0 10798 277"/>
                  <a:gd name="T11" fmla="*/ 10798 h 21043"/>
                  <a:gd name="T12" fmla="+- 0 10804 288"/>
                  <a:gd name="T13" fmla="*/ T12 w 21033"/>
                  <a:gd name="T14" fmla="+- 0 10798 277"/>
                  <a:gd name="T15" fmla="*/ 10798 h 21043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</a:cxnLst>
                <a:rect l="0" t="0" r="r" b="b"/>
                <a:pathLst>
                  <a:path w="21033" h="21043">
                    <a:moveTo>
                      <a:pt x="20881" y="2825"/>
                    </a:moveTo>
                    <a:cubicBezTo>
                      <a:pt x="21312" y="1771"/>
                      <a:pt x="20787" y="572"/>
                      <a:pt x="19713" y="149"/>
                    </a:cubicBezTo>
                    <a:cubicBezTo>
                      <a:pt x="18636" y="-277"/>
                      <a:pt x="17414" y="238"/>
                      <a:pt x="16984" y="1296"/>
                    </a:cubicBezTo>
                    <a:lnTo>
                      <a:pt x="16980" y="1292"/>
                    </a:lnTo>
                    <a:cubicBezTo>
                      <a:pt x="13964" y="8692"/>
                      <a:pt x="8182" y="14184"/>
                      <a:pt x="1269" y="17089"/>
                    </a:cubicBezTo>
                    <a:cubicBezTo>
                      <a:pt x="207" y="17536"/>
                      <a:pt x="-288" y="18747"/>
                      <a:pt x="170" y="19789"/>
                    </a:cubicBezTo>
                    <a:cubicBezTo>
                      <a:pt x="629" y="20840"/>
                      <a:pt x="1863" y="21323"/>
                      <a:pt x="2924" y="20876"/>
                    </a:cubicBezTo>
                    <a:cubicBezTo>
                      <a:pt x="2961" y="20860"/>
                      <a:pt x="2982" y="20828"/>
                      <a:pt x="3014" y="20815"/>
                    </a:cubicBezTo>
                    <a:cubicBezTo>
                      <a:pt x="10874" y="17480"/>
                      <a:pt x="17451" y="11227"/>
                      <a:pt x="20877" y="2825"/>
                    </a:cubicBezTo>
                    <a:cubicBezTo>
                      <a:pt x="20877" y="2825"/>
                      <a:pt x="20881" y="2825"/>
                      <a:pt x="20881" y="2825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lIns="19050" tIns="19050" rIns="19050" bIns="19050" anchor="ctr"/>
              <a:lstStyle/>
              <a:p>
                <a:pPr marL="0" marR="0" lvl="0" indent="0" algn="ctr" defTabSz="228600" rtl="0" eaLnBrk="1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1" name="AutoShape 11"/>
              <p:cNvSpPr/>
              <p:nvPr/>
            </p:nvSpPr>
            <p:spPr bwMode="auto">
              <a:xfrm>
                <a:off x="9435307" y="4725988"/>
                <a:ext cx="103981" cy="106363"/>
              </a:xfrm>
              <a:custGeom>
                <a:avLst/>
                <a:gdLst>
                  <a:gd name="T0" fmla="+- 0 10803 203"/>
                  <a:gd name="T1" fmla="*/ T0 w 21201"/>
                  <a:gd name="T2" fmla="+- 0 10798 194"/>
                  <a:gd name="T3" fmla="*/ 10798 h 21209"/>
                  <a:gd name="T4" fmla="+- 0 10803 203"/>
                  <a:gd name="T5" fmla="*/ T4 w 21201"/>
                  <a:gd name="T6" fmla="+- 0 10798 194"/>
                  <a:gd name="T7" fmla="*/ 10798 h 21209"/>
                  <a:gd name="T8" fmla="+- 0 10803 203"/>
                  <a:gd name="T9" fmla="*/ T8 w 21201"/>
                  <a:gd name="T10" fmla="+- 0 10798 194"/>
                  <a:gd name="T11" fmla="*/ 10798 h 21209"/>
                  <a:gd name="T12" fmla="+- 0 10803 203"/>
                  <a:gd name="T13" fmla="*/ T12 w 21201"/>
                  <a:gd name="T14" fmla="+- 0 10798 194"/>
                  <a:gd name="T15" fmla="*/ 10798 h 21209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</a:cxnLst>
                <a:rect l="0" t="0" r="r" b="b"/>
                <a:pathLst>
                  <a:path w="21201" h="21209">
                    <a:moveTo>
                      <a:pt x="20267" y="104"/>
                    </a:moveTo>
                    <a:cubicBezTo>
                      <a:pt x="19508" y="-194"/>
                      <a:pt x="18645" y="169"/>
                      <a:pt x="18339" y="912"/>
                    </a:cubicBezTo>
                    <a:cubicBezTo>
                      <a:pt x="14991" y="9110"/>
                      <a:pt x="8568" y="15198"/>
                      <a:pt x="894" y="18420"/>
                    </a:cubicBezTo>
                    <a:cubicBezTo>
                      <a:pt x="144" y="18735"/>
                      <a:pt x="-203" y="19589"/>
                      <a:pt x="121" y="20327"/>
                    </a:cubicBezTo>
                    <a:cubicBezTo>
                      <a:pt x="442" y="21068"/>
                      <a:pt x="1314" y="21406"/>
                      <a:pt x="2067" y="21090"/>
                    </a:cubicBezTo>
                    <a:cubicBezTo>
                      <a:pt x="2102" y="21073"/>
                      <a:pt x="2125" y="21042"/>
                      <a:pt x="2159" y="21025"/>
                    </a:cubicBezTo>
                    <a:cubicBezTo>
                      <a:pt x="10491" y="17500"/>
                      <a:pt x="17461" y="10881"/>
                      <a:pt x="21095" y="1994"/>
                    </a:cubicBezTo>
                    <a:cubicBezTo>
                      <a:pt x="21397" y="1250"/>
                      <a:pt x="21026" y="404"/>
                      <a:pt x="20267" y="104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lIns="19050" tIns="19050" rIns="19050" bIns="19050" anchor="ctr"/>
              <a:lstStyle/>
              <a:p>
                <a:pPr marL="0" marR="0" lvl="0" indent="0" algn="ctr" defTabSz="228600" rtl="0" eaLnBrk="1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2" name="AutoShape 12"/>
              <p:cNvSpPr/>
              <p:nvPr/>
            </p:nvSpPr>
            <p:spPr bwMode="auto">
              <a:xfrm>
                <a:off x="9421019" y="4711700"/>
                <a:ext cx="88106" cy="89694"/>
              </a:xfrm>
              <a:custGeom>
                <a:avLst/>
                <a:gdLst>
                  <a:gd name="T0" fmla="+- 0 10802 238"/>
                  <a:gd name="T1" fmla="*/ T0 w 21128"/>
                  <a:gd name="T2" fmla="+- 0 10797 227"/>
                  <a:gd name="T3" fmla="*/ 10797 h 21141"/>
                  <a:gd name="T4" fmla="+- 0 10802 238"/>
                  <a:gd name="T5" fmla="*/ T4 w 21128"/>
                  <a:gd name="T6" fmla="+- 0 10797 227"/>
                  <a:gd name="T7" fmla="*/ 10797 h 21141"/>
                  <a:gd name="T8" fmla="+- 0 10802 238"/>
                  <a:gd name="T9" fmla="*/ T8 w 21128"/>
                  <a:gd name="T10" fmla="+- 0 10797 227"/>
                  <a:gd name="T11" fmla="*/ 10797 h 21141"/>
                  <a:gd name="T12" fmla="+- 0 10802 238"/>
                  <a:gd name="T13" fmla="*/ T12 w 21128"/>
                  <a:gd name="T14" fmla="+- 0 10797 227"/>
                  <a:gd name="T15" fmla="*/ 10797 h 21141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</a:cxnLst>
                <a:rect l="0" t="0" r="r" b="b"/>
                <a:pathLst>
                  <a:path w="21128" h="21141">
                    <a:moveTo>
                      <a:pt x="20035" y="122"/>
                    </a:moveTo>
                    <a:cubicBezTo>
                      <a:pt x="19142" y="-227"/>
                      <a:pt x="18134" y="195"/>
                      <a:pt x="17778" y="1071"/>
                    </a:cubicBezTo>
                    <a:cubicBezTo>
                      <a:pt x="14571" y="8936"/>
                      <a:pt x="8412" y="14778"/>
                      <a:pt x="1051" y="17867"/>
                    </a:cubicBezTo>
                    <a:lnTo>
                      <a:pt x="1054" y="17867"/>
                    </a:lnTo>
                    <a:cubicBezTo>
                      <a:pt x="172" y="18240"/>
                      <a:pt x="-238" y="19242"/>
                      <a:pt x="142" y="20108"/>
                    </a:cubicBezTo>
                    <a:cubicBezTo>
                      <a:pt x="522" y="20973"/>
                      <a:pt x="1543" y="21372"/>
                      <a:pt x="2425" y="21003"/>
                    </a:cubicBezTo>
                    <a:cubicBezTo>
                      <a:pt x="2459" y="20986"/>
                      <a:pt x="2476" y="20956"/>
                      <a:pt x="2514" y="20936"/>
                    </a:cubicBezTo>
                    <a:cubicBezTo>
                      <a:pt x="10651" y="17491"/>
                      <a:pt x="17459" y="11027"/>
                      <a:pt x="21002" y="2339"/>
                    </a:cubicBezTo>
                    <a:cubicBezTo>
                      <a:pt x="21361" y="1463"/>
                      <a:pt x="20927" y="472"/>
                      <a:pt x="20035" y="122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lIns="19050" tIns="19050" rIns="19050" bIns="19050" anchor="ctr"/>
              <a:lstStyle/>
              <a:p>
                <a:pPr marL="0" marR="0" lvl="0" indent="0" algn="ctr" defTabSz="228600" rtl="0" eaLnBrk="1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3" name="AutoShape 13"/>
              <p:cNvSpPr/>
              <p:nvPr/>
            </p:nvSpPr>
            <p:spPr bwMode="auto">
              <a:xfrm>
                <a:off x="9275763" y="4566444"/>
                <a:ext cx="73025" cy="73819"/>
              </a:xfrm>
              <a:custGeom>
                <a:avLst/>
                <a:gdLst>
                  <a:gd name="T0" fmla="+- 0 10797 278"/>
                  <a:gd name="T1" fmla="*/ T0 w 21039"/>
                  <a:gd name="T2" fmla="+- 0 10803 281"/>
                  <a:gd name="T3" fmla="*/ 10803 h 21044"/>
                  <a:gd name="T4" fmla="+- 0 10797 278"/>
                  <a:gd name="T5" fmla="*/ T4 w 21039"/>
                  <a:gd name="T6" fmla="+- 0 10803 281"/>
                  <a:gd name="T7" fmla="*/ 10803 h 21044"/>
                  <a:gd name="T8" fmla="+- 0 10797 278"/>
                  <a:gd name="T9" fmla="*/ T8 w 21039"/>
                  <a:gd name="T10" fmla="+- 0 10803 281"/>
                  <a:gd name="T11" fmla="*/ 10803 h 21044"/>
                  <a:gd name="T12" fmla="+- 0 10797 278"/>
                  <a:gd name="T13" fmla="*/ T12 w 21039"/>
                  <a:gd name="T14" fmla="+- 0 10803 281"/>
                  <a:gd name="T15" fmla="*/ 10803 h 21044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</a:cxnLst>
                <a:rect l="0" t="0" r="r" b="b"/>
                <a:pathLst>
                  <a:path w="21039" h="21044">
                    <a:moveTo>
                      <a:pt x="20871" y="1248"/>
                    </a:moveTo>
                    <a:cubicBezTo>
                      <a:pt x="20411" y="197"/>
                      <a:pt x="19177" y="-281"/>
                      <a:pt x="18112" y="169"/>
                    </a:cubicBezTo>
                    <a:cubicBezTo>
                      <a:pt x="18075" y="181"/>
                      <a:pt x="18050" y="214"/>
                      <a:pt x="18021" y="226"/>
                    </a:cubicBezTo>
                    <a:cubicBezTo>
                      <a:pt x="10159" y="3562"/>
                      <a:pt x="3583" y="9820"/>
                      <a:pt x="152" y="18220"/>
                    </a:cubicBezTo>
                    <a:lnTo>
                      <a:pt x="148" y="18220"/>
                    </a:lnTo>
                    <a:cubicBezTo>
                      <a:pt x="-278" y="19278"/>
                      <a:pt x="242" y="20473"/>
                      <a:pt x="1320" y="20896"/>
                    </a:cubicBezTo>
                    <a:cubicBezTo>
                      <a:pt x="2398" y="21318"/>
                      <a:pt x="3620" y="20803"/>
                      <a:pt x="4046" y="19749"/>
                    </a:cubicBezTo>
                    <a:lnTo>
                      <a:pt x="4051" y="19749"/>
                    </a:lnTo>
                    <a:cubicBezTo>
                      <a:pt x="7068" y="12356"/>
                      <a:pt x="12856" y="6858"/>
                      <a:pt x="19764" y="3956"/>
                    </a:cubicBezTo>
                    <a:cubicBezTo>
                      <a:pt x="20830" y="3506"/>
                      <a:pt x="21322" y="2298"/>
                      <a:pt x="20871" y="1248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lIns="19050" tIns="19050" rIns="19050" bIns="19050" anchor="ctr"/>
              <a:lstStyle/>
              <a:p>
                <a:pPr marL="0" marR="0" lvl="0" indent="0" algn="ctr" defTabSz="228600" rtl="0" eaLnBrk="1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4" name="AutoShape 14"/>
              <p:cNvSpPr/>
              <p:nvPr/>
            </p:nvSpPr>
            <p:spPr bwMode="auto">
              <a:xfrm>
                <a:off x="9217819" y="4508500"/>
                <a:ext cx="103981" cy="105569"/>
              </a:xfrm>
              <a:custGeom>
                <a:avLst/>
                <a:gdLst>
                  <a:gd name="T0" fmla="+- 0 10797 198"/>
                  <a:gd name="T1" fmla="*/ T0 w 21199"/>
                  <a:gd name="T2" fmla="+- 0 10802 198"/>
                  <a:gd name="T3" fmla="*/ 10802 h 21208"/>
                  <a:gd name="T4" fmla="+- 0 10797 198"/>
                  <a:gd name="T5" fmla="*/ T4 w 21199"/>
                  <a:gd name="T6" fmla="+- 0 10802 198"/>
                  <a:gd name="T7" fmla="*/ 10802 h 21208"/>
                  <a:gd name="T8" fmla="+- 0 10797 198"/>
                  <a:gd name="T9" fmla="*/ T8 w 21199"/>
                  <a:gd name="T10" fmla="+- 0 10802 198"/>
                  <a:gd name="T11" fmla="*/ 10802 h 21208"/>
                  <a:gd name="T12" fmla="+- 0 10797 198"/>
                  <a:gd name="T13" fmla="*/ T12 w 21199"/>
                  <a:gd name="T14" fmla="+- 0 10802 198"/>
                  <a:gd name="T15" fmla="*/ 10802 h 21208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</a:cxnLst>
                <a:rect l="0" t="0" r="r" b="b"/>
                <a:pathLst>
                  <a:path w="21199" h="21208">
                    <a:moveTo>
                      <a:pt x="21077" y="880"/>
                    </a:moveTo>
                    <a:cubicBezTo>
                      <a:pt x="20753" y="142"/>
                      <a:pt x="19881" y="-198"/>
                      <a:pt x="19129" y="117"/>
                    </a:cubicBezTo>
                    <a:cubicBezTo>
                      <a:pt x="19097" y="131"/>
                      <a:pt x="19071" y="162"/>
                      <a:pt x="19039" y="179"/>
                    </a:cubicBezTo>
                    <a:cubicBezTo>
                      <a:pt x="10706" y="3707"/>
                      <a:pt x="3739" y="10322"/>
                      <a:pt x="106" y="19208"/>
                    </a:cubicBezTo>
                    <a:cubicBezTo>
                      <a:pt x="-198" y="19957"/>
                      <a:pt x="172" y="20803"/>
                      <a:pt x="934" y="21101"/>
                    </a:cubicBezTo>
                    <a:cubicBezTo>
                      <a:pt x="1689" y="21401"/>
                      <a:pt x="2552" y="21041"/>
                      <a:pt x="2859" y="20292"/>
                    </a:cubicBezTo>
                    <a:cubicBezTo>
                      <a:pt x="6206" y="12096"/>
                      <a:pt x="12625" y="6008"/>
                      <a:pt x="20301" y="2787"/>
                    </a:cubicBezTo>
                    <a:cubicBezTo>
                      <a:pt x="21051" y="2469"/>
                      <a:pt x="21402" y="1618"/>
                      <a:pt x="21077" y="880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lIns="19050" tIns="19050" rIns="19050" bIns="19050" anchor="ctr"/>
              <a:lstStyle/>
              <a:p>
                <a:pPr marL="0" marR="0" lvl="0" indent="0" algn="ctr" defTabSz="228600" rtl="0" eaLnBrk="1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5" name="AutoShape 15"/>
              <p:cNvSpPr/>
              <p:nvPr/>
            </p:nvSpPr>
            <p:spPr bwMode="auto">
              <a:xfrm>
                <a:off x="9247188" y="4537075"/>
                <a:ext cx="88107" cy="90488"/>
              </a:xfrm>
              <a:custGeom>
                <a:avLst/>
                <a:gdLst>
                  <a:gd name="T0" fmla="+- 0 10796 232"/>
                  <a:gd name="T1" fmla="*/ T0 w 21129"/>
                  <a:gd name="T2" fmla="+- 0 10804 234"/>
                  <a:gd name="T3" fmla="*/ 10804 h 21141"/>
                  <a:gd name="T4" fmla="+- 0 10796 232"/>
                  <a:gd name="T5" fmla="*/ T4 w 21129"/>
                  <a:gd name="T6" fmla="+- 0 10804 234"/>
                  <a:gd name="T7" fmla="*/ 10804 h 21141"/>
                  <a:gd name="T8" fmla="+- 0 10796 232"/>
                  <a:gd name="T9" fmla="*/ T8 w 21129"/>
                  <a:gd name="T10" fmla="+- 0 10804 234"/>
                  <a:gd name="T11" fmla="*/ 10804 h 21141"/>
                  <a:gd name="T12" fmla="+- 0 10796 232"/>
                  <a:gd name="T13" fmla="*/ T12 w 21129"/>
                  <a:gd name="T14" fmla="+- 0 10804 234"/>
                  <a:gd name="T15" fmla="*/ 10804 h 21141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</a:cxnLst>
                <a:rect l="0" t="0" r="r" b="b"/>
                <a:pathLst>
                  <a:path w="21129" h="21141">
                    <a:moveTo>
                      <a:pt x="20075" y="3267"/>
                    </a:moveTo>
                    <a:cubicBezTo>
                      <a:pt x="20953" y="2898"/>
                      <a:pt x="21368" y="1899"/>
                      <a:pt x="20987" y="1030"/>
                    </a:cubicBezTo>
                    <a:cubicBezTo>
                      <a:pt x="20611" y="168"/>
                      <a:pt x="19589" y="-234"/>
                      <a:pt x="18707" y="138"/>
                    </a:cubicBezTo>
                    <a:cubicBezTo>
                      <a:pt x="18670" y="152"/>
                      <a:pt x="18649" y="185"/>
                      <a:pt x="18615" y="198"/>
                    </a:cubicBezTo>
                    <a:cubicBezTo>
                      <a:pt x="10481" y="3647"/>
                      <a:pt x="3673" y="10118"/>
                      <a:pt x="124" y="18802"/>
                    </a:cubicBezTo>
                    <a:cubicBezTo>
                      <a:pt x="-232" y="19678"/>
                      <a:pt x="205" y="20666"/>
                      <a:pt x="1094" y="21019"/>
                    </a:cubicBezTo>
                    <a:cubicBezTo>
                      <a:pt x="1983" y="21366"/>
                      <a:pt x="2991" y="20946"/>
                      <a:pt x="3354" y="20071"/>
                    </a:cubicBezTo>
                    <a:cubicBezTo>
                      <a:pt x="6561" y="12205"/>
                      <a:pt x="12717" y="6360"/>
                      <a:pt x="20075" y="3274"/>
                    </a:cubicBezTo>
                    <a:cubicBezTo>
                      <a:pt x="20075" y="3274"/>
                      <a:pt x="20075" y="3267"/>
                      <a:pt x="20075" y="3267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lIns="19050" tIns="19050" rIns="19050" bIns="19050" anchor="ctr"/>
              <a:lstStyle/>
              <a:p>
                <a:pPr marL="0" marR="0" lvl="0" indent="0" algn="ctr" defTabSz="228600" rtl="0" eaLnBrk="1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49157" name="Group 62"/>
          <p:cNvGrpSpPr/>
          <p:nvPr/>
        </p:nvGrpSpPr>
        <p:grpSpPr>
          <a:xfrm>
            <a:off x="795338" y="3784600"/>
            <a:ext cx="830262" cy="831850"/>
            <a:chOff x="6518563" y="2750124"/>
            <a:chExt cx="831273" cy="831273"/>
          </a:xfrm>
        </p:grpSpPr>
        <p:sp>
          <p:nvSpPr>
            <p:cNvPr id="17" name="Rounded Rectangle 13"/>
            <p:cNvSpPr/>
            <p:nvPr/>
          </p:nvSpPr>
          <p:spPr>
            <a:xfrm>
              <a:off x="6518563" y="2750124"/>
              <a:ext cx="831273" cy="831273"/>
            </a:xfrm>
            <a:prstGeom prst="roundRect">
              <a:avLst/>
            </a:prstGeom>
            <a:solidFill>
              <a:srgbClr val="8064A2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grpSp>
          <p:nvGrpSpPr>
            <p:cNvPr id="18" name="Group 29"/>
            <p:cNvGrpSpPr/>
            <p:nvPr/>
          </p:nvGrpSpPr>
          <p:grpSpPr>
            <a:xfrm>
              <a:off x="6772671" y="2933191"/>
              <a:ext cx="319088" cy="465138"/>
              <a:chOff x="5441157" y="4440238"/>
              <a:chExt cx="319088" cy="465138"/>
            </a:xfrm>
            <a:solidFill>
              <a:srgbClr val="EEECE1"/>
            </a:solidFill>
          </p:grpSpPr>
          <p:sp>
            <p:nvSpPr>
              <p:cNvPr id="19" name="AutoShape 97"/>
              <p:cNvSpPr/>
              <p:nvPr/>
            </p:nvSpPr>
            <p:spPr bwMode="auto">
              <a:xfrm>
                <a:off x="5441157" y="4440238"/>
                <a:ext cx="319088" cy="465138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9636" y="3374"/>
                    </a:moveTo>
                    <a:lnTo>
                      <a:pt x="1963" y="3375"/>
                    </a:lnTo>
                    <a:lnTo>
                      <a:pt x="1963" y="2025"/>
                    </a:lnTo>
                    <a:cubicBezTo>
                      <a:pt x="1963" y="1653"/>
                      <a:pt x="2402" y="1350"/>
                      <a:pt x="2945" y="1350"/>
                    </a:cubicBezTo>
                    <a:lnTo>
                      <a:pt x="18654" y="1349"/>
                    </a:lnTo>
                    <a:cubicBezTo>
                      <a:pt x="19195" y="1349"/>
                      <a:pt x="19636" y="1652"/>
                      <a:pt x="19636" y="2024"/>
                    </a:cubicBezTo>
                    <a:cubicBezTo>
                      <a:pt x="19636" y="2024"/>
                      <a:pt x="19636" y="3374"/>
                      <a:pt x="19636" y="3374"/>
                    </a:cubicBezTo>
                    <a:close/>
                    <a:moveTo>
                      <a:pt x="19636" y="17546"/>
                    </a:moveTo>
                    <a:lnTo>
                      <a:pt x="1963" y="17547"/>
                    </a:lnTo>
                    <a:lnTo>
                      <a:pt x="1963" y="4050"/>
                    </a:lnTo>
                    <a:lnTo>
                      <a:pt x="19636" y="4049"/>
                    </a:lnTo>
                    <a:cubicBezTo>
                      <a:pt x="19636" y="4049"/>
                      <a:pt x="19636" y="17546"/>
                      <a:pt x="19636" y="17546"/>
                    </a:cubicBezTo>
                    <a:close/>
                    <a:moveTo>
                      <a:pt x="19636" y="19574"/>
                    </a:moveTo>
                    <a:cubicBezTo>
                      <a:pt x="19636" y="19946"/>
                      <a:pt x="19195" y="20249"/>
                      <a:pt x="18654" y="20249"/>
                    </a:cubicBezTo>
                    <a:lnTo>
                      <a:pt x="2945" y="20250"/>
                    </a:lnTo>
                    <a:cubicBezTo>
                      <a:pt x="2402" y="20250"/>
                      <a:pt x="1963" y="19947"/>
                      <a:pt x="1963" y="19575"/>
                    </a:cubicBezTo>
                    <a:lnTo>
                      <a:pt x="1963" y="18222"/>
                    </a:lnTo>
                    <a:lnTo>
                      <a:pt x="19636" y="18221"/>
                    </a:lnTo>
                    <a:cubicBezTo>
                      <a:pt x="19636" y="18221"/>
                      <a:pt x="19636" y="19574"/>
                      <a:pt x="19636" y="19574"/>
                    </a:cubicBezTo>
                    <a:close/>
                    <a:moveTo>
                      <a:pt x="18654" y="0"/>
                    </a:moveTo>
                    <a:lnTo>
                      <a:pt x="2945" y="0"/>
                    </a:lnTo>
                    <a:cubicBezTo>
                      <a:pt x="1317" y="0"/>
                      <a:pt x="0" y="907"/>
                      <a:pt x="0" y="2025"/>
                    </a:cubicBezTo>
                    <a:lnTo>
                      <a:pt x="0" y="19575"/>
                    </a:lnTo>
                    <a:cubicBezTo>
                      <a:pt x="0" y="20693"/>
                      <a:pt x="1317" y="21600"/>
                      <a:pt x="2945" y="21600"/>
                    </a:cubicBezTo>
                    <a:lnTo>
                      <a:pt x="18654" y="21599"/>
                    </a:lnTo>
                    <a:cubicBezTo>
                      <a:pt x="20280" y="21599"/>
                      <a:pt x="21600" y="20693"/>
                      <a:pt x="21600" y="19574"/>
                    </a:cubicBezTo>
                    <a:lnTo>
                      <a:pt x="21600" y="2024"/>
                    </a:lnTo>
                    <a:cubicBezTo>
                      <a:pt x="21600" y="906"/>
                      <a:pt x="20280" y="0"/>
                      <a:pt x="18654" y="0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lIns="19050" tIns="19050" rIns="19050" bIns="19050" anchor="ctr"/>
              <a:lstStyle/>
              <a:p>
                <a:pPr marL="0" marR="0" lvl="0" indent="0" algn="ctr" defTabSz="228600" rtl="0" eaLnBrk="1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500" b="0" i="0" u="none" strike="noStrike" kern="0" cap="none" spc="0" normalizeH="0" baseline="0" noProof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0" name="AutoShape 98"/>
              <p:cNvSpPr/>
              <p:nvPr/>
            </p:nvSpPr>
            <p:spPr bwMode="auto">
              <a:xfrm>
                <a:off x="5571332" y="4483894"/>
                <a:ext cx="58738" cy="14288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21600" y="10800"/>
                    </a:moveTo>
                    <a:cubicBezTo>
                      <a:pt x="21600" y="16758"/>
                      <a:pt x="20387" y="21599"/>
                      <a:pt x="18899" y="21599"/>
                    </a:cubicBezTo>
                    <a:lnTo>
                      <a:pt x="2699" y="21599"/>
                    </a:lnTo>
                    <a:cubicBezTo>
                      <a:pt x="1202" y="21599"/>
                      <a:pt x="0" y="16758"/>
                      <a:pt x="0" y="10800"/>
                    </a:cubicBezTo>
                    <a:cubicBezTo>
                      <a:pt x="0" y="4841"/>
                      <a:pt x="1202" y="0"/>
                      <a:pt x="2699" y="0"/>
                    </a:cubicBezTo>
                    <a:lnTo>
                      <a:pt x="18899" y="0"/>
                    </a:lnTo>
                    <a:cubicBezTo>
                      <a:pt x="20387" y="0"/>
                      <a:pt x="21600" y="4841"/>
                      <a:pt x="21600" y="10800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lIns="19050" tIns="19050" rIns="19050" bIns="19050" anchor="ctr"/>
              <a:lstStyle/>
              <a:p>
                <a:pPr marL="0" marR="0" lvl="0" indent="0" algn="ctr" defTabSz="228600" rtl="0" eaLnBrk="1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500" b="0" i="0" u="none" strike="noStrike" kern="0" cap="none" spc="0" normalizeH="0" baseline="0" noProof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1" name="AutoShape 99"/>
              <p:cNvSpPr/>
              <p:nvPr/>
            </p:nvSpPr>
            <p:spPr bwMode="auto">
              <a:xfrm>
                <a:off x="5586413" y="4847432"/>
                <a:ext cx="28575" cy="14288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21600" y="10800"/>
                    </a:moveTo>
                    <a:cubicBezTo>
                      <a:pt x="21600" y="16769"/>
                      <a:pt x="19174" y="21599"/>
                      <a:pt x="16199" y="21599"/>
                    </a:cubicBezTo>
                    <a:lnTo>
                      <a:pt x="5399" y="21599"/>
                    </a:lnTo>
                    <a:cubicBezTo>
                      <a:pt x="2404" y="21599"/>
                      <a:pt x="0" y="16769"/>
                      <a:pt x="0" y="10800"/>
                    </a:cubicBezTo>
                    <a:cubicBezTo>
                      <a:pt x="0" y="4830"/>
                      <a:pt x="2404" y="0"/>
                      <a:pt x="5399" y="0"/>
                    </a:cubicBezTo>
                    <a:lnTo>
                      <a:pt x="16199" y="0"/>
                    </a:lnTo>
                    <a:cubicBezTo>
                      <a:pt x="19174" y="0"/>
                      <a:pt x="21600" y="4830"/>
                      <a:pt x="21600" y="10800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lIns="19050" tIns="19050" rIns="19050" bIns="19050" anchor="ctr"/>
              <a:lstStyle/>
              <a:p>
                <a:pPr marL="0" marR="0" lvl="0" indent="0" algn="ctr" defTabSz="228600" rtl="0" eaLnBrk="1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500" b="0" i="0" u="none" strike="noStrike" kern="0" cap="none" spc="0" normalizeH="0" baseline="0" noProof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</p:grpSp>
      <p:sp>
        <p:nvSpPr>
          <p:cNvPr id="22" name="TextBox 61"/>
          <p:cNvSpPr txBox="1">
            <a:spLocks noChangeArrowheads="1"/>
          </p:cNvSpPr>
          <p:nvPr/>
        </p:nvSpPr>
        <p:spPr bwMode="auto">
          <a:xfrm>
            <a:off x="1804988" y="2060575"/>
            <a:ext cx="1579563" cy="523875"/>
          </a:xfrm>
          <a:prstGeom prst="rect">
            <a:avLst/>
          </a:prstGeom>
          <a:noFill/>
          <a:ln>
            <a:noFill/>
          </a:ln>
        </p:spPr>
        <p:txBody>
          <a:bodyPr wrap="none" lIns="121917" tIns="60958" rIns="121917" bIns="60958">
            <a:spAutoFit/>
          </a:bodyPr>
          <a:lstStyle>
            <a:lvl1pPr>
              <a:lnSpc>
                <a:spcPct val="130000"/>
              </a:lnSpc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查找过程</a:t>
            </a:r>
          </a:p>
        </p:txBody>
      </p:sp>
      <p:sp>
        <p:nvSpPr>
          <p:cNvPr id="23" name="TextBox 62"/>
          <p:cNvSpPr txBox="1">
            <a:spLocks noChangeArrowheads="1"/>
          </p:cNvSpPr>
          <p:nvPr/>
        </p:nvSpPr>
        <p:spPr bwMode="auto">
          <a:xfrm>
            <a:off x="1804988" y="2535238"/>
            <a:ext cx="7091363" cy="1004888"/>
          </a:xfrm>
          <a:prstGeom prst="rect">
            <a:avLst/>
          </a:prstGeom>
          <a:noFill/>
          <a:ln>
            <a:noFill/>
          </a:ln>
        </p:spPr>
        <p:txBody>
          <a:bodyPr lIns="121917" tIns="60958" rIns="121917" bIns="60958">
            <a:spAutoFit/>
          </a:bodyPr>
          <a:lstStyle>
            <a:lvl1pPr>
              <a:lnSpc>
                <a:spcPct val="130000"/>
              </a:lnSpc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每次将待查记录所在区间缩小一半，比顺序查找效率高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,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时间复杂度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O(log2 n)</a:t>
            </a:r>
          </a:p>
        </p:txBody>
      </p:sp>
      <p:sp>
        <p:nvSpPr>
          <p:cNvPr id="24" name="TextBox 63"/>
          <p:cNvSpPr txBox="1">
            <a:spLocks noChangeArrowheads="1"/>
          </p:cNvSpPr>
          <p:nvPr/>
        </p:nvSpPr>
        <p:spPr bwMode="auto">
          <a:xfrm>
            <a:off x="1804988" y="3706813"/>
            <a:ext cx="1579563" cy="522288"/>
          </a:xfrm>
          <a:prstGeom prst="rect">
            <a:avLst/>
          </a:prstGeom>
          <a:noFill/>
          <a:ln>
            <a:noFill/>
          </a:ln>
        </p:spPr>
        <p:txBody>
          <a:bodyPr wrap="none" lIns="121917" tIns="60958" rIns="121917" bIns="60958">
            <a:spAutoFit/>
          </a:bodyPr>
          <a:lstStyle>
            <a:lvl1pPr>
              <a:lnSpc>
                <a:spcPct val="130000"/>
              </a:lnSpc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适用条件</a:t>
            </a:r>
          </a:p>
        </p:txBody>
      </p:sp>
      <p:sp>
        <p:nvSpPr>
          <p:cNvPr id="25" name="TextBox 64"/>
          <p:cNvSpPr txBox="1">
            <a:spLocks noChangeArrowheads="1"/>
          </p:cNvSpPr>
          <p:nvPr/>
        </p:nvSpPr>
        <p:spPr bwMode="auto">
          <a:xfrm>
            <a:off x="1804988" y="4200525"/>
            <a:ext cx="7091363" cy="492125"/>
          </a:xfrm>
          <a:prstGeom prst="rect">
            <a:avLst/>
          </a:prstGeom>
          <a:noFill/>
          <a:ln>
            <a:noFill/>
          </a:ln>
        </p:spPr>
        <p:txBody>
          <a:bodyPr lIns="121917" tIns="60958" rIns="121917" bIns="60958">
            <a:spAutoFit/>
          </a:bodyPr>
          <a:lstStyle>
            <a:lvl1pPr>
              <a:lnSpc>
                <a:spcPct val="130000"/>
              </a:lnSpc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采用顺序存储结构的有序表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，不宜用于链式结构</a:t>
            </a:r>
          </a:p>
        </p:txBody>
      </p:sp>
      <p:sp>
        <p:nvSpPr>
          <p:cNvPr id="26" name="Shape 26"/>
          <p:cNvSpPr/>
          <p:nvPr/>
        </p:nvSpPr>
        <p:spPr>
          <a:xfrm flipH="1">
            <a:off x="0" y="5607050"/>
            <a:ext cx="9140825" cy="12509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120000"/>
                </a:moveTo>
                <a:lnTo>
                  <a:pt x="0" y="102222"/>
                </a:lnTo>
                <a:lnTo>
                  <a:pt x="583" y="102222"/>
                </a:lnTo>
                <a:lnTo>
                  <a:pt x="583" y="89777"/>
                </a:lnTo>
                <a:lnTo>
                  <a:pt x="4166" y="89777"/>
                </a:lnTo>
                <a:lnTo>
                  <a:pt x="4166" y="79111"/>
                </a:lnTo>
                <a:lnTo>
                  <a:pt x="6416" y="79111"/>
                </a:lnTo>
                <a:lnTo>
                  <a:pt x="6416" y="91111"/>
                </a:lnTo>
                <a:lnTo>
                  <a:pt x="7625" y="91111"/>
                </a:lnTo>
                <a:lnTo>
                  <a:pt x="7625" y="79111"/>
                </a:lnTo>
                <a:lnTo>
                  <a:pt x="8958" y="79111"/>
                </a:lnTo>
                <a:lnTo>
                  <a:pt x="8958" y="45333"/>
                </a:lnTo>
                <a:lnTo>
                  <a:pt x="9541" y="45333"/>
                </a:lnTo>
                <a:lnTo>
                  <a:pt x="9541" y="39111"/>
                </a:lnTo>
                <a:lnTo>
                  <a:pt x="10958" y="39111"/>
                </a:lnTo>
                <a:lnTo>
                  <a:pt x="10958" y="45333"/>
                </a:lnTo>
                <a:lnTo>
                  <a:pt x="11583" y="45333"/>
                </a:lnTo>
                <a:lnTo>
                  <a:pt x="11583" y="76000"/>
                </a:lnTo>
                <a:lnTo>
                  <a:pt x="12083" y="76000"/>
                </a:lnTo>
                <a:lnTo>
                  <a:pt x="12083" y="95555"/>
                </a:lnTo>
                <a:lnTo>
                  <a:pt x="13250" y="95555"/>
                </a:lnTo>
                <a:lnTo>
                  <a:pt x="13250" y="60000"/>
                </a:lnTo>
                <a:lnTo>
                  <a:pt x="14041" y="60000"/>
                </a:lnTo>
                <a:lnTo>
                  <a:pt x="14041" y="45333"/>
                </a:lnTo>
                <a:lnTo>
                  <a:pt x="14583" y="45333"/>
                </a:lnTo>
                <a:lnTo>
                  <a:pt x="14583" y="27555"/>
                </a:lnTo>
                <a:lnTo>
                  <a:pt x="14958" y="27555"/>
                </a:lnTo>
                <a:lnTo>
                  <a:pt x="14958" y="14222"/>
                </a:lnTo>
                <a:lnTo>
                  <a:pt x="15333" y="14222"/>
                </a:lnTo>
                <a:lnTo>
                  <a:pt x="15333" y="0"/>
                </a:lnTo>
                <a:lnTo>
                  <a:pt x="15958" y="0"/>
                </a:lnTo>
                <a:lnTo>
                  <a:pt x="15958" y="13777"/>
                </a:lnTo>
                <a:lnTo>
                  <a:pt x="16416" y="13777"/>
                </a:lnTo>
                <a:lnTo>
                  <a:pt x="16416" y="24888"/>
                </a:lnTo>
                <a:lnTo>
                  <a:pt x="16791" y="24888"/>
                </a:lnTo>
                <a:lnTo>
                  <a:pt x="16791" y="46222"/>
                </a:lnTo>
                <a:lnTo>
                  <a:pt x="17333" y="46222"/>
                </a:lnTo>
                <a:lnTo>
                  <a:pt x="17333" y="61333"/>
                </a:lnTo>
                <a:lnTo>
                  <a:pt x="17916" y="61333"/>
                </a:lnTo>
                <a:lnTo>
                  <a:pt x="17916" y="101333"/>
                </a:lnTo>
                <a:lnTo>
                  <a:pt x="18875" y="101333"/>
                </a:lnTo>
                <a:lnTo>
                  <a:pt x="18875" y="92000"/>
                </a:lnTo>
                <a:lnTo>
                  <a:pt x="20958" y="92000"/>
                </a:lnTo>
                <a:lnTo>
                  <a:pt x="20958" y="96444"/>
                </a:lnTo>
                <a:lnTo>
                  <a:pt x="21750" y="96444"/>
                </a:lnTo>
                <a:lnTo>
                  <a:pt x="21750" y="54666"/>
                </a:lnTo>
                <a:lnTo>
                  <a:pt x="22333" y="54666"/>
                </a:lnTo>
                <a:lnTo>
                  <a:pt x="22333" y="42666"/>
                </a:lnTo>
                <a:lnTo>
                  <a:pt x="24166" y="42666"/>
                </a:lnTo>
                <a:lnTo>
                  <a:pt x="24166" y="53777"/>
                </a:lnTo>
                <a:lnTo>
                  <a:pt x="24583" y="56888"/>
                </a:lnTo>
                <a:lnTo>
                  <a:pt x="24583" y="85777"/>
                </a:lnTo>
                <a:lnTo>
                  <a:pt x="25291" y="85777"/>
                </a:lnTo>
                <a:lnTo>
                  <a:pt x="25291" y="79555"/>
                </a:lnTo>
                <a:lnTo>
                  <a:pt x="27125" y="79555"/>
                </a:lnTo>
                <a:lnTo>
                  <a:pt x="27125" y="86222"/>
                </a:lnTo>
                <a:lnTo>
                  <a:pt x="28208" y="86222"/>
                </a:lnTo>
                <a:lnTo>
                  <a:pt x="28208" y="92000"/>
                </a:lnTo>
                <a:lnTo>
                  <a:pt x="29416" y="92000"/>
                </a:lnTo>
                <a:lnTo>
                  <a:pt x="29416" y="83555"/>
                </a:lnTo>
                <a:lnTo>
                  <a:pt x="30250" y="83555"/>
                </a:lnTo>
                <a:lnTo>
                  <a:pt x="30250" y="65777"/>
                </a:lnTo>
                <a:lnTo>
                  <a:pt x="35041" y="65777"/>
                </a:lnTo>
                <a:lnTo>
                  <a:pt x="35041" y="83555"/>
                </a:lnTo>
                <a:lnTo>
                  <a:pt x="35875" y="83555"/>
                </a:lnTo>
                <a:lnTo>
                  <a:pt x="35875" y="65777"/>
                </a:lnTo>
                <a:lnTo>
                  <a:pt x="39916" y="65777"/>
                </a:lnTo>
                <a:lnTo>
                  <a:pt x="39916" y="72888"/>
                </a:lnTo>
                <a:lnTo>
                  <a:pt x="41041" y="72888"/>
                </a:lnTo>
                <a:lnTo>
                  <a:pt x="41041" y="99555"/>
                </a:lnTo>
                <a:lnTo>
                  <a:pt x="42583" y="99555"/>
                </a:lnTo>
                <a:lnTo>
                  <a:pt x="42583" y="76888"/>
                </a:lnTo>
                <a:lnTo>
                  <a:pt x="45250" y="56000"/>
                </a:lnTo>
                <a:lnTo>
                  <a:pt x="47875" y="76888"/>
                </a:lnTo>
                <a:lnTo>
                  <a:pt x="47875" y="88888"/>
                </a:lnTo>
                <a:lnTo>
                  <a:pt x="48666" y="88888"/>
                </a:lnTo>
                <a:lnTo>
                  <a:pt x="48666" y="104000"/>
                </a:lnTo>
                <a:lnTo>
                  <a:pt x="49208" y="104000"/>
                </a:lnTo>
                <a:lnTo>
                  <a:pt x="49208" y="73333"/>
                </a:lnTo>
                <a:lnTo>
                  <a:pt x="51500" y="73333"/>
                </a:lnTo>
                <a:lnTo>
                  <a:pt x="51500" y="85777"/>
                </a:lnTo>
                <a:lnTo>
                  <a:pt x="53708" y="85777"/>
                </a:lnTo>
                <a:lnTo>
                  <a:pt x="53708" y="94666"/>
                </a:lnTo>
                <a:lnTo>
                  <a:pt x="54500" y="94666"/>
                </a:lnTo>
                <a:lnTo>
                  <a:pt x="54500" y="85777"/>
                </a:lnTo>
                <a:lnTo>
                  <a:pt x="57125" y="85777"/>
                </a:lnTo>
                <a:lnTo>
                  <a:pt x="57125" y="102222"/>
                </a:lnTo>
                <a:lnTo>
                  <a:pt x="57625" y="102222"/>
                </a:lnTo>
                <a:lnTo>
                  <a:pt x="57625" y="104888"/>
                </a:lnTo>
                <a:lnTo>
                  <a:pt x="58875" y="104888"/>
                </a:lnTo>
                <a:lnTo>
                  <a:pt x="58875" y="94222"/>
                </a:lnTo>
                <a:lnTo>
                  <a:pt x="61666" y="94222"/>
                </a:lnTo>
                <a:lnTo>
                  <a:pt x="61666" y="89777"/>
                </a:lnTo>
                <a:lnTo>
                  <a:pt x="62250" y="89777"/>
                </a:lnTo>
                <a:lnTo>
                  <a:pt x="62250" y="84000"/>
                </a:lnTo>
                <a:lnTo>
                  <a:pt x="62833" y="84000"/>
                </a:lnTo>
                <a:lnTo>
                  <a:pt x="62833" y="88888"/>
                </a:lnTo>
                <a:lnTo>
                  <a:pt x="63500" y="88888"/>
                </a:lnTo>
                <a:lnTo>
                  <a:pt x="63500" y="83111"/>
                </a:lnTo>
                <a:lnTo>
                  <a:pt x="64999" y="83111"/>
                </a:lnTo>
                <a:lnTo>
                  <a:pt x="64999" y="88444"/>
                </a:lnTo>
                <a:lnTo>
                  <a:pt x="65666" y="88444"/>
                </a:lnTo>
                <a:lnTo>
                  <a:pt x="65666" y="103111"/>
                </a:lnTo>
                <a:lnTo>
                  <a:pt x="66916" y="103111"/>
                </a:lnTo>
                <a:lnTo>
                  <a:pt x="66916" y="82666"/>
                </a:lnTo>
                <a:lnTo>
                  <a:pt x="69375" y="82666"/>
                </a:lnTo>
                <a:lnTo>
                  <a:pt x="69375" y="88888"/>
                </a:lnTo>
                <a:lnTo>
                  <a:pt x="70416" y="88888"/>
                </a:lnTo>
                <a:lnTo>
                  <a:pt x="70416" y="46222"/>
                </a:lnTo>
                <a:lnTo>
                  <a:pt x="71500" y="35111"/>
                </a:lnTo>
                <a:lnTo>
                  <a:pt x="72458" y="45777"/>
                </a:lnTo>
                <a:lnTo>
                  <a:pt x="72458" y="103111"/>
                </a:lnTo>
                <a:lnTo>
                  <a:pt x="73583" y="103111"/>
                </a:lnTo>
                <a:lnTo>
                  <a:pt x="73583" y="47555"/>
                </a:lnTo>
                <a:lnTo>
                  <a:pt x="76916" y="47555"/>
                </a:lnTo>
                <a:lnTo>
                  <a:pt x="76916" y="97777"/>
                </a:lnTo>
                <a:lnTo>
                  <a:pt x="77541" y="97777"/>
                </a:lnTo>
                <a:lnTo>
                  <a:pt x="77541" y="85777"/>
                </a:lnTo>
                <a:lnTo>
                  <a:pt x="79000" y="85777"/>
                </a:lnTo>
                <a:lnTo>
                  <a:pt x="79000" y="92888"/>
                </a:lnTo>
                <a:lnTo>
                  <a:pt x="82000" y="92888"/>
                </a:lnTo>
                <a:lnTo>
                  <a:pt x="82000" y="102222"/>
                </a:lnTo>
                <a:lnTo>
                  <a:pt x="84333" y="102222"/>
                </a:lnTo>
                <a:lnTo>
                  <a:pt x="84333" y="88000"/>
                </a:lnTo>
                <a:lnTo>
                  <a:pt x="85583" y="88000"/>
                </a:lnTo>
                <a:lnTo>
                  <a:pt x="85583" y="96000"/>
                </a:lnTo>
                <a:lnTo>
                  <a:pt x="86500" y="96000"/>
                </a:lnTo>
                <a:lnTo>
                  <a:pt x="86500" y="91111"/>
                </a:lnTo>
                <a:lnTo>
                  <a:pt x="87791" y="91111"/>
                </a:lnTo>
                <a:lnTo>
                  <a:pt x="87791" y="84888"/>
                </a:lnTo>
                <a:lnTo>
                  <a:pt x="89375" y="84888"/>
                </a:lnTo>
                <a:lnTo>
                  <a:pt x="89375" y="100888"/>
                </a:lnTo>
                <a:lnTo>
                  <a:pt x="90541" y="100888"/>
                </a:lnTo>
                <a:lnTo>
                  <a:pt x="90541" y="63111"/>
                </a:lnTo>
                <a:lnTo>
                  <a:pt x="92458" y="63555"/>
                </a:lnTo>
                <a:lnTo>
                  <a:pt x="92458" y="84444"/>
                </a:lnTo>
                <a:lnTo>
                  <a:pt x="93750" y="84444"/>
                </a:lnTo>
                <a:lnTo>
                  <a:pt x="93750" y="97333"/>
                </a:lnTo>
                <a:lnTo>
                  <a:pt x="95375" y="97333"/>
                </a:lnTo>
                <a:lnTo>
                  <a:pt x="95375" y="83111"/>
                </a:lnTo>
                <a:lnTo>
                  <a:pt x="96500" y="83111"/>
                </a:lnTo>
                <a:lnTo>
                  <a:pt x="96500" y="77333"/>
                </a:lnTo>
                <a:lnTo>
                  <a:pt x="98000" y="77333"/>
                </a:lnTo>
                <a:lnTo>
                  <a:pt x="98000" y="81333"/>
                </a:lnTo>
                <a:lnTo>
                  <a:pt x="99041" y="81333"/>
                </a:lnTo>
                <a:lnTo>
                  <a:pt x="99041" y="75111"/>
                </a:lnTo>
                <a:lnTo>
                  <a:pt x="101000" y="59555"/>
                </a:lnTo>
                <a:lnTo>
                  <a:pt x="102916" y="75111"/>
                </a:lnTo>
                <a:lnTo>
                  <a:pt x="102916" y="96444"/>
                </a:lnTo>
                <a:lnTo>
                  <a:pt x="103250" y="96444"/>
                </a:lnTo>
                <a:lnTo>
                  <a:pt x="103250" y="92000"/>
                </a:lnTo>
                <a:lnTo>
                  <a:pt x="104750" y="92000"/>
                </a:lnTo>
                <a:lnTo>
                  <a:pt x="104750" y="111111"/>
                </a:lnTo>
                <a:lnTo>
                  <a:pt x="105125" y="111111"/>
                </a:lnTo>
                <a:lnTo>
                  <a:pt x="105125" y="101777"/>
                </a:lnTo>
                <a:lnTo>
                  <a:pt x="106291" y="101777"/>
                </a:lnTo>
                <a:lnTo>
                  <a:pt x="106291" y="81777"/>
                </a:lnTo>
                <a:lnTo>
                  <a:pt x="107791" y="81777"/>
                </a:lnTo>
                <a:lnTo>
                  <a:pt x="107791" y="101777"/>
                </a:lnTo>
                <a:lnTo>
                  <a:pt x="107833" y="101777"/>
                </a:lnTo>
                <a:lnTo>
                  <a:pt x="107833" y="93777"/>
                </a:lnTo>
                <a:lnTo>
                  <a:pt x="108583" y="93777"/>
                </a:lnTo>
                <a:lnTo>
                  <a:pt x="108583" y="89777"/>
                </a:lnTo>
                <a:lnTo>
                  <a:pt x="110166" y="89777"/>
                </a:lnTo>
                <a:lnTo>
                  <a:pt x="110166" y="103111"/>
                </a:lnTo>
                <a:lnTo>
                  <a:pt x="110416" y="103111"/>
                </a:lnTo>
                <a:lnTo>
                  <a:pt x="110416" y="93777"/>
                </a:lnTo>
                <a:lnTo>
                  <a:pt x="110625" y="93777"/>
                </a:lnTo>
                <a:lnTo>
                  <a:pt x="110625" y="76444"/>
                </a:lnTo>
                <a:lnTo>
                  <a:pt x="111416" y="76444"/>
                </a:lnTo>
                <a:lnTo>
                  <a:pt x="111416" y="68444"/>
                </a:lnTo>
                <a:lnTo>
                  <a:pt x="111833" y="68444"/>
                </a:lnTo>
                <a:lnTo>
                  <a:pt x="111833" y="64000"/>
                </a:lnTo>
                <a:lnTo>
                  <a:pt x="112916" y="64000"/>
                </a:lnTo>
                <a:lnTo>
                  <a:pt x="112916" y="68444"/>
                </a:lnTo>
                <a:lnTo>
                  <a:pt x="113375" y="68444"/>
                </a:lnTo>
                <a:lnTo>
                  <a:pt x="113375" y="91555"/>
                </a:lnTo>
                <a:lnTo>
                  <a:pt x="113416" y="91555"/>
                </a:lnTo>
                <a:lnTo>
                  <a:pt x="113416" y="91555"/>
                </a:lnTo>
                <a:lnTo>
                  <a:pt x="114666" y="91555"/>
                </a:lnTo>
                <a:lnTo>
                  <a:pt x="114666" y="79555"/>
                </a:lnTo>
                <a:lnTo>
                  <a:pt x="115250" y="79555"/>
                </a:lnTo>
                <a:lnTo>
                  <a:pt x="115250" y="68444"/>
                </a:lnTo>
                <a:lnTo>
                  <a:pt x="115625" y="68444"/>
                </a:lnTo>
                <a:lnTo>
                  <a:pt x="115625" y="55111"/>
                </a:lnTo>
                <a:lnTo>
                  <a:pt x="115916" y="55111"/>
                </a:lnTo>
                <a:lnTo>
                  <a:pt x="115916" y="44888"/>
                </a:lnTo>
                <a:lnTo>
                  <a:pt x="116250" y="44888"/>
                </a:lnTo>
                <a:lnTo>
                  <a:pt x="116250" y="34222"/>
                </a:lnTo>
                <a:lnTo>
                  <a:pt x="116666" y="34222"/>
                </a:lnTo>
                <a:lnTo>
                  <a:pt x="116666" y="44444"/>
                </a:lnTo>
                <a:lnTo>
                  <a:pt x="117000" y="44444"/>
                </a:lnTo>
                <a:lnTo>
                  <a:pt x="117000" y="52888"/>
                </a:lnTo>
                <a:lnTo>
                  <a:pt x="117333" y="52888"/>
                </a:lnTo>
                <a:lnTo>
                  <a:pt x="117333" y="68888"/>
                </a:lnTo>
                <a:lnTo>
                  <a:pt x="117708" y="68888"/>
                </a:lnTo>
                <a:lnTo>
                  <a:pt x="117708" y="80444"/>
                </a:lnTo>
                <a:lnTo>
                  <a:pt x="118166" y="80444"/>
                </a:lnTo>
                <a:lnTo>
                  <a:pt x="118166" y="92000"/>
                </a:lnTo>
                <a:lnTo>
                  <a:pt x="120000" y="9200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</p:spPr>
        <p:txBody>
          <a:bodyPr lIns="68569" tIns="34275" rIns="68569" bIns="34275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015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49" name="图片 9"/>
          <p:cNvPicPr>
            <a:picLocks noChangeAspect="1"/>
          </p:cNvPicPr>
          <p:nvPr/>
        </p:nvPicPr>
        <p:blipFill>
          <a:blip r:embed="rId2"/>
          <a:srcRect l="1575"/>
          <a:stretch>
            <a:fillRect/>
          </a:stretch>
        </p:blipFill>
        <p:spPr>
          <a:xfrm>
            <a:off x="0" y="1588"/>
            <a:ext cx="9124950" cy="18319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266" name="矩形: 圆角 16"/>
          <p:cNvSpPr>
            <a:spLocks noChangeArrowheads="1"/>
          </p:cNvSpPr>
          <p:nvPr/>
        </p:nvSpPr>
        <p:spPr bwMode="auto">
          <a:xfrm>
            <a:off x="2830513" y="4004295"/>
            <a:ext cx="4432300" cy="504825"/>
          </a:xfrm>
          <a:prstGeom prst="roundRect">
            <a:avLst>
              <a:gd name="adj" fmla="val 16667"/>
            </a:avLst>
          </a:prstGeom>
          <a:solidFill>
            <a:srgbClr val="9476B6"/>
          </a:solidFill>
          <a:ln>
            <a:noFill/>
          </a:ln>
        </p:spPr>
        <p:txBody>
          <a:bodyPr/>
          <a:lstStyle>
            <a:lvl1pPr marL="342900" indent="-3429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pitchFamily="49" charset="-122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1267" name="矩形: 圆角 15"/>
          <p:cNvSpPr>
            <a:spLocks noChangeArrowheads="1"/>
          </p:cNvSpPr>
          <p:nvPr/>
        </p:nvSpPr>
        <p:spPr bwMode="auto">
          <a:xfrm>
            <a:off x="1885950" y="4004295"/>
            <a:ext cx="839788" cy="50482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/>
          <a:lstStyle>
            <a:lvl1pPr marL="342900" indent="-3429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pitchFamily="49" charset="-122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9525" y="1588"/>
            <a:ext cx="9151938" cy="2024063"/>
          </a:xfrm>
          <a:prstGeom prst="rect">
            <a:avLst/>
          </a:prstGeom>
          <a:solidFill>
            <a:schemeClr val="tx1">
              <a:alpha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" name="Shape 26"/>
          <p:cNvSpPr/>
          <p:nvPr/>
        </p:nvSpPr>
        <p:spPr>
          <a:xfrm flipH="1">
            <a:off x="-36512" y="774700"/>
            <a:ext cx="9207500" cy="126047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120000"/>
                </a:moveTo>
                <a:lnTo>
                  <a:pt x="0" y="102222"/>
                </a:lnTo>
                <a:lnTo>
                  <a:pt x="583" y="102222"/>
                </a:lnTo>
                <a:lnTo>
                  <a:pt x="583" y="89777"/>
                </a:lnTo>
                <a:lnTo>
                  <a:pt x="4166" y="89777"/>
                </a:lnTo>
                <a:lnTo>
                  <a:pt x="4166" y="79111"/>
                </a:lnTo>
                <a:lnTo>
                  <a:pt x="6416" y="79111"/>
                </a:lnTo>
                <a:lnTo>
                  <a:pt x="6416" y="91111"/>
                </a:lnTo>
                <a:lnTo>
                  <a:pt x="7625" y="91111"/>
                </a:lnTo>
                <a:lnTo>
                  <a:pt x="7625" y="79111"/>
                </a:lnTo>
                <a:lnTo>
                  <a:pt x="8958" y="79111"/>
                </a:lnTo>
                <a:lnTo>
                  <a:pt x="8958" y="45333"/>
                </a:lnTo>
                <a:lnTo>
                  <a:pt x="9541" y="45333"/>
                </a:lnTo>
                <a:lnTo>
                  <a:pt x="9541" y="39111"/>
                </a:lnTo>
                <a:lnTo>
                  <a:pt x="10958" y="39111"/>
                </a:lnTo>
                <a:lnTo>
                  <a:pt x="10958" y="45333"/>
                </a:lnTo>
                <a:lnTo>
                  <a:pt x="11583" y="45333"/>
                </a:lnTo>
                <a:lnTo>
                  <a:pt x="11583" y="76000"/>
                </a:lnTo>
                <a:lnTo>
                  <a:pt x="12083" y="76000"/>
                </a:lnTo>
                <a:lnTo>
                  <a:pt x="12083" y="95555"/>
                </a:lnTo>
                <a:lnTo>
                  <a:pt x="13250" y="95555"/>
                </a:lnTo>
                <a:lnTo>
                  <a:pt x="13250" y="60000"/>
                </a:lnTo>
                <a:lnTo>
                  <a:pt x="14041" y="60000"/>
                </a:lnTo>
                <a:lnTo>
                  <a:pt x="14041" y="45333"/>
                </a:lnTo>
                <a:lnTo>
                  <a:pt x="14583" y="45333"/>
                </a:lnTo>
                <a:lnTo>
                  <a:pt x="14583" y="27555"/>
                </a:lnTo>
                <a:lnTo>
                  <a:pt x="14958" y="27555"/>
                </a:lnTo>
                <a:lnTo>
                  <a:pt x="14958" y="14222"/>
                </a:lnTo>
                <a:lnTo>
                  <a:pt x="15333" y="14222"/>
                </a:lnTo>
                <a:lnTo>
                  <a:pt x="15333" y="0"/>
                </a:lnTo>
                <a:lnTo>
                  <a:pt x="15958" y="0"/>
                </a:lnTo>
                <a:lnTo>
                  <a:pt x="15958" y="13777"/>
                </a:lnTo>
                <a:lnTo>
                  <a:pt x="16416" y="13777"/>
                </a:lnTo>
                <a:lnTo>
                  <a:pt x="16416" y="24888"/>
                </a:lnTo>
                <a:lnTo>
                  <a:pt x="16791" y="24888"/>
                </a:lnTo>
                <a:lnTo>
                  <a:pt x="16791" y="46222"/>
                </a:lnTo>
                <a:lnTo>
                  <a:pt x="17333" y="46222"/>
                </a:lnTo>
                <a:lnTo>
                  <a:pt x="17333" y="61333"/>
                </a:lnTo>
                <a:lnTo>
                  <a:pt x="17916" y="61333"/>
                </a:lnTo>
                <a:lnTo>
                  <a:pt x="17916" y="101333"/>
                </a:lnTo>
                <a:lnTo>
                  <a:pt x="18875" y="101333"/>
                </a:lnTo>
                <a:lnTo>
                  <a:pt x="18875" y="92000"/>
                </a:lnTo>
                <a:lnTo>
                  <a:pt x="20958" y="92000"/>
                </a:lnTo>
                <a:lnTo>
                  <a:pt x="20958" y="96444"/>
                </a:lnTo>
                <a:lnTo>
                  <a:pt x="21750" y="96444"/>
                </a:lnTo>
                <a:lnTo>
                  <a:pt x="21750" y="54666"/>
                </a:lnTo>
                <a:lnTo>
                  <a:pt x="22333" y="54666"/>
                </a:lnTo>
                <a:lnTo>
                  <a:pt x="22333" y="42666"/>
                </a:lnTo>
                <a:lnTo>
                  <a:pt x="24166" y="42666"/>
                </a:lnTo>
                <a:lnTo>
                  <a:pt x="24166" y="53777"/>
                </a:lnTo>
                <a:lnTo>
                  <a:pt x="24583" y="56888"/>
                </a:lnTo>
                <a:lnTo>
                  <a:pt x="24583" y="85777"/>
                </a:lnTo>
                <a:lnTo>
                  <a:pt x="25291" y="85777"/>
                </a:lnTo>
                <a:lnTo>
                  <a:pt x="25291" y="79555"/>
                </a:lnTo>
                <a:lnTo>
                  <a:pt x="27125" y="79555"/>
                </a:lnTo>
                <a:lnTo>
                  <a:pt x="27125" y="86222"/>
                </a:lnTo>
                <a:lnTo>
                  <a:pt x="28208" y="86222"/>
                </a:lnTo>
                <a:lnTo>
                  <a:pt x="28208" y="92000"/>
                </a:lnTo>
                <a:lnTo>
                  <a:pt x="29416" y="92000"/>
                </a:lnTo>
                <a:lnTo>
                  <a:pt x="29416" y="83555"/>
                </a:lnTo>
                <a:lnTo>
                  <a:pt x="30250" y="83555"/>
                </a:lnTo>
                <a:lnTo>
                  <a:pt x="30250" y="65777"/>
                </a:lnTo>
                <a:lnTo>
                  <a:pt x="35041" y="65777"/>
                </a:lnTo>
                <a:lnTo>
                  <a:pt x="35041" y="83555"/>
                </a:lnTo>
                <a:lnTo>
                  <a:pt x="35875" y="83555"/>
                </a:lnTo>
                <a:lnTo>
                  <a:pt x="35875" y="65777"/>
                </a:lnTo>
                <a:lnTo>
                  <a:pt x="39916" y="65777"/>
                </a:lnTo>
                <a:lnTo>
                  <a:pt x="39916" y="72888"/>
                </a:lnTo>
                <a:lnTo>
                  <a:pt x="41041" y="72888"/>
                </a:lnTo>
                <a:lnTo>
                  <a:pt x="41041" y="99555"/>
                </a:lnTo>
                <a:lnTo>
                  <a:pt x="42583" y="99555"/>
                </a:lnTo>
                <a:lnTo>
                  <a:pt x="42583" y="76888"/>
                </a:lnTo>
                <a:lnTo>
                  <a:pt x="45250" y="56000"/>
                </a:lnTo>
                <a:lnTo>
                  <a:pt x="47875" y="76888"/>
                </a:lnTo>
                <a:lnTo>
                  <a:pt x="47875" y="88888"/>
                </a:lnTo>
                <a:lnTo>
                  <a:pt x="48666" y="88888"/>
                </a:lnTo>
                <a:lnTo>
                  <a:pt x="48666" y="104000"/>
                </a:lnTo>
                <a:lnTo>
                  <a:pt x="49208" y="104000"/>
                </a:lnTo>
                <a:lnTo>
                  <a:pt x="49208" y="73333"/>
                </a:lnTo>
                <a:lnTo>
                  <a:pt x="51500" y="73333"/>
                </a:lnTo>
                <a:lnTo>
                  <a:pt x="51500" y="85777"/>
                </a:lnTo>
                <a:lnTo>
                  <a:pt x="53708" y="85777"/>
                </a:lnTo>
                <a:lnTo>
                  <a:pt x="53708" y="94666"/>
                </a:lnTo>
                <a:lnTo>
                  <a:pt x="54500" y="94666"/>
                </a:lnTo>
                <a:lnTo>
                  <a:pt x="54500" y="85777"/>
                </a:lnTo>
                <a:lnTo>
                  <a:pt x="57125" y="85777"/>
                </a:lnTo>
                <a:lnTo>
                  <a:pt x="57125" y="102222"/>
                </a:lnTo>
                <a:lnTo>
                  <a:pt x="57625" y="102222"/>
                </a:lnTo>
                <a:lnTo>
                  <a:pt x="57625" y="104888"/>
                </a:lnTo>
                <a:lnTo>
                  <a:pt x="58875" y="104888"/>
                </a:lnTo>
                <a:lnTo>
                  <a:pt x="58875" y="94222"/>
                </a:lnTo>
                <a:lnTo>
                  <a:pt x="61666" y="94222"/>
                </a:lnTo>
                <a:lnTo>
                  <a:pt x="61666" y="89777"/>
                </a:lnTo>
                <a:lnTo>
                  <a:pt x="62250" y="89777"/>
                </a:lnTo>
                <a:lnTo>
                  <a:pt x="62250" y="84000"/>
                </a:lnTo>
                <a:lnTo>
                  <a:pt x="62833" y="84000"/>
                </a:lnTo>
                <a:lnTo>
                  <a:pt x="62833" y="88888"/>
                </a:lnTo>
                <a:lnTo>
                  <a:pt x="63500" y="88888"/>
                </a:lnTo>
                <a:lnTo>
                  <a:pt x="63500" y="83111"/>
                </a:lnTo>
                <a:lnTo>
                  <a:pt x="64999" y="83111"/>
                </a:lnTo>
                <a:lnTo>
                  <a:pt x="64999" y="88444"/>
                </a:lnTo>
                <a:lnTo>
                  <a:pt x="65666" y="88444"/>
                </a:lnTo>
                <a:lnTo>
                  <a:pt x="65666" y="103111"/>
                </a:lnTo>
                <a:lnTo>
                  <a:pt x="66916" y="103111"/>
                </a:lnTo>
                <a:lnTo>
                  <a:pt x="66916" y="82666"/>
                </a:lnTo>
                <a:lnTo>
                  <a:pt x="69375" y="82666"/>
                </a:lnTo>
                <a:lnTo>
                  <a:pt x="69375" y="88888"/>
                </a:lnTo>
                <a:lnTo>
                  <a:pt x="70416" y="88888"/>
                </a:lnTo>
                <a:lnTo>
                  <a:pt x="70416" y="46222"/>
                </a:lnTo>
                <a:lnTo>
                  <a:pt x="71500" y="35111"/>
                </a:lnTo>
                <a:lnTo>
                  <a:pt x="72458" y="45777"/>
                </a:lnTo>
                <a:lnTo>
                  <a:pt x="72458" y="103111"/>
                </a:lnTo>
                <a:lnTo>
                  <a:pt x="73583" y="103111"/>
                </a:lnTo>
                <a:lnTo>
                  <a:pt x="73583" y="47555"/>
                </a:lnTo>
                <a:lnTo>
                  <a:pt x="76916" y="47555"/>
                </a:lnTo>
                <a:lnTo>
                  <a:pt x="76916" y="97777"/>
                </a:lnTo>
                <a:lnTo>
                  <a:pt x="77541" y="97777"/>
                </a:lnTo>
                <a:lnTo>
                  <a:pt x="77541" y="85777"/>
                </a:lnTo>
                <a:lnTo>
                  <a:pt x="79000" y="85777"/>
                </a:lnTo>
                <a:lnTo>
                  <a:pt x="79000" y="92888"/>
                </a:lnTo>
                <a:lnTo>
                  <a:pt x="82000" y="92888"/>
                </a:lnTo>
                <a:lnTo>
                  <a:pt x="82000" y="102222"/>
                </a:lnTo>
                <a:lnTo>
                  <a:pt x="84333" y="102222"/>
                </a:lnTo>
                <a:lnTo>
                  <a:pt x="84333" y="88000"/>
                </a:lnTo>
                <a:lnTo>
                  <a:pt x="85583" y="88000"/>
                </a:lnTo>
                <a:lnTo>
                  <a:pt x="85583" y="96000"/>
                </a:lnTo>
                <a:lnTo>
                  <a:pt x="86500" y="96000"/>
                </a:lnTo>
                <a:lnTo>
                  <a:pt x="86500" y="91111"/>
                </a:lnTo>
                <a:lnTo>
                  <a:pt x="87791" y="91111"/>
                </a:lnTo>
                <a:lnTo>
                  <a:pt x="87791" y="84888"/>
                </a:lnTo>
                <a:lnTo>
                  <a:pt x="89375" y="84888"/>
                </a:lnTo>
                <a:lnTo>
                  <a:pt x="89375" y="100888"/>
                </a:lnTo>
                <a:lnTo>
                  <a:pt x="90541" y="100888"/>
                </a:lnTo>
                <a:lnTo>
                  <a:pt x="90541" y="63111"/>
                </a:lnTo>
                <a:lnTo>
                  <a:pt x="92458" y="63555"/>
                </a:lnTo>
                <a:lnTo>
                  <a:pt x="92458" y="84444"/>
                </a:lnTo>
                <a:lnTo>
                  <a:pt x="93750" y="84444"/>
                </a:lnTo>
                <a:lnTo>
                  <a:pt x="93750" y="97333"/>
                </a:lnTo>
                <a:lnTo>
                  <a:pt x="95375" y="97333"/>
                </a:lnTo>
                <a:lnTo>
                  <a:pt x="95375" y="83111"/>
                </a:lnTo>
                <a:lnTo>
                  <a:pt x="96500" y="83111"/>
                </a:lnTo>
                <a:lnTo>
                  <a:pt x="96500" y="77333"/>
                </a:lnTo>
                <a:lnTo>
                  <a:pt x="98000" y="77333"/>
                </a:lnTo>
                <a:lnTo>
                  <a:pt x="98000" y="81333"/>
                </a:lnTo>
                <a:lnTo>
                  <a:pt x="99041" y="81333"/>
                </a:lnTo>
                <a:lnTo>
                  <a:pt x="99041" y="75111"/>
                </a:lnTo>
                <a:lnTo>
                  <a:pt x="101000" y="59555"/>
                </a:lnTo>
                <a:lnTo>
                  <a:pt x="102916" y="75111"/>
                </a:lnTo>
                <a:lnTo>
                  <a:pt x="102916" y="96444"/>
                </a:lnTo>
                <a:lnTo>
                  <a:pt x="103250" y="96444"/>
                </a:lnTo>
                <a:lnTo>
                  <a:pt x="103250" y="92000"/>
                </a:lnTo>
                <a:lnTo>
                  <a:pt x="104750" y="92000"/>
                </a:lnTo>
                <a:lnTo>
                  <a:pt x="104750" y="111111"/>
                </a:lnTo>
                <a:lnTo>
                  <a:pt x="105125" y="111111"/>
                </a:lnTo>
                <a:lnTo>
                  <a:pt x="105125" y="101777"/>
                </a:lnTo>
                <a:lnTo>
                  <a:pt x="106291" y="101777"/>
                </a:lnTo>
                <a:lnTo>
                  <a:pt x="106291" y="81777"/>
                </a:lnTo>
                <a:lnTo>
                  <a:pt x="107791" y="81777"/>
                </a:lnTo>
                <a:lnTo>
                  <a:pt x="107791" y="101777"/>
                </a:lnTo>
                <a:lnTo>
                  <a:pt x="107833" y="101777"/>
                </a:lnTo>
                <a:lnTo>
                  <a:pt x="107833" y="93777"/>
                </a:lnTo>
                <a:lnTo>
                  <a:pt x="108583" y="93777"/>
                </a:lnTo>
                <a:lnTo>
                  <a:pt x="108583" y="89777"/>
                </a:lnTo>
                <a:lnTo>
                  <a:pt x="110166" y="89777"/>
                </a:lnTo>
                <a:lnTo>
                  <a:pt x="110166" y="103111"/>
                </a:lnTo>
                <a:lnTo>
                  <a:pt x="110416" y="103111"/>
                </a:lnTo>
                <a:lnTo>
                  <a:pt x="110416" y="93777"/>
                </a:lnTo>
                <a:lnTo>
                  <a:pt x="110625" y="93777"/>
                </a:lnTo>
                <a:lnTo>
                  <a:pt x="110625" y="76444"/>
                </a:lnTo>
                <a:lnTo>
                  <a:pt x="111416" y="76444"/>
                </a:lnTo>
                <a:lnTo>
                  <a:pt x="111416" y="68444"/>
                </a:lnTo>
                <a:lnTo>
                  <a:pt x="111833" y="68444"/>
                </a:lnTo>
                <a:lnTo>
                  <a:pt x="111833" y="64000"/>
                </a:lnTo>
                <a:lnTo>
                  <a:pt x="112916" y="64000"/>
                </a:lnTo>
                <a:lnTo>
                  <a:pt x="112916" y="68444"/>
                </a:lnTo>
                <a:lnTo>
                  <a:pt x="113375" y="68444"/>
                </a:lnTo>
                <a:lnTo>
                  <a:pt x="113375" y="91555"/>
                </a:lnTo>
                <a:lnTo>
                  <a:pt x="113416" y="91555"/>
                </a:lnTo>
                <a:lnTo>
                  <a:pt x="113416" y="91555"/>
                </a:lnTo>
                <a:lnTo>
                  <a:pt x="114666" y="91555"/>
                </a:lnTo>
                <a:lnTo>
                  <a:pt x="114666" y="79555"/>
                </a:lnTo>
                <a:lnTo>
                  <a:pt x="115250" y="79555"/>
                </a:lnTo>
                <a:lnTo>
                  <a:pt x="115250" y="68444"/>
                </a:lnTo>
                <a:lnTo>
                  <a:pt x="115625" y="68444"/>
                </a:lnTo>
                <a:lnTo>
                  <a:pt x="115625" y="55111"/>
                </a:lnTo>
                <a:lnTo>
                  <a:pt x="115916" y="55111"/>
                </a:lnTo>
                <a:lnTo>
                  <a:pt x="115916" y="44888"/>
                </a:lnTo>
                <a:lnTo>
                  <a:pt x="116250" y="44888"/>
                </a:lnTo>
                <a:lnTo>
                  <a:pt x="116250" y="34222"/>
                </a:lnTo>
                <a:lnTo>
                  <a:pt x="116666" y="34222"/>
                </a:lnTo>
                <a:lnTo>
                  <a:pt x="116666" y="44444"/>
                </a:lnTo>
                <a:lnTo>
                  <a:pt x="117000" y="44444"/>
                </a:lnTo>
                <a:lnTo>
                  <a:pt x="117000" y="52888"/>
                </a:lnTo>
                <a:lnTo>
                  <a:pt x="117333" y="52888"/>
                </a:lnTo>
                <a:lnTo>
                  <a:pt x="117333" y="68888"/>
                </a:lnTo>
                <a:lnTo>
                  <a:pt x="117708" y="68888"/>
                </a:lnTo>
                <a:lnTo>
                  <a:pt x="117708" y="80444"/>
                </a:lnTo>
                <a:lnTo>
                  <a:pt x="118166" y="80444"/>
                </a:lnTo>
                <a:lnTo>
                  <a:pt x="118166" y="92000"/>
                </a:lnTo>
                <a:lnTo>
                  <a:pt x="120000" y="9200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bg1"/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</p:spPr>
        <p:txBody>
          <a:bodyPr lIns="68569" tIns="34275" rIns="68569" bIns="34275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015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7654" name="文本框 12"/>
          <p:cNvSpPr txBox="1"/>
          <p:nvPr/>
        </p:nvSpPr>
        <p:spPr>
          <a:xfrm>
            <a:off x="558800" y="331788"/>
            <a:ext cx="2573338" cy="6477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dist" eaLnBrk="0" hangingPunct="0">
              <a:buClrTx/>
              <a:buFontTx/>
            </a:pPr>
            <a:r>
              <a:rPr lang="zh-CN" altLang="en-US" sz="3600" b="0" dirty="0">
                <a:solidFill>
                  <a:srgbClr val="FEFFFF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目录导航</a:t>
            </a:r>
          </a:p>
        </p:txBody>
      </p:sp>
      <p:sp>
        <p:nvSpPr>
          <p:cNvPr id="27655" name="文本框 13"/>
          <p:cNvSpPr txBox="1"/>
          <p:nvPr/>
        </p:nvSpPr>
        <p:spPr>
          <a:xfrm>
            <a:off x="2005013" y="2739640"/>
            <a:ext cx="720725" cy="1754326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0" hangingPunct="0">
              <a:lnSpc>
                <a:spcPct val="150000"/>
              </a:lnSpc>
              <a:buClrTx/>
              <a:buFontTx/>
            </a:pPr>
            <a:r>
              <a: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7.1</a:t>
            </a:r>
            <a:endParaRPr lang="zh-CN" altLang="en-US" sz="2400" b="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 eaLnBrk="0" hangingPunct="0">
              <a:lnSpc>
                <a:spcPct val="150000"/>
              </a:lnSpc>
              <a:buClrTx/>
              <a:buFontTx/>
            </a:pPr>
            <a:r>
              <a:rPr lang="en-US" altLang="zh-CN" sz="2400" b="0" dirty="0">
                <a:solidFill>
                  <a:srgbClr val="0D0D0D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7.2</a:t>
            </a:r>
            <a:endParaRPr lang="zh-CN" altLang="en-US" sz="2400" b="0" dirty="0">
              <a:solidFill>
                <a:srgbClr val="0D0D0D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 eaLnBrk="0" hangingPunct="0">
              <a:lnSpc>
                <a:spcPct val="150000"/>
              </a:lnSpc>
              <a:buClrTx/>
              <a:buFontTx/>
            </a:pPr>
            <a:r>
              <a:rPr lang="en-US" altLang="zh-CN" sz="2400" b="0" dirty="0" smtClean="0">
                <a:solidFill>
                  <a:srgbClr val="0D0D0D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7.3</a:t>
            </a:r>
            <a:endParaRPr lang="zh-CN" altLang="en-US" sz="2400" b="0" dirty="0">
              <a:solidFill>
                <a:srgbClr val="0D0D0D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27656" name="文本框 14"/>
          <p:cNvSpPr txBox="1"/>
          <p:nvPr/>
        </p:nvSpPr>
        <p:spPr>
          <a:xfrm>
            <a:off x="2798334" y="2798346"/>
            <a:ext cx="4129087" cy="1754326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0" hangingPunct="0">
              <a:lnSpc>
                <a:spcPct val="150000"/>
              </a:lnSpc>
              <a:buClrTx/>
              <a:buFontTx/>
            </a:pPr>
            <a:r>
              <a:rPr lang="zh-CN" altLang="en-US" sz="2400" b="0" dirty="0">
                <a:solidFill>
                  <a:srgbClr val="0D0D0D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　</a:t>
            </a: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查找的基本概念</a:t>
            </a:r>
            <a:endParaRPr lang="zh-CN" altLang="en-US" sz="2400" b="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 eaLnBrk="0" hangingPunct="0">
              <a:lnSpc>
                <a:spcPct val="150000"/>
              </a:lnSpc>
              <a:buClrTx/>
              <a:buFontTx/>
            </a:pPr>
            <a:r>
              <a:rPr lang="zh-CN" altLang="en-US" sz="2400" b="0" dirty="0">
                <a:solidFill>
                  <a:srgbClr val="0D0D0D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　线性表的查找</a:t>
            </a:r>
          </a:p>
          <a:p>
            <a:pPr eaLnBrk="0" hangingPunct="0">
              <a:lnSpc>
                <a:spcPct val="150000"/>
              </a:lnSpc>
              <a:buClrTx/>
              <a:buFontTx/>
            </a:pPr>
            <a:r>
              <a:rPr lang="zh-CN" altLang="en-US" sz="2400" b="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　哈希表的</a:t>
            </a:r>
            <a:r>
              <a:rPr lang="zh-CN" altLang="en-US" sz="2400" b="0" dirty="0" smtClean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查找</a:t>
            </a:r>
            <a:endParaRPr lang="zh-CN" altLang="en-US" sz="2400" b="0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276600" y="457200"/>
            <a:ext cx="1458913" cy="5222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Contents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引子</a:t>
            </a:r>
            <a:r>
              <a:rPr lang="en-US" altLang="zh-CN" dirty="0" smtClean="0"/>
              <a:t>1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Picture 2" descr="QQ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8875" y="2307109"/>
            <a:ext cx="3786188" cy="2798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7"/>
          <p:cNvSpPr>
            <a:spLocks noChangeArrowheads="1"/>
          </p:cNvSpPr>
          <p:nvPr/>
        </p:nvSpPr>
        <p:spPr bwMode="auto">
          <a:xfrm>
            <a:off x="714375" y="1164109"/>
            <a:ext cx="7000875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2400" b="1" dirty="0">
                <a:solidFill>
                  <a:srgbClr val="3333FF"/>
                </a:solidFill>
                <a:latin typeface="Times New Roman" pitchFamily="18" charset="0"/>
              </a:rPr>
              <a:t>[</a:t>
            </a:r>
            <a:r>
              <a:rPr lang="zh-CN" altLang="zh-CN" sz="2400" b="1" dirty="0" smtClean="0">
                <a:solidFill>
                  <a:srgbClr val="3333FF"/>
                </a:solidFill>
                <a:latin typeface="Times New Roman" pitchFamily="18" charset="0"/>
              </a:rPr>
              <a:t>例</a:t>
            </a:r>
            <a:r>
              <a:rPr lang="en-US" altLang="zh-CN" sz="2400" b="1" dirty="0" smtClean="0">
                <a:solidFill>
                  <a:srgbClr val="3333FF"/>
                </a:solidFill>
                <a:latin typeface="Times New Roman" pitchFamily="18" charset="0"/>
              </a:rPr>
              <a:t>]  </a:t>
            </a:r>
            <a:r>
              <a:rPr lang="zh-CN" altLang="en-US" sz="2400" b="1" dirty="0">
                <a:latin typeface="Times New Roman" pitchFamily="18" charset="0"/>
              </a:rPr>
              <a:t>在登录</a:t>
            </a:r>
            <a:r>
              <a:rPr lang="en-US" altLang="zh-CN" sz="2400" b="1" dirty="0">
                <a:latin typeface="Times New Roman" pitchFamily="18" charset="0"/>
              </a:rPr>
              <a:t>QQ</a:t>
            </a:r>
            <a:r>
              <a:rPr lang="zh-CN" altLang="en-US" sz="2400" b="1" dirty="0">
                <a:latin typeface="Times New Roman" pitchFamily="18" charset="0"/>
              </a:rPr>
              <a:t>的时候，</a:t>
            </a:r>
            <a:r>
              <a:rPr lang="en-US" altLang="zh-CN" sz="2400" b="1" dirty="0">
                <a:latin typeface="Times New Roman" pitchFamily="18" charset="0"/>
              </a:rPr>
              <a:t>QQ</a:t>
            </a:r>
            <a:r>
              <a:rPr lang="zh-CN" altLang="en-US" sz="2400" b="1" dirty="0">
                <a:latin typeface="Times New Roman" pitchFamily="18" charset="0"/>
              </a:rPr>
              <a:t>服务器如何</a:t>
            </a:r>
            <a:r>
              <a:rPr lang="zh-CN" altLang="en-US" sz="2400" b="1" dirty="0">
                <a:solidFill>
                  <a:srgbClr val="3333FF"/>
                </a:solidFill>
                <a:latin typeface="Times New Roman" pitchFamily="18" charset="0"/>
              </a:rPr>
              <a:t>核对你的身份</a:t>
            </a:r>
            <a:r>
              <a:rPr lang="zh-CN" altLang="en-US" sz="2400" b="1" dirty="0">
                <a:latin typeface="Times New Roman" pitchFamily="18" charset="0"/>
              </a:rPr>
              <a:t>，以确定你就是该号码的主人？</a:t>
            </a:r>
            <a:endParaRPr lang="en-US" altLang="zh-CN" sz="2400" b="1" dirty="0">
              <a:latin typeface="Times New Roman" pitchFamily="18" charset="0"/>
            </a:endParaRPr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428625" y="2235671"/>
            <a:ext cx="76438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2400" b="1">
                <a:solidFill>
                  <a:srgbClr val="3333FF"/>
                </a:solidFill>
                <a:latin typeface="Times New Roman" pitchFamily="18" charset="0"/>
              </a:rPr>
              <a:t>【</a:t>
            </a:r>
            <a:r>
              <a:rPr lang="zh-CN" altLang="en-US" sz="2400" b="1">
                <a:solidFill>
                  <a:srgbClr val="3333FF"/>
                </a:solidFill>
                <a:latin typeface="Times New Roman" pitchFamily="18" charset="0"/>
              </a:rPr>
              <a:t>分析</a:t>
            </a:r>
            <a:r>
              <a:rPr lang="en-US" altLang="zh-CN" sz="2400" b="1">
                <a:solidFill>
                  <a:srgbClr val="3333FF"/>
                </a:solidFill>
                <a:latin typeface="Times New Roman" pitchFamily="18" charset="0"/>
              </a:rPr>
              <a:t>】</a:t>
            </a:r>
            <a:r>
              <a:rPr lang="zh-CN" altLang="zh-CN" sz="2000" b="1">
                <a:latin typeface="Times New Roman" pitchFamily="18" charset="0"/>
              </a:rPr>
              <a:t>看看是否可以用</a:t>
            </a:r>
            <a:r>
              <a:rPr lang="zh-CN" altLang="zh-CN" sz="2000" b="1">
                <a:solidFill>
                  <a:srgbClr val="3333FF"/>
                </a:solidFill>
                <a:latin typeface="Times New Roman" pitchFamily="18" charset="0"/>
              </a:rPr>
              <a:t>二分法</a:t>
            </a:r>
            <a:r>
              <a:rPr lang="zh-CN" altLang="zh-CN" sz="2000" b="1">
                <a:latin typeface="Times New Roman" pitchFamily="18" charset="0"/>
              </a:rPr>
              <a:t>查找。</a:t>
            </a:r>
            <a:endParaRPr lang="en-US" altLang="zh-CN" sz="2000" b="1">
              <a:latin typeface="Times New Roman" pitchFamily="18" charset="0"/>
            </a:endParaRPr>
          </a:p>
        </p:txBody>
      </p:sp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928688" y="2807171"/>
            <a:ext cx="635793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2000" b="1">
                <a:solidFill>
                  <a:schemeClr val="hlink"/>
                </a:solidFill>
                <a:latin typeface="Arial" pitchFamily="34" charset="0"/>
                <a:sym typeface="Wingdings" pitchFamily="2" charset="2"/>
              </a:rPr>
              <a:t> </a:t>
            </a:r>
            <a:r>
              <a:rPr lang="zh-CN" altLang="zh-CN" sz="2000" b="1">
                <a:latin typeface="Times New Roman" pitchFamily="18" charset="0"/>
              </a:rPr>
              <a:t>十亿</a:t>
            </a:r>
            <a:r>
              <a:rPr lang="zh-CN" altLang="en-US" sz="2000" b="1">
                <a:latin typeface="Times New Roman" pitchFamily="18" charset="0"/>
              </a:rPr>
              <a:t>（</a:t>
            </a:r>
            <a:r>
              <a:rPr lang="en-US" altLang="zh-CN" sz="2000" b="1">
                <a:solidFill>
                  <a:srgbClr val="3333FF"/>
                </a:solidFill>
                <a:latin typeface="Times New Roman" pitchFamily="18" charset="0"/>
              </a:rPr>
              <a:t>10</a:t>
            </a:r>
            <a:r>
              <a:rPr lang="en-US" altLang="zh-CN" sz="2000" b="1" baseline="30000">
                <a:solidFill>
                  <a:srgbClr val="3333FF"/>
                </a:solidFill>
                <a:latin typeface="Times New Roman" pitchFamily="18" charset="0"/>
              </a:rPr>
              <a:t>9</a:t>
            </a:r>
            <a:r>
              <a:rPr lang="zh-CN" altLang="en-US" sz="2000" b="1">
                <a:solidFill>
                  <a:srgbClr val="3333FF"/>
                </a:solidFill>
                <a:latin typeface="Times New Roman" pitchFamily="18" charset="0"/>
              </a:rPr>
              <a:t>  ≈ </a:t>
            </a:r>
            <a:r>
              <a:rPr lang="en-US" altLang="zh-CN" sz="2000" b="1">
                <a:solidFill>
                  <a:srgbClr val="3333FF"/>
                </a:solidFill>
                <a:latin typeface="Times New Roman" pitchFamily="18" charset="0"/>
              </a:rPr>
              <a:t>2</a:t>
            </a:r>
            <a:r>
              <a:rPr lang="en-US" altLang="zh-CN" sz="2000" b="1" baseline="30000">
                <a:solidFill>
                  <a:srgbClr val="3333FF"/>
                </a:solidFill>
                <a:latin typeface="Times New Roman" pitchFamily="18" charset="0"/>
              </a:rPr>
              <a:t>30</a:t>
            </a:r>
            <a:r>
              <a:rPr lang="zh-CN" altLang="en-US" sz="2000" b="1">
                <a:latin typeface="Times New Roman" pitchFamily="18" charset="0"/>
              </a:rPr>
              <a:t>）</a:t>
            </a:r>
            <a:r>
              <a:rPr lang="zh-CN" altLang="zh-CN" sz="2000" b="1">
                <a:latin typeface="Times New Roman" pitchFamily="18" charset="0"/>
              </a:rPr>
              <a:t>有效用户，用二分查找</a:t>
            </a:r>
            <a:r>
              <a:rPr lang="en-US" altLang="zh-CN" sz="2000" b="1">
                <a:solidFill>
                  <a:srgbClr val="3333FF"/>
                </a:solidFill>
                <a:latin typeface="Times New Roman" pitchFamily="18" charset="0"/>
              </a:rPr>
              <a:t>30</a:t>
            </a:r>
            <a:r>
              <a:rPr lang="zh-CN" altLang="zh-CN" sz="2000" b="1">
                <a:latin typeface="Times New Roman" pitchFamily="18" charset="0"/>
              </a:rPr>
              <a:t>次</a:t>
            </a:r>
            <a:r>
              <a:rPr lang="zh-CN" altLang="en-US" sz="2000" b="1">
                <a:latin typeface="Times New Roman" pitchFamily="18" charset="0"/>
              </a:rPr>
              <a:t>。</a:t>
            </a:r>
            <a:endParaRPr lang="en-US" altLang="zh-CN" sz="2000" b="1">
              <a:solidFill>
                <a:schemeClr val="hlink"/>
              </a:solidFill>
              <a:latin typeface="Arial" pitchFamily="34" charset="0"/>
              <a:sym typeface="Wingdings" pitchFamily="2" charset="2"/>
            </a:endParaRPr>
          </a:p>
        </p:txBody>
      </p:sp>
      <p:graphicFrame>
        <p:nvGraphicFramePr>
          <p:cNvPr id="8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5870750"/>
              </p:ext>
            </p:extLst>
          </p:nvPr>
        </p:nvGraphicFramePr>
        <p:xfrm>
          <a:off x="6929438" y="2735734"/>
          <a:ext cx="414337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0" name="剪辑" r:id="rId6" imgW="1554370" imgH="2286549" progId="">
                  <p:embed/>
                </p:oleObj>
              </mc:Choice>
              <mc:Fallback>
                <p:oleObj name="剪辑" r:id="rId6" imgW="1554370" imgH="2286549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29438" y="2735734"/>
                        <a:ext cx="414337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Group 35"/>
          <p:cNvGrpSpPr>
            <a:grpSpLocks/>
          </p:cNvGrpSpPr>
          <p:nvPr/>
        </p:nvGrpSpPr>
        <p:grpSpPr bwMode="auto">
          <a:xfrm>
            <a:off x="7143750" y="4021609"/>
            <a:ext cx="457200" cy="409575"/>
            <a:chOff x="1680" y="3744"/>
            <a:chExt cx="288" cy="258"/>
          </a:xfrm>
        </p:grpSpPr>
        <p:sp>
          <p:nvSpPr>
            <p:cNvPr id="10" name="AutoShape 36"/>
            <p:cNvSpPr>
              <a:spLocks noChangeArrowheads="1"/>
            </p:cNvSpPr>
            <p:nvPr/>
          </p:nvSpPr>
          <p:spPr bwMode="auto">
            <a:xfrm>
              <a:off x="1731" y="3768"/>
              <a:ext cx="226" cy="234"/>
            </a:xfrm>
            <a:prstGeom prst="roundRect">
              <a:avLst>
                <a:gd name="adj" fmla="val 12102"/>
              </a:avLst>
            </a:prstGeom>
            <a:noFill/>
            <a:ln w="9525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Times New Roman" pitchFamily="18" charset="0"/>
              </a:endParaRPr>
            </a:p>
          </p:txBody>
        </p:sp>
        <p:grpSp>
          <p:nvGrpSpPr>
            <p:cNvPr id="11" name="Group 37"/>
            <p:cNvGrpSpPr>
              <a:grpSpLocks/>
            </p:cNvGrpSpPr>
            <p:nvPr/>
          </p:nvGrpSpPr>
          <p:grpSpPr bwMode="auto">
            <a:xfrm rot="16200000" flipH="1">
              <a:off x="1704" y="3720"/>
              <a:ext cx="240" cy="288"/>
              <a:chOff x="1728" y="3696"/>
              <a:chExt cx="288" cy="288"/>
            </a:xfrm>
          </p:grpSpPr>
          <p:sp>
            <p:nvSpPr>
              <p:cNvPr id="12" name="Line 38"/>
              <p:cNvSpPr>
                <a:spLocks noChangeShapeType="1"/>
              </p:cNvSpPr>
              <p:nvPr/>
            </p:nvSpPr>
            <p:spPr bwMode="auto">
              <a:xfrm>
                <a:off x="1728" y="3744"/>
                <a:ext cx="192" cy="240"/>
              </a:xfrm>
              <a:prstGeom prst="line">
                <a:avLst/>
              </a:prstGeom>
              <a:noFill/>
              <a:ln w="1016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" name="Line 39"/>
              <p:cNvSpPr>
                <a:spLocks noChangeShapeType="1"/>
              </p:cNvSpPr>
              <p:nvPr/>
            </p:nvSpPr>
            <p:spPr bwMode="auto">
              <a:xfrm flipH="1">
                <a:off x="1728" y="3696"/>
                <a:ext cx="288" cy="240"/>
              </a:xfrm>
              <a:prstGeom prst="line">
                <a:avLst/>
              </a:prstGeom>
              <a:noFill/>
              <a:ln w="1016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928688" y="3264371"/>
            <a:ext cx="635793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2000" b="1">
                <a:solidFill>
                  <a:schemeClr val="hlink"/>
                </a:solidFill>
                <a:latin typeface="Arial" pitchFamily="34" charset="0"/>
                <a:sym typeface="Wingdings" pitchFamily="2" charset="2"/>
              </a:rPr>
              <a:t> </a:t>
            </a:r>
            <a:r>
              <a:rPr lang="zh-CN" altLang="zh-CN" sz="2000" b="1">
                <a:latin typeface="Times New Roman" pitchFamily="18" charset="0"/>
              </a:rPr>
              <a:t>十亿</a:t>
            </a:r>
            <a:r>
              <a:rPr lang="zh-CN" altLang="en-US" sz="2000" b="1">
                <a:latin typeface="Times New Roman" pitchFamily="18" charset="0"/>
              </a:rPr>
              <a:t>（</a:t>
            </a:r>
            <a:r>
              <a:rPr lang="en-US" altLang="zh-CN" sz="2000" b="1">
                <a:solidFill>
                  <a:srgbClr val="3333FF"/>
                </a:solidFill>
                <a:latin typeface="Times New Roman" pitchFamily="18" charset="0"/>
              </a:rPr>
              <a:t>10</a:t>
            </a:r>
            <a:r>
              <a:rPr lang="en-US" altLang="zh-CN" sz="2000" b="1" baseline="30000">
                <a:solidFill>
                  <a:srgbClr val="3333FF"/>
                </a:solidFill>
                <a:latin typeface="Times New Roman" pitchFamily="18" charset="0"/>
              </a:rPr>
              <a:t>9</a:t>
            </a:r>
            <a:r>
              <a:rPr lang="zh-CN" altLang="en-US" sz="2000" b="1">
                <a:solidFill>
                  <a:srgbClr val="3333FF"/>
                </a:solidFill>
                <a:latin typeface="Times New Roman" pitchFamily="18" charset="0"/>
              </a:rPr>
              <a:t>  ≈ </a:t>
            </a:r>
            <a:r>
              <a:rPr lang="en-US" altLang="zh-CN" sz="2000" b="1">
                <a:solidFill>
                  <a:srgbClr val="3333FF"/>
                </a:solidFill>
                <a:latin typeface="Times New Roman" pitchFamily="18" charset="0"/>
              </a:rPr>
              <a:t>2</a:t>
            </a:r>
            <a:r>
              <a:rPr lang="en-US" altLang="zh-CN" sz="2000" b="1" baseline="30000">
                <a:solidFill>
                  <a:srgbClr val="3333FF"/>
                </a:solidFill>
                <a:latin typeface="Times New Roman" pitchFamily="18" charset="0"/>
              </a:rPr>
              <a:t>30</a:t>
            </a:r>
            <a:r>
              <a:rPr lang="zh-CN" altLang="en-US" sz="2000" b="1">
                <a:latin typeface="Times New Roman" pitchFamily="18" charset="0"/>
              </a:rPr>
              <a:t>） </a:t>
            </a:r>
            <a:r>
              <a:rPr lang="en-US" altLang="zh-CN" sz="2000" b="1">
                <a:latin typeface="Times New Roman" pitchFamily="18" charset="0"/>
              </a:rPr>
              <a:t>× 1K </a:t>
            </a:r>
            <a:r>
              <a:rPr lang="zh-CN" altLang="en-US" sz="2000" b="1">
                <a:solidFill>
                  <a:srgbClr val="3333FF"/>
                </a:solidFill>
                <a:latin typeface="Times New Roman" pitchFamily="18" charset="0"/>
              </a:rPr>
              <a:t>≈ </a:t>
            </a:r>
            <a:r>
              <a:rPr lang="en-US" altLang="zh-CN" sz="2000" b="1">
                <a:solidFill>
                  <a:srgbClr val="3333FF"/>
                </a:solidFill>
                <a:latin typeface="Times New Roman" pitchFamily="18" charset="0"/>
              </a:rPr>
              <a:t>1024G</a:t>
            </a:r>
            <a:r>
              <a:rPr lang="zh-CN" altLang="zh-CN" sz="2000" b="1">
                <a:latin typeface="Times New Roman" pitchFamily="18" charset="0"/>
              </a:rPr>
              <a:t>，</a:t>
            </a:r>
            <a:r>
              <a:rPr lang="en-US" altLang="zh-CN" sz="2000" b="1">
                <a:solidFill>
                  <a:srgbClr val="3333FF"/>
                </a:solidFill>
                <a:latin typeface="Times New Roman" pitchFamily="18" charset="0"/>
              </a:rPr>
              <a:t>1T</a:t>
            </a:r>
            <a:r>
              <a:rPr lang="zh-CN" altLang="en-US" sz="2000" b="1">
                <a:latin typeface="Times New Roman" pitchFamily="18" charset="0"/>
              </a:rPr>
              <a:t>连续空间。</a:t>
            </a:r>
            <a:endParaRPr lang="en-US" altLang="zh-CN" sz="2000" b="1">
              <a:solidFill>
                <a:schemeClr val="hlink"/>
              </a:solidFill>
              <a:latin typeface="Arial" pitchFamily="34" charset="0"/>
              <a:sym typeface="Wingdings" pitchFamily="2" charset="2"/>
            </a:endParaRPr>
          </a:p>
        </p:txBody>
      </p:sp>
      <p:graphicFrame>
        <p:nvGraphicFramePr>
          <p:cNvPr id="15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1480719"/>
              </p:ext>
            </p:extLst>
          </p:nvPr>
        </p:nvGraphicFramePr>
        <p:xfrm>
          <a:off x="7429500" y="2950046"/>
          <a:ext cx="414338" cy="68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1" name="剪辑" r:id="rId8" imgW="1554370" imgH="2286549" progId="">
                  <p:embed/>
                </p:oleObj>
              </mc:Choice>
              <mc:Fallback>
                <p:oleObj name="剪辑" r:id="rId8" imgW="1554370" imgH="2286549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29500" y="2950046"/>
                        <a:ext cx="414338" cy="682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矩形 15"/>
          <p:cNvSpPr>
            <a:spLocks noChangeArrowheads="1"/>
          </p:cNvSpPr>
          <p:nvPr/>
        </p:nvSpPr>
        <p:spPr bwMode="auto">
          <a:xfrm>
            <a:off x="928688" y="3764434"/>
            <a:ext cx="6357937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2000" b="1">
                <a:solidFill>
                  <a:schemeClr val="hlink"/>
                </a:solidFill>
                <a:latin typeface="Arial" pitchFamily="34" charset="0"/>
                <a:sym typeface="Wingdings" pitchFamily="2" charset="2"/>
              </a:rPr>
              <a:t> </a:t>
            </a:r>
            <a:r>
              <a:rPr lang="zh-CN" altLang="zh-CN" sz="2000" b="1">
                <a:latin typeface="Times New Roman" pitchFamily="18" charset="0"/>
              </a:rPr>
              <a:t>按有效</a:t>
            </a:r>
            <a:r>
              <a:rPr lang="en-US" altLang="zh-CN" sz="2000" b="1">
                <a:latin typeface="Times New Roman" pitchFamily="18" charset="0"/>
              </a:rPr>
              <a:t>QQ</a:t>
            </a:r>
            <a:r>
              <a:rPr lang="zh-CN" altLang="zh-CN" sz="2000" b="1">
                <a:latin typeface="Times New Roman" pitchFamily="18" charset="0"/>
              </a:rPr>
              <a:t>号大小</a:t>
            </a:r>
            <a:r>
              <a:rPr lang="zh-CN" altLang="en-US" sz="2000" b="1">
                <a:latin typeface="Times New Roman" pitchFamily="18" charset="0"/>
              </a:rPr>
              <a:t>有</a:t>
            </a:r>
            <a:r>
              <a:rPr lang="zh-CN" altLang="zh-CN" sz="2000" b="1">
                <a:latin typeface="Times New Roman" pitchFamily="18" charset="0"/>
              </a:rPr>
              <a:t>序存储</a:t>
            </a:r>
            <a:r>
              <a:rPr lang="zh-CN" altLang="en-US" sz="2000" b="1">
                <a:latin typeface="Times New Roman" pitchFamily="18" charset="0"/>
              </a:rPr>
              <a:t>：</a:t>
            </a:r>
            <a:r>
              <a:rPr lang="zh-CN" altLang="zh-CN" sz="2000" b="1">
                <a:latin typeface="Times New Roman" pitchFamily="18" charset="0"/>
              </a:rPr>
              <a:t>在连续存储空间中，</a:t>
            </a:r>
            <a:r>
              <a:rPr lang="zh-CN" altLang="zh-CN" sz="2000" b="1">
                <a:solidFill>
                  <a:srgbClr val="3333FF"/>
                </a:solidFill>
                <a:latin typeface="Times New Roman" pitchFamily="18" charset="0"/>
              </a:rPr>
              <a:t>插入和删除</a:t>
            </a:r>
            <a:r>
              <a:rPr lang="zh-CN" altLang="zh-CN" sz="2000" b="1">
                <a:latin typeface="Times New Roman" pitchFamily="18" charset="0"/>
              </a:rPr>
              <a:t>一个新</a:t>
            </a:r>
            <a:r>
              <a:rPr lang="en-US" altLang="zh-CN" sz="2000" b="1">
                <a:latin typeface="Times New Roman" pitchFamily="18" charset="0"/>
              </a:rPr>
              <a:t>QQ</a:t>
            </a:r>
            <a:r>
              <a:rPr lang="zh-CN" altLang="zh-CN" sz="2000" b="1">
                <a:latin typeface="Times New Roman" pitchFamily="18" charset="0"/>
              </a:rPr>
              <a:t>号码将需要</a:t>
            </a:r>
            <a:r>
              <a:rPr lang="zh-CN" altLang="zh-CN" sz="2000" b="1">
                <a:solidFill>
                  <a:srgbClr val="3333FF"/>
                </a:solidFill>
                <a:latin typeface="Times New Roman" pitchFamily="18" charset="0"/>
              </a:rPr>
              <a:t>移动大量数据</a:t>
            </a:r>
            <a:r>
              <a:rPr lang="zh-CN" altLang="en-US" sz="2000" b="1">
                <a:latin typeface="Times New Roman" pitchFamily="18" charset="0"/>
              </a:rPr>
              <a:t>。</a:t>
            </a:r>
            <a:endParaRPr lang="en-US" altLang="zh-CN" sz="2000" b="1">
              <a:solidFill>
                <a:schemeClr val="hlink"/>
              </a:solidFill>
              <a:latin typeface="Arial" pitchFamily="34" charset="0"/>
              <a:sym typeface="Wingdings" pitchFamily="2" charset="2"/>
            </a:endParaRPr>
          </a:p>
        </p:txBody>
      </p:sp>
      <p:sp>
        <p:nvSpPr>
          <p:cNvPr id="17" name="AutoShape 6"/>
          <p:cNvSpPr>
            <a:spLocks noChangeArrowheads="1"/>
          </p:cNvSpPr>
          <p:nvPr/>
        </p:nvSpPr>
        <p:spPr bwMode="auto">
          <a:xfrm>
            <a:off x="1714500" y="4950296"/>
            <a:ext cx="3000375" cy="1143000"/>
          </a:xfrm>
          <a:prstGeom prst="cloudCallout">
            <a:avLst>
              <a:gd name="adj1" fmla="val 74644"/>
              <a:gd name="adj2" fmla="val -91616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r>
              <a:rPr lang="zh-CN" altLang="zh-CN" sz="2000" b="1">
                <a:latin typeface="Times New Roman" pitchFamily="18" charset="0"/>
              </a:rPr>
              <a:t>用不了二分查找，</a:t>
            </a:r>
            <a:endParaRPr lang="en-US" altLang="zh-CN" sz="2000" b="1">
              <a:latin typeface="Times New Roman" pitchFamily="18" charset="0"/>
            </a:endParaRPr>
          </a:p>
          <a:p>
            <a:r>
              <a:rPr lang="zh-CN" altLang="zh-CN" sz="2000" b="1">
                <a:latin typeface="Times New Roman" pitchFamily="18" charset="0"/>
              </a:rPr>
              <a:t>我们该怎么办？</a:t>
            </a:r>
          </a:p>
        </p:txBody>
      </p:sp>
    </p:spTree>
    <p:extLst>
      <p:ext uri="{BB962C8B-B14F-4D97-AF65-F5344CB8AC3E}">
        <p14:creationId xmlns:p14="http://schemas.microsoft.com/office/powerpoint/2010/main" val="279767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GUNSHOT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14" grpId="0"/>
      <p:bldP spid="16" grpId="0"/>
      <p:bldP spid="1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引子</a:t>
            </a:r>
            <a:r>
              <a:rPr lang="en-US" altLang="zh-CN" dirty="0" smtClean="0"/>
              <a:t>2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矩形 7"/>
          <p:cNvSpPr>
            <a:spLocks noChangeArrowheads="1"/>
          </p:cNvSpPr>
          <p:nvPr/>
        </p:nvSpPr>
        <p:spPr bwMode="auto">
          <a:xfrm>
            <a:off x="571500" y="812800"/>
            <a:ext cx="7456488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2400" b="1" dirty="0" smtClean="0">
                <a:latin typeface="Times New Roman" pitchFamily="18" charset="0"/>
              </a:rPr>
              <a:t>查</a:t>
            </a:r>
            <a:r>
              <a:rPr lang="zh-CN" altLang="en-US" sz="2400" b="1" dirty="0">
                <a:latin typeface="Times New Roman" pitchFamily="18" charset="0"/>
              </a:rPr>
              <a:t>英文字典的过程</a:t>
            </a:r>
            <a:r>
              <a:rPr lang="en-US" altLang="zh-CN" sz="2400" b="1" dirty="0">
                <a:latin typeface="Times New Roman" pitchFamily="18" charset="0"/>
              </a:rPr>
              <a:t>——</a:t>
            </a:r>
            <a:r>
              <a:rPr lang="zh-CN" altLang="en-US" sz="2400" b="1" dirty="0">
                <a:latin typeface="Times New Roman" pitchFamily="18" charset="0"/>
              </a:rPr>
              <a:t>查询英文单词</a:t>
            </a:r>
            <a:r>
              <a:rPr lang="zh-CN" altLang="en-US" sz="2400" b="1" dirty="0">
                <a:solidFill>
                  <a:srgbClr val="3333FF"/>
                </a:solidFill>
                <a:latin typeface="Times New Roman" pitchFamily="18" charset="0"/>
              </a:rPr>
              <a:t>“</a:t>
            </a:r>
            <a:r>
              <a:rPr lang="en-US" altLang="zh-CN" sz="2400" b="1" dirty="0">
                <a:solidFill>
                  <a:srgbClr val="3333FF"/>
                </a:solidFill>
                <a:latin typeface="Times New Roman" pitchFamily="18" charset="0"/>
              </a:rPr>
              <a:t>zoo”</a:t>
            </a:r>
            <a:r>
              <a:rPr lang="zh-CN" altLang="en-US" sz="2400" b="1" dirty="0">
                <a:latin typeface="Times New Roman" pitchFamily="18" charset="0"/>
              </a:rPr>
              <a:t>，你为什么不用二分法，而直接从字典的后面找？</a:t>
            </a:r>
            <a:endParaRPr lang="en-US" altLang="zh-CN" sz="2400" b="1" dirty="0">
              <a:latin typeface="Times New Roman" pitchFamily="18" charset="0"/>
            </a:endParaRPr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571500" y="1981200"/>
            <a:ext cx="7215188" cy="1385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2400" b="1">
                <a:solidFill>
                  <a:schemeClr val="hlink"/>
                </a:solidFill>
                <a:latin typeface="Arial" pitchFamily="34" charset="0"/>
                <a:sym typeface="Wingdings" pitchFamily="2" charset="2"/>
              </a:rPr>
              <a:t> </a:t>
            </a:r>
            <a:r>
              <a:rPr lang="zh-CN" altLang="en-US" sz="2000" b="1">
                <a:latin typeface="Times New Roman" pitchFamily="18" charset="0"/>
              </a:rPr>
              <a:t>我们已经根据要查找的关键词“</a:t>
            </a:r>
            <a:r>
              <a:rPr lang="en-US" altLang="zh-CN" sz="2000" b="1">
                <a:solidFill>
                  <a:srgbClr val="3333FF"/>
                </a:solidFill>
                <a:latin typeface="Times New Roman" pitchFamily="18" charset="0"/>
              </a:rPr>
              <a:t>zoo</a:t>
            </a:r>
            <a:r>
              <a:rPr lang="en-US" altLang="zh-CN" sz="2000" b="1">
                <a:latin typeface="Times New Roman" pitchFamily="18" charset="0"/>
              </a:rPr>
              <a:t>”</a:t>
            </a:r>
            <a:r>
              <a:rPr lang="zh-CN" altLang="en-US" sz="2000" b="1">
                <a:latin typeface="Times New Roman" pitchFamily="18" charset="0"/>
              </a:rPr>
              <a:t>在脑子里经过了“</a:t>
            </a:r>
            <a:r>
              <a:rPr lang="zh-CN" altLang="en-US" sz="2000" b="1">
                <a:solidFill>
                  <a:srgbClr val="3333FF"/>
                </a:solidFill>
                <a:latin typeface="Times New Roman" pitchFamily="18" charset="0"/>
              </a:rPr>
              <a:t>计算</a:t>
            </a:r>
            <a:r>
              <a:rPr lang="zh-CN" altLang="en-US" sz="2000" b="1">
                <a:latin typeface="Times New Roman" pitchFamily="18" charset="0"/>
              </a:rPr>
              <a:t>”，得出该关键词所在的</a:t>
            </a:r>
            <a:r>
              <a:rPr lang="zh-CN" altLang="en-US" sz="2000" b="1">
                <a:solidFill>
                  <a:srgbClr val="3333FF"/>
                </a:solidFill>
                <a:latin typeface="Times New Roman" pitchFamily="18" charset="0"/>
              </a:rPr>
              <a:t>大致位置</a:t>
            </a:r>
            <a:r>
              <a:rPr lang="zh-CN" altLang="en-US" sz="2000" b="1">
                <a:latin typeface="Times New Roman" pitchFamily="18" charset="0"/>
              </a:rPr>
              <a:t>，这样就能</a:t>
            </a:r>
            <a:r>
              <a:rPr lang="zh-CN" altLang="en-US" sz="2000" b="1">
                <a:solidFill>
                  <a:srgbClr val="3333FF"/>
                </a:solidFill>
                <a:latin typeface="Times New Roman" pitchFamily="18" charset="0"/>
              </a:rPr>
              <a:t>更快地</a:t>
            </a:r>
            <a:r>
              <a:rPr lang="zh-CN" altLang="en-US" sz="2000" b="1">
                <a:latin typeface="Times New Roman" pitchFamily="18" charset="0"/>
              </a:rPr>
              <a:t>找到它。这个“计算”过程非常类似于本章将要介绍的散列查找中的</a:t>
            </a:r>
            <a:r>
              <a:rPr lang="zh-CN" altLang="en-US" sz="2000" b="1">
                <a:solidFill>
                  <a:srgbClr val="3333FF"/>
                </a:solidFill>
                <a:latin typeface="Times New Roman" pitchFamily="18" charset="0"/>
              </a:rPr>
              <a:t>“散列函数计算”</a:t>
            </a:r>
            <a:r>
              <a:rPr lang="zh-CN" altLang="en-US" sz="2000" b="1">
                <a:latin typeface="Times New Roman" pitchFamily="18" charset="0"/>
              </a:rPr>
              <a:t>。</a:t>
            </a:r>
            <a:endParaRPr lang="en-US" altLang="zh-CN" sz="2000" b="1">
              <a:latin typeface="Times New Roman" pitchFamily="18" charset="0"/>
            </a:endParaRPr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571500" y="3624263"/>
            <a:ext cx="74295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2000" b="1">
                <a:solidFill>
                  <a:schemeClr val="hlink"/>
                </a:solidFill>
                <a:latin typeface="Arial" pitchFamily="34" charset="0"/>
                <a:sym typeface="Wingdings" pitchFamily="2" charset="2"/>
              </a:rPr>
              <a:t></a:t>
            </a:r>
            <a:r>
              <a:rPr lang="zh-CN" altLang="en-US" sz="2000" b="1">
                <a:latin typeface="Times New Roman" pitchFamily="18" charset="0"/>
              </a:rPr>
              <a:t>查字典的过程结合了</a:t>
            </a:r>
            <a:r>
              <a:rPr lang="zh-CN" altLang="en-US" sz="2000" b="1">
                <a:solidFill>
                  <a:srgbClr val="3333FF"/>
                </a:solidFill>
                <a:latin typeface="Times New Roman" pitchFamily="18" charset="0"/>
              </a:rPr>
              <a:t>散列查找</a:t>
            </a:r>
            <a:r>
              <a:rPr lang="zh-CN" altLang="en-US" sz="2000" b="1">
                <a:latin typeface="Times New Roman" pitchFamily="18" charset="0"/>
              </a:rPr>
              <a:t>（用于初步定位）、</a:t>
            </a:r>
            <a:r>
              <a:rPr lang="zh-CN" altLang="en-US" sz="2000" b="1">
                <a:solidFill>
                  <a:srgbClr val="3333FF"/>
                </a:solidFill>
                <a:latin typeface="Times New Roman" pitchFamily="18" charset="0"/>
              </a:rPr>
              <a:t>二分查找</a:t>
            </a:r>
            <a:r>
              <a:rPr lang="zh-CN" altLang="en-US" sz="2000" b="1">
                <a:latin typeface="Times New Roman" pitchFamily="18" charset="0"/>
              </a:rPr>
              <a:t>（一般不是准确二分）和</a:t>
            </a:r>
            <a:r>
              <a:rPr lang="zh-CN" altLang="en-US" sz="2000" b="1">
                <a:solidFill>
                  <a:srgbClr val="3333FF"/>
                </a:solidFill>
                <a:latin typeface="Times New Roman" pitchFamily="18" charset="0"/>
              </a:rPr>
              <a:t>顺序查找</a:t>
            </a:r>
            <a:r>
              <a:rPr lang="zh-CN" altLang="en-US" sz="2000" b="1">
                <a:latin typeface="Times New Roman" pitchFamily="18" charset="0"/>
              </a:rPr>
              <a:t>（当很接近关键词的时候）等几种查找方法。</a:t>
            </a:r>
            <a:endParaRPr lang="en-US" altLang="zh-CN" sz="2000" b="1">
              <a:solidFill>
                <a:schemeClr val="hlink"/>
              </a:solidFill>
              <a:latin typeface="Arial" pitchFamily="34" charset="0"/>
              <a:sym typeface="Wingdings" pitchFamily="2" charset="2"/>
            </a:endParaRPr>
          </a:p>
        </p:txBody>
      </p:sp>
      <p:pic>
        <p:nvPicPr>
          <p:cNvPr id="7" name="Picture 4" descr="查字典-hash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1625" y="1909763"/>
            <a:ext cx="5353050" cy="401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85359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 bwMode="auto">
          <a:xfrm>
            <a:off x="0" y="2781300"/>
            <a:ext cx="9144000" cy="1800225"/>
          </a:xfrm>
          <a:prstGeom prst="rect">
            <a:avLst/>
          </a:prstGeom>
          <a:solidFill>
            <a:srgbClr val="EBEBEB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2706" name="Rectangle 4"/>
          <p:cNvSpPr>
            <a:spLocks noChangeArrowheads="1"/>
          </p:cNvSpPr>
          <p:nvPr/>
        </p:nvSpPr>
        <p:spPr bwMode="auto">
          <a:xfrm>
            <a:off x="827088" y="138113"/>
            <a:ext cx="6156325" cy="6858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哈希表的查找</a:t>
            </a:r>
          </a:p>
        </p:txBody>
      </p:sp>
      <p:sp>
        <p:nvSpPr>
          <p:cNvPr id="72709" name="Rectangle 7"/>
          <p:cNvSpPr>
            <a:spLocks noChangeArrowheads="1"/>
          </p:cNvSpPr>
          <p:nvPr/>
        </p:nvSpPr>
        <p:spPr bwMode="auto">
          <a:xfrm>
            <a:off x="179388" y="1484313"/>
            <a:ext cx="8820150" cy="1296988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基本思想：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记录的存储位置与关键字之间存在对应关系，</a:t>
            </a:r>
            <a:r>
              <a:rPr kumimoji="0" lang="en-US" altLang="zh-CN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Loc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(</a:t>
            </a:r>
            <a:r>
              <a:rPr kumimoji="0" lang="en-US" altLang="zh-CN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)=H(</a:t>
            </a:r>
            <a:r>
              <a:rPr kumimoji="0" lang="en-US" altLang="zh-CN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keyi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)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</a:t>
            </a:r>
          </a:p>
        </p:txBody>
      </p:sp>
      <p:sp>
        <p:nvSpPr>
          <p:cNvPr id="1083400" name="Rectangle 8"/>
          <p:cNvSpPr>
            <a:spLocks noChangeArrowheads="1"/>
          </p:cNvSpPr>
          <p:nvPr/>
        </p:nvSpPr>
        <p:spPr bwMode="auto">
          <a:xfrm>
            <a:off x="349250" y="4781550"/>
            <a:ext cx="8650288" cy="51911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marL="342900" indent="-3429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优点：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查找速度极快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O(1),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查找效率与元素个数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n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无关</a:t>
            </a:r>
          </a:p>
        </p:txBody>
      </p:sp>
      <p:grpSp>
        <p:nvGrpSpPr>
          <p:cNvPr id="2" name="Group 9"/>
          <p:cNvGrpSpPr/>
          <p:nvPr/>
        </p:nvGrpSpPr>
        <p:grpSpPr>
          <a:xfrm>
            <a:off x="5407025" y="2035175"/>
            <a:ext cx="2693988" cy="519113"/>
            <a:chOff x="3406" y="1282"/>
            <a:chExt cx="1697" cy="327"/>
          </a:xfrm>
        </p:grpSpPr>
        <p:sp>
          <p:nvSpPr>
            <p:cNvPr id="72712" name="AutoShape 10"/>
            <p:cNvSpPr>
              <a:spLocks noChangeArrowheads="1"/>
            </p:cNvSpPr>
            <p:nvPr/>
          </p:nvSpPr>
          <p:spPr bwMode="auto">
            <a:xfrm>
              <a:off x="3406" y="1416"/>
              <a:ext cx="544" cy="91"/>
            </a:xfrm>
            <a:prstGeom prst="rightArrow">
              <a:avLst>
                <a:gd name="adj1" fmla="val 50000"/>
                <a:gd name="adj2" fmla="val 149395"/>
              </a:avLst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72713" name="Text Box 11"/>
            <p:cNvSpPr txBox="1">
              <a:spLocks noChangeArrowheads="1"/>
            </p:cNvSpPr>
            <p:nvPr/>
          </p:nvSpPr>
          <p:spPr bwMode="auto">
            <a:xfrm>
              <a:off x="4059" y="1282"/>
              <a:ext cx="1044" cy="327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marL="342900" indent="-34290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342900" marR="0" lvl="0" indent="-34290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哈希函数</a:t>
              </a:r>
            </a:p>
          </p:txBody>
        </p:sp>
      </p:grpSp>
      <p:grpSp>
        <p:nvGrpSpPr>
          <p:cNvPr id="3" name="Group 12"/>
          <p:cNvGrpSpPr/>
          <p:nvPr/>
        </p:nvGrpSpPr>
        <p:grpSpPr bwMode="auto">
          <a:xfrm>
            <a:off x="2620664" y="3182907"/>
            <a:ext cx="3879850" cy="1009653"/>
            <a:chOff x="2111" y="3253"/>
            <a:chExt cx="2444" cy="636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72715" name="Oval 13"/>
            <p:cNvSpPr>
              <a:spLocks noChangeArrowheads="1"/>
            </p:cNvSpPr>
            <p:nvPr/>
          </p:nvSpPr>
          <p:spPr bwMode="auto">
            <a:xfrm>
              <a:off x="2111" y="3256"/>
              <a:ext cx="833" cy="633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关键字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集合</a:t>
              </a:r>
            </a:p>
          </p:txBody>
        </p:sp>
        <p:sp>
          <p:nvSpPr>
            <p:cNvPr id="72716" name="Oval 14"/>
            <p:cNvSpPr>
              <a:spLocks noChangeArrowheads="1"/>
            </p:cNvSpPr>
            <p:nvPr/>
          </p:nvSpPr>
          <p:spPr bwMode="auto">
            <a:xfrm>
              <a:off x="3722" y="3256"/>
              <a:ext cx="833" cy="633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存储地址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集合</a:t>
              </a:r>
            </a:p>
          </p:txBody>
        </p:sp>
        <p:sp>
          <p:nvSpPr>
            <p:cNvPr id="72717" name="AutoShape 15"/>
            <p:cNvSpPr>
              <a:spLocks noChangeArrowheads="1"/>
            </p:cNvSpPr>
            <p:nvPr/>
          </p:nvSpPr>
          <p:spPr bwMode="auto">
            <a:xfrm>
              <a:off x="2955" y="3511"/>
              <a:ext cx="733" cy="133"/>
            </a:xfrm>
            <a:prstGeom prst="rightArrow">
              <a:avLst>
                <a:gd name="adj1" fmla="val 50000"/>
                <a:gd name="adj2" fmla="val 137731"/>
              </a:avLst>
            </a:prstGeom>
            <a:grpFill/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72718" name="Text Box 16"/>
            <p:cNvSpPr txBox="1">
              <a:spLocks noChangeArrowheads="1"/>
            </p:cNvSpPr>
            <p:nvPr/>
          </p:nvSpPr>
          <p:spPr bwMode="auto">
            <a:xfrm>
              <a:off x="3076" y="3253"/>
              <a:ext cx="472" cy="29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hash</a:t>
              </a:r>
            </a:p>
          </p:txBody>
        </p:sp>
      </p:grpSp>
    </p:spTree>
  </p:cSld>
  <p:clrMapOvr>
    <a:masterClrMapping/>
  </p:clrMapOvr>
  <p:transition>
    <p:sndAc>
      <p:stSnd>
        <p:snd r:embed="rId2" name="clic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834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834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083400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957" name="Rectangle 5"/>
          <p:cNvSpPr>
            <a:spLocks noChangeArrowheads="1"/>
          </p:cNvSpPr>
          <p:nvPr/>
        </p:nvSpPr>
        <p:spPr bwMode="auto">
          <a:xfrm>
            <a:off x="777875" y="4881563"/>
            <a:ext cx="8077200" cy="6302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查找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20010118102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16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的信息，可直接访问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V[16]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33CC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！</a:t>
            </a:r>
          </a:p>
        </p:txBody>
      </p:sp>
      <p:sp>
        <p:nvSpPr>
          <p:cNvPr id="74756" name="Rectangle 6"/>
          <p:cNvSpPr>
            <a:spLocks noChangeArrowheads="1"/>
          </p:cNvSpPr>
          <p:nvPr/>
        </p:nvSpPr>
        <p:spPr bwMode="auto">
          <a:xfrm>
            <a:off x="827088" y="214313"/>
            <a:ext cx="2371725" cy="51593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例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1</a:t>
            </a:r>
          </a:p>
        </p:txBody>
      </p:sp>
      <p:sp>
        <p:nvSpPr>
          <p:cNvPr id="6" name="椭圆 5"/>
          <p:cNvSpPr>
            <a:spLocks noChangeArrowheads="1"/>
          </p:cNvSpPr>
          <p:nvPr/>
        </p:nvSpPr>
        <p:spPr bwMode="auto">
          <a:xfrm>
            <a:off x="990600" y="4079875"/>
            <a:ext cx="95250" cy="155575"/>
          </a:xfrm>
          <a:prstGeom prst="ellipse">
            <a:avLst/>
          </a:prstGeom>
          <a:solidFill>
            <a:srgbClr val="A5A5E9"/>
          </a:solidFill>
          <a:ln>
            <a:noFill/>
          </a:ln>
        </p:spPr>
        <p:txBody>
          <a:bodyPr anchor="ctr"/>
          <a:lstStyle>
            <a:lvl1pPr>
              <a:lnSpc>
                <a:spcPct val="130000"/>
              </a:lnSpc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" name="椭圆 6"/>
          <p:cNvSpPr>
            <a:spLocks noChangeArrowheads="1"/>
          </p:cNvSpPr>
          <p:nvPr/>
        </p:nvSpPr>
        <p:spPr bwMode="auto">
          <a:xfrm>
            <a:off x="320675" y="4089400"/>
            <a:ext cx="95250" cy="155575"/>
          </a:xfrm>
          <a:prstGeom prst="ellipse">
            <a:avLst/>
          </a:prstGeom>
          <a:solidFill>
            <a:srgbClr val="595959"/>
          </a:solidFill>
          <a:ln>
            <a:noFill/>
          </a:ln>
        </p:spPr>
        <p:txBody>
          <a:bodyPr anchor="ctr"/>
          <a:lstStyle>
            <a:lvl1pPr>
              <a:lnSpc>
                <a:spcPct val="130000"/>
              </a:lnSpc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8" name="椭圆 11"/>
          <p:cNvSpPr>
            <a:spLocks noChangeArrowheads="1"/>
          </p:cNvSpPr>
          <p:nvPr/>
        </p:nvSpPr>
        <p:spPr bwMode="auto">
          <a:xfrm>
            <a:off x="315913" y="1722438"/>
            <a:ext cx="96838" cy="155575"/>
          </a:xfrm>
          <a:prstGeom prst="ellipse">
            <a:avLst/>
          </a:prstGeom>
          <a:solidFill>
            <a:srgbClr val="595959"/>
          </a:solidFill>
          <a:ln>
            <a:noFill/>
          </a:ln>
        </p:spPr>
        <p:txBody>
          <a:bodyPr anchor="ctr"/>
          <a:lstStyle>
            <a:lvl1pPr>
              <a:lnSpc>
                <a:spcPct val="130000"/>
              </a:lnSpc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14288" y="1833563"/>
            <a:ext cx="9140825" cy="233997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lIns="4248000" rIns="252000" anchor="ctr"/>
          <a:lstStyle/>
          <a:p>
            <a:pPr marL="0" marR="0" lvl="0" indent="0" algn="just" defTabSz="914400" rtl="0" eaLnBrk="1" fontAlgn="base" latinLnBrk="0" hangingPunct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0" name="圆角矩形 15"/>
          <p:cNvSpPr>
            <a:spLocks noChangeArrowheads="1"/>
          </p:cNvSpPr>
          <p:nvPr/>
        </p:nvSpPr>
        <p:spPr bwMode="auto">
          <a:xfrm>
            <a:off x="346075" y="1719263"/>
            <a:ext cx="492125" cy="2525713"/>
          </a:xfrm>
          <a:custGeom>
            <a:avLst/>
            <a:gdLst>
              <a:gd name="T0" fmla="*/ 11872 w 738285"/>
              <a:gd name="T1" fmla="*/ 19557 h 4248500"/>
              <a:gd name="T2" fmla="*/ 1644 w 738285"/>
              <a:gd name="T3" fmla="*/ 1 h 4248500"/>
              <a:gd name="T4" fmla="*/ 82944 w 738285"/>
              <a:gd name="T5" fmla="*/ 1 h 4248500"/>
              <a:gd name="T6" fmla="*/ 97159 w 738285"/>
              <a:gd name="T7" fmla="*/ 14458 h 4248500"/>
              <a:gd name="T8" fmla="*/ 97159 w 738285"/>
              <a:gd name="T9" fmla="*/ 554146 h 4248500"/>
              <a:gd name="T10" fmla="*/ 82944 w 738285"/>
              <a:gd name="T11" fmla="*/ 568602 h 4248500"/>
              <a:gd name="T12" fmla="*/ 4777 w 738285"/>
              <a:gd name="T13" fmla="*/ 568602 h 4248500"/>
              <a:gd name="T14" fmla="*/ 11872 w 738285"/>
              <a:gd name="T15" fmla="*/ 554146 h 4248500"/>
              <a:gd name="T16" fmla="*/ 11872 w 738285"/>
              <a:gd name="T17" fmla="*/ 19557 h 4248500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738285"/>
              <a:gd name="T28" fmla="*/ 0 h 4248500"/>
              <a:gd name="T29" fmla="*/ 738285 w 738285"/>
              <a:gd name="T30" fmla="*/ 4248500 h 4248500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738285" h="4248500">
                <a:moveTo>
                  <a:pt x="90213" y="146124"/>
                </a:moveTo>
                <a:cubicBezTo>
                  <a:pt x="128313" y="-4018"/>
                  <a:pt x="-47164" y="10"/>
                  <a:pt x="12490" y="10"/>
                </a:cubicBezTo>
                <a:lnTo>
                  <a:pt x="630271" y="10"/>
                </a:lnTo>
                <a:cubicBezTo>
                  <a:pt x="689925" y="10"/>
                  <a:pt x="738285" y="48370"/>
                  <a:pt x="738285" y="108024"/>
                </a:cubicBezTo>
                <a:lnTo>
                  <a:pt x="738285" y="4140468"/>
                </a:lnTo>
                <a:cubicBezTo>
                  <a:pt x="738285" y="4200122"/>
                  <a:pt x="689925" y="4248482"/>
                  <a:pt x="630271" y="4248482"/>
                </a:cubicBezTo>
                <a:lnTo>
                  <a:pt x="36302" y="4248482"/>
                </a:lnTo>
                <a:cubicBezTo>
                  <a:pt x="-23352" y="4248482"/>
                  <a:pt x="94976" y="4252509"/>
                  <a:pt x="90213" y="4140468"/>
                </a:cubicBezTo>
                <a:lnTo>
                  <a:pt x="90213" y="146124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vert="eaVert" lIns="72000" tIns="0" rIns="0" bIns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1" name="椭圆 10"/>
          <p:cNvSpPr>
            <a:spLocks noChangeArrowheads="1"/>
          </p:cNvSpPr>
          <p:nvPr/>
        </p:nvSpPr>
        <p:spPr bwMode="auto">
          <a:xfrm>
            <a:off x="985838" y="1712913"/>
            <a:ext cx="96838" cy="155575"/>
          </a:xfrm>
          <a:prstGeom prst="ellipse">
            <a:avLst/>
          </a:prstGeom>
          <a:solidFill>
            <a:srgbClr val="A5A5E9"/>
          </a:solidFill>
          <a:ln>
            <a:noFill/>
          </a:ln>
        </p:spPr>
        <p:txBody>
          <a:bodyPr anchor="ctr"/>
          <a:lstStyle>
            <a:lvl1pPr>
              <a:lnSpc>
                <a:spcPct val="130000"/>
              </a:lnSpc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2" name="圆角矩形 15"/>
          <p:cNvSpPr>
            <a:spLocks noChangeArrowheads="1"/>
          </p:cNvSpPr>
          <p:nvPr/>
        </p:nvSpPr>
        <p:spPr bwMode="auto">
          <a:xfrm>
            <a:off x="1016000" y="1709738"/>
            <a:ext cx="492125" cy="2525713"/>
          </a:xfrm>
          <a:custGeom>
            <a:avLst/>
            <a:gdLst>
              <a:gd name="T0" fmla="*/ 11872 w 738285"/>
              <a:gd name="T1" fmla="*/ 19557 h 4248500"/>
              <a:gd name="T2" fmla="*/ 1644 w 738285"/>
              <a:gd name="T3" fmla="*/ 1 h 4248500"/>
              <a:gd name="T4" fmla="*/ 82944 w 738285"/>
              <a:gd name="T5" fmla="*/ 1 h 4248500"/>
              <a:gd name="T6" fmla="*/ 97159 w 738285"/>
              <a:gd name="T7" fmla="*/ 14458 h 4248500"/>
              <a:gd name="T8" fmla="*/ 97159 w 738285"/>
              <a:gd name="T9" fmla="*/ 554146 h 4248500"/>
              <a:gd name="T10" fmla="*/ 82944 w 738285"/>
              <a:gd name="T11" fmla="*/ 568602 h 4248500"/>
              <a:gd name="T12" fmla="*/ 4777 w 738285"/>
              <a:gd name="T13" fmla="*/ 568602 h 4248500"/>
              <a:gd name="T14" fmla="*/ 11872 w 738285"/>
              <a:gd name="T15" fmla="*/ 554146 h 4248500"/>
              <a:gd name="T16" fmla="*/ 11872 w 738285"/>
              <a:gd name="T17" fmla="*/ 19557 h 4248500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738285"/>
              <a:gd name="T28" fmla="*/ 0 h 4248500"/>
              <a:gd name="T29" fmla="*/ 738285 w 738285"/>
              <a:gd name="T30" fmla="*/ 4248500 h 4248500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738285" h="4248500">
                <a:moveTo>
                  <a:pt x="90213" y="146124"/>
                </a:moveTo>
                <a:cubicBezTo>
                  <a:pt x="128313" y="-4018"/>
                  <a:pt x="-47164" y="10"/>
                  <a:pt x="12490" y="10"/>
                </a:cubicBezTo>
                <a:lnTo>
                  <a:pt x="630271" y="10"/>
                </a:lnTo>
                <a:cubicBezTo>
                  <a:pt x="689925" y="10"/>
                  <a:pt x="738285" y="48370"/>
                  <a:pt x="738285" y="108024"/>
                </a:cubicBezTo>
                <a:lnTo>
                  <a:pt x="738285" y="4140468"/>
                </a:lnTo>
                <a:cubicBezTo>
                  <a:pt x="738285" y="4200122"/>
                  <a:pt x="689925" y="4248482"/>
                  <a:pt x="630271" y="4248482"/>
                </a:cubicBezTo>
                <a:lnTo>
                  <a:pt x="36302" y="4248482"/>
                </a:lnTo>
                <a:cubicBezTo>
                  <a:pt x="-23352" y="4248482"/>
                  <a:pt x="94976" y="4252509"/>
                  <a:pt x="90213" y="4140468"/>
                </a:cubicBezTo>
                <a:lnTo>
                  <a:pt x="90213" y="146124"/>
                </a:lnTo>
                <a:close/>
              </a:path>
            </a:pathLst>
          </a:custGeom>
          <a:solidFill>
            <a:srgbClr val="A5A5E9"/>
          </a:solidFill>
          <a:ln>
            <a:noFill/>
          </a:ln>
        </p:spPr>
        <p:txBody>
          <a:bodyPr vert="eaVert" lIns="72000" tIns="0" rIns="0" bIns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021956" name="Rectangle 4"/>
          <p:cNvSpPr>
            <a:spLocks noChangeArrowheads="1"/>
          </p:cNvSpPr>
          <p:nvPr/>
        </p:nvSpPr>
        <p:spPr bwMode="auto">
          <a:xfrm>
            <a:off x="1798638" y="1930400"/>
            <a:ext cx="7056438" cy="20923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571500" indent="-5715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9pPr>
          </a:lstStyle>
          <a:p>
            <a:pPr marL="571500" marR="0" lvl="0" indent="-5715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若将学生信息按如下方式存入计算机，如：</a:t>
            </a:r>
          </a:p>
          <a:p>
            <a:pPr marL="571500" marR="0" lvl="0" indent="-5715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将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20010118102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FF33CC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01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的所有信息存入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V[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01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]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单元；</a:t>
            </a:r>
          </a:p>
          <a:p>
            <a:pPr marL="571500" marR="0" lvl="0" indent="-5715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将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20010118102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FF33CC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02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的所有信息存入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V[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02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]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单元；</a:t>
            </a:r>
          </a:p>
          <a:p>
            <a:pPr marL="571500" marR="0" lvl="0" indent="-5715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……</a:t>
            </a:r>
          </a:p>
          <a:p>
            <a:pPr marL="571500" marR="0" lvl="0" indent="-5715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将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20010118102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FF33CC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31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的所有信息存入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V[31]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单元。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9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0219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9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10219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9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10219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9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10219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9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10219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021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1957" grpId="0"/>
      <p:bldP spid="1021956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37"/>
          <p:cNvSpPr>
            <a:spLocks noChangeArrowheads="1"/>
          </p:cNvSpPr>
          <p:nvPr/>
        </p:nvSpPr>
        <p:spPr bwMode="auto">
          <a:xfrm>
            <a:off x="728663" y="1844675"/>
            <a:ext cx="7848600" cy="1046163"/>
          </a:xfrm>
          <a:prstGeom prst="rect">
            <a:avLst/>
          </a:prstGeom>
          <a:solidFill>
            <a:srgbClr val="EBEBEB"/>
          </a:solidFill>
          <a:ln w="38100">
            <a:noFill/>
            <a:miter lim="800000"/>
          </a:ln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9pPr>
          </a:lstStyle>
          <a:p>
            <a:pPr marL="0" marR="0" lvl="0" indent="0" algn="just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数据元素序列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(14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，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23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，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39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，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9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，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25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，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11)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，若规定每个元素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k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的存储地址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H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（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k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）＝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k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，请画出存储结构图。</a:t>
            </a:r>
          </a:p>
        </p:txBody>
      </p:sp>
      <p:grpSp>
        <p:nvGrpSpPr>
          <p:cNvPr id="115714" name="组合 2"/>
          <p:cNvGrpSpPr/>
          <p:nvPr/>
        </p:nvGrpSpPr>
        <p:grpSpPr>
          <a:xfrm>
            <a:off x="728663" y="3584575"/>
            <a:ext cx="7848600" cy="939800"/>
            <a:chOff x="706438" y="3112542"/>
            <a:chExt cx="7848600" cy="939800"/>
          </a:xfrm>
        </p:grpSpPr>
        <p:sp>
          <p:nvSpPr>
            <p:cNvPr id="75781" name="Rectangle 41"/>
            <p:cNvSpPr>
              <a:spLocks noChangeArrowheads="1"/>
            </p:cNvSpPr>
            <p:nvPr/>
          </p:nvSpPr>
          <p:spPr bwMode="auto">
            <a:xfrm>
              <a:off x="4613275" y="3569742"/>
              <a:ext cx="512763" cy="482600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txBody>
            <a:bodyPr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75782" name="Rectangle 42"/>
            <p:cNvSpPr>
              <a:spLocks noChangeArrowheads="1"/>
            </p:cNvSpPr>
            <p:nvPr/>
          </p:nvSpPr>
          <p:spPr bwMode="auto">
            <a:xfrm>
              <a:off x="4613275" y="3112542"/>
              <a:ext cx="512763" cy="457200"/>
            </a:xfrm>
            <a:prstGeom prst="rect">
              <a:avLst/>
            </a:prstGeom>
            <a:noFill/>
            <a:ln>
              <a:noFill/>
            </a:ln>
          </p:spPr>
          <p:txBody>
            <a:bodyPr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…</a:t>
              </a:r>
            </a:p>
          </p:txBody>
        </p:sp>
        <p:sp>
          <p:nvSpPr>
            <p:cNvPr id="75783" name="Rectangle 43"/>
            <p:cNvSpPr>
              <a:spLocks noChangeArrowheads="1"/>
            </p:cNvSpPr>
            <p:nvPr/>
          </p:nvSpPr>
          <p:spPr bwMode="auto">
            <a:xfrm>
              <a:off x="4100513" y="3569742"/>
              <a:ext cx="512762" cy="482600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txBody>
            <a:bodyPr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75784" name="Rectangle 44"/>
            <p:cNvSpPr>
              <a:spLocks noChangeArrowheads="1"/>
            </p:cNvSpPr>
            <p:nvPr/>
          </p:nvSpPr>
          <p:spPr bwMode="auto">
            <a:xfrm>
              <a:off x="4100513" y="3112542"/>
              <a:ext cx="512762" cy="457200"/>
            </a:xfrm>
            <a:prstGeom prst="rect">
              <a:avLst/>
            </a:prstGeom>
            <a:noFill/>
            <a:ln>
              <a:noFill/>
            </a:ln>
          </p:spPr>
          <p:txBody>
            <a:bodyPr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14</a:t>
              </a:r>
            </a:p>
          </p:txBody>
        </p:sp>
        <p:sp>
          <p:nvSpPr>
            <p:cNvPr id="75785" name="Rectangle 45"/>
            <p:cNvSpPr>
              <a:spLocks noChangeArrowheads="1"/>
            </p:cNvSpPr>
            <p:nvPr/>
          </p:nvSpPr>
          <p:spPr bwMode="auto">
            <a:xfrm>
              <a:off x="3589338" y="3569742"/>
              <a:ext cx="511175" cy="482600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txBody>
            <a:bodyPr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75786" name="Rectangle 46"/>
            <p:cNvSpPr>
              <a:spLocks noChangeArrowheads="1"/>
            </p:cNvSpPr>
            <p:nvPr/>
          </p:nvSpPr>
          <p:spPr bwMode="auto">
            <a:xfrm>
              <a:off x="3589338" y="3112542"/>
              <a:ext cx="511175" cy="457200"/>
            </a:xfrm>
            <a:prstGeom prst="rect">
              <a:avLst/>
            </a:prstGeom>
            <a:noFill/>
            <a:ln>
              <a:noFill/>
            </a:ln>
          </p:spPr>
          <p:txBody>
            <a:bodyPr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…</a:t>
              </a:r>
            </a:p>
          </p:txBody>
        </p:sp>
        <p:sp>
          <p:nvSpPr>
            <p:cNvPr id="75787" name="Rectangle 47"/>
            <p:cNvSpPr>
              <a:spLocks noChangeArrowheads="1"/>
            </p:cNvSpPr>
            <p:nvPr/>
          </p:nvSpPr>
          <p:spPr bwMode="auto">
            <a:xfrm>
              <a:off x="3076575" y="3569742"/>
              <a:ext cx="512763" cy="482600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txBody>
            <a:bodyPr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75788" name="Rectangle 48"/>
            <p:cNvSpPr>
              <a:spLocks noChangeArrowheads="1"/>
            </p:cNvSpPr>
            <p:nvPr/>
          </p:nvSpPr>
          <p:spPr bwMode="auto">
            <a:xfrm>
              <a:off x="3076575" y="3112542"/>
              <a:ext cx="512763" cy="457200"/>
            </a:xfrm>
            <a:prstGeom prst="rect">
              <a:avLst/>
            </a:prstGeom>
            <a:noFill/>
            <a:ln>
              <a:noFill/>
            </a:ln>
          </p:spPr>
          <p:txBody>
            <a:bodyPr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11</a:t>
              </a:r>
            </a:p>
          </p:txBody>
        </p:sp>
        <p:sp>
          <p:nvSpPr>
            <p:cNvPr id="75789" name="Rectangle 49"/>
            <p:cNvSpPr>
              <a:spLocks noChangeArrowheads="1"/>
            </p:cNvSpPr>
            <p:nvPr/>
          </p:nvSpPr>
          <p:spPr bwMode="auto">
            <a:xfrm>
              <a:off x="2563813" y="3569742"/>
              <a:ext cx="512762" cy="482600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txBody>
            <a:bodyPr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75790" name="Rectangle 50"/>
            <p:cNvSpPr>
              <a:spLocks noChangeArrowheads="1"/>
            </p:cNvSpPr>
            <p:nvPr/>
          </p:nvSpPr>
          <p:spPr bwMode="auto">
            <a:xfrm>
              <a:off x="2563813" y="3112542"/>
              <a:ext cx="512762" cy="457200"/>
            </a:xfrm>
            <a:prstGeom prst="rect">
              <a:avLst/>
            </a:prstGeom>
            <a:noFill/>
            <a:ln>
              <a:noFill/>
            </a:ln>
          </p:spPr>
          <p:txBody>
            <a:bodyPr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…</a:t>
              </a:r>
            </a:p>
          </p:txBody>
        </p:sp>
        <p:sp>
          <p:nvSpPr>
            <p:cNvPr id="75791" name="Rectangle 51"/>
            <p:cNvSpPr>
              <a:spLocks noChangeArrowheads="1"/>
            </p:cNvSpPr>
            <p:nvPr/>
          </p:nvSpPr>
          <p:spPr bwMode="auto">
            <a:xfrm>
              <a:off x="2052638" y="3569742"/>
              <a:ext cx="511175" cy="482600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txBody>
            <a:bodyPr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75792" name="Rectangle 52"/>
            <p:cNvSpPr>
              <a:spLocks noChangeArrowheads="1"/>
            </p:cNvSpPr>
            <p:nvPr/>
          </p:nvSpPr>
          <p:spPr bwMode="auto">
            <a:xfrm>
              <a:off x="2052638" y="3112542"/>
              <a:ext cx="511175" cy="457200"/>
            </a:xfrm>
            <a:prstGeom prst="rect">
              <a:avLst/>
            </a:prstGeom>
            <a:noFill/>
            <a:ln>
              <a:noFill/>
            </a:ln>
          </p:spPr>
          <p:txBody>
            <a:bodyPr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9</a:t>
              </a:r>
            </a:p>
          </p:txBody>
        </p:sp>
        <p:sp>
          <p:nvSpPr>
            <p:cNvPr id="75793" name="Rectangle 53"/>
            <p:cNvSpPr>
              <a:spLocks noChangeArrowheads="1"/>
            </p:cNvSpPr>
            <p:nvPr/>
          </p:nvSpPr>
          <p:spPr bwMode="auto">
            <a:xfrm>
              <a:off x="1539875" y="3569742"/>
              <a:ext cx="512763" cy="482600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txBody>
            <a:bodyPr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75794" name="Rectangle 54"/>
            <p:cNvSpPr>
              <a:spLocks noChangeArrowheads="1"/>
            </p:cNvSpPr>
            <p:nvPr/>
          </p:nvSpPr>
          <p:spPr bwMode="auto">
            <a:xfrm>
              <a:off x="1539875" y="3112542"/>
              <a:ext cx="512763" cy="457200"/>
            </a:xfrm>
            <a:prstGeom prst="rect">
              <a:avLst/>
            </a:prstGeom>
            <a:noFill/>
            <a:ln>
              <a:noFill/>
            </a:ln>
          </p:spPr>
          <p:txBody>
            <a:bodyPr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…</a:t>
              </a:r>
            </a:p>
          </p:txBody>
        </p:sp>
        <p:sp>
          <p:nvSpPr>
            <p:cNvPr id="75795" name="Rectangle 55"/>
            <p:cNvSpPr>
              <a:spLocks noChangeArrowheads="1"/>
            </p:cNvSpPr>
            <p:nvPr/>
          </p:nvSpPr>
          <p:spPr bwMode="auto">
            <a:xfrm>
              <a:off x="706438" y="3569742"/>
              <a:ext cx="833437" cy="482600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txBody>
            <a:bodyPr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内容</a:t>
              </a:r>
            </a:p>
          </p:txBody>
        </p:sp>
        <p:sp>
          <p:nvSpPr>
            <p:cNvPr id="75796" name="Rectangle 56"/>
            <p:cNvSpPr>
              <a:spLocks noChangeArrowheads="1"/>
            </p:cNvSpPr>
            <p:nvPr/>
          </p:nvSpPr>
          <p:spPr bwMode="auto">
            <a:xfrm>
              <a:off x="706438" y="3112542"/>
              <a:ext cx="833437" cy="457200"/>
            </a:xfrm>
            <a:prstGeom prst="rect">
              <a:avLst/>
            </a:prstGeom>
            <a:noFill/>
            <a:ln>
              <a:noFill/>
            </a:ln>
          </p:spPr>
          <p:txBody>
            <a:bodyPr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地址</a:t>
              </a:r>
            </a:p>
          </p:txBody>
        </p:sp>
        <p:sp>
          <p:nvSpPr>
            <p:cNvPr id="75797" name="Rectangle 57"/>
            <p:cNvSpPr>
              <a:spLocks noChangeArrowheads="1"/>
            </p:cNvSpPr>
            <p:nvPr/>
          </p:nvSpPr>
          <p:spPr bwMode="auto">
            <a:xfrm>
              <a:off x="7881938" y="3569742"/>
              <a:ext cx="673100" cy="482600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txBody>
            <a:bodyPr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75798" name="Rectangle 58"/>
            <p:cNvSpPr>
              <a:spLocks noChangeArrowheads="1"/>
            </p:cNvSpPr>
            <p:nvPr/>
          </p:nvSpPr>
          <p:spPr bwMode="auto">
            <a:xfrm>
              <a:off x="7359650" y="3569742"/>
              <a:ext cx="522288" cy="482600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txBody>
            <a:bodyPr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75799" name="Rectangle 59"/>
            <p:cNvSpPr>
              <a:spLocks noChangeArrowheads="1"/>
            </p:cNvSpPr>
            <p:nvPr/>
          </p:nvSpPr>
          <p:spPr bwMode="auto">
            <a:xfrm>
              <a:off x="6686550" y="3569742"/>
              <a:ext cx="673100" cy="482600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txBody>
            <a:bodyPr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75800" name="Rectangle 60"/>
            <p:cNvSpPr>
              <a:spLocks noChangeArrowheads="1"/>
            </p:cNvSpPr>
            <p:nvPr/>
          </p:nvSpPr>
          <p:spPr bwMode="auto">
            <a:xfrm>
              <a:off x="6162675" y="3569742"/>
              <a:ext cx="523875" cy="482600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txBody>
            <a:bodyPr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75801" name="Rectangle 61"/>
            <p:cNvSpPr>
              <a:spLocks noChangeArrowheads="1"/>
            </p:cNvSpPr>
            <p:nvPr/>
          </p:nvSpPr>
          <p:spPr bwMode="auto">
            <a:xfrm>
              <a:off x="5638800" y="3569742"/>
              <a:ext cx="523875" cy="482600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txBody>
            <a:bodyPr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75802" name="Rectangle 62"/>
            <p:cNvSpPr>
              <a:spLocks noChangeArrowheads="1"/>
            </p:cNvSpPr>
            <p:nvPr/>
          </p:nvSpPr>
          <p:spPr bwMode="auto">
            <a:xfrm>
              <a:off x="5126038" y="3569742"/>
              <a:ext cx="512762" cy="482600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txBody>
            <a:bodyPr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75803" name="Rectangle 63"/>
            <p:cNvSpPr>
              <a:spLocks noChangeArrowheads="1"/>
            </p:cNvSpPr>
            <p:nvPr/>
          </p:nvSpPr>
          <p:spPr bwMode="auto">
            <a:xfrm>
              <a:off x="7881938" y="3112542"/>
              <a:ext cx="673100" cy="457200"/>
            </a:xfrm>
            <a:prstGeom prst="rect">
              <a:avLst/>
            </a:prstGeom>
            <a:noFill/>
            <a:ln>
              <a:noFill/>
            </a:ln>
          </p:spPr>
          <p:txBody>
            <a:bodyPr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…</a:t>
              </a:r>
            </a:p>
          </p:txBody>
        </p:sp>
        <p:sp>
          <p:nvSpPr>
            <p:cNvPr id="75804" name="Rectangle 64"/>
            <p:cNvSpPr>
              <a:spLocks noChangeArrowheads="1"/>
            </p:cNvSpPr>
            <p:nvPr/>
          </p:nvSpPr>
          <p:spPr bwMode="auto">
            <a:xfrm>
              <a:off x="7359650" y="3112542"/>
              <a:ext cx="522288" cy="457200"/>
            </a:xfrm>
            <a:prstGeom prst="rect">
              <a:avLst/>
            </a:prstGeom>
            <a:noFill/>
            <a:ln>
              <a:noFill/>
            </a:ln>
          </p:spPr>
          <p:txBody>
            <a:bodyPr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39</a:t>
              </a:r>
            </a:p>
          </p:txBody>
        </p:sp>
        <p:sp>
          <p:nvSpPr>
            <p:cNvPr id="75805" name="Rectangle 65"/>
            <p:cNvSpPr>
              <a:spLocks noChangeArrowheads="1"/>
            </p:cNvSpPr>
            <p:nvPr/>
          </p:nvSpPr>
          <p:spPr bwMode="auto">
            <a:xfrm>
              <a:off x="6686550" y="3112542"/>
              <a:ext cx="673100" cy="457200"/>
            </a:xfrm>
            <a:prstGeom prst="rect">
              <a:avLst/>
            </a:prstGeom>
            <a:noFill/>
            <a:ln>
              <a:noFill/>
            </a:ln>
          </p:spPr>
          <p:txBody>
            <a:bodyPr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…</a:t>
              </a:r>
            </a:p>
          </p:txBody>
        </p:sp>
        <p:sp>
          <p:nvSpPr>
            <p:cNvPr id="75806" name="Rectangle 66"/>
            <p:cNvSpPr>
              <a:spLocks noChangeArrowheads="1"/>
            </p:cNvSpPr>
            <p:nvPr/>
          </p:nvSpPr>
          <p:spPr bwMode="auto">
            <a:xfrm>
              <a:off x="6162675" y="3112542"/>
              <a:ext cx="523875" cy="457200"/>
            </a:xfrm>
            <a:prstGeom prst="rect">
              <a:avLst/>
            </a:prstGeom>
            <a:noFill/>
            <a:ln>
              <a:noFill/>
            </a:ln>
          </p:spPr>
          <p:txBody>
            <a:bodyPr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25</a:t>
              </a:r>
            </a:p>
          </p:txBody>
        </p:sp>
        <p:sp>
          <p:nvSpPr>
            <p:cNvPr id="75807" name="Rectangle 67"/>
            <p:cNvSpPr>
              <a:spLocks noChangeArrowheads="1"/>
            </p:cNvSpPr>
            <p:nvPr/>
          </p:nvSpPr>
          <p:spPr bwMode="auto">
            <a:xfrm>
              <a:off x="5638800" y="3112542"/>
              <a:ext cx="523875" cy="457200"/>
            </a:xfrm>
            <a:prstGeom prst="rect">
              <a:avLst/>
            </a:prstGeom>
            <a:noFill/>
            <a:ln>
              <a:noFill/>
            </a:ln>
          </p:spPr>
          <p:txBody>
            <a:bodyPr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24</a:t>
              </a:r>
            </a:p>
          </p:txBody>
        </p:sp>
        <p:sp>
          <p:nvSpPr>
            <p:cNvPr id="75808" name="Rectangle 68"/>
            <p:cNvSpPr>
              <a:spLocks noChangeArrowheads="1"/>
            </p:cNvSpPr>
            <p:nvPr/>
          </p:nvSpPr>
          <p:spPr bwMode="auto">
            <a:xfrm>
              <a:off x="5126038" y="3112542"/>
              <a:ext cx="512762" cy="457200"/>
            </a:xfrm>
            <a:prstGeom prst="rect">
              <a:avLst/>
            </a:prstGeom>
            <a:noFill/>
            <a:ln>
              <a:noFill/>
            </a:ln>
          </p:spPr>
          <p:txBody>
            <a:bodyPr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23</a:t>
              </a:r>
            </a:p>
          </p:txBody>
        </p:sp>
        <p:sp>
          <p:nvSpPr>
            <p:cNvPr id="75809" name="Line 69"/>
            <p:cNvSpPr>
              <a:spLocks noChangeShapeType="1"/>
            </p:cNvSpPr>
            <p:nvPr/>
          </p:nvSpPr>
          <p:spPr bwMode="auto">
            <a:xfrm>
              <a:off x="706438" y="4052342"/>
              <a:ext cx="7848600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75810" name="Line 70"/>
            <p:cNvSpPr>
              <a:spLocks noChangeShapeType="1"/>
            </p:cNvSpPr>
            <p:nvPr/>
          </p:nvSpPr>
          <p:spPr bwMode="auto">
            <a:xfrm>
              <a:off x="706438" y="3112542"/>
              <a:ext cx="0" cy="457200"/>
            </a:xfrm>
            <a:prstGeom prst="line">
              <a:avLst/>
            </a:prstGeom>
            <a:noFill/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75811" name="Line 71"/>
            <p:cNvSpPr>
              <a:spLocks noChangeShapeType="1"/>
            </p:cNvSpPr>
            <p:nvPr/>
          </p:nvSpPr>
          <p:spPr bwMode="auto">
            <a:xfrm>
              <a:off x="8555038" y="3112542"/>
              <a:ext cx="0" cy="457200"/>
            </a:xfrm>
            <a:prstGeom prst="line">
              <a:avLst/>
            </a:prstGeom>
            <a:noFill/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75812" name="Line 72"/>
            <p:cNvSpPr>
              <a:spLocks noChangeShapeType="1"/>
            </p:cNvSpPr>
            <p:nvPr/>
          </p:nvSpPr>
          <p:spPr bwMode="auto">
            <a:xfrm>
              <a:off x="6686550" y="3112542"/>
              <a:ext cx="673100" cy="0"/>
            </a:xfrm>
            <a:prstGeom prst="line">
              <a:avLst/>
            </a:prstGeom>
            <a:noFill/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75813" name="Line 73"/>
            <p:cNvSpPr>
              <a:spLocks noChangeShapeType="1"/>
            </p:cNvSpPr>
            <p:nvPr/>
          </p:nvSpPr>
          <p:spPr bwMode="auto">
            <a:xfrm>
              <a:off x="706438" y="3112542"/>
              <a:ext cx="833437" cy="0"/>
            </a:xfrm>
            <a:prstGeom prst="line">
              <a:avLst/>
            </a:prstGeom>
            <a:noFill/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75814" name="Line 74"/>
            <p:cNvSpPr>
              <a:spLocks noChangeShapeType="1"/>
            </p:cNvSpPr>
            <p:nvPr/>
          </p:nvSpPr>
          <p:spPr bwMode="auto">
            <a:xfrm>
              <a:off x="7359650" y="3112542"/>
              <a:ext cx="522288" cy="0"/>
            </a:xfrm>
            <a:prstGeom prst="line">
              <a:avLst/>
            </a:prstGeom>
            <a:noFill/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75815" name="Line 75"/>
            <p:cNvSpPr>
              <a:spLocks noChangeShapeType="1"/>
            </p:cNvSpPr>
            <p:nvPr/>
          </p:nvSpPr>
          <p:spPr bwMode="auto">
            <a:xfrm>
              <a:off x="1539875" y="3112542"/>
              <a:ext cx="512763" cy="0"/>
            </a:xfrm>
            <a:prstGeom prst="line">
              <a:avLst/>
            </a:prstGeom>
            <a:noFill/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75816" name="Line 76"/>
            <p:cNvSpPr>
              <a:spLocks noChangeShapeType="1"/>
            </p:cNvSpPr>
            <p:nvPr/>
          </p:nvSpPr>
          <p:spPr bwMode="auto">
            <a:xfrm>
              <a:off x="706438" y="3569742"/>
              <a:ext cx="0" cy="48260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75817" name="Line 77"/>
            <p:cNvSpPr>
              <a:spLocks noChangeShapeType="1"/>
            </p:cNvSpPr>
            <p:nvPr/>
          </p:nvSpPr>
          <p:spPr bwMode="auto">
            <a:xfrm>
              <a:off x="2052638" y="3112542"/>
              <a:ext cx="511175" cy="0"/>
            </a:xfrm>
            <a:prstGeom prst="line">
              <a:avLst/>
            </a:prstGeom>
            <a:noFill/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75818" name="Line 78"/>
            <p:cNvSpPr>
              <a:spLocks noChangeShapeType="1"/>
            </p:cNvSpPr>
            <p:nvPr/>
          </p:nvSpPr>
          <p:spPr bwMode="auto">
            <a:xfrm>
              <a:off x="1539875" y="3569742"/>
              <a:ext cx="0" cy="482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75819" name="Line 79"/>
            <p:cNvSpPr>
              <a:spLocks noChangeShapeType="1"/>
            </p:cNvSpPr>
            <p:nvPr/>
          </p:nvSpPr>
          <p:spPr bwMode="auto">
            <a:xfrm>
              <a:off x="2563813" y="3112542"/>
              <a:ext cx="512762" cy="0"/>
            </a:xfrm>
            <a:prstGeom prst="line">
              <a:avLst/>
            </a:prstGeom>
            <a:noFill/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75820" name="Line 80"/>
            <p:cNvSpPr>
              <a:spLocks noChangeShapeType="1"/>
            </p:cNvSpPr>
            <p:nvPr/>
          </p:nvSpPr>
          <p:spPr bwMode="auto">
            <a:xfrm>
              <a:off x="2052638" y="3569742"/>
              <a:ext cx="0" cy="482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75821" name="Line 81"/>
            <p:cNvSpPr>
              <a:spLocks noChangeShapeType="1"/>
            </p:cNvSpPr>
            <p:nvPr/>
          </p:nvSpPr>
          <p:spPr bwMode="auto">
            <a:xfrm>
              <a:off x="3076575" y="3112542"/>
              <a:ext cx="512763" cy="0"/>
            </a:xfrm>
            <a:prstGeom prst="line">
              <a:avLst/>
            </a:prstGeom>
            <a:noFill/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75822" name="Line 82"/>
            <p:cNvSpPr>
              <a:spLocks noChangeShapeType="1"/>
            </p:cNvSpPr>
            <p:nvPr/>
          </p:nvSpPr>
          <p:spPr bwMode="auto">
            <a:xfrm>
              <a:off x="2563813" y="3569742"/>
              <a:ext cx="0" cy="482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75823" name="Line 83"/>
            <p:cNvSpPr>
              <a:spLocks noChangeShapeType="1"/>
            </p:cNvSpPr>
            <p:nvPr/>
          </p:nvSpPr>
          <p:spPr bwMode="auto">
            <a:xfrm>
              <a:off x="3589338" y="3112542"/>
              <a:ext cx="511175" cy="0"/>
            </a:xfrm>
            <a:prstGeom prst="line">
              <a:avLst/>
            </a:prstGeom>
            <a:noFill/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75824" name="Line 84"/>
            <p:cNvSpPr>
              <a:spLocks noChangeShapeType="1"/>
            </p:cNvSpPr>
            <p:nvPr/>
          </p:nvSpPr>
          <p:spPr bwMode="auto">
            <a:xfrm>
              <a:off x="3076575" y="3569742"/>
              <a:ext cx="0" cy="482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75825" name="Line 85"/>
            <p:cNvSpPr>
              <a:spLocks noChangeShapeType="1"/>
            </p:cNvSpPr>
            <p:nvPr/>
          </p:nvSpPr>
          <p:spPr bwMode="auto">
            <a:xfrm>
              <a:off x="4100513" y="3112542"/>
              <a:ext cx="512762" cy="0"/>
            </a:xfrm>
            <a:prstGeom prst="line">
              <a:avLst/>
            </a:prstGeom>
            <a:noFill/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75826" name="Line 86"/>
            <p:cNvSpPr>
              <a:spLocks noChangeShapeType="1"/>
            </p:cNvSpPr>
            <p:nvPr/>
          </p:nvSpPr>
          <p:spPr bwMode="auto">
            <a:xfrm>
              <a:off x="3589338" y="3569742"/>
              <a:ext cx="0" cy="482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75827" name="Line 87"/>
            <p:cNvSpPr>
              <a:spLocks noChangeShapeType="1"/>
            </p:cNvSpPr>
            <p:nvPr/>
          </p:nvSpPr>
          <p:spPr bwMode="auto">
            <a:xfrm>
              <a:off x="4613275" y="3112542"/>
              <a:ext cx="512763" cy="0"/>
            </a:xfrm>
            <a:prstGeom prst="line">
              <a:avLst/>
            </a:prstGeom>
            <a:noFill/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75828" name="Line 88"/>
            <p:cNvSpPr>
              <a:spLocks noChangeShapeType="1"/>
            </p:cNvSpPr>
            <p:nvPr/>
          </p:nvSpPr>
          <p:spPr bwMode="auto">
            <a:xfrm>
              <a:off x="4100513" y="3569742"/>
              <a:ext cx="0" cy="482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75829" name="Line 89"/>
            <p:cNvSpPr>
              <a:spLocks noChangeShapeType="1"/>
            </p:cNvSpPr>
            <p:nvPr/>
          </p:nvSpPr>
          <p:spPr bwMode="auto">
            <a:xfrm>
              <a:off x="5126038" y="3112542"/>
              <a:ext cx="512762" cy="0"/>
            </a:xfrm>
            <a:prstGeom prst="line">
              <a:avLst/>
            </a:prstGeom>
            <a:noFill/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75830" name="Line 90"/>
            <p:cNvSpPr>
              <a:spLocks noChangeShapeType="1"/>
            </p:cNvSpPr>
            <p:nvPr/>
          </p:nvSpPr>
          <p:spPr bwMode="auto">
            <a:xfrm>
              <a:off x="4613275" y="3569742"/>
              <a:ext cx="0" cy="482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75831" name="Line 91"/>
            <p:cNvSpPr>
              <a:spLocks noChangeShapeType="1"/>
            </p:cNvSpPr>
            <p:nvPr/>
          </p:nvSpPr>
          <p:spPr bwMode="auto">
            <a:xfrm>
              <a:off x="5638800" y="3112542"/>
              <a:ext cx="523875" cy="0"/>
            </a:xfrm>
            <a:prstGeom prst="line">
              <a:avLst/>
            </a:prstGeom>
            <a:noFill/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75832" name="Line 92"/>
            <p:cNvSpPr>
              <a:spLocks noChangeShapeType="1"/>
            </p:cNvSpPr>
            <p:nvPr/>
          </p:nvSpPr>
          <p:spPr bwMode="auto">
            <a:xfrm>
              <a:off x="5126038" y="3569742"/>
              <a:ext cx="0" cy="482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75833" name="Line 93"/>
            <p:cNvSpPr>
              <a:spLocks noChangeShapeType="1"/>
            </p:cNvSpPr>
            <p:nvPr/>
          </p:nvSpPr>
          <p:spPr bwMode="auto">
            <a:xfrm>
              <a:off x="6162675" y="3112542"/>
              <a:ext cx="523875" cy="0"/>
            </a:xfrm>
            <a:prstGeom prst="line">
              <a:avLst/>
            </a:prstGeom>
            <a:noFill/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75834" name="Line 94"/>
            <p:cNvSpPr>
              <a:spLocks noChangeShapeType="1"/>
            </p:cNvSpPr>
            <p:nvPr/>
          </p:nvSpPr>
          <p:spPr bwMode="auto">
            <a:xfrm>
              <a:off x="5638800" y="3569742"/>
              <a:ext cx="0" cy="482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75835" name="Line 95"/>
            <p:cNvSpPr>
              <a:spLocks noChangeShapeType="1"/>
            </p:cNvSpPr>
            <p:nvPr/>
          </p:nvSpPr>
          <p:spPr bwMode="auto">
            <a:xfrm>
              <a:off x="6162675" y="3569742"/>
              <a:ext cx="0" cy="482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75836" name="Line 96"/>
            <p:cNvSpPr>
              <a:spLocks noChangeShapeType="1"/>
            </p:cNvSpPr>
            <p:nvPr/>
          </p:nvSpPr>
          <p:spPr bwMode="auto">
            <a:xfrm>
              <a:off x="6686550" y="3569742"/>
              <a:ext cx="0" cy="482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75837" name="Line 97"/>
            <p:cNvSpPr>
              <a:spLocks noChangeShapeType="1"/>
            </p:cNvSpPr>
            <p:nvPr/>
          </p:nvSpPr>
          <p:spPr bwMode="auto">
            <a:xfrm>
              <a:off x="7881938" y="3112542"/>
              <a:ext cx="673100" cy="0"/>
            </a:xfrm>
            <a:prstGeom prst="line">
              <a:avLst/>
            </a:prstGeom>
            <a:noFill/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75838" name="Line 98"/>
            <p:cNvSpPr>
              <a:spLocks noChangeShapeType="1"/>
            </p:cNvSpPr>
            <p:nvPr/>
          </p:nvSpPr>
          <p:spPr bwMode="auto">
            <a:xfrm>
              <a:off x="7359650" y="3569742"/>
              <a:ext cx="0" cy="482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75839" name="Line 99"/>
            <p:cNvSpPr>
              <a:spLocks noChangeShapeType="1"/>
            </p:cNvSpPr>
            <p:nvPr/>
          </p:nvSpPr>
          <p:spPr bwMode="auto">
            <a:xfrm>
              <a:off x="7881938" y="3569742"/>
              <a:ext cx="0" cy="482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75840" name="Line 100"/>
            <p:cNvSpPr>
              <a:spLocks noChangeShapeType="1"/>
            </p:cNvSpPr>
            <p:nvPr/>
          </p:nvSpPr>
          <p:spPr bwMode="auto">
            <a:xfrm>
              <a:off x="8555038" y="3569742"/>
              <a:ext cx="0" cy="48260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75841" name="Line 101"/>
            <p:cNvSpPr>
              <a:spLocks noChangeShapeType="1"/>
            </p:cNvSpPr>
            <p:nvPr/>
          </p:nvSpPr>
          <p:spPr bwMode="auto">
            <a:xfrm>
              <a:off x="706438" y="3569742"/>
              <a:ext cx="78486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75842" name="Rectangle 102"/>
            <p:cNvSpPr>
              <a:spLocks noChangeArrowheads="1"/>
            </p:cNvSpPr>
            <p:nvPr/>
          </p:nvSpPr>
          <p:spPr bwMode="auto">
            <a:xfrm>
              <a:off x="4100513" y="3445917"/>
              <a:ext cx="492125" cy="552450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4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14</a:t>
              </a:r>
            </a:p>
          </p:txBody>
        </p:sp>
        <p:sp>
          <p:nvSpPr>
            <p:cNvPr id="75843" name="Rectangle 103"/>
            <p:cNvSpPr>
              <a:spLocks noChangeArrowheads="1"/>
            </p:cNvSpPr>
            <p:nvPr/>
          </p:nvSpPr>
          <p:spPr bwMode="auto">
            <a:xfrm>
              <a:off x="3076575" y="3445917"/>
              <a:ext cx="481013" cy="552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4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11</a:t>
              </a:r>
            </a:p>
          </p:txBody>
        </p:sp>
        <p:sp>
          <p:nvSpPr>
            <p:cNvPr id="75844" name="Rectangle 104"/>
            <p:cNvSpPr>
              <a:spLocks noChangeArrowheads="1"/>
            </p:cNvSpPr>
            <p:nvPr/>
          </p:nvSpPr>
          <p:spPr bwMode="auto">
            <a:xfrm>
              <a:off x="2090738" y="3445917"/>
              <a:ext cx="338137" cy="552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4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9</a:t>
              </a:r>
            </a:p>
          </p:txBody>
        </p:sp>
        <p:sp>
          <p:nvSpPr>
            <p:cNvPr id="75845" name="Rectangle 105"/>
            <p:cNvSpPr>
              <a:spLocks noChangeArrowheads="1"/>
            </p:cNvSpPr>
            <p:nvPr/>
          </p:nvSpPr>
          <p:spPr bwMode="auto">
            <a:xfrm>
              <a:off x="5176838" y="3445917"/>
              <a:ext cx="492125" cy="552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4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23</a:t>
              </a:r>
            </a:p>
          </p:txBody>
        </p:sp>
        <p:sp>
          <p:nvSpPr>
            <p:cNvPr id="75846" name="Rectangle 106"/>
            <p:cNvSpPr>
              <a:spLocks noChangeArrowheads="1"/>
            </p:cNvSpPr>
            <p:nvPr/>
          </p:nvSpPr>
          <p:spPr bwMode="auto">
            <a:xfrm>
              <a:off x="6162675" y="3445917"/>
              <a:ext cx="492125" cy="552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4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25</a:t>
              </a:r>
            </a:p>
          </p:txBody>
        </p:sp>
        <p:sp>
          <p:nvSpPr>
            <p:cNvPr id="75847" name="Rectangle 107"/>
            <p:cNvSpPr>
              <a:spLocks noChangeArrowheads="1"/>
            </p:cNvSpPr>
            <p:nvPr/>
          </p:nvSpPr>
          <p:spPr bwMode="auto">
            <a:xfrm>
              <a:off x="7353300" y="3445917"/>
              <a:ext cx="492125" cy="552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4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39</a:t>
              </a:r>
            </a:p>
          </p:txBody>
        </p:sp>
      </p:grpSp>
      <p:sp>
        <p:nvSpPr>
          <p:cNvPr id="75848" name="Rectangle 111"/>
          <p:cNvSpPr>
            <a:spLocks noChangeArrowheads="1"/>
          </p:cNvSpPr>
          <p:nvPr/>
        </p:nvSpPr>
        <p:spPr bwMode="auto">
          <a:xfrm>
            <a:off x="866775" y="242888"/>
            <a:ext cx="2371725" cy="51593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例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2</a:t>
            </a:r>
          </a:p>
        </p:txBody>
      </p:sp>
      <p:sp>
        <p:nvSpPr>
          <p:cNvPr id="75" name="Shape 26"/>
          <p:cNvSpPr/>
          <p:nvPr/>
        </p:nvSpPr>
        <p:spPr>
          <a:xfrm flipH="1">
            <a:off x="0" y="5607050"/>
            <a:ext cx="9140825" cy="12509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120000"/>
                </a:moveTo>
                <a:lnTo>
                  <a:pt x="0" y="102222"/>
                </a:lnTo>
                <a:lnTo>
                  <a:pt x="583" y="102222"/>
                </a:lnTo>
                <a:lnTo>
                  <a:pt x="583" y="89777"/>
                </a:lnTo>
                <a:lnTo>
                  <a:pt x="4166" y="89777"/>
                </a:lnTo>
                <a:lnTo>
                  <a:pt x="4166" y="79111"/>
                </a:lnTo>
                <a:lnTo>
                  <a:pt x="6416" y="79111"/>
                </a:lnTo>
                <a:lnTo>
                  <a:pt x="6416" y="91111"/>
                </a:lnTo>
                <a:lnTo>
                  <a:pt x="7625" y="91111"/>
                </a:lnTo>
                <a:lnTo>
                  <a:pt x="7625" y="79111"/>
                </a:lnTo>
                <a:lnTo>
                  <a:pt x="8958" y="79111"/>
                </a:lnTo>
                <a:lnTo>
                  <a:pt x="8958" y="45333"/>
                </a:lnTo>
                <a:lnTo>
                  <a:pt x="9541" y="45333"/>
                </a:lnTo>
                <a:lnTo>
                  <a:pt x="9541" y="39111"/>
                </a:lnTo>
                <a:lnTo>
                  <a:pt x="10958" y="39111"/>
                </a:lnTo>
                <a:lnTo>
                  <a:pt x="10958" y="45333"/>
                </a:lnTo>
                <a:lnTo>
                  <a:pt x="11583" y="45333"/>
                </a:lnTo>
                <a:lnTo>
                  <a:pt x="11583" y="76000"/>
                </a:lnTo>
                <a:lnTo>
                  <a:pt x="12083" y="76000"/>
                </a:lnTo>
                <a:lnTo>
                  <a:pt x="12083" y="95555"/>
                </a:lnTo>
                <a:lnTo>
                  <a:pt x="13250" y="95555"/>
                </a:lnTo>
                <a:lnTo>
                  <a:pt x="13250" y="60000"/>
                </a:lnTo>
                <a:lnTo>
                  <a:pt x="14041" y="60000"/>
                </a:lnTo>
                <a:lnTo>
                  <a:pt x="14041" y="45333"/>
                </a:lnTo>
                <a:lnTo>
                  <a:pt x="14583" y="45333"/>
                </a:lnTo>
                <a:lnTo>
                  <a:pt x="14583" y="27555"/>
                </a:lnTo>
                <a:lnTo>
                  <a:pt x="14958" y="27555"/>
                </a:lnTo>
                <a:lnTo>
                  <a:pt x="14958" y="14222"/>
                </a:lnTo>
                <a:lnTo>
                  <a:pt x="15333" y="14222"/>
                </a:lnTo>
                <a:lnTo>
                  <a:pt x="15333" y="0"/>
                </a:lnTo>
                <a:lnTo>
                  <a:pt x="15958" y="0"/>
                </a:lnTo>
                <a:lnTo>
                  <a:pt x="15958" y="13777"/>
                </a:lnTo>
                <a:lnTo>
                  <a:pt x="16416" y="13777"/>
                </a:lnTo>
                <a:lnTo>
                  <a:pt x="16416" y="24888"/>
                </a:lnTo>
                <a:lnTo>
                  <a:pt x="16791" y="24888"/>
                </a:lnTo>
                <a:lnTo>
                  <a:pt x="16791" y="46222"/>
                </a:lnTo>
                <a:lnTo>
                  <a:pt x="17333" y="46222"/>
                </a:lnTo>
                <a:lnTo>
                  <a:pt x="17333" y="61333"/>
                </a:lnTo>
                <a:lnTo>
                  <a:pt x="17916" y="61333"/>
                </a:lnTo>
                <a:lnTo>
                  <a:pt x="17916" y="101333"/>
                </a:lnTo>
                <a:lnTo>
                  <a:pt x="18875" y="101333"/>
                </a:lnTo>
                <a:lnTo>
                  <a:pt x="18875" y="92000"/>
                </a:lnTo>
                <a:lnTo>
                  <a:pt x="20958" y="92000"/>
                </a:lnTo>
                <a:lnTo>
                  <a:pt x="20958" y="96444"/>
                </a:lnTo>
                <a:lnTo>
                  <a:pt x="21750" y="96444"/>
                </a:lnTo>
                <a:lnTo>
                  <a:pt x="21750" y="54666"/>
                </a:lnTo>
                <a:lnTo>
                  <a:pt x="22333" y="54666"/>
                </a:lnTo>
                <a:lnTo>
                  <a:pt x="22333" y="42666"/>
                </a:lnTo>
                <a:lnTo>
                  <a:pt x="24166" y="42666"/>
                </a:lnTo>
                <a:lnTo>
                  <a:pt x="24166" y="53777"/>
                </a:lnTo>
                <a:lnTo>
                  <a:pt x="24583" y="56888"/>
                </a:lnTo>
                <a:lnTo>
                  <a:pt x="24583" y="85777"/>
                </a:lnTo>
                <a:lnTo>
                  <a:pt x="25291" y="85777"/>
                </a:lnTo>
                <a:lnTo>
                  <a:pt x="25291" y="79555"/>
                </a:lnTo>
                <a:lnTo>
                  <a:pt x="27125" y="79555"/>
                </a:lnTo>
                <a:lnTo>
                  <a:pt x="27125" y="86222"/>
                </a:lnTo>
                <a:lnTo>
                  <a:pt x="28208" y="86222"/>
                </a:lnTo>
                <a:lnTo>
                  <a:pt x="28208" y="92000"/>
                </a:lnTo>
                <a:lnTo>
                  <a:pt x="29416" y="92000"/>
                </a:lnTo>
                <a:lnTo>
                  <a:pt x="29416" y="83555"/>
                </a:lnTo>
                <a:lnTo>
                  <a:pt x="30250" y="83555"/>
                </a:lnTo>
                <a:lnTo>
                  <a:pt x="30250" y="65777"/>
                </a:lnTo>
                <a:lnTo>
                  <a:pt x="35041" y="65777"/>
                </a:lnTo>
                <a:lnTo>
                  <a:pt x="35041" y="83555"/>
                </a:lnTo>
                <a:lnTo>
                  <a:pt x="35875" y="83555"/>
                </a:lnTo>
                <a:lnTo>
                  <a:pt x="35875" y="65777"/>
                </a:lnTo>
                <a:lnTo>
                  <a:pt x="39916" y="65777"/>
                </a:lnTo>
                <a:lnTo>
                  <a:pt x="39916" y="72888"/>
                </a:lnTo>
                <a:lnTo>
                  <a:pt x="41041" y="72888"/>
                </a:lnTo>
                <a:lnTo>
                  <a:pt x="41041" y="99555"/>
                </a:lnTo>
                <a:lnTo>
                  <a:pt x="42583" y="99555"/>
                </a:lnTo>
                <a:lnTo>
                  <a:pt x="42583" y="76888"/>
                </a:lnTo>
                <a:lnTo>
                  <a:pt x="45250" y="56000"/>
                </a:lnTo>
                <a:lnTo>
                  <a:pt x="47875" y="76888"/>
                </a:lnTo>
                <a:lnTo>
                  <a:pt x="47875" y="88888"/>
                </a:lnTo>
                <a:lnTo>
                  <a:pt x="48666" y="88888"/>
                </a:lnTo>
                <a:lnTo>
                  <a:pt x="48666" y="104000"/>
                </a:lnTo>
                <a:lnTo>
                  <a:pt x="49208" y="104000"/>
                </a:lnTo>
                <a:lnTo>
                  <a:pt x="49208" y="73333"/>
                </a:lnTo>
                <a:lnTo>
                  <a:pt x="51500" y="73333"/>
                </a:lnTo>
                <a:lnTo>
                  <a:pt x="51500" y="85777"/>
                </a:lnTo>
                <a:lnTo>
                  <a:pt x="53708" y="85777"/>
                </a:lnTo>
                <a:lnTo>
                  <a:pt x="53708" y="94666"/>
                </a:lnTo>
                <a:lnTo>
                  <a:pt x="54500" y="94666"/>
                </a:lnTo>
                <a:lnTo>
                  <a:pt x="54500" y="85777"/>
                </a:lnTo>
                <a:lnTo>
                  <a:pt x="57125" y="85777"/>
                </a:lnTo>
                <a:lnTo>
                  <a:pt x="57125" y="102222"/>
                </a:lnTo>
                <a:lnTo>
                  <a:pt x="57625" y="102222"/>
                </a:lnTo>
                <a:lnTo>
                  <a:pt x="57625" y="104888"/>
                </a:lnTo>
                <a:lnTo>
                  <a:pt x="58875" y="104888"/>
                </a:lnTo>
                <a:lnTo>
                  <a:pt x="58875" y="94222"/>
                </a:lnTo>
                <a:lnTo>
                  <a:pt x="61666" y="94222"/>
                </a:lnTo>
                <a:lnTo>
                  <a:pt x="61666" y="89777"/>
                </a:lnTo>
                <a:lnTo>
                  <a:pt x="62250" y="89777"/>
                </a:lnTo>
                <a:lnTo>
                  <a:pt x="62250" y="84000"/>
                </a:lnTo>
                <a:lnTo>
                  <a:pt x="62833" y="84000"/>
                </a:lnTo>
                <a:lnTo>
                  <a:pt x="62833" y="88888"/>
                </a:lnTo>
                <a:lnTo>
                  <a:pt x="63500" y="88888"/>
                </a:lnTo>
                <a:lnTo>
                  <a:pt x="63500" y="83111"/>
                </a:lnTo>
                <a:lnTo>
                  <a:pt x="64999" y="83111"/>
                </a:lnTo>
                <a:lnTo>
                  <a:pt x="64999" y="88444"/>
                </a:lnTo>
                <a:lnTo>
                  <a:pt x="65666" y="88444"/>
                </a:lnTo>
                <a:lnTo>
                  <a:pt x="65666" y="103111"/>
                </a:lnTo>
                <a:lnTo>
                  <a:pt x="66916" y="103111"/>
                </a:lnTo>
                <a:lnTo>
                  <a:pt x="66916" y="82666"/>
                </a:lnTo>
                <a:lnTo>
                  <a:pt x="69375" y="82666"/>
                </a:lnTo>
                <a:lnTo>
                  <a:pt x="69375" y="88888"/>
                </a:lnTo>
                <a:lnTo>
                  <a:pt x="70416" y="88888"/>
                </a:lnTo>
                <a:lnTo>
                  <a:pt x="70416" y="46222"/>
                </a:lnTo>
                <a:lnTo>
                  <a:pt x="71500" y="35111"/>
                </a:lnTo>
                <a:lnTo>
                  <a:pt x="72458" y="45777"/>
                </a:lnTo>
                <a:lnTo>
                  <a:pt x="72458" y="103111"/>
                </a:lnTo>
                <a:lnTo>
                  <a:pt x="73583" y="103111"/>
                </a:lnTo>
                <a:lnTo>
                  <a:pt x="73583" y="47555"/>
                </a:lnTo>
                <a:lnTo>
                  <a:pt x="76916" y="47555"/>
                </a:lnTo>
                <a:lnTo>
                  <a:pt x="76916" y="97777"/>
                </a:lnTo>
                <a:lnTo>
                  <a:pt x="77541" y="97777"/>
                </a:lnTo>
                <a:lnTo>
                  <a:pt x="77541" y="85777"/>
                </a:lnTo>
                <a:lnTo>
                  <a:pt x="79000" y="85777"/>
                </a:lnTo>
                <a:lnTo>
                  <a:pt x="79000" y="92888"/>
                </a:lnTo>
                <a:lnTo>
                  <a:pt x="82000" y="92888"/>
                </a:lnTo>
                <a:lnTo>
                  <a:pt x="82000" y="102222"/>
                </a:lnTo>
                <a:lnTo>
                  <a:pt x="84333" y="102222"/>
                </a:lnTo>
                <a:lnTo>
                  <a:pt x="84333" y="88000"/>
                </a:lnTo>
                <a:lnTo>
                  <a:pt x="85583" y="88000"/>
                </a:lnTo>
                <a:lnTo>
                  <a:pt x="85583" y="96000"/>
                </a:lnTo>
                <a:lnTo>
                  <a:pt x="86500" y="96000"/>
                </a:lnTo>
                <a:lnTo>
                  <a:pt x="86500" y="91111"/>
                </a:lnTo>
                <a:lnTo>
                  <a:pt x="87791" y="91111"/>
                </a:lnTo>
                <a:lnTo>
                  <a:pt x="87791" y="84888"/>
                </a:lnTo>
                <a:lnTo>
                  <a:pt x="89375" y="84888"/>
                </a:lnTo>
                <a:lnTo>
                  <a:pt x="89375" y="100888"/>
                </a:lnTo>
                <a:lnTo>
                  <a:pt x="90541" y="100888"/>
                </a:lnTo>
                <a:lnTo>
                  <a:pt x="90541" y="63111"/>
                </a:lnTo>
                <a:lnTo>
                  <a:pt x="92458" y="63555"/>
                </a:lnTo>
                <a:lnTo>
                  <a:pt x="92458" y="84444"/>
                </a:lnTo>
                <a:lnTo>
                  <a:pt x="93750" y="84444"/>
                </a:lnTo>
                <a:lnTo>
                  <a:pt x="93750" y="97333"/>
                </a:lnTo>
                <a:lnTo>
                  <a:pt x="95375" y="97333"/>
                </a:lnTo>
                <a:lnTo>
                  <a:pt x="95375" y="83111"/>
                </a:lnTo>
                <a:lnTo>
                  <a:pt x="96500" y="83111"/>
                </a:lnTo>
                <a:lnTo>
                  <a:pt x="96500" y="77333"/>
                </a:lnTo>
                <a:lnTo>
                  <a:pt x="98000" y="77333"/>
                </a:lnTo>
                <a:lnTo>
                  <a:pt x="98000" y="81333"/>
                </a:lnTo>
                <a:lnTo>
                  <a:pt x="99041" y="81333"/>
                </a:lnTo>
                <a:lnTo>
                  <a:pt x="99041" y="75111"/>
                </a:lnTo>
                <a:lnTo>
                  <a:pt x="101000" y="59555"/>
                </a:lnTo>
                <a:lnTo>
                  <a:pt x="102916" y="75111"/>
                </a:lnTo>
                <a:lnTo>
                  <a:pt x="102916" y="96444"/>
                </a:lnTo>
                <a:lnTo>
                  <a:pt x="103250" y="96444"/>
                </a:lnTo>
                <a:lnTo>
                  <a:pt x="103250" y="92000"/>
                </a:lnTo>
                <a:lnTo>
                  <a:pt x="104750" y="92000"/>
                </a:lnTo>
                <a:lnTo>
                  <a:pt x="104750" y="111111"/>
                </a:lnTo>
                <a:lnTo>
                  <a:pt x="105125" y="111111"/>
                </a:lnTo>
                <a:lnTo>
                  <a:pt x="105125" y="101777"/>
                </a:lnTo>
                <a:lnTo>
                  <a:pt x="106291" y="101777"/>
                </a:lnTo>
                <a:lnTo>
                  <a:pt x="106291" y="81777"/>
                </a:lnTo>
                <a:lnTo>
                  <a:pt x="107791" y="81777"/>
                </a:lnTo>
                <a:lnTo>
                  <a:pt x="107791" y="101777"/>
                </a:lnTo>
                <a:lnTo>
                  <a:pt x="107833" y="101777"/>
                </a:lnTo>
                <a:lnTo>
                  <a:pt x="107833" y="93777"/>
                </a:lnTo>
                <a:lnTo>
                  <a:pt x="108583" y="93777"/>
                </a:lnTo>
                <a:lnTo>
                  <a:pt x="108583" y="89777"/>
                </a:lnTo>
                <a:lnTo>
                  <a:pt x="110166" y="89777"/>
                </a:lnTo>
                <a:lnTo>
                  <a:pt x="110166" y="103111"/>
                </a:lnTo>
                <a:lnTo>
                  <a:pt x="110416" y="103111"/>
                </a:lnTo>
                <a:lnTo>
                  <a:pt x="110416" y="93777"/>
                </a:lnTo>
                <a:lnTo>
                  <a:pt x="110625" y="93777"/>
                </a:lnTo>
                <a:lnTo>
                  <a:pt x="110625" y="76444"/>
                </a:lnTo>
                <a:lnTo>
                  <a:pt x="111416" y="76444"/>
                </a:lnTo>
                <a:lnTo>
                  <a:pt x="111416" y="68444"/>
                </a:lnTo>
                <a:lnTo>
                  <a:pt x="111833" y="68444"/>
                </a:lnTo>
                <a:lnTo>
                  <a:pt x="111833" y="64000"/>
                </a:lnTo>
                <a:lnTo>
                  <a:pt x="112916" y="64000"/>
                </a:lnTo>
                <a:lnTo>
                  <a:pt x="112916" y="68444"/>
                </a:lnTo>
                <a:lnTo>
                  <a:pt x="113375" y="68444"/>
                </a:lnTo>
                <a:lnTo>
                  <a:pt x="113375" y="91555"/>
                </a:lnTo>
                <a:lnTo>
                  <a:pt x="113416" y="91555"/>
                </a:lnTo>
                <a:lnTo>
                  <a:pt x="113416" y="91555"/>
                </a:lnTo>
                <a:lnTo>
                  <a:pt x="114666" y="91555"/>
                </a:lnTo>
                <a:lnTo>
                  <a:pt x="114666" y="79555"/>
                </a:lnTo>
                <a:lnTo>
                  <a:pt x="115250" y="79555"/>
                </a:lnTo>
                <a:lnTo>
                  <a:pt x="115250" y="68444"/>
                </a:lnTo>
                <a:lnTo>
                  <a:pt x="115625" y="68444"/>
                </a:lnTo>
                <a:lnTo>
                  <a:pt x="115625" y="55111"/>
                </a:lnTo>
                <a:lnTo>
                  <a:pt x="115916" y="55111"/>
                </a:lnTo>
                <a:lnTo>
                  <a:pt x="115916" y="44888"/>
                </a:lnTo>
                <a:lnTo>
                  <a:pt x="116250" y="44888"/>
                </a:lnTo>
                <a:lnTo>
                  <a:pt x="116250" y="34222"/>
                </a:lnTo>
                <a:lnTo>
                  <a:pt x="116666" y="34222"/>
                </a:lnTo>
                <a:lnTo>
                  <a:pt x="116666" y="44444"/>
                </a:lnTo>
                <a:lnTo>
                  <a:pt x="117000" y="44444"/>
                </a:lnTo>
                <a:lnTo>
                  <a:pt x="117000" y="52888"/>
                </a:lnTo>
                <a:lnTo>
                  <a:pt x="117333" y="52888"/>
                </a:lnTo>
                <a:lnTo>
                  <a:pt x="117333" y="68888"/>
                </a:lnTo>
                <a:lnTo>
                  <a:pt x="117708" y="68888"/>
                </a:lnTo>
                <a:lnTo>
                  <a:pt x="117708" y="80444"/>
                </a:lnTo>
                <a:lnTo>
                  <a:pt x="118166" y="80444"/>
                </a:lnTo>
                <a:lnTo>
                  <a:pt x="118166" y="92000"/>
                </a:lnTo>
                <a:lnTo>
                  <a:pt x="120000" y="9200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</p:spPr>
        <p:txBody>
          <a:bodyPr lIns="68569" tIns="34275" rIns="68569" bIns="34275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015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04" name="Rectangle 4"/>
          <p:cNvSpPr>
            <a:spLocks noChangeArrowheads="1"/>
          </p:cNvSpPr>
          <p:nvPr/>
        </p:nvSpPr>
        <p:spPr bwMode="auto">
          <a:xfrm>
            <a:off x="574675" y="3240088"/>
            <a:ext cx="8135938" cy="170815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根据哈希函数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H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（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k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）＝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k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查找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key=9,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则访问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H(9)=9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号地址，若内容为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9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则成功；</a:t>
            </a:r>
          </a:p>
          <a:p>
            <a:pPr marL="0" marR="0" lvl="0" indent="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若查不到，则返回一个特殊值，如空指针或空记录。 </a:t>
            </a:r>
          </a:p>
        </p:txBody>
      </p:sp>
      <p:sp>
        <p:nvSpPr>
          <p:cNvPr id="76803" name="Rectangle 5"/>
          <p:cNvSpPr>
            <a:spLocks noChangeArrowheads="1"/>
          </p:cNvSpPr>
          <p:nvPr/>
        </p:nvSpPr>
        <p:spPr bwMode="auto">
          <a:xfrm>
            <a:off x="884238" y="201613"/>
            <a:ext cx="2371725" cy="51593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如何查找</a:t>
            </a:r>
          </a:p>
        </p:txBody>
      </p:sp>
      <p:grpSp>
        <p:nvGrpSpPr>
          <p:cNvPr id="116739" name="组合 73"/>
          <p:cNvGrpSpPr/>
          <p:nvPr/>
        </p:nvGrpSpPr>
        <p:grpSpPr>
          <a:xfrm>
            <a:off x="735013" y="1773238"/>
            <a:ext cx="7848600" cy="939800"/>
            <a:chOff x="706438" y="3112542"/>
            <a:chExt cx="7848600" cy="939800"/>
          </a:xfrm>
        </p:grpSpPr>
        <p:sp>
          <p:nvSpPr>
            <p:cNvPr id="75" name="Rectangle 41"/>
            <p:cNvSpPr>
              <a:spLocks noChangeArrowheads="1"/>
            </p:cNvSpPr>
            <p:nvPr/>
          </p:nvSpPr>
          <p:spPr bwMode="auto">
            <a:xfrm>
              <a:off x="4613275" y="3569742"/>
              <a:ext cx="512763" cy="482600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txBody>
            <a:bodyPr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76" name="Rectangle 42"/>
            <p:cNvSpPr>
              <a:spLocks noChangeArrowheads="1"/>
            </p:cNvSpPr>
            <p:nvPr/>
          </p:nvSpPr>
          <p:spPr bwMode="auto">
            <a:xfrm>
              <a:off x="4613275" y="3112542"/>
              <a:ext cx="512763" cy="457200"/>
            </a:xfrm>
            <a:prstGeom prst="rect">
              <a:avLst/>
            </a:prstGeom>
            <a:noFill/>
            <a:ln>
              <a:noFill/>
            </a:ln>
          </p:spPr>
          <p:txBody>
            <a:bodyPr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…</a:t>
              </a:r>
            </a:p>
          </p:txBody>
        </p:sp>
        <p:sp>
          <p:nvSpPr>
            <p:cNvPr id="77" name="Rectangle 43"/>
            <p:cNvSpPr>
              <a:spLocks noChangeArrowheads="1"/>
            </p:cNvSpPr>
            <p:nvPr/>
          </p:nvSpPr>
          <p:spPr bwMode="auto">
            <a:xfrm>
              <a:off x="4100513" y="3569742"/>
              <a:ext cx="512762" cy="482600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txBody>
            <a:bodyPr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78" name="Rectangle 44"/>
            <p:cNvSpPr>
              <a:spLocks noChangeArrowheads="1"/>
            </p:cNvSpPr>
            <p:nvPr/>
          </p:nvSpPr>
          <p:spPr bwMode="auto">
            <a:xfrm>
              <a:off x="4100513" y="3112542"/>
              <a:ext cx="512762" cy="457200"/>
            </a:xfrm>
            <a:prstGeom prst="rect">
              <a:avLst/>
            </a:prstGeom>
            <a:noFill/>
            <a:ln>
              <a:noFill/>
            </a:ln>
          </p:spPr>
          <p:txBody>
            <a:bodyPr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14</a:t>
              </a:r>
            </a:p>
          </p:txBody>
        </p:sp>
        <p:sp>
          <p:nvSpPr>
            <p:cNvPr id="79" name="Rectangle 45"/>
            <p:cNvSpPr>
              <a:spLocks noChangeArrowheads="1"/>
            </p:cNvSpPr>
            <p:nvPr/>
          </p:nvSpPr>
          <p:spPr bwMode="auto">
            <a:xfrm>
              <a:off x="3589338" y="3569742"/>
              <a:ext cx="511175" cy="482600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txBody>
            <a:bodyPr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80" name="Rectangle 46"/>
            <p:cNvSpPr>
              <a:spLocks noChangeArrowheads="1"/>
            </p:cNvSpPr>
            <p:nvPr/>
          </p:nvSpPr>
          <p:spPr bwMode="auto">
            <a:xfrm>
              <a:off x="3589338" y="3112542"/>
              <a:ext cx="511175" cy="457200"/>
            </a:xfrm>
            <a:prstGeom prst="rect">
              <a:avLst/>
            </a:prstGeom>
            <a:noFill/>
            <a:ln>
              <a:noFill/>
            </a:ln>
          </p:spPr>
          <p:txBody>
            <a:bodyPr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…</a:t>
              </a:r>
            </a:p>
          </p:txBody>
        </p:sp>
        <p:sp>
          <p:nvSpPr>
            <p:cNvPr id="81" name="Rectangle 47"/>
            <p:cNvSpPr>
              <a:spLocks noChangeArrowheads="1"/>
            </p:cNvSpPr>
            <p:nvPr/>
          </p:nvSpPr>
          <p:spPr bwMode="auto">
            <a:xfrm>
              <a:off x="3076575" y="3569742"/>
              <a:ext cx="512763" cy="482600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txBody>
            <a:bodyPr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82" name="Rectangle 48"/>
            <p:cNvSpPr>
              <a:spLocks noChangeArrowheads="1"/>
            </p:cNvSpPr>
            <p:nvPr/>
          </p:nvSpPr>
          <p:spPr bwMode="auto">
            <a:xfrm>
              <a:off x="3076575" y="3112542"/>
              <a:ext cx="512763" cy="457200"/>
            </a:xfrm>
            <a:prstGeom prst="rect">
              <a:avLst/>
            </a:prstGeom>
            <a:noFill/>
            <a:ln>
              <a:noFill/>
            </a:ln>
          </p:spPr>
          <p:txBody>
            <a:bodyPr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11</a:t>
              </a:r>
            </a:p>
          </p:txBody>
        </p:sp>
        <p:sp>
          <p:nvSpPr>
            <p:cNvPr id="83" name="Rectangle 49"/>
            <p:cNvSpPr>
              <a:spLocks noChangeArrowheads="1"/>
            </p:cNvSpPr>
            <p:nvPr/>
          </p:nvSpPr>
          <p:spPr bwMode="auto">
            <a:xfrm>
              <a:off x="2563813" y="3569742"/>
              <a:ext cx="512762" cy="482600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txBody>
            <a:bodyPr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84" name="Rectangle 50"/>
            <p:cNvSpPr>
              <a:spLocks noChangeArrowheads="1"/>
            </p:cNvSpPr>
            <p:nvPr/>
          </p:nvSpPr>
          <p:spPr bwMode="auto">
            <a:xfrm>
              <a:off x="2563813" y="3112542"/>
              <a:ext cx="512762" cy="457200"/>
            </a:xfrm>
            <a:prstGeom prst="rect">
              <a:avLst/>
            </a:prstGeom>
            <a:noFill/>
            <a:ln>
              <a:noFill/>
            </a:ln>
          </p:spPr>
          <p:txBody>
            <a:bodyPr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…</a:t>
              </a:r>
            </a:p>
          </p:txBody>
        </p:sp>
        <p:sp>
          <p:nvSpPr>
            <p:cNvPr id="85" name="Rectangle 51"/>
            <p:cNvSpPr>
              <a:spLocks noChangeArrowheads="1"/>
            </p:cNvSpPr>
            <p:nvPr/>
          </p:nvSpPr>
          <p:spPr bwMode="auto">
            <a:xfrm>
              <a:off x="2052638" y="3569742"/>
              <a:ext cx="511175" cy="482600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txBody>
            <a:bodyPr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86" name="Rectangle 52"/>
            <p:cNvSpPr>
              <a:spLocks noChangeArrowheads="1"/>
            </p:cNvSpPr>
            <p:nvPr/>
          </p:nvSpPr>
          <p:spPr bwMode="auto">
            <a:xfrm>
              <a:off x="2052638" y="3112542"/>
              <a:ext cx="511175" cy="457200"/>
            </a:xfrm>
            <a:prstGeom prst="rect">
              <a:avLst/>
            </a:prstGeom>
            <a:noFill/>
            <a:ln>
              <a:noFill/>
            </a:ln>
          </p:spPr>
          <p:txBody>
            <a:bodyPr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9</a:t>
              </a:r>
            </a:p>
          </p:txBody>
        </p:sp>
        <p:sp>
          <p:nvSpPr>
            <p:cNvPr id="87" name="Rectangle 53"/>
            <p:cNvSpPr>
              <a:spLocks noChangeArrowheads="1"/>
            </p:cNvSpPr>
            <p:nvPr/>
          </p:nvSpPr>
          <p:spPr bwMode="auto">
            <a:xfrm>
              <a:off x="1539875" y="3569742"/>
              <a:ext cx="512763" cy="482600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txBody>
            <a:bodyPr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88" name="Rectangle 54"/>
            <p:cNvSpPr>
              <a:spLocks noChangeArrowheads="1"/>
            </p:cNvSpPr>
            <p:nvPr/>
          </p:nvSpPr>
          <p:spPr bwMode="auto">
            <a:xfrm>
              <a:off x="1539875" y="3112542"/>
              <a:ext cx="512763" cy="457200"/>
            </a:xfrm>
            <a:prstGeom prst="rect">
              <a:avLst/>
            </a:prstGeom>
            <a:noFill/>
            <a:ln>
              <a:noFill/>
            </a:ln>
          </p:spPr>
          <p:txBody>
            <a:bodyPr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…</a:t>
              </a:r>
            </a:p>
          </p:txBody>
        </p:sp>
        <p:sp>
          <p:nvSpPr>
            <p:cNvPr id="89" name="Rectangle 55"/>
            <p:cNvSpPr>
              <a:spLocks noChangeArrowheads="1"/>
            </p:cNvSpPr>
            <p:nvPr/>
          </p:nvSpPr>
          <p:spPr bwMode="auto">
            <a:xfrm>
              <a:off x="706438" y="3569742"/>
              <a:ext cx="833437" cy="482600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txBody>
            <a:bodyPr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内容</a:t>
              </a:r>
            </a:p>
          </p:txBody>
        </p:sp>
        <p:sp>
          <p:nvSpPr>
            <p:cNvPr id="90" name="Rectangle 56"/>
            <p:cNvSpPr>
              <a:spLocks noChangeArrowheads="1"/>
            </p:cNvSpPr>
            <p:nvPr/>
          </p:nvSpPr>
          <p:spPr bwMode="auto">
            <a:xfrm>
              <a:off x="706438" y="3112542"/>
              <a:ext cx="833437" cy="457200"/>
            </a:xfrm>
            <a:prstGeom prst="rect">
              <a:avLst/>
            </a:prstGeom>
            <a:noFill/>
            <a:ln>
              <a:noFill/>
            </a:ln>
          </p:spPr>
          <p:txBody>
            <a:bodyPr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地址</a:t>
              </a:r>
            </a:p>
          </p:txBody>
        </p:sp>
        <p:sp>
          <p:nvSpPr>
            <p:cNvPr id="91" name="Rectangle 57"/>
            <p:cNvSpPr>
              <a:spLocks noChangeArrowheads="1"/>
            </p:cNvSpPr>
            <p:nvPr/>
          </p:nvSpPr>
          <p:spPr bwMode="auto">
            <a:xfrm>
              <a:off x="7881938" y="3569742"/>
              <a:ext cx="673100" cy="482600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txBody>
            <a:bodyPr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92" name="Rectangle 58"/>
            <p:cNvSpPr>
              <a:spLocks noChangeArrowheads="1"/>
            </p:cNvSpPr>
            <p:nvPr/>
          </p:nvSpPr>
          <p:spPr bwMode="auto">
            <a:xfrm>
              <a:off x="7359650" y="3569742"/>
              <a:ext cx="522288" cy="482600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txBody>
            <a:bodyPr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93" name="Rectangle 59"/>
            <p:cNvSpPr>
              <a:spLocks noChangeArrowheads="1"/>
            </p:cNvSpPr>
            <p:nvPr/>
          </p:nvSpPr>
          <p:spPr bwMode="auto">
            <a:xfrm>
              <a:off x="6686550" y="3569742"/>
              <a:ext cx="673100" cy="482600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txBody>
            <a:bodyPr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94" name="Rectangle 60"/>
            <p:cNvSpPr>
              <a:spLocks noChangeArrowheads="1"/>
            </p:cNvSpPr>
            <p:nvPr/>
          </p:nvSpPr>
          <p:spPr bwMode="auto">
            <a:xfrm>
              <a:off x="6162675" y="3569742"/>
              <a:ext cx="523875" cy="482600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txBody>
            <a:bodyPr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95" name="Rectangle 61"/>
            <p:cNvSpPr>
              <a:spLocks noChangeArrowheads="1"/>
            </p:cNvSpPr>
            <p:nvPr/>
          </p:nvSpPr>
          <p:spPr bwMode="auto">
            <a:xfrm>
              <a:off x="5638800" y="3569742"/>
              <a:ext cx="523875" cy="482600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txBody>
            <a:bodyPr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96" name="Rectangle 62"/>
            <p:cNvSpPr>
              <a:spLocks noChangeArrowheads="1"/>
            </p:cNvSpPr>
            <p:nvPr/>
          </p:nvSpPr>
          <p:spPr bwMode="auto">
            <a:xfrm>
              <a:off x="5126038" y="3569742"/>
              <a:ext cx="512762" cy="482600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txBody>
            <a:bodyPr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97" name="Rectangle 63"/>
            <p:cNvSpPr>
              <a:spLocks noChangeArrowheads="1"/>
            </p:cNvSpPr>
            <p:nvPr/>
          </p:nvSpPr>
          <p:spPr bwMode="auto">
            <a:xfrm>
              <a:off x="7881938" y="3112542"/>
              <a:ext cx="673100" cy="457200"/>
            </a:xfrm>
            <a:prstGeom prst="rect">
              <a:avLst/>
            </a:prstGeom>
            <a:noFill/>
            <a:ln>
              <a:noFill/>
            </a:ln>
          </p:spPr>
          <p:txBody>
            <a:bodyPr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…</a:t>
              </a:r>
            </a:p>
          </p:txBody>
        </p:sp>
        <p:sp>
          <p:nvSpPr>
            <p:cNvPr id="98" name="Rectangle 64"/>
            <p:cNvSpPr>
              <a:spLocks noChangeArrowheads="1"/>
            </p:cNvSpPr>
            <p:nvPr/>
          </p:nvSpPr>
          <p:spPr bwMode="auto">
            <a:xfrm>
              <a:off x="7359650" y="3112542"/>
              <a:ext cx="522288" cy="457200"/>
            </a:xfrm>
            <a:prstGeom prst="rect">
              <a:avLst/>
            </a:prstGeom>
            <a:noFill/>
            <a:ln>
              <a:noFill/>
            </a:ln>
          </p:spPr>
          <p:txBody>
            <a:bodyPr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39</a:t>
              </a:r>
            </a:p>
          </p:txBody>
        </p:sp>
        <p:sp>
          <p:nvSpPr>
            <p:cNvPr id="99" name="Rectangle 65"/>
            <p:cNvSpPr>
              <a:spLocks noChangeArrowheads="1"/>
            </p:cNvSpPr>
            <p:nvPr/>
          </p:nvSpPr>
          <p:spPr bwMode="auto">
            <a:xfrm>
              <a:off x="6686550" y="3112542"/>
              <a:ext cx="673100" cy="457200"/>
            </a:xfrm>
            <a:prstGeom prst="rect">
              <a:avLst/>
            </a:prstGeom>
            <a:noFill/>
            <a:ln>
              <a:noFill/>
            </a:ln>
          </p:spPr>
          <p:txBody>
            <a:bodyPr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…</a:t>
              </a:r>
            </a:p>
          </p:txBody>
        </p:sp>
        <p:sp>
          <p:nvSpPr>
            <p:cNvPr id="100" name="Rectangle 66"/>
            <p:cNvSpPr>
              <a:spLocks noChangeArrowheads="1"/>
            </p:cNvSpPr>
            <p:nvPr/>
          </p:nvSpPr>
          <p:spPr bwMode="auto">
            <a:xfrm>
              <a:off x="6162675" y="3112542"/>
              <a:ext cx="523875" cy="457200"/>
            </a:xfrm>
            <a:prstGeom prst="rect">
              <a:avLst/>
            </a:prstGeom>
            <a:noFill/>
            <a:ln>
              <a:noFill/>
            </a:ln>
          </p:spPr>
          <p:txBody>
            <a:bodyPr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25</a:t>
              </a:r>
            </a:p>
          </p:txBody>
        </p:sp>
        <p:sp>
          <p:nvSpPr>
            <p:cNvPr id="101" name="Rectangle 67"/>
            <p:cNvSpPr>
              <a:spLocks noChangeArrowheads="1"/>
            </p:cNvSpPr>
            <p:nvPr/>
          </p:nvSpPr>
          <p:spPr bwMode="auto">
            <a:xfrm>
              <a:off x="5638800" y="3112542"/>
              <a:ext cx="523875" cy="457200"/>
            </a:xfrm>
            <a:prstGeom prst="rect">
              <a:avLst/>
            </a:prstGeom>
            <a:noFill/>
            <a:ln>
              <a:noFill/>
            </a:ln>
          </p:spPr>
          <p:txBody>
            <a:bodyPr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24</a:t>
              </a:r>
            </a:p>
          </p:txBody>
        </p:sp>
        <p:sp>
          <p:nvSpPr>
            <p:cNvPr id="102" name="Rectangle 68"/>
            <p:cNvSpPr>
              <a:spLocks noChangeArrowheads="1"/>
            </p:cNvSpPr>
            <p:nvPr/>
          </p:nvSpPr>
          <p:spPr bwMode="auto">
            <a:xfrm>
              <a:off x="5126038" y="3112542"/>
              <a:ext cx="512762" cy="457200"/>
            </a:xfrm>
            <a:prstGeom prst="rect">
              <a:avLst/>
            </a:prstGeom>
            <a:noFill/>
            <a:ln>
              <a:noFill/>
            </a:ln>
          </p:spPr>
          <p:txBody>
            <a:bodyPr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23</a:t>
              </a:r>
            </a:p>
          </p:txBody>
        </p:sp>
        <p:sp>
          <p:nvSpPr>
            <p:cNvPr id="103" name="Line 69"/>
            <p:cNvSpPr>
              <a:spLocks noChangeShapeType="1"/>
            </p:cNvSpPr>
            <p:nvPr/>
          </p:nvSpPr>
          <p:spPr bwMode="auto">
            <a:xfrm>
              <a:off x="706438" y="4052342"/>
              <a:ext cx="7848600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04" name="Line 70"/>
            <p:cNvSpPr>
              <a:spLocks noChangeShapeType="1"/>
            </p:cNvSpPr>
            <p:nvPr/>
          </p:nvSpPr>
          <p:spPr bwMode="auto">
            <a:xfrm>
              <a:off x="706438" y="3112542"/>
              <a:ext cx="0" cy="457200"/>
            </a:xfrm>
            <a:prstGeom prst="line">
              <a:avLst/>
            </a:prstGeom>
            <a:noFill/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05" name="Line 71"/>
            <p:cNvSpPr>
              <a:spLocks noChangeShapeType="1"/>
            </p:cNvSpPr>
            <p:nvPr/>
          </p:nvSpPr>
          <p:spPr bwMode="auto">
            <a:xfrm>
              <a:off x="8555038" y="3112542"/>
              <a:ext cx="0" cy="457200"/>
            </a:xfrm>
            <a:prstGeom prst="line">
              <a:avLst/>
            </a:prstGeom>
            <a:noFill/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06" name="Line 72"/>
            <p:cNvSpPr>
              <a:spLocks noChangeShapeType="1"/>
            </p:cNvSpPr>
            <p:nvPr/>
          </p:nvSpPr>
          <p:spPr bwMode="auto">
            <a:xfrm>
              <a:off x="6686550" y="3112542"/>
              <a:ext cx="673100" cy="0"/>
            </a:xfrm>
            <a:prstGeom prst="line">
              <a:avLst/>
            </a:prstGeom>
            <a:noFill/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07" name="Line 73"/>
            <p:cNvSpPr>
              <a:spLocks noChangeShapeType="1"/>
            </p:cNvSpPr>
            <p:nvPr/>
          </p:nvSpPr>
          <p:spPr bwMode="auto">
            <a:xfrm>
              <a:off x="706438" y="3112542"/>
              <a:ext cx="833437" cy="0"/>
            </a:xfrm>
            <a:prstGeom prst="line">
              <a:avLst/>
            </a:prstGeom>
            <a:noFill/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08" name="Line 74"/>
            <p:cNvSpPr>
              <a:spLocks noChangeShapeType="1"/>
            </p:cNvSpPr>
            <p:nvPr/>
          </p:nvSpPr>
          <p:spPr bwMode="auto">
            <a:xfrm>
              <a:off x="7359650" y="3112542"/>
              <a:ext cx="522288" cy="0"/>
            </a:xfrm>
            <a:prstGeom prst="line">
              <a:avLst/>
            </a:prstGeom>
            <a:noFill/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09" name="Line 75"/>
            <p:cNvSpPr>
              <a:spLocks noChangeShapeType="1"/>
            </p:cNvSpPr>
            <p:nvPr/>
          </p:nvSpPr>
          <p:spPr bwMode="auto">
            <a:xfrm>
              <a:off x="1539875" y="3112542"/>
              <a:ext cx="512763" cy="0"/>
            </a:xfrm>
            <a:prstGeom prst="line">
              <a:avLst/>
            </a:prstGeom>
            <a:noFill/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0" name="Line 76"/>
            <p:cNvSpPr>
              <a:spLocks noChangeShapeType="1"/>
            </p:cNvSpPr>
            <p:nvPr/>
          </p:nvSpPr>
          <p:spPr bwMode="auto">
            <a:xfrm>
              <a:off x="706438" y="3569742"/>
              <a:ext cx="0" cy="48260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1" name="Line 77"/>
            <p:cNvSpPr>
              <a:spLocks noChangeShapeType="1"/>
            </p:cNvSpPr>
            <p:nvPr/>
          </p:nvSpPr>
          <p:spPr bwMode="auto">
            <a:xfrm>
              <a:off x="2052638" y="3112542"/>
              <a:ext cx="511175" cy="0"/>
            </a:xfrm>
            <a:prstGeom prst="line">
              <a:avLst/>
            </a:prstGeom>
            <a:noFill/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2" name="Line 78"/>
            <p:cNvSpPr>
              <a:spLocks noChangeShapeType="1"/>
            </p:cNvSpPr>
            <p:nvPr/>
          </p:nvSpPr>
          <p:spPr bwMode="auto">
            <a:xfrm>
              <a:off x="1539875" y="3569742"/>
              <a:ext cx="0" cy="482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3" name="Line 79"/>
            <p:cNvSpPr>
              <a:spLocks noChangeShapeType="1"/>
            </p:cNvSpPr>
            <p:nvPr/>
          </p:nvSpPr>
          <p:spPr bwMode="auto">
            <a:xfrm>
              <a:off x="2563813" y="3112542"/>
              <a:ext cx="512762" cy="0"/>
            </a:xfrm>
            <a:prstGeom prst="line">
              <a:avLst/>
            </a:prstGeom>
            <a:noFill/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4" name="Line 80"/>
            <p:cNvSpPr>
              <a:spLocks noChangeShapeType="1"/>
            </p:cNvSpPr>
            <p:nvPr/>
          </p:nvSpPr>
          <p:spPr bwMode="auto">
            <a:xfrm>
              <a:off x="2052638" y="3569742"/>
              <a:ext cx="0" cy="482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5" name="Line 81"/>
            <p:cNvSpPr>
              <a:spLocks noChangeShapeType="1"/>
            </p:cNvSpPr>
            <p:nvPr/>
          </p:nvSpPr>
          <p:spPr bwMode="auto">
            <a:xfrm>
              <a:off x="3076575" y="3112542"/>
              <a:ext cx="512763" cy="0"/>
            </a:xfrm>
            <a:prstGeom prst="line">
              <a:avLst/>
            </a:prstGeom>
            <a:noFill/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6" name="Line 82"/>
            <p:cNvSpPr>
              <a:spLocks noChangeShapeType="1"/>
            </p:cNvSpPr>
            <p:nvPr/>
          </p:nvSpPr>
          <p:spPr bwMode="auto">
            <a:xfrm>
              <a:off x="2563813" y="3569742"/>
              <a:ext cx="0" cy="482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7" name="Line 83"/>
            <p:cNvSpPr>
              <a:spLocks noChangeShapeType="1"/>
            </p:cNvSpPr>
            <p:nvPr/>
          </p:nvSpPr>
          <p:spPr bwMode="auto">
            <a:xfrm>
              <a:off x="3589338" y="3112542"/>
              <a:ext cx="511175" cy="0"/>
            </a:xfrm>
            <a:prstGeom prst="line">
              <a:avLst/>
            </a:prstGeom>
            <a:noFill/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8" name="Line 84"/>
            <p:cNvSpPr>
              <a:spLocks noChangeShapeType="1"/>
            </p:cNvSpPr>
            <p:nvPr/>
          </p:nvSpPr>
          <p:spPr bwMode="auto">
            <a:xfrm>
              <a:off x="3076575" y="3569742"/>
              <a:ext cx="0" cy="482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9" name="Line 85"/>
            <p:cNvSpPr>
              <a:spLocks noChangeShapeType="1"/>
            </p:cNvSpPr>
            <p:nvPr/>
          </p:nvSpPr>
          <p:spPr bwMode="auto">
            <a:xfrm>
              <a:off x="4100513" y="3112542"/>
              <a:ext cx="512762" cy="0"/>
            </a:xfrm>
            <a:prstGeom prst="line">
              <a:avLst/>
            </a:prstGeom>
            <a:noFill/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20" name="Line 86"/>
            <p:cNvSpPr>
              <a:spLocks noChangeShapeType="1"/>
            </p:cNvSpPr>
            <p:nvPr/>
          </p:nvSpPr>
          <p:spPr bwMode="auto">
            <a:xfrm>
              <a:off x="3589338" y="3569742"/>
              <a:ext cx="0" cy="482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21" name="Line 87"/>
            <p:cNvSpPr>
              <a:spLocks noChangeShapeType="1"/>
            </p:cNvSpPr>
            <p:nvPr/>
          </p:nvSpPr>
          <p:spPr bwMode="auto">
            <a:xfrm>
              <a:off x="4613275" y="3112542"/>
              <a:ext cx="512763" cy="0"/>
            </a:xfrm>
            <a:prstGeom prst="line">
              <a:avLst/>
            </a:prstGeom>
            <a:noFill/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22" name="Line 88"/>
            <p:cNvSpPr>
              <a:spLocks noChangeShapeType="1"/>
            </p:cNvSpPr>
            <p:nvPr/>
          </p:nvSpPr>
          <p:spPr bwMode="auto">
            <a:xfrm>
              <a:off x="4100513" y="3569742"/>
              <a:ext cx="0" cy="482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23" name="Line 89"/>
            <p:cNvSpPr>
              <a:spLocks noChangeShapeType="1"/>
            </p:cNvSpPr>
            <p:nvPr/>
          </p:nvSpPr>
          <p:spPr bwMode="auto">
            <a:xfrm>
              <a:off x="5126038" y="3112542"/>
              <a:ext cx="512762" cy="0"/>
            </a:xfrm>
            <a:prstGeom prst="line">
              <a:avLst/>
            </a:prstGeom>
            <a:noFill/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24" name="Line 90"/>
            <p:cNvSpPr>
              <a:spLocks noChangeShapeType="1"/>
            </p:cNvSpPr>
            <p:nvPr/>
          </p:nvSpPr>
          <p:spPr bwMode="auto">
            <a:xfrm>
              <a:off x="4613275" y="3569742"/>
              <a:ext cx="0" cy="482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25" name="Line 91"/>
            <p:cNvSpPr>
              <a:spLocks noChangeShapeType="1"/>
            </p:cNvSpPr>
            <p:nvPr/>
          </p:nvSpPr>
          <p:spPr bwMode="auto">
            <a:xfrm>
              <a:off x="5638800" y="3112542"/>
              <a:ext cx="523875" cy="0"/>
            </a:xfrm>
            <a:prstGeom prst="line">
              <a:avLst/>
            </a:prstGeom>
            <a:noFill/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26" name="Line 92"/>
            <p:cNvSpPr>
              <a:spLocks noChangeShapeType="1"/>
            </p:cNvSpPr>
            <p:nvPr/>
          </p:nvSpPr>
          <p:spPr bwMode="auto">
            <a:xfrm>
              <a:off x="5126038" y="3569742"/>
              <a:ext cx="0" cy="482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27" name="Line 93"/>
            <p:cNvSpPr>
              <a:spLocks noChangeShapeType="1"/>
            </p:cNvSpPr>
            <p:nvPr/>
          </p:nvSpPr>
          <p:spPr bwMode="auto">
            <a:xfrm>
              <a:off x="6162675" y="3112542"/>
              <a:ext cx="523875" cy="0"/>
            </a:xfrm>
            <a:prstGeom prst="line">
              <a:avLst/>
            </a:prstGeom>
            <a:noFill/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28" name="Line 94"/>
            <p:cNvSpPr>
              <a:spLocks noChangeShapeType="1"/>
            </p:cNvSpPr>
            <p:nvPr/>
          </p:nvSpPr>
          <p:spPr bwMode="auto">
            <a:xfrm>
              <a:off x="5638800" y="3569742"/>
              <a:ext cx="0" cy="482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29" name="Line 95"/>
            <p:cNvSpPr>
              <a:spLocks noChangeShapeType="1"/>
            </p:cNvSpPr>
            <p:nvPr/>
          </p:nvSpPr>
          <p:spPr bwMode="auto">
            <a:xfrm>
              <a:off x="6162675" y="3569742"/>
              <a:ext cx="0" cy="482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30" name="Line 96"/>
            <p:cNvSpPr>
              <a:spLocks noChangeShapeType="1"/>
            </p:cNvSpPr>
            <p:nvPr/>
          </p:nvSpPr>
          <p:spPr bwMode="auto">
            <a:xfrm>
              <a:off x="6686550" y="3569742"/>
              <a:ext cx="0" cy="482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31" name="Line 97"/>
            <p:cNvSpPr>
              <a:spLocks noChangeShapeType="1"/>
            </p:cNvSpPr>
            <p:nvPr/>
          </p:nvSpPr>
          <p:spPr bwMode="auto">
            <a:xfrm>
              <a:off x="7881938" y="3112542"/>
              <a:ext cx="673100" cy="0"/>
            </a:xfrm>
            <a:prstGeom prst="line">
              <a:avLst/>
            </a:prstGeom>
            <a:noFill/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32" name="Line 98"/>
            <p:cNvSpPr>
              <a:spLocks noChangeShapeType="1"/>
            </p:cNvSpPr>
            <p:nvPr/>
          </p:nvSpPr>
          <p:spPr bwMode="auto">
            <a:xfrm>
              <a:off x="7359650" y="3569742"/>
              <a:ext cx="0" cy="482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33" name="Line 99"/>
            <p:cNvSpPr>
              <a:spLocks noChangeShapeType="1"/>
            </p:cNvSpPr>
            <p:nvPr/>
          </p:nvSpPr>
          <p:spPr bwMode="auto">
            <a:xfrm>
              <a:off x="7881938" y="3569742"/>
              <a:ext cx="0" cy="482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34" name="Line 100"/>
            <p:cNvSpPr>
              <a:spLocks noChangeShapeType="1"/>
            </p:cNvSpPr>
            <p:nvPr/>
          </p:nvSpPr>
          <p:spPr bwMode="auto">
            <a:xfrm>
              <a:off x="8555038" y="3569742"/>
              <a:ext cx="0" cy="48260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35" name="Line 101"/>
            <p:cNvSpPr>
              <a:spLocks noChangeShapeType="1"/>
            </p:cNvSpPr>
            <p:nvPr/>
          </p:nvSpPr>
          <p:spPr bwMode="auto">
            <a:xfrm>
              <a:off x="706438" y="3569742"/>
              <a:ext cx="78486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36" name="Rectangle 102"/>
            <p:cNvSpPr>
              <a:spLocks noChangeArrowheads="1"/>
            </p:cNvSpPr>
            <p:nvPr/>
          </p:nvSpPr>
          <p:spPr bwMode="auto">
            <a:xfrm>
              <a:off x="4100513" y="3445917"/>
              <a:ext cx="492125" cy="552450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4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14</a:t>
              </a:r>
            </a:p>
          </p:txBody>
        </p:sp>
        <p:sp>
          <p:nvSpPr>
            <p:cNvPr id="137" name="Rectangle 103"/>
            <p:cNvSpPr>
              <a:spLocks noChangeArrowheads="1"/>
            </p:cNvSpPr>
            <p:nvPr/>
          </p:nvSpPr>
          <p:spPr bwMode="auto">
            <a:xfrm>
              <a:off x="3076575" y="3445917"/>
              <a:ext cx="481013" cy="552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4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11</a:t>
              </a:r>
            </a:p>
          </p:txBody>
        </p:sp>
        <p:sp>
          <p:nvSpPr>
            <p:cNvPr id="138" name="Rectangle 104"/>
            <p:cNvSpPr>
              <a:spLocks noChangeArrowheads="1"/>
            </p:cNvSpPr>
            <p:nvPr/>
          </p:nvSpPr>
          <p:spPr bwMode="auto">
            <a:xfrm>
              <a:off x="2090738" y="3445917"/>
              <a:ext cx="338137" cy="552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4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9</a:t>
              </a:r>
            </a:p>
          </p:txBody>
        </p:sp>
        <p:sp>
          <p:nvSpPr>
            <p:cNvPr id="139" name="Rectangle 105"/>
            <p:cNvSpPr>
              <a:spLocks noChangeArrowheads="1"/>
            </p:cNvSpPr>
            <p:nvPr/>
          </p:nvSpPr>
          <p:spPr bwMode="auto">
            <a:xfrm>
              <a:off x="5176838" y="3445917"/>
              <a:ext cx="492125" cy="552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4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23</a:t>
              </a:r>
            </a:p>
          </p:txBody>
        </p:sp>
        <p:sp>
          <p:nvSpPr>
            <p:cNvPr id="140" name="Rectangle 106"/>
            <p:cNvSpPr>
              <a:spLocks noChangeArrowheads="1"/>
            </p:cNvSpPr>
            <p:nvPr/>
          </p:nvSpPr>
          <p:spPr bwMode="auto">
            <a:xfrm>
              <a:off x="6162675" y="3445917"/>
              <a:ext cx="492125" cy="552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4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25</a:t>
              </a:r>
            </a:p>
          </p:txBody>
        </p:sp>
        <p:sp>
          <p:nvSpPr>
            <p:cNvPr id="141" name="Rectangle 107"/>
            <p:cNvSpPr>
              <a:spLocks noChangeArrowheads="1"/>
            </p:cNvSpPr>
            <p:nvPr/>
          </p:nvSpPr>
          <p:spPr bwMode="auto">
            <a:xfrm>
              <a:off x="7353300" y="3445917"/>
              <a:ext cx="492125" cy="552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4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39</a:t>
              </a:r>
            </a:p>
          </p:txBody>
        </p:sp>
      </p:grpSp>
      <p:sp>
        <p:nvSpPr>
          <p:cNvPr id="142" name="Shape 26"/>
          <p:cNvSpPr/>
          <p:nvPr/>
        </p:nvSpPr>
        <p:spPr>
          <a:xfrm flipH="1">
            <a:off x="0" y="5607050"/>
            <a:ext cx="9140825" cy="12509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120000"/>
                </a:moveTo>
                <a:lnTo>
                  <a:pt x="0" y="102222"/>
                </a:lnTo>
                <a:lnTo>
                  <a:pt x="583" y="102222"/>
                </a:lnTo>
                <a:lnTo>
                  <a:pt x="583" y="89777"/>
                </a:lnTo>
                <a:lnTo>
                  <a:pt x="4166" y="89777"/>
                </a:lnTo>
                <a:lnTo>
                  <a:pt x="4166" y="79111"/>
                </a:lnTo>
                <a:lnTo>
                  <a:pt x="6416" y="79111"/>
                </a:lnTo>
                <a:lnTo>
                  <a:pt x="6416" y="91111"/>
                </a:lnTo>
                <a:lnTo>
                  <a:pt x="7625" y="91111"/>
                </a:lnTo>
                <a:lnTo>
                  <a:pt x="7625" y="79111"/>
                </a:lnTo>
                <a:lnTo>
                  <a:pt x="8958" y="79111"/>
                </a:lnTo>
                <a:lnTo>
                  <a:pt x="8958" y="45333"/>
                </a:lnTo>
                <a:lnTo>
                  <a:pt x="9541" y="45333"/>
                </a:lnTo>
                <a:lnTo>
                  <a:pt x="9541" y="39111"/>
                </a:lnTo>
                <a:lnTo>
                  <a:pt x="10958" y="39111"/>
                </a:lnTo>
                <a:lnTo>
                  <a:pt x="10958" y="45333"/>
                </a:lnTo>
                <a:lnTo>
                  <a:pt x="11583" y="45333"/>
                </a:lnTo>
                <a:lnTo>
                  <a:pt x="11583" y="76000"/>
                </a:lnTo>
                <a:lnTo>
                  <a:pt x="12083" y="76000"/>
                </a:lnTo>
                <a:lnTo>
                  <a:pt x="12083" y="95555"/>
                </a:lnTo>
                <a:lnTo>
                  <a:pt x="13250" y="95555"/>
                </a:lnTo>
                <a:lnTo>
                  <a:pt x="13250" y="60000"/>
                </a:lnTo>
                <a:lnTo>
                  <a:pt x="14041" y="60000"/>
                </a:lnTo>
                <a:lnTo>
                  <a:pt x="14041" y="45333"/>
                </a:lnTo>
                <a:lnTo>
                  <a:pt x="14583" y="45333"/>
                </a:lnTo>
                <a:lnTo>
                  <a:pt x="14583" y="27555"/>
                </a:lnTo>
                <a:lnTo>
                  <a:pt x="14958" y="27555"/>
                </a:lnTo>
                <a:lnTo>
                  <a:pt x="14958" y="14222"/>
                </a:lnTo>
                <a:lnTo>
                  <a:pt x="15333" y="14222"/>
                </a:lnTo>
                <a:lnTo>
                  <a:pt x="15333" y="0"/>
                </a:lnTo>
                <a:lnTo>
                  <a:pt x="15958" y="0"/>
                </a:lnTo>
                <a:lnTo>
                  <a:pt x="15958" y="13777"/>
                </a:lnTo>
                <a:lnTo>
                  <a:pt x="16416" y="13777"/>
                </a:lnTo>
                <a:lnTo>
                  <a:pt x="16416" y="24888"/>
                </a:lnTo>
                <a:lnTo>
                  <a:pt x="16791" y="24888"/>
                </a:lnTo>
                <a:lnTo>
                  <a:pt x="16791" y="46222"/>
                </a:lnTo>
                <a:lnTo>
                  <a:pt x="17333" y="46222"/>
                </a:lnTo>
                <a:lnTo>
                  <a:pt x="17333" y="61333"/>
                </a:lnTo>
                <a:lnTo>
                  <a:pt x="17916" y="61333"/>
                </a:lnTo>
                <a:lnTo>
                  <a:pt x="17916" y="101333"/>
                </a:lnTo>
                <a:lnTo>
                  <a:pt x="18875" y="101333"/>
                </a:lnTo>
                <a:lnTo>
                  <a:pt x="18875" y="92000"/>
                </a:lnTo>
                <a:lnTo>
                  <a:pt x="20958" y="92000"/>
                </a:lnTo>
                <a:lnTo>
                  <a:pt x="20958" y="96444"/>
                </a:lnTo>
                <a:lnTo>
                  <a:pt x="21750" y="96444"/>
                </a:lnTo>
                <a:lnTo>
                  <a:pt x="21750" y="54666"/>
                </a:lnTo>
                <a:lnTo>
                  <a:pt x="22333" y="54666"/>
                </a:lnTo>
                <a:lnTo>
                  <a:pt x="22333" y="42666"/>
                </a:lnTo>
                <a:lnTo>
                  <a:pt x="24166" y="42666"/>
                </a:lnTo>
                <a:lnTo>
                  <a:pt x="24166" y="53777"/>
                </a:lnTo>
                <a:lnTo>
                  <a:pt x="24583" y="56888"/>
                </a:lnTo>
                <a:lnTo>
                  <a:pt x="24583" y="85777"/>
                </a:lnTo>
                <a:lnTo>
                  <a:pt x="25291" y="85777"/>
                </a:lnTo>
                <a:lnTo>
                  <a:pt x="25291" y="79555"/>
                </a:lnTo>
                <a:lnTo>
                  <a:pt x="27125" y="79555"/>
                </a:lnTo>
                <a:lnTo>
                  <a:pt x="27125" y="86222"/>
                </a:lnTo>
                <a:lnTo>
                  <a:pt x="28208" y="86222"/>
                </a:lnTo>
                <a:lnTo>
                  <a:pt x="28208" y="92000"/>
                </a:lnTo>
                <a:lnTo>
                  <a:pt x="29416" y="92000"/>
                </a:lnTo>
                <a:lnTo>
                  <a:pt x="29416" y="83555"/>
                </a:lnTo>
                <a:lnTo>
                  <a:pt x="30250" y="83555"/>
                </a:lnTo>
                <a:lnTo>
                  <a:pt x="30250" y="65777"/>
                </a:lnTo>
                <a:lnTo>
                  <a:pt x="35041" y="65777"/>
                </a:lnTo>
                <a:lnTo>
                  <a:pt x="35041" y="83555"/>
                </a:lnTo>
                <a:lnTo>
                  <a:pt x="35875" y="83555"/>
                </a:lnTo>
                <a:lnTo>
                  <a:pt x="35875" y="65777"/>
                </a:lnTo>
                <a:lnTo>
                  <a:pt x="39916" y="65777"/>
                </a:lnTo>
                <a:lnTo>
                  <a:pt x="39916" y="72888"/>
                </a:lnTo>
                <a:lnTo>
                  <a:pt x="41041" y="72888"/>
                </a:lnTo>
                <a:lnTo>
                  <a:pt x="41041" y="99555"/>
                </a:lnTo>
                <a:lnTo>
                  <a:pt x="42583" y="99555"/>
                </a:lnTo>
                <a:lnTo>
                  <a:pt x="42583" y="76888"/>
                </a:lnTo>
                <a:lnTo>
                  <a:pt x="45250" y="56000"/>
                </a:lnTo>
                <a:lnTo>
                  <a:pt x="47875" y="76888"/>
                </a:lnTo>
                <a:lnTo>
                  <a:pt x="47875" y="88888"/>
                </a:lnTo>
                <a:lnTo>
                  <a:pt x="48666" y="88888"/>
                </a:lnTo>
                <a:lnTo>
                  <a:pt x="48666" y="104000"/>
                </a:lnTo>
                <a:lnTo>
                  <a:pt x="49208" y="104000"/>
                </a:lnTo>
                <a:lnTo>
                  <a:pt x="49208" y="73333"/>
                </a:lnTo>
                <a:lnTo>
                  <a:pt x="51500" y="73333"/>
                </a:lnTo>
                <a:lnTo>
                  <a:pt x="51500" y="85777"/>
                </a:lnTo>
                <a:lnTo>
                  <a:pt x="53708" y="85777"/>
                </a:lnTo>
                <a:lnTo>
                  <a:pt x="53708" y="94666"/>
                </a:lnTo>
                <a:lnTo>
                  <a:pt x="54500" y="94666"/>
                </a:lnTo>
                <a:lnTo>
                  <a:pt x="54500" y="85777"/>
                </a:lnTo>
                <a:lnTo>
                  <a:pt x="57125" y="85777"/>
                </a:lnTo>
                <a:lnTo>
                  <a:pt x="57125" y="102222"/>
                </a:lnTo>
                <a:lnTo>
                  <a:pt x="57625" y="102222"/>
                </a:lnTo>
                <a:lnTo>
                  <a:pt x="57625" y="104888"/>
                </a:lnTo>
                <a:lnTo>
                  <a:pt x="58875" y="104888"/>
                </a:lnTo>
                <a:lnTo>
                  <a:pt x="58875" y="94222"/>
                </a:lnTo>
                <a:lnTo>
                  <a:pt x="61666" y="94222"/>
                </a:lnTo>
                <a:lnTo>
                  <a:pt x="61666" y="89777"/>
                </a:lnTo>
                <a:lnTo>
                  <a:pt x="62250" y="89777"/>
                </a:lnTo>
                <a:lnTo>
                  <a:pt x="62250" y="84000"/>
                </a:lnTo>
                <a:lnTo>
                  <a:pt x="62833" y="84000"/>
                </a:lnTo>
                <a:lnTo>
                  <a:pt x="62833" y="88888"/>
                </a:lnTo>
                <a:lnTo>
                  <a:pt x="63500" y="88888"/>
                </a:lnTo>
                <a:lnTo>
                  <a:pt x="63500" y="83111"/>
                </a:lnTo>
                <a:lnTo>
                  <a:pt x="64999" y="83111"/>
                </a:lnTo>
                <a:lnTo>
                  <a:pt x="64999" y="88444"/>
                </a:lnTo>
                <a:lnTo>
                  <a:pt x="65666" y="88444"/>
                </a:lnTo>
                <a:lnTo>
                  <a:pt x="65666" y="103111"/>
                </a:lnTo>
                <a:lnTo>
                  <a:pt x="66916" y="103111"/>
                </a:lnTo>
                <a:lnTo>
                  <a:pt x="66916" y="82666"/>
                </a:lnTo>
                <a:lnTo>
                  <a:pt x="69375" y="82666"/>
                </a:lnTo>
                <a:lnTo>
                  <a:pt x="69375" y="88888"/>
                </a:lnTo>
                <a:lnTo>
                  <a:pt x="70416" y="88888"/>
                </a:lnTo>
                <a:lnTo>
                  <a:pt x="70416" y="46222"/>
                </a:lnTo>
                <a:lnTo>
                  <a:pt x="71500" y="35111"/>
                </a:lnTo>
                <a:lnTo>
                  <a:pt x="72458" y="45777"/>
                </a:lnTo>
                <a:lnTo>
                  <a:pt x="72458" y="103111"/>
                </a:lnTo>
                <a:lnTo>
                  <a:pt x="73583" y="103111"/>
                </a:lnTo>
                <a:lnTo>
                  <a:pt x="73583" y="47555"/>
                </a:lnTo>
                <a:lnTo>
                  <a:pt x="76916" y="47555"/>
                </a:lnTo>
                <a:lnTo>
                  <a:pt x="76916" y="97777"/>
                </a:lnTo>
                <a:lnTo>
                  <a:pt x="77541" y="97777"/>
                </a:lnTo>
                <a:lnTo>
                  <a:pt x="77541" y="85777"/>
                </a:lnTo>
                <a:lnTo>
                  <a:pt x="79000" y="85777"/>
                </a:lnTo>
                <a:lnTo>
                  <a:pt x="79000" y="92888"/>
                </a:lnTo>
                <a:lnTo>
                  <a:pt x="82000" y="92888"/>
                </a:lnTo>
                <a:lnTo>
                  <a:pt x="82000" y="102222"/>
                </a:lnTo>
                <a:lnTo>
                  <a:pt x="84333" y="102222"/>
                </a:lnTo>
                <a:lnTo>
                  <a:pt x="84333" y="88000"/>
                </a:lnTo>
                <a:lnTo>
                  <a:pt x="85583" y="88000"/>
                </a:lnTo>
                <a:lnTo>
                  <a:pt x="85583" y="96000"/>
                </a:lnTo>
                <a:lnTo>
                  <a:pt x="86500" y="96000"/>
                </a:lnTo>
                <a:lnTo>
                  <a:pt x="86500" y="91111"/>
                </a:lnTo>
                <a:lnTo>
                  <a:pt x="87791" y="91111"/>
                </a:lnTo>
                <a:lnTo>
                  <a:pt x="87791" y="84888"/>
                </a:lnTo>
                <a:lnTo>
                  <a:pt x="89375" y="84888"/>
                </a:lnTo>
                <a:lnTo>
                  <a:pt x="89375" y="100888"/>
                </a:lnTo>
                <a:lnTo>
                  <a:pt x="90541" y="100888"/>
                </a:lnTo>
                <a:lnTo>
                  <a:pt x="90541" y="63111"/>
                </a:lnTo>
                <a:lnTo>
                  <a:pt x="92458" y="63555"/>
                </a:lnTo>
                <a:lnTo>
                  <a:pt x="92458" y="84444"/>
                </a:lnTo>
                <a:lnTo>
                  <a:pt x="93750" y="84444"/>
                </a:lnTo>
                <a:lnTo>
                  <a:pt x="93750" y="97333"/>
                </a:lnTo>
                <a:lnTo>
                  <a:pt x="95375" y="97333"/>
                </a:lnTo>
                <a:lnTo>
                  <a:pt x="95375" y="83111"/>
                </a:lnTo>
                <a:lnTo>
                  <a:pt x="96500" y="83111"/>
                </a:lnTo>
                <a:lnTo>
                  <a:pt x="96500" y="77333"/>
                </a:lnTo>
                <a:lnTo>
                  <a:pt x="98000" y="77333"/>
                </a:lnTo>
                <a:lnTo>
                  <a:pt x="98000" y="81333"/>
                </a:lnTo>
                <a:lnTo>
                  <a:pt x="99041" y="81333"/>
                </a:lnTo>
                <a:lnTo>
                  <a:pt x="99041" y="75111"/>
                </a:lnTo>
                <a:lnTo>
                  <a:pt x="101000" y="59555"/>
                </a:lnTo>
                <a:lnTo>
                  <a:pt x="102916" y="75111"/>
                </a:lnTo>
                <a:lnTo>
                  <a:pt x="102916" y="96444"/>
                </a:lnTo>
                <a:lnTo>
                  <a:pt x="103250" y="96444"/>
                </a:lnTo>
                <a:lnTo>
                  <a:pt x="103250" y="92000"/>
                </a:lnTo>
                <a:lnTo>
                  <a:pt x="104750" y="92000"/>
                </a:lnTo>
                <a:lnTo>
                  <a:pt x="104750" y="111111"/>
                </a:lnTo>
                <a:lnTo>
                  <a:pt x="105125" y="111111"/>
                </a:lnTo>
                <a:lnTo>
                  <a:pt x="105125" y="101777"/>
                </a:lnTo>
                <a:lnTo>
                  <a:pt x="106291" y="101777"/>
                </a:lnTo>
                <a:lnTo>
                  <a:pt x="106291" y="81777"/>
                </a:lnTo>
                <a:lnTo>
                  <a:pt x="107791" y="81777"/>
                </a:lnTo>
                <a:lnTo>
                  <a:pt x="107791" y="101777"/>
                </a:lnTo>
                <a:lnTo>
                  <a:pt x="107833" y="101777"/>
                </a:lnTo>
                <a:lnTo>
                  <a:pt x="107833" y="93777"/>
                </a:lnTo>
                <a:lnTo>
                  <a:pt x="108583" y="93777"/>
                </a:lnTo>
                <a:lnTo>
                  <a:pt x="108583" y="89777"/>
                </a:lnTo>
                <a:lnTo>
                  <a:pt x="110166" y="89777"/>
                </a:lnTo>
                <a:lnTo>
                  <a:pt x="110166" y="103111"/>
                </a:lnTo>
                <a:lnTo>
                  <a:pt x="110416" y="103111"/>
                </a:lnTo>
                <a:lnTo>
                  <a:pt x="110416" y="93777"/>
                </a:lnTo>
                <a:lnTo>
                  <a:pt x="110625" y="93777"/>
                </a:lnTo>
                <a:lnTo>
                  <a:pt x="110625" y="76444"/>
                </a:lnTo>
                <a:lnTo>
                  <a:pt x="111416" y="76444"/>
                </a:lnTo>
                <a:lnTo>
                  <a:pt x="111416" y="68444"/>
                </a:lnTo>
                <a:lnTo>
                  <a:pt x="111833" y="68444"/>
                </a:lnTo>
                <a:lnTo>
                  <a:pt x="111833" y="64000"/>
                </a:lnTo>
                <a:lnTo>
                  <a:pt x="112916" y="64000"/>
                </a:lnTo>
                <a:lnTo>
                  <a:pt x="112916" y="68444"/>
                </a:lnTo>
                <a:lnTo>
                  <a:pt x="113375" y="68444"/>
                </a:lnTo>
                <a:lnTo>
                  <a:pt x="113375" y="91555"/>
                </a:lnTo>
                <a:lnTo>
                  <a:pt x="113416" y="91555"/>
                </a:lnTo>
                <a:lnTo>
                  <a:pt x="113416" y="91555"/>
                </a:lnTo>
                <a:lnTo>
                  <a:pt x="114666" y="91555"/>
                </a:lnTo>
                <a:lnTo>
                  <a:pt x="114666" y="79555"/>
                </a:lnTo>
                <a:lnTo>
                  <a:pt x="115250" y="79555"/>
                </a:lnTo>
                <a:lnTo>
                  <a:pt x="115250" y="68444"/>
                </a:lnTo>
                <a:lnTo>
                  <a:pt x="115625" y="68444"/>
                </a:lnTo>
                <a:lnTo>
                  <a:pt x="115625" y="55111"/>
                </a:lnTo>
                <a:lnTo>
                  <a:pt x="115916" y="55111"/>
                </a:lnTo>
                <a:lnTo>
                  <a:pt x="115916" y="44888"/>
                </a:lnTo>
                <a:lnTo>
                  <a:pt x="116250" y="44888"/>
                </a:lnTo>
                <a:lnTo>
                  <a:pt x="116250" y="34222"/>
                </a:lnTo>
                <a:lnTo>
                  <a:pt x="116666" y="34222"/>
                </a:lnTo>
                <a:lnTo>
                  <a:pt x="116666" y="44444"/>
                </a:lnTo>
                <a:lnTo>
                  <a:pt x="117000" y="44444"/>
                </a:lnTo>
                <a:lnTo>
                  <a:pt x="117000" y="52888"/>
                </a:lnTo>
                <a:lnTo>
                  <a:pt x="117333" y="52888"/>
                </a:lnTo>
                <a:lnTo>
                  <a:pt x="117333" y="68888"/>
                </a:lnTo>
                <a:lnTo>
                  <a:pt x="117708" y="68888"/>
                </a:lnTo>
                <a:lnTo>
                  <a:pt x="117708" y="80444"/>
                </a:lnTo>
                <a:lnTo>
                  <a:pt x="118166" y="80444"/>
                </a:lnTo>
                <a:lnTo>
                  <a:pt x="118166" y="92000"/>
                </a:lnTo>
                <a:lnTo>
                  <a:pt x="120000" y="9200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</p:spPr>
        <p:txBody>
          <a:bodyPr lIns="68569" tIns="34275" rIns="68569" bIns="34275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015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0240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10240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10240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004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散列查找概念</a:t>
            </a:r>
            <a:endParaRPr lang="zh-CN" altLang="en-US" dirty="0"/>
          </a:p>
        </p:txBody>
      </p:sp>
      <p:sp>
        <p:nvSpPr>
          <p:cNvPr id="4" name="矩形 1"/>
          <p:cNvSpPr>
            <a:spLocks noChangeArrowheads="1"/>
          </p:cNvSpPr>
          <p:nvPr/>
        </p:nvSpPr>
        <p:spPr bwMode="auto">
          <a:xfrm>
            <a:off x="395536" y="1124744"/>
            <a:ext cx="7643813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2400" b="1" dirty="0">
                <a:solidFill>
                  <a:srgbClr val="3333FF"/>
                </a:solidFill>
                <a:latin typeface="Times New Roman" pitchFamily="18" charset="0"/>
                <a:sym typeface="Wingdings" pitchFamily="2" charset="2"/>
              </a:rPr>
              <a:t></a:t>
            </a:r>
            <a:r>
              <a:rPr lang="zh-CN" altLang="en-US" sz="2000" b="1" dirty="0">
                <a:latin typeface="Times New Roman" pitchFamily="18" charset="0"/>
              </a:rPr>
              <a:t>“散列（</a:t>
            </a:r>
            <a:r>
              <a:rPr lang="en-US" altLang="zh-CN" sz="2000" b="1" dirty="0">
                <a:latin typeface="Times New Roman" pitchFamily="18" charset="0"/>
              </a:rPr>
              <a:t>Hashing</a:t>
            </a:r>
            <a:r>
              <a:rPr lang="zh-CN" altLang="en-US" sz="2000" b="1" dirty="0">
                <a:latin typeface="Times New Roman" pitchFamily="18" charset="0"/>
              </a:rPr>
              <a:t>）” 的基本思想是：以数据对象的关键字</a:t>
            </a:r>
            <a:r>
              <a:rPr lang="en-US" altLang="zh-CN" sz="2000" b="1" dirty="0">
                <a:solidFill>
                  <a:srgbClr val="3333FF"/>
                </a:solidFill>
                <a:latin typeface="Times New Roman" pitchFamily="18" charset="0"/>
              </a:rPr>
              <a:t>key</a:t>
            </a:r>
            <a:r>
              <a:rPr lang="zh-CN" altLang="en-US" sz="2000" b="1" dirty="0">
                <a:latin typeface="Times New Roman" pitchFamily="18" charset="0"/>
              </a:rPr>
              <a:t>为自变量，通过一个确定的</a:t>
            </a:r>
            <a:r>
              <a:rPr lang="zh-CN" altLang="en-US" sz="2000" b="1" dirty="0">
                <a:solidFill>
                  <a:srgbClr val="3333FF"/>
                </a:solidFill>
                <a:latin typeface="Times New Roman" pitchFamily="18" charset="0"/>
              </a:rPr>
              <a:t>函数关系 </a:t>
            </a:r>
            <a:r>
              <a:rPr lang="en-US" altLang="zh-CN" sz="2000" b="1" dirty="0">
                <a:solidFill>
                  <a:srgbClr val="3333FF"/>
                </a:solidFill>
                <a:latin typeface="Times New Roman" pitchFamily="18" charset="0"/>
              </a:rPr>
              <a:t>h</a:t>
            </a:r>
            <a:r>
              <a:rPr lang="zh-CN" altLang="en-US" sz="2000" b="1" dirty="0">
                <a:latin typeface="Times New Roman" pitchFamily="18" charset="0"/>
              </a:rPr>
              <a:t>，计算出对应的函数值</a:t>
            </a:r>
            <a:r>
              <a:rPr lang="en-US" altLang="zh-CN" sz="2000" b="1" dirty="0">
                <a:latin typeface="Times New Roman" pitchFamily="18" charset="0"/>
              </a:rPr>
              <a:t>h(key)</a:t>
            </a:r>
            <a:r>
              <a:rPr lang="zh-CN" altLang="en-US" sz="2000" b="1" dirty="0">
                <a:latin typeface="Times New Roman" pitchFamily="18" charset="0"/>
              </a:rPr>
              <a:t>，把这个值解释为数据对象的存储地址，并按此存放，即“</a:t>
            </a:r>
            <a:r>
              <a:rPr lang="zh-CN" altLang="en-US" sz="2000" b="1" dirty="0">
                <a:solidFill>
                  <a:srgbClr val="3333FF"/>
                </a:solidFill>
                <a:latin typeface="Times New Roman" pitchFamily="18" charset="0"/>
              </a:rPr>
              <a:t>存储位置 </a:t>
            </a:r>
            <a:r>
              <a:rPr lang="en-US" altLang="zh-CN" sz="2000" b="1" dirty="0">
                <a:solidFill>
                  <a:srgbClr val="3333FF"/>
                </a:solidFill>
                <a:latin typeface="Times New Roman" pitchFamily="18" charset="0"/>
              </a:rPr>
              <a:t>= h</a:t>
            </a:r>
            <a:r>
              <a:rPr lang="zh-CN" altLang="en-US" sz="2000" b="1" dirty="0">
                <a:solidFill>
                  <a:srgbClr val="3333FF"/>
                </a:solidFill>
                <a:latin typeface="Times New Roman" pitchFamily="18" charset="0"/>
              </a:rPr>
              <a:t>（</a:t>
            </a:r>
            <a:r>
              <a:rPr lang="en-US" altLang="zh-CN" sz="2000" b="1" dirty="0">
                <a:solidFill>
                  <a:srgbClr val="3333FF"/>
                </a:solidFill>
                <a:latin typeface="Times New Roman" pitchFamily="18" charset="0"/>
              </a:rPr>
              <a:t>key</a:t>
            </a:r>
            <a:r>
              <a:rPr lang="zh-CN" altLang="en-US" sz="2000" b="1" dirty="0">
                <a:solidFill>
                  <a:srgbClr val="3333FF"/>
                </a:solidFill>
                <a:latin typeface="Times New Roman" pitchFamily="18" charset="0"/>
              </a:rPr>
              <a:t>）</a:t>
            </a:r>
            <a:r>
              <a:rPr lang="zh-CN" altLang="en-US" sz="2000" b="1" dirty="0">
                <a:latin typeface="Times New Roman" pitchFamily="18" charset="0"/>
              </a:rPr>
              <a:t>”。</a:t>
            </a:r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395536" y="2482057"/>
            <a:ext cx="7929563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2400" b="1" dirty="0">
                <a:solidFill>
                  <a:srgbClr val="3333FF"/>
                </a:solidFill>
                <a:latin typeface="Times New Roman" pitchFamily="18" charset="0"/>
                <a:sym typeface="Wingdings" pitchFamily="2" charset="2"/>
              </a:rPr>
              <a:t> </a:t>
            </a:r>
            <a:r>
              <a:rPr lang="zh-CN" altLang="en-US" sz="2000" b="1" dirty="0">
                <a:latin typeface="Times New Roman" pitchFamily="18" charset="0"/>
              </a:rPr>
              <a:t>散列方法中使用的计算函数称为“</a:t>
            </a:r>
            <a:r>
              <a:rPr lang="zh-CN" altLang="en-US" sz="2000" b="1" dirty="0">
                <a:solidFill>
                  <a:srgbClr val="3333FF"/>
                </a:solidFill>
                <a:latin typeface="Times New Roman" pitchFamily="18" charset="0"/>
              </a:rPr>
              <a:t>散列函数</a:t>
            </a:r>
            <a:r>
              <a:rPr lang="zh-CN" altLang="en-US" sz="2000" b="1" dirty="0">
                <a:latin typeface="Times New Roman" pitchFamily="18" charset="0"/>
              </a:rPr>
              <a:t>”</a:t>
            </a:r>
            <a:r>
              <a:rPr lang="zh-CN" altLang="en-US" sz="2000" b="1" dirty="0">
                <a:solidFill>
                  <a:srgbClr val="3333FF"/>
                </a:solidFill>
                <a:latin typeface="Times New Roman" pitchFamily="18" charset="0"/>
              </a:rPr>
              <a:t> </a:t>
            </a:r>
            <a:r>
              <a:rPr lang="zh-CN" altLang="en-US" sz="2000" b="1" dirty="0">
                <a:latin typeface="Times New Roman" pitchFamily="18" charset="0"/>
              </a:rPr>
              <a:t>（也称哈希函数），按这个思想构造的表称为“</a:t>
            </a:r>
            <a:r>
              <a:rPr lang="zh-CN" altLang="en-US" sz="2000" b="1" dirty="0">
                <a:solidFill>
                  <a:srgbClr val="3333FF"/>
                </a:solidFill>
                <a:latin typeface="Times New Roman" pitchFamily="18" charset="0"/>
              </a:rPr>
              <a:t>散列表</a:t>
            </a:r>
            <a:r>
              <a:rPr lang="zh-CN" altLang="en-US" sz="2000" b="1" dirty="0">
                <a:latin typeface="Times New Roman" pitchFamily="18" charset="0"/>
              </a:rPr>
              <a:t>”，所以它也是一种存储方法。</a:t>
            </a:r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395536" y="3267869"/>
            <a:ext cx="7929563" cy="107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2400" b="1" dirty="0">
                <a:solidFill>
                  <a:srgbClr val="3333FF"/>
                </a:solidFill>
                <a:latin typeface="Times New Roman" pitchFamily="18" charset="0"/>
                <a:sym typeface="Wingdings" pitchFamily="2" charset="2"/>
              </a:rPr>
              <a:t> </a:t>
            </a:r>
            <a:r>
              <a:rPr lang="zh-CN" altLang="en-US" sz="2000" b="1" dirty="0">
                <a:latin typeface="Times New Roman" pitchFamily="18" charset="0"/>
              </a:rPr>
              <a:t>在查找某数据对象时，用同样的方法“</a:t>
            </a:r>
            <a:r>
              <a:rPr lang="zh-CN" altLang="en-US" sz="2000" b="1" dirty="0">
                <a:solidFill>
                  <a:srgbClr val="3333FF"/>
                </a:solidFill>
                <a:latin typeface="Times New Roman" pitchFamily="18" charset="0"/>
              </a:rPr>
              <a:t>存储位置 </a:t>
            </a:r>
            <a:r>
              <a:rPr lang="en-US" altLang="zh-CN" sz="2000" b="1" dirty="0">
                <a:solidFill>
                  <a:srgbClr val="3333FF"/>
                </a:solidFill>
                <a:latin typeface="Times New Roman" pitchFamily="18" charset="0"/>
              </a:rPr>
              <a:t>= h</a:t>
            </a:r>
            <a:r>
              <a:rPr lang="zh-CN" altLang="en-US" sz="2000" b="1" dirty="0">
                <a:solidFill>
                  <a:srgbClr val="3333FF"/>
                </a:solidFill>
                <a:latin typeface="Times New Roman" pitchFamily="18" charset="0"/>
              </a:rPr>
              <a:t>（</a:t>
            </a:r>
            <a:r>
              <a:rPr lang="en-US" altLang="zh-CN" sz="2000" b="1" dirty="0">
                <a:solidFill>
                  <a:srgbClr val="3333FF"/>
                </a:solidFill>
                <a:latin typeface="Times New Roman" pitchFamily="18" charset="0"/>
              </a:rPr>
              <a:t>key</a:t>
            </a:r>
            <a:r>
              <a:rPr lang="zh-CN" altLang="en-US" sz="2000" b="1" dirty="0">
                <a:solidFill>
                  <a:srgbClr val="3333FF"/>
                </a:solidFill>
                <a:latin typeface="Times New Roman" pitchFamily="18" charset="0"/>
              </a:rPr>
              <a:t>）</a:t>
            </a:r>
            <a:r>
              <a:rPr lang="zh-CN" altLang="en-US" sz="2000" b="1" dirty="0">
                <a:latin typeface="Times New Roman" pitchFamily="18" charset="0"/>
              </a:rPr>
              <a:t>”计算出地址，将</a:t>
            </a:r>
            <a:r>
              <a:rPr lang="en-US" altLang="zh-CN" sz="2000" b="1" dirty="0">
                <a:latin typeface="Times New Roman" pitchFamily="18" charset="0"/>
              </a:rPr>
              <a:t>key</a:t>
            </a:r>
            <a:r>
              <a:rPr lang="zh-CN" altLang="en-US" sz="2000" b="1" dirty="0">
                <a:latin typeface="Times New Roman" pitchFamily="18" charset="0"/>
              </a:rPr>
              <a:t>与该地址单元中数据对象关键字进行比较，确定查找是否成功。</a:t>
            </a:r>
          </a:p>
        </p:txBody>
      </p:sp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395536" y="5410994"/>
            <a:ext cx="7572375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2400" b="1" dirty="0">
                <a:solidFill>
                  <a:srgbClr val="3333FF"/>
                </a:solidFill>
                <a:latin typeface="Times New Roman" pitchFamily="18" charset="0"/>
                <a:sym typeface="Wingdings" pitchFamily="2" charset="2"/>
              </a:rPr>
              <a:t></a:t>
            </a:r>
            <a:r>
              <a:rPr lang="zh-CN" altLang="en-US" sz="2000" b="1" dirty="0">
                <a:latin typeface="Times New Roman" pitchFamily="18" charset="0"/>
              </a:rPr>
              <a:t>通常关键词的</a:t>
            </a:r>
            <a:r>
              <a:rPr lang="zh-CN" altLang="en-US" sz="2000" b="1" dirty="0">
                <a:solidFill>
                  <a:srgbClr val="3333FF"/>
                </a:solidFill>
                <a:latin typeface="Times New Roman" pitchFamily="18" charset="0"/>
              </a:rPr>
              <a:t>值域</a:t>
            </a:r>
            <a:r>
              <a:rPr lang="zh-CN" altLang="en-US" sz="2000" b="1" dirty="0">
                <a:latin typeface="Times New Roman" pitchFamily="18" charset="0"/>
              </a:rPr>
              <a:t>（允许取值的范围）远远大于表空间的</a:t>
            </a:r>
            <a:r>
              <a:rPr lang="zh-CN" altLang="en-US" sz="2000" b="1" dirty="0">
                <a:solidFill>
                  <a:srgbClr val="3333FF"/>
                </a:solidFill>
                <a:latin typeface="Times New Roman" pitchFamily="18" charset="0"/>
              </a:rPr>
              <a:t>地址集</a:t>
            </a:r>
            <a:r>
              <a:rPr lang="zh-CN" altLang="en-US" sz="2000" b="1" dirty="0">
                <a:latin typeface="Times New Roman" pitchFamily="18" charset="0"/>
              </a:rPr>
              <a:t>，所以说，</a:t>
            </a:r>
            <a:r>
              <a:rPr lang="zh-CN" altLang="en-US" sz="2000" b="1" dirty="0">
                <a:solidFill>
                  <a:srgbClr val="3333FF"/>
                </a:solidFill>
                <a:latin typeface="Times New Roman" pitchFamily="18" charset="0"/>
              </a:rPr>
              <a:t>冲突不可能避免，只能尽可能减少</a:t>
            </a:r>
            <a:r>
              <a:rPr lang="zh-CN" altLang="en-US" sz="2000" b="1" dirty="0">
                <a:latin typeface="Times New Roman" pitchFamily="18" charset="0"/>
              </a:rPr>
              <a:t>。</a:t>
            </a:r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395536" y="4339432"/>
            <a:ext cx="7643813" cy="1077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2400" b="1">
                <a:solidFill>
                  <a:srgbClr val="3333FF"/>
                </a:solidFill>
                <a:latin typeface="Times New Roman" pitchFamily="18" charset="0"/>
                <a:sym typeface="Wingdings" pitchFamily="2" charset="2"/>
              </a:rPr>
              <a:t></a:t>
            </a:r>
            <a:r>
              <a:rPr lang="en-US" altLang="zh-CN" sz="2000" b="1">
                <a:solidFill>
                  <a:srgbClr val="3333FF"/>
                </a:solidFill>
                <a:latin typeface="Times New Roman" pitchFamily="18" charset="0"/>
                <a:sym typeface="Wingdings" pitchFamily="2" charset="2"/>
              </a:rPr>
              <a:t> </a:t>
            </a:r>
            <a:r>
              <a:rPr lang="zh-CN" altLang="en-US" sz="2000" b="1">
                <a:latin typeface="Times New Roman" pitchFamily="18" charset="0"/>
              </a:rPr>
              <a:t>可能将</a:t>
            </a:r>
            <a:r>
              <a:rPr lang="zh-CN" altLang="en-US" sz="2000" b="1">
                <a:solidFill>
                  <a:srgbClr val="3333FF"/>
                </a:solidFill>
                <a:latin typeface="Times New Roman" pitchFamily="18" charset="0"/>
              </a:rPr>
              <a:t>不同的关键字映射到同一个散列地址</a:t>
            </a:r>
            <a:r>
              <a:rPr lang="zh-CN" altLang="en-US" sz="2000" b="1">
                <a:latin typeface="Times New Roman" pitchFamily="18" charset="0"/>
              </a:rPr>
              <a:t>上，即</a:t>
            </a:r>
            <a:r>
              <a:rPr lang="en-US" altLang="zh-CN" sz="2000" b="1">
                <a:latin typeface="Times New Roman" pitchFamily="18" charset="0"/>
              </a:rPr>
              <a:t>h(key</a:t>
            </a:r>
            <a:r>
              <a:rPr lang="en-US" altLang="zh-CN" sz="2000" b="1" baseline="-25000">
                <a:latin typeface="Times New Roman" pitchFamily="18" charset="0"/>
              </a:rPr>
              <a:t>i</a:t>
            </a:r>
            <a:r>
              <a:rPr lang="en-US" altLang="zh-CN" sz="2000" b="1">
                <a:latin typeface="Times New Roman" pitchFamily="18" charset="0"/>
              </a:rPr>
              <a:t>) = h(key</a:t>
            </a:r>
            <a:r>
              <a:rPr lang="en-US" altLang="zh-CN" sz="2000" b="1" baseline="-25000">
                <a:latin typeface="Times New Roman" pitchFamily="18" charset="0"/>
              </a:rPr>
              <a:t>j</a:t>
            </a:r>
            <a:r>
              <a:rPr lang="en-US" altLang="zh-CN" sz="2000" b="1">
                <a:latin typeface="Times New Roman" pitchFamily="18" charset="0"/>
              </a:rPr>
              <a:t>)</a:t>
            </a:r>
            <a:r>
              <a:rPr lang="zh-CN" altLang="en-US" sz="2000" b="1">
                <a:latin typeface="Times New Roman" pitchFamily="18" charset="0"/>
              </a:rPr>
              <a:t>（当</a:t>
            </a:r>
            <a:r>
              <a:rPr lang="en-US" altLang="zh-CN" sz="2000" b="1">
                <a:latin typeface="Times New Roman" pitchFamily="18" charset="0"/>
              </a:rPr>
              <a:t>key</a:t>
            </a:r>
            <a:r>
              <a:rPr lang="en-US" altLang="zh-CN" sz="2000" b="1" baseline="-25000">
                <a:latin typeface="Times New Roman" pitchFamily="18" charset="0"/>
              </a:rPr>
              <a:t>i</a:t>
            </a:r>
            <a:r>
              <a:rPr lang="en-US" altLang="zh-CN" sz="2000" b="1">
                <a:latin typeface="Times New Roman" pitchFamily="18" charset="0"/>
              </a:rPr>
              <a:t> ≠key</a:t>
            </a:r>
            <a:r>
              <a:rPr lang="en-US" altLang="zh-CN" sz="2000" b="1" baseline="-25000">
                <a:latin typeface="Times New Roman" pitchFamily="18" charset="0"/>
              </a:rPr>
              <a:t>j</a:t>
            </a:r>
            <a:r>
              <a:rPr lang="zh-CN" altLang="en-US" sz="2000" b="1">
                <a:latin typeface="Times New Roman" pitchFamily="18" charset="0"/>
              </a:rPr>
              <a:t>），这种现象称为“</a:t>
            </a:r>
            <a:r>
              <a:rPr lang="zh-CN" altLang="en-US" sz="2000" b="1">
                <a:solidFill>
                  <a:srgbClr val="3333FF"/>
                </a:solidFill>
                <a:latin typeface="Times New Roman" pitchFamily="18" charset="0"/>
              </a:rPr>
              <a:t>冲突</a:t>
            </a:r>
            <a:r>
              <a:rPr lang="en-US" altLang="zh-CN" sz="2000" b="1">
                <a:solidFill>
                  <a:srgbClr val="3333FF"/>
                </a:solidFill>
                <a:latin typeface="Times New Roman" pitchFamily="18" charset="0"/>
              </a:rPr>
              <a:t>(Collision)”</a:t>
            </a:r>
            <a:r>
              <a:rPr lang="zh-CN" altLang="en-US" sz="2000" b="1">
                <a:latin typeface="Times New Roman" pitchFamily="18" charset="0"/>
              </a:rPr>
              <a:t>，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altLang="zh-CN" sz="2000" b="1">
                <a:latin typeface="Times New Roman" pitchFamily="18" charset="0"/>
              </a:rPr>
              <a:t>key</a:t>
            </a:r>
            <a:r>
              <a:rPr lang="en-US" altLang="zh-CN" sz="2000" b="1" baseline="-25000">
                <a:latin typeface="Times New Roman" pitchFamily="18" charset="0"/>
              </a:rPr>
              <a:t>i</a:t>
            </a:r>
            <a:r>
              <a:rPr lang="en-US" altLang="zh-CN" sz="2000" b="1">
                <a:latin typeface="Times New Roman" pitchFamily="18" charset="0"/>
              </a:rPr>
              <a:t> </a:t>
            </a:r>
            <a:r>
              <a:rPr lang="zh-CN" altLang="en-US" sz="2000" b="1">
                <a:latin typeface="Times New Roman" pitchFamily="18" charset="0"/>
              </a:rPr>
              <a:t>和</a:t>
            </a:r>
            <a:r>
              <a:rPr lang="en-US" altLang="zh-CN" sz="2000" b="1">
                <a:latin typeface="Times New Roman" pitchFamily="18" charset="0"/>
              </a:rPr>
              <a:t>key</a:t>
            </a:r>
            <a:r>
              <a:rPr lang="en-US" altLang="zh-CN" sz="2000" b="1" baseline="-25000">
                <a:latin typeface="Times New Roman" pitchFamily="18" charset="0"/>
              </a:rPr>
              <a:t>j</a:t>
            </a:r>
            <a:r>
              <a:rPr lang="zh-CN" altLang="en-US" sz="2000" b="1">
                <a:latin typeface="Times New Roman" pitchFamily="18" charset="0"/>
              </a:rPr>
              <a:t>称为“</a:t>
            </a:r>
            <a:r>
              <a:rPr lang="zh-CN" altLang="en-US" sz="2000" b="1">
                <a:solidFill>
                  <a:srgbClr val="3333FF"/>
                </a:solidFill>
                <a:latin typeface="Times New Roman" pitchFamily="18" charset="0"/>
              </a:rPr>
              <a:t>同义词（</a:t>
            </a:r>
            <a:r>
              <a:rPr lang="en-US" altLang="zh-CN" sz="2000" b="1">
                <a:solidFill>
                  <a:srgbClr val="3333FF"/>
                </a:solidFill>
                <a:latin typeface="Times New Roman" pitchFamily="18" charset="0"/>
              </a:rPr>
              <a:t>synonym</a:t>
            </a:r>
            <a:r>
              <a:rPr lang="zh-CN" altLang="en-US" sz="2000" b="1">
                <a:solidFill>
                  <a:srgbClr val="3333FF"/>
                </a:solidFill>
                <a:latin typeface="Times New Roman" pitchFamily="18" charset="0"/>
              </a:rPr>
              <a:t>）</a:t>
            </a:r>
            <a:r>
              <a:rPr lang="zh-CN" altLang="en-US" sz="2000" b="1">
                <a:latin typeface="Times New Roman" pitchFamily="18" charset="0"/>
              </a:rPr>
              <a:t>”。</a:t>
            </a:r>
            <a:endParaRPr lang="en-US" altLang="zh-CN" sz="2000" b="1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65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散列查找</a:t>
            </a:r>
            <a:endParaRPr lang="zh-CN" altLang="en-US" dirty="0"/>
          </a:p>
        </p:txBody>
      </p:sp>
      <p:sp>
        <p:nvSpPr>
          <p:cNvPr id="4" name="矩形 2"/>
          <p:cNvSpPr>
            <a:spLocks noChangeArrowheads="1"/>
          </p:cNvSpPr>
          <p:nvPr/>
        </p:nvSpPr>
        <p:spPr bwMode="auto">
          <a:xfrm>
            <a:off x="857250" y="1052736"/>
            <a:ext cx="7286625" cy="2246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2000" b="1" dirty="0">
                <a:solidFill>
                  <a:srgbClr val="3333FF"/>
                </a:solidFill>
                <a:latin typeface="Times New Roman" pitchFamily="18" charset="0"/>
              </a:rPr>
              <a:t>[</a:t>
            </a:r>
            <a:r>
              <a:rPr lang="zh-CN" altLang="en-US" sz="2000" b="1" dirty="0" smtClean="0">
                <a:solidFill>
                  <a:srgbClr val="3333FF"/>
                </a:solidFill>
                <a:latin typeface="Times New Roman" pitchFamily="18" charset="0"/>
              </a:rPr>
              <a:t>例</a:t>
            </a:r>
            <a:r>
              <a:rPr lang="en-US" altLang="zh-CN" sz="2000" b="1" dirty="0" smtClean="0">
                <a:solidFill>
                  <a:srgbClr val="3333FF"/>
                </a:solidFill>
                <a:latin typeface="Times New Roman" pitchFamily="18" charset="0"/>
              </a:rPr>
              <a:t>] </a:t>
            </a:r>
            <a:r>
              <a:rPr lang="zh-CN" altLang="en-US" sz="2000" b="1" dirty="0">
                <a:latin typeface="Times New Roman" pitchFamily="18" charset="0"/>
              </a:rPr>
              <a:t>有</a:t>
            </a:r>
            <a:r>
              <a:rPr lang="en-US" altLang="zh-CN" sz="2000" b="1" dirty="0">
                <a:latin typeface="Times New Roman" pitchFamily="18" charset="0"/>
              </a:rPr>
              <a:t>n = 11</a:t>
            </a:r>
            <a:r>
              <a:rPr lang="zh-CN" altLang="en-US" sz="2000" b="1" dirty="0">
                <a:latin typeface="Times New Roman" pitchFamily="18" charset="0"/>
              </a:rPr>
              <a:t>个数据对象的集合，关键词是正整数，分别为 </a:t>
            </a:r>
            <a:r>
              <a:rPr lang="en-US" altLang="zh-CN" sz="2000" b="1" dirty="0">
                <a:latin typeface="Times New Roman" pitchFamily="18" charset="0"/>
              </a:rPr>
              <a:t>18</a:t>
            </a:r>
            <a:r>
              <a:rPr lang="zh-CN" altLang="en-US" sz="2000" b="1" dirty="0">
                <a:latin typeface="Times New Roman" pitchFamily="18" charset="0"/>
              </a:rPr>
              <a:t>，</a:t>
            </a:r>
            <a:r>
              <a:rPr lang="en-US" altLang="zh-CN" sz="2000" b="1" dirty="0">
                <a:latin typeface="Times New Roman" pitchFamily="18" charset="0"/>
              </a:rPr>
              <a:t>23</a:t>
            </a:r>
            <a:r>
              <a:rPr lang="zh-CN" altLang="en-US" sz="2000" b="1" dirty="0">
                <a:latin typeface="Times New Roman" pitchFamily="18" charset="0"/>
              </a:rPr>
              <a:t>，</a:t>
            </a:r>
            <a:r>
              <a:rPr lang="en-US" altLang="zh-CN" sz="2000" b="1" dirty="0">
                <a:latin typeface="Times New Roman" pitchFamily="18" charset="0"/>
              </a:rPr>
              <a:t>11</a:t>
            </a:r>
            <a:r>
              <a:rPr lang="zh-CN" altLang="en-US" sz="2000" b="1" dirty="0">
                <a:latin typeface="Times New Roman" pitchFamily="18" charset="0"/>
              </a:rPr>
              <a:t>，</a:t>
            </a:r>
            <a:r>
              <a:rPr lang="en-US" altLang="zh-CN" sz="2000" b="1" dirty="0">
                <a:latin typeface="Times New Roman" pitchFamily="18" charset="0"/>
              </a:rPr>
              <a:t>20</a:t>
            </a:r>
            <a:r>
              <a:rPr lang="zh-CN" altLang="en-US" sz="2000" b="1" dirty="0">
                <a:latin typeface="Times New Roman" pitchFamily="18" charset="0"/>
              </a:rPr>
              <a:t>，</a:t>
            </a:r>
            <a:r>
              <a:rPr lang="en-US" altLang="zh-CN" sz="2000" b="1" dirty="0">
                <a:latin typeface="Times New Roman" pitchFamily="18" charset="0"/>
              </a:rPr>
              <a:t>2</a:t>
            </a:r>
            <a:r>
              <a:rPr lang="zh-CN" altLang="en-US" sz="2000" b="1" dirty="0">
                <a:latin typeface="Times New Roman" pitchFamily="18" charset="0"/>
              </a:rPr>
              <a:t>，</a:t>
            </a:r>
            <a:r>
              <a:rPr lang="en-US" altLang="zh-CN" sz="2000" b="1" dirty="0">
                <a:latin typeface="Times New Roman" pitchFamily="18" charset="0"/>
              </a:rPr>
              <a:t>7</a:t>
            </a:r>
            <a:r>
              <a:rPr lang="zh-CN" altLang="en-US" sz="2000" b="1" dirty="0">
                <a:latin typeface="Times New Roman" pitchFamily="18" charset="0"/>
              </a:rPr>
              <a:t>，</a:t>
            </a:r>
            <a:r>
              <a:rPr lang="en-US" altLang="zh-CN" sz="2000" b="1" dirty="0">
                <a:latin typeface="Times New Roman" pitchFamily="18" charset="0"/>
              </a:rPr>
              <a:t>27</a:t>
            </a:r>
            <a:r>
              <a:rPr lang="zh-CN" altLang="en-US" sz="2000" b="1" dirty="0">
                <a:latin typeface="Times New Roman" pitchFamily="18" charset="0"/>
              </a:rPr>
              <a:t>，</a:t>
            </a:r>
            <a:r>
              <a:rPr lang="en-US" altLang="zh-CN" sz="2000" b="1" dirty="0">
                <a:latin typeface="Times New Roman" pitchFamily="18" charset="0"/>
              </a:rPr>
              <a:t>30</a:t>
            </a:r>
            <a:r>
              <a:rPr lang="zh-CN" altLang="en-US" sz="2000" b="1" dirty="0">
                <a:latin typeface="Times New Roman" pitchFamily="18" charset="0"/>
              </a:rPr>
              <a:t>，</a:t>
            </a:r>
            <a:r>
              <a:rPr lang="en-US" altLang="zh-CN" sz="2000" b="1" dirty="0">
                <a:latin typeface="Times New Roman" pitchFamily="18" charset="0"/>
              </a:rPr>
              <a:t>42</a:t>
            </a:r>
            <a:r>
              <a:rPr lang="zh-CN" altLang="en-US" sz="2000" b="1" dirty="0">
                <a:latin typeface="Times New Roman" pitchFamily="18" charset="0"/>
              </a:rPr>
              <a:t>，</a:t>
            </a:r>
            <a:r>
              <a:rPr lang="en-US" altLang="zh-CN" sz="2000" b="1" dirty="0">
                <a:latin typeface="Times New Roman" pitchFamily="18" charset="0"/>
              </a:rPr>
              <a:t>15</a:t>
            </a:r>
            <a:r>
              <a:rPr lang="zh-CN" altLang="en-US" sz="2000" b="1" dirty="0">
                <a:latin typeface="Times New Roman" pitchFamily="18" charset="0"/>
              </a:rPr>
              <a:t>，</a:t>
            </a:r>
            <a:r>
              <a:rPr lang="en-US" altLang="zh-CN" sz="2000" b="1" dirty="0">
                <a:latin typeface="Times New Roman" pitchFamily="18" charset="0"/>
              </a:rPr>
              <a:t>34</a:t>
            </a:r>
            <a:r>
              <a:rPr lang="zh-CN" altLang="en-US" sz="2000" b="1" dirty="0">
                <a:latin typeface="Times New Roman" pitchFamily="18" charset="0"/>
              </a:rPr>
              <a:t>。如果符号表的大小用</a:t>
            </a:r>
            <a:r>
              <a:rPr lang="en-US" altLang="zh-CN" sz="2000" b="1" dirty="0" err="1">
                <a:latin typeface="Times New Roman" pitchFamily="18" charset="0"/>
              </a:rPr>
              <a:t>TableSize</a:t>
            </a:r>
            <a:r>
              <a:rPr lang="en-US" altLang="zh-CN" sz="2000" b="1" dirty="0">
                <a:latin typeface="Times New Roman" pitchFamily="18" charset="0"/>
              </a:rPr>
              <a:t> = 17</a:t>
            </a:r>
            <a:r>
              <a:rPr lang="zh-CN" altLang="en-US" sz="2000" b="1" dirty="0">
                <a:latin typeface="Times New Roman" pitchFamily="18" charset="0"/>
              </a:rPr>
              <a:t>（通常用一个素数），选取散列函数</a:t>
            </a:r>
            <a:r>
              <a:rPr lang="en-US" altLang="zh-CN" sz="2000" b="1" dirty="0">
                <a:latin typeface="Times New Roman" pitchFamily="18" charset="0"/>
              </a:rPr>
              <a:t>h</a:t>
            </a:r>
            <a:r>
              <a:rPr lang="zh-CN" altLang="en-US" sz="2000" b="1" dirty="0">
                <a:latin typeface="Times New Roman" pitchFamily="18" charset="0"/>
              </a:rPr>
              <a:t>如下：</a:t>
            </a:r>
          </a:p>
          <a:p>
            <a:pPr algn="ctr"/>
            <a:r>
              <a:rPr lang="en-US" altLang="zh-CN" sz="2000" b="1" dirty="0">
                <a:latin typeface="Times New Roman" pitchFamily="18" charset="0"/>
              </a:rPr>
              <a:t>h(key) = key mod </a:t>
            </a:r>
            <a:r>
              <a:rPr lang="en-US" altLang="zh-CN" sz="2000" b="1" dirty="0" err="1">
                <a:latin typeface="Times New Roman" pitchFamily="18" charset="0"/>
              </a:rPr>
              <a:t>TableSize</a:t>
            </a:r>
            <a:r>
              <a:rPr lang="en-US" altLang="zh-CN" sz="2000" b="1" dirty="0">
                <a:latin typeface="Times New Roman" pitchFamily="18" charset="0"/>
              </a:rPr>
              <a:t>                  </a:t>
            </a:r>
            <a:r>
              <a:rPr lang="zh-CN" altLang="en-US" sz="2000" b="1" dirty="0" smtClean="0">
                <a:latin typeface="Times New Roman" pitchFamily="18" charset="0"/>
              </a:rPr>
              <a:t>（散列函数 ）</a:t>
            </a:r>
            <a:endParaRPr lang="zh-CN" altLang="en-US" sz="2000" b="1" dirty="0">
              <a:latin typeface="Times New Roman" pitchFamily="18" charset="0"/>
            </a:endParaRPr>
          </a:p>
          <a:p>
            <a:r>
              <a:rPr lang="zh-CN" altLang="en-US" sz="2000" b="1" dirty="0">
                <a:latin typeface="Times New Roman" pitchFamily="18" charset="0"/>
              </a:rPr>
              <a:t>其中</a:t>
            </a:r>
            <a:r>
              <a:rPr lang="en-US" altLang="zh-CN" sz="2000" b="1" dirty="0">
                <a:latin typeface="Times New Roman" pitchFamily="18" charset="0"/>
              </a:rPr>
              <a:t>mod </a:t>
            </a:r>
            <a:r>
              <a:rPr lang="zh-CN" altLang="en-US" sz="2000" b="1" dirty="0">
                <a:latin typeface="Times New Roman" pitchFamily="18" charset="0"/>
              </a:rPr>
              <a:t>是求余运算，相当于</a:t>
            </a:r>
            <a:r>
              <a:rPr lang="en-US" altLang="zh-CN" sz="2000" b="1" dirty="0">
                <a:latin typeface="Times New Roman" pitchFamily="18" charset="0"/>
              </a:rPr>
              <a:t>C</a:t>
            </a:r>
            <a:r>
              <a:rPr lang="zh-CN" altLang="en-US" sz="2000" b="1" dirty="0">
                <a:latin typeface="Times New Roman" pitchFamily="18" charset="0"/>
              </a:rPr>
              <a:t>语言中的</a:t>
            </a:r>
            <a:r>
              <a:rPr lang="en-US" altLang="zh-CN" sz="2000" b="1" dirty="0">
                <a:latin typeface="Times New Roman" pitchFamily="18" charset="0"/>
              </a:rPr>
              <a:t>%</a:t>
            </a:r>
            <a:r>
              <a:rPr lang="zh-CN" altLang="en-US" sz="2000" b="1" dirty="0">
                <a:latin typeface="Times New Roman" pitchFamily="18" charset="0"/>
              </a:rPr>
              <a:t>运算。</a:t>
            </a:r>
          </a:p>
          <a:p>
            <a:r>
              <a:rPr lang="zh-CN" altLang="en-US" sz="2000" b="1" dirty="0">
                <a:latin typeface="Times New Roman" pitchFamily="18" charset="0"/>
              </a:rPr>
              <a:t>用这个散列函数对</a:t>
            </a:r>
            <a:r>
              <a:rPr lang="en-US" altLang="zh-CN" sz="2000" b="1" dirty="0">
                <a:latin typeface="Times New Roman" pitchFamily="18" charset="0"/>
              </a:rPr>
              <a:t>11</a:t>
            </a:r>
            <a:r>
              <a:rPr lang="zh-CN" altLang="en-US" sz="2000" b="1" dirty="0">
                <a:latin typeface="Times New Roman" pitchFamily="18" charset="0"/>
              </a:rPr>
              <a:t>个数据对象建立查找表（</a:t>
            </a:r>
            <a:r>
              <a:rPr lang="zh-CN" altLang="en-US" sz="2000" dirty="0">
                <a:latin typeface="Times New Roman" pitchFamily="18" charset="0"/>
              </a:rPr>
              <a:t>忽略各关键词对应的属性部分，该例的关键词没有冲突</a:t>
            </a:r>
            <a:r>
              <a:rPr lang="zh-CN" altLang="en-US" sz="2000" b="1" dirty="0">
                <a:latin typeface="Times New Roman" pitchFamily="18" charset="0"/>
              </a:rPr>
              <a:t>）如下：</a:t>
            </a:r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1000125" y="4481736"/>
            <a:ext cx="7143750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2000" b="1" dirty="0">
                <a:solidFill>
                  <a:srgbClr val="3333FF"/>
                </a:solidFill>
                <a:latin typeface="Times New Roman" pitchFamily="18" charset="0"/>
                <a:sym typeface="Wingdings" pitchFamily="2" charset="2"/>
              </a:rPr>
              <a:t> </a:t>
            </a:r>
            <a:r>
              <a:rPr lang="zh-CN" altLang="en-US" sz="2000" b="1" dirty="0">
                <a:latin typeface="Times New Roman" pitchFamily="18" charset="0"/>
              </a:rPr>
              <a:t>查找时，对给定关键词</a:t>
            </a:r>
            <a:r>
              <a:rPr lang="en-US" altLang="zh-CN" sz="2000" b="1" dirty="0" err="1">
                <a:latin typeface="Times New Roman" pitchFamily="18" charset="0"/>
              </a:rPr>
              <a:t>key</a:t>
            </a:r>
            <a:r>
              <a:rPr lang="en-US" altLang="zh-CN" sz="2000" b="1" baseline="-25000" dirty="0" err="1">
                <a:latin typeface="Times New Roman" pitchFamily="18" charset="0"/>
              </a:rPr>
              <a:t>i</a:t>
            </a:r>
            <a:r>
              <a:rPr lang="zh-CN" altLang="en-US" sz="2000" b="1" dirty="0">
                <a:latin typeface="Times New Roman" pitchFamily="18" charset="0"/>
              </a:rPr>
              <a:t>依然</a:t>
            </a:r>
            <a:r>
              <a:rPr lang="zh-CN" altLang="en-US" sz="2000" b="1" dirty="0" smtClean="0">
                <a:latin typeface="Times New Roman" pitchFamily="18" charset="0"/>
              </a:rPr>
              <a:t>通过散列函数计算</a:t>
            </a:r>
            <a:r>
              <a:rPr lang="zh-CN" altLang="en-US" sz="2000" b="1" dirty="0">
                <a:latin typeface="Times New Roman" pitchFamily="18" charset="0"/>
              </a:rPr>
              <a:t>出地址，再将</a:t>
            </a:r>
            <a:r>
              <a:rPr lang="en-US" altLang="zh-CN" sz="2000" b="1" dirty="0" err="1">
                <a:latin typeface="Times New Roman" pitchFamily="18" charset="0"/>
              </a:rPr>
              <a:t>key</a:t>
            </a:r>
            <a:r>
              <a:rPr lang="en-US" altLang="zh-CN" sz="2000" b="1" baseline="-25000" dirty="0" err="1">
                <a:latin typeface="Times New Roman" pitchFamily="18" charset="0"/>
              </a:rPr>
              <a:t>i</a:t>
            </a:r>
            <a:r>
              <a:rPr lang="zh-CN" altLang="en-US" sz="2000" b="1" dirty="0">
                <a:latin typeface="Times New Roman" pitchFamily="18" charset="0"/>
              </a:rPr>
              <a:t>与该地址单元中关键词比较，若相等，则查找成功。</a:t>
            </a:r>
            <a:endParaRPr lang="en-US" altLang="zh-CN" sz="2000" b="1" dirty="0">
              <a:latin typeface="Times New Roman" pitchFamily="18" charset="0"/>
            </a:endParaRPr>
          </a:p>
          <a:p>
            <a:r>
              <a:rPr lang="en-US" altLang="zh-CN" sz="2000" b="1" dirty="0">
                <a:solidFill>
                  <a:srgbClr val="3333FF"/>
                </a:solidFill>
                <a:latin typeface="Times New Roman" pitchFamily="18" charset="0"/>
                <a:sym typeface="Wingdings" pitchFamily="2" charset="2"/>
              </a:rPr>
              <a:t> </a:t>
            </a:r>
            <a:r>
              <a:rPr lang="zh-CN" altLang="en-US" sz="2000" b="1" dirty="0">
                <a:latin typeface="Times New Roman" pitchFamily="18" charset="0"/>
                <a:sym typeface="Wingdings" pitchFamily="2" charset="2"/>
              </a:rPr>
              <a:t>比如查找：</a:t>
            </a:r>
            <a:r>
              <a:rPr lang="en-US" altLang="zh-CN" sz="2000" b="1" dirty="0">
                <a:latin typeface="Times New Roman" pitchFamily="18" charset="0"/>
                <a:sym typeface="Wingdings" pitchFamily="2" charset="2"/>
              </a:rPr>
              <a:t>key = 22, </a:t>
            </a:r>
            <a:r>
              <a:rPr lang="zh-CN" altLang="en-US" sz="2000" b="1" dirty="0">
                <a:latin typeface="Times New Roman" pitchFamily="18" charset="0"/>
                <a:sym typeface="Wingdings" pitchFamily="2" charset="2"/>
              </a:rPr>
              <a:t>地址是</a:t>
            </a:r>
            <a:r>
              <a:rPr lang="en-US" altLang="zh-CN" sz="2000" b="1" dirty="0">
                <a:latin typeface="Times New Roman" pitchFamily="18" charset="0"/>
                <a:sym typeface="Wingdings" pitchFamily="2" charset="2"/>
              </a:rPr>
              <a:t>22%17 = 5</a:t>
            </a:r>
            <a:r>
              <a:rPr lang="zh-CN" altLang="en-US" sz="2000" b="1" dirty="0">
                <a:latin typeface="Times New Roman" pitchFamily="18" charset="0"/>
                <a:sym typeface="Wingdings" pitchFamily="2" charset="2"/>
              </a:rPr>
              <a:t>，该地址空表示表中没有关键词</a:t>
            </a:r>
            <a:r>
              <a:rPr lang="en-US" altLang="zh-CN" sz="2000" b="1" dirty="0">
                <a:latin typeface="Times New Roman" pitchFamily="18" charset="0"/>
                <a:sym typeface="Wingdings" pitchFamily="2" charset="2"/>
              </a:rPr>
              <a:t>22</a:t>
            </a:r>
            <a:r>
              <a:rPr lang="zh-CN" altLang="en-US" sz="2000" b="1" dirty="0">
                <a:latin typeface="Times New Roman" pitchFamily="18" charset="0"/>
                <a:sym typeface="Wingdings" pitchFamily="2" charset="2"/>
              </a:rPr>
              <a:t>的信息。</a:t>
            </a:r>
            <a:endParaRPr lang="en-US" altLang="zh-CN" sz="2000" b="1" dirty="0">
              <a:latin typeface="Times New Roman" pitchFamily="18" charset="0"/>
              <a:sym typeface="Wingdings" pitchFamily="2" charset="2"/>
            </a:endParaRPr>
          </a:p>
          <a:p>
            <a:r>
              <a:rPr lang="en-US" altLang="zh-CN" sz="2000" b="1" dirty="0">
                <a:solidFill>
                  <a:srgbClr val="3333FF"/>
                </a:solidFill>
                <a:latin typeface="Times New Roman" pitchFamily="18" charset="0"/>
                <a:sym typeface="Wingdings" pitchFamily="2" charset="2"/>
              </a:rPr>
              <a:t></a:t>
            </a:r>
            <a:r>
              <a:rPr lang="zh-CN" altLang="en-US" sz="2000" b="1" dirty="0">
                <a:latin typeface="Times New Roman" pitchFamily="18" charset="0"/>
                <a:sym typeface="Wingdings" pitchFamily="2" charset="2"/>
              </a:rPr>
              <a:t>比如查找：</a:t>
            </a:r>
            <a:r>
              <a:rPr lang="en-US" altLang="zh-CN" sz="2000" b="1" dirty="0">
                <a:latin typeface="Times New Roman" pitchFamily="18" charset="0"/>
                <a:sym typeface="Wingdings" pitchFamily="2" charset="2"/>
              </a:rPr>
              <a:t>key = 40, </a:t>
            </a:r>
            <a:r>
              <a:rPr lang="zh-CN" altLang="en-US" sz="2000" b="1" dirty="0">
                <a:latin typeface="Times New Roman" pitchFamily="18" charset="0"/>
                <a:sym typeface="Wingdings" pitchFamily="2" charset="2"/>
              </a:rPr>
              <a:t>地址是</a:t>
            </a:r>
            <a:r>
              <a:rPr lang="en-US" altLang="zh-CN" sz="2000" b="1" dirty="0">
                <a:latin typeface="Times New Roman" pitchFamily="18" charset="0"/>
                <a:sym typeface="Wingdings" pitchFamily="2" charset="2"/>
              </a:rPr>
              <a:t>40%17 = 6</a:t>
            </a:r>
            <a:r>
              <a:rPr lang="zh-CN" altLang="en-US" sz="2000" b="1" dirty="0">
                <a:latin typeface="Times New Roman" pitchFamily="18" charset="0"/>
                <a:sym typeface="Wingdings" pitchFamily="2" charset="2"/>
              </a:rPr>
              <a:t>，该地址存的是</a:t>
            </a:r>
            <a:r>
              <a:rPr lang="en-US" altLang="zh-CN" sz="2000" b="1" dirty="0">
                <a:latin typeface="Times New Roman" pitchFamily="18" charset="0"/>
                <a:sym typeface="Wingdings" pitchFamily="2" charset="2"/>
              </a:rPr>
              <a:t>23</a:t>
            </a:r>
            <a:r>
              <a:rPr lang="zh-CN" altLang="en-US" sz="2000" b="1" dirty="0">
                <a:latin typeface="Times New Roman" pitchFamily="18" charset="0"/>
                <a:sym typeface="Wingdings" pitchFamily="2" charset="2"/>
              </a:rPr>
              <a:t>，</a:t>
            </a:r>
            <a:r>
              <a:rPr lang="en-US" altLang="zh-CN" sz="2000" b="1" dirty="0">
                <a:latin typeface="Times New Roman" pitchFamily="18" charset="0"/>
                <a:sym typeface="Wingdings" pitchFamily="2" charset="2"/>
              </a:rPr>
              <a:t>40 ≠ 23</a:t>
            </a:r>
            <a:r>
              <a:rPr lang="zh-CN" altLang="en-US" sz="2000" b="1" dirty="0">
                <a:latin typeface="Times New Roman" pitchFamily="18" charset="0"/>
                <a:sym typeface="Wingdings" pitchFamily="2" charset="2"/>
              </a:rPr>
              <a:t>，故还要采用后面介绍的</a:t>
            </a:r>
            <a:r>
              <a:rPr lang="zh-CN" altLang="en-US" sz="2000" b="1" dirty="0">
                <a:solidFill>
                  <a:srgbClr val="3333FF"/>
                </a:solidFill>
                <a:latin typeface="Times New Roman" pitchFamily="18" charset="0"/>
                <a:sym typeface="Wingdings" pitchFamily="2" charset="2"/>
              </a:rPr>
              <a:t>解决冲突</a:t>
            </a:r>
            <a:r>
              <a:rPr lang="zh-CN" altLang="en-US" sz="2000" b="1" dirty="0">
                <a:latin typeface="Times New Roman" pitchFamily="18" charset="0"/>
                <a:sym typeface="Wingdings" pitchFamily="2" charset="2"/>
              </a:rPr>
              <a:t>的策略才能确定。</a:t>
            </a:r>
            <a:endParaRPr lang="en-US" altLang="zh-CN" sz="2000" b="1" dirty="0">
              <a:latin typeface="Times New Roman" pitchFamily="18" charset="0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5487154"/>
              </p:ext>
            </p:extLst>
          </p:nvPr>
        </p:nvGraphicFramePr>
        <p:xfrm>
          <a:off x="1357313" y="3410174"/>
          <a:ext cx="6357940" cy="785812"/>
        </p:xfrm>
        <a:graphic>
          <a:graphicData uri="http://schemas.openxmlformats.org/drawingml/2006/table">
            <a:tbl>
              <a:tblPr/>
              <a:tblGrid>
                <a:gridCol w="658401"/>
                <a:gridCol w="334609"/>
                <a:gridCol w="335408"/>
                <a:gridCol w="335408"/>
                <a:gridCol w="335408"/>
                <a:gridCol w="335408"/>
                <a:gridCol w="334609"/>
                <a:gridCol w="335408"/>
                <a:gridCol w="335408"/>
                <a:gridCol w="335408"/>
                <a:gridCol w="335408"/>
                <a:gridCol w="335408"/>
                <a:gridCol w="334609"/>
                <a:gridCol w="335408"/>
                <a:gridCol w="335408"/>
                <a:gridCol w="335408"/>
                <a:gridCol w="335408"/>
                <a:gridCol w="335408"/>
              </a:tblGrid>
              <a:tr h="39290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600" b="1" kern="100" dirty="0" smtClean="0">
                          <a:solidFill>
                            <a:srgbClr val="3333FF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地址</a:t>
                      </a:r>
                      <a:endParaRPr lang="zh-CN" sz="1600" b="1" kern="100" dirty="0">
                        <a:solidFill>
                          <a:srgbClr val="3333FF"/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Courier"/>
                          <a:ea typeface="宋体"/>
                          <a:cs typeface="Times New Roman"/>
                        </a:rPr>
                        <a:t>0</a:t>
                      </a:r>
                      <a:endParaRPr lang="zh-CN" sz="1600" b="1" kern="100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Courier"/>
                          <a:ea typeface="宋体"/>
                          <a:cs typeface="Times New Roman"/>
                        </a:rPr>
                        <a:t>1</a:t>
                      </a:r>
                      <a:endParaRPr lang="zh-CN" sz="1600" b="1" kern="100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Courier"/>
                          <a:ea typeface="宋体"/>
                          <a:cs typeface="Times New Roman"/>
                        </a:rPr>
                        <a:t>2</a:t>
                      </a:r>
                      <a:endParaRPr lang="zh-CN" sz="1600" b="1" kern="100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Courier"/>
                          <a:ea typeface="宋体"/>
                          <a:cs typeface="Times New Roman"/>
                        </a:rPr>
                        <a:t>3</a:t>
                      </a:r>
                      <a:endParaRPr lang="zh-CN" sz="1600" b="1" kern="100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Courier"/>
                          <a:ea typeface="宋体"/>
                          <a:cs typeface="Times New Roman"/>
                        </a:rPr>
                        <a:t>4</a:t>
                      </a:r>
                      <a:endParaRPr lang="zh-CN" sz="1600" b="1" kern="100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Courier"/>
                          <a:ea typeface="宋体"/>
                          <a:cs typeface="Times New Roman"/>
                        </a:rPr>
                        <a:t>5</a:t>
                      </a:r>
                      <a:endParaRPr lang="zh-CN" sz="1600" b="1" kern="100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Courier"/>
                          <a:ea typeface="宋体"/>
                          <a:cs typeface="Times New Roman"/>
                        </a:rPr>
                        <a:t>6</a:t>
                      </a:r>
                      <a:endParaRPr lang="zh-CN" sz="1600" b="1" kern="100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Courier"/>
                          <a:ea typeface="宋体"/>
                          <a:cs typeface="Times New Roman"/>
                        </a:rPr>
                        <a:t>7</a:t>
                      </a:r>
                      <a:endParaRPr lang="zh-CN" sz="1600" b="1" kern="100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Courier"/>
                          <a:ea typeface="宋体"/>
                          <a:cs typeface="Times New Roman"/>
                        </a:rPr>
                        <a:t>8</a:t>
                      </a:r>
                      <a:endParaRPr lang="zh-CN" sz="1600" b="1" kern="100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Courier"/>
                          <a:ea typeface="宋体"/>
                          <a:cs typeface="Times New Roman"/>
                        </a:rPr>
                        <a:t>9</a:t>
                      </a:r>
                      <a:endParaRPr lang="zh-CN" sz="1600" b="1" kern="100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Courier"/>
                          <a:ea typeface="宋体"/>
                          <a:cs typeface="Times New Roman"/>
                        </a:rPr>
                        <a:t>10</a:t>
                      </a:r>
                      <a:endParaRPr lang="zh-CN" sz="1600" b="1" kern="100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Courier"/>
                          <a:ea typeface="宋体"/>
                          <a:cs typeface="Times New Roman"/>
                        </a:rPr>
                        <a:t>11</a:t>
                      </a:r>
                      <a:endParaRPr lang="zh-CN" sz="1600" b="1" kern="100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Courier"/>
                          <a:ea typeface="宋体"/>
                          <a:cs typeface="Times New Roman"/>
                        </a:rPr>
                        <a:t>12</a:t>
                      </a:r>
                      <a:endParaRPr lang="zh-CN" sz="1600" b="1" kern="100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Courier"/>
                          <a:ea typeface="宋体"/>
                          <a:cs typeface="Times New Roman"/>
                        </a:rPr>
                        <a:t>13</a:t>
                      </a:r>
                      <a:endParaRPr lang="zh-CN" sz="1600" b="1" kern="100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Courier"/>
                          <a:ea typeface="宋体"/>
                          <a:cs typeface="Times New Roman"/>
                        </a:rPr>
                        <a:t>14</a:t>
                      </a:r>
                      <a:endParaRPr lang="zh-CN" sz="1600" b="1" kern="100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Courier"/>
                          <a:ea typeface="宋体"/>
                          <a:cs typeface="Times New Roman"/>
                        </a:rPr>
                        <a:t>15</a:t>
                      </a:r>
                      <a:endParaRPr lang="zh-CN" sz="1600" b="1" kern="100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Courier"/>
                          <a:ea typeface="宋体"/>
                          <a:cs typeface="Times New Roman"/>
                        </a:rPr>
                        <a:t>16</a:t>
                      </a:r>
                      <a:endParaRPr lang="zh-CN" sz="1600" b="1" kern="100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290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600" b="1" kern="100" dirty="0" smtClean="0">
                          <a:solidFill>
                            <a:srgbClr val="3333FF"/>
                          </a:solidFill>
                          <a:latin typeface="Courier"/>
                          <a:ea typeface="宋体"/>
                          <a:cs typeface="Times New Roman"/>
                        </a:rPr>
                        <a:t>关键词</a:t>
                      </a:r>
                      <a:endParaRPr lang="zh-CN" sz="1600" b="1" kern="100" dirty="0">
                        <a:solidFill>
                          <a:srgbClr val="3333FF"/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Courier"/>
                          <a:ea typeface="宋体"/>
                          <a:cs typeface="Times New Roman"/>
                        </a:rPr>
                        <a:t>34</a:t>
                      </a:r>
                      <a:endParaRPr lang="zh-CN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Courier"/>
                          <a:ea typeface="宋体"/>
                          <a:cs typeface="Times New Roman"/>
                        </a:rPr>
                        <a:t>18</a:t>
                      </a:r>
                      <a:endParaRPr lang="zh-CN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Courier"/>
                          <a:ea typeface="宋体"/>
                          <a:cs typeface="Times New Roman"/>
                        </a:rPr>
                        <a:t>2</a:t>
                      </a:r>
                      <a:endParaRPr lang="zh-CN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latin typeface="Courier"/>
                          <a:ea typeface="宋体"/>
                          <a:cs typeface="Times New Roman"/>
                        </a:rPr>
                        <a:t>20</a:t>
                      </a:r>
                      <a:endParaRPr lang="zh-CN" sz="16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 b="1" kern="100">
                        <a:latin typeface="Courier"/>
                        <a:ea typeface="宋体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 b="1" kern="100">
                        <a:latin typeface="Courier"/>
                        <a:ea typeface="宋体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Courier"/>
                          <a:ea typeface="宋体"/>
                          <a:cs typeface="Times New Roman"/>
                        </a:rPr>
                        <a:t>23</a:t>
                      </a:r>
                      <a:endParaRPr lang="zh-CN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Courier"/>
                          <a:ea typeface="宋体"/>
                          <a:cs typeface="Times New Roman"/>
                        </a:rPr>
                        <a:t>7</a:t>
                      </a:r>
                      <a:endParaRPr lang="zh-CN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Courier"/>
                          <a:ea typeface="宋体"/>
                          <a:cs typeface="Times New Roman"/>
                        </a:rPr>
                        <a:t>42</a:t>
                      </a:r>
                      <a:endParaRPr lang="zh-CN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 b="1" kern="100">
                        <a:latin typeface="Courier"/>
                        <a:ea typeface="宋体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Courier"/>
                          <a:ea typeface="宋体"/>
                          <a:cs typeface="Times New Roman"/>
                        </a:rPr>
                        <a:t>27</a:t>
                      </a:r>
                      <a:endParaRPr lang="zh-CN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Courier"/>
                          <a:ea typeface="宋体"/>
                          <a:cs typeface="Times New Roman"/>
                        </a:rPr>
                        <a:t>11</a:t>
                      </a:r>
                      <a:endParaRPr lang="zh-CN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 b="1" kern="100">
                        <a:latin typeface="Courier"/>
                        <a:ea typeface="宋体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Courier"/>
                          <a:ea typeface="宋体"/>
                          <a:cs typeface="Times New Roman"/>
                        </a:rPr>
                        <a:t>30</a:t>
                      </a:r>
                      <a:endParaRPr lang="zh-CN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 b="1" kern="100">
                        <a:latin typeface="Courier"/>
                        <a:ea typeface="宋体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latin typeface="Courier"/>
                          <a:ea typeface="宋体"/>
                          <a:cs typeface="Times New Roman"/>
                        </a:rPr>
                        <a:t>15</a:t>
                      </a:r>
                      <a:endParaRPr lang="zh-CN" sz="16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 b="1" kern="100" dirty="0">
                        <a:latin typeface="Courier"/>
                        <a:ea typeface="宋体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785813" y="4624611"/>
            <a:ext cx="7535862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2000" b="1" dirty="0">
                <a:solidFill>
                  <a:srgbClr val="3333FF"/>
                </a:solidFill>
                <a:latin typeface="Times New Roman" pitchFamily="18" charset="0"/>
              </a:rPr>
              <a:t>【</a:t>
            </a:r>
            <a:r>
              <a:rPr lang="zh-CN" altLang="en-US" sz="2000" b="1" dirty="0">
                <a:solidFill>
                  <a:srgbClr val="3333FF"/>
                </a:solidFill>
                <a:latin typeface="Times New Roman" pitchFamily="18" charset="0"/>
              </a:rPr>
              <a:t>定义</a:t>
            </a:r>
            <a:r>
              <a:rPr lang="en-US" altLang="zh-CN" sz="2000" b="1" dirty="0">
                <a:solidFill>
                  <a:srgbClr val="3333FF"/>
                </a:solidFill>
                <a:latin typeface="Times New Roman" pitchFamily="18" charset="0"/>
              </a:rPr>
              <a:t>】 </a:t>
            </a:r>
            <a:r>
              <a:rPr lang="zh-CN" altLang="en-US" sz="2000" b="1" dirty="0">
                <a:latin typeface="Times New Roman" pitchFamily="18" charset="0"/>
              </a:rPr>
              <a:t>设散列表空间大小为</a:t>
            </a:r>
            <a:r>
              <a:rPr lang="en-US" altLang="zh-CN" sz="2000" b="1" dirty="0">
                <a:latin typeface="Times New Roman" pitchFamily="18" charset="0"/>
              </a:rPr>
              <a:t>m</a:t>
            </a:r>
            <a:r>
              <a:rPr lang="zh-CN" altLang="en-US" sz="2000" b="1" dirty="0">
                <a:latin typeface="Times New Roman" pitchFamily="18" charset="0"/>
              </a:rPr>
              <a:t>，填入表中的元素个数是</a:t>
            </a:r>
            <a:r>
              <a:rPr lang="en-US" altLang="zh-CN" sz="2000" b="1" dirty="0">
                <a:latin typeface="Times New Roman" pitchFamily="18" charset="0"/>
              </a:rPr>
              <a:t>n</a:t>
            </a:r>
            <a:r>
              <a:rPr lang="zh-CN" altLang="en-US" sz="2000" b="1" dirty="0">
                <a:latin typeface="Times New Roman" pitchFamily="18" charset="0"/>
              </a:rPr>
              <a:t>，则称</a:t>
            </a:r>
            <a:r>
              <a:rPr lang="en-US" altLang="zh-CN" sz="2000" b="1" dirty="0">
                <a:solidFill>
                  <a:srgbClr val="3333FF"/>
                </a:solidFill>
                <a:latin typeface="Times New Roman" pitchFamily="18" charset="0"/>
              </a:rPr>
              <a:t>α</a:t>
            </a:r>
            <a:r>
              <a:rPr lang="zh-CN" altLang="en-US" sz="2000" b="1" dirty="0">
                <a:solidFill>
                  <a:srgbClr val="3333FF"/>
                </a:solidFill>
                <a:latin typeface="Times New Roman" pitchFamily="18" charset="0"/>
              </a:rPr>
              <a:t>＝ </a:t>
            </a:r>
            <a:r>
              <a:rPr lang="en-US" altLang="zh-CN" sz="2000" b="1" dirty="0">
                <a:solidFill>
                  <a:srgbClr val="3333FF"/>
                </a:solidFill>
                <a:latin typeface="Times New Roman" pitchFamily="18" charset="0"/>
              </a:rPr>
              <a:t>n / m</a:t>
            </a:r>
            <a:r>
              <a:rPr lang="zh-CN" altLang="en-US" sz="2000" b="1" dirty="0">
                <a:latin typeface="Times New Roman" pitchFamily="18" charset="0"/>
              </a:rPr>
              <a:t>为散列表的“</a:t>
            </a:r>
            <a:r>
              <a:rPr lang="zh-CN" altLang="en-US" sz="2000" b="1" dirty="0">
                <a:solidFill>
                  <a:srgbClr val="3333FF"/>
                </a:solidFill>
                <a:latin typeface="Times New Roman" pitchFamily="18" charset="0"/>
              </a:rPr>
              <a:t>装填因子（</a:t>
            </a:r>
            <a:r>
              <a:rPr lang="en-US" altLang="zh-CN" sz="2000" b="1" dirty="0">
                <a:solidFill>
                  <a:srgbClr val="3333FF"/>
                </a:solidFill>
                <a:latin typeface="Times New Roman" pitchFamily="18" charset="0"/>
              </a:rPr>
              <a:t>Loading Factor</a:t>
            </a:r>
            <a:r>
              <a:rPr lang="zh-CN" altLang="en-US" sz="2000" b="1" dirty="0">
                <a:solidFill>
                  <a:srgbClr val="3333FF"/>
                </a:solidFill>
                <a:latin typeface="Times New Roman" pitchFamily="18" charset="0"/>
              </a:rPr>
              <a:t>）</a:t>
            </a:r>
            <a:r>
              <a:rPr lang="zh-CN" altLang="en-US" sz="2000" b="1" dirty="0">
                <a:latin typeface="Times New Roman" pitchFamily="18" charset="0"/>
              </a:rPr>
              <a:t>”。</a:t>
            </a:r>
            <a:endParaRPr lang="en-US" altLang="zh-CN" sz="2000" b="1" dirty="0">
              <a:latin typeface="Times New Roman" pitchFamily="18" charset="0"/>
            </a:endParaRPr>
          </a:p>
          <a:p>
            <a:r>
              <a:rPr lang="en-US" altLang="zh-CN" sz="2000" b="1" dirty="0">
                <a:solidFill>
                  <a:schemeClr val="hlink"/>
                </a:solidFill>
                <a:latin typeface="Arial" pitchFamily="34" charset="0"/>
                <a:sym typeface="Wingdings" pitchFamily="2" charset="2"/>
              </a:rPr>
              <a:t> </a:t>
            </a:r>
            <a:r>
              <a:rPr lang="zh-CN" altLang="en-US" sz="2000" b="1" dirty="0">
                <a:latin typeface="Times New Roman" pitchFamily="18" charset="0"/>
              </a:rPr>
              <a:t>装填因子</a:t>
            </a:r>
            <a:r>
              <a:rPr lang="en-US" altLang="zh-CN" sz="2000" b="1" dirty="0">
                <a:solidFill>
                  <a:srgbClr val="3333FF"/>
                </a:solidFill>
                <a:latin typeface="Times New Roman" pitchFamily="18" charset="0"/>
              </a:rPr>
              <a:t>α</a:t>
            </a:r>
            <a:r>
              <a:rPr lang="zh-CN" altLang="en-US" sz="2000" b="1" dirty="0">
                <a:solidFill>
                  <a:srgbClr val="3333FF"/>
                </a:solidFill>
                <a:latin typeface="Times New Roman" pitchFamily="18" charset="0"/>
              </a:rPr>
              <a:t>＝</a:t>
            </a:r>
            <a:r>
              <a:rPr lang="en-US" altLang="zh-CN" sz="2000" b="1" dirty="0">
                <a:solidFill>
                  <a:srgbClr val="3333FF"/>
                </a:solidFill>
                <a:latin typeface="Times New Roman" pitchFamily="18" charset="0"/>
              </a:rPr>
              <a:t>11 / 17 ≈ 0.65</a:t>
            </a:r>
            <a:r>
              <a:rPr lang="zh-CN" altLang="en-US" sz="2000" b="1" dirty="0">
                <a:latin typeface="Times New Roman" pitchFamily="18" charset="0"/>
              </a:rPr>
              <a:t>。</a:t>
            </a:r>
            <a:endParaRPr lang="en-US" altLang="zh-CN" sz="2000" b="1" dirty="0">
              <a:latin typeface="Times New Roman" pitchFamily="18" charset="0"/>
            </a:endParaRPr>
          </a:p>
          <a:p>
            <a:r>
              <a:rPr lang="en-US" altLang="zh-CN" sz="2000" b="1" dirty="0">
                <a:solidFill>
                  <a:schemeClr val="hlink"/>
                </a:solidFill>
                <a:latin typeface="Arial" pitchFamily="34" charset="0"/>
                <a:sym typeface="Wingdings" pitchFamily="2" charset="2"/>
              </a:rPr>
              <a:t> </a:t>
            </a:r>
            <a:r>
              <a:rPr lang="zh-CN" altLang="en-US" sz="2000" b="1" dirty="0">
                <a:latin typeface="Times New Roman" pitchFamily="18" charset="0"/>
              </a:rPr>
              <a:t>实用时，常将散列表大小设计使得 </a:t>
            </a:r>
            <a:r>
              <a:rPr lang="en-US" altLang="zh-CN" sz="2000" b="1" dirty="0">
                <a:solidFill>
                  <a:srgbClr val="3333FF"/>
                </a:solidFill>
                <a:latin typeface="Times New Roman" pitchFamily="18" charset="0"/>
              </a:rPr>
              <a:t>α</a:t>
            </a:r>
            <a:r>
              <a:rPr lang="zh-CN" altLang="en-US" sz="2000" b="1" dirty="0">
                <a:solidFill>
                  <a:srgbClr val="3333FF"/>
                </a:solidFill>
                <a:latin typeface="Times New Roman" pitchFamily="18" charset="0"/>
              </a:rPr>
              <a:t>＝</a:t>
            </a:r>
            <a:r>
              <a:rPr lang="en-US" altLang="zh-CN" sz="2000" b="1" dirty="0">
                <a:solidFill>
                  <a:srgbClr val="3333FF"/>
                </a:solidFill>
                <a:latin typeface="Times New Roman" pitchFamily="18" charset="0"/>
              </a:rPr>
              <a:t>0.5</a:t>
            </a:r>
            <a:r>
              <a:rPr lang="zh-CN" altLang="en-US" sz="2000" b="1" dirty="0">
                <a:solidFill>
                  <a:srgbClr val="3333FF"/>
                </a:solidFill>
                <a:latin typeface="Times New Roman" pitchFamily="18" charset="0"/>
              </a:rPr>
              <a:t>～</a:t>
            </a:r>
            <a:r>
              <a:rPr lang="en-US" altLang="zh-CN" sz="2000" b="1" dirty="0">
                <a:solidFill>
                  <a:srgbClr val="3333FF"/>
                </a:solidFill>
                <a:latin typeface="Times New Roman" pitchFamily="18" charset="0"/>
              </a:rPr>
              <a:t>0.8</a:t>
            </a:r>
            <a:r>
              <a:rPr lang="zh-CN" altLang="en-US" sz="2000" b="1" dirty="0">
                <a:solidFill>
                  <a:srgbClr val="3333FF"/>
                </a:solidFill>
                <a:latin typeface="Times New Roman" pitchFamily="18" charset="0"/>
              </a:rPr>
              <a:t>为宜</a:t>
            </a:r>
            <a:r>
              <a:rPr lang="zh-CN" altLang="en-US" sz="2000" b="1" dirty="0">
                <a:latin typeface="Times New Roman" pitchFamily="18" charset="0"/>
              </a:rPr>
              <a:t>。</a:t>
            </a:r>
            <a:endParaRPr lang="en-US" altLang="zh-CN" sz="2000" b="1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1895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7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57"/>
          <p:cNvSpPr>
            <a:spLocks noChangeArrowheads="1"/>
          </p:cNvSpPr>
          <p:nvPr/>
        </p:nvSpPr>
        <p:spPr bwMode="auto">
          <a:xfrm>
            <a:off x="846138" y="1103313"/>
            <a:ext cx="3530600" cy="6477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冲突是不可能避免的</a:t>
            </a:r>
          </a:p>
        </p:txBody>
      </p:sp>
      <p:sp>
        <p:nvSpPr>
          <p:cNvPr id="84995" name="Rectangle 59"/>
          <p:cNvSpPr>
            <a:spLocks noChangeArrowheads="1"/>
          </p:cNvSpPr>
          <p:nvPr/>
        </p:nvSpPr>
        <p:spPr bwMode="auto">
          <a:xfrm>
            <a:off x="900113" y="204788"/>
            <a:ext cx="3452813" cy="51593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如何减少冲突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5148263" y="2133600"/>
            <a:ext cx="2232025" cy="2536825"/>
            <a:chOff x="8948636" y="2217316"/>
            <a:chExt cx="2546287" cy="2890623"/>
          </a:xfrm>
        </p:grpSpPr>
        <p:sp>
          <p:nvSpPr>
            <p:cNvPr id="8" name="íṡľíḍè-Rectangle 30"/>
            <p:cNvSpPr/>
            <p:nvPr/>
          </p:nvSpPr>
          <p:spPr>
            <a:xfrm>
              <a:off x="9270997" y="2217316"/>
              <a:ext cx="1901566" cy="1901155"/>
            </a:xfrm>
            <a:prstGeom prst="rect">
              <a:avLst/>
            </a:prstGeom>
            <a:solidFill>
              <a:srgbClr val="8064A2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9" name="íṡľíḍè-Freeform: Shape 31"/>
            <p:cNvSpPr/>
            <p:nvPr/>
          </p:nvSpPr>
          <p:spPr>
            <a:xfrm rot="10800000">
              <a:off x="9270997" y="4028026"/>
              <a:ext cx="1901566" cy="370824"/>
            </a:xfrm>
            <a:custGeom>
              <a:avLst/>
              <a:gdLst>
                <a:gd name="connsiteX0" fmla="*/ 1901372 w 1901372"/>
                <a:gd name="connsiteY0" fmla="*/ 370114 h 370114"/>
                <a:gd name="connsiteX1" fmla="*/ 0 w 1901372"/>
                <a:gd name="connsiteY1" fmla="*/ 370114 h 370114"/>
                <a:gd name="connsiteX2" fmla="*/ 0 w 1901372"/>
                <a:gd name="connsiteY2" fmla="*/ 239486 h 370114"/>
                <a:gd name="connsiteX3" fmla="*/ 639355 w 1901372"/>
                <a:gd name="connsiteY3" fmla="*/ 239486 h 370114"/>
                <a:gd name="connsiteX4" fmla="*/ 950686 w 1901372"/>
                <a:gd name="connsiteY4" fmla="*/ 0 h 370114"/>
                <a:gd name="connsiteX5" fmla="*/ 1262017 w 1901372"/>
                <a:gd name="connsiteY5" fmla="*/ 239486 h 370114"/>
                <a:gd name="connsiteX6" fmla="*/ 1901372 w 1901372"/>
                <a:gd name="connsiteY6" fmla="*/ 239486 h 370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01372" h="370114">
                  <a:moveTo>
                    <a:pt x="1901372" y="370114"/>
                  </a:moveTo>
                  <a:lnTo>
                    <a:pt x="0" y="370114"/>
                  </a:lnTo>
                  <a:lnTo>
                    <a:pt x="0" y="239486"/>
                  </a:lnTo>
                  <a:lnTo>
                    <a:pt x="639355" y="239486"/>
                  </a:lnTo>
                  <a:lnTo>
                    <a:pt x="950686" y="0"/>
                  </a:lnTo>
                  <a:lnTo>
                    <a:pt x="1262017" y="239486"/>
                  </a:lnTo>
                  <a:lnTo>
                    <a:pt x="1901372" y="239486"/>
                  </a:lnTo>
                  <a:close/>
                </a:path>
              </a:pathLst>
            </a:custGeom>
            <a:solidFill>
              <a:srgbClr val="8064A2">
                <a:lumMod val="7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0" name="îŝḷîḓé-Rectangle 41"/>
            <p:cNvSpPr/>
            <p:nvPr/>
          </p:nvSpPr>
          <p:spPr>
            <a:xfrm>
              <a:off x="8948636" y="4581550"/>
              <a:ext cx="2546287" cy="526389"/>
            </a:xfrm>
            <a:prstGeom prst="rect">
              <a:avLst/>
            </a:prstGeom>
          </p:spPr>
          <p:txBody>
            <a:bodyPr lIns="0" tIns="0" rIns="0" bIns="0"/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100000"/>
                    </a:prstClr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制定一个好的解决冲突方案</a:t>
              </a:r>
            </a:p>
          </p:txBody>
        </p:sp>
        <p:sp>
          <p:nvSpPr>
            <p:cNvPr id="11" name="îŝḷîḓé-Freeform: Shape 43"/>
            <p:cNvSpPr/>
            <p:nvPr/>
          </p:nvSpPr>
          <p:spPr bwMode="auto">
            <a:xfrm>
              <a:off x="9761781" y="2561007"/>
              <a:ext cx="838500" cy="837522"/>
            </a:xfrm>
            <a:custGeom>
              <a:avLst/>
              <a:gdLst>
                <a:gd name="T0" fmla="*/ 116 w 232"/>
                <a:gd name="T1" fmla="*/ 0 h 232"/>
                <a:gd name="T2" fmla="*/ 0 w 232"/>
                <a:gd name="T3" fmla="*/ 116 h 232"/>
                <a:gd name="T4" fmla="*/ 116 w 232"/>
                <a:gd name="T5" fmla="*/ 232 h 232"/>
                <a:gd name="T6" fmla="*/ 232 w 232"/>
                <a:gd name="T7" fmla="*/ 116 h 232"/>
                <a:gd name="T8" fmla="*/ 116 w 232"/>
                <a:gd name="T9" fmla="*/ 0 h 232"/>
                <a:gd name="T10" fmla="*/ 129 w 232"/>
                <a:gd name="T11" fmla="*/ 208 h 232"/>
                <a:gd name="T12" fmla="*/ 129 w 232"/>
                <a:gd name="T13" fmla="*/ 190 h 232"/>
                <a:gd name="T14" fmla="*/ 117 w 232"/>
                <a:gd name="T15" fmla="*/ 178 h 232"/>
                <a:gd name="T16" fmla="*/ 105 w 232"/>
                <a:gd name="T17" fmla="*/ 190 h 232"/>
                <a:gd name="T18" fmla="*/ 105 w 232"/>
                <a:gd name="T19" fmla="*/ 208 h 232"/>
                <a:gd name="T20" fmla="*/ 25 w 232"/>
                <a:gd name="T21" fmla="*/ 129 h 232"/>
                <a:gd name="T22" fmla="*/ 42 w 232"/>
                <a:gd name="T23" fmla="*/ 129 h 232"/>
                <a:gd name="T24" fmla="*/ 53 w 232"/>
                <a:gd name="T25" fmla="*/ 117 h 232"/>
                <a:gd name="T26" fmla="*/ 42 w 232"/>
                <a:gd name="T27" fmla="*/ 105 h 232"/>
                <a:gd name="T28" fmla="*/ 24 w 232"/>
                <a:gd name="T29" fmla="*/ 105 h 232"/>
                <a:gd name="T30" fmla="*/ 104 w 232"/>
                <a:gd name="T31" fmla="*/ 25 h 232"/>
                <a:gd name="T32" fmla="*/ 104 w 232"/>
                <a:gd name="T33" fmla="*/ 41 h 232"/>
                <a:gd name="T34" fmla="*/ 116 w 232"/>
                <a:gd name="T35" fmla="*/ 53 h 232"/>
                <a:gd name="T36" fmla="*/ 128 w 232"/>
                <a:gd name="T37" fmla="*/ 41 h 232"/>
                <a:gd name="T38" fmla="*/ 128 w 232"/>
                <a:gd name="T39" fmla="*/ 25 h 232"/>
                <a:gd name="T40" fmla="*/ 208 w 232"/>
                <a:gd name="T41" fmla="*/ 104 h 232"/>
                <a:gd name="T42" fmla="*/ 190 w 232"/>
                <a:gd name="T43" fmla="*/ 104 h 232"/>
                <a:gd name="T44" fmla="*/ 179 w 232"/>
                <a:gd name="T45" fmla="*/ 116 h 232"/>
                <a:gd name="T46" fmla="*/ 190 w 232"/>
                <a:gd name="T47" fmla="*/ 128 h 232"/>
                <a:gd name="T48" fmla="*/ 208 w 232"/>
                <a:gd name="T49" fmla="*/ 128 h 232"/>
                <a:gd name="T50" fmla="*/ 129 w 232"/>
                <a:gd name="T51" fmla="*/ 208 h 232"/>
                <a:gd name="T52" fmla="*/ 124 w 232"/>
                <a:gd name="T53" fmla="*/ 94 h 232"/>
                <a:gd name="T54" fmla="*/ 70 w 232"/>
                <a:gd name="T55" fmla="*/ 69 h 232"/>
                <a:gd name="T56" fmla="*/ 94 w 232"/>
                <a:gd name="T57" fmla="*/ 124 h 232"/>
                <a:gd name="T58" fmla="*/ 109 w 232"/>
                <a:gd name="T59" fmla="*/ 138 h 232"/>
                <a:gd name="T60" fmla="*/ 163 w 232"/>
                <a:gd name="T61" fmla="*/ 163 h 232"/>
                <a:gd name="T62" fmla="*/ 138 w 232"/>
                <a:gd name="T63" fmla="*/ 108 h 232"/>
                <a:gd name="T64" fmla="*/ 124 w 232"/>
                <a:gd name="T65" fmla="*/ 94 h 232"/>
                <a:gd name="T66" fmla="*/ 123 w 232"/>
                <a:gd name="T67" fmla="*/ 123 h 232"/>
                <a:gd name="T68" fmla="*/ 110 w 232"/>
                <a:gd name="T69" fmla="*/ 123 h 232"/>
                <a:gd name="T70" fmla="*/ 110 w 232"/>
                <a:gd name="T71" fmla="*/ 109 h 232"/>
                <a:gd name="T72" fmla="*/ 123 w 232"/>
                <a:gd name="T73" fmla="*/ 109 h 232"/>
                <a:gd name="T74" fmla="*/ 123 w 232"/>
                <a:gd name="T75" fmla="*/ 123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32" h="232">
                  <a:moveTo>
                    <a:pt x="116" y="0"/>
                  </a:moveTo>
                  <a:cubicBezTo>
                    <a:pt x="52" y="0"/>
                    <a:pt x="0" y="52"/>
                    <a:pt x="0" y="116"/>
                  </a:cubicBezTo>
                  <a:cubicBezTo>
                    <a:pt x="0" y="180"/>
                    <a:pt x="52" y="232"/>
                    <a:pt x="116" y="232"/>
                  </a:cubicBezTo>
                  <a:cubicBezTo>
                    <a:pt x="180" y="232"/>
                    <a:pt x="232" y="180"/>
                    <a:pt x="232" y="116"/>
                  </a:cubicBezTo>
                  <a:cubicBezTo>
                    <a:pt x="232" y="52"/>
                    <a:pt x="180" y="0"/>
                    <a:pt x="116" y="0"/>
                  </a:cubicBezTo>
                  <a:close/>
                  <a:moveTo>
                    <a:pt x="129" y="208"/>
                  </a:moveTo>
                  <a:cubicBezTo>
                    <a:pt x="129" y="190"/>
                    <a:pt x="129" y="190"/>
                    <a:pt x="129" y="190"/>
                  </a:cubicBezTo>
                  <a:cubicBezTo>
                    <a:pt x="129" y="183"/>
                    <a:pt x="123" y="178"/>
                    <a:pt x="117" y="178"/>
                  </a:cubicBezTo>
                  <a:cubicBezTo>
                    <a:pt x="110" y="178"/>
                    <a:pt x="105" y="183"/>
                    <a:pt x="105" y="190"/>
                  </a:cubicBezTo>
                  <a:cubicBezTo>
                    <a:pt x="105" y="208"/>
                    <a:pt x="105" y="208"/>
                    <a:pt x="105" y="208"/>
                  </a:cubicBezTo>
                  <a:cubicBezTo>
                    <a:pt x="63" y="203"/>
                    <a:pt x="30" y="170"/>
                    <a:pt x="25" y="129"/>
                  </a:cubicBezTo>
                  <a:cubicBezTo>
                    <a:pt x="42" y="129"/>
                    <a:pt x="42" y="129"/>
                    <a:pt x="42" y="129"/>
                  </a:cubicBezTo>
                  <a:cubicBezTo>
                    <a:pt x="48" y="129"/>
                    <a:pt x="53" y="123"/>
                    <a:pt x="53" y="117"/>
                  </a:cubicBezTo>
                  <a:cubicBezTo>
                    <a:pt x="53" y="110"/>
                    <a:pt x="48" y="105"/>
                    <a:pt x="42" y="105"/>
                  </a:cubicBezTo>
                  <a:cubicBezTo>
                    <a:pt x="24" y="105"/>
                    <a:pt x="24" y="105"/>
                    <a:pt x="24" y="105"/>
                  </a:cubicBezTo>
                  <a:cubicBezTo>
                    <a:pt x="29" y="63"/>
                    <a:pt x="63" y="30"/>
                    <a:pt x="104" y="25"/>
                  </a:cubicBezTo>
                  <a:cubicBezTo>
                    <a:pt x="104" y="41"/>
                    <a:pt x="104" y="41"/>
                    <a:pt x="104" y="41"/>
                  </a:cubicBezTo>
                  <a:cubicBezTo>
                    <a:pt x="104" y="47"/>
                    <a:pt x="109" y="53"/>
                    <a:pt x="116" y="53"/>
                  </a:cubicBezTo>
                  <a:cubicBezTo>
                    <a:pt x="122" y="53"/>
                    <a:pt x="128" y="47"/>
                    <a:pt x="128" y="41"/>
                  </a:cubicBezTo>
                  <a:cubicBezTo>
                    <a:pt x="128" y="25"/>
                    <a:pt x="128" y="25"/>
                    <a:pt x="128" y="25"/>
                  </a:cubicBezTo>
                  <a:cubicBezTo>
                    <a:pt x="169" y="30"/>
                    <a:pt x="202" y="63"/>
                    <a:pt x="208" y="104"/>
                  </a:cubicBezTo>
                  <a:cubicBezTo>
                    <a:pt x="190" y="104"/>
                    <a:pt x="190" y="104"/>
                    <a:pt x="190" y="104"/>
                  </a:cubicBezTo>
                  <a:cubicBezTo>
                    <a:pt x="184" y="104"/>
                    <a:pt x="179" y="109"/>
                    <a:pt x="179" y="116"/>
                  </a:cubicBezTo>
                  <a:cubicBezTo>
                    <a:pt x="179" y="122"/>
                    <a:pt x="184" y="128"/>
                    <a:pt x="190" y="128"/>
                  </a:cubicBezTo>
                  <a:cubicBezTo>
                    <a:pt x="208" y="128"/>
                    <a:pt x="208" y="128"/>
                    <a:pt x="208" y="128"/>
                  </a:cubicBezTo>
                  <a:cubicBezTo>
                    <a:pt x="203" y="169"/>
                    <a:pt x="170" y="202"/>
                    <a:pt x="129" y="208"/>
                  </a:cubicBezTo>
                  <a:close/>
                  <a:moveTo>
                    <a:pt x="124" y="94"/>
                  </a:moveTo>
                  <a:cubicBezTo>
                    <a:pt x="70" y="69"/>
                    <a:pt x="70" y="69"/>
                    <a:pt x="70" y="69"/>
                  </a:cubicBezTo>
                  <a:cubicBezTo>
                    <a:pt x="94" y="124"/>
                    <a:pt x="94" y="124"/>
                    <a:pt x="94" y="124"/>
                  </a:cubicBezTo>
                  <a:cubicBezTo>
                    <a:pt x="97" y="129"/>
                    <a:pt x="103" y="136"/>
                    <a:pt x="109" y="138"/>
                  </a:cubicBezTo>
                  <a:cubicBezTo>
                    <a:pt x="163" y="163"/>
                    <a:pt x="163" y="163"/>
                    <a:pt x="163" y="163"/>
                  </a:cubicBezTo>
                  <a:cubicBezTo>
                    <a:pt x="138" y="108"/>
                    <a:pt x="138" y="108"/>
                    <a:pt x="138" y="108"/>
                  </a:cubicBezTo>
                  <a:cubicBezTo>
                    <a:pt x="136" y="103"/>
                    <a:pt x="130" y="96"/>
                    <a:pt x="124" y="94"/>
                  </a:cubicBezTo>
                  <a:close/>
                  <a:moveTo>
                    <a:pt x="123" y="123"/>
                  </a:moveTo>
                  <a:cubicBezTo>
                    <a:pt x="119" y="126"/>
                    <a:pt x="113" y="126"/>
                    <a:pt x="110" y="123"/>
                  </a:cubicBezTo>
                  <a:cubicBezTo>
                    <a:pt x="106" y="119"/>
                    <a:pt x="106" y="113"/>
                    <a:pt x="110" y="109"/>
                  </a:cubicBezTo>
                  <a:cubicBezTo>
                    <a:pt x="113" y="106"/>
                    <a:pt x="119" y="106"/>
                    <a:pt x="123" y="109"/>
                  </a:cubicBezTo>
                  <a:cubicBezTo>
                    <a:pt x="127" y="113"/>
                    <a:pt x="127" y="119"/>
                    <a:pt x="123" y="123"/>
                  </a:cubicBez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1365250" y="2133600"/>
            <a:ext cx="2454275" cy="2516188"/>
            <a:chOff x="3546983" y="2217316"/>
            <a:chExt cx="2796406" cy="2867868"/>
          </a:xfrm>
        </p:grpSpPr>
        <p:sp>
          <p:nvSpPr>
            <p:cNvPr id="13" name="íṡľíḍè-Rectangle 18"/>
            <p:cNvSpPr/>
            <p:nvPr/>
          </p:nvSpPr>
          <p:spPr>
            <a:xfrm>
              <a:off x="3868950" y="2217316"/>
              <a:ext cx="1901050" cy="1901659"/>
            </a:xfrm>
            <a:prstGeom prst="rect">
              <a:avLst/>
            </a:prstGeom>
            <a:solidFill>
              <a:srgbClr val="C0504D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4" name="íṡľíḍè-Freeform: Shape 19"/>
            <p:cNvSpPr/>
            <p:nvPr/>
          </p:nvSpPr>
          <p:spPr>
            <a:xfrm rot="10800000">
              <a:off x="3868950" y="3990508"/>
              <a:ext cx="1901050" cy="370923"/>
            </a:xfrm>
            <a:custGeom>
              <a:avLst/>
              <a:gdLst>
                <a:gd name="connsiteX0" fmla="*/ 1901372 w 1901372"/>
                <a:gd name="connsiteY0" fmla="*/ 370114 h 370114"/>
                <a:gd name="connsiteX1" fmla="*/ 0 w 1901372"/>
                <a:gd name="connsiteY1" fmla="*/ 370114 h 370114"/>
                <a:gd name="connsiteX2" fmla="*/ 0 w 1901372"/>
                <a:gd name="connsiteY2" fmla="*/ 239486 h 370114"/>
                <a:gd name="connsiteX3" fmla="*/ 639355 w 1901372"/>
                <a:gd name="connsiteY3" fmla="*/ 239486 h 370114"/>
                <a:gd name="connsiteX4" fmla="*/ 950686 w 1901372"/>
                <a:gd name="connsiteY4" fmla="*/ 0 h 370114"/>
                <a:gd name="connsiteX5" fmla="*/ 1262017 w 1901372"/>
                <a:gd name="connsiteY5" fmla="*/ 239486 h 370114"/>
                <a:gd name="connsiteX6" fmla="*/ 1901372 w 1901372"/>
                <a:gd name="connsiteY6" fmla="*/ 239486 h 370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01372" h="370114">
                  <a:moveTo>
                    <a:pt x="1901372" y="370114"/>
                  </a:moveTo>
                  <a:lnTo>
                    <a:pt x="0" y="370114"/>
                  </a:lnTo>
                  <a:lnTo>
                    <a:pt x="0" y="239486"/>
                  </a:lnTo>
                  <a:lnTo>
                    <a:pt x="639355" y="239486"/>
                  </a:lnTo>
                  <a:lnTo>
                    <a:pt x="950686" y="0"/>
                  </a:lnTo>
                  <a:lnTo>
                    <a:pt x="1262017" y="239486"/>
                  </a:lnTo>
                  <a:lnTo>
                    <a:pt x="1901372" y="239486"/>
                  </a:lnTo>
                  <a:close/>
                </a:path>
              </a:pathLst>
            </a:custGeom>
            <a:solidFill>
              <a:srgbClr val="C0504D">
                <a:lumMod val="7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5" name="îŝḷîḓé-Rectangle 39"/>
            <p:cNvSpPr/>
            <p:nvPr/>
          </p:nvSpPr>
          <p:spPr>
            <a:xfrm>
              <a:off x="3546983" y="4558654"/>
              <a:ext cx="2796406" cy="526530"/>
            </a:xfrm>
            <a:prstGeom prst="rect">
              <a:avLst/>
            </a:prstGeom>
          </p:spPr>
          <p:txBody>
            <a:bodyPr lIns="0" tIns="0" rIns="0" bIns="0"/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100000"/>
                    </a:prstClr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构造好的哈希函数</a:t>
              </a:r>
            </a:p>
          </p:txBody>
        </p:sp>
        <p:sp>
          <p:nvSpPr>
            <p:cNvPr id="16" name="îŝḷîḓé-Freeform: Shape 44"/>
            <p:cNvSpPr/>
            <p:nvPr/>
          </p:nvSpPr>
          <p:spPr bwMode="auto">
            <a:xfrm>
              <a:off x="4389884" y="2568336"/>
              <a:ext cx="850136" cy="850409"/>
            </a:xfrm>
            <a:custGeom>
              <a:avLst/>
              <a:gdLst>
                <a:gd name="T0" fmla="*/ 187 w 228"/>
                <a:gd name="T1" fmla="*/ 114 h 240"/>
                <a:gd name="T2" fmla="*/ 114 w 228"/>
                <a:gd name="T3" fmla="*/ 40 h 240"/>
                <a:gd name="T4" fmla="*/ 40 w 228"/>
                <a:gd name="T5" fmla="*/ 114 h 240"/>
                <a:gd name="T6" fmla="*/ 68 w 228"/>
                <a:gd name="T7" fmla="*/ 171 h 240"/>
                <a:gd name="T8" fmla="*/ 74 w 228"/>
                <a:gd name="T9" fmla="*/ 173 h 240"/>
                <a:gd name="T10" fmla="*/ 81 w 228"/>
                <a:gd name="T11" fmla="*/ 169 h 240"/>
                <a:gd name="T12" fmla="*/ 79 w 228"/>
                <a:gd name="T13" fmla="*/ 156 h 240"/>
                <a:gd name="T14" fmla="*/ 59 w 228"/>
                <a:gd name="T15" fmla="*/ 114 h 240"/>
                <a:gd name="T16" fmla="*/ 114 w 228"/>
                <a:gd name="T17" fmla="*/ 59 h 240"/>
                <a:gd name="T18" fmla="*/ 169 w 228"/>
                <a:gd name="T19" fmla="*/ 114 h 240"/>
                <a:gd name="T20" fmla="*/ 152 w 228"/>
                <a:gd name="T21" fmla="*/ 153 h 240"/>
                <a:gd name="T22" fmla="*/ 151 w 228"/>
                <a:gd name="T23" fmla="*/ 166 h 240"/>
                <a:gd name="T24" fmla="*/ 165 w 228"/>
                <a:gd name="T25" fmla="*/ 167 h 240"/>
                <a:gd name="T26" fmla="*/ 187 w 228"/>
                <a:gd name="T27" fmla="*/ 114 h 240"/>
                <a:gd name="T28" fmla="*/ 116 w 228"/>
                <a:gd name="T29" fmla="*/ 79 h 240"/>
                <a:gd name="T30" fmla="*/ 81 w 228"/>
                <a:gd name="T31" fmla="*/ 114 h 240"/>
                <a:gd name="T32" fmla="*/ 101 w 228"/>
                <a:gd name="T33" fmla="*/ 144 h 240"/>
                <a:gd name="T34" fmla="*/ 101 w 228"/>
                <a:gd name="T35" fmla="*/ 226 h 240"/>
                <a:gd name="T36" fmla="*/ 115 w 228"/>
                <a:gd name="T37" fmla="*/ 240 h 240"/>
                <a:gd name="T38" fmla="*/ 129 w 228"/>
                <a:gd name="T39" fmla="*/ 226 h 240"/>
                <a:gd name="T40" fmla="*/ 129 w 228"/>
                <a:gd name="T41" fmla="*/ 145 h 240"/>
                <a:gd name="T42" fmla="*/ 150 w 228"/>
                <a:gd name="T43" fmla="*/ 114 h 240"/>
                <a:gd name="T44" fmla="*/ 116 w 228"/>
                <a:gd name="T45" fmla="*/ 79 h 240"/>
                <a:gd name="T46" fmla="*/ 114 w 228"/>
                <a:gd name="T47" fmla="*/ 0 h 240"/>
                <a:gd name="T48" fmla="*/ 0 w 228"/>
                <a:gd name="T49" fmla="*/ 114 h 240"/>
                <a:gd name="T50" fmla="*/ 52 w 228"/>
                <a:gd name="T51" fmla="*/ 209 h 240"/>
                <a:gd name="T52" fmla="*/ 57 w 228"/>
                <a:gd name="T53" fmla="*/ 211 h 240"/>
                <a:gd name="T54" fmla="*/ 65 w 228"/>
                <a:gd name="T55" fmla="*/ 206 h 240"/>
                <a:gd name="T56" fmla="*/ 62 w 228"/>
                <a:gd name="T57" fmla="*/ 193 h 240"/>
                <a:gd name="T58" fmla="*/ 19 w 228"/>
                <a:gd name="T59" fmla="*/ 114 h 240"/>
                <a:gd name="T60" fmla="*/ 114 w 228"/>
                <a:gd name="T61" fmla="*/ 18 h 240"/>
                <a:gd name="T62" fmla="*/ 209 w 228"/>
                <a:gd name="T63" fmla="*/ 114 h 240"/>
                <a:gd name="T64" fmla="*/ 168 w 228"/>
                <a:gd name="T65" fmla="*/ 192 h 240"/>
                <a:gd name="T66" fmla="*/ 165 w 228"/>
                <a:gd name="T67" fmla="*/ 205 h 240"/>
                <a:gd name="T68" fmla="*/ 178 w 228"/>
                <a:gd name="T69" fmla="*/ 208 h 240"/>
                <a:gd name="T70" fmla="*/ 228 w 228"/>
                <a:gd name="T71" fmla="*/ 114 h 240"/>
                <a:gd name="T72" fmla="*/ 114 w 228"/>
                <a:gd name="T73" fmla="*/ 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28" h="240">
                  <a:moveTo>
                    <a:pt x="187" y="114"/>
                  </a:moveTo>
                  <a:cubicBezTo>
                    <a:pt x="187" y="73"/>
                    <a:pt x="154" y="40"/>
                    <a:pt x="114" y="40"/>
                  </a:cubicBezTo>
                  <a:cubicBezTo>
                    <a:pt x="73" y="40"/>
                    <a:pt x="40" y="73"/>
                    <a:pt x="40" y="114"/>
                  </a:cubicBezTo>
                  <a:cubicBezTo>
                    <a:pt x="40" y="136"/>
                    <a:pt x="50" y="157"/>
                    <a:pt x="68" y="171"/>
                  </a:cubicBezTo>
                  <a:cubicBezTo>
                    <a:pt x="69" y="172"/>
                    <a:pt x="71" y="173"/>
                    <a:pt x="74" y="173"/>
                  </a:cubicBezTo>
                  <a:cubicBezTo>
                    <a:pt x="76" y="173"/>
                    <a:pt x="79" y="171"/>
                    <a:pt x="81" y="169"/>
                  </a:cubicBezTo>
                  <a:cubicBezTo>
                    <a:pt x="84" y="165"/>
                    <a:pt x="83" y="159"/>
                    <a:pt x="79" y="156"/>
                  </a:cubicBezTo>
                  <a:cubicBezTo>
                    <a:pt x="67" y="146"/>
                    <a:pt x="59" y="130"/>
                    <a:pt x="59" y="114"/>
                  </a:cubicBezTo>
                  <a:cubicBezTo>
                    <a:pt x="59" y="83"/>
                    <a:pt x="84" y="59"/>
                    <a:pt x="114" y="59"/>
                  </a:cubicBezTo>
                  <a:cubicBezTo>
                    <a:pt x="144" y="59"/>
                    <a:pt x="169" y="83"/>
                    <a:pt x="169" y="114"/>
                  </a:cubicBezTo>
                  <a:cubicBezTo>
                    <a:pt x="169" y="129"/>
                    <a:pt x="163" y="143"/>
                    <a:pt x="152" y="153"/>
                  </a:cubicBezTo>
                  <a:cubicBezTo>
                    <a:pt x="148" y="157"/>
                    <a:pt x="148" y="163"/>
                    <a:pt x="151" y="166"/>
                  </a:cubicBezTo>
                  <a:cubicBezTo>
                    <a:pt x="155" y="170"/>
                    <a:pt x="161" y="170"/>
                    <a:pt x="165" y="167"/>
                  </a:cubicBezTo>
                  <a:cubicBezTo>
                    <a:pt x="179" y="153"/>
                    <a:pt x="187" y="134"/>
                    <a:pt x="187" y="114"/>
                  </a:cubicBezTo>
                  <a:close/>
                  <a:moveTo>
                    <a:pt x="116" y="79"/>
                  </a:moveTo>
                  <a:cubicBezTo>
                    <a:pt x="97" y="79"/>
                    <a:pt x="81" y="95"/>
                    <a:pt x="81" y="114"/>
                  </a:cubicBezTo>
                  <a:cubicBezTo>
                    <a:pt x="81" y="127"/>
                    <a:pt x="89" y="139"/>
                    <a:pt x="101" y="144"/>
                  </a:cubicBezTo>
                  <a:cubicBezTo>
                    <a:pt x="101" y="226"/>
                    <a:pt x="101" y="226"/>
                    <a:pt x="101" y="226"/>
                  </a:cubicBezTo>
                  <a:cubicBezTo>
                    <a:pt x="101" y="233"/>
                    <a:pt x="107" y="240"/>
                    <a:pt x="115" y="240"/>
                  </a:cubicBezTo>
                  <a:cubicBezTo>
                    <a:pt x="123" y="240"/>
                    <a:pt x="129" y="233"/>
                    <a:pt x="129" y="226"/>
                  </a:cubicBezTo>
                  <a:cubicBezTo>
                    <a:pt x="129" y="145"/>
                    <a:pt x="129" y="145"/>
                    <a:pt x="129" y="145"/>
                  </a:cubicBezTo>
                  <a:cubicBezTo>
                    <a:pt x="141" y="140"/>
                    <a:pt x="150" y="128"/>
                    <a:pt x="150" y="114"/>
                  </a:cubicBezTo>
                  <a:cubicBezTo>
                    <a:pt x="150" y="95"/>
                    <a:pt x="134" y="79"/>
                    <a:pt x="116" y="79"/>
                  </a:cubicBezTo>
                  <a:close/>
                  <a:moveTo>
                    <a:pt x="114" y="0"/>
                  </a:moveTo>
                  <a:cubicBezTo>
                    <a:pt x="51" y="0"/>
                    <a:pt x="0" y="51"/>
                    <a:pt x="0" y="114"/>
                  </a:cubicBezTo>
                  <a:cubicBezTo>
                    <a:pt x="0" y="152"/>
                    <a:pt x="19" y="188"/>
                    <a:pt x="52" y="209"/>
                  </a:cubicBezTo>
                  <a:cubicBezTo>
                    <a:pt x="54" y="210"/>
                    <a:pt x="55" y="211"/>
                    <a:pt x="57" y="211"/>
                  </a:cubicBezTo>
                  <a:cubicBezTo>
                    <a:pt x="60" y="211"/>
                    <a:pt x="63" y="209"/>
                    <a:pt x="65" y="206"/>
                  </a:cubicBezTo>
                  <a:cubicBezTo>
                    <a:pt x="68" y="202"/>
                    <a:pt x="67" y="196"/>
                    <a:pt x="62" y="193"/>
                  </a:cubicBezTo>
                  <a:cubicBezTo>
                    <a:pt x="35" y="176"/>
                    <a:pt x="19" y="146"/>
                    <a:pt x="19" y="114"/>
                  </a:cubicBezTo>
                  <a:cubicBezTo>
                    <a:pt x="19" y="61"/>
                    <a:pt x="61" y="18"/>
                    <a:pt x="114" y="18"/>
                  </a:cubicBezTo>
                  <a:cubicBezTo>
                    <a:pt x="166" y="18"/>
                    <a:pt x="209" y="61"/>
                    <a:pt x="209" y="114"/>
                  </a:cubicBezTo>
                  <a:cubicBezTo>
                    <a:pt x="209" y="145"/>
                    <a:pt x="194" y="174"/>
                    <a:pt x="168" y="192"/>
                  </a:cubicBezTo>
                  <a:cubicBezTo>
                    <a:pt x="163" y="195"/>
                    <a:pt x="162" y="201"/>
                    <a:pt x="165" y="205"/>
                  </a:cubicBezTo>
                  <a:cubicBezTo>
                    <a:pt x="168" y="209"/>
                    <a:pt x="174" y="211"/>
                    <a:pt x="178" y="208"/>
                  </a:cubicBezTo>
                  <a:cubicBezTo>
                    <a:pt x="209" y="186"/>
                    <a:pt x="228" y="151"/>
                    <a:pt x="228" y="114"/>
                  </a:cubicBezTo>
                  <a:cubicBezTo>
                    <a:pt x="228" y="51"/>
                    <a:pt x="177" y="0"/>
                    <a:pt x="114" y="0"/>
                  </a:cubicBez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8"/>
          <p:cNvSpPr>
            <a:spLocks noChangeArrowheads="1"/>
          </p:cNvSpPr>
          <p:nvPr/>
        </p:nvSpPr>
        <p:spPr bwMode="auto">
          <a:xfrm>
            <a:off x="900113" y="258763"/>
            <a:ext cx="4303713" cy="51593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哈希函数的构造方法</a:t>
            </a:r>
          </a:p>
        </p:txBody>
      </p:sp>
      <p:sp>
        <p:nvSpPr>
          <p:cNvPr id="86019" name="Rectangle 13"/>
          <p:cNvSpPr>
            <a:spLocks noChangeArrowheads="1"/>
          </p:cNvSpPr>
          <p:nvPr/>
        </p:nvSpPr>
        <p:spPr bwMode="auto">
          <a:xfrm>
            <a:off x="369888" y="1695450"/>
            <a:ext cx="4430713" cy="4789003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txBody>
          <a:bodyPr>
            <a:spAutoFit/>
          </a:bodyPr>
          <a:lstStyle>
            <a:lvl1pPr indent="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9pPr>
          </a:lstStyle>
          <a:p>
            <a:pPr marL="0" marR="0" lvl="0" indent="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根据元素集合的特性构造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lvl="0">
              <a:spcBef>
                <a:spcPct val="20000"/>
              </a:spcBef>
              <a:defRPr/>
            </a:pPr>
            <a:r>
              <a:rPr lang="en-US" altLang="zh-CN" b="0" dirty="0">
                <a:solidFill>
                  <a:srgbClr val="FF3300"/>
                </a:solidFill>
                <a:latin typeface="+mn-lt"/>
                <a:ea typeface="+mn-ea"/>
                <a:cs typeface="+mn-ea"/>
                <a:sym typeface="+mn-lt"/>
              </a:rPr>
              <a:t>1. </a:t>
            </a:r>
            <a:r>
              <a:rPr lang="zh-CN" altLang="en-US" b="0" dirty="0">
                <a:solidFill>
                  <a:srgbClr val="FF3300"/>
                </a:solidFill>
                <a:latin typeface="+mn-lt"/>
                <a:ea typeface="+mn-ea"/>
                <a:cs typeface="+mn-ea"/>
                <a:sym typeface="+mn-lt"/>
              </a:rPr>
              <a:t>计算简单，以便提高转换速度；</a:t>
            </a:r>
          </a:p>
          <a:p>
            <a:pPr lvl="0">
              <a:spcBef>
                <a:spcPct val="20000"/>
              </a:spcBef>
              <a:defRPr/>
            </a:pPr>
            <a:r>
              <a:rPr lang="en-US" altLang="zh-CN" b="0" dirty="0">
                <a:solidFill>
                  <a:srgbClr val="FF3300"/>
                </a:solidFill>
                <a:latin typeface="+mn-lt"/>
                <a:ea typeface="+mn-ea"/>
                <a:cs typeface="+mn-ea"/>
                <a:sym typeface="+mn-lt"/>
              </a:rPr>
              <a:t>2. </a:t>
            </a:r>
            <a:r>
              <a:rPr lang="zh-CN" altLang="en-US" b="0" dirty="0">
                <a:solidFill>
                  <a:srgbClr val="FF3300"/>
                </a:solidFill>
                <a:latin typeface="+mn-lt"/>
                <a:ea typeface="+mn-ea"/>
                <a:cs typeface="+mn-ea"/>
                <a:sym typeface="+mn-lt"/>
              </a:rPr>
              <a:t>关键词对应的地址空间分布均匀，以尽量减少冲突。</a:t>
            </a:r>
          </a:p>
          <a:p>
            <a:pPr marL="0" marR="0" lvl="0" indent="28575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28575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28575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2" name="Group 15"/>
          <p:cNvGrpSpPr/>
          <p:nvPr/>
        </p:nvGrpSpPr>
        <p:grpSpPr bwMode="auto">
          <a:xfrm>
            <a:off x="4906960" y="1722833"/>
            <a:ext cx="3794125" cy="3568700"/>
            <a:chOff x="3072" y="440"/>
            <a:chExt cx="2390" cy="2248"/>
          </a:xfrm>
          <a:solidFill>
            <a:srgbClr val="CCCCFF"/>
          </a:solidFill>
        </p:grpSpPr>
        <p:sp>
          <p:nvSpPr>
            <p:cNvPr id="86021" name="Text Box 12"/>
            <p:cNvSpPr txBox="1">
              <a:spLocks noChangeArrowheads="1"/>
            </p:cNvSpPr>
            <p:nvPr/>
          </p:nvSpPr>
          <p:spPr bwMode="auto">
            <a:xfrm>
              <a:off x="3878" y="440"/>
              <a:ext cx="1584" cy="2248"/>
            </a:xfrm>
            <a:prstGeom prst="rect">
              <a:avLst/>
            </a:prstGeom>
            <a:grpFill/>
            <a:ln w="57150">
              <a:noFill/>
              <a:miter lim="800000"/>
            </a:ln>
          </p:spPr>
          <p:txBody>
            <a:bodyPr>
              <a:spAutoFit/>
            </a:bodyPr>
            <a:lstStyle>
              <a:lvl1pPr marL="457200" indent="-45720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457200" marR="0" lvl="0" indent="-457200" algn="l" defTabSz="914400" rtl="0" eaLnBrk="1" fontAlgn="base" latinLnBrk="0" hangingPunct="1">
                <a:lnSpc>
                  <a:spcPct val="100000"/>
                </a:lnSpc>
                <a:spcBef>
                  <a:spcPct val="4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AutoNum type="arabicPeriod"/>
                <a:defRPr/>
              </a:pP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直接定址法 </a:t>
              </a:r>
            </a:p>
            <a:p>
              <a:pPr marL="457200" marR="0" lvl="0" indent="-457200" algn="l" defTabSz="914400" rtl="0" eaLnBrk="1" fontAlgn="base" latinLnBrk="0" hangingPunct="1">
                <a:lnSpc>
                  <a:spcPct val="100000"/>
                </a:lnSpc>
                <a:spcBef>
                  <a:spcPct val="4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AutoNum type="arabicPeriod"/>
                <a:defRPr/>
              </a:pP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数字分析法</a:t>
              </a:r>
            </a:p>
            <a:p>
              <a:pPr marL="457200" marR="0" lvl="0" indent="-457200" algn="l" defTabSz="914400" rtl="0" eaLnBrk="1" fontAlgn="base" latinLnBrk="0" hangingPunct="1">
                <a:lnSpc>
                  <a:spcPct val="100000"/>
                </a:lnSpc>
                <a:spcBef>
                  <a:spcPct val="4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AutoNum type="arabicPeriod"/>
                <a:defRPr/>
              </a:pP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平方取中法</a:t>
              </a:r>
            </a:p>
            <a:p>
              <a:pPr marL="457200" marR="0" lvl="0" indent="-457200" algn="l" defTabSz="914400" rtl="0" eaLnBrk="1" fontAlgn="base" latinLnBrk="0" hangingPunct="1">
                <a:lnSpc>
                  <a:spcPct val="100000"/>
                </a:lnSpc>
                <a:spcBef>
                  <a:spcPct val="4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AutoNum type="arabicPeriod"/>
                <a:defRPr/>
              </a:pP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折叠法</a:t>
              </a:r>
            </a:p>
            <a:p>
              <a:pPr marL="457200" marR="0" lvl="0" indent="-457200" algn="l" defTabSz="914400" rtl="0" eaLnBrk="1" fontAlgn="base" latinLnBrk="0" hangingPunct="1">
                <a:lnSpc>
                  <a:spcPct val="100000"/>
                </a:lnSpc>
                <a:spcBef>
                  <a:spcPct val="4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AutoNum type="arabicPeriod"/>
                <a:defRPr/>
              </a:pP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除留余数法</a:t>
              </a:r>
            </a:p>
            <a:p>
              <a:pPr marL="457200" marR="0" lvl="0" indent="-457200" algn="l" defTabSz="914400" rtl="0" eaLnBrk="1" fontAlgn="base" latinLnBrk="0" hangingPunct="1">
                <a:lnSpc>
                  <a:spcPct val="100000"/>
                </a:lnSpc>
                <a:spcBef>
                  <a:spcPct val="4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AutoNum type="arabicPeriod"/>
                <a:defRPr/>
              </a:pP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随机数法 </a:t>
              </a:r>
            </a:p>
          </p:txBody>
        </p:sp>
        <p:sp>
          <p:nvSpPr>
            <p:cNvPr id="86022" name="AutoShape 14"/>
            <p:cNvSpPr>
              <a:spLocks noChangeArrowheads="1"/>
            </p:cNvSpPr>
            <p:nvPr/>
          </p:nvSpPr>
          <p:spPr bwMode="auto">
            <a:xfrm>
              <a:off x="3072" y="799"/>
              <a:ext cx="672" cy="309"/>
            </a:xfrm>
            <a:prstGeom prst="rightArrow">
              <a:avLst>
                <a:gd name="adj1" fmla="val 50000"/>
                <a:gd name="adj2" fmla="val 54349"/>
              </a:avLst>
            </a:prstGeom>
            <a:solidFill>
              <a:srgbClr val="7030A0"/>
            </a:solidFill>
            <a:ln w="9525">
              <a:noFill/>
              <a:miter lim="800000"/>
            </a:ln>
          </p:spPr>
          <p:txBody>
            <a:bodyPr wrap="none" anchor="ctr"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cxnSp>
        <p:nvCxnSpPr>
          <p:cNvPr id="123908" name="直接连接符 3"/>
          <p:cNvCxnSpPr>
            <a:stCxn id="86019" idx="1"/>
            <a:endCxn id="86019" idx="3"/>
          </p:cNvCxnSpPr>
          <p:nvPr/>
        </p:nvCxnSpPr>
        <p:spPr>
          <a:xfrm>
            <a:off x="369888" y="4089952"/>
            <a:ext cx="4430713" cy="0"/>
          </a:xfrm>
          <a:prstGeom prst="line">
            <a:avLst/>
          </a:prstGeom>
          <a:ln w="76200" cap="flat" cmpd="sng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3909" name="直接连接符 9"/>
          <p:cNvCxnSpPr>
            <a:stCxn id="86019" idx="1"/>
            <a:endCxn id="86019" idx="3"/>
          </p:cNvCxnSpPr>
          <p:nvPr/>
        </p:nvCxnSpPr>
        <p:spPr>
          <a:xfrm>
            <a:off x="369888" y="4089952"/>
            <a:ext cx="4430713" cy="0"/>
          </a:xfrm>
          <a:prstGeom prst="line">
            <a:avLst/>
          </a:prstGeom>
          <a:ln w="76200" cap="flat" cmpd="sng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3910" name="直接连接符 10"/>
          <p:cNvCxnSpPr>
            <a:stCxn id="86019" idx="1"/>
            <a:endCxn id="86019" idx="3"/>
          </p:cNvCxnSpPr>
          <p:nvPr/>
        </p:nvCxnSpPr>
        <p:spPr>
          <a:xfrm>
            <a:off x="369888" y="4089952"/>
            <a:ext cx="4430713" cy="0"/>
          </a:xfrm>
          <a:prstGeom prst="line">
            <a:avLst/>
          </a:prstGeom>
          <a:ln w="76200" cap="flat" cmpd="sng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3911" name="直接连接符 11"/>
          <p:cNvCxnSpPr>
            <a:stCxn id="86019" idx="1"/>
            <a:endCxn id="86019" idx="3"/>
          </p:cNvCxnSpPr>
          <p:nvPr/>
        </p:nvCxnSpPr>
        <p:spPr>
          <a:xfrm>
            <a:off x="369888" y="4089952"/>
            <a:ext cx="4430713" cy="0"/>
          </a:xfrm>
          <a:prstGeom prst="line">
            <a:avLst/>
          </a:prstGeom>
          <a:ln w="76200" cap="flat" cmpd="sng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3912" name="直接连接符 12"/>
          <p:cNvCxnSpPr>
            <a:stCxn id="86019" idx="1"/>
            <a:endCxn id="86019" idx="3"/>
          </p:cNvCxnSpPr>
          <p:nvPr/>
        </p:nvCxnSpPr>
        <p:spPr>
          <a:xfrm>
            <a:off x="369888" y="4089952"/>
            <a:ext cx="4430713" cy="0"/>
          </a:xfrm>
          <a:prstGeom prst="line">
            <a:avLst/>
          </a:prstGeom>
          <a:ln w="76200" cap="flat" cmpd="sng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3913" name="直接连接符 13"/>
          <p:cNvCxnSpPr>
            <a:stCxn id="86019" idx="1"/>
            <a:endCxn id="86019" idx="3"/>
          </p:cNvCxnSpPr>
          <p:nvPr/>
        </p:nvCxnSpPr>
        <p:spPr>
          <a:xfrm>
            <a:off x="369888" y="4089952"/>
            <a:ext cx="4430713" cy="0"/>
          </a:xfrm>
          <a:prstGeom prst="line">
            <a:avLst/>
          </a:prstGeom>
          <a:ln w="76200" cap="flat" cmpd="sng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481" name="Rectangle 17"/>
          <p:cNvSpPr>
            <a:spLocks noChangeArrowheads="1"/>
          </p:cNvSpPr>
          <p:nvPr/>
        </p:nvSpPr>
        <p:spPr bwMode="auto">
          <a:xfrm>
            <a:off x="684213" y="908050"/>
            <a:ext cx="8207375" cy="65246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857250" indent="-8572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9pPr>
          </a:lstStyle>
          <a:p>
            <a:pPr marL="857250" marR="0" lvl="0" indent="-857250" algn="just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Hash(key) = </a:t>
            </a:r>
            <a:r>
              <a:rPr kumimoji="0" lang="en-US" altLang="zh-CN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a·key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+ b    (a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、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b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为常数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)</a:t>
            </a:r>
          </a:p>
        </p:txBody>
      </p:sp>
      <p:sp>
        <p:nvSpPr>
          <p:cNvPr id="87043" name="Rectangle 46"/>
          <p:cNvSpPr>
            <a:spLocks noChangeArrowheads="1"/>
          </p:cNvSpPr>
          <p:nvPr/>
        </p:nvSpPr>
        <p:spPr bwMode="auto">
          <a:xfrm>
            <a:off x="827088" y="203200"/>
            <a:ext cx="4303713" cy="51593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直接定址法</a:t>
            </a: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471488" y="4589463"/>
            <a:ext cx="3860800" cy="14351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pitchFamily="49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pitchFamily="49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pitchFamily="49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pitchFamily="49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以关键码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key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的某个线性函数值为哈希地址，不会产生冲突。</a:t>
            </a: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4886325" y="4616450"/>
            <a:ext cx="3789363" cy="9731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pitchFamily="49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pitchFamily="49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pitchFamily="49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pitchFamily="49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要占用连续地址空间，空间效率低。 </a:t>
            </a:r>
          </a:p>
        </p:txBody>
      </p:sp>
      <p:grpSp>
        <p:nvGrpSpPr>
          <p:cNvPr id="9" name="组合 8"/>
          <p:cNvGrpSpPr/>
          <p:nvPr/>
        </p:nvGrpSpPr>
        <p:grpSpPr>
          <a:xfrm>
            <a:off x="5214938" y="2066925"/>
            <a:ext cx="2711450" cy="2270125"/>
            <a:chOff x="4561682" y="2200808"/>
            <a:chExt cx="3219450" cy="2697163"/>
          </a:xfrm>
        </p:grpSpPr>
        <p:sp>
          <p:nvSpPr>
            <p:cNvPr id="10" name="i$liḋe-Oval 12"/>
            <p:cNvSpPr/>
            <p:nvPr/>
          </p:nvSpPr>
          <p:spPr bwMode="auto">
            <a:xfrm>
              <a:off x="4997099" y="2200808"/>
              <a:ext cx="2284528" cy="2284102"/>
            </a:xfrm>
            <a:prstGeom prst="ellipse">
              <a:avLst/>
            </a:prstGeom>
            <a:solidFill>
              <a:schemeClr val="accent1"/>
            </a:solidFill>
            <a:ln w="50800">
              <a:solidFill>
                <a:schemeClr val="tx1">
                  <a:alpha val="0"/>
                </a:schemeClr>
              </a:solidFill>
              <a:miter lim="800000"/>
            </a:ln>
          </p:spPr>
          <p:txBody>
            <a:bodyPr wrap="none" lIns="0" tIns="0" rIns="0" bIns="0" anchor="ctr"/>
            <a:lstStyle>
              <a:lvl1pPr>
                <a:lnSpc>
                  <a:spcPct val="130000"/>
                </a:lnSpc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缺点：</a:t>
              </a:r>
            </a:p>
          </p:txBody>
        </p:sp>
        <p:sp>
          <p:nvSpPr>
            <p:cNvPr id="11" name="i$liḋe-Oval 14"/>
            <p:cNvSpPr/>
            <p:nvPr/>
          </p:nvSpPr>
          <p:spPr bwMode="auto">
            <a:xfrm>
              <a:off x="4561682" y="3047680"/>
              <a:ext cx="326091" cy="32630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  <a:alpha val="20000"/>
              </a:schemeClr>
            </a:solidFill>
            <a:ln w="50800">
              <a:solidFill>
                <a:schemeClr val="tx1">
                  <a:alpha val="0"/>
                </a:schemeClr>
              </a:solidFill>
              <a:miter lim="800000"/>
            </a:ln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2" name="i$liḋe-Oval 15"/>
            <p:cNvSpPr/>
            <p:nvPr/>
          </p:nvSpPr>
          <p:spPr bwMode="auto">
            <a:xfrm>
              <a:off x="5877359" y="4354766"/>
              <a:ext cx="544742" cy="543205"/>
            </a:xfrm>
            <a:prstGeom prst="ellipse">
              <a:avLst/>
            </a:prstGeom>
            <a:solidFill>
              <a:schemeClr val="accent1">
                <a:lumMod val="40000"/>
                <a:lumOff val="60000"/>
                <a:alpha val="20000"/>
              </a:schemeClr>
            </a:solidFill>
            <a:ln w="50800">
              <a:solidFill>
                <a:schemeClr val="tx1">
                  <a:alpha val="0"/>
                </a:schemeClr>
              </a:solidFill>
              <a:miter lim="800000"/>
            </a:ln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3" name="i$liḋe-Oval 16"/>
            <p:cNvSpPr/>
            <p:nvPr/>
          </p:nvSpPr>
          <p:spPr bwMode="auto">
            <a:xfrm>
              <a:off x="6857519" y="2221556"/>
              <a:ext cx="173413" cy="175409"/>
            </a:xfrm>
            <a:prstGeom prst="ellipse">
              <a:avLst/>
            </a:prstGeom>
            <a:solidFill>
              <a:schemeClr val="accent1">
                <a:lumMod val="40000"/>
                <a:lumOff val="60000"/>
                <a:alpha val="20000"/>
              </a:schemeClr>
            </a:solidFill>
            <a:ln w="50800">
              <a:noFill/>
              <a:miter lim="800000"/>
            </a:ln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4" name="i$liḋe-Oval 17"/>
            <p:cNvSpPr/>
            <p:nvPr/>
          </p:nvSpPr>
          <p:spPr bwMode="auto">
            <a:xfrm>
              <a:off x="7117639" y="3907754"/>
              <a:ext cx="403374" cy="403631"/>
            </a:xfrm>
            <a:prstGeom prst="ellipse">
              <a:avLst/>
            </a:prstGeom>
            <a:solidFill>
              <a:schemeClr val="accent1">
                <a:lumMod val="40000"/>
                <a:lumOff val="60000"/>
                <a:alpha val="20000"/>
              </a:schemeClr>
            </a:solidFill>
            <a:ln w="50800">
              <a:solidFill>
                <a:schemeClr val="tx1">
                  <a:alpha val="0"/>
                </a:schemeClr>
              </a:solidFill>
              <a:miter lim="800000"/>
            </a:ln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5" name="i$liḋe-Oval 18"/>
            <p:cNvSpPr/>
            <p:nvPr/>
          </p:nvSpPr>
          <p:spPr bwMode="auto">
            <a:xfrm>
              <a:off x="7292936" y="2940170"/>
              <a:ext cx="488196" cy="488508"/>
            </a:xfrm>
            <a:prstGeom prst="ellipse">
              <a:avLst/>
            </a:prstGeom>
            <a:solidFill>
              <a:schemeClr val="accent1">
                <a:lumMod val="40000"/>
                <a:lumOff val="60000"/>
                <a:alpha val="20000"/>
              </a:schemeClr>
            </a:solidFill>
            <a:ln w="50800">
              <a:solidFill>
                <a:schemeClr val="tx1">
                  <a:alpha val="0"/>
                </a:schemeClr>
              </a:solidFill>
              <a:miter lim="800000"/>
            </a:ln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619125" y="1752600"/>
            <a:ext cx="3000375" cy="2557463"/>
            <a:chOff x="755650" y="1929345"/>
            <a:chExt cx="3562350" cy="3037682"/>
          </a:xfrm>
        </p:grpSpPr>
        <p:sp>
          <p:nvSpPr>
            <p:cNvPr id="17" name="i$liḋe-Oval 4"/>
            <p:cNvSpPr/>
            <p:nvPr/>
          </p:nvSpPr>
          <p:spPr bwMode="auto">
            <a:xfrm>
              <a:off x="1560478" y="2263095"/>
              <a:ext cx="2222227" cy="2223107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 w="50800" cap="flat">
              <a:solidFill>
                <a:schemeClr val="tx1">
                  <a:alpha val="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wrap="none" lIns="0" tIns="0" rIns="0" bIns="0" anchor="ctr">
              <a:norm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优点：</a:t>
              </a:r>
              <a:endPara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" name="i$liḋe-Oval 6"/>
            <p:cNvSpPr/>
            <p:nvPr/>
          </p:nvSpPr>
          <p:spPr bwMode="auto">
            <a:xfrm>
              <a:off x="3967420" y="3601862"/>
              <a:ext cx="350580" cy="348833"/>
            </a:xfrm>
            <a:prstGeom prst="ellipse">
              <a:avLst/>
            </a:prstGeom>
            <a:solidFill>
              <a:schemeClr val="accent1">
                <a:lumMod val="40000"/>
                <a:lumOff val="60000"/>
                <a:alpha val="39999"/>
              </a:schemeClr>
            </a:solidFill>
            <a:ln w="50800" cap="flat">
              <a:solidFill>
                <a:schemeClr val="tx1">
                  <a:alpha val="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" name="i$liḋe-Oval 7"/>
            <p:cNvSpPr/>
            <p:nvPr/>
          </p:nvSpPr>
          <p:spPr bwMode="auto">
            <a:xfrm>
              <a:off x="1524665" y="3835675"/>
              <a:ext cx="348696" cy="348833"/>
            </a:xfrm>
            <a:prstGeom prst="ellipse">
              <a:avLst/>
            </a:prstGeom>
            <a:solidFill>
              <a:schemeClr val="accent1">
                <a:lumMod val="40000"/>
                <a:lumOff val="60000"/>
                <a:alpha val="39999"/>
              </a:schemeClr>
            </a:solidFill>
            <a:ln w="50800" cap="flat">
              <a:solidFill>
                <a:schemeClr val="tx1">
                  <a:alpha val="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i$liḋe-Oval 8"/>
            <p:cNvSpPr/>
            <p:nvPr/>
          </p:nvSpPr>
          <p:spPr bwMode="auto">
            <a:xfrm>
              <a:off x="2010954" y="4363639"/>
              <a:ext cx="603149" cy="603388"/>
            </a:xfrm>
            <a:prstGeom prst="ellipse">
              <a:avLst/>
            </a:prstGeom>
            <a:solidFill>
              <a:schemeClr val="accent1">
                <a:lumMod val="40000"/>
                <a:lumOff val="60000"/>
                <a:alpha val="39999"/>
              </a:schemeClr>
            </a:solidFill>
            <a:ln w="50800" cap="flat">
              <a:solidFill>
                <a:schemeClr val="tx1">
                  <a:alpha val="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1" name="i$liḋe-Oval 9"/>
            <p:cNvSpPr/>
            <p:nvPr/>
          </p:nvSpPr>
          <p:spPr bwMode="auto">
            <a:xfrm>
              <a:off x="2485934" y="1929345"/>
              <a:ext cx="201679" cy="201758"/>
            </a:xfrm>
            <a:prstGeom prst="ellipse">
              <a:avLst/>
            </a:prstGeom>
            <a:solidFill>
              <a:schemeClr val="accent1">
                <a:lumMod val="40000"/>
                <a:lumOff val="60000"/>
                <a:alpha val="39999"/>
              </a:schemeClr>
            </a:solidFill>
            <a:ln w="50800" cap="flat">
              <a:solidFill>
                <a:schemeClr val="tx1">
                  <a:alpha val="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" name="i$liḋe-Oval 10"/>
            <p:cNvSpPr/>
            <p:nvPr/>
          </p:nvSpPr>
          <p:spPr bwMode="auto">
            <a:xfrm>
              <a:off x="755650" y="3109723"/>
              <a:ext cx="433513" cy="435571"/>
            </a:xfrm>
            <a:prstGeom prst="ellipse">
              <a:avLst/>
            </a:prstGeom>
            <a:solidFill>
              <a:schemeClr val="accent1">
                <a:lumMod val="40000"/>
                <a:lumOff val="60000"/>
                <a:alpha val="39999"/>
              </a:schemeClr>
            </a:solidFill>
            <a:ln w="50800" cap="flat">
              <a:solidFill>
                <a:schemeClr val="tx1">
                  <a:alpha val="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84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8481" grpId="0" build="p"/>
      <p:bldP spid="7" grpId="0"/>
      <p:bldP spid="8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5"/>
          <p:cNvSpPr>
            <a:spLocks noChangeArrowheads="1"/>
          </p:cNvSpPr>
          <p:nvPr/>
        </p:nvSpPr>
        <p:spPr bwMode="auto">
          <a:xfrm>
            <a:off x="1108075" y="1793875"/>
            <a:ext cx="7772400" cy="94615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9pPr>
          </a:lstStyle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例：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{100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，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300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，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500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，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700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，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800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，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900}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，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哈希函数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Hash(key)=key/100</a:t>
            </a:r>
          </a:p>
        </p:txBody>
      </p:sp>
      <p:grpSp>
        <p:nvGrpSpPr>
          <p:cNvPr id="125954" name="组合 2"/>
          <p:cNvGrpSpPr/>
          <p:nvPr/>
        </p:nvGrpSpPr>
        <p:grpSpPr>
          <a:xfrm>
            <a:off x="1447800" y="3306763"/>
            <a:ext cx="6248400" cy="1057275"/>
            <a:chOff x="1326034" y="3079750"/>
            <a:chExt cx="6248400" cy="1057275"/>
          </a:xfrm>
        </p:grpSpPr>
        <p:sp>
          <p:nvSpPr>
            <p:cNvPr id="88068" name="Rectangle 7"/>
            <p:cNvSpPr>
              <a:spLocks noChangeArrowheads="1"/>
            </p:cNvSpPr>
            <p:nvPr/>
          </p:nvSpPr>
          <p:spPr bwMode="auto">
            <a:xfrm>
              <a:off x="1462559" y="3079750"/>
              <a:ext cx="6111875" cy="457200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0      1      2      3      4      5      6      7      8      9</a:t>
              </a:r>
            </a:p>
          </p:txBody>
        </p:sp>
        <p:sp>
          <p:nvSpPr>
            <p:cNvPr id="88069" name="Rectangle 8"/>
            <p:cNvSpPr>
              <a:spLocks noChangeArrowheads="1"/>
            </p:cNvSpPr>
            <p:nvPr/>
          </p:nvSpPr>
          <p:spPr bwMode="auto">
            <a:xfrm>
              <a:off x="6812434" y="3629025"/>
              <a:ext cx="609600" cy="508000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txBody>
            <a:bodyPr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900</a:t>
              </a:r>
            </a:p>
          </p:txBody>
        </p:sp>
        <p:sp>
          <p:nvSpPr>
            <p:cNvPr id="88070" name="Rectangle 9"/>
            <p:cNvSpPr>
              <a:spLocks noChangeArrowheads="1"/>
            </p:cNvSpPr>
            <p:nvPr/>
          </p:nvSpPr>
          <p:spPr bwMode="auto">
            <a:xfrm>
              <a:off x="6202834" y="3629025"/>
              <a:ext cx="609600" cy="508000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txBody>
            <a:bodyPr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800</a:t>
              </a:r>
            </a:p>
          </p:txBody>
        </p:sp>
        <p:sp>
          <p:nvSpPr>
            <p:cNvPr id="88071" name="Rectangle 10"/>
            <p:cNvSpPr>
              <a:spLocks noChangeArrowheads="1"/>
            </p:cNvSpPr>
            <p:nvPr/>
          </p:nvSpPr>
          <p:spPr bwMode="auto">
            <a:xfrm>
              <a:off x="5593234" y="3629025"/>
              <a:ext cx="609600" cy="508000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txBody>
            <a:bodyPr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700</a:t>
              </a:r>
            </a:p>
          </p:txBody>
        </p:sp>
        <p:sp>
          <p:nvSpPr>
            <p:cNvPr id="88072" name="Rectangle 11"/>
            <p:cNvSpPr>
              <a:spLocks noChangeArrowheads="1"/>
            </p:cNvSpPr>
            <p:nvPr/>
          </p:nvSpPr>
          <p:spPr bwMode="auto">
            <a:xfrm>
              <a:off x="4983634" y="3629025"/>
              <a:ext cx="609600" cy="508000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txBody>
            <a:bodyPr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88073" name="Rectangle 12"/>
            <p:cNvSpPr>
              <a:spLocks noChangeArrowheads="1"/>
            </p:cNvSpPr>
            <p:nvPr/>
          </p:nvSpPr>
          <p:spPr bwMode="auto">
            <a:xfrm>
              <a:off x="4374034" y="3629025"/>
              <a:ext cx="609600" cy="508000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txBody>
            <a:bodyPr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500</a:t>
              </a:r>
            </a:p>
          </p:txBody>
        </p:sp>
        <p:sp>
          <p:nvSpPr>
            <p:cNvPr id="88074" name="Rectangle 13"/>
            <p:cNvSpPr>
              <a:spLocks noChangeArrowheads="1"/>
            </p:cNvSpPr>
            <p:nvPr/>
          </p:nvSpPr>
          <p:spPr bwMode="auto">
            <a:xfrm>
              <a:off x="3764434" y="3629025"/>
              <a:ext cx="609600" cy="508000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txBody>
            <a:bodyPr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88075" name="Rectangle 14"/>
            <p:cNvSpPr>
              <a:spLocks noChangeArrowheads="1"/>
            </p:cNvSpPr>
            <p:nvPr/>
          </p:nvSpPr>
          <p:spPr bwMode="auto">
            <a:xfrm>
              <a:off x="3154834" y="3629025"/>
              <a:ext cx="609600" cy="508000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txBody>
            <a:bodyPr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300</a:t>
              </a:r>
            </a:p>
          </p:txBody>
        </p:sp>
        <p:sp>
          <p:nvSpPr>
            <p:cNvPr id="88076" name="Rectangle 15"/>
            <p:cNvSpPr>
              <a:spLocks noChangeArrowheads="1"/>
            </p:cNvSpPr>
            <p:nvPr/>
          </p:nvSpPr>
          <p:spPr bwMode="auto">
            <a:xfrm>
              <a:off x="2545234" y="3629025"/>
              <a:ext cx="609600" cy="508000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txBody>
            <a:bodyPr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88077" name="Rectangle 16"/>
            <p:cNvSpPr>
              <a:spLocks noChangeArrowheads="1"/>
            </p:cNvSpPr>
            <p:nvPr/>
          </p:nvSpPr>
          <p:spPr bwMode="auto">
            <a:xfrm>
              <a:off x="1935634" y="3629025"/>
              <a:ext cx="609600" cy="508000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txBody>
            <a:bodyPr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100</a:t>
              </a:r>
            </a:p>
          </p:txBody>
        </p:sp>
        <p:sp>
          <p:nvSpPr>
            <p:cNvPr id="88078" name="Rectangle 17"/>
            <p:cNvSpPr>
              <a:spLocks noChangeArrowheads="1"/>
            </p:cNvSpPr>
            <p:nvPr/>
          </p:nvSpPr>
          <p:spPr bwMode="auto">
            <a:xfrm>
              <a:off x="1326034" y="3629025"/>
              <a:ext cx="609600" cy="508000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txBody>
            <a:bodyPr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88079" name="Line 18"/>
            <p:cNvSpPr>
              <a:spLocks noChangeShapeType="1"/>
            </p:cNvSpPr>
            <p:nvPr/>
          </p:nvSpPr>
          <p:spPr bwMode="auto">
            <a:xfrm>
              <a:off x="1326034" y="3629025"/>
              <a:ext cx="6096000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88080" name="Line 19"/>
            <p:cNvSpPr>
              <a:spLocks noChangeShapeType="1"/>
            </p:cNvSpPr>
            <p:nvPr/>
          </p:nvSpPr>
          <p:spPr bwMode="auto">
            <a:xfrm>
              <a:off x="1326034" y="4137025"/>
              <a:ext cx="6096000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88081" name="Line 20"/>
            <p:cNvSpPr>
              <a:spLocks noChangeShapeType="1"/>
            </p:cNvSpPr>
            <p:nvPr/>
          </p:nvSpPr>
          <p:spPr bwMode="auto">
            <a:xfrm>
              <a:off x="1326034" y="3629025"/>
              <a:ext cx="0" cy="50800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88082" name="Line 21"/>
            <p:cNvSpPr>
              <a:spLocks noChangeShapeType="1"/>
            </p:cNvSpPr>
            <p:nvPr/>
          </p:nvSpPr>
          <p:spPr bwMode="auto">
            <a:xfrm>
              <a:off x="1935634" y="3629025"/>
              <a:ext cx="0" cy="508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88083" name="Line 22"/>
            <p:cNvSpPr>
              <a:spLocks noChangeShapeType="1"/>
            </p:cNvSpPr>
            <p:nvPr/>
          </p:nvSpPr>
          <p:spPr bwMode="auto">
            <a:xfrm>
              <a:off x="2545234" y="3629025"/>
              <a:ext cx="0" cy="508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88084" name="Line 23"/>
            <p:cNvSpPr>
              <a:spLocks noChangeShapeType="1"/>
            </p:cNvSpPr>
            <p:nvPr/>
          </p:nvSpPr>
          <p:spPr bwMode="auto">
            <a:xfrm>
              <a:off x="3154834" y="3629025"/>
              <a:ext cx="0" cy="508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88085" name="Line 24"/>
            <p:cNvSpPr>
              <a:spLocks noChangeShapeType="1"/>
            </p:cNvSpPr>
            <p:nvPr/>
          </p:nvSpPr>
          <p:spPr bwMode="auto">
            <a:xfrm>
              <a:off x="3764434" y="3629025"/>
              <a:ext cx="0" cy="508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88086" name="Line 25"/>
            <p:cNvSpPr>
              <a:spLocks noChangeShapeType="1"/>
            </p:cNvSpPr>
            <p:nvPr/>
          </p:nvSpPr>
          <p:spPr bwMode="auto">
            <a:xfrm>
              <a:off x="4374034" y="3629025"/>
              <a:ext cx="0" cy="508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88087" name="Line 26"/>
            <p:cNvSpPr>
              <a:spLocks noChangeShapeType="1"/>
            </p:cNvSpPr>
            <p:nvPr/>
          </p:nvSpPr>
          <p:spPr bwMode="auto">
            <a:xfrm>
              <a:off x="4983634" y="3629025"/>
              <a:ext cx="0" cy="508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88088" name="Line 27"/>
            <p:cNvSpPr>
              <a:spLocks noChangeShapeType="1"/>
            </p:cNvSpPr>
            <p:nvPr/>
          </p:nvSpPr>
          <p:spPr bwMode="auto">
            <a:xfrm>
              <a:off x="5593234" y="3629025"/>
              <a:ext cx="0" cy="508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88089" name="Line 28"/>
            <p:cNvSpPr>
              <a:spLocks noChangeShapeType="1"/>
            </p:cNvSpPr>
            <p:nvPr/>
          </p:nvSpPr>
          <p:spPr bwMode="auto">
            <a:xfrm>
              <a:off x="6202834" y="3629025"/>
              <a:ext cx="0" cy="508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88090" name="Line 29"/>
            <p:cNvSpPr>
              <a:spLocks noChangeShapeType="1"/>
            </p:cNvSpPr>
            <p:nvPr/>
          </p:nvSpPr>
          <p:spPr bwMode="auto">
            <a:xfrm>
              <a:off x="6812434" y="3629025"/>
              <a:ext cx="0" cy="508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88091" name="Line 30"/>
            <p:cNvSpPr>
              <a:spLocks noChangeShapeType="1"/>
            </p:cNvSpPr>
            <p:nvPr/>
          </p:nvSpPr>
          <p:spPr bwMode="auto">
            <a:xfrm>
              <a:off x="7422034" y="3629025"/>
              <a:ext cx="0" cy="50800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88092" name="Rectangle 31"/>
          <p:cNvSpPr>
            <a:spLocks noChangeArrowheads="1"/>
          </p:cNvSpPr>
          <p:nvPr/>
        </p:nvSpPr>
        <p:spPr bwMode="auto">
          <a:xfrm>
            <a:off x="804863" y="187325"/>
            <a:ext cx="4302125" cy="51593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直接定址法</a:t>
            </a:r>
          </a:p>
        </p:txBody>
      </p:sp>
      <p:sp>
        <p:nvSpPr>
          <p:cNvPr id="31" name="Shape 26"/>
          <p:cNvSpPr/>
          <p:nvPr/>
        </p:nvSpPr>
        <p:spPr>
          <a:xfrm flipH="1">
            <a:off x="0" y="5607050"/>
            <a:ext cx="9140825" cy="12509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120000"/>
                </a:moveTo>
                <a:lnTo>
                  <a:pt x="0" y="102222"/>
                </a:lnTo>
                <a:lnTo>
                  <a:pt x="583" y="102222"/>
                </a:lnTo>
                <a:lnTo>
                  <a:pt x="583" y="89777"/>
                </a:lnTo>
                <a:lnTo>
                  <a:pt x="4166" y="89777"/>
                </a:lnTo>
                <a:lnTo>
                  <a:pt x="4166" y="79111"/>
                </a:lnTo>
                <a:lnTo>
                  <a:pt x="6416" y="79111"/>
                </a:lnTo>
                <a:lnTo>
                  <a:pt x="6416" y="91111"/>
                </a:lnTo>
                <a:lnTo>
                  <a:pt x="7625" y="91111"/>
                </a:lnTo>
                <a:lnTo>
                  <a:pt x="7625" y="79111"/>
                </a:lnTo>
                <a:lnTo>
                  <a:pt x="8958" y="79111"/>
                </a:lnTo>
                <a:lnTo>
                  <a:pt x="8958" y="45333"/>
                </a:lnTo>
                <a:lnTo>
                  <a:pt x="9541" y="45333"/>
                </a:lnTo>
                <a:lnTo>
                  <a:pt x="9541" y="39111"/>
                </a:lnTo>
                <a:lnTo>
                  <a:pt x="10958" y="39111"/>
                </a:lnTo>
                <a:lnTo>
                  <a:pt x="10958" y="45333"/>
                </a:lnTo>
                <a:lnTo>
                  <a:pt x="11583" y="45333"/>
                </a:lnTo>
                <a:lnTo>
                  <a:pt x="11583" y="76000"/>
                </a:lnTo>
                <a:lnTo>
                  <a:pt x="12083" y="76000"/>
                </a:lnTo>
                <a:lnTo>
                  <a:pt x="12083" y="95555"/>
                </a:lnTo>
                <a:lnTo>
                  <a:pt x="13250" y="95555"/>
                </a:lnTo>
                <a:lnTo>
                  <a:pt x="13250" y="60000"/>
                </a:lnTo>
                <a:lnTo>
                  <a:pt x="14041" y="60000"/>
                </a:lnTo>
                <a:lnTo>
                  <a:pt x="14041" y="45333"/>
                </a:lnTo>
                <a:lnTo>
                  <a:pt x="14583" y="45333"/>
                </a:lnTo>
                <a:lnTo>
                  <a:pt x="14583" y="27555"/>
                </a:lnTo>
                <a:lnTo>
                  <a:pt x="14958" y="27555"/>
                </a:lnTo>
                <a:lnTo>
                  <a:pt x="14958" y="14222"/>
                </a:lnTo>
                <a:lnTo>
                  <a:pt x="15333" y="14222"/>
                </a:lnTo>
                <a:lnTo>
                  <a:pt x="15333" y="0"/>
                </a:lnTo>
                <a:lnTo>
                  <a:pt x="15958" y="0"/>
                </a:lnTo>
                <a:lnTo>
                  <a:pt x="15958" y="13777"/>
                </a:lnTo>
                <a:lnTo>
                  <a:pt x="16416" y="13777"/>
                </a:lnTo>
                <a:lnTo>
                  <a:pt x="16416" y="24888"/>
                </a:lnTo>
                <a:lnTo>
                  <a:pt x="16791" y="24888"/>
                </a:lnTo>
                <a:lnTo>
                  <a:pt x="16791" y="46222"/>
                </a:lnTo>
                <a:lnTo>
                  <a:pt x="17333" y="46222"/>
                </a:lnTo>
                <a:lnTo>
                  <a:pt x="17333" y="61333"/>
                </a:lnTo>
                <a:lnTo>
                  <a:pt x="17916" y="61333"/>
                </a:lnTo>
                <a:lnTo>
                  <a:pt x="17916" y="101333"/>
                </a:lnTo>
                <a:lnTo>
                  <a:pt x="18875" y="101333"/>
                </a:lnTo>
                <a:lnTo>
                  <a:pt x="18875" y="92000"/>
                </a:lnTo>
                <a:lnTo>
                  <a:pt x="20958" y="92000"/>
                </a:lnTo>
                <a:lnTo>
                  <a:pt x="20958" y="96444"/>
                </a:lnTo>
                <a:lnTo>
                  <a:pt x="21750" y="96444"/>
                </a:lnTo>
                <a:lnTo>
                  <a:pt x="21750" y="54666"/>
                </a:lnTo>
                <a:lnTo>
                  <a:pt x="22333" y="54666"/>
                </a:lnTo>
                <a:lnTo>
                  <a:pt x="22333" y="42666"/>
                </a:lnTo>
                <a:lnTo>
                  <a:pt x="24166" y="42666"/>
                </a:lnTo>
                <a:lnTo>
                  <a:pt x="24166" y="53777"/>
                </a:lnTo>
                <a:lnTo>
                  <a:pt x="24583" y="56888"/>
                </a:lnTo>
                <a:lnTo>
                  <a:pt x="24583" y="85777"/>
                </a:lnTo>
                <a:lnTo>
                  <a:pt x="25291" y="85777"/>
                </a:lnTo>
                <a:lnTo>
                  <a:pt x="25291" y="79555"/>
                </a:lnTo>
                <a:lnTo>
                  <a:pt x="27125" y="79555"/>
                </a:lnTo>
                <a:lnTo>
                  <a:pt x="27125" y="86222"/>
                </a:lnTo>
                <a:lnTo>
                  <a:pt x="28208" y="86222"/>
                </a:lnTo>
                <a:lnTo>
                  <a:pt x="28208" y="92000"/>
                </a:lnTo>
                <a:lnTo>
                  <a:pt x="29416" y="92000"/>
                </a:lnTo>
                <a:lnTo>
                  <a:pt x="29416" y="83555"/>
                </a:lnTo>
                <a:lnTo>
                  <a:pt x="30250" y="83555"/>
                </a:lnTo>
                <a:lnTo>
                  <a:pt x="30250" y="65777"/>
                </a:lnTo>
                <a:lnTo>
                  <a:pt x="35041" y="65777"/>
                </a:lnTo>
                <a:lnTo>
                  <a:pt x="35041" y="83555"/>
                </a:lnTo>
                <a:lnTo>
                  <a:pt x="35875" y="83555"/>
                </a:lnTo>
                <a:lnTo>
                  <a:pt x="35875" y="65777"/>
                </a:lnTo>
                <a:lnTo>
                  <a:pt x="39916" y="65777"/>
                </a:lnTo>
                <a:lnTo>
                  <a:pt x="39916" y="72888"/>
                </a:lnTo>
                <a:lnTo>
                  <a:pt x="41041" y="72888"/>
                </a:lnTo>
                <a:lnTo>
                  <a:pt x="41041" y="99555"/>
                </a:lnTo>
                <a:lnTo>
                  <a:pt x="42583" y="99555"/>
                </a:lnTo>
                <a:lnTo>
                  <a:pt x="42583" y="76888"/>
                </a:lnTo>
                <a:lnTo>
                  <a:pt x="45250" y="56000"/>
                </a:lnTo>
                <a:lnTo>
                  <a:pt x="47875" y="76888"/>
                </a:lnTo>
                <a:lnTo>
                  <a:pt x="47875" y="88888"/>
                </a:lnTo>
                <a:lnTo>
                  <a:pt x="48666" y="88888"/>
                </a:lnTo>
                <a:lnTo>
                  <a:pt x="48666" y="104000"/>
                </a:lnTo>
                <a:lnTo>
                  <a:pt x="49208" y="104000"/>
                </a:lnTo>
                <a:lnTo>
                  <a:pt x="49208" y="73333"/>
                </a:lnTo>
                <a:lnTo>
                  <a:pt x="51500" y="73333"/>
                </a:lnTo>
                <a:lnTo>
                  <a:pt x="51500" y="85777"/>
                </a:lnTo>
                <a:lnTo>
                  <a:pt x="53708" y="85777"/>
                </a:lnTo>
                <a:lnTo>
                  <a:pt x="53708" y="94666"/>
                </a:lnTo>
                <a:lnTo>
                  <a:pt x="54500" y="94666"/>
                </a:lnTo>
                <a:lnTo>
                  <a:pt x="54500" y="85777"/>
                </a:lnTo>
                <a:lnTo>
                  <a:pt x="57125" y="85777"/>
                </a:lnTo>
                <a:lnTo>
                  <a:pt x="57125" y="102222"/>
                </a:lnTo>
                <a:lnTo>
                  <a:pt x="57625" y="102222"/>
                </a:lnTo>
                <a:lnTo>
                  <a:pt x="57625" y="104888"/>
                </a:lnTo>
                <a:lnTo>
                  <a:pt x="58875" y="104888"/>
                </a:lnTo>
                <a:lnTo>
                  <a:pt x="58875" y="94222"/>
                </a:lnTo>
                <a:lnTo>
                  <a:pt x="61666" y="94222"/>
                </a:lnTo>
                <a:lnTo>
                  <a:pt x="61666" y="89777"/>
                </a:lnTo>
                <a:lnTo>
                  <a:pt x="62250" y="89777"/>
                </a:lnTo>
                <a:lnTo>
                  <a:pt x="62250" y="84000"/>
                </a:lnTo>
                <a:lnTo>
                  <a:pt x="62833" y="84000"/>
                </a:lnTo>
                <a:lnTo>
                  <a:pt x="62833" y="88888"/>
                </a:lnTo>
                <a:lnTo>
                  <a:pt x="63500" y="88888"/>
                </a:lnTo>
                <a:lnTo>
                  <a:pt x="63500" y="83111"/>
                </a:lnTo>
                <a:lnTo>
                  <a:pt x="64999" y="83111"/>
                </a:lnTo>
                <a:lnTo>
                  <a:pt x="64999" y="88444"/>
                </a:lnTo>
                <a:lnTo>
                  <a:pt x="65666" y="88444"/>
                </a:lnTo>
                <a:lnTo>
                  <a:pt x="65666" y="103111"/>
                </a:lnTo>
                <a:lnTo>
                  <a:pt x="66916" y="103111"/>
                </a:lnTo>
                <a:lnTo>
                  <a:pt x="66916" y="82666"/>
                </a:lnTo>
                <a:lnTo>
                  <a:pt x="69375" y="82666"/>
                </a:lnTo>
                <a:lnTo>
                  <a:pt x="69375" y="88888"/>
                </a:lnTo>
                <a:lnTo>
                  <a:pt x="70416" y="88888"/>
                </a:lnTo>
                <a:lnTo>
                  <a:pt x="70416" y="46222"/>
                </a:lnTo>
                <a:lnTo>
                  <a:pt x="71500" y="35111"/>
                </a:lnTo>
                <a:lnTo>
                  <a:pt x="72458" y="45777"/>
                </a:lnTo>
                <a:lnTo>
                  <a:pt x="72458" y="103111"/>
                </a:lnTo>
                <a:lnTo>
                  <a:pt x="73583" y="103111"/>
                </a:lnTo>
                <a:lnTo>
                  <a:pt x="73583" y="47555"/>
                </a:lnTo>
                <a:lnTo>
                  <a:pt x="76916" y="47555"/>
                </a:lnTo>
                <a:lnTo>
                  <a:pt x="76916" y="97777"/>
                </a:lnTo>
                <a:lnTo>
                  <a:pt x="77541" y="97777"/>
                </a:lnTo>
                <a:lnTo>
                  <a:pt x="77541" y="85777"/>
                </a:lnTo>
                <a:lnTo>
                  <a:pt x="79000" y="85777"/>
                </a:lnTo>
                <a:lnTo>
                  <a:pt x="79000" y="92888"/>
                </a:lnTo>
                <a:lnTo>
                  <a:pt x="82000" y="92888"/>
                </a:lnTo>
                <a:lnTo>
                  <a:pt x="82000" y="102222"/>
                </a:lnTo>
                <a:lnTo>
                  <a:pt x="84333" y="102222"/>
                </a:lnTo>
                <a:lnTo>
                  <a:pt x="84333" y="88000"/>
                </a:lnTo>
                <a:lnTo>
                  <a:pt x="85583" y="88000"/>
                </a:lnTo>
                <a:lnTo>
                  <a:pt x="85583" y="96000"/>
                </a:lnTo>
                <a:lnTo>
                  <a:pt x="86500" y="96000"/>
                </a:lnTo>
                <a:lnTo>
                  <a:pt x="86500" y="91111"/>
                </a:lnTo>
                <a:lnTo>
                  <a:pt x="87791" y="91111"/>
                </a:lnTo>
                <a:lnTo>
                  <a:pt x="87791" y="84888"/>
                </a:lnTo>
                <a:lnTo>
                  <a:pt x="89375" y="84888"/>
                </a:lnTo>
                <a:lnTo>
                  <a:pt x="89375" y="100888"/>
                </a:lnTo>
                <a:lnTo>
                  <a:pt x="90541" y="100888"/>
                </a:lnTo>
                <a:lnTo>
                  <a:pt x="90541" y="63111"/>
                </a:lnTo>
                <a:lnTo>
                  <a:pt x="92458" y="63555"/>
                </a:lnTo>
                <a:lnTo>
                  <a:pt x="92458" y="84444"/>
                </a:lnTo>
                <a:lnTo>
                  <a:pt x="93750" y="84444"/>
                </a:lnTo>
                <a:lnTo>
                  <a:pt x="93750" y="97333"/>
                </a:lnTo>
                <a:lnTo>
                  <a:pt x="95375" y="97333"/>
                </a:lnTo>
                <a:lnTo>
                  <a:pt x="95375" y="83111"/>
                </a:lnTo>
                <a:lnTo>
                  <a:pt x="96500" y="83111"/>
                </a:lnTo>
                <a:lnTo>
                  <a:pt x="96500" y="77333"/>
                </a:lnTo>
                <a:lnTo>
                  <a:pt x="98000" y="77333"/>
                </a:lnTo>
                <a:lnTo>
                  <a:pt x="98000" y="81333"/>
                </a:lnTo>
                <a:lnTo>
                  <a:pt x="99041" y="81333"/>
                </a:lnTo>
                <a:lnTo>
                  <a:pt x="99041" y="75111"/>
                </a:lnTo>
                <a:lnTo>
                  <a:pt x="101000" y="59555"/>
                </a:lnTo>
                <a:lnTo>
                  <a:pt x="102916" y="75111"/>
                </a:lnTo>
                <a:lnTo>
                  <a:pt x="102916" y="96444"/>
                </a:lnTo>
                <a:lnTo>
                  <a:pt x="103250" y="96444"/>
                </a:lnTo>
                <a:lnTo>
                  <a:pt x="103250" y="92000"/>
                </a:lnTo>
                <a:lnTo>
                  <a:pt x="104750" y="92000"/>
                </a:lnTo>
                <a:lnTo>
                  <a:pt x="104750" y="111111"/>
                </a:lnTo>
                <a:lnTo>
                  <a:pt x="105125" y="111111"/>
                </a:lnTo>
                <a:lnTo>
                  <a:pt x="105125" y="101777"/>
                </a:lnTo>
                <a:lnTo>
                  <a:pt x="106291" y="101777"/>
                </a:lnTo>
                <a:lnTo>
                  <a:pt x="106291" y="81777"/>
                </a:lnTo>
                <a:lnTo>
                  <a:pt x="107791" y="81777"/>
                </a:lnTo>
                <a:lnTo>
                  <a:pt x="107791" y="101777"/>
                </a:lnTo>
                <a:lnTo>
                  <a:pt x="107833" y="101777"/>
                </a:lnTo>
                <a:lnTo>
                  <a:pt x="107833" y="93777"/>
                </a:lnTo>
                <a:lnTo>
                  <a:pt x="108583" y="93777"/>
                </a:lnTo>
                <a:lnTo>
                  <a:pt x="108583" y="89777"/>
                </a:lnTo>
                <a:lnTo>
                  <a:pt x="110166" y="89777"/>
                </a:lnTo>
                <a:lnTo>
                  <a:pt x="110166" y="103111"/>
                </a:lnTo>
                <a:lnTo>
                  <a:pt x="110416" y="103111"/>
                </a:lnTo>
                <a:lnTo>
                  <a:pt x="110416" y="93777"/>
                </a:lnTo>
                <a:lnTo>
                  <a:pt x="110625" y="93777"/>
                </a:lnTo>
                <a:lnTo>
                  <a:pt x="110625" y="76444"/>
                </a:lnTo>
                <a:lnTo>
                  <a:pt x="111416" y="76444"/>
                </a:lnTo>
                <a:lnTo>
                  <a:pt x="111416" y="68444"/>
                </a:lnTo>
                <a:lnTo>
                  <a:pt x="111833" y="68444"/>
                </a:lnTo>
                <a:lnTo>
                  <a:pt x="111833" y="64000"/>
                </a:lnTo>
                <a:lnTo>
                  <a:pt x="112916" y="64000"/>
                </a:lnTo>
                <a:lnTo>
                  <a:pt x="112916" y="68444"/>
                </a:lnTo>
                <a:lnTo>
                  <a:pt x="113375" y="68444"/>
                </a:lnTo>
                <a:lnTo>
                  <a:pt x="113375" y="91555"/>
                </a:lnTo>
                <a:lnTo>
                  <a:pt x="113416" y="91555"/>
                </a:lnTo>
                <a:lnTo>
                  <a:pt x="113416" y="91555"/>
                </a:lnTo>
                <a:lnTo>
                  <a:pt x="114666" y="91555"/>
                </a:lnTo>
                <a:lnTo>
                  <a:pt x="114666" y="79555"/>
                </a:lnTo>
                <a:lnTo>
                  <a:pt x="115250" y="79555"/>
                </a:lnTo>
                <a:lnTo>
                  <a:pt x="115250" y="68444"/>
                </a:lnTo>
                <a:lnTo>
                  <a:pt x="115625" y="68444"/>
                </a:lnTo>
                <a:lnTo>
                  <a:pt x="115625" y="55111"/>
                </a:lnTo>
                <a:lnTo>
                  <a:pt x="115916" y="55111"/>
                </a:lnTo>
                <a:lnTo>
                  <a:pt x="115916" y="44888"/>
                </a:lnTo>
                <a:lnTo>
                  <a:pt x="116250" y="44888"/>
                </a:lnTo>
                <a:lnTo>
                  <a:pt x="116250" y="34222"/>
                </a:lnTo>
                <a:lnTo>
                  <a:pt x="116666" y="34222"/>
                </a:lnTo>
                <a:lnTo>
                  <a:pt x="116666" y="44444"/>
                </a:lnTo>
                <a:lnTo>
                  <a:pt x="117000" y="44444"/>
                </a:lnTo>
                <a:lnTo>
                  <a:pt x="117000" y="52888"/>
                </a:lnTo>
                <a:lnTo>
                  <a:pt x="117333" y="52888"/>
                </a:lnTo>
                <a:lnTo>
                  <a:pt x="117333" y="68888"/>
                </a:lnTo>
                <a:lnTo>
                  <a:pt x="117708" y="68888"/>
                </a:lnTo>
                <a:lnTo>
                  <a:pt x="117708" y="80444"/>
                </a:lnTo>
                <a:lnTo>
                  <a:pt x="118166" y="80444"/>
                </a:lnTo>
                <a:lnTo>
                  <a:pt x="118166" y="92000"/>
                </a:lnTo>
                <a:lnTo>
                  <a:pt x="120000" y="9200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</p:spPr>
        <p:txBody>
          <a:bodyPr lIns="68569" tIns="34275" rIns="68569" bIns="34275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015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559" name="Rectangle 87"/>
          <p:cNvSpPr>
            <a:spLocks noChangeArrowheads="1"/>
          </p:cNvSpPr>
          <p:nvPr/>
        </p:nvSpPr>
        <p:spPr bwMode="auto">
          <a:xfrm>
            <a:off x="827088" y="1052513"/>
            <a:ext cx="8280400" cy="5857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9pPr>
          </a:lstStyle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Hash(key)=key  mod  p    (p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是一个整数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)</a:t>
            </a:r>
          </a:p>
        </p:txBody>
      </p:sp>
      <p:sp>
        <p:nvSpPr>
          <p:cNvPr id="745560" name="Rectangle 88"/>
          <p:cNvSpPr>
            <a:spLocks noChangeArrowheads="1"/>
          </p:cNvSpPr>
          <p:nvPr/>
        </p:nvSpPr>
        <p:spPr bwMode="auto">
          <a:xfrm>
            <a:off x="827088" y="198438"/>
            <a:ext cx="6692900" cy="51593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除留余数法 （最常用重点掌握）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254125" y="4810125"/>
            <a:ext cx="2852738" cy="5540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pitchFamily="49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pitchFamily="49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pitchFamily="49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pitchFamily="49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如何选取合适的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p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？</a:t>
            </a: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5043488" y="4660900"/>
            <a:ext cx="2820988" cy="10160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pitchFamily="49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pitchFamily="49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pitchFamily="49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pitchFamily="49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设表长为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m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，取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p≤m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且为质数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5043488" y="2112963"/>
            <a:ext cx="2711450" cy="2270125"/>
            <a:chOff x="4561682" y="2200808"/>
            <a:chExt cx="3219450" cy="2697163"/>
          </a:xfrm>
        </p:grpSpPr>
        <p:sp>
          <p:nvSpPr>
            <p:cNvPr id="9" name="i$liḋe-Oval 12"/>
            <p:cNvSpPr/>
            <p:nvPr/>
          </p:nvSpPr>
          <p:spPr bwMode="auto">
            <a:xfrm>
              <a:off x="4997099" y="2200808"/>
              <a:ext cx="2284528" cy="2284100"/>
            </a:xfrm>
            <a:prstGeom prst="ellipse">
              <a:avLst/>
            </a:prstGeom>
            <a:solidFill>
              <a:schemeClr val="accent1"/>
            </a:solidFill>
            <a:ln w="50800">
              <a:solidFill>
                <a:schemeClr val="tx1">
                  <a:alpha val="0"/>
                </a:schemeClr>
              </a:solidFill>
              <a:miter lim="800000"/>
            </a:ln>
          </p:spPr>
          <p:txBody>
            <a:bodyPr wrap="none" lIns="0" tIns="0" rIns="0" bIns="0" anchor="ctr"/>
            <a:lstStyle>
              <a:lvl1pPr>
                <a:lnSpc>
                  <a:spcPct val="130000"/>
                </a:lnSpc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技巧：</a:t>
              </a:r>
            </a:p>
          </p:txBody>
        </p:sp>
        <p:sp>
          <p:nvSpPr>
            <p:cNvPr id="10" name="i$liḋe-Oval 14"/>
            <p:cNvSpPr/>
            <p:nvPr/>
          </p:nvSpPr>
          <p:spPr bwMode="auto">
            <a:xfrm>
              <a:off x="4561682" y="3047679"/>
              <a:ext cx="326091" cy="326301"/>
            </a:xfrm>
            <a:prstGeom prst="ellipse">
              <a:avLst/>
            </a:prstGeom>
            <a:solidFill>
              <a:schemeClr val="accent1">
                <a:lumMod val="40000"/>
                <a:lumOff val="60000"/>
                <a:alpha val="20000"/>
              </a:schemeClr>
            </a:solidFill>
            <a:ln w="50800">
              <a:solidFill>
                <a:schemeClr val="tx1">
                  <a:alpha val="0"/>
                </a:schemeClr>
              </a:solidFill>
              <a:miter lim="800000"/>
            </a:ln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" name="i$liḋe-Oval 15"/>
            <p:cNvSpPr/>
            <p:nvPr/>
          </p:nvSpPr>
          <p:spPr bwMode="auto">
            <a:xfrm>
              <a:off x="5877359" y="4354766"/>
              <a:ext cx="544742" cy="543205"/>
            </a:xfrm>
            <a:prstGeom prst="ellipse">
              <a:avLst/>
            </a:prstGeom>
            <a:solidFill>
              <a:schemeClr val="accent1">
                <a:lumMod val="40000"/>
                <a:lumOff val="60000"/>
                <a:alpha val="20000"/>
              </a:schemeClr>
            </a:solidFill>
            <a:ln w="50800">
              <a:solidFill>
                <a:schemeClr val="tx1">
                  <a:alpha val="0"/>
                </a:schemeClr>
              </a:solidFill>
              <a:miter lim="800000"/>
            </a:ln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2" name="i$liḋe-Oval 16"/>
            <p:cNvSpPr/>
            <p:nvPr/>
          </p:nvSpPr>
          <p:spPr bwMode="auto">
            <a:xfrm>
              <a:off x="6857519" y="2221555"/>
              <a:ext cx="173413" cy="17541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  <a:alpha val="20000"/>
              </a:schemeClr>
            </a:solidFill>
            <a:ln w="50800">
              <a:noFill/>
              <a:miter lim="800000"/>
            </a:ln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3" name="i$liḋe-Oval 17"/>
            <p:cNvSpPr/>
            <p:nvPr/>
          </p:nvSpPr>
          <p:spPr bwMode="auto">
            <a:xfrm>
              <a:off x="7117639" y="3907753"/>
              <a:ext cx="403374" cy="403631"/>
            </a:xfrm>
            <a:prstGeom prst="ellipse">
              <a:avLst/>
            </a:prstGeom>
            <a:solidFill>
              <a:schemeClr val="accent1">
                <a:lumMod val="40000"/>
                <a:lumOff val="60000"/>
                <a:alpha val="20000"/>
              </a:schemeClr>
            </a:solidFill>
            <a:ln w="50800">
              <a:solidFill>
                <a:schemeClr val="tx1">
                  <a:alpha val="0"/>
                </a:schemeClr>
              </a:solidFill>
              <a:miter lim="800000"/>
            </a:ln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4" name="i$liḋe-Oval 18"/>
            <p:cNvSpPr/>
            <p:nvPr/>
          </p:nvSpPr>
          <p:spPr bwMode="auto">
            <a:xfrm>
              <a:off x="7292936" y="2940170"/>
              <a:ext cx="488196" cy="488507"/>
            </a:xfrm>
            <a:prstGeom prst="ellipse">
              <a:avLst/>
            </a:prstGeom>
            <a:solidFill>
              <a:schemeClr val="accent1">
                <a:lumMod val="40000"/>
                <a:lumOff val="60000"/>
                <a:alpha val="20000"/>
              </a:schemeClr>
            </a:solidFill>
            <a:ln w="50800">
              <a:solidFill>
                <a:schemeClr val="tx1">
                  <a:alpha val="0"/>
                </a:schemeClr>
              </a:solidFill>
              <a:miter lim="800000"/>
            </a:ln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757238" y="1947863"/>
            <a:ext cx="3000375" cy="2557462"/>
            <a:chOff x="755650" y="1929345"/>
            <a:chExt cx="3562350" cy="3037682"/>
          </a:xfrm>
        </p:grpSpPr>
        <p:sp>
          <p:nvSpPr>
            <p:cNvPr id="16" name="i$liḋe-Oval 4"/>
            <p:cNvSpPr/>
            <p:nvPr/>
          </p:nvSpPr>
          <p:spPr bwMode="auto">
            <a:xfrm>
              <a:off x="1560477" y="2263094"/>
              <a:ext cx="2222228" cy="222310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 w="50800" cap="flat">
              <a:solidFill>
                <a:schemeClr val="tx1">
                  <a:alpha val="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wrap="none" lIns="0" tIns="0" rIns="0" bIns="0" anchor="ctr">
              <a:norm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关键：</a:t>
              </a:r>
              <a:endPara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7" name="i$liḋe-Oval 6"/>
            <p:cNvSpPr/>
            <p:nvPr/>
          </p:nvSpPr>
          <p:spPr bwMode="auto">
            <a:xfrm>
              <a:off x="3967420" y="3601861"/>
              <a:ext cx="350580" cy="348834"/>
            </a:xfrm>
            <a:prstGeom prst="ellipse">
              <a:avLst/>
            </a:prstGeom>
            <a:solidFill>
              <a:schemeClr val="accent1">
                <a:lumMod val="40000"/>
                <a:lumOff val="60000"/>
                <a:alpha val="39999"/>
              </a:schemeClr>
            </a:solidFill>
            <a:ln w="50800" cap="flat">
              <a:solidFill>
                <a:schemeClr val="tx1">
                  <a:alpha val="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" name="i$liḋe-Oval 7"/>
            <p:cNvSpPr/>
            <p:nvPr/>
          </p:nvSpPr>
          <p:spPr bwMode="auto">
            <a:xfrm>
              <a:off x="1524665" y="3835674"/>
              <a:ext cx="348695" cy="348834"/>
            </a:xfrm>
            <a:prstGeom prst="ellipse">
              <a:avLst/>
            </a:prstGeom>
            <a:solidFill>
              <a:schemeClr val="accent1">
                <a:lumMod val="40000"/>
                <a:lumOff val="60000"/>
                <a:alpha val="39999"/>
              </a:schemeClr>
            </a:solidFill>
            <a:ln w="50800" cap="flat">
              <a:solidFill>
                <a:schemeClr val="tx1">
                  <a:alpha val="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" name="i$liḋe-Oval 8"/>
            <p:cNvSpPr/>
            <p:nvPr/>
          </p:nvSpPr>
          <p:spPr bwMode="auto">
            <a:xfrm>
              <a:off x="2010954" y="4363639"/>
              <a:ext cx="603149" cy="603388"/>
            </a:xfrm>
            <a:prstGeom prst="ellipse">
              <a:avLst/>
            </a:prstGeom>
            <a:solidFill>
              <a:schemeClr val="accent1">
                <a:lumMod val="40000"/>
                <a:lumOff val="60000"/>
                <a:alpha val="39999"/>
              </a:schemeClr>
            </a:solidFill>
            <a:ln w="50800" cap="flat">
              <a:solidFill>
                <a:schemeClr val="tx1">
                  <a:alpha val="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i$liḋe-Oval 9"/>
            <p:cNvSpPr/>
            <p:nvPr/>
          </p:nvSpPr>
          <p:spPr bwMode="auto">
            <a:xfrm>
              <a:off x="2485934" y="1929345"/>
              <a:ext cx="201677" cy="201757"/>
            </a:xfrm>
            <a:prstGeom prst="ellipse">
              <a:avLst/>
            </a:prstGeom>
            <a:solidFill>
              <a:schemeClr val="accent1">
                <a:lumMod val="40000"/>
                <a:lumOff val="60000"/>
                <a:alpha val="39999"/>
              </a:schemeClr>
            </a:solidFill>
            <a:ln w="50800" cap="flat">
              <a:solidFill>
                <a:schemeClr val="tx1">
                  <a:alpha val="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1" name="i$liḋe-Oval 10"/>
            <p:cNvSpPr/>
            <p:nvPr/>
          </p:nvSpPr>
          <p:spPr bwMode="auto">
            <a:xfrm>
              <a:off x="755650" y="3109723"/>
              <a:ext cx="433513" cy="43557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  <a:alpha val="39999"/>
              </a:schemeClr>
            </a:solidFill>
            <a:ln w="50800" cap="flat">
              <a:solidFill>
                <a:schemeClr val="tx1">
                  <a:alpha val="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55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5559" grpId="0" build="p"/>
      <p:bldP spid="6" grpId="0"/>
      <p:bldP spid="7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997" name="Rectangle 5"/>
          <p:cNvSpPr>
            <a:spLocks noChangeArrowheads="1"/>
          </p:cNvSpPr>
          <p:nvPr/>
        </p:nvSpPr>
        <p:spPr bwMode="auto">
          <a:xfrm>
            <a:off x="728663" y="3725863"/>
            <a:ext cx="1806575" cy="5715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① 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执行速度</a:t>
            </a:r>
          </a:p>
        </p:txBody>
      </p:sp>
      <p:sp>
        <p:nvSpPr>
          <p:cNvPr id="90115" name="Rectangle 6"/>
          <p:cNvSpPr>
            <a:spLocks noChangeArrowheads="1"/>
          </p:cNvSpPr>
          <p:nvPr/>
        </p:nvSpPr>
        <p:spPr bwMode="auto">
          <a:xfrm>
            <a:off x="971550" y="219075"/>
            <a:ext cx="4964113" cy="51593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构造哈希函数考虑的因素</a:t>
            </a:r>
          </a:p>
        </p:txBody>
      </p:sp>
      <p:sp>
        <p:nvSpPr>
          <p:cNvPr id="980999" name="AutoShape 7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 flipH="1">
            <a:off x="8001000" y="5791200"/>
            <a:ext cx="533400" cy="457200"/>
          </a:xfrm>
          <a:prstGeom prst="actionButtonForwardNext">
            <a:avLst/>
          </a:prstGeom>
          <a:solidFill>
            <a:srgbClr val="76AEDD"/>
          </a:solidFill>
          <a:ln w="9525">
            <a:solidFill>
              <a:srgbClr val="3366FF"/>
            </a:solidFill>
            <a:miter lim="800000"/>
          </a:ln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728663" y="1579563"/>
            <a:ext cx="7797800" cy="1831975"/>
            <a:chOff x="1061484" y="2189572"/>
            <a:chExt cx="10069030" cy="2365123"/>
          </a:xfrm>
        </p:grpSpPr>
        <p:sp>
          <p:nvSpPr>
            <p:cNvPr id="7" name="íṩľíḍè-Freeform: Shape 1"/>
            <p:cNvSpPr/>
            <p:nvPr/>
          </p:nvSpPr>
          <p:spPr bwMode="auto">
            <a:xfrm>
              <a:off x="8373419" y="2189572"/>
              <a:ext cx="2757095" cy="2361024"/>
            </a:xfrm>
            <a:custGeom>
              <a:avLst/>
              <a:gdLst>
                <a:gd name="T0" fmla="*/ 317 w 332"/>
                <a:gd name="T1" fmla="*/ 168 h 282"/>
                <a:gd name="T2" fmla="*/ 317 w 332"/>
                <a:gd name="T3" fmla="*/ 114 h 282"/>
                <a:gd name="T4" fmla="*/ 218 w 332"/>
                <a:gd name="T5" fmla="*/ 15 h 282"/>
                <a:gd name="T6" fmla="*/ 191 w 332"/>
                <a:gd name="T7" fmla="*/ 26 h 282"/>
                <a:gd name="T8" fmla="*/ 191 w 332"/>
                <a:gd name="T9" fmla="*/ 26 h 282"/>
                <a:gd name="T10" fmla="*/ 153 w 332"/>
                <a:gd name="T11" fmla="*/ 65 h 282"/>
                <a:gd name="T12" fmla="*/ 38 w 332"/>
                <a:gd name="T13" fmla="*/ 65 h 282"/>
                <a:gd name="T14" fmla="*/ 0 w 332"/>
                <a:gd name="T15" fmla="*/ 103 h 282"/>
                <a:gd name="T16" fmla="*/ 0 w 332"/>
                <a:gd name="T17" fmla="*/ 179 h 282"/>
                <a:gd name="T18" fmla="*/ 38 w 332"/>
                <a:gd name="T19" fmla="*/ 218 h 282"/>
                <a:gd name="T20" fmla="*/ 153 w 332"/>
                <a:gd name="T21" fmla="*/ 218 h 282"/>
                <a:gd name="T22" fmla="*/ 191 w 332"/>
                <a:gd name="T23" fmla="*/ 256 h 282"/>
                <a:gd name="T24" fmla="*/ 191 w 332"/>
                <a:gd name="T25" fmla="*/ 256 h 282"/>
                <a:gd name="T26" fmla="*/ 218 w 332"/>
                <a:gd name="T27" fmla="*/ 267 h 282"/>
                <a:gd name="T28" fmla="*/ 317 w 332"/>
                <a:gd name="T29" fmla="*/ 168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32" h="282">
                  <a:moveTo>
                    <a:pt x="317" y="168"/>
                  </a:moveTo>
                  <a:cubicBezTo>
                    <a:pt x="332" y="153"/>
                    <a:pt x="332" y="129"/>
                    <a:pt x="317" y="114"/>
                  </a:cubicBezTo>
                  <a:cubicBezTo>
                    <a:pt x="218" y="15"/>
                    <a:pt x="218" y="15"/>
                    <a:pt x="218" y="15"/>
                  </a:cubicBezTo>
                  <a:cubicBezTo>
                    <a:pt x="203" y="0"/>
                    <a:pt x="191" y="5"/>
                    <a:pt x="191" y="26"/>
                  </a:cubicBezTo>
                  <a:cubicBezTo>
                    <a:pt x="191" y="26"/>
                    <a:pt x="191" y="26"/>
                    <a:pt x="191" y="26"/>
                  </a:cubicBezTo>
                  <a:cubicBezTo>
                    <a:pt x="191" y="47"/>
                    <a:pt x="174" y="65"/>
                    <a:pt x="153" y="65"/>
                  </a:cubicBezTo>
                  <a:cubicBezTo>
                    <a:pt x="38" y="65"/>
                    <a:pt x="38" y="65"/>
                    <a:pt x="38" y="65"/>
                  </a:cubicBezTo>
                  <a:cubicBezTo>
                    <a:pt x="17" y="65"/>
                    <a:pt x="0" y="82"/>
                    <a:pt x="0" y="103"/>
                  </a:cubicBezTo>
                  <a:cubicBezTo>
                    <a:pt x="0" y="179"/>
                    <a:pt x="0" y="179"/>
                    <a:pt x="0" y="179"/>
                  </a:cubicBezTo>
                  <a:cubicBezTo>
                    <a:pt x="0" y="200"/>
                    <a:pt x="17" y="218"/>
                    <a:pt x="38" y="218"/>
                  </a:cubicBezTo>
                  <a:cubicBezTo>
                    <a:pt x="153" y="218"/>
                    <a:pt x="153" y="218"/>
                    <a:pt x="153" y="218"/>
                  </a:cubicBezTo>
                  <a:cubicBezTo>
                    <a:pt x="174" y="218"/>
                    <a:pt x="191" y="235"/>
                    <a:pt x="191" y="256"/>
                  </a:cubicBezTo>
                  <a:cubicBezTo>
                    <a:pt x="191" y="256"/>
                    <a:pt x="191" y="256"/>
                    <a:pt x="191" y="256"/>
                  </a:cubicBezTo>
                  <a:cubicBezTo>
                    <a:pt x="191" y="277"/>
                    <a:pt x="203" y="282"/>
                    <a:pt x="218" y="267"/>
                  </a:cubicBezTo>
                  <a:lnTo>
                    <a:pt x="317" y="168"/>
                  </a:lnTo>
                  <a:close/>
                </a:path>
              </a:pathLst>
            </a:custGeom>
            <a:solidFill>
              <a:srgbClr val="4BACC6"/>
            </a:solidFill>
            <a:ln>
              <a:noFill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" name="íṩľíḍè-Freeform: Shape 2"/>
            <p:cNvSpPr/>
            <p:nvPr/>
          </p:nvSpPr>
          <p:spPr bwMode="auto">
            <a:xfrm>
              <a:off x="8373419" y="2732689"/>
              <a:ext cx="979845" cy="1282987"/>
            </a:xfrm>
            <a:custGeom>
              <a:avLst/>
              <a:gdLst>
                <a:gd name="T0" fmla="*/ 0 w 118"/>
                <a:gd name="T1" fmla="*/ 38 h 153"/>
                <a:gd name="T2" fmla="*/ 0 w 118"/>
                <a:gd name="T3" fmla="*/ 114 h 153"/>
                <a:gd name="T4" fmla="*/ 38 w 118"/>
                <a:gd name="T5" fmla="*/ 153 h 153"/>
                <a:gd name="T6" fmla="*/ 54 w 118"/>
                <a:gd name="T7" fmla="*/ 153 h 153"/>
                <a:gd name="T8" fmla="*/ 103 w 118"/>
                <a:gd name="T9" fmla="*/ 103 h 153"/>
                <a:gd name="T10" fmla="*/ 103 w 118"/>
                <a:gd name="T11" fmla="*/ 49 h 153"/>
                <a:gd name="T12" fmla="*/ 54 w 118"/>
                <a:gd name="T13" fmla="*/ 0 h 153"/>
                <a:gd name="T14" fmla="*/ 38 w 118"/>
                <a:gd name="T15" fmla="*/ 0 h 153"/>
                <a:gd name="T16" fmla="*/ 0 w 118"/>
                <a:gd name="T17" fmla="*/ 38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8" h="153">
                  <a:moveTo>
                    <a:pt x="0" y="38"/>
                  </a:moveTo>
                  <a:cubicBezTo>
                    <a:pt x="0" y="114"/>
                    <a:pt x="0" y="114"/>
                    <a:pt x="0" y="114"/>
                  </a:cubicBezTo>
                  <a:cubicBezTo>
                    <a:pt x="0" y="135"/>
                    <a:pt x="17" y="153"/>
                    <a:pt x="38" y="153"/>
                  </a:cubicBezTo>
                  <a:cubicBezTo>
                    <a:pt x="54" y="153"/>
                    <a:pt x="54" y="153"/>
                    <a:pt x="54" y="153"/>
                  </a:cubicBezTo>
                  <a:cubicBezTo>
                    <a:pt x="103" y="103"/>
                    <a:pt x="103" y="103"/>
                    <a:pt x="103" y="103"/>
                  </a:cubicBezTo>
                  <a:cubicBezTo>
                    <a:pt x="118" y="88"/>
                    <a:pt x="118" y="64"/>
                    <a:pt x="103" y="49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17" y="0"/>
                    <a:pt x="0" y="17"/>
                    <a:pt x="0" y="38"/>
                  </a:cubicBezTo>
                  <a:close/>
                </a:path>
              </a:pathLst>
            </a:custGeom>
            <a:solidFill>
              <a:srgbClr val="4BACC6">
                <a:lumMod val="75000"/>
                <a:alpha val="50000"/>
              </a:srgbClr>
            </a:solidFill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íṩľíḍè-Freeform: Shape 3"/>
            <p:cNvSpPr/>
            <p:nvPr/>
          </p:nvSpPr>
          <p:spPr bwMode="auto">
            <a:xfrm>
              <a:off x="6462928" y="2189572"/>
              <a:ext cx="2757095" cy="2361024"/>
            </a:xfrm>
            <a:custGeom>
              <a:avLst/>
              <a:gdLst>
                <a:gd name="T0" fmla="*/ 317 w 332"/>
                <a:gd name="T1" fmla="*/ 168 h 282"/>
                <a:gd name="T2" fmla="*/ 317 w 332"/>
                <a:gd name="T3" fmla="*/ 114 h 282"/>
                <a:gd name="T4" fmla="*/ 219 w 332"/>
                <a:gd name="T5" fmla="*/ 15 h 282"/>
                <a:gd name="T6" fmla="*/ 191 w 332"/>
                <a:gd name="T7" fmla="*/ 26 h 282"/>
                <a:gd name="T8" fmla="*/ 191 w 332"/>
                <a:gd name="T9" fmla="*/ 26 h 282"/>
                <a:gd name="T10" fmla="*/ 153 w 332"/>
                <a:gd name="T11" fmla="*/ 65 h 282"/>
                <a:gd name="T12" fmla="*/ 39 w 332"/>
                <a:gd name="T13" fmla="*/ 65 h 282"/>
                <a:gd name="T14" fmla="*/ 0 w 332"/>
                <a:gd name="T15" fmla="*/ 103 h 282"/>
                <a:gd name="T16" fmla="*/ 0 w 332"/>
                <a:gd name="T17" fmla="*/ 179 h 282"/>
                <a:gd name="T18" fmla="*/ 39 w 332"/>
                <a:gd name="T19" fmla="*/ 218 h 282"/>
                <a:gd name="T20" fmla="*/ 153 w 332"/>
                <a:gd name="T21" fmla="*/ 218 h 282"/>
                <a:gd name="T22" fmla="*/ 191 w 332"/>
                <a:gd name="T23" fmla="*/ 256 h 282"/>
                <a:gd name="T24" fmla="*/ 191 w 332"/>
                <a:gd name="T25" fmla="*/ 256 h 282"/>
                <a:gd name="T26" fmla="*/ 219 w 332"/>
                <a:gd name="T27" fmla="*/ 267 h 282"/>
                <a:gd name="T28" fmla="*/ 317 w 332"/>
                <a:gd name="T29" fmla="*/ 168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32" h="282">
                  <a:moveTo>
                    <a:pt x="317" y="168"/>
                  </a:moveTo>
                  <a:cubicBezTo>
                    <a:pt x="332" y="153"/>
                    <a:pt x="332" y="129"/>
                    <a:pt x="317" y="114"/>
                  </a:cubicBezTo>
                  <a:cubicBezTo>
                    <a:pt x="219" y="15"/>
                    <a:pt x="219" y="15"/>
                    <a:pt x="219" y="15"/>
                  </a:cubicBezTo>
                  <a:cubicBezTo>
                    <a:pt x="204" y="0"/>
                    <a:pt x="191" y="5"/>
                    <a:pt x="191" y="26"/>
                  </a:cubicBezTo>
                  <a:cubicBezTo>
                    <a:pt x="191" y="26"/>
                    <a:pt x="191" y="26"/>
                    <a:pt x="191" y="26"/>
                  </a:cubicBezTo>
                  <a:cubicBezTo>
                    <a:pt x="191" y="47"/>
                    <a:pt x="174" y="65"/>
                    <a:pt x="153" y="65"/>
                  </a:cubicBezTo>
                  <a:cubicBezTo>
                    <a:pt x="39" y="65"/>
                    <a:pt x="39" y="65"/>
                    <a:pt x="39" y="65"/>
                  </a:cubicBezTo>
                  <a:cubicBezTo>
                    <a:pt x="18" y="65"/>
                    <a:pt x="0" y="82"/>
                    <a:pt x="0" y="103"/>
                  </a:cubicBezTo>
                  <a:cubicBezTo>
                    <a:pt x="0" y="179"/>
                    <a:pt x="0" y="179"/>
                    <a:pt x="0" y="179"/>
                  </a:cubicBezTo>
                  <a:cubicBezTo>
                    <a:pt x="0" y="200"/>
                    <a:pt x="18" y="218"/>
                    <a:pt x="39" y="218"/>
                  </a:cubicBezTo>
                  <a:cubicBezTo>
                    <a:pt x="153" y="218"/>
                    <a:pt x="153" y="218"/>
                    <a:pt x="153" y="218"/>
                  </a:cubicBezTo>
                  <a:cubicBezTo>
                    <a:pt x="174" y="218"/>
                    <a:pt x="191" y="235"/>
                    <a:pt x="191" y="256"/>
                  </a:cubicBezTo>
                  <a:cubicBezTo>
                    <a:pt x="191" y="256"/>
                    <a:pt x="191" y="256"/>
                    <a:pt x="191" y="256"/>
                  </a:cubicBezTo>
                  <a:cubicBezTo>
                    <a:pt x="191" y="277"/>
                    <a:pt x="204" y="282"/>
                    <a:pt x="219" y="267"/>
                  </a:cubicBezTo>
                  <a:lnTo>
                    <a:pt x="317" y="168"/>
                  </a:lnTo>
                  <a:close/>
                </a:path>
              </a:pathLst>
            </a:custGeom>
            <a:solidFill>
              <a:srgbClr val="8064A2"/>
            </a:solidFill>
            <a:ln>
              <a:noFill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íṩľíḍè-Freeform: Shape 4"/>
            <p:cNvSpPr/>
            <p:nvPr/>
          </p:nvSpPr>
          <p:spPr bwMode="auto">
            <a:xfrm>
              <a:off x="6462928" y="2732689"/>
              <a:ext cx="988044" cy="1282987"/>
            </a:xfrm>
            <a:custGeom>
              <a:avLst/>
              <a:gdLst>
                <a:gd name="T0" fmla="*/ 0 w 119"/>
                <a:gd name="T1" fmla="*/ 38 h 153"/>
                <a:gd name="T2" fmla="*/ 0 w 119"/>
                <a:gd name="T3" fmla="*/ 114 h 153"/>
                <a:gd name="T4" fmla="*/ 39 w 119"/>
                <a:gd name="T5" fmla="*/ 153 h 153"/>
                <a:gd name="T6" fmla="*/ 54 w 119"/>
                <a:gd name="T7" fmla="*/ 153 h 153"/>
                <a:gd name="T8" fmla="*/ 104 w 119"/>
                <a:gd name="T9" fmla="*/ 103 h 153"/>
                <a:gd name="T10" fmla="*/ 104 w 119"/>
                <a:gd name="T11" fmla="*/ 49 h 153"/>
                <a:gd name="T12" fmla="*/ 54 w 119"/>
                <a:gd name="T13" fmla="*/ 0 h 153"/>
                <a:gd name="T14" fmla="*/ 39 w 119"/>
                <a:gd name="T15" fmla="*/ 0 h 153"/>
                <a:gd name="T16" fmla="*/ 0 w 119"/>
                <a:gd name="T17" fmla="*/ 38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9" h="153">
                  <a:moveTo>
                    <a:pt x="0" y="38"/>
                  </a:moveTo>
                  <a:cubicBezTo>
                    <a:pt x="0" y="114"/>
                    <a:pt x="0" y="114"/>
                    <a:pt x="0" y="114"/>
                  </a:cubicBezTo>
                  <a:cubicBezTo>
                    <a:pt x="0" y="135"/>
                    <a:pt x="18" y="153"/>
                    <a:pt x="39" y="153"/>
                  </a:cubicBezTo>
                  <a:cubicBezTo>
                    <a:pt x="54" y="153"/>
                    <a:pt x="54" y="153"/>
                    <a:pt x="54" y="153"/>
                  </a:cubicBezTo>
                  <a:cubicBezTo>
                    <a:pt x="104" y="103"/>
                    <a:pt x="104" y="103"/>
                    <a:pt x="104" y="103"/>
                  </a:cubicBezTo>
                  <a:cubicBezTo>
                    <a:pt x="119" y="88"/>
                    <a:pt x="119" y="64"/>
                    <a:pt x="104" y="49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39" y="0"/>
                    <a:pt x="39" y="0"/>
                    <a:pt x="39" y="0"/>
                  </a:cubicBezTo>
                  <a:cubicBezTo>
                    <a:pt x="18" y="0"/>
                    <a:pt x="0" y="17"/>
                    <a:pt x="0" y="38"/>
                  </a:cubicBezTo>
                  <a:close/>
                </a:path>
              </a:pathLst>
            </a:custGeom>
            <a:solidFill>
              <a:srgbClr val="8064A2">
                <a:lumMod val="75000"/>
                <a:alpha val="50000"/>
              </a:srgbClr>
            </a:solidFill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íṩľíḍè-Freeform: Shape 5"/>
            <p:cNvSpPr/>
            <p:nvPr/>
          </p:nvSpPr>
          <p:spPr bwMode="auto">
            <a:xfrm>
              <a:off x="4560635" y="2189572"/>
              <a:ext cx="2757095" cy="2361024"/>
            </a:xfrm>
            <a:custGeom>
              <a:avLst/>
              <a:gdLst>
                <a:gd name="T0" fmla="*/ 317 w 332"/>
                <a:gd name="T1" fmla="*/ 168 h 282"/>
                <a:gd name="T2" fmla="*/ 317 w 332"/>
                <a:gd name="T3" fmla="*/ 114 h 282"/>
                <a:gd name="T4" fmla="*/ 218 w 332"/>
                <a:gd name="T5" fmla="*/ 15 h 282"/>
                <a:gd name="T6" fmla="*/ 191 w 332"/>
                <a:gd name="T7" fmla="*/ 26 h 282"/>
                <a:gd name="T8" fmla="*/ 191 w 332"/>
                <a:gd name="T9" fmla="*/ 26 h 282"/>
                <a:gd name="T10" fmla="*/ 153 w 332"/>
                <a:gd name="T11" fmla="*/ 65 h 282"/>
                <a:gd name="T12" fmla="*/ 38 w 332"/>
                <a:gd name="T13" fmla="*/ 65 h 282"/>
                <a:gd name="T14" fmla="*/ 0 w 332"/>
                <a:gd name="T15" fmla="*/ 103 h 282"/>
                <a:gd name="T16" fmla="*/ 0 w 332"/>
                <a:gd name="T17" fmla="*/ 179 h 282"/>
                <a:gd name="T18" fmla="*/ 38 w 332"/>
                <a:gd name="T19" fmla="*/ 218 h 282"/>
                <a:gd name="T20" fmla="*/ 153 w 332"/>
                <a:gd name="T21" fmla="*/ 218 h 282"/>
                <a:gd name="T22" fmla="*/ 191 w 332"/>
                <a:gd name="T23" fmla="*/ 256 h 282"/>
                <a:gd name="T24" fmla="*/ 191 w 332"/>
                <a:gd name="T25" fmla="*/ 256 h 282"/>
                <a:gd name="T26" fmla="*/ 218 w 332"/>
                <a:gd name="T27" fmla="*/ 267 h 282"/>
                <a:gd name="T28" fmla="*/ 317 w 332"/>
                <a:gd name="T29" fmla="*/ 168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32" h="282">
                  <a:moveTo>
                    <a:pt x="317" y="168"/>
                  </a:moveTo>
                  <a:cubicBezTo>
                    <a:pt x="332" y="153"/>
                    <a:pt x="332" y="129"/>
                    <a:pt x="317" y="114"/>
                  </a:cubicBezTo>
                  <a:cubicBezTo>
                    <a:pt x="218" y="15"/>
                    <a:pt x="218" y="15"/>
                    <a:pt x="218" y="15"/>
                  </a:cubicBezTo>
                  <a:cubicBezTo>
                    <a:pt x="203" y="0"/>
                    <a:pt x="191" y="5"/>
                    <a:pt x="191" y="26"/>
                  </a:cubicBezTo>
                  <a:cubicBezTo>
                    <a:pt x="191" y="26"/>
                    <a:pt x="191" y="26"/>
                    <a:pt x="191" y="26"/>
                  </a:cubicBezTo>
                  <a:cubicBezTo>
                    <a:pt x="191" y="47"/>
                    <a:pt x="174" y="65"/>
                    <a:pt x="153" y="65"/>
                  </a:cubicBezTo>
                  <a:cubicBezTo>
                    <a:pt x="38" y="65"/>
                    <a:pt x="38" y="65"/>
                    <a:pt x="38" y="65"/>
                  </a:cubicBezTo>
                  <a:cubicBezTo>
                    <a:pt x="17" y="65"/>
                    <a:pt x="0" y="82"/>
                    <a:pt x="0" y="103"/>
                  </a:cubicBezTo>
                  <a:cubicBezTo>
                    <a:pt x="0" y="179"/>
                    <a:pt x="0" y="179"/>
                    <a:pt x="0" y="179"/>
                  </a:cubicBezTo>
                  <a:cubicBezTo>
                    <a:pt x="0" y="200"/>
                    <a:pt x="17" y="218"/>
                    <a:pt x="38" y="218"/>
                  </a:cubicBezTo>
                  <a:cubicBezTo>
                    <a:pt x="153" y="218"/>
                    <a:pt x="153" y="218"/>
                    <a:pt x="153" y="218"/>
                  </a:cubicBezTo>
                  <a:cubicBezTo>
                    <a:pt x="174" y="218"/>
                    <a:pt x="191" y="235"/>
                    <a:pt x="191" y="256"/>
                  </a:cubicBezTo>
                  <a:cubicBezTo>
                    <a:pt x="191" y="256"/>
                    <a:pt x="191" y="256"/>
                    <a:pt x="191" y="256"/>
                  </a:cubicBezTo>
                  <a:cubicBezTo>
                    <a:pt x="191" y="277"/>
                    <a:pt x="203" y="282"/>
                    <a:pt x="218" y="267"/>
                  </a:cubicBezTo>
                  <a:lnTo>
                    <a:pt x="317" y="168"/>
                  </a:lnTo>
                  <a:close/>
                </a:path>
              </a:pathLst>
            </a:custGeom>
            <a:solidFill>
              <a:srgbClr val="9BBB59"/>
            </a:solidFill>
            <a:ln>
              <a:noFill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íṩľíḍè-Freeform: Shape 6"/>
            <p:cNvSpPr/>
            <p:nvPr/>
          </p:nvSpPr>
          <p:spPr bwMode="auto">
            <a:xfrm>
              <a:off x="4560635" y="2732689"/>
              <a:ext cx="979845" cy="1282987"/>
            </a:xfrm>
            <a:custGeom>
              <a:avLst/>
              <a:gdLst>
                <a:gd name="T0" fmla="*/ 0 w 118"/>
                <a:gd name="T1" fmla="*/ 38 h 153"/>
                <a:gd name="T2" fmla="*/ 0 w 118"/>
                <a:gd name="T3" fmla="*/ 114 h 153"/>
                <a:gd name="T4" fmla="*/ 38 w 118"/>
                <a:gd name="T5" fmla="*/ 153 h 153"/>
                <a:gd name="T6" fmla="*/ 54 w 118"/>
                <a:gd name="T7" fmla="*/ 153 h 153"/>
                <a:gd name="T8" fmla="*/ 103 w 118"/>
                <a:gd name="T9" fmla="*/ 103 h 153"/>
                <a:gd name="T10" fmla="*/ 103 w 118"/>
                <a:gd name="T11" fmla="*/ 49 h 153"/>
                <a:gd name="T12" fmla="*/ 54 w 118"/>
                <a:gd name="T13" fmla="*/ 0 h 153"/>
                <a:gd name="T14" fmla="*/ 38 w 118"/>
                <a:gd name="T15" fmla="*/ 0 h 153"/>
                <a:gd name="T16" fmla="*/ 0 w 118"/>
                <a:gd name="T17" fmla="*/ 38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8" h="153">
                  <a:moveTo>
                    <a:pt x="0" y="38"/>
                  </a:moveTo>
                  <a:cubicBezTo>
                    <a:pt x="0" y="114"/>
                    <a:pt x="0" y="114"/>
                    <a:pt x="0" y="114"/>
                  </a:cubicBezTo>
                  <a:cubicBezTo>
                    <a:pt x="0" y="135"/>
                    <a:pt x="17" y="153"/>
                    <a:pt x="38" y="153"/>
                  </a:cubicBezTo>
                  <a:cubicBezTo>
                    <a:pt x="54" y="153"/>
                    <a:pt x="54" y="153"/>
                    <a:pt x="54" y="153"/>
                  </a:cubicBezTo>
                  <a:cubicBezTo>
                    <a:pt x="103" y="103"/>
                    <a:pt x="103" y="103"/>
                    <a:pt x="103" y="103"/>
                  </a:cubicBezTo>
                  <a:cubicBezTo>
                    <a:pt x="118" y="88"/>
                    <a:pt x="118" y="64"/>
                    <a:pt x="103" y="49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17" y="0"/>
                    <a:pt x="0" y="17"/>
                    <a:pt x="0" y="38"/>
                  </a:cubicBezTo>
                  <a:close/>
                </a:path>
              </a:pathLst>
            </a:custGeom>
            <a:solidFill>
              <a:srgbClr val="9BBB59">
                <a:lumMod val="75000"/>
                <a:alpha val="50000"/>
              </a:srgbClr>
            </a:solidFill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íṩľíḍè-Freeform: Shape 7"/>
            <p:cNvSpPr/>
            <p:nvPr/>
          </p:nvSpPr>
          <p:spPr bwMode="auto">
            <a:xfrm>
              <a:off x="2650143" y="2193671"/>
              <a:ext cx="2757095" cy="2361024"/>
            </a:xfrm>
            <a:custGeom>
              <a:avLst/>
              <a:gdLst>
                <a:gd name="T0" fmla="*/ 318 w 332"/>
                <a:gd name="T1" fmla="*/ 168 h 282"/>
                <a:gd name="T2" fmla="*/ 318 w 332"/>
                <a:gd name="T3" fmla="*/ 114 h 282"/>
                <a:gd name="T4" fmla="*/ 219 w 332"/>
                <a:gd name="T5" fmla="*/ 15 h 282"/>
                <a:gd name="T6" fmla="*/ 192 w 332"/>
                <a:gd name="T7" fmla="*/ 26 h 282"/>
                <a:gd name="T8" fmla="*/ 192 w 332"/>
                <a:gd name="T9" fmla="*/ 26 h 282"/>
                <a:gd name="T10" fmla="*/ 153 w 332"/>
                <a:gd name="T11" fmla="*/ 65 h 282"/>
                <a:gd name="T12" fmla="*/ 39 w 332"/>
                <a:gd name="T13" fmla="*/ 65 h 282"/>
                <a:gd name="T14" fmla="*/ 0 w 332"/>
                <a:gd name="T15" fmla="*/ 103 h 282"/>
                <a:gd name="T16" fmla="*/ 0 w 332"/>
                <a:gd name="T17" fmla="*/ 179 h 282"/>
                <a:gd name="T18" fmla="*/ 39 w 332"/>
                <a:gd name="T19" fmla="*/ 218 h 282"/>
                <a:gd name="T20" fmla="*/ 153 w 332"/>
                <a:gd name="T21" fmla="*/ 218 h 282"/>
                <a:gd name="T22" fmla="*/ 192 w 332"/>
                <a:gd name="T23" fmla="*/ 256 h 282"/>
                <a:gd name="T24" fmla="*/ 192 w 332"/>
                <a:gd name="T25" fmla="*/ 256 h 282"/>
                <a:gd name="T26" fmla="*/ 219 w 332"/>
                <a:gd name="T27" fmla="*/ 267 h 282"/>
                <a:gd name="T28" fmla="*/ 318 w 332"/>
                <a:gd name="T29" fmla="*/ 168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32" h="282">
                  <a:moveTo>
                    <a:pt x="318" y="168"/>
                  </a:moveTo>
                  <a:cubicBezTo>
                    <a:pt x="332" y="153"/>
                    <a:pt x="332" y="129"/>
                    <a:pt x="318" y="114"/>
                  </a:cubicBezTo>
                  <a:cubicBezTo>
                    <a:pt x="219" y="15"/>
                    <a:pt x="219" y="15"/>
                    <a:pt x="219" y="15"/>
                  </a:cubicBezTo>
                  <a:cubicBezTo>
                    <a:pt x="204" y="0"/>
                    <a:pt x="192" y="5"/>
                    <a:pt x="192" y="26"/>
                  </a:cubicBezTo>
                  <a:cubicBezTo>
                    <a:pt x="192" y="26"/>
                    <a:pt x="192" y="26"/>
                    <a:pt x="192" y="26"/>
                  </a:cubicBezTo>
                  <a:cubicBezTo>
                    <a:pt x="192" y="47"/>
                    <a:pt x="174" y="65"/>
                    <a:pt x="153" y="65"/>
                  </a:cubicBezTo>
                  <a:cubicBezTo>
                    <a:pt x="39" y="65"/>
                    <a:pt x="39" y="65"/>
                    <a:pt x="39" y="65"/>
                  </a:cubicBezTo>
                  <a:cubicBezTo>
                    <a:pt x="18" y="65"/>
                    <a:pt x="0" y="82"/>
                    <a:pt x="0" y="103"/>
                  </a:cubicBezTo>
                  <a:cubicBezTo>
                    <a:pt x="0" y="179"/>
                    <a:pt x="0" y="179"/>
                    <a:pt x="0" y="179"/>
                  </a:cubicBezTo>
                  <a:cubicBezTo>
                    <a:pt x="0" y="200"/>
                    <a:pt x="18" y="218"/>
                    <a:pt x="39" y="218"/>
                  </a:cubicBezTo>
                  <a:cubicBezTo>
                    <a:pt x="153" y="218"/>
                    <a:pt x="153" y="218"/>
                    <a:pt x="153" y="218"/>
                  </a:cubicBezTo>
                  <a:cubicBezTo>
                    <a:pt x="174" y="218"/>
                    <a:pt x="192" y="235"/>
                    <a:pt x="192" y="256"/>
                  </a:cubicBezTo>
                  <a:cubicBezTo>
                    <a:pt x="192" y="256"/>
                    <a:pt x="192" y="256"/>
                    <a:pt x="192" y="256"/>
                  </a:cubicBezTo>
                  <a:cubicBezTo>
                    <a:pt x="192" y="277"/>
                    <a:pt x="204" y="282"/>
                    <a:pt x="219" y="267"/>
                  </a:cubicBezTo>
                  <a:lnTo>
                    <a:pt x="318" y="168"/>
                  </a:lnTo>
                  <a:close/>
                </a:path>
              </a:pathLst>
            </a:custGeom>
            <a:solidFill>
              <a:srgbClr val="C0504D"/>
            </a:solidFill>
            <a:ln>
              <a:noFill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íṩľíḍè-Freeform: Shape 8"/>
            <p:cNvSpPr/>
            <p:nvPr/>
          </p:nvSpPr>
          <p:spPr bwMode="auto">
            <a:xfrm>
              <a:off x="2650143" y="2736788"/>
              <a:ext cx="988044" cy="1280938"/>
            </a:xfrm>
            <a:custGeom>
              <a:avLst/>
              <a:gdLst>
                <a:gd name="T0" fmla="*/ 0 w 119"/>
                <a:gd name="T1" fmla="*/ 38 h 153"/>
                <a:gd name="T2" fmla="*/ 0 w 119"/>
                <a:gd name="T3" fmla="*/ 114 h 153"/>
                <a:gd name="T4" fmla="*/ 39 w 119"/>
                <a:gd name="T5" fmla="*/ 153 h 153"/>
                <a:gd name="T6" fmla="*/ 55 w 119"/>
                <a:gd name="T7" fmla="*/ 153 h 153"/>
                <a:gd name="T8" fmla="*/ 104 w 119"/>
                <a:gd name="T9" fmla="*/ 103 h 153"/>
                <a:gd name="T10" fmla="*/ 104 w 119"/>
                <a:gd name="T11" fmla="*/ 49 h 153"/>
                <a:gd name="T12" fmla="*/ 55 w 119"/>
                <a:gd name="T13" fmla="*/ 0 h 153"/>
                <a:gd name="T14" fmla="*/ 39 w 119"/>
                <a:gd name="T15" fmla="*/ 0 h 153"/>
                <a:gd name="T16" fmla="*/ 0 w 119"/>
                <a:gd name="T17" fmla="*/ 38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9" h="153">
                  <a:moveTo>
                    <a:pt x="0" y="38"/>
                  </a:moveTo>
                  <a:cubicBezTo>
                    <a:pt x="0" y="114"/>
                    <a:pt x="0" y="114"/>
                    <a:pt x="0" y="114"/>
                  </a:cubicBezTo>
                  <a:cubicBezTo>
                    <a:pt x="0" y="135"/>
                    <a:pt x="18" y="153"/>
                    <a:pt x="39" y="153"/>
                  </a:cubicBezTo>
                  <a:cubicBezTo>
                    <a:pt x="55" y="153"/>
                    <a:pt x="55" y="153"/>
                    <a:pt x="55" y="153"/>
                  </a:cubicBezTo>
                  <a:cubicBezTo>
                    <a:pt x="104" y="103"/>
                    <a:pt x="104" y="103"/>
                    <a:pt x="104" y="103"/>
                  </a:cubicBezTo>
                  <a:cubicBezTo>
                    <a:pt x="119" y="88"/>
                    <a:pt x="119" y="64"/>
                    <a:pt x="104" y="49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39" y="0"/>
                    <a:pt x="39" y="0"/>
                    <a:pt x="39" y="0"/>
                  </a:cubicBezTo>
                  <a:cubicBezTo>
                    <a:pt x="18" y="0"/>
                    <a:pt x="0" y="17"/>
                    <a:pt x="0" y="38"/>
                  </a:cubicBezTo>
                  <a:close/>
                </a:path>
              </a:pathLst>
            </a:custGeom>
            <a:solidFill>
              <a:srgbClr val="C0504D">
                <a:lumMod val="50000"/>
                <a:alpha val="20000"/>
              </a:srgbClr>
            </a:solidFill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íṩľíḍè-Freeform: Shape 9"/>
            <p:cNvSpPr/>
            <p:nvPr/>
          </p:nvSpPr>
          <p:spPr bwMode="auto">
            <a:xfrm>
              <a:off x="1061484" y="2242859"/>
              <a:ext cx="2412713" cy="2256499"/>
            </a:xfrm>
            <a:custGeom>
              <a:avLst/>
              <a:gdLst>
                <a:gd name="connsiteX0" fmla="*/ 1424916 w 2507091"/>
                <a:gd name="connsiteY0" fmla="*/ 112 h 2343942"/>
                <a:gd name="connsiteX1" fmla="*/ 1555542 w 2507091"/>
                <a:gd name="connsiteY1" fmla="*/ 75381 h 2343942"/>
                <a:gd name="connsiteX2" fmla="*/ 2409995 w 2507091"/>
                <a:gd name="connsiteY2" fmla="*/ 936988 h 2343942"/>
                <a:gd name="connsiteX3" fmla="*/ 2409995 w 2507091"/>
                <a:gd name="connsiteY3" fmla="*/ 1406955 h 2343942"/>
                <a:gd name="connsiteX4" fmla="*/ 1555542 w 2507091"/>
                <a:gd name="connsiteY4" fmla="*/ 2268563 h 2343942"/>
                <a:gd name="connsiteX5" fmla="*/ 1322510 w 2507091"/>
                <a:gd name="connsiteY5" fmla="*/ 2172828 h 2343942"/>
                <a:gd name="connsiteX6" fmla="*/ 994538 w 2507091"/>
                <a:gd name="connsiteY6" fmla="*/ 1842111 h 2343942"/>
                <a:gd name="connsiteX7" fmla="*/ 1992 w 2507091"/>
                <a:gd name="connsiteY7" fmla="*/ 1842111 h 2343942"/>
                <a:gd name="connsiteX8" fmla="*/ 0 w 2507091"/>
                <a:gd name="connsiteY8" fmla="*/ 1841897 h 2343942"/>
                <a:gd name="connsiteX9" fmla="*/ 8587 w 2507091"/>
                <a:gd name="connsiteY9" fmla="*/ 1841897 h 2343942"/>
                <a:gd name="connsiteX10" fmla="*/ 66848 w 2507091"/>
                <a:gd name="connsiteY10" fmla="*/ 1841897 h 2343942"/>
                <a:gd name="connsiteX11" fmla="*/ 489776 w 2507091"/>
                <a:gd name="connsiteY11" fmla="*/ 1406631 h 2343942"/>
                <a:gd name="connsiteX12" fmla="*/ 489776 w 2507091"/>
                <a:gd name="connsiteY12" fmla="*/ 936545 h 2343942"/>
                <a:gd name="connsiteX13" fmla="*/ 67674 w 2507091"/>
                <a:gd name="connsiteY13" fmla="*/ 510817 h 2343942"/>
                <a:gd name="connsiteX14" fmla="*/ 67395 w 2507091"/>
                <a:gd name="connsiteY14" fmla="*/ 510536 h 2343942"/>
                <a:gd name="connsiteX15" fmla="*/ 85108 w 2507091"/>
                <a:gd name="connsiteY15" fmla="*/ 510536 h 2343942"/>
                <a:gd name="connsiteX16" fmla="*/ 994538 w 2507091"/>
                <a:gd name="connsiteY16" fmla="*/ 510536 h 2343942"/>
                <a:gd name="connsiteX17" fmla="*/ 1322510 w 2507091"/>
                <a:gd name="connsiteY17" fmla="*/ 171115 h 2343942"/>
                <a:gd name="connsiteX18" fmla="*/ 1424916 w 2507091"/>
                <a:gd name="connsiteY18" fmla="*/ 112 h 2343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07091" h="2343942">
                  <a:moveTo>
                    <a:pt x="1424916" y="112"/>
                  </a:moveTo>
                  <a:cubicBezTo>
                    <a:pt x="1462086" y="1948"/>
                    <a:pt x="1506994" y="26426"/>
                    <a:pt x="1555542" y="75381"/>
                  </a:cubicBezTo>
                  <a:cubicBezTo>
                    <a:pt x="1555542" y="75381"/>
                    <a:pt x="1555542" y="75381"/>
                    <a:pt x="2409995" y="936988"/>
                  </a:cubicBezTo>
                  <a:cubicBezTo>
                    <a:pt x="2539457" y="1067534"/>
                    <a:pt x="2539457" y="1276409"/>
                    <a:pt x="2409995" y="1406955"/>
                  </a:cubicBezTo>
                  <a:lnTo>
                    <a:pt x="1555542" y="2268563"/>
                  </a:lnTo>
                  <a:cubicBezTo>
                    <a:pt x="1426080" y="2399109"/>
                    <a:pt x="1322510" y="2355594"/>
                    <a:pt x="1322510" y="2172828"/>
                  </a:cubicBezTo>
                  <a:cubicBezTo>
                    <a:pt x="1322510" y="1990063"/>
                    <a:pt x="1175785" y="1842111"/>
                    <a:pt x="994538" y="1842111"/>
                  </a:cubicBezTo>
                  <a:cubicBezTo>
                    <a:pt x="994538" y="1842111"/>
                    <a:pt x="994538" y="1842111"/>
                    <a:pt x="1992" y="1842111"/>
                  </a:cubicBezTo>
                  <a:lnTo>
                    <a:pt x="0" y="1841897"/>
                  </a:lnTo>
                  <a:lnTo>
                    <a:pt x="8587" y="1841897"/>
                  </a:lnTo>
                  <a:cubicBezTo>
                    <a:pt x="66848" y="1841897"/>
                    <a:pt x="66848" y="1841897"/>
                    <a:pt x="66848" y="1841897"/>
                  </a:cubicBezTo>
                  <a:cubicBezTo>
                    <a:pt x="489776" y="1406631"/>
                    <a:pt x="489776" y="1406631"/>
                    <a:pt x="489776" y="1406631"/>
                  </a:cubicBezTo>
                  <a:cubicBezTo>
                    <a:pt x="619244" y="1276052"/>
                    <a:pt x="619244" y="1067124"/>
                    <a:pt x="489776" y="936545"/>
                  </a:cubicBezTo>
                  <a:cubicBezTo>
                    <a:pt x="119714" y="563304"/>
                    <a:pt x="73456" y="516649"/>
                    <a:pt x="67674" y="510817"/>
                  </a:cubicBezTo>
                  <a:lnTo>
                    <a:pt x="67395" y="510536"/>
                  </a:lnTo>
                  <a:lnTo>
                    <a:pt x="85108" y="510536"/>
                  </a:lnTo>
                  <a:cubicBezTo>
                    <a:pt x="191971" y="510536"/>
                    <a:pt x="436231" y="510536"/>
                    <a:pt x="994538" y="510536"/>
                  </a:cubicBezTo>
                  <a:cubicBezTo>
                    <a:pt x="1175785" y="510536"/>
                    <a:pt x="1322510" y="353880"/>
                    <a:pt x="1322510" y="171115"/>
                  </a:cubicBezTo>
                  <a:cubicBezTo>
                    <a:pt x="1322510" y="56887"/>
                    <a:pt x="1362967" y="-2947"/>
                    <a:pt x="1424916" y="112"/>
                  </a:cubicBezTo>
                  <a:close/>
                </a:path>
              </a:pathLst>
            </a:custGeom>
            <a:solidFill>
              <a:srgbClr val="4F81BD"/>
            </a:solidFill>
            <a:ln>
              <a:noFill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íṩľíḍè-Oval 10"/>
            <p:cNvSpPr/>
            <p:nvPr/>
          </p:nvSpPr>
          <p:spPr>
            <a:xfrm>
              <a:off x="2000331" y="3046263"/>
              <a:ext cx="649813" cy="647642"/>
            </a:xfrm>
            <a:prstGeom prst="ellipse">
              <a:avLst/>
            </a:prstGeom>
            <a:solidFill>
              <a:srgbClr val="EEECE1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íślíḋè-Freeform: Shape 11"/>
            <p:cNvSpPr/>
            <p:nvPr/>
          </p:nvSpPr>
          <p:spPr bwMode="auto">
            <a:xfrm>
              <a:off x="2203269" y="3267609"/>
              <a:ext cx="243937" cy="219296"/>
            </a:xfrm>
            <a:custGeom>
              <a:avLst/>
              <a:gdLst>
                <a:gd name="T0" fmla="*/ 116 w 400"/>
                <a:gd name="T1" fmla="*/ 224 h 360"/>
                <a:gd name="T2" fmla="*/ 116 w 400"/>
                <a:gd name="T3" fmla="*/ 100 h 360"/>
                <a:gd name="T4" fmla="*/ 40 w 400"/>
                <a:gd name="T5" fmla="*/ 100 h 360"/>
                <a:gd name="T6" fmla="*/ 0 w 400"/>
                <a:gd name="T7" fmla="*/ 140 h 360"/>
                <a:gd name="T8" fmla="*/ 0 w 400"/>
                <a:gd name="T9" fmla="*/ 260 h 360"/>
                <a:gd name="T10" fmla="*/ 40 w 400"/>
                <a:gd name="T11" fmla="*/ 300 h 360"/>
                <a:gd name="T12" fmla="*/ 60 w 400"/>
                <a:gd name="T13" fmla="*/ 300 h 360"/>
                <a:gd name="T14" fmla="*/ 60 w 400"/>
                <a:gd name="T15" fmla="*/ 360 h 360"/>
                <a:gd name="T16" fmla="*/ 120 w 400"/>
                <a:gd name="T17" fmla="*/ 300 h 360"/>
                <a:gd name="T18" fmla="*/ 220 w 400"/>
                <a:gd name="T19" fmla="*/ 300 h 360"/>
                <a:gd name="T20" fmla="*/ 260 w 400"/>
                <a:gd name="T21" fmla="*/ 260 h 360"/>
                <a:gd name="T22" fmla="*/ 260 w 400"/>
                <a:gd name="T23" fmla="*/ 223 h 360"/>
                <a:gd name="T24" fmla="*/ 256 w 400"/>
                <a:gd name="T25" fmla="*/ 224 h 360"/>
                <a:gd name="T26" fmla="*/ 116 w 400"/>
                <a:gd name="T27" fmla="*/ 224 h 360"/>
                <a:gd name="T28" fmla="*/ 360 w 400"/>
                <a:gd name="T29" fmla="*/ 0 h 360"/>
                <a:gd name="T30" fmla="*/ 180 w 400"/>
                <a:gd name="T31" fmla="*/ 0 h 360"/>
                <a:gd name="T32" fmla="*/ 140 w 400"/>
                <a:gd name="T33" fmla="*/ 40 h 360"/>
                <a:gd name="T34" fmla="*/ 140 w 400"/>
                <a:gd name="T35" fmla="*/ 200 h 360"/>
                <a:gd name="T36" fmla="*/ 280 w 400"/>
                <a:gd name="T37" fmla="*/ 200 h 360"/>
                <a:gd name="T38" fmla="*/ 340 w 400"/>
                <a:gd name="T39" fmla="*/ 260 h 360"/>
                <a:gd name="T40" fmla="*/ 340 w 400"/>
                <a:gd name="T41" fmla="*/ 200 h 360"/>
                <a:gd name="T42" fmla="*/ 360 w 400"/>
                <a:gd name="T43" fmla="*/ 200 h 360"/>
                <a:gd name="T44" fmla="*/ 400 w 400"/>
                <a:gd name="T45" fmla="*/ 160 h 360"/>
                <a:gd name="T46" fmla="*/ 400 w 400"/>
                <a:gd name="T47" fmla="*/ 40 h 360"/>
                <a:gd name="T48" fmla="*/ 360 w 400"/>
                <a:gd name="T49" fmla="*/ 0 h 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400" h="360">
                  <a:moveTo>
                    <a:pt x="116" y="224"/>
                  </a:moveTo>
                  <a:cubicBezTo>
                    <a:pt x="116" y="100"/>
                    <a:pt x="116" y="100"/>
                    <a:pt x="116" y="100"/>
                  </a:cubicBezTo>
                  <a:cubicBezTo>
                    <a:pt x="40" y="100"/>
                    <a:pt x="40" y="100"/>
                    <a:pt x="40" y="100"/>
                  </a:cubicBezTo>
                  <a:cubicBezTo>
                    <a:pt x="18" y="100"/>
                    <a:pt x="0" y="118"/>
                    <a:pt x="0" y="140"/>
                  </a:cubicBezTo>
                  <a:cubicBezTo>
                    <a:pt x="0" y="260"/>
                    <a:pt x="0" y="260"/>
                    <a:pt x="0" y="260"/>
                  </a:cubicBezTo>
                  <a:cubicBezTo>
                    <a:pt x="0" y="282"/>
                    <a:pt x="18" y="300"/>
                    <a:pt x="40" y="300"/>
                  </a:cubicBezTo>
                  <a:cubicBezTo>
                    <a:pt x="60" y="300"/>
                    <a:pt x="60" y="300"/>
                    <a:pt x="60" y="300"/>
                  </a:cubicBezTo>
                  <a:cubicBezTo>
                    <a:pt x="60" y="360"/>
                    <a:pt x="60" y="360"/>
                    <a:pt x="60" y="360"/>
                  </a:cubicBezTo>
                  <a:cubicBezTo>
                    <a:pt x="120" y="300"/>
                    <a:pt x="120" y="300"/>
                    <a:pt x="120" y="300"/>
                  </a:cubicBezTo>
                  <a:cubicBezTo>
                    <a:pt x="220" y="300"/>
                    <a:pt x="220" y="300"/>
                    <a:pt x="220" y="300"/>
                  </a:cubicBezTo>
                  <a:cubicBezTo>
                    <a:pt x="242" y="300"/>
                    <a:pt x="260" y="282"/>
                    <a:pt x="260" y="260"/>
                  </a:cubicBezTo>
                  <a:cubicBezTo>
                    <a:pt x="260" y="223"/>
                    <a:pt x="260" y="223"/>
                    <a:pt x="260" y="223"/>
                  </a:cubicBezTo>
                  <a:cubicBezTo>
                    <a:pt x="258" y="224"/>
                    <a:pt x="257" y="224"/>
                    <a:pt x="256" y="224"/>
                  </a:cubicBezTo>
                  <a:lnTo>
                    <a:pt x="116" y="224"/>
                  </a:lnTo>
                  <a:close/>
                  <a:moveTo>
                    <a:pt x="360" y="0"/>
                  </a:moveTo>
                  <a:cubicBezTo>
                    <a:pt x="180" y="0"/>
                    <a:pt x="180" y="0"/>
                    <a:pt x="180" y="0"/>
                  </a:cubicBezTo>
                  <a:cubicBezTo>
                    <a:pt x="158" y="0"/>
                    <a:pt x="140" y="18"/>
                    <a:pt x="140" y="40"/>
                  </a:cubicBezTo>
                  <a:cubicBezTo>
                    <a:pt x="140" y="200"/>
                    <a:pt x="140" y="200"/>
                    <a:pt x="140" y="200"/>
                  </a:cubicBezTo>
                  <a:cubicBezTo>
                    <a:pt x="280" y="200"/>
                    <a:pt x="280" y="200"/>
                    <a:pt x="280" y="200"/>
                  </a:cubicBezTo>
                  <a:cubicBezTo>
                    <a:pt x="340" y="260"/>
                    <a:pt x="340" y="260"/>
                    <a:pt x="340" y="260"/>
                  </a:cubicBezTo>
                  <a:cubicBezTo>
                    <a:pt x="340" y="200"/>
                    <a:pt x="340" y="200"/>
                    <a:pt x="340" y="200"/>
                  </a:cubicBezTo>
                  <a:cubicBezTo>
                    <a:pt x="360" y="200"/>
                    <a:pt x="360" y="200"/>
                    <a:pt x="360" y="200"/>
                  </a:cubicBezTo>
                  <a:cubicBezTo>
                    <a:pt x="382" y="200"/>
                    <a:pt x="400" y="182"/>
                    <a:pt x="400" y="160"/>
                  </a:cubicBezTo>
                  <a:cubicBezTo>
                    <a:pt x="400" y="40"/>
                    <a:pt x="400" y="40"/>
                    <a:pt x="400" y="40"/>
                  </a:cubicBezTo>
                  <a:cubicBezTo>
                    <a:pt x="400" y="18"/>
                    <a:pt x="382" y="0"/>
                    <a:pt x="360" y="0"/>
                  </a:cubicBezTo>
                  <a:close/>
                </a:path>
              </a:pathLst>
            </a:custGeom>
            <a:solidFill>
              <a:srgbClr val="4F81BD"/>
            </a:solidFill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íślíḋè-Oval 12"/>
            <p:cNvSpPr/>
            <p:nvPr/>
          </p:nvSpPr>
          <p:spPr>
            <a:xfrm>
              <a:off x="3914922" y="3046263"/>
              <a:ext cx="647763" cy="647642"/>
            </a:xfrm>
            <a:prstGeom prst="ellipse">
              <a:avLst/>
            </a:prstGeom>
            <a:solidFill>
              <a:srgbClr val="EEECE1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íślíḋè-Freeform: Shape 13"/>
            <p:cNvSpPr/>
            <p:nvPr/>
          </p:nvSpPr>
          <p:spPr bwMode="auto">
            <a:xfrm>
              <a:off x="4113761" y="3255312"/>
              <a:ext cx="248037" cy="231593"/>
            </a:xfrm>
            <a:custGeom>
              <a:avLst/>
              <a:gdLst>
                <a:gd name="T0" fmla="*/ 344 w 402"/>
                <a:gd name="T1" fmla="*/ 125 h 382"/>
                <a:gd name="T2" fmla="*/ 303 w 402"/>
                <a:gd name="T3" fmla="*/ 13 h 382"/>
                <a:gd name="T4" fmla="*/ 284 w 402"/>
                <a:gd name="T5" fmla="*/ 3 h 382"/>
                <a:gd name="T6" fmla="*/ 12 w 402"/>
                <a:gd name="T7" fmla="*/ 102 h 382"/>
                <a:gd name="T8" fmla="*/ 3 w 402"/>
                <a:gd name="T9" fmla="*/ 122 h 382"/>
                <a:gd name="T10" fmla="*/ 46 w 402"/>
                <a:gd name="T11" fmla="*/ 241 h 382"/>
                <a:gd name="T12" fmla="*/ 46 w 402"/>
                <a:gd name="T13" fmla="*/ 177 h 382"/>
                <a:gd name="T14" fmla="*/ 97 w 402"/>
                <a:gd name="T15" fmla="*/ 125 h 382"/>
                <a:gd name="T16" fmla="*/ 169 w 402"/>
                <a:gd name="T17" fmla="*/ 125 h 382"/>
                <a:gd name="T18" fmla="*/ 255 w 402"/>
                <a:gd name="T19" fmla="*/ 65 h 382"/>
                <a:gd name="T20" fmla="*/ 304 w 402"/>
                <a:gd name="T21" fmla="*/ 125 h 382"/>
                <a:gd name="T22" fmla="*/ 344 w 402"/>
                <a:gd name="T23" fmla="*/ 125 h 382"/>
                <a:gd name="T24" fmla="*/ 387 w 402"/>
                <a:gd name="T25" fmla="*/ 161 h 382"/>
                <a:gd name="T26" fmla="*/ 97 w 402"/>
                <a:gd name="T27" fmla="*/ 161 h 382"/>
                <a:gd name="T28" fmla="*/ 82 w 402"/>
                <a:gd name="T29" fmla="*/ 177 h 382"/>
                <a:gd name="T30" fmla="*/ 82 w 402"/>
                <a:gd name="T31" fmla="*/ 366 h 382"/>
                <a:gd name="T32" fmla="*/ 97 w 402"/>
                <a:gd name="T33" fmla="*/ 382 h 382"/>
                <a:gd name="T34" fmla="*/ 387 w 402"/>
                <a:gd name="T35" fmla="*/ 382 h 382"/>
                <a:gd name="T36" fmla="*/ 402 w 402"/>
                <a:gd name="T37" fmla="*/ 366 h 382"/>
                <a:gd name="T38" fmla="*/ 402 w 402"/>
                <a:gd name="T39" fmla="*/ 177 h 382"/>
                <a:gd name="T40" fmla="*/ 387 w 402"/>
                <a:gd name="T41" fmla="*/ 161 h 382"/>
                <a:gd name="T42" fmla="*/ 364 w 402"/>
                <a:gd name="T43" fmla="*/ 342 h 382"/>
                <a:gd name="T44" fmla="*/ 125 w 402"/>
                <a:gd name="T45" fmla="*/ 342 h 382"/>
                <a:gd name="T46" fmla="*/ 125 w 402"/>
                <a:gd name="T47" fmla="*/ 307 h 382"/>
                <a:gd name="T48" fmla="*/ 161 w 402"/>
                <a:gd name="T49" fmla="*/ 222 h 382"/>
                <a:gd name="T50" fmla="*/ 217 w 402"/>
                <a:gd name="T51" fmla="*/ 290 h 382"/>
                <a:gd name="T52" fmla="*/ 269 w 402"/>
                <a:gd name="T53" fmla="*/ 237 h 382"/>
                <a:gd name="T54" fmla="*/ 336 w 402"/>
                <a:gd name="T55" fmla="*/ 213 h 382"/>
                <a:gd name="T56" fmla="*/ 364 w 402"/>
                <a:gd name="T57" fmla="*/ 277 h 382"/>
                <a:gd name="T58" fmla="*/ 364 w 402"/>
                <a:gd name="T59" fmla="*/ 342 h 3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402" h="382">
                  <a:moveTo>
                    <a:pt x="344" y="125"/>
                  </a:moveTo>
                  <a:cubicBezTo>
                    <a:pt x="303" y="13"/>
                    <a:pt x="303" y="13"/>
                    <a:pt x="303" y="13"/>
                  </a:cubicBezTo>
                  <a:cubicBezTo>
                    <a:pt x="300" y="4"/>
                    <a:pt x="291" y="0"/>
                    <a:pt x="284" y="3"/>
                  </a:cubicBezTo>
                  <a:cubicBezTo>
                    <a:pt x="12" y="102"/>
                    <a:pt x="12" y="102"/>
                    <a:pt x="12" y="102"/>
                  </a:cubicBezTo>
                  <a:cubicBezTo>
                    <a:pt x="4" y="105"/>
                    <a:pt x="0" y="114"/>
                    <a:pt x="3" y="122"/>
                  </a:cubicBezTo>
                  <a:cubicBezTo>
                    <a:pt x="46" y="241"/>
                    <a:pt x="46" y="241"/>
                    <a:pt x="46" y="241"/>
                  </a:cubicBezTo>
                  <a:cubicBezTo>
                    <a:pt x="46" y="177"/>
                    <a:pt x="46" y="177"/>
                    <a:pt x="46" y="177"/>
                  </a:cubicBezTo>
                  <a:cubicBezTo>
                    <a:pt x="46" y="149"/>
                    <a:pt x="69" y="125"/>
                    <a:pt x="97" y="125"/>
                  </a:cubicBezTo>
                  <a:cubicBezTo>
                    <a:pt x="169" y="125"/>
                    <a:pt x="169" y="125"/>
                    <a:pt x="169" y="125"/>
                  </a:cubicBezTo>
                  <a:cubicBezTo>
                    <a:pt x="255" y="65"/>
                    <a:pt x="255" y="65"/>
                    <a:pt x="255" y="65"/>
                  </a:cubicBezTo>
                  <a:cubicBezTo>
                    <a:pt x="304" y="125"/>
                    <a:pt x="304" y="125"/>
                    <a:pt x="304" y="125"/>
                  </a:cubicBezTo>
                  <a:lnTo>
                    <a:pt x="344" y="125"/>
                  </a:lnTo>
                  <a:close/>
                  <a:moveTo>
                    <a:pt x="387" y="161"/>
                  </a:moveTo>
                  <a:cubicBezTo>
                    <a:pt x="97" y="161"/>
                    <a:pt x="97" y="161"/>
                    <a:pt x="97" y="161"/>
                  </a:cubicBezTo>
                  <a:cubicBezTo>
                    <a:pt x="89" y="161"/>
                    <a:pt x="82" y="169"/>
                    <a:pt x="82" y="177"/>
                  </a:cubicBezTo>
                  <a:cubicBezTo>
                    <a:pt x="82" y="366"/>
                    <a:pt x="82" y="366"/>
                    <a:pt x="82" y="366"/>
                  </a:cubicBezTo>
                  <a:cubicBezTo>
                    <a:pt x="82" y="375"/>
                    <a:pt x="89" y="382"/>
                    <a:pt x="97" y="382"/>
                  </a:cubicBezTo>
                  <a:cubicBezTo>
                    <a:pt x="387" y="382"/>
                    <a:pt x="387" y="382"/>
                    <a:pt x="387" y="382"/>
                  </a:cubicBezTo>
                  <a:cubicBezTo>
                    <a:pt x="395" y="382"/>
                    <a:pt x="402" y="375"/>
                    <a:pt x="402" y="366"/>
                  </a:cubicBezTo>
                  <a:cubicBezTo>
                    <a:pt x="402" y="177"/>
                    <a:pt x="402" y="177"/>
                    <a:pt x="402" y="177"/>
                  </a:cubicBezTo>
                  <a:cubicBezTo>
                    <a:pt x="402" y="169"/>
                    <a:pt x="395" y="161"/>
                    <a:pt x="387" y="161"/>
                  </a:cubicBezTo>
                  <a:close/>
                  <a:moveTo>
                    <a:pt x="364" y="342"/>
                  </a:moveTo>
                  <a:cubicBezTo>
                    <a:pt x="125" y="342"/>
                    <a:pt x="125" y="342"/>
                    <a:pt x="125" y="342"/>
                  </a:cubicBezTo>
                  <a:cubicBezTo>
                    <a:pt x="125" y="307"/>
                    <a:pt x="125" y="307"/>
                    <a:pt x="125" y="307"/>
                  </a:cubicBezTo>
                  <a:cubicBezTo>
                    <a:pt x="161" y="222"/>
                    <a:pt x="161" y="222"/>
                    <a:pt x="161" y="222"/>
                  </a:cubicBezTo>
                  <a:cubicBezTo>
                    <a:pt x="217" y="290"/>
                    <a:pt x="217" y="290"/>
                    <a:pt x="217" y="290"/>
                  </a:cubicBezTo>
                  <a:cubicBezTo>
                    <a:pt x="269" y="237"/>
                    <a:pt x="269" y="237"/>
                    <a:pt x="269" y="237"/>
                  </a:cubicBezTo>
                  <a:cubicBezTo>
                    <a:pt x="336" y="213"/>
                    <a:pt x="336" y="213"/>
                    <a:pt x="336" y="213"/>
                  </a:cubicBezTo>
                  <a:cubicBezTo>
                    <a:pt x="364" y="277"/>
                    <a:pt x="364" y="277"/>
                    <a:pt x="364" y="277"/>
                  </a:cubicBezTo>
                  <a:lnTo>
                    <a:pt x="364" y="342"/>
                  </a:lnTo>
                  <a:close/>
                </a:path>
              </a:pathLst>
            </a:custGeom>
            <a:solidFill>
              <a:srgbClr val="C0504D"/>
            </a:solidFill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" name="íślíḋè-Oval 14"/>
            <p:cNvSpPr/>
            <p:nvPr/>
          </p:nvSpPr>
          <p:spPr>
            <a:xfrm>
              <a:off x="5811064" y="3044213"/>
              <a:ext cx="647763" cy="647642"/>
            </a:xfrm>
            <a:prstGeom prst="ellipse">
              <a:avLst/>
            </a:prstGeom>
            <a:solidFill>
              <a:srgbClr val="EEECE1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íślíḋè-Freeform: Shape 15"/>
            <p:cNvSpPr/>
            <p:nvPr/>
          </p:nvSpPr>
          <p:spPr bwMode="auto">
            <a:xfrm>
              <a:off x="6022203" y="3267609"/>
              <a:ext cx="221387" cy="223395"/>
            </a:xfrm>
            <a:custGeom>
              <a:avLst/>
              <a:gdLst>
                <a:gd name="T0" fmla="*/ 203 w 360"/>
                <a:gd name="T1" fmla="*/ 271 h 368"/>
                <a:gd name="T2" fmla="*/ 261 w 360"/>
                <a:gd name="T3" fmla="*/ 202 h 368"/>
                <a:gd name="T4" fmla="*/ 360 w 360"/>
                <a:gd name="T5" fmla="*/ 51 h 368"/>
                <a:gd name="T6" fmla="*/ 346 w 360"/>
                <a:gd name="T7" fmla="*/ 37 h 368"/>
                <a:gd name="T8" fmla="*/ 277 w 360"/>
                <a:gd name="T9" fmla="*/ 37 h 368"/>
                <a:gd name="T10" fmla="*/ 180 w 360"/>
                <a:gd name="T11" fmla="*/ 0 h 368"/>
                <a:gd name="T12" fmla="*/ 83 w 360"/>
                <a:gd name="T13" fmla="*/ 37 h 368"/>
                <a:gd name="T14" fmla="*/ 14 w 360"/>
                <a:gd name="T15" fmla="*/ 37 h 368"/>
                <a:gd name="T16" fmla="*/ 0 w 360"/>
                <a:gd name="T17" fmla="*/ 51 h 368"/>
                <a:gd name="T18" fmla="*/ 98 w 360"/>
                <a:gd name="T19" fmla="*/ 202 h 368"/>
                <a:gd name="T20" fmla="*/ 156 w 360"/>
                <a:gd name="T21" fmla="*/ 271 h 368"/>
                <a:gd name="T22" fmla="*/ 156 w 360"/>
                <a:gd name="T23" fmla="*/ 297 h 368"/>
                <a:gd name="T24" fmla="*/ 91 w 360"/>
                <a:gd name="T25" fmla="*/ 332 h 368"/>
                <a:gd name="T26" fmla="*/ 180 w 360"/>
                <a:gd name="T27" fmla="*/ 368 h 368"/>
                <a:gd name="T28" fmla="*/ 269 w 360"/>
                <a:gd name="T29" fmla="*/ 332 h 368"/>
                <a:gd name="T30" fmla="*/ 203 w 360"/>
                <a:gd name="T31" fmla="*/ 297 h 368"/>
                <a:gd name="T32" fmla="*/ 203 w 360"/>
                <a:gd name="T33" fmla="*/ 271 h 368"/>
                <a:gd name="T34" fmla="*/ 259 w 360"/>
                <a:gd name="T35" fmla="*/ 170 h 368"/>
                <a:gd name="T36" fmla="*/ 281 w 360"/>
                <a:gd name="T37" fmla="*/ 65 h 368"/>
                <a:gd name="T38" fmla="*/ 331 w 360"/>
                <a:gd name="T39" fmla="*/ 65 h 368"/>
                <a:gd name="T40" fmla="*/ 259 w 360"/>
                <a:gd name="T41" fmla="*/ 170 h 368"/>
                <a:gd name="T42" fmla="*/ 180 w 360"/>
                <a:gd name="T43" fmla="*/ 24 h 368"/>
                <a:gd name="T44" fmla="*/ 256 w 360"/>
                <a:gd name="T45" fmla="*/ 55 h 368"/>
                <a:gd name="T46" fmla="*/ 180 w 360"/>
                <a:gd name="T47" fmla="*/ 86 h 368"/>
                <a:gd name="T48" fmla="*/ 104 w 360"/>
                <a:gd name="T49" fmla="*/ 55 h 368"/>
                <a:gd name="T50" fmla="*/ 180 w 360"/>
                <a:gd name="T51" fmla="*/ 24 h 368"/>
                <a:gd name="T52" fmla="*/ 29 w 360"/>
                <a:gd name="T53" fmla="*/ 65 h 368"/>
                <a:gd name="T54" fmla="*/ 79 w 360"/>
                <a:gd name="T55" fmla="*/ 65 h 368"/>
                <a:gd name="T56" fmla="*/ 101 w 360"/>
                <a:gd name="T57" fmla="*/ 170 h 368"/>
                <a:gd name="T58" fmla="*/ 29 w 360"/>
                <a:gd name="T59" fmla="*/ 65 h 3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60" h="368">
                  <a:moveTo>
                    <a:pt x="203" y="271"/>
                  </a:moveTo>
                  <a:cubicBezTo>
                    <a:pt x="203" y="242"/>
                    <a:pt x="225" y="226"/>
                    <a:pt x="261" y="202"/>
                  </a:cubicBezTo>
                  <a:cubicBezTo>
                    <a:pt x="305" y="173"/>
                    <a:pt x="360" y="137"/>
                    <a:pt x="360" y="51"/>
                  </a:cubicBezTo>
                  <a:cubicBezTo>
                    <a:pt x="360" y="43"/>
                    <a:pt x="353" y="37"/>
                    <a:pt x="346" y="37"/>
                  </a:cubicBezTo>
                  <a:cubicBezTo>
                    <a:pt x="277" y="37"/>
                    <a:pt x="277" y="37"/>
                    <a:pt x="277" y="37"/>
                  </a:cubicBezTo>
                  <a:cubicBezTo>
                    <a:pt x="267" y="19"/>
                    <a:pt x="238" y="0"/>
                    <a:pt x="180" y="0"/>
                  </a:cubicBezTo>
                  <a:cubicBezTo>
                    <a:pt x="121" y="0"/>
                    <a:pt x="92" y="19"/>
                    <a:pt x="83" y="37"/>
                  </a:cubicBezTo>
                  <a:cubicBezTo>
                    <a:pt x="14" y="37"/>
                    <a:pt x="14" y="37"/>
                    <a:pt x="14" y="37"/>
                  </a:cubicBezTo>
                  <a:cubicBezTo>
                    <a:pt x="6" y="37"/>
                    <a:pt x="0" y="43"/>
                    <a:pt x="0" y="51"/>
                  </a:cubicBezTo>
                  <a:cubicBezTo>
                    <a:pt x="0" y="137"/>
                    <a:pt x="54" y="173"/>
                    <a:pt x="98" y="202"/>
                  </a:cubicBezTo>
                  <a:cubicBezTo>
                    <a:pt x="134" y="226"/>
                    <a:pt x="156" y="242"/>
                    <a:pt x="156" y="271"/>
                  </a:cubicBezTo>
                  <a:cubicBezTo>
                    <a:pt x="156" y="297"/>
                    <a:pt x="156" y="297"/>
                    <a:pt x="156" y="297"/>
                  </a:cubicBezTo>
                  <a:cubicBezTo>
                    <a:pt x="118" y="301"/>
                    <a:pt x="91" y="315"/>
                    <a:pt x="91" y="332"/>
                  </a:cubicBezTo>
                  <a:cubicBezTo>
                    <a:pt x="91" y="352"/>
                    <a:pt x="131" y="368"/>
                    <a:pt x="180" y="368"/>
                  </a:cubicBezTo>
                  <a:cubicBezTo>
                    <a:pt x="229" y="368"/>
                    <a:pt x="269" y="352"/>
                    <a:pt x="269" y="332"/>
                  </a:cubicBezTo>
                  <a:cubicBezTo>
                    <a:pt x="269" y="315"/>
                    <a:pt x="241" y="301"/>
                    <a:pt x="203" y="297"/>
                  </a:cubicBezTo>
                  <a:lnTo>
                    <a:pt x="203" y="271"/>
                  </a:lnTo>
                  <a:close/>
                  <a:moveTo>
                    <a:pt x="259" y="170"/>
                  </a:moveTo>
                  <a:cubicBezTo>
                    <a:pt x="270" y="146"/>
                    <a:pt x="279" y="113"/>
                    <a:pt x="281" y="65"/>
                  </a:cubicBezTo>
                  <a:cubicBezTo>
                    <a:pt x="331" y="65"/>
                    <a:pt x="331" y="65"/>
                    <a:pt x="331" y="65"/>
                  </a:cubicBezTo>
                  <a:cubicBezTo>
                    <a:pt x="326" y="119"/>
                    <a:pt x="294" y="146"/>
                    <a:pt x="259" y="170"/>
                  </a:cubicBezTo>
                  <a:close/>
                  <a:moveTo>
                    <a:pt x="180" y="24"/>
                  </a:moveTo>
                  <a:cubicBezTo>
                    <a:pt x="234" y="24"/>
                    <a:pt x="256" y="47"/>
                    <a:pt x="256" y="55"/>
                  </a:cubicBezTo>
                  <a:cubicBezTo>
                    <a:pt x="256" y="63"/>
                    <a:pt x="234" y="86"/>
                    <a:pt x="180" y="86"/>
                  </a:cubicBezTo>
                  <a:cubicBezTo>
                    <a:pt x="125" y="86"/>
                    <a:pt x="104" y="63"/>
                    <a:pt x="104" y="55"/>
                  </a:cubicBezTo>
                  <a:cubicBezTo>
                    <a:pt x="104" y="47"/>
                    <a:pt x="125" y="24"/>
                    <a:pt x="180" y="24"/>
                  </a:cubicBezTo>
                  <a:close/>
                  <a:moveTo>
                    <a:pt x="29" y="65"/>
                  </a:moveTo>
                  <a:cubicBezTo>
                    <a:pt x="79" y="65"/>
                    <a:pt x="79" y="65"/>
                    <a:pt x="79" y="65"/>
                  </a:cubicBezTo>
                  <a:cubicBezTo>
                    <a:pt x="80" y="113"/>
                    <a:pt x="89" y="146"/>
                    <a:pt x="101" y="170"/>
                  </a:cubicBezTo>
                  <a:cubicBezTo>
                    <a:pt x="66" y="146"/>
                    <a:pt x="33" y="119"/>
                    <a:pt x="29" y="65"/>
                  </a:cubicBezTo>
                  <a:close/>
                </a:path>
              </a:pathLst>
            </a:custGeom>
            <a:solidFill>
              <a:srgbClr val="9BBB59"/>
            </a:solidFill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íślíḋè-Oval 16"/>
            <p:cNvSpPr/>
            <p:nvPr/>
          </p:nvSpPr>
          <p:spPr>
            <a:xfrm>
              <a:off x="7723607" y="3044213"/>
              <a:ext cx="649813" cy="647642"/>
            </a:xfrm>
            <a:prstGeom prst="ellipse">
              <a:avLst/>
            </a:prstGeom>
            <a:solidFill>
              <a:srgbClr val="EEECE1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íślíḋè-Freeform: Shape 17"/>
            <p:cNvSpPr/>
            <p:nvPr/>
          </p:nvSpPr>
          <p:spPr bwMode="auto">
            <a:xfrm>
              <a:off x="7926545" y="3269658"/>
              <a:ext cx="243937" cy="196752"/>
            </a:xfrm>
            <a:custGeom>
              <a:avLst/>
              <a:gdLst>
                <a:gd name="T0" fmla="*/ 339 w 399"/>
                <a:gd name="T1" fmla="*/ 60 h 320"/>
                <a:gd name="T2" fmla="*/ 319 w 399"/>
                <a:gd name="T3" fmla="*/ 40 h 320"/>
                <a:gd name="T4" fmla="*/ 80 w 399"/>
                <a:gd name="T5" fmla="*/ 40 h 320"/>
                <a:gd name="T6" fmla="*/ 60 w 399"/>
                <a:gd name="T7" fmla="*/ 60 h 320"/>
                <a:gd name="T8" fmla="*/ 60 w 399"/>
                <a:gd name="T9" fmla="*/ 80 h 320"/>
                <a:gd name="T10" fmla="*/ 339 w 399"/>
                <a:gd name="T11" fmla="*/ 80 h 320"/>
                <a:gd name="T12" fmla="*/ 339 w 399"/>
                <a:gd name="T13" fmla="*/ 60 h 320"/>
                <a:gd name="T14" fmla="*/ 279 w 399"/>
                <a:gd name="T15" fmla="*/ 0 h 320"/>
                <a:gd name="T16" fmla="*/ 120 w 399"/>
                <a:gd name="T17" fmla="*/ 0 h 320"/>
                <a:gd name="T18" fmla="*/ 100 w 399"/>
                <a:gd name="T19" fmla="*/ 20 h 320"/>
                <a:gd name="T20" fmla="*/ 299 w 399"/>
                <a:gd name="T21" fmla="*/ 20 h 320"/>
                <a:gd name="T22" fmla="*/ 279 w 399"/>
                <a:gd name="T23" fmla="*/ 0 h 320"/>
                <a:gd name="T24" fmla="*/ 379 w 399"/>
                <a:gd name="T25" fmla="*/ 80 h 320"/>
                <a:gd name="T26" fmla="*/ 367 w 399"/>
                <a:gd name="T27" fmla="*/ 68 h 320"/>
                <a:gd name="T28" fmla="*/ 367 w 399"/>
                <a:gd name="T29" fmla="*/ 100 h 320"/>
                <a:gd name="T30" fmla="*/ 32 w 399"/>
                <a:gd name="T31" fmla="*/ 100 h 320"/>
                <a:gd name="T32" fmla="*/ 32 w 399"/>
                <a:gd name="T33" fmla="*/ 68 h 320"/>
                <a:gd name="T34" fmla="*/ 21 w 399"/>
                <a:gd name="T35" fmla="*/ 80 h 320"/>
                <a:gd name="T36" fmla="*/ 5 w 399"/>
                <a:gd name="T37" fmla="*/ 120 h 320"/>
                <a:gd name="T38" fmla="*/ 36 w 399"/>
                <a:gd name="T39" fmla="*/ 300 h 320"/>
                <a:gd name="T40" fmla="*/ 60 w 399"/>
                <a:gd name="T41" fmla="*/ 320 h 320"/>
                <a:gd name="T42" fmla="*/ 339 w 399"/>
                <a:gd name="T43" fmla="*/ 320 h 320"/>
                <a:gd name="T44" fmla="*/ 363 w 399"/>
                <a:gd name="T45" fmla="*/ 300 h 320"/>
                <a:gd name="T46" fmla="*/ 394 w 399"/>
                <a:gd name="T47" fmla="*/ 120 h 320"/>
                <a:gd name="T48" fmla="*/ 379 w 399"/>
                <a:gd name="T49" fmla="*/ 80 h 320"/>
                <a:gd name="T50" fmla="*/ 279 w 399"/>
                <a:gd name="T51" fmla="*/ 188 h 320"/>
                <a:gd name="T52" fmla="*/ 259 w 399"/>
                <a:gd name="T53" fmla="*/ 208 h 320"/>
                <a:gd name="T54" fmla="*/ 140 w 399"/>
                <a:gd name="T55" fmla="*/ 208 h 320"/>
                <a:gd name="T56" fmla="*/ 120 w 399"/>
                <a:gd name="T57" fmla="*/ 188 h 320"/>
                <a:gd name="T58" fmla="*/ 120 w 399"/>
                <a:gd name="T59" fmla="*/ 148 h 320"/>
                <a:gd name="T60" fmla="*/ 148 w 399"/>
                <a:gd name="T61" fmla="*/ 148 h 320"/>
                <a:gd name="T62" fmla="*/ 148 w 399"/>
                <a:gd name="T63" fmla="*/ 180 h 320"/>
                <a:gd name="T64" fmla="*/ 251 w 399"/>
                <a:gd name="T65" fmla="*/ 180 h 320"/>
                <a:gd name="T66" fmla="*/ 251 w 399"/>
                <a:gd name="T67" fmla="*/ 148 h 320"/>
                <a:gd name="T68" fmla="*/ 279 w 399"/>
                <a:gd name="T69" fmla="*/ 148 h 320"/>
                <a:gd name="T70" fmla="*/ 279 w 399"/>
                <a:gd name="T71" fmla="*/ 188 h 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99" h="320">
                  <a:moveTo>
                    <a:pt x="339" y="60"/>
                  </a:moveTo>
                  <a:cubicBezTo>
                    <a:pt x="339" y="40"/>
                    <a:pt x="319" y="40"/>
                    <a:pt x="319" y="40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80" y="40"/>
                    <a:pt x="60" y="40"/>
                    <a:pt x="60" y="60"/>
                  </a:cubicBezTo>
                  <a:cubicBezTo>
                    <a:pt x="60" y="80"/>
                    <a:pt x="60" y="80"/>
                    <a:pt x="60" y="80"/>
                  </a:cubicBezTo>
                  <a:cubicBezTo>
                    <a:pt x="339" y="80"/>
                    <a:pt x="339" y="80"/>
                    <a:pt x="339" y="80"/>
                  </a:cubicBezTo>
                  <a:lnTo>
                    <a:pt x="339" y="60"/>
                  </a:lnTo>
                  <a:close/>
                  <a:moveTo>
                    <a:pt x="279" y="0"/>
                  </a:moveTo>
                  <a:cubicBezTo>
                    <a:pt x="120" y="0"/>
                    <a:pt x="120" y="0"/>
                    <a:pt x="120" y="0"/>
                  </a:cubicBezTo>
                  <a:cubicBezTo>
                    <a:pt x="120" y="0"/>
                    <a:pt x="100" y="0"/>
                    <a:pt x="100" y="20"/>
                  </a:cubicBezTo>
                  <a:cubicBezTo>
                    <a:pt x="299" y="20"/>
                    <a:pt x="299" y="20"/>
                    <a:pt x="299" y="20"/>
                  </a:cubicBezTo>
                  <a:cubicBezTo>
                    <a:pt x="299" y="0"/>
                    <a:pt x="279" y="0"/>
                    <a:pt x="279" y="0"/>
                  </a:cubicBezTo>
                  <a:close/>
                  <a:moveTo>
                    <a:pt x="379" y="80"/>
                  </a:moveTo>
                  <a:cubicBezTo>
                    <a:pt x="367" y="68"/>
                    <a:pt x="367" y="68"/>
                    <a:pt x="367" y="68"/>
                  </a:cubicBezTo>
                  <a:cubicBezTo>
                    <a:pt x="367" y="100"/>
                    <a:pt x="367" y="100"/>
                    <a:pt x="367" y="100"/>
                  </a:cubicBezTo>
                  <a:cubicBezTo>
                    <a:pt x="32" y="100"/>
                    <a:pt x="32" y="100"/>
                    <a:pt x="32" y="100"/>
                  </a:cubicBezTo>
                  <a:cubicBezTo>
                    <a:pt x="32" y="68"/>
                    <a:pt x="32" y="68"/>
                    <a:pt x="32" y="68"/>
                  </a:cubicBezTo>
                  <a:cubicBezTo>
                    <a:pt x="32" y="68"/>
                    <a:pt x="32" y="68"/>
                    <a:pt x="21" y="80"/>
                  </a:cubicBezTo>
                  <a:cubicBezTo>
                    <a:pt x="9" y="92"/>
                    <a:pt x="0" y="95"/>
                    <a:pt x="5" y="120"/>
                  </a:cubicBezTo>
                  <a:cubicBezTo>
                    <a:pt x="10" y="145"/>
                    <a:pt x="33" y="281"/>
                    <a:pt x="36" y="300"/>
                  </a:cubicBezTo>
                  <a:cubicBezTo>
                    <a:pt x="40" y="320"/>
                    <a:pt x="60" y="320"/>
                    <a:pt x="60" y="320"/>
                  </a:cubicBezTo>
                  <a:cubicBezTo>
                    <a:pt x="339" y="320"/>
                    <a:pt x="339" y="320"/>
                    <a:pt x="339" y="320"/>
                  </a:cubicBezTo>
                  <a:cubicBezTo>
                    <a:pt x="339" y="320"/>
                    <a:pt x="360" y="320"/>
                    <a:pt x="363" y="300"/>
                  </a:cubicBezTo>
                  <a:cubicBezTo>
                    <a:pt x="367" y="281"/>
                    <a:pt x="390" y="145"/>
                    <a:pt x="394" y="120"/>
                  </a:cubicBezTo>
                  <a:cubicBezTo>
                    <a:pt x="399" y="95"/>
                    <a:pt x="391" y="92"/>
                    <a:pt x="379" y="80"/>
                  </a:cubicBezTo>
                  <a:close/>
                  <a:moveTo>
                    <a:pt x="279" y="188"/>
                  </a:moveTo>
                  <a:cubicBezTo>
                    <a:pt x="279" y="188"/>
                    <a:pt x="279" y="208"/>
                    <a:pt x="259" y="208"/>
                  </a:cubicBezTo>
                  <a:cubicBezTo>
                    <a:pt x="140" y="208"/>
                    <a:pt x="140" y="208"/>
                    <a:pt x="140" y="208"/>
                  </a:cubicBezTo>
                  <a:cubicBezTo>
                    <a:pt x="120" y="208"/>
                    <a:pt x="120" y="188"/>
                    <a:pt x="120" y="188"/>
                  </a:cubicBezTo>
                  <a:cubicBezTo>
                    <a:pt x="120" y="148"/>
                    <a:pt x="120" y="148"/>
                    <a:pt x="120" y="148"/>
                  </a:cubicBezTo>
                  <a:cubicBezTo>
                    <a:pt x="148" y="148"/>
                    <a:pt x="148" y="148"/>
                    <a:pt x="148" y="148"/>
                  </a:cubicBezTo>
                  <a:cubicBezTo>
                    <a:pt x="148" y="180"/>
                    <a:pt x="148" y="180"/>
                    <a:pt x="148" y="180"/>
                  </a:cubicBezTo>
                  <a:cubicBezTo>
                    <a:pt x="251" y="180"/>
                    <a:pt x="251" y="180"/>
                    <a:pt x="251" y="180"/>
                  </a:cubicBezTo>
                  <a:cubicBezTo>
                    <a:pt x="251" y="148"/>
                    <a:pt x="251" y="148"/>
                    <a:pt x="251" y="148"/>
                  </a:cubicBezTo>
                  <a:cubicBezTo>
                    <a:pt x="279" y="148"/>
                    <a:pt x="279" y="148"/>
                    <a:pt x="279" y="148"/>
                  </a:cubicBezTo>
                  <a:lnTo>
                    <a:pt x="279" y="188"/>
                  </a:lnTo>
                  <a:close/>
                </a:path>
              </a:pathLst>
            </a:custGeom>
            <a:solidFill>
              <a:srgbClr val="8064A2"/>
            </a:solidFill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" name="íślíḋè-Oval 18"/>
            <p:cNvSpPr/>
            <p:nvPr/>
          </p:nvSpPr>
          <p:spPr>
            <a:xfrm>
              <a:off x="9625899" y="3044213"/>
              <a:ext cx="649813" cy="647642"/>
            </a:xfrm>
            <a:prstGeom prst="ellipse">
              <a:avLst/>
            </a:prstGeom>
            <a:solidFill>
              <a:srgbClr val="EEECE1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íślíḋè-Freeform: Shape 19"/>
            <p:cNvSpPr/>
            <p:nvPr/>
          </p:nvSpPr>
          <p:spPr bwMode="auto">
            <a:xfrm>
              <a:off x="9828837" y="3271708"/>
              <a:ext cx="243937" cy="194702"/>
            </a:xfrm>
            <a:custGeom>
              <a:avLst/>
              <a:gdLst>
                <a:gd name="T0" fmla="*/ 200 w 400"/>
                <a:gd name="T1" fmla="*/ 120 h 320"/>
                <a:gd name="T2" fmla="*/ 140 w 400"/>
                <a:gd name="T3" fmla="*/ 180 h 320"/>
                <a:gd name="T4" fmla="*/ 200 w 400"/>
                <a:gd name="T5" fmla="*/ 240 h 320"/>
                <a:gd name="T6" fmla="*/ 260 w 400"/>
                <a:gd name="T7" fmla="*/ 180 h 320"/>
                <a:gd name="T8" fmla="*/ 200 w 400"/>
                <a:gd name="T9" fmla="*/ 120 h 320"/>
                <a:gd name="T10" fmla="*/ 360 w 400"/>
                <a:gd name="T11" fmla="*/ 60 h 320"/>
                <a:gd name="T12" fmla="*/ 312 w 400"/>
                <a:gd name="T13" fmla="*/ 60 h 320"/>
                <a:gd name="T14" fmla="*/ 296 w 400"/>
                <a:gd name="T15" fmla="*/ 49 h 320"/>
                <a:gd name="T16" fmla="*/ 284 w 400"/>
                <a:gd name="T17" fmla="*/ 11 h 320"/>
                <a:gd name="T18" fmla="*/ 268 w 400"/>
                <a:gd name="T19" fmla="*/ 0 h 320"/>
                <a:gd name="T20" fmla="*/ 132 w 400"/>
                <a:gd name="T21" fmla="*/ 0 h 320"/>
                <a:gd name="T22" fmla="*/ 116 w 400"/>
                <a:gd name="T23" fmla="*/ 11 h 320"/>
                <a:gd name="T24" fmla="*/ 104 w 400"/>
                <a:gd name="T25" fmla="*/ 49 h 320"/>
                <a:gd name="T26" fmla="*/ 88 w 400"/>
                <a:gd name="T27" fmla="*/ 60 h 320"/>
                <a:gd name="T28" fmla="*/ 40 w 400"/>
                <a:gd name="T29" fmla="*/ 60 h 320"/>
                <a:gd name="T30" fmla="*/ 0 w 400"/>
                <a:gd name="T31" fmla="*/ 100 h 320"/>
                <a:gd name="T32" fmla="*/ 0 w 400"/>
                <a:gd name="T33" fmla="*/ 280 h 320"/>
                <a:gd name="T34" fmla="*/ 40 w 400"/>
                <a:gd name="T35" fmla="*/ 320 h 320"/>
                <a:gd name="T36" fmla="*/ 360 w 400"/>
                <a:gd name="T37" fmla="*/ 320 h 320"/>
                <a:gd name="T38" fmla="*/ 400 w 400"/>
                <a:gd name="T39" fmla="*/ 280 h 320"/>
                <a:gd name="T40" fmla="*/ 400 w 400"/>
                <a:gd name="T41" fmla="*/ 100 h 320"/>
                <a:gd name="T42" fmla="*/ 360 w 400"/>
                <a:gd name="T43" fmla="*/ 60 h 320"/>
                <a:gd name="T44" fmla="*/ 200 w 400"/>
                <a:gd name="T45" fmla="*/ 280 h 320"/>
                <a:gd name="T46" fmla="*/ 100 w 400"/>
                <a:gd name="T47" fmla="*/ 180 h 320"/>
                <a:gd name="T48" fmla="*/ 200 w 400"/>
                <a:gd name="T49" fmla="*/ 80 h 320"/>
                <a:gd name="T50" fmla="*/ 300 w 400"/>
                <a:gd name="T51" fmla="*/ 180 h 320"/>
                <a:gd name="T52" fmla="*/ 200 w 400"/>
                <a:gd name="T53" fmla="*/ 280 h 320"/>
                <a:gd name="T54" fmla="*/ 346 w 400"/>
                <a:gd name="T55" fmla="*/ 128 h 320"/>
                <a:gd name="T56" fmla="*/ 332 w 400"/>
                <a:gd name="T57" fmla="*/ 114 h 320"/>
                <a:gd name="T58" fmla="*/ 346 w 400"/>
                <a:gd name="T59" fmla="*/ 100 h 320"/>
                <a:gd name="T60" fmla="*/ 360 w 400"/>
                <a:gd name="T61" fmla="*/ 114 h 320"/>
                <a:gd name="T62" fmla="*/ 346 w 400"/>
                <a:gd name="T63" fmla="*/ 128 h 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00" h="320">
                  <a:moveTo>
                    <a:pt x="200" y="120"/>
                  </a:moveTo>
                  <a:cubicBezTo>
                    <a:pt x="167" y="120"/>
                    <a:pt x="140" y="147"/>
                    <a:pt x="140" y="180"/>
                  </a:cubicBezTo>
                  <a:cubicBezTo>
                    <a:pt x="140" y="213"/>
                    <a:pt x="167" y="240"/>
                    <a:pt x="200" y="240"/>
                  </a:cubicBezTo>
                  <a:cubicBezTo>
                    <a:pt x="233" y="240"/>
                    <a:pt x="260" y="213"/>
                    <a:pt x="260" y="180"/>
                  </a:cubicBezTo>
                  <a:cubicBezTo>
                    <a:pt x="260" y="147"/>
                    <a:pt x="233" y="120"/>
                    <a:pt x="200" y="120"/>
                  </a:cubicBezTo>
                  <a:close/>
                  <a:moveTo>
                    <a:pt x="360" y="60"/>
                  </a:moveTo>
                  <a:cubicBezTo>
                    <a:pt x="312" y="60"/>
                    <a:pt x="312" y="60"/>
                    <a:pt x="312" y="60"/>
                  </a:cubicBezTo>
                  <a:cubicBezTo>
                    <a:pt x="305" y="60"/>
                    <a:pt x="298" y="55"/>
                    <a:pt x="296" y="49"/>
                  </a:cubicBezTo>
                  <a:cubicBezTo>
                    <a:pt x="284" y="11"/>
                    <a:pt x="284" y="11"/>
                    <a:pt x="284" y="11"/>
                  </a:cubicBezTo>
                  <a:cubicBezTo>
                    <a:pt x="281" y="5"/>
                    <a:pt x="274" y="0"/>
                    <a:pt x="268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125" y="0"/>
                    <a:pt x="118" y="5"/>
                    <a:pt x="116" y="11"/>
                  </a:cubicBezTo>
                  <a:cubicBezTo>
                    <a:pt x="104" y="49"/>
                    <a:pt x="104" y="49"/>
                    <a:pt x="104" y="49"/>
                  </a:cubicBezTo>
                  <a:cubicBezTo>
                    <a:pt x="101" y="55"/>
                    <a:pt x="94" y="60"/>
                    <a:pt x="88" y="60"/>
                  </a:cubicBezTo>
                  <a:cubicBezTo>
                    <a:pt x="40" y="60"/>
                    <a:pt x="40" y="60"/>
                    <a:pt x="40" y="60"/>
                  </a:cubicBezTo>
                  <a:cubicBezTo>
                    <a:pt x="18" y="60"/>
                    <a:pt x="0" y="78"/>
                    <a:pt x="0" y="100"/>
                  </a:cubicBezTo>
                  <a:cubicBezTo>
                    <a:pt x="0" y="280"/>
                    <a:pt x="0" y="280"/>
                    <a:pt x="0" y="280"/>
                  </a:cubicBezTo>
                  <a:cubicBezTo>
                    <a:pt x="0" y="302"/>
                    <a:pt x="18" y="320"/>
                    <a:pt x="40" y="320"/>
                  </a:cubicBezTo>
                  <a:cubicBezTo>
                    <a:pt x="360" y="320"/>
                    <a:pt x="360" y="320"/>
                    <a:pt x="360" y="320"/>
                  </a:cubicBezTo>
                  <a:cubicBezTo>
                    <a:pt x="382" y="320"/>
                    <a:pt x="400" y="302"/>
                    <a:pt x="400" y="280"/>
                  </a:cubicBezTo>
                  <a:cubicBezTo>
                    <a:pt x="400" y="100"/>
                    <a:pt x="400" y="100"/>
                    <a:pt x="400" y="100"/>
                  </a:cubicBezTo>
                  <a:cubicBezTo>
                    <a:pt x="400" y="78"/>
                    <a:pt x="382" y="60"/>
                    <a:pt x="360" y="60"/>
                  </a:cubicBezTo>
                  <a:close/>
                  <a:moveTo>
                    <a:pt x="200" y="280"/>
                  </a:moveTo>
                  <a:cubicBezTo>
                    <a:pt x="145" y="280"/>
                    <a:pt x="100" y="235"/>
                    <a:pt x="100" y="180"/>
                  </a:cubicBezTo>
                  <a:cubicBezTo>
                    <a:pt x="100" y="125"/>
                    <a:pt x="145" y="80"/>
                    <a:pt x="200" y="80"/>
                  </a:cubicBezTo>
                  <a:cubicBezTo>
                    <a:pt x="255" y="80"/>
                    <a:pt x="300" y="125"/>
                    <a:pt x="300" y="180"/>
                  </a:cubicBezTo>
                  <a:cubicBezTo>
                    <a:pt x="300" y="235"/>
                    <a:pt x="255" y="280"/>
                    <a:pt x="200" y="280"/>
                  </a:cubicBezTo>
                  <a:close/>
                  <a:moveTo>
                    <a:pt x="346" y="128"/>
                  </a:moveTo>
                  <a:cubicBezTo>
                    <a:pt x="338" y="128"/>
                    <a:pt x="332" y="122"/>
                    <a:pt x="332" y="114"/>
                  </a:cubicBezTo>
                  <a:cubicBezTo>
                    <a:pt x="332" y="106"/>
                    <a:pt x="338" y="100"/>
                    <a:pt x="346" y="100"/>
                  </a:cubicBezTo>
                  <a:cubicBezTo>
                    <a:pt x="354" y="100"/>
                    <a:pt x="360" y="106"/>
                    <a:pt x="360" y="114"/>
                  </a:cubicBezTo>
                  <a:cubicBezTo>
                    <a:pt x="360" y="122"/>
                    <a:pt x="354" y="128"/>
                    <a:pt x="346" y="128"/>
                  </a:cubicBezTo>
                  <a:close/>
                </a:path>
              </a:pathLst>
            </a:custGeom>
            <a:solidFill>
              <a:srgbClr val="4BACC6"/>
            </a:solidFill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6" name="Rectangle 5"/>
          <p:cNvSpPr>
            <a:spLocks noChangeArrowheads="1"/>
          </p:cNvSpPr>
          <p:nvPr/>
        </p:nvSpPr>
        <p:spPr bwMode="auto">
          <a:xfrm>
            <a:off x="2579688" y="3725863"/>
            <a:ext cx="1357313" cy="7699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② 关键字长度</a:t>
            </a:r>
          </a:p>
        </p:txBody>
      </p:sp>
      <p:sp>
        <p:nvSpPr>
          <p:cNvPr id="27" name="Rectangle 5"/>
          <p:cNvSpPr>
            <a:spLocks noChangeArrowheads="1"/>
          </p:cNvSpPr>
          <p:nvPr/>
        </p:nvSpPr>
        <p:spPr bwMode="auto">
          <a:xfrm>
            <a:off x="3963988" y="3725863"/>
            <a:ext cx="1601788" cy="7699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③ 哈希表大小</a:t>
            </a:r>
          </a:p>
        </p:txBody>
      </p:sp>
      <p:sp>
        <p:nvSpPr>
          <p:cNvPr id="28" name="Rectangle 5"/>
          <p:cNvSpPr>
            <a:spLocks noChangeArrowheads="1"/>
          </p:cNvSpPr>
          <p:nvPr/>
        </p:nvSpPr>
        <p:spPr bwMode="auto">
          <a:xfrm>
            <a:off x="5573713" y="3721100"/>
            <a:ext cx="1495425" cy="77470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④ 关键字分布情况</a:t>
            </a:r>
          </a:p>
        </p:txBody>
      </p:sp>
      <p:sp>
        <p:nvSpPr>
          <p:cNvPr id="29" name="Rectangle 5"/>
          <p:cNvSpPr>
            <a:spLocks noChangeArrowheads="1"/>
          </p:cNvSpPr>
          <p:nvPr/>
        </p:nvSpPr>
        <p:spPr bwMode="auto">
          <a:xfrm>
            <a:off x="7229475" y="3725863"/>
            <a:ext cx="1323975" cy="736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⑤ 查找频率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9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809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0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0997" grpId="0" build="p" advAuto="1000"/>
      <p:bldP spid="980999" grpId="0" animBg="1"/>
      <p:bldP spid="26" grpId="0" build="p" advAuto="1000"/>
      <p:bldP spid="27" grpId="0" build="p" advAuto="1000"/>
      <p:bldP spid="28" grpId="0" build="p" advAuto="1000"/>
      <p:bldP spid="29" grpId="0" build="p" advAuto="100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98" name="Comment 78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1177925" y="4324350"/>
            <a:ext cx="2600325" cy="5222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1.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  <a:hlinkClick r:id="" action="ppaction://hlinkshowjump?jump=nextslide"/>
              </a:rPr>
              <a:t>开放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  <a:hlinkClick r:id="" action="ppaction://hlinkshowjump?jump=nextslide"/>
              </a:rPr>
              <a:t>定址法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91139" name="Rectangle 80"/>
          <p:cNvSpPr>
            <a:spLocks noChangeArrowheads="1"/>
          </p:cNvSpPr>
          <p:nvPr/>
        </p:nvSpPr>
        <p:spPr bwMode="auto">
          <a:xfrm>
            <a:off x="874713" y="214313"/>
            <a:ext cx="4964113" cy="51593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处理冲突的方法</a:t>
            </a:r>
          </a:p>
        </p:txBody>
      </p:sp>
      <p:sp>
        <p:nvSpPr>
          <p:cNvPr id="747602" name="Comment 82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5256213" y="4324350"/>
            <a:ext cx="2016125" cy="5222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2.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  <a:hlinkClick r:id="rId3" action="ppaction://hlinksldjump"/>
              </a:rPr>
              <a:t>链地址法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hlink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129028" name="组合 5"/>
          <p:cNvGrpSpPr/>
          <p:nvPr/>
        </p:nvGrpSpPr>
        <p:grpSpPr>
          <a:xfrm>
            <a:off x="5430838" y="2133600"/>
            <a:ext cx="1666875" cy="1914525"/>
            <a:chOff x="9271092" y="2217316"/>
            <a:chExt cx="1901376" cy="2181534"/>
          </a:xfrm>
        </p:grpSpPr>
        <p:sp>
          <p:nvSpPr>
            <p:cNvPr id="7" name="íṡľíḍè-Rectangle 30"/>
            <p:cNvSpPr/>
            <p:nvPr/>
          </p:nvSpPr>
          <p:spPr>
            <a:xfrm>
              <a:off x="9271092" y="2217316"/>
              <a:ext cx="1901376" cy="1901155"/>
            </a:xfrm>
            <a:prstGeom prst="rect">
              <a:avLst/>
            </a:prstGeom>
            <a:solidFill>
              <a:srgbClr val="8064A2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8" name="íṡľíḍè-Freeform: Shape 31"/>
            <p:cNvSpPr/>
            <p:nvPr/>
          </p:nvSpPr>
          <p:spPr>
            <a:xfrm rot="10800000">
              <a:off x="9271092" y="4028026"/>
              <a:ext cx="1901376" cy="370824"/>
            </a:xfrm>
            <a:custGeom>
              <a:avLst/>
              <a:gdLst>
                <a:gd name="connsiteX0" fmla="*/ 1901372 w 1901372"/>
                <a:gd name="connsiteY0" fmla="*/ 370114 h 370114"/>
                <a:gd name="connsiteX1" fmla="*/ 0 w 1901372"/>
                <a:gd name="connsiteY1" fmla="*/ 370114 h 370114"/>
                <a:gd name="connsiteX2" fmla="*/ 0 w 1901372"/>
                <a:gd name="connsiteY2" fmla="*/ 239486 h 370114"/>
                <a:gd name="connsiteX3" fmla="*/ 639355 w 1901372"/>
                <a:gd name="connsiteY3" fmla="*/ 239486 h 370114"/>
                <a:gd name="connsiteX4" fmla="*/ 950686 w 1901372"/>
                <a:gd name="connsiteY4" fmla="*/ 0 h 370114"/>
                <a:gd name="connsiteX5" fmla="*/ 1262017 w 1901372"/>
                <a:gd name="connsiteY5" fmla="*/ 239486 h 370114"/>
                <a:gd name="connsiteX6" fmla="*/ 1901372 w 1901372"/>
                <a:gd name="connsiteY6" fmla="*/ 239486 h 370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01372" h="370114">
                  <a:moveTo>
                    <a:pt x="1901372" y="370114"/>
                  </a:moveTo>
                  <a:lnTo>
                    <a:pt x="0" y="370114"/>
                  </a:lnTo>
                  <a:lnTo>
                    <a:pt x="0" y="239486"/>
                  </a:lnTo>
                  <a:lnTo>
                    <a:pt x="639355" y="239486"/>
                  </a:lnTo>
                  <a:lnTo>
                    <a:pt x="950686" y="0"/>
                  </a:lnTo>
                  <a:lnTo>
                    <a:pt x="1262017" y="239486"/>
                  </a:lnTo>
                  <a:lnTo>
                    <a:pt x="1901372" y="239486"/>
                  </a:lnTo>
                  <a:close/>
                </a:path>
              </a:pathLst>
            </a:custGeom>
            <a:solidFill>
              <a:srgbClr val="8064A2">
                <a:lumMod val="7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0" name="îŝḷîḓé-Freeform: Shape 43"/>
            <p:cNvSpPr/>
            <p:nvPr/>
          </p:nvSpPr>
          <p:spPr bwMode="auto">
            <a:xfrm>
              <a:off x="9761828" y="2561007"/>
              <a:ext cx="838417" cy="837522"/>
            </a:xfrm>
            <a:custGeom>
              <a:avLst/>
              <a:gdLst>
                <a:gd name="T0" fmla="*/ 116 w 232"/>
                <a:gd name="T1" fmla="*/ 0 h 232"/>
                <a:gd name="T2" fmla="*/ 0 w 232"/>
                <a:gd name="T3" fmla="*/ 116 h 232"/>
                <a:gd name="T4" fmla="*/ 116 w 232"/>
                <a:gd name="T5" fmla="*/ 232 h 232"/>
                <a:gd name="T6" fmla="*/ 232 w 232"/>
                <a:gd name="T7" fmla="*/ 116 h 232"/>
                <a:gd name="T8" fmla="*/ 116 w 232"/>
                <a:gd name="T9" fmla="*/ 0 h 232"/>
                <a:gd name="T10" fmla="*/ 129 w 232"/>
                <a:gd name="T11" fmla="*/ 208 h 232"/>
                <a:gd name="T12" fmla="*/ 129 w 232"/>
                <a:gd name="T13" fmla="*/ 190 h 232"/>
                <a:gd name="T14" fmla="*/ 117 w 232"/>
                <a:gd name="T15" fmla="*/ 178 h 232"/>
                <a:gd name="T16" fmla="*/ 105 w 232"/>
                <a:gd name="T17" fmla="*/ 190 h 232"/>
                <a:gd name="T18" fmla="*/ 105 w 232"/>
                <a:gd name="T19" fmla="*/ 208 h 232"/>
                <a:gd name="T20" fmla="*/ 25 w 232"/>
                <a:gd name="T21" fmla="*/ 129 h 232"/>
                <a:gd name="T22" fmla="*/ 42 w 232"/>
                <a:gd name="T23" fmla="*/ 129 h 232"/>
                <a:gd name="T24" fmla="*/ 53 w 232"/>
                <a:gd name="T25" fmla="*/ 117 h 232"/>
                <a:gd name="T26" fmla="*/ 42 w 232"/>
                <a:gd name="T27" fmla="*/ 105 h 232"/>
                <a:gd name="T28" fmla="*/ 24 w 232"/>
                <a:gd name="T29" fmla="*/ 105 h 232"/>
                <a:gd name="T30" fmla="*/ 104 w 232"/>
                <a:gd name="T31" fmla="*/ 25 h 232"/>
                <a:gd name="T32" fmla="*/ 104 w 232"/>
                <a:gd name="T33" fmla="*/ 41 h 232"/>
                <a:gd name="T34" fmla="*/ 116 w 232"/>
                <a:gd name="T35" fmla="*/ 53 h 232"/>
                <a:gd name="T36" fmla="*/ 128 w 232"/>
                <a:gd name="T37" fmla="*/ 41 h 232"/>
                <a:gd name="T38" fmla="*/ 128 w 232"/>
                <a:gd name="T39" fmla="*/ 25 h 232"/>
                <a:gd name="T40" fmla="*/ 208 w 232"/>
                <a:gd name="T41" fmla="*/ 104 h 232"/>
                <a:gd name="T42" fmla="*/ 190 w 232"/>
                <a:gd name="T43" fmla="*/ 104 h 232"/>
                <a:gd name="T44" fmla="*/ 179 w 232"/>
                <a:gd name="T45" fmla="*/ 116 h 232"/>
                <a:gd name="T46" fmla="*/ 190 w 232"/>
                <a:gd name="T47" fmla="*/ 128 h 232"/>
                <a:gd name="T48" fmla="*/ 208 w 232"/>
                <a:gd name="T49" fmla="*/ 128 h 232"/>
                <a:gd name="T50" fmla="*/ 129 w 232"/>
                <a:gd name="T51" fmla="*/ 208 h 232"/>
                <a:gd name="T52" fmla="*/ 124 w 232"/>
                <a:gd name="T53" fmla="*/ 94 h 232"/>
                <a:gd name="T54" fmla="*/ 70 w 232"/>
                <a:gd name="T55" fmla="*/ 69 h 232"/>
                <a:gd name="T56" fmla="*/ 94 w 232"/>
                <a:gd name="T57" fmla="*/ 124 h 232"/>
                <a:gd name="T58" fmla="*/ 109 w 232"/>
                <a:gd name="T59" fmla="*/ 138 h 232"/>
                <a:gd name="T60" fmla="*/ 163 w 232"/>
                <a:gd name="T61" fmla="*/ 163 h 232"/>
                <a:gd name="T62" fmla="*/ 138 w 232"/>
                <a:gd name="T63" fmla="*/ 108 h 232"/>
                <a:gd name="T64" fmla="*/ 124 w 232"/>
                <a:gd name="T65" fmla="*/ 94 h 232"/>
                <a:gd name="T66" fmla="*/ 123 w 232"/>
                <a:gd name="T67" fmla="*/ 123 h 232"/>
                <a:gd name="T68" fmla="*/ 110 w 232"/>
                <a:gd name="T69" fmla="*/ 123 h 232"/>
                <a:gd name="T70" fmla="*/ 110 w 232"/>
                <a:gd name="T71" fmla="*/ 109 h 232"/>
                <a:gd name="T72" fmla="*/ 123 w 232"/>
                <a:gd name="T73" fmla="*/ 109 h 232"/>
                <a:gd name="T74" fmla="*/ 123 w 232"/>
                <a:gd name="T75" fmla="*/ 123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32" h="232">
                  <a:moveTo>
                    <a:pt x="116" y="0"/>
                  </a:moveTo>
                  <a:cubicBezTo>
                    <a:pt x="52" y="0"/>
                    <a:pt x="0" y="52"/>
                    <a:pt x="0" y="116"/>
                  </a:cubicBezTo>
                  <a:cubicBezTo>
                    <a:pt x="0" y="180"/>
                    <a:pt x="52" y="232"/>
                    <a:pt x="116" y="232"/>
                  </a:cubicBezTo>
                  <a:cubicBezTo>
                    <a:pt x="180" y="232"/>
                    <a:pt x="232" y="180"/>
                    <a:pt x="232" y="116"/>
                  </a:cubicBezTo>
                  <a:cubicBezTo>
                    <a:pt x="232" y="52"/>
                    <a:pt x="180" y="0"/>
                    <a:pt x="116" y="0"/>
                  </a:cubicBezTo>
                  <a:close/>
                  <a:moveTo>
                    <a:pt x="129" y="208"/>
                  </a:moveTo>
                  <a:cubicBezTo>
                    <a:pt x="129" y="190"/>
                    <a:pt x="129" y="190"/>
                    <a:pt x="129" y="190"/>
                  </a:cubicBezTo>
                  <a:cubicBezTo>
                    <a:pt x="129" y="183"/>
                    <a:pt x="123" y="178"/>
                    <a:pt x="117" y="178"/>
                  </a:cubicBezTo>
                  <a:cubicBezTo>
                    <a:pt x="110" y="178"/>
                    <a:pt x="105" y="183"/>
                    <a:pt x="105" y="190"/>
                  </a:cubicBezTo>
                  <a:cubicBezTo>
                    <a:pt x="105" y="208"/>
                    <a:pt x="105" y="208"/>
                    <a:pt x="105" y="208"/>
                  </a:cubicBezTo>
                  <a:cubicBezTo>
                    <a:pt x="63" y="203"/>
                    <a:pt x="30" y="170"/>
                    <a:pt x="25" y="129"/>
                  </a:cubicBezTo>
                  <a:cubicBezTo>
                    <a:pt x="42" y="129"/>
                    <a:pt x="42" y="129"/>
                    <a:pt x="42" y="129"/>
                  </a:cubicBezTo>
                  <a:cubicBezTo>
                    <a:pt x="48" y="129"/>
                    <a:pt x="53" y="123"/>
                    <a:pt x="53" y="117"/>
                  </a:cubicBezTo>
                  <a:cubicBezTo>
                    <a:pt x="53" y="110"/>
                    <a:pt x="48" y="105"/>
                    <a:pt x="42" y="105"/>
                  </a:cubicBezTo>
                  <a:cubicBezTo>
                    <a:pt x="24" y="105"/>
                    <a:pt x="24" y="105"/>
                    <a:pt x="24" y="105"/>
                  </a:cubicBezTo>
                  <a:cubicBezTo>
                    <a:pt x="29" y="63"/>
                    <a:pt x="63" y="30"/>
                    <a:pt x="104" y="25"/>
                  </a:cubicBezTo>
                  <a:cubicBezTo>
                    <a:pt x="104" y="41"/>
                    <a:pt x="104" y="41"/>
                    <a:pt x="104" y="41"/>
                  </a:cubicBezTo>
                  <a:cubicBezTo>
                    <a:pt x="104" y="47"/>
                    <a:pt x="109" y="53"/>
                    <a:pt x="116" y="53"/>
                  </a:cubicBezTo>
                  <a:cubicBezTo>
                    <a:pt x="122" y="53"/>
                    <a:pt x="128" y="47"/>
                    <a:pt x="128" y="41"/>
                  </a:cubicBezTo>
                  <a:cubicBezTo>
                    <a:pt x="128" y="25"/>
                    <a:pt x="128" y="25"/>
                    <a:pt x="128" y="25"/>
                  </a:cubicBezTo>
                  <a:cubicBezTo>
                    <a:pt x="169" y="30"/>
                    <a:pt x="202" y="63"/>
                    <a:pt x="208" y="104"/>
                  </a:cubicBezTo>
                  <a:cubicBezTo>
                    <a:pt x="190" y="104"/>
                    <a:pt x="190" y="104"/>
                    <a:pt x="190" y="104"/>
                  </a:cubicBezTo>
                  <a:cubicBezTo>
                    <a:pt x="184" y="104"/>
                    <a:pt x="179" y="109"/>
                    <a:pt x="179" y="116"/>
                  </a:cubicBezTo>
                  <a:cubicBezTo>
                    <a:pt x="179" y="122"/>
                    <a:pt x="184" y="128"/>
                    <a:pt x="190" y="128"/>
                  </a:cubicBezTo>
                  <a:cubicBezTo>
                    <a:pt x="208" y="128"/>
                    <a:pt x="208" y="128"/>
                    <a:pt x="208" y="128"/>
                  </a:cubicBezTo>
                  <a:cubicBezTo>
                    <a:pt x="203" y="169"/>
                    <a:pt x="170" y="202"/>
                    <a:pt x="129" y="208"/>
                  </a:cubicBezTo>
                  <a:close/>
                  <a:moveTo>
                    <a:pt x="124" y="94"/>
                  </a:moveTo>
                  <a:cubicBezTo>
                    <a:pt x="70" y="69"/>
                    <a:pt x="70" y="69"/>
                    <a:pt x="70" y="69"/>
                  </a:cubicBezTo>
                  <a:cubicBezTo>
                    <a:pt x="94" y="124"/>
                    <a:pt x="94" y="124"/>
                    <a:pt x="94" y="124"/>
                  </a:cubicBezTo>
                  <a:cubicBezTo>
                    <a:pt x="97" y="129"/>
                    <a:pt x="103" y="136"/>
                    <a:pt x="109" y="138"/>
                  </a:cubicBezTo>
                  <a:cubicBezTo>
                    <a:pt x="163" y="163"/>
                    <a:pt x="163" y="163"/>
                    <a:pt x="163" y="163"/>
                  </a:cubicBezTo>
                  <a:cubicBezTo>
                    <a:pt x="138" y="108"/>
                    <a:pt x="138" y="108"/>
                    <a:pt x="138" y="108"/>
                  </a:cubicBezTo>
                  <a:cubicBezTo>
                    <a:pt x="136" y="103"/>
                    <a:pt x="130" y="96"/>
                    <a:pt x="124" y="94"/>
                  </a:cubicBezTo>
                  <a:close/>
                  <a:moveTo>
                    <a:pt x="123" y="123"/>
                  </a:moveTo>
                  <a:cubicBezTo>
                    <a:pt x="119" y="126"/>
                    <a:pt x="113" y="126"/>
                    <a:pt x="110" y="123"/>
                  </a:cubicBezTo>
                  <a:cubicBezTo>
                    <a:pt x="106" y="119"/>
                    <a:pt x="106" y="113"/>
                    <a:pt x="110" y="109"/>
                  </a:cubicBezTo>
                  <a:cubicBezTo>
                    <a:pt x="113" y="106"/>
                    <a:pt x="119" y="106"/>
                    <a:pt x="123" y="109"/>
                  </a:cubicBezTo>
                  <a:cubicBezTo>
                    <a:pt x="127" y="113"/>
                    <a:pt x="127" y="119"/>
                    <a:pt x="123" y="123"/>
                  </a:cubicBez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129032" name="组合 10"/>
          <p:cNvGrpSpPr/>
          <p:nvPr/>
        </p:nvGrpSpPr>
        <p:grpSpPr>
          <a:xfrm>
            <a:off x="1647825" y="2133600"/>
            <a:ext cx="1668463" cy="1881188"/>
            <a:chOff x="3868751" y="2217316"/>
            <a:chExt cx="1901050" cy="2144115"/>
          </a:xfrm>
        </p:grpSpPr>
        <p:sp>
          <p:nvSpPr>
            <p:cNvPr id="12" name="íṡľíḍè-Rectangle 18"/>
            <p:cNvSpPr/>
            <p:nvPr/>
          </p:nvSpPr>
          <p:spPr>
            <a:xfrm>
              <a:off x="3868751" y="2217316"/>
              <a:ext cx="1901050" cy="1901658"/>
            </a:xfrm>
            <a:prstGeom prst="rect">
              <a:avLst/>
            </a:prstGeom>
            <a:solidFill>
              <a:srgbClr val="C0504D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3" name="íṡľíḍè-Freeform: Shape 19"/>
            <p:cNvSpPr/>
            <p:nvPr/>
          </p:nvSpPr>
          <p:spPr>
            <a:xfrm rot="10800000">
              <a:off x="3868751" y="3990508"/>
              <a:ext cx="1901050" cy="370923"/>
            </a:xfrm>
            <a:custGeom>
              <a:avLst/>
              <a:gdLst>
                <a:gd name="connsiteX0" fmla="*/ 1901372 w 1901372"/>
                <a:gd name="connsiteY0" fmla="*/ 370114 h 370114"/>
                <a:gd name="connsiteX1" fmla="*/ 0 w 1901372"/>
                <a:gd name="connsiteY1" fmla="*/ 370114 h 370114"/>
                <a:gd name="connsiteX2" fmla="*/ 0 w 1901372"/>
                <a:gd name="connsiteY2" fmla="*/ 239486 h 370114"/>
                <a:gd name="connsiteX3" fmla="*/ 639355 w 1901372"/>
                <a:gd name="connsiteY3" fmla="*/ 239486 h 370114"/>
                <a:gd name="connsiteX4" fmla="*/ 950686 w 1901372"/>
                <a:gd name="connsiteY4" fmla="*/ 0 h 370114"/>
                <a:gd name="connsiteX5" fmla="*/ 1262017 w 1901372"/>
                <a:gd name="connsiteY5" fmla="*/ 239486 h 370114"/>
                <a:gd name="connsiteX6" fmla="*/ 1901372 w 1901372"/>
                <a:gd name="connsiteY6" fmla="*/ 239486 h 370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01372" h="370114">
                  <a:moveTo>
                    <a:pt x="1901372" y="370114"/>
                  </a:moveTo>
                  <a:lnTo>
                    <a:pt x="0" y="370114"/>
                  </a:lnTo>
                  <a:lnTo>
                    <a:pt x="0" y="239486"/>
                  </a:lnTo>
                  <a:lnTo>
                    <a:pt x="639355" y="239486"/>
                  </a:lnTo>
                  <a:lnTo>
                    <a:pt x="950686" y="0"/>
                  </a:lnTo>
                  <a:lnTo>
                    <a:pt x="1262017" y="239486"/>
                  </a:lnTo>
                  <a:lnTo>
                    <a:pt x="1901372" y="239486"/>
                  </a:lnTo>
                  <a:close/>
                </a:path>
              </a:pathLst>
            </a:custGeom>
            <a:solidFill>
              <a:srgbClr val="C0504D">
                <a:lumMod val="7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5" name="îŝḷîḓé-Freeform: Shape 44"/>
            <p:cNvSpPr/>
            <p:nvPr/>
          </p:nvSpPr>
          <p:spPr bwMode="auto">
            <a:xfrm>
              <a:off x="4389686" y="2568336"/>
              <a:ext cx="850136" cy="850408"/>
            </a:xfrm>
            <a:custGeom>
              <a:avLst/>
              <a:gdLst>
                <a:gd name="T0" fmla="*/ 187 w 228"/>
                <a:gd name="T1" fmla="*/ 114 h 240"/>
                <a:gd name="T2" fmla="*/ 114 w 228"/>
                <a:gd name="T3" fmla="*/ 40 h 240"/>
                <a:gd name="T4" fmla="*/ 40 w 228"/>
                <a:gd name="T5" fmla="*/ 114 h 240"/>
                <a:gd name="T6" fmla="*/ 68 w 228"/>
                <a:gd name="T7" fmla="*/ 171 h 240"/>
                <a:gd name="T8" fmla="*/ 74 w 228"/>
                <a:gd name="T9" fmla="*/ 173 h 240"/>
                <a:gd name="T10" fmla="*/ 81 w 228"/>
                <a:gd name="T11" fmla="*/ 169 h 240"/>
                <a:gd name="T12" fmla="*/ 79 w 228"/>
                <a:gd name="T13" fmla="*/ 156 h 240"/>
                <a:gd name="T14" fmla="*/ 59 w 228"/>
                <a:gd name="T15" fmla="*/ 114 h 240"/>
                <a:gd name="T16" fmla="*/ 114 w 228"/>
                <a:gd name="T17" fmla="*/ 59 h 240"/>
                <a:gd name="T18" fmla="*/ 169 w 228"/>
                <a:gd name="T19" fmla="*/ 114 h 240"/>
                <a:gd name="T20" fmla="*/ 152 w 228"/>
                <a:gd name="T21" fmla="*/ 153 h 240"/>
                <a:gd name="T22" fmla="*/ 151 w 228"/>
                <a:gd name="T23" fmla="*/ 166 h 240"/>
                <a:gd name="T24" fmla="*/ 165 w 228"/>
                <a:gd name="T25" fmla="*/ 167 h 240"/>
                <a:gd name="T26" fmla="*/ 187 w 228"/>
                <a:gd name="T27" fmla="*/ 114 h 240"/>
                <a:gd name="T28" fmla="*/ 116 w 228"/>
                <a:gd name="T29" fmla="*/ 79 h 240"/>
                <a:gd name="T30" fmla="*/ 81 w 228"/>
                <a:gd name="T31" fmla="*/ 114 h 240"/>
                <a:gd name="T32" fmla="*/ 101 w 228"/>
                <a:gd name="T33" fmla="*/ 144 h 240"/>
                <a:gd name="T34" fmla="*/ 101 w 228"/>
                <a:gd name="T35" fmla="*/ 226 h 240"/>
                <a:gd name="T36" fmla="*/ 115 w 228"/>
                <a:gd name="T37" fmla="*/ 240 h 240"/>
                <a:gd name="T38" fmla="*/ 129 w 228"/>
                <a:gd name="T39" fmla="*/ 226 h 240"/>
                <a:gd name="T40" fmla="*/ 129 w 228"/>
                <a:gd name="T41" fmla="*/ 145 h 240"/>
                <a:gd name="T42" fmla="*/ 150 w 228"/>
                <a:gd name="T43" fmla="*/ 114 h 240"/>
                <a:gd name="T44" fmla="*/ 116 w 228"/>
                <a:gd name="T45" fmla="*/ 79 h 240"/>
                <a:gd name="T46" fmla="*/ 114 w 228"/>
                <a:gd name="T47" fmla="*/ 0 h 240"/>
                <a:gd name="T48" fmla="*/ 0 w 228"/>
                <a:gd name="T49" fmla="*/ 114 h 240"/>
                <a:gd name="T50" fmla="*/ 52 w 228"/>
                <a:gd name="T51" fmla="*/ 209 h 240"/>
                <a:gd name="T52" fmla="*/ 57 w 228"/>
                <a:gd name="T53" fmla="*/ 211 h 240"/>
                <a:gd name="T54" fmla="*/ 65 w 228"/>
                <a:gd name="T55" fmla="*/ 206 h 240"/>
                <a:gd name="T56" fmla="*/ 62 w 228"/>
                <a:gd name="T57" fmla="*/ 193 h 240"/>
                <a:gd name="T58" fmla="*/ 19 w 228"/>
                <a:gd name="T59" fmla="*/ 114 h 240"/>
                <a:gd name="T60" fmla="*/ 114 w 228"/>
                <a:gd name="T61" fmla="*/ 18 h 240"/>
                <a:gd name="T62" fmla="*/ 209 w 228"/>
                <a:gd name="T63" fmla="*/ 114 h 240"/>
                <a:gd name="T64" fmla="*/ 168 w 228"/>
                <a:gd name="T65" fmla="*/ 192 h 240"/>
                <a:gd name="T66" fmla="*/ 165 w 228"/>
                <a:gd name="T67" fmla="*/ 205 h 240"/>
                <a:gd name="T68" fmla="*/ 178 w 228"/>
                <a:gd name="T69" fmla="*/ 208 h 240"/>
                <a:gd name="T70" fmla="*/ 228 w 228"/>
                <a:gd name="T71" fmla="*/ 114 h 240"/>
                <a:gd name="T72" fmla="*/ 114 w 228"/>
                <a:gd name="T73" fmla="*/ 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28" h="240">
                  <a:moveTo>
                    <a:pt x="187" y="114"/>
                  </a:moveTo>
                  <a:cubicBezTo>
                    <a:pt x="187" y="73"/>
                    <a:pt x="154" y="40"/>
                    <a:pt x="114" y="40"/>
                  </a:cubicBezTo>
                  <a:cubicBezTo>
                    <a:pt x="73" y="40"/>
                    <a:pt x="40" y="73"/>
                    <a:pt x="40" y="114"/>
                  </a:cubicBezTo>
                  <a:cubicBezTo>
                    <a:pt x="40" y="136"/>
                    <a:pt x="50" y="157"/>
                    <a:pt x="68" y="171"/>
                  </a:cubicBezTo>
                  <a:cubicBezTo>
                    <a:pt x="69" y="172"/>
                    <a:pt x="71" y="173"/>
                    <a:pt x="74" y="173"/>
                  </a:cubicBezTo>
                  <a:cubicBezTo>
                    <a:pt x="76" y="173"/>
                    <a:pt x="79" y="171"/>
                    <a:pt x="81" y="169"/>
                  </a:cubicBezTo>
                  <a:cubicBezTo>
                    <a:pt x="84" y="165"/>
                    <a:pt x="83" y="159"/>
                    <a:pt x="79" y="156"/>
                  </a:cubicBezTo>
                  <a:cubicBezTo>
                    <a:pt x="67" y="146"/>
                    <a:pt x="59" y="130"/>
                    <a:pt x="59" y="114"/>
                  </a:cubicBezTo>
                  <a:cubicBezTo>
                    <a:pt x="59" y="83"/>
                    <a:pt x="84" y="59"/>
                    <a:pt x="114" y="59"/>
                  </a:cubicBezTo>
                  <a:cubicBezTo>
                    <a:pt x="144" y="59"/>
                    <a:pt x="169" y="83"/>
                    <a:pt x="169" y="114"/>
                  </a:cubicBezTo>
                  <a:cubicBezTo>
                    <a:pt x="169" y="129"/>
                    <a:pt x="163" y="143"/>
                    <a:pt x="152" y="153"/>
                  </a:cubicBezTo>
                  <a:cubicBezTo>
                    <a:pt x="148" y="157"/>
                    <a:pt x="148" y="163"/>
                    <a:pt x="151" y="166"/>
                  </a:cubicBezTo>
                  <a:cubicBezTo>
                    <a:pt x="155" y="170"/>
                    <a:pt x="161" y="170"/>
                    <a:pt x="165" y="167"/>
                  </a:cubicBezTo>
                  <a:cubicBezTo>
                    <a:pt x="179" y="153"/>
                    <a:pt x="187" y="134"/>
                    <a:pt x="187" y="114"/>
                  </a:cubicBezTo>
                  <a:close/>
                  <a:moveTo>
                    <a:pt x="116" y="79"/>
                  </a:moveTo>
                  <a:cubicBezTo>
                    <a:pt x="97" y="79"/>
                    <a:pt x="81" y="95"/>
                    <a:pt x="81" y="114"/>
                  </a:cubicBezTo>
                  <a:cubicBezTo>
                    <a:pt x="81" y="127"/>
                    <a:pt x="89" y="139"/>
                    <a:pt x="101" y="144"/>
                  </a:cubicBezTo>
                  <a:cubicBezTo>
                    <a:pt x="101" y="226"/>
                    <a:pt x="101" y="226"/>
                    <a:pt x="101" y="226"/>
                  </a:cubicBezTo>
                  <a:cubicBezTo>
                    <a:pt x="101" y="233"/>
                    <a:pt x="107" y="240"/>
                    <a:pt x="115" y="240"/>
                  </a:cubicBezTo>
                  <a:cubicBezTo>
                    <a:pt x="123" y="240"/>
                    <a:pt x="129" y="233"/>
                    <a:pt x="129" y="226"/>
                  </a:cubicBezTo>
                  <a:cubicBezTo>
                    <a:pt x="129" y="145"/>
                    <a:pt x="129" y="145"/>
                    <a:pt x="129" y="145"/>
                  </a:cubicBezTo>
                  <a:cubicBezTo>
                    <a:pt x="141" y="140"/>
                    <a:pt x="150" y="128"/>
                    <a:pt x="150" y="114"/>
                  </a:cubicBezTo>
                  <a:cubicBezTo>
                    <a:pt x="150" y="95"/>
                    <a:pt x="134" y="79"/>
                    <a:pt x="116" y="79"/>
                  </a:cubicBezTo>
                  <a:close/>
                  <a:moveTo>
                    <a:pt x="114" y="0"/>
                  </a:moveTo>
                  <a:cubicBezTo>
                    <a:pt x="51" y="0"/>
                    <a:pt x="0" y="51"/>
                    <a:pt x="0" y="114"/>
                  </a:cubicBezTo>
                  <a:cubicBezTo>
                    <a:pt x="0" y="152"/>
                    <a:pt x="19" y="188"/>
                    <a:pt x="52" y="209"/>
                  </a:cubicBezTo>
                  <a:cubicBezTo>
                    <a:pt x="54" y="210"/>
                    <a:pt x="55" y="211"/>
                    <a:pt x="57" y="211"/>
                  </a:cubicBezTo>
                  <a:cubicBezTo>
                    <a:pt x="60" y="211"/>
                    <a:pt x="63" y="209"/>
                    <a:pt x="65" y="206"/>
                  </a:cubicBezTo>
                  <a:cubicBezTo>
                    <a:pt x="68" y="202"/>
                    <a:pt x="67" y="196"/>
                    <a:pt x="62" y="193"/>
                  </a:cubicBezTo>
                  <a:cubicBezTo>
                    <a:pt x="35" y="176"/>
                    <a:pt x="19" y="146"/>
                    <a:pt x="19" y="114"/>
                  </a:cubicBezTo>
                  <a:cubicBezTo>
                    <a:pt x="19" y="61"/>
                    <a:pt x="61" y="18"/>
                    <a:pt x="114" y="18"/>
                  </a:cubicBezTo>
                  <a:cubicBezTo>
                    <a:pt x="166" y="18"/>
                    <a:pt x="209" y="61"/>
                    <a:pt x="209" y="114"/>
                  </a:cubicBezTo>
                  <a:cubicBezTo>
                    <a:pt x="209" y="145"/>
                    <a:pt x="194" y="174"/>
                    <a:pt x="168" y="192"/>
                  </a:cubicBezTo>
                  <a:cubicBezTo>
                    <a:pt x="163" y="195"/>
                    <a:pt x="162" y="201"/>
                    <a:pt x="165" y="205"/>
                  </a:cubicBezTo>
                  <a:cubicBezTo>
                    <a:pt x="168" y="209"/>
                    <a:pt x="174" y="211"/>
                    <a:pt x="178" y="208"/>
                  </a:cubicBezTo>
                  <a:cubicBezTo>
                    <a:pt x="209" y="186"/>
                    <a:pt x="228" y="151"/>
                    <a:pt x="228" y="114"/>
                  </a:cubicBezTo>
                  <a:cubicBezTo>
                    <a:pt x="228" y="51"/>
                    <a:pt x="177" y="0"/>
                    <a:pt x="114" y="0"/>
                  </a:cubicBez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322"/>
          <p:cNvSpPr>
            <a:spLocks noChangeArrowheads="1"/>
          </p:cNvSpPr>
          <p:nvPr/>
        </p:nvSpPr>
        <p:spPr bwMode="auto">
          <a:xfrm>
            <a:off x="363538" y="987425"/>
            <a:ext cx="8208963" cy="17351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1524000" indent="-15240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9pPr>
          </a:lstStyle>
          <a:p>
            <a:pPr marL="1524000" marR="0" lvl="0" indent="-152400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基本思想：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有冲突时就去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寻找下一个空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的哈希地址，只要哈希表足够大，空的哈希地址总能找到，并将数据元素存入。 </a:t>
            </a:r>
          </a:p>
        </p:txBody>
      </p:sp>
      <p:sp>
        <p:nvSpPr>
          <p:cNvPr id="92163" name="Rectangle 323"/>
          <p:cNvSpPr>
            <a:spLocks noChangeArrowheads="1"/>
          </p:cNvSpPr>
          <p:nvPr/>
        </p:nvSpPr>
        <p:spPr bwMode="auto">
          <a:xfrm>
            <a:off x="844550" y="207963"/>
            <a:ext cx="5180013" cy="51593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1.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开放定址法（开地址法）</a:t>
            </a:r>
          </a:p>
        </p:txBody>
      </p:sp>
      <p:grpSp>
        <p:nvGrpSpPr>
          <p:cNvPr id="9" name="组合 8"/>
          <p:cNvGrpSpPr/>
          <p:nvPr/>
        </p:nvGrpSpPr>
        <p:grpSpPr>
          <a:xfrm>
            <a:off x="415925" y="3141663"/>
            <a:ext cx="2552700" cy="3217862"/>
            <a:chOff x="1543050" y="2019300"/>
            <a:chExt cx="2552700" cy="3219803"/>
          </a:xfrm>
        </p:grpSpPr>
        <p:sp>
          <p:nvSpPr>
            <p:cNvPr id="10" name="îṣļîḑé-Rounded Rectangle 6"/>
            <p:cNvSpPr/>
            <p:nvPr/>
          </p:nvSpPr>
          <p:spPr>
            <a:xfrm>
              <a:off x="1543050" y="2019300"/>
              <a:ext cx="2552700" cy="3219803"/>
            </a:xfrm>
            <a:prstGeom prst="roundRect">
              <a:avLst>
                <a:gd name="adj" fmla="val 12936"/>
              </a:avLst>
            </a:prstGeom>
            <a:solidFill>
              <a:sysClr val="window" lastClr="FFFFFF">
                <a:lumMod val="95000"/>
              </a:sysClr>
            </a:solidFill>
            <a:ln w="25400" cap="flat" cmpd="sng" algn="ctr">
              <a:noFill/>
              <a:prstDash val="solid"/>
            </a:ln>
            <a:effectLst/>
          </p:spPr>
          <p:txBody>
            <a:bodyPr tIns="2628000" anchorCtr="1">
              <a:norm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" name="îṣļîḑé-Oval 7"/>
            <p:cNvSpPr/>
            <p:nvPr/>
          </p:nvSpPr>
          <p:spPr>
            <a:xfrm>
              <a:off x="1952625" y="2386233"/>
              <a:ext cx="1733550" cy="1734596"/>
            </a:xfrm>
            <a:prstGeom prst="ellipse">
              <a:avLst/>
            </a:prstGeom>
            <a:solidFill>
              <a:srgbClr val="4F81B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2" name="îṣļîḑé-Oval 8"/>
            <p:cNvSpPr/>
            <p:nvPr/>
          </p:nvSpPr>
          <p:spPr>
            <a:xfrm>
              <a:off x="3192463" y="2287749"/>
              <a:ext cx="493712" cy="494011"/>
            </a:xfrm>
            <a:prstGeom prst="ellipse">
              <a:avLst/>
            </a:prstGeom>
            <a:solidFill>
              <a:srgbClr val="4F81BD">
                <a:lumMod val="7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A</a:t>
              </a: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3" name="îṣļîḑé-Rectangle 11"/>
            <p:cNvSpPr/>
            <p:nvPr/>
          </p:nvSpPr>
          <p:spPr>
            <a:xfrm>
              <a:off x="1681163" y="4232021"/>
              <a:ext cx="2276475" cy="862533"/>
            </a:xfrm>
            <a:prstGeom prst="rect">
              <a:avLst/>
            </a:prstGeom>
          </p:spPr>
          <p:txBody>
            <a:bodyPr wrap="none" lIns="0" tIns="0" rIns="0" bIns="0" anchor="ctr">
              <a:norm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3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线性探测法</a:t>
              </a:r>
            </a:p>
          </p:txBody>
        </p:sp>
        <p:sp>
          <p:nvSpPr>
            <p:cNvPr id="14" name="Freeform 23"/>
            <p:cNvSpPr>
              <a:spLocks noEditPoints="1"/>
            </p:cNvSpPr>
            <p:nvPr/>
          </p:nvSpPr>
          <p:spPr bwMode="auto">
            <a:xfrm>
              <a:off x="2398713" y="2926309"/>
              <a:ext cx="793750" cy="727514"/>
            </a:xfrm>
            <a:custGeom>
              <a:avLst/>
              <a:gdLst>
                <a:gd name="T0" fmla="*/ 239 w 267"/>
                <a:gd name="T1" fmla="*/ 44 h 245"/>
                <a:gd name="T2" fmla="*/ 200 w 267"/>
                <a:gd name="T3" fmla="*/ 44 h 245"/>
                <a:gd name="T4" fmla="*/ 200 w 267"/>
                <a:gd name="T5" fmla="*/ 39 h 245"/>
                <a:gd name="T6" fmla="*/ 161 w 267"/>
                <a:gd name="T7" fmla="*/ 0 h 245"/>
                <a:gd name="T8" fmla="*/ 106 w 267"/>
                <a:gd name="T9" fmla="*/ 0 h 245"/>
                <a:gd name="T10" fmla="*/ 67 w 267"/>
                <a:gd name="T11" fmla="*/ 39 h 245"/>
                <a:gd name="T12" fmla="*/ 67 w 267"/>
                <a:gd name="T13" fmla="*/ 44 h 245"/>
                <a:gd name="T14" fmla="*/ 28 w 267"/>
                <a:gd name="T15" fmla="*/ 44 h 245"/>
                <a:gd name="T16" fmla="*/ 0 w 267"/>
                <a:gd name="T17" fmla="*/ 72 h 245"/>
                <a:gd name="T18" fmla="*/ 0 w 267"/>
                <a:gd name="T19" fmla="*/ 207 h 245"/>
                <a:gd name="T20" fmla="*/ 25 w 267"/>
                <a:gd name="T21" fmla="*/ 235 h 245"/>
                <a:gd name="T22" fmla="*/ 25 w 267"/>
                <a:gd name="T23" fmla="*/ 238 h 245"/>
                <a:gd name="T24" fmla="*/ 33 w 267"/>
                <a:gd name="T25" fmla="*/ 245 h 245"/>
                <a:gd name="T26" fmla="*/ 46 w 267"/>
                <a:gd name="T27" fmla="*/ 245 h 245"/>
                <a:gd name="T28" fmla="*/ 54 w 267"/>
                <a:gd name="T29" fmla="*/ 238 h 245"/>
                <a:gd name="T30" fmla="*/ 53 w 267"/>
                <a:gd name="T31" fmla="*/ 235 h 245"/>
                <a:gd name="T32" fmla="*/ 214 w 267"/>
                <a:gd name="T33" fmla="*/ 235 h 245"/>
                <a:gd name="T34" fmla="*/ 214 w 267"/>
                <a:gd name="T35" fmla="*/ 238 h 245"/>
                <a:gd name="T36" fmla="*/ 221 w 267"/>
                <a:gd name="T37" fmla="*/ 245 h 245"/>
                <a:gd name="T38" fmla="*/ 235 w 267"/>
                <a:gd name="T39" fmla="*/ 245 h 245"/>
                <a:gd name="T40" fmla="*/ 243 w 267"/>
                <a:gd name="T41" fmla="*/ 238 h 245"/>
                <a:gd name="T42" fmla="*/ 242 w 267"/>
                <a:gd name="T43" fmla="*/ 235 h 245"/>
                <a:gd name="T44" fmla="*/ 267 w 267"/>
                <a:gd name="T45" fmla="*/ 207 h 245"/>
                <a:gd name="T46" fmla="*/ 267 w 267"/>
                <a:gd name="T47" fmla="*/ 72 h 245"/>
                <a:gd name="T48" fmla="*/ 239 w 267"/>
                <a:gd name="T49" fmla="*/ 44 h 245"/>
                <a:gd name="T50" fmla="*/ 216 w 267"/>
                <a:gd name="T51" fmla="*/ 53 h 245"/>
                <a:gd name="T52" fmla="*/ 229 w 267"/>
                <a:gd name="T53" fmla="*/ 53 h 245"/>
                <a:gd name="T54" fmla="*/ 229 w 267"/>
                <a:gd name="T55" fmla="*/ 222 h 245"/>
                <a:gd name="T56" fmla="*/ 216 w 267"/>
                <a:gd name="T57" fmla="*/ 222 h 245"/>
                <a:gd name="T58" fmla="*/ 216 w 267"/>
                <a:gd name="T59" fmla="*/ 53 h 245"/>
                <a:gd name="T60" fmla="*/ 89 w 267"/>
                <a:gd name="T61" fmla="*/ 39 h 245"/>
                <a:gd name="T62" fmla="*/ 106 w 267"/>
                <a:gd name="T63" fmla="*/ 21 h 245"/>
                <a:gd name="T64" fmla="*/ 161 w 267"/>
                <a:gd name="T65" fmla="*/ 21 h 245"/>
                <a:gd name="T66" fmla="*/ 179 w 267"/>
                <a:gd name="T67" fmla="*/ 39 h 245"/>
                <a:gd name="T68" fmla="*/ 179 w 267"/>
                <a:gd name="T69" fmla="*/ 44 h 245"/>
                <a:gd name="T70" fmla="*/ 89 w 267"/>
                <a:gd name="T71" fmla="*/ 44 h 245"/>
                <a:gd name="T72" fmla="*/ 89 w 267"/>
                <a:gd name="T73" fmla="*/ 39 h 245"/>
                <a:gd name="T74" fmla="*/ 38 w 267"/>
                <a:gd name="T75" fmla="*/ 53 h 245"/>
                <a:gd name="T76" fmla="*/ 52 w 267"/>
                <a:gd name="T77" fmla="*/ 53 h 245"/>
                <a:gd name="T78" fmla="*/ 52 w 267"/>
                <a:gd name="T79" fmla="*/ 222 h 245"/>
                <a:gd name="T80" fmla="*/ 38 w 267"/>
                <a:gd name="T81" fmla="*/ 222 h 245"/>
                <a:gd name="T82" fmla="*/ 38 w 267"/>
                <a:gd name="T83" fmla="*/ 53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67" h="245">
                  <a:moveTo>
                    <a:pt x="239" y="44"/>
                  </a:moveTo>
                  <a:cubicBezTo>
                    <a:pt x="200" y="44"/>
                    <a:pt x="200" y="44"/>
                    <a:pt x="200" y="44"/>
                  </a:cubicBezTo>
                  <a:cubicBezTo>
                    <a:pt x="200" y="39"/>
                    <a:pt x="200" y="39"/>
                    <a:pt x="200" y="39"/>
                  </a:cubicBezTo>
                  <a:cubicBezTo>
                    <a:pt x="200" y="17"/>
                    <a:pt x="182" y="0"/>
                    <a:pt x="161" y="0"/>
                  </a:cubicBezTo>
                  <a:cubicBezTo>
                    <a:pt x="106" y="0"/>
                    <a:pt x="106" y="0"/>
                    <a:pt x="106" y="0"/>
                  </a:cubicBezTo>
                  <a:cubicBezTo>
                    <a:pt x="85" y="0"/>
                    <a:pt x="67" y="17"/>
                    <a:pt x="67" y="39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13" y="44"/>
                    <a:pt x="0" y="56"/>
                    <a:pt x="0" y="72"/>
                  </a:cubicBezTo>
                  <a:cubicBezTo>
                    <a:pt x="0" y="207"/>
                    <a:pt x="0" y="207"/>
                    <a:pt x="0" y="207"/>
                  </a:cubicBezTo>
                  <a:cubicBezTo>
                    <a:pt x="0" y="222"/>
                    <a:pt x="11" y="234"/>
                    <a:pt x="25" y="235"/>
                  </a:cubicBezTo>
                  <a:cubicBezTo>
                    <a:pt x="25" y="236"/>
                    <a:pt x="25" y="237"/>
                    <a:pt x="25" y="238"/>
                  </a:cubicBezTo>
                  <a:cubicBezTo>
                    <a:pt x="25" y="242"/>
                    <a:pt x="28" y="245"/>
                    <a:pt x="33" y="245"/>
                  </a:cubicBezTo>
                  <a:cubicBezTo>
                    <a:pt x="46" y="245"/>
                    <a:pt x="46" y="245"/>
                    <a:pt x="46" y="245"/>
                  </a:cubicBezTo>
                  <a:cubicBezTo>
                    <a:pt x="50" y="245"/>
                    <a:pt x="54" y="242"/>
                    <a:pt x="54" y="238"/>
                  </a:cubicBezTo>
                  <a:cubicBezTo>
                    <a:pt x="54" y="237"/>
                    <a:pt x="54" y="236"/>
                    <a:pt x="53" y="235"/>
                  </a:cubicBezTo>
                  <a:cubicBezTo>
                    <a:pt x="214" y="235"/>
                    <a:pt x="214" y="235"/>
                    <a:pt x="214" y="235"/>
                  </a:cubicBezTo>
                  <a:cubicBezTo>
                    <a:pt x="214" y="236"/>
                    <a:pt x="214" y="237"/>
                    <a:pt x="214" y="238"/>
                  </a:cubicBezTo>
                  <a:cubicBezTo>
                    <a:pt x="214" y="242"/>
                    <a:pt x="217" y="245"/>
                    <a:pt x="221" y="245"/>
                  </a:cubicBezTo>
                  <a:cubicBezTo>
                    <a:pt x="235" y="245"/>
                    <a:pt x="235" y="245"/>
                    <a:pt x="235" y="245"/>
                  </a:cubicBezTo>
                  <a:cubicBezTo>
                    <a:pt x="239" y="245"/>
                    <a:pt x="243" y="242"/>
                    <a:pt x="243" y="238"/>
                  </a:cubicBezTo>
                  <a:cubicBezTo>
                    <a:pt x="243" y="237"/>
                    <a:pt x="242" y="236"/>
                    <a:pt x="242" y="235"/>
                  </a:cubicBezTo>
                  <a:cubicBezTo>
                    <a:pt x="256" y="234"/>
                    <a:pt x="267" y="222"/>
                    <a:pt x="267" y="207"/>
                  </a:cubicBezTo>
                  <a:cubicBezTo>
                    <a:pt x="267" y="72"/>
                    <a:pt x="267" y="72"/>
                    <a:pt x="267" y="72"/>
                  </a:cubicBezTo>
                  <a:cubicBezTo>
                    <a:pt x="267" y="56"/>
                    <a:pt x="255" y="44"/>
                    <a:pt x="239" y="44"/>
                  </a:cubicBezTo>
                  <a:close/>
                  <a:moveTo>
                    <a:pt x="216" y="53"/>
                  </a:moveTo>
                  <a:cubicBezTo>
                    <a:pt x="229" y="53"/>
                    <a:pt x="229" y="53"/>
                    <a:pt x="229" y="53"/>
                  </a:cubicBezTo>
                  <a:cubicBezTo>
                    <a:pt x="229" y="222"/>
                    <a:pt x="229" y="222"/>
                    <a:pt x="229" y="222"/>
                  </a:cubicBezTo>
                  <a:cubicBezTo>
                    <a:pt x="216" y="222"/>
                    <a:pt x="216" y="222"/>
                    <a:pt x="216" y="222"/>
                  </a:cubicBezTo>
                  <a:lnTo>
                    <a:pt x="216" y="53"/>
                  </a:lnTo>
                  <a:close/>
                  <a:moveTo>
                    <a:pt x="89" y="39"/>
                  </a:moveTo>
                  <a:cubicBezTo>
                    <a:pt x="89" y="29"/>
                    <a:pt x="97" y="21"/>
                    <a:pt x="106" y="21"/>
                  </a:cubicBezTo>
                  <a:cubicBezTo>
                    <a:pt x="161" y="21"/>
                    <a:pt x="161" y="21"/>
                    <a:pt x="161" y="21"/>
                  </a:cubicBezTo>
                  <a:cubicBezTo>
                    <a:pt x="171" y="21"/>
                    <a:pt x="179" y="29"/>
                    <a:pt x="179" y="39"/>
                  </a:cubicBezTo>
                  <a:cubicBezTo>
                    <a:pt x="179" y="44"/>
                    <a:pt x="179" y="44"/>
                    <a:pt x="179" y="44"/>
                  </a:cubicBezTo>
                  <a:cubicBezTo>
                    <a:pt x="89" y="44"/>
                    <a:pt x="89" y="44"/>
                    <a:pt x="89" y="44"/>
                  </a:cubicBezTo>
                  <a:lnTo>
                    <a:pt x="89" y="39"/>
                  </a:lnTo>
                  <a:close/>
                  <a:moveTo>
                    <a:pt x="38" y="53"/>
                  </a:moveTo>
                  <a:cubicBezTo>
                    <a:pt x="52" y="53"/>
                    <a:pt x="52" y="53"/>
                    <a:pt x="52" y="53"/>
                  </a:cubicBezTo>
                  <a:cubicBezTo>
                    <a:pt x="52" y="222"/>
                    <a:pt x="52" y="222"/>
                    <a:pt x="52" y="222"/>
                  </a:cubicBezTo>
                  <a:cubicBezTo>
                    <a:pt x="38" y="222"/>
                    <a:pt x="38" y="222"/>
                    <a:pt x="38" y="222"/>
                  </a:cubicBezTo>
                  <a:lnTo>
                    <a:pt x="38" y="53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6176963" y="3141663"/>
            <a:ext cx="2552700" cy="3217862"/>
            <a:chOff x="8096250" y="2019300"/>
            <a:chExt cx="2552700" cy="3219803"/>
          </a:xfrm>
        </p:grpSpPr>
        <p:sp>
          <p:nvSpPr>
            <p:cNvPr id="16" name="îṣļîḑé-Rounded Rectangle 2"/>
            <p:cNvSpPr/>
            <p:nvPr/>
          </p:nvSpPr>
          <p:spPr>
            <a:xfrm>
              <a:off x="8096250" y="2019300"/>
              <a:ext cx="2552700" cy="3219803"/>
            </a:xfrm>
            <a:prstGeom prst="roundRect">
              <a:avLst>
                <a:gd name="adj" fmla="val 12936"/>
              </a:avLst>
            </a:prstGeom>
            <a:solidFill>
              <a:sysClr val="window" lastClr="FFFFFF">
                <a:lumMod val="95000"/>
              </a:sysClr>
            </a:solidFill>
            <a:ln w="25400" cap="flat" cmpd="sng" algn="ctr">
              <a:noFill/>
              <a:prstDash val="solid"/>
            </a:ln>
            <a:effectLst/>
          </p:spPr>
          <p:txBody>
            <a:bodyPr tIns="2628000" anchorCtr="1">
              <a:norm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7" name="îṣļîḑé-Oval 3"/>
            <p:cNvSpPr/>
            <p:nvPr/>
          </p:nvSpPr>
          <p:spPr>
            <a:xfrm>
              <a:off x="8505825" y="2386233"/>
              <a:ext cx="1733550" cy="1734596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" name="îṣļîḑé-Oval 10"/>
            <p:cNvSpPr/>
            <p:nvPr/>
          </p:nvSpPr>
          <p:spPr>
            <a:xfrm>
              <a:off x="9745662" y="2287749"/>
              <a:ext cx="493713" cy="494011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C</a:t>
              </a: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" name="îṣļîḑé-Rectangle 13"/>
            <p:cNvSpPr/>
            <p:nvPr/>
          </p:nvSpPr>
          <p:spPr>
            <a:xfrm>
              <a:off x="8208962" y="4211371"/>
              <a:ext cx="2376488" cy="883182"/>
            </a:xfrm>
            <a:prstGeom prst="rect">
              <a:avLst/>
            </a:prstGeom>
          </p:spPr>
          <p:txBody>
            <a:bodyPr wrap="none" lIns="0" tIns="0" rIns="0" bIns="0" anchor="ctr">
              <a:norm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伪随机探测法</a:t>
              </a:r>
            </a:p>
          </p:txBody>
        </p:sp>
        <p:grpSp>
          <p:nvGrpSpPr>
            <p:cNvPr id="20" name="组合 19"/>
            <p:cNvGrpSpPr/>
            <p:nvPr/>
          </p:nvGrpSpPr>
          <p:grpSpPr>
            <a:xfrm>
              <a:off x="8935244" y="2837656"/>
              <a:ext cx="874713" cy="830263"/>
              <a:chOff x="10437813" y="4480719"/>
              <a:chExt cx="874713" cy="830263"/>
            </a:xfrm>
            <a:solidFill>
              <a:sysClr val="window" lastClr="FFFFFF"/>
            </a:solidFill>
          </p:grpSpPr>
          <p:sp>
            <p:nvSpPr>
              <p:cNvPr id="21" name="Freeform 72"/>
              <p:cNvSpPr>
                <a:spLocks noEditPoints="1"/>
              </p:cNvSpPr>
              <p:nvPr/>
            </p:nvSpPr>
            <p:spPr bwMode="auto">
              <a:xfrm>
                <a:off x="10518776" y="4582319"/>
                <a:ext cx="715963" cy="728663"/>
              </a:xfrm>
              <a:custGeom>
                <a:avLst/>
                <a:gdLst>
                  <a:gd name="T0" fmla="*/ 241 w 241"/>
                  <a:gd name="T1" fmla="*/ 117 h 245"/>
                  <a:gd name="T2" fmla="*/ 120 w 241"/>
                  <a:gd name="T3" fmla="*/ 0 h 245"/>
                  <a:gd name="T4" fmla="*/ 0 w 241"/>
                  <a:gd name="T5" fmla="*/ 117 h 245"/>
                  <a:gd name="T6" fmla="*/ 46 w 241"/>
                  <a:gd name="T7" fmla="*/ 209 h 245"/>
                  <a:gd name="T8" fmla="*/ 31 w 241"/>
                  <a:gd name="T9" fmla="*/ 232 h 245"/>
                  <a:gd name="T10" fmla="*/ 33 w 241"/>
                  <a:gd name="T11" fmla="*/ 244 h 245"/>
                  <a:gd name="T12" fmla="*/ 38 w 241"/>
                  <a:gd name="T13" fmla="*/ 245 h 245"/>
                  <a:gd name="T14" fmla="*/ 45 w 241"/>
                  <a:gd name="T15" fmla="*/ 241 h 245"/>
                  <a:gd name="T16" fmla="*/ 60 w 241"/>
                  <a:gd name="T17" fmla="*/ 218 h 245"/>
                  <a:gd name="T18" fmla="*/ 120 w 241"/>
                  <a:gd name="T19" fmla="*/ 234 h 245"/>
                  <a:gd name="T20" fmla="*/ 181 w 241"/>
                  <a:gd name="T21" fmla="*/ 218 h 245"/>
                  <a:gd name="T22" fmla="*/ 196 w 241"/>
                  <a:gd name="T23" fmla="*/ 241 h 245"/>
                  <a:gd name="T24" fmla="*/ 203 w 241"/>
                  <a:gd name="T25" fmla="*/ 245 h 245"/>
                  <a:gd name="T26" fmla="*/ 208 w 241"/>
                  <a:gd name="T27" fmla="*/ 244 h 245"/>
                  <a:gd name="T28" fmla="*/ 210 w 241"/>
                  <a:gd name="T29" fmla="*/ 232 h 245"/>
                  <a:gd name="T30" fmla="*/ 195 w 241"/>
                  <a:gd name="T31" fmla="*/ 209 h 245"/>
                  <a:gd name="T32" fmla="*/ 241 w 241"/>
                  <a:gd name="T33" fmla="*/ 117 h 245"/>
                  <a:gd name="T34" fmla="*/ 120 w 241"/>
                  <a:gd name="T35" fmla="*/ 198 h 245"/>
                  <a:gd name="T36" fmla="*/ 37 w 241"/>
                  <a:gd name="T37" fmla="*/ 117 h 245"/>
                  <a:gd name="T38" fmla="*/ 120 w 241"/>
                  <a:gd name="T39" fmla="*/ 37 h 245"/>
                  <a:gd name="T40" fmla="*/ 203 w 241"/>
                  <a:gd name="T41" fmla="*/ 117 h 245"/>
                  <a:gd name="T42" fmla="*/ 120 w 241"/>
                  <a:gd name="T43" fmla="*/ 198 h 2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241" h="245">
                    <a:moveTo>
                      <a:pt x="241" y="117"/>
                    </a:moveTo>
                    <a:cubicBezTo>
                      <a:pt x="241" y="53"/>
                      <a:pt x="187" y="0"/>
                      <a:pt x="120" y="0"/>
                    </a:cubicBezTo>
                    <a:cubicBezTo>
                      <a:pt x="54" y="0"/>
                      <a:pt x="0" y="53"/>
                      <a:pt x="0" y="117"/>
                    </a:cubicBezTo>
                    <a:cubicBezTo>
                      <a:pt x="0" y="154"/>
                      <a:pt x="18" y="187"/>
                      <a:pt x="46" y="209"/>
                    </a:cubicBezTo>
                    <a:cubicBezTo>
                      <a:pt x="31" y="232"/>
                      <a:pt x="31" y="232"/>
                      <a:pt x="31" y="232"/>
                    </a:cubicBezTo>
                    <a:cubicBezTo>
                      <a:pt x="28" y="236"/>
                      <a:pt x="29" y="241"/>
                      <a:pt x="33" y="244"/>
                    </a:cubicBezTo>
                    <a:cubicBezTo>
                      <a:pt x="35" y="245"/>
                      <a:pt x="36" y="245"/>
                      <a:pt x="38" y="245"/>
                    </a:cubicBezTo>
                    <a:cubicBezTo>
                      <a:pt x="41" y="245"/>
                      <a:pt x="43" y="244"/>
                      <a:pt x="45" y="241"/>
                    </a:cubicBezTo>
                    <a:cubicBezTo>
                      <a:pt x="60" y="218"/>
                      <a:pt x="60" y="218"/>
                      <a:pt x="60" y="218"/>
                    </a:cubicBezTo>
                    <a:cubicBezTo>
                      <a:pt x="78" y="228"/>
                      <a:pt x="98" y="234"/>
                      <a:pt x="120" y="234"/>
                    </a:cubicBezTo>
                    <a:cubicBezTo>
                      <a:pt x="142" y="234"/>
                      <a:pt x="163" y="228"/>
                      <a:pt x="181" y="218"/>
                    </a:cubicBezTo>
                    <a:cubicBezTo>
                      <a:pt x="196" y="241"/>
                      <a:pt x="196" y="241"/>
                      <a:pt x="196" y="241"/>
                    </a:cubicBezTo>
                    <a:cubicBezTo>
                      <a:pt x="197" y="244"/>
                      <a:pt x="200" y="245"/>
                      <a:pt x="203" y="245"/>
                    </a:cubicBezTo>
                    <a:cubicBezTo>
                      <a:pt x="205" y="245"/>
                      <a:pt x="206" y="245"/>
                      <a:pt x="208" y="244"/>
                    </a:cubicBezTo>
                    <a:cubicBezTo>
                      <a:pt x="212" y="241"/>
                      <a:pt x="213" y="236"/>
                      <a:pt x="210" y="232"/>
                    </a:cubicBezTo>
                    <a:cubicBezTo>
                      <a:pt x="195" y="209"/>
                      <a:pt x="195" y="209"/>
                      <a:pt x="195" y="209"/>
                    </a:cubicBezTo>
                    <a:cubicBezTo>
                      <a:pt x="223" y="187"/>
                      <a:pt x="241" y="154"/>
                      <a:pt x="241" y="117"/>
                    </a:cubicBezTo>
                    <a:close/>
                    <a:moveTo>
                      <a:pt x="120" y="198"/>
                    </a:moveTo>
                    <a:cubicBezTo>
                      <a:pt x="75" y="198"/>
                      <a:pt x="37" y="162"/>
                      <a:pt x="37" y="117"/>
                    </a:cubicBezTo>
                    <a:cubicBezTo>
                      <a:pt x="37" y="73"/>
                      <a:pt x="75" y="37"/>
                      <a:pt x="120" y="37"/>
                    </a:cubicBezTo>
                    <a:cubicBezTo>
                      <a:pt x="166" y="37"/>
                      <a:pt x="203" y="73"/>
                      <a:pt x="203" y="117"/>
                    </a:cubicBezTo>
                    <a:cubicBezTo>
                      <a:pt x="203" y="162"/>
                      <a:pt x="166" y="198"/>
                      <a:pt x="120" y="19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2" name="Freeform 73"/>
              <p:cNvSpPr/>
              <p:nvPr/>
            </p:nvSpPr>
            <p:spPr bwMode="auto">
              <a:xfrm>
                <a:off x="10437813" y="4480719"/>
                <a:ext cx="309563" cy="288925"/>
              </a:xfrm>
              <a:custGeom>
                <a:avLst/>
                <a:gdLst>
                  <a:gd name="T0" fmla="*/ 102 w 104"/>
                  <a:gd name="T1" fmla="*/ 19 h 97"/>
                  <a:gd name="T2" fmla="*/ 93 w 104"/>
                  <a:gd name="T3" fmla="*/ 17 h 97"/>
                  <a:gd name="T4" fmla="*/ 25 w 104"/>
                  <a:gd name="T5" fmla="*/ 17 h 97"/>
                  <a:gd name="T6" fmla="*/ 14 w 104"/>
                  <a:gd name="T7" fmla="*/ 83 h 97"/>
                  <a:gd name="T8" fmla="*/ 14 w 104"/>
                  <a:gd name="T9" fmla="*/ 93 h 97"/>
                  <a:gd name="T10" fmla="*/ 25 w 104"/>
                  <a:gd name="T11" fmla="*/ 94 h 97"/>
                  <a:gd name="T12" fmla="*/ 101 w 104"/>
                  <a:gd name="T13" fmla="*/ 30 h 97"/>
                  <a:gd name="T14" fmla="*/ 102 w 104"/>
                  <a:gd name="T15" fmla="*/ 19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04" h="97">
                    <a:moveTo>
                      <a:pt x="102" y="19"/>
                    </a:moveTo>
                    <a:cubicBezTo>
                      <a:pt x="99" y="16"/>
                      <a:pt x="96" y="16"/>
                      <a:pt x="93" y="17"/>
                    </a:cubicBezTo>
                    <a:cubicBezTo>
                      <a:pt x="74" y="0"/>
                      <a:pt x="45" y="0"/>
                      <a:pt x="25" y="17"/>
                    </a:cubicBezTo>
                    <a:cubicBezTo>
                      <a:pt x="5" y="34"/>
                      <a:pt x="0" y="62"/>
                      <a:pt x="14" y="83"/>
                    </a:cubicBezTo>
                    <a:cubicBezTo>
                      <a:pt x="12" y="86"/>
                      <a:pt x="12" y="90"/>
                      <a:pt x="14" y="93"/>
                    </a:cubicBezTo>
                    <a:cubicBezTo>
                      <a:pt x="17" y="96"/>
                      <a:pt x="22" y="97"/>
                      <a:pt x="25" y="94"/>
                    </a:cubicBezTo>
                    <a:cubicBezTo>
                      <a:pt x="101" y="30"/>
                      <a:pt x="101" y="30"/>
                      <a:pt x="101" y="30"/>
                    </a:cubicBezTo>
                    <a:cubicBezTo>
                      <a:pt x="104" y="27"/>
                      <a:pt x="104" y="23"/>
                      <a:pt x="102" y="1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3" name="Freeform 74"/>
              <p:cNvSpPr/>
              <p:nvPr/>
            </p:nvSpPr>
            <p:spPr bwMode="auto">
              <a:xfrm>
                <a:off x="11002963" y="4480719"/>
                <a:ext cx="309563" cy="288925"/>
              </a:xfrm>
              <a:custGeom>
                <a:avLst/>
                <a:gdLst>
                  <a:gd name="T0" fmla="*/ 80 w 104"/>
                  <a:gd name="T1" fmla="*/ 17 h 97"/>
                  <a:gd name="T2" fmla="*/ 12 w 104"/>
                  <a:gd name="T3" fmla="*/ 17 h 97"/>
                  <a:gd name="T4" fmla="*/ 3 w 104"/>
                  <a:gd name="T5" fmla="*/ 19 h 97"/>
                  <a:gd name="T6" fmla="*/ 4 w 104"/>
                  <a:gd name="T7" fmla="*/ 30 h 97"/>
                  <a:gd name="T8" fmla="*/ 80 w 104"/>
                  <a:gd name="T9" fmla="*/ 94 h 97"/>
                  <a:gd name="T10" fmla="*/ 91 w 104"/>
                  <a:gd name="T11" fmla="*/ 93 h 97"/>
                  <a:gd name="T12" fmla="*/ 91 w 104"/>
                  <a:gd name="T13" fmla="*/ 83 h 97"/>
                  <a:gd name="T14" fmla="*/ 80 w 104"/>
                  <a:gd name="T15" fmla="*/ 17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04" h="97">
                    <a:moveTo>
                      <a:pt x="80" y="17"/>
                    </a:moveTo>
                    <a:cubicBezTo>
                      <a:pt x="60" y="0"/>
                      <a:pt x="31" y="0"/>
                      <a:pt x="12" y="17"/>
                    </a:cubicBezTo>
                    <a:cubicBezTo>
                      <a:pt x="9" y="16"/>
                      <a:pt x="5" y="16"/>
                      <a:pt x="3" y="19"/>
                    </a:cubicBezTo>
                    <a:cubicBezTo>
                      <a:pt x="0" y="23"/>
                      <a:pt x="1" y="27"/>
                      <a:pt x="4" y="30"/>
                    </a:cubicBezTo>
                    <a:cubicBezTo>
                      <a:pt x="80" y="94"/>
                      <a:pt x="80" y="94"/>
                      <a:pt x="80" y="94"/>
                    </a:cubicBezTo>
                    <a:cubicBezTo>
                      <a:pt x="83" y="97"/>
                      <a:pt x="88" y="96"/>
                      <a:pt x="91" y="93"/>
                    </a:cubicBezTo>
                    <a:cubicBezTo>
                      <a:pt x="93" y="90"/>
                      <a:pt x="93" y="86"/>
                      <a:pt x="91" y="83"/>
                    </a:cubicBezTo>
                    <a:cubicBezTo>
                      <a:pt x="104" y="62"/>
                      <a:pt x="100" y="34"/>
                      <a:pt x="80" y="1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4" name="Freeform 75"/>
              <p:cNvSpPr/>
              <p:nvPr/>
            </p:nvSpPr>
            <p:spPr bwMode="auto">
              <a:xfrm>
                <a:off x="10780713" y="4707731"/>
                <a:ext cx="119063" cy="376238"/>
              </a:xfrm>
              <a:custGeom>
                <a:avLst/>
                <a:gdLst>
                  <a:gd name="T0" fmla="*/ 32 w 40"/>
                  <a:gd name="T1" fmla="*/ 0 h 127"/>
                  <a:gd name="T2" fmla="*/ 32 w 40"/>
                  <a:gd name="T3" fmla="*/ 0 h 127"/>
                  <a:gd name="T4" fmla="*/ 23 w 40"/>
                  <a:gd name="T5" fmla="*/ 9 h 127"/>
                  <a:gd name="T6" fmla="*/ 22 w 40"/>
                  <a:gd name="T7" fmla="*/ 73 h 127"/>
                  <a:gd name="T8" fmla="*/ 2 w 40"/>
                  <a:gd name="T9" fmla="*/ 115 h 127"/>
                  <a:gd name="T10" fmla="*/ 6 w 40"/>
                  <a:gd name="T11" fmla="*/ 126 h 127"/>
                  <a:gd name="T12" fmla="*/ 10 w 40"/>
                  <a:gd name="T13" fmla="*/ 127 h 127"/>
                  <a:gd name="T14" fmla="*/ 18 w 40"/>
                  <a:gd name="T15" fmla="*/ 122 h 127"/>
                  <a:gd name="T16" fmla="*/ 39 w 40"/>
                  <a:gd name="T17" fmla="*/ 79 h 127"/>
                  <a:gd name="T18" fmla="*/ 39 w 40"/>
                  <a:gd name="T19" fmla="*/ 75 h 127"/>
                  <a:gd name="T20" fmla="*/ 40 w 40"/>
                  <a:gd name="T21" fmla="*/ 9 h 127"/>
                  <a:gd name="T22" fmla="*/ 32 w 40"/>
                  <a:gd name="T23" fmla="*/ 0 h 1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0" h="127">
                    <a:moveTo>
                      <a:pt x="32" y="0"/>
                    </a:moveTo>
                    <a:cubicBezTo>
                      <a:pt x="32" y="0"/>
                      <a:pt x="32" y="0"/>
                      <a:pt x="32" y="0"/>
                    </a:cubicBezTo>
                    <a:cubicBezTo>
                      <a:pt x="27" y="0"/>
                      <a:pt x="23" y="4"/>
                      <a:pt x="23" y="9"/>
                    </a:cubicBezTo>
                    <a:cubicBezTo>
                      <a:pt x="22" y="73"/>
                      <a:pt x="22" y="73"/>
                      <a:pt x="22" y="73"/>
                    </a:cubicBezTo>
                    <a:cubicBezTo>
                      <a:pt x="2" y="115"/>
                      <a:pt x="2" y="115"/>
                      <a:pt x="2" y="115"/>
                    </a:cubicBezTo>
                    <a:cubicBezTo>
                      <a:pt x="0" y="119"/>
                      <a:pt x="2" y="124"/>
                      <a:pt x="6" y="126"/>
                    </a:cubicBezTo>
                    <a:cubicBezTo>
                      <a:pt x="7" y="127"/>
                      <a:pt x="9" y="127"/>
                      <a:pt x="10" y="127"/>
                    </a:cubicBezTo>
                    <a:cubicBezTo>
                      <a:pt x="13" y="127"/>
                      <a:pt x="16" y="125"/>
                      <a:pt x="18" y="122"/>
                    </a:cubicBezTo>
                    <a:cubicBezTo>
                      <a:pt x="39" y="79"/>
                      <a:pt x="39" y="79"/>
                      <a:pt x="39" y="79"/>
                    </a:cubicBezTo>
                    <a:cubicBezTo>
                      <a:pt x="39" y="78"/>
                      <a:pt x="39" y="77"/>
                      <a:pt x="39" y="75"/>
                    </a:cubicBezTo>
                    <a:cubicBezTo>
                      <a:pt x="40" y="9"/>
                      <a:pt x="40" y="9"/>
                      <a:pt x="40" y="9"/>
                    </a:cubicBezTo>
                    <a:cubicBezTo>
                      <a:pt x="40" y="4"/>
                      <a:pt x="37" y="0"/>
                      <a:pt x="3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25" name="组合 24"/>
          <p:cNvGrpSpPr/>
          <p:nvPr/>
        </p:nvGrpSpPr>
        <p:grpSpPr>
          <a:xfrm>
            <a:off x="3295650" y="3141663"/>
            <a:ext cx="2552700" cy="3217862"/>
            <a:chOff x="4819650" y="2019300"/>
            <a:chExt cx="2552700" cy="3219803"/>
          </a:xfrm>
        </p:grpSpPr>
        <p:sp>
          <p:nvSpPr>
            <p:cNvPr id="26" name="îṣļîḑé-Rounded Rectangle 4"/>
            <p:cNvSpPr/>
            <p:nvPr/>
          </p:nvSpPr>
          <p:spPr>
            <a:xfrm>
              <a:off x="4819650" y="2019300"/>
              <a:ext cx="2552700" cy="3219803"/>
            </a:xfrm>
            <a:prstGeom prst="roundRect">
              <a:avLst>
                <a:gd name="adj" fmla="val 12936"/>
              </a:avLst>
            </a:prstGeom>
            <a:solidFill>
              <a:sysClr val="window" lastClr="FFFFFF">
                <a:lumMod val="95000"/>
              </a:sysClr>
            </a:solidFill>
            <a:ln w="25400" cap="flat" cmpd="sng" algn="ctr">
              <a:noFill/>
              <a:prstDash val="solid"/>
            </a:ln>
            <a:effectLst/>
          </p:spPr>
          <p:txBody>
            <a:bodyPr tIns="2628000" anchorCtr="1">
              <a:norm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7" name="îṣļîḑé-Oval 5"/>
            <p:cNvSpPr/>
            <p:nvPr/>
          </p:nvSpPr>
          <p:spPr>
            <a:xfrm>
              <a:off x="5229225" y="2386233"/>
              <a:ext cx="1733550" cy="1734596"/>
            </a:xfrm>
            <a:prstGeom prst="ellipse">
              <a:avLst/>
            </a:prstGeom>
            <a:solidFill>
              <a:srgbClr val="C0504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8" name="îṣļîḑé-Oval 9"/>
            <p:cNvSpPr/>
            <p:nvPr/>
          </p:nvSpPr>
          <p:spPr>
            <a:xfrm>
              <a:off x="6469063" y="2287749"/>
              <a:ext cx="493712" cy="494011"/>
            </a:xfrm>
            <a:prstGeom prst="ellipse">
              <a:avLst/>
            </a:prstGeom>
            <a:solidFill>
              <a:srgbClr val="C0504D">
                <a:lumMod val="7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B</a:t>
              </a: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9" name="îṣļîḑé-Rectangle 12"/>
            <p:cNvSpPr/>
            <p:nvPr/>
          </p:nvSpPr>
          <p:spPr>
            <a:xfrm>
              <a:off x="4867275" y="4276498"/>
              <a:ext cx="2466975" cy="818056"/>
            </a:xfrm>
            <a:prstGeom prst="rect">
              <a:avLst/>
            </a:prstGeom>
          </p:spPr>
          <p:txBody>
            <a:bodyPr wrap="none" lIns="0" tIns="0" rIns="0" bIns="0" anchor="ctr">
              <a:norm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二次探测法</a:t>
              </a:r>
            </a:p>
          </p:txBody>
        </p:sp>
        <p:grpSp>
          <p:nvGrpSpPr>
            <p:cNvPr id="30" name="组合 29"/>
            <p:cNvGrpSpPr/>
            <p:nvPr/>
          </p:nvGrpSpPr>
          <p:grpSpPr>
            <a:xfrm>
              <a:off x="5684838" y="2891631"/>
              <a:ext cx="822325" cy="722313"/>
              <a:chOff x="7545388" y="1652587"/>
              <a:chExt cx="822325" cy="722313"/>
            </a:xfrm>
            <a:solidFill>
              <a:sysClr val="window" lastClr="FFFFFF"/>
            </a:solidFill>
          </p:grpSpPr>
          <p:sp>
            <p:nvSpPr>
              <p:cNvPr id="31" name="Freeform 58"/>
              <p:cNvSpPr/>
              <p:nvPr/>
            </p:nvSpPr>
            <p:spPr bwMode="auto">
              <a:xfrm>
                <a:off x="7773988" y="2282825"/>
                <a:ext cx="365125" cy="92075"/>
              </a:xfrm>
              <a:custGeom>
                <a:avLst/>
                <a:gdLst>
                  <a:gd name="T0" fmla="*/ 106 w 120"/>
                  <a:gd name="T1" fmla="*/ 11 h 30"/>
                  <a:gd name="T2" fmla="*/ 97 w 120"/>
                  <a:gd name="T3" fmla="*/ 11 h 30"/>
                  <a:gd name="T4" fmla="*/ 97 w 120"/>
                  <a:gd name="T5" fmla="*/ 0 h 30"/>
                  <a:gd name="T6" fmla="*/ 23 w 120"/>
                  <a:gd name="T7" fmla="*/ 0 h 30"/>
                  <a:gd name="T8" fmla="*/ 23 w 120"/>
                  <a:gd name="T9" fmla="*/ 11 h 30"/>
                  <a:gd name="T10" fmla="*/ 14 w 120"/>
                  <a:gd name="T11" fmla="*/ 11 h 30"/>
                  <a:gd name="T12" fmla="*/ 0 w 120"/>
                  <a:gd name="T13" fmla="*/ 30 h 30"/>
                  <a:gd name="T14" fmla="*/ 120 w 120"/>
                  <a:gd name="T15" fmla="*/ 30 h 30"/>
                  <a:gd name="T16" fmla="*/ 106 w 120"/>
                  <a:gd name="T17" fmla="*/ 11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0" h="30">
                    <a:moveTo>
                      <a:pt x="106" y="11"/>
                    </a:moveTo>
                    <a:cubicBezTo>
                      <a:pt x="97" y="11"/>
                      <a:pt x="97" y="11"/>
                      <a:pt x="97" y="11"/>
                    </a:cubicBezTo>
                    <a:cubicBezTo>
                      <a:pt x="97" y="0"/>
                      <a:pt x="97" y="0"/>
                      <a:pt x="97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14" y="11"/>
                      <a:pt x="14" y="11"/>
                      <a:pt x="14" y="11"/>
                    </a:cubicBezTo>
                    <a:cubicBezTo>
                      <a:pt x="6" y="11"/>
                      <a:pt x="0" y="20"/>
                      <a:pt x="0" y="30"/>
                    </a:cubicBezTo>
                    <a:cubicBezTo>
                      <a:pt x="120" y="30"/>
                      <a:pt x="120" y="30"/>
                      <a:pt x="120" y="30"/>
                    </a:cubicBezTo>
                    <a:cubicBezTo>
                      <a:pt x="120" y="20"/>
                      <a:pt x="114" y="11"/>
                      <a:pt x="106" y="1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32" name="Freeform 59"/>
              <p:cNvSpPr>
                <a:spLocks noEditPoints="1"/>
              </p:cNvSpPr>
              <p:nvPr/>
            </p:nvSpPr>
            <p:spPr bwMode="auto">
              <a:xfrm>
                <a:off x="7545388" y="1652587"/>
                <a:ext cx="822325" cy="612775"/>
              </a:xfrm>
              <a:custGeom>
                <a:avLst/>
                <a:gdLst>
                  <a:gd name="T0" fmla="*/ 251 w 270"/>
                  <a:gd name="T1" fmla="*/ 0 h 201"/>
                  <a:gd name="T2" fmla="*/ 19 w 270"/>
                  <a:gd name="T3" fmla="*/ 0 h 201"/>
                  <a:gd name="T4" fmla="*/ 0 w 270"/>
                  <a:gd name="T5" fmla="*/ 19 h 201"/>
                  <a:gd name="T6" fmla="*/ 0 w 270"/>
                  <a:gd name="T7" fmla="*/ 183 h 201"/>
                  <a:gd name="T8" fmla="*/ 19 w 270"/>
                  <a:gd name="T9" fmla="*/ 201 h 201"/>
                  <a:gd name="T10" fmla="*/ 251 w 270"/>
                  <a:gd name="T11" fmla="*/ 201 h 201"/>
                  <a:gd name="T12" fmla="*/ 270 w 270"/>
                  <a:gd name="T13" fmla="*/ 183 h 201"/>
                  <a:gd name="T14" fmla="*/ 270 w 270"/>
                  <a:gd name="T15" fmla="*/ 19 h 201"/>
                  <a:gd name="T16" fmla="*/ 251 w 270"/>
                  <a:gd name="T17" fmla="*/ 0 h 201"/>
                  <a:gd name="T18" fmla="*/ 135 w 270"/>
                  <a:gd name="T19" fmla="*/ 183 h 201"/>
                  <a:gd name="T20" fmla="*/ 128 w 270"/>
                  <a:gd name="T21" fmla="*/ 176 h 201"/>
                  <a:gd name="T22" fmla="*/ 135 w 270"/>
                  <a:gd name="T23" fmla="*/ 169 h 201"/>
                  <a:gd name="T24" fmla="*/ 142 w 270"/>
                  <a:gd name="T25" fmla="*/ 176 h 201"/>
                  <a:gd name="T26" fmla="*/ 135 w 270"/>
                  <a:gd name="T27" fmla="*/ 183 h 201"/>
                  <a:gd name="T28" fmla="*/ 254 w 270"/>
                  <a:gd name="T29" fmla="*/ 146 h 201"/>
                  <a:gd name="T30" fmla="*/ 252 w 270"/>
                  <a:gd name="T31" fmla="*/ 148 h 201"/>
                  <a:gd name="T32" fmla="*/ 18 w 270"/>
                  <a:gd name="T33" fmla="*/ 148 h 201"/>
                  <a:gd name="T34" fmla="*/ 16 w 270"/>
                  <a:gd name="T35" fmla="*/ 146 h 201"/>
                  <a:gd name="T36" fmla="*/ 16 w 270"/>
                  <a:gd name="T37" fmla="*/ 20 h 201"/>
                  <a:gd name="T38" fmla="*/ 18 w 270"/>
                  <a:gd name="T39" fmla="*/ 18 h 201"/>
                  <a:gd name="T40" fmla="*/ 252 w 270"/>
                  <a:gd name="T41" fmla="*/ 18 h 201"/>
                  <a:gd name="T42" fmla="*/ 254 w 270"/>
                  <a:gd name="T43" fmla="*/ 20 h 201"/>
                  <a:gd name="T44" fmla="*/ 254 w 270"/>
                  <a:gd name="T45" fmla="*/ 146 h 2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270" h="201">
                    <a:moveTo>
                      <a:pt x="251" y="0"/>
                    </a:moveTo>
                    <a:cubicBezTo>
                      <a:pt x="19" y="0"/>
                      <a:pt x="19" y="0"/>
                      <a:pt x="19" y="0"/>
                    </a:cubicBezTo>
                    <a:cubicBezTo>
                      <a:pt x="9" y="0"/>
                      <a:pt x="0" y="9"/>
                      <a:pt x="0" y="19"/>
                    </a:cubicBezTo>
                    <a:cubicBezTo>
                      <a:pt x="0" y="183"/>
                      <a:pt x="0" y="183"/>
                      <a:pt x="0" y="183"/>
                    </a:cubicBezTo>
                    <a:cubicBezTo>
                      <a:pt x="0" y="193"/>
                      <a:pt x="9" y="201"/>
                      <a:pt x="19" y="201"/>
                    </a:cubicBezTo>
                    <a:cubicBezTo>
                      <a:pt x="251" y="201"/>
                      <a:pt x="251" y="201"/>
                      <a:pt x="251" y="201"/>
                    </a:cubicBezTo>
                    <a:cubicBezTo>
                      <a:pt x="261" y="201"/>
                      <a:pt x="270" y="193"/>
                      <a:pt x="270" y="183"/>
                    </a:cubicBezTo>
                    <a:cubicBezTo>
                      <a:pt x="270" y="19"/>
                      <a:pt x="270" y="19"/>
                      <a:pt x="270" y="19"/>
                    </a:cubicBezTo>
                    <a:cubicBezTo>
                      <a:pt x="270" y="9"/>
                      <a:pt x="261" y="0"/>
                      <a:pt x="251" y="0"/>
                    </a:cubicBezTo>
                    <a:close/>
                    <a:moveTo>
                      <a:pt x="135" y="183"/>
                    </a:moveTo>
                    <a:cubicBezTo>
                      <a:pt x="131" y="183"/>
                      <a:pt x="128" y="180"/>
                      <a:pt x="128" y="176"/>
                    </a:cubicBezTo>
                    <a:cubicBezTo>
                      <a:pt x="128" y="172"/>
                      <a:pt x="131" y="169"/>
                      <a:pt x="135" y="169"/>
                    </a:cubicBezTo>
                    <a:cubicBezTo>
                      <a:pt x="139" y="169"/>
                      <a:pt x="142" y="172"/>
                      <a:pt x="142" y="176"/>
                    </a:cubicBezTo>
                    <a:cubicBezTo>
                      <a:pt x="142" y="180"/>
                      <a:pt x="139" y="183"/>
                      <a:pt x="135" y="183"/>
                    </a:cubicBezTo>
                    <a:close/>
                    <a:moveTo>
                      <a:pt x="254" y="146"/>
                    </a:moveTo>
                    <a:cubicBezTo>
                      <a:pt x="254" y="147"/>
                      <a:pt x="253" y="148"/>
                      <a:pt x="252" y="148"/>
                    </a:cubicBezTo>
                    <a:cubicBezTo>
                      <a:pt x="18" y="148"/>
                      <a:pt x="18" y="148"/>
                      <a:pt x="18" y="148"/>
                    </a:cubicBezTo>
                    <a:cubicBezTo>
                      <a:pt x="17" y="148"/>
                      <a:pt x="16" y="147"/>
                      <a:pt x="16" y="146"/>
                    </a:cubicBezTo>
                    <a:cubicBezTo>
                      <a:pt x="16" y="20"/>
                      <a:pt x="16" y="20"/>
                      <a:pt x="16" y="20"/>
                    </a:cubicBezTo>
                    <a:cubicBezTo>
                      <a:pt x="16" y="19"/>
                      <a:pt x="17" y="18"/>
                      <a:pt x="18" y="18"/>
                    </a:cubicBezTo>
                    <a:cubicBezTo>
                      <a:pt x="252" y="18"/>
                      <a:pt x="252" y="18"/>
                      <a:pt x="252" y="18"/>
                    </a:cubicBezTo>
                    <a:cubicBezTo>
                      <a:pt x="253" y="18"/>
                      <a:pt x="254" y="19"/>
                      <a:pt x="254" y="20"/>
                    </a:cubicBezTo>
                    <a:lnTo>
                      <a:pt x="254" y="14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33" name="Freeform 60"/>
              <p:cNvSpPr/>
              <p:nvPr/>
            </p:nvSpPr>
            <p:spPr bwMode="auto">
              <a:xfrm>
                <a:off x="7834313" y="1828800"/>
                <a:ext cx="244475" cy="115888"/>
              </a:xfrm>
              <a:custGeom>
                <a:avLst/>
                <a:gdLst>
                  <a:gd name="T0" fmla="*/ 4 w 80"/>
                  <a:gd name="T1" fmla="*/ 20 h 38"/>
                  <a:gd name="T2" fmla="*/ 4 w 80"/>
                  <a:gd name="T3" fmla="*/ 34 h 38"/>
                  <a:gd name="T4" fmla="*/ 11 w 80"/>
                  <a:gd name="T5" fmla="*/ 37 h 38"/>
                  <a:gd name="T6" fmla="*/ 18 w 80"/>
                  <a:gd name="T7" fmla="*/ 34 h 38"/>
                  <a:gd name="T8" fmla="*/ 62 w 80"/>
                  <a:gd name="T9" fmla="*/ 34 h 38"/>
                  <a:gd name="T10" fmla="*/ 76 w 80"/>
                  <a:gd name="T11" fmla="*/ 34 h 38"/>
                  <a:gd name="T12" fmla="*/ 76 w 80"/>
                  <a:gd name="T13" fmla="*/ 20 h 38"/>
                  <a:gd name="T14" fmla="*/ 4 w 80"/>
                  <a:gd name="T15" fmla="*/ 2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80" h="38">
                    <a:moveTo>
                      <a:pt x="4" y="20"/>
                    </a:moveTo>
                    <a:cubicBezTo>
                      <a:pt x="0" y="24"/>
                      <a:pt x="0" y="30"/>
                      <a:pt x="4" y="34"/>
                    </a:cubicBezTo>
                    <a:cubicBezTo>
                      <a:pt x="6" y="36"/>
                      <a:pt x="8" y="37"/>
                      <a:pt x="11" y="37"/>
                    </a:cubicBezTo>
                    <a:cubicBezTo>
                      <a:pt x="13" y="37"/>
                      <a:pt x="16" y="36"/>
                      <a:pt x="18" y="34"/>
                    </a:cubicBezTo>
                    <a:cubicBezTo>
                      <a:pt x="30" y="22"/>
                      <a:pt x="50" y="22"/>
                      <a:pt x="62" y="34"/>
                    </a:cubicBezTo>
                    <a:cubicBezTo>
                      <a:pt x="66" y="38"/>
                      <a:pt x="72" y="38"/>
                      <a:pt x="76" y="34"/>
                    </a:cubicBezTo>
                    <a:cubicBezTo>
                      <a:pt x="80" y="30"/>
                      <a:pt x="80" y="24"/>
                      <a:pt x="76" y="20"/>
                    </a:cubicBezTo>
                    <a:cubicBezTo>
                      <a:pt x="56" y="0"/>
                      <a:pt x="24" y="0"/>
                      <a:pt x="4" y="2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34" name="Freeform 61"/>
              <p:cNvSpPr/>
              <p:nvPr/>
            </p:nvSpPr>
            <p:spPr bwMode="auto">
              <a:xfrm>
                <a:off x="7761288" y="1744662"/>
                <a:ext cx="390525" cy="127000"/>
              </a:xfrm>
              <a:custGeom>
                <a:avLst/>
                <a:gdLst>
                  <a:gd name="T0" fmla="*/ 64 w 128"/>
                  <a:gd name="T1" fmla="*/ 0 h 42"/>
                  <a:gd name="T2" fmla="*/ 4 w 128"/>
                  <a:gd name="T3" fmla="*/ 24 h 42"/>
                  <a:gd name="T4" fmla="*/ 4 w 128"/>
                  <a:gd name="T5" fmla="*/ 39 h 42"/>
                  <a:gd name="T6" fmla="*/ 18 w 128"/>
                  <a:gd name="T7" fmla="*/ 39 h 42"/>
                  <a:gd name="T8" fmla="*/ 64 w 128"/>
                  <a:gd name="T9" fmla="*/ 20 h 42"/>
                  <a:gd name="T10" fmla="*/ 110 w 128"/>
                  <a:gd name="T11" fmla="*/ 39 h 42"/>
                  <a:gd name="T12" fmla="*/ 117 w 128"/>
                  <a:gd name="T13" fmla="*/ 41 h 42"/>
                  <a:gd name="T14" fmla="*/ 124 w 128"/>
                  <a:gd name="T15" fmla="*/ 39 h 42"/>
                  <a:gd name="T16" fmla="*/ 124 w 128"/>
                  <a:gd name="T17" fmla="*/ 24 h 42"/>
                  <a:gd name="T18" fmla="*/ 64 w 128"/>
                  <a:gd name="T19" fmla="*/ 0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28" h="42">
                    <a:moveTo>
                      <a:pt x="64" y="0"/>
                    </a:moveTo>
                    <a:cubicBezTo>
                      <a:pt x="41" y="0"/>
                      <a:pt x="20" y="8"/>
                      <a:pt x="4" y="24"/>
                    </a:cubicBezTo>
                    <a:cubicBezTo>
                      <a:pt x="0" y="28"/>
                      <a:pt x="0" y="35"/>
                      <a:pt x="4" y="39"/>
                    </a:cubicBezTo>
                    <a:cubicBezTo>
                      <a:pt x="8" y="42"/>
                      <a:pt x="14" y="42"/>
                      <a:pt x="18" y="39"/>
                    </a:cubicBezTo>
                    <a:cubicBezTo>
                      <a:pt x="30" y="26"/>
                      <a:pt x="47" y="20"/>
                      <a:pt x="64" y="20"/>
                    </a:cubicBezTo>
                    <a:cubicBezTo>
                      <a:pt x="81" y="20"/>
                      <a:pt x="97" y="26"/>
                      <a:pt x="110" y="39"/>
                    </a:cubicBezTo>
                    <a:cubicBezTo>
                      <a:pt x="112" y="41"/>
                      <a:pt x="114" y="41"/>
                      <a:pt x="117" y="41"/>
                    </a:cubicBezTo>
                    <a:cubicBezTo>
                      <a:pt x="119" y="41"/>
                      <a:pt x="122" y="41"/>
                      <a:pt x="124" y="39"/>
                    </a:cubicBezTo>
                    <a:cubicBezTo>
                      <a:pt x="128" y="35"/>
                      <a:pt x="128" y="28"/>
                      <a:pt x="124" y="24"/>
                    </a:cubicBezTo>
                    <a:cubicBezTo>
                      <a:pt x="108" y="8"/>
                      <a:pt x="87" y="0"/>
                      <a:pt x="6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35" name="Freeform 62"/>
              <p:cNvSpPr/>
              <p:nvPr/>
            </p:nvSpPr>
            <p:spPr bwMode="auto">
              <a:xfrm>
                <a:off x="7907338" y="1954212"/>
                <a:ext cx="104775" cy="100013"/>
              </a:xfrm>
              <a:custGeom>
                <a:avLst/>
                <a:gdLst>
                  <a:gd name="T0" fmla="*/ 6 w 34"/>
                  <a:gd name="T1" fmla="*/ 6 h 33"/>
                  <a:gd name="T2" fmla="*/ 6 w 34"/>
                  <a:gd name="T3" fmla="*/ 27 h 33"/>
                  <a:gd name="T4" fmla="*/ 28 w 34"/>
                  <a:gd name="T5" fmla="*/ 27 h 33"/>
                  <a:gd name="T6" fmla="*/ 28 w 34"/>
                  <a:gd name="T7" fmla="*/ 6 h 33"/>
                  <a:gd name="T8" fmla="*/ 6 w 34"/>
                  <a:gd name="T9" fmla="*/ 6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4" h="33">
                    <a:moveTo>
                      <a:pt x="6" y="6"/>
                    </a:moveTo>
                    <a:cubicBezTo>
                      <a:pt x="0" y="12"/>
                      <a:pt x="0" y="21"/>
                      <a:pt x="6" y="27"/>
                    </a:cubicBezTo>
                    <a:cubicBezTo>
                      <a:pt x="12" y="33"/>
                      <a:pt x="22" y="33"/>
                      <a:pt x="28" y="27"/>
                    </a:cubicBezTo>
                    <a:cubicBezTo>
                      <a:pt x="34" y="21"/>
                      <a:pt x="34" y="12"/>
                      <a:pt x="28" y="6"/>
                    </a:cubicBezTo>
                    <a:cubicBezTo>
                      <a:pt x="22" y="0"/>
                      <a:pt x="12" y="0"/>
                      <a:pt x="6" y="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</p:grp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4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-2.59259E-6 L 5.55556E-7 0.0926 " pathEditMode="relative" rAng="0" ptsTypes="AA">
                                      <p:cBhvr>
                                        <p:cTn id="9" dur="1000" spd="-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6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4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2.59259E-6 L 0 0.0926 " pathEditMode="relative" rAng="0" ptsTypes="AA">
                                      <p:cBhvr>
                                        <p:cTn id="15" dur="1000" spd="-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6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64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-2.59259E-6 L -4.16667E-6 0.0926 " pathEditMode="relative" rAng="0" ptsTypes="AA">
                                      <p:cBhvr>
                                        <p:cTn id="21" dur="1000" spd="-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6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804" name="AutoShape 316"/>
          <p:cNvSpPr>
            <a:spLocks noChangeArrowheads="1"/>
          </p:cNvSpPr>
          <p:nvPr/>
        </p:nvSpPr>
        <p:spPr bwMode="auto">
          <a:xfrm>
            <a:off x="949325" y="4017963"/>
            <a:ext cx="7200900" cy="863600"/>
          </a:xfrm>
          <a:prstGeom prst="wedgeRoundRectCallout">
            <a:avLst>
              <a:gd name="adj1" fmla="val 6580"/>
              <a:gd name="adj2" fmla="val -178306"/>
              <a:gd name="adj3" fmla="val 16667"/>
            </a:avLst>
          </a:prstGeom>
          <a:solidFill>
            <a:srgbClr val="7030A0"/>
          </a:solidFill>
          <a:ln w="9525">
            <a:noFill/>
            <a:miter lim="800000"/>
          </a:ln>
        </p:spPr>
        <p:txBody>
          <a:bodyPr anchor="ctr"/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一旦冲突，就找下一个空地址存入</a:t>
            </a:r>
          </a:p>
        </p:txBody>
      </p:sp>
      <p:sp>
        <p:nvSpPr>
          <p:cNvPr id="959803" name="Rectangle 315"/>
          <p:cNvSpPr>
            <a:spLocks noChangeArrowheads="1"/>
          </p:cNvSpPr>
          <p:nvPr/>
        </p:nvSpPr>
        <p:spPr bwMode="auto">
          <a:xfrm>
            <a:off x="1116013" y="1989138"/>
            <a:ext cx="7416800" cy="16589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9pPr>
          </a:lstStyle>
          <a:p>
            <a:pPr marL="0" marR="0" lvl="0" indent="0" algn="just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H</a:t>
            </a:r>
            <a:r>
              <a:rPr kumimoji="0" lang="en-US" altLang="zh-CN" sz="2800" b="0" i="0" u="none" strike="noStrike" kern="1200" cap="none" spc="0" normalizeH="0" baseline="-3000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=(Hash(key)+d</a:t>
            </a:r>
            <a:r>
              <a:rPr kumimoji="0" lang="en-US" altLang="zh-CN" sz="2800" b="0" i="0" u="none" strike="noStrike" kern="1200" cap="none" spc="0" normalizeH="0" baseline="-3000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) mod m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 ( 1≤i &lt; m )</a:t>
            </a:r>
          </a:p>
          <a:p>
            <a:pPr marL="0" marR="0" lvl="0" indent="0" algn="just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其中：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m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为哈希表长度</a:t>
            </a:r>
          </a:p>
          <a:p>
            <a:pPr marL="0" marR="0" lvl="0" indent="0" algn="just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d</a:t>
            </a:r>
            <a:r>
              <a:rPr kumimoji="0" lang="en-US" altLang="zh-CN" sz="2800" b="0" i="0" u="none" strike="noStrike" kern="1200" cap="none" spc="0" normalizeH="0" baseline="-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为增量序列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，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2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，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…m-1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，且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d</a:t>
            </a:r>
            <a:r>
              <a:rPr kumimoji="0" lang="en-US" altLang="zh-CN" sz="2800" b="0" i="0" u="none" strike="noStrike" kern="1200" cap="none" spc="0" normalizeH="0" baseline="-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=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93188" name="Rectangle 317"/>
          <p:cNvSpPr>
            <a:spLocks noChangeArrowheads="1"/>
          </p:cNvSpPr>
          <p:nvPr/>
        </p:nvSpPr>
        <p:spPr bwMode="auto">
          <a:xfrm>
            <a:off x="887413" y="227013"/>
            <a:ext cx="4027488" cy="51593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线性探测法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9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9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9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959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9804" grpId="0" animBg="1"/>
      <p:bldP spid="959803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线性探测法（</a:t>
            </a:r>
            <a:r>
              <a:rPr lang="en-US" altLang="zh-CN" dirty="0"/>
              <a:t>Linear Probing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980115" y="1340768"/>
            <a:ext cx="671512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2000" dirty="0" smtClean="0">
                <a:solidFill>
                  <a:srgbClr val="3333FF"/>
                </a:solidFill>
                <a:ea typeface="宋体" pitchFamily="2" charset="-122"/>
                <a:sym typeface="Wingdings" pitchFamily="2" charset="2"/>
              </a:rPr>
              <a:t> </a:t>
            </a:r>
            <a:r>
              <a:rPr lang="zh-CN" altLang="zh-CN" sz="2000" dirty="0" smtClean="0">
                <a:solidFill>
                  <a:srgbClr val="000000"/>
                </a:solidFill>
                <a:ea typeface="宋体" pitchFamily="2" charset="-122"/>
              </a:rPr>
              <a:t>即线性探测法以</a:t>
            </a:r>
            <a:r>
              <a:rPr lang="zh-CN" altLang="zh-CN" sz="2000" dirty="0" smtClean="0">
                <a:solidFill>
                  <a:srgbClr val="3333FF"/>
                </a:solidFill>
                <a:ea typeface="宋体" pitchFamily="2" charset="-122"/>
              </a:rPr>
              <a:t>增量序列</a:t>
            </a:r>
            <a:r>
              <a:rPr lang="en-US" altLang="zh-CN" sz="2000" dirty="0" smtClean="0">
                <a:solidFill>
                  <a:srgbClr val="3333FF"/>
                </a:solidFill>
                <a:ea typeface="宋体" pitchFamily="2" charset="-122"/>
              </a:rPr>
              <a:t> 1</a:t>
            </a:r>
            <a:r>
              <a:rPr lang="zh-CN" altLang="zh-CN" sz="2000" dirty="0" smtClean="0">
                <a:solidFill>
                  <a:srgbClr val="3333FF"/>
                </a:solidFill>
                <a:ea typeface="宋体" pitchFamily="2" charset="-122"/>
              </a:rPr>
              <a:t>，</a:t>
            </a:r>
            <a:r>
              <a:rPr lang="en-US" altLang="zh-CN" sz="2000" dirty="0" smtClean="0">
                <a:solidFill>
                  <a:srgbClr val="3333FF"/>
                </a:solidFill>
                <a:ea typeface="宋体" pitchFamily="2" charset="-122"/>
              </a:rPr>
              <a:t>2</a:t>
            </a:r>
            <a:r>
              <a:rPr lang="zh-CN" altLang="zh-CN" sz="2000" dirty="0" smtClean="0">
                <a:solidFill>
                  <a:srgbClr val="3333FF"/>
                </a:solidFill>
                <a:ea typeface="宋体" pitchFamily="2" charset="-122"/>
              </a:rPr>
              <a:t>，……，（</a:t>
            </a:r>
            <a:r>
              <a:rPr lang="en-US" altLang="zh-CN" sz="2000" dirty="0" err="1" smtClean="0">
                <a:solidFill>
                  <a:srgbClr val="3333FF"/>
                </a:solidFill>
                <a:ea typeface="宋体" pitchFamily="2" charset="-122"/>
              </a:rPr>
              <a:t>TableSize</a:t>
            </a:r>
            <a:r>
              <a:rPr lang="en-US" altLang="zh-CN" sz="2000" dirty="0" smtClean="0">
                <a:solidFill>
                  <a:srgbClr val="3333FF"/>
                </a:solidFill>
                <a:ea typeface="宋体" pitchFamily="2" charset="-122"/>
              </a:rPr>
              <a:t> -1</a:t>
            </a:r>
            <a:r>
              <a:rPr lang="zh-CN" altLang="zh-CN" sz="2000" dirty="0" smtClean="0">
                <a:solidFill>
                  <a:srgbClr val="3333FF"/>
                </a:solidFill>
                <a:ea typeface="宋体" pitchFamily="2" charset="-122"/>
              </a:rPr>
              <a:t>）</a:t>
            </a:r>
            <a:r>
              <a:rPr lang="zh-CN" altLang="zh-CN" sz="2000" dirty="0" smtClean="0">
                <a:solidFill>
                  <a:srgbClr val="000000"/>
                </a:solidFill>
                <a:ea typeface="宋体" pitchFamily="2" charset="-122"/>
              </a:rPr>
              <a:t>循环试探下一个存储地址。</a:t>
            </a:r>
            <a:endParaRPr lang="zh-CN" altLang="en-US" sz="2000" dirty="0" smtClean="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703334" y="2204864"/>
            <a:ext cx="7643813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2000" dirty="0" smtClean="0">
                <a:solidFill>
                  <a:srgbClr val="3333FF"/>
                </a:solidFill>
                <a:ea typeface="宋体" pitchFamily="2" charset="-122"/>
              </a:rPr>
              <a:t>[</a:t>
            </a:r>
            <a:r>
              <a:rPr lang="zh-CN" altLang="zh-CN" sz="2000" dirty="0" smtClean="0">
                <a:solidFill>
                  <a:srgbClr val="3333FF"/>
                </a:solidFill>
                <a:ea typeface="宋体" pitchFamily="2" charset="-122"/>
              </a:rPr>
              <a:t>例</a:t>
            </a:r>
            <a:r>
              <a:rPr lang="en-US" altLang="zh-CN" sz="2000" dirty="0" smtClean="0">
                <a:solidFill>
                  <a:srgbClr val="3333FF"/>
                </a:solidFill>
                <a:ea typeface="宋体" pitchFamily="2" charset="-122"/>
              </a:rPr>
              <a:t>] </a:t>
            </a:r>
            <a:r>
              <a:rPr lang="zh-CN" altLang="zh-CN" sz="2000" dirty="0" smtClean="0">
                <a:solidFill>
                  <a:srgbClr val="000000"/>
                </a:solidFill>
                <a:ea typeface="宋体" pitchFamily="2" charset="-122"/>
              </a:rPr>
              <a:t>设关键词序列为</a:t>
            </a:r>
            <a:r>
              <a:rPr lang="en-US" altLang="zh-CN" sz="2000" dirty="0" smtClean="0">
                <a:solidFill>
                  <a:srgbClr val="000000"/>
                </a:solidFill>
                <a:ea typeface="宋体" pitchFamily="2" charset="-122"/>
              </a:rPr>
              <a:t> {47</a:t>
            </a:r>
            <a:r>
              <a:rPr lang="zh-CN" altLang="zh-CN" sz="2000" dirty="0" smtClean="0">
                <a:solidFill>
                  <a:srgbClr val="000000"/>
                </a:solidFill>
                <a:ea typeface="宋体" pitchFamily="2" charset="-122"/>
              </a:rPr>
              <a:t>，</a:t>
            </a:r>
            <a:r>
              <a:rPr lang="en-US" altLang="zh-CN" sz="2000" dirty="0" smtClean="0">
                <a:solidFill>
                  <a:srgbClr val="000000"/>
                </a:solidFill>
                <a:ea typeface="宋体" pitchFamily="2" charset="-122"/>
              </a:rPr>
              <a:t>7</a:t>
            </a:r>
            <a:r>
              <a:rPr lang="zh-CN" altLang="zh-CN" sz="2000" dirty="0" smtClean="0">
                <a:solidFill>
                  <a:srgbClr val="000000"/>
                </a:solidFill>
                <a:ea typeface="宋体" pitchFamily="2" charset="-122"/>
              </a:rPr>
              <a:t>，</a:t>
            </a:r>
            <a:r>
              <a:rPr lang="en-US" altLang="zh-CN" sz="2000" dirty="0" smtClean="0">
                <a:solidFill>
                  <a:srgbClr val="000000"/>
                </a:solidFill>
                <a:ea typeface="宋体" pitchFamily="2" charset="-122"/>
              </a:rPr>
              <a:t>29</a:t>
            </a:r>
            <a:r>
              <a:rPr lang="zh-CN" altLang="zh-CN" sz="2000" dirty="0" smtClean="0">
                <a:solidFill>
                  <a:srgbClr val="000000"/>
                </a:solidFill>
                <a:ea typeface="宋体" pitchFamily="2" charset="-122"/>
              </a:rPr>
              <a:t>，</a:t>
            </a:r>
            <a:r>
              <a:rPr lang="en-US" altLang="zh-CN" sz="2000" dirty="0" smtClean="0">
                <a:solidFill>
                  <a:srgbClr val="000000"/>
                </a:solidFill>
                <a:ea typeface="宋体" pitchFamily="2" charset="-122"/>
              </a:rPr>
              <a:t>11</a:t>
            </a:r>
            <a:r>
              <a:rPr lang="zh-CN" altLang="zh-CN" sz="2000" dirty="0" smtClean="0">
                <a:solidFill>
                  <a:srgbClr val="000000"/>
                </a:solidFill>
                <a:ea typeface="宋体" pitchFamily="2" charset="-122"/>
              </a:rPr>
              <a:t>，</a:t>
            </a:r>
            <a:r>
              <a:rPr lang="en-US" altLang="zh-CN" sz="2000" dirty="0" smtClean="0">
                <a:solidFill>
                  <a:srgbClr val="000000"/>
                </a:solidFill>
                <a:ea typeface="宋体" pitchFamily="2" charset="-122"/>
              </a:rPr>
              <a:t>9</a:t>
            </a:r>
            <a:r>
              <a:rPr lang="zh-CN" altLang="zh-CN" sz="2000" dirty="0" smtClean="0">
                <a:solidFill>
                  <a:srgbClr val="000000"/>
                </a:solidFill>
                <a:ea typeface="宋体" pitchFamily="2" charset="-122"/>
              </a:rPr>
              <a:t>，</a:t>
            </a:r>
            <a:r>
              <a:rPr lang="en-US" altLang="zh-CN" sz="2000" dirty="0" smtClean="0">
                <a:solidFill>
                  <a:srgbClr val="000000"/>
                </a:solidFill>
                <a:ea typeface="宋体" pitchFamily="2" charset="-122"/>
              </a:rPr>
              <a:t>84</a:t>
            </a:r>
            <a:r>
              <a:rPr lang="zh-CN" altLang="zh-CN" sz="2000" dirty="0" smtClean="0">
                <a:solidFill>
                  <a:srgbClr val="000000"/>
                </a:solidFill>
                <a:ea typeface="宋体" pitchFamily="2" charset="-122"/>
              </a:rPr>
              <a:t>，</a:t>
            </a:r>
            <a:r>
              <a:rPr lang="en-US" altLang="zh-CN" sz="2000" dirty="0" smtClean="0">
                <a:solidFill>
                  <a:srgbClr val="000000"/>
                </a:solidFill>
                <a:ea typeface="宋体" pitchFamily="2" charset="-122"/>
              </a:rPr>
              <a:t>54</a:t>
            </a:r>
            <a:r>
              <a:rPr lang="zh-CN" altLang="zh-CN" sz="2000" dirty="0" smtClean="0">
                <a:solidFill>
                  <a:srgbClr val="000000"/>
                </a:solidFill>
                <a:ea typeface="宋体" pitchFamily="2" charset="-122"/>
              </a:rPr>
              <a:t>，</a:t>
            </a:r>
            <a:r>
              <a:rPr lang="en-US" altLang="zh-CN" sz="2000" dirty="0" smtClean="0">
                <a:solidFill>
                  <a:srgbClr val="000000"/>
                </a:solidFill>
                <a:ea typeface="宋体" pitchFamily="2" charset="-122"/>
              </a:rPr>
              <a:t>20</a:t>
            </a:r>
            <a:r>
              <a:rPr lang="zh-CN" altLang="zh-CN" sz="2000" dirty="0" smtClean="0">
                <a:solidFill>
                  <a:srgbClr val="000000"/>
                </a:solidFill>
                <a:ea typeface="宋体" pitchFamily="2" charset="-122"/>
              </a:rPr>
              <a:t>，</a:t>
            </a:r>
            <a:r>
              <a:rPr lang="en-US" altLang="zh-CN" sz="2000" dirty="0" smtClean="0">
                <a:solidFill>
                  <a:srgbClr val="000000"/>
                </a:solidFill>
                <a:ea typeface="宋体" pitchFamily="2" charset="-122"/>
              </a:rPr>
              <a:t>30}</a:t>
            </a:r>
            <a:r>
              <a:rPr lang="zh-CN" altLang="zh-CN" sz="2000" dirty="0" smtClean="0">
                <a:solidFill>
                  <a:srgbClr val="000000"/>
                </a:solidFill>
                <a:ea typeface="宋体" pitchFamily="2" charset="-122"/>
              </a:rPr>
              <a:t>，</a:t>
            </a:r>
            <a:endParaRPr lang="en-US" altLang="zh-CN" sz="2000" dirty="0" smtClean="0">
              <a:solidFill>
                <a:srgbClr val="000000"/>
              </a:solidFill>
              <a:ea typeface="宋体" pitchFamily="2" charset="-122"/>
            </a:endParaRPr>
          </a:p>
          <a:p>
            <a:r>
              <a:rPr lang="en-US" altLang="zh-CN" sz="2000" dirty="0" smtClean="0">
                <a:solidFill>
                  <a:srgbClr val="0033CC"/>
                </a:solidFill>
                <a:latin typeface="Arial" pitchFamily="34" charset="0"/>
                <a:ea typeface="宋体" pitchFamily="2" charset="-122"/>
                <a:sym typeface="Wingdings" pitchFamily="2" charset="2"/>
              </a:rPr>
              <a:t> </a:t>
            </a:r>
            <a:r>
              <a:rPr lang="zh-CN" altLang="zh-CN" sz="2000" dirty="0" smtClean="0">
                <a:solidFill>
                  <a:srgbClr val="000000"/>
                </a:solidFill>
                <a:ea typeface="宋体" pitchFamily="2" charset="-122"/>
              </a:rPr>
              <a:t>散列表表长</a:t>
            </a:r>
            <a:r>
              <a:rPr lang="en-US" altLang="zh-CN" sz="2000" dirty="0" err="1" smtClean="0">
                <a:solidFill>
                  <a:srgbClr val="3333FF"/>
                </a:solidFill>
                <a:ea typeface="宋体" pitchFamily="2" charset="-122"/>
              </a:rPr>
              <a:t>TableSize</a:t>
            </a:r>
            <a:r>
              <a:rPr lang="en-US" altLang="zh-CN" sz="2000" dirty="0" smtClean="0">
                <a:solidFill>
                  <a:srgbClr val="3333FF"/>
                </a:solidFill>
                <a:ea typeface="宋体" pitchFamily="2" charset="-122"/>
              </a:rPr>
              <a:t> =13</a:t>
            </a:r>
            <a:r>
              <a:rPr lang="zh-CN" altLang="zh-CN" sz="2000" dirty="0" smtClean="0">
                <a:solidFill>
                  <a:srgbClr val="000000"/>
                </a:solidFill>
                <a:ea typeface="宋体" pitchFamily="2" charset="-122"/>
              </a:rPr>
              <a:t>，</a:t>
            </a:r>
            <a:endParaRPr lang="en-US" altLang="zh-CN" sz="2000" dirty="0" smtClean="0">
              <a:solidFill>
                <a:srgbClr val="000000"/>
              </a:solidFill>
              <a:ea typeface="宋体" pitchFamily="2" charset="-122"/>
            </a:endParaRPr>
          </a:p>
          <a:p>
            <a:r>
              <a:rPr lang="en-US" altLang="zh-CN" sz="2000" dirty="0" smtClean="0">
                <a:solidFill>
                  <a:srgbClr val="0033CC"/>
                </a:solidFill>
                <a:latin typeface="Arial" pitchFamily="34" charset="0"/>
                <a:ea typeface="宋体" pitchFamily="2" charset="-122"/>
                <a:sym typeface="Wingdings" pitchFamily="2" charset="2"/>
              </a:rPr>
              <a:t> </a:t>
            </a:r>
            <a:r>
              <a:rPr lang="zh-CN" altLang="en-US" sz="2000" dirty="0" smtClean="0">
                <a:solidFill>
                  <a:srgbClr val="000000"/>
                </a:solidFill>
                <a:ea typeface="宋体" pitchFamily="2" charset="-122"/>
              </a:rPr>
              <a:t>装填因子 </a:t>
            </a:r>
            <a:r>
              <a:rPr lang="en-US" altLang="zh-CN" sz="2000" dirty="0" smtClean="0">
                <a:solidFill>
                  <a:srgbClr val="3333FF"/>
                </a:solidFill>
                <a:ea typeface="宋体" pitchFamily="2" charset="-122"/>
              </a:rPr>
              <a:t>α =  9/13 ≈ 0.69</a:t>
            </a:r>
            <a:r>
              <a:rPr lang="zh-CN" altLang="en-US" sz="2000" dirty="0" smtClean="0">
                <a:solidFill>
                  <a:srgbClr val="3333FF"/>
                </a:solidFill>
                <a:ea typeface="宋体" pitchFamily="2" charset="-122"/>
              </a:rPr>
              <a:t>；</a:t>
            </a:r>
            <a:endParaRPr lang="en-US" altLang="zh-CN" sz="2000" dirty="0" smtClean="0">
              <a:solidFill>
                <a:srgbClr val="3333FF"/>
              </a:solidFill>
              <a:ea typeface="宋体" pitchFamily="2" charset="-122"/>
            </a:endParaRPr>
          </a:p>
          <a:p>
            <a:r>
              <a:rPr lang="en-US" altLang="zh-CN" sz="2000" dirty="0" smtClean="0">
                <a:solidFill>
                  <a:srgbClr val="0033CC"/>
                </a:solidFill>
                <a:latin typeface="Arial" pitchFamily="34" charset="0"/>
                <a:ea typeface="宋体" pitchFamily="2" charset="-122"/>
                <a:sym typeface="Wingdings" pitchFamily="2" charset="2"/>
              </a:rPr>
              <a:t> </a:t>
            </a:r>
            <a:r>
              <a:rPr lang="zh-CN" altLang="zh-CN" sz="2000" dirty="0" smtClean="0">
                <a:solidFill>
                  <a:srgbClr val="000000"/>
                </a:solidFill>
                <a:ea typeface="宋体" pitchFamily="2" charset="-122"/>
              </a:rPr>
              <a:t>散列函数为：</a:t>
            </a:r>
            <a:r>
              <a:rPr lang="en-US" altLang="zh-CN" sz="2000" dirty="0" smtClean="0">
                <a:solidFill>
                  <a:srgbClr val="3333FF"/>
                </a:solidFill>
                <a:ea typeface="宋体" pitchFamily="2" charset="-122"/>
              </a:rPr>
              <a:t>h(key) = key mod 11</a:t>
            </a:r>
            <a:r>
              <a:rPr lang="zh-CN" altLang="zh-CN" sz="2000" dirty="0" smtClean="0">
                <a:solidFill>
                  <a:srgbClr val="000000"/>
                </a:solidFill>
                <a:ea typeface="宋体" pitchFamily="2" charset="-122"/>
              </a:rPr>
              <a:t>。</a:t>
            </a:r>
            <a:endParaRPr lang="en-US" altLang="zh-CN" sz="2000" dirty="0" smtClean="0">
              <a:solidFill>
                <a:srgbClr val="000000"/>
              </a:solidFill>
              <a:ea typeface="宋体" pitchFamily="2" charset="-122"/>
            </a:endParaRPr>
          </a:p>
          <a:p>
            <a:r>
              <a:rPr lang="en-US" altLang="zh-CN" sz="2000" dirty="0" smtClean="0">
                <a:solidFill>
                  <a:srgbClr val="0033CC"/>
                </a:solidFill>
                <a:latin typeface="Arial" pitchFamily="34" charset="0"/>
                <a:ea typeface="宋体" pitchFamily="2" charset="-122"/>
                <a:sym typeface="Wingdings" pitchFamily="2" charset="2"/>
              </a:rPr>
              <a:t></a:t>
            </a:r>
            <a:r>
              <a:rPr lang="zh-CN" altLang="zh-CN" sz="2000" dirty="0" smtClean="0">
                <a:solidFill>
                  <a:srgbClr val="000000"/>
                </a:solidFill>
                <a:ea typeface="宋体" pitchFamily="2" charset="-122"/>
              </a:rPr>
              <a:t>用</a:t>
            </a:r>
            <a:r>
              <a:rPr lang="zh-CN" altLang="zh-CN" sz="2000" dirty="0" smtClean="0">
                <a:solidFill>
                  <a:srgbClr val="3333FF"/>
                </a:solidFill>
                <a:ea typeface="宋体" pitchFamily="2" charset="-122"/>
              </a:rPr>
              <a:t>线性探测法</a:t>
            </a:r>
            <a:r>
              <a:rPr lang="zh-CN" altLang="zh-CN" sz="2000" dirty="0" smtClean="0">
                <a:solidFill>
                  <a:srgbClr val="000000"/>
                </a:solidFill>
                <a:ea typeface="宋体" pitchFamily="2" charset="-122"/>
              </a:rPr>
              <a:t>处理冲突，列出依次插入后的散列表，</a:t>
            </a:r>
            <a:endParaRPr lang="en-US" altLang="zh-CN" sz="2000" dirty="0" smtClean="0">
              <a:solidFill>
                <a:srgbClr val="000000"/>
              </a:solidFill>
              <a:ea typeface="宋体" pitchFamily="2" charset="-122"/>
            </a:endParaRPr>
          </a:p>
          <a:p>
            <a:r>
              <a:rPr lang="en-US" altLang="zh-CN" sz="2000" dirty="0" smtClean="0">
                <a:solidFill>
                  <a:srgbClr val="0033CC"/>
                </a:solidFill>
                <a:latin typeface="Arial" pitchFamily="34" charset="0"/>
                <a:ea typeface="宋体" pitchFamily="2" charset="-122"/>
                <a:sym typeface="Wingdings" pitchFamily="2" charset="2"/>
              </a:rPr>
              <a:t> </a:t>
            </a:r>
            <a:r>
              <a:rPr lang="zh-CN" altLang="zh-CN" sz="2000" dirty="0" smtClean="0">
                <a:solidFill>
                  <a:srgbClr val="000000"/>
                </a:solidFill>
                <a:ea typeface="宋体" pitchFamily="2" charset="-122"/>
              </a:rPr>
              <a:t>并估算查找性能。</a:t>
            </a: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9970867"/>
              </p:ext>
            </p:extLst>
          </p:nvPr>
        </p:nvGraphicFramePr>
        <p:xfrm>
          <a:off x="857250" y="5234904"/>
          <a:ext cx="7143750" cy="714376"/>
        </p:xfrm>
        <a:graphic>
          <a:graphicData uri="http://schemas.openxmlformats.org/drawingml/2006/table">
            <a:tbl>
              <a:tblPr/>
              <a:tblGrid>
                <a:gridCol w="2071688"/>
                <a:gridCol w="571500"/>
                <a:gridCol w="500063"/>
                <a:gridCol w="571500"/>
                <a:gridCol w="428625"/>
                <a:gridCol w="571500"/>
                <a:gridCol w="571500"/>
                <a:gridCol w="642938"/>
                <a:gridCol w="642938"/>
                <a:gridCol w="571498"/>
              </a:tblGrid>
              <a:tr h="35718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 dirty="0" smtClean="0">
                          <a:latin typeface="Times New Roman"/>
                          <a:ea typeface="宋体"/>
                          <a:cs typeface="Times New Roman"/>
                        </a:rPr>
                        <a:t>关键词</a:t>
                      </a:r>
                      <a:r>
                        <a:rPr lang="en-US" altLang="zh-CN" sz="1800" b="1" kern="100" dirty="0" smtClean="0">
                          <a:latin typeface="Times New Roman"/>
                          <a:ea typeface="宋体"/>
                          <a:cs typeface="Times New Roman"/>
                        </a:rPr>
                        <a:t> </a:t>
                      </a:r>
                      <a:r>
                        <a:rPr lang="en-US" altLang="zh-CN" sz="1800" b="1" kern="100" dirty="0" smtClean="0">
                          <a:solidFill>
                            <a:srgbClr val="3333FF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(key)</a:t>
                      </a:r>
                      <a:endParaRPr lang="zh-CN" sz="1800" b="1" kern="100" dirty="0">
                        <a:solidFill>
                          <a:srgbClr val="3333FF"/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latin typeface="Times New Roman"/>
                          <a:ea typeface="宋体"/>
                          <a:cs typeface="Times New Roman"/>
                        </a:rPr>
                        <a:t>47</a:t>
                      </a:r>
                      <a:endParaRPr lang="zh-CN" sz="18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latin typeface="Times New Roman"/>
                          <a:ea typeface="宋体"/>
                          <a:cs typeface="Times New Roman"/>
                        </a:rPr>
                        <a:t>7</a:t>
                      </a:r>
                      <a:endParaRPr lang="zh-CN" sz="18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latin typeface="Times New Roman"/>
                          <a:ea typeface="宋体"/>
                          <a:cs typeface="Times New Roman"/>
                        </a:rPr>
                        <a:t>29</a:t>
                      </a:r>
                      <a:endParaRPr lang="zh-CN" sz="18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latin typeface="Times New Roman"/>
                          <a:ea typeface="宋体"/>
                          <a:cs typeface="Times New Roman"/>
                        </a:rPr>
                        <a:t>11</a:t>
                      </a:r>
                      <a:endParaRPr lang="zh-CN" sz="18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latin typeface="Times New Roman"/>
                          <a:ea typeface="宋体"/>
                          <a:cs typeface="Times New Roman"/>
                        </a:rPr>
                        <a:t>9</a:t>
                      </a:r>
                      <a:endParaRPr lang="zh-CN" sz="18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latin typeface="Times New Roman"/>
                          <a:ea typeface="宋体"/>
                          <a:cs typeface="Times New Roman"/>
                        </a:rPr>
                        <a:t>84</a:t>
                      </a:r>
                      <a:endParaRPr lang="zh-CN" sz="18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latin typeface="Times New Roman"/>
                          <a:ea typeface="宋体"/>
                          <a:cs typeface="Times New Roman"/>
                        </a:rPr>
                        <a:t>54</a:t>
                      </a:r>
                      <a:endParaRPr lang="zh-CN" sz="18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latin typeface="Times New Roman"/>
                          <a:ea typeface="宋体"/>
                          <a:cs typeface="Times New Roman"/>
                        </a:rPr>
                        <a:t>20</a:t>
                      </a:r>
                      <a:endParaRPr lang="zh-CN" sz="18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latin typeface="Times New Roman"/>
                          <a:ea typeface="宋体"/>
                          <a:cs typeface="Times New Roman"/>
                        </a:rPr>
                        <a:t>30</a:t>
                      </a:r>
                      <a:endParaRPr lang="zh-CN" sz="18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5718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zh-CN" sz="1800" b="1" kern="100" dirty="0">
                        <a:solidFill>
                          <a:srgbClr val="3333FF"/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zh-CN" sz="1800" b="1" kern="100" dirty="0">
                        <a:solidFill>
                          <a:srgbClr val="3333FF"/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zh-CN" sz="1800" b="1" kern="100" dirty="0">
                        <a:solidFill>
                          <a:srgbClr val="3333FF"/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zh-CN" sz="1800" b="1" kern="100" dirty="0">
                        <a:solidFill>
                          <a:srgbClr val="3333FF"/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zh-CN" sz="1800" b="1" kern="100" dirty="0">
                        <a:solidFill>
                          <a:srgbClr val="3333FF"/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zh-CN" sz="1800" b="1" kern="100" dirty="0">
                        <a:solidFill>
                          <a:srgbClr val="3333FF"/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zh-CN" sz="1800" b="1" kern="100" dirty="0">
                        <a:solidFill>
                          <a:srgbClr val="3333FF"/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zh-CN" sz="1800" b="1" kern="100" dirty="0">
                        <a:solidFill>
                          <a:srgbClr val="3333FF"/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zh-CN" sz="1800" b="1" kern="100" dirty="0">
                        <a:solidFill>
                          <a:srgbClr val="3333FF"/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zh-CN" sz="1800" b="1" kern="100" dirty="0">
                        <a:solidFill>
                          <a:srgbClr val="3333FF"/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8316550"/>
              </p:ext>
            </p:extLst>
          </p:nvPr>
        </p:nvGraphicFramePr>
        <p:xfrm>
          <a:off x="857250" y="5592092"/>
          <a:ext cx="7143750" cy="357187"/>
        </p:xfrm>
        <a:graphic>
          <a:graphicData uri="http://schemas.openxmlformats.org/drawingml/2006/table">
            <a:tbl>
              <a:tblPr/>
              <a:tblGrid>
                <a:gridCol w="2071688"/>
                <a:gridCol w="571500"/>
                <a:gridCol w="500063"/>
                <a:gridCol w="571500"/>
                <a:gridCol w="428625"/>
                <a:gridCol w="571500"/>
                <a:gridCol w="571500"/>
                <a:gridCol w="642938"/>
                <a:gridCol w="642938"/>
                <a:gridCol w="571498"/>
              </a:tblGrid>
              <a:tr h="35718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latin typeface="Times New Roman"/>
                          <a:ea typeface="宋体"/>
                          <a:cs typeface="Times New Roman"/>
                        </a:rPr>
                        <a:t>散</a:t>
                      </a:r>
                      <a:r>
                        <a:rPr lang="zh-CN" sz="1800" b="1" kern="100" dirty="0" smtClean="0">
                          <a:latin typeface="Times New Roman"/>
                          <a:ea typeface="宋体"/>
                          <a:cs typeface="Times New Roman"/>
                        </a:rPr>
                        <a:t>列地址</a:t>
                      </a:r>
                      <a:r>
                        <a:rPr lang="en-US" altLang="zh-CN" sz="1800" b="1" kern="100" dirty="0" smtClean="0">
                          <a:latin typeface="Times New Roman"/>
                          <a:ea typeface="宋体"/>
                          <a:cs typeface="Times New Roman"/>
                        </a:rPr>
                        <a:t> </a:t>
                      </a:r>
                      <a:r>
                        <a:rPr lang="en-US" altLang="zh-CN" sz="1800" b="1" kern="100" dirty="0" smtClean="0">
                          <a:solidFill>
                            <a:srgbClr val="3333FF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h(key)</a:t>
                      </a:r>
                      <a:endParaRPr lang="zh-CN" sz="1800" b="1" kern="100" dirty="0">
                        <a:solidFill>
                          <a:srgbClr val="3333FF"/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3333FF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3</a:t>
                      </a:r>
                      <a:endParaRPr lang="zh-CN" sz="1800" b="1" kern="100" dirty="0">
                        <a:solidFill>
                          <a:srgbClr val="3333FF"/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3333FF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7</a:t>
                      </a:r>
                      <a:endParaRPr lang="zh-CN" sz="1800" b="1" kern="100" dirty="0">
                        <a:solidFill>
                          <a:srgbClr val="3333FF"/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3333FF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7</a:t>
                      </a:r>
                      <a:endParaRPr lang="zh-CN" sz="1800" b="1" kern="100" dirty="0">
                        <a:solidFill>
                          <a:srgbClr val="3333FF"/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3333FF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0</a:t>
                      </a:r>
                      <a:endParaRPr lang="zh-CN" sz="1800" b="1" kern="100" dirty="0">
                        <a:solidFill>
                          <a:srgbClr val="3333FF"/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3333FF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9</a:t>
                      </a:r>
                      <a:endParaRPr lang="zh-CN" sz="1800" b="1" kern="100" dirty="0">
                        <a:solidFill>
                          <a:srgbClr val="3333FF"/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3333FF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7</a:t>
                      </a:r>
                      <a:endParaRPr lang="zh-CN" sz="1800" b="1" kern="100" dirty="0">
                        <a:solidFill>
                          <a:srgbClr val="3333FF"/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3333FF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10</a:t>
                      </a:r>
                      <a:endParaRPr lang="zh-CN" sz="1800" b="1" kern="100" dirty="0">
                        <a:solidFill>
                          <a:srgbClr val="3333FF"/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3333FF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9</a:t>
                      </a:r>
                      <a:endParaRPr lang="zh-CN" sz="1800" b="1" kern="100" dirty="0">
                        <a:solidFill>
                          <a:srgbClr val="3333FF"/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3333FF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8</a:t>
                      </a:r>
                      <a:endParaRPr lang="zh-CN" sz="1800" b="1" kern="100" dirty="0">
                        <a:solidFill>
                          <a:srgbClr val="3333FF"/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211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线性探测法（</a:t>
            </a:r>
            <a:r>
              <a:rPr lang="en-US" altLang="zh-CN" dirty="0"/>
              <a:t>Linear Probing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143000" y="2714625"/>
          <a:ext cx="7072313" cy="2857502"/>
        </p:xfrm>
        <a:graphic>
          <a:graphicData uri="http://schemas.openxmlformats.org/drawingml/2006/table">
            <a:tbl>
              <a:tblPr/>
              <a:tblGrid>
                <a:gridCol w="970859"/>
                <a:gridCol w="415401"/>
                <a:gridCol w="407780"/>
                <a:gridCol w="407780"/>
                <a:gridCol w="407780"/>
                <a:gridCol w="407780"/>
                <a:gridCol w="407780"/>
                <a:gridCol w="407780"/>
                <a:gridCol w="407780"/>
                <a:gridCol w="402720"/>
                <a:gridCol w="412840"/>
                <a:gridCol w="407780"/>
                <a:gridCol w="407780"/>
                <a:gridCol w="400157"/>
                <a:gridCol w="800316"/>
              </a:tblGrid>
              <a:tr h="57164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indent="285750" algn="just">
                        <a:spcAft>
                          <a:spcPts val="0"/>
                        </a:spcAft>
                      </a:pPr>
                      <a:r>
                        <a:rPr lang="zh-CN" sz="1600" b="1" kern="100" dirty="0" smtClean="0">
                          <a:latin typeface="Times New Roman"/>
                          <a:ea typeface="宋体"/>
                          <a:cs typeface="Times New Roman"/>
                        </a:rPr>
                        <a:t>地址</a:t>
                      </a:r>
                      <a:endParaRPr lang="zh-CN" sz="16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latin typeface="Times New Roman"/>
                          <a:ea typeface="宋体"/>
                          <a:cs typeface="Times New Roman"/>
                        </a:rPr>
                        <a:t>操作</a:t>
                      </a:r>
                    </a:p>
                  </a:txBody>
                  <a:tcPr marL="68579" marR="68579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latin typeface="Times New Roman"/>
                          <a:ea typeface="宋体"/>
                          <a:cs typeface="Times New Roman"/>
                        </a:rPr>
                        <a:t>0</a:t>
                      </a:r>
                      <a:endParaRPr lang="zh-CN" sz="16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latin typeface="Times New Roman"/>
                          <a:ea typeface="宋体"/>
                          <a:cs typeface="Times New Roman"/>
                        </a:rPr>
                        <a:t>1</a:t>
                      </a:r>
                      <a:endParaRPr lang="zh-CN" sz="16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Times New Roman"/>
                          <a:ea typeface="宋体"/>
                          <a:cs typeface="Times New Roman"/>
                        </a:rPr>
                        <a:t>2</a:t>
                      </a:r>
                      <a:endParaRPr lang="zh-CN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Times New Roman"/>
                          <a:ea typeface="宋体"/>
                          <a:cs typeface="Times New Roman"/>
                        </a:rPr>
                        <a:t>3</a:t>
                      </a:r>
                      <a:endParaRPr lang="zh-CN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Times New Roman"/>
                          <a:ea typeface="宋体"/>
                          <a:cs typeface="Times New Roman"/>
                        </a:rPr>
                        <a:t>4</a:t>
                      </a:r>
                      <a:endParaRPr lang="zh-CN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Times New Roman"/>
                          <a:ea typeface="宋体"/>
                          <a:cs typeface="Times New Roman"/>
                        </a:rPr>
                        <a:t>5</a:t>
                      </a:r>
                      <a:endParaRPr lang="zh-CN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Times New Roman"/>
                          <a:ea typeface="宋体"/>
                          <a:cs typeface="Times New Roman"/>
                        </a:rPr>
                        <a:t>6</a:t>
                      </a:r>
                      <a:endParaRPr lang="zh-CN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Times New Roman"/>
                          <a:ea typeface="宋体"/>
                          <a:cs typeface="Times New Roman"/>
                        </a:rPr>
                        <a:t>7</a:t>
                      </a:r>
                      <a:endParaRPr lang="zh-CN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latin typeface="Times New Roman"/>
                          <a:ea typeface="宋体"/>
                          <a:cs typeface="Times New Roman"/>
                        </a:rPr>
                        <a:t>8</a:t>
                      </a:r>
                      <a:endParaRPr lang="zh-CN" sz="16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latin typeface="Times New Roman"/>
                          <a:ea typeface="宋体"/>
                          <a:cs typeface="Times New Roman"/>
                        </a:rPr>
                        <a:t>9</a:t>
                      </a:r>
                      <a:endParaRPr lang="zh-CN" sz="16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Times New Roman"/>
                          <a:ea typeface="宋体"/>
                          <a:cs typeface="Times New Roman"/>
                        </a:rPr>
                        <a:t>10</a:t>
                      </a:r>
                      <a:endParaRPr lang="zh-CN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Times New Roman"/>
                          <a:ea typeface="宋体"/>
                          <a:cs typeface="Times New Roman"/>
                        </a:rPr>
                        <a:t>11</a:t>
                      </a:r>
                      <a:endParaRPr lang="zh-CN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Times New Roman"/>
                          <a:ea typeface="宋体"/>
                          <a:cs typeface="Times New Roman"/>
                        </a:rPr>
                        <a:t>12</a:t>
                      </a:r>
                      <a:endParaRPr lang="zh-CN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>
                          <a:latin typeface="Times New Roman"/>
                          <a:ea typeface="宋体"/>
                          <a:cs typeface="Times New Roman"/>
                        </a:rPr>
                        <a:t>说 明</a:t>
                      </a: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5398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100">
                          <a:latin typeface="Times New Roman"/>
                          <a:ea typeface="宋体"/>
                          <a:cs typeface="Times New Roman"/>
                        </a:rPr>
                        <a:t>插入</a:t>
                      </a:r>
                      <a:r>
                        <a:rPr lang="en-US" sz="1600" b="1" kern="100">
                          <a:latin typeface="Times New Roman"/>
                          <a:ea typeface="宋体"/>
                          <a:cs typeface="Times New Roman"/>
                        </a:rPr>
                        <a:t>47</a:t>
                      </a:r>
                      <a:endParaRPr lang="zh-CN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en-US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en-US" sz="16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en-US" sz="16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solidFill>
                            <a:srgbClr val="3333FF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47</a:t>
                      </a:r>
                      <a:endParaRPr lang="zh-CN" sz="1600" b="1" kern="100" dirty="0">
                        <a:solidFill>
                          <a:srgbClr val="3333FF"/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en-US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en-US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en-US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en-US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en-US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en-US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en-US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en-US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en-US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100">
                          <a:latin typeface="Times New Roman"/>
                          <a:ea typeface="宋体"/>
                          <a:cs typeface="Times New Roman"/>
                        </a:rPr>
                        <a:t>无冲突</a:t>
                      </a: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5398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100">
                          <a:latin typeface="Times New Roman"/>
                          <a:ea typeface="宋体"/>
                          <a:cs typeface="Times New Roman"/>
                        </a:rPr>
                        <a:t>插入</a:t>
                      </a:r>
                      <a:r>
                        <a:rPr lang="en-US" sz="1600" b="1" kern="100">
                          <a:latin typeface="Times New Roman"/>
                          <a:ea typeface="宋体"/>
                          <a:cs typeface="Times New Roman"/>
                        </a:rPr>
                        <a:t>7</a:t>
                      </a:r>
                      <a:endParaRPr lang="zh-CN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en-US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en-US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en-US" sz="16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latin typeface="Times New Roman"/>
                          <a:ea typeface="宋体"/>
                          <a:cs typeface="Times New Roman"/>
                        </a:rPr>
                        <a:t>47</a:t>
                      </a:r>
                      <a:endParaRPr lang="zh-CN" sz="16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en-US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en-US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en-US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solidFill>
                            <a:srgbClr val="3333FF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7</a:t>
                      </a:r>
                      <a:endParaRPr lang="zh-CN" sz="1600" b="1" kern="100" dirty="0">
                        <a:solidFill>
                          <a:srgbClr val="3333FF"/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en-US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en-US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en-US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en-US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en-US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100">
                          <a:latin typeface="Times New Roman"/>
                          <a:ea typeface="宋体"/>
                          <a:cs typeface="Times New Roman"/>
                        </a:rPr>
                        <a:t>无冲突</a:t>
                      </a: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5398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100">
                          <a:latin typeface="Times New Roman"/>
                          <a:ea typeface="宋体"/>
                          <a:cs typeface="Times New Roman"/>
                        </a:rPr>
                        <a:t>插入</a:t>
                      </a:r>
                      <a:r>
                        <a:rPr lang="en-US" sz="1600" b="1" kern="100">
                          <a:latin typeface="Times New Roman"/>
                          <a:ea typeface="宋体"/>
                          <a:cs typeface="Times New Roman"/>
                        </a:rPr>
                        <a:t>29</a:t>
                      </a:r>
                      <a:endParaRPr lang="zh-CN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en-US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en-US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en-US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latin typeface="Times New Roman"/>
                          <a:ea typeface="宋体"/>
                          <a:cs typeface="Times New Roman"/>
                        </a:rPr>
                        <a:t>47</a:t>
                      </a:r>
                      <a:endParaRPr lang="zh-CN" sz="16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en-US" sz="16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en-US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en-US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Times New Roman"/>
                          <a:ea typeface="宋体"/>
                          <a:cs typeface="Times New Roman"/>
                        </a:rPr>
                        <a:t>7</a:t>
                      </a:r>
                      <a:endParaRPr lang="zh-CN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solidFill>
                            <a:srgbClr val="3333FF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29</a:t>
                      </a:r>
                      <a:endParaRPr lang="zh-CN" sz="1600" b="1" kern="100" dirty="0">
                        <a:solidFill>
                          <a:srgbClr val="3333FF"/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en-US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en-US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en-US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en-US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Times New Roman"/>
                          <a:ea typeface="宋体"/>
                          <a:cs typeface="Times New Roman"/>
                        </a:rPr>
                        <a:t>d</a:t>
                      </a:r>
                      <a:r>
                        <a:rPr lang="en-US" sz="1600" b="1" kern="100" baseline="-25000">
                          <a:latin typeface="Times New Roman"/>
                          <a:ea typeface="宋体"/>
                          <a:cs typeface="Times New Roman"/>
                        </a:rPr>
                        <a:t>1</a:t>
                      </a:r>
                      <a:r>
                        <a:rPr lang="en-US" sz="1600" b="1" kern="100">
                          <a:latin typeface="Times New Roman"/>
                          <a:ea typeface="宋体"/>
                          <a:cs typeface="Times New Roman"/>
                        </a:rPr>
                        <a:t> = 1</a:t>
                      </a:r>
                      <a:endParaRPr lang="zh-CN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5398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100">
                          <a:latin typeface="Times New Roman"/>
                          <a:ea typeface="宋体"/>
                          <a:cs typeface="Times New Roman"/>
                        </a:rPr>
                        <a:t>插入</a:t>
                      </a:r>
                      <a:r>
                        <a:rPr lang="en-US" sz="1600" b="1" kern="100">
                          <a:latin typeface="Times New Roman"/>
                          <a:ea typeface="宋体"/>
                          <a:cs typeface="Times New Roman"/>
                        </a:rPr>
                        <a:t>11</a:t>
                      </a:r>
                      <a:endParaRPr lang="zh-CN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solidFill>
                            <a:srgbClr val="3333FF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11</a:t>
                      </a:r>
                      <a:endParaRPr lang="zh-CN" sz="1600" b="1" kern="100" dirty="0">
                        <a:solidFill>
                          <a:srgbClr val="3333FF"/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en-US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en-US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Times New Roman"/>
                          <a:ea typeface="宋体"/>
                          <a:cs typeface="Times New Roman"/>
                        </a:rPr>
                        <a:t>47</a:t>
                      </a:r>
                      <a:endParaRPr lang="zh-CN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en-US" sz="16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en-US" sz="16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en-US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Times New Roman"/>
                          <a:ea typeface="宋体"/>
                          <a:cs typeface="Times New Roman"/>
                        </a:rPr>
                        <a:t>7</a:t>
                      </a:r>
                      <a:endParaRPr lang="zh-CN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Times New Roman"/>
                          <a:ea typeface="宋体"/>
                          <a:cs typeface="Times New Roman"/>
                        </a:rPr>
                        <a:t>29</a:t>
                      </a:r>
                      <a:endParaRPr lang="zh-CN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en-US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en-US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en-US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en-US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100">
                          <a:latin typeface="Times New Roman"/>
                          <a:ea typeface="宋体"/>
                          <a:cs typeface="Times New Roman"/>
                        </a:rPr>
                        <a:t>无冲突</a:t>
                      </a: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5398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100">
                          <a:latin typeface="Times New Roman"/>
                          <a:ea typeface="宋体"/>
                          <a:cs typeface="Times New Roman"/>
                        </a:rPr>
                        <a:t>插入</a:t>
                      </a:r>
                      <a:r>
                        <a:rPr lang="en-US" sz="1600" b="1" kern="100">
                          <a:latin typeface="Times New Roman"/>
                          <a:ea typeface="宋体"/>
                          <a:cs typeface="Times New Roman"/>
                        </a:rPr>
                        <a:t>9</a:t>
                      </a:r>
                      <a:endParaRPr lang="zh-CN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Times New Roman"/>
                          <a:ea typeface="宋体"/>
                          <a:cs typeface="Times New Roman"/>
                        </a:rPr>
                        <a:t>11</a:t>
                      </a:r>
                      <a:endParaRPr lang="zh-CN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en-US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en-US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Times New Roman"/>
                          <a:ea typeface="宋体"/>
                          <a:cs typeface="Times New Roman"/>
                        </a:rPr>
                        <a:t>47</a:t>
                      </a:r>
                      <a:endParaRPr lang="zh-CN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en-US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en-US" sz="16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en-US" sz="16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Times New Roman"/>
                          <a:ea typeface="宋体"/>
                          <a:cs typeface="Times New Roman"/>
                        </a:rPr>
                        <a:t>7</a:t>
                      </a:r>
                      <a:endParaRPr lang="zh-CN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Times New Roman"/>
                          <a:ea typeface="宋体"/>
                          <a:cs typeface="Times New Roman"/>
                        </a:rPr>
                        <a:t>29</a:t>
                      </a:r>
                      <a:endParaRPr lang="zh-CN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solidFill>
                            <a:srgbClr val="3333FF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9</a:t>
                      </a:r>
                      <a:endParaRPr lang="zh-CN" sz="1600" b="1" kern="100" dirty="0">
                        <a:solidFill>
                          <a:srgbClr val="3333FF"/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en-US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en-US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en-US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100">
                          <a:latin typeface="Times New Roman"/>
                          <a:ea typeface="宋体"/>
                          <a:cs typeface="Times New Roman"/>
                        </a:rPr>
                        <a:t>无冲突</a:t>
                      </a: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5398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100">
                          <a:latin typeface="Times New Roman"/>
                          <a:ea typeface="宋体"/>
                          <a:cs typeface="Times New Roman"/>
                        </a:rPr>
                        <a:t>插入</a:t>
                      </a:r>
                      <a:r>
                        <a:rPr lang="en-US" sz="1600" b="1" kern="100">
                          <a:latin typeface="Times New Roman"/>
                          <a:ea typeface="宋体"/>
                          <a:cs typeface="Times New Roman"/>
                        </a:rPr>
                        <a:t>84</a:t>
                      </a:r>
                      <a:endParaRPr lang="zh-CN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Times New Roman"/>
                          <a:ea typeface="宋体"/>
                          <a:cs typeface="Times New Roman"/>
                        </a:rPr>
                        <a:t>11</a:t>
                      </a:r>
                      <a:endParaRPr lang="zh-CN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en-US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en-US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Times New Roman"/>
                          <a:ea typeface="宋体"/>
                          <a:cs typeface="Times New Roman"/>
                        </a:rPr>
                        <a:t>47</a:t>
                      </a:r>
                      <a:endParaRPr lang="zh-CN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en-US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en-US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en-US" sz="16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latin typeface="Times New Roman"/>
                          <a:ea typeface="宋体"/>
                          <a:cs typeface="Times New Roman"/>
                        </a:rPr>
                        <a:t>7</a:t>
                      </a:r>
                      <a:endParaRPr lang="zh-CN" sz="16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Times New Roman"/>
                          <a:ea typeface="宋体"/>
                          <a:cs typeface="Times New Roman"/>
                        </a:rPr>
                        <a:t>29</a:t>
                      </a:r>
                      <a:endParaRPr lang="zh-CN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Times New Roman"/>
                          <a:ea typeface="宋体"/>
                          <a:cs typeface="Times New Roman"/>
                        </a:rPr>
                        <a:t>9</a:t>
                      </a:r>
                      <a:endParaRPr lang="zh-CN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solidFill>
                            <a:srgbClr val="3333FF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84</a:t>
                      </a:r>
                      <a:endParaRPr lang="zh-CN" sz="1600" b="1" kern="100" dirty="0">
                        <a:solidFill>
                          <a:srgbClr val="3333FF"/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en-US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en-US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Times New Roman"/>
                          <a:ea typeface="宋体"/>
                          <a:cs typeface="Times New Roman"/>
                        </a:rPr>
                        <a:t>d</a:t>
                      </a:r>
                      <a:r>
                        <a:rPr lang="en-US" sz="1600" b="1" kern="100" baseline="-25000">
                          <a:latin typeface="Times New Roman"/>
                          <a:ea typeface="宋体"/>
                          <a:cs typeface="Times New Roman"/>
                        </a:rPr>
                        <a:t>3</a:t>
                      </a:r>
                      <a:r>
                        <a:rPr lang="en-US" sz="1600" b="1" kern="100">
                          <a:latin typeface="Times New Roman"/>
                          <a:ea typeface="宋体"/>
                          <a:cs typeface="Times New Roman"/>
                        </a:rPr>
                        <a:t> = 3</a:t>
                      </a:r>
                      <a:endParaRPr lang="zh-CN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5398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100">
                          <a:latin typeface="Times New Roman"/>
                          <a:ea typeface="宋体"/>
                          <a:cs typeface="Times New Roman"/>
                        </a:rPr>
                        <a:t>插入</a:t>
                      </a:r>
                      <a:r>
                        <a:rPr lang="en-US" sz="1600" b="1" kern="100">
                          <a:latin typeface="Times New Roman"/>
                          <a:ea typeface="宋体"/>
                          <a:cs typeface="Times New Roman"/>
                        </a:rPr>
                        <a:t>54</a:t>
                      </a:r>
                      <a:endParaRPr lang="zh-CN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Times New Roman"/>
                          <a:ea typeface="宋体"/>
                          <a:cs typeface="Times New Roman"/>
                        </a:rPr>
                        <a:t>11</a:t>
                      </a:r>
                      <a:endParaRPr lang="zh-CN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en-US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en-US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Times New Roman"/>
                          <a:ea typeface="宋体"/>
                          <a:cs typeface="Times New Roman"/>
                        </a:rPr>
                        <a:t>47</a:t>
                      </a:r>
                      <a:endParaRPr lang="zh-CN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en-US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en-US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en-US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Times New Roman"/>
                          <a:ea typeface="宋体"/>
                          <a:cs typeface="Times New Roman"/>
                        </a:rPr>
                        <a:t>7</a:t>
                      </a:r>
                      <a:endParaRPr lang="zh-CN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latin typeface="Times New Roman"/>
                          <a:ea typeface="宋体"/>
                          <a:cs typeface="Times New Roman"/>
                        </a:rPr>
                        <a:t>29</a:t>
                      </a:r>
                      <a:endParaRPr lang="zh-CN" sz="16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latin typeface="Times New Roman"/>
                          <a:ea typeface="宋体"/>
                          <a:cs typeface="Times New Roman"/>
                        </a:rPr>
                        <a:t>9</a:t>
                      </a:r>
                      <a:endParaRPr lang="zh-CN" sz="16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Times New Roman"/>
                          <a:ea typeface="宋体"/>
                          <a:cs typeface="Times New Roman"/>
                        </a:rPr>
                        <a:t>84</a:t>
                      </a:r>
                      <a:endParaRPr lang="zh-CN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solidFill>
                            <a:srgbClr val="3333FF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54</a:t>
                      </a:r>
                      <a:endParaRPr lang="zh-CN" sz="1600" b="1" kern="100" dirty="0">
                        <a:solidFill>
                          <a:srgbClr val="3333FF"/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en-US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Times New Roman"/>
                          <a:ea typeface="宋体"/>
                          <a:cs typeface="Times New Roman"/>
                        </a:rPr>
                        <a:t>d</a:t>
                      </a:r>
                      <a:r>
                        <a:rPr lang="en-US" sz="1600" b="1" kern="100" baseline="-25000">
                          <a:latin typeface="Times New Roman"/>
                          <a:ea typeface="宋体"/>
                          <a:cs typeface="Times New Roman"/>
                        </a:rPr>
                        <a:t>1</a:t>
                      </a:r>
                      <a:r>
                        <a:rPr lang="en-US" sz="1600" b="1" kern="100">
                          <a:latin typeface="Times New Roman"/>
                          <a:ea typeface="宋体"/>
                          <a:cs typeface="Times New Roman"/>
                        </a:rPr>
                        <a:t> = 1</a:t>
                      </a:r>
                      <a:endParaRPr lang="zh-CN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5398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100">
                          <a:latin typeface="Times New Roman"/>
                          <a:ea typeface="宋体"/>
                          <a:cs typeface="Times New Roman"/>
                        </a:rPr>
                        <a:t>插入</a:t>
                      </a:r>
                      <a:r>
                        <a:rPr lang="en-US" sz="1600" b="1" kern="100">
                          <a:latin typeface="Times New Roman"/>
                          <a:ea typeface="宋体"/>
                          <a:cs typeface="Times New Roman"/>
                        </a:rPr>
                        <a:t>20</a:t>
                      </a:r>
                      <a:endParaRPr lang="zh-CN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Times New Roman"/>
                          <a:ea typeface="宋体"/>
                          <a:cs typeface="Times New Roman"/>
                        </a:rPr>
                        <a:t>11</a:t>
                      </a:r>
                      <a:endParaRPr lang="zh-CN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en-US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en-US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Times New Roman"/>
                          <a:ea typeface="宋体"/>
                          <a:cs typeface="Times New Roman"/>
                        </a:rPr>
                        <a:t>47</a:t>
                      </a:r>
                      <a:endParaRPr lang="zh-CN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en-US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en-US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en-US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Times New Roman"/>
                          <a:ea typeface="宋体"/>
                          <a:cs typeface="Times New Roman"/>
                        </a:rPr>
                        <a:t>7</a:t>
                      </a:r>
                      <a:endParaRPr lang="zh-CN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Times New Roman"/>
                          <a:ea typeface="宋体"/>
                          <a:cs typeface="Times New Roman"/>
                        </a:rPr>
                        <a:t>29</a:t>
                      </a:r>
                      <a:endParaRPr lang="zh-CN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latin typeface="Times New Roman"/>
                          <a:ea typeface="宋体"/>
                          <a:cs typeface="Times New Roman"/>
                        </a:rPr>
                        <a:t>9</a:t>
                      </a:r>
                      <a:endParaRPr lang="zh-CN" sz="16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latin typeface="Times New Roman"/>
                          <a:ea typeface="宋体"/>
                          <a:cs typeface="Times New Roman"/>
                        </a:rPr>
                        <a:t>84</a:t>
                      </a:r>
                      <a:endParaRPr lang="zh-CN" sz="16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latin typeface="Times New Roman"/>
                          <a:ea typeface="宋体"/>
                          <a:cs typeface="Times New Roman"/>
                        </a:rPr>
                        <a:t>54</a:t>
                      </a:r>
                      <a:endParaRPr lang="zh-CN" sz="16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solidFill>
                            <a:srgbClr val="3333FF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20</a:t>
                      </a:r>
                      <a:endParaRPr lang="zh-CN" sz="1600" b="1" kern="100" dirty="0">
                        <a:solidFill>
                          <a:srgbClr val="3333FF"/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Times New Roman"/>
                          <a:ea typeface="宋体"/>
                          <a:cs typeface="Times New Roman"/>
                        </a:rPr>
                        <a:t>d</a:t>
                      </a:r>
                      <a:r>
                        <a:rPr lang="en-US" sz="1600" b="1" kern="100" baseline="-25000">
                          <a:latin typeface="Times New Roman"/>
                          <a:ea typeface="宋体"/>
                          <a:cs typeface="Times New Roman"/>
                        </a:rPr>
                        <a:t>3</a:t>
                      </a:r>
                      <a:r>
                        <a:rPr lang="en-US" sz="1600" b="1" kern="100">
                          <a:latin typeface="Times New Roman"/>
                          <a:ea typeface="宋体"/>
                          <a:cs typeface="Times New Roman"/>
                        </a:rPr>
                        <a:t> = 3</a:t>
                      </a:r>
                      <a:endParaRPr lang="zh-CN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5398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latin typeface="Times New Roman"/>
                          <a:ea typeface="宋体"/>
                          <a:cs typeface="Times New Roman"/>
                        </a:rPr>
                        <a:t>插入</a:t>
                      </a:r>
                      <a:r>
                        <a:rPr lang="en-US" sz="1600" b="1" kern="100" dirty="0">
                          <a:latin typeface="Times New Roman"/>
                          <a:ea typeface="宋体"/>
                          <a:cs typeface="Times New Roman"/>
                        </a:rPr>
                        <a:t>30</a:t>
                      </a:r>
                      <a:endParaRPr lang="zh-CN" sz="16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solidFill>
                            <a:srgbClr val="3333FF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11</a:t>
                      </a:r>
                      <a:endParaRPr lang="zh-CN" sz="1600" b="1" kern="100" dirty="0">
                        <a:solidFill>
                          <a:srgbClr val="3333FF"/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solidFill>
                            <a:srgbClr val="3333FF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30</a:t>
                      </a:r>
                      <a:endParaRPr lang="zh-CN" sz="1600" b="1" kern="100" dirty="0">
                        <a:solidFill>
                          <a:srgbClr val="3333FF"/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en-US" sz="1600" b="1" kern="100" dirty="0">
                        <a:solidFill>
                          <a:srgbClr val="3333FF"/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solidFill>
                            <a:srgbClr val="3333FF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47</a:t>
                      </a:r>
                      <a:endParaRPr lang="zh-CN" sz="1600" b="1" kern="100" dirty="0">
                        <a:solidFill>
                          <a:srgbClr val="3333FF"/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solidFill>
                            <a:srgbClr val="3333FF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 </a:t>
                      </a:r>
                      <a:endParaRPr lang="zh-CN" sz="1600" b="1" kern="100" dirty="0">
                        <a:solidFill>
                          <a:srgbClr val="3333FF"/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solidFill>
                            <a:srgbClr val="3333FF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 </a:t>
                      </a:r>
                      <a:endParaRPr lang="zh-CN" sz="1600" b="1" kern="100" dirty="0">
                        <a:solidFill>
                          <a:srgbClr val="3333FF"/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en-US" sz="1600" b="1" kern="100" dirty="0">
                        <a:solidFill>
                          <a:srgbClr val="3333FF"/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solidFill>
                            <a:srgbClr val="3333FF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7</a:t>
                      </a:r>
                      <a:endParaRPr lang="zh-CN" sz="1600" b="1" kern="100" dirty="0">
                        <a:solidFill>
                          <a:srgbClr val="3333FF"/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solidFill>
                            <a:srgbClr val="3333FF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29</a:t>
                      </a:r>
                      <a:endParaRPr lang="zh-CN" sz="1600" b="1" kern="100" dirty="0">
                        <a:solidFill>
                          <a:srgbClr val="3333FF"/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solidFill>
                            <a:srgbClr val="3333FF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9</a:t>
                      </a:r>
                      <a:endParaRPr lang="zh-CN" sz="1600" b="1" kern="100" dirty="0">
                        <a:solidFill>
                          <a:srgbClr val="3333FF"/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solidFill>
                            <a:srgbClr val="3333FF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84</a:t>
                      </a:r>
                      <a:endParaRPr lang="zh-CN" sz="1600" b="1" kern="100" dirty="0">
                        <a:solidFill>
                          <a:srgbClr val="3333FF"/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solidFill>
                            <a:srgbClr val="3333FF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54</a:t>
                      </a:r>
                      <a:endParaRPr lang="zh-CN" sz="1600" b="1" kern="100" dirty="0">
                        <a:solidFill>
                          <a:srgbClr val="3333FF"/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solidFill>
                            <a:srgbClr val="3333FF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20</a:t>
                      </a:r>
                      <a:endParaRPr lang="zh-CN" sz="1600" b="1" kern="100" dirty="0">
                        <a:solidFill>
                          <a:srgbClr val="3333FF"/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latin typeface="Times New Roman"/>
                          <a:ea typeface="宋体"/>
                          <a:cs typeface="Times New Roman"/>
                        </a:rPr>
                        <a:t>d</a:t>
                      </a:r>
                      <a:r>
                        <a:rPr lang="en-US" sz="1600" b="1" kern="100" baseline="-25000" dirty="0">
                          <a:latin typeface="Times New Roman"/>
                          <a:ea typeface="宋体"/>
                          <a:cs typeface="Times New Roman"/>
                        </a:rPr>
                        <a:t>6</a:t>
                      </a:r>
                      <a:r>
                        <a:rPr lang="en-US" sz="1600" b="1" kern="100" dirty="0">
                          <a:latin typeface="Times New Roman"/>
                          <a:ea typeface="宋体"/>
                          <a:cs typeface="Times New Roman"/>
                        </a:rPr>
                        <a:t> = 6</a:t>
                      </a:r>
                      <a:endParaRPr lang="zh-CN" sz="16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2143125" y="5319713"/>
            <a:ext cx="5286375" cy="252412"/>
          </a:xfrm>
          <a:prstGeom prst="rect">
            <a:avLst/>
          </a:prstGeom>
          <a:solidFill>
            <a:srgbClr val="339933">
              <a:alpha val="29019"/>
            </a:srgbClr>
          </a:solidFill>
          <a:ln w="9525" algn="ctr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itchFamily="18" charset="0"/>
            </a:endParaRPr>
          </a:p>
        </p:txBody>
      </p:sp>
      <p:sp>
        <p:nvSpPr>
          <p:cNvPr id="6" name="AutoShape 39"/>
          <p:cNvSpPr>
            <a:spLocks noChangeArrowheads="1"/>
          </p:cNvSpPr>
          <p:nvPr/>
        </p:nvSpPr>
        <p:spPr bwMode="auto">
          <a:xfrm>
            <a:off x="2786063" y="928688"/>
            <a:ext cx="5429250" cy="1143000"/>
          </a:xfrm>
          <a:prstGeom prst="wedgeEllipseCallout">
            <a:avLst>
              <a:gd name="adj1" fmla="val 5639"/>
              <a:gd name="adj2" fmla="val 335523"/>
            </a:avLst>
          </a:prstGeom>
          <a:gradFill rotWithShape="0">
            <a:gsLst>
              <a:gs pos="0">
                <a:srgbClr val="C0C0C0">
                  <a:alpha val="45000"/>
                </a:srgbClr>
              </a:gs>
              <a:gs pos="100000">
                <a:srgbClr val="FFFFFF"/>
              </a:gs>
            </a:gsLst>
            <a:lin ang="5400000" scaled="1"/>
          </a:gra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</a:rPr>
              <a:t>“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itchFamily="18" charset="0"/>
              </a:rPr>
              <a:t>一次聚集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</a:rPr>
              <a:t>（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</a:rPr>
              <a:t>Primary Clustering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</a:rPr>
              <a:t>）”现象：需要经过很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itchFamily="18" charset="0"/>
              </a:rPr>
              <a:t>多次冲突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</a:rPr>
              <a:t>才找到空位置。</a:t>
            </a:r>
          </a:p>
        </p:txBody>
      </p:sp>
      <p:sp>
        <p:nvSpPr>
          <p:cNvPr id="7" name="Rectangle 20"/>
          <p:cNvSpPr>
            <a:spLocks noChangeArrowheads="1"/>
          </p:cNvSpPr>
          <p:nvPr/>
        </p:nvSpPr>
        <p:spPr bwMode="auto">
          <a:xfrm>
            <a:off x="1928813" y="5715000"/>
            <a:ext cx="50006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zh-CN" altLang="en-US" sz="2000" b="1" dirty="0" smtClean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表</a:t>
            </a:r>
            <a:r>
              <a:rPr lang="zh-CN" altLang="en-US" sz="2000" b="1" dirty="0">
                <a:latin typeface="Times New Roman" pitchFamily="18" charset="0"/>
                <a:cs typeface="Times New Roman" pitchFamily="18" charset="0"/>
              </a:rPr>
              <a:t>　线性探测法构建散列表的过程</a:t>
            </a:r>
            <a:endParaRPr lang="zh-CN" altLang="en-US" sz="2000" b="1" dirty="0">
              <a:latin typeface="Arial" pitchFamily="34" charset="0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928688" y="1071563"/>
          <a:ext cx="7143750" cy="1071561"/>
        </p:xfrm>
        <a:graphic>
          <a:graphicData uri="http://schemas.openxmlformats.org/drawingml/2006/table">
            <a:tbl>
              <a:tblPr/>
              <a:tblGrid>
                <a:gridCol w="2071688"/>
                <a:gridCol w="571500"/>
                <a:gridCol w="500063"/>
                <a:gridCol w="571500"/>
                <a:gridCol w="428625"/>
                <a:gridCol w="571500"/>
                <a:gridCol w="571500"/>
                <a:gridCol w="642938"/>
                <a:gridCol w="642938"/>
                <a:gridCol w="571498"/>
              </a:tblGrid>
              <a:tr h="35718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 dirty="0" smtClean="0">
                          <a:latin typeface="Times New Roman"/>
                          <a:ea typeface="宋体"/>
                          <a:cs typeface="Times New Roman"/>
                        </a:rPr>
                        <a:t>关键词</a:t>
                      </a:r>
                      <a:r>
                        <a:rPr lang="en-US" altLang="zh-CN" sz="1800" b="1" kern="100" dirty="0" smtClean="0">
                          <a:latin typeface="Times New Roman"/>
                          <a:ea typeface="宋体"/>
                          <a:cs typeface="Times New Roman"/>
                        </a:rPr>
                        <a:t> </a:t>
                      </a:r>
                      <a:r>
                        <a:rPr lang="en-US" altLang="zh-CN" sz="1800" b="1" kern="100" dirty="0" smtClean="0">
                          <a:solidFill>
                            <a:srgbClr val="3333FF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(key)</a:t>
                      </a:r>
                      <a:endParaRPr lang="zh-CN" sz="1800" b="1" kern="100" dirty="0">
                        <a:solidFill>
                          <a:srgbClr val="3333FF"/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latin typeface="Times New Roman"/>
                          <a:ea typeface="宋体"/>
                          <a:cs typeface="Times New Roman"/>
                        </a:rPr>
                        <a:t>47</a:t>
                      </a:r>
                      <a:endParaRPr lang="zh-CN" sz="18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latin typeface="Times New Roman"/>
                          <a:ea typeface="宋体"/>
                          <a:cs typeface="Times New Roman"/>
                        </a:rPr>
                        <a:t>7</a:t>
                      </a:r>
                      <a:endParaRPr lang="zh-CN" sz="18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latin typeface="Times New Roman"/>
                          <a:ea typeface="宋体"/>
                          <a:cs typeface="Times New Roman"/>
                        </a:rPr>
                        <a:t>29</a:t>
                      </a:r>
                      <a:endParaRPr lang="zh-CN" sz="18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latin typeface="Times New Roman"/>
                          <a:ea typeface="宋体"/>
                          <a:cs typeface="Times New Roman"/>
                        </a:rPr>
                        <a:t>11</a:t>
                      </a:r>
                      <a:endParaRPr lang="zh-CN" sz="18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latin typeface="Times New Roman"/>
                          <a:ea typeface="宋体"/>
                          <a:cs typeface="Times New Roman"/>
                        </a:rPr>
                        <a:t>9</a:t>
                      </a:r>
                      <a:endParaRPr lang="zh-CN" sz="18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latin typeface="Times New Roman"/>
                          <a:ea typeface="宋体"/>
                          <a:cs typeface="Times New Roman"/>
                        </a:rPr>
                        <a:t>84</a:t>
                      </a:r>
                      <a:endParaRPr lang="zh-CN" sz="18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latin typeface="Times New Roman"/>
                          <a:ea typeface="宋体"/>
                          <a:cs typeface="Times New Roman"/>
                        </a:rPr>
                        <a:t>54</a:t>
                      </a:r>
                      <a:endParaRPr lang="zh-CN" sz="18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latin typeface="Times New Roman"/>
                          <a:ea typeface="宋体"/>
                          <a:cs typeface="Times New Roman"/>
                        </a:rPr>
                        <a:t>20</a:t>
                      </a:r>
                      <a:endParaRPr lang="zh-CN" sz="18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latin typeface="Times New Roman"/>
                          <a:ea typeface="宋体"/>
                          <a:cs typeface="Times New Roman"/>
                        </a:rPr>
                        <a:t>30</a:t>
                      </a:r>
                      <a:endParaRPr lang="zh-CN" sz="18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5718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latin typeface="Times New Roman"/>
                          <a:ea typeface="宋体"/>
                          <a:cs typeface="Times New Roman"/>
                        </a:rPr>
                        <a:t>散</a:t>
                      </a:r>
                      <a:r>
                        <a:rPr lang="zh-CN" sz="1800" b="1" kern="100" dirty="0" smtClean="0">
                          <a:latin typeface="Times New Roman"/>
                          <a:ea typeface="宋体"/>
                          <a:cs typeface="Times New Roman"/>
                        </a:rPr>
                        <a:t>列地址</a:t>
                      </a:r>
                      <a:r>
                        <a:rPr lang="en-US" altLang="zh-CN" sz="1800" b="1" kern="100" dirty="0" smtClean="0">
                          <a:latin typeface="Times New Roman"/>
                          <a:ea typeface="宋体"/>
                          <a:cs typeface="Times New Roman"/>
                        </a:rPr>
                        <a:t> </a:t>
                      </a:r>
                      <a:r>
                        <a:rPr lang="en-US" altLang="zh-CN" sz="1800" b="1" kern="100" dirty="0" smtClean="0">
                          <a:solidFill>
                            <a:srgbClr val="3333FF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h(key)</a:t>
                      </a:r>
                      <a:endParaRPr lang="zh-CN" sz="1800" b="1" kern="100" dirty="0">
                        <a:solidFill>
                          <a:srgbClr val="3333FF"/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3333FF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3</a:t>
                      </a:r>
                      <a:endParaRPr lang="zh-CN" sz="1800" b="1" kern="100" dirty="0">
                        <a:solidFill>
                          <a:srgbClr val="3333FF"/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3333FF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7</a:t>
                      </a:r>
                      <a:endParaRPr lang="zh-CN" sz="1800" b="1" kern="100" dirty="0">
                        <a:solidFill>
                          <a:srgbClr val="3333FF"/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3333FF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7</a:t>
                      </a:r>
                      <a:endParaRPr lang="zh-CN" sz="1800" b="1" kern="100" dirty="0">
                        <a:solidFill>
                          <a:srgbClr val="3333FF"/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3333FF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0</a:t>
                      </a:r>
                      <a:endParaRPr lang="zh-CN" sz="1800" b="1" kern="100" dirty="0">
                        <a:solidFill>
                          <a:srgbClr val="3333FF"/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3333FF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9</a:t>
                      </a:r>
                      <a:endParaRPr lang="zh-CN" sz="1800" b="1" kern="100" dirty="0">
                        <a:solidFill>
                          <a:srgbClr val="3333FF"/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3333FF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7</a:t>
                      </a:r>
                      <a:endParaRPr lang="zh-CN" sz="1800" b="1" kern="100" dirty="0">
                        <a:solidFill>
                          <a:srgbClr val="3333FF"/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3333FF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10</a:t>
                      </a:r>
                      <a:endParaRPr lang="zh-CN" sz="1800" b="1" kern="100" dirty="0">
                        <a:solidFill>
                          <a:srgbClr val="3333FF"/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3333FF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9</a:t>
                      </a:r>
                      <a:endParaRPr lang="zh-CN" sz="1800" b="1" kern="100" dirty="0">
                        <a:solidFill>
                          <a:srgbClr val="3333FF"/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3333FF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8</a:t>
                      </a:r>
                      <a:endParaRPr lang="zh-CN" sz="1800" b="1" kern="100" dirty="0">
                        <a:solidFill>
                          <a:srgbClr val="3333FF"/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5718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zh-CN" sz="18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zh-CN" sz="1800" b="1" kern="100" dirty="0">
                        <a:solidFill>
                          <a:srgbClr val="3333FF"/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zh-CN" sz="1800" b="1" kern="100" dirty="0">
                        <a:solidFill>
                          <a:srgbClr val="3333FF"/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zh-CN" sz="1800" b="1" kern="100" dirty="0">
                        <a:solidFill>
                          <a:srgbClr val="3333FF"/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zh-CN" sz="1800" b="1" kern="100" dirty="0">
                        <a:solidFill>
                          <a:srgbClr val="3333FF"/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zh-CN" sz="1800" b="1" kern="100" dirty="0">
                        <a:solidFill>
                          <a:srgbClr val="3333FF"/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zh-CN" sz="1800" b="1" kern="100" dirty="0">
                        <a:solidFill>
                          <a:srgbClr val="3333FF"/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zh-CN" sz="1800" b="1" kern="100" dirty="0">
                        <a:solidFill>
                          <a:srgbClr val="3333FF"/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zh-CN" sz="1800" b="1" kern="100" dirty="0">
                        <a:solidFill>
                          <a:srgbClr val="3333FF"/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zh-CN" sz="1800" b="1" kern="100" dirty="0">
                        <a:solidFill>
                          <a:srgbClr val="3333FF"/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928688" y="1785938"/>
          <a:ext cx="7143750" cy="357187"/>
        </p:xfrm>
        <a:graphic>
          <a:graphicData uri="http://schemas.openxmlformats.org/drawingml/2006/table">
            <a:tbl>
              <a:tblPr/>
              <a:tblGrid>
                <a:gridCol w="2071688"/>
                <a:gridCol w="571500"/>
                <a:gridCol w="500063"/>
                <a:gridCol w="571500"/>
                <a:gridCol w="428625"/>
                <a:gridCol w="571500"/>
                <a:gridCol w="571500"/>
                <a:gridCol w="642938"/>
                <a:gridCol w="642938"/>
                <a:gridCol w="571498"/>
              </a:tblGrid>
              <a:tr h="35718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latin typeface="Times New Roman"/>
                          <a:ea typeface="宋体"/>
                          <a:cs typeface="Times New Roman"/>
                        </a:rPr>
                        <a:t>冲突次数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3333FF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0</a:t>
                      </a:r>
                      <a:endParaRPr lang="zh-CN" sz="1800" b="1" kern="100" dirty="0">
                        <a:solidFill>
                          <a:srgbClr val="3333FF"/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3333FF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0</a:t>
                      </a:r>
                      <a:endParaRPr lang="zh-CN" sz="1800" b="1" kern="100" dirty="0">
                        <a:solidFill>
                          <a:srgbClr val="3333FF"/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3333FF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1</a:t>
                      </a:r>
                      <a:endParaRPr lang="zh-CN" sz="1800" b="1" kern="100" dirty="0">
                        <a:solidFill>
                          <a:srgbClr val="3333FF"/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3333FF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0</a:t>
                      </a:r>
                      <a:endParaRPr lang="zh-CN" sz="1800" b="1" kern="100" dirty="0">
                        <a:solidFill>
                          <a:srgbClr val="3333FF"/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3333FF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0</a:t>
                      </a:r>
                      <a:endParaRPr lang="zh-CN" sz="1800" b="1" kern="100" dirty="0">
                        <a:solidFill>
                          <a:srgbClr val="3333FF"/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3333FF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3</a:t>
                      </a:r>
                      <a:endParaRPr lang="zh-CN" sz="1800" b="1" kern="100" dirty="0">
                        <a:solidFill>
                          <a:srgbClr val="3333FF"/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3333FF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1</a:t>
                      </a:r>
                      <a:endParaRPr lang="zh-CN" sz="1800" b="1" kern="100" dirty="0">
                        <a:solidFill>
                          <a:srgbClr val="3333FF"/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3333FF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3</a:t>
                      </a:r>
                      <a:endParaRPr lang="zh-CN" sz="1800" b="1" kern="100" dirty="0">
                        <a:solidFill>
                          <a:srgbClr val="3333FF"/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3333FF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6</a:t>
                      </a:r>
                      <a:endParaRPr lang="zh-CN" sz="1800" b="1" kern="100" dirty="0">
                        <a:solidFill>
                          <a:srgbClr val="3333FF"/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0" name="AutoShape 39"/>
          <p:cNvSpPr>
            <a:spLocks noChangeArrowheads="1"/>
          </p:cNvSpPr>
          <p:nvPr/>
        </p:nvSpPr>
        <p:spPr bwMode="auto">
          <a:xfrm>
            <a:off x="1000125" y="1285875"/>
            <a:ext cx="5286375" cy="571500"/>
          </a:xfrm>
          <a:prstGeom prst="wedgeEllipseCallout">
            <a:avLst>
              <a:gd name="adj1" fmla="val 27755"/>
              <a:gd name="adj2" fmla="val 679648"/>
            </a:avLst>
          </a:prstGeom>
          <a:gradFill rotWithShape="0">
            <a:gsLst>
              <a:gs pos="0">
                <a:srgbClr val="C0C0C0">
                  <a:alpha val="45000"/>
                </a:srgbClr>
              </a:gs>
              <a:gs pos="100000">
                <a:srgbClr val="FFFFFF"/>
              </a:gs>
            </a:gsLst>
            <a:lin ang="5400000" scaled="1"/>
          </a:gra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itchFamily="18" charset="0"/>
              </a:rPr>
              <a:t>问题：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</a:rPr>
              <a:t>如何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itchFamily="18" charset="0"/>
              </a:rPr>
              <a:t>删除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</a:rPr>
              <a:t>关键字 “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</a:rPr>
              <a:t>7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</a:rPr>
              <a:t>”？</a:t>
            </a:r>
          </a:p>
        </p:txBody>
      </p:sp>
    </p:spTree>
    <p:extLst>
      <p:ext uri="{BB962C8B-B14F-4D97-AF65-F5344CB8AC3E}">
        <p14:creationId xmlns:p14="http://schemas.microsoft.com/office/powerpoint/2010/main" val="2524541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3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 autoUpdateAnimBg="0"/>
      <p:bldP spid="6" grpId="1" animBg="1"/>
      <p:bldP spid="10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线性探测法（</a:t>
            </a:r>
            <a:r>
              <a:rPr lang="en-US" altLang="zh-CN" dirty="0"/>
              <a:t>Linear Probing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矩形 1"/>
          <p:cNvSpPr>
            <a:spLocks noChangeArrowheads="1"/>
          </p:cNvSpPr>
          <p:nvPr/>
        </p:nvSpPr>
        <p:spPr bwMode="auto">
          <a:xfrm>
            <a:off x="609848" y="927373"/>
            <a:ext cx="7786688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2400" b="1">
                <a:solidFill>
                  <a:srgbClr val="3333FF"/>
                </a:solidFill>
                <a:latin typeface="Times New Roman" pitchFamily="18" charset="0"/>
                <a:sym typeface="Wingdings" pitchFamily="2" charset="2"/>
              </a:rPr>
              <a:t> </a:t>
            </a:r>
            <a:r>
              <a:rPr lang="zh-CN" altLang="en-US" sz="2400" b="1">
                <a:latin typeface="Times New Roman" pitchFamily="18" charset="0"/>
              </a:rPr>
              <a:t>在散列表中查找数据对象的</a:t>
            </a:r>
            <a:r>
              <a:rPr lang="zh-CN" altLang="zh-CN" sz="2400" b="1">
                <a:solidFill>
                  <a:srgbClr val="3333FF"/>
                </a:solidFill>
                <a:latin typeface="Times New Roman" pitchFamily="18" charset="0"/>
              </a:rPr>
              <a:t>平均查找长度（</a:t>
            </a:r>
            <a:r>
              <a:rPr lang="en-US" altLang="zh-CN" sz="2400" b="1">
                <a:solidFill>
                  <a:srgbClr val="3333FF"/>
                </a:solidFill>
                <a:latin typeface="Times New Roman" pitchFamily="18" charset="0"/>
              </a:rPr>
              <a:t>ASL</a:t>
            </a:r>
            <a:r>
              <a:rPr lang="zh-CN" altLang="zh-CN" sz="2400" b="1">
                <a:solidFill>
                  <a:srgbClr val="3333FF"/>
                </a:solidFill>
                <a:latin typeface="Times New Roman" pitchFamily="18" charset="0"/>
              </a:rPr>
              <a:t>）</a:t>
            </a:r>
            <a:r>
              <a:rPr lang="zh-CN" altLang="en-US" sz="2400" b="1">
                <a:latin typeface="Times New Roman" pitchFamily="18" charset="0"/>
              </a:rPr>
              <a:t>。分成</a:t>
            </a:r>
            <a:r>
              <a:rPr lang="zh-CN" altLang="en-US" sz="2400" b="1">
                <a:solidFill>
                  <a:srgbClr val="3333FF"/>
                </a:solidFill>
                <a:latin typeface="Times New Roman" pitchFamily="18" charset="0"/>
              </a:rPr>
              <a:t>成功查找的</a:t>
            </a:r>
            <a:r>
              <a:rPr lang="en-US" altLang="zh-CN" sz="2400" b="1">
                <a:solidFill>
                  <a:srgbClr val="3333FF"/>
                </a:solidFill>
                <a:latin typeface="Times New Roman" pitchFamily="18" charset="0"/>
              </a:rPr>
              <a:t>ASL</a:t>
            </a:r>
            <a:r>
              <a:rPr lang="en-US" altLang="zh-CN" sz="2400" b="1">
                <a:latin typeface="Times New Roman" pitchFamily="18" charset="0"/>
              </a:rPr>
              <a:t>(ASLs)</a:t>
            </a:r>
            <a:r>
              <a:rPr lang="zh-CN" altLang="en-US" sz="2400" b="1">
                <a:latin typeface="Times New Roman" pitchFamily="18" charset="0"/>
              </a:rPr>
              <a:t>和</a:t>
            </a:r>
            <a:r>
              <a:rPr lang="zh-CN" altLang="en-US" sz="2400" b="1">
                <a:solidFill>
                  <a:srgbClr val="3333FF"/>
                </a:solidFill>
                <a:latin typeface="Times New Roman" pitchFamily="18" charset="0"/>
              </a:rPr>
              <a:t>不成功查找的</a:t>
            </a:r>
            <a:r>
              <a:rPr lang="en-US" altLang="zh-CN" sz="2400" b="1">
                <a:solidFill>
                  <a:srgbClr val="3333FF"/>
                </a:solidFill>
                <a:latin typeface="Times New Roman" pitchFamily="18" charset="0"/>
              </a:rPr>
              <a:t>ASL </a:t>
            </a:r>
            <a:r>
              <a:rPr lang="en-US" altLang="zh-CN" sz="2400" b="1">
                <a:latin typeface="Times New Roman" pitchFamily="18" charset="0"/>
              </a:rPr>
              <a:t>(ASLu) </a:t>
            </a:r>
            <a:r>
              <a:rPr lang="zh-CN" altLang="en-US" sz="2400" b="1">
                <a:latin typeface="Times New Roman" pitchFamily="18" charset="0"/>
              </a:rPr>
              <a:t>。</a:t>
            </a:r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538411" y="1927498"/>
            <a:ext cx="8035925" cy="163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2000" b="1">
                <a:solidFill>
                  <a:srgbClr val="3333FF"/>
                </a:solidFill>
                <a:latin typeface="Times New Roman" pitchFamily="18" charset="0"/>
              </a:rPr>
              <a:t>【</a:t>
            </a:r>
            <a:r>
              <a:rPr lang="zh-CN" altLang="en-US" sz="2000" b="1">
                <a:solidFill>
                  <a:srgbClr val="3333FF"/>
                </a:solidFill>
                <a:latin typeface="Times New Roman" pitchFamily="18" charset="0"/>
              </a:rPr>
              <a:t>分析</a:t>
            </a:r>
            <a:r>
              <a:rPr lang="en-US" altLang="zh-CN" sz="2000" b="1">
                <a:solidFill>
                  <a:srgbClr val="3333FF"/>
                </a:solidFill>
                <a:latin typeface="Times New Roman" pitchFamily="18" charset="0"/>
              </a:rPr>
              <a:t>】ASLs</a:t>
            </a:r>
            <a:r>
              <a:rPr lang="zh-CN" altLang="en-US" sz="2000" b="1">
                <a:latin typeface="Times New Roman" pitchFamily="18" charset="0"/>
              </a:rPr>
              <a:t>：</a:t>
            </a:r>
            <a:r>
              <a:rPr lang="zh-CN" altLang="zh-CN" sz="2000" b="1">
                <a:latin typeface="Times New Roman" pitchFamily="18" charset="0"/>
              </a:rPr>
              <a:t>假设要查找的关键词一定在散列表中存在。只要对查找表中的每个关键词的比较次数加起来，除以关键词的个数，就得到平均每个关键词的查找长度。而每个关键词的比较次数是</a:t>
            </a:r>
            <a:r>
              <a:rPr lang="zh-CN" altLang="zh-CN" sz="2000" b="1">
                <a:solidFill>
                  <a:srgbClr val="3333FF"/>
                </a:solidFill>
                <a:latin typeface="Times New Roman" pitchFamily="18" charset="0"/>
              </a:rPr>
              <a:t>其冲突次数加</a:t>
            </a:r>
            <a:r>
              <a:rPr lang="en-US" altLang="zh-CN" sz="2000" b="1">
                <a:solidFill>
                  <a:srgbClr val="3333FF"/>
                </a:solidFill>
                <a:latin typeface="Times New Roman" pitchFamily="18" charset="0"/>
              </a:rPr>
              <a:t>1</a:t>
            </a:r>
            <a:r>
              <a:rPr lang="zh-CN" altLang="zh-CN" sz="2000" b="1">
                <a:latin typeface="Times New Roman" pitchFamily="18" charset="0"/>
              </a:rPr>
              <a:t>。</a:t>
            </a:r>
            <a:endParaRPr lang="en-US" altLang="zh-CN" sz="2000" b="1">
              <a:latin typeface="Times New Roman" pitchFamily="18" charset="0"/>
            </a:endParaRPr>
          </a:p>
          <a:p>
            <a:pPr algn="ctr"/>
            <a:r>
              <a:rPr lang="en-US" altLang="zh-CN" sz="2000" b="1">
                <a:latin typeface="Times New Roman" pitchFamily="18" charset="0"/>
              </a:rPr>
              <a:t>ASL s= </a:t>
            </a:r>
            <a:r>
              <a:rPr lang="zh-CN" altLang="zh-CN" sz="2000" b="1">
                <a:latin typeface="Times New Roman" pitchFamily="18" charset="0"/>
              </a:rPr>
              <a:t>（</a:t>
            </a:r>
            <a:r>
              <a:rPr lang="en-US" altLang="zh-CN" sz="2000" b="1">
                <a:latin typeface="Times New Roman" pitchFamily="18" charset="0"/>
              </a:rPr>
              <a:t>1+7+1+1+2+1+4+2+4</a:t>
            </a:r>
            <a:r>
              <a:rPr lang="zh-CN" altLang="zh-CN" sz="2000" b="1">
                <a:latin typeface="Times New Roman" pitchFamily="18" charset="0"/>
              </a:rPr>
              <a:t>）</a:t>
            </a:r>
            <a:r>
              <a:rPr lang="en-US" altLang="zh-CN" sz="2000" b="1">
                <a:latin typeface="Times New Roman" pitchFamily="18" charset="0"/>
              </a:rPr>
              <a:t>/ 9 = </a:t>
            </a:r>
            <a:r>
              <a:rPr lang="en-US" altLang="zh-CN" sz="2000" b="1">
                <a:solidFill>
                  <a:srgbClr val="3333FF"/>
                </a:solidFill>
                <a:latin typeface="Times New Roman" pitchFamily="18" charset="0"/>
              </a:rPr>
              <a:t>23/9 </a:t>
            </a:r>
            <a:r>
              <a:rPr lang="zh-CN" altLang="zh-CN" sz="2000" b="1">
                <a:solidFill>
                  <a:srgbClr val="3333FF"/>
                </a:solidFill>
                <a:latin typeface="Times New Roman" pitchFamily="18" charset="0"/>
              </a:rPr>
              <a:t>≈</a:t>
            </a:r>
            <a:r>
              <a:rPr lang="en-US" altLang="zh-CN" sz="2000" b="1">
                <a:solidFill>
                  <a:srgbClr val="3333FF"/>
                </a:solidFill>
                <a:latin typeface="Times New Roman" pitchFamily="18" charset="0"/>
              </a:rPr>
              <a:t> 2.56</a:t>
            </a:r>
            <a:endParaRPr lang="zh-CN" altLang="en-US" sz="2000" b="1">
              <a:latin typeface="Times New Roman" pitchFamily="18" charset="0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3999477"/>
              </p:ext>
            </p:extLst>
          </p:nvPr>
        </p:nvGraphicFramePr>
        <p:xfrm>
          <a:off x="1538536" y="3975373"/>
          <a:ext cx="6429375" cy="809625"/>
        </p:xfrm>
        <a:graphic>
          <a:graphicData uri="http://schemas.openxmlformats.org/drawingml/2006/table">
            <a:tbl>
              <a:tblPr/>
              <a:tblGrid>
                <a:gridCol w="995220"/>
                <a:gridCol w="425825"/>
                <a:gridCol w="418012"/>
                <a:gridCol w="418012"/>
                <a:gridCol w="418012"/>
                <a:gridCol w="418012"/>
                <a:gridCol w="418012"/>
                <a:gridCol w="418012"/>
                <a:gridCol w="418012"/>
                <a:gridCol w="418012"/>
                <a:gridCol w="418012"/>
                <a:gridCol w="418012"/>
                <a:gridCol w="418012"/>
                <a:gridCol w="410198"/>
              </a:tblGrid>
              <a:tr h="32165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600" b="1" kern="100" dirty="0" smtClean="0">
                          <a:solidFill>
                            <a:srgbClr val="3333FF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H(key)</a:t>
                      </a:r>
                      <a:endParaRPr lang="zh-CN" sz="1600" b="1" kern="100" dirty="0">
                        <a:solidFill>
                          <a:srgbClr val="3333FF"/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 smtClean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0</a:t>
                      </a:r>
                      <a:endParaRPr lang="zh-CN" sz="1600" b="1" kern="100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 smtClean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1</a:t>
                      </a:r>
                      <a:endParaRPr lang="en-US" sz="1600" b="1" kern="100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 smtClean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2</a:t>
                      </a:r>
                      <a:endParaRPr lang="en-US" sz="1600" b="1" kern="100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 smtClean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3</a:t>
                      </a:r>
                      <a:endParaRPr lang="zh-CN" sz="1600" b="1" kern="100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 smtClean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4</a:t>
                      </a:r>
                      <a:endParaRPr lang="en-US" sz="1600" b="1" kern="100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 smtClean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5</a:t>
                      </a:r>
                      <a:endParaRPr lang="en-US" sz="1600" b="1" kern="100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 smtClean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6</a:t>
                      </a:r>
                      <a:endParaRPr lang="en-US" sz="1600" b="1" kern="100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 smtClean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7</a:t>
                      </a:r>
                      <a:endParaRPr lang="zh-CN" sz="1600" b="1" kern="100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 smtClean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8</a:t>
                      </a:r>
                      <a:endParaRPr lang="zh-CN" sz="1600" b="1" kern="100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 smtClean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9</a:t>
                      </a:r>
                      <a:endParaRPr lang="zh-CN" sz="1600" b="1" kern="100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 smtClean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10</a:t>
                      </a:r>
                      <a:endParaRPr lang="zh-CN" sz="1600" b="1" kern="100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 smtClean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11</a:t>
                      </a:r>
                      <a:endParaRPr lang="zh-CN" sz="1600" b="1" kern="100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 smtClean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12</a:t>
                      </a:r>
                      <a:endParaRPr lang="zh-CN" sz="1600" b="1" kern="100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4398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600" b="1" kern="100" dirty="0" smtClean="0">
                          <a:solidFill>
                            <a:srgbClr val="3333FF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key</a:t>
                      </a:r>
                      <a:endParaRPr lang="zh-CN" sz="1600" b="1" kern="100" dirty="0">
                        <a:solidFill>
                          <a:srgbClr val="3333FF"/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Times New Roman"/>
                          <a:ea typeface="宋体"/>
                          <a:cs typeface="Times New Roman"/>
                        </a:rPr>
                        <a:t>11</a:t>
                      </a:r>
                      <a:endParaRPr lang="zh-CN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Times New Roman"/>
                          <a:ea typeface="宋体"/>
                          <a:cs typeface="Times New Roman"/>
                        </a:rPr>
                        <a:t>30</a:t>
                      </a:r>
                      <a:endParaRPr lang="zh-CN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en-US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Times New Roman"/>
                          <a:ea typeface="宋体"/>
                          <a:cs typeface="Times New Roman"/>
                        </a:rPr>
                        <a:t>47</a:t>
                      </a:r>
                      <a:endParaRPr lang="zh-CN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latin typeface="Times New Roman"/>
                          <a:ea typeface="宋体"/>
                          <a:cs typeface="Times New Roman"/>
                        </a:rPr>
                        <a:t> </a:t>
                      </a:r>
                      <a:endParaRPr lang="zh-CN" sz="16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latin typeface="Times New Roman"/>
                          <a:ea typeface="宋体"/>
                          <a:cs typeface="Times New Roman"/>
                        </a:rPr>
                        <a:t> </a:t>
                      </a:r>
                      <a:endParaRPr lang="zh-CN" sz="16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en-US" sz="16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Times New Roman"/>
                          <a:ea typeface="宋体"/>
                          <a:cs typeface="Times New Roman"/>
                        </a:rPr>
                        <a:t>7</a:t>
                      </a:r>
                      <a:endParaRPr lang="zh-CN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Times New Roman"/>
                          <a:ea typeface="宋体"/>
                          <a:cs typeface="Times New Roman"/>
                        </a:rPr>
                        <a:t>29</a:t>
                      </a:r>
                      <a:endParaRPr lang="zh-CN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Times New Roman"/>
                          <a:ea typeface="宋体"/>
                          <a:cs typeface="Times New Roman"/>
                        </a:rPr>
                        <a:t>9</a:t>
                      </a:r>
                      <a:endParaRPr lang="zh-CN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Times New Roman"/>
                          <a:ea typeface="宋体"/>
                          <a:cs typeface="Times New Roman"/>
                        </a:rPr>
                        <a:t>84</a:t>
                      </a:r>
                      <a:endParaRPr lang="zh-CN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Times New Roman"/>
                          <a:ea typeface="宋体"/>
                          <a:cs typeface="Times New Roman"/>
                        </a:rPr>
                        <a:t>54</a:t>
                      </a:r>
                      <a:endParaRPr lang="zh-CN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 smtClean="0">
                          <a:latin typeface="Times New Roman"/>
                          <a:ea typeface="宋体"/>
                          <a:cs typeface="Times New Roman"/>
                        </a:rPr>
                        <a:t>20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4398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zh-CN" sz="1600" b="1" dirty="0" smtClean="0">
                          <a:solidFill>
                            <a:srgbClr val="3333FF"/>
                          </a:solidFill>
                        </a:rPr>
                        <a:t>冲突次数</a:t>
                      </a:r>
                      <a:endParaRPr lang="zh-CN" sz="1600" b="1" kern="100" dirty="0">
                        <a:solidFill>
                          <a:srgbClr val="3333FF"/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600" b="1" kern="100" dirty="0" smtClean="0">
                          <a:latin typeface="Times New Roman"/>
                          <a:ea typeface="宋体"/>
                          <a:cs typeface="Times New Roman"/>
                        </a:rPr>
                        <a:t>0</a:t>
                      </a:r>
                      <a:endParaRPr lang="zh-CN" sz="16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600" b="1" kern="100" dirty="0" smtClean="0">
                          <a:latin typeface="Times New Roman"/>
                          <a:ea typeface="宋体"/>
                          <a:cs typeface="Times New Roman"/>
                        </a:rPr>
                        <a:t>6</a:t>
                      </a:r>
                      <a:endParaRPr lang="zh-CN" sz="16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en-US" sz="16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600" b="1" kern="100" dirty="0" smtClean="0">
                          <a:latin typeface="Times New Roman"/>
                          <a:ea typeface="宋体"/>
                          <a:cs typeface="Times New Roman"/>
                        </a:rPr>
                        <a:t>0</a:t>
                      </a:r>
                      <a:endParaRPr lang="zh-CN" sz="16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zh-CN" sz="16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zh-CN" sz="16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en-US" sz="16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600" b="1" kern="100" dirty="0" smtClean="0">
                          <a:latin typeface="Times New Roman"/>
                          <a:ea typeface="宋体"/>
                          <a:cs typeface="Times New Roman"/>
                        </a:rPr>
                        <a:t>0</a:t>
                      </a:r>
                      <a:endParaRPr lang="zh-CN" sz="16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600" b="1" kern="100" dirty="0" smtClean="0">
                          <a:latin typeface="Times New Roman"/>
                          <a:ea typeface="宋体"/>
                          <a:cs typeface="Times New Roman"/>
                        </a:rPr>
                        <a:t>1</a:t>
                      </a:r>
                      <a:endParaRPr lang="zh-CN" sz="16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600" b="1" kern="100" dirty="0" smtClean="0">
                          <a:latin typeface="Times New Roman"/>
                          <a:ea typeface="宋体"/>
                          <a:cs typeface="Times New Roman"/>
                        </a:rPr>
                        <a:t>0</a:t>
                      </a:r>
                      <a:endParaRPr lang="zh-CN" sz="16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600" b="1" kern="100" dirty="0" smtClean="0">
                          <a:latin typeface="Times New Roman"/>
                          <a:ea typeface="宋体"/>
                          <a:cs typeface="Times New Roman"/>
                        </a:rPr>
                        <a:t>3</a:t>
                      </a:r>
                      <a:endParaRPr lang="zh-CN" sz="16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600" b="1" kern="100" dirty="0" smtClean="0">
                          <a:latin typeface="Times New Roman"/>
                          <a:ea typeface="宋体"/>
                          <a:cs typeface="Times New Roman"/>
                        </a:rPr>
                        <a:t>1</a:t>
                      </a:r>
                      <a:endParaRPr lang="zh-CN" sz="16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 smtClean="0">
                          <a:latin typeface="Times New Roman"/>
                          <a:ea typeface="宋体"/>
                          <a:cs typeface="Times New Roman"/>
                        </a:rPr>
                        <a:t>3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395536" y="5038998"/>
            <a:ext cx="8321675" cy="163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2000" b="1">
                <a:solidFill>
                  <a:srgbClr val="3333FF"/>
                </a:solidFill>
                <a:latin typeface="Times New Roman" pitchFamily="18" charset="0"/>
              </a:rPr>
              <a:t>【</a:t>
            </a:r>
            <a:r>
              <a:rPr lang="zh-CN" altLang="en-US" sz="2000" b="1">
                <a:solidFill>
                  <a:srgbClr val="3333FF"/>
                </a:solidFill>
                <a:latin typeface="Times New Roman" pitchFamily="18" charset="0"/>
              </a:rPr>
              <a:t>分析</a:t>
            </a:r>
            <a:r>
              <a:rPr lang="en-US" altLang="zh-CN" sz="2000" b="1">
                <a:solidFill>
                  <a:srgbClr val="3333FF"/>
                </a:solidFill>
                <a:latin typeface="Times New Roman" pitchFamily="18" charset="0"/>
              </a:rPr>
              <a:t>】ASLu</a:t>
            </a:r>
            <a:r>
              <a:rPr lang="zh-CN" altLang="en-US" sz="2000" b="1">
                <a:latin typeface="Times New Roman" pitchFamily="18" charset="0"/>
              </a:rPr>
              <a:t>：</a:t>
            </a:r>
            <a:r>
              <a:rPr lang="zh-CN" altLang="zh-CN" sz="2000" b="1">
                <a:latin typeface="Times New Roman" pitchFamily="18" charset="0"/>
              </a:rPr>
              <a:t>假设要查找的关键词一定</a:t>
            </a:r>
            <a:r>
              <a:rPr lang="zh-CN" altLang="en-US" sz="2000" b="1">
                <a:latin typeface="Times New Roman" pitchFamily="18" charset="0"/>
              </a:rPr>
              <a:t>不</a:t>
            </a:r>
            <a:r>
              <a:rPr lang="zh-CN" altLang="zh-CN" sz="2000" b="1">
                <a:latin typeface="Times New Roman" pitchFamily="18" charset="0"/>
              </a:rPr>
              <a:t>在散列表中，</a:t>
            </a:r>
            <a:r>
              <a:rPr lang="zh-CN" altLang="en-US" sz="2000" b="1">
                <a:latin typeface="Times New Roman" pitchFamily="18" charset="0"/>
              </a:rPr>
              <a:t>并且所有</a:t>
            </a:r>
            <a:r>
              <a:rPr lang="zh-CN" altLang="zh-CN" sz="2000" b="1">
                <a:latin typeface="Times New Roman" pitchFamily="18" charset="0"/>
              </a:rPr>
              <a:t>关键词</a:t>
            </a:r>
            <a:r>
              <a:rPr lang="zh-CN" altLang="en-US" sz="2000" b="1">
                <a:latin typeface="Times New Roman" pitchFamily="18" charset="0"/>
              </a:rPr>
              <a:t>对应的散列地址</a:t>
            </a:r>
            <a:r>
              <a:rPr lang="zh-CN" altLang="en-US" sz="2000" b="1">
                <a:solidFill>
                  <a:srgbClr val="3333FF"/>
                </a:solidFill>
                <a:latin typeface="Times New Roman" pitchFamily="18" charset="0"/>
              </a:rPr>
              <a:t>均匀分布在地址空间</a:t>
            </a:r>
            <a:r>
              <a:rPr lang="zh-CN" altLang="en-US" sz="2000" b="1">
                <a:latin typeface="Times New Roman" pitchFamily="18" charset="0"/>
              </a:rPr>
              <a:t>上</a:t>
            </a:r>
            <a:r>
              <a:rPr lang="zh-CN" altLang="zh-CN" sz="2000" b="1">
                <a:latin typeface="Times New Roman" pitchFamily="18" charset="0"/>
              </a:rPr>
              <a:t>。</a:t>
            </a:r>
            <a:r>
              <a:rPr lang="zh-CN" altLang="en-US" sz="2000" b="1">
                <a:latin typeface="Times New Roman" pitchFamily="18" charset="0"/>
              </a:rPr>
              <a:t>每个地址的探测次数加和</a:t>
            </a:r>
            <a:r>
              <a:rPr lang="en-US" altLang="zh-CN" sz="2000" b="1">
                <a:latin typeface="Times New Roman" pitchFamily="18" charset="0"/>
              </a:rPr>
              <a:t>/</a:t>
            </a:r>
            <a:r>
              <a:rPr lang="zh-CN" altLang="en-US" sz="2000" b="1">
                <a:latin typeface="Times New Roman" pitchFamily="18" charset="0"/>
              </a:rPr>
              <a:t>地址空间大小就是</a:t>
            </a:r>
            <a:r>
              <a:rPr lang="en-US" altLang="zh-CN" sz="2000" b="1">
                <a:solidFill>
                  <a:srgbClr val="3333FF"/>
                </a:solidFill>
                <a:latin typeface="Times New Roman" pitchFamily="18" charset="0"/>
              </a:rPr>
              <a:t>ASL u</a:t>
            </a:r>
            <a:r>
              <a:rPr lang="zh-CN" altLang="en-US" sz="2000" b="1">
                <a:latin typeface="Times New Roman" pitchFamily="18" charset="0"/>
              </a:rPr>
              <a:t>（插入元素的</a:t>
            </a:r>
            <a:r>
              <a:rPr lang="en-US" altLang="zh-CN" sz="2000" b="1">
                <a:latin typeface="Times New Roman" pitchFamily="18" charset="0"/>
              </a:rPr>
              <a:t>ASL</a:t>
            </a:r>
            <a:r>
              <a:rPr lang="zh-CN" altLang="en-US" sz="2000" b="1">
                <a:latin typeface="Times New Roman" pitchFamily="18" charset="0"/>
              </a:rPr>
              <a:t>） ：</a:t>
            </a:r>
            <a:endParaRPr lang="en-US" altLang="zh-CN" sz="2000" b="1">
              <a:latin typeface="Times New Roman" pitchFamily="18" charset="0"/>
            </a:endParaRPr>
          </a:p>
          <a:p>
            <a:pPr algn="ctr"/>
            <a:endParaRPr lang="en-US" altLang="zh-CN" sz="2000" b="1">
              <a:latin typeface="Times New Roman" pitchFamily="18" charset="0"/>
            </a:endParaRPr>
          </a:p>
          <a:p>
            <a:pPr algn="ctr"/>
            <a:r>
              <a:rPr lang="en-US" altLang="zh-CN" sz="2000" b="1">
                <a:latin typeface="Times New Roman" pitchFamily="18" charset="0"/>
              </a:rPr>
              <a:t>ASL u= </a:t>
            </a:r>
            <a:r>
              <a:rPr lang="zh-CN" altLang="zh-CN" sz="2000" b="1">
                <a:latin typeface="Times New Roman" pitchFamily="18" charset="0"/>
              </a:rPr>
              <a:t>（</a:t>
            </a:r>
            <a:r>
              <a:rPr lang="en-US" altLang="zh-CN" sz="2000" b="1">
                <a:latin typeface="Times New Roman" pitchFamily="18" charset="0"/>
              </a:rPr>
              <a:t>3+2+1+2+1+1+1+9+8+7+6+5+4</a:t>
            </a:r>
            <a:r>
              <a:rPr lang="zh-CN" altLang="zh-CN" sz="2000" b="1">
                <a:latin typeface="Times New Roman" pitchFamily="18" charset="0"/>
              </a:rPr>
              <a:t>）</a:t>
            </a:r>
            <a:r>
              <a:rPr lang="en-US" altLang="zh-CN" sz="2000" b="1">
                <a:latin typeface="Times New Roman" pitchFamily="18" charset="0"/>
              </a:rPr>
              <a:t>/ 13 = </a:t>
            </a:r>
            <a:r>
              <a:rPr lang="en-US" altLang="zh-CN" sz="2000" b="1">
                <a:solidFill>
                  <a:srgbClr val="3333FF"/>
                </a:solidFill>
                <a:latin typeface="Times New Roman" pitchFamily="18" charset="0"/>
              </a:rPr>
              <a:t>50/13 </a:t>
            </a:r>
            <a:r>
              <a:rPr lang="zh-CN" altLang="zh-CN" sz="2000" b="1">
                <a:solidFill>
                  <a:srgbClr val="3333FF"/>
                </a:solidFill>
                <a:latin typeface="Times New Roman" pitchFamily="18" charset="0"/>
              </a:rPr>
              <a:t>≈</a:t>
            </a:r>
            <a:r>
              <a:rPr lang="en-US" altLang="zh-CN" sz="2000" b="1">
                <a:solidFill>
                  <a:srgbClr val="3333FF"/>
                </a:solidFill>
                <a:latin typeface="Times New Roman" pitchFamily="18" charset="0"/>
              </a:rPr>
              <a:t> 3.85</a:t>
            </a:r>
            <a:endParaRPr lang="zh-CN" altLang="en-US" sz="2000" b="1">
              <a:latin typeface="Times New Roman" pitchFamily="18" charset="0"/>
            </a:endParaRPr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466973" y="3856310"/>
            <a:ext cx="11144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b="1">
                <a:latin typeface="Times New Roman" pitchFamily="18" charset="0"/>
              </a:rPr>
              <a:t>散列表：</a:t>
            </a:r>
            <a:endParaRPr lang="zh-CN" alt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1353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6"/>
          <p:cNvSpPr>
            <a:spLocks noChangeArrowheads="1"/>
          </p:cNvSpPr>
          <p:nvPr/>
        </p:nvSpPr>
        <p:spPr bwMode="auto">
          <a:xfrm>
            <a:off x="971550" y="207963"/>
            <a:ext cx="4027488" cy="51593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线性探测法的特点</a:t>
            </a:r>
          </a:p>
        </p:txBody>
      </p:sp>
      <p:sp>
        <p:nvSpPr>
          <p:cNvPr id="95237" name="Rectangle 7"/>
          <p:cNvSpPr>
            <a:spLocks noChangeArrowheads="1"/>
          </p:cNvSpPr>
          <p:nvPr/>
        </p:nvSpPr>
        <p:spPr bwMode="auto">
          <a:xfrm>
            <a:off x="515938" y="5951538"/>
            <a:ext cx="4395788" cy="5191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762000" indent="-7620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9pPr>
          </a:lstStyle>
          <a:p>
            <a:pPr marL="762000" marR="0" lvl="0" indent="-7620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解决方案：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二次探测法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985099" name="AutoShape 11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 flipH="1">
            <a:off x="8267700" y="6096000"/>
            <a:ext cx="533400" cy="457200"/>
          </a:xfrm>
          <a:prstGeom prst="actionButtonForwardNext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solidFill>
              <a:srgbClr val="3366FF"/>
            </a:solidFill>
            <a:miter lim="800000"/>
          </a:ln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468313" y="3597275"/>
            <a:ext cx="3302000" cy="14763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pitchFamily="49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pitchFamily="49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pitchFamily="49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pitchFamily="49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只要哈希表未被填满，保证能找到一个空地址单元存放有冲突的元素。</a:t>
            </a:r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4416425" y="3625850"/>
            <a:ext cx="4117975" cy="20161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pitchFamily="49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pitchFamily="49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pitchFamily="49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pitchFamily="49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anose="0201060903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可能使第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个哈希地址的同义词存入第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i+1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个地址，这样本应存入第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i+1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个哈希地址的元素变成了第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i+2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个哈希地址的同义词，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……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，产生“聚集”现象，降低查找效率。</a:t>
            </a:r>
          </a:p>
        </p:txBody>
      </p:sp>
      <p:grpSp>
        <p:nvGrpSpPr>
          <p:cNvPr id="11" name="组合 10"/>
          <p:cNvGrpSpPr/>
          <p:nvPr/>
        </p:nvGrpSpPr>
        <p:grpSpPr>
          <a:xfrm>
            <a:off x="4911725" y="1228725"/>
            <a:ext cx="2711450" cy="2270125"/>
            <a:chOff x="4561682" y="2200808"/>
            <a:chExt cx="3219450" cy="2697163"/>
          </a:xfrm>
        </p:grpSpPr>
        <p:sp>
          <p:nvSpPr>
            <p:cNvPr id="12" name="i$liḋe-Oval 12"/>
            <p:cNvSpPr/>
            <p:nvPr/>
          </p:nvSpPr>
          <p:spPr bwMode="auto">
            <a:xfrm>
              <a:off x="4997100" y="2200808"/>
              <a:ext cx="2284528" cy="2284102"/>
            </a:xfrm>
            <a:prstGeom prst="ellipse">
              <a:avLst/>
            </a:prstGeom>
            <a:solidFill>
              <a:schemeClr val="accent1"/>
            </a:solidFill>
            <a:ln w="50800">
              <a:solidFill>
                <a:schemeClr val="tx1">
                  <a:alpha val="0"/>
                </a:schemeClr>
              </a:solidFill>
              <a:miter lim="800000"/>
            </a:ln>
          </p:spPr>
          <p:txBody>
            <a:bodyPr wrap="none" lIns="0" tIns="0" rIns="0" bIns="0" anchor="ctr"/>
            <a:lstStyle>
              <a:lvl1pPr>
                <a:lnSpc>
                  <a:spcPct val="130000"/>
                </a:lnSpc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缺点</a:t>
              </a:r>
            </a:p>
          </p:txBody>
        </p:sp>
        <p:sp>
          <p:nvSpPr>
            <p:cNvPr id="13" name="i$liḋe-Oval 14"/>
            <p:cNvSpPr/>
            <p:nvPr/>
          </p:nvSpPr>
          <p:spPr bwMode="auto">
            <a:xfrm>
              <a:off x="4561682" y="3047680"/>
              <a:ext cx="326092" cy="32630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  <a:alpha val="20000"/>
              </a:schemeClr>
            </a:solidFill>
            <a:ln w="50800">
              <a:solidFill>
                <a:schemeClr val="tx1">
                  <a:alpha val="0"/>
                </a:schemeClr>
              </a:solidFill>
              <a:miter lim="800000"/>
            </a:ln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4" name="i$liḋe-Oval 15"/>
            <p:cNvSpPr/>
            <p:nvPr/>
          </p:nvSpPr>
          <p:spPr bwMode="auto">
            <a:xfrm>
              <a:off x="5877359" y="4354766"/>
              <a:ext cx="544744" cy="543205"/>
            </a:xfrm>
            <a:prstGeom prst="ellipse">
              <a:avLst/>
            </a:prstGeom>
            <a:solidFill>
              <a:schemeClr val="accent1">
                <a:lumMod val="40000"/>
                <a:lumOff val="60000"/>
                <a:alpha val="20000"/>
              </a:schemeClr>
            </a:solidFill>
            <a:ln w="50800">
              <a:solidFill>
                <a:schemeClr val="tx1">
                  <a:alpha val="0"/>
                </a:schemeClr>
              </a:solidFill>
              <a:miter lim="800000"/>
            </a:ln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5" name="i$liḋe-Oval 16"/>
            <p:cNvSpPr/>
            <p:nvPr/>
          </p:nvSpPr>
          <p:spPr bwMode="auto">
            <a:xfrm>
              <a:off x="6857519" y="2221556"/>
              <a:ext cx="173413" cy="175409"/>
            </a:xfrm>
            <a:prstGeom prst="ellipse">
              <a:avLst/>
            </a:prstGeom>
            <a:solidFill>
              <a:schemeClr val="accent1">
                <a:lumMod val="40000"/>
                <a:lumOff val="60000"/>
                <a:alpha val="20000"/>
              </a:schemeClr>
            </a:solidFill>
            <a:ln w="50800">
              <a:noFill/>
              <a:miter lim="800000"/>
            </a:ln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6" name="i$liḋe-Oval 17"/>
            <p:cNvSpPr/>
            <p:nvPr/>
          </p:nvSpPr>
          <p:spPr bwMode="auto">
            <a:xfrm>
              <a:off x="7117639" y="3907754"/>
              <a:ext cx="403374" cy="403631"/>
            </a:xfrm>
            <a:prstGeom prst="ellipse">
              <a:avLst/>
            </a:prstGeom>
            <a:solidFill>
              <a:schemeClr val="accent1">
                <a:lumMod val="40000"/>
                <a:lumOff val="60000"/>
                <a:alpha val="20000"/>
              </a:schemeClr>
            </a:solidFill>
            <a:ln w="50800">
              <a:solidFill>
                <a:schemeClr val="tx1">
                  <a:alpha val="0"/>
                </a:schemeClr>
              </a:solidFill>
              <a:miter lim="800000"/>
            </a:ln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7" name="i$liḋe-Oval 18"/>
            <p:cNvSpPr/>
            <p:nvPr/>
          </p:nvSpPr>
          <p:spPr bwMode="auto">
            <a:xfrm>
              <a:off x="7292937" y="2940170"/>
              <a:ext cx="488195" cy="488508"/>
            </a:xfrm>
            <a:prstGeom prst="ellipse">
              <a:avLst/>
            </a:prstGeom>
            <a:solidFill>
              <a:schemeClr val="accent1">
                <a:lumMod val="40000"/>
                <a:lumOff val="60000"/>
                <a:alpha val="20000"/>
              </a:schemeClr>
            </a:solidFill>
            <a:ln w="50800">
              <a:solidFill>
                <a:schemeClr val="tx1">
                  <a:alpha val="0"/>
                </a:schemeClr>
              </a:solidFill>
              <a:miter lim="800000"/>
            </a:ln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627063" y="1063625"/>
            <a:ext cx="3000375" cy="2557463"/>
            <a:chOff x="755650" y="1929345"/>
            <a:chExt cx="3562350" cy="3037682"/>
          </a:xfrm>
        </p:grpSpPr>
        <p:sp>
          <p:nvSpPr>
            <p:cNvPr id="19" name="i$liḋe-Oval 4"/>
            <p:cNvSpPr/>
            <p:nvPr/>
          </p:nvSpPr>
          <p:spPr bwMode="auto">
            <a:xfrm>
              <a:off x="1560477" y="2263095"/>
              <a:ext cx="2222228" cy="2223107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 w="50800" cap="flat">
              <a:solidFill>
                <a:schemeClr val="tx1">
                  <a:alpha val="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wrap="none" lIns="0" tIns="0" rIns="0" bIns="0" anchor="ctr">
              <a:norm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优点</a:t>
              </a:r>
              <a:endPara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i$liḋe-Oval 6"/>
            <p:cNvSpPr/>
            <p:nvPr/>
          </p:nvSpPr>
          <p:spPr bwMode="auto">
            <a:xfrm>
              <a:off x="3967420" y="3601862"/>
              <a:ext cx="350580" cy="348833"/>
            </a:xfrm>
            <a:prstGeom prst="ellipse">
              <a:avLst/>
            </a:prstGeom>
            <a:solidFill>
              <a:schemeClr val="accent1">
                <a:lumMod val="40000"/>
                <a:lumOff val="60000"/>
                <a:alpha val="39999"/>
              </a:schemeClr>
            </a:solidFill>
            <a:ln w="50800" cap="flat">
              <a:solidFill>
                <a:schemeClr val="tx1">
                  <a:alpha val="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1" name="i$liḋe-Oval 7"/>
            <p:cNvSpPr/>
            <p:nvPr/>
          </p:nvSpPr>
          <p:spPr bwMode="auto">
            <a:xfrm>
              <a:off x="1524665" y="3835675"/>
              <a:ext cx="348695" cy="348833"/>
            </a:xfrm>
            <a:prstGeom prst="ellipse">
              <a:avLst/>
            </a:prstGeom>
            <a:solidFill>
              <a:schemeClr val="accent1">
                <a:lumMod val="40000"/>
                <a:lumOff val="60000"/>
                <a:alpha val="39999"/>
              </a:schemeClr>
            </a:solidFill>
            <a:ln w="50800" cap="flat">
              <a:solidFill>
                <a:schemeClr val="tx1">
                  <a:alpha val="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" name="i$liḋe-Oval 8"/>
            <p:cNvSpPr/>
            <p:nvPr/>
          </p:nvSpPr>
          <p:spPr bwMode="auto">
            <a:xfrm>
              <a:off x="2010954" y="4363639"/>
              <a:ext cx="603149" cy="603388"/>
            </a:xfrm>
            <a:prstGeom prst="ellipse">
              <a:avLst/>
            </a:prstGeom>
            <a:solidFill>
              <a:schemeClr val="accent1">
                <a:lumMod val="40000"/>
                <a:lumOff val="60000"/>
                <a:alpha val="39999"/>
              </a:schemeClr>
            </a:solidFill>
            <a:ln w="50800" cap="flat">
              <a:solidFill>
                <a:schemeClr val="tx1">
                  <a:alpha val="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i$liḋe-Oval 9"/>
            <p:cNvSpPr/>
            <p:nvPr/>
          </p:nvSpPr>
          <p:spPr bwMode="auto">
            <a:xfrm>
              <a:off x="2485934" y="1929345"/>
              <a:ext cx="201677" cy="201758"/>
            </a:xfrm>
            <a:prstGeom prst="ellipse">
              <a:avLst/>
            </a:prstGeom>
            <a:solidFill>
              <a:schemeClr val="accent1">
                <a:lumMod val="40000"/>
                <a:lumOff val="60000"/>
                <a:alpha val="39999"/>
              </a:schemeClr>
            </a:solidFill>
            <a:ln w="50800" cap="flat">
              <a:solidFill>
                <a:schemeClr val="tx1">
                  <a:alpha val="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4" name="i$liḋe-Oval 10"/>
            <p:cNvSpPr/>
            <p:nvPr/>
          </p:nvSpPr>
          <p:spPr bwMode="auto">
            <a:xfrm>
              <a:off x="755650" y="3109723"/>
              <a:ext cx="433513" cy="435571"/>
            </a:xfrm>
            <a:prstGeom prst="ellipse">
              <a:avLst/>
            </a:prstGeom>
            <a:solidFill>
              <a:schemeClr val="accent1">
                <a:lumMod val="40000"/>
                <a:lumOff val="60000"/>
                <a:alpha val="39999"/>
              </a:schemeClr>
            </a:solidFill>
            <a:ln w="50800" cap="flat">
              <a:solidFill>
                <a:schemeClr val="tx1">
                  <a:alpha val="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5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52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52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237" grpId="0"/>
      <p:bldP spid="985099" grpId="0" animBg="1"/>
      <p:bldP spid="9" grpId="0"/>
      <p:bldP spid="10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此处</a:t>
            </a:r>
            <a:r>
              <a:rPr lang="zh-CN" altLang="en-US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添加题目假设一散列表的大小是</a:t>
            </a:r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11,</a:t>
            </a:r>
            <a:r>
              <a:rPr lang="zh-CN" altLang="en-US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散列函数是</a:t>
            </a:r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H(key)=key mod 11</a:t>
            </a:r>
            <a:r>
              <a:rPr lang="zh-CN" altLang="en-US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，用线性探测法解决冲突。先将</a:t>
            </a:r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4</a:t>
            </a:r>
            <a:r>
              <a:rPr lang="zh-CN" altLang="en-US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个元素</a:t>
            </a:r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{14</a:t>
            </a:r>
            <a:r>
              <a:rPr lang="zh-CN" altLang="en-US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，</a:t>
            </a:r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38</a:t>
            </a:r>
            <a:r>
              <a:rPr lang="zh-CN" altLang="en-US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，</a:t>
            </a:r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61</a:t>
            </a:r>
            <a:r>
              <a:rPr lang="zh-CN" altLang="en-US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，</a:t>
            </a:r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86}</a:t>
            </a:r>
            <a:r>
              <a:rPr lang="zh-CN" altLang="en-US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按顺序插入初始为空的散列表中。如果再插入元素</a:t>
            </a:r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49</a:t>
            </a:r>
            <a:r>
              <a:rPr lang="zh-CN" altLang="en-US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，则该元素被插入到表中哪个位置（下标）？描述</a:t>
            </a:r>
          </a:p>
        </p:txBody>
      </p:sp>
      <p:sp>
        <p:nvSpPr>
          <p:cNvPr id="6" name="TextBox 5"/>
          <p:cNvSpPr txBox="1"/>
          <p:nvPr>
            <p:custDataLst>
              <p:tags r:id="rId3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4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7" name="TextBox 6"/>
          <p:cNvSpPr txBox="1"/>
          <p:nvPr>
            <p:custDataLst>
              <p:tags r:id="rId4"/>
            </p:custDataLst>
          </p:nvPr>
        </p:nvSpPr>
        <p:spPr>
          <a:xfrm>
            <a:off x="1828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5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8" name="TextBox 7"/>
          <p:cNvSpPr txBox="1"/>
          <p:nvPr>
            <p:custDataLst>
              <p:tags r:id="rId5"/>
            </p:custDataLst>
          </p:nvPr>
        </p:nvSpPr>
        <p:spPr>
          <a:xfrm>
            <a:off x="1828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6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9" name="TextBox 8"/>
          <p:cNvSpPr txBox="1"/>
          <p:nvPr>
            <p:custDataLst>
              <p:tags r:id="rId6"/>
            </p:custDataLst>
          </p:nvPr>
        </p:nvSpPr>
        <p:spPr>
          <a:xfrm>
            <a:off x="1828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7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1" compatLnSpc="1"/>
          <a:lstStyle/>
          <a:p>
            <a:pPr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/>
                <a:ea typeface="Microsoft Yahei"/>
                <a:sym typeface="Microsoft Yahei"/>
              </a:rPr>
              <a:t>A</a:t>
            </a:r>
            <a:endParaRPr kumimoji="1" lang="zh-CN" altLang="en-US" sz="1600" b="0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1" compatLnSpc="1"/>
          <a:lstStyle/>
          <a:p>
            <a:pPr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/>
                <a:ea typeface="Microsoft Yahei"/>
                <a:sym typeface="Microsoft Yahei"/>
              </a:rPr>
              <a:t>B</a:t>
            </a:r>
            <a:endParaRPr kumimoji="1" lang="zh-CN" altLang="en-US" sz="1600" b="0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144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1" compatLnSpc="1"/>
          <a:lstStyle/>
          <a:p>
            <a:pPr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/>
                <a:ea typeface="Microsoft Yahei"/>
                <a:sym typeface="Microsoft Yahei"/>
              </a:rPr>
              <a:t>C</a:t>
            </a:r>
            <a:endParaRPr kumimoji="1" lang="zh-CN" altLang="en-US" sz="1600" b="0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114425" y="5422106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1" compatLnSpc="1"/>
          <a:lstStyle/>
          <a:p>
            <a:pPr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/>
                <a:ea typeface="Microsoft Yahei"/>
                <a:sym typeface="Microsoft Yahei"/>
              </a:rPr>
              <a:t>D</a:t>
            </a:r>
            <a:endParaRPr kumimoji="1" lang="zh-CN" altLang="en-US" sz="1600" b="0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4" name="圆角矩形 13"/>
          <p:cNvSpPr/>
          <p:nvPr>
            <p:custDataLst>
              <p:tags r:id="rId11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1" compatLnSpc="1"/>
          <a:lstStyle/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/>
                <a:ea typeface="Microsoft Yahei"/>
                <a:sym typeface="Microsoft Yahei"/>
              </a:rPr>
              <a:t>提交</a:t>
            </a:r>
          </a:p>
        </p:txBody>
      </p:sp>
      <p:grpSp>
        <p:nvGrpSpPr>
          <p:cNvPr id="19" name="组合 18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5" name="TitleBackground"/>
            <p:cNvSpPr/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342900" marR="0" indent="-34290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仿宋_GB2312" panose="02010609030101010101" pitchFamily="49" charset="-122"/>
              </a:endParaRPr>
            </a:p>
          </p:txBody>
        </p:sp>
        <p:sp>
          <p:nvSpPr>
            <p:cNvPr id="16" name="ColorBlock"/>
            <p:cNvSpPr/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342900" marR="0" indent="-34290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仿宋_GB2312" panose="02010609030101010101" pitchFamily="49" charset="-122"/>
              </a:endParaRPr>
            </a:p>
          </p:txBody>
        </p:sp>
        <p:sp>
          <p:nvSpPr>
            <p:cNvPr id="17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/>
                  <a:ea typeface="Microsoft Yahei"/>
                  <a:sym typeface="Microsoft Yahei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/>
                <a:ea typeface="Microsoft Yahei"/>
                <a:sym typeface="Microsoft Yahei"/>
              </a:endParaRPr>
            </a:p>
          </p:txBody>
        </p:sp>
      </p:grpSp>
      <p:pic>
        <p:nvPicPr>
          <p:cNvPr id="4" name="图片 3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1120231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散列表的平均查找长度（ ）。</a:t>
            </a:r>
          </a:p>
        </p:txBody>
      </p:sp>
      <p:sp>
        <p:nvSpPr>
          <p:cNvPr id="4" name="TextBox 3"/>
          <p:cNvSpPr txBox="1"/>
          <p:nvPr>
            <p:custDataLst>
              <p:tags r:id="rId3"/>
            </p:custDataLst>
          </p:nvPr>
        </p:nvSpPr>
        <p:spPr>
          <a:xfrm>
            <a:off x="1828800" y="2492896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>
              <a:defRPr/>
            </a:pPr>
            <a:r>
              <a:rPr lang="zh-CN" altLang="en-US" sz="2600" dirty="0">
                <a:solidFill>
                  <a:srgbClr val="000000"/>
                </a:solidFill>
                <a:latin typeface="+mn-ea"/>
                <a:sym typeface="Microsoft Yahei" pitchFamily="34" charset="-122"/>
              </a:rPr>
              <a:t>与处理冲突方法有关而与表的长度无关</a:t>
            </a:r>
          </a:p>
        </p:txBody>
      </p:sp>
      <p:sp>
        <p:nvSpPr>
          <p:cNvPr id="5" name="TextBox 4"/>
          <p:cNvSpPr txBox="1"/>
          <p:nvPr>
            <p:custDataLst>
              <p:tags r:id="rId4"/>
            </p:custDataLst>
          </p:nvPr>
        </p:nvSpPr>
        <p:spPr>
          <a:xfrm>
            <a:off x="1828800" y="3350146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>
              <a:defRPr/>
            </a:pPr>
            <a:r>
              <a:rPr lang="zh-CN" altLang="en-US" sz="2600" dirty="0">
                <a:solidFill>
                  <a:srgbClr val="000000"/>
                </a:solidFill>
                <a:latin typeface="+mn-ea"/>
                <a:sym typeface="Microsoft Yahei" pitchFamily="34" charset="-122"/>
              </a:rPr>
              <a:t>与处理冲突方法无关而与表的长度有关</a:t>
            </a:r>
          </a:p>
        </p:txBody>
      </p:sp>
      <p:sp>
        <p:nvSpPr>
          <p:cNvPr id="6" name="TextBox 5"/>
          <p:cNvSpPr txBox="1"/>
          <p:nvPr>
            <p:custDataLst>
              <p:tags r:id="rId5"/>
            </p:custDataLst>
          </p:nvPr>
        </p:nvSpPr>
        <p:spPr>
          <a:xfrm>
            <a:off x="1828800" y="4207396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>
              <a:defRPr/>
            </a:pPr>
            <a:r>
              <a:rPr lang="zh-CN" altLang="en-US" sz="2400" dirty="0">
                <a:latin typeface="+mn-ea"/>
              </a:rPr>
              <a:t>与处理冲突方法有关且与表的长度有关</a:t>
            </a:r>
            <a:endParaRPr lang="zh-CN" altLang="en-US" sz="2400" dirty="0">
              <a:solidFill>
                <a:srgbClr val="000000"/>
              </a:solidFill>
              <a:latin typeface="+mn-ea"/>
              <a:sym typeface="Microsoft Yahei" pitchFamily="34" charset="-122"/>
            </a:endParaRPr>
          </a:p>
        </p:txBody>
      </p:sp>
      <p:sp>
        <p:nvSpPr>
          <p:cNvPr id="7" name="TextBox 6"/>
          <p:cNvSpPr txBox="1"/>
          <p:nvPr>
            <p:custDataLst>
              <p:tags r:id="rId6"/>
            </p:custDataLst>
          </p:nvPr>
        </p:nvSpPr>
        <p:spPr>
          <a:xfrm>
            <a:off x="1828800" y="5064646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>
              <a:defRPr/>
            </a:pPr>
            <a:r>
              <a:rPr lang="zh-CN" altLang="en-US" sz="2400" dirty="0">
                <a:latin typeface="+mn-ea"/>
              </a:rPr>
              <a:t>与处理冲突方法无关且与表的长度无关</a:t>
            </a:r>
            <a:endParaRPr lang="zh-CN" altLang="en-US" sz="2400" dirty="0">
              <a:solidFill>
                <a:srgbClr val="000000"/>
              </a:solidFill>
              <a:latin typeface="+mn-ea"/>
              <a:sym typeface="Microsoft Yahei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2557189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1" compatLnSpc="1"/>
          <a:lstStyle/>
          <a:p>
            <a:pPr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/>
                <a:ea typeface="Microsoft Yahei"/>
                <a:sym typeface="Microsoft Yahei"/>
              </a:rPr>
              <a:t>A</a:t>
            </a:r>
            <a:endParaRPr kumimoji="1" lang="zh-CN" altLang="en-US" sz="1600" b="0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3414439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1" compatLnSpc="1"/>
          <a:lstStyle/>
          <a:p>
            <a:pPr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/>
                <a:ea typeface="Microsoft Yahei"/>
                <a:sym typeface="Microsoft Yahei"/>
              </a:rPr>
              <a:t>B</a:t>
            </a:r>
            <a:endParaRPr kumimoji="1" lang="zh-CN" altLang="en-US" sz="1600" b="0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14425" y="4271689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1" compatLnSpc="1"/>
          <a:lstStyle/>
          <a:p>
            <a:pPr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/>
                <a:ea typeface="Microsoft Yahei"/>
                <a:sym typeface="Microsoft Yahei"/>
              </a:rPr>
              <a:t>C</a:t>
            </a:r>
            <a:endParaRPr kumimoji="1" lang="zh-CN" altLang="en-US" sz="1600" b="0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114425" y="5128939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1" compatLnSpc="1"/>
          <a:lstStyle/>
          <a:p>
            <a:pPr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/>
                <a:ea typeface="Microsoft Yahei"/>
                <a:sym typeface="Microsoft Yahei"/>
              </a:rPr>
              <a:t>D</a:t>
            </a:r>
            <a:endParaRPr kumimoji="1" lang="zh-CN" altLang="en-US" sz="1600" b="0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2" name="圆角矩形 11"/>
          <p:cNvSpPr/>
          <p:nvPr>
            <p:custDataLst>
              <p:tags r:id="rId11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1" compatLnSpc="1"/>
          <a:lstStyle/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/>
                <a:ea typeface="Microsoft Yahei"/>
                <a:sym typeface="Microsoft Yahei"/>
              </a:rPr>
              <a:t>提交</a:t>
            </a:r>
          </a:p>
        </p:txBody>
      </p:sp>
      <p:grpSp>
        <p:nvGrpSpPr>
          <p:cNvPr id="17" name="组合 16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3" name="TitleBackground"/>
            <p:cNvSpPr/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342900" marR="0" indent="-34290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仿宋_GB2312" panose="02010609030101010101" pitchFamily="49" charset="-122"/>
              </a:endParaRPr>
            </a:p>
          </p:txBody>
        </p:sp>
        <p:sp>
          <p:nvSpPr>
            <p:cNvPr id="14" name="ColorBlock"/>
            <p:cNvSpPr/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342900" marR="0" indent="-34290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仿宋_GB2312" panose="02010609030101010101" pitchFamily="49" charset="-122"/>
              </a:endParaRPr>
            </a:p>
          </p:txBody>
        </p:sp>
        <p:sp>
          <p:nvSpPr>
            <p:cNvPr id="1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/>
                  <a:ea typeface="Microsoft Yahei"/>
                  <a:sym typeface="Microsoft Yahei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/>
                <a:ea typeface="Microsoft Yahei"/>
                <a:sym typeface="Microsoft Yahei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5725832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平方探测法（</a:t>
            </a:r>
            <a:r>
              <a:rPr lang="en-US" altLang="zh-CN" dirty="0"/>
              <a:t>Quadratic Probing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900113" y="2924175"/>
            <a:ext cx="7500937" cy="192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itchFamily="18" charset="0"/>
              </a:rPr>
              <a:t>[</a:t>
            </a:r>
            <a:r>
              <a:rPr kumimoji="0" lang="zh-CN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itchFamily="18" charset="0"/>
              </a:rPr>
              <a:t>例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itchFamily="18" charset="0"/>
              </a:rPr>
              <a:t>5.7] </a:t>
            </a:r>
            <a:r>
              <a:rPr kumimoji="0" lang="zh-CN" altLang="zh-CN" sz="2000" b="1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</a:rPr>
              <a:t>设关键词序列为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</a:rPr>
              <a:t> 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itchFamily="18" charset="0"/>
              </a:rPr>
              <a:t>{47</a:t>
            </a:r>
            <a:r>
              <a:rPr kumimoji="0" lang="zh-CN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itchFamily="18" charset="0"/>
              </a:rPr>
              <a:t>，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itchFamily="18" charset="0"/>
              </a:rPr>
              <a:t>7</a:t>
            </a:r>
            <a:r>
              <a:rPr kumimoji="0" lang="zh-CN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itchFamily="18" charset="0"/>
              </a:rPr>
              <a:t>，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itchFamily="18" charset="0"/>
              </a:rPr>
              <a:t>29</a:t>
            </a:r>
            <a:r>
              <a:rPr kumimoji="0" lang="zh-CN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itchFamily="18" charset="0"/>
              </a:rPr>
              <a:t>，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itchFamily="18" charset="0"/>
              </a:rPr>
              <a:t>11</a:t>
            </a:r>
            <a:r>
              <a:rPr kumimoji="0" lang="zh-CN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itchFamily="18" charset="0"/>
              </a:rPr>
              <a:t>，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itchFamily="18" charset="0"/>
              </a:rPr>
              <a:t>9</a:t>
            </a:r>
            <a:r>
              <a:rPr kumimoji="0" lang="zh-CN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itchFamily="18" charset="0"/>
              </a:rPr>
              <a:t>，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itchFamily="18" charset="0"/>
              </a:rPr>
              <a:t>84</a:t>
            </a:r>
            <a:r>
              <a:rPr kumimoji="0" lang="zh-CN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itchFamily="18" charset="0"/>
              </a:rPr>
              <a:t>，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itchFamily="18" charset="0"/>
              </a:rPr>
              <a:t>54</a:t>
            </a:r>
            <a:r>
              <a:rPr kumimoji="0" lang="zh-CN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itchFamily="18" charset="0"/>
              </a:rPr>
              <a:t>，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itchFamily="18" charset="0"/>
              </a:rPr>
              <a:t>20</a:t>
            </a:r>
            <a:r>
              <a:rPr kumimoji="0" lang="zh-CN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itchFamily="18" charset="0"/>
              </a:rPr>
              <a:t>，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itchFamily="18" charset="0"/>
              </a:rPr>
              <a:t>30}</a:t>
            </a:r>
            <a:endParaRPr kumimoji="0" lang="en-US" altLang="zh-CN" sz="2000" b="1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itchFamily="18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Arial" pitchFamily="34" charset="0"/>
                <a:sym typeface="Wingdings" pitchFamily="2" charset="2"/>
              </a:rPr>
              <a:t> </a:t>
            </a:r>
            <a:r>
              <a:rPr kumimoji="0" lang="zh-CN" altLang="zh-CN" sz="2000" b="1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</a:rPr>
              <a:t>散列表表长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itchFamily="18" charset="0"/>
              </a:rPr>
              <a:t>TableSize = 11</a:t>
            </a:r>
            <a:r>
              <a:rPr kumimoji="0" lang="zh-CN" altLang="zh-CN" sz="2000" b="1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</a:rPr>
              <a:t>（即满足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</a:rPr>
              <a:t>4</a:t>
            </a:r>
            <a:r>
              <a:rPr kumimoji="0" lang="zh-CN" altLang="zh-CN" sz="2000" b="1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</a:rPr>
              <a:t>×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</a:rPr>
              <a:t>2+3</a:t>
            </a:r>
            <a:r>
              <a:rPr kumimoji="0" lang="zh-CN" altLang="zh-CN" sz="2000" b="1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</a:rPr>
              <a:t>形式的素数）</a:t>
            </a:r>
            <a:endParaRPr kumimoji="0" lang="en-US" altLang="zh-CN" sz="2000" b="1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itchFamily="18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Arial" pitchFamily="34" charset="0"/>
                <a:sym typeface="Wingdings" pitchFamily="2" charset="2"/>
              </a:rPr>
              <a:t>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</a:rPr>
              <a:t>装填因子 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itchFamily="18" charset="0"/>
              </a:rPr>
              <a:t>α =  9/11 ≈ 0.82</a:t>
            </a:r>
            <a:endParaRPr kumimoji="0" lang="en-US" altLang="zh-CN" sz="2000" b="1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itchFamily="18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Arial" pitchFamily="34" charset="0"/>
                <a:sym typeface="Wingdings" pitchFamily="2" charset="2"/>
              </a:rPr>
              <a:t> </a:t>
            </a:r>
            <a:r>
              <a:rPr kumimoji="0" lang="zh-CN" altLang="zh-CN" sz="2000" b="1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</a:rPr>
              <a:t>散列函数为：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itchFamily="18" charset="0"/>
              </a:rPr>
              <a:t>h(key) = key mod 11</a:t>
            </a:r>
            <a:endParaRPr kumimoji="0" lang="en-US" altLang="zh-CN" sz="2000" b="1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itchFamily="18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Arial" pitchFamily="34" charset="0"/>
                <a:sym typeface="Wingdings" pitchFamily="2" charset="2"/>
              </a:rPr>
              <a:t> </a:t>
            </a:r>
            <a:r>
              <a:rPr kumimoji="0" lang="zh-CN" altLang="zh-CN" sz="2000" b="1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</a:rPr>
              <a:t>用</a:t>
            </a:r>
            <a:r>
              <a:rPr kumimoji="0" lang="zh-CN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itchFamily="18" charset="0"/>
              </a:rPr>
              <a:t>平方探测法</a:t>
            </a:r>
            <a:r>
              <a:rPr kumimoji="0" lang="zh-CN" altLang="zh-CN" sz="2000" b="1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</a:rPr>
              <a:t>处理冲突，列出依次插入后的散列表</a:t>
            </a:r>
            <a:endParaRPr kumimoji="0" lang="en-US" altLang="zh-CN" sz="2000" b="1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itchFamily="18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Arial" pitchFamily="34" charset="0"/>
                <a:sym typeface="Wingdings" pitchFamily="2" charset="2"/>
              </a:rPr>
              <a:t> </a:t>
            </a:r>
            <a:r>
              <a:rPr kumimoji="0" lang="zh-CN" altLang="zh-CN" sz="2000" b="1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</a:rPr>
              <a:t>并</a:t>
            </a:r>
            <a:r>
              <a:rPr kumimoji="0" lang="zh-CN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itchFamily="18" charset="0"/>
              </a:rPr>
              <a:t>估算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itchFamily="18" charset="0"/>
              </a:rPr>
              <a:t>ASLs</a:t>
            </a:r>
            <a:endParaRPr kumimoji="0" lang="zh-CN" altLang="zh-CN" sz="2000" b="1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itchFamily="18" charset="0"/>
            </a:endParaRPr>
          </a:p>
        </p:txBody>
      </p:sp>
      <p:sp>
        <p:nvSpPr>
          <p:cNvPr id="5" name="AutoShape 448" descr="再生纸"/>
          <p:cNvSpPr>
            <a:spLocks noChangeArrowheads="1"/>
          </p:cNvSpPr>
          <p:nvPr/>
        </p:nvSpPr>
        <p:spPr bwMode="auto">
          <a:xfrm>
            <a:off x="928688" y="1857375"/>
            <a:ext cx="7429500" cy="785813"/>
          </a:xfrm>
          <a:prstGeom prst="roundRect">
            <a:avLst>
              <a:gd name="adj" fmla="val 16667"/>
            </a:avLst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ffectLst>
            <a:outerShdw dist="107763" dir="2700000" algn="ctr" rotWithShape="0">
              <a:srgbClr val="666633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</a:rPr>
              <a:t>有定理显示：如果散列表长度</a:t>
            </a:r>
            <a:r>
              <a:rPr kumimoji="0" lang="en-US" altLang="zh-CN" sz="2000" b="1" i="0" u="none" strike="noStrike" kern="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</a:rPr>
              <a:t>TableSize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</a:rPr>
              <a:t>是某个</a:t>
            </a: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itchFamily="18" charset="0"/>
              </a:rPr>
              <a:t>4k+3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</a:rPr>
              <a:t>（</a:t>
            </a: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</a:rPr>
              <a:t>k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</a:rPr>
              <a:t>是正整数）形式的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itchFamily="18" charset="0"/>
              </a:rPr>
              <a:t>素数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</a:rPr>
              <a:t>时，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itchFamily="18" charset="0"/>
              </a:rPr>
              <a:t>平方探测法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</a:rPr>
              <a:t>就可以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itchFamily="18" charset="0"/>
              </a:rPr>
              <a:t>探查到整个散列表空间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</a:rPr>
              <a:t>。</a:t>
            </a:r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1357313" y="4976813"/>
          <a:ext cx="6715126" cy="666750"/>
        </p:xfrm>
        <a:graphic>
          <a:graphicData uri="http://schemas.openxmlformats.org/drawingml/2006/table">
            <a:tbl>
              <a:tblPr/>
              <a:tblGrid>
                <a:gridCol w="1785943"/>
                <a:gridCol w="547687"/>
                <a:gridCol w="547687"/>
                <a:gridCol w="547687"/>
                <a:gridCol w="547687"/>
                <a:gridCol w="547687"/>
                <a:gridCol w="547687"/>
                <a:gridCol w="547687"/>
                <a:gridCol w="547687"/>
                <a:gridCol w="547687"/>
              </a:tblGrid>
              <a:tr h="3333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 dirty="0" smtClean="0">
                          <a:latin typeface="Times New Roman"/>
                          <a:ea typeface="宋体"/>
                          <a:cs typeface="Times New Roman"/>
                        </a:rPr>
                        <a:t>关键词</a:t>
                      </a:r>
                      <a:r>
                        <a:rPr lang="en-US" altLang="zh-CN" sz="1600" b="1" kern="100" dirty="0" smtClean="0">
                          <a:latin typeface="Times New Roman"/>
                          <a:ea typeface="宋体"/>
                          <a:cs typeface="Times New Roman"/>
                        </a:rPr>
                        <a:t> </a:t>
                      </a:r>
                      <a:r>
                        <a:rPr lang="en-US" altLang="zh-CN" sz="1600" b="1" kern="100" dirty="0" smtClean="0">
                          <a:solidFill>
                            <a:srgbClr val="3333FF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key</a:t>
                      </a:r>
                      <a:endParaRPr lang="zh-CN" sz="1600" b="1" kern="100" dirty="0">
                        <a:solidFill>
                          <a:srgbClr val="3333FF"/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solidFill>
                            <a:srgbClr val="3333FF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47</a:t>
                      </a:r>
                      <a:endParaRPr lang="zh-CN" sz="1600" b="1" kern="100" dirty="0">
                        <a:solidFill>
                          <a:srgbClr val="3333FF"/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solidFill>
                            <a:srgbClr val="3333FF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7</a:t>
                      </a:r>
                      <a:endParaRPr lang="zh-CN" sz="1600" b="1" kern="100" dirty="0">
                        <a:solidFill>
                          <a:srgbClr val="3333FF"/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solidFill>
                            <a:srgbClr val="3333FF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29</a:t>
                      </a:r>
                      <a:endParaRPr lang="zh-CN" sz="1600" b="1" kern="100" dirty="0">
                        <a:solidFill>
                          <a:srgbClr val="3333FF"/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solidFill>
                            <a:srgbClr val="3333FF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11</a:t>
                      </a:r>
                      <a:endParaRPr lang="zh-CN" sz="1600" b="1" kern="100" dirty="0">
                        <a:solidFill>
                          <a:srgbClr val="3333FF"/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solidFill>
                            <a:srgbClr val="3333FF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9</a:t>
                      </a:r>
                      <a:endParaRPr lang="zh-CN" sz="1600" b="1" kern="100" dirty="0">
                        <a:solidFill>
                          <a:srgbClr val="3333FF"/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solidFill>
                            <a:srgbClr val="3333FF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84</a:t>
                      </a:r>
                      <a:endParaRPr lang="zh-CN" sz="1600" b="1" kern="100" dirty="0">
                        <a:solidFill>
                          <a:srgbClr val="3333FF"/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solidFill>
                            <a:srgbClr val="3333FF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54</a:t>
                      </a:r>
                      <a:endParaRPr lang="zh-CN" sz="1600" b="1" kern="100" dirty="0">
                        <a:solidFill>
                          <a:srgbClr val="3333FF"/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solidFill>
                            <a:srgbClr val="3333FF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20</a:t>
                      </a:r>
                      <a:endParaRPr lang="zh-CN" sz="1600" b="1" kern="100" dirty="0">
                        <a:solidFill>
                          <a:srgbClr val="3333FF"/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solidFill>
                            <a:srgbClr val="3333FF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30</a:t>
                      </a:r>
                      <a:endParaRPr lang="zh-CN" sz="1600" b="1" kern="100" dirty="0">
                        <a:solidFill>
                          <a:srgbClr val="3333FF"/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333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zh-CN" sz="1600" b="1" kern="100" dirty="0">
                        <a:solidFill>
                          <a:srgbClr val="3333FF"/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zh-CN" sz="16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zh-CN" sz="16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zh-CN" sz="16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zh-CN" sz="16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zh-CN" sz="16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zh-CN" sz="16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zh-CN" sz="16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zh-CN" sz="16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zh-CN" sz="16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357313" y="5310188"/>
          <a:ext cx="6715126" cy="333375"/>
        </p:xfrm>
        <a:graphic>
          <a:graphicData uri="http://schemas.openxmlformats.org/drawingml/2006/table">
            <a:tbl>
              <a:tblPr/>
              <a:tblGrid>
                <a:gridCol w="1785943"/>
                <a:gridCol w="547687"/>
                <a:gridCol w="547687"/>
                <a:gridCol w="547687"/>
                <a:gridCol w="547687"/>
                <a:gridCol w="547687"/>
                <a:gridCol w="547687"/>
                <a:gridCol w="547687"/>
                <a:gridCol w="547687"/>
                <a:gridCol w="547687"/>
              </a:tblGrid>
              <a:tr h="3333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latin typeface="Times New Roman"/>
                          <a:ea typeface="宋体"/>
                          <a:cs typeface="Times New Roman"/>
                        </a:rPr>
                        <a:t>散</a:t>
                      </a:r>
                      <a:r>
                        <a:rPr lang="zh-CN" sz="1600" b="1" kern="100" dirty="0" smtClean="0">
                          <a:latin typeface="Times New Roman"/>
                          <a:ea typeface="宋体"/>
                          <a:cs typeface="Times New Roman"/>
                        </a:rPr>
                        <a:t>列地址</a:t>
                      </a:r>
                      <a:r>
                        <a:rPr lang="en-US" altLang="zh-CN" sz="1600" b="1" kern="100" dirty="0" smtClean="0">
                          <a:solidFill>
                            <a:srgbClr val="3333FF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h(key)</a:t>
                      </a:r>
                      <a:endParaRPr lang="zh-CN" sz="1600" b="1" kern="100" dirty="0">
                        <a:solidFill>
                          <a:srgbClr val="3333FF"/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latin typeface="Times New Roman"/>
                          <a:ea typeface="宋体"/>
                          <a:cs typeface="Times New Roman"/>
                        </a:rPr>
                        <a:t>3</a:t>
                      </a:r>
                      <a:endParaRPr lang="zh-CN" sz="16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latin typeface="Times New Roman"/>
                          <a:ea typeface="宋体"/>
                          <a:cs typeface="Times New Roman"/>
                        </a:rPr>
                        <a:t>7</a:t>
                      </a:r>
                      <a:endParaRPr lang="zh-CN" sz="16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latin typeface="Times New Roman"/>
                          <a:ea typeface="宋体"/>
                          <a:cs typeface="Times New Roman"/>
                        </a:rPr>
                        <a:t>7</a:t>
                      </a:r>
                      <a:endParaRPr lang="zh-CN" sz="16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latin typeface="Times New Roman"/>
                          <a:ea typeface="宋体"/>
                          <a:cs typeface="Times New Roman"/>
                        </a:rPr>
                        <a:t>0</a:t>
                      </a:r>
                      <a:endParaRPr lang="zh-CN" sz="16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latin typeface="Times New Roman"/>
                          <a:ea typeface="宋体"/>
                          <a:cs typeface="Times New Roman"/>
                        </a:rPr>
                        <a:t>9</a:t>
                      </a:r>
                      <a:endParaRPr lang="zh-CN" sz="16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latin typeface="Times New Roman"/>
                          <a:ea typeface="宋体"/>
                          <a:cs typeface="Times New Roman"/>
                        </a:rPr>
                        <a:t>7</a:t>
                      </a:r>
                      <a:endParaRPr lang="zh-CN" sz="16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latin typeface="Times New Roman"/>
                          <a:ea typeface="宋体"/>
                          <a:cs typeface="Times New Roman"/>
                        </a:rPr>
                        <a:t>10</a:t>
                      </a:r>
                      <a:endParaRPr lang="zh-CN" sz="16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latin typeface="Times New Roman"/>
                          <a:ea typeface="宋体"/>
                          <a:cs typeface="Times New Roman"/>
                        </a:rPr>
                        <a:t>9</a:t>
                      </a:r>
                      <a:endParaRPr lang="zh-CN" sz="16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latin typeface="Times New Roman"/>
                          <a:ea typeface="宋体"/>
                          <a:cs typeface="Times New Roman"/>
                        </a:rPr>
                        <a:t>8</a:t>
                      </a:r>
                      <a:endParaRPr lang="zh-CN" sz="16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928688" y="980728"/>
            <a:ext cx="70358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2000" b="1" dirty="0">
                <a:solidFill>
                  <a:srgbClr val="3333FF"/>
                </a:solidFill>
                <a:latin typeface="Times New Roman" pitchFamily="18" charset="0"/>
                <a:sym typeface="Wingdings" pitchFamily="2" charset="2"/>
              </a:rPr>
              <a:t> </a:t>
            </a:r>
            <a:r>
              <a:rPr lang="zh-CN" altLang="zh-CN" sz="2000" b="1" dirty="0">
                <a:latin typeface="Times New Roman" pitchFamily="18" charset="0"/>
              </a:rPr>
              <a:t>即</a:t>
            </a:r>
            <a:r>
              <a:rPr lang="zh-CN" altLang="zh-CN" sz="2000" b="1" dirty="0">
                <a:solidFill>
                  <a:srgbClr val="3333FF"/>
                </a:solidFill>
                <a:latin typeface="Times New Roman" pitchFamily="18" charset="0"/>
              </a:rPr>
              <a:t>平方探测法</a:t>
            </a:r>
            <a:r>
              <a:rPr lang="zh-CN" altLang="zh-CN" sz="2000" b="1" dirty="0">
                <a:latin typeface="Times New Roman" pitchFamily="18" charset="0"/>
              </a:rPr>
              <a:t>以增量序列</a:t>
            </a:r>
            <a:r>
              <a:rPr lang="en-US" altLang="zh-CN" sz="2000" b="1" dirty="0">
                <a:solidFill>
                  <a:srgbClr val="3333FF"/>
                </a:solidFill>
                <a:latin typeface="Times New Roman" pitchFamily="18" charset="0"/>
              </a:rPr>
              <a:t>1</a:t>
            </a:r>
            <a:r>
              <a:rPr lang="en-US" altLang="zh-CN" sz="2000" b="1" baseline="30000" dirty="0">
                <a:solidFill>
                  <a:srgbClr val="3333FF"/>
                </a:solidFill>
                <a:latin typeface="Times New Roman" pitchFamily="18" charset="0"/>
              </a:rPr>
              <a:t>2</a:t>
            </a:r>
            <a:r>
              <a:rPr lang="zh-CN" altLang="zh-CN" sz="2000" b="1" dirty="0">
                <a:solidFill>
                  <a:srgbClr val="3333FF"/>
                </a:solidFill>
                <a:latin typeface="Times New Roman" pitchFamily="18" charset="0"/>
              </a:rPr>
              <a:t>，</a:t>
            </a:r>
            <a:r>
              <a:rPr lang="en-US" altLang="zh-CN" sz="2000" b="1" dirty="0">
                <a:solidFill>
                  <a:srgbClr val="3333FF"/>
                </a:solidFill>
                <a:latin typeface="Times New Roman" pitchFamily="18" charset="0"/>
              </a:rPr>
              <a:t>-1</a:t>
            </a:r>
            <a:r>
              <a:rPr lang="en-US" altLang="zh-CN" sz="2000" b="1" baseline="30000" dirty="0">
                <a:solidFill>
                  <a:srgbClr val="3333FF"/>
                </a:solidFill>
                <a:latin typeface="Times New Roman" pitchFamily="18" charset="0"/>
              </a:rPr>
              <a:t>2</a:t>
            </a:r>
            <a:r>
              <a:rPr lang="zh-CN" altLang="zh-CN" sz="2000" b="1" dirty="0">
                <a:solidFill>
                  <a:srgbClr val="3333FF"/>
                </a:solidFill>
                <a:latin typeface="Times New Roman" pitchFamily="18" charset="0"/>
              </a:rPr>
              <a:t>，</a:t>
            </a:r>
            <a:r>
              <a:rPr lang="en-US" altLang="zh-CN" sz="2000" b="1" dirty="0">
                <a:solidFill>
                  <a:srgbClr val="3333FF"/>
                </a:solidFill>
                <a:latin typeface="Times New Roman" pitchFamily="18" charset="0"/>
              </a:rPr>
              <a:t>2</a:t>
            </a:r>
            <a:r>
              <a:rPr lang="en-US" altLang="zh-CN" sz="2000" b="1" baseline="30000" dirty="0">
                <a:solidFill>
                  <a:srgbClr val="3333FF"/>
                </a:solidFill>
                <a:latin typeface="Times New Roman" pitchFamily="18" charset="0"/>
              </a:rPr>
              <a:t>2</a:t>
            </a:r>
            <a:r>
              <a:rPr lang="zh-CN" altLang="zh-CN" sz="2000" b="1" dirty="0">
                <a:solidFill>
                  <a:srgbClr val="3333FF"/>
                </a:solidFill>
                <a:latin typeface="Times New Roman" pitchFamily="18" charset="0"/>
              </a:rPr>
              <a:t>，</a:t>
            </a:r>
            <a:r>
              <a:rPr lang="en-US" altLang="zh-CN" sz="2000" b="1" dirty="0">
                <a:solidFill>
                  <a:srgbClr val="3333FF"/>
                </a:solidFill>
                <a:latin typeface="Times New Roman" pitchFamily="18" charset="0"/>
              </a:rPr>
              <a:t>-2</a:t>
            </a:r>
            <a:r>
              <a:rPr lang="en-US" altLang="zh-CN" sz="2000" b="1" baseline="30000" dirty="0">
                <a:solidFill>
                  <a:srgbClr val="3333FF"/>
                </a:solidFill>
                <a:latin typeface="Times New Roman" pitchFamily="18" charset="0"/>
              </a:rPr>
              <a:t>2</a:t>
            </a:r>
            <a:r>
              <a:rPr lang="zh-CN" altLang="zh-CN" sz="2000" b="1" dirty="0">
                <a:solidFill>
                  <a:srgbClr val="3333FF"/>
                </a:solidFill>
                <a:latin typeface="Times New Roman" pitchFamily="18" charset="0"/>
              </a:rPr>
              <a:t>，…，</a:t>
            </a:r>
            <a:r>
              <a:rPr lang="en-US" altLang="zh-CN" sz="2000" b="1" dirty="0">
                <a:solidFill>
                  <a:srgbClr val="3333FF"/>
                </a:solidFill>
                <a:latin typeface="Times New Roman" pitchFamily="18" charset="0"/>
              </a:rPr>
              <a:t>q</a:t>
            </a:r>
            <a:r>
              <a:rPr lang="en-US" altLang="zh-CN" sz="2000" b="1" baseline="30000" dirty="0">
                <a:solidFill>
                  <a:srgbClr val="3333FF"/>
                </a:solidFill>
                <a:latin typeface="Times New Roman" pitchFamily="18" charset="0"/>
              </a:rPr>
              <a:t>2</a:t>
            </a:r>
            <a:r>
              <a:rPr lang="zh-CN" altLang="zh-CN" sz="2000" b="1" dirty="0">
                <a:solidFill>
                  <a:srgbClr val="3333FF"/>
                </a:solidFill>
                <a:latin typeface="Times New Roman" pitchFamily="18" charset="0"/>
              </a:rPr>
              <a:t>，</a:t>
            </a:r>
            <a:r>
              <a:rPr lang="en-US" altLang="zh-CN" sz="2000" b="1" dirty="0">
                <a:solidFill>
                  <a:srgbClr val="3333FF"/>
                </a:solidFill>
                <a:latin typeface="Times New Roman" pitchFamily="18" charset="0"/>
              </a:rPr>
              <a:t>-q</a:t>
            </a:r>
            <a:r>
              <a:rPr lang="en-US" altLang="zh-CN" sz="2000" b="1" baseline="30000" dirty="0">
                <a:solidFill>
                  <a:srgbClr val="3333FF"/>
                </a:solidFill>
                <a:latin typeface="Times New Roman" pitchFamily="18" charset="0"/>
              </a:rPr>
              <a:t>2</a:t>
            </a:r>
            <a:r>
              <a:rPr lang="zh-CN" altLang="zh-CN" sz="2000" b="1" dirty="0">
                <a:latin typeface="Times New Roman" pitchFamily="18" charset="0"/>
              </a:rPr>
              <a:t>且</a:t>
            </a:r>
            <a:r>
              <a:rPr lang="en-US" altLang="zh-CN" sz="2000" b="1" dirty="0">
                <a:solidFill>
                  <a:srgbClr val="3333FF"/>
                </a:solidFill>
                <a:latin typeface="Times New Roman" pitchFamily="18" charset="0"/>
              </a:rPr>
              <a:t>q </a:t>
            </a:r>
            <a:r>
              <a:rPr lang="zh-CN" altLang="zh-CN" sz="2000" b="1" dirty="0">
                <a:solidFill>
                  <a:srgbClr val="3333FF"/>
                </a:solidFill>
                <a:latin typeface="Times New Roman" pitchFamily="18" charset="0"/>
              </a:rPr>
              <a:t>≤ </a:t>
            </a:r>
            <a:r>
              <a:rPr lang="en-US" altLang="zh-CN" sz="2000" b="1" dirty="0">
                <a:solidFill>
                  <a:srgbClr val="3333FF"/>
                </a:solidFill>
                <a:latin typeface="Times New Roman" pitchFamily="18" charset="0"/>
                <a:sym typeface="Symbol" pitchFamily="18" charset="2"/>
              </a:rPr>
              <a:t></a:t>
            </a:r>
            <a:r>
              <a:rPr lang="en-US" altLang="zh-CN" sz="2000" b="1" dirty="0" err="1">
                <a:solidFill>
                  <a:srgbClr val="3333FF"/>
                </a:solidFill>
                <a:latin typeface="Times New Roman" pitchFamily="18" charset="0"/>
              </a:rPr>
              <a:t>TableSize</a:t>
            </a:r>
            <a:r>
              <a:rPr lang="en-US" altLang="zh-CN" sz="2000" b="1" dirty="0">
                <a:solidFill>
                  <a:srgbClr val="3333FF"/>
                </a:solidFill>
                <a:latin typeface="Times New Roman" pitchFamily="18" charset="0"/>
              </a:rPr>
              <a:t>/2</a:t>
            </a:r>
            <a:r>
              <a:rPr lang="en-US" altLang="zh-CN" sz="2000" b="1" dirty="0">
                <a:solidFill>
                  <a:srgbClr val="3333FF"/>
                </a:solidFill>
                <a:latin typeface="Times New Roman" pitchFamily="18" charset="0"/>
                <a:sym typeface="Symbol" pitchFamily="18" charset="2"/>
              </a:rPr>
              <a:t></a:t>
            </a:r>
            <a:r>
              <a:rPr lang="en-US" altLang="zh-CN" sz="2000" b="1" dirty="0">
                <a:solidFill>
                  <a:srgbClr val="3333FF"/>
                </a:solidFill>
                <a:latin typeface="Times New Roman" pitchFamily="18" charset="0"/>
              </a:rPr>
              <a:t> </a:t>
            </a:r>
            <a:r>
              <a:rPr lang="zh-CN" altLang="zh-CN" sz="2000" b="1" dirty="0">
                <a:latin typeface="Times New Roman" pitchFamily="18" charset="0"/>
              </a:rPr>
              <a:t>循环试探下一个存储地址。</a:t>
            </a:r>
            <a:endParaRPr lang="zh-CN" altLang="en-US" sz="2000" b="1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0219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 autoUpdateAnimBg="0"/>
      <p:bldP spid="8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平方探测法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2398638" y="6155456"/>
            <a:ext cx="487345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zh-CN" b="1" dirty="0" smtClean="0">
                <a:latin typeface="Times New Roman" pitchFamily="18" charset="0"/>
              </a:rPr>
              <a:t>平方</a:t>
            </a:r>
            <a:r>
              <a:rPr lang="zh-CN" altLang="zh-CN" b="1" dirty="0">
                <a:latin typeface="Times New Roman" pitchFamily="18" charset="0"/>
              </a:rPr>
              <a:t>探测法构建散列表的过程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6888202"/>
              </p:ext>
            </p:extLst>
          </p:nvPr>
        </p:nvGraphicFramePr>
        <p:xfrm>
          <a:off x="755576" y="2797894"/>
          <a:ext cx="7215190" cy="3214685"/>
        </p:xfrm>
        <a:graphic>
          <a:graphicData uri="http://schemas.openxmlformats.org/drawingml/2006/table">
            <a:tbl>
              <a:tblPr/>
              <a:tblGrid>
                <a:gridCol w="1096060"/>
                <a:gridCol w="505660"/>
                <a:gridCol w="496347"/>
                <a:gridCol w="496347"/>
                <a:gridCol w="496347"/>
                <a:gridCol w="445129"/>
                <a:gridCol w="445129"/>
                <a:gridCol w="496347"/>
                <a:gridCol w="445129"/>
                <a:gridCol w="496347"/>
                <a:gridCol w="445129"/>
                <a:gridCol w="496347"/>
                <a:gridCol w="854872"/>
              </a:tblGrid>
              <a:tr h="66895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indent="344170" algn="ctr">
                        <a:spcAft>
                          <a:spcPts val="0"/>
                        </a:spcAft>
                      </a:pPr>
                      <a:r>
                        <a:rPr lang="zh-CN" sz="1600" b="1" kern="100" dirty="0" smtClean="0">
                          <a:latin typeface="Times New Roman"/>
                          <a:ea typeface="宋体"/>
                          <a:cs typeface="Times New Roman"/>
                        </a:rPr>
                        <a:t>地址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 dirty="0" smtClean="0">
                          <a:latin typeface="Times New Roman"/>
                          <a:ea typeface="宋体"/>
                          <a:cs typeface="Times New Roman"/>
                        </a:rPr>
                        <a:t>操作</a:t>
                      </a:r>
                      <a:endParaRPr lang="zh-CN" sz="16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Times New Roman"/>
                          <a:ea typeface="宋体"/>
                          <a:cs typeface="Times New Roman"/>
                        </a:rPr>
                        <a:t>0</a:t>
                      </a:r>
                      <a:endParaRPr lang="zh-CN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Times New Roman"/>
                          <a:ea typeface="宋体"/>
                          <a:cs typeface="Times New Roman"/>
                        </a:rPr>
                        <a:t>1</a:t>
                      </a:r>
                      <a:endParaRPr lang="zh-CN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Times New Roman"/>
                          <a:ea typeface="宋体"/>
                          <a:cs typeface="Times New Roman"/>
                        </a:rPr>
                        <a:t>2</a:t>
                      </a:r>
                      <a:endParaRPr lang="zh-CN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Times New Roman"/>
                          <a:ea typeface="宋体"/>
                          <a:cs typeface="Times New Roman"/>
                        </a:rPr>
                        <a:t>3</a:t>
                      </a:r>
                      <a:endParaRPr lang="zh-CN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Times New Roman"/>
                          <a:ea typeface="宋体"/>
                          <a:cs typeface="Times New Roman"/>
                        </a:rPr>
                        <a:t>4</a:t>
                      </a:r>
                      <a:endParaRPr lang="zh-CN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Times New Roman"/>
                          <a:ea typeface="宋体"/>
                          <a:cs typeface="Times New Roman"/>
                        </a:rPr>
                        <a:t>5</a:t>
                      </a:r>
                      <a:endParaRPr lang="zh-CN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Times New Roman"/>
                          <a:ea typeface="宋体"/>
                          <a:cs typeface="Times New Roman"/>
                        </a:rPr>
                        <a:t>6</a:t>
                      </a:r>
                      <a:endParaRPr lang="zh-CN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Times New Roman"/>
                          <a:ea typeface="宋体"/>
                          <a:cs typeface="Times New Roman"/>
                        </a:rPr>
                        <a:t>7</a:t>
                      </a:r>
                      <a:endParaRPr lang="zh-CN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Times New Roman"/>
                          <a:ea typeface="宋体"/>
                          <a:cs typeface="Times New Roman"/>
                        </a:rPr>
                        <a:t>8</a:t>
                      </a:r>
                      <a:endParaRPr lang="zh-CN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Times New Roman"/>
                          <a:ea typeface="宋体"/>
                          <a:cs typeface="Times New Roman"/>
                        </a:rPr>
                        <a:t>9</a:t>
                      </a:r>
                      <a:endParaRPr lang="zh-CN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Times New Roman"/>
                          <a:ea typeface="宋体"/>
                          <a:cs typeface="Times New Roman"/>
                        </a:rPr>
                        <a:t>10</a:t>
                      </a:r>
                      <a:endParaRPr lang="zh-CN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>
                          <a:latin typeface="Times New Roman"/>
                          <a:ea typeface="宋体"/>
                          <a:cs typeface="Times New Roman"/>
                        </a:rPr>
                        <a:t>说 明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8285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>
                          <a:latin typeface="Times New Roman"/>
                          <a:ea typeface="宋体"/>
                          <a:cs typeface="Times New Roman"/>
                        </a:rPr>
                        <a:t>插入</a:t>
                      </a:r>
                      <a:r>
                        <a:rPr lang="en-US" sz="1600" b="1" kern="100">
                          <a:latin typeface="Times New Roman"/>
                          <a:ea typeface="宋体"/>
                          <a:cs typeface="Times New Roman"/>
                        </a:rPr>
                        <a:t>47</a:t>
                      </a:r>
                      <a:endParaRPr lang="zh-CN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en-US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en-US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en-US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Times New Roman"/>
                          <a:ea typeface="宋体"/>
                          <a:cs typeface="Times New Roman"/>
                        </a:rPr>
                        <a:t>47</a:t>
                      </a:r>
                      <a:endParaRPr lang="zh-CN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en-US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en-US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en-US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en-US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en-US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en-US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en-US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>
                          <a:latin typeface="Times New Roman"/>
                          <a:ea typeface="宋体"/>
                          <a:cs typeface="Times New Roman"/>
                        </a:rPr>
                        <a:t>无冲突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8285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>
                          <a:latin typeface="Times New Roman"/>
                          <a:ea typeface="宋体"/>
                          <a:cs typeface="Times New Roman"/>
                        </a:rPr>
                        <a:t>插入</a:t>
                      </a:r>
                      <a:r>
                        <a:rPr lang="en-US" sz="1600" b="1" kern="100">
                          <a:latin typeface="Times New Roman"/>
                          <a:ea typeface="宋体"/>
                          <a:cs typeface="Times New Roman"/>
                        </a:rPr>
                        <a:t>7</a:t>
                      </a:r>
                      <a:endParaRPr lang="zh-CN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en-US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en-US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en-US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Times New Roman"/>
                          <a:ea typeface="宋体"/>
                          <a:cs typeface="Times New Roman"/>
                        </a:rPr>
                        <a:t>47</a:t>
                      </a:r>
                      <a:endParaRPr lang="zh-CN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en-US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en-US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en-US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Times New Roman"/>
                          <a:ea typeface="宋体"/>
                          <a:cs typeface="Times New Roman"/>
                        </a:rPr>
                        <a:t>7</a:t>
                      </a:r>
                      <a:endParaRPr lang="zh-CN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en-US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en-US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en-US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>
                          <a:latin typeface="Times New Roman"/>
                          <a:ea typeface="宋体"/>
                          <a:cs typeface="Times New Roman"/>
                        </a:rPr>
                        <a:t>无冲突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8285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>
                          <a:latin typeface="Times New Roman"/>
                          <a:ea typeface="宋体"/>
                          <a:cs typeface="Times New Roman"/>
                        </a:rPr>
                        <a:t>插入</a:t>
                      </a:r>
                      <a:r>
                        <a:rPr lang="en-US" sz="1600" b="1" kern="100">
                          <a:latin typeface="Times New Roman"/>
                          <a:ea typeface="宋体"/>
                          <a:cs typeface="Times New Roman"/>
                        </a:rPr>
                        <a:t>29</a:t>
                      </a:r>
                      <a:endParaRPr lang="zh-CN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en-US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en-US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en-US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Times New Roman"/>
                          <a:ea typeface="宋体"/>
                          <a:cs typeface="Times New Roman"/>
                        </a:rPr>
                        <a:t>47</a:t>
                      </a:r>
                      <a:endParaRPr lang="zh-CN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en-US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en-US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en-US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Times New Roman"/>
                          <a:ea typeface="宋体"/>
                          <a:cs typeface="Times New Roman"/>
                        </a:rPr>
                        <a:t>7</a:t>
                      </a:r>
                      <a:endParaRPr lang="zh-CN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Times New Roman"/>
                          <a:ea typeface="宋体"/>
                          <a:cs typeface="Times New Roman"/>
                        </a:rPr>
                        <a:t>29</a:t>
                      </a:r>
                      <a:endParaRPr lang="zh-CN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en-US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en-US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Times New Roman"/>
                          <a:ea typeface="宋体"/>
                          <a:cs typeface="Times New Roman"/>
                        </a:rPr>
                        <a:t>d</a:t>
                      </a:r>
                      <a:r>
                        <a:rPr lang="en-US" sz="1600" b="1" kern="100" baseline="-25000">
                          <a:latin typeface="Times New Roman"/>
                          <a:ea typeface="宋体"/>
                          <a:cs typeface="Times New Roman"/>
                        </a:rPr>
                        <a:t>1</a:t>
                      </a:r>
                      <a:r>
                        <a:rPr lang="en-US" sz="1600" b="1" kern="100">
                          <a:latin typeface="Times New Roman"/>
                          <a:ea typeface="宋体"/>
                          <a:cs typeface="Times New Roman"/>
                        </a:rPr>
                        <a:t> = 1</a:t>
                      </a:r>
                      <a:endParaRPr lang="zh-CN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8285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>
                          <a:latin typeface="Times New Roman"/>
                          <a:ea typeface="宋体"/>
                          <a:cs typeface="Times New Roman"/>
                        </a:rPr>
                        <a:t>插入</a:t>
                      </a:r>
                      <a:r>
                        <a:rPr lang="en-US" sz="1600" b="1" kern="100">
                          <a:latin typeface="Times New Roman"/>
                          <a:ea typeface="宋体"/>
                          <a:cs typeface="Times New Roman"/>
                        </a:rPr>
                        <a:t>11</a:t>
                      </a:r>
                      <a:endParaRPr lang="zh-CN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Times New Roman"/>
                          <a:ea typeface="宋体"/>
                          <a:cs typeface="Times New Roman"/>
                        </a:rPr>
                        <a:t>11</a:t>
                      </a:r>
                      <a:endParaRPr lang="zh-CN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en-US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en-US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Times New Roman"/>
                          <a:ea typeface="宋体"/>
                          <a:cs typeface="Times New Roman"/>
                        </a:rPr>
                        <a:t>47</a:t>
                      </a:r>
                      <a:endParaRPr lang="zh-CN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en-US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en-US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en-US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Times New Roman"/>
                          <a:ea typeface="宋体"/>
                          <a:cs typeface="Times New Roman"/>
                        </a:rPr>
                        <a:t>7</a:t>
                      </a:r>
                      <a:endParaRPr lang="zh-CN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Times New Roman"/>
                          <a:ea typeface="宋体"/>
                          <a:cs typeface="Times New Roman"/>
                        </a:rPr>
                        <a:t>29</a:t>
                      </a:r>
                      <a:endParaRPr lang="zh-CN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en-US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en-US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>
                          <a:latin typeface="Times New Roman"/>
                          <a:ea typeface="宋体"/>
                          <a:cs typeface="Times New Roman"/>
                        </a:rPr>
                        <a:t>无冲突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8285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>
                          <a:latin typeface="Times New Roman"/>
                          <a:ea typeface="宋体"/>
                          <a:cs typeface="Times New Roman"/>
                        </a:rPr>
                        <a:t>插入</a:t>
                      </a:r>
                      <a:r>
                        <a:rPr lang="en-US" sz="1600" b="1" kern="100">
                          <a:latin typeface="Times New Roman"/>
                          <a:ea typeface="宋体"/>
                          <a:cs typeface="Times New Roman"/>
                        </a:rPr>
                        <a:t>9</a:t>
                      </a:r>
                      <a:endParaRPr lang="zh-CN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Times New Roman"/>
                          <a:ea typeface="宋体"/>
                          <a:cs typeface="Times New Roman"/>
                        </a:rPr>
                        <a:t>11</a:t>
                      </a:r>
                      <a:endParaRPr lang="zh-CN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en-US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en-US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Times New Roman"/>
                          <a:ea typeface="宋体"/>
                          <a:cs typeface="Times New Roman"/>
                        </a:rPr>
                        <a:t>47</a:t>
                      </a:r>
                      <a:endParaRPr lang="zh-CN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en-US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en-US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en-US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Times New Roman"/>
                          <a:ea typeface="宋体"/>
                          <a:cs typeface="Times New Roman"/>
                        </a:rPr>
                        <a:t>7</a:t>
                      </a:r>
                      <a:endParaRPr lang="zh-CN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Times New Roman"/>
                          <a:ea typeface="宋体"/>
                          <a:cs typeface="Times New Roman"/>
                        </a:rPr>
                        <a:t>29</a:t>
                      </a:r>
                      <a:endParaRPr lang="zh-CN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Times New Roman"/>
                          <a:ea typeface="宋体"/>
                          <a:cs typeface="Times New Roman"/>
                        </a:rPr>
                        <a:t>9</a:t>
                      </a:r>
                      <a:endParaRPr lang="zh-CN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en-US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>
                          <a:latin typeface="Times New Roman"/>
                          <a:ea typeface="宋体"/>
                          <a:cs typeface="Times New Roman"/>
                        </a:rPr>
                        <a:t>无冲突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8285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>
                          <a:latin typeface="Times New Roman"/>
                          <a:ea typeface="宋体"/>
                          <a:cs typeface="Times New Roman"/>
                        </a:rPr>
                        <a:t>插入</a:t>
                      </a:r>
                      <a:r>
                        <a:rPr lang="en-US" sz="1600" b="1" kern="100">
                          <a:latin typeface="Times New Roman"/>
                          <a:ea typeface="宋体"/>
                          <a:cs typeface="Times New Roman"/>
                        </a:rPr>
                        <a:t>84</a:t>
                      </a:r>
                      <a:endParaRPr lang="zh-CN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Times New Roman"/>
                          <a:ea typeface="宋体"/>
                          <a:cs typeface="Times New Roman"/>
                        </a:rPr>
                        <a:t>11</a:t>
                      </a:r>
                      <a:endParaRPr lang="zh-CN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en-US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en-US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Times New Roman"/>
                          <a:ea typeface="宋体"/>
                          <a:cs typeface="Times New Roman"/>
                        </a:rPr>
                        <a:t>47</a:t>
                      </a:r>
                      <a:endParaRPr lang="zh-CN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en-US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en-US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Times New Roman"/>
                          <a:ea typeface="宋体"/>
                          <a:cs typeface="Times New Roman"/>
                        </a:rPr>
                        <a:t>84</a:t>
                      </a:r>
                      <a:endParaRPr lang="zh-CN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Times New Roman"/>
                          <a:ea typeface="宋体"/>
                          <a:cs typeface="Times New Roman"/>
                        </a:rPr>
                        <a:t>7</a:t>
                      </a:r>
                      <a:endParaRPr lang="zh-CN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Times New Roman"/>
                          <a:ea typeface="宋体"/>
                          <a:cs typeface="Times New Roman"/>
                        </a:rPr>
                        <a:t>29</a:t>
                      </a:r>
                      <a:endParaRPr lang="zh-CN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Times New Roman"/>
                          <a:ea typeface="宋体"/>
                          <a:cs typeface="Times New Roman"/>
                        </a:rPr>
                        <a:t>9</a:t>
                      </a:r>
                      <a:endParaRPr lang="zh-CN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en-US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Times New Roman"/>
                          <a:ea typeface="宋体"/>
                          <a:cs typeface="Times New Roman"/>
                        </a:rPr>
                        <a:t>d</a:t>
                      </a:r>
                      <a:r>
                        <a:rPr lang="en-US" sz="1600" b="1" kern="100" baseline="-25000">
                          <a:latin typeface="Times New Roman"/>
                          <a:ea typeface="宋体"/>
                          <a:cs typeface="Times New Roman"/>
                        </a:rPr>
                        <a:t>2</a:t>
                      </a:r>
                      <a:r>
                        <a:rPr lang="en-US" sz="1600" b="1" kern="100">
                          <a:latin typeface="Times New Roman"/>
                          <a:ea typeface="宋体"/>
                          <a:cs typeface="Times New Roman"/>
                        </a:rPr>
                        <a:t> = -1</a:t>
                      </a:r>
                      <a:endParaRPr lang="zh-CN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8285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>
                          <a:latin typeface="Times New Roman"/>
                          <a:ea typeface="宋体"/>
                          <a:cs typeface="Times New Roman"/>
                        </a:rPr>
                        <a:t>插入</a:t>
                      </a:r>
                      <a:r>
                        <a:rPr lang="en-US" sz="1600" b="1" kern="100">
                          <a:latin typeface="Times New Roman"/>
                          <a:ea typeface="宋体"/>
                          <a:cs typeface="Times New Roman"/>
                        </a:rPr>
                        <a:t>54</a:t>
                      </a:r>
                      <a:endParaRPr lang="zh-CN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Times New Roman"/>
                          <a:ea typeface="宋体"/>
                          <a:cs typeface="Times New Roman"/>
                        </a:rPr>
                        <a:t>11</a:t>
                      </a:r>
                      <a:endParaRPr lang="zh-CN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en-US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en-US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Times New Roman"/>
                          <a:ea typeface="宋体"/>
                          <a:cs typeface="Times New Roman"/>
                        </a:rPr>
                        <a:t>47</a:t>
                      </a:r>
                      <a:endParaRPr lang="zh-CN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en-US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en-US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Times New Roman"/>
                          <a:ea typeface="宋体"/>
                          <a:cs typeface="Times New Roman"/>
                        </a:rPr>
                        <a:t>84</a:t>
                      </a:r>
                      <a:endParaRPr lang="zh-CN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Times New Roman"/>
                          <a:ea typeface="宋体"/>
                          <a:cs typeface="Times New Roman"/>
                        </a:rPr>
                        <a:t>7</a:t>
                      </a:r>
                      <a:endParaRPr lang="zh-CN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Times New Roman"/>
                          <a:ea typeface="宋体"/>
                          <a:cs typeface="Times New Roman"/>
                        </a:rPr>
                        <a:t>29</a:t>
                      </a:r>
                      <a:endParaRPr lang="zh-CN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Times New Roman"/>
                          <a:ea typeface="宋体"/>
                          <a:cs typeface="Times New Roman"/>
                        </a:rPr>
                        <a:t>9</a:t>
                      </a:r>
                      <a:endParaRPr lang="zh-CN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Times New Roman"/>
                          <a:ea typeface="宋体"/>
                          <a:cs typeface="Times New Roman"/>
                        </a:rPr>
                        <a:t>54</a:t>
                      </a:r>
                      <a:endParaRPr lang="zh-CN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>
                          <a:latin typeface="Times New Roman"/>
                          <a:ea typeface="宋体"/>
                          <a:cs typeface="Times New Roman"/>
                        </a:rPr>
                        <a:t>无冲突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8285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>
                          <a:latin typeface="Times New Roman"/>
                          <a:ea typeface="宋体"/>
                          <a:cs typeface="Times New Roman"/>
                        </a:rPr>
                        <a:t>插入</a:t>
                      </a:r>
                      <a:r>
                        <a:rPr lang="en-US" sz="1600" b="1" kern="100">
                          <a:latin typeface="Times New Roman"/>
                          <a:ea typeface="宋体"/>
                          <a:cs typeface="Times New Roman"/>
                        </a:rPr>
                        <a:t>20</a:t>
                      </a:r>
                      <a:endParaRPr lang="zh-CN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smtClean="0">
                          <a:latin typeface="Times New Roman"/>
                          <a:ea typeface="宋体"/>
                          <a:cs typeface="Times New Roman"/>
                        </a:rPr>
                        <a:t>11</a:t>
                      </a:r>
                      <a:endParaRPr lang="zh-CN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en-US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Times New Roman"/>
                          <a:ea typeface="宋体"/>
                          <a:cs typeface="Times New Roman"/>
                        </a:rPr>
                        <a:t>20</a:t>
                      </a:r>
                      <a:endParaRPr lang="zh-CN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Times New Roman"/>
                          <a:ea typeface="宋体"/>
                          <a:cs typeface="Times New Roman"/>
                        </a:rPr>
                        <a:t>47</a:t>
                      </a:r>
                      <a:endParaRPr lang="zh-CN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en-US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en-US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Times New Roman"/>
                          <a:ea typeface="宋体"/>
                          <a:cs typeface="Times New Roman"/>
                        </a:rPr>
                        <a:t>84</a:t>
                      </a:r>
                      <a:endParaRPr lang="zh-CN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Times New Roman"/>
                          <a:ea typeface="宋体"/>
                          <a:cs typeface="Times New Roman"/>
                        </a:rPr>
                        <a:t>7</a:t>
                      </a:r>
                      <a:endParaRPr lang="zh-CN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Times New Roman"/>
                          <a:ea typeface="宋体"/>
                          <a:cs typeface="Times New Roman"/>
                        </a:rPr>
                        <a:t>29</a:t>
                      </a:r>
                      <a:endParaRPr lang="zh-CN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Times New Roman"/>
                          <a:ea typeface="宋体"/>
                          <a:cs typeface="Times New Roman"/>
                        </a:rPr>
                        <a:t>9</a:t>
                      </a:r>
                      <a:endParaRPr lang="zh-CN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 smtClean="0">
                          <a:latin typeface="Times New Roman"/>
                          <a:ea typeface="宋体"/>
                          <a:cs typeface="Times New Roman"/>
                        </a:rPr>
                        <a:t>54</a:t>
                      </a:r>
                      <a:endParaRPr lang="zh-CN" sz="16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Times New Roman"/>
                          <a:ea typeface="宋体"/>
                          <a:cs typeface="Times New Roman"/>
                        </a:rPr>
                        <a:t>d</a:t>
                      </a:r>
                      <a:r>
                        <a:rPr lang="en-US" sz="1600" b="1" kern="100" baseline="-25000">
                          <a:latin typeface="Times New Roman"/>
                          <a:ea typeface="宋体"/>
                          <a:cs typeface="Times New Roman"/>
                        </a:rPr>
                        <a:t>3</a:t>
                      </a:r>
                      <a:r>
                        <a:rPr lang="en-US" sz="1600" b="1" kern="100">
                          <a:latin typeface="Times New Roman"/>
                          <a:ea typeface="宋体"/>
                          <a:cs typeface="Times New Roman"/>
                        </a:rPr>
                        <a:t> = 4</a:t>
                      </a:r>
                      <a:endParaRPr lang="zh-CN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8285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>
                          <a:latin typeface="Times New Roman"/>
                          <a:ea typeface="宋体"/>
                          <a:cs typeface="Times New Roman"/>
                        </a:rPr>
                        <a:t>插入</a:t>
                      </a:r>
                      <a:r>
                        <a:rPr lang="en-US" sz="1600" b="1" kern="100">
                          <a:latin typeface="Times New Roman"/>
                          <a:ea typeface="宋体"/>
                          <a:cs typeface="Times New Roman"/>
                        </a:rPr>
                        <a:t>30</a:t>
                      </a:r>
                      <a:endParaRPr lang="zh-CN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solidFill>
                            <a:srgbClr val="3333FF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11</a:t>
                      </a:r>
                      <a:endParaRPr lang="zh-CN" sz="1600" b="1" kern="100" dirty="0">
                        <a:solidFill>
                          <a:srgbClr val="3333FF"/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solidFill>
                            <a:srgbClr val="3333FF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30</a:t>
                      </a:r>
                      <a:endParaRPr lang="zh-CN" sz="1600" b="1" kern="100" dirty="0">
                        <a:solidFill>
                          <a:srgbClr val="3333FF"/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solidFill>
                            <a:srgbClr val="3333FF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20</a:t>
                      </a:r>
                      <a:endParaRPr lang="zh-CN" sz="1600" b="1" kern="100" dirty="0">
                        <a:solidFill>
                          <a:srgbClr val="3333FF"/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solidFill>
                            <a:srgbClr val="3333FF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47</a:t>
                      </a:r>
                      <a:endParaRPr lang="zh-CN" sz="1600" b="1" kern="100" dirty="0">
                        <a:solidFill>
                          <a:srgbClr val="3333FF"/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solidFill>
                            <a:srgbClr val="3333FF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 </a:t>
                      </a:r>
                      <a:endParaRPr lang="zh-CN" sz="1600" b="1" kern="100" dirty="0">
                        <a:solidFill>
                          <a:srgbClr val="3333FF"/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en-US" sz="1600" b="1" kern="100" dirty="0">
                        <a:solidFill>
                          <a:srgbClr val="3333FF"/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solidFill>
                            <a:srgbClr val="3333FF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84</a:t>
                      </a:r>
                      <a:endParaRPr lang="zh-CN" sz="1600" b="1" kern="100" dirty="0">
                        <a:solidFill>
                          <a:srgbClr val="3333FF"/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solidFill>
                            <a:srgbClr val="3333FF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7</a:t>
                      </a:r>
                      <a:endParaRPr lang="zh-CN" sz="1600" b="1" kern="100" dirty="0">
                        <a:solidFill>
                          <a:srgbClr val="3333FF"/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solidFill>
                            <a:srgbClr val="3333FF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29</a:t>
                      </a:r>
                      <a:endParaRPr lang="zh-CN" sz="1600" b="1" kern="100" dirty="0">
                        <a:solidFill>
                          <a:srgbClr val="3333FF"/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solidFill>
                            <a:srgbClr val="3333FF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9</a:t>
                      </a:r>
                      <a:endParaRPr lang="zh-CN" sz="1600" b="1" kern="100" dirty="0">
                        <a:solidFill>
                          <a:srgbClr val="3333FF"/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solidFill>
                            <a:srgbClr val="3333FF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54</a:t>
                      </a:r>
                      <a:endParaRPr lang="zh-CN" sz="1600" b="1" kern="100" dirty="0">
                        <a:solidFill>
                          <a:srgbClr val="3333FF"/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latin typeface="Times New Roman"/>
                          <a:ea typeface="宋体"/>
                          <a:cs typeface="Times New Roman"/>
                        </a:rPr>
                        <a:t>d</a:t>
                      </a:r>
                      <a:r>
                        <a:rPr lang="en-US" sz="1600" b="1" kern="100" baseline="-25000" dirty="0">
                          <a:latin typeface="Times New Roman"/>
                          <a:ea typeface="宋体"/>
                          <a:cs typeface="Times New Roman"/>
                        </a:rPr>
                        <a:t>3</a:t>
                      </a:r>
                      <a:r>
                        <a:rPr lang="en-US" sz="1600" b="1" kern="100" dirty="0">
                          <a:latin typeface="Times New Roman"/>
                          <a:ea typeface="宋体"/>
                          <a:cs typeface="Times New Roman"/>
                        </a:rPr>
                        <a:t> = 4</a:t>
                      </a:r>
                      <a:endParaRPr lang="zh-CN" sz="16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1827138" y="5760169"/>
            <a:ext cx="5286375" cy="252412"/>
          </a:xfrm>
          <a:prstGeom prst="rect">
            <a:avLst/>
          </a:prstGeom>
          <a:solidFill>
            <a:srgbClr val="339933">
              <a:alpha val="29019"/>
            </a:srgbClr>
          </a:solidFill>
          <a:ln w="9525" algn="ctr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itchFamily="18" charset="0"/>
            </a:endParaRPr>
          </a:p>
        </p:txBody>
      </p:sp>
      <p:sp>
        <p:nvSpPr>
          <p:cNvPr id="7" name="AutoShape 39"/>
          <p:cNvSpPr>
            <a:spLocks noChangeArrowheads="1"/>
          </p:cNvSpPr>
          <p:nvPr/>
        </p:nvSpPr>
        <p:spPr bwMode="auto">
          <a:xfrm>
            <a:off x="1112763" y="1226269"/>
            <a:ext cx="6572250" cy="1143000"/>
          </a:xfrm>
          <a:prstGeom prst="wedgeEllipseCallout">
            <a:avLst>
              <a:gd name="adj1" fmla="val -24037"/>
              <a:gd name="adj2" fmla="val 352028"/>
            </a:avLst>
          </a:prstGeom>
          <a:gradFill rotWithShape="0">
            <a:gsLst>
              <a:gs pos="0">
                <a:srgbClr val="C0C0C0">
                  <a:alpha val="50000"/>
                </a:srgbClr>
              </a:gs>
              <a:gs pos="100000">
                <a:srgbClr val="FFFFFF"/>
              </a:gs>
            </a:gsLst>
            <a:lin ang="5400000" scaled="1"/>
          </a:gra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2000" b="1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</a:rPr>
              <a:t>“</a:t>
            </a:r>
            <a:r>
              <a:rPr kumimoji="0" lang="zh-CN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itchFamily="18" charset="0"/>
              </a:rPr>
              <a:t>二次聚集</a:t>
            </a:r>
            <a:r>
              <a:rPr kumimoji="0" lang="zh-CN" altLang="zh-CN" sz="2000" b="1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</a:rPr>
              <a:t>（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</a:rPr>
              <a:t>Secondary Clustering</a:t>
            </a:r>
            <a:r>
              <a:rPr kumimoji="0" lang="zh-CN" altLang="zh-CN" sz="2000" b="1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</a:rPr>
              <a:t>） 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</a:rPr>
              <a:t>”现象：</a:t>
            </a:r>
            <a:r>
              <a:rPr kumimoji="0" lang="zh-CN" altLang="zh-CN" sz="2000" b="1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</a:rPr>
              <a:t>散列到同一地址的那些数据对象将探测相同的备选单元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</a:rPr>
              <a:t>。</a:t>
            </a: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53050"/>
              </p:ext>
            </p:extLst>
          </p:nvPr>
        </p:nvGraphicFramePr>
        <p:xfrm>
          <a:off x="1041326" y="1083394"/>
          <a:ext cx="6715126" cy="1000125"/>
        </p:xfrm>
        <a:graphic>
          <a:graphicData uri="http://schemas.openxmlformats.org/drawingml/2006/table">
            <a:tbl>
              <a:tblPr/>
              <a:tblGrid>
                <a:gridCol w="1785943"/>
                <a:gridCol w="547687"/>
                <a:gridCol w="547687"/>
                <a:gridCol w="547687"/>
                <a:gridCol w="547687"/>
                <a:gridCol w="547687"/>
                <a:gridCol w="547687"/>
                <a:gridCol w="547687"/>
                <a:gridCol w="547687"/>
                <a:gridCol w="547687"/>
              </a:tblGrid>
              <a:tr h="3333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 dirty="0" smtClean="0">
                          <a:latin typeface="Times New Roman"/>
                          <a:ea typeface="宋体"/>
                          <a:cs typeface="Times New Roman"/>
                        </a:rPr>
                        <a:t>关键词</a:t>
                      </a:r>
                      <a:r>
                        <a:rPr lang="en-US" altLang="zh-CN" sz="1600" b="1" kern="100" dirty="0" smtClean="0">
                          <a:latin typeface="Times New Roman"/>
                          <a:ea typeface="宋体"/>
                          <a:cs typeface="Times New Roman"/>
                        </a:rPr>
                        <a:t> </a:t>
                      </a:r>
                      <a:r>
                        <a:rPr lang="en-US" altLang="zh-CN" sz="1600" b="1" kern="100" dirty="0" smtClean="0">
                          <a:solidFill>
                            <a:srgbClr val="3333FF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key</a:t>
                      </a:r>
                      <a:endParaRPr lang="zh-CN" sz="1600" b="1" kern="100" dirty="0">
                        <a:solidFill>
                          <a:srgbClr val="3333FF"/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solidFill>
                            <a:srgbClr val="3333FF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47</a:t>
                      </a:r>
                      <a:endParaRPr lang="zh-CN" sz="1600" b="1" kern="100" dirty="0">
                        <a:solidFill>
                          <a:srgbClr val="3333FF"/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solidFill>
                            <a:srgbClr val="3333FF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7</a:t>
                      </a:r>
                      <a:endParaRPr lang="zh-CN" sz="1600" b="1" kern="100" dirty="0">
                        <a:solidFill>
                          <a:srgbClr val="3333FF"/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solidFill>
                            <a:srgbClr val="3333FF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29</a:t>
                      </a:r>
                      <a:endParaRPr lang="zh-CN" sz="1600" b="1" kern="100" dirty="0">
                        <a:solidFill>
                          <a:srgbClr val="3333FF"/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solidFill>
                            <a:srgbClr val="3333FF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11</a:t>
                      </a:r>
                      <a:endParaRPr lang="zh-CN" sz="1600" b="1" kern="100" dirty="0">
                        <a:solidFill>
                          <a:srgbClr val="3333FF"/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solidFill>
                            <a:srgbClr val="3333FF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9</a:t>
                      </a:r>
                      <a:endParaRPr lang="zh-CN" sz="1600" b="1" kern="100" dirty="0">
                        <a:solidFill>
                          <a:srgbClr val="3333FF"/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solidFill>
                            <a:srgbClr val="3333FF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84</a:t>
                      </a:r>
                      <a:endParaRPr lang="zh-CN" sz="1600" b="1" kern="100" dirty="0">
                        <a:solidFill>
                          <a:srgbClr val="3333FF"/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solidFill>
                            <a:srgbClr val="3333FF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54</a:t>
                      </a:r>
                      <a:endParaRPr lang="zh-CN" sz="1600" b="1" kern="100" dirty="0">
                        <a:solidFill>
                          <a:srgbClr val="3333FF"/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solidFill>
                            <a:srgbClr val="3333FF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20</a:t>
                      </a:r>
                      <a:endParaRPr lang="zh-CN" sz="1600" b="1" kern="100" dirty="0">
                        <a:solidFill>
                          <a:srgbClr val="3333FF"/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solidFill>
                            <a:srgbClr val="3333FF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30</a:t>
                      </a:r>
                      <a:endParaRPr lang="zh-CN" sz="1600" b="1" kern="100" dirty="0">
                        <a:solidFill>
                          <a:srgbClr val="3333FF"/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333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latin typeface="Times New Roman"/>
                          <a:ea typeface="宋体"/>
                          <a:cs typeface="Times New Roman"/>
                        </a:rPr>
                        <a:t>散</a:t>
                      </a:r>
                      <a:r>
                        <a:rPr lang="zh-CN" sz="1600" b="1" kern="100" dirty="0" smtClean="0">
                          <a:latin typeface="Times New Roman"/>
                          <a:ea typeface="宋体"/>
                          <a:cs typeface="Times New Roman"/>
                        </a:rPr>
                        <a:t>列地址</a:t>
                      </a:r>
                      <a:r>
                        <a:rPr lang="en-US" altLang="zh-CN" sz="1600" b="1" kern="100" dirty="0" smtClean="0">
                          <a:solidFill>
                            <a:srgbClr val="3333FF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h(key)</a:t>
                      </a:r>
                      <a:endParaRPr lang="zh-CN" sz="1600" b="1" kern="100" dirty="0">
                        <a:solidFill>
                          <a:srgbClr val="3333FF"/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Times New Roman"/>
                          <a:ea typeface="宋体"/>
                          <a:cs typeface="Times New Roman"/>
                        </a:rPr>
                        <a:t>3</a:t>
                      </a:r>
                      <a:endParaRPr lang="zh-CN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latin typeface="Times New Roman"/>
                          <a:ea typeface="宋体"/>
                          <a:cs typeface="Times New Roman"/>
                        </a:rPr>
                        <a:t>7</a:t>
                      </a:r>
                      <a:endParaRPr lang="zh-CN" sz="16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latin typeface="Times New Roman"/>
                          <a:ea typeface="宋体"/>
                          <a:cs typeface="Times New Roman"/>
                        </a:rPr>
                        <a:t>7</a:t>
                      </a:r>
                      <a:endParaRPr lang="zh-CN" sz="16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Times New Roman"/>
                          <a:ea typeface="宋体"/>
                          <a:cs typeface="Times New Roman"/>
                        </a:rPr>
                        <a:t>0</a:t>
                      </a:r>
                      <a:endParaRPr lang="zh-CN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Times New Roman"/>
                          <a:ea typeface="宋体"/>
                          <a:cs typeface="Times New Roman"/>
                        </a:rPr>
                        <a:t>9</a:t>
                      </a:r>
                      <a:endParaRPr lang="zh-CN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Times New Roman"/>
                          <a:ea typeface="宋体"/>
                          <a:cs typeface="Times New Roman"/>
                        </a:rPr>
                        <a:t>7</a:t>
                      </a:r>
                      <a:endParaRPr lang="zh-CN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Times New Roman"/>
                          <a:ea typeface="宋体"/>
                          <a:cs typeface="Times New Roman"/>
                        </a:rPr>
                        <a:t>10</a:t>
                      </a:r>
                      <a:endParaRPr lang="zh-CN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Times New Roman"/>
                          <a:ea typeface="宋体"/>
                          <a:cs typeface="Times New Roman"/>
                        </a:rPr>
                        <a:t>9</a:t>
                      </a:r>
                      <a:endParaRPr lang="zh-CN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Times New Roman"/>
                          <a:ea typeface="宋体"/>
                          <a:cs typeface="Times New Roman"/>
                        </a:rPr>
                        <a:t>8</a:t>
                      </a:r>
                      <a:endParaRPr lang="zh-CN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333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zh-CN" sz="1600" b="1" kern="100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zh-CN" sz="1600" b="1" kern="100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zh-CN" sz="1600" b="1" kern="100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zh-CN" sz="1600" b="1" kern="100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zh-CN" sz="1600" b="1" kern="100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zh-CN" sz="1600" b="1" kern="100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zh-CN" sz="1600" b="1" kern="100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zh-CN" sz="1600" b="1" kern="100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zh-CN" sz="1600" b="1" kern="100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zh-CN" sz="1600" b="1" kern="100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969888" y="2183531"/>
            <a:ext cx="65532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2000" b="1">
                <a:solidFill>
                  <a:srgbClr val="3333FF"/>
                </a:solidFill>
                <a:latin typeface="Times New Roman" pitchFamily="18" charset="0"/>
              </a:rPr>
              <a:t>ASL</a:t>
            </a:r>
            <a:r>
              <a:rPr lang="en-US" altLang="zh-CN" sz="2000" b="1">
                <a:latin typeface="Times New Roman" pitchFamily="18" charset="0"/>
              </a:rPr>
              <a:t> s = </a:t>
            </a:r>
            <a:r>
              <a:rPr lang="zh-CN" altLang="zh-CN" sz="2000" b="1">
                <a:latin typeface="Times New Roman" pitchFamily="18" charset="0"/>
              </a:rPr>
              <a:t>（</a:t>
            </a:r>
            <a:r>
              <a:rPr lang="en-US" altLang="zh-CN" sz="2000" b="1">
                <a:latin typeface="Times New Roman" pitchFamily="18" charset="0"/>
              </a:rPr>
              <a:t>1+1+2+1+1+3+1+4+4</a:t>
            </a:r>
            <a:r>
              <a:rPr lang="zh-CN" altLang="zh-CN" sz="2000" b="1">
                <a:latin typeface="Times New Roman" pitchFamily="18" charset="0"/>
              </a:rPr>
              <a:t>）</a:t>
            </a:r>
            <a:r>
              <a:rPr lang="en-US" altLang="zh-CN" sz="2000" b="1">
                <a:latin typeface="Times New Roman" pitchFamily="18" charset="0"/>
              </a:rPr>
              <a:t>/ 9 = 18/9 = </a:t>
            </a:r>
            <a:r>
              <a:rPr lang="en-US" altLang="zh-CN" sz="2000" b="1">
                <a:solidFill>
                  <a:srgbClr val="3333FF"/>
                </a:solidFill>
                <a:latin typeface="Times New Roman" pitchFamily="18" charset="0"/>
              </a:rPr>
              <a:t>2</a:t>
            </a:r>
            <a:endParaRPr lang="zh-CN" altLang="zh-CN" sz="2000" b="1">
              <a:solidFill>
                <a:srgbClr val="3333FF"/>
              </a:solidFill>
              <a:latin typeface="Times New Roman" pitchFamily="18" charset="0"/>
            </a:endParaRPr>
          </a:p>
        </p:txBody>
      </p:sp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2623169"/>
              </p:ext>
            </p:extLst>
          </p:nvPr>
        </p:nvGraphicFramePr>
        <p:xfrm>
          <a:off x="1041326" y="1750144"/>
          <a:ext cx="6715126" cy="333375"/>
        </p:xfrm>
        <a:graphic>
          <a:graphicData uri="http://schemas.openxmlformats.org/drawingml/2006/table">
            <a:tbl>
              <a:tblPr/>
              <a:tblGrid>
                <a:gridCol w="1785943"/>
                <a:gridCol w="547687"/>
                <a:gridCol w="547687"/>
                <a:gridCol w="547687"/>
                <a:gridCol w="547687"/>
                <a:gridCol w="547687"/>
                <a:gridCol w="547687"/>
                <a:gridCol w="547687"/>
                <a:gridCol w="547687"/>
                <a:gridCol w="547687"/>
              </a:tblGrid>
              <a:tr h="3333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冲突次数</a:t>
                      </a:r>
                    </a:p>
                  </a:txBody>
                  <a:tcPr marL="68579" marR="68579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0</a:t>
                      </a:r>
                      <a:endParaRPr lang="zh-CN" sz="1600" b="1" kern="100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0</a:t>
                      </a:r>
                      <a:endParaRPr lang="zh-CN" sz="1600" b="1" kern="100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1</a:t>
                      </a:r>
                      <a:endParaRPr lang="zh-CN" sz="1600" b="1" kern="100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0</a:t>
                      </a:r>
                      <a:endParaRPr lang="zh-CN" sz="1600" b="1" kern="100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0</a:t>
                      </a:r>
                      <a:endParaRPr lang="zh-CN" sz="1600" b="1" kern="100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2</a:t>
                      </a:r>
                      <a:endParaRPr lang="zh-CN" sz="1600" b="1" kern="100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0</a:t>
                      </a:r>
                      <a:endParaRPr lang="zh-CN" sz="1600" b="1" kern="100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3</a:t>
                      </a:r>
                      <a:endParaRPr lang="zh-CN" sz="1600" b="1" kern="100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3</a:t>
                      </a:r>
                      <a:endParaRPr lang="zh-CN" sz="1600" b="1" kern="100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6517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3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 autoUpdateAnimBg="0"/>
      <p:bldP spid="9" grpId="0"/>
      <p:bldP spid="9" grpId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>
            <p:custDataLst>
              <p:tags r:id="rId2"/>
            </p:custDataLst>
          </p:nvPr>
        </p:nvSpPr>
        <p:spPr>
          <a:xfrm>
            <a:off x="467544" y="635000"/>
            <a:ext cx="8424936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zh-CN" sz="2400" dirty="0">
                <a:solidFill>
                  <a:srgbClr val="000000"/>
                </a:solidFill>
                <a:cs typeface="Courier New" pitchFamily="49" charset="0"/>
              </a:rPr>
              <a:t>设一个散列表的大小是</a:t>
            </a:r>
            <a:r>
              <a:rPr lang="zh-CN" altLang="zh-CN" sz="24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11, </a:t>
            </a:r>
            <a:r>
              <a:rPr lang="zh-CN" altLang="zh-CN" sz="2400" dirty="0">
                <a:solidFill>
                  <a:srgbClr val="000000"/>
                </a:solidFill>
                <a:cs typeface="Courier New" pitchFamily="49" charset="0"/>
              </a:rPr>
              <a:t>散列函数是</a:t>
            </a:r>
            <a:r>
              <a:rPr lang="zh-CN" altLang="zh-CN" sz="24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H(key)=key mod 11. </a:t>
            </a:r>
            <a:r>
              <a:rPr lang="zh-CN" altLang="zh-CN" sz="2400" dirty="0">
                <a:solidFill>
                  <a:srgbClr val="000000"/>
                </a:solidFill>
                <a:cs typeface="Courier New" pitchFamily="49" charset="0"/>
              </a:rPr>
              <a:t>若采用平方探测（  )冲突解决方法，将</a:t>
            </a:r>
            <a:r>
              <a:rPr lang="zh-CN" altLang="zh-CN" sz="24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4</a:t>
            </a:r>
            <a:r>
              <a:rPr lang="zh-CN" altLang="zh-CN" sz="2400" dirty="0">
                <a:solidFill>
                  <a:srgbClr val="000000"/>
                </a:solidFill>
                <a:cs typeface="Courier New" pitchFamily="49" charset="0"/>
              </a:rPr>
              <a:t>个元素</a:t>
            </a:r>
            <a:r>
              <a:rPr lang="zh-CN" altLang="zh-CN" sz="24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{14</a:t>
            </a:r>
            <a:r>
              <a:rPr lang="zh-CN" altLang="zh-CN" sz="2400" dirty="0">
                <a:solidFill>
                  <a:srgbClr val="000000"/>
                </a:solidFill>
                <a:cs typeface="Courier New" pitchFamily="49" charset="0"/>
              </a:rPr>
              <a:t>，</a:t>
            </a:r>
            <a:r>
              <a:rPr lang="zh-CN" altLang="zh-CN" sz="24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38</a:t>
            </a:r>
            <a:r>
              <a:rPr lang="zh-CN" altLang="zh-CN" sz="2400" dirty="0">
                <a:solidFill>
                  <a:srgbClr val="000000"/>
                </a:solidFill>
                <a:cs typeface="Courier New" pitchFamily="49" charset="0"/>
              </a:rPr>
              <a:t>，</a:t>
            </a:r>
            <a:r>
              <a:rPr lang="zh-CN" altLang="zh-CN" sz="24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61</a:t>
            </a:r>
            <a:r>
              <a:rPr lang="zh-CN" altLang="zh-CN" sz="2400" dirty="0">
                <a:solidFill>
                  <a:srgbClr val="000000"/>
                </a:solidFill>
                <a:cs typeface="Courier New" pitchFamily="49" charset="0"/>
              </a:rPr>
              <a:t>，</a:t>
            </a:r>
            <a:r>
              <a:rPr lang="zh-CN" altLang="zh-CN" sz="24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86}</a:t>
            </a:r>
            <a:r>
              <a:rPr lang="zh-CN" altLang="zh-CN" sz="2400" dirty="0">
                <a:solidFill>
                  <a:srgbClr val="000000"/>
                </a:solidFill>
                <a:cs typeface="Courier New" pitchFamily="49" charset="0"/>
              </a:rPr>
              <a:t>顺序插入散列表中。如果再插入元素</a:t>
            </a:r>
            <a:r>
              <a:rPr lang="zh-CN" altLang="zh-CN" sz="24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49</a:t>
            </a:r>
            <a:r>
              <a:rPr lang="zh-CN" altLang="zh-CN" sz="2400" dirty="0">
                <a:solidFill>
                  <a:srgbClr val="000000"/>
                </a:solidFill>
                <a:cs typeface="Courier New" pitchFamily="49" charset="0"/>
              </a:rPr>
              <a:t>，则该元素将被放在什么位置？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6" name="TextBox 5"/>
          <p:cNvSpPr txBox="1"/>
          <p:nvPr>
            <p:custDataLst>
              <p:tags r:id="rId3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4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7" name="TextBox 6"/>
          <p:cNvSpPr txBox="1"/>
          <p:nvPr>
            <p:custDataLst>
              <p:tags r:id="rId4"/>
            </p:custDataLst>
          </p:nvPr>
        </p:nvSpPr>
        <p:spPr>
          <a:xfrm>
            <a:off x="1828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6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8" name="TextBox 7"/>
          <p:cNvSpPr txBox="1"/>
          <p:nvPr>
            <p:custDataLst>
              <p:tags r:id="rId5"/>
            </p:custDataLst>
          </p:nvPr>
        </p:nvSpPr>
        <p:spPr>
          <a:xfrm>
            <a:off x="1828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9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9" name="TextBox 8"/>
          <p:cNvSpPr txBox="1"/>
          <p:nvPr>
            <p:custDataLst>
              <p:tags r:id="rId6"/>
            </p:custDataLst>
          </p:nvPr>
        </p:nvSpPr>
        <p:spPr>
          <a:xfrm>
            <a:off x="1828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10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2850356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1" compatLnSpc="1"/>
          <a:lstStyle/>
          <a:p>
            <a:pPr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/>
                <a:ea typeface="Microsoft Yahei"/>
                <a:sym typeface="Microsoft Yahei"/>
              </a:rPr>
              <a:t>A</a:t>
            </a:r>
            <a:endParaRPr kumimoji="1" lang="zh-CN" altLang="en-US" sz="1600" b="0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1" compatLnSpc="1"/>
          <a:lstStyle/>
          <a:p>
            <a:pPr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/>
                <a:ea typeface="Microsoft Yahei"/>
                <a:sym typeface="Microsoft Yahei"/>
              </a:rPr>
              <a:t>B</a:t>
            </a:r>
            <a:endParaRPr kumimoji="1" lang="zh-CN" altLang="en-US" sz="1600" b="0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144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1" compatLnSpc="1"/>
          <a:lstStyle/>
          <a:p>
            <a:pPr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/>
                <a:ea typeface="Microsoft Yahei"/>
                <a:sym typeface="Microsoft Yahei"/>
              </a:rPr>
              <a:t>C</a:t>
            </a:r>
            <a:endParaRPr kumimoji="1" lang="zh-CN" altLang="en-US" sz="1600" b="0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114425" y="542210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1" compatLnSpc="1"/>
          <a:lstStyle/>
          <a:p>
            <a:pPr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/>
                <a:ea typeface="Microsoft Yahei"/>
                <a:sym typeface="Microsoft Yahei"/>
              </a:rPr>
              <a:t>D</a:t>
            </a:r>
            <a:endParaRPr kumimoji="1" lang="zh-CN" altLang="en-US" sz="1600" b="0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4" name="圆角矩形 13"/>
          <p:cNvSpPr/>
          <p:nvPr>
            <p:custDataLst>
              <p:tags r:id="rId11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1" compatLnSpc="1"/>
          <a:lstStyle/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/>
                <a:ea typeface="Microsoft Yahei"/>
                <a:sym typeface="Microsoft Yahei"/>
              </a:rPr>
              <a:t>提交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2610" y="2060848"/>
            <a:ext cx="1427163" cy="401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9" name="组合 18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5" name="TitleBackground"/>
            <p:cNvSpPr/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342900" marR="0" indent="-34290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仿宋_GB2312" panose="02010609030101010101" pitchFamily="49" charset="-122"/>
              </a:endParaRPr>
            </a:p>
          </p:txBody>
        </p:sp>
        <p:sp>
          <p:nvSpPr>
            <p:cNvPr id="16" name="ColorBlock"/>
            <p:cNvSpPr/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342900" marR="0" indent="-34290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仿宋_GB2312" panose="02010609030101010101" pitchFamily="49" charset="-122"/>
              </a:endParaRPr>
            </a:p>
          </p:txBody>
        </p:sp>
        <p:sp>
          <p:nvSpPr>
            <p:cNvPr id="17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/>
                  <a:ea typeface="Microsoft Yahei"/>
                  <a:sym typeface="Microsoft Yahei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/>
                <a:ea typeface="Microsoft Yahei"/>
                <a:sym typeface="Microsoft Yahei"/>
              </a:endParaRPr>
            </a:p>
          </p:txBody>
        </p:sp>
      </p:grpSp>
      <p:pic>
        <p:nvPicPr>
          <p:cNvPr id="4" name="图片 3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3994774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4"/>
          <p:cNvSpPr>
            <a:spLocks noChangeArrowheads="1"/>
          </p:cNvSpPr>
          <p:nvPr/>
        </p:nvSpPr>
        <p:spPr bwMode="auto">
          <a:xfrm>
            <a:off x="900113" y="192088"/>
            <a:ext cx="4027488" cy="51593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伪随机探测法</a:t>
            </a:r>
          </a:p>
        </p:txBody>
      </p:sp>
      <p:sp>
        <p:nvSpPr>
          <p:cNvPr id="1054726" name="AutoShape 6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 flipH="1">
            <a:off x="8001000" y="5791200"/>
            <a:ext cx="533400" cy="457200"/>
          </a:xfrm>
          <a:prstGeom prst="actionButtonForwardNext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solidFill>
              <a:srgbClr val="3366FF"/>
            </a:solidFill>
            <a:miter lim="800000"/>
          </a:ln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6" name="椭圆 5"/>
          <p:cNvSpPr>
            <a:spLocks noChangeArrowheads="1"/>
          </p:cNvSpPr>
          <p:nvPr/>
        </p:nvSpPr>
        <p:spPr bwMode="auto">
          <a:xfrm>
            <a:off x="990600" y="4595813"/>
            <a:ext cx="95250" cy="155575"/>
          </a:xfrm>
          <a:prstGeom prst="ellipse">
            <a:avLst/>
          </a:prstGeom>
          <a:solidFill>
            <a:srgbClr val="A5A5E9"/>
          </a:solidFill>
          <a:ln>
            <a:noFill/>
          </a:ln>
        </p:spPr>
        <p:txBody>
          <a:bodyPr anchor="ctr"/>
          <a:lstStyle>
            <a:lvl1pPr>
              <a:lnSpc>
                <a:spcPct val="130000"/>
              </a:lnSpc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" name="椭圆 6"/>
          <p:cNvSpPr>
            <a:spLocks noChangeArrowheads="1"/>
          </p:cNvSpPr>
          <p:nvPr/>
        </p:nvSpPr>
        <p:spPr bwMode="auto">
          <a:xfrm>
            <a:off x="320675" y="4605338"/>
            <a:ext cx="95250" cy="155575"/>
          </a:xfrm>
          <a:prstGeom prst="ellipse">
            <a:avLst/>
          </a:prstGeom>
          <a:solidFill>
            <a:srgbClr val="595959"/>
          </a:solidFill>
          <a:ln>
            <a:noFill/>
          </a:ln>
        </p:spPr>
        <p:txBody>
          <a:bodyPr anchor="ctr"/>
          <a:lstStyle>
            <a:lvl1pPr>
              <a:lnSpc>
                <a:spcPct val="130000"/>
              </a:lnSpc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8" name="椭圆 11"/>
          <p:cNvSpPr>
            <a:spLocks noChangeArrowheads="1"/>
          </p:cNvSpPr>
          <p:nvPr/>
        </p:nvSpPr>
        <p:spPr bwMode="auto">
          <a:xfrm>
            <a:off x="315913" y="2238375"/>
            <a:ext cx="96838" cy="155575"/>
          </a:xfrm>
          <a:prstGeom prst="ellipse">
            <a:avLst/>
          </a:prstGeom>
          <a:solidFill>
            <a:srgbClr val="595959"/>
          </a:solidFill>
          <a:ln>
            <a:noFill/>
          </a:ln>
        </p:spPr>
        <p:txBody>
          <a:bodyPr anchor="ctr"/>
          <a:lstStyle>
            <a:lvl1pPr>
              <a:lnSpc>
                <a:spcPct val="130000"/>
              </a:lnSpc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14288" y="2349500"/>
            <a:ext cx="9140825" cy="233997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lIns="4248000" rIns="252000" anchor="ctr"/>
          <a:lstStyle/>
          <a:p>
            <a:pPr marL="0" marR="0" lvl="0" indent="0" algn="just" defTabSz="914400" rtl="0" eaLnBrk="1" fontAlgn="base" latinLnBrk="0" hangingPunct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0" name="圆角矩形 15"/>
          <p:cNvSpPr>
            <a:spLocks noChangeArrowheads="1"/>
          </p:cNvSpPr>
          <p:nvPr/>
        </p:nvSpPr>
        <p:spPr bwMode="auto">
          <a:xfrm>
            <a:off x="346075" y="2235200"/>
            <a:ext cx="492125" cy="2525713"/>
          </a:xfrm>
          <a:custGeom>
            <a:avLst/>
            <a:gdLst>
              <a:gd name="T0" fmla="*/ 11872 w 738285"/>
              <a:gd name="T1" fmla="*/ 19557 h 4248500"/>
              <a:gd name="T2" fmla="*/ 1644 w 738285"/>
              <a:gd name="T3" fmla="*/ 1 h 4248500"/>
              <a:gd name="T4" fmla="*/ 82944 w 738285"/>
              <a:gd name="T5" fmla="*/ 1 h 4248500"/>
              <a:gd name="T6" fmla="*/ 97159 w 738285"/>
              <a:gd name="T7" fmla="*/ 14458 h 4248500"/>
              <a:gd name="T8" fmla="*/ 97159 w 738285"/>
              <a:gd name="T9" fmla="*/ 554146 h 4248500"/>
              <a:gd name="T10" fmla="*/ 82944 w 738285"/>
              <a:gd name="T11" fmla="*/ 568602 h 4248500"/>
              <a:gd name="T12" fmla="*/ 4777 w 738285"/>
              <a:gd name="T13" fmla="*/ 568602 h 4248500"/>
              <a:gd name="T14" fmla="*/ 11872 w 738285"/>
              <a:gd name="T15" fmla="*/ 554146 h 4248500"/>
              <a:gd name="T16" fmla="*/ 11872 w 738285"/>
              <a:gd name="T17" fmla="*/ 19557 h 4248500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738285"/>
              <a:gd name="T28" fmla="*/ 0 h 4248500"/>
              <a:gd name="T29" fmla="*/ 738285 w 738285"/>
              <a:gd name="T30" fmla="*/ 4248500 h 4248500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738285" h="4248500">
                <a:moveTo>
                  <a:pt x="90213" y="146124"/>
                </a:moveTo>
                <a:cubicBezTo>
                  <a:pt x="128313" y="-4018"/>
                  <a:pt x="-47164" y="10"/>
                  <a:pt x="12490" y="10"/>
                </a:cubicBezTo>
                <a:lnTo>
                  <a:pt x="630271" y="10"/>
                </a:lnTo>
                <a:cubicBezTo>
                  <a:pt x="689925" y="10"/>
                  <a:pt x="738285" y="48370"/>
                  <a:pt x="738285" y="108024"/>
                </a:cubicBezTo>
                <a:lnTo>
                  <a:pt x="738285" y="4140468"/>
                </a:lnTo>
                <a:cubicBezTo>
                  <a:pt x="738285" y="4200122"/>
                  <a:pt x="689925" y="4248482"/>
                  <a:pt x="630271" y="4248482"/>
                </a:cubicBezTo>
                <a:lnTo>
                  <a:pt x="36302" y="4248482"/>
                </a:lnTo>
                <a:cubicBezTo>
                  <a:pt x="-23352" y="4248482"/>
                  <a:pt x="94976" y="4252509"/>
                  <a:pt x="90213" y="4140468"/>
                </a:cubicBezTo>
                <a:lnTo>
                  <a:pt x="90213" y="146124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vert="eaVert" lIns="72000" tIns="0" rIns="0" bIns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1" name="椭圆 10"/>
          <p:cNvSpPr>
            <a:spLocks noChangeArrowheads="1"/>
          </p:cNvSpPr>
          <p:nvPr/>
        </p:nvSpPr>
        <p:spPr bwMode="auto">
          <a:xfrm>
            <a:off x="985838" y="2228850"/>
            <a:ext cx="96838" cy="155575"/>
          </a:xfrm>
          <a:prstGeom prst="ellipse">
            <a:avLst/>
          </a:prstGeom>
          <a:solidFill>
            <a:srgbClr val="A5A5E9"/>
          </a:solidFill>
          <a:ln>
            <a:noFill/>
          </a:ln>
        </p:spPr>
        <p:txBody>
          <a:bodyPr anchor="ctr"/>
          <a:lstStyle>
            <a:lvl1pPr>
              <a:lnSpc>
                <a:spcPct val="130000"/>
              </a:lnSpc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2" name="圆角矩形 15"/>
          <p:cNvSpPr>
            <a:spLocks noChangeArrowheads="1"/>
          </p:cNvSpPr>
          <p:nvPr/>
        </p:nvSpPr>
        <p:spPr bwMode="auto">
          <a:xfrm>
            <a:off x="1016000" y="2225675"/>
            <a:ext cx="492125" cy="2525713"/>
          </a:xfrm>
          <a:custGeom>
            <a:avLst/>
            <a:gdLst>
              <a:gd name="T0" fmla="*/ 11872 w 738285"/>
              <a:gd name="T1" fmla="*/ 19557 h 4248500"/>
              <a:gd name="T2" fmla="*/ 1644 w 738285"/>
              <a:gd name="T3" fmla="*/ 1 h 4248500"/>
              <a:gd name="T4" fmla="*/ 82944 w 738285"/>
              <a:gd name="T5" fmla="*/ 1 h 4248500"/>
              <a:gd name="T6" fmla="*/ 97159 w 738285"/>
              <a:gd name="T7" fmla="*/ 14458 h 4248500"/>
              <a:gd name="T8" fmla="*/ 97159 w 738285"/>
              <a:gd name="T9" fmla="*/ 554146 h 4248500"/>
              <a:gd name="T10" fmla="*/ 82944 w 738285"/>
              <a:gd name="T11" fmla="*/ 568602 h 4248500"/>
              <a:gd name="T12" fmla="*/ 4777 w 738285"/>
              <a:gd name="T13" fmla="*/ 568602 h 4248500"/>
              <a:gd name="T14" fmla="*/ 11872 w 738285"/>
              <a:gd name="T15" fmla="*/ 554146 h 4248500"/>
              <a:gd name="T16" fmla="*/ 11872 w 738285"/>
              <a:gd name="T17" fmla="*/ 19557 h 4248500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738285"/>
              <a:gd name="T28" fmla="*/ 0 h 4248500"/>
              <a:gd name="T29" fmla="*/ 738285 w 738285"/>
              <a:gd name="T30" fmla="*/ 4248500 h 4248500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738285" h="4248500">
                <a:moveTo>
                  <a:pt x="90213" y="146124"/>
                </a:moveTo>
                <a:cubicBezTo>
                  <a:pt x="128313" y="-4018"/>
                  <a:pt x="-47164" y="10"/>
                  <a:pt x="12490" y="10"/>
                </a:cubicBezTo>
                <a:lnTo>
                  <a:pt x="630271" y="10"/>
                </a:lnTo>
                <a:cubicBezTo>
                  <a:pt x="689925" y="10"/>
                  <a:pt x="738285" y="48370"/>
                  <a:pt x="738285" y="108024"/>
                </a:cubicBezTo>
                <a:lnTo>
                  <a:pt x="738285" y="4140468"/>
                </a:lnTo>
                <a:cubicBezTo>
                  <a:pt x="738285" y="4200122"/>
                  <a:pt x="689925" y="4248482"/>
                  <a:pt x="630271" y="4248482"/>
                </a:cubicBezTo>
                <a:lnTo>
                  <a:pt x="36302" y="4248482"/>
                </a:lnTo>
                <a:cubicBezTo>
                  <a:pt x="-23352" y="4248482"/>
                  <a:pt x="94976" y="4252509"/>
                  <a:pt x="90213" y="4140468"/>
                </a:cubicBezTo>
                <a:lnTo>
                  <a:pt x="90213" y="146124"/>
                </a:lnTo>
                <a:close/>
              </a:path>
            </a:pathLst>
          </a:custGeom>
          <a:solidFill>
            <a:srgbClr val="A5A5E9"/>
          </a:solidFill>
          <a:ln>
            <a:noFill/>
          </a:ln>
        </p:spPr>
        <p:txBody>
          <a:bodyPr vert="eaVert" lIns="72000" tIns="0" rIns="0" bIns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97283" name="Rectangle 5"/>
          <p:cNvSpPr>
            <a:spLocks noChangeArrowheads="1"/>
          </p:cNvSpPr>
          <p:nvPr/>
        </p:nvSpPr>
        <p:spPr bwMode="auto">
          <a:xfrm>
            <a:off x="1916113" y="2633663"/>
            <a:ext cx="7416800" cy="170815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9pPr>
          </a:lstStyle>
          <a:p>
            <a:pPr marL="0" marR="0" lvl="0" indent="0" algn="just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H</a:t>
            </a:r>
            <a:r>
              <a:rPr kumimoji="0" lang="en-US" altLang="zh-CN" sz="2800" b="0" i="0" u="none" strike="noStrike" kern="1200" cap="none" spc="0" normalizeH="0" baseline="-3000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=(Hash(key)+d</a:t>
            </a:r>
            <a:r>
              <a:rPr kumimoji="0" lang="en-US" altLang="zh-CN" sz="2800" b="0" i="0" u="none" strike="noStrike" kern="1200" cap="none" spc="0" normalizeH="0" baseline="-3000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) mod m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 ( 1≤i &lt; m )</a:t>
            </a:r>
          </a:p>
          <a:p>
            <a:pPr marL="0" marR="0" lvl="0" indent="0" algn="just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其中：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m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为哈希表长度</a:t>
            </a:r>
          </a:p>
          <a:p>
            <a:pPr marL="0" marR="0" lvl="0" indent="0" algn="just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d</a:t>
            </a:r>
            <a:r>
              <a:rPr kumimoji="0" lang="en-US" altLang="zh-CN" sz="2800" b="0" i="0" u="none" strike="noStrike" kern="1200" cap="none" spc="0" normalizeH="0" baseline="-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为随机数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4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4726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 </a:t>
            </a:r>
            <a:r>
              <a:rPr lang="zh-CN" altLang="en-US" dirty="0"/>
              <a:t>双散列探测法（</a:t>
            </a:r>
            <a:r>
              <a:rPr lang="en-US" altLang="zh-CN" dirty="0"/>
              <a:t>Double Hashing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496768" y="1052736"/>
            <a:ext cx="828675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3333FF"/>
                </a:solidFill>
                <a:latin typeface="Times New Roman" pitchFamily="18" charset="0"/>
                <a:sym typeface="Wingdings" pitchFamily="2" charset="2"/>
              </a:rPr>
              <a:t> </a:t>
            </a:r>
            <a:r>
              <a:rPr lang="en-US" altLang="zh-CN" sz="2400" b="1" dirty="0">
                <a:latin typeface="Times New Roman" pitchFamily="18" charset="0"/>
              </a:rPr>
              <a:t>d</a:t>
            </a:r>
            <a:r>
              <a:rPr lang="en-US" altLang="zh-CN" sz="2400" b="1" baseline="-25000" dirty="0">
                <a:latin typeface="Times New Roman" pitchFamily="18" charset="0"/>
              </a:rPr>
              <a:t>i</a:t>
            </a:r>
            <a:r>
              <a:rPr lang="en-US" altLang="zh-CN" sz="2400" b="1" dirty="0">
                <a:latin typeface="Times New Roman" pitchFamily="18" charset="0"/>
              </a:rPr>
              <a:t> </a:t>
            </a:r>
            <a:r>
              <a:rPr lang="zh-CN" altLang="zh-CN" sz="2400" b="1" dirty="0">
                <a:latin typeface="Times New Roman" pitchFamily="18" charset="0"/>
              </a:rPr>
              <a:t>选为</a:t>
            </a:r>
            <a:r>
              <a:rPr lang="en-US" altLang="zh-CN" sz="2400" b="1" dirty="0">
                <a:solidFill>
                  <a:srgbClr val="3333FF"/>
                </a:solidFill>
                <a:latin typeface="Times New Roman" pitchFamily="18" charset="0"/>
              </a:rPr>
              <a:t>i*h</a:t>
            </a:r>
            <a:r>
              <a:rPr lang="en-US" altLang="zh-CN" sz="2400" b="1" baseline="-25000" dirty="0">
                <a:solidFill>
                  <a:srgbClr val="3333FF"/>
                </a:solidFill>
                <a:latin typeface="Times New Roman" pitchFamily="18" charset="0"/>
              </a:rPr>
              <a:t>2</a:t>
            </a:r>
            <a:r>
              <a:rPr lang="en-US" altLang="zh-CN" sz="2400" b="1" dirty="0">
                <a:solidFill>
                  <a:srgbClr val="3333FF"/>
                </a:solidFill>
                <a:latin typeface="Times New Roman" pitchFamily="18" charset="0"/>
              </a:rPr>
              <a:t>(key)</a:t>
            </a:r>
            <a:r>
              <a:rPr lang="zh-CN" altLang="zh-CN" sz="2400" b="1" dirty="0">
                <a:latin typeface="Times New Roman" pitchFamily="18" charset="0"/>
              </a:rPr>
              <a:t>，其中</a:t>
            </a:r>
            <a:r>
              <a:rPr lang="en-US" altLang="zh-CN" sz="2400" b="1" dirty="0">
                <a:latin typeface="Times New Roman" pitchFamily="18" charset="0"/>
              </a:rPr>
              <a:t>h</a:t>
            </a:r>
            <a:r>
              <a:rPr lang="en-US" altLang="zh-CN" sz="2400" b="1" baseline="-25000" dirty="0">
                <a:latin typeface="Times New Roman" pitchFamily="18" charset="0"/>
              </a:rPr>
              <a:t>2</a:t>
            </a:r>
            <a:r>
              <a:rPr lang="en-US" altLang="zh-CN" sz="2400" b="1" dirty="0">
                <a:latin typeface="Times New Roman" pitchFamily="18" charset="0"/>
              </a:rPr>
              <a:t>(key)</a:t>
            </a:r>
            <a:r>
              <a:rPr lang="zh-CN" altLang="zh-CN" sz="2400" b="1" dirty="0">
                <a:latin typeface="Times New Roman" pitchFamily="18" charset="0"/>
              </a:rPr>
              <a:t>是另一个散列函数。我们把它叫做</a:t>
            </a:r>
            <a:r>
              <a:rPr lang="zh-CN" altLang="zh-CN" sz="2400" b="1" dirty="0">
                <a:solidFill>
                  <a:srgbClr val="3333FF"/>
                </a:solidFill>
                <a:latin typeface="Times New Roman" pitchFamily="18" charset="0"/>
              </a:rPr>
              <a:t>双散列探测法</a:t>
            </a:r>
            <a:r>
              <a:rPr lang="zh-CN" altLang="zh-CN" sz="2400" b="1" dirty="0">
                <a:latin typeface="Times New Roman" pitchFamily="18" charset="0"/>
              </a:rPr>
              <a:t>。</a:t>
            </a:r>
            <a:r>
              <a:rPr lang="zh-CN" altLang="en-US" sz="2400" b="1" dirty="0">
                <a:latin typeface="Times New Roman" pitchFamily="18" charset="0"/>
              </a:rPr>
              <a:t>由此，</a:t>
            </a:r>
            <a:r>
              <a:rPr lang="zh-CN" altLang="zh-CN" sz="2400" b="1" dirty="0">
                <a:latin typeface="Times New Roman" pitchFamily="18" charset="0"/>
              </a:rPr>
              <a:t>探测序列成了</a:t>
            </a:r>
            <a:r>
              <a:rPr lang="zh-CN" altLang="en-US" sz="2400" b="1" dirty="0">
                <a:latin typeface="Times New Roman" pitchFamily="18" charset="0"/>
              </a:rPr>
              <a:t>：</a:t>
            </a:r>
            <a:r>
              <a:rPr lang="en-US" altLang="zh-CN" sz="2400" b="1" dirty="0">
                <a:solidFill>
                  <a:srgbClr val="3333FF"/>
                </a:solidFill>
                <a:latin typeface="Times New Roman" pitchFamily="18" charset="0"/>
              </a:rPr>
              <a:t>h</a:t>
            </a:r>
            <a:r>
              <a:rPr lang="en-US" altLang="zh-CN" sz="2400" b="1" baseline="-25000" dirty="0">
                <a:solidFill>
                  <a:srgbClr val="3333FF"/>
                </a:solidFill>
                <a:latin typeface="Times New Roman" pitchFamily="18" charset="0"/>
              </a:rPr>
              <a:t>2</a:t>
            </a:r>
            <a:r>
              <a:rPr lang="en-US" altLang="zh-CN" sz="2400" b="1" dirty="0">
                <a:solidFill>
                  <a:srgbClr val="3333FF"/>
                </a:solidFill>
                <a:latin typeface="Times New Roman" pitchFamily="18" charset="0"/>
              </a:rPr>
              <a:t>(key)</a:t>
            </a:r>
            <a:r>
              <a:rPr lang="zh-CN" altLang="zh-CN" sz="2400" b="1" dirty="0">
                <a:solidFill>
                  <a:srgbClr val="3333FF"/>
                </a:solidFill>
                <a:latin typeface="Times New Roman" pitchFamily="18" charset="0"/>
              </a:rPr>
              <a:t>，</a:t>
            </a:r>
            <a:r>
              <a:rPr lang="en-US" altLang="zh-CN" sz="2400" b="1" dirty="0">
                <a:solidFill>
                  <a:srgbClr val="3333FF"/>
                </a:solidFill>
                <a:latin typeface="Times New Roman" pitchFamily="18" charset="0"/>
              </a:rPr>
              <a:t>2h</a:t>
            </a:r>
            <a:r>
              <a:rPr lang="en-US" altLang="zh-CN" sz="2400" b="1" baseline="-25000" dirty="0">
                <a:solidFill>
                  <a:srgbClr val="3333FF"/>
                </a:solidFill>
                <a:latin typeface="Times New Roman" pitchFamily="18" charset="0"/>
              </a:rPr>
              <a:t>2</a:t>
            </a:r>
            <a:r>
              <a:rPr lang="en-US" altLang="zh-CN" sz="2400" b="1" dirty="0">
                <a:solidFill>
                  <a:srgbClr val="3333FF"/>
                </a:solidFill>
                <a:latin typeface="Times New Roman" pitchFamily="18" charset="0"/>
              </a:rPr>
              <a:t>(key)</a:t>
            </a:r>
            <a:r>
              <a:rPr lang="zh-CN" altLang="zh-CN" sz="2400" b="1" dirty="0">
                <a:solidFill>
                  <a:srgbClr val="3333FF"/>
                </a:solidFill>
                <a:latin typeface="Times New Roman" pitchFamily="18" charset="0"/>
              </a:rPr>
              <a:t>，</a:t>
            </a:r>
            <a:r>
              <a:rPr lang="en-US" altLang="zh-CN" sz="2400" b="1" dirty="0">
                <a:solidFill>
                  <a:srgbClr val="3333FF"/>
                </a:solidFill>
                <a:latin typeface="Times New Roman" pitchFamily="18" charset="0"/>
              </a:rPr>
              <a:t>3h</a:t>
            </a:r>
            <a:r>
              <a:rPr lang="en-US" altLang="zh-CN" sz="2400" b="1" baseline="-25000" dirty="0">
                <a:solidFill>
                  <a:srgbClr val="3333FF"/>
                </a:solidFill>
                <a:latin typeface="Times New Roman" pitchFamily="18" charset="0"/>
              </a:rPr>
              <a:t>2</a:t>
            </a:r>
            <a:r>
              <a:rPr lang="en-US" altLang="zh-CN" sz="2400" b="1" dirty="0">
                <a:solidFill>
                  <a:srgbClr val="3333FF"/>
                </a:solidFill>
                <a:latin typeface="Times New Roman" pitchFamily="18" charset="0"/>
              </a:rPr>
              <a:t>(key)</a:t>
            </a:r>
            <a:r>
              <a:rPr lang="zh-CN" altLang="zh-CN" sz="2400" b="1" dirty="0">
                <a:solidFill>
                  <a:srgbClr val="3333FF"/>
                </a:solidFill>
                <a:latin typeface="Times New Roman" pitchFamily="18" charset="0"/>
              </a:rPr>
              <a:t>，…</a:t>
            </a:r>
            <a:endParaRPr lang="en-US" altLang="zh-CN" sz="2400" b="1" dirty="0">
              <a:latin typeface="Times New Roman" pitchFamily="18" charset="0"/>
            </a:endParaRPr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844170" y="3645024"/>
            <a:ext cx="7472245" cy="2246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3333FF"/>
                </a:solidFill>
                <a:latin typeface="Times New Roman" pitchFamily="18" charset="0"/>
                <a:sym typeface="Wingdings" pitchFamily="2" charset="2"/>
              </a:rPr>
              <a:t> </a:t>
            </a:r>
            <a:r>
              <a:rPr lang="zh-CN" altLang="zh-CN" sz="2400" b="1" dirty="0">
                <a:latin typeface="Times New Roman" pitchFamily="18" charset="0"/>
              </a:rPr>
              <a:t>探测序列还应该保证</a:t>
            </a:r>
            <a:r>
              <a:rPr lang="zh-CN" altLang="zh-CN" sz="2400" b="1" dirty="0">
                <a:solidFill>
                  <a:srgbClr val="3333FF"/>
                </a:solidFill>
                <a:latin typeface="Times New Roman" pitchFamily="18" charset="0"/>
              </a:rPr>
              <a:t>所有的散列存储单元</a:t>
            </a:r>
            <a:r>
              <a:rPr lang="zh-CN" altLang="zh-CN" sz="2400" b="1" dirty="0">
                <a:latin typeface="Times New Roman" pitchFamily="18" charset="0"/>
              </a:rPr>
              <a:t>都应该能够被</a:t>
            </a:r>
            <a:r>
              <a:rPr lang="zh-CN" altLang="zh-CN" sz="2400" b="1" dirty="0">
                <a:solidFill>
                  <a:srgbClr val="3333FF"/>
                </a:solidFill>
                <a:latin typeface="Times New Roman" pitchFamily="18" charset="0"/>
              </a:rPr>
              <a:t>探测到</a:t>
            </a:r>
            <a:r>
              <a:rPr lang="zh-CN" altLang="zh-CN" sz="2400" b="1" dirty="0">
                <a:latin typeface="Times New Roman" pitchFamily="18" charset="0"/>
              </a:rPr>
              <a:t>。</a:t>
            </a:r>
            <a:r>
              <a:rPr lang="zh-CN" altLang="en-US" sz="2400" b="1" dirty="0">
                <a:latin typeface="Times New Roman" pitchFamily="18" charset="0"/>
              </a:rPr>
              <a:t>选择以下形式有良好的效果：</a:t>
            </a:r>
            <a:endParaRPr lang="en-US" altLang="zh-CN" sz="2400" b="1" dirty="0">
              <a:latin typeface="Times New Roman" pitchFamily="18" charset="0"/>
            </a:endParaRPr>
          </a:p>
          <a:p>
            <a:pPr algn="ctr"/>
            <a:endParaRPr lang="en-US" altLang="zh-CN" sz="2000" b="1" dirty="0">
              <a:latin typeface="Times New Roman" pitchFamily="18" charset="0"/>
            </a:endParaRPr>
          </a:p>
          <a:p>
            <a:r>
              <a:rPr lang="en-US" altLang="zh-CN" sz="2000" b="1" dirty="0" smtClean="0">
                <a:solidFill>
                  <a:srgbClr val="3333FF"/>
                </a:solidFill>
                <a:latin typeface="Times New Roman" pitchFamily="18" charset="0"/>
              </a:rPr>
              <a:t>      h</a:t>
            </a:r>
            <a:r>
              <a:rPr lang="en-US" altLang="zh-CN" sz="2000" b="1" baseline="-25000" dirty="0" smtClean="0">
                <a:solidFill>
                  <a:srgbClr val="3333FF"/>
                </a:solidFill>
                <a:latin typeface="Times New Roman" pitchFamily="18" charset="0"/>
              </a:rPr>
              <a:t>2</a:t>
            </a:r>
            <a:r>
              <a:rPr lang="en-US" altLang="zh-CN" sz="2000" b="1" dirty="0" smtClean="0">
                <a:solidFill>
                  <a:srgbClr val="3333FF"/>
                </a:solidFill>
                <a:latin typeface="Times New Roman" pitchFamily="18" charset="0"/>
              </a:rPr>
              <a:t>(key</a:t>
            </a:r>
            <a:r>
              <a:rPr lang="en-US" altLang="zh-CN" sz="2000" b="1" dirty="0">
                <a:solidFill>
                  <a:srgbClr val="3333FF"/>
                </a:solidFill>
                <a:latin typeface="Times New Roman" pitchFamily="18" charset="0"/>
              </a:rPr>
              <a:t>) = p - (key mod p)                </a:t>
            </a:r>
            <a:r>
              <a:rPr lang="en-US" altLang="zh-CN" sz="2000" b="1" dirty="0" smtClean="0">
                <a:latin typeface="Times New Roman" pitchFamily="18" charset="0"/>
              </a:rPr>
              <a:t> </a:t>
            </a:r>
            <a:endParaRPr lang="zh-CN" altLang="zh-CN" sz="2000" b="1" dirty="0">
              <a:latin typeface="Times New Roman" pitchFamily="18" charset="0"/>
            </a:endParaRPr>
          </a:p>
          <a:p>
            <a:endParaRPr lang="en-US" altLang="zh-CN" b="1" dirty="0">
              <a:latin typeface="Times New Roman" pitchFamily="18" charset="0"/>
            </a:endParaRPr>
          </a:p>
          <a:p>
            <a:r>
              <a:rPr lang="zh-CN" altLang="en-US" sz="2000" b="1" dirty="0">
                <a:latin typeface="Times New Roman" pitchFamily="18" charset="0"/>
              </a:rPr>
              <a:t>其中：</a:t>
            </a:r>
            <a:r>
              <a:rPr lang="en-US" altLang="zh-CN" sz="2000" b="1" dirty="0">
                <a:solidFill>
                  <a:srgbClr val="3333FF"/>
                </a:solidFill>
                <a:latin typeface="Times New Roman" pitchFamily="18" charset="0"/>
              </a:rPr>
              <a:t>p &lt; </a:t>
            </a:r>
            <a:r>
              <a:rPr lang="en-US" altLang="zh-CN" sz="2000" b="1" dirty="0" err="1">
                <a:solidFill>
                  <a:srgbClr val="3333FF"/>
                </a:solidFill>
                <a:latin typeface="Times New Roman" pitchFamily="18" charset="0"/>
              </a:rPr>
              <a:t>TableSize</a:t>
            </a:r>
            <a:r>
              <a:rPr lang="zh-CN" altLang="en-US" sz="2000" b="1" dirty="0">
                <a:solidFill>
                  <a:srgbClr val="3333FF"/>
                </a:solidFill>
                <a:latin typeface="Times New Roman" pitchFamily="18" charset="0"/>
              </a:rPr>
              <a:t>，</a:t>
            </a:r>
            <a:r>
              <a:rPr lang="en-US" altLang="zh-CN" sz="2000" b="1" dirty="0">
                <a:solidFill>
                  <a:srgbClr val="3333FF"/>
                </a:solidFill>
                <a:latin typeface="Times New Roman" pitchFamily="18" charset="0"/>
              </a:rPr>
              <a:t>p</a:t>
            </a:r>
            <a:r>
              <a:rPr lang="zh-CN" altLang="en-US" sz="2000" b="1" dirty="0">
                <a:solidFill>
                  <a:srgbClr val="3333FF"/>
                </a:solidFill>
                <a:latin typeface="Times New Roman" pitchFamily="18" charset="0"/>
              </a:rPr>
              <a:t>、</a:t>
            </a:r>
            <a:r>
              <a:rPr lang="en-US" altLang="zh-CN" sz="2000" b="1" dirty="0" err="1">
                <a:solidFill>
                  <a:srgbClr val="3333FF"/>
                </a:solidFill>
                <a:latin typeface="Times New Roman" pitchFamily="18" charset="0"/>
              </a:rPr>
              <a:t>TableSize</a:t>
            </a:r>
            <a:r>
              <a:rPr lang="zh-CN" altLang="en-US" sz="2000" b="1" dirty="0">
                <a:solidFill>
                  <a:srgbClr val="3333FF"/>
                </a:solidFill>
                <a:latin typeface="Times New Roman" pitchFamily="18" charset="0"/>
              </a:rPr>
              <a:t>都是素数</a:t>
            </a:r>
            <a:r>
              <a:rPr lang="zh-CN" altLang="en-US" sz="2000" b="1" dirty="0">
                <a:latin typeface="Times New Roman" pitchFamily="18" charset="0"/>
              </a:rPr>
              <a:t>。</a:t>
            </a:r>
            <a:endParaRPr lang="en-US" altLang="zh-CN" sz="2000" b="1" dirty="0">
              <a:latin typeface="Times New Roman" pitchFamily="18" charset="0"/>
            </a:endParaRPr>
          </a:p>
        </p:txBody>
      </p:sp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928688" y="2533778"/>
            <a:ext cx="551497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4000" b="1" dirty="0">
                <a:solidFill>
                  <a:srgbClr val="3333FF"/>
                </a:solidFill>
                <a:latin typeface="Times New Roman" pitchFamily="18" charset="0"/>
                <a:sym typeface="Wingdings" pitchFamily="2" charset="2"/>
              </a:rPr>
              <a:t></a:t>
            </a:r>
            <a:r>
              <a:rPr lang="en-US" altLang="zh-CN" sz="4000" b="1" dirty="0">
                <a:latin typeface="Times New Roman" pitchFamily="18" charset="0"/>
                <a:sym typeface="Wingdings" pitchFamily="2" charset="2"/>
              </a:rPr>
              <a:t> </a:t>
            </a:r>
            <a:r>
              <a:rPr lang="zh-CN" altLang="zh-CN" sz="2400" b="1" dirty="0">
                <a:latin typeface="Times New Roman" pitchFamily="18" charset="0"/>
              </a:rPr>
              <a:t>对任意的</a:t>
            </a:r>
            <a:r>
              <a:rPr lang="en-US" altLang="zh-CN" sz="2400" b="1" dirty="0">
                <a:latin typeface="Times New Roman" pitchFamily="18" charset="0"/>
              </a:rPr>
              <a:t>key</a:t>
            </a:r>
            <a:r>
              <a:rPr lang="zh-CN" altLang="zh-CN" sz="2400" b="1" dirty="0">
                <a:latin typeface="Times New Roman" pitchFamily="18" charset="0"/>
              </a:rPr>
              <a:t>，</a:t>
            </a:r>
            <a:r>
              <a:rPr lang="en-US" altLang="zh-CN" sz="2400" b="1" dirty="0">
                <a:solidFill>
                  <a:srgbClr val="3333FF"/>
                </a:solidFill>
                <a:latin typeface="Times New Roman" pitchFamily="18" charset="0"/>
              </a:rPr>
              <a:t>h</a:t>
            </a:r>
            <a:r>
              <a:rPr lang="en-US" altLang="zh-CN" sz="2400" b="1" baseline="-25000" dirty="0">
                <a:solidFill>
                  <a:srgbClr val="3333FF"/>
                </a:solidFill>
                <a:latin typeface="Times New Roman" pitchFamily="18" charset="0"/>
              </a:rPr>
              <a:t>2</a:t>
            </a:r>
            <a:r>
              <a:rPr lang="en-US" altLang="zh-CN" sz="2400" b="1" dirty="0">
                <a:solidFill>
                  <a:srgbClr val="3333FF"/>
                </a:solidFill>
                <a:latin typeface="Times New Roman" pitchFamily="18" charset="0"/>
              </a:rPr>
              <a:t>(key)</a:t>
            </a:r>
            <a:r>
              <a:rPr lang="zh-CN" altLang="en-US" sz="2400" b="1" dirty="0">
                <a:solidFill>
                  <a:srgbClr val="3333FF"/>
                </a:solidFill>
                <a:latin typeface="Times New Roman" pitchFamily="18" charset="0"/>
              </a:rPr>
              <a:t> ≠ </a:t>
            </a:r>
            <a:r>
              <a:rPr lang="en-US" altLang="zh-CN" sz="2400" b="1" dirty="0">
                <a:solidFill>
                  <a:srgbClr val="3333FF"/>
                </a:solidFill>
                <a:latin typeface="Times New Roman" pitchFamily="18" charset="0"/>
              </a:rPr>
              <a:t>0 </a:t>
            </a:r>
            <a:r>
              <a:rPr lang="zh-CN" altLang="en-US" sz="2400" b="1" dirty="0">
                <a:solidFill>
                  <a:srgbClr val="3333FF"/>
                </a:solidFill>
                <a:latin typeface="Times New Roman" pitchFamily="18" charset="0"/>
              </a:rPr>
              <a:t>！</a:t>
            </a:r>
            <a:endParaRPr lang="zh-CN" altLang="en-US" sz="2400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7715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1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917" name="Rectangle 5"/>
          <p:cNvSpPr>
            <a:spLocks noChangeArrowheads="1"/>
          </p:cNvSpPr>
          <p:nvPr/>
        </p:nvSpPr>
        <p:spPr bwMode="auto">
          <a:xfrm>
            <a:off x="406400" y="2060575"/>
            <a:ext cx="4092575" cy="3240088"/>
          </a:xfrm>
          <a:prstGeom prst="roundRect">
            <a:avLst>
              <a:gd name="adj" fmla="val 6477"/>
            </a:avLst>
          </a:prstGeom>
          <a:solidFill>
            <a:srgbClr val="EBEBEB"/>
          </a:solidFill>
          <a:ln>
            <a:noFill/>
          </a:ln>
        </p:spPr>
        <p:txBody>
          <a:bodyPr/>
          <a:lstStyle>
            <a:lvl1pPr marL="342900" indent="-3429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step1 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取数据元素的关键字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key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，计算其哈希地址。若该地址对应的存储空间还没有被占用，则将该元素存入；否则执行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step2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解决冲突。</a:t>
            </a:r>
          </a:p>
        </p:txBody>
      </p:sp>
      <p:sp>
        <p:nvSpPr>
          <p:cNvPr id="98307" name="Rectangle 6"/>
          <p:cNvSpPr>
            <a:spLocks noChangeArrowheads="1"/>
          </p:cNvSpPr>
          <p:nvPr/>
        </p:nvSpPr>
        <p:spPr bwMode="auto">
          <a:xfrm>
            <a:off x="827088" y="207963"/>
            <a:ext cx="5611813" cy="51593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开放地址法建立哈希表步骤</a:t>
            </a:r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4859338" y="2060575"/>
            <a:ext cx="3960813" cy="3240088"/>
          </a:xfrm>
          <a:prstGeom prst="roundRect">
            <a:avLst>
              <a:gd name="adj" fmla="val 5301"/>
            </a:avLst>
          </a:prstGeom>
          <a:solidFill>
            <a:srgbClr val="CCCCFF"/>
          </a:solidFill>
          <a:ln>
            <a:noFill/>
          </a:ln>
        </p:spPr>
        <p:txBody>
          <a:bodyPr/>
          <a:lstStyle>
            <a:lvl1pPr marL="342900" indent="-3429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step2 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根据选择的冲突处理方法，计算关键字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key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的下一个存储地址。若下一个存储地址仍被占用，则继续执行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step2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，直到找 到能用的存储地址为止。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9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629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629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7" name="矩形 2"/>
          <p:cNvSpPr/>
          <p:nvPr/>
        </p:nvSpPr>
        <p:spPr>
          <a:xfrm>
            <a:off x="0" y="2446338"/>
            <a:ext cx="9144000" cy="4302125"/>
          </a:xfrm>
          <a:prstGeom prst="rect">
            <a:avLst/>
          </a:prstGeom>
          <a:solidFill>
            <a:srgbClr val="EBEBEB"/>
          </a:solidFill>
          <a:ln w="9525">
            <a:noFill/>
          </a:ln>
        </p:spPr>
        <p:txBody>
          <a:bodyPr anchor="t" anchorCtr="0"/>
          <a:lstStyle/>
          <a:p>
            <a:pPr marL="342900" indent="-342900" eaLnBrk="0" hangingPunct="0">
              <a:spcBef>
                <a:spcPct val="20000"/>
              </a:spcBef>
            </a:pPr>
            <a:endParaRPr lang="zh-CN" altLang="en-US" b="0" dirty="0">
              <a:latin typeface="Times New Roman" panose="02020603050405020304" pitchFamily="18" charset="0"/>
              <a:ea typeface="仿宋_GB2312" panose="02010609030101010101" pitchFamily="49" charset="-122"/>
            </a:endParaRPr>
          </a:p>
        </p:txBody>
      </p:sp>
      <p:sp>
        <p:nvSpPr>
          <p:cNvPr id="99330" name="Rectangle 19"/>
          <p:cNvSpPr>
            <a:spLocks noChangeArrowheads="1"/>
          </p:cNvSpPr>
          <p:nvPr/>
        </p:nvSpPr>
        <p:spPr bwMode="auto">
          <a:xfrm>
            <a:off x="801688" y="190500"/>
            <a:ext cx="4387850" cy="51593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2.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链地址法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(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拉链法）</a:t>
            </a:r>
          </a:p>
        </p:txBody>
      </p:sp>
      <p:sp>
        <p:nvSpPr>
          <p:cNvPr id="99331" name="Text Box 23"/>
          <p:cNvSpPr txBox="1">
            <a:spLocks noChangeArrowheads="1"/>
          </p:cNvSpPr>
          <p:nvPr/>
        </p:nvSpPr>
        <p:spPr bwMode="auto">
          <a:xfrm>
            <a:off x="392113" y="914400"/>
            <a:ext cx="8555038" cy="147796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342900" indent="-3429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2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基本思想：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相同哈希地址的记录链成一单链表，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m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个哈希地址就设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m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个单链表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，然后用用一个数组将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m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个单链表的表头指针存储起来，形成一个动态的结构。</a:t>
            </a:r>
          </a:p>
        </p:txBody>
      </p:sp>
      <p:grpSp>
        <p:nvGrpSpPr>
          <p:cNvPr id="2" name="Group 168"/>
          <p:cNvGrpSpPr/>
          <p:nvPr/>
        </p:nvGrpSpPr>
        <p:grpSpPr>
          <a:xfrm>
            <a:off x="1604963" y="2560638"/>
            <a:ext cx="5948363" cy="4146550"/>
            <a:chOff x="971" y="1448"/>
            <a:chExt cx="3747" cy="2612"/>
          </a:xfrm>
        </p:grpSpPr>
        <p:grpSp>
          <p:nvGrpSpPr>
            <p:cNvPr id="137221" name="Group 169"/>
            <p:cNvGrpSpPr/>
            <p:nvPr/>
          </p:nvGrpSpPr>
          <p:grpSpPr>
            <a:xfrm>
              <a:off x="1303" y="1448"/>
              <a:ext cx="373" cy="2576"/>
              <a:chOff x="1303" y="1448"/>
              <a:chExt cx="373" cy="2576"/>
            </a:xfrm>
          </p:grpSpPr>
          <p:sp>
            <p:nvSpPr>
              <p:cNvPr id="99334" name="Rectangle 170"/>
              <p:cNvSpPr>
                <a:spLocks noChangeArrowheads="1"/>
              </p:cNvSpPr>
              <p:nvPr/>
            </p:nvSpPr>
            <p:spPr bwMode="auto">
              <a:xfrm>
                <a:off x="1303" y="1448"/>
                <a:ext cx="373" cy="257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1pPr>
                <a:lvl2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2pPr>
                <a:lvl3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3pPr>
                <a:lvl4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4pPr>
                <a:lvl5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99335" name="Line 171"/>
              <p:cNvSpPr>
                <a:spLocks noChangeShapeType="1"/>
              </p:cNvSpPr>
              <p:nvPr/>
            </p:nvSpPr>
            <p:spPr bwMode="auto">
              <a:xfrm>
                <a:off x="1303" y="1645"/>
                <a:ext cx="37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99336" name="Line 172"/>
              <p:cNvSpPr>
                <a:spLocks noChangeShapeType="1"/>
              </p:cNvSpPr>
              <p:nvPr/>
            </p:nvSpPr>
            <p:spPr bwMode="auto">
              <a:xfrm>
                <a:off x="1303" y="1842"/>
                <a:ext cx="37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99337" name="Line 173"/>
              <p:cNvSpPr>
                <a:spLocks noChangeShapeType="1"/>
              </p:cNvSpPr>
              <p:nvPr/>
            </p:nvSpPr>
            <p:spPr bwMode="auto">
              <a:xfrm>
                <a:off x="1303" y="2040"/>
                <a:ext cx="37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99338" name="Line 174"/>
              <p:cNvSpPr>
                <a:spLocks noChangeShapeType="1"/>
              </p:cNvSpPr>
              <p:nvPr/>
            </p:nvSpPr>
            <p:spPr bwMode="auto">
              <a:xfrm>
                <a:off x="1303" y="2237"/>
                <a:ext cx="37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99339" name="Line 175"/>
              <p:cNvSpPr>
                <a:spLocks noChangeShapeType="1"/>
              </p:cNvSpPr>
              <p:nvPr/>
            </p:nvSpPr>
            <p:spPr bwMode="auto">
              <a:xfrm>
                <a:off x="1303" y="2435"/>
                <a:ext cx="37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99340" name="Line 176"/>
              <p:cNvSpPr>
                <a:spLocks noChangeShapeType="1"/>
              </p:cNvSpPr>
              <p:nvPr/>
            </p:nvSpPr>
            <p:spPr bwMode="auto">
              <a:xfrm>
                <a:off x="1303" y="2632"/>
                <a:ext cx="37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99341" name="Line 177"/>
              <p:cNvSpPr>
                <a:spLocks noChangeShapeType="1"/>
              </p:cNvSpPr>
              <p:nvPr/>
            </p:nvSpPr>
            <p:spPr bwMode="auto">
              <a:xfrm>
                <a:off x="1303" y="2830"/>
                <a:ext cx="37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99342" name="Line 178"/>
              <p:cNvSpPr>
                <a:spLocks noChangeShapeType="1"/>
              </p:cNvSpPr>
              <p:nvPr/>
            </p:nvSpPr>
            <p:spPr bwMode="auto">
              <a:xfrm>
                <a:off x="1303" y="3027"/>
                <a:ext cx="37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99343" name="Line 179"/>
              <p:cNvSpPr>
                <a:spLocks noChangeShapeType="1"/>
              </p:cNvSpPr>
              <p:nvPr/>
            </p:nvSpPr>
            <p:spPr bwMode="auto">
              <a:xfrm>
                <a:off x="1303" y="3225"/>
                <a:ext cx="37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99344" name="Line 180"/>
              <p:cNvSpPr>
                <a:spLocks noChangeShapeType="1"/>
              </p:cNvSpPr>
              <p:nvPr/>
            </p:nvSpPr>
            <p:spPr bwMode="auto">
              <a:xfrm>
                <a:off x="1303" y="3422"/>
                <a:ext cx="37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99345" name="Line 181"/>
              <p:cNvSpPr>
                <a:spLocks noChangeShapeType="1"/>
              </p:cNvSpPr>
              <p:nvPr/>
            </p:nvSpPr>
            <p:spPr bwMode="auto">
              <a:xfrm>
                <a:off x="1303" y="3620"/>
                <a:ext cx="37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99346" name="Line 182"/>
              <p:cNvSpPr>
                <a:spLocks noChangeShapeType="1"/>
              </p:cNvSpPr>
              <p:nvPr/>
            </p:nvSpPr>
            <p:spPr bwMode="auto">
              <a:xfrm>
                <a:off x="1303" y="3818"/>
                <a:ext cx="37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p:sp>
          <p:nvSpPr>
            <p:cNvPr id="99347" name="Text Box 183"/>
            <p:cNvSpPr txBox="1">
              <a:spLocks noChangeArrowheads="1"/>
            </p:cNvSpPr>
            <p:nvPr/>
          </p:nvSpPr>
          <p:spPr bwMode="auto">
            <a:xfrm>
              <a:off x="971" y="1473"/>
              <a:ext cx="349" cy="2562"/>
            </a:xfrm>
            <a:prstGeom prst="rect">
              <a:avLst/>
            </a:prstGeom>
            <a:noFill/>
            <a:ln>
              <a:noFill/>
            </a:ln>
          </p:spPr>
          <p:txBody>
            <a:bodyPr vert="eaVert" wrap="square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0  1  2   3  4  5  6  7  8  </a:t>
              </a: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9  10 11 12 </a:t>
              </a:r>
            </a:p>
          </p:txBody>
        </p:sp>
        <p:grpSp>
          <p:nvGrpSpPr>
            <p:cNvPr id="137236" name="Group 184"/>
            <p:cNvGrpSpPr/>
            <p:nvPr/>
          </p:nvGrpSpPr>
          <p:grpSpPr>
            <a:xfrm>
              <a:off x="1552" y="1623"/>
              <a:ext cx="869" cy="218"/>
              <a:chOff x="1976" y="2813"/>
              <a:chExt cx="869" cy="218"/>
            </a:xfrm>
          </p:grpSpPr>
          <p:sp>
            <p:nvSpPr>
              <p:cNvPr id="99349" name="Rectangle 185"/>
              <p:cNvSpPr>
                <a:spLocks noChangeArrowheads="1"/>
              </p:cNvSpPr>
              <p:nvPr/>
            </p:nvSpPr>
            <p:spPr bwMode="auto">
              <a:xfrm>
                <a:off x="2234" y="2813"/>
                <a:ext cx="611" cy="21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1pPr>
                <a:lvl2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2pPr>
                <a:lvl3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3pPr>
                <a:lvl4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4pPr>
                <a:lvl5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rPr>
                  <a:t>14</a:t>
                </a:r>
              </a:p>
            </p:txBody>
          </p:sp>
          <p:sp>
            <p:nvSpPr>
              <p:cNvPr id="99350" name="Line 186"/>
              <p:cNvSpPr>
                <a:spLocks noChangeShapeType="1"/>
              </p:cNvSpPr>
              <p:nvPr/>
            </p:nvSpPr>
            <p:spPr bwMode="auto">
              <a:xfrm>
                <a:off x="2555" y="2813"/>
                <a:ext cx="0" cy="21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99351" name="Line 187"/>
              <p:cNvSpPr>
                <a:spLocks noChangeShapeType="1"/>
              </p:cNvSpPr>
              <p:nvPr/>
            </p:nvSpPr>
            <p:spPr bwMode="auto">
              <a:xfrm>
                <a:off x="1976" y="2927"/>
                <a:ext cx="2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p:sp>
          <p:nvSpPr>
            <p:cNvPr id="99352" name="Text Box 188"/>
            <p:cNvSpPr txBox="1">
              <a:spLocks noChangeArrowheads="1"/>
            </p:cNvSpPr>
            <p:nvPr/>
          </p:nvSpPr>
          <p:spPr bwMode="auto">
            <a:xfrm>
              <a:off x="1362" y="1448"/>
              <a:ext cx="209" cy="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^</a:t>
              </a:r>
            </a:p>
          </p:txBody>
        </p:sp>
        <p:grpSp>
          <p:nvGrpSpPr>
            <p:cNvPr id="137241" name="Group 189"/>
            <p:cNvGrpSpPr/>
            <p:nvPr/>
          </p:nvGrpSpPr>
          <p:grpSpPr>
            <a:xfrm>
              <a:off x="2317" y="1623"/>
              <a:ext cx="869" cy="218"/>
              <a:chOff x="1976" y="2813"/>
              <a:chExt cx="869" cy="218"/>
            </a:xfrm>
          </p:grpSpPr>
          <p:sp>
            <p:nvSpPr>
              <p:cNvPr id="99354" name="Rectangle 190"/>
              <p:cNvSpPr>
                <a:spLocks noChangeArrowheads="1"/>
              </p:cNvSpPr>
              <p:nvPr/>
            </p:nvSpPr>
            <p:spPr bwMode="auto">
              <a:xfrm>
                <a:off x="2234" y="2813"/>
                <a:ext cx="611" cy="21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1pPr>
                <a:lvl2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2pPr>
                <a:lvl3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3pPr>
                <a:lvl4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4pPr>
                <a:lvl5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rPr>
                  <a:t>1</a:t>
                </a:r>
              </a:p>
            </p:txBody>
          </p:sp>
          <p:sp>
            <p:nvSpPr>
              <p:cNvPr id="99355" name="Line 191"/>
              <p:cNvSpPr>
                <a:spLocks noChangeShapeType="1"/>
              </p:cNvSpPr>
              <p:nvPr/>
            </p:nvSpPr>
            <p:spPr bwMode="auto">
              <a:xfrm>
                <a:off x="2555" y="2813"/>
                <a:ext cx="0" cy="21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99356" name="Line 192"/>
              <p:cNvSpPr>
                <a:spLocks noChangeShapeType="1"/>
              </p:cNvSpPr>
              <p:nvPr/>
            </p:nvSpPr>
            <p:spPr bwMode="auto">
              <a:xfrm>
                <a:off x="1976" y="2927"/>
                <a:ext cx="2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p:grpSp>
          <p:nvGrpSpPr>
            <p:cNvPr id="137245" name="Group 193"/>
            <p:cNvGrpSpPr/>
            <p:nvPr/>
          </p:nvGrpSpPr>
          <p:grpSpPr>
            <a:xfrm>
              <a:off x="3094" y="1622"/>
              <a:ext cx="869" cy="218"/>
              <a:chOff x="1976" y="2813"/>
              <a:chExt cx="869" cy="218"/>
            </a:xfrm>
          </p:grpSpPr>
          <p:sp>
            <p:nvSpPr>
              <p:cNvPr id="99358" name="Rectangle 194"/>
              <p:cNvSpPr>
                <a:spLocks noChangeArrowheads="1"/>
              </p:cNvSpPr>
              <p:nvPr/>
            </p:nvSpPr>
            <p:spPr bwMode="auto">
              <a:xfrm>
                <a:off x="2234" y="2813"/>
                <a:ext cx="611" cy="21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1pPr>
                <a:lvl2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2pPr>
                <a:lvl3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3pPr>
                <a:lvl4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4pPr>
                <a:lvl5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rPr>
                  <a:t>27</a:t>
                </a:r>
              </a:p>
            </p:txBody>
          </p:sp>
          <p:sp>
            <p:nvSpPr>
              <p:cNvPr id="99359" name="Line 195"/>
              <p:cNvSpPr>
                <a:spLocks noChangeShapeType="1"/>
              </p:cNvSpPr>
              <p:nvPr/>
            </p:nvSpPr>
            <p:spPr bwMode="auto">
              <a:xfrm>
                <a:off x="2555" y="2813"/>
                <a:ext cx="0" cy="21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99360" name="Line 196"/>
              <p:cNvSpPr>
                <a:spLocks noChangeShapeType="1"/>
              </p:cNvSpPr>
              <p:nvPr/>
            </p:nvSpPr>
            <p:spPr bwMode="auto">
              <a:xfrm>
                <a:off x="1976" y="2927"/>
                <a:ext cx="2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p:grpSp>
          <p:nvGrpSpPr>
            <p:cNvPr id="137249" name="Group 197"/>
            <p:cNvGrpSpPr/>
            <p:nvPr/>
          </p:nvGrpSpPr>
          <p:grpSpPr>
            <a:xfrm>
              <a:off x="3849" y="1624"/>
              <a:ext cx="869" cy="218"/>
              <a:chOff x="1976" y="2813"/>
              <a:chExt cx="869" cy="218"/>
            </a:xfrm>
          </p:grpSpPr>
          <p:sp>
            <p:nvSpPr>
              <p:cNvPr id="99362" name="Rectangle 198"/>
              <p:cNvSpPr>
                <a:spLocks noChangeArrowheads="1"/>
              </p:cNvSpPr>
              <p:nvPr/>
            </p:nvSpPr>
            <p:spPr bwMode="auto">
              <a:xfrm>
                <a:off x="2234" y="2813"/>
                <a:ext cx="611" cy="21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1pPr>
                <a:lvl2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2pPr>
                <a:lvl3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3pPr>
                <a:lvl4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4pPr>
                <a:lvl5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rPr>
                  <a:t>79</a:t>
                </a:r>
              </a:p>
            </p:txBody>
          </p:sp>
          <p:sp>
            <p:nvSpPr>
              <p:cNvPr id="99363" name="Line 199"/>
              <p:cNvSpPr>
                <a:spLocks noChangeShapeType="1"/>
              </p:cNvSpPr>
              <p:nvPr/>
            </p:nvSpPr>
            <p:spPr bwMode="auto">
              <a:xfrm>
                <a:off x="2555" y="2813"/>
                <a:ext cx="0" cy="21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99364" name="Line 200"/>
              <p:cNvSpPr>
                <a:spLocks noChangeShapeType="1"/>
              </p:cNvSpPr>
              <p:nvPr/>
            </p:nvSpPr>
            <p:spPr bwMode="auto">
              <a:xfrm>
                <a:off x="1976" y="2927"/>
                <a:ext cx="2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p:grpSp>
          <p:nvGrpSpPr>
            <p:cNvPr id="137253" name="Group 201"/>
            <p:cNvGrpSpPr/>
            <p:nvPr/>
          </p:nvGrpSpPr>
          <p:grpSpPr>
            <a:xfrm>
              <a:off x="1563" y="2007"/>
              <a:ext cx="869" cy="218"/>
              <a:chOff x="1976" y="2813"/>
              <a:chExt cx="869" cy="218"/>
            </a:xfrm>
          </p:grpSpPr>
          <p:sp>
            <p:nvSpPr>
              <p:cNvPr id="99366" name="Rectangle 202"/>
              <p:cNvSpPr>
                <a:spLocks noChangeArrowheads="1"/>
              </p:cNvSpPr>
              <p:nvPr/>
            </p:nvSpPr>
            <p:spPr bwMode="auto">
              <a:xfrm>
                <a:off x="2234" y="2813"/>
                <a:ext cx="611" cy="21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1pPr>
                <a:lvl2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2pPr>
                <a:lvl3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3pPr>
                <a:lvl4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4pPr>
                <a:lvl5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rPr>
                  <a:t>68</a:t>
                </a:r>
              </a:p>
            </p:txBody>
          </p:sp>
          <p:sp>
            <p:nvSpPr>
              <p:cNvPr id="99367" name="Line 203"/>
              <p:cNvSpPr>
                <a:spLocks noChangeShapeType="1"/>
              </p:cNvSpPr>
              <p:nvPr/>
            </p:nvSpPr>
            <p:spPr bwMode="auto">
              <a:xfrm>
                <a:off x="2555" y="2813"/>
                <a:ext cx="0" cy="21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99368" name="Line 204"/>
              <p:cNvSpPr>
                <a:spLocks noChangeShapeType="1"/>
              </p:cNvSpPr>
              <p:nvPr/>
            </p:nvSpPr>
            <p:spPr bwMode="auto">
              <a:xfrm>
                <a:off x="1976" y="2927"/>
                <a:ext cx="2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p:grpSp>
          <p:nvGrpSpPr>
            <p:cNvPr id="137257" name="Group 205"/>
            <p:cNvGrpSpPr/>
            <p:nvPr/>
          </p:nvGrpSpPr>
          <p:grpSpPr>
            <a:xfrm>
              <a:off x="2338" y="2006"/>
              <a:ext cx="869" cy="218"/>
              <a:chOff x="1976" y="2813"/>
              <a:chExt cx="869" cy="218"/>
            </a:xfrm>
          </p:grpSpPr>
          <p:sp>
            <p:nvSpPr>
              <p:cNvPr id="99370" name="Rectangle 206"/>
              <p:cNvSpPr>
                <a:spLocks noChangeArrowheads="1"/>
              </p:cNvSpPr>
              <p:nvPr/>
            </p:nvSpPr>
            <p:spPr bwMode="auto">
              <a:xfrm>
                <a:off x="2234" y="2813"/>
                <a:ext cx="611" cy="21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1pPr>
                <a:lvl2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2pPr>
                <a:lvl3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3pPr>
                <a:lvl4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4pPr>
                <a:lvl5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rPr>
                  <a:t>55</a:t>
                </a:r>
              </a:p>
            </p:txBody>
          </p:sp>
          <p:sp>
            <p:nvSpPr>
              <p:cNvPr id="99371" name="Line 207"/>
              <p:cNvSpPr>
                <a:spLocks noChangeShapeType="1"/>
              </p:cNvSpPr>
              <p:nvPr/>
            </p:nvSpPr>
            <p:spPr bwMode="auto">
              <a:xfrm>
                <a:off x="2555" y="2813"/>
                <a:ext cx="0" cy="21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99372" name="Line 208"/>
              <p:cNvSpPr>
                <a:spLocks noChangeShapeType="1"/>
              </p:cNvSpPr>
              <p:nvPr/>
            </p:nvSpPr>
            <p:spPr bwMode="auto">
              <a:xfrm>
                <a:off x="1976" y="2927"/>
                <a:ext cx="2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p:grpSp>
          <p:nvGrpSpPr>
            <p:cNvPr id="137261" name="Group 209"/>
            <p:cNvGrpSpPr/>
            <p:nvPr/>
          </p:nvGrpSpPr>
          <p:grpSpPr>
            <a:xfrm>
              <a:off x="1573" y="2617"/>
              <a:ext cx="869" cy="218"/>
              <a:chOff x="1976" y="2813"/>
              <a:chExt cx="869" cy="218"/>
            </a:xfrm>
          </p:grpSpPr>
          <p:sp>
            <p:nvSpPr>
              <p:cNvPr id="99374" name="Rectangle 210"/>
              <p:cNvSpPr>
                <a:spLocks noChangeArrowheads="1"/>
              </p:cNvSpPr>
              <p:nvPr/>
            </p:nvSpPr>
            <p:spPr bwMode="auto">
              <a:xfrm>
                <a:off x="2234" y="2813"/>
                <a:ext cx="611" cy="21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1pPr>
                <a:lvl2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2pPr>
                <a:lvl3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3pPr>
                <a:lvl4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4pPr>
                <a:lvl5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rPr>
                  <a:t>19</a:t>
                </a:r>
              </a:p>
            </p:txBody>
          </p:sp>
          <p:sp>
            <p:nvSpPr>
              <p:cNvPr id="99375" name="Line 211"/>
              <p:cNvSpPr>
                <a:spLocks noChangeShapeType="1"/>
              </p:cNvSpPr>
              <p:nvPr/>
            </p:nvSpPr>
            <p:spPr bwMode="auto">
              <a:xfrm>
                <a:off x="2555" y="2813"/>
                <a:ext cx="0" cy="21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99376" name="Line 212"/>
              <p:cNvSpPr>
                <a:spLocks noChangeShapeType="1"/>
              </p:cNvSpPr>
              <p:nvPr/>
            </p:nvSpPr>
            <p:spPr bwMode="auto">
              <a:xfrm>
                <a:off x="1976" y="2927"/>
                <a:ext cx="2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p:grpSp>
          <p:nvGrpSpPr>
            <p:cNvPr id="137265" name="Group 213"/>
            <p:cNvGrpSpPr/>
            <p:nvPr/>
          </p:nvGrpSpPr>
          <p:grpSpPr>
            <a:xfrm>
              <a:off x="2338" y="2617"/>
              <a:ext cx="869" cy="218"/>
              <a:chOff x="1976" y="2813"/>
              <a:chExt cx="869" cy="218"/>
            </a:xfrm>
          </p:grpSpPr>
          <p:sp>
            <p:nvSpPr>
              <p:cNvPr id="99378" name="Rectangle 214"/>
              <p:cNvSpPr>
                <a:spLocks noChangeArrowheads="1"/>
              </p:cNvSpPr>
              <p:nvPr/>
            </p:nvSpPr>
            <p:spPr bwMode="auto">
              <a:xfrm>
                <a:off x="2234" y="2813"/>
                <a:ext cx="611" cy="21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1pPr>
                <a:lvl2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2pPr>
                <a:lvl3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3pPr>
                <a:lvl4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4pPr>
                <a:lvl5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rPr>
                  <a:t>84</a:t>
                </a:r>
              </a:p>
            </p:txBody>
          </p:sp>
          <p:sp>
            <p:nvSpPr>
              <p:cNvPr id="99379" name="Line 215"/>
              <p:cNvSpPr>
                <a:spLocks noChangeShapeType="1"/>
              </p:cNvSpPr>
              <p:nvPr/>
            </p:nvSpPr>
            <p:spPr bwMode="auto">
              <a:xfrm>
                <a:off x="2555" y="2813"/>
                <a:ext cx="0" cy="21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99380" name="Line 216"/>
              <p:cNvSpPr>
                <a:spLocks noChangeShapeType="1"/>
              </p:cNvSpPr>
              <p:nvPr/>
            </p:nvSpPr>
            <p:spPr bwMode="auto">
              <a:xfrm>
                <a:off x="1976" y="2927"/>
                <a:ext cx="2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p:grpSp>
          <p:nvGrpSpPr>
            <p:cNvPr id="137269" name="Group 217"/>
            <p:cNvGrpSpPr/>
            <p:nvPr/>
          </p:nvGrpSpPr>
          <p:grpSpPr>
            <a:xfrm>
              <a:off x="1572" y="2875"/>
              <a:ext cx="869" cy="218"/>
              <a:chOff x="1976" y="2813"/>
              <a:chExt cx="869" cy="218"/>
            </a:xfrm>
          </p:grpSpPr>
          <p:sp>
            <p:nvSpPr>
              <p:cNvPr id="99382" name="Rectangle 218"/>
              <p:cNvSpPr>
                <a:spLocks noChangeArrowheads="1"/>
              </p:cNvSpPr>
              <p:nvPr/>
            </p:nvSpPr>
            <p:spPr bwMode="auto">
              <a:xfrm>
                <a:off x="2234" y="2813"/>
                <a:ext cx="611" cy="21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1pPr>
                <a:lvl2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2pPr>
                <a:lvl3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3pPr>
                <a:lvl4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4pPr>
                <a:lvl5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rPr>
                  <a:t>20</a:t>
                </a:r>
              </a:p>
            </p:txBody>
          </p:sp>
          <p:sp>
            <p:nvSpPr>
              <p:cNvPr id="99383" name="Line 219"/>
              <p:cNvSpPr>
                <a:spLocks noChangeShapeType="1"/>
              </p:cNvSpPr>
              <p:nvPr/>
            </p:nvSpPr>
            <p:spPr bwMode="auto">
              <a:xfrm>
                <a:off x="2555" y="2813"/>
                <a:ext cx="0" cy="21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99384" name="Line 220"/>
              <p:cNvSpPr>
                <a:spLocks noChangeShapeType="1"/>
              </p:cNvSpPr>
              <p:nvPr/>
            </p:nvSpPr>
            <p:spPr bwMode="auto">
              <a:xfrm>
                <a:off x="1976" y="2927"/>
                <a:ext cx="2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p:grpSp>
          <p:nvGrpSpPr>
            <p:cNvPr id="137273" name="Group 221"/>
            <p:cNvGrpSpPr/>
            <p:nvPr/>
          </p:nvGrpSpPr>
          <p:grpSpPr>
            <a:xfrm>
              <a:off x="1583" y="3382"/>
              <a:ext cx="869" cy="218"/>
              <a:chOff x="1976" y="2813"/>
              <a:chExt cx="869" cy="218"/>
            </a:xfrm>
          </p:grpSpPr>
          <p:sp>
            <p:nvSpPr>
              <p:cNvPr id="99386" name="Rectangle 222"/>
              <p:cNvSpPr>
                <a:spLocks noChangeArrowheads="1"/>
              </p:cNvSpPr>
              <p:nvPr/>
            </p:nvSpPr>
            <p:spPr bwMode="auto">
              <a:xfrm>
                <a:off x="2234" y="2813"/>
                <a:ext cx="611" cy="21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1pPr>
                <a:lvl2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2pPr>
                <a:lvl3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3pPr>
                <a:lvl4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4pPr>
                <a:lvl5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rPr>
                  <a:t>23</a:t>
                </a:r>
              </a:p>
            </p:txBody>
          </p:sp>
          <p:sp>
            <p:nvSpPr>
              <p:cNvPr id="99387" name="Line 223"/>
              <p:cNvSpPr>
                <a:spLocks noChangeShapeType="1"/>
              </p:cNvSpPr>
              <p:nvPr/>
            </p:nvSpPr>
            <p:spPr bwMode="auto">
              <a:xfrm>
                <a:off x="2555" y="2813"/>
                <a:ext cx="0" cy="21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99388" name="Line 224"/>
              <p:cNvSpPr>
                <a:spLocks noChangeShapeType="1"/>
              </p:cNvSpPr>
              <p:nvPr/>
            </p:nvSpPr>
            <p:spPr bwMode="auto">
              <a:xfrm>
                <a:off x="1976" y="2927"/>
                <a:ext cx="2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p:grpSp>
          <p:nvGrpSpPr>
            <p:cNvPr id="137277" name="Group 225"/>
            <p:cNvGrpSpPr/>
            <p:nvPr/>
          </p:nvGrpSpPr>
          <p:grpSpPr>
            <a:xfrm>
              <a:off x="2338" y="3382"/>
              <a:ext cx="869" cy="218"/>
              <a:chOff x="1976" y="2813"/>
              <a:chExt cx="869" cy="218"/>
            </a:xfrm>
          </p:grpSpPr>
          <p:sp>
            <p:nvSpPr>
              <p:cNvPr id="99390" name="Rectangle 226"/>
              <p:cNvSpPr>
                <a:spLocks noChangeArrowheads="1"/>
              </p:cNvSpPr>
              <p:nvPr/>
            </p:nvSpPr>
            <p:spPr bwMode="auto">
              <a:xfrm>
                <a:off x="2234" y="2813"/>
                <a:ext cx="611" cy="21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1pPr>
                <a:lvl2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2pPr>
                <a:lvl3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3pPr>
                <a:lvl4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4pPr>
                <a:lvl5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rPr>
                  <a:t>10</a:t>
                </a:r>
              </a:p>
            </p:txBody>
          </p:sp>
          <p:sp>
            <p:nvSpPr>
              <p:cNvPr id="99391" name="Line 227"/>
              <p:cNvSpPr>
                <a:spLocks noChangeShapeType="1"/>
              </p:cNvSpPr>
              <p:nvPr/>
            </p:nvSpPr>
            <p:spPr bwMode="auto">
              <a:xfrm>
                <a:off x="2555" y="2813"/>
                <a:ext cx="0" cy="21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99392" name="Line 228"/>
              <p:cNvSpPr>
                <a:spLocks noChangeShapeType="1"/>
              </p:cNvSpPr>
              <p:nvPr/>
            </p:nvSpPr>
            <p:spPr bwMode="auto">
              <a:xfrm>
                <a:off x="1976" y="2927"/>
                <a:ext cx="2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p:grpSp>
          <p:nvGrpSpPr>
            <p:cNvPr id="137281" name="Group 229"/>
            <p:cNvGrpSpPr/>
            <p:nvPr/>
          </p:nvGrpSpPr>
          <p:grpSpPr>
            <a:xfrm>
              <a:off x="1583" y="3630"/>
              <a:ext cx="869" cy="218"/>
              <a:chOff x="1976" y="2813"/>
              <a:chExt cx="869" cy="218"/>
            </a:xfrm>
          </p:grpSpPr>
          <p:sp>
            <p:nvSpPr>
              <p:cNvPr id="99394" name="Rectangle 230"/>
              <p:cNvSpPr>
                <a:spLocks noChangeArrowheads="1"/>
              </p:cNvSpPr>
              <p:nvPr/>
            </p:nvSpPr>
            <p:spPr bwMode="auto">
              <a:xfrm>
                <a:off x="2234" y="2813"/>
                <a:ext cx="611" cy="21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1pPr>
                <a:lvl2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2pPr>
                <a:lvl3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3pPr>
                <a:lvl4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4pPr>
                <a:lvl5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rPr>
                  <a:t>11</a:t>
                </a:r>
              </a:p>
            </p:txBody>
          </p:sp>
          <p:sp>
            <p:nvSpPr>
              <p:cNvPr id="99395" name="Line 231"/>
              <p:cNvSpPr>
                <a:spLocks noChangeShapeType="1"/>
              </p:cNvSpPr>
              <p:nvPr/>
            </p:nvSpPr>
            <p:spPr bwMode="auto">
              <a:xfrm>
                <a:off x="2555" y="2813"/>
                <a:ext cx="0" cy="21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99396" name="Line 232"/>
              <p:cNvSpPr>
                <a:spLocks noChangeShapeType="1"/>
              </p:cNvSpPr>
              <p:nvPr/>
            </p:nvSpPr>
            <p:spPr bwMode="auto">
              <a:xfrm>
                <a:off x="1976" y="2927"/>
                <a:ext cx="2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p:sp>
          <p:nvSpPr>
            <p:cNvPr id="99397" name="Text Box 233"/>
            <p:cNvSpPr txBox="1">
              <a:spLocks noChangeArrowheads="1"/>
            </p:cNvSpPr>
            <p:nvPr/>
          </p:nvSpPr>
          <p:spPr bwMode="auto">
            <a:xfrm>
              <a:off x="1362" y="1844"/>
              <a:ext cx="209" cy="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^</a:t>
              </a:r>
            </a:p>
          </p:txBody>
        </p:sp>
        <p:sp>
          <p:nvSpPr>
            <p:cNvPr id="99398" name="Text Box 234"/>
            <p:cNvSpPr txBox="1">
              <a:spLocks noChangeArrowheads="1"/>
            </p:cNvSpPr>
            <p:nvPr/>
          </p:nvSpPr>
          <p:spPr bwMode="auto">
            <a:xfrm>
              <a:off x="1362" y="2216"/>
              <a:ext cx="209" cy="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^</a:t>
              </a:r>
            </a:p>
          </p:txBody>
        </p:sp>
        <p:sp>
          <p:nvSpPr>
            <p:cNvPr id="99399" name="Text Box 235"/>
            <p:cNvSpPr txBox="1">
              <a:spLocks noChangeArrowheads="1"/>
            </p:cNvSpPr>
            <p:nvPr/>
          </p:nvSpPr>
          <p:spPr bwMode="auto">
            <a:xfrm>
              <a:off x="1362" y="2423"/>
              <a:ext cx="209" cy="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^</a:t>
              </a:r>
            </a:p>
          </p:txBody>
        </p:sp>
        <p:sp>
          <p:nvSpPr>
            <p:cNvPr id="99400" name="Text Box 236"/>
            <p:cNvSpPr txBox="1">
              <a:spLocks noChangeArrowheads="1"/>
            </p:cNvSpPr>
            <p:nvPr/>
          </p:nvSpPr>
          <p:spPr bwMode="auto">
            <a:xfrm>
              <a:off x="1362" y="3034"/>
              <a:ext cx="209" cy="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^</a:t>
              </a:r>
            </a:p>
          </p:txBody>
        </p:sp>
        <p:sp>
          <p:nvSpPr>
            <p:cNvPr id="99401" name="Text Box 237"/>
            <p:cNvSpPr txBox="1">
              <a:spLocks noChangeArrowheads="1"/>
            </p:cNvSpPr>
            <p:nvPr/>
          </p:nvSpPr>
          <p:spPr bwMode="auto">
            <a:xfrm>
              <a:off x="1362" y="3231"/>
              <a:ext cx="209" cy="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^</a:t>
              </a:r>
            </a:p>
          </p:txBody>
        </p:sp>
        <p:sp>
          <p:nvSpPr>
            <p:cNvPr id="99402" name="Text Box 238"/>
            <p:cNvSpPr txBox="1">
              <a:spLocks noChangeArrowheads="1"/>
            </p:cNvSpPr>
            <p:nvPr/>
          </p:nvSpPr>
          <p:spPr bwMode="auto">
            <a:xfrm>
              <a:off x="1362" y="3810"/>
              <a:ext cx="209" cy="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^</a:t>
              </a:r>
            </a:p>
          </p:txBody>
        </p:sp>
        <p:sp>
          <p:nvSpPr>
            <p:cNvPr id="99403" name="Text Box 239"/>
            <p:cNvSpPr txBox="1">
              <a:spLocks noChangeArrowheads="1"/>
            </p:cNvSpPr>
            <p:nvPr/>
          </p:nvSpPr>
          <p:spPr bwMode="auto">
            <a:xfrm>
              <a:off x="4497" y="1616"/>
              <a:ext cx="209" cy="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^</a:t>
              </a:r>
            </a:p>
          </p:txBody>
        </p:sp>
        <p:sp>
          <p:nvSpPr>
            <p:cNvPr id="99404" name="Text Box 240"/>
            <p:cNvSpPr txBox="1">
              <a:spLocks noChangeArrowheads="1"/>
            </p:cNvSpPr>
            <p:nvPr/>
          </p:nvSpPr>
          <p:spPr bwMode="auto">
            <a:xfrm>
              <a:off x="2967" y="2010"/>
              <a:ext cx="209" cy="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^</a:t>
              </a:r>
            </a:p>
          </p:txBody>
        </p:sp>
        <p:sp>
          <p:nvSpPr>
            <p:cNvPr id="99405" name="Text Box 241"/>
            <p:cNvSpPr txBox="1">
              <a:spLocks noChangeArrowheads="1"/>
            </p:cNvSpPr>
            <p:nvPr/>
          </p:nvSpPr>
          <p:spPr bwMode="auto">
            <a:xfrm>
              <a:off x="2956" y="2599"/>
              <a:ext cx="209" cy="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^</a:t>
              </a:r>
            </a:p>
          </p:txBody>
        </p:sp>
        <p:sp>
          <p:nvSpPr>
            <p:cNvPr id="99406" name="Text Box 242"/>
            <p:cNvSpPr txBox="1">
              <a:spLocks noChangeArrowheads="1"/>
            </p:cNvSpPr>
            <p:nvPr/>
          </p:nvSpPr>
          <p:spPr bwMode="auto">
            <a:xfrm>
              <a:off x="2201" y="2868"/>
              <a:ext cx="209" cy="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^</a:t>
              </a:r>
            </a:p>
          </p:txBody>
        </p:sp>
        <p:sp>
          <p:nvSpPr>
            <p:cNvPr id="99407" name="Text Box 243"/>
            <p:cNvSpPr txBox="1">
              <a:spLocks noChangeArrowheads="1"/>
            </p:cNvSpPr>
            <p:nvPr/>
          </p:nvSpPr>
          <p:spPr bwMode="auto">
            <a:xfrm>
              <a:off x="2956" y="3374"/>
              <a:ext cx="209" cy="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^</a:t>
              </a:r>
            </a:p>
          </p:txBody>
        </p:sp>
        <p:sp>
          <p:nvSpPr>
            <p:cNvPr id="99408" name="Text Box 244"/>
            <p:cNvSpPr txBox="1">
              <a:spLocks noChangeArrowheads="1"/>
            </p:cNvSpPr>
            <p:nvPr/>
          </p:nvSpPr>
          <p:spPr bwMode="auto">
            <a:xfrm>
              <a:off x="2211" y="3624"/>
              <a:ext cx="209" cy="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^</a:t>
              </a:r>
            </a:p>
          </p:txBody>
        </p:sp>
      </p:grp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64" name="Rectangle 4"/>
          <p:cNvSpPr>
            <a:spLocks noChangeArrowheads="1"/>
          </p:cNvSpPr>
          <p:nvPr/>
        </p:nvSpPr>
        <p:spPr bwMode="auto">
          <a:xfrm>
            <a:off x="1919288" y="1385888"/>
            <a:ext cx="6710363" cy="489585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step1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取数据元素的关键字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key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，计算其哈希地址。若该地址对应的链表为空，则将该元素插入此链表；否则执行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step2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解决冲突。 </a:t>
            </a:r>
          </a:p>
          <a:p>
            <a:pPr marL="0" marR="0" lvl="0" indent="0" algn="l" defTabSz="914400" rtl="0" eaLnBrk="0" fontAlgn="base" latinLnBrk="0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step2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根据选择的冲突处理方法，计算关键字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key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的下一个存储地址。若该地址对应的链表为不为空，则利用链表的前插法或后插法将该元素插入此链表。</a:t>
            </a:r>
          </a:p>
        </p:txBody>
      </p:sp>
      <p:sp>
        <p:nvSpPr>
          <p:cNvPr id="100355" name="Rectangle 6"/>
          <p:cNvSpPr>
            <a:spLocks noChangeArrowheads="1"/>
          </p:cNvSpPr>
          <p:nvPr/>
        </p:nvSpPr>
        <p:spPr bwMode="auto">
          <a:xfrm>
            <a:off x="827088" y="220663"/>
            <a:ext cx="5611813" cy="51593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链地址法建立哈希表步骤</a:t>
            </a:r>
          </a:p>
        </p:txBody>
      </p:sp>
      <p:grpSp>
        <p:nvGrpSpPr>
          <p:cNvPr id="22" name="Group 29"/>
          <p:cNvGrpSpPr/>
          <p:nvPr/>
        </p:nvGrpSpPr>
        <p:grpSpPr>
          <a:xfrm>
            <a:off x="706438" y="3783013"/>
            <a:ext cx="914400" cy="914400"/>
            <a:chOff x="1253782" y="3281715"/>
            <a:chExt cx="914400" cy="914400"/>
          </a:xfrm>
        </p:grpSpPr>
        <p:sp>
          <p:nvSpPr>
            <p:cNvPr id="23" name="Rounded Rectangle 5"/>
            <p:cNvSpPr/>
            <p:nvPr/>
          </p:nvSpPr>
          <p:spPr>
            <a:xfrm>
              <a:off x="1253782" y="3281715"/>
              <a:ext cx="914400" cy="914400"/>
            </a:xfrm>
            <a:prstGeom prst="roundRect">
              <a:avLst/>
            </a:prstGeom>
            <a:solidFill>
              <a:srgbClr val="C0504D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24" name="Group 59"/>
            <p:cNvGrpSpPr/>
            <p:nvPr/>
          </p:nvGrpSpPr>
          <p:grpSpPr>
            <a:xfrm>
              <a:off x="1478810" y="3521030"/>
              <a:ext cx="464344" cy="465138"/>
              <a:chOff x="9145588" y="4435475"/>
              <a:chExt cx="464344" cy="465138"/>
            </a:xfrm>
            <a:solidFill>
              <a:srgbClr val="EEECE1"/>
            </a:solidFill>
          </p:grpSpPr>
          <p:sp>
            <p:nvSpPr>
              <p:cNvPr id="25" name="AutoShape 7"/>
              <p:cNvSpPr/>
              <p:nvPr/>
            </p:nvSpPr>
            <p:spPr bwMode="auto">
              <a:xfrm>
                <a:off x="9145588" y="4435475"/>
                <a:ext cx="464344" cy="465138"/>
              </a:xfrm>
              <a:custGeom>
                <a:avLst/>
                <a:gdLst>
                  <a:gd name="T0" fmla="+- 0 10800 1271"/>
                  <a:gd name="T1" fmla="*/ T0 w 19058"/>
                  <a:gd name="T2" fmla="+- 0 10799 1270"/>
                  <a:gd name="T3" fmla="*/ 10799 h 19059"/>
                  <a:gd name="T4" fmla="+- 0 10800 1271"/>
                  <a:gd name="T5" fmla="*/ T4 w 19058"/>
                  <a:gd name="T6" fmla="+- 0 10799 1270"/>
                  <a:gd name="T7" fmla="*/ 10799 h 19059"/>
                  <a:gd name="T8" fmla="+- 0 10800 1271"/>
                  <a:gd name="T9" fmla="*/ T8 w 19058"/>
                  <a:gd name="T10" fmla="+- 0 10799 1270"/>
                  <a:gd name="T11" fmla="*/ 10799 h 19059"/>
                  <a:gd name="T12" fmla="+- 0 10800 1271"/>
                  <a:gd name="T13" fmla="*/ T12 w 19058"/>
                  <a:gd name="T14" fmla="+- 0 10799 1270"/>
                  <a:gd name="T15" fmla="*/ 10799 h 19059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</a:cxnLst>
                <a:rect l="0" t="0" r="r" b="b"/>
                <a:pathLst>
                  <a:path w="19058" h="19059">
                    <a:moveTo>
                      <a:pt x="6430" y="17268"/>
                    </a:moveTo>
                    <a:cubicBezTo>
                      <a:pt x="2162" y="15559"/>
                      <a:pt x="82" y="10698"/>
                      <a:pt x="1790" y="6431"/>
                    </a:cubicBezTo>
                    <a:cubicBezTo>
                      <a:pt x="3499" y="2164"/>
                      <a:pt x="8360" y="81"/>
                      <a:pt x="12627" y="1791"/>
                    </a:cubicBezTo>
                    <a:cubicBezTo>
                      <a:pt x="16894" y="3499"/>
                      <a:pt x="18975" y="8361"/>
                      <a:pt x="17267" y="12628"/>
                    </a:cubicBezTo>
                    <a:cubicBezTo>
                      <a:pt x="15558" y="16895"/>
                      <a:pt x="10696" y="18976"/>
                      <a:pt x="6430" y="17268"/>
                    </a:cubicBezTo>
                    <a:moveTo>
                      <a:pt x="13070" y="685"/>
                    </a:moveTo>
                    <a:cubicBezTo>
                      <a:pt x="8186" y="-1270"/>
                      <a:pt x="2641" y="1103"/>
                      <a:pt x="685" y="5987"/>
                    </a:cubicBezTo>
                    <a:cubicBezTo>
                      <a:pt x="-1271" y="10872"/>
                      <a:pt x="1103" y="16418"/>
                      <a:pt x="5987" y="18373"/>
                    </a:cubicBezTo>
                    <a:cubicBezTo>
                      <a:pt x="10871" y="20330"/>
                      <a:pt x="16416" y="17955"/>
                      <a:pt x="18373" y="13071"/>
                    </a:cubicBezTo>
                    <a:cubicBezTo>
                      <a:pt x="20329" y="8186"/>
                      <a:pt x="17954" y="2641"/>
                      <a:pt x="13070" y="685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lIns="19050" tIns="19050" rIns="19050" bIns="19050" anchor="ctr"/>
              <a:lstStyle/>
              <a:p>
                <a:pPr marL="0" marR="0" lvl="0" indent="0" algn="ctr" defTabSz="2286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sym typeface="Gill Sans" charset="0"/>
                </a:endParaRPr>
              </a:p>
            </p:txBody>
          </p:sp>
          <p:sp>
            <p:nvSpPr>
              <p:cNvPr id="26" name="AutoShape 8"/>
              <p:cNvSpPr/>
              <p:nvPr/>
            </p:nvSpPr>
            <p:spPr bwMode="auto">
              <a:xfrm>
                <a:off x="9348788" y="4638675"/>
                <a:ext cx="57944" cy="57944"/>
              </a:xfrm>
              <a:custGeom>
                <a:avLst/>
                <a:gdLst>
                  <a:gd name="T0" fmla="+- 0 10801 1272"/>
                  <a:gd name="T1" fmla="*/ T0 w 19059"/>
                  <a:gd name="T2" fmla="+- 0 10800 1272"/>
                  <a:gd name="T3" fmla="*/ 10800 h 19056"/>
                  <a:gd name="T4" fmla="+- 0 10801 1272"/>
                  <a:gd name="T5" fmla="*/ T4 w 19059"/>
                  <a:gd name="T6" fmla="+- 0 10800 1272"/>
                  <a:gd name="T7" fmla="*/ 10800 h 19056"/>
                  <a:gd name="T8" fmla="+- 0 10801 1272"/>
                  <a:gd name="T9" fmla="*/ T8 w 19059"/>
                  <a:gd name="T10" fmla="+- 0 10800 1272"/>
                  <a:gd name="T11" fmla="*/ 10800 h 19056"/>
                  <a:gd name="T12" fmla="+- 0 10801 1272"/>
                  <a:gd name="T13" fmla="*/ T12 w 19059"/>
                  <a:gd name="T14" fmla="+- 0 10800 1272"/>
                  <a:gd name="T15" fmla="*/ 10800 h 1905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</a:cxnLst>
                <a:rect l="0" t="0" r="r" b="b"/>
                <a:pathLst>
                  <a:path w="19059" h="19056">
                    <a:moveTo>
                      <a:pt x="7753" y="13951"/>
                    </a:moveTo>
                    <a:cubicBezTo>
                      <a:pt x="5315" y="12969"/>
                      <a:pt x="4129" y="10197"/>
                      <a:pt x="5101" y="7755"/>
                    </a:cubicBezTo>
                    <a:cubicBezTo>
                      <a:pt x="6083" y="5323"/>
                      <a:pt x="8860" y="4132"/>
                      <a:pt x="11298" y="5104"/>
                    </a:cubicBezTo>
                    <a:cubicBezTo>
                      <a:pt x="13735" y="6081"/>
                      <a:pt x="14926" y="8858"/>
                      <a:pt x="13949" y="11300"/>
                    </a:cubicBezTo>
                    <a:cubicBezTo>
                      <a:pt x="12972" y="13737"/>
                      <a:pt x="10195" y="14923"/>
                      <a:pt x="7753" y="13951"/>
                    </a:cubicBezTo>
                    <a:moveTo>
                      <a:pt x="13070" y="686"/>
                    </a:moveTo>
                    <a:cubicBezTo>
                      <a:pt x="8190" y="-1272"/>
                      <a:pt x="2640" y="1104"/>
                      <a:pt x="686" y="5988"/>
                    </a:cubicBezTo>
                    <a:cubicBezTo>
                      <a:pt x="-1272" y="10872"/>
                      <a:pt x="1105" y="16416"/>
                      <a:pt x="5985" y="18369"/>
                    </a:cubicBezTo>
                    <a:cubicBezTo>
                      <a:pt x="10870" y="20328"/>
                      <a:pt x="16415" y="17951"/>
                      <a:pt x="18374" y="13072"/>
                    </a:cubicBezTo>
                    <a:cubicBezTo>
                      <a:pt x="20328" y="8188"/>
                      <a:pt x="17960" y="2644"/>
                      <a:pt x="13070" y="686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lIns="19050" tIns="19050" rIns="19050" bIns="19050" anchor="ctr"/>
              <a:lstStyle/>
              <a:p>
                <a:pPr marL="0" marR="0" lvl="0" indent="0" algn="ctr" defTabSz="2286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sym typeface="Gill Sans" charset="0"/>
                </a:endParaRPr>
              </a:p>
            </p:txBody>
          </p:sp>
          <p:sp>
            <p:nvSpPr>
              <p:cNvPr id="27" name="AutoShape 9"/>
              <p:cNvSpPr/>
              <p:nvPr/>
            </p:nvSpPr>
            <p:spPr bwMode="auto">
              <a:xfrm>
                <a:off x="9290050" y="4580732"/>
                <a:ext cx="174625" cy="174625"/>
              </a:xfrm>
              <a:custGeom>
                <a:avLst/>
                <a:gdLst>
                  <a:gd name="T0" fmla="+- 0 10800 1271"/>
                  <a:gd name="T1" fmla="*/ T0 w 19059"/>
                  <a:gd name="T2" fmla="+- 0 10800 1271"/>
                  <a:gd name="T3" fmla="*/ 10800 h 19058"/>
                  <a:gd name="T4" fmla="+- 0 10800 1271"/>
                  <a:gd name="T5" fmla="*/ T4 w 19059"/>
                  <a:gd name="T6" fmla="+- 0 10800 1271"/>
                  <a:gd name="T7" fmla="*/ 10800 h 19058"/>
                  <a:gd name="T8" fmla="+- 0 10800 1271"/>
                  <a:gd name="T9" fmla="*/ T8 w 19059"/>
                  <a:gd name="T10" fmla="+- 0 10800 1271"/>
                  <a:gd name="T11" fmla="*/ 10800 h 19058"/>
                  <a:gd name="T12" fmla="+- 0 10800 1271"/>
                  <a:gd name="T13" fmla="*/ T12 w 19059"/>
                  <a:gd name="T14" fmla="+- 0 10800 1271"/>
                  <a:gd name="T15" fmla="*/ 10800 h 19058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</a:cxnLst>
                <a:rect l="0" t="0" r="r" b="b"/>
                <a:pathLst>
                  <a:path w="19059" h="19058">
                    <a:moveTo>
                      <a:pt x="7169" y="15424"/>
                    </a:moveTo>
                    <a:cubicBezTo>
                      <a:pt x="3916" y="14123"/>
                      <a:pt x="2331" y="10417"/>
                      <a:pt x="3632" y="7167"/>
                    </a:cubicBezTo>
                    <a:cubicBezTo>
                      <a:pt x="4934" y="3917"/>
                      <a:pt x="8638" y="2331"/>
                      <a:pt x="11889" y="3632"/>
                    </a:cubicBezTo>
                    <a:cubicBezTo>
                      <a:pt x="15141" y="4934"/>
                      <a:pt x="16728" y="8640"/>
                      <a:pt x="15425" y="11890"/>
                    </a:cubicBezTo>
                    <a:cubicBezTo>
                      <a:pt x="14124" y="15140"/>
                      <a:pt x="10419" y="16728"/>
                      <a:pt x="7169" y="15424"/>
                    </a:cubicBezTo>
                    <a:moveTo>
                      <a:pt x="13071" y="685"/>
                    </a:moveTo>
                    <a:cubicBezTo>
                      <a:pt x="8186" y="-1271"/>
                      <a:pt x="2639" y="1104"/>
                      <a:pt x="686" y="5987"/>
                    </a:cubicBezTo>
                    <a:cubicBezTo>
                      <a:pt x="-1271" y="10871"/>
                      <a:pt x="1104" y="16416"/>
                      <a:pt x="5987" y="18372"/>
                    </a:cubicBezTo>
                    <a:cubicBezTo>
                      <a:pt x="10874" y="20329"/>
                      <a:pt x="16418" y="17955"/>
                      <a:pt x="18375" y="13070"/>
                    </a:cubicBezTo>
                    <a:cubicBezTo>
                      <a:pt x="20328" y="8186"/>
                      <a:pt x="17956" y="2641"/>
                      <a:pt x="13071" y="685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lIns="19050" tIns="19050" rIns="19050" bIns="19050" anchor="ctr"/>
              <a:lstStyle/>
              <a:p>
                <a:pPr marL="0" marR="0" lvl="0" indent="0" algn="ctr" defTabSz="2286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sym typeface="Gill Sans" charset="0"/>
                </a:endParaRPr>
              </a:p>
            </p:txBody>
          </p:sp>
          <p:sp>
            <p:nvSpPr>
              <p:cNvPr id="28" name="AutoShape 10"/>
              <p:cNvSpPr/>
              <p:nvPr/>
            </p:nvSpPr>
            <p:spPr bwMode="auto">
              <a:xfrm>
                <a:off x="9406732" y="4696619"/>
                <a:ext cx="72231" cy="74613"/>
              </a:xfrm>
              <a:custGeom>
                <a:avLst/>
                <a:gdLst>
                  <a:gd name="T0" fmla="+- 0 10804 288"/>
                  <a:gd name="T1" fmla="*/ T0 w 21033"/>
                  <a:gd name="T2" fmla="+- 0 10798 277"/>
                  <a:gd name="T3" fmla="*/ 10798 h 21043"/>
                  <a:gd name="T4" fmla="+- 0 10804 288"/>
                  <a:gd name="T5" fmla="*/ T4 w 21033"/>
                  <a:gd name="T6" fmla="+- 0 10798 277"/>
                  <a:gd name="T7" fmla="*/ 10798 h 21043"/>
                  <a:gd name="T8" fmla="+- 0 10804 288"/>
                  <a:gd name="T9" fmla="*/ T8 w 21033"/>
                  <a:gd name="T10" fmla="+- 0 10798 277"/>
                  <a:gd name="T11" fmla="*/ 10798 h 21043"/>
                  <a:gd name="T12" fmla="+- 0 10804 288"/>
                  <a:gd name="T13" fmla="*/ T12 w 21033"/>
                  <a:gd name="T14" fmla="+- 0 10798 277"/>
                  <a:gd name="T15" fmla="*/ 10798 h 21043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</a:cxnLst>
                <a:rect l="0" t="0" r="r" b="b"/>
                <a:pathLst>
                  <a:path w="21033" h="21043">
                    <a:moveTo>
                      <a:pt x="20881" y="2825"/>
                    </a:moveTo>
                    <a:cubicBezTo>
                      <a:pt x="21312" y="1771"/>
                      <a:pt x="20787" y="572"/>
                      <a:pt x="19713" y="149"/>
                    </a:cubicBezTo>
                    <a:cubicBezTo>
                      <a:pt x="18636" y="-277"/>
                      <a:pt x="17414" y="238"/>
                      <a:pt x="16984" y="1296"/>
                    </a:cubicBezTo>
                    <a:lnTo>
                      <a:pt x="16980" y="1292"/>
                    </a:lnTo>
                    <a:cubicBezTo>
                      <a:pt x="13964" y="8692"/>
                      <a:pt x="8182" y="14184"/>
                      <a:pt x="1269" y="17089"/>
                    </a:cubicBezTo>
                    <a:cubicBezTo>
                      <a:pt x="207" y="17536"/>
                      <a:pt x="-288" y="18747"/>
                      <a:pt x="170" y="19789"/>
                    </a:cubicBezTo>
                    <a:cubicBezTo>
                      <a:pt x="629" y="20840"/>
                      <a:pt x="1863" y="21323"/>
                      <a:pt x="2924" y="20876"/>
                    </a:cubicBezTo>
                    <a:cubicBezTo>
                      <a:pt x="2961" y="20860"/>
                      <a:pt x="2982" y="20828"/>
                      <a:pt x="3014" y="20815"/>
                    </a:cubicBezTo>
                    <a:cubicBezTo>
                      <a:pt x="10874" y="17480"/>
                      <a:pt x="17451" y="11227"/>
                      <a:pt x="20877" y="2825"/>
                    </a:cubicBezTo>
                    <a:cubicBezTo>
                      <a:pt x="20877" y="2825"/>
                      <a:pt x="20881" y="2825"/>
                      <a:pt x="20881" y="2825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lIns="19050" tIns="19050" rIns="19050" bIns="19050" anchor="ctr"/>
              <a:lstStyle/>
              <a:p>
                <a:pPr marL="0" marR="0" lvl="0" indent="0" algn="ctr" defTabSz="2286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sym typeface="Gill Sans" charset="0"/>
                </a:endParaRPr>
              </a:p>
            </p:txBody>
          </p:sp>
          <p:sp>
            <p:nvSpPr>
              <p:cNvPr id="29" name="AutoShape 11"/>
              <p:cNvSpPr/>
              <p:nvPr/>
            </p:nvSpPr>
            <p:spPr bwMode="auto">
              <a:xfrm>
                <a:off x="9435307" y="4725988"/>
                <a:ext cx="103981" cy="106363"/>
              </a:xfrm>
              <a:custGeom>
                <a:avLst/>
                <a:gdLst>
                  <a:gd name="T0" fmla="+- 0 10803 203"/>
                  <a:gd name="T1" fmla="*/ T0 w 21201"/>
                  <a:gd name="T2" fmla="+- 0 10798 194"/>
                  <a:gd name="T3" fmla="*/ 10798 h 21209"/>
                  <a:gd name="T4" fmla="+- 0 10803 203"/>
                  <a:gd name="T5" fmla="*/ T4 w 21201"/>
                  <a:gd name="T6" fmla="+- 0 10798 194"/>
                  <a:gd name="T7" fmla="*/ 10798 h 21209"/>
                  <a:gd name="T8" fmla="+- 0 10803 203"/>
                  <a:gd name="T9" fmla="*/ T8 w 21201"/>
                  <a:gd name="T10" fmla="+- 0 10798 194"/>
                  <a:gd name="T11" fmla="*/ 10798 h 21209"/>
                  <a:gd name="T12" fmla="+- 0 10803 203"/>
                  <a:gd name="T13" fmla="*/ T12 w 21201"/>
                  <a:gd name="T14" fmla="+- 0 10798 194"/>
                  <a:gd name="T15" fmla="*/ 10798 h 21209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</a:cxnLst>
                <a:rect l="0" t="0" r="r" b="b"/>
                <a:pathLst>
                  <a:path w="21201" h="21209">
                    <a:moveTo>
                      <a:pt x="20267" y="104"/>
                    </a:moveTo>
                    <a:cubicBezTo>
                      <a:pt x="19508" y="-194"/>
                      <a:pt x="18645" y="169"/>
                      <a:pt x="18339" y="912"/>
                    </a:cubicBezTo>
                    <a:cubicBezTo>
                      <a:pt x="14991" y="9110"/>
                      <a:pt x="8568" y="15198"/>
                      <a:pt x="894" y="18420"/>
                    </a:cubicBezTo>
                    <a:cubicBezTo>
                      <a:pt x="144" y="18735"/>
                      <a:pt x="-203" y="19589"/>
                      <a:pt x="121" y="20327"/>
                    </a:cubicBezTo>
                    <a:cubicBezTo>
                      <a:pt x="442" y="21068"/>
                      <a:pt x="1314" y="21406"/>
                      <a:pt x="2067" y="21090"/>
                    </a:cubicBezTo>
                    <a:cubicBezTo>
                      <a:pt x="2102" y="21073"/>
                      <a:pt x="2125" y="21042"/>
                      <a:pt x="2159" y="21025"/>
                    </a:cubicBezTo>
                    <a:cubicBezTo>
                      <a:pt x="10491" y="17500"/>
                      <a:pt x="17461" y="10881"/>
                      <a:pt x="21095" y="1994"/>
                    </a:cubicBezTo>
                    <a:cubicBezTo>
                      <a:pt x="21397" y="1250"/>
                      <a:pt x="21026" y="404"/>
                      <a:pt x="20267" y="104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lIns="19050" tIns="19050" rIns="19050" bIns="19050" anchor="ctr"/>
              <a:lstStyle/>
              <a:p>
                <a:pPr marL="0" marR="0" lvl="0" indent="0" algn="ctr" defTabSz="2286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sym typeface="Gill Sans" charset="0"/>
                </a:endParaRPr>
              </a:p>
            </p:txBody>
          </p:sp>
          <p:sp>
            <p:nvSpPr>
              <p:cNvPr id="30" name="AutoShape 12"/>
              <p:cNvSpPr/>
              <p:nvPr/>
            </p:nvSpPr>
            <p:spPr bwMode="auto">
              <a:xfrm>
                <a:off x="9421019" y="4711700"/>
                <a:ext cx="88106" cy="89694"/>
              </a:xfrm>
              <a:custGeom>
                <a:avLst/>
                <a:gdLst>
                  <a:gd name="T0" fmla="+- 0 10802 238"/>
                  <a:gd name="T1" fmla="*/ T0 w 21128"/>
                  <a:gd name="T2" fmla="+- 0 10797 227"/>
                  <a:gd name="T3" fmla="*/ 10797 h 21141"/>
                  <a:gd name="T4" fmla="+- 0 10802 238"/>
                  <a:gd name="T5" fmla="*/ T4 w 21128"/>
                  <a:gd name="T6" fmla="+- 0 10797 227"/>
                  <a:gd name="T7" fmla="*/ 10797 h 21141"/>
                  <a:gd name="T8" fmla="+- 0 10802 238"/>
                  <a:gd name="T9" fmla="*/ T8 w 21128"/>
                  <a:gd name="T10" fmla="+- 0 10797 227"/>
                  <a:gd name="T11" fmla="*/ 10797 h 21141"/>
                  <a:gd name="T12" fmla="+- 0 10802 238"/>
                  <a:gd name="T13" fmla="*/ T12 w 21128"/>
                  <a:gd name="T14" fmla="+- 0 10797 227"/>
                  <a:gd name="T15" fmla="*/ 10797 h 21141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</a:cxnLst>
                <a:rect l="0" t="0" r="r" b="b"/>
                <a:pathLst>
                  <a:path w="21128" h="21141">
                    <a:moveTo>
                      <a:pt x="20035" y="122"/>
                    </a:moveTo>
                    <a:cubicBezTo>
                      <a:pt x="19142" y="-227"/>
                      <a:pt x="18134" y="195"/>
                      <a:pt x="17778" y="1071"/>
                    </a:cubicBezTo>
                    <a:cubicBezTo>
                      <a:pt x="14571" y="8936"/>
                      <a:pt x="8412" y="14778"/>
                      <a:pt x="1051" y="17867"/>
                    </a:cubicBezTo>
                    <a:lnTo>
                      <a:pt x="1054" y="17867"/>
                    </a:lnTo>
                    <a:cubicBezTo>
                      <a:pt x="172" y="18240"/>
                      <a:pt x="-238" y="19242"/>
                      <a:pt x="142" y="20108"/>
                    </a:cubicBezTo>
                    <a:cubicBezTo>
                      <a:pt x="522" y="20973"/>
                      <a:pt x="1543" y="21372"/>
                      <a:pt x="2425" y="21003"/>
                    </a:cubicBezTo>
                    <a:cubicBezTo>
                      <a:pt x="2459" y="20986"/>
                      <a:pt x="2476" y="20956"/>
                      <a:pt x="2514" y="20936"/>
                    </a:cubicBezTo>
                    <a:cubicBezTo>
                      <a:pt x="10651" y="17491"/>
                      <a:pt x="17459" y="11027"/>
                      <a:pt x="21002" y="2339"/>
                    </a:cubicBezTo>
                    <a:cubicBezTo>
                      <a:pt x="21361" y="1463"/>
                      <a:pt x="20927" y="472"/>
                      <a:pt x="20035" y="122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lIns="19050" tIns="19050" rIns="19050" bIns="19050" anchor="ctr"/>
              <a:lstStyle/>
              <a:p>
                <a:pPr marL="0" marR="0" lvl="0" indent="0" algn="ctr" defTabSz="2286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sym typeface="Gill Sans" charset="0"/>
                </a:endParaRPr>
              </a:p>
            </p:txBody>
          </p:sp>
          <p:sp>
            <p:nvSpPr>
              <p:cNvPr id="31" name="AutoShape 13"/>
              <p:cNvSpPr/>
              <p:nvPr/>
            </p:nvSpPr>
            <p:spPr bwMode="auto">
              <a:xfrm>
                <a:off x="9275763" y="4566444"/>
                <a:ext cx="73025" cy="73819"/>
              </a:xfrm>
              <a:custGeom>
                <a:avLst/>
                <a:gdLst>
                  <a:gd name="T0" fmla="+- 0 10797 278"/>
                  <a:gd name="T1" fmla="*/ T0 w 21039"/>
                  <a:gd name="T2" fmla="+- 0 10803 281"/>
                  <a:gd name="T3" fmla="*/ 10803 h 21044"/>
                  <a:gd name="T4" fmla="+- 0 10797 278"/>
                  <a:gd name="T5" fmla="*/ T4 w 21039"/>
                  <a:gd name="T6" fmla="+- 0 10803 281"/>
                  <a:gd name="T7" fmla="*/ 10803 h 21044"/>
                  <a:gd name="T8" fmla="+- 0 10797 278"/>
                  <a:gd name="T9" fmla="*/ T8 w 21039"/>
                  <a:gd name="T10" fmla="+- 0 10803 281"/>
                  <a:gd name="T11" fmla="*/ 10803 h 21044"/>
                  <a:gd name="T12" fmla="+- 0 10797 278"/>
                  <a:gd name="T13" fmla="*/ T12 w 21039"/>
                  <a:gd name="T14" fmla="+- 0 10803 281"/>
                  <a:gd name="T15" fmla="*/ 10803 h 21044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</a:cxnLst>
                <a:rect l="0" t="0" r="r" b="b"/>
                <a:pathLst>
                  <a:path w="21039" h="21044">
                    <a:moveTo>
                      <a:pt x="20871" y="1248"/>
                    </a:moveTo>
                    <a:cubicBezTo>
                      <a:pt x="20411" y="197"/>
                      <a:pt x="19177" y="-281"/>
                      <a:pt x="18112" y="169"/>
                    </a:cubicBezTo>
                    <a:cubicBezTo>
                      <a:pt x="18075" y="181"/>
                      <a:pt x="18050" y="214"/>
                      <a:pt x="18021" y="226"/>
                    </a:cubicBezTo>
                    <a:cubicBezTo>
                      <a:pt x="10159" y="3562"/>
                      <a:pt x="3583" y="9820"/>
                      <a:pt x="152" y="18220"/>
                    </a:cubicBezTo>
                    <a:lnTo>
                      <a:pt x="148" y="18220"/>
                    </a:lnTo>
                    <a:cubicBezTo>
                      <a:pt x="-278" y="19278"/>
                      <a:pt x="242" y="20473"/>
                      <a:pt x="1320" y="20896"/>
                    </a:cubicBezTo>
                    <a:cubicBezTo>
                      <a:pt x="2398" y="21318"/>
                      <a:pt x="3620" y="20803"/>
                      <a:pt x="4046" y="19749"/>
                    </a:cubicBezTo>
                    <a:lnTo>
                      <a:pt x="4051" y="19749"/>
                    </a:lnTo>
                    <a:cubicBezTo>
                      <a:pt x="7068" y="12356"/>
                      <a:pt x="12856" y="6858"/>
                      <a:pt x="19764" y="3956"/>
                    </a:cubicBezTo>
                    <a:cubicBezTo>
                      <a:pt x="20830" y="3506"/>
                      <a:pt x="21322" y="2298"/>
                      <a:pt x="20871" y="1248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lIns="19050" tIns="19050" rIns="19050" bIns="19050" anchor="ctr"/>
              <a:lstStyle/>
              <a:p>
                <a:pPr marL="0" marR="0" lvl="0" indent="0" algn="ctr" defTabSz="2286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sym typeface="Gill Sans" charset="0"/>
                </a:endParaRPr>
              </a:p>
            </p:txBody>
          </p:sp>
          <p:sp>
            <p:nvSpPr>
              <p:cNvPr id="32" name="AutoShape 14"/>
              <p:cNvSpPr/>
              <p:nvPr/>
            </p:nvSpPr>
            <p:spPr bwMode="auto">
              <a:xfrm>
                <a:off x="9217819" y="4508500"/>
                <a:ext cx="103981" cy="105569"/>
              </a:xfrm>
              <a:custGeom>
                <a:avLst/>
                <a:gdLst>
                  <a:gd name="T0" fmla="+- 0 10797 198"/>
                  <a:gd name="T1" fmla="*/ T0 w 21199"/>
                  <a:gd name="T2" fmla="+- 0 10802 198"/>
                  <a:gd name="T3" fmla="*/ 10802 h 21208"/>
                  <a:gd name="T4" fmla="+- 0 10797 198"/>
                  <a:gd name="T5" fmla="*/ T4 w 21199"/>
                  <a:gd name="T6" fmla="+- 0 10802 198"/>
                  <a:gd name="T7" fmla="*/ 10802 h 21208"/>
                  <a:gd name="T8" fmla="+- 0 10797 198"/>
                  <a:gd name="T9" fmla="*/ T8 w 21199"/>
                  <a:gd name="T10" fmla="+- 0 10802 198"/>
                  <a:gd name="T11" fmla="*/ 10802 h 21208"/>
                  <a:gd name="T12" fmla="+- 0 10797 198"/>
                  <a:gd name="T13" fmla="*/ T12 w 21199"/>
                  <a:gd name="T14" fmla="+- 0 10802 198"/>
                  <a:gd name="T15" fmla="*/ 10802 h 21208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</a:cxnLst>
                <a:rect l="0" t="0" r="r" b="b"/>
                <a:pathLst>
                  <a:path w="21199" h="21208">
                    <a:moveTo>
                      <a:pt x="21077" y="880"/>
                    </a:moveTo>
                    <a:cubicBezTo>
                      <a:pt x="20753" y="142"/>
                      <a:pt x="19881" y="-198"/>
                      <a:pt x="19129" y="117"/>
                    </a:cubicBezTo>
                    <a:cubicBezTo>
                      <a:pt x="19097" y="131"/>
                      <a:pt x="19071" y="162"/>
                      <a:pt x="19039" y="179"/>
                    </a:cubicBezTo>
                    <a:cubicBezTo>
                      <a:pt x="10706" y="3707"/>
                      <a:pt x="3739" y="10322"/>
                      <a:pt x="106" y="19208"/>
                    </a:cubicBezTo>
                    <a:cubicBezTo>
                      <a:pt x="-198" y="19957"/>
                      <a:pt x="172" y="20803"/>
                      <a:pt x="934" y="21101"/>
                    </a:cubicBezTo>
                    <a:cubicBezTo>
                      <a:pt x="1689" y="21401"/>
                      <a:pt x="2552" y="21041"/>
                      <a:pt x="2859" y="20292"/>
                    </a:cubicBezTo>
                    <a:cubicBezTo>
                      <a:pt x="6206" y="12096"/>
                      <a:pt x="12625" y="6008"/>
                      <a:pt x="20301" y="2787"/>
                    </a:cubicBezTo>
                    <a:cubicBezTo>
                      <a:pt x="21051" y="2469"/>
                      <a:pt x="21402" y="1618"/>
                      <a:pt x="21077" y="880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lIns="19050" tIns="19050" rIns="19050" bIns="19050" anchor="ctr"/>
              <a:lstStyle/>
              <a:p>
                <a:pPr marL="0" marR="0" lvl="0" indent="0" algn="ctr" defTabSz="2286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sym typeface="Gill Sans" charset="0"/>
                </a:endParaRPr>
              </a:p>
            </p:txBody>
          </p:sp>
          <p:sp>
            <p:nvSpPr>
              <p:cNvPr id="33" name="AutoShape 15"/>
              <p:cNvSpPr/>
              <p:nvPr/>
            </p:nvSpPr>
            <p:spPr bwMode="auto">
              <a:xfrm>
                <a:off x="9247188" y="4537075"/>
                <a:ext cx="88107" cy="90488"/>
              </a:xfrm>
              <a:custGeom>
                <a:avLst/>
                <a:gdLst>
                  <a:gd name="T0" fmla="+- 0 10796 232"/>
                  <a:gd name="T1" fmla="*/ T0 w 21129"/>
                  <a:gd name="T2" fmla="+- 0 10804 234"/>
                  <a:gd name="T3" fmla="*/ 10804 h 21141"/>
                  <a:gd name="T4" fmla="+- 0 10796 232"/>
                  <a:gd name="T5" fmla="*/ T4 w 21129"/>
                  <a:gd name="T6" fmla="+- 0 10804 234"/>
                  <a:gd name="T7" fmla="*/ 10804 h 21141"/>
                  <a:gd name="T8" fmla="+- 0 10796 232"/>
                  <a:gd name="T9" fmla="*/ T8 w 21129"/>
                  <a:gd name="T10" fmla="+- 0 10804 234"/>
                  <a:gd name="T11" fmla="*/ 10804 h 21141"/>
                  <a:gd name="T12" fmla="+- 0 10796 232"/>
                  <a:gd name="T13" fmla="*/ T12 w 21129"/>
                  <a:gd name="T14" fmla="+- 0 10804 234"/>
                  <a:gd name="T15" fmla="*/ 10804 h 21141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</a:cxnLst>
                <a:rect l="0" t="0" r="r" b="b"/>
                <a:pathLst>
                  <a:path w="21129" h="21141">
                    <a:moveTo>
                      <a:pt x="20075" y="3267"/>
                    </a:moveTo>
                    <a:cubicBezTo>
                      <a:pt x="20953" y="2898"/>
                      <a:pt x="21368" y="1899"/>
                      <a:pt x="20987" y="1030"/>
                    </a:cubicBezTo>
                    <a:cubicBezTo>
                      <a:pt x="20611" y="168"/>
                      <a:pt x="19589" y="-234"/>
                      <a:pt x="18707" y="138"/>
                    </a:cubicBezTo>
                    <a:cubicBezTo>
                      <a:pt x="18670" y="152"/>
                      <a:pt x="18649" y="185"/>
                      <a:pt x="18615" y="198"/>
                    </a:cubicBezTo>
                    <a:cubicBezTo>
                      <a:pt x="10481" y="3647"/>
                      <a:pt x="3673" y="10118"/>
                      <a:pt x="124" y="18802"/>
                    </a:cubicBezTo>
                    <a:cubicBezTo>
                      <a:pt x="-232" y="19678"/>
                      <a:pt x="205" y="20666"/>
                      <a:pt x="1094" y="21019"/>
                    </a:cubicBezTo>
                    <a:cubicBezTo>
                      <a:pt x="1983" y="21366"/>
                      <a:pt x="2991" y="20946"/>
                      <a:pt x="3354" y="20071"/>
                    </a:cubicBezTo>
                    <a:cubicBezTo>
                      <a:pt x="6561" y="12205"/>
                      <a:pt x="12717" y="6360"/>
                      <a:pt x="20075" y="3274"/>
                    </a:cubicBezTo>
                    <a:cubicBezTo>
                      <a:pt x="20075" y="3274"/>
                      <a:pt x="20075" y="3267"/>
                      <a:pt x="20075" y="3267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lIns="19050" tIns="19050" rIns="19050" bIns="19050" anchor="ctr"/>
              <a:lstStyle/>
              <a:p>
                <a:pPr marL="0" marR="0" lvl="0" indent="0" algn="ctr" defTabSz="2286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sym typeface="Gill Sans" charset="0"/>
                </a:endParaRPr>
              </a:p>
            </p:txBody>
          </p:sp>
        </p:grpSp>
      </p:grpSp>
      <p:grpSp>
        <p:nvGrpSpPr>
          <p:cNvPr id="34" name="Group 28"/>
          <p:cNvGrpSpPr/>
          <p:nvPr/>
        </p:nvGrpSpPr>
        <p:grpSpPr>
          <a:xfrm>
            <a:off x="706438" y="1592263"/>
            <a:ext cx="914400" cy="914400"/>
            <a:chOff x="1253782" y="1885071"/>
            <a:chExt cx="914400" cy="914400"/>
          </a:xfrm>
        </p:grpSpPr>
        <p:sp>
          <p:nvSpPr>
            <p:cNvPr id="35" name="Rounded Rectangle 4"/>
            <p:cNvSpPr/>
            <p:nvPr/>
          </p:nvSpPr>
          <p:spPr>
            <a:xfrm>
              <a:off x="1253782" y="1885071"/>
              <a:ext cx="914400" cy="914400"/>
            </a:xfrm>
            <a:prstGeom prst="roundRect">
              <a:avLst/>
            </a:prstGeom>
            <a:solidFill>
              <a:srgbClr val="4F81BD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36" name="Group 80"/>
            <p:cNvGrpSpPr/>
            <p:nvPr/>
          </p:nvGrpSpPr>
          <p:grpSpPr>
            <a:xfrm>
              <a:off x="1551438" y="2110099"/>
              <a:ext cx="319088" cy="465138"/>
              <a:chOff x="3582988" y="3510757"/>
              <a:chExt cx="319088" cy="465138"/>
            </a:xfrm>
            <a:solidFill>
              <a:srgbClr val="EEECE1"/>
            </a:solidFill>
          </p:grpSpPr>
          <p:sp>
            <p:nvSpPr>
              <p:cNvPr id="37" name="AutoShape 113"/>
              <p:cNvSpPr/>
              <p:nvPr/>
            </p:nvSpPr>
            <p:spPr bwMode="auto">
              <a:xfrm>
                <a:off x="3582988" y="3510757"/>
                <a:ext cx="319088" cy="465138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5386" y="14175"/>
                    </a:moveTo>
                    <a:lnTo>
                      <a:pt x="6223" y="14175"/>
                    </a:lnTo>
                    <a:cubicBezTo>
                      <a:pt x="5734" y="13446"/>
                      <a:pt x="5147" y="12716"/>
                      <a:pt x="4568" y="12003"/>
                    </a:cubicBezTo>
                    <a:cubicBezTo>
                      <a:pt x="3287" y="10427"/>
                      <a:pt x="1963" y="8797"/>
                      <a:pt x="1963" y="7425"/>
                    </a:cubicBezTo>
                    <a:cubicBezTo>
                      <a:pt x="1963" y="4075"/>
                      <a:pt x="5927" y="1350"/>
                      <a:pt x="10800" y="1350"/>
                    </a:cubicBezTo>
                    <a:cubicBezTo>
                      <a:pt x="15672" y="1350"/>
                      <a:pt x="19636" y="4075"/>
                      <a:pt x="19636" y="7425"/>
                    </a:cubicBezTo>
                    <a:cubicBezTo>
                      <a:pt x="19636" y="8787"/>
                      <a:pt x="18312" y="10425"/>
                      <a:pt x="17029" y="12011"/>
                    </a:cubicBezTo>
                    <a:cubicBezTo>
                      <a:pt x="16455" y="12723"/>
                      <a:pt x="15873" y="13449"/>
                      <a:pt x="15386" y="14175"/>
                    </a:cubicBezTo>
                    <a:moveTo>
                      <a:pt x="10800" y="20249"/>
                    </a:moveTo>
                    <a:cubicBezTo>
                      <a:pt x="9805" y="20249"/>
                      <a:pt x="9347" y="20171"/>
                      <a:pt x="8839" y="19406"/>
                    </a:cubicBezTo>
                    <a:lnTo>
                      <a:pt x="13000" y="19048"/>
                    </a:lnTo>
                    <a:cubicBezTo>
                      <a:pt x="12398" y="20164"/>
                      <a:pt x="11959" y="20249"/>
                      <a:pt x="10800" y="20249"/>
                    </a:cubicBezTo>
                    <a:moveTo>
                      <a:pt x="7595" y="16813"/>
                    </a:moveTo>
                    <a:cubicBezTo>
                      <a:pt x="7417" y="16407"/>
                      <a:pt x="7215" y="15978"/>
                      <a:pt x="6991" y="15525"/>
                    </a:cubicBezTo>
                    <a:lnTo>
                      <a:pt x="14616" y="15525"/>
                    </a:lnTo>
                    <a:cubicBezTo>
                      <a:pt x="14496" y="15767"/>
                      <a:pt x="14375" y="16010"/>
                      <a:pt x="14270" y="16239"/>
                    </a:cubicBezTo>
                    <a:cubicBezTo>
                      <a:pt x="14270" y="16239"/>
                      <a:pt x="7595" y="16813"/>
                      <a:pt x="7595" y="16813"/>
                    </a:cubicBezTo>
                    <a:close/>
                    <a:moveTo>
                      <a:pt x="13345" y="18343"/>
                    </a:moveTo>
                    <a:lnTo>
                      <a:pt x="8476" y="18762"/>
                    </a:lnTo>
                    <a:cubicBezTo>
                      <a:pt x="8303" y="18416"/>
                      <a:pt x="8116" y="18011"/>
                      <a:pt x="7890" y="17483"/>
                    </a:cubicBezTo>
                    <a:cubicBezTo>
                      <a:pt x="7887" y="17477"/>
                      <a:pt x="7883" y="17469"/>
                      <a:pt x="7881" y="17462"/>
                    </a:cubicBezTo>
                    <a:lnTo>
                      <a:pt x="13957" y="16941"/>
                    </a:lnTo>
                    <a:cubicBezTo>
                      <a:pt x="13871" y="17140"/>
                      <a:pt x="13778" y="17350"/>
                      <a:pt x="13698" y="17537"/>
                    </a:cubicBezTo>
                    <a:cubicBezTo>
                      <a:pt x="13569" y="17841"/>
                      <a:pt x="13453" y="18104"/>
                      <a:pt x="13345" y="18343"/>
                    </a:cubicBezTo>
                    <a:moveTo>
                      <a:pt x="10800" y="0"/>
                    </a:moveTo>
                    <a:cubicBezTo>
                      <a:pt x="4835" y="0"/>
                      <a:pt x="0" y="3324"/>
                      <a:pt x="0" y="7425"/>
                    </a:cubicBezTo>
                    <a:cubicBezTo>
                      <a:pt x="0" y="10146"/>
                      <a:pt x="3621" y="13029"/>
                      <a:pt x="4939" y="15562"/>
                    </a:cubicBezTo>
                    <a:cubicBezTo>
                      <a:pt x="6906" y="19339"/>
                      <a:pt x="6688" y="21599"/>
                      <a:pt x="10800" y="21599"/>
                    </a:cubicBezTo>
                    <a:cubicBezTo>
                      <a:pt x="14972" y="21599"/>
                      <a:pt x="14692" y="19349"/>
                      <a:pt x="16660" y="15577"/>
                    </a:cubicBezTo>
                    <a:cubicBezTo>
                      <a:pt x="17983" y="13039"/>
                      <a:pt x="21600" y="10124"/>
                      <a:pt x="21600" y="7425"/>
                    </a:cubicBezTo>
                    <a:cubicBezTo>
                      <a:pt x="21600" y="3324"/>
                      <a:pt x="16764" y="0"/>
                      <a:pt x="10800" y="0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lIns="19050" tIns="19050" rIns="19050" bIns="19050" anchor="ctr"/>
              <a:lstStyle/>
              <a:p>
                <a:pPr marL="0" marR="0" lvl="0" indent="0" algn="ctr" defTabSz="2286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sym typeface="Gill Sans" charset="0"/>
                </a:endParaRPr>
              </a:p>
            </p:txBody>
          </p:sp>
          <p:sp>
            <p:nvSpPr>
              <p:cNvPr id="38" name="AutoShape 114"/>
              <p:cNvSpPr/>
              <p:nvPr/>
            </p:nvSpPr>
            <p:spPr bwMode="auto">
              <a:xfrm>
                <a:off x="3655219" y="3583782"/>
                <a:ext cx="94456" cy="94456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9938" y="0"/>
                    </a:moveTo>
                    <a:cubicBezTo>
                      <a:pt x="8943" y="0"/>
                      <a:pt x="0" y="8942"/>
                      <a:pt x="0" y="19938"/>
                    </a:cubicBezTo>
                    <a:cubicBezTo>
                      <a:pt x="0" y="20855"/>
                      <a:pt x="743" y="21600"/>
                      <a:pt x="1661" y="21600"/>
                    </a:cubicBezTo>
                    <a:cubicBezTo>
                      <a:pt x="2579" y="21600"/>
                      <a:pt x="3323" y="20855"/>
                      <a:pt x="3323" y="19938"/>
                    </a:cubicBezTo>
                    <a:cubicBezTo>
                      <a:pt x="3323" y="10777"/>
                      <a:pt x="10777" y="3323"/>
                      <a:pt x="19938" y="3323"/>
                    </a:cubicBezTo>
                    <a:cubicBezTo>
                      <a:pt x="20856" y="3323"/>
                      <a:pt x="21600" y="2578"/>
                      <a:pt x="21600" y="1661"/>
                    </a:cubicBezTo>
                    <a:cubicBezTo>
                      <a:pt x="21600" y="744"/>
                      <a:pt x="20856" y="0"/>
                      <a:pt x="19938" y="0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lIns="19050" tIns="19050" rIns="19050" bIns="19050" anchor="ctr"/>
              <a:lstStyle/>
              <a:p>
                <a:pPr marL="0" marR="0" lvl="0" indent="0" algn="ctr" defTabSz="2286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sym typeface="Gill Sans" charset="0"/>
                </a:endParaRPr>
              </a:p>
            </p:txBody>
          </p:sp>
        </p:grpSp>
      </p:grpSp>
      <p:cxnSp>
        <p:nvCxnSpPr>
          <p:cNvPr id="3" name="直接连接符 2"/>
          <p:cNvCxnSpPr/>
          <p:nvPr/>
        </p:nvCxnSpPr>
        <p:spPr>
          <a:xfrm>
            <a:off x="769938" y="3635375"/>
            <a:ext cx="7777162" cy="0"/>
          </a:xfrm>
          <a:prstGeom prst="line">
            <a:avLst/>
          </a:prstGeom>
          <a:ln w="9525" cap="flat" cmpd="sng">
            <a:solidFill>
              <a:srgbClr val="D5D5D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2" name="直接连接符 41"/>
          <p:cNvCxnSpPr/>
          <p:nvPr/>
        </p:nvCxnSpPr>
        <p:spPr>
          <a:xfrm>
            <a:off x="706438" y="5994400"/>
            <a:ext cx="7777162" cy="0"/>
          </a:xfrm>
          <a:prstGeom prst="line">
            <a:avLst/>
          </a:prstGeom>
          <a:ln w="9525" cap="flat" cmpd="sng">
            <a:solidFill>
              <a:srgbClr val="D5D5D5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649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649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649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649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4"/>
          <p:cNvSpPr>
            <a:spLocks noChangeArrowheads="1"/>
          </p:cNvSpPr>
          <p:nvPr/>
        </p:nvSpPr>
        <p:spPr bwMode="auto">
          <a:xfrm>
            <a:off x="827088" y="1066800"/>
            <a:ext cx="3448050" cy="57943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链地址法的优点：</a:t>
            </a:r>
          </a:p>
        </p:txBody>
      </p:sp>
      <p:sp>
        <p:nvSpPr>
          <p:cNvPr id="1029125" name="Rectangle 5"/>
          <p:cNvSpPr>
            <a:spLocks noChangeArrowheads="1"/>
          </p:cNvSpPr>
          <p:nvPr/>
        </p:nvSpPr>
        <p:spPr bwMode="auto">
          <a:xfrm>
            <a:off x="1944688" y="2154238"/>
            <a:ext cx="6692900" cy="23622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25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非同义词不会冲突，无“聚集”现象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0" algn="just" defTabSz="914400" rtl="0" eaLnBrk="0" fontAlgn="base" latinLnBrk="0" hangingPunct="0">
              <a:lnSpc>
                <a:spcPct val="125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0" algn="just" defTabSz="914400" rtl="0" eaLnBrk="0" fontAlgn="base" latinLnBrk="0" hangingPunct="0">
              <a:lnSpc>
                <a:spcPct val="125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链表上结点空间动态申请，更适合于表长不确定的情况</a:t>
            </a:r>
          </a:p>
        </p:txBody>
      </p:sp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827088" y="220663"/>
            <a:ext cx="5611813" cy="51593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链地址法建立哈希表步骤</a:t>
            </a:r>
          </a:p>
        </p:txBody>
      </p:sp>
      <p:grpSp>
        <p:nvGrpSpPr>
          <p:cNvPr id="6" name="Group 32"/>
          <p:cNvGrpSpPr/>
          <p:nvPr/>
        </p:nvGrpSpPr>
        <p:grpSpPr>
          <a:xfrm>
            <a:off x="827088" y="3346450"/>
            <a:ext cx="914400" cy="915988"/>
            <a:chOff x="6528170" y="3281715"/>
            <a:chExt cx="914400" cy="914400"/>
          </a:xfrm>
        </p:grpSpPr>
        <p:sp>
          <p:nvSpPr>
            <p:cNvPr id="7" name="Rounded Rectangle 8"/>
            <p:cNvSpPr/>
            <p:nvPr/>
          </p:nvSpPr>
          <p:spPr>
            <a:xfrm>
              <a:off x="6528170" y="3281715"/>
              <a:ext cx="914400" cy="914400"/>
            </a:xfrm>
            <a:prstGeom prst="roundRect">
              <a:avLst/>
            </a:prstGeom>
            <a:solidFill>
              <a:srgbClr val="4BACC6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8" name="Group 69"/>
            <p:cNvGrpSpPr/>
            <p:nvPr/>
          </p:nvGrpSpPr>
          <p:grpSpPr>
            <a:xfrm>
              <a:off x="6759757" y="3506346"/>
              <a:ext cx="464344" cy="465138"/>
              <a:chOff x="7287419" y="3505994"/>
              <a:chExt cx="464344" cy="465138"/>
            </a:xfrm>
            <a:solidFill>
              <a:srgbClr val="EEECE1"/>
            </a:solidFill>
          </p:grpSpPr>
          <p:sp>
            <p:nvSpPr>
              <p:cNvPr id="9" name="AutoShape 37"/>
              <p:cNvSpPr/>
              <p:nvPr/>
            </p:nvSpPr>
            <p:spPr bwMode="auto">
              <a:xfrm>
                <a:off x="7287419" y="3549650"/>
                <a:ext cx="423069" cy="421482"/>
              </a:xfrm>
              <a:custGeom>
                <a:avLst/>
                <a:gdLst>
                  <a:gd name="T0" fmla="+- 0 10849 98"/>
                  <a:gd name="T1" fmla="*/ T0 w 21502"/>
                  <a:gd name="T2" fmla="*/ 10800 h 21600"/>
                  <a:gd name="T3" fmla="+- 0 10849 98"/>
                  <a:gd name="T4" fmla="*/ T3 w 21502"/>
                  <a:gd name="T5" fmla="*/ 10800 h 21600"/>
                  <a:gd name="T6" fmla="+- 0 10849 98"/>
                  <a:gd name="T7" fmla="*/ T6 w 21502"/>
                  <a:gd name="T8" fmla="*/ 10800 h 21600"/>
                  <a:gd name="T9" fmla="+- 0 10849 98"/>
                  <a:gd name="T10" fmla="*/ T9 w 21502"/>
                  <a:gd name="T11" fmla="*/ 10800 h 21600"/>
                </a:gdLst>
                <a:ahLst/>
                <a:cxnLst>
                  <a:cxn ang="0">
                    <a:pos x="T1" y="T2"/>
                  </a:cxn>
                  <a:cxn ang="0">
                    <a:pos x="T4" y="T5"/>
                  </a:cxn>
                  <a:cxn ang="0">
                    <a:pos x="T7" y="T8"/>
                  </a:cxn>
                  <a:cxn ang="0">
                    <a:pos x="T10" y="T11"/>
                  </a:cxn>
                </a:cxnLst>
                <a:rect l="0" t="0" r="r" b="b"/>
                <a:pathLst>
                  <a:path w="21502" h="21600">
                    <a:moveTo>
                      <a:pt x="19917" y="7880"/>
                    </a:moveTo>
                    <a:lnTo>
                      <a:pt x="18875" y="8932"/>
                    </a:lnTo>
                    <a:cubicBezTo>
                      <a:pt x="18730" y="9079"/>
                      <a:pt x="18497" y="9079"/>
                      <a:pt x="18353" y="8932"/>
                    </a:cubicBezTo>
                    <a:lnTo>
                      <a:pt x="17048" y="7617"/>
                    </a:lnTo>
                    <a:lnTo>
                      <a:pt x="15991" y="10290"/>
                    </a:lnTo>
                    <a:lnTo>
                      <a:pt x="16080" y="10064"/>
                    </a:lnTo>
                    <a:cubicBezTo>
                      <a:pt x="13859" y="7826"/>
                      <a:pt x="11601" y="7544"/>
                      <a:pt x="9565" y="7291"/>
                    </a:cubicBezTo>
                    <a:cubicBezTo>
                      <a:pt x="8910" y="7210"/>
                      <a:pt x="8276" y="7126"/>
                      <a:pt x="7652" y="6990"/>
                    </a:cubicBezTo>
                    <a:lnTo>
                      <a:pt x="13918" y="4456"/>
                    </a:lnTo>
                    <a:lnTo>
                      <a:pt x="12652" y="3179"/>
                    </a:lnTo>
                    <a:cubicBezTo>
                      <a:pt x="12508" y="3033"/>
                      <a:pt x="12508" y="2798"/>
                      <a:pt x="12652" y="2652"/>
                    </a:cubicBezTo>
                    <a:lnTo>
                      <a:pt x="13695" y="1598"/>
                    </a:lnTo>
                    <a:cubicBezTo>
                      <a:pt x="13840" y="1453"/>
                      <a:pt x="14073" y="1453"/>
                      <a:pt x="14217" y="1598"/>
                    </a:cubicBezTo>
                    <a:lnTo>
                      <a:pt x="19917" y="7353"/>
                    </a:lnTo>
                    <a:cubicBezTo>
                      <a:pt x="20062" y="7499"/>
                      <a:pt x="20062" y="7734"/>
                      <a:pt x="19917" y="7880"/>
                    </a:cubicBezTo>
                    <a:moveTo>
                      <a:pt x="12292" y="19639"/>
                    </a:moveTo>
                    <a:cubicBezTo>
                      <a:pt x="12200" y="19872"/>
                      <a:pt x="11999" y="20044"/>
                      <a:pt x="11756" y="20095"/>
                    </a:cubicBezTo>
                    <a:cubicBezTo>
                      <a:pt x="11700" y="20106"/>
                      <a:pt x="11643" y="20111"/>
                      <a:pt x="11587" y="20110"/>
                    </a:cubicBezTo>
                    <a:cubicBezTo>
                      <a:pt x="11400" y="20105"/>
                      <a:pt x="11219" y="20030"/>
                      <a:pt x="11084" y="19892"/>
                    </a:cubicBezTo>
                    <a:lnTo>
                      <a:pt x="1692" y="10517"/>
                    </a:lnTo>
                    <a:cubicBezTo>
                      <a:pt x="1519" y="10343"/>
                      <a:pt x="1443" y="10094"/>
                      <a:pt x="1488" y="9852"/>
                    </a:cubicBezTo>
                    <a:cubicBezTo>
                      <a:pt x="1533" y="9610"/>
                      <a:pt x="1695" y="9407"/>
                      <a:pt x="1917" y="9308"/>
                    </a:cubicBezTo>
                    <a:lnTo>
                      <a:pt x="6505" y="7453"/>
                    </a:lnTo>
                    <a:cubicBezTo>
                      <a:pt x="9597" y="8490"/>
                      <a:pt x="12689" y="7491"/>
                      <a:pt x="15781" y="10821"/>
                    </a:cubicBezTo>
                    <a:cubicBezTo>
                      <a:pt x="15781" y="10821"/>
                      <a:pt x="12292" y="19639"/>
                      <a:pt x="12292" y="19639"/>
                    </a:cubicBezTo>
                    <a:close/>
                    <a:moveTo>
                      <a:pt x="15260" y="545"/>
                    </a:moveTo>
                    <a:cubicBezTo>
                      <a:pt x="14912" y="193"/>
                      <a:pt x="14449" y="0"/>
                      <a:pt x="13956" y="0"/>
                    </a:cubicBezTo>
                    <a:cubicBezTo>
                      <a:pt x="13463" y="0"/>
                      <a:pt x="13000" y="193"/>
                      <a:pt x="12651" y="546"/>
                    </a:cubicBezTo>
                    <a:lnTo>
                      <a:pt x="11610" y="1598"/>
                    </a:lnTo>
                    <a:cubicBezTo>
                      <a:pt x="11261" y="1949"/>
                      <a:pt x="11068" y="2417"/>
                      <a:pt x="11068" y="2915"/>
                    </a:cubicBezTo>
                    <a:cubicBezTo>
                      <a:pt x="11068" y="3265"/>
                      <a:pt x="11164" y="3601"/>
                      <a:pt x="11342" y="3893"/>
                    </a:cubicBezTo>
                    <a:lnTo>
                      <a:pt x="1324" y="7944"/>
                    </a:lnTo>
                    <a:cubicBezTo>
                      <a:pt x="654" y="8241"/>
                      <a:pt x="173" y="8851"/>
                      <a:pt x="38" y="9575"/>
                    </a:cubicBezTo>
                    <a:cubicBezTo>
                      <a:pt x="-98" y="10302"/>
                      <a:pt x="130" y="11048"/>
                      <a:pt x="654" y="11576"/>
                    </a:cubicBezTo>
                    <a:lnTo>
                      <a:pt x="10041" y="20946"/>
                    </a:lnTo>
                    <a:cubicBezTo>
                      <a:pt x="10445" y="21354"/>
                      <a:pt x="10982" y="21586"/>
                      <a:pt x="11549" y="21599"/>
                    </a:cubicBezTo>
                    <a:cubicBezTo>
                      <a:pt x="11562" y="21599"/>
                      <a:pt x="11593" y="21599"/>
                      <a:pt x="11605" y="21599"/>
                    </a:cubicBezTo>
                    <a:cubicBezTo>
                      <a:pt x="11754" y="21599"/>
                      <a:pt x="11906" y="21584"/>
                      <a:pt x="12056" y="21553"/>
                    </a:cubicBezTo>
                    <a:cubicBezTo>
                      <a:pt x="12789" y="21399"/>
                      <a:pt x="13390" y="20888"/>
                      <a:pt x="13662" y="20191"/>
                    </a:cubicBezTo>
                    <a:lnTo>
                      <a:pt x="17604" y="10229"/>
                    </a:lnTo>
                    <a:cubicBezTo>
                      <a:pt x="17902" y="10426"/>
                      <a:pt x="18250" y="10532"/>
                      <a:pt x="18613" y="10532"/>
                    </a:cubicBezTo>
                    <a:cubicBezTo>
                      <a:pt x="19107" y="10532"/>
                      <a:pt x="19570" y="10338"/>
                      <a:pt x="19918" y="9986"/>
                    </a:cubicBezTo>
                    <a:lnTo>
                      <a:pt x="20957" y="8937"/>
                    </a:lnTo>
                    <a:cubicBezTo>
                      <a:pt x="21308" y="8585"/>
                      <a:pt x="21502" y="8116"/>
                      <a:pt x="21502" y="7617"/>
                    </a:cubicBezTo>
                    <a:cubicBezTo>
                      <a:pt x="21502" y="7117"/>
                      <a:pt x="21308" y="6648"/>
                      <a:pt x="20961" y="6300"/>
                    </a:cubicBezTo>
                    <a:cubicBezTo>
                      <a:pt x="20961" y="6300"/>
                      <a:pt x="15260" y="545"/>
                      <a:pt x="15260" y="545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lIns="19050" tIns="19050" rIns="19050" bIns="19050" anchor="ctr"/>
              <a:lstStyle/>
              <a:p>
                <a:pPr marL="0" marR="0" lvl="0" indent="0" algn="ctr" defTabSz="2286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sym typeface="Gill Sans" charset="0"/>
                </a:endParaRPr>
              </a:p>
            </p:txBody>
          </p:sp>
          <p:sp>
            <p:nvSpPr>
              <p:cNvPr id="10" name="AutoShape 38"/>
              <p:cNvSpPr/>
              <p:nvPr/>
            </p:nvSpPr>
            <p:spPr bwMode="auto">
              <a:xfrm>
                <a:off x="7490619" y="3738563"/>
                <a:ext cx="72231" cy="73025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0800" y="4320"/>
                    </a:moveTo>
                    <a:cubicBezTo>
                      <a:pt x="14381" y="4320"/>
                      <a:pt x="17279" y="7222"/>
                      <a:pt x="17279" y="10800"/>
                    </a:cubicBezTo>
                    <a:cubicBezTo>
                      <a:pt x="17279" y="14377"/>
                      <a:pt x="14381" y="17279"/>
                      <a:pt x="10800" y="17279"/>
                    </a:cubicBezTo>
                    <a:cubicBezTo>
                      <a:pt x="7218" y="17279"/>
                      <a:pt x="4319" y="14377"/>
                      <a:pt x="4319" y="10800"/>
                    </a:cubicBezTo>
                    <a:cubicBezTo>
                      <a:pt x="4319" y="7222"/>
                      <a:pt x="7218" y="4320"/>
                      <a:pt x="10800" y="4320"/>
                    </a:cubicBezTo>
                    <a:moveTo>
                      <a:pt x="10800" y="21599"/>
                    </a:moveTo>
                    <a:cubicBezTo>
                      <a:pt x="16752" y="21599"/>
                      <a:pt x="21600" y="16756"/>
                      <a:pt x="21600" y="10800"/>
                    </a:cubicBezTo>
                    <a:cubicBezTo>
                      <a:pt x="21600" y="4843"/>
                      <a:pt x="16752" y="0"/>
                      <a:pt x="10800" y="0"/>
                    </a:cubicBezTo>
                    <a:cubicBezTo>
                      <a:pt x="4847" y="0"/>
                      <a:pt x="0" y="4843"/>
                      <a:pt x="0" y="10800"/>
                    </a:cubicBezTo>
                    <a:cubicBezTo>
                      <a:pt x="0" y="16756"/>
                      <a:pt x="4847" y="21599"/>
                      <a:pt x="10800" y="21599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lIns="19050" tIns="19050" rIns="19050" bIns="19050" anchor="ctr"/>
              <a:lstStyle/>
              <a:p>
                <a:pPr marL="0" marR="0" lvl="0" indent="0" algn="ctr" defTabSz="2286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sym typeface="Gill Sans" charset="0"/>
                </a:endParaRPr>
              </a:p>
            </p:txBody>
          </p:sp>
          <p:sp>
            <p:nvSpPr>
              <p:cNvPr id="11" name="AutoShape 39"/>
              <p:cNvSpPr/>
              <p:nvPr/>
            </p:nvSpPr>
            <p:spPr bwMode="auto">
              <a:xfrm>
                <a:off x="7679532" y="3505994"/>
                <a:ext cx="72231" cy="73025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0800" y="17279"/>
                    </a:moveTo>
                    <a:cubicBezTo>
                      <a:pt x="7218" y="17279"/>
                      <a:pt x="4320" y="14377"/>
                      <a:pt x="4320" y="10800"/>
                    </a:cubicBezTo>
                    <a:cubicBezTo>
                      <a:pt x="4320" y="7222"/>
                      <a:pt x="7218" y="4320"/>
                      <a:pt x="10800" y="4320"/>
                    </a:cubicBezTo>
                    <a:cubicBezTo>
                      <a:pt x="14381" y="4320"/>
                      <a:pt x="17280" y="7222"/>
                      <a:pt x="17280" y="10800"/>
                    </a:cubicBezTo>
                    <a:cubicBezTo>
                      <a:pt x="17280" y="14377"/>
                      <a:pt x="14381" y="17279"/>
                      <a:pt x="10800" y="17279"/>
                    </a:cubicBezTo>
                    <a:moveTo>
                      <a:pt x="10800" y="0"/>
                    </a:moveTo>
                    <a:cubicBezTo>
                      <a:pt x="4847" y="0"/>
                      <a:pt x="0" y="4843"/>
                      <a:pt x="0" y="10800"/>
                    </a:cubicBezTo>
                    <a:cubicBezTo>
                      <a:pt x="0" y="16756"/>
                      <a:pt x="4847" y="21599"/>
                      <a:pt x="10800" y="21599"/>
                    </a:cubicBezTo>
                    <a:cubicBezTo>
                      <a:pt x="16752" y="21599"/>
                      <a:pt x="21600" y="16756"/>
                      <a:pt x="21600" y="10800"/>
                    </a:cubicBezTo>
                    <a:cubicBezTo>
                      <a:pt x="21600" y="4843"/>
                      <a:pt x="16752" y="0"/>
                      <a:pt x="10800" y="0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lIns="19050" tIns="19050" rIns="19050" bIns="19050" anchor="ctr"/>
              <a:lstStyle/>
              <a:p>
                <a:pPr marL="0" marR="0" lvl="0" indent="0" algn="ctr" defTabSz="2286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sym typeface="Gill Sans" charset="0"/>
                </a:endParaRPr>
              </a:p>
            </p:txBody>
          </p:sp>
          <p:sp>
            <p:nvSpPr>
              <p:cNvPr id="12" name="AutoShape 40"/>
              <p:cNvSpPr/>
              <p:nvPr/>
            </p:nvSpPr>
            <p:spPr bwMode="auto">
              <a:xfrm>
                <a:off x="7403307" y="3724275"/>
                <a:ext cx="57944" cy="57944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0800" y="5400"/>
                    </a:moveTo>
                    <a:cubicBezTo>
                      <a:pt x="13779" y="5400"/>
                      <a:pt x="16199" y="7815"/>
                      <a:pt x="16199" y="10800"/>
                    </a:cubicBezTo>
                    <a:cubicBezTo>
                      <a:pt x="16199" y="13784"/>
                      <a:pt x="13779" y="16200"/>
                      <a:pt x="10800" y="16200"/>
                    </a:cubicBezTo>
                    <a:cubicBezTo>
                      <a:pt x="7820" y="16200"/>
                      <a:pt x="5399" y="13784"/>
                      <a:pt x="5399" y="10800"/>
                    </a:cubicBezTo>
                    <a:cubicBezTo>
                      <a:pt x="5399" y="7815"/>
                      <a:pt x="7820" y="5400"/>
                      <a:pt x="10800" y="5400"/>
                    </a:cubicBezTo>
                    <a:moveTo>
                      <a:pt x="0" y="10800"/>
                    </a:moveTo>
                    <a:cubicBezTo>
                      <a:pt x="0" y="16753"/>
                      <a:pt x="4843" y="21599"/>
                      <a:pt x="10800" y="21599"/>
                    </a:cubicBezTo>
                    <a:cubicBezTo>
                      <a:pt x="16756" y="21599"/>
                      <a:pt x="21600" y="16753"/>
                      <a:pt x="21600" y="10800"/>
                    </a:cubicBezTo>
                    <a:cubicBezTo>
                      <a:pt x="21600" y="4846"/>
                      <a:pt x="16756" y="0"/>
                      <a:pt x="10800" y="0"/>
                    </a:cubicBezTo>
                    <a:cubicBezTo>
                      <a:pt x="4843" y="0"/>
                      <a:pt x="0" y="4846"/>
                      <a:pt x="0" y="10800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lIns="19050" tIns="19050" rIns="19050" bIns="19050" anchor="ctr"/>
              <a:lstStyle/>
              <a:p>
                <a:pPr marL="0" marR="0" lvl="0" indent="0" algn="ctr" defTabSz="2286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sym typeface="Gill Sans" charset="0"/>
                </a:endParaRPr>
              </a:p>
            </p:txBody>
          </p:sp>
          <p:sp>
            <p:nvSpPr>
              <p:cNvPr id="13" name="AutoShape 41"/>
              <p:cNvSpPr/>
              <p:nvPr/>
            </p:nvSpPr>
            <p:spPr bwMode="auto">
              <a:xfrm>
                <a:off x="7461250" y="3825875"/>
                <a:ext cx="29369" cy="28575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0800" y="21599"/>
                    </a:moveTo>
                    <a:cubicBezTo>
                      <a:pt x="16758" y="21599"/>
                      <a:pt x="21600" y="16769"/>
                      <a:pt x="21600" y="10800"/>
                    </a:cubicBezTo>
                    <a:cubicBezTo>
                      <a:pt x="21600" y="4830"/>
                      <a:pt x="16758" y="0"/>
                      <a:pt x="10800" y="0"/>
                    </a:cubicBezTo>
                    <a:cubicBezTo>
                      <a:pt x="4841" y="0"/>
                      <a:pt x="0" y="4830"/>
                      <a:pt x="0" y="10800"/>
                    </a:cubicBezTo>
                    <a:cubicBezTo>
                      <a:pt x="0" y="16769"/>
                      <a:pt x="4841" y="21599"/>
                      <a:pt x="10800" y="21599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lIns="19050" tIns="19050" rIns="19050" bIns="19050" anchor="ctr"/>
              <a:lstStyle/>
              <a:p>
                <a:pPr marL="0" marR="0" lvl="0" indent="0" algn="ctr" defTabSz="2286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sym typeface="Gill Sans" charset="0"/>
                </a:endParaRPr>
              </a:p>
            </p:txBody>
          </p:sp>
          <p:sp>
            <p:nvSpPr>
              <p:cNvPr id="14" name="AutoShape 42"/>
              <p:cNvSpPr/>
              <p:nvPr/>
            </p:nvSpPr>
            <p:spPr bwMode="auto">
              <a:xfrm>
                <a:off x="7693819" y="3607594"/>
                <a:ext cx="28575" cy="29369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0800" y="0"/>
                    </a:moveTo>
                    <a:cubicBezTo>
                      <a:pt x="4841" y="0"/>
                      <a:pt x="0" y="4830"/>
                      <a:pt x="0" y="10800"/>
                    </a:cubicBezTo>
                    <a:cubicBezTo>
                      <a:pt x="0" y="16769"/>
                      <a:pt x="4841" y="21599"/>
                      <a:pt x="10800" y="21599"/>
                    </a:cubicBezTo>
                    <a:cubicBezTo>
                      <a:pt x="16758" y="21599"/>
                      <a:pt x="21600" y="16769"/>
                      <a:pt x="21600" y="10800"/>
                    </a:cubicBezTo>
                    <a:cubicBezTo>
                      <a:pt x="21600" y="4830"/>
                      <a:pt x="16758" y="0"/>
                      <a:pt x="10800" y="0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lIns="19050" tIns="19050" rIns="19050" bIns="19050" anchor="ctr"/>
              <a:lstStyle/>
              <a:p>
                <a:pPr marL="0" marR="0" lvl="0" indent="0" algn="ctr" defTabSz="2286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sym typeface="Gill Sans" charset="0"/>
                </a:endParaRPr>
              </a:p>
            </p:txBody>
          </p:sp>
        </p:grpSp>
      </p:grpSp>
      <p:grpSp>
        <p:nvGrpSpPr>
          <p:cNvPr id="15" name="Group 31"/>
          <p:cNvGrpSpPr/>
          <p:nvPr/>
        </p:nvGrpSpPr>
        <p:grpSpPr>
          <a:xfrm>
            <a:off x="827088" y="1949450"/>
            <a:ext cx="914400" cy="915988"/>
            <a:chOff x="6528170" y="1885071"/>
            <a:chExt cx="914400" cy="914400"/>
          </a:xfrm>
        </p:grpSpPr>
        <p:sp>
          <p:nvSpPr>
            <p:cNvPr id="16" name="Rounded Rectangle 7"/>
            <p:cNvSpPr/>
            <p:nvPr/>
          </p:nvSpPr>
          <p:spPr>
            <a:xfrm>
              <a:off x="6528170" y="1885071"/>
              <a:ext cx="914400" cy="914400"/>
            </a:xfrm>
            <a:prstGeom prst="roundRect">
              <a:avLst/>
            </a:prstGeom>
            <a:solidFill>
              <a:srgbClr val="8064A2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7" name="Group 83"/>
            <p:cNvGrpSpPr/>
            <p:nvPr/>
          </p:nvGrpSpPr>
          <p:grpSpPr>
            <a:xfrm>
              <a:off x="6758963" y="2110099"/>
              <a:ext cx="465138" cy="464344"/>
              <a:chOff x="2581275" y="2582069"/>
              <a:chExt cx="465138" cy="464344"/>
            </a:xfrm>
            <a:solidFill>
              <a:srgbClr val="EEECE1"/>
            </a:solidFill>
          </p:grpSpPr>
          <p:sp>
            <p:nvSpPr>
              <p:cNvPr id="18" name="AutoShape 128"/>
              <p:cNvSpPr/>
              <p:nvPr/>
            </p:nvSpPr>
            <p:spPr bwMode="auto">
              <a:xfrm>
                <a:off x="2581275" y="2582069"/>
                <a:ext cx="465138" cy="464344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4850" y="12150"/>
                    </a:moveTo>
                    <a:cubicBezTo>
                      <a:pt x="13851" y="12150"/>
                      <a:pt x="12926" y="11859"/>
                      <a:pt x="12124" y="11386"/>
                    </a:cubicBezTo>
                    <a:lnTo>
                      <a:pt x="11892" y="11618"/>
                    </a:lnTo>
                    <a:lnTo>
                      <a:pt x="11132" y="12377"/>
                    </a:lnTo>
                    <a:lnTo>
                      <a:pt x="9846" y="13663"/>
                    </a:lnTo>
                    <a:cubicBezTo>
                      <a:pt x="9593" y="13916"/>
                      <a:pt x="9451" y="14260"/>
                      <a:pt x="9451" y="14617"/>
                    </a:cubicBezTo>
                    <a:lnTo>
                      <a:pt x="9451" y="16200"/>
                    </a:lnTo>
                    <a:lnTo>
                      <a:pt x="8101" y="16200"/>
                    </a:lnTo>
                    <a:cubicBezTo>
                      <a:pt x="7356" y="16200"/>
                      <a:pt x="6751" y="16804"/>
                      <a:pt x="6751" y="17549"/>
                    </a:cubicBezTo>
                    <a:lnTo>
                      <a:pt x="6751" y="18900"/>
                    </a:lnTo>
                    <a:lnTo>
                      <a:pt x="5170" y="18900"/>
                    </a:lnTo>
                    <a:cubicBezTo>
                      <a:pt x="4812" y="18900"/>
                      <a:pt x="4469" y="19042"/>
                      <a:pt x="4216" y="19295"/>
                    </a:cubicBezTo>
                    <a:lnTo>
                      <a:pt x="3259" y="20252"/>
                    </a:lnTo>
                    <a:lnTo>
                      <a:pt x="1352" y="20249"/>
                    </a:lnTo>
                    <a:lnTo>
                      <a:pt x="1350" y="18326"/>
                    </a:lnTo>
                    <a:lnTo>
                      <a:pt x="9223" y="10467"/>
                    </a:lnTo>
                    <a:cubicBezTo>
                      <a:pt x="9223" y="10467"/>
                      <a:pt x="9223" y="10467"/>
                      <a:pt x="9224" y="10468"/>
                    </a:cubicBezTo>
                    <a:lnTo>
                      <a:pt x="10215" y="9477"/>
                    </a:lnTo>
                    <a:cubicBezTo>
                      <a:pt x="9741" y="8674"/>
                      <a:pt x="9451" y="7748"/>
                      <a:pt x="9451" y="6750"/>
                    </a:cubicBezTo>
                    <a:cubicBezTo>
                      <a:pt x="9451" y="3767"/>
                      <a:pt x="11869" y="1350"/>
                      <a:pt x="14850" y="1350"/>
                    </a:cubicBezTo>
                    <a:cubicBezTo>
                      <a:pt x="17832" y="1350"/>
                      <a:pt x="20250" y="3767"/>
                      <a:pt x="20250" y="6750"/>
                    </a:cubicBezTo>
                    <a:cubicBezTo>
                      <a:pt x="20250" y="9732"/>
                      <a:pt x="17832" y="12150"/>
                      <a:pt x="14850" y="12150"/>
                    </a:cubicBezTo>
                    <a:moveTo>
                      <a:pt x="14850" y="0"/>
                    </a:moveTo>
                    <a:cubicBezTo>
                      <a:pt x="11123" y="0"/>
                      <a:pt x="8101" y="3022"/>
                      <a:pt x="8101" y="6750"/>
                    </a:cubicBezTo>
                    <a:cubicBezTo>
                      <a:pt x="8101" y="7617"/>
                      <a:pt x="8283" y="8438"/>
                      <a:pt x="8582" y="9199"/>
                    </a:cubicBezTo>
                    <a:lnTo>
                      <a:pt x="383" y="17400"/>
                    </a:lnTo>
                    <a:cubicBezTo>
                      <a:pt x="146" y="17637"/>
                      <a:pt x="0" y="17863"/>
                      <a:pt x="0" y="18225"/>
                    </a:cubicBezTo>
                    <a:lnTo>
                      <a:pt x="0" y="20249"/>
                    </a:lnTo>
                    <a:cubicBezTo>
                      <a:pt x="0" y="20972"/>
                      <a:pt x="626" y="21599"/>
                      <a:pt x="1349" y="21599"/>
                    </a:cubicBezTo>
                    <a:lnTo>
                      <a:pt x="3374" y="21599"/>
                    </a:lnTo>
                    <a:cubicBezTo>
                      <a:pt x="3736" y="21599"/>
                      <a:pt x="3965" y="21455"/>
                      <a:pt x="4202" y="21219"/>
                    </a:cubicBezTo>
                    <a:lnTo>
                      <a:pt x="5170" y="20249"/>
                    </a:lnTo>
                    <a:lnTo>
                      <a:pt x="6751" y="20249"/>
                    </a:lnTo>
                    <a:cubicBezTo>
                      <a:pt x="7496" y="20249"/>
                      <a:pt x="8101" y="19645"/>
                      <a:pt x="8101" y="18900"/>
                    </a:cubicBezTo>
                    <a:lnTo>
                      <a:pt x="8101" y="17549"/>
                    </a:lnTo>
                    <a:lnTo>
                      <a:pt x="9451" y="17549"/>
                    </a:lnTo>
                    <a:cubicBezTo>
                      <a:pt x="10196" y="17549"/>
                      <a:pt x="10801" y="16945"/>
                      <a:pt x="10801" y="16200"/>
                    </a:cubicBezTo>
                    <a:lnTo>
                      <a:pt x="10801" y="14617"/>
                    </a:lnTo>
                    <a:lnTo>
                      <a:pt x="12400" y="13018"/>
                    </a:lnTo>
                    <a:cubicBezTo>
                      <a:pt x="13162" y="13317"/>
                      <a:pt x="13982" y="13500"/>
                      <a:pt x="14850" y="13500"/>
                    </a:cubicBezTo>
                    <a:cubicBezTo>
                      <a:pt x="18577" y="13500"/>
                      <a:pt x="21599" y="10477"/>
                      <a:pt x="21599" y="6750"/>
                    </a:cubicBezTo>
                    <a:cubicBezTo>
                      <a:pt x="21599" y="3022"/>
                      <a:pt x="18577" y="0"/>
                      <a:pt x="14850" y="0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lIns="19050" tIns="19050" rIns="19050" bIns="19050" anchor="ctr"/>
              <a:lstStyle/>
              <a:p>
                <a:pPr marL="0" marR="0" lvl="0" indent="0" algn="ctr" defTabSz="2286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5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Gill Sans" charset="0"/>
                  <a:ea typeface="+mn-ea"/>
                  <a:cs typeface="+mn-cs"/>
                  <a:sym typeface="Gill Sans" charset="0"/>
                </a:endParaRPr>
              </a:p>
            </p:txBody>
          </p:sp>
          <p:sp>
            <p:nvSpPr>
              <p:cNvPr id="19" name="AutoShape 129"/>
              <p:cNvSpPr/>
              <p:nvPr/>
            </p:nvSpPr>
            <p:spPr bwMode="auto">
              <a:xfrm>
                <a:off x="2871788" y="2640013"/>
                <a:ext cx="115888" cy="115888"/>
              </a:xfrm>
              <a:custGeom>
                <a:avLst/>
                <a:gdLst>
                  <a:gd name="T0" fmla="*/ 10800 w 21600"/>
                  <a:gd name="T1" fmla="+- 0 10800 134"/>
                  <a:gd name="T2" fmla="*/ 10800 h 21333"/>
                  <a:gd name="T3" fmla="*/ 10800 w 21600"/>
                  <a:gd name="T4" fmla="+- 0 10800 134"/>
                  <a:gd name="T5" fmla="*/ 10800 h 21333"/>
                  <a:gd name="T6" fmla="*/ 10800 w 21600"/>
                  <a:gd name="T7" fmla="+- 0 10800 134"/>
                  <a:gd name="T8" fmla="*/ 10800 h 21333"/>
                  <a:gd name="T9" fmla="*/ 10800 w 21600"/>
                  <a:gd name="T10" fmla="+- 0 10800 134"/>
                  <a:gd name="T11" fmla="*/ 10800 h 21333"/>
                </a:gdLst>
                <a:ahLst/>
                <a:cxnLst>
                  <a:cxn ang="0">
                    <a:pos x="T0" y="T2"/>
                  </a:cxn>
                  <a:cxn ang="0">
                    <a:pos x="T3" y="T5"/>
                  </a:cxn>
                  <a:cxn ang="0">
                    <a:pos x="T6" y="T8"/>
                  </a:cxn>
                  <a:cxn ang="0">
                    <a:pos x="T9" y="T11"/>
                  </a:cxn>
                </a:cxnLst>
                <a:rect l="0" t="0" r="r" b="b"/>
                <a:pathLst>
                  <a:path w="21600" h="21333">
                    <a:moveTo>
                      <a:pt x="13008" y="18684"/>
                    </a:moveTo>
                    <a:cubicBezTo>
                      <a:pt x="9017" y="15850"/>
                      <a:pt x="5542" y="12415"/>
                      <a:pt x="2694" y="8570"/>
                    </a:cubicBezTo>
                    <a:cubicBezTo>
                      <a:pt x="3736" y="5628"/>
                      <a:pt x="5693" y="3697"/>
                      <a:pt x="8585" y="2647"/>
                    </a:cubicBezTo>
                    <a:cubicBezTo>
                      <a:pt x="12578" y="5489"/>
                      <a:pt x="16048" y="8911"/>
                      <a:pt x="18889" y="12809"/>
                    </a:cubicBezTo>
                    <a:cubicBezTo>
                      <a:pt x="17836" y="15730"/>
                      <a:pt x="15883" y="17647"/>
                      <a:pt x="13008" y="18684"/>
                    </a:cubicBezTo>
                    <a:moveTo>
                      <a:pt x="21110" y="11295"/>
                    </a:moveTo>
                    <a:cubicBezTo>
                      <a:pt x="18081" y="7130"/>
                      <a:pt x="14396" y="3496"/>
                      <a:pt x="10161" y="484"/>
                    </a:cubicBezTo>
                    <a:cubicBezTo>
                      <a:pt x="9468" y="-8"/>
                      <a:pt x="8579" y="-134"/>
                      <a:pt x="7778" y="145"/>
                    </a:cubicBezTo>
                    <a:cubicBezTo>
                      <a:pt x="4027" y="1450"/>
                      <a:pt x="1463" y="3983"/>
                      <a:pt x="145" y="7687"/>
                    </a:cubicBezTo>
                    <a:cubicBezTo>
                      <a:pt x="46" y="7962"/>
                      <a:pt x="0" y="8252"/>
                      <a:pt x="0" y="8537"/>
                    </a:cubicBezTo>
                    <a:cubicBezTo>
                      <a:pt x="0" y="9071"/>
                      <a:pt x="167" y="9596"/>
                      <a:pt x="487" y="10041"/>
                    </a:cubicBezTo>
                    <a:cubicBezTo>
                      <a:pt x="3525" y="14213"/>
                      <a:pt x="7211" y="17850"/>
                      <a:pt x="11431" y="20850"/>
                    </a:cubicBezTo>
                    <a:cubicBezTo>
                      <a:pt x="12122" y="21338"/>
                      <a:pt x="13010" y="21466"/>
                      <a:pt x="13812" y="21188"/>
                    </a:cubicBezTo>
                    <a:cubicBezTo>
                      <a:pt x="17563" y="19893"/>
                      <a:pt x="20133" y="17356"/>
                      <a:pt x="21451" y="13647"/>
                    </a:cubicBezTo>
                    <a:cubicBezTo>
                      <a:pt x="21551" y="13372"/>
                      <a:pt x="21600" y="13081"/>
                      <a:pt x="21600" y="12796"/>
                    </a:cubicBezTo>
                    <a:cubicBezTo>
                      <a:pt x="21600" y="12265"/>
                      <a:pt x="21429" y="11740"/>
                      <a:pt x="21110" y="11295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lIns="19050" tIns="19050" rIns="19050" bIns="19050" anchor="ctr"/>
              <a:lstStyle/>
              <a:p>
                <a:pPr marL="0" marR="0" lvl="0" indent="0" algn="ctr" defTabSz="2286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5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Gill Sans" charset="0"/>
                  <a:ea typeface="+mn-ea"/>
                  <a:cs typeface="+mn-cs"/>
                  <a:sym typeface="Gill Sans" charset="0"/>
                </a:endParaRPr>
              </a:p>
            </p:txBody>
          </p:sp>
        </p:grpSp>
      </p:grpSp>
      <p:sp>
        <p:nvSpPr>
          <p:cNvPr id="20" name="Shape 26"/>
          <p:cNvSpPr/>
          <p:nvPr/>
        </p:nvSpPr>
        <p:spPr>
          <a:xfrm flipH="1">
            <a:off x="0" y="5607050"/>
            <a:ext cx="9140825" cy="12509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120000"/>
                </a:moveTo>
                <a:lnTo>
                  <a:pt x="0" y="102222"/>
                </a:lnTo>
                <a:lnTo>
                  <a:pt x="583" y="102222"/>
                </a:lnTo>
                <a:lnTo>
                  <a:pt x="583" y="89777"/>
                </a:lnTo>
                <a:lnTo>
                  <a:pt x="4166" y="89777"/>
                </a:lnTo>
                <a:lnTo>
                  <a:pt x="4166" y="79111"/>
                </a:lnTo>
                <a:lnTo>
                  <a:pt x="6416" y="79111"/>
                </a:lnTo>
                <a:lnTo>
                  <a:pt x="6416" y="91111"/>
                </a:lnTo>
                <a:lnTo>
                  <a:pt x="7625" y="91111"/>
                </a:lnTo>
                <a:lnTo>
                  <a:pt x="7625" y="79111"/>
                </a:lnTo>
                <a:lnTo>
                  <a:pt x="8958" y="79111"/>
                </a:lnTo>
                <a:lnTo>
                  <a:pt x="8958" y="45333"/>
                </a:lnTo>
                <a:lnTo>
                  <a:pt x="9541" y="45333"/>
                </a:lnTo>
                <a:lnTo>
                  <a:pt x="9541" y="39111"/>
                </a:lnTo>
                <a:lnTo>
                  <a:pt x="10958" y="39111"/>
                </a:lnTo>
                <a:lnTo>
                  <a:pt x="10958" y="45333"/>
                </a:lnTo>
                <a:lnTo>
                  <a:pt x="11583" y="45333"/>
                </a:lnTo>
                <a:lnTo>
                  <a:pt x="11583" y="76000"/>
                </a:lnTo>
                <a:lnTo>
                  <a:pt x="12083" y="76000"/>
                </a:lnTo>
                <a:lnTo>
                  <a:pt x="12083" y="95555"/>
                </a:lnTo>
                <a:lnTo>
                  <a:pt x="13250" y="95555"/>
                </a:lnTo>
                <a:lnTo>
                  <a:pt x="13250" y="60000"/>
                </a:lnTo>
                <a:lnTo>
                  <a:pt x="14041" y="60000"/>
                </a:lnTo>
                <a:lnTo>
                  <a:pt x="14041" y="45333"/>
                </a:lnTo>
                <a:lnTo>
                  <a:pt x="14583" y="45333"/>
                </a:lnTo>
                <a:lnTo>
                  <a:pt x="14583" y="27555"/>
                </a:lnTo>
                <a:lnTo>
                  <a:pt x="14958" y="27555"/>
                </a:lnTo>
                <a:lnTo>
                  <a:pt x="14958" y="14222"/>
                </a:lnTo>
                <a:lnTo>
                  <a:pt x="15333" y="14222"/>
                </a:lnTo>
                <a:lnTo>
                  <a:pt x="15333" y="0"/>
                </a:lnTo>
                <a:lnTo>
                  <a:pt x="15958" y="0"/>
                </a:lnTo>
                <a:lnTo>
                  <a:pt x="15958" y="13777"/>
                </a:lnTo>
                <a:lnTo>
                  <a:pt x="16416" y="13777"/>
                </a:lnTo>
                <a:lnTo>
                  <a:pt x="16416" y="24888"/>
                </a:lnTo>
                <a:lnTo>
                  <a:pt x="16791" y="24888"/>
                </a:lnTo>
                <a:lnTo>
                  <a:pt x="16791" y="46222"/>
                </a:lnTo>
                <a:lnTo>
                  <a:pt x="17333" y="46222"/>
                </a:lnTo>
                <a:lnTo>
                  <a:pt x="17333" y="61333"/>
                </a:lnTo>
                <a:lnTo>
                  <a:pt x="17916" y="61333"/>
                </a:lnTo>
                <a:lnTo>
                  <a:pt x="17916" y="101333"/>
                </a:lnTo>
                <a:lnTo>
                  <a:pt x="18875" y="101333"/>
                </a:lnTo>
                <a:lnTo>
                  <a:pt x="18875" y="92000"/>
                </a:lnTo>
                <a:lnTo>
                  <a:pt x="20958" y="92000"/>
                </a:lnTo>
                <a:lnTo>
                  <a:pt x="20958" y="96444"/>
                </a:lnTo>
                <a:lnTo>
                  <a:pt x="21750" y="96444"/>
                </a:lnTo>
                <a:lnTo>
                  <a:pt x="21750" y="54666"/>
                </a:lnTo>
                <a:lnTo>
                  <a:pt x="22333" y="54666"/>
                </a:lnTo>
                <a:lnTo>
                  <a:pt x="22333" y="42666"/>
                </a:lnTo>
                <a:lnTo>
                  <a:pt x="24166" y="42666"/>
                </a:lnTo>
                <a:lnTo>
                  <a:pt x="24166" y="53777"/>
                </a:lnTo>
                <a:lnTo>
                  <a:pt x="24583" y="56888"/>
                </a:lnTo>
                <a:lnTo>
                  <a:pt x="24583" y="85777"/>
                </a:lnTo>
                <a:lnTo>
                  <a:pt x="25291" y="85777"/>
                </a:lnTo>
                <a:lnTo>
                  <a:pt x="25291" y="79555"/>
                </a:lnTo>
                <a:lnTo>
                  <a:pt x="27125" y="79555"/>
                </a:lnTo>
                <a:lnTo>
                  <a:pt x="27125" y="86222"/>
                </a:lnTo>
                <a:lnTo>
                  <a:pt x="28208" y="86222"/>
                </a:lnTo>
                <a:lnTo>
                  <a:pt x="28208" y="92000"/>
                </a:lnTo>
                <a:lnTo>
                  <a:pt x="29416" y="92000"/>
                </a:lnTo>
                <a:lnTo>
                  <a:pt x="29416" y="83555"/>
                </a:lnTo>
                <a:lnTo>
                  <a:pt x="30250" y="83555"/>
                </a:lnTo>
                <a:lnTo>
                  <a:pt x="30250" y="65777"/>
                </a:lnTo>
                <a:lnTo>
                  <a:pt x="35041" y="65777"/>
                </a:lnTo>
                <a:lnTo>
                  <a:pt x="35041" y="83555"/>
                </a:lnTo>
                <a:lnTo>
                  <a:pt x="35875" y="83555"/>
                </a:lnTo>
                <a:lnTo>
                  <a:pt x="35875" y="65777"/>
                </a:lnTo>
                <a:lnTo>
                  <a:pt x="39916" y="65777"/>
                </a:lnTo>
                <a:lnTo>
                  <a:pt x="39916" y="72888"/>
                </a:lnTo>
                <a:lnTo>
                  <a:pt x="41041" y="72888"/>
                </a:lnTo>
                <a:lnTo>
                  <a:pt x="41041" y="99555"/>
                </a:lnTo>
                <a:lnTo>
                  <a:pt x="42583" y="99555"/>
                </a:lnTo>
                <a:lnTo>
                  <a:pt x="42583" y="76888"/>
                </a:lnTo>
                <a:lnTo>
                  <a:pt x="45250" y="56000"/>
                </a:lnTo>
                <a:lnTo>
                  <a:pt x="47875" y="76888"/>
                </a:lnTo>
                <a:lnTo>
                  <a:pt x="47875" y="88888"/>
                </a:lnTo>
                <a:lnTo>
                  <a:pt x="48666" y="88888"/>
                </a:lnTo>
                <a:lnTo>
                  <a:pt x="48666" y="104000"/>
                </a:lnTo>
                <a:lnTo>
                  <a:pt x="49208" y="104000"/>
                </a:lnTo>
                <a:lnTo>
                  <a:pt x="49208" y="73333"/>
                </a:lnTo>
                <a:lnTo>
                  <a:pt x="51500" y="73333"/>
                </a:lnTo>
                <a:lnTo>
                  <a:pt x="51500" y="85777"/>
                </a:lnTo>
                <a:lnTo>
                  <a:pt x="53708" y="85777"/>
                </a:lnTo>
                <a:lnTo>
                  <a:pt x="53708" y="94666"/>
                </a:lnTo>
                <a:lnTo>
                  <a:pt x="54500" y="94666"/>
                </a:lnTo>
                <a:lnTo>
                  <a:pt x="54500" y="85777"/>
                </a:lnTo>
                <a:lnTo>
                  <a:pt x="57125" y="85777"/>
                </a:lnTo>
                <a:lnTo>
                  <a:pt x="57125" y="102222"/>
                </a:lnTo>
                <a:lnTo>
                  <a:pt x="57625" y="102222"/>
                </a:lnTo>
                <a:lnTo>
                  <a:pt x="57625" y="104888"/>
                </a:lnTo>
                <a:lnTo>
                  <a:pt x="58875" y="104888"/>
                </a:lnTo>
                <a:lnTo>
                  <a:pt x="58875" y="94222"/>
                </a:lnTo>
                <a:lnTo>
                  <a:pt x="61666" y="94222"/>
                </a:lnTo>
                <a:lnTo>
                  <a:pt x="61666" y="89777"/>
                </a:lnTo>
                <a:lnTo>
                  <a:pt x="62250" y="89777"/>
                </a:lnTo>
                <a:lnTo>
                  <a:pt x="62250" y="84000"/>
                </a:lnTo>
                <a:lnTo>
                  <a:pt x="62833" y="84000"/>
                </a:lnTo>
                <a:lnTo>
                  <a:pt x="62833" y="88888"/>
                </a:lnTo>
                <a:lnTo>
                  <a:pt x="63500" y="88888"/>
                </a:lnTo>
                <a:lnTo>
                  <a:pt x="63500" y="83111"/>
                </a:lnTo>
                <a:lnTo>
                  <a:pt x="64999" y="83111"/>
                </a:lnTo>
                <a:lnTo>
                  <a:pt x="64999" y="88444"/>
                </a:lnTo>
                <a:lnTo>
                  <a:pt x="65666" y="88444"/>
                </a:lnTo>
                <a:lnTo>
                  <a:pt x="65666" y="103111"/>
                </a:lnTo>
                <a:lnTo>
                  <a:pt x="66916" y="103111"/>
                </a:lnTo>
                <a:lnTo>
                  <a:pt x="66916" y="82666"/>
                </a:lnTo>
                <a:lnTo>
                  <a:pt x="69375" y="82666"/>
                </a:lnTo>
                <a:lnTo>
                  <a:pt x="69375" y="88888"/>
                </a:lnTo>
                <a:lnTo>
                  <a:pt x="70416" y="88888"/>
                </a:lnTo>
                <a:lnTo>
                  <a:pt x="70416" y="46222"/>
                </a:lnTo>
                <a:lnTo>
                  <a:pt x="71500" y="35111"/>
                </a:lnTo>
                <a:lnTo>
                  <a:pt x="72458" y="45777"/>
                </a:lnTo>
                <a:lnTo>
                  <a:pt x="72458" y="103111"/>
                </a:lnTo>
                <a:lnTo>
                  <a:pt x="73583" y="103111"/>
                </a:lnTo>
                <a:lnTo>
                  <a:pt x="73583" y="47555"/>
                </a:lnTo>
                <a:lnTo>
                  <a:pt x="76916" y="47555"/>
                </a:lnTo>
                <a:lnTo>
                  <a:pt x="76916" y="97777"/>
                </a:lnTo>
                <a:lnTo>
                  <a:pt x="77541" y="97777"/>
                </a:lnTo>
                <a:lnTo>
                  <a:pt x="77541" y="85777"/>
                </a:lnTo>
                <a:lnTo>
                  <a:pt x="79000" y="85777"/>
                </a:lnTo>
                <a:lnTo>
                  <a:pt x="79000" y="92888"/>
                </a:lnTo>
                <a:lnTo>
                  <a:pt x="82000" y="92888"/>
                </a:lnTo>
                <a:lnTo>
                  <a:pt x="82000" y="102222"/>
                </a:lnTo>
                <a:lnTo>
                  <a:pt x="84333" y="102222"/>
                </a:lnTo>
                <a:lnTo>
                  <a:pt x="84333" y="88000"/>
                </a:lnTo>
                <a:lnTo>
                  <a:pt x="85583" y="88000"/>
                </a:lnTo>
                <a:lnTo>
                  <a:pt x="85583" y="96000"/>
                </a:lnTo>
                <a:lnTo>
                  <a:pt x="86500" y="96000"/>
                </a:lnTo>
                <a:lnTo>
                  <a:pt x="86500" y="91111"/>
                </a:lnTo>
                <a:lnTo>
                  <a:pt x="87791" y="91111"/>
                </a:lnTo>
                <a:lnTo>
                  <a:pt x="87791" y="84888"/>
                </a:lnTo>
                <a:lnTo>
                  <a:pt x="89375" y="84888"/>
                </a:lnTo>
                <a:lnTo>
                  <a:pt x="89375" y="100888"/>
                </a:lnTo>
                <a:lnTo>
                  <a:pt x="90541" y="100888"/>
                </a:lnTo>
                <a:lnTo>
                  <a:pt x="90541" y="63111"/>
                </a:lnTo>
                <a:lnTo>
                  <a:pt x="92458" y="63555"/>
                </a:lnTo>
                <a:lnTo>
                  <a:pt x="92458" y="84444"/>
                </a:lnTo>
                <a:lnTo>
                  <a:pt x="93750" y="84444"/>
                </a:lnTo>
                <a:lnTo>
                  <a:pt x="93750" y="97333"/>
                </a:lnTo>
                <a:lnTo>
                  <a:pt x="95375" y="97333"/>
                </a:lnTo>
                <a:lnTo>
                  <a:pt x="95375" y="83111"/>
                </a:lnTo>
                <a:lnTo>
                  <a:pt x="96500" y="83111"/>
                </a:lnTo>
                <a:lnTo>
                  <a:pt x="96500" y="77333"/>
                </a:lnTo>
                <a:lnTo>
                  <a:pt x="98000" y="77333"/>
                </a:lnTo>
                <a:lnTo>
                  <a:pt x="98000" y="81333"/>
                </a:lnTo>
                <a:lnTo>
                  <a:pt x="99041" y="81333"/>
                </a:lnTo>
                <a:lnTo>
                  <a:pt x="99041" y="75111"/>
                </a:lnTo>
                <a:lnTo>
                  <a:pt x="101000" y="59555"/>
                </a:lnTo>
                <a:lnTo>
                  <a:pt x="102916" y="75111"/>
                </a:lnTo>
                <a:lnTo>
                  <a:pt x="102916" y="96444"/>
                </a:lnTo>
                <a:lnTo>
                  <a:pt x="103250" y="96444"/>
                </a:lnTo>
                <a:lnTo>
                  <a:pt x="103250" y="92000"/>
                </a:lnTo>
                <a:lnTo>
                  <a:pt x="104750" y="92000"/>
                </a:lnTo>
                <a:lnTo>
                  <a:pt x="104750" y="111111"/>
                </a:lnTo>
                <a:lnTo>
                  <a:pt x="105125" y="111111"/>
                </a:lnTo>
                <a:lnTo>
                  <a:pt x="105125" y="101777"/>
                </a:lnTo>
                <a:lnTo>
                  <a:pt x="106291" y="101777"/>
                </a:lnTo>
                <a:lnTo>
                  <a:pt x="106291" y="81777"/>
                </a:lnTo>
                <a:lnTo>
                  <a:pt x="107791" y="81777"/>
                </a:lnTo>
                <a:lnTo>
                  <a:pt x="107791" y="101777"/>
                </a:lnTo>
                <a:lnTo>
                  <a:pt x="107833" y="101777"/>
                </a:lnTo>
                <a:lnTo>
                  <a:pt x="107833" y="93777"/>
                </a:lnTo>
                <a:lnTo>
                  <a:pt x="108583" y="93777"/>
                </a:lnTo>
                <a:lnTo>
                  <a:pt x="108583" y="89777"/>
                </a:lnTo>
                <a:lnTo>
                  <a:pt x="110166" y="89777"/>
                </a:lnTo>
                <a:lnTo>
                  <a:pt x="110166" y="103111"/>
                </a:lnTo>
                <a:lnTo>
                  <a:pt x="110416" y="103111"/>
                </a:lnTo>
                <a:lnTo>
                  <a:pt x="110416" y="93777"/>
                </a:lnTo>
                <a:lnTo>
                  <a:pt x="110625" y="93777"/>
                </a:lnTo>
                <a:lnTo>
                  <a:pt x="110625" y="76444"/>
                </a:lnTo>
                <a:lnTo>
                  <a:pt x="111416" y="76444"/>
                </a:lnTo>
                <a:lnTo>
                  <a:pt x="111416" y="68444"/>
                </a:lnTo>
                <a:lnTo>
                  <a:pt x="111833" y="68444"/>
                </a:lnTo>
                <a:lnTo>
                  <a:pt x="111833" y="64000"/>
                </a:lnTo>
                <a:lnTo>
                  <a:pt x="112916" y="64000"/>
                </a:lnTo>
                <a:lnTo>
                  <a:pt x="112916" y="68444"/>
                </a:lnTo>
                <a:lnTo>
                  <a:pt x="113375" y="68444"/>
                </a:lnTo>
                <a:lnTo>
                  <a:pt x="113375" y="91555"/>
                </a:lnTo>
                <a:lnTo>
                  <a:pt x="113416" y="91555"/>
                </a:lnTo>
                <a:lnTo>
                  <a:pt x="113416" y="91555"/>
                </a:lnTo>
                <a:lnTo>
                  <a:pt x="114666" y="91555"/>
                </a:lnTo>
                <a:lnTo>
                  <a:pt x="114666" y="79555"/>
                </a:lnTo>
                <a:lnTo>
                  <a:pt x="115250" y="79555"/>
                </a:lnTo>
                <a:lnTo>
                  <a:pt x="115250" y="68444"/>
                </a:lnTo>
                <a:lnTo>
                  <a:pt x="115625" y="68444"/>
                </a:lnTo>
                <a:lnTo>
                  <a:pt x="115625" y="55111"/>
                </a:lnTo>
                <a:lnTo>
                  <a:pt x="115916" y="55111"/>
                </a:lnTo>
                <a:lnTo>
                  <a:pt x="115916" y="44888"/>
                </a:lnTo>
                <a:lnTo>
                  <a:pt x="116250" y="44888"/>
                </a:lnTo>
                <a:lnTo>
                  <a:pt x="116250" y="34222"/>
                </a:lnTo>
                <a:lnTo>
                  <a:pt x="116666" y="34222"/>
                </a:lnTo>
                <a:lnTo>
                  <a:pt x="116666" y="44444"/>
                </a:lnTo>
                <a:lnTo>
                  <a:pt x="117000" y="44444"/>
                </a:lnTo>
                <a:lnTo>
                  <a:pt x="117000" y="52888"/>
                </a:lnTo>
                <a:lnTo>
                  <a:pt x="117333" y="52888"/>
                </a:lnTo>
                <a:lnTo>
                  <a:pt x="117333" y="68888"/>
                </a:lnTo>
                <a:lnTo>
                  <a:pt x="117708" y="68888"/>
                </a:lnTo>
                <a:lnTo>
                  <a:pt x="117708" y="80444"/>
                </a:lnTo>
                <a:lnTo>
                  <a:pt x="118166" y="80444"/>
                </a:lnTo>
                <a:lnTo>
                  <a:pt x="118166" y="92000"/>
                </a:lnTo>
                <a:lnTo>
                  <a:pt x="120000" y="9200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</p:spPr>
        <p:txBody>
          <a:bodyPr lIns="68569" tIns="34275" rIns="68569" bIns="34275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015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29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9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1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291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291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9125" grpId="0" build="p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zh-CN" sz="2400" dirty="0"/>
              <a:t> </a:t>
            </a:r>
            <a:r>
              <a:rPr lang="zh-CN" altLang="zh-CN" sz="2400" dirty="0">
                <a:solidFill>
                  <a:srgbClr val="000000"/>
                </a:solidFill>
              </a:rPr>
              <a:t>设有一组记录的关键字为 {19，14，23，1，68，20，84，27，55，11，10，79}，用分离链接法构造散列表，散列函数为H(key)= key mod 13。问：散列地址为1的链中有几个记录？</a:t>
            </a:r>
            <a:endParaRPr lang="zh-CN" altLang="zh-CN" sz="2400" dirty="0"/>
          </a:p>
        </p:txBody>
      </p:sp>
      <p:sp>
        <p:nvSpPr>
          <p:cNvPr id="6" name="TextBox 5"/>
          <p:cNvSpPr txBox="1"/>
          <p:nvPr>
            <p:custDataLst>
              <p:tags r:id="rId3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1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7" name="TextBox 6"/>
          <p:cNvSpPr txBox="1"/>
          <p:nvPr>
            <p:custDataLst>
              <p:tags r:id="rId4"/>
            </p:custDataLst>
          </p:nvPr>
        </p:nvSpPr>
        <p:spPr>
          <a:xfrm>
            <a:off x="1828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2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8" name="TextBox 7"/>
          <p:cNvSpPr txBox="1"/>
          <p:nvPr>
            <p:custDataLst>
              <p:tags r:id="rId5"/>
            </p:custDataLst>
          </p:nvPr>
        </p:nvSpPr>
        <p:spPr>
          <a:xfrm>
            <a:off x="1828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3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9" name="TextBox 8"/>
          <p:cNvSpPr txBox="1"/>
          <p:nvPr>
            <p:custDataLst>
              <p:tags r:id="rId6"/>
            </p:custDataLst>
          </p:nvPr>
        </p:nvSpPr>
        <p:spPr>
          <a:xfrm>
            <a:off x="1828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4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1" compatLnSpc="1"/>
          <a:lstStyle/>
          <a:p>
            <a:pPr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/>
                <a:ea typeface="Microsoft Yahei"/>
                <a:sym typeface="Microsoft Yahei"/>
              </a:rPr>
              <a:t>A</a:t>
            </a:r>
            <a:endParaRPr kumimoji="1" lang="zh-CN" altLang="en-US" sz="1600" b="0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1" compatLnSpc="1"/>
          <a:lstStyle/>
          <a:p>
            <a:pPr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/>
                <a:ea typeface="Microsoft Yahei"/>
                <a:sym typeface="Microsoft Yahei"/>
              </a:rPr>
              <a:t>B</a:t>
            </a:r>
            <a:endParaRPr kumimoji="1" lang="zh-CN" altLang="en-US" sz="1600" b="0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144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1" compatLnSpc="1"/>
          <a:lstStyle/>
          <a:p>
            <a:pPr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/>
                <a:ea typeface="Microsoft Yahei"/>
                <a:sym typeface="Microsoft Yahei"/>
              </a:rPr>
              <a:t>C</a:t>
            </a:r>
            <a:endParaRPr kumimoji="1" lang="zh-CN" altLang="en-US" sz="1600" b="0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114425" y="5422106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1" compatLnSpc="1"/>
          <a:lstStyle/>
          <a:p>
            <a:pPr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/>
                <a:ea typeface="Microsoft Yahei"/>
                <a:sym typeface="Microsoft Yahei"/>
              </a:rPr>
              <a:t>D</a:t>
            </a:r>
            <a:endParaRPr kumimoji="1" lang="zh-CN" altLang="en-US" sz="1600" b="0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4" name="圆角矩形 13"/>
          <p:cNvSpPr/>
          <p:nvPr>
            <p:custDataLst>
              <p:tags r:id="rId11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1" compatLnSpc="1"/>
          <a:lstStyle/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/>
                <a:ea typeface="Microsoft Yahei"/>
                <a:sym typeface="Microsoft Yahei"/>
              </a:rPr>
              <a:t>提交</a:t>
            </a:r>
          </a:p>
        </p:txBody>
      </p:sp>
      <p:grpSp>
        <p:nvGrpSpPr>
          <p:cNvPr id="19" name="组合 18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5" name="TitleBackground"/>
            <p:cNvSpPr/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342900" marR="0" indent="-34290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仿宋_GB2312" panose="02010609030101010101" pitchFamily="49" charset="-122"/>
              </a:endParaRPr>
            </a:p>
          </p:txBody>
        </p:sp>
        <p:sp>
          <p:nvSpPr>
            <p:cNvPr id="16" name="ColorBlock"/>
            <p:cNvSpPr/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342900" marR="0" indent="-34290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仿宋_GB2312" panose="02010609030101010101" pitchFamily="49" charset="-122"/>
              </a:endParaRPr>
            </a:p>
          </p:txBody>
        </p:sp>
        <p:sp>
          <p:nvSpPr>
            <p:cNvPr id="17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/>
                  <a:ea typeface="Microsoft Yahei"/>
                  <a:sym typeface="Microsoft Yahei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/>
                <a:ea typeface="Microsoft Yahei"/>
                <a:sym typeface="Microsoft Yahei"/>
              </a:endParaRPr>
            </a:p>
          </p:txBody>
        </p:sp>
      </p:grpSp>
      <p:pic>
        <p:nvPicPr>
          <p:cNvPr id="4" name="图片 3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07662454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38"/>
          <p:cNvSpPr>
            <a:spLocks noChangeArrowheads="1"/>
          </p:cNvSpPr>
          <p:nvPr/>
        </p:nvSpPr>
        <p:spPr bwMode="auto">
          <a:xfrm>
            <a:off x="842963" y="206375"/>
            <a:ext cx="3243263" cy="51593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哈希表的查找</a:t>
            </a:r>
          </a:p>
        </p:txBody>
      </p:sp>
      <p:grpSp>
        <p:nvGrpSpPr>
          <p:cNvPr id="2" name="Group 39"/>
          <p:cNvGrpSpPr/>
          <p:nvPr/>
        </p:nvGrpSpPr>
        <p:grpSpPr>
          <a:xfrm>
            <a:off x="2187575" y="955675"/>
            <a:ext cx="6376988" cy="5729288"/>
            <a:chOff x="927" y="859"/>
            <a:chExt cx="2559" cy="2813"/>
          </a:xfrm>
        </p:grpSpPr>
        <p:grpSp>
          <p:nvGrpSpPr>
            <p:cNvPr id="140291" name="Group 40"/>
            <p:cNvGrpSpPr/>
            <p:nvPr/>
          </p:nvGrpSpPr>
          <p:grpSpPr>
            <a:xfrm>
              <a:off x="927" y="859"/>
              <a:ext cx="2559" cy="2813"/>
              <a:chOff x="699" y="1200"/>
              <a:chExt cx="2559" cy="2813"/>
            </a:xfrm>
          </p:grpSpPr>
          <p:sp>
            <p:nvSpPr>
              <p:cNvPr id="102405" name="AutoShape 41"/>
              <p:cNvSpPr>
                <a:spLocks noChangeArrowheads="1"/>
              </p:cNvSpPr>
              <p:nvPr/>
            </p:nvSpPr>
            <p:spPr bwMode="auto">
              <a:xfrm>
                <a:off x="1769" y="1407"/>
                <a:ext cx="806" cy="238"/>
              </a:xfrm>
              <a:prstGeom prst="flowChartProcess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1pPr>
                <a:lvl2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2pPr>
                <a:lvl3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3pPr>
                <a:lvl4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4pPr>
                <a:lvl5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rPr>
                  <a:t>给定</a:t>
                </a:r>
                <a:r>
                  <a: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rPr>
                  <a:t>k</a:t>
                </a:r>
                <a:r>
                  <a:rPr kumimoji="0" lang="zh-CN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rPr>
                  <a:t>值</a:t>
                </a: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02406" name="AutoShape 42"/>
              <p:cNvSpPr>
                <a:spLocks noChangeArrowheads="1"/>
              </p:cNvSpPr>
              <p:nvPr/>
            </p:nvSpPr>
            <p:spPr bwMode="auto">
              <a:xfrm>
                <a:off x="1782" y="1844"/>
                <a:ext cx="807" cy="239"/>
              </a:xfrm>
              <a:prstGeom prst="flowChartProcess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1pPr>
                <a:lvl2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2pPr>
                <a:lvl3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3pPr>
                <a:lvl4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4pPr>
                <a:lvl5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rPr>
                  <a:t>计算</a:t>
                </a:r>
                <a:r>
                  <a: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rPr>
                  <a:t>H(k)</a:t>
                </a:r>
              </a:p>
            </p:txBody>
          </p:sp>
          <p:sp>
            <p:nvSpPr>
              <p:cNvPr id="102407" name="AutoShape 43"/>
              <p:cNvSpPr>
                <a:spLocks noChangeArrowheads="1"/>
              </p:cNvSpPr>
              <p:nvPr/>
            </p:nvSpPr>
            <p:spPr bwMode="auto">
              <a:xfrm>
                <a:off x="1492" y="2279"/>
                <a:ext cx="1381" cy="366"/>
              </a:xfrm>
              <a:prstGeom prst="flowChartDecision">
                <a:avLst/>
              </a:prstGeom>
              <a:solidFill>
                <a:srgbClr val="CCCCFF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1pPr>
                <a:lvl2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2pPr>
                <a:lvl3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3pPr>
                <a:lvl4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4pPr>
                <a:lvl5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rPr>
                  <a:t>此地址为空</a:t>
                </a:r>
              </a:p>
            </p:txBody>
          </p:sp>
          <p:sp>
            <p:nvSpPr>
              <p:cNvPr id="102408" name="AutoShape 44"/>
              <p:cNvSpPr>
                <a:spLocks noChangeArrowheads="1"/>
              </p:cNvSpPr>
              <p:nvPr/>
            </p:nvSpPr>
            <p:spPr bwMode="auto">
              <a:xfrm>
                <a:off x="1506" y="2831"/>
                <a:ext cx="1381" cy="365"/>
              </a:xfrm>
              <a:prstGeom prst="flowChartDecision">
                <a:avLst/>
              </a:prstGeom>
              <a:solidFill>
                <a:srgbClr val="CCCCFF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1pPr>
                <a:lvl2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2pPr>
                <a:lvl3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3pPr>
                <a:lvl4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4pPr>
                <a:lvl5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rPr>
                  <a:t>关键字</a:t>
                </a:r>
                <a:r>
                  <a: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rPr>
                  <a:t>==k</a:t>
                </a:r>
              </a:p>
            </p:txBody>
          </p:sp>
          <p:sp>
            <p:nvSpPr>
              <p:cNvPr id="102409" name="AutoShape 45"/>
              <p:cNvSpPr>
                <a:spLocks noChangeArrowheads="1"/>
              </p:cNvSpPr>
              <p:nvPr/>
            </p:nvSpPr>
            <p:spPr bwMode="auto">
              <a:xfrm>
                <a:off x="699" y="2603"/>
                <a:ext cx="807" cy="238"/>
              </a:xfrm>
              <a:prstGeom prst="flowChartProcess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1pPr>
                <a:lvl2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2pPr>
                <a:lvl3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3pPr>
                <a:lvl4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4pPr>
                <a:lvl5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rPr>
                  <a:t>查找失败</a:t>
                </a:r>
              </a:p>
            </p:txBody>
          </p:sp>
          <p:sp>
            <p:nvSpPr>
              <p:cNvPr id="102410" name="AutoShape 46"/>
              <p:cNvSpPr>
                <a:spLocks noChangeArrowheads="1"/>
              </p:cNvSpPr>
              <p:nvPr/>
            </p:nvSpPr>
            <p:spPr bwMode="auto">
              <a:xfrm>
                <a:off x="722" y="3163"/>
                <a:ext cx="807" cy="239"/>
              </a:xfrm>
              <a:prstGeom prst="flowChartProcess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1pPr>
                <a:lvl2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2pPr>
                <a:lvl3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3pPr>
                <a:lvl4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4pPr>
                <a:lvl5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rPr>
                  <a:t>查找成功</a:t>
                </a:r>
              </a:p>
            </p:txBody>
          </p:sp>
          <p:sp>
            <p:nvSpPr>
              <p:cNvPr id="102411" name="AutoShape 47"/>
              <p:cNvSpPr>
                <a:spLocks noChangeArrowheads="1"/>
              </p:cNvSpPr>
              <p:nvPr/>
            </p:nvSpPr>
            <p:spPr bwMode="auto">
              <a:xfrm>
                <a:off x="1879" y="3400"/>
                <a:ext cx="694" cy="408"/>
              </a:xfrm>
              <a:prstGeom prst="flowChartProcess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anchor="ctr"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1pPr>
                <a:lvl2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2pPr>
                <a:lvl3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3pPr>
                <a:lvl4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4pPr>
                <a:lvl5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rPr>
                  <a:t>按处理冲突</a:t>
                </a:r>
              </a:p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rPr>
                  <a:t>方法计算</a:t>
                </a:r>
                <a:r>
                  <a: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rPr>
                  <a:t>Hi</a:t>
                </a:r>
              </a:p>
            </p:txBody>
          </p:sp>
          <p:sp>
            <p:nvSpPr>
              <p:cNvPr id="102412" name="Line 48"/>
              <p:cNvSpPr>
                <a:spLocks noChangeShapeType="1"/>
              </p:cNvSpPr>
              <p:nvPr/>
            </p:nvSpPr>
            <p:spPr bwMode="auto">
              <a:xfrm>
                <a:off x="2170" y="1200"/>
                <a:ext cx="0" cy="207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tailEnd type="triangle" w="med" len="med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02413" name="Line 49"/>
              <p:cNvSpPr>
                <a:spLocks noChangeShapeType="1"/>
              </p:cNvSpPr>
              <p:nvPr/>
            </p:nvSpPr>
            <p:spPr bwMode="auto">
              <a:xfrm>
                <a:off x="2172" y="1645"/>
                <a:ext cx="0" cy="196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tailEnd type="triangle" w="med" len="med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02414" name="Line 50"/>
              <p:cNvSpPr>
                <a:spLocks noChangeShapeType="1"/>
              </p:cNvSpPr>
              <p:nvPr/>
            </p:nvSpPr>
            <p:spPr bwMode="auto">
              <a:xfrm>
                <a:off x="2183" y="2079"/>
                <a:ext cx="0" cy="196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tailEnd type="triangle" w="med" len="med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02415" name="Line 51"/>
              <p:cNvSpPr>
                <a:spLocks noChangeShapeType="1"/>
              </p:cNvSpPr>
              <p:nvPr/>
            </p:nvSpPr>
            <p:spPr bwMode="auto">
              <a:xfrm>
                <a:off x="2193" y="2648"/>
                <a:ext cx="0" cy="186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tailEnd type="triangle" w="med" len="med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02416" name="Line 52"/>
              <p:cNvSpPr>
                <a:spLocks noChangeShapeType="1"/>
              </p:cNvSpPr>
              <p:nvPr/>
            </p:nvSpPr>
            <p:spPr bwMode="auto">
              <a:xfrm>
                <a:off x="2193" y="3196"/>
                <a:ext cx="0" cy="197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tailEnd type="triangle" w="med" len="med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02417" name="Line 53"/>
              <p:cNvSpPr>
                <a:spLocks noChangeShapeType="1"/>
              </p:cNvSpPr>
              <p:nvPr/>
            </p:nvSpPr>
            <p:spPr bwMode="auto">
              <a:xfrm flipH="1">
                <a:off x="1076" y="2462"/>
                <a:ext cx="393" cy="0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02418" name="Line 54"/>
              <p:cNvSpPr>
                <a:spLocks noChangeShapeType="1"/>
              </p:cNvSpPr>
              <p:nvPr/>
            </p:nvSpPr>
            <p:spPr bwMode="auto">
              <a:xfrm>
                <a:off x="1086" y="2462"/>
                <a:ext cx="0" cy="165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tailEnd type="triangle" w="med" len="med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02419" name="Line 55"/>
              <p:cNvSpPr>
                <a:spLocks noChangeShapeType="1"/>
              </p:cNvSpPr>
              <p:nvPr/>
            </p:nvSpPr>
            <p:spPr bwMode="auto">
              <a:xfrm flipH="1">
                <a:off x="1107" y="3010"/>
                <a:ext cx="403" cy="0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02420" name="Line 56"/>
              <p:cNvSpPr>
                <a:spLocks noChangeShapeType="1"/>
              </p:cNvSpPr>
              <p:nvPr/>
            </p:nvSpPr>
            <p:spPr bwMode="auto">
              <a:xfrm>
                <a:off x="1107" y="3020"/>
                <a:ext cx="0" cy="155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tailEnd type="triangle" w="med" len="med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02421" name="Line 57"/>
              <p:cNvSpPr>
                <a:spLocks noChangeShapeType="1"/>
              </p:cNvSpPr>
              <p:nvPr/>
            </p:nvSpPr>
            <p:spPr bwMode="auto">
              <a:xfrm>
                <a:off x="2203" y="3827"/>
                <a:ext cx="0" cy="186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02422" name="Line 58"/>
              <p:cNvSpPr>
                <a:spLocks noChangeShapeType="1"/>
              </p:cNvSpPr>
              <p:nvPr/>
            </p:nvSpPr>
            <p:spPr bwMode="auto">
              <a:xfrm>
                <a:off x="2214" y="4013"/>
                <a:ext cx="1044" cy="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02423" name="Line 59"/>
              <p:cNvSpPr>
                <a:spLocks noChangeShapeType="1"/>
              </p:cNvSpPr>
              <p:nvPr/>
            </p:nvSpPr>
            <p:spPr bwMode="auto">
              <a:xfrm flipV="1">
                <a:off x="3258" y="2203"/>
                <a:ext cx="0" cy="181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02424" name="Line 60"/>
              <p:cNvSpPr>
                <a:spLocks noChangeShapeType="1"/>
              </p:cNvSpPr>
              <p:nvPr/>
            </p:nvSpPr>
            <p:spPr bwMode="auto">
              <a:xfrm flipH="1">
                <a:off x="2183" y="2203"/>
                <a:ext cx="1075" cy="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tailEnd type="triangle" w="med" len="med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p:sp>
          <p:nvSpPr>
            <p:cNvPr id="102425" name="Text Box 61"/>
            <p:cNvSpPr txBox="1">
              <a:spLocks noChangeArrowheads="1"/>
            </p:cNvSpPr>
            <p:nvPr/>
          </p:nvSpPr>
          <p:spPr bwMode="auto">
            <a:xfrm>
              <a:off x="1592" y="1886"/>
              <a:ext cx="164" cy="22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Y</a:t>
              </a:r>
            </a:p>
          </p:txBody>
        </p:sp>
        <p:sp>
          <p:nvSpPr>
            <p:cNvPr id="102426" name="Text Box 62"/>
            <p:cNvSpPr txBox="1">
              <a:spLocks noChangeArrowheads="1"/>
            </p:cNvSpPr>
            <p:nvPr/>
          </p:nvSpPr>
          <p:spPr bwMode="auto">
            <a:xfrm>
              <a:off x="2431" y="2289"/>
              <a:ext cx="164" cy="227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N</a:t>
              </a:r>
            </a:p>
          </p:txBody>
        </p:sp>
        <p:sp>
          <p:nvSpPr>
            <p:cNvPr id="102427" name="Text Box 63"/>
            <p:cNvSpPr txBox="1">
              <a:spLocks noChangeArrowheads="1"/>
            </p:cNvSpPr>
            <p:nvPr/>
          </p:nvSpPr>
          <p:spPr bwMode="auto">
            <a:xfrm>
              <a:off x="1593" y="2482"/>
              <a:ext cx="164" cy="22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Y</a:t>
              </a:r>
            </a:p>
          </p:txBody>
        </p:sp>
        <p:sp>
          <p:nvSpPr>
            <p:cNvPr id="102428" name="Text Box 64"/>
            <p:cNvSpPr txBox="1">
              <a:spLocks noChangeArrowheads="1"/>
            </p:cNvSpPr>
            <p:nvPr/>
          </p:nvSpPr>
          <p:spPr bwMode="auto">
            <a:xfrm>
              <a:off x="2420" y="2834"/>
              <a:ext cx="164" cy="227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N</a:t>
              </a:r>
            </a:p>
          </p:txBody>
        </p:sp>
      </p:grpSp>
      <p:sp>
        <p:nvSpPr>
          <p:cNvPr id="102429" name="Rectangle 65"/>
          <p:cNvSpPr>
            <a:spLocks noChangeArrowheads="1"/>
          </p:cNvSpPr>
          <p:nvPr/>
        </p:nvSpPr>
        <p:spPr bwMode="auto">
          <a:xfrm>
            <a:off x="431800" y="1358900"/>
            <a:ext cx="3770313" cy="523875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</a:ln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给定值与关键字比较</a:t>
            </a:r>
          </a:p>
        </p:txBody>
      </p:sp>
    </p:spTree>
  </p:cSld>
  <p:clrMapOvr>
    <a:masterClrMapping/>
  </p:clrMapOvr>
  <p:transition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3" name="矩形 1"/>
          <p:cNvSpPr/>
          <p:nvPr/>
        </p:nvSpPr>
        <p:spPr>
          <a:xfrm>
            <a:off x="0" y="3357563"/>
            <a:ext cx="9158288" cy="3302000"/>
          </a:xfrm>
          <a:prstGeom prst="rect">
            <a:avLst/>
          </a:prstGeom>
          <a:solidFill>
            <a:srgbClr val="CCCCFF"/>
          </a:solidFill>
          <a:ln w="9525">
            <a:noFill/>
          </a:ln>
        </p:spPr>
        <p:txBody>
          <a:bodyPr anchor="t" anchorCtr="0"/>
          <a:lstStyle/>
          <a:p>
            <a:pPr marL="342900" indent="-342900" eaLnBrk="0" hangingPunct="0">
              <a:spcBef>
                <a:spcPct val="20000"/>
              </a:spcBef>
            </a:pPr>
            <a:endParaRPr lang="zh-CN" altLang="en-US" b="0" dirty="0">
              <a:latin typeface="Times New Roman" panose="02020603050405020304" pitchFamily="18" charset="0"/>
              <a:ea typeface="仿宋_GB2312" panose="02010609030101010101" pitchFamily="49" charset="-122"/>
            </a:endParaRPr>
          </a:p>
        </p:txBody>
      </p:sp>
      <p:sp>
        <p:nvSpPr>
          <p:cNvPr id="103427" name="Text Box 129"/>
          <p:cNvSpPr txBox="1">
            <a:spLocks noChangeArrowheads="1"/>
          </p:cNvSpPr>
          <p:nvPr/>
        </p:nvSpPr>
        <p:spPr bwMode="auto">
          <a:xfrm>
            <a:off x="35560" y="1844675"/>
            <a:ext cx="9155113" cy="860425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</a:ln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已知一组关键字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(19,14,23,1,68,20,84,27,55,11,10,79)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，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H(key)=key MOD 13, 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哈希表长为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m=16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，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设每个记录的查找概率相等。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03428" name="Text Box 130"/>
          <p:cNvSpPr txBox="1">
            <a:spLocks noChangeArrowheads="1"/>
          </p:cNvSpPr>
          <p:nvPr/>
        </p:nvSpPr>
        <p:spPr bwMode="auto">
          <a:xfrm>
            <a:off x="88900" y="2781300"/>
            <a:ext cx="8208963" cy="4619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(1) 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用线性探测再散列处理冲突，即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Hi=(H(key)+di) MOD m</a:t>
            </a:r>
          </a:p>
        </p:txBody>
      </p:sp>
      <p:grpSp>
        <p:nvGrpSpPr>
          <p:cNvPr id="141316" name="Group 131"/>
          <p:cNvGrpSpPr/>
          <p:nvPr/>
        </p:nvGrpSpPr>
        <p:grpSpPr>
          <a:xfrm>
            <a:off x="442913" y="3449638"/>
            <a:ext cx="6143625" cy="684212"/>
            <a:chOff x="1261" y="1173"/>
            <a:chExt cx="3870" cy="431"/>
          </a:xfrm>
        </p:grpSpPr>
        <p:sp>
          <p:nvSpPr>
            <p:cNvPr id="103430" name="Text Box 132"/>
            <p:cNvSpPr txBox="1">
              <a:spLocks noChangeArrowheads="1"/>
            </p:cNvSpPr>
            <p:nvPr/>
          </p:nvSpPr>
          <p:spPr bwMode="auto">
            <a:xfrm>
              <a:off x="1295" y="1173"/>
              <a:ext cx="3836" cy="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0    1    2    3    4    5    6    7    8    9   10   11 12  13  14  15</a:t>
              </a:r>
            </a:p>
          </p:txBody>
        </p:sp>
        <p:grpSp>
          <p:nvGrpSpPr>
            <p:cNvPr id="141318" name="Group 133"/>
            <p:cNvGrpSpPr/>
            <p:nvPr/>
          </p:nvGrpSpPr>
          <p:grpSpPr>
            <a:xfrm>
              <a:off x="1261" y="1365"/>
              <a:ext cx="3819" cy="239"/>
              <a:chOff x="1261" y="1365"/>
              <a:chExt cx="3819" cy="239"/>
            </a:xfrm>
          </p:grpSpPr>
          <p:sp>
            <p:nvSpPr>
              <p:cNvPr id="103432" name="Rectangle 134"/>
              <p:cNvSpPr>
                <a:spLocks noChangeArrowheads="1"/>
              </p:cNvSpPr>
              <p:nvPr/>
            </p:nvSpPr>
            <p:spPr bwMode="auto">
              <a:xfrm>
                <a:off x="1261" y="1366"/>
                <a:ext cx="3819" cy="23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1pPr>
                <a:lvl2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2pPr>
                <a:lvl3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3pPr>
                <a:lvl4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4pPr>
                <a:lvl5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03433" name="Line 135"/>
              <p:cNvSpPr>
                <a:spLocks noChangeShapeType="1"/>
              </p:cNvSpPr>
              <p:nvPr/>
            </p:nvSpPr>
            <p:spPr bwMode="auto">
              <a:xfrm>
                <a:off x="1498" y="1366"/>
                <a:ext cx="0" cy="23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03434" name="Line 136"/>
              <p:cNvSpPr>
                <a:spLocks noChangeShapeType="1"/>
              </p:cNvSpPr>
              <p:nvPr/>
            </p:nvSpPr>
            <p:spPr bwMode="auto">
              <a:xfrm>
                <a:off x="1738" y="1366"/>
                <a:ext cx="0" cy="23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03435" name="Line 137"/>
              <p:cNvSpPr>
                <a:spLocks noChangeShapeType="1"/>
              </p:cNvSpPr>
              <p:nvPr/>
            </p:nvSpPr>
            <p:spPr bwMode="auto">
              <a:xfrm>
                <a:off x="1978" y="1366"/>
                <a:ext cx="0" cy="23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03436" name="Line 138"/>
              <p:cNvSpPr>
                <a:spLocks noChangeShapeType="1"/>
              </p:cNvSpPr>
              <p:nvPr/>
            </p:nvSpPr>
            <p:spPr bwMode="auto">
              <a:xfrm>
                <a:off x="2218" y="1366"/>
                <a:ext cx="0" cy="23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03437" name="Line 139"/>
              <p:cNvSpPr>
                <a:spLocks noChangeShapeType="1"/>
              </p:cNvSpPr>
              <p:nvPr/>
            </p:nvSpPr>
            <p:spPr bwMode="auto">
              <a:xfrm>
                <a:off x="2459" y="1366"/>
                <a:ext cx="0" cy="23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03438" name="Line 140"/>
              <p:cNvSpPr>
                <a:spLocks noChangeShapeType="1"/>
              </p:cNvSpPr>
              <p:nvPr/>
            </p:nvSpPr>
            <p:spPr bwMode="auto">
              <a:xfrm>
                <a:off x="2699" y="1366"/>
                <a:ext cx="0" cy="23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03439" name="Line 141"/>
              <p:cNvSpPr>
                <a:spLocks noChangeShapeType="1"/>
              </p:cNvSpPr>
              <p:nvPr/>
            </p:nvSpPr>
            <p:spPr bwMode="auto">
              <a:xfrm>
                <a:off x="2939" y="1366"/>
                <a:ext cx="0" cy="23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03440" name="Line 142"/>
              <p:cNvSpPr>
                <a:spLocks noChangeShapeType="1"/>
              </p:cNvSpPr>
              <p:nvPr/>
            </p:nvSpPr>
            <p:spPr bwMode="auto">
              <a:xfrm>
                <a:off x="3180" y="1366"/>
                <a:ext cx="0" cy="23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03441" name="Line 143"/>
              <p:cNvSpPr>
                <a:spLocks noChangeShapeType="1"/>
              </p:cNvSpPr>
              <p:nvPr/>
            </p:nvSpPr>
            <p:spPr bwMode="auto">
              <a:xfrm>
                <a:off x="3420" y="1366"/>
                <a:ext cx="0" cy="23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03442" name="Line 144"/>
              <p:cNvSpPr>
                <a:spLocks noChangeShapeType="1"/>
              </p:cNvSpPr>
              <p:nvPr/>
            </p:nvSpPr>
            <p:spPr bwMode="auto">
              <a:xfrm>
                <a:off x="3660" y="1366"/>
                <a:ext cx="0" cy="23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03443" name="Line 145"/>
              <p:cNvSpPr>
                <a:spLocks noChangeShapeType="1"/>
              </p:cNvSpPr>
              <p:nvPr/>
            </p:nvSpPr>
            <p:spPr bwMode="auto">
              <a:xfrm>
                <a:off x="3900" y="1365"/>
                <a:ext cx="0" cy="23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03444" name="Line 146"/>
              <p:cNvSpPr>
                <a:spLocks noChangeShapeType="1"/>
              </p:cNvSpPr>
              <p:nvPr/>
            </p:nvSpPr>
            <p:spPr bwMode="auto">
              <a:xfrm>
                <a:off x="4141" y="1365"/>
                <a:ext cx="0" cy="23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03445" name="Line 147"/>
              <p:cNvSpPr>
                <a:spLocks noChangeShapeType="1"/>
              </p:cNvSpPr>
              <p:nvPr/>
            </p:nvSpPr>
            <p:spPr bwMode="auto">
              <a:xfrm>
                <a:off x="4381" y="1365"/>
                <a:ext cx="0" cy="23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03446" name="Line 148"/>
              <p:cNvSpPr>
                <a:spLocks noChangeShapeType="1"/>
              </p:cNvSpPr>
              <p:nvPr/>
            </p:nvSpPr>
            <p:spPr bwMode="auto">
              <a:xfrm>
                <a:off x="4621" y="1365"/>
                <a:ext cx="0" cy="23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03447" name="Line 149"/>
              <p:cNvSpPr>
                <a:spLocks noChangeShapeType="1"/>
              </p:cNvSpPr>
              <p:nvPr/>
            </p:nvSpPr>
            <p:spPr bwMode="auto">
              <a:xfrm>
                <a:off x="4862" y="1365"/>
                <a:ext cx="0" cy="23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</p:grpSp>
      <p:sp>
        <p:nvSpPr>
          <p:cNvPr id="103448" name="Text Box 150"/>
          <p:cNvSpPr txBox="1">
            <a:spLocks noChangeArrowheads="1"/>
          </p:cNvSpPr>
          <p:nvPr/>
        </p:nvSpPr>
        <p:spPr bwMode="auto">
          <a:xfrm>
            <a:off x="782638" y="3719513"/>
            <a:ext cx="438150" cy="3968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14</a:t>
            </a:r>
          </a:p>
        </p:txBody>
      </p:sp>
      <p:sp>
        <p:nvSpPr>
          <p:cNvPr id="103449" name="Text Box 151"/>
          <p:cNvSpPr txBox="1">
            <a:spLocks noChangeArrowheads="1"/>
          </p:cNvSpPr>
          <p:nvPr/>
        </p:nvSpPr>
        <p:spPr bwMode="auto">
          <a:xfrm>
            <a:off x="1165225" y="3719513"/>
            <a:ext cx="374650" cy="3968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1</a:t>
            </a:r>
          </a:p>
        </p:txBody>
      </p:sp>
      <p:sp>
        <p:nvSpPr>
          <p:cNvPr id="103450" name="Text Box 152"/>
          <p:cNvSpPr txBox="1">
            <a:spLocks noChangeArrowheads="1"/>
          </p:cNvSpPr>
          <p:nvPr/>
        </p:nvSpPr>
        <p:spPr bwMode="auto">
          <a:xfrm>
            <a:off x="1546225" y="3719513"/>
            <a:ext cx="438150" cy="3968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68</a:t>
            </a:r>
          </a:p>
        </p:txBody>
      </p:sp>
      <p:sp>
        <p:nvSpPr>
          <p:cNvPr id="103451" name="Text Box 153"/>
          <p:cNvSpPr txBox="1">
            <a:spLocks noChangeArrowheads="1"/>
          </p:cNvSpPr>
          <p:nvPr/>
        </p:nvSpPr>
        <p:spPr bwMode="auto">
          <a:xfrm>
            <a:off x="1928813" y="3719513"/>
            <a:ext cx="438150" cy="3968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27</a:t>
            </a:r>
          </a:p>
        </p:txBody>
      </p:sp>
      <p:sp>
        <p:nvSpPr>
          <p:cNvPr id="103452" name="Text Box 154"/>
          <p:cNvSpPr txBox="1">
            <a:spLocks noChangeArrowheads="1"/>
          </p:cNvSpPr>
          <p:nvPr/>
        </p:nvSpPr>
        <p:spPr bwMode="auto">
          <a:xfrm>
            <a:off x="2309813" y="3719513"/>
            <a:ext cx="438150" cy="3968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55</a:t>
            </a:r>
          </a:p>
        </p:txBody>
      </p:sp>
      <p:sp>
        <p:nvSpPr>
          <p:cNvPr id="103453" name="Text Box 155"/>
          <p:cNvSpPr txBox="1">
            <a:spLocks noChangeArrowheads="1"/>
          </p:cNvSpPr>
          <p:nvPr/>
        </p:nvSpPr>
        <p:spPr bwMode="auto">
          <a:xfrm>
            <a:off x="2692400" y="3719513"/>
            <a:ext cx="438150" cy="3968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19</a:t>
            </a:r>
          </a:p>
        </p:txBody>
      </p:sp>
      <p:sp>
        <p:nvSpPr>
          <p:cNvPr id="103454" name="Text Box 156"/>
          <p:cNvSpPr txBox="1">
            <a:spLocks noChangeArrowheads="1"/>
          </p:cNvSpPr>
          <p:nvPr/>
        </p:nvSpPr>
        <p:spPr bwMode="auto">
          <a:xfrm>
            <a:off x="3073400" y="3719513"/>
            <a:ext cx="438150" cy="3968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20</a:t>
            </a:r>
          </a:p>
        </p:txBody>
      </p:sp>
      <p:sp>
        <p:nvSpPr>
          <p:cNvPr id="103455" name="Text Box 157"/>
          <p:cNvSpPr txBox="1">
            <a:spLocks noChangeArrowheads="1"/>
          </p:cNvSpPr>
          <p:nvPr/>
        </p:nvSpPr>
        <p:spPr bwMode="auto">
          <a:xfrm>
            <a:off x="3455988" y="3719513"/>
            <a:ext cx="438150" cy="3968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84</a:t>
            </a:r>
          </a:p>
        </p:txBody>
      </p:sp>
      <p:sp>
        <p:nvSpPr>
          <p:cNvPr id="103456" name="Text Box 158"/>
          <p:cNvSpPr txBox="1">
            <a:spLocks noChangeArrowheads="1"/>
          </p:cNvSpPr>
          <p:nvPr/>
        </p:nvSpPr>
        <p:spPr bwMode="auto">
          <a:xfrm>
            <a:off x="3836988" y="3719513"/>
            <a:ext cx="438150" cy="3968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79</a:t>
            </a:r>
          </a:p>
        </p:txBody>
      </p:sp>
      <p:sp>
        <p:nvSpPr>
          <p:cNvPr id="103457" name="Text Box 159"/>
          <p:cNvSpPr txBox="1">
            <a:spLocks noChangeArrowheads="1"/>
          </p:cNvSpPr>
          <p:nvPr/>
        </p:nvSpPr>
        <p:spPr bwMode="auto">
          <a:xfrm>
            <a:off x="4219575" y="3719513"/>
            <a:ext cx="438150" cy="3968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23</a:t>
            </a:r>
          </a:p>
        </p:txBody>
      </p:sp>
      <p:sp>
        <p:nvSpPr>
          <p:cNvPr id="103458" name="Text Box 160"/>
          <p:cNvSpPr txBox="1">
            <a:spLocks noChangeArrowheads="1"/>
          </p:cNvSpPr>
          <p:nvPr/>
        </p:nvSpPr>
        <p:spPr bwMode="auto">
          <a:xfrm>
            <a:off x="4600575" y="3719513"/>
            <a:ext cx="438150" cy="3968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11</a:t>
            </a:r>
          </a:p>
        </p:txBody>
      </p:sp>
      <p:sp>
        <p:nvSpPr>
          <p:cNvPr id="103459" name="Text Box 161"/>
          <p:cNvSpPr txBox="1">
            <a:spLocks noChangeArrowheads="1"/>
          </p:cNvSpPr>
          <p:nvPr/>
        </p:nvSpPr>
        <p:spPr bwMode="auto">
          <a:xfrm>
            <a:off x="4981575" y="3719513"/>
            <a:ext cx="438150" cy="3968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10</a:t>
            </a:r>
          </a:p>
        </p:txBody>
      </p:sp>
      <p:sp>
        <p:nvSpPr>
          <p:cNvPr id="103461" name="Text Box 172"/>
          <p:cNvSpPr txBox="1">
            <a:spLocks noChangeArrowheads="1"/>
          </p:cNvSpPr>
          <p:nvPr/>
        </p:nvSpPr>
        <p:spPr bwMode="auto">
          <a:xfrm>
            <a:off x="730250" y="4887913"/>
            <a:ext cx="5856288" cy="5191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342900" indent="-3429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847021" name="Text Box 173"/>
          <p:cNvSpPr txBox="1">
            <a:spLocks noChangeArrowheads="1"/>
          </p:cNvSpPr>
          <p:nvPr/>
        </p:nvSpPr>
        <p:spPr bwMode="auto">
          <a:xfrm>
            <a:off x="730250" y="4133850"/>
            <a:ext cx="5046663" cy="5191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342900" indent="-3429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1   2   1  4   3  1  1  3   9  1   1  3   </a:t>
            </a:r>
          </a:p>
        </p:txBody>
      </p:sp>
      <p:sp>
        <p:nvSpPr>
          <p:cNvPr id="847022" name="Text Box 174"/>
          <p:cNvSpPr txBox="1">
            <a:spLocks noChangeArrowheads="1"/>
          </p:cNvSpPr>
          <p:nvPr/>
        </p:nvSpPr>
        <p:spPr bwMode="auto">
          <a:xfrm>
            <a:off x="496888" y="4711700"/>
            <a:ext cx="1074738" cy="3968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H(19)=6</a:t>
            </a:r>
          </a:p>
        </p:txBody>
      </p:sp>
      <p:sp>
        <p:nvSpPr>
          <p:cNvPr id="847023" name="Text Box 175"/>
          <p:cNvSpPr txBox="1">
            <a:spLocks noChangeArrowheads="1"/>
          </p:cNvSpPr>
          <p:nvPr/>
        </p:nvSpPr>
        <p:spPr bwMode="auto">
          <a:xfrm>
            <a:off x="496888" y="5022850"/>
            <a:ext cx="1074738" cy="3968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H(14)=1</a:t>
            </a:r>
          </a:p>
        </p:txBody>
      </p:sp>
      <p:sp>
        <p:nvSpPr>
          <p:cNvPr id="847024" name="Text Box 176"/>
          <p:cNvSpPr txBox="1">
            <a:spLocks noChangeArrowheads="1"/>
          </p:cNvSpPr>
          <p:nvPr/>
        </p:nvSpPr>
        <p:spPr bwMode="auto">
          <a:xfrm>
            <a:off x="496888" y="5332413"/>
            <a:ext cx="1201738" cy="3968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H(23)=10</a:t>
            </a:r>
          </a:p>
        </p:txBody>
      </p:sp>
      <p:sp>
        <p:nvSpPr>
          <p:cNvPr id="847025" name="Text Box 177"/>
          <p:cNvSpPr txBox="1">
            <a:spLocks noChangeArrowheads="1"/>
          </p:cNvSpPr>
          <p:nvPr/>
        </p:nvSpPr>
        <p:spPr bwMode="auto">
          <a:xfrm>
            <a:off x="496888" y="5643563"/>
            <a:ext cx="4276725" cy="3968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H(1)=1     </a:t>
            </a:r>
            <a:r>
              <a:rPr kumimoji="0" lang="zh-CN" altLang="zh-CN" sz="2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冲突，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H1=(1+1) MOD16=2</a:t>
            </a:r>
          </a:p>
        </p:txBody>
      </p:sp>
      <p:sp>
        <p:nvSpPr>
          <p:cNvPr id="847026" name="Text Box 178"/>
          <p:cNvSpPr txBox="1">
            <a:spLocks noChangeArrowheads="1"/>
          </p:cNvSpPr>
          <p:nvPr/>
        </p:nvSpPr>
        <p:spPr bwMode="auto">
          <a:xfrm>
            <a:off x="496888" y="5953125"/>
            <a:ext cx="1074738" cy="3968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H(68)=3</a:t>
            </a:r>
          </a:p>
        </p:txBody>
      </p:sp>
      <p:sp>
        <p:nvSpPr>
          <p:cNvPr id="847027" name="Text Box 179"/>
          <p:cNvSpPr txBox="1">
            <a:spLocks noChangeArrowheads="1"/>
          </p:cNvSpPr>
          <p:nvPr/>
        </p:nvSpPr>
        <p:spPr bwMode="auto">
          <a:xfrm>
            <a:off x="496888" y="6262688"/>
            <a:ext cx="1074738" cy="3968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H(20)=7</a:t>
            </a:r>
          </a:p>
        </p:txBody>
      </p:sp>
      <p:sp>
        <p:nvSpPr>
          <p:cNvPr id="847028" name="Text Box 180"/>
          <p:cNvSpPr txBox="1">
            <a:spLocks noChangeArrowheads="1"/>
          </p:cNvSpPr>
          <p:nvPr/>
        </p:nvSpPr>
        <p:spPr bwMode="auto">
          <a:xfrm>
            <a:off x="4859338" y="4897438"/>
            <a:ext cx="4213225" cy="10064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H(27)=1   </a:t>
            </a:r>
            <a:r>
              <a:rPr kumimoji="0" lang="zh-CN" altLang="zh-CN" sz="2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冲突，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H1=(1+1)MOD16=2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           </a:t>
            </a:r>
            <a:r>
              <a:rPr kumimoji="0" lang="zh-CN" altLang="zh-CN" sz="2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冲突，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H2=(1+2)MOD16=3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           </a:t>
            </a:r>
            <a:r>
              <a:rPr kumimoji="0" lang="zh-CN" altLang="zh-CN" sz="2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冲突，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H3=(1+3)MOD16=4</a:t>
            </a:r>
          </a:p>
        </p:txBody>
      </p:sp>
      <p:sp>
        <p:nvSpPr>
          <p:cNvPr id="847029" name="Text Box 181"/>
          <p:cNvSpPr txBox="1">
            <a:spLocks noChangeArrowheads="1"/>
          </p:cNvSpPr>
          <p:nvPr/>
        </p:nvSpPr>
        <p:spPr bwMode="auto">
          <a:xfrm>
            <a:off x="35243" y="836930"/>
            <a:ext cx="4136390" cy="46037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ASL=(1*6+2+3*3+4+9)/12=2.5</a:t>
            </a:r>
          </a:p>
        </p:txBody>
      </p:sp>
      <p:sp>
        <p:nvSpPr>
          <p:cNvPr id="103471" name="Rectangle 182"/>
          <p:cNvSpPr>
            <a:spLocks noChangeArrowheads="1"/>
          </p:cNvSpPr>
          <p:nvPr/>
        </p:nvSpPr>
        <p:spPr bwMode="auto">
          <a:xfrm>
            <a:off x="819150" y="241300"/>
            <a:ext cx="3243263" cy="51593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哈希表的查找</a:t>
            </a:r>
          </a:p>
        </p:txBody>
      </p:sp>
      <p:graphicFrame>
        <p:nvGraphicFramePr>
          <p:cNvPr id="2" name="对象 -2147482509"/>
          <p:cNvGraphicFramePr>
            <a:graphicFrameLocks noChangeAspect="1"/>
          </p:cNvGraphicFramePr>
          <p:nvPr/>
        </p:nvGraphicFramePr>
        <p:xfrm>
          <a:off x="2123440" y="1225550"/>
          <a:ext cx="6951980" cy="6769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9" r:id="rId4" imgW="3427730" imgH="393700" progId="Equation.DSMT4">
                  <p:embed/>
                </p:oleObj>
              </mc:Choice>
              <mc:Fallback>
                <p:oleObj r:id="rId4" imgW="3427730" imgH="3937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23440" y="1225550"/>
                        <a:ext cx="6951980" cy="67691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0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8470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0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8470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0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8470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0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8470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0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8470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847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0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8470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0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8470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0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7" dur="500"/>
                                        <p:tgtEl>
                                          <p:spTgt spid="8470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2" dur="2000"/>
                                        <p:tgtEl>
                                          <p:spTgt spid="847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8470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8470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7021" grpId="0"/>
      <p:bldP spid="847022" grpId="0" build="p"/>
      <p:bldP spid="847023" grpId="0" build="p"/>
      <p:bldP spid="847024" grpId="0" build="p"/>
      <p:bldP spid="847025" grpId="0" build="p"/>
      <p:bldP spid="847026" grpId="0" build="p"/>
      <p:bldP spid="847027" grpId="0" build="p"/>
      <p:bldP spid="847028" grpId="0" build="p"/>
      <p:bldP spid="847029" grpId="0" bldLvl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2277110"/>
            <a:ext cx="9144000" cy="4608513"/>
          </a:xfrm>
          <a:prstGeom prst="rect">
            <a:avLst/>
          </a:prstGeom>
          <a:solidFill>
            <a:srgbClr val="CCCCFF"/>
          </a:solidFill>
          <a:ln w="9525">
            <a:noFill/>
          </a:ln>
        </p:spPr>
        <p:txBody>
          <a:bodyPr anchor="t" anchorCtr="0"/>
          <a:lstStyle/>
          <a:p>
            <a:pPr marL="342900" indent="-342900" eaLnBrk="0" hangingPunct="0">
              <a:spcBef>
                <a:spcPct val="20000"/>
              </a:spcBef>
            </a:pPr>
            <a:endParaRPr lang="zh-CN" altLang="en-US" b="0" dirty="0">
              <a:latin typeface="Times New Roman" panose="02020603050405020304" pitchFamily="18" charset="0"/>
              <a:ea typeface="仿宋_GB2312" panose="02010609030101010101" pitchFamily="49" charset="-122"/>
            </a:endParaRPr>
          </a:p>
        </p:txBody>
      </p:sp>
      <p:sp>
        <p:nvSpPr>
          <p:cNvPr id="1028100" name="Text Box 4"/>
          <p:cNvSpPr txBox="1">
            <a:spLocks noChangeArrowheads="1"/>
          </p:cNvSpPr>
          <p:nvPr/>
        </p:nvSpPr>
        <p:spPr bwMode="auto">
          <a:xfrm>
            <a:off x="15875" y="1772603"/>
            <a:ext cx="3567113" cy="4619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(2) 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用链地址法处理冲突</a:t>
            </a:r>
          </a:p>
        </p:txBody>
      </p:sp>
      <p:grpSp>
        <p:nvGrpSpPr>
          <p:cNvPr id="2" name="Group 5"/>
          <p:cNvGrpSpPr/>
          <p:nvPr/>
        </p:nvGrpSpPr>
        <p:grpSpPr>
          <a:xfrm>
            <a:off x="493713" y="2376488"/>
            <a:ext cx="5886450" cy="4365625"/>
            <a:chOff x="1010" y="1448"/>
            <a:chExt cx="3708" cy="2750"/>
          </a:xfrm>
        </p:grpSpPr>
        <p:grpSp>
          <p:nvGrpSpPr>
            <p:cNvPr id="142340" name="Group 6"/>
            <p:cNvGrpSpPr/>
            <p:nvPr/>
          </p:nvGrpSpPr>
          <p:grpSpPr>
            <a:xfrm>
              <a:off x="1303" y="1448"/>
              <a:ext cx="373" cy="2576"/>
              <a:chOff x="1303" y="1448"/>
              <a:chExt cx="373" cy="2576"/>
            </a:xfrm>
          </p:grpSpPr>
          <p:sp>
            <p:nvSpPr>
              <p:cNvPr id="104453" name="Rectangle 7"/>
              <p:cNvSpPr>
                <a:spLocks noChangeArrowheads="1"/>
              </p:cNvSpPr>
              <p:nvPr/>
            </p:nvSpPr>
            <p:spPr bwMode="auto">
              <a:xfrm>
                <a:off x="1303" y="1448"/>
                <a:ext cx="373" cy="257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1pPr>
                <a:lvl2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2pPr>
                <a:lvl3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3pPr>
                <a:lvl4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4pPr>
                <a:lvl5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04454" name="Line 8"/>
              <p:cNvSpPr>
                <a:spLocks noChangeShapeType="1"/>
              </p:cNvSpPr>
              <p:nvPr/>
            </p:nvSpPr>
            <p:spPr bwMode="auto">
              <a:xfrm>
                <a:off x="1303" y="1645"/>
                <a:ext cx="37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04455" name="Line 9"/>
              <p:cNvSpPr>
                <a:spLocks noChangeShapeType="1"/>
              </p:cNvSpPr>
              <p:nvPr/>
            </p:nvSpPr>
            <p:spPr bwMode="auto">
              <a:xfrm>
                <a:off x="1303" y="1842"/>
                <a:ext cx="37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04456" name="Line 10"/>
              <p:cNvSpPr>
                <a:spLocks noChangeShapeType="1"/>
              </p:cNvSpPr>
              <p:nvPr/>
            </p:nvSpPr>
            <p:spPr bwMode="auto">
              <a:xfrm>
                <a:off x="1303" y="2040"/>
                <a:ext cx="37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04457" name="Line 11"/>
              <p:cNvSpPr>
                <a:spLocks noChangeShapeType="1"/>
              </p:cNvSpPr>
              <p:nvPr/>
            </p:nvSpPr>
            <p:spPr bwMode="auto">
              <a:xfrm>
                <a:off x="1303" y="2237"/>
                <a:ext cx="37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04458" name="Line 12"/>
              <p:cNvSpPr>
                <a:spLocks noChangeShapeType="1"/>
              </p:cNvSpPr>
              <p:nvPr/>
            </p:nvSpPr>
            <p:spPr bwMode="auto">
              <a:xfrm>
                <a:off x="1303" y="2435"/>
                <a:ext cx="37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04459" name="Line 13"/>
              <p:cNvSpPr>
                <a:spLocks noChangeShapeType="1"/>
              </p:cNvSpPr>
              <p:nvPr/>
            </p:nvSpPr>
            <p:spPr bwMode="auto">
              <a:xfrm>
                <a:off x="1303" y="2632"/>
                <a:ext cx="37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04460" name="Line 14"/>
              <p:cNvSpPr>
                <a:spLocks noChangeShapeType="1"/>
              </p:cNvSpPr>
              <p:nvPr/>
            </p:nvSpPr>
            <p:spPr bwMode="auto">
              <a:xfrm>
                <a:off x="1303" y="2830"/>
                <a:ext cx="37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04461" name="Line 15"/>
              <p:cNvSpPr>
                <a:spLocks noChangeShapeType="1"/>
              </p:cNvSpPr>
              <p:nvPr/>
            </p:nvSpPr>
            <p:spPr bwMode="auto">
              <a:xfrm>
                <a:off x="1303" y="3027"/>
                <a:ext cx="37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04462" name="Line 16"/>
              <p:cNvSpPr>
                <a:spLocks noChangeShapeType="1"/>
              </p:cNvSpPr>
              <p:nvPr/>
            </p:nvSpPr>
            <p:spPr bwMode="auto">
              <a:xfrm>
                <a:off x="1303" y="3225"/>
                <a:ext cx="37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04463" name="Line 17"/>
              <p:cNvSpPr>
                <a:spLocks noChangeShapeType="1"/>
              </p:cNvSpPr>
              <p:nvPr/>
            </p:nvSpPr>
            <p:spPr bwMode="auto">
              <a:xfrm>
                <a:off x="1303" y="3422"/>
                <a:ext cx="37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04464" name="Line 18"/>
              <p:cNvSpPr>
                <a:spLocks noChangeShapeType="1"/>
              </p:cNvSpPr>
              <p:nvPr/>
            </p:nvSpPr>
            <p:spPr bwMode="auto">
              <a:xfrm>
                <a:off x="1303" y="3620"/>
                <a:ext cx="37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04465" name="Line 19"/>
              <p:cNvSpPr>
                <a:spLocks noChangeShapeType="1"/>
              </p:cNvSpPr>
              <p:nvPr/>
            </p:nvSpPr>
            <p:spPr bwMode="auto">
              <a:xfrm>
                <a:off x="1303" y="3818"/>
                <a:ext cx="37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p:sp>
          <p:nvSpPr>
            <p:cNvPr id="104466" name="Text Box 20"/>
            <p:cNvSpPr txBox="1">
              <a:spLocks noChangeArrowheads="1"/>
            </p:cNvSpPr>
            <p:nvPr/>
          </p:nvSpPr>
          <p:spPr bwMode="auto">
            <a:xfrm>
              <a:off x="1010" y="1450"/>
              <a:ext cx="349" cy="2748"/>
            </a:xfrm>
            <a:prstGeom prst="rect">
              <a:avLst/>
            </a:prstGeom>
            <a:noFill/>
            <a:ln>
              <a:noFill/>
            </a:ln>
          </p:spPr>
          <p:txBody>
            <a:bodyPr vert="eaVert" wrap="square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A834A8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0  1   2  3  4  5   6  7  8  9 </a:t>
              </a: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A834A8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10 11 12 </a:t>
              </a:r>
            </a:p>
          </p:txBody>
        </p:sp>
        <p:grpSp>
          <p:nvGrpSpPr>
            <p:cNvPr id="142355" name="Group 21"/>
            <p:cNvGrpSpPr/>
            <p:nvPr/>
          </p:nvGrpSpPr>
          <p:grpSpPr>
            <a:xfrm>
              <a:off x="1552" y="1623"/>
              <a:ext cx="869" cy="218"/>
              <a:chOff x="1976" y="2813"/>
              <a:chExt cx="869" cy="218"/>
            </a:xfrm>
          </p:grpSpPr>
          <p:sp>
            <p:nvSpPr>
              <p:cNvPr id="104468" name="Rectangle 22"/>
              <p:cNvSpPr>
                <a:spLocks noChangeArrowheads="1"/>
              </p:cNvSpPr>
              <p:nvPr/>
            </p:nvSpPr>
            <p:spPr bwMode="auto">
              <a:xfrm>
                <a:off x="2234" y="2813"/>
                <a:ext cx="611" cy="21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1pPr>
                <a:lvl2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2pPr>
                <a:lvl3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3pPr>
                <a:lvl4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4pPr>
                <a:lvl5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66FF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rPr>
                  <a:t>14</a:t>
                </a:r>
                <a:endPara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04469" name="Line 23"/>
              <p:cNvSpPr>
                <a:spLocks noChangeShapeType="1"/>
              </p:cNvSpPr>
              <p:nvPr/>
            </p:nvSpPr>
            <p:spPr bwMode="auto">
              <a:xfrm>
                <a:off x="2555" y="2813"/>
                <a:ext cx="0" cy="21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04470" name="Line 24"/>
              <p:cNvSpPr>
                <a:spLocks noChangeShapeType="1"/>
              </p:cNvSpPr>
              <p:nvPr/>
            </p:nvSpPr>
            <p:spPr bwMode="auto">
              <a:xfrm>
                <a:off x="1976" y="2927"/>
                <a:ext cx="2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p:sp>
          <p:nvSpPr>
            <p:cNvPr id="104471" name="Text Box 25"/>
            <p:cNvSpPr txBox="1">
              <a:spLocks noChangeArrowheads="1"/>
            </p:cNvSpPr>
            <p:nvPr/>
          </p:nvSpPr>
          <p:spPr bwMode="auto">
            <a:xfrm>
              <a:off x="1362" y="1448"/>
              <a:ext cx="209" cy="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^</a:t>
              </a:r>
            </a:p>
          </p:txBody>
        </p:sp>
        <p:grpSp>
          <p:nvGrpSpPr>
            <p:cNvPr id="142360" name="Group 26"/>
            <p:cNvGrpSpPr/>
            <p:nvPr/>
          </p:nvGrpSpPr>
          <p:grpSpPr>
            <a:xfrm>
              <a:off x="2317" y="1623"/>
              <a:ext cx="869" cy="218"/>
              <a:chOff x="1976" y="2813"/>
              <a:chExt cx="869" cy="218"/>
            </a:xfrm>
          </p:grpSpPr>
          <p:sp>
            <p:nvSpPr>
              <p:cNvPr id="104473" name="Rectangle 27"/>
              <p:cNvSpPr>
                <a:spLocks noChangeArrowheads="1"/>
              </p:cNvSpPr>
              <p:nvPr/>
            </p:nvSpPr>
            <p:spPr bwMode="auto">
              <a:xfrm>
                <a:off x="2234" y="2813"/>
                <a:ext cx="611" cy="21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1pPr>
                <a:lvl2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2pPr>
                <a:lvl3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3pPr>
                <a:lvl4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4pPr>
                <a:lvl5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chemeClr val="folHlink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rPr>
                  <a:t>1</a:t>
                </a:r>
                <a:endPara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04474" name="Line 28"/>
              <p:cNvSpPr>
                <a:spLocks noChangeShapeType="1"/>
              </p:cNvSpPr>
              <p:nvPr/>
            </p:nvSpPr>
            <p:spPr bwMode="auto">
              <a:xfrm>
                <a:off x="2555" y="2813"/>
                <a:ext cx="0" cy="21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04475" name="Line 29"/>
              <p:cNvSpPr>
                <a:spLocks noChangeShapeType="1"/>
              </p:cNvSpPr>
              <p:nvPr/>
            </p:nvSpPr>
            <p:spPr bwMode="auto">
              <a:xfrm>
                <a:off x="1976" y="2927"/>
                <a:ext cx="2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p:grpSp>
          <p:nvGrpSpPr>
            <p:cNvPr id="142364" name="Group 30"/>
            <p:cNvGrpSpPr/>
            <p:nvPr/>
          </p:nvGrpSpPr>
          <p:grpSpPr>
            <a:xfrm>
              <a:off x="3094" y="1622"/>
              <a:ext cx="869" cy="218"/>
              <a:chOff x="1976" y="2813"/>
              <a:chExt cx="869" cy="218"/>
            </a:xfrm>
          </p:grpSpPr>
          <p:sp>
            <p:nvSpPr>
              <p:cNvPr id="104477" name="Rectangle 31"/>
              <p:cNvSpPr>
                <a:spLocks noChangeArrowheads="1"/>
              </p:cNvSpPr>
              <p:nvPr/>
            </p:nvSpPr>
            <p:spPr bwMode="auto">
              <a:xfrm>
                <a:off x="2234" y="2813"/>
                <a:ext cx="611" cy="21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1pPr>
                <a:lvl2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2pPr>
                <a:lvl3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3pPr>
                <a:lvl4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4pPr>
                <a:lvl5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rPr>
                  <a:t>27</a:t>
                </a:r>
                <a:endPara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04478" name="Line 32"/>
              <p:cNvSpPr>
                <a:spLocks noChangeShapeType="1"/>
              </p:cNvSpPr>
              <p:nvPr/>
            </p:nvSpPr>
            <p:spPr bwMode="auto">
              <a:xfrm>
                <a:off x="2555" y="2813"/>
                <a:ext cx="0" cy="21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04479" name="Line 33"/>
              <p:cNvSpPr>
                <a:spLocks noChangeShapeType="1"/>
              </p:cNvSpPr>
              <p:nvPr/>
            </p:nvSpPr>
            <p:spPr bwMode="auto">
              <a:xfrm>
                <a:off x="1976" y="2927"/>
                <a:ext cx="2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p:grpSp>
          <p:nvGrpSpPr>
            <p:cNvPr id="142368" name="Group 34"/>
            <p:cNvGrpSpPr/>
            <p:nvPr/>
          </p:nvGrpSpPr>
          <p:grpSpPr>
            <a:xfrm>
              <a:off x="3849" y="1624"/>
              <a:ext cx="869" cy="218"/>
              <a:chOff x="1976" y="2813"/>
              <a:chExt cx="869" cy="218"/>
            </a:xfrm>
          </p:grpSpPr>
          <p:sp>
            <p:nvSpPr>
              <p:cNvPr id="104481" name="Rectangle 35"/>
              <p:cNvSpPr>
                <a:spLocks noChangeArrowheads="1"/>
              </p:cNvSpPr>
              <p:nvPr/>
            </p:nvSpPr>
            <p:spPr bwMode="auto">
              <a:xfrm>
                <a:off x="2234" y="2813"/>
                <a:ext cx="611" cy="21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1pPr>
                <a:lvl2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2pPr>
                <a:lvl3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3pPr>
                <a:lvl4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4pPr>
                <a:lvl5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CC00CC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rPr>
                  <a:t>79</a:t>
                </a:r>
              </a:p>
            </p:txBody>
          </p:sp>
          <p:sp>
            <p:nvSpPr>
              <p:cNvPr id="104482" name="Line 36"/>
              <p:cNvSpPr>
                <a:spLocks noChangeShapeType="1"/>
              </p:cNvSpPr>
              <p:nvPr/>
            </p:nvSpPr>
            <p:spPr bwMode="auto">
              <a:xfrm>
                <a:off x="2555" y="2813"/>
                <a:ext cx="0" cy="21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04483" name="Line 37"/>
              <p:cNvSpPr>
                <a:spLocks noChangeShapeType="1"/>
              </p:cNvSpPr>
              <p:nvPr/>
            </p:nvSpPr>
            <p:spPr bwMode="auto">
              <a:xfrm>
                <a:off x="1976" y="2927"/>
                <a:ext cx="2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p:grpSp>
          <p:nvGrpSpPr>
            <p:cNvPr id="142372" name="Group 38"/>
            <p:cNvGrpSpPr/>
            <p:nvPr/>
          </p:nvGrpSpPr>
          <p:grpSpPr>
            <a:xfrm>
              <a:off x="1563" y="2007"/>
              <a:ext cx="869" cy="218"/>
              <a:chOff x="1976" y="2813"/>
              <a:chExt cx="869" cy="218"/>
            </a:xfrm>
          </p:grpSpPr>
          <p:sp>
            <p:nvSpPr>
              <p:cNvPr id="104485" name="Rectangle 39"/>
              <p:cNvSpPr>
                <a:spLocks noChangeArrowheads="1"/>
              </p:cNvSpPr>
              <p:nvPr/>
            </p:nvSpPr>
            <p:spPr bwMode="auto">
              <a:xfrm>
                <a:off x="2234" y="2813"/>
                <a:ext cx="611" cy="21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1pPr>
                <a:lvl2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2pPr>
                <a:lvl3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3pPr>
                <a:lvl4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4pPr>
                <a:lvl5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66FF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rPr>
                  <a:t>68</a:t>
                </a:r>
                <a:endPara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04486" name="Line 40"/>
              <p:cNvSpPr>
                <a:spLocks noChangeShapeType="1"/>
              </p:cNvSpPr>
              <p:nvPr/>
            </p:nvSpPr>
            <p:spPr bwMode="auto">
              <a:xfrm>
                <a:off x="2555" y="2813"/>
                <a:ext cx="0" cy="21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04487" name="Line 41"/>
              <p:cNvSpPr>
                <a:spLocks noChangeShapeType="1"/>
              </p:cNvSpPr>
              <p:nvPr/>
            </p:nvSpPr>
            <p:spPr bwMode="auto">
              <a:xfrm>
                <a:off x="1976" y="2927"/>
                <a:ext cx="2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p:grpSp>
          <p:nvGrpSpPr>
            <p:cNvPr id="142376" name="Group 42"/>
            <p:cNvGrpSpPr/>
            <p:nvPr/>
          </p:nvGrpSpPr>
          <p:grpSpPr>
            <a:xfrm>
              <a:off x="2338" y="2006"/>
              <a:ext cx="869" cy="218"/>
              <a:chOff x="1976" y="2813"/>
              <a:chExt cx="869" cy="218"/>
            </a:xfrm>
          </p:grpSpPr>
          <p:sp>
            <p:nvSpPr>
              <p:cNvPr id="104489" name="Rectangle 43"/>
              <p:cNvSpPr>
                <a:spLocks noChangeArrowheads="1"/>
              </p:cNvSpPr>
              <p:nvPr/>
            </p:nvSpPr>
            <p:spPr bwMode="auto">
              <a:xfrm>
                <a:off x="2234" y="2813"/>
                <a:ext cx="611" cy="21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1pPr>
                <a:lvl2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2pPr>
                <a:lvl3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3pPr>
                <a:lvl4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4pPr>
                <a:lvl5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chemeClr val="folHlink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rPr>
                  <a:t>55</a:t>
                </a:r>
                <a:endPara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04490" name="Line 44"/>
              <p:cNvSpPr>
                <a:spLocks noChangeShapeType="1"/>
              </p:cNvSpPr>
              <p:nvPr/>
            </p:nvSpPr>
            <p:spPr bwMode="auto">
              <a:xfrm>
                <a:off x="2555" y="2813"/>
                <a:ext cx="0" cy="21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04491" name="Line 45"/>
              <p:cNvSpPr>
                <a:spLocks noChangeShapeType="1"/>
              </p:cNvSpPr>
              <p:nvPr/>
            </p:nvSpPr>
            <p:spPr bwMode="auto">
              <a:xfrm>
                <a:off x="1976" y="2927"/>
                <a:ext cx="2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p:grpSp>
          <p:nvGrpSpPr>
            <p:cNvPr id="142380" name="Group 46"/>
            <p:cNvGrpSpPr/>
            <p:nvPr/>
          </p:nvGrpSpPr>
          <p:grpSpPr>
            <a:xfrm>
              <a:off x="1573" y="2617"/>
              <a:ext cx="869" cy="218"/>
              <a:chOff x="1976" y="2813"/>
              <a:chExt cx="869" cy="218"/>
            </a:xfrm>
          </p:grpSpPr>
          <p:sp>
            <p:nvSpPr>
              <p:cNvPr id="104493" name="Rectangle 47"/>
              <p:cNvSpPr>
                <a:spLocks noChangeArrowheads="1"/>
              </p:cNvSpPr>
              <p:nvPr/>
            </p:nvSpPr>
            <p:spPr bwMode="auto">
              <a:xfrm>
                <a:off x="2234" y="2813"/>
                <a:ext cx="611" cy="21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1pPr>
                <a:lvl2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2pPr>
                <a:lvl3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3pPr>
                <a:lvl4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4pPr>
                <a:lvl5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66FF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rPr>
                  <a:t>19</a:t>
                </a:r>
                <a:endPara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04494" name="Line 48"/>
              <p:cNvSpPr>
                <a:spLocks noChangeShapeType="1"/>
              </p:cNvSpPr>
              <p:nvPr/>
            </p:nvSpPr>
            <p:spPr bwMode="auto">
              <a:xfrm>
                <a:off x="2555" y="2813"/>
                <a:ext cx="0" cy="21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04495" name="Line 49"/>
              <p:cNvSpPr>
                <a:spLocks noChangeShapeType="1"/>
              </p:cNvSpPr>
              <p:nvPr/>
            </p:nvSpPr>
            <p:spPr bwMode="auto">
              <a:xfrm>
                <a:off x="1976" y="2927"/>
                <a:ext cx="2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p:grpSp>
          <p:nvGrpSpPr>
            <p:cNvPr id="142384" name="Group 50"/>
            <p:cNvGrpSpPr/>
            <p:nvPr/>
          </p:nvGrpSpPr>
          <p:grpSpPr>
            <a:xfrm>
              <a:off x="2338" y="2617"/>
              <a:ext cx="869" cy="218"/>
              <a:chOff x="1976" y="2813"/>
              <a:chExt cx="869" cy="218"/>
            </a:xfrm>
          </p:grpSpPr>
          <p:sp>
            <p:nvSpPr>
              <p:cNvPr id="104497" name="Rectangle 51"/>
              <p:cNvSpPr>
                <a:spLocks noChangeArrowheads="1"/>
              </p:cNvSpPr>
              <p:nvPr/>
            </p:nvSpPr>
            <p:spPr bwMode="auto">
              <a:xfrm>
                <a:off x="2234" y="2813"/>
                <a:ext cx="611" cy="21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1pPr>
                <a:lvl2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2pPr>
                <a:lvl3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3pPr>
                <a:lvl4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4pPr>
                <a:lvl5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chemeClr val="folHlink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rPr>
                  <a:t>84</a:t>
                </a:r>
                <a:endPara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04498" name="Line 52"/>
              <p:cNvSpPr>
                <a:spLocks noChangeShapeType="1"/>
              </p:cNvSpPr>
              <p:nvPr/>
            </p:nvSpPr>
            <p:spPr bwMode="auto">
              <a:xfrm>
                <a:off x="2555" y="2813"/>
                <a:ext cx="0" cy="21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04499" name="Line 53"/>
              <p:cNvSpPr>
                <a:spLocks noChangeShapeType="1"/>
              </p:cNvSpPr>
              <p:nvPr/>
            </p:nvSpPr>
            <p:spPr bwMode="auto">
              <a:xfrm>
                <a:off x="1976" y="2927"/>
                <a:ext cx="2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p:grpSp>
          <p:nvGrpSpPr>
            <p:cNvPr id="142388" name="Group 54"/>
            <p:cNvGrpSpPr/>
            <p:nvPr/>
          </p:nvGrpSpPr>
          <p:grpSpPr>
            <a:xfrm>
              <a:off x="1572" y="2875"/>
              <a:ext cx="869" cy="218"/>
              <a:chOff x="1976" y="2813"/>
              <a:chExt cx="869" cy="218"/>
            </a:xfrm>
          </p:grpSpPr>
          <p:sp>
            <p:nvSpPr>
              <p:cNvPr id="104501" name="Rectangle 55"/>
              <p:cNvSpPr>
                <a:spLocks noChangeArrowheads="1"/>
              </p:cNvSpPr>
              <p:nvPr/>
            </p:nvSpPr>
            <p:spPr bwMode="auto">
              <a:xfrm>
                <a:off x="2234" y="2813"/>
                <a:ext cx="611" cy="21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1pPr>
                <a:lvl2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2pPr>
                <a:lvl3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3pPr>
                <a:lvl4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4pPr>
                <a:lvl5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66FF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rPr>
                  <a:t>20</a:t>
                </a:r>
                <a:endPara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04502" name="Line 56"/>
              <p:cNvSpPr>
                <a:spLocks noChangeShapeType="1"/>
              </p:cNvSpPr>
              <p:nvPr/>
            </p:nvSpPr>
            <p:spPr bwMode="auto">
              <a:xfrm>
                <a:off x="2555" y="2813"/>
                <a:ext cx="0" cy="21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04503" name="Line 57"/>
              <p:cNvSpPr>
                <a:spLocks noChangeShapeType="1"/>
              </p:cNvSpPr>
              <p:nvPr/>
            </p:nvSpPr>
            <p:spPr bwMode="auto">
              <a:xfrm>
                <a:off x="1976" y="2927"/>
                <a:ext cx="2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p:grpSp>
          <p:nvGrpSpPr>
            <p:cNvPr id="142392" name="Group 58"/>
            <p:cNvGrpSpPr/>
            <p:nvPr/>
          </p:nvGrpSpPr>
          <p:grpSpPr>
            <a:xfrm>
              <a:off x="1583" y="3382"/>
              <a:ext cx="869" cy="218"/>
              <a:chOff x="1976" y="2813"/>
              <a:chExt cx="869" cy="218"/>
            </a:xfrm>
          </p:grpSpPr>
          <p:sp>
            <p:nvSpPr>
              <p:cNvPr id="104505" name="Rectangle 59"/>
              <p:cNvSpPr>
                <a:spLocks noChangeArrowheads="1"/>
              </p:cNvSpPr>
              <p:nvPr/>
            </p:nvSpPr>
            <p:spPr bwMode="auto">
              <a:xfrm>
                <a:off x="2234" y="2813"/>
                <a:ext cx="611" cy="21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1pPr>
                <a:lvl2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2pPr>
                <a:lvl3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3pPr>
                <a:lvl4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4pPr>
                <a:lvl5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66FF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rPr>
                  <a:t>23</a:t>
                </a:r>
                <a:endPara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04506" name="Line 60"/>
              <p:cNvSpPr>
                <a:spLocks noChangeShapeType="1"/>
              </p:cNvSpPr>
              <p:nvPr/>
            </p:nvSpPr>
            <p:spPr bwMode="auto">
              <a:xfrm>
                <a:off x="2555" y="2813"/>
                <a:ext cx="0" cy="21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04507" name="Line 61"/>
              <p:cNvSpPr>
                <a:spLocks noChangeShapeType="1"/>
              </p:cNvSpPr>
              <p:nvPr/>
            </p:nvSpPr>
            <p:spPr bwMode="auto">
              <a:xfrm>
                <a:off x="1976" y="2927"/>
                <a:ext cx="2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p:grpSp>
          <p:nvGrpSpPr>
            <p:cNvPr id="142396" name="Group 62"/>
            <p:cNvGrpSpPr/>
            <p:nvPr/>
          </p:nvGrpSpPr>
          <p:grpSpPr>
            <a:xfrm>
              <a:off x="2338" y="3382"/>
              <a:ext cx="869" cy="218"/>
              <a:chOff x="1976" y="2813"/>
              <a:chExt cx="869" cy="218"/>
            </a:xfrm>
          </p:grpSpPr>
          <p:sp>
            <p:nvSpPr>
              <p:cNvPr id="104509" name="Rectangle 63"/>
              <p:cNvSpPr>
                <a:spLocks noChangeArrowheads="1"/>
              </p:cNvSpPr>
              <p:nvPr/>
            </p:nvSpPr>
            <p:spPr bwMode="auto">
              <a:xfrm>
                <a:off x="2234" y="2813"/>
                <a:ext cx="611" cy="21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1pPr>
                <a:lvl2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2pPr>
                <a:lvl3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3pPr>
                <a:lvl4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4pPr>
                <a:lvl5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chemeClr val="folHlink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rPr>
                  <a:t>10</a:t>
                </a:r>
                <a:endPara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04510" name="Line 64"/>
              <p:cNvSpPr>
                <a:spLocks noChangeShapeType="1"/>
              </p:cNvSpPr>
              <p:nvPr/>
            </p:nvSpPr>
            <p:spPr bwMode="auto">
              <a:xfrm>
                <a:off x="2555" y="2813"/>
                <a:ext cx="0" cy="21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04511" name="Line 65"/>
              <p:cNvSpPr>
                <a:spLocks noChangeShapeType="1"/>
              </p:cNvSpPr>
              <p:nvPr/>
            </p:nvSpPr>
            <p:spPr bwMode="auto">
              <a:xfrm>
                <a:off x="1976" y="2927"/>
                <a:ext cx="2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p:grpSp>
          <p:nvGrpSpPr>
            <p:cNvPr id="142400" name="Group 66"/>
            <p:cNvGrpSpPr/>
            <p:nvPr/>
          </p:nvGrpSpPr>
          <p:grpSpPr>
            <a:xfrm>
              <a:off x="1583" y="3630"/>
              <a:ext cx="869" cy="218"/>
              <a:chOff x="1976" y="2813"/>
              <a:chExt cx="869" cy="218"/>
            </a:xfrm>
          </p:grpSpPr>
          <p:sp>
            <p:nvSpPr>
              <p:cNvPr id="104513" name="Rectangle 67"/>
              <p:cNvSpPr>
                <a:spLocks noChangeArrowheads="1"/>
              </p:cNvSpPr>
              <p:nvPr/>
            </p:nvSpPr>
            <p:spPr bwMode="auto">
              <a:xfrm>
                <a:off x="2234" y="2813"/>
                <a:ext cx="611" cy="21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1pPr>
                <a:lvl2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2pPr>
                <a:lvl3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3pPr>
                <a:lvl4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4pPr>
                <a:lvl5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66FF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rPr>
                  <a:t>11</a:t>
                </a:r>
                <a:endPara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04514" name="Line 68"/>
              <p:cNvSpPr>
                <a:spLocks noChangeShapeType="1"/>
              </p:cNvSpPr>
              <p:nvPr/>
            </p:nvSpPr>
            <p:spPr bwMode="auto">
              <a:xfrm>
                <a:off x="2555" y="2813"/>
                <a:ext cx="0" cy="21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04515" name="Line 69"/>
              <p:cNvSpPr>
                <a:spLocks noChangeShapeType="1"/>
              </p:cNvSpPr>
              <p:nvPr/>
            </p:nvSpPr>
            <p:spPr bwMode="auto">
              <a:xfrm>
                <a:off x="1976" y="2927"/>
                <a:ext cx="2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p:sp>
          <p:nvSpPr>
            <p:cNvPr id="104516" name="Text Box 70"/>
            <p:cNvSpPr txBox="1">
              <a:spLocks noChangeArrowheads="1"/>
            </p:cNvSpPr>
            <p:nvPr/>
          </p:nvSpPr>
          <p:spPr bwMode="auto">
            <a:xfrm>
              <a:off x="1362" y="1844"/>
              <a:ext cx="209" cy="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^</a:t>
              </a:r>
            </a:p>
          </p:txBody>
        </p:sp>
        <p:sp>
          <p:nvSpPr>
            <p:cNvPr id="104517" name="Text Box 71"/>
            <p:cNvSpPr txBox="1">
              <a:spLocks noChangeArrowheads="1"/>
            </p:cNvSpPr>
            <p:nvPr/>
          </p:nvSpPr>
          <p:spPr bwMode="auto">
            <a:xfrm>
              <a:off x="1362" y="2216"/>
              <a:ext cx="209" cy="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^</a:t>
              </a:r>
            </a:p>
          </p:txBody>
        </p:sp>
        <p:sp>
          <p:nvSpPr>
            <p:cNvPr id="104518" name="Text Box 72"/>
            <p:cNvSpPr txBox="1">
              <a:spLocks noChangeArrowheads="1"/>
            </p:cNvSpPr>
            <p:nvPr/>
          </p:nvSpPr>
          <p:spPr bwMode="auto">
            <a:xfrm>
              <a:off x="1362" y="2423"/>
              <a:ext cx="209" cy="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^</a:t>
              </a:r>
            </a:p>
          </p:txBody>
        </p:sp>
        <p:sp>
          <p:nvSpPr>
            <p:cNvPr id="104519" name="Text Box 73"/>
            <p:cNvSpPr txBox="1">
              <a:spLocks noChangeArrowheads="1"/>
            </p:cNvSpPr>
            <p:nvPr/>
          </p:nvSpPr>
          <p:spPr bwMode="auto">
            <a:xfrm>
              <a:off x="1362" y="3034"/>
              <a:ext cx="209" cy="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^</a:t>
              </a:r>
            </a:p>
          </p:txBody>
        </p:sp>
        <p:sp>
          <p:nvSpPr>
            <p:cNvPr id="104520" name="Text Box 74"/>
            <p:cNvSpPr txBox="1">
              <a:spLocks noChangeArrowheads="1"/>
            </p:cNvSpPr>
            <p:nvPr/>
          </p:nvSpPr>
          <p:spPr bwMode="auto">
            <a:xfrm>
              <a:off x="1362" y="3231"/>
              <a:ext cx="209" cy="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^</a:t>
              </a:r>
            </a:p>
          </p:txBody>
        </p:sp>
        <p:sp>
          <p:nvSpPr>
            <p:cNvPr id="104521" name="Text Box 75"/>
            <p:cNvSpPr txBox="1">
              <a:spLocks noChangeArrowheads="1"/>
            </p:cNvSpPr>
            <p:nvPr/>
          </p:nvSpPr>
          <p:spPr bwMode="auto">
            <a:xfrm>
              <a:off x="1362" y="3810"/>
              <a:ext cx="209" cy="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^</a:t>
              </a:r>
            </a:p>
          </p:txBody>
        </p:sp>
        <p:sp>
          <p:nvSpPr>
            <p:cNvPr id="104522" name="Text Box 76"/>
            <p:cNvSpPr txBox="1">
              <a:spLocks noChangeArrowheads="1"/>
            </p:cNvSpPr>
            <p:nvPr/>
          </p:nvSpPr>
          <p:spPr bwMode="auto">
            <a:xfrm>
              <a:off x="4497" y="1616"/>
              <a:ext cx="209" cy="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^</a:t>
              </a:r>
            </a:p>
          </p:txBody>
        </p:sp>
        <p:sp>
          <p:nvSpPr>
            <p:cNvPr id="104523" name="Text Box 77"/>
            <p:cNvSpPr txBox="1">
              <a:spLocks noChangeArrowheads="1"/>
            </p:cNvSpPr>
            <p:nvPr/>
          </p:nvSpPr>
          <p:spPr bwMode="auto">
            <a:xfrm>
              <a:off x="2967" y="2010"/>
              <a:ext cx="209" cy="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^</a:t>
              </a:r>
            </a:p>
          </p:txBody>
        </p:sp>
        <p:sp>
          <p:nvSpPr>
            <p:cNvPr id="104524" name="Text Box 78"/>
            <p:cNvSpPr txBox="1">
              <a:spLocks noChangeArrowheads="1"/>
            </p:cNvSpPr>
            <p:nvPr/>
          </p:nvSpPr>
          <p:spPr bwMode="auto">
            <a:xfrm>
              <a:off x="2956" y="2599"/>
              <a:ext cx="209" cy="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^</a:t>
              </a:r>
            </a:p>
          </p:txBody>
        </p:sp>
        <p:sp>
          <p:nvSpPr>
            <p:cNvPr id="104525" name="Text Box 79"/>
            <p:cNvSpPr txBox="1">
              <a:spLocks noChangeArrowheads="1"/>
            </p:cNvSpPr>
            <p:nvPr/>
          </p:nvSpPr>
          <p:spPr bwMode="auto">
            <a:xfrm>
              <a:off x="2201" y="2868"/>
              <a:ext cx="209" cy="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^</a:t>
              </a:r>
            </a:p>
          </p:txBody>
        </p:sp>
        <p:sp>
          <p:nvSpPr>
            <p:cNvPr id="104526" name="Text Box 80"/>
            <p:cNvSpPr txBox="1">
              <a:spLocks noChangeArrowheads="1"/>
            </p:cNvSpPr>
            <p:nvPr/>
          </p:nvSpPr>
          <p:spPr bwMode="auto">
            <a:xfrm>
              <a:off x="2956" y="3374"/>
              <a:ext cx="209" cy="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^</a:t>
              </a:r>
            </a:p>
          </p:txBody>
        </p:sp>
        <p:sp>
          <p:nvSpPr>
            <p:cNvPr id="104527" name="Text Box 81"/>
            <p:cNvSpPr txBox="1">
              <a:spLocks noChangeArrowheads="1"/>
            </p:cNvSpPr>
            <p:nvPr/>
          </p:nvSpPr>
          <p:spPr bwMode="auto">
            <a:xfrm>
              <a:off x="2211" y="3624"/>
              <a:ext cx="209" cy="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^</a:t>
              </a:r>
            </a:p>
          </p:txBody>
        </p:sp>
      </p:grpSp>
      <p:sp>
        <p:nvSpPr>
          <p:cNvPr id="1028178" name="Text Box 82"/>
          <p:cNvSpPr txBox="1">
            <a:spLocks noChangeArrowheads="1"/>
          </p:cNvSpPr>
          <p:nvPr/>
        </p:nvSpPr>
        <p:spPr bwMode="auto">
          <a:xfrm>
            <a:off x="91758" y="908368"/>
            <a:ext cx="3990975" cy="46037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ASL=(1*6+2*4+3+4)/12=1.75</a:t>
            </a:r>
          </a:p>
        </p:txBody>
      </p:sp>
      <p:sp>
        <p:nvSpPr>
          <p:cNvPr id="1028179" name="Rectangle 83"/>
          <p:cNvSpPr>
            <a:spLocks noChangeArrowheads="1"/>
          </p:cNvSpPr>
          <p:nvPr/>
        </p:nvSpPr>
        <p:spPr bwMode="auto">
          <a:xfrm>
            <a:off x="4211638" y="1844358"/>
            <a:ext cx="4738688" cy="3968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关键字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(19,14,23,1,68,20,84,27,55,11,10,79)</a:t>
            </a:r>
          </a:p>
        </p:txBody>
      </p:sp>
      <p:sp>
        <p:nvSpPr>
          <p:cNvPr id="104530" name="Rectangle 84"/>
          <p:cNvSpPr>
            <a:spLocks noChangeArrowheads="1"/>
          </p:cNvSpPr>
          <p:nvPr/>
        </p:nvSpPr>
        <p:spPr bwMode="auto">
          <a:xfrm>
            <a:off x="815975" y="215900"/>
            <a:ext cx="3243263" cy="51593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哈希表的查找</a:t>
            </a:r>
          </a:p>
        </p:txBody>
      </p:sp>
      <p:graphicFrame>
        <p:nvGraphicFramePr>
          <p:cNvPr id="4" name="对象 -2147482507"/>
          <p:cNvGraphicFramePr>
            <a:graphicFrameLocks noChangeAspect="1"/>
          </p:cNvGraphicFramePr>
          <p:nvPr/>
        </p:nvGraphicFramePr>
        <p:xfrm>
          <a:off x="3707765" y="1196975"/>
          <a:ext cx="5357495" cy="6908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3" r:id="rId5" imgW="3249930" imgH="393700" progId="Equation.DSMT4">
                  <p:embed/>
                </p:oleObj>
              </mc:Choice>
              <mc:Fallback>
                <p:oleObj r:id="rId5" imgW="3249930" imgH="3937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707765" y="1196975"/>
                        <a:ext cx="5357495" cy="69088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028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28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8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1028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1028100" grpId="0" build="p"/>
      <p:bldP spid="1028178" grpId="0" bldLvl="0" animBg="1"/>
      <p:bldP spid="1028179" grpId="0" build="p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5" name="Rectangle 5"/>
          <p:cNvSpPr>
            <a:spLocks noChangeArrowheads="1"/>
          </p:cNvSpPr>
          <p:nvPr/>
        </p:nvSpPr>
        <p:spPr bwMode="auto">
          <a:xfrm>
            <a:off x="1135063" y="1444625"/>
            <a:ext cx="6561138" cy="51911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关键字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(19,14,23,1,68,20,84,27,55,11,10,79)</a:t>
            </a:r>
          </a:p>
        </p:txBody>
      </p:sp>
      <p:sp>
        <p:nvSpPr>
          <p:cNvPr id="105477" name="Rectangle 7"/>
          <p:cNvSpPr>
            <a:spLocks noChangeArrowheads="1"/>
          </p:cNvSpPr>
          <p:nvPr/>
        </p:nvSpPr>
        <p:spPr bwMode="auto">
          <a:xfrm>
            <a:off x="827088" y="188913"/>
            <a:ext cx="3243263" cy="51593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思考</a:t>
            </a:r>
          </a:p>
        </p:txBody>
      </p:sp>
      <p:grpSp>
        <p:nvGrpSpPr>
          <p:cNvPr id="9" name="组合 8"/>
          <p:cNvGrpSpPr/>
          <p:nvPr/>
        </p:nvGrpSpPr>
        <p:grpSpPr>
          <a:xfrm>
            <a:off x="5254625" y="2754313"/>
            <a:ext cx="2711450" cy="2270125"/>
            <a:chOff x="4561682" y="2200808"/>
            <a:chExt cx="3219450" cy="2697163"/>
          </a:xfrm>
        </p:grpSpPr>
        <p:sp>
          <p:nvSpPr>
            <p:cNvPr id="10" name="i$liḋe-Oval 12"/>
            <p:cNvSpPr/>
            <p:nvPr/>
          </p:nvSpPr>
          <p:spPr bwMode="auto">
            <a:xfrm>
              <a:off x="4997100" y="2200808"/>
              <a:ext cx="2284528" cy="2284100"/>
            </a:xfrm>
            <a:prstGeom prst="ellipse">
              <a:avLst/>
            </a:prstGeom>
            <a:solidFill>
              <a:schemeClr val="accent1"/>
            </a:solidFill>
            <a:ln w="50800">
              <a:solidFill>
                <a:schemeClr val="tx1">
                  <a:alpha val="0"/>
                </a:schemeClr>
              </a:solidFill>
              <a:miter lim="800000"/>
            </a:ln>
          </p:spPr>
          <p:txBody>
            <a:bodyPr wrap="none" lIns="0" tIns="0" rIns="0" bIns="0" anchor="ctr"/>
            <a:lstStyle>
              <a:lvl1pPr>
                <a:lnSpc>
                  <a:spcPct val="130000"/>
                </a:lnSpc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有序表折半</a:t>
              </a:r>
              <a:endPara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查找</a:t>
              </a: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ASL?</a:t>
              </a:r>
            </a:p>
          </p:txBody>
        </p:sp>
        <p:sp>
          <p:nvSpPr>
            <p:cNvPr id="11" name="i$liḋe-Oval 14"/>
            <p:cNvSpPr/>
            <p:nvPr/>
          </p:nvSpPr>
          <p:spPr bwMode="auto">
            <a:xfrm>
              <a:off x="4561682" y="3047679"/>
              <a:ext cx="326092" cy="326301"/>
            </a:xfrm>
            <a:prstGeom prst="ellipse">
              <a:avLst/>
            </a:prstGeom>
            <a:solidFill>
              <a:schemeClr val="accent1">
                <a:lumMod val="40000"/>
                <a:lumOff val="60000"/>
                <a:alpha val="20000"/>
              </a:schemeClr>
            </a:solidFill>
            <a:ln w="50800">
              <a:solidFill>
                <a:schemeClr val="tx1">
                  <a:alpha val="0"/>
                </a:schemeClr>
              </a:solidFill>
              <a:miter lim="800000"/>
            </a:ln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2" name="i$liḋe-Oval 15"/>
            <p:cNvSpPr/>
            <p:nvPr/>
          </p:nvSpPr>
          <p:spPr bwMode="auto">
            <a:xfrm>
              <a:off x="5877359" y="4354766"/>
              <a:ext cx="544744" cy="543205"/>
            </a:xfrm>
            <a:prstGeom prst="ellipse">
              <a:avLst/>
            </a:prstGeom>
            <a:solidFill>
              <a:schemeClr val="accent1">
                <a:lumMod val="40000"/>
                <a:lumOff val="60000"/>
                <a:alpha val="20000"/>
              </a:schemeClr>
            </a:solidFill>
            <a:ln w="50800">
              <a:solidFill>
                <a:schemeClr val="tx1">
                  <a:alpha val="0"/>
                </a:schemeClr>
              </a:solidFill>
              <a:miter lim="800000"/>
            </a:ln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3" name="i$liḋe-Oval 16"/>
            <p:cNvSpPr/>
            <p:nvPr/>
          </p:nvSpPr>
          <p:spPr bwMode="auto">
            <a:xfrm>
              <a:off x="6857519" y="2221555"/>
              <a:ext cx="173413" cy="17541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  <a:alpha val="20000"/>
              </a:schemeClr>
            </a:solidFill>
            <a:ln w="50800">
              <a:noFill/>
              <a:miter lim="800000"/>
            </a:ln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4" name="i$liḋe-Oval 17"/>
            <p:cNvSpPr/>
            <p:nvPr/>
          </p:nvSpPr>
          <p:spPr bwMode="auto">
            <a:xfrm>
              <a:off x="7117639" y="3907753"/>
              <a:ext cx="403374" cy="403631"/>
            </a:xfrm>
            <a:prstGeom prst="ellipse">
              <a:avLst/>
            </a:prstGeom>
            <a:solidFill>
              <a:schemeClr val="accent1">
                <a:lumMod val="40000"/>
                <a:lumOff val="60000"/>
                <a:alpha val="20000"/>
              </a:schemeClr>
            </a:solidFill>
            <a:ln w="50800">
              <a:solidFill>
                <a:schemeClr val="tx1">
                  <a:alpha val="0"/>
                </a:schemeClr>
              </a:solidFill>
              <a:miter lim="800000"/>
            </a:ln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5" name="i$liḋe-Oval 18"/>
            <p:cNvSpPr/>
            <p:nvPr/>
          </p:nvSpPr>
          <p:spPr bwMode="auto">
            <a:xfrm>
              <a:off x="7292937" y="2940170"/>
              <a:ext cx="488195" cy="488507"/>
            </a:xfrm>
            <a:prstGeom prst="ellipse">
              <a:avLst/>
            </a:prstGeom>
            <a:solidFill>
              <a:schemeClr val="accent1">
                <a:lumMod val="40000"/>
                <a:lumOff val="60000"/>
                <a:alpha val="20000"/>
              </a:schemeClr>
            </a:solidFill>
            <a:ln w="50800">
              <a:solidFill>
                <a:schemeClr val="tx1">
                  <a:alpha val="0"/>
                </a:schemeClr>
              </a:solidFill>
              <a:miter lim="800000"/>
            </a:ln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968375" y="2589213"/>
            <a:ext cx="3000375" cy="2557462"/>
            <a:chOff x="755650" y="1929345"/>
            <a:chExt cx="3562350" cy="3037682"/>
          </a:xfrm>
        </p:grpSpPr>
        <p:sp>
          <p:nvSpPr>
            <p:cNvPr id="17" name="i$liḋe-Oval 4"/>
            <p:cNvSpPr/>
            <p:nvPr/>
          </p:nvSpPr>
          <p:spPr bwMode="auto">
            <a:xfrm>
              <a:off x="1560478" y="2263094"/>
              <a:ext cx="2222227" cy="222310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 w="50800" cap="flat">
              <a:solidFill>
                <a:schemeClr val="tx1">
                  <a:alpha val="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wrap="none" lIns="0" tIns="0" rIns="0" bIns="0" anchor="ctr">
              <a:norm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无序表</a:t>
              </a:r>
              <a:endPara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查找</a:t>
              </a: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ASL?</a:t>
              </a:r>
            </a:p>
          </p:txBody>
        </p:sp>
        <p:sp>
          <p:nvSpPr>
            <p:cNvPr id="18" name="i$liḋe-Oval 6"/>
            <p:cNvSpPr/>
            <p:nvPr/>
          </p:nvSpPr>
          <p:spPr bwMode="auto">
            <a:xfrm>
              <a:off x="3967420" y="3601861"/>
              <a:ext cx="350580" cy="348834"/>
            </a:xfrm>
            <a:prstGeom prst="ellipse">
              <a:avLst/>
            </a:prstGeom>
            <a:solidFill>
              <a:schemeClr val="accent1">
                <a:lumMod val="40000"/>
                <a:lumOff val="60000"/>
                <a:alpha val="39999"/>
              </a:schemeClr>
            </a:solidFill>
            <a:ln w="50800" cap="flat">
              <a:solidFill>
                <a:schemeClr val="tx1">
                  <a:alpha val="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" name="i$liḋe-Oval 7"/>
            <p:cNvSpPr/>
            <p:nvPr/>
          </p:nvSpPr>
          <p:spPr bwMode="auto">
            <a:xfrm>
              <a:off x="1524665" y="3835674"/>
              <a:ext cx="348696" cy="348834"/>
            </a:xfrm>
            <a:prstGeom prst="ellipse">
              <a:avLst/>
            </a:prstGeom>
            <a:solidFill>
              <a:schemeClr val="accent1">
                <a:lumMod val="40000"/>
                <a:lumOff val="60000"/>
                <a:alpha val="39999"/>
              </a:schemeClr>
            </a:solidFill>
            <a:ln w="50800" cap="flat">
              <a:solidFill>
                <a:schemeClr val="tx1">
                  <a:alpha val="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i$liḋe-Oval 8"/>
            <p:cNvSpPr/>
            <p:nvPr/>
          </p:nvSpPr>
          <p:spPr bwMode="auto">
            <a:xfrm>
              <a:off x="2010954" y="4363639"/>
              <a:ext cx="603149" cy="603388"/>
            </a:xfrm>
            <a:prstGeom prst="ellipse">
              <a:avLst/>
            </a:prstGeom>
            <a:solidFill>
              <a:schemeClr val="accent1">
                <a:lumMod val="40000"/>
                <a:lumOff val="60000"/>
                <a:alpha val="39999"/>
              </a:schemeClr>
            </a:solidFill>
            <a:ln w="50800" cap="flat">
              <a:solidFill>
                <a:schemeClr val="tx1">
                  <a:alpha val="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1" name="i$liḋe-Oval 9"/>
            <p:cNvSpPr/>
            <p:nvPr/>
          </p:nvSpPr>
          <p:spPr bwMode="auto">
            <a:xfrm>
              <a:off x="2485934" y="1929345"/>
              <a:ext cx="201679" cy="201757"/>
            </a:xfrm>
            <a:prstGeom prst="ellipse">
              <a:avLst/>
            </a:prstGeom>
            <a:solidFill>
              <a:schemeClr val="accent1">
                <a:lumMod val="40000"/>
                <a:lumOff val="60000"/>
                <a:alpha val="39999"/>
              </a:schemeClr>
            </a:solidFill>
            <a:ln w="50800" cap="flat">
              <a:solidFill>
                <a:schemeClr val="tx1">
                  <a:alpha val="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" name="i$liḋe-Oval 10"/>
            <p:cNvSpPr/>
            <p:nvPr/>
          </p:nvSpPr>
          <p:spPr bwMode="auto">
            <a:xfrm>
              <a:off x="755650" y="3109723"/>
              <a:ext cx="433513" cy="43557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  <a:alpha val="39999"/>
              </a:schemeClr>
            </a:solidFill>
            <a:ln w="50800" cap="flat">
              <a:solidFill>
                <a:schemeClr val="tx1">
                  <a:alpha val="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332288" y="4149725"/>
            <a:ext cx="4537075" cy="2232025"/>
          </a:xfrm>
          <a:prstGeom prst="rect">
            <a:avLst/>
          </a:prstGeom>
          <a:solidFill>
            <a:srgbClr val="CCCCFF"/>
          </a:solidFill>
          <a:ln w="9525">
            <a:noFill/>
          </a:ln>
        </p:spPr>
        <p:txBody>
          <a:bodyPr anchor="t" anchorCtr="0"/>
          <a:lstStyle/>
          <a:p>
            <a:pPr marL="342900" indent="-342900" eaLnBrk="0" hangingPunct="0">
              <a:spcBef>
                <a:spcPct val="20000"/>
              </a:spcBef>
            </a:pPr>
            <a:endParaRPr lang="zh-CN" altLang="en-US" b="0" dirty="0">
              <a:latin typeface="Times New Roman" panose="02020603050405020304" pitchFamily="18" charset="0"/>
              <a:ea typeface="仿宋_GB2312" panose="02010609030101010101" pitchFamily="49" charset="-122"/>
            </a:endParaRPr>
          </a:p>
        </p:txBody>
      </p:sp>
      <p:sp>
        <p:nvSpPr>
          <p:cNvPr id="752663" name="Rectangle 23"/>
          <p:cNvSpPr>
            <a:spLocks noChangeArrowheads="1"/>
          </p:cNvSpPr>
          <p:nvPr/>
        </p:nvSpPr>
        <p:spPr bwMode="auto">
          <a:xfrm>
            <a:off x="274638" y="1208088"/>
            <a:ext cx="5853113" cy="262255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使用平均查找长度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ASL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来衡量查找算法，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ASL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取决于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4" indent="0" algn="l" defTabSz="914400" rtl="0" eaLnBrk="0" fontAlgn="base" latinLnBrk="0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Tx/>
              <a:buFont typeface="Wingdings" panose="05000000000000000000" pitchFamily="2" charset="2"/>
              <a:buChar char="ü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哈希函数</a:t>
            </a:r>
          </a:p>
          <a:p>
            <a:pPr marL="0" marR="0" lvl="4" indent="0" algn="l" defTabSz="914400" rtl="0" eaLnBrk="0" fontAlgn="base" latinLnBrk="0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Tx/>
              <a:buFont typeface="Wingdings" panose="05000000000000000000" pitchFamily="2" charset="2"/>
              <a:buChar char="ü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处理冲突的方法</a:t>
            </a:r>
          </a:p>
          <a:p>
            <a:pPr marL="0" marR="0" lvl="4" indent="0" algn="l" defTabSz="914400" rtl="0" eaLnBrk="0" fontAlgn="base" latinLnBrk="0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Tx/>
              <a:buFont typeface="Wingdings" panose="05000000000000000000" pitchFamily="2" charset="2"/>
              <a:buChar char="ü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哈希表的装填因子</a:t>
            </a:r>
          </a:p>
        </p:txBody>
      </p:sp>
      <p:graphicFrame>
        <p:nvGraphicFramePr>
          <p:cNvPr id="752664" name="Object 24"/>
          <p:cNvGraphicFramePr/>
          <p:nvPr/>
        </p:nvGraphicFramePr>
        <p:xfrm>
          <a:off x="4429125" y="4725988"/>
          <a:ext cx="4343400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7" r:id="rId3" imgW="1638300" imgH="419100" progId="Equation.3">
                  <p:embed/>
                </p:oleObj>
              </mc:Choice>
              <mc:Fallback>
                <p:oleObj r:id="rId3" imgW="1638300" imgH="419100" progId="Equation.3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429125" y="4725988"/>
                        <a:ext cx="4343400" cy="1079500"/>
                      </a:xfrm>
                      <a:prstGeom prst="rect">
                        <a:avLst/>
                      </a:prstGeom>
                      <a:solidFill>
                        <a:srgbClr val="CCCCFF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6500" name="Rectangle 25"/>
          <p:cNvSpPr>
            <a:spLocks noChangeArrowheads="1"/>
          </p:cNvSpPr>
          <p:nvPr/>
        </p:nvSpPr>
        <p:spPr bwMode="auto">
          <a:xfrm>
            <a:off x="827088" y="212725"/>
            <a:ext cx="4748213" cy="51593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哈希表的查找效率分析</a:t>
            </a:r>
          </a:p>
        </p:txBody>
      </p:sp>
      <p:sp>
        <p:nvSpPr>
          <p:cNvPr id="752666" name="AutoShape 26"/>
          <p:cNvSpPr>
            <a:spLocks noChangeArrowheads="1"/>
          </p:cNvSpPr>
          <p:nvPr/>
        </p:nvSpPr>
        <p:spPr bwMode="auto">
          <a:xfrm>
            <a:off x="280988" y="4149725"/>
            <a:ext cx="3873500" cy="223202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noFill/>
            <a:miter lim="800000"/>
          </a:ln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anose="02010609030101010101" charset="-122"/>
                <a:ea typeface="楷体_GB2312" panose="02010609030101010101" charset="-122"/>
                <a:cs typeface="+mn-cs"/>
                <a:sym typeface="Symbol" panose="05050102010706020507" pitchFamily="18" charset="2"/>
              </a:rPr>
              <a:t>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越大，表中记录数越多，说明表装得越满，发生冲突的可能性就越大，查找时比较次数就越多。</a:t>
            </a:r>
          </a:p>
        </p:txBody>
      </p:sp>
      <p:sp>
        <p:nvSpPr>
          <p:cNvPr id="752667" name="AutoShape 27"/>
          <p:cNvSpPr>
            <a:spLocks noChangeArrowheads="1"/>
          </p:cNvSpPr>
          <p:nvPr/>
        </p:nvSpPr>
        <p:spPr bwMode="auto">
          <a:xfrm>
            <a:off x="6697663" y="1981200"/>
            <a:ext cx="1682750" cy="1076325"/>
          </a:xfrm>
          <a:prstGeom prst="cloudCallout">
            <a:avLst>
              <a:gd name="adj1" fmla="val -182453"/>
              <a:gd name="adj2" fmla="val -31711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ctr"/>
          <a:lstStyle>
            <a:lvl1pPr marL="342900" indent="-3429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9pPr>
          </a:lstStyle>
          <a:p>
            <a:pPr marL="342900" marR="0" lvl="0" indent="-34290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O(1)?</a:t>
            </a:r>
          </a:p>
        </p:txBody>
      </p:sp>
    </p:spTree>
  </p:cSld>
  <p:clrMapOvr>
    <a:masterClrMapping/>
  </p:clrMapOvr>
  <p:transition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526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526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6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7526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6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7526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6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7526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6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7526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752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752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52663" grpId="0" build="p"/>
      <p:bldP spid="752666" grpId="0" animBg="1"/>
      <p:bldP spid="752667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052" name="Object 4"/>
          <p:cNvGraphicFramePr>
            <a:graphicFrameLocks noGrp="1"/>
          </p:cNvGraphicFramePr>
          <p:nvPr>
            <p:ph/>
          </p:nvPr>
        </p:nvGraphicFramePr>
        <p:xfrm>
          <a:off x="785813" y="2338388"/>
          <a:ext cx="7570787" cy="346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1" r:id="rId3" imgW="2717800" imgH="1244600" progId="Equation.3">
                  <p:embed/>
                </p:oleObj>
              </mc:Choice>
              <mc:Fallback>
                <p:oleObj r:id="rId3" imgW="2717800" imgH="1244600" progId="Equation.3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85813" y="2338388"/>
                        <a:ext cx="7570787" cy="3467100"/>
                      </a:xfrm>
                      <a:prstGeom prst="rect">
                        <a:avLst/>
                      </a:prstGeom>
                      <a:solidFill>
                        <a:srgbClr val="EAEAEA"/>
                      </a:solidFill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7523" name="Rectangle 6"/>
          <p:cNvSpPr>
            <a:spLocks noChangeArrowheads="1"/>
          </p:cNvSpPr>
          <p:nvPr/>
        </p:nvSpPr>
        <p:spPr bwMode="auto">
          <a:xfrm>
            <a:off x="722313" y="1682750"/>
            <a:ext cx="7697788" cy="6096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noFill/>
            <a:miter lim="800000"/>
          </a:ln>
        </p:spPr>
        <p:txBody>
          <a:bodyPr anchor="ctr">
            <a:spAutoFit/>
          </a:bodyPr>
          <a:lstStyle>
            <a:lvl1pPr marL="342900" indent="-3429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ASL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与装填因子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anose="02010609030101010101" charset="-122"/>
                <a:ea typeface="楷体_GB2312" panose="02010609030101010101" charset="-122"/>
                <a:cs typeface="+mn-cs"/>
                <a:sym typeface="Symbol" panose="05050102010706020507" pitchFamily="18" charset="2"/>
              </a:rPr>
              <a:t>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有关！既不是严格的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O(1)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，也不是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O(n)</a:t>
            </a:r>
          </a:p>
        </p:txBody>
      </p:sp>
      <p:sp>
        <p:nvSpPr>
          <p:cNvPr id="107524" name="Rectangle 8"/>
          <p:cNvSpPr>
            <a:spLocks noChangeArrowheads="1"/>
          </p:cNvSpPr>
          <p:nvPr/>
        </p:nvSpPr>
        <p:spPr bwMode="auto">
          <a:xfrm>
            <a:off x="755650" y="227013"/>
            <a:ext cx="4748213" cy="51593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哈希表的查找效率分析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26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7" name="Rectangle 6"/>
          <p:cNvSpPr>
            <a:spLocks noChangeArrowheads="1"/>
          </p:cNvSpPr>
          <p:nvPr/>
        </p:nvSpPr>
        <p:spPr bwMode="auto">
          <a:xfrm>
            <a:off x="755650" y="207963"/>
            <a:ext cx="4748213" cy="51593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几点结论</a:t>
            </a:r>
          </a:p>
        </p:txBody>
      </p:sp>
      <p:grpSp>
        <p:nvGrpSpPr>
          <p:cNvPr id="146434" name="组合 1"/>
          <p:cNvGrpSpPr/>
          <p:nvPr/>
        </p:nvGrpSpPr>
        <p:grpSpPr>
          <a:xfrm>
            <a:off x="534988" y="1757363"/>
            <a:ext cx="8297862" cy="3652990"/>
            <a:chOff x="535249" y="1757362"/>
            <a:chExt cx="8296937" cy="3652739"/>
          </a:xfrm>
        </p:grpSpPr>
        <p:sp>
          <p:nvSpPr>
            <p:cNvPr id="5" name="Rectangle 6"/>
            <p:cNvSpPr>
              <a:spLocks noChangeArrowheads="1"/>
            </p:cNvSpPr>
            <p:nvPr/>
          </p:nvSpPr>
          <p:spPr bwMode="auto">
            <a:xfrm>
              <a:off x="535249" y="4133686"/>
              <a:ext cx="2165109" cy="1276415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marL="381000" indent="-38100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20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哈希表技术具有很好的平均性能，优于传统技术</a:t>
              </a:r>
            </a:p>
          </p:txBody>
        </p:sp>
        <p:grpSp>
          <p:nvGrpSpPr>
            <p:cNvPr id="146436" name="组合 5"/>
            <p:cNvGrpSpPr/>
            <p:nvPr/>
          </p:nvGrpSpPr>
          <p:grpSpPr>
            <a:xfrm>
              <a:off x="693074" y="1757362"/>
              <a:ext cx="1900237" cy="2141538"/>
              <a:chOff x="1168053" y="2217316"/>
              <a:chExt cx="1901372" cy="2140857"/>
            </a:xfrm>
          </p:grpSpPr>
          <p:sp>
            <p:nvSpPr>
              <p:cNvPr id="7" name="íṡľíḍè-Rectangle 22"/>
              <p:cNvSpPr/>
              <p:nvPr/>
            </p:nvSpPr>
            <p:spPr>
              <a:xfrm>
                <a:off x="1167372" y="2217316"/>
                <a:ext cx="1902749" cy="1901090"/>
              </a:xfrm>
              <a:prstGeom prst="rect">
                <a:avLst/>
              </a:prstGeom>
              <a:solidFill>
                <a:srgbClr val="4F81BD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8" name="íṡľíḍè-Freeform: Shape 23"/>
              <p:cNvSpPr/>
              <p:nvPr/>
            </p:nvSpPr>
            <p:spPr>
              <a:xfrm rot="10800000">
                <a:off x="1167372" y="3988281"/>
                <a:ext cx="1902749" cy="369744"/>
              </a:xfrm>
              <a:custGeom>
                <a:avLst/>
                <a:gdLst>
                  <a:gd name="connsiteX0" fmla="*/ 1901372 w 1901372"/>
                  <a:gd name="connsiteY0" fmla="*/ 370114 h 370114"/>
                  <a:gd name="connsiteX1" fmla="*/ 0 w 1901372"/>
                  <a:gd name="connsiteY1" fmla="*/ 370114 h 370114"/>
                  <a:gd name="connsiteX2" fmla="*/ 0 w 1901372"/>
                  <a:gd name="connsiteY2" fmla="*/ 239486 h 370114"/>
                  <a:gd name="connsiteX3" fmla="*/ 639355 w 1901372"/>
                  <a:gd name="connsiteY3" fmla="*/ 239486 h 370114"/>
                  <a:gd name="connsiteX4" fmla="*/ 950686 w 1901372"/>
                  <a:gd name="connsiteY4" fmla="*/ 0 h 370114"/>
                  <a:gd name="connsiteX5" fmla="*/ 1262017 w 1901372"/>
                  <a:gd name="connsiteY5" fmla="*/ 239486 h 370114"/>
                  <a:gd name="connsiteX6" fmla="*/ 1901372 w 1901372"/>
                  <a:gd name="connsiteY6" fmla="*/ 239486 h 3701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901372" h="370114">
                    <a:moveTo>
                      <a:pt x="1901372" y="370114"/>
                    </a:moveTo>
                    <a:lnTo>
                      <a:pt x="0" y="370114"/>
                    </a:lnTo>
                    <a:lnTo>
                      <a:pt x="0" y="239486"/>
                    </a:lnTo>
                    <a:lnTo>
                      <a:pt x="639355" y="239486"/>
                    </a:lnTo>
                    <a:lnTo>
                      <a:pt x="950686" y="0"/>
                    </a:lnTo>
                    <a:lnTo>
                      <a:pt x="1262017" y="239486"/>
                    </a:lnTo>
                    <a:lnTo>
                      <a:pt x="1901372" y="239486"/>
                    </a:lnTo>
                    <a:close/>
                  </a:path>
                </a:pathLst>
              </a:custGeom>
              <a:solidFill>
                <a:srgbClr val="4F81BD">
                  <a:lumMod val="75000"/>
                </a:srgbClr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9" name="îŝḷîḓé-Freeform: Shape 42"/>
              <p:cNvSpPr/>
              <p:nvPr/>
            </p:nvSpPr>
            <p:spPr bwMode="auto">
              <a:xfrm>
                <a:off x="1688325" y="2469630"/>
                <a:ext cx="946610" cy="944198"/>
              </a:xfrm>
              <a:custGeom>
                <a:avLst/>
                <a:gdLst>
                  <a:gd name="T0" fmla="*/ 184 w 260"/>
                  <a:gd name="T1" fmla="*/ 106 h 260"/>
                  <a:gd name="T2" fmla="*/ 193 w 260"/>
                  <a:gd name="T3" fmla="*/ 143 h 260"/>
                  <a:gd name="T4" fmla="*/ 117 w 260"/>
                  <a:gd name="T5" fmla="*/ 219 h 260"/>
                  <a:gd name="T6" fmla="*/ 42 w 260"/>
                  <a:gd name="T7" fmla="*/ 143 h 260"/>
                  <a:gd name="T8" fmla="*/ 117 w 260"/>
                  <a:gd name="T9" fmla="*/ 66 h 260"/>
                  <a:gd name="T10" fmla="*/ 154 w 260"/>
                  <a:gd name="T11" fmla="*/ 76 h 260"/>
                  <a:gd name="T12" fmla="*/ 183 w 260"/>
                  <a:gd name="T13" fmla="*/ 46 h 260"/>
                  <a:gd name="T14" fmla="*/ 117 w 260"/>
                  <a:gd name="T15" fmla="*/ 25 h 260"/>
                  <a:gd name="T16" fmla="*/ 0 w 260"/>
                  <a:gd name="T17" fmla="*/ 143 h 260"/>
                  <a:gd name="T18" fmla="*/ 117 w 260"/>
                  <a:gd name="T19" fmla="*/ 260 h 260"/>
                  <a:gd name="T20" fmla="*/ 233 w 260"/>
                  <a:gd name="T21" fmla="*/ 143 h 260"/>
                  <a:gd name="T22" fmla="*/ 213 w 260"/>
                  <a:gd name="T23" fmla="*/ 77 h 260"/>
                  <a:gd name="T24" fmla="*/ 184 w 260"/>
                  <a:gd name="T25" fmla="*/ 106 h 260"/>
                  <a:gd name="T26" fmla="*/ 225 w 260"/>
                  <a:gd name="T27" fmla="*/ 35 h 260"/>
                  <a:gd name="T28" fmla="*/ 225 w 260"/>
                  <a:gd name="T29" fmla="*/ 35 h 260"/>
                  <a:gd name="T30" fmla="*/ 225 w 260"/>
                  <a:gd name="T31" fmla="*/ 0 h 260"/>
                  <a:gd name="T32" fmla="*/ 203 w 260"/>
                  <a:gd name="T33" fmla="*/ 23 h 260"/>
                  <a:gd name="T34" fmla="*/ 203 w 260"/>
                  <a:gd name="T35" fmla="*/ 46 h 260"/>
                  <a:gd name="T36" fmla="*/ 139 w 260"/>
                  <a:gd name="T37" fmla="*/ 111 h 260"/>
                  <a:gd name="T38" fmla="*/ 117 w 260"/>
                  <a:gd name="T39" fmla="*/ 104 h 260"/>
                  <a:gd name="T40" fmla="*/ 79 w 260"/>
                  <a:gd name="T41" fmla="*/ 143 h 260"/>
                  <a:gd name="T42" fmla="*/ 117 w 260"/>
                  <a:gd name="T43" fmla="*/ 181 h 260"/>
                  <a:gd name="T44" fmla="*/ 155 w 260"/>
                  <a:gd name="T45" fmla="*/ 143 h 260"/>
                  <a:gd name="T46" fmla="*/ 150 w 260"/>
                  <a:gd name="T47" fmla="*/ 123 h 260"/>
                  <a:gd name="T48" fmla="*/ 215 w 260"/>
                  <a:gd name="T49" fmla="*/ 58 h 260"/>
                  <a:gd name="T50" fmla="*/ 237 w 260"/>
                  <a:gd name="T51" fmla="*/ 58 h 260"/>
                  <a:gd name="T52" fmla="*/ 260 w 260"/>
                  <a:gd name="T53" fmla="*/ 35 h 260"/>
                  <a:gd name="T54" fmla="*/ 225 w 260"/>
                  <a:gd name="T55" fmla="*/ 35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260" h="260">
                    <a:moveTo>
                      <a:pt x="184" y="106"/>
                    </a:moveTo>
                    <a:cubicBezTo>
                      <a:pt x="190" y="117"/>
                      <a:pt x="193" y="129"/>
                      <a:pt x="193" y="143"/>
                    </a:cubicBezTo>
                    <a:cubicBezTo>
                      <a:pt x="193" y="185"/>
                      <a:pt x="159" y="219"/>
                      <a:pt x="117" y="219"/>
                    </a:cubicBezTo>
                    <a:cubicBezTo>
                      <a:pt x="76" y="219"/>
                      <a:pt x="42" y="185"/>
                      <a:pt x="42" y="143"/>
                    </a:cubicBezTo>
                    <a:cubicBezTo>
                      <a:pt x="42" y="100"/>
                      <a:pt x="76" y="66"/>
                      <a:pt x="117" y="66"/>
                    </a:cubicBezTo>
                    <a:cubicBezTo>
                      <a:pt x="131" y="66"/>
                      <a:pt x="143" y="70"/>
                      <a:pt x="154" y="76"/>
                    </a:cubicBezTo>
                    <a:cubicBezTo>
                      <a:pt x="183" y="46"/>
                      <a:pt x="183" y="46"/>
                      <a:pt x="183" y="46"/>
                    </a:cubicBezTo>
                    <a:cubicBezTo>
                      <a:pt x="165" y="33"/>
                      <a:pt x="141" y="25"/>
                      <a:pt x="117" y="25"/>
                    </a:cubicBezTo>
                    <a:cubicBezTo>
                      <a:pt x="52" y="25"/>
                      <a:pt x="0" y="78"/>
                      <a:pt x="0" y="143"/>
                    </a:cubicBezTo>
                    <a:cubicBezTo>
                      <a:pt x="0" y="207"/>
                      <a:pt x="52" y="260"/>
                      <a:pt x="117" y="260"/>
                    </a:cubicBezTo>
                    <a:cubicBezTo>
                      <a:pt x="181" y="260"/>
                      <a:pt x="233" y="207"/>
                      <a:pt x="233" y="143"/>
                    </a:cubicBezTo>
                    <a:cubicBezTo>
                      <a:pt x="233" y="118"/>
                      <a:pt x="226" y="96"/>
                      <a:pt x="213" y="77"/>
                    </a:cubicBezTo>
                    <a:cubicBezTo>
                      <a:pt x="184" y="106"/>
                      <a:pt x="184" y="106"/>
                      <a:pt x="184" y="106"/>
                    </a:cubicBezTo>
                    <a:close/>
                    <a:moveTo>
                      <a:pt x="225" y="35"/>
                    </a:moveTo>
                    <a:cubicBezTo>
                      <a:pt x="225" y="35"/>
                      <a:pt x="225" y="35"/>
                      <a:pt x="225" y="35"/>
                    </a:cubicBezTo>
                    <a:cubicBezTo>
                      <a:pt x="225" y="0"/>
                      <a:pt x="225" y="0"/>
                      <a:pt x="225" y="0"/>
                    </a:cubicBezTo>
                    <a:cubicBezTo>
                      <a:pt x="203" y="23"/>
                      <a:pt x="203" y="23"/>
                      <a:pt x="203" y="23"/>
                    </a:cubicBezTo>
                    <a:cubicBezTo>
                      <a:pt x="203" y="46"/>
                      <a:pt x="203" y="46"/>
                      <a:pt x="203" y="46"/>
                    </a:cubicBezTo>
                    <a:cubicBezTo>
                      <a:pt x="139" y="111"/>
                      <a:pt x="139" y="111"/>
                      <a:pt x="139" y="111"/>
                    </a:cubicBezTo>
                    <a:cubicBezTo>
                      <a:pt x="133" y="106"/>
                      <a:pt x="125" y="104"/>
                      <a:pt x="117" y="104"/>
                    </a:cubicBezTo>
                    <a:cubicBezTo>
                      <a:pt x="96" y="104"/>
                      <a:pt x="79" y="121"/>
                      <a:pt x="79" y="143"/>
                    </a:cubicBezTo>
                    <a:cubicBezTo>
                      <a:pt x="79" y="164"/>
                      <a:pt x="96" y="181"/>
                      <a:pt x="117" y="181"/>
                    </a:cubicBezTo>
                    <a:cubicBezTo>
                      <a:pt x="138" y="181"/>
                      <a:pt x="155" y="164"/>
                      <a:pt x="155" y="143"/>
                    </a:cubicBezTo>
                    <a:cubicBezTo>
                      <a:pt x="155" y="136"/>
                      <a:pt x="154" y="129"/>
                      <a:pt x="150" y="123"/>
                    </a:cubicBezTo>
                    <a:cubicBezTo>
                      <a:pt x="215" y="58"/>
                      <a:pt x="215" y="58"/>
                      <a:pt x="215" y="58"/>
                    </a:cubicBezTo>
                    <a:cubicBezTo>
                      <a:pt x="237" y="58"/>
                      <a:pt x="237" y="58"/>
                      <a:pt x="237" y="58"/>
                    </a:cubicBezTo>
                    <a:cubicBezTo>
                      <a:pt x="260" y="35"/>
                      <a:pt x="260" y="35"/>
                      <a:pt x="260" y="35"/>
                    </a:cubicBezTo>
                    <a:cubicBezTo>
                      <a:pt x="225" y="35"/>
                      <a:pt x="225" y="35"/>
                      <a:pt x="225" y="35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p:grpSp>
          <p:nvGrpSpPr>
            <p:cNvPr id="146440" name="组合 9"/>
            <p:cNvGrpSpPr/>
            <p:nvPr/>
          </p:nvGrpSpPr>
          <p:grpSpPr>
            <a:xfrm>
              <a:off x="6785899" y="1757362"/>
              <a:ext cx="1901825" cy="2181225"/>
              <a:chOff x="9271092" y="2217316"/>
              <a:chExt cx="1901375" cy="2180771"/>
            </a:xfrm>
          </p:grpSpPr>
          <p:sp>
            <p:nvSpPr>
              <p:cNvPr id="11" name="íṡľíḍè-Rectangle 30"/>
              <p:cNvSpPr/>
              <p:nvPr/>
            </p:nvSpPr>
            <p:spPr>
              <a:xfrm>
                <a:off x="9271320" y="2217316"/>
                <a:ext cx="1901163" cy="1901298"/>
              </a:xfrm>
              <a:prstGeom prst="rect">
                <a:avLst/>
              </a:prstGeom>
              <a:solidFill>
                <a:srgbClr val="8064A2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2" name="íṡľíḍè-Freeform: Shape 31"/>
              <p:cNvSpPr/>
              <p:nvPr/>
            </p:nvSpPr>
            <p:spPr>
              <a:xfrm rot="10800000">
                <a:off x="9271320" y="4028151"/>
                <a:ext cx="1901163" cy="369786"/>
              </a:xfrm>
              <a:custGeom>
                <a:avLst/>
                <a:gdLst>
                  <a:gd name="connsiteX0" fmla="*/ 1901372 w 1901372"/>
                  <a:gd name="connsiteY0" fmla="*/ 370114 h 370114"/>
                  <a:gd name="connsiteX1" fmla="*/ 0 w 1901372"/>
                  <a:gd name="connsiteY1" fmla="*/ 370114 h 370114"/>
                  <a:gd name="connsiteX2" fmla="*/ 0 w 1901372"/>
                  <a:gd name="connsiteY2" fmla="*/ 239486 h 370114"/>
                  <a:gd name="connsiteX3" fmla="*/ 639355 w 1901372"/>
                  <a:gd name="connsiteY3" fmla="*/ 239486 h 370114"/>
                  <a:gd name="connsiteX4" fmla="*/ 950686 w 1901372"/>
                  <a:gd name="connsiteY4" fmla="*/ 0 h 370114"/>
                  <a:gd name="connsiteX5" fmla="*/ 1262017 w 1901372"/>
                  <a:gd name="connsiteY5" fmla="*/ 239486 h 370114"/>
                  <a:gd name="connsiteX6" fmla="*/ 1901372 w 1901372"/>
                  <a:gd name="connsiteY6" fmla="*/ 239486 h 3701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901372" h="370114">
                    <a:moveTo>
                      <a:pt x="1901372" y="370114"/>
                    </a:moveTo>
                    <a:lnTo>
                      <a:pt x="0" y="370114"/>
                    </a:lnTo>
                    <a:lnTo>
                      <a:pt x="0" y="239486"/>
                    </a:lnTo>
                    <a:lnTo>
                      <a:pt x="639355" y="239486"/>
                    </a:lnTo>
                    <a:lnTo>
                      <a:pt x="950686" y="0"/>
                    </a:lnTo>
                    <a:lnTo>
                      <a:pt x="1262017" y="239486"/>
                    </a:lnTo>
                    <a:lnTo>
                      <a:pt x="1901372" y="239486"/>
                    </a:lnTo>
                    <a:close/>
                  </a:path>
                </a:pathLst>
              </a:custGeom>
              <a:solidFill>
                <a:srgbClr val="8064A2">
                  <a:lumMod val="75000"/>
                </a:srgbClr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3" name="îŝḷîḓé-Freeform: Shape 43"/>
              <p:cNvSpPr/>
              <p:nvPr/>
            </p:nvSpPr>
            <p:spPr bwMode="auto">
              <a:xfrm>
                <a:off x="9763274" y="2560121"/>
                <a:ext cx="837908" cy="839554"/>
              </a:xfrm>
              <a:custGeom>
                <a:avLst/>
                <a:gdLst>
                  <a:gd name="T0" fmla="*/ 116 w 232"/>
                  <a:gd name="T1" fmla="*/ 0 h 232"/>
                  <a:gd name="T2" fmla="*/ 0 w 232"/>
                  <a:gd name="T3" fmla="*/ 116 h 232"/>
                  <a:gd name="T4" fmla="*/ 116 w 232"/>
                  <a:gd name="T5" fmla="*/ 232 h 232"/>
                  <a:gd name="T6" fmla="*/ 232 w 232"/>
                  <a:gd name="T7" fmla="*/ 116 h 232"/>
                  <a:gd name="T8" fmla="*/ 116 w 232"/>
                  <a:gd name="T9" fmla="*/ 0 h 232"/>
                  <a:gd name="T10" fmla="*/ 129 w 232"/>
                  <a:gd name="T11" fmla="*/ 208 h 232"/>
                  <a:gd name="T12" fmla="*/ 129 w 232"/>
                  <a:gd name="T13" fmla="*/ 190 h 232"/>
                  <a:gd name="T14" fmla="*/ 117 w 232"/>
                  <a:gd name="T15" fmla="*/ 178 h 232"/>
                  <a:gd name="T16" fmla="*/ 105 w 232"/>
                  <a:gd name="T17" fmla="*/ 190 h 232"/>
                  <a:gd name="T18" fmla="*/ 105 w 232"/>
                  <a:gd name="T19" fmla="*/ 208 h 232"/>
                  <a:gd name="T20" fmla="*/ 25 w 232"/>
                  <a:gd name="T21" fmla="*/ 129 h 232"/>
                  <a:gd name="T22" fmla="*/ 42 w 232"/>
                  <a:gd name="T23" fmla="*/ 129 h 232"/>
                  <a:gd name="T24" fmla="*/ 53 w 232"/>
                  <a:gd name="T25" fmla="*/ 117 h 232"/>
                  <a:gd name="T26" fmla="*/ 42 w 232"/>
                  <a:gd name="T27" fmla="*/ 105 h 232"/>
                  <a:gd name="T28" fmla="*/ 24 w 232"/>
                  <a:gd name="T29" fmla="*/ 105 h 232"/>
                  <a:gd name="T30" fmla="*/ 104 w 232"/>
                  <a:gd name="T31" fmla="*/ 25 h 232"/>
                  <a:gd name="T32" fmla="*/ 104 w 232"/>
                  <a:gd name="T33" fmla="*/ 41 h 232"/>
                  <a:gd name="T34" fmla="*/ 116 w 232"/>
                  <a:gd name="T35" fmla="*/ 53 h 232"/>
                  <a:gd name="T36" fmla="*/ 128 w 232"/>
                  <a:gd name="T37" fmla="*/ 41 h 232"/>
                  <a:gd name="T38" fmla="*/ 128 w 232"/>
                  <a:gd name="T39" fmla="*/ 25 h 232"/>
                  <a:gd name="T40" fmla="*/ 208 w 232"/>
                  <a:gd name="T41" fmla="*/ 104 h 232"/>
                  <a:gd name="T42" fmla="*/ 190 w 232"/>
                  <a:gd name="T43" fmla="*/ 104 h 232"/>
                  <a:gd name="T44" fmla="*/ 179 w 232"/>
                  <a:gd name="T45" fmla="*/ 116 h 232"/>
                  <a:gd name="T46" fmla="*/ 190 w 232"/>
                  <a:gd name="T47" fmla="*/ 128 h 232"/>
                  <a:gd name="T48" fmla="*/ 208 w 232"/>
                  <a:gd name="T49" fmla="*/ 128 h 232"/>
                  <a:gd name="T50" fmla="*/ 129 w 232"/>
                  <a:gd name="T51" fmla="*/ 208 h 232"/>
                  <a:gd name="T52" fmla="*/ 124 w 232"/>
                  <a:gd name="T53" fmla="*/ 94 h 232"/>
                  <a:gd name="T54" fmla="*/ 70 w 232"/>
                  <a:gd name="T55" fmla="*/ 69 h 232"/>
                  <a:gd name="T56" fmla="*/ 94 w 232"/>
                  <a:gd name="T57" fmla="*/ 124 h 232"/>
                  <a:gd name="T58" fmla="*/ 109 w 232"/>
                  <a:gd name="T59" fmla="*/ 138 h 232"/>
                  <a:gd name="T60" fmla="*/ 163 w 232"/>
                  <a:gd name="T61" fmla="*/ 163 h 232"/>
                  <a:gd name="T62" fmla="*/ 138 w 232"/>
                  <a:gd name="T63" fmla="*/ 108 h 232"/>
                  <a:gd name="T64" fmla="*/ 124 w 232"/>
                  <a:gd name="T65" fmla="*/ 94 h 232"/>
                  <a:gd name="T66" fmla="*/ 123 w 232"/>
                  <a:gd name="T67" fmla="*/ 123 h 232"/>
                  <a:gd name="T68" fmla="*/ 110 w 232"/>
                  <a:gd name="T69" fmla="*/ 123 h 232"/>
                  <a:gd name="T70" fmla="*/ 110 w 232"/>
                  <a:gd name="T71" fmla="*/ 109 h 232"/>
                  <a:gd name="T72" fmla="*/ 123 w 232"/>
                  <a:gd name="T73" fmla="*/ 109 h 232"/>
                  <a:gd name="T74" fmla="*/ 123 w 232"/>
                  <a:gd name="T75" fmla="*/ 123 h 2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232" h="232">
                    <a:moveTo>
                      <a:pt x="116" y="0"/>
                    </a:moveTo>
                    <a:cubicBezTo>
                      <a:pt x="52" y="0"/>
                      <a:pt x="0" y="52"/>
                      <a:pt x="0" y="116"/>
                    </a:cubicBezTo>
                    <a:cubicBezTo>
                      <a:pt x="0" y="180"/>
                      <a:pt x="52" y="232"/>
                      <a:pt x="116" y="232"/>
                    </a:cubicBezTo>
                    <a:cubicBezTo>
                      <a:pt x="180" y="232"/>
                      <a:pt x="232" y="180"/>
                      <a:pt x="232" y="116"/>
                    </a:cubicBezTo>
                    <a:cubicBezTo>
                      <a:pt x="232" y="52"/>
                      <a:pt x="180" y="0"/>
                      <a:pt x="116" y="0"/>
                    </a:cubicBezTo>
                    <a:close/>
                    <a:moveTo>
                      <a:pt x="129" y="208"/>
                    </a:moveTo>
                    <a:cubicBezTo>
                      <a:pt x="129" y="190"/>
                      <a:pt x="129" y="190"/>
                      <a:pt x="129" y="190"/>
                    </a:cubicBezTo>
                    <a:cubicBezTo>
                      <a:pt x="129" y="183"/>
                      <a:pt x="123" y="178"/>
                      <a:pt x="117" y="178"/>
                    </a:cubicBezTo>
                    <a:cubicBezTo>
                      <a:pt x="110" y="178"/>
                      <a:pt x="105" y="183"/>
                      <a:pt x="105" y="190"/>
                    </a:cubicBezTo>
                    <a:cubicBezTo>
                      <a:pt x="105" y="208"/>
                      <a:pt x="105" y="208"/>
                      <a:pt x="105" y="208"/>
                    </a:cubicBezTo>
                    <a:cubicBezTo>
                      <a:pt x="63" y="203"/>
                      <a:pt x="30" y="170"/>
                      <a:pt x="25" y="129"/>
                    </a:cubicBezTo>
                    <a:cubicBezTo>
                      <a:pt x="42" y="129"/>
                      <a:pt x="42" y="129"/>
                      <a:pt x="42" y="129"/>
                    </a:cubicBezTo>
                    <a:cubicBezTo>
                      <a:pt x="48" y="129"/>
                      <a:pt x="53" y="123"/>
                      <a:pt x="53" y="117"/>
                    </a:cubicBezTo>
                    <a:cubicBezTo>
                      <a:pt x="53" y="110"/>
                      <a:pt x="48" y="105"/>
                      <a:pt x="42" y="105"/>
                    </a:cubicBezTo>
                    <a:cubicBezTo>
                      <a:pt x="24" y="105"/>
                      <a:pt x="24" y="105"/>
                      <a:pt x="24" y="105"/>
                    </a:cubicBezTo>
                    <a:cubicBezTo>
                      <a:pt x="29" y="63"/>
                      <a:pt x="63" y="30"/>
                      <a:pt x="104" y="25"/>
                    </a:cubicBezTo>
                    <a:cubicBezTo>
                      <a:pt x="104" y="41"/>
                      <a:pt x="104" y="41"/>
                      <a:pt x="104" y="41"/>
                    </a:cubicBezTo>
                    <a:cubicBezTo>
                      <a:pt x="104" y="47"/>
                      <a:pt x="109" y="53"/>
                      <a:pt x="116" y="53"/>
                    </a:cubicBezTo>
                    <a:cubicBezTo>
                      <a:pt x="122" y="53"/>
                      <a:pt x="128" y="47"/>
                      <a:pt x="128" y="41"/>
                    </a:cubicBezTo>
                    <a:cubicBezTo>
                      <a:pt x="128" y="25"/>
                      <a:pt x="128" y="25"/>
                      <a:pt x="128" y="25"/>
                    </a:cubicBezTo>
                    <a:cubicBezTo>
                      <a:pt x="169" y="30"/>
                      <a:pt x="202" y="63"/>
                      <a:pt x="208" y="104"/>
                    </a:cubicBezTo>
                    <a:cubicBezTo>
                      <a:pt x="190" y="104"/>
                      <a:pt x="190" y="104"/>
                      <a:pt x="190" y="104"/>
                    </a:cubicBezTo>
                    <a:cubicBezTo>
                      <a:pt x="184" y="104"/>
                      <a:pt x="179" y="109"/>
                      <a:pt x="179" y="116"/>
                    </a:cubicBezTo>
                    <a:cubicBezTo>
                      <a:pt x="179" y="122"/>
                      <a:pt x="184" y="128"/>
                      <a:pt x="190" y="128"/>
                    </a:cubicBezTo>
                    <a:cubicBezTo>
                      <a:pt x="208" y="128"/>
                      <a:pt x="208" y="128"/>
                      <a:pt x="208" y="128"/>
                    </a:cubicBezTo>
                    <a:cubicBezTo>
                      <a:pt x="203" y="169"/>
                      <a:pt x="170" y="202"/>
                      <a:pt x="129" y="208"/>
                    </a:cubicBezTo>
                    <a:close/>
                    <a:moveTo>
                      <a:pt x="124" y="94"/>
                    </a:moveTo>
                    <a:cubicBezTo>
                      <a:pt x="70" y="69"/>
                      <a:pt x="70" y="69"/>
                      <a:pt x="70" y="69"/>
                    </a:cubicBezTo>
                    <a:cubicBezTo>
                      <a:pt x="94" y="124"/>
                      <a:pt x="94" y="124"/>
                      <a:pt x="94" y="124"/>
                    </a:cubicBezTo>
                    <a:cubicBezTo>
                      <a:pt x="97" y="129"/>
                      <a:pt x="103" y="136"/>
                      <a:pt x="109" y="138"/>
                    </a:cubicBezTo>
                    <a:cubicBezTo>
                      <a:pt x="163" y="163"/>
                      <a:pt x="163" y="163"/>
                      <a:pt x="163" y="163"/>
                    </a:cubicBezTo>
                    <a:cubicBezTo>
                      <a:pt x="138" y="108"/>
                      <a:pt x="138" y="108"/>
                      <a:pt x="138" y="108"/>
                    </a:cubicBezTo>
                    <a:cubicBezTo>
                      <a:pt x="136" y="103"/>
                      <a:pt x="130" y="96"/>
                      <a:pt x="124" y="94"/>
                    </a:cubicBezTo>
                    <a:close/>
                    <a:moveTo>
                      <a:pt x="123" y="123"/>
                    </a:moveTo>
                    <a:cubicBezTo>
                      <a:pt x="119" y="126"/>
                      <a:pt x="113" y="126"/>
                      <a:pt x="110" y="123"/>
                    </a:cubicBezTo>
                    <a:cubicBezTo>
                      <a:pt x="106" y="119"/>
                      <a:pt x="106" y="113"/>
                      <a:pt x="110" y="109"/>
                    </a:cubicBezTo>
                    <a:cubicBezTo>
                      <a:pt x="113" y="106"/>
                      <a:pt x="119" y="106"/>
                      <a:pt x="123" y="109"/>
                    </a:cubicBezTo>
                    <a:cubicBezTo>
                      <a:pt x="127" y="113"/>
                      <a:pt x="127" y="119"/>
                      <a:pt x="123" y="123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p:grpSp>
          <p:nvGrpSpPr>
            <p:cNvPr id="146444" name="组合 13"/>
            <p:cNvGrpSpPr/>
            <p:nvPr/>
          </p:nvGrpSpPr>
          <p:grpSpPr>
            <a:xfrm>
              <a:off x="3761711" y="1757362"/>
              <a:ext cx="1901825" cy="2144713"/>
              <a:chOff x="3869067" y="2217316"/>
              <a:chExt cx="1901372" cy="2144485"/>
            </a:xfrm>
          </p:grpSpPr>
          <p:sp>
            <p:nvSpPr>
              <p:cNvPr id="15" name="íṡľíḍè-Rectangle 18"/>
              <p:cNvSpPr/>
              <p:nvPr/>
            </p:nvSpPr>
            <p:spPr>
              <a:xfrm>
                <a:off x="3869632" y="2217316"/>
                <a:ext cx="1901160" cy="1901492"/>
              </a:xfrm>
              <a:prstGeom prst="rect">
                <a:avLst/>
              </a:prstGeom>
              <a:solidFill>
                <a:srgbClr val="C0504D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6" name="íṡľíḍè-Freeform: Shape 19"/>
              <p:cNvSpPr/>
              <p:nvPr/>
            </p:nvSpPr>
            <p:spPr>
              <a:xfrm rot="10800000">
                <a:off x="3869632" y="3991831"/>
                <a:ext cx="1901160" cy="369822"/>
              </a:xfrm>
              <a:custGeom>
                <a:avLst/>
                <a:gdLst>
                  <a:gd name="connsiteX0" fmla="*/ 1901372 w 1901372"/>
                  <a:gd name="connsiteY0" fmla="*/ 370114 h 370114"/>
                  <a:gd name="connsiteX1" fmla="*/ 0 w 1901372"/>
                  <a:gd name="connsiteY1" fmla="*/ 370114 h 370114"/>
                  <a:gd name="connsiteX2" fmla="*/ 0 w 1901372"/>
                  <a:gd name="connsiteY2" fmla="*/ 239486 h 370114"/>
                  <a:gd name="connsiteX3" fmla="*/ 639355 w 1901372"/>
                  <a:gd name="connsiteY3" fmla="*/ 239486 h 370114"/>
                  <a:gd name="connsiteX4" fmla="*/ 950686 w 1901372"/>
                  <a:gd name="connsiteY4" fmla="*/ 0 h 370114"/>
                  <a:gd name="connsiteX5" fmla="*/ 1262017 w 1901372"/>
                  <a:gd name="connsiteY5" fmla="*/ 239486 h 370114"/>
                  <a:gd name="connsiteX6" fmla="*/ 1901372 w 1901372"/>
                  <a:gd name="connsiteY6" fmla="*/ 239486 h 3701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901372" h="370114">
                    <a:moveTo>
                      <a:pt x="1901372" y="370114"/>
                    </a:moveTo>
                    <a:lnTo>
                      <a:pt x="0" y="370114"/>
                    </a:lnTo>
                    <a:lnTo>
                      <a:pt x="0" y="239486"/>
                    </a:lnTo>
                    <a:lnTo>
                      <a:pt x="639355" y="239486"/>
                    </a:lnTo>
                    <a:lnTo>
                      <a:pt x="950686" y="0"/>
                    </a:lnTo>
                    <a:lnTo>
                      <a:pt x="1262017" y="239486"/>
                    </a:lnTo>
                    <a:lnTo>
                      <a:pt x="1901372" y="239486"/>
                    </a:lnTo>
                    <a:close/>
                  </a:path>
                </a:pathLst>
              </a:custGeom>
              <a:solidFill>
                <a:srgbClr val="C0504D">
                  <a:lumMod val="75000"/>
                </a:srgbClr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7" name="îŝḷîḓé-Freeform: Shape 44"/>
              <p:cNvSpPr/>
              <p:nvPr/>
            </p:nvSpPr>
            <p:spPr bwMode="auto">
              <a:xfrm>
                <a:off x="4388563" y="2568092"/>
                <a:ext cx="852189" cy="850751"/>
              </a:xfrm>
              <a:custGeom>
                <a:avLst/>
                <a:gdLst>
                  <a:gd name="T0" fmla="*/ 187 w 228"/>
                  <a:gd name="T1" fmla="*/ 114 h 240"/>
                  <a:gd name="T2" fmla="*/ 114 w 228"/>
                  <a:gd name="T3" fmla="*/ 40 h 240"/>
                  <a:gd name="T4" fmla="*/ 40 w 228"/>
                  <a:gd name="T5" fmla="*/ 114 h 240"/>
                  <a:gd name="T6" fmla="*/ 68 w 228"/>
                  <a:gd name="T7" fmla="*/ 171 h 240"/>
                  <a:gd name="T8" fmla="*/ 74 w 228"/>
                  <a:gd name="T9" fmla="*/ 173 h 240"/>
                  <a:gd name="T10" fmla="*/ 81 w 228"/>
                  <a:gd name="T11" fmla="*/ 169 h 240"/>
                  <a:gd name="T12" fmla="*/ 79 w 228"/>
                  <a:gd name="T13" fmla="*/ 156 h 240"/>
                  <a:gd name="T14" fmla="*/ 59 w 228"/>
                  <a:gd name="T15" fmla="*/ 114 h 240"/>
                  <a:gd name="T16" fmla="*/ 114 w 228"/>
                  <a:gd name="T17" fmla="*/ 59 h 240"/>
                  <a:gd name="T18" fmla="*/ 169 w 228"/>
                  <a:gd name="T19" fmla="*/ 114 h 240"/>
                  <a:gd name="T20" fmla="*/ 152 w 228"/>
                  <a:gd name="T21" fmla="*/ 153 h 240"/>
                  <a:gd name="T22" fmla="*/ 151 w 228"/>
                  <a:gd name="T23" fmla="*/ 166 h 240"/>
                  <a:gd name="T24" fmla="*/ 165 w 228"/>
                  <a:gd name="T25" fmla="*/ 167 h 240"/>
                  <a:gd name="T26" fmla="*/ 187 w 228"/>
                  <a:gd name="T27" fmla="*/ 114 h 240"/>
                  <a:gd name="T28" fmla="*/ 116 w 228"/>
                  <a:gd name="T29" fmla="*/ 79 h 240"/>
                  <a:gd name="T30" fmla="*/ 81 w 228"/>
                  <a:gd name="T31" fmla="*/ 114 h 240"/>
                  <a:gd name="T32" fmla="*/ 101 w 228"/>
                  <a:gd name="T33" fmla="*/ 144 h 240"/>
                  <a:gd name="T34" fmla="*/ 101 w 228"/>
                  <a:gd name="T35" fmla="*/ 226 h 240"/>
                  <a:gd name="T36" fmla="*/ 115 w 228"/>
                  <a:gd name="T37" fmla="*/ 240 h 240"/>
                  <a:gd name="T38" fmla="*/ 129 w 228"/>
                  <a:gd name="T39" fmla="*/ 226 h 240"/>
                  <a:gd name="T40" fmla="*/ 129 w 228"/>
                  <a:gd name="T41" fmla="*/ 145 h 240"/>
                  <a:gd name="T42" fmla="*/ 150 w 228"/>
                  <a:gd name="T43" fmla="*/ 114 h 240"/>
                  <a:gd name="T44" fmla="*/ 116 w 228"/>
                  <a:gd name="T45" fmla="*/ 79 h 240"/>
                  <a:gd name="T46" fmla="*/ 114 w 228"/>
                  <a:gd name="T47" fmla="*/ 0 h 240"/>
                  <a:gd name="T48" fmla="*/ 0 w 228"/>
                  <a:gd name="T49" fmla="*/ 114 h 240"/>
                  <a:gd name="T50" fmla="*/ 52 w 228"/>
                  <a:gd name="T51" fmla="*/ 209 h 240"/>
                  <a:gd name="T52" fmla="*/ 57 w 228"/>
                  <a:gd name="T53" fmla="*/ 211 h 240"/>
                  <a:gd name="T54" fmla="*/ 65 w 228"/>
                  <a:gd name="T55" fmla="*/ 206 h 240"/>
                  <a:gd name="T56" fmla="*/ 62 w 228"/>
                  <a:gd name="T57" fmla="*/ 193 h 240"/>
                  <a:gd name="T58" fmla="*/ 19 w 228"/>
                  <a:gd name="T59" fmla="*/ 114 h 240"/>
                  <a:gd name="T60" fmla="*/ 114 w 228"/>
                  <a:gd name="T61" fmla="*/ 18 h 240"/>
                  <a:gd name="T62" fmla="*/ 209 w 228"/>
                  <a:gd name="T63" fmla="*/ 114 h 240"/>
                  <a:gd name="T64" fmla="*/ 168 w 228"/>
                  <a:gd name="T65" fmla="*/ 192 h 240"/>
                  <a:gd name="T66" fmla="*/ 165 w 228"/>
                  <a:gd name="T67" fmla="*/ 205 h 240"/>
                  <a:gd name="T68" fmla="*/ 178 w 228"/>
                  <a:gd name="T69" fmla="*/ 208 h 240"/>
                  <a:gd name="T70" fmla="*/ 228 w 228"/>
                  <a:gd name="T71" fmla="*/ 114 h 240"/>
                  <a:gd name="T72" fmla="*/ 114 w 228"/>
                  <a:gd name="T73" fmla="*/ 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228" h="240">
                    <a:moveTo>
                      <a:pt x="187" y="114"/>
                    </a:moveTo>
                    <a:cubicBezTo>
                      <a:pt x="187" y="73"/>
                      <a:pt x="154" y="40"/>
                      <a:pt x="114" y="40"/>
                    </a:cubicBezTo>
                    <a:cubicBezTo>
                      <a:pt x="73" y="40"/>
                      <a:pt x="40" y="73"/>
                      <a:pt x="40" y="114"/>
                    </a:cubicBezTo>
                    <a:cubicBezTo>
                      <a:pt x="40" y="136"/>
                      <a:pt x="50" y="157"/>
                      <a:pt x="68" y="171"/>
                    </a:cubicBezTo>
                    <a:cubicBezTo>
                      <a:pt x="69" y="172"/>
                      <a:pt x="71" y="173"/>
                      <a:pt x="74" y="173"/>
                    </a:cubicBezTo>
                    <a:cubicBezTo>
                      <a:pt x="76" y="173"/>
                      <a:pt x="79" y="171"/>
                      <a:pt x="81" y="169"/>
                    </a:cubicBezTo>
                    <a:cubicBezTo>
                      <a:pt x="84" y="165"/>
                      <a:pt x="83" y="159"/>
                      <a:pt x="79" y="156"/>
                    </a:cubicBezTo>
                    <a:cubicBezTo>
                      <a:pt x="67" y="146"/>
                      <a:pt x="59" y="130"/>
                      <a:pt x="59" y="114"/>
                    </a:cubicBezTo>
                    <a:cubicBezTo>
                      <a:pt x="59" y="83"/>
                      <a:pt x="84" y="59"/>
                      <a:pt x="114" y="59"/>
                    </a:cubicBezTo>
                    <a:cubicBezTo>
                      <a:pt x="144" y="59"/>
                      <a:pt x="169" y="83"/>
                      <a:pt x="169" y="114"/>
                    </a:cubicBezTo>
                    <a:cubicBezTo>
                      <a:pt x="169" y="129"/>
                      <a:pt x="163" y="143"/>
                      <a:pt x="152" y="153"/>
                    </a:cubicBezTo>
                    <a:cubicBezTo>
                      <a:pt x="148" y="157"/>
                      <a:pt x="148" y="163"/>
                      <a:pt x="151" y="166"/>
                    </a:cubicBezTo>
                    <a:cubicBezTo>
                      <a:pt x="155" y="170"/>
                      <a:pt x="161" y="170"/>
                      <a:pt x="165" y="167"/>
                    </a:cubicBezTo>
                    <a:cubicBezTo>
                      <a:pt x="179" y="153"/>
                      <a:pt x="187" y="134"/>
                      <a:pt x="187" y="114"/>
                    </a:cubicBezTo>
                    <a:close/>
                    <a:moveTo>
                      <a:pt x="116" y="79"/>
                    </a:moveTo>
                    <a:cubicBezTo>
                      <a:pt x="97" y="79"/>
                      <a:pt x="81" y="95"/>
                      <a:pt x="81" y="114"/>
                    </a:cubicBezTo>
                    <a:cubicBezTo>
                      <a:pt x="81" y="127"/>
                      <a:pt x="89" y="139"/>
                      <a:pt x="101" y="144"/>
                    </a:cubicBezTo>
                    <a:cubicBezTo>
                      <a:pt x="101" y="226"/>
                      <a:pt x="101" y="226"/>
                      <a:pt x="101" y="226"/>
                    </a:cubicBezTo>
                    <a:cubicBezTo>
                      <a:pt x="101" y="233"/>
                      <a:pt x="107" y="240"/>
                      <a:pt x="115" y="240"/>
                    </a:cubicBezTo>
                    <a:cubicBezTo>
                      <a:pt x="123" y="240"/>
                      <a:pt x="129" y="233"/>
                      <a:pt x="129" y="226"/>
                    </a:cubicBezTo>
                    <a:cubicBezTo>
                      <a:pt x="129" y="145"/>
                      <a:pt x="129" y="145"/>
                      <a:pt x="129" y="145"/>
                    </a:cubicBezTo>
                    <a:cubicBezTo>
                      <a:pt x="141" y="140"/>
                      <a:pt x="150" y="128"/>
                      <a:pt x="150" y="114"/>
                    </a:cubicBezTo>
                    <a:cubicBezTo>
                      <a:pt x="150" y="95"/>
                      <a:pt x="134" y="79"/>
                      <a:pt x="116" y="79"/>
                    </a:cubicBezTo>
                    <a:close/>
                    <a:moveTo>
                      <a:pt x="114" y="0"/>
                    </a:moveTo>
                    <a:cubicBezTo>
                      <a:pt x="51" y="0"/>
                      <a:pt x="0" y="51"/>
                      <a:pt x="0" y="114"/>
                    </a:cubicBezTo>
                    <a:cubicBezTo>
                      <a:pt x="0" y="152"/>
                      <a:pt x="19" y="188"/>
                      <a:pt x="52" y="209"/>
                    </a:cubicBezTo>
                    <a:cubicBezTo>
                      <a:pt x="54" y="210"/>
                      <a:pt x="55" y="211"/>
                      <a:pt x="57" y="211"/>
                    </a:cubicBezTo>
                    <a:cubicBezTo>
                      <a:pt x="60" y="211"/>
                      <a:pt x="63" y="209"/>
                      <a:pt x="65" y="206"/>
                    </a:cubicBezTo>
                    <a:cubicBezTo>
                      <a:pt x="68" y="202"/>
                      <a:pt x="67" y="196"/>
                      <a:pt x="62" y="193"/>
                    </a:cubicBezTo>
                    <a:cubicBezTo>
                      <a:pt x="35" y="176"/>
                      <a:pt x="19" y="146"/>
                      <a:pt x="19" y="114"/>
                    </a:cubicBezTo>
                    <a:cubicBezTo>
                      <a:pt x="19" y="61"/>
                      <a:pt x="61" y="18"/>
                      <a:pt x="114" y="18"/>
                    </a:cubicBezTo>
                    <a:cubicBezTo>
                      <a:pt x="166" y="18"/>
                      <a:pt x="209" y="61"/>
                      <a:pt x="209" y="114"/>
                    </a:cubicBezTo>
                    <a:cubicBezTo>
                      <a:pt x="209" y="145"/>
                      <a:pt x="194" y="174"/>
                      <a:pt x="168" y="192"/>
                    </a:cubicBezTo>
                    <a:cubicBezTo>
                      <a:pt x="163" y="195"/>
                      <a:pt x="162" y="201"/>
                      <a:pt x="165" y="205"/>
                    </a:cubicBezTo>
                    <a:cubicBezTo>
                      <a:pt x="168" y="209"/>
                      <a:pt x="174" y="211"/>
                      <a:pt x="178" y="208"/>
                    </a:cubicBezTo>
                    <a:cubicBezTo>
                      <a:pt x="209" y="186"/>
                      <a:pt x="228" y="151"/>
                      <a:pt x="228" y="114"/>
                    </a:cubicBezTo>
                    <a:cubicBezTo>
                      <a:pt x="228" y="51"/>
                      <a:pt x="177" y="0"/>
                      <a:pt x="114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p:sp>
          <p:nvSpPr>
            <p:cNvPr id="18" name="Rectangle 6"/>
            <p:cNvSpPr>
              <a:spLocks noChangeArrowheads="1"/>
            </p:cNvSpPr>
            <p:nvPr/>
          </p:nvSpPr>
          <p:spPr bwMode="auto">
            <a:xfrm>
              <a:off x="3203812" y="4133686"/>
              <a:ext cx="3025165" cy="46394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 marL="381000" indent="-38100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20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链地址法优于开地址法</a:t>
              </a:r>
            </a:p>
          </p:txBody>
        </p:sp>
        <p:sp>
          <p:nvSpPr>
            <p:cNvPr id="19" name="Rectangle 6"/>
            <p:cNvSpPr>
              <a:spLocks noChangeArrowheads="1"/>
            </p:cNvSpPr>
            <p:nvPr/>
          </p:nvSpPr>
          <p:spPr bwMode="auto">
            <a:xfrm>
              <a:off x="6641680" y="4133686"/>
              <a:ext cx="2190506" cy="870178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marL="381000" indent="-38100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20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除留余数法优于其它哈希函数</a:t>
              </a:r>
            </a:p>
          </p:txBody>
        </p:sp>
      </p:grp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设散列表的地址区间为</a:t>
            </a:r>
            <a:r>
              <a:rPr lang="en-US" altLang="zh-CN" sz="2600" dirty="0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[0,16]</a:t>
            </a:r>
            <a:r>
              <a:rPr lang="zh-CN" altLang="en-US" sz="2600" dirty="0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，散列函数为</a:t>
            </a:r>
            <a:r>
              <a:rPr lang="en-US" altLang="zh-CN" sz="2600" dirty="0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H(Key)=Key%17</a:t>
            </a:r>
            <a:r>
              <a:rPr lang="zh-CN" altLang="en-US" sz="2600" dirty="0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。采用线性探测法处理冲突，并将关键字序列</a:t>
            </a:r>
            <a:r>
              <a:rPr lang="en-US" altLang="zh-CN" sz="2600" dirty="0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{ 26</a:t>
            </a:r>
            <a:r>
              <a:rPr lang="zh-CN" altLang="en-US" sz="2600" dirty="0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，</a:t>
            </a:r>
            <a:r>
              <a:rPr lang="en-US" altLang="zh-CN" sz="2600" dirty="0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25</a:t>
            </a:r>
            <a:r>
              <a:rPr lang="zh-CN" altLang="en-US" sz="2600" dirty="0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，</a:t>
            </a:r>
            <a:r>
              <a:rPr lang="en-US" altLang="zh-CN" sz="2600" dirty="0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72</a:t>
            </a:r>
            <a:r>
              <a:rPr lang="zh-CN" altLang="en-US" sz="2600" dirty="0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，</a:t>
            </a:r>
            <a:r>
              <a:rPr lang="en-US" altLang="zh-CN" sz="2600" dirty="0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38</a:t>
            </a:r>
            <a:r>
              <a:rPr lang="zh-CN" altLang="en-US" sz="2600" dirty="0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，</a:t>
            </a:r>
            <a:r>
              <a:rPr lang="en-US" altLang="zh-CN" sz="2600" dirty="0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8</a:t>
            </a:r>
            <a:r>
              <a:rPr lang="zh-CN" altLang="en-US" sz="2600" dirty="0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，</a:t>
            </a:r>
            <a:r>
              <a:rPr lang="en-US" altLang="zh-CN" sz="2600" dirty="0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18</a:t>
            </a:r>
            <a:r>
              <a:rPr lang="zh-CN" altLang="en-US" sz="2600" dirty="0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，</a:t>
            </a:r>
            <a:r>
              <a:rPr lang="en-US" altLang="zh-CN" sz="2600" dirty="0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59 }</a:t>
            </a:r>
            <a:r>
              <a:rPr lang="zh-CN" altLang="en-US" sz="2600" dirty="0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依次存储到散列表中。元素</a:t>
            </a:r>
            <a:r>
              <a:rPr lang="en-US" altLang="zh-CN" sz="2600" dirty="0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59</a:t>
            </a:r>
            <a:r>
              <a:rPr lang="zh-CN" altLang="en-US" sz="2600" dirty="0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存放在散列表中的地址是： </a:t>
            </a:r>
          </a:p>
        </p:txBody>
      </p:sp>
      <p:sp>
        <p:nvSpPr>
          <p:cNvPr id="6" name="TextBox 5"/>
          <p:cNvSpPr txBox="1"/>
          <p:nvPr>
            <p:custDataLst>
              <p:tags r:id="rId3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8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7" name="TextBox 6"/>
          <p:cNvSpPr txBox="1"/>
          <p:nvPr>
            <p:custDataLst>
              <p:tags r:id="rId4"/>
            </p:custDataLst>
          </p:nvPr>
        </p:nvSpPr>
        <p:spPr>
          <a:xfrm>
            <a:off x="1828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9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8" name="TextBox 7"/>
          <p:cNvSpPr txBox="1"/>
          <p:nvPr>
            <p:custDataLst>
              <p:tags r:id="rId5"/>
            </p:custDataLst>
          </p:nvPr>
        </p:nvSpPr>
        <p:spPr>
          <a:xfrm>
            <a:off x="1828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10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9" name="TextBox 8"/>
          <p:cNvSpPr txBox="1"/>
          <p:nvPr>
            <p:custDataLst>
              <p:tags r:id="rId6"/>
            </p:custDataLst>
          </p:nvPr>
        </p:nvSpPr>
        <p:spPr>
          <a:xfrm>
            <a:off x="1828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11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1" compatLnSpc="1"/>
          <a:lstStyle/>
          <a:p>
            <a:pPr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/>
                <a:ea typeface="Microsoft Yahei"/>
                <a:sym typeface="Microsoft Yahei"/>
              </a:rPr>
              <a:t>A</a:t>
            </a:r>
            <a:endParaRPr kumimoji="1" lang="zh-CN" altLang="en-US" sz="1600" b="0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1" compatLnSpc="1"/>
          <a:lstStyle/>
          <a:p>
            <a:pPr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/>
                <a:ea typeface="Microsoft Yahei"/>
                <a:sym typeface="Microsoft Yahei"/>
              </a:rPr>
              <a:t>B</a:t>
            </a:r>
            <a:endParaRPr kumimoji="1" lang="zh-CN" altLang="en-US" sz="1600" b="0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144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1" compatLnSpc="1"/>
          <a:lstStyle/>
          <a:p>
            <a:pPr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/>
                <a:ea typeface="Microsoft Yahei"/>
                <a:sym typeface="Microsoft Yahei"/>
              </a:rPr>
              <a:t>C</a:t>
            </a:r>
            <a:endParaRPr kumimoji="1" lang="zh-CN" altLang="en-US" sz="1600" b="0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114425" y="5422106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1" compatLnSpc="1"/>
          <a:lstStyle/>
          <a:p>
            <a:pPr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/>
                <a:ea typeface="Microsoft Yahei"/>
                <a:sym typeface="Microsoft Yahei"/>
              </a:rPr>
              <a:t>D</a:t>
            </a:r>
            <a:endParaRPr kumimoji="1" lang="zh-CN" altLang="en-US" sz="1600" b="0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4" name="圆角矩形 13"/>
          <p:cNvSpPr/>
          <p:nvPr>
            <p:custDataLst>
              <p:tags r:id="rId11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1" compatLnSpc="1"/>
          <a:lstStyle/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/>
                <a:ea typeface="Microsoft Yahei"/>
                <a:sym typeface="Microsoft Yahei"/>
              </a:rPr>
              <a:t>提交</a:t>
            </a:r>
          </a:p>
        </p:txBody>
      </p:sp>
      <p:grpSp>
        <p:nvGrpSpPr>
          <p:cNvPr id="19" name="组合 18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5" name="TitleBackground"/>
            <p:cNvSpPr/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342900" marR="0" indent="-34290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仿宋_GB2312" panose="02010609030101010101" pitchFamily="49" charset="-122"/>
              </a:endParaRPr>
            </a:p>
          </p:txBody>
        </p:sp>
        <p:sp>
          <p:nvSpPr>
            <p:cNvPr id="16" name="ColorBlock"/>
            <p:cNvSpPr/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342900" marR="0" indent="-34290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仿宋_GB2312" panose="02010609030101010101" pitchFamily="49" charset="-122"/>
              </a:endParaRPr>
            </a:p>
          </p:txBody>
        </p:sp>
        <p:sp>
          <p:nvSpPr>
            <p:cNvPr id="17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/>
                  <a:ea typeface="Microsoft Yahei"/>
                  <a:sym typeface="Microsoft Yahei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/>
                <a:ea typeface="Microsoft Yahei"/>
                <a:sym typeface="Microsoft Yahei"/>
              </a:endParaRPr>
            </a:p>
          </p:txBody>
        </p:sp>
      </p:grpSp>
      <p:pic>
        <p:nvPicPr>
          <p:cNvPr id="4" name="图片 3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5492860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400" dirty="0"/>
              <a:t>将</a:t>
            </a:r>
            <a:r>
              <a:rPr lang="en-US" altLang="zh-CN" sz="2400" dirty="0"/>
              <a:t>10</a:t>
            </a:r>
            <a:r>
              <a:rPr lang="zh-CN" altLang="en-US" sz="2400" dirty="0"/>
              <a:t>个元素散列到</a:t>
            </a:r>
            <a:r>
              <a:rPr lang="en-US" altLang="zh-CN" sz="2400" dirty="0"/>
              <a:t>100000</a:t>
            </a:r>
            <a:r>
              <a:rPr lang="zh-CN" altLang="en-US" sz="2400" dirty="0"/>
              <a:t>个单元的哈希表中，是否一定产生冲突？</a:t>
            </a:r>
            <a:endParaRPr lang="zh-CN" altLang="en-US" sz="2400" dirty="0">
              <a:solidFill>
                <a:srgbClr val="000000"/>
              </a:solidFill>
              <a:latin typeface="Microsoft Yahei" pitchFamily="34" charset="-122"/>
              <a:ea typeface="Microsoft Yahei" pitchFamily="34" charset="-122"/>
              <a:sym typeface="Microsoft Yahei" pitchFamily="34" charset="-122"/>
            </a:endParaRPr>
          </a:p>
        </p:txBody>
      </p:sp>
      <p:sp>
        <p:nvSpPr>
          <p:cNvPr id="4" name="TextBox 3"/>
          <p:cNvSpPr txBox="1"/>
          <p:nvPr>
            <p:custDataLst>
              <p:tags r:id="rId3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400" dirty="0"/>
              <a:t>一定会</a:t>
            </a:r>
            <a:endParaRPr lang="zh-CN" altLang="en-US" sz="2400" dirty="0">
              <a:solidFill>
                <a:srgbClr val="000000"/>
              </a:solidFill>
              <a:latin typeface="Microsoft Yahei" pitchFamily="34" charset="-122"/>
              <a:ea typeface="Microsoft Yahei" pitchFamily="34" charset="-122"/>
              <a:sym typeface="Microsoft Yahei" pitchFamily="34" charset="-122"/>
            </a:endParaRPr>
          </a:p>
        </p:txBody>
      </p:sp>
      <p:sp>
        <p:nvSpPr>
          <p:cNvPr id="5" name="TextBox 4"/>
          <p:cNvSpPr txBox="1"/>
          <p:nvPr>
            <p:custDataLst>
              <p:tags r:id="rId4"/>
            </p:custDataLst>
          </p:nvPr>
        </p:nvSpPr>
        <p:spPr>
          <a:xfrm>
            <a:off x="1828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400" dirty="0"/>
              <a:t>可能会 </a:t>
            </a:r>
          </a:p>
        </p:txBody>
      </p:sp>
      <p:sp>
        <p:nvSpPr>
          <p:cNvPr id="6" name="TextBox 5"/>
          <p:cNvSpPr txBox="1"/>
          <p:nvPr>
            <p:custDataLst>
              <p:tags r:id="rId5"/>
            </p:custDataLst>
          </p:nvPr>
        </p:nvSpPr>
        <p:spPr>
          <a:xfrm>
            <a:off x="1828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400" dirty="0"/>
              <a:t>一定不会 </a:t>
            </a:r>
          </a:p>
        </p:txBody>
      </p:sp>
      <p:sp>
        <p:nvSpPr>
          <p:cNvPr id="7" name="TextBox 6"/>
          <p:cNvSpPr txBox="1"/>
          <p:nvPr>
            <p:custDataLst>
              <p:tags r:id="rId6"/>
            </p:custDataLst>
          </p:nvPr>
        </p:nvSpPr>
        <p:spPr>
          <a:xfrm>
            <a:off x="1828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>
              <a:defRPr/>
            </a:pPr>
            <a:r>
              <a:rPr lang="zh-CN" altLang="en-US" sz="2600" dirty="0">
                <a:solidFill>
                  <a:srgbClr val="000000"/>
                </a:solidFill>
                <a:latin typeface="+mn-ea"/>
                <a:sym typeface="Microsoft Yahei"/>
              </a:rPr>
              <a:t>有万分之一的可能会 </a:t>
            </a: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1" compatLnSpc="1"/>
          <a:lstStyle/>
          <a:p>
            <a:pPr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/>
                <a:ea typeface="Microsoft Yahei"/>
                <a:sym typeface="Microsoft Yahei"/>
              </a:rPr>
              <a:t>A</a:t>
            </a:r>
            <a:endParaRPr kumimoji="1" lang="zh-CN" altLang="en-US" sz="1600" b="0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3707606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1" compatLnSpc="1"/>
          <a:lstStyle/>
          <a:p>
            <a:pPr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/>
                <a:ea typeface="Microsoft Yahei"/>
                <a:sym typeface="Microsoft Yahei"/>
              </a:rPr>
              <a:t>B</a:t>
            </a:r>
            <a:endParaRPr kumimoji="1" lang="zh-CN" altLang="en-US" sz="1600" b="0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144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1" compatLnSpc="1"/>
          <a:lstStyle/>
          <a:p>
            <a:pPr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/>
                <a:ea typeface="Microsoft Yahei"/>
                <a:sym typeface="Microsoft Yahei"/>
              </a:rPr>
              <a:t>C</a:t>
            </a:r>
            <a:endParaRPr kumimoji="1" lang="zh-CN" altLang="en-US" sz="1600" b="0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114425" y="542210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1" compatLnSpc="1"/>
          <a:lstStyle/>
          <a:p>
            <a:pPr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/>
                <a:ea typeface="Microsoft Yahei"/>
                <a:sym typeface="Microsoft Yahei"/>
              </a:rPr>
              <a:t>D</a:t>
            </a:r>
            <a:endParaRPr kumimoji="1" lang="zh-CN" altLang="en-US" sz="1600" b="0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2" name="圆角矩形 11"/>
          <p:cNvSpPr/>
          <p:nvPr>
            <p:custDataLst>
              <p:tags r:id="rId11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1" compatLnSpc="1"/>
          <a:lstStyle/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/>
                <a:ea typeface="Microsoft Yahei"/>
                <a:sym typeface="Microsoft Yahei"/>
              </a:rPr>
              <a:t>提交</a:t>
            </a:r>
          </a:p>
        </p:txBody>
      </p:sp>
      <p:grpSp>
        <p:nvGrpSpPr>
          <p:cNvPr id="17" name="组合 16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3" name="TitleBackground"/>
            <p:cNvSpPr/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342900" marR="0" indent="-34290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仿宋_GB2312" panose="02010609030101010101" pitchFamily="49" charset="-122"/>
              </a:endParaRPr>
            </a:p>
          </p:txBody>
        </p:sp>
        <p:sp>
          <p:nvSpPr>
            <p:cNvPr id="14" name="ColorBlock"/>
            <p:cNvSpPr/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342900" marR="0" indent="-34290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仿宋_GB2312" panose="02010609030101010101" pitchFamily="49" charset="-122"/>
              </a:endParaRPr>
            </a:p>
          </p:txBody>
        </p:sp>
        <p:sp>
          <p:nvSpPr>
            <p:cNvPr id="1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/>
                  <a:ea typeface="Microsoft Yahei"/>
                  <a:sym typeface="Microsoft Yahei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/>
                <a:ea typeface="Microsoft Yahei"/>
                <a:sym typeface="Microsoft Yahei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521986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400" dirty="0"/>
              <a:t>若</a:t>
            </a:r>
            <a:r>
              <a:rPr lang="en-US" altLang="zh-CN" sz="2400" dirty="0"/>
              <a:t>N</a:t>
            </a:r>
            <a:r>
              <a:rPr lang="zh-CN" altLang="en-US" sz="2400" dirty="0"/>
              <a:t>个关键词被散列映射到同一个单元，并且用分离链接法解决冲突，则找到这</a:t>
            </a:r>
            <a:r>
              <a:rPr lang="en-US" altLang="zh-CN" sz="2400" dirty="0"/>
              <a:t>N</a:t>
            </a:r>
            <a:r>
              <a:rPr lang="zh-CN" altLang="en-US" sz="2400" dirty="0"/>
              <a:t>个关键词所用的比较次数为</a:t>
            </a:r>
            <a:endParaRPr lang="zh-CN" altLang="en-US" sz="2400" dirty="0">
              <a:solidFill>
                <a:srgbClr val="000000"/>
              </a:solidFill>
              <a:latin typeface="Microsoft Yahei" pitchFamily="34" charset="-122"/>
              <a:ea typeface="Microsoft Yahei" pitchFamily="34" charset="-122"/>
              <a:sym typeface="Microsoft Yahei" pitchFamily="34" charset="-122"/>
            </a:endParaRPr>
          </a:p>
        </p:txBody>
      </p:sp>
      <p:sp>
        <p:nvSpPr>
          <p:cNvPr id="4" name="TextBox 3"/>
          <p:cNvSpPr txBox="1"/>
          <p:nvPr>
            <p:custDataLst>
              <p:tags r:id="rId3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N(N+1)/2</a:t>
            </a:r>
          </a:p>
        </p:txBody>
      </p:sp>
      <p:sp>
        <p:nvSpPr>
          <p:cNvPr id="5" name="TextBox 4"/>
          <p:cNvSpPr txBox="1"/>
          <p:nvPr>
            <p:custDataLst>
              <p:tags r:id="rId4"/>
            </p:custDataLst>
          </p:nvPr>
        </p:nvSpPr>
        <p:spPr>
          <a:xfrm>
            <a:off x="1828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N(N−1)/2</a:t>
            </a:r>
          </a:p>
        </p:txBody>
      </p:sp>
      <p:sp>
        <p:nvSpPr>
          <p:cNvPr id="6" name="TextBox 5"/>
          <p:cNvSpPr txBox="1"/>
          <p:nvPr>
            <p:custDataLst>
              <p:tags r:id="rId5"/>
            </p:custDataLst>
          </p:nvPr>
        </p:nvSpPr>
        <p:spPr>
          <a:xfrm>
            <a:off x="1828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N+1</a:t>
            </a:r>
          </a:p>
        </p:txBody>
      </p:sp>
      <p:sp>
        <p:nvSpPr>
          <p:cNvPr id="7" name="TextBox 6"/>
          <p:cNvSpPr txBox="1"/>
          <p:nvPr>
            <p:custDataLst>
              <p:tags r:id="rId6"/>
            </p:custDataLst>
          </p:nvPr>
        </p:nvSpPr>
        <p:spPr>
          <a:xfrm>
            <a:off x="1828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N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2850356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1" compatLnSpc="1"/>
          <a:lstStyle/>
          <a:p>
            <a:pPr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/>
                <a:ea typeface="Microsoft Yahei"/>
                <a:sym typeface="Microsoft Yahei"/>
              </a:rPr>
              <a:t>A</a:t>
            </a:r>
            <a:endParaRPr kumimoji="1" lang="zh-CN" altLang="en-US" sz="1600" b="0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1" compatLnSpc="1"/>
          <a:lstStyle/>
          <a:p>
            <a:pPr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/>
                <a:ea typeface="Microsoft Yahei"/>
                <a:sym typeface="Microsoft Yahei"/>
              </a:rPr>
              <a:t>B</a:t>
            </a:r>
            <a:endParaRPr kumimoji="1" lang="zh-CN" altLang="en-US" sz="1600" b="0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144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1" compatLnSpc="1"/>
          <a:lstStyle/>
          <a:p>
            <a:pPr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/>
                <a:ea typeface="Microsoft Yahei"/>
                <a:sym typeface="Microsoft Yahei"/>
              </a:rPr>
              <a:t>C</a:t>
            </a:r>
            <a:endParaRPr kumimoji="1" lang="zh-CN" altLang="en-US" sz="1600" b="0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114425" y="542210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1" compatLnSpc="1"/>
          <a:lstStyle/>
          <a:p>
            <a:pPr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/>
                <a:ea typeface="Microsoft Yahei"/>
                <a:sym typeface="Microsoft Yahei"/>
              </a:rPr>
              <a:t>D</a:t>
            </a:r>
            <a:endParaRPr kumimoji="1" lang="zh-CN" altLang="en-US" sz="1600" b="0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2" name="圆角矩形 11"/>
          <p:cNvSpPr/>
          <p:nvPr>
            <p:custDataLst>
              <p:tags r:id="rId11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1" compatLnSpc="1"/>
          <a:lstStyle/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/>
                <a:ea typeface="Microsoft Yahei"/>
                <a:sym typeface="Microsoft Yahei"/>
              </a:rPr>
              <a:t>提交</a:t>
            </a:r>
          </a:p>
        </p:txBody>
      </p:sp>
      <p:grpSp>
        <p:nvGrpSpPr>
          <p:cNvPr id="17" name="组合 16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3" name="TitleBackground"/>
            <p:cNvSpPr/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342900" marR="0" indent="-34290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仿宋_GB2312" panose="02010609030101010101" pitchFamily="49" charset="-122"/>
              </a:endParaRPr>
            </a:p>
          </p:txBody>
        </p:sp>
        <p:sp>
          <p:nvSpPr>
            <p:cNvPr id="14" name="ColorBlock"/>
            <p:cNvSpPr/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342900" marR="0" indent="-34290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仿宋_GB2312" panose="02010609030101010101" pitchFamily="49" charset="-122"/>
              </a:endParaRPr>
            </a:p>
          </p:txBody>
        </p:sp>
        <p:sp>
          <p:nvSpPr>
            <p:cNvPr id="1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/>
                  <a:ea typeface="Microsoft Yahei"/>
                  <a:sym typeface="Microsoft Yahei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/>
                <a:ea typeface="Microsoft Yahei"/>
                <a:sym typeface="Microsoft Yahei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03440858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400" dirty="0"/>
              <a:t>将元素序列</a:t>
            </a:r>
            <a:r>
              <a:rPr lang="en-US" altLang="zh-CN" sz="2400" dirty="0"/>
              <a:t>{18, 23, 4, 26, 31, 33, 17, 39}</a:t>
            </a:r>
            <a:r>
              <a:rPr lang="zh-CN" altLang="en-US" sz="2400" dirty="0"/>
              <a:t>按顺序插入一个初始为空的、大小为</a:t>
            </a:r>
            <a:r>
              <a:rPr lang="en-US" altLang="zh-CN" sz="2400" dirty="0"/>
              <a:t>13</a:t>
            </a:r>
            <a:r>
              <a:rPr lang="zh-CN" altLang="en-US" sz="2400" dirty="0"/>
              <a:t>的散列表中。散列函数为：</a:t>
            </a:r>
            <a:r>
              <a:rPr lang="en-US" altLang="zh-CN" sz="2400" dirty="0"/>
              <a:t>H(Key)=Key%13</a:t>
            </a:r>
            <a:r>
              <a:rPr lang="zh-CN" altLang="en-US" sz="2400" dirty="0"/>
              <a:t>，采用线性探测法处理冲突。问：当第一次发现有冲突时，散列表的装填因子大约是多少？</a:t>
            </a:r>
            <a:endParaRPr lang="en-US" altLang="zh-CN" sz="2400" dirty="0"/>
          </a:p>
        </p:txBody>
      </p:sp>
      <p:sp>
        <p:nvSpPr>
          <p:cNvPr id="4" name="TextBox 3"/>
          <p:cNvSpPr txBox="1"/>
          <p:nvPr>
            <p:custDataLst>
              <p:tags r:id="rId3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0.54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5" name="TextBox 4"/>
          <p:cNvSpPr txBox="1"/>
          <p:nvPr>
            <p:custDataLst>
              <p:tags r:id="rId4"/>
            </p:custDataLst>
          </p:nvPr>
        </p:nvSpPr>
        <p:spPr>
          <a:xfrm>
            <a:off x="1828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0.63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6" name="TextBox 5"/>
          <p:cNvSpPr txBox="1"/>
          <p:nvPr>
            <p:custDataLst>
              <p:tags r:id="rId5"/>
            </p:custDataLst>
          </p:nvPr>
        </p:nvSpPr>
        <p:spPr>
          <a:xfrm>
            <a:off x="1828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0.31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7" name="TextBox 6"/>
          <p:cNvSpPr txBox="1"/>
          <p:nvPr>
            <p:custDataLst>
              <p:tags r:id="rId6"/>
            </p:custDataLst>
          </p:nvPr>
        </p:nvSpPr>
        <p:spPr>
          <a:xfrm>
            <a:off x="1828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0.62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1" compatLnSpc="1"/>
          <a:lstStyle/>
          <a:p>
            <a:pPr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/>
                <a:ea typeface="Microsoft Yahei"/>
                <a:sym typeface="Microsoft Yahei"/>
              </a:rPr>
              <a:t>A</a:t>
            </a:r>
            <a:endParaRPr kumimoji="1" lang="zh-CN" altLang="en-US" sz="1600" b="0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1" compatLnSpc="1"/>
          <a:lstStyle/>
          <a:p>
            <a:pPr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/>
                <a:ea typeface="Microsoft Yahei"/>
                <a:sym typeface="Microsoft Yahei"/>
              </a:rPr>
              <a:t>B</a:t>
            </a:r>
            <a:endParaRPr kumimoji="1" lang="zh-CN" altLang="en-US" sz="1600" b="0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14425" y="4564856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1" compatLnSpc="1"/>
          <a:lstStyle/>
          <a:p>
            <a:pPr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/>
                <a:ea typeface="Microsoft Yahei"/>
                <a:sym typeface="Microsoft Yahei"/>
              </a:rPr>
              <a:t>C</a:t>
            </a:r>
            <a:endParaRPr kumimoji="1" lang="zh-CN" altLang="en-US" sz="1600" b="0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114425" y="542210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1" compatLnSpc="1"/>
          <a:lstStyle/>
          <a:p>
            <a:pPr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/>
                <a:ea typeface="Microsoft Yahei"/>
                <a:sym typeface="Microsoft Yahei"/>
              </a:rPr>
              <a:t>D</a:t>
            </a:r>
            <a:endParaRPr kumimoji="1" lang="zh-CN" altLang="en-US" sz="1600" b="0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2" name="圆角矩形 11"/>
          <p:cNvSpPr/>
          <p:nvPr>
            <p:custDataLst>
              <p:tags r:id="rId11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1" compatLnSpc="1"/>
          <a:lstStyle/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/>
                <a:ea typeface="Microsoft Yahei"/>
                <a:sym typeface="Microsoft Yahei"/>
              </a:rPr>
              <a:t>提交</a:t>
            </a:r>
          </a:p>
        </p:txBody>
      </p:sp>
      <p:grpSp>
        <p:nvGrpSpPr>
          <p:cNvPr id="17" name="组合 16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3" name="TitleBackground"/>
            <p:cNvSpPr/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342900" marR="0" indent="-34290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仿宋_GB2312" panose="02010609030101010101" pitchFamily="49" charset="-122"/>
              </a:endParaRPr>
            </a:p>
          </p:txBody>
        </p:sp>
        <p:sp>
          <p:nvSpPr>
            <p:cNvPr id="14" name="ColorBlock"/>
            <p:cNvSpPr/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342900" marR="0" indent="-34290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仿宋_GB2312" panose="02010609030101010101" pitchFamily="49" charset="-122"/>
              </a:endParaRPr>
            </a:p>
          </p:txBody>
        </p:sp>
        <p:sp>
          <p:nvSpPr>
            <p:cNvPr id="1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/>
                  <a:ea typeface="Microsoft Yahei"/>
                  <a:sym typeface="Microsoft Yahei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/>
                <a:ea typeface="Microsoft Yahei"/>
                <a:sym typeface="Microsoft Yahei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6406035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400" dirty="0"/>
              <a:t>给定散列表大小为</a:t>
            </a:r>
            <a:r>
              <a:rPr lang="en-US" altLang="zh-CN" sz="2400" dirty="0"/>
              <a:t>17</a:t>
            </a:r>
            <a:r>
              <a:rPr lang="zh-CN" altLang="en-US" sz="2400" dirty="0"/>
              <a:t>，散列函数为</a:t>
            </a:r>
            <a:r>
              <a:rPr lang="en-US" altLang="zh-CN" sz="2400" dirty="0"/>
              <a:t>H(Key)=Key%17</a:t>
            </a:r>
            <a:r>
              <a:rPr lang="zh-CN" altLang="en-US" sz="2400" dirty="0"/>
              <a:t>。采用平方探测法处理冲突：</a:t>
            </a:r>
            <a:r>
              <a:rPr lang="en-US" altLang="zh-CN" sz="2400" dirty="0"/>
              <a:t>h​i​​(k)=(H(k)±i​</a:t>
            </a:r>
            <a:r>
              <a:rPr lang="en-US" altLang="zh-CN" sz="2400" baseline="30000" dirty="0"/>
              <a:t>2​​</a:t>
            </a:r>
            <a:r>
              <a:rPr lang="en-US" altLang="zh-CN" sz="2400" dirty="0"/>
              <a:t>)%17</a:t>
            </a:r>
            <a:r>
              <a:rPr lang="zh-CN" altLang="en-US" sz="2400" dirty="0"/>
              <a:t>将关键字序列</a:t>
            </a:r>
            <a:r>
              <a:rPr lang="en-US" altLang="zh-CN" sz="2400" dirty="0"/>
              <a:t>{ 6, 22, 7, 26, 9, 23 }</a:t>
            </a:r>
            <a:r>
              <a:rPr lang="zh-CN" altLang="en-US" sz="2400" dirty="0"/>
              <a:t>依次插入到散列表中。那么元素</a:t>
            </a:r>
            <a:r>
              <a:rPr lang="en-US" altLang="zh-CN" sz="2400" dirty="0"/>
              <a:t>23</a:t>
            </a:r>
            <a:r>
              <a:rPr lang="zh-CN" altLang="en-US" sz="2400" dirty="0"/>
              <a:t>存放在散列表中的位置是：</a:t>
            </a:r>
            <a:endParaRPr lang="en-US" altLang="zh-CN" sz="2400" dirty="0"/>
          </a:p>
        </p:txBody>
      </p:sp>
      <p:sp>
        <p:nvSpPr>
          <p:cNvPr id="4" name="TextBox 3"/>
          <p:cNvSpPr txBox="1"/>
          <p:nvPr>
            <p:custDataLst>
              <p:tags r:id="rId3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0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5" name="TextBox 4"/>
          <p:cNvSpPr txBox="1"/>
          <p:nvPr>
            <p:custDataLst>
              <p:tags r:id="rId4"/>
            </p:custDataLst>
          </p:nvPr>
        </p:nvSpPr>
        <p:spPr>
          <a:xfrm>
            <a:off x="1828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2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6" name="TextBox 5"/>
          <p:cNvSpPr txBox="1"/>
          <p:nvPr>
            <p:custDataLst>
              <p:tags r:id="rId5"/>
            </p:custDataLst>
          </p:nvPr>
        </p:nvSpPr>
        <p:spPr>
          <a:xfrm>
            <a:off x="1828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6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7" name="TextBox 6"/>
          <p:cNvSpPr txBox="1"/>
          <p:nvPr>
            <p:custDataLst>
              <p:tags r:id="rId6"/>
            </p:custDataLst>
          </p:nvPr>
        </p:nvSpPr>
        <p:spPr>
          <a:xfrm>
            <a:off x="1828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15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1" compatLnSpc="1"/>
          <a:lstStyle/>
          <a:p>
            <a:pPr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/>
                <a:ea typeface="Microsoft Yahei"/>
                <a:sym typeface="Microsoft Yahei"/>
              </a:rPr>
              <a:t>A</a:t>
            </a:r>
            <a:endParaRPr kumimoji="1" lang="zh-CN" altLang="en-US" sz="1600" b="0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3707606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1" compatLnSpc="1"/>
          <a:lstStyle/>
          <a:p>
            <a:pPr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/>
                <a:ea typeface="Microsoft Yahei"/>
                <a:sym typeface="Microsoft Yahei"/>
              </a:rPr>
              <a:t>B</a:t>
            </a:r>
            <a:endParaRPr kumimoji="1" lang="zh-CN" altLang="en-US" sz="1600" b="0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144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1" compatLnSpc="1"/>
          <a:lstStyle/>
          <a:p>
            <a:pPr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/>
                <a:ea typeface="Microsoft Yahei"/>
                <a:sym typeface="Microsoft Yahei"/>
              </a:rPr>
              <a:t>C</a:t>
            </a:r>
            <a:endParaRPr kumimoji="1" lang="zh-CN" altLang="en-US" sz="1600" b="0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114425" y="542210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1" compatLnSpc="1"/>
          <a:lstStyle/>
          <a:p>
            <a:pPr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/>
                <a:ea typeface="Microsoft Yahei"/>
                <a:sym typeface="Microsoft Yahei"/>
              </a:rPr>
              <a:t>D</a:t>
            </a:r>
            <a:endParaRPr kumimoji="1" lang="zh-CN" altLang="en-US" sz="1600" b="0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2" name="圆角矩形 11"/>
          <p:cNvSpPr/>
          <p:nvPr>
            <p:custDataLst>
              <p:tags r:id="rId11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1" compatLnSpc="1"/>
          <a:lstStyle/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/>
                <a:ea typeface="Microsoft Yahei"/>
                <a:sym typeface="Microsoft Yahei"/>
              </a:rPr>
              <a:t>提交</a:t>
            </a:r>
          </a:p>
        </p:txBody>
      </p:sp>
      <p:grpSp>
        <p:nvGrpSpPr>
          <p:cNvPr id="17" name="组合 16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3" name="TitleBackground"/>
            <p:cNvSpPr/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342900" marR="0" indent="-34290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仿宋_GB2312" panose="02010609030101010101" pitchFamily="49" charset="-122"/>
              </a:endParaRPr>
            </a:p>
          </p:txBody>
        </p:sp>
        <p:sp>
          <p:nvSpPr>
            <p:cNvPr id="14" name="ColorBlock"/>
            <p:cNvSpPr/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342900" marR="0" indent="-34290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仿宋_GB2312" panose="02010609030101010101" pitchFamily="49" charset="-122"/>
              </a:endParaRPr>
            </a:p>
          </p:txBody>
        </p:sp>
        <p:sp>
          <p:nvSpPr>
            <p:cNvPr id="1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/>
                  <a:ea typeface="Microsoft Yahei"/>
                  <a:sym typeface="Microsoft Yahei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/>
                <a:ea typeface="Microsoft Yahei"/>
                <a:sym typeface="Microsoft Yahei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6316943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400" dirty="0"/>
              <a:t>现有长度为 </a:t>
            </a:r>
            <a:r>
              <a:rPr lang="en-US" altLang="zh-CN" sz="2400" dirty="0"/>
              <a:t>11 </a:t>
            </a:r>
            <a:r>
              <a:rPr lang="zh-CN" altLang="en-US" sz="2400" dirty="0"/>
              <a:t>且初始为空的散列表 </a:t>
            </a:r>
            <a:r>
              <a:rPr lang="en-US" altLang="zh-CN" sz="2400" dirty="0"/>
              <a:t>HT</a:t>
            </a:r>
            <a:r>
              <a:rPr lang="zh-CN" altLang="en-US" sz="2400" dirty="0"/>
              <a:t>，散列函数是 </a:t>
            </a:r>
            <a:r>
              <a:rPr lang="en-US" altLang="zh-CN" sz="2400" dirty="0"/>
              <a:t>H(key)=key%7</a:t>
            </a:r>
            <a:r>
              <a:rPr lang="zh-CN" altLang="en-US" sz="2400" dirty="0"/>
              <a:t>，采用线性探查（线性探测再散列）法解决冲突。将关键字序列 </a:t>
            </a:r>
            <a:r>
              <a:rPr lang="en-US" altLang="zh-CN" sz="2400" dirty="0"/>
              <a:t>87,40,30,6,11,22,98,20 </a:t>
            </a:r>
            <a:r>
              <a:rPr lang="zh-CN" altLang="en-US" sz="2400" dirty="0"/>
              <a:t>依次插入到 </a:t>
            </a:r>
            <a:r>
              <a:rPr lang="en-US" altLang="zh-CN" sz="2400" dirty="0"/>
              <a:t>HT </a:t>
            </a:r>
            <a:r>
              <a:rPr lang="zh-CN" altLang="en-US" sz="2400" dirty="0"/>
              <a:t>后，</a:t>
            </a:r>
            <a:r>
              <a:rPr lang="en-US" altLang="zh-CN" sz="2400" dirty="0"/>
              <a:t>HT </a:t>
            </a:r>
            <a:r>
              <a:rPr lang="zh-CN" altLang="en-US" sz="2400" dirty="0"/>
              <a:t>查找失败的平均查找长度是：</a:t>
            </a:r>
            <a:endParaRPr lang="en-US" altLang="zh-CN" sz="2400" dirty="0"/>
          </a:p>
        </p:txBody>
      </p:sp>
      <p:sp>
        <p:nvSpPr>
          <p:cNvPr id="4" name="TextBox 3"/>
          <p:cNvSpPr txBox="1"/>
          <p:nvPr>
            <p:custDataLst>
              <p:tags r:id="rId3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4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5" name="TextBox 4"/>
          <p:cNvSpPr txBox="1"/>
          <p:nvPr>
            <p:custDataLst>
              <p:tags r:id="rId4"/>
            </p:custDataLst>
          </p:nvPr>
        </p:nvSpPr>
        <p:spPr>
          <a:xfrm>
            <a:off x="1828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5.25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6" name="TextBox 5"/>
          <p:cNvSpPr txBox="1"/>
          <p:nvPr>
            <p:custDataLst>
              <p:tags r:id="rId5"/>
            </p:custDataLst>
          </p:nvPr>
        </p:nvSpPr>
        <p:spPr>
          <a:xfrm>
            <a:off x="1828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6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7" name="TextBox 6"/>
          <p:cNvSpPr txBox="1"/>
          <p:nvPr>
            <p:custDataLst>
              <p:tags r:id="rId6"/>
            </p:custDataLst>
          </p:nvPr>
        </p:nvSpPr>
        <p:spPr>
          <a:xfrm>
            <a:off x="1828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6.29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1" compatLnSpc="1"/>
          <a:lstStyle/>
          <a:p>
            <a:pPr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/>
                <a:ea typeface="Microsoft Yahei"/>
                <a:sym typeface="Microsoft Yahei"/>
              </a:rPr>
              <a:t>A</a:t>
            </a:r>
            <a:endParaRPr kumimoji="1" lang="zh-CN" altLang="en-US" sz="1600" b="0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1" compatLnSpc="1"/>
          <a:lstStyle/>
          <a:p>
            <a:pPr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/>
                <a:ea typeface="Microsoft Yahei"/>
                <a:sym typeface="Microsoft Yahei"/>
              </a:rPr>
              <a:t>B</a:t>
            </a:r>
            <a:endParaRPr kumimoji="1" lang="zh-CN" altLang="en-US" sz="1600" b="0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144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1" compatLnSpc="1"/>
          <a:lstStyle/>
          <a:p>
            <a:pPr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/>
                <a:ea typeface="Microsoft Yahei"/>
                <a:sym typeface="Microsoft Yahei"/>
              </a:rPr>
              <a:t>C</a:t>
            </a:r>
            <a:endParaRPr kumimoji="1" lang="zh-CN" altLang="en-US" sz="1600" b="0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114425" y="542210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1" compatLnSpc="1"/>
          <a:lstStyle/>
          <a:p>
            <a:pPr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/>
                <a:ea typeface="Microsoft Yahei"/>
                <a:sym typeface="Microsoft Yahei"/>
              </a:rPr>
              <a:t>D</a:t>
            </a:r>
            <a:endParaRPr kumimoji="1" lang="zh-CN" altLang="en-US" sz="1600" b="0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2" name="圆角矩形 11"/>
          <p:cNvSpPr/>
          <p:nvPr>
            <p:custDataLst>
              <p:tags r:id="rId11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1" compatLnSpc="1"/>
          <a:lstStyle/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/>
                <a:ea typeface="Microsoft Yahei"/>
                <a:sym typeface="Microsoft Yahei"/>
              </a:rPr>
              <a:t>提交</a:t>
            </a:r>
          </a:p>
        </p:txBody>
      </p:sp>
      <p:grpSp>
        <p:nvGrpSpPr>
          <p:cNvPr id="17" name="组合 16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3" name="TitleBackground"/>
            <p:cNvSpPr/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342900" marR="0" indent="-34290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仿宋_GB2312" panose="02010609030101010101" pitchFamily="49" charset="-122"/>
              </a:endParaRPr>
            </a:p>
          </p:txBody>
        </p:sp>
        <p:sp>
          <p:nvSpPr>
            <p:cNvPr id="14" name="ColorBlock"/>
            <p:cNvSpPr/>
            <p:nvPr>
              <p:custDataLst>
                <p:tags r:id="rId16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342900" marR="0" indent="-34290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仿宋_GB2312" panose="02010609030101010101" pitchFamily="49" charset="-122"/>
              </a:endParaRPr>
            </a:p>
          </p:txBody>
        </p:sp>
        <p:sp>
          <p:nvSpPr>
            <p:cNvPr id="15" name="TypeText"/>
            <p:cNvSpPr txBox="1"/>
            <p:nvPr>
              <p:custDataLst>
                <p:tags r:id="rId17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/>
                  <a:ea typeface="Microsoft Yahei"/>
                  <a:sym typeface="Microsoft Yahei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8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/>
                <a:ea typeface="Microsoft Yahei"/>
                <a:sym typeface="Microsoft Yahei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  <p:sp>
        <p:nvSpPr>
          <p:cNvPr id="18" name="TextBox 17"/>
          <p:cNvSpPr txBox="1"/>
          <p:nvPr>
            <p:custDataLst>
              <p:tags r:id="rId14"/>
            </p:custDataLst>
          </p:nvPr>
        </p:nvSpPr>
        <p:spPr>
          <a:xfrm>
            <a:off x="914400" y="635000"/>
            <a:ext cx="7315200" cy="365760"/>
          </a:xfrm>
          <a:prstGeom prst="rect">
            <a:avLst/>
          </a:prstGeom>
          <a:solidFill>
            <a:srgbClr val="FBFAEF">
              <a:alpha val="90000"/>
            </a:srgbClr>
          </a:solidFill>
        </p:spPr>
        <p:txBody>
          <a:bodyPr vert="horz" wrap="none" rtlCol="0" anchor="ctr" anchorCtr="1">
            <a:noAutofit/>
          </a:bodyPr>
          <a:lstStyle/>
          <a:p>
            <a:r>
              <a:rPr lang="zh-CN" altLang="en-US" sz="1200" smtClean="0">
                <a:solidFill>
                  <a:srgbClr val="F84F41"/>
                </a:solidFill>
                <a:latin typeface="Microsoft Yahei"/>
                <a:ea typeface="Microsoft Yahei"/>
                <a:sym typeface="Microsoft Yahei"/>
              </a:rPr>
              <a:t>此题未设置答案，请点击右侧设置按钮</a:t>
            </a:r>
            <a:endParaRPr lang="zh-CN" altLang="en-US" sz="1200">
              <a:solidFill>
                <a:srgbClr val="F84F41"/>
              </a:solidFill>
              <a:latin typeface="Microsoft Yahei"/>
              <a:ea typeface="Microsoft Yahei"/>
              <a:sym typeface="Microsoft Yahei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989391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714375" y="627063"/>
            <a:ext cx="7572375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4000" b="1">
                <a:latin typeface="Times New Roman" pitchFamily="18" charset="0"/>
                <a:sym typeface="Wingdings" pitchFamily="2" charset="2"/>
              </a:rPr>
              <a:t></a:t>
            </a:r>
            <a:r>
              <a:rPr lang="zh-CN" altLang="en-US" sz="2000" b="1">
                <a:latin typeface="Times New Roman" pitchFamily="18" charset="0"/>
                <a:sym typeface="Wingdings" pitchFamily="2" charset="2"/>
              </a:rPr>
              <a:t>选择</a:t>
            </a:r>
            <a:r>
              <a:rPr lang="zh-CN" altLang="en-US" sz="2000" b="1">
                <a:latin typeface="Times New Roman" pitchFamily="18" charset="0"/>
              </a:rPr>
              <a:t>合适的 </a:t>
            </a:r>
            <a:r>
              <a:rPr lang="en-US" altLang="zh-CN" sz="2000" b="1">
                <a:solidFill>
                  <a:srgbClr val="3333FF"/>
                </a:solidFill>
                <a:latin typeface="Times New Roman" pitchFamily="18" charset="0"/>
              </a:rPr>
              <a:t>h(key)</a:t>
            </a:r>
            <a:r>
              <a:rPr lang="en-US" altLang="zh-CN" sz="2000" b="1">
                <a:latin typeface="Times New Roman" pitchFamily="18" charset="0"/>
              </a:rPr>
              <a:t> </a:t>
            </a:r>
            <a:r>
              <a:rPr lang="zh-CN" altLang="en-US" sz="2000" b="1">
                <a:latin typeface="Times New Roman" pitchFamily="18" charset="0"/>
              </a:rPr>
              <a:t>，散列法的查找效率期望是</a:t>
            </a:r>
            <a:r>
              <a:rPr lang="zh-CN" altLang="en-US" sz="2000" b="1">
                <a:solidFill>
                  <a:srgbClr val="3333FF"/>
                </a:solidFill>
                <a:latin typeface="Times New Roman" pitchFamily="18" charset="0"/>
              </a:rPr>
              <a:t>常数</a:t>
            </a:r>
            <a:r>
              <a:rPr lang="en-US" altLang="zh-CN" sz="2000" b="1" i="1">
                <a:solidFill>
                  <a:srgbClr val="3333FF"/>
                </a:solidFill>
                <a:latin typeface="Times New Roman" pitchFamily="18" charset="0"/>
              </a:rPr>
              <a:t>O(1)</a:t>
            </a:r>
            <a:r>
              <a:rPr lang="zh-CN" altLang="en-US" sz="2000" b="1" i="1">
                <a:latin typeface="Times New Roman" pitchFamily="18" charset="0"/>
              </a:rPr>
              <a:t>，</a:t>
            </a:r>
            <a:r>
              <a:rPr lang="zh-CN" altLang="en-US" sz="2000" b="1">
                <a:latin typeface="Times New Roman" pitchFamily="18" charset="0"/>
              </a:rPr>
              <a:t>它几乎与关键字的空间的大小</a:t>
            </a:r>
            <a:r>
              <a:rPr lang="en-US" altLang="zh-CN" sz="2000" b="1">
                <a:latin typeface="Times New Roman" pitchFamily="18" charset="0"/>
              </a:rPr>
              <a:t>n</a:t>
            </a:r>
            <a:r>
              <a:rPr lang="zh-CN" altLang="en-US" sz="2000" b="1">
                <a:latin typeface="Times New Roman" pitchFamily="18" charset="0"/>
              </a:rPr>
              <a:t>无关！</a:t>
            </a:r>
            <a:endParaRPr kumimoji="1" lang="en-US" altLang="zh-CN" sz="2400" b="1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714375" y="1397000"/>
            <a:ext cx="7643813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4000" b="1">
                <a:latin typeface="Times New Roman" pitchFamily="18" charset="0"/>
                <a:sym typeface="Wingdings" pitchFamily="2" charset="2"/>
              </a:rPr>
              <a:t></a:t>
            </a:r>
            <a:r>
              <a:rPr lang="zh-CN" altLang="en-US" sz="2000" b="1">
                <a:latin typeface="Times New Roman" pitchFamily="18" charset="0"/>
              </a:rPr>
              <a:t>它是以</a:t>
            </a:r>
            <a:r>
              <a:rPr lang="zh-CN" altLang="en-US" sz="2000" b="1">
                <a:solidFill>
                  <a:srgbClr val="3333FF"/>
                </a:solidFill>
                <a:latin typeface="Times New Roman" pitchFamily="18" charset="0"/>
              </a:rPr>
              <a:t>较小的</a:t>
            </a:r>
            <a:r>
              <a:rPr lang="en-US" altLang="zh-CN" sz="2000" b="1">
                <a:solidFill>
                  <a:srgbClr val="3333FF"/>
                </a:solidFill>
                <a:latin typeface="Times New Roman" pitchFamily="18" charset="0"/>
              </a:rPr>
              <a:t>α</a:t>
            </a:r>
            <a:r>
              <a:rPr lang="zh-CN" altLang="en-US" sz="2000" b="1">
                <a:latin typeface="Times New Roman" pitchFamily="18" charset="0"/>
              </a:rPr>
              <a:t>为前提。因此，散列方法是一个以</a:t>
            </a:r>
            <a:r>
              <a:rPr lang="zh-CN" altLang="en-US" sz="2000" b="1">
                <a:solidFill>
                  <a:srgbClr val="3333FF"/>
                </a:solidFill>
                <a:latin typeface="Times New Roman" pitchFamily="18" charset="0"/>
              </a:rPr>
              <a:t>空间换时间</a:t>
            </a:r>
            <a:r>
              <a:rPr lang="zh-CN" altLang="en-US" sz="2000" b="1">
                <a:latin typeface="Times New Roman" pitchFamily="18" charset="0"/>
              </a:rPr>
              <a:t>的成功范例。</a:t>
            </a:r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571500" y="3792538"/>
            <a:ext cx="7643813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4000" b="1">
                <a:latin typeface="Times New Roman" pitchFamily="18" charset="0"/>
                <a:sym typeface="Wingdings" pitchFamily="2" charset="2"/>
              </a:rPr>
              <a:t> </a:t>
            </a:r>
            <a:r>
              <a:rPr lang="zh-CN" altLang="en-US" sz="2000" b="1">
                <a:latin typeface="Times New Roman" pitchFamily="18" charset="0"/>
              </a:rPr>
              <a:t>散列表是一个数组，存储效率高，随机查找。</a:t>
            </a:r>
          </a:p>
        </p:txBody>
      </p:sp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571500" y="4292600"/>
            <a:ext cx="785812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4000" b="1">
                <a:latin typeface="Times New Roman" pitchFamily="18" charset="0"/>
                <a:sym typeface="Wingdings" pitchFamily="2" charset="2"/>
              </a:rPr>
              <a:t></a:t>
            </a:r>
            <a:r>
              <a:rPr lang="zh-CN" altLang="en-US" sz="2000" b="1">
                <a:latin typeface="Times New Roman" pitchFamily="18" charset="0"/>
              </a:rPr>
              <a:t>  散列表有“聚集”现象，再散列时有“停顿”现象。</a:t>
            </a:r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714375" y="2127250"/>
            <a:ext cx="7572375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4000" b="1">
                <a:latin typeface="Times New Roman" pitchFamily="18" charset="0"/>
                <a:sym typeface="Wingdings" pitchFamily="2" charset="2"/>
              </a:rPr>
              <a:t></a:t>
            </a:r>
            <a:r>
              <a:rPr lang="zh-CN" altLang="en-US" sz="2000" b="1">
                <a:latin typeface="Times New Roman" pitchFamily="18" charset="0"/>
              </a:rPr>
              <a:t>散列方法的存储对关键字是</a:t>
            </a:r>
            <a:r>
              <a:rPr lang="zh-CN" altLang="en-US" sz="2000" b="1">
                <a:solidFill>
                  <a:srgbClr val="3333FF"/>
                </a:solidFill>
                <a:latin typeface="Times New Roman" pitchFamily="18" charset="0"/>
              </a:rPr>
              <a:t>随机</a:t>
            </a:r>
            <a:r>
              <a:rPr lang="zh-CN" altLang="en-US" sz="2000" b="1">
                <a:latin typeface="Times New Roman" pitchFamily="18" charset="0"/>
              </a:rPr>
              <a:t>的，不便于</a:t>
            </a:r>
            <a:r>
              <a:rPr lang="zh-CN" altLang="en-US" sz="2000" b="1">
                <a:solidFill>
                  <a:srgbClr val="3333FF"/>
                </a:solidFill>
                <a:latin typeface="Times New Roman" pitchFamily="18" charset="0"/>
              </a:rPr>
              <a:t>顺序查找</a:t>
            </a:r>
            <a:r>
              <a:rPr lang="zh-CN" altLang="en-US" sz="2000" b="1">
                <a:latin typeface="Times New Roman" pitchFamily="18" charset="0"/>
              </a:rPr>
              <a:t>关键字，也不适合于</a:t>
            </a:r>
            <a:r>
              <a:rPr lang="zh-CN" altLang="en-US" sz="2000" b="1">
                <a:solidFill>
                  <a:srgbClr val="3333FF"/>
                </a:solidFill>
                <a:latin typeface="Times New Roman" pitchFamily="18" charset="0"/>
              </a:rPr>
              <a:t>范围查找</a:t>
            </a:r>
            <a:r>
              <a:rPr lang="zh-CN" altLang="en-US" sz="2000" b="1">
                <a:latin typeface="Times New Roman" pitchFamily="18" charset="0"/>
              </a:rPr>
              <a:t>，或</a:t>
            </a:r>
            <a:r>
              <a:rPr lang="zh-CN" altLang="en-US" sz="2000" b="1">
                <a:solidFill>
                  <a:srgbClr val="3333FF"/>
                </a:solidFill>
                <a:latin typeface="Times New Roman" pitchFamily="18" charset="0"/>
              </a:rPr>
              <a:t>最大值最小值</a:t>
            </a:r>
            <a:r>
              <a:rPr lang="zh-CN" altLang="en-US" sz="2000" b="1">
                <a:latin typeface="Times New Roman" pitchFamily="18" charset="0"/>
              </a:rPr>
              <a:t>查找。</a:t>
            </a:r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571500" y="4864100"/>
            <a:ext cx="814387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4000" b="1">
                <a:latin typeface="Times New Roman" pitchFamily="18" charset="0"/>
                <a:sym typeface="Wingdings" pitchFamily="2" charset="2"/>
              </a:rPr>
              <a:t></a:t>
            </a:r>
            <a:r>
              <a:rPr lang="zh-CN" altLang="en-US" sz="2000" b="1">
                <a:latin typeface="Times New Roman" pitchFamily="18" charset="0"/>
              </a:rPr>
              <a:t>  关键字的删除只能采用“懒惰删除”法，会导致存储“垃圾”。</a:t>
            </a:r>
          </a:p>
        </p:txBody>
      </p:sp>
      <p:sp>
        <p:nvSpPr>
          <p:cNvPr id="10" name="矩形 9"/>
          <p:cNvSpPr>
            <a:spLocks noChangeArrowheads="1"/>
          </p:cNvSpPr>
          <p:nvPr/>
        </p:nvSpPr>
        <p:spPr bwMode="auto">
          <a:xfrm>
            <a:off x="428625" y="3487738"/>
            <a:ext cx="15795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b="1">
                <a:solidFill>
                  <a:srgbClr val="3333FF"/>
                </a:solidFill>
                <a:latin typeface="Times New Roman" pitchFamily="18" charset="0"/>
              </a:rPr>
              <a:t>开放地址法：</a:t>
            </a:r>
            <a:endParaRPr lang="zh-CN" altLang="en-US">
              <a:solidFill>
                <a:srgbClr val="3333FF"/>
              </a:solidFill>
              <a:latin typeface="Times New Roman" pitchFamily="18" charset="0"/>
            </a:endParaRPr>
          </a:p>
        </p:txBody>
      </p:sp>
      <p:sp>
        <p:nvSpPr>
          <p:cNvPr id="11" name="矩形 10"/>
          <p:cNvSpPr>
            <a:spLocks noChangeArrowheads="1"/>
          </p:cNvSpPr>
          <p:nvPr/>
        </p:nvSpPr>
        <p:spPr bwMode="auto">
          <a:xfrm>
            <a:off x="560388" y="3814763"/>
            <a:ext cx="7500937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4000" b="1">
                <a:latin typeface="Times New Roman" pitchFamily="18" charset="0"/>
                <a:sym typeface="Wingdings" pitchFamily="2" charset="2"/>
              </a:rPr>
              <a:t></a:t>
            </a:r>
            <a:r>
              <a:rPr lang="zh-CN" altLang="en-US" sz="2000" b="1">
                <a:latin typeface="Times New Roman" pitchFamily="18" charset="0"/>
                <a:sym typeface="Wingdings" pitchFamily="2" charset="2"/>
              </a:rPr>
              <a:t> 关键字删除</a:t>
            </a:r>
            <a:r>
              <a:rPr lang="zh-CN" altLang="en-US" sz="2000" b="1">
                <a:latin typeface="Times New Roman" pitchFamily="18" charset="0"/>
              </a:rPr>
              <a:t>不需要“懒惰删除”法，从而没有存储“垃圾”。</a:t>
            </a:r>
          </a:p>
        </p:txBody>
      </p:sp>
      <p:sp>
        <p:nvSpPr>
          <p:cNvPr id="12" name="矩形 11"/>
          <p:cNvSpPr>
            <a:spLocks noChangeArrowheads="1"/>
          </p:cNvSpPr>
          <p:nvPr/>
        </p:nvSpPr>
        <p:spPr bwMode="auto">
          <a:xfrm>
            <a:off x="560388" y="4357688"/>
            <a:ext cx="74295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4000" b="1">
                <a:latin typeface="Times New Roman" pitchFamily="18" charset="0"/>
                <a:sym typeface="Wingdings" pitchFamily="2" charset="2"/>
              </a:rPr>
              <a:t></a:t>
            </a:r>
            <a:r>
              <a:rPr lang="zh-CN" altLang="en-US" sz="2000" b="1">
                <a:latin typeface="Times New Roman" pitchFamily="18" charset="0"/>
              </a:rPr>
              <a:t>散列表是顺序存储和链式存储的结合，链表部分的存储效率和查找效率都比较低。</a:t>
            </a:r>
            <a:endParaRPr lang="en-US" altLang="zh-CN" sz="2000" b="1">
              <a:latin typeface="Times New Roman" pitchFamily="18" charset="0"/>
            </a:endParaRPr>
          </a:p>
        </p:txBody>
      </p:sp>
      <p:sp>
        <p:nvSpPr>
          <p:cNvPr id="13" name="矩形 12"/>
          <p:cNvSpPr>
            <a:spLocks noChangeArrowheads="1"/>
          </p:cNvSpPr>
          <p:nvPr/>
        </p:nvSpPr>
        <p:spPr bwMode="auto">
          <a:xfrm>
            <a:off x="560388" y="5189538"/>
            <a:ext cx="7643812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3600" b="1">
                <a:latin typeface="Times New Roman" pitchFamily="18" charset="0"/>
                <a:sym typeface="Wingdings" pitchFamily="2" charset="2"/>
              </a:rPr>
              <a:t> </a:t>
            </a:r>
            <a:r>
              <a:rPr lang="zh-CN" altLang="en-US" sz="2000" b="1">
                <a:latin typeface="Times New Roman" pitchFamily="18" charset="0"/>
              </a:rPr>
              <a:t>太小的</a:t>
            </a:r>
            <a:r>
              <a:rPr lang="en-US" altLang="zh-CN" sz="2000" b="1">
                <a:latin typeface="Times New Roman" pitchFamily="18" charset="0"/>
              </a:rPr>
              <a:t>α</a:t>
            </a:r>
            <a:r>
              <a:rPr lang="zh-CN" altLang="en-US" sz="2000" b="1">
                <a:latin typeface="Times New Roman" pitchFamily="18" charset="0"/>
              </a:rPr>
              <a:t>可能导致空间浪费，大的</a:t>
            </a:r>
            <a:r>
              <a:rPr lang="en-US" altLang="zh-CN" sz="2000" b="1">
                <a:latin typeface="Times New Roman" pitchFamily="18" charset="0"/>
              </a:rPr>
              <a:t>α</a:t>
            </a:r>
            <a:r>
              <a:rPr lang="zh-CN" altLang="en-US" sz="2000" b="1">
                <a:latin typeface="Times New Roman" pitchFamily="18" charset="0"/>
              </a:rPr>
              <a:t>又将付出更多的时间代价。不均匀的链表长度导致时间效率的严重下降</a:t>
            </a:r>
            <a:r>
              <a:rPr lang="zh-CN" altLang="en-US" sz="2000">
                <a:latin typeface="Times New Roman" pitchFamily="18" charset="0"/>
              </a:rPr>
              <a:t>。</a:t>
            </a:r>
            <a:endParaRPr lang="zh-CN" altLang="en-US" sz="2000" b="1">
              <a:latin typeface="Times New Roman" pitchFamily="18" charset="0"/>
            </a:endParaRPr>
          </a:p>
        </p:txBody>
      </p:sp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357188" y="3429000"/>
            <a:ext cx="1346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b="1">
                <a:solidFill>
                  <a:srgbClr val="3333FF"/>
                </a:solidFill>
                <a:latin typeface="Times New Roman" pitchFamily="18" charset="0"/>
                <a:sym typeface="Wingdings" pitchFamily="2" charset="2"/>
              </a:rPr>
              <a:t>分离链</a:t>
            </a:r>
            <a:r>
              <a:rPr lang="zh-CN" altLang="en-US" b="1">
                <a:solidFill>
                  <a:srgbClr val="3333FF"/>
                </a:solidFill>
                <a:latin typeface="Times New Roman" pitchFamily="18" charset="0"/>
              </a:rPr>
              <a:t>法：</a:t>
            </a:r>
            <a:endParaRPr lang="zh-CN" altLang="en-US">
              <a:solidFill>
                <a:srgbClr val="3333FF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1249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6" grpId="1"/>
      <p:bldP spid="7" grpId="0"/>
      <p:bldP spid="7" grpId="1"/>
      <p:bldP spid="8" grpId="0"/>
      <p:bldP spid="9" grpId="0"/>
      <p:bldP spid="9" grpId="1"/>
      <p:bldP spid="10" grpId="0"/>
      <p:bldP spid="10" grpId="1"/>
      <p:bldP spid="11" grpId="0"/>
      <p:bldP spid="12" grpId="0"/>
      <p:bldP spid="13" grpId="0"/>
      <p:bldP spid="14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747" name="Rectangle 3"/>
          <p:cNvSpPr>
            <a:spLocks noChangeArrowheads="1"/>
          </p:cNvSpPr>
          <p:nvPr/>
        </p:nvSpPr>
        <p:spPr bwMode="auto">
          <a:xfrm>
            <a:off x="590550" y="944880"/>
            <a:ext cx="8375650" cy="55086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457200" marR="0" lvl="0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熟练掌握顺序表和有序表（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折半查找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）的查找算法及其性能分析方法</a:t>
            </a:r>
          </a:p>
          <a:p>
            <a:pPr marL="457200" marR="0" lvl="0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熟练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掌握哈希函数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（除留余数法）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的构造</a:t>
            </a:r>
          </a:p>
          <a:p>
            <a:pPr marL="457200" marR="0" lvl="0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熟练掌握哈希函数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解决冲突的方法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及其特点</a:t>
            </a:r>
          </a:p>
          <a:p>
            <a:pPr marL="899795" marR="0" lvl="2" indent="-34290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开放地址法（</a:t>
            </a: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线性探测法、二次探测法）</a:t>
            </a:r>
          </a:p>
          <a:p>
            <a:pPr marL="899795" marR="0" lvl="2" indent="-34290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链地址法</a:t>
            </a:r>
          </a:p>
          <a:p>
            <a:pPr marL="899795" marR="0" lvl="2" indent="-34290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给定实例计算平均查找长度</a:t>
            </a:r>
            <a:r>
              <a:rPr kumimoji="1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ASL</a:t>
            </a: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，</a:t>
            </a:r>
            <a:r>
              <a:rPr kumimoji="1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ASL</a:t>
            </a: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依赖于</a:t>
            </a: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装填因子</a:t>
            </a:r>
            <a:r>
              <a:rPr kumimoji="1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charset="-122"/>
                <a:cs typeface="+mn-cs"/>
                <a:sym typeface="Symbol" panose="05050102010706020507" pitchFamily="18" charset="2"/>
              </a:rPr>
              <a:t></a:t>
            </a:r>
            <a:endParaRPr kumimoji="1" lang="zh-CN" altLang="en-US" sz="2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457200" marR="0" lvl="0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99748" name="Comment 4"/>
          <p:cNvSpPr>
            <a:spLocks noChangeArrowheads="1"/>
          </p:cNvSpPr>
          <p:nvPr/>
        </p:nvSpPr>
        <p:spPr bwMode="auto">
          <a:xfrm>
            <a:off x="900113" y="198438"/>
            <a:ext cx="1676400" cy="5222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小结</a:t>
            </a:r>
          </a:p>
        </p:txBody>
      </p:sp>
      <p:grpSp>
        <p:nvGrpSpPr>
          <p:cNvPr id="156675" name="组合 28"/>
          <p:cNvGrpSpPr/>
          <p:nvPr/>
        </p:nvGrpSpPr>
        <p:grpSpPr>
          <a:xfrm>
            <a:off x="295275" y="928688"/>
            <a:ext cx="590550" cy="627062"/>
            <a:chOff x="6242320" y="1105727"/>
            <a:chExt cx="589786" cy="626517"/>
          </a:xfrm>
        </p:grpSpPr>
        <p:sp>
          <p:nvSpPr>
            <p:cNvPr id="5" name="TextBox 6"/>
            <p:cNvSpPr txBox="1">
              <a:spLocks noChangeArrowheads="1"/>
            </p:cNvSpPr>
            <p:nvPr/>
          </p:nvSpPr>
          <p:spPr bwMode="auto">
            <a:xfrm>
              <a:off x="6327934" y="1105727"/>
              <a:ext cx="447096" cy="491697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ctr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FF9900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01</a:t>
              </a:r>
              <a:endPara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" name="文本框 22"/>
            <p:cNvSpPr txBox="1">
              <a:spLocks noChangeArrowheads="1"/>
            </p:cNvSpPr>
            <p:nvPr/>
          </p:nvSpPr>
          <p:spPr bwMode="auto">
            <a:xfrm>
              <a:off x="6242320" y="1516532"/>
              <a:ext cx="589786" cy="215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00" b="1" i="0" u="none" strike="noStrike" kern="1200" cap="none" spc="0" normalizeH="0" baseline="0" noProof="0">
                  <a:ln>
                    <a:noFill/>
                  </a:ln>
                  <a:solidFill>
                    <a:srgbClr val="81818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OPTION</a:t>
              </a:r>
              <a:endParaRPr kumimoji="0" lang="zh-CN" altLang="en-US" sz="800" b="1" i="0" u="none" strike="noStrike" kern="1200" cap="none" spc="0" normalizeH="0" baseline="0" noProof="0">
                <a:ln>
                  <a:noFill/>
                </a:ln>
                <a:solidFill>
                  <a:srgbClr val="81818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156678" name="组合 45"/>
          <p:cNvGrpSpPr/>
          <p:nvPr/>
        </p:nvGrpSpPr>
        <p:grpSpPr>
          <a:xfrm>
            <a:off x="295275" y="1882775"/>
            <a:ext cx="590550" cy="631825"/>
            <a:chOff x="6242320" y="2373233"/>
            <a:chExt cx="589786" cy="631741"/>
          </a:xfrm>
        </p:grpSpPr>
        <p:sp>
          <p:nvSpPr>
            <p:cNvPr id="8" name="TextBox 6"/>
            <p:cNvSpPr txBox="1">
              <a:spLocks noChangeArrowheads="1"/>
            </p:cNvSpPr>
            <p:nvPr/>
          </p:nvSpPr>
          <p:spPr bwMode="auto">
            <a:xfrm>
              <a:off x="6327934" y="2373233"/>
              <a:ext cx="447096" cy="492060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ctr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6C4C8F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02</a:t>
              </a:r>
              <a:endPara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6C4C8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9" name="文本框 23"/>
            <p:cNvSpPr txBox="1">
              <a:spLocks noChangeArrowheads="1"/>
            </p:cNvSpPr>
            <p:nvPr/>
          </p:nvSpPr>
          <p:spPr bwMode="auto">
            <a:xfrm>
              <a:off x="6242320" y="2789103"/>
              <a:ext cx="589786" cy="21587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00" b="1" i="0" u="none" strike="noStrike" kern="1200" cap="none" spc="0" normalizeH="0" baseline="0" noProof="0">
                  <a:ln>
                    <a:noFill/>
                  </a:ln>
                  <a:solidFill>
                    <a:srgbClr val="81818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OPTION</a:t>
              </a:r>
              <a:endParaRPr kumimoji="0" lang="zh-CN" altLang="en-US" sz="800" b="1" i="0" u="none" strike="noStrike" kern="1200" cap="none" spc="0" normalizeH="0" baseline="0" noProof="0">
                <a:ln>
                  <a:noFill/>
                </a:ln>
                <a:solidFill>
                  <a:srgbClr val="81818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156681" name="组合 48"/>
          <p:cNvGrpSpPr/>
          <p:nvPr/>
        </p:nvGrpSpPr>
        <p:grpSpPr>
          <a:xfrm>
            <a:off x="295275" y="2847975"/>
            <a:ext cx="590550" cy="620713"/>
            <a:chOff x="6242320" y="3640739"/>
            <a:chExt cx="589786" cy="620418"/>
          </a:xfrm>
        </p:grpSpPr>
        <p:sp>
          <p:nvSpPr>
            <p:cNvPr id="11" name="TextBox 6"/>
            <p:cNvSpPr txBox="1">
              <a:spLocks noChangeArrowheads="1"/>
            </p:cNvSpPr>
            <p:nvPr/>
          </p:nvSpPr>
          <p:spPr bwMode="auto">
            <a:xfrm>
              <a:off x="6327934" y="3640739"/>
              <a:ext cx="447096" cy="491891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ctr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76AEDD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03</a:t>
              </a:r>
              <a:endPara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76AEDD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2" name="文本框 24"/>
            <p:cNvSpPr txBox="1">
              <a:spLocks noChangeArrowheads="1"/>
            </p:cNvSpPr>
            <p:nvPr/>
          </p:nvSpPr>
          <p:spPr bwMode="auto">
            <a:xfrm>
              <a:off x="6242320" y="4045360"/>
              <a:ext cx="589786" cy="215797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00" b="1" i="0" u="none" strike="noStrike" kern="1200" cap="none" spc="0" normalizeH="0" baseline="0" noProof="0">
                  <a:ln>
                    <a:noFill/>
                  </a:ln>
                  <a:solidFill>
                    <a:srgbClr val="81818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OPTION</a:t>
              </a:r>
              <a:endParaRPr kumimoji="0" lang="zh-CN" altLang="en-US" sz="800" b="1" i="0" u="none" strike="noStrike" kern="1200" cap="none" spc="0" normalizeH="0" baseline="0" noProof="0">
                <a:ln>
                  <a:noFill/>
                </a:ln>
                <a:solidFill>
                  <a:srgbClr val="81818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156684" name="组合 51"/>
          <p:cNvGrpSpPr/>
          <p:nvPr/>
        </p:nvGrpSpPr>
        <p:grpSpPr>
          <a:xfrm>
            <a:off x="295275" y="3351213"/>
            <a:ext cx="590550" cy="608012"/>
            <a:chOff x="6250444" y="4908245"/>
            <a:chExt cx="589786" cy="609656"/>
          </a:xfrm>
        </p:grpSpPr>
        <p:sp>
          <p:nvSpPr>
            <p:cNvPr id="14" name="TextBox 6"/>
            <p:cNvSpPr txBox="1">
              <a:spLocks noChangeArrowheads="1"/>
            </p:cNvSpPr>
            <p:nvPr/>
          </p:nvSpPr>
          <p:spPr bwMode="auto">
            <a:xfrm>
              <a:off x="6326545" y="4908245"/>
              <a:ext cx="448682" cy="491863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ctr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50000"/>
                      <a:lumOff val="50000"/>
                    </a:srgbClr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04</a:t>
              </a:r>
              <a:endPara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5" name="文本框 25"/>
            <p:cNvSpPr txBox="1">
              <a:spLocks noChangeArrowheads="1"/>
            </p:cNvSpPr>
            <p:nvPr/>
          </p:nvSpPr>
          <p:spPr bwMode="auto">
            <a:xfrm>
              <a:off x="6250444" y="5301417"/>
              <a:ext cx="589786" cy="216484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00" b="1" i="0" u="none" strike="noStrike" kern="1200" cap="none" spc="0" normalizeH="0" baseline="0" noProof="0">
                  <a:ln>
                    <a:noFill/>
                  </a:ln>
                  <a:solidFill>
                    <a:srgbClr val="81818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OPTION</a:t>
              </a:r>
              <a:endParaRPr kumimoji="0" lang="zh-CN" altLang="en-US" sz="800" b="1" i="0" u="none" strike="noStrike" kern="1200" cap="none" spc="0" normalizeH="0" baseline="0" noProof="0">
                <a:ln>
                  <a:noFill/>
                </a:ln>
                <a:solidFill>
                  <a:srgbClr val="81818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156687" name="组合 54"/>
          <p:cNvGrpSpPr/>
          <p:nvPr/>
        </p:nvGrpSpPr>
        <p:grpSpPr>
          <a:xfrm>
            <a:off x="295275" y="3883025"/>
            <a:ext cx="590550" cy="609600"/>
            <a:chOff x="6250444" y="4908245"/>
            <a:chExt cx="589786" cy="609094"/>
          </a:xfrm>
        </p:grpSpPr>
        <p:sp>
          <p:nvSpPr>
            <p:cNvPr id="17" name="TextBox 6"/>
            <p:cNvSpPr txBox="1">
              <a:spLocks noChangeArrowheads="1"/>
            </p:cNvSpPr>
            <p:nvPr/>
          </p:nvSpPr>
          <p:spPr bwMode="auto">
            <a:xfrm>
              <a:off x="6326545" y="4908245"/>
              <a:ext cx="448682" cy="491717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ctr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6C4C8F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05</a:t>
              </a:r>
              <a:endPara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6C4C8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" name="文本框 25"/>
            <p:cNvSpPr txBox="1">
              <a:spLocks noChangeArrowheads="1"/>
            </p:cNvSpPr>
            <p:nvPr/>
          </p:nvSpPr>
          <p:spPr bwMode="auto">
            <a:xfrm>
              <a:off x="6250444" y="5301618"/>
              <a:ext cx="589786" cy="21572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00" b="1" i="0" u="none" strike="noStrike" kern="1200" cap="none" spc="0" normalizeH="0" baseline="0" noProof="0">
                  <a:ln>
                    <a:noFill/>
                  </a:ln>
                  <a:solidFill>
                    <a:srgbClr val="81818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OPTION</a:t>
              </a:r>
              <a:endParaRPr kumimoji="0" lang="zh-CN" altLang="en-US" sz="800" b="1" i="0" u="none" strike="noStrike" kern="1200" cap="none" spc="0" normalizeH="0" baseline="0" noProof="0">
                <a:ln>
                  <a:noFill/>
                </a:ln>
                <a:solidFill>
                  <a:srgbClr val="81818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jhkMjM2ZGM2ZmEyYjQ3YmNmOTBkMTVhNzBmNjcyNmM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Warning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1_默认设计模板">
  <a:themeElements>
    <a:clrScheme name="自定义 33">
      <a:dk1>
        <a:srgbClr val="000000"/>
      </a:dk1>
      <a:lt1>
        <a:srgbClr val="FEFFFF"/>
      </a:lt1>
      <a:dk2>
        <a:srgbClr val="000000"/>
      </a:dk2>
      <a:lt2>
        <a:srgbClr val="969696"/>
      </a:lt2>
      <a:accent1>
        <a:srgbClr val="6C4C8F"/>
      </a:accent1>
      <a:accent2>
        <a:srgbClr val="3333CC"/>
      </a:accent2>
      <a:accent3>
        <a:srgbClr val="FE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FF"/>
      </a:hlink>
      <a:folHlink>
        <a:srgbClr val="003366"/>
      </a:folHlink>
    </a:clrScheme>
    <a:fontScheme name="o0wogij3">
      <a:majorFont>
        <a:latin typeface="Times New Roman"/>
        <a:ea typeface="Microsoft YaHei"/>
        <a:cs typeface=""/>
      </a:majorFont>
      <a:minorFont>
        <a:latin typeface="Times New Roman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342900" marR="0" indent="-342900" algn="l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defRPr kumimoji="1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仿宋_GB2312" panose="02010609030101010101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342900" marR="0" indent="-342900" algn="l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defRPr kumimoji="1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仿宋_GB2312" panose="02010609030101010101" pitchFamily="49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设计模板">
  <a:themeElements>
    <a:clrScheme name="自定义 33">
      <a:dk1>
        <a:srgbClr val="000000"/>
      </a:dk1>
      <a:lt1>
        <a:srgbClr val="FEFFFF"/>
      </a:lt1>
      <a:dk2>
        <a:srgbClr val="000000"/>
      </a:dk2>
      <a:lt2>
        <a:srgbClr val="969696"/>
      </a:lt2>
      <a:accent1>
        <a:srgbClr val="6C4C8F"/>
      </a:accent1>
      <a:accent2>
        <a:srgbClr val="3333CC"/>
      </a:accent2>
      <a:accent3>
        <a:srgbClr val="FE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FF"/>
      </a:hlink>
      <a:folHlink>
        <a:srgbClr val="003366"/>
      </a:folHlink>
    </a:clrScheme>
    <a:fontScheme name="o0wogij3">
      <a:majorFont>
        <a:latin typeface="Times New Roman"/>
        <a:ea typeface="Microsoft YaHei"/>
        <a:cs typeface=""/>
      </a:majorFont>
      <a:minorFont>
        <a:latin typeface="Times New Roman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342900" marR="0" indent="-342900" algn="l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defRPr kumimoji="1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仿宋_GB2312" panose="02010609030101010101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342900" marR="0" indent="-342900" algn="l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defRPr kumimoji="1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仿宋_GB2312" panose="02010609030101010101" pitchFamily="49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291</TotalTime>
  <Words>5564</Words>
  <Application>Microsoft Office PowerPoint</Application>
  <PresentationFormat>全屏显示(4:3)</PresentationFormat>
  <Paragraphs>1123</Paragraphs>
  <Slides>74</Slides>
  <Notes>2</Notes>
  <HiddenSlides>0</HiddenSlides>
  <MMClips>0</MMClips>
  <ScaleCrop>false</ScaleCrop>
  <HeadingPairs>
    <vt:vector size="6" baseType="variant">
      <vt:variant>
        <vt:lpstr>主题</vt:lpstr>
      </vt:variant>
      <vt:variant>
        <vt:i4>2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74</vt:i4>
      </vt:variant>
    </vt:vector>
  </HeadingPairs>
  <TitlesOfParts>
    <vt:vector size="79" baseType="lpstr">
      <vt:lpstr>1_默认设计模板</vt:lpstr>
      <vt:lpstr>默认设计模板</vt:lpstr>
      <vt:lpstr>Microsoft 公式 3.0</vt:lpstr>
      <vt:lpstr>剪辑</vt:lpstr>
      <vt:lpstr>MathType 6.0 Equation</vt:lpstr>
      <vt:lpstr>PowerPoint 演示文稿</vt:lpstr>
      <vt:lpstr>PowerPoint 演示文稿</vt:lpstr>
      <vt:lpstr>PowerPoint 演示文稿</vt:lpstr>
      <vt:lpstr>PowerPoint 演示文稿</vt:lpstr>
      <vt:lpstr>查找的基本概念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引子1</vt:lpstr>
      <vt:lpstr>引子2</vt:lpstr>
      <vt:lpstr>PowerPoint 演示文稿</vt:lpstr>
      <vt:lpstr>PowerPoint 演示文稿</vt:lpstr>
      <vt:lpstr>PowerPoint 演示文稿</vt:lpstr>
      <vt:lpstr>PowerPoint 演示文稿</vt:lpstr>
      <vt:lpstr>散列查找概念</vt:lpstr>
      <vt:lpstr>散列查找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线性探测法（Linear Probing）</vt:lpstr>
      <vt:lpstr>线性探测法（Linear Probing）</vt:lpstr>
      <vt:lpstr>线性探测法（Linear Probing）</vt:lpstr>
      <vt:lpstr>PowerPoint 演示文稿</vt:lpstr>
      <vt:lpstr>PowerPoint 演示文稿</vt:lpstr>
      <vt:lpstr>PowerPoint 演示文稿</vt:lpstr>
      <vt:lpstr>平方探测法（Quadratic Probing）</vt:lpstr>
      <vt:lpstr>平方探测法</vt:lpstr>
      <vt:lpstr>PowerPoint 演示文稿</vt:lpstr>
      <vt:lpstr>PowerPoint 演示文稿</vt:lpstr>
      <vt:lpstr>3. 双散列探测法（Double Hashing）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bjfu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cyuyan</dc:title>
  <dc:creator>lidongmei</dc:creator>
  <cp:lastModifiedBy>wyw-office</cp:lastModifiedBy>
  <cp:revision>1350</cp:revision>
  <dcterms:created xsi:type="dcterms:W3CDTF">1996-07-15T15:40:00Z</dcterms:created>
  <dcterms:modified xsi:type="dcterms:W3CDTF">2025-06-03T01:02:03Z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2052-12.1.0.17857</vt:lpwstr>
  </property>
  <property fmtid="{D5CDD505-2E9C-101B-9397-08002B2CF9AE}" pid="3" name="ICV">
    <vt:lpwstr>366BEB9E056547CDAE34041A643117BD_12</vt:lpwstr>
  </property>
</Properties>
</file>